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FF5A4-63BA-36D5-26FC-CF93870E21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144573-F959-E111-FCAE-E6AD3CEAF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52BEA9-C1FE-4D36-EFF7-9008220EFF4A}"/>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5" name="Footer Placeholder 4">
            <a:extLst>
              <a:ext uri="{FF2B5EF4-FFF2-40B4-BE49-F238E27FC236}">
                <a16:creationId xmlns:a16="http://schemas.microsoft.com/office/drawing/2014/main" id="{C0B2AED5-5402-C280-4DA2-DD2E3DF547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62EFD0-D610-3E70-1E55-1482CF1F0620}"/>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1344274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29C36-794E-A366-0189-53C3B0B77B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C8A2A0-2491-2357-A942-89D171AC35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A41137-59B2-44BF-BB8B-D47BBF765E94}"/>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5" name="Footer Placeholder 4">
            <a:extLst>
              <a:ext uri="{FF2B5EF4-FFF2-40B4-BE49-F238E27FC236}">
                <a16:creationId xmlns:a16="http://schemas.microsoft.com/office/drawing/2014/main" id="{F9773B99-B804-25C5-DCA4-B9B4C01949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588E30-8A37-F42F-6A84-C5CF053D31E2}"/>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687961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D0385-5123-2F0E-CBF5-A2074583AB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F890FE-7BCF-BBD1-EDF4-5392092944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3E3260-A7B8-A477-3A03-53F549101506}"/>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5" name="Footer Placeholder 4">
            <a:extLst>
              <a:ext uri="{FF2B5EF4-FFF2-40B4-BE49-F238E27FC236}">
                <a16:creationId xmlns:a16="http://schemas.microsoft.com/office/drawing/2014/main" id="{4EA38B71-3054-3797-3528-FF19F5B764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7ADF6E-F4F4-E938-6F21-508D81ED031A}"/>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1506096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2C075-4E43-AC8E-CDF2-09208B4F18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838388-1D00-5661-DADB-FA0D3F84F5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0A3ADC3-8EE3-2914-FA5D-9A828D79C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116599-1EF3-A155-CC56-1C66D2D46614}"/>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6" name="Footer Placeholder 5">
            <a:extLst>
              <a:ext uri="{FF2B5EF4-FFF2-40B4-BE49-F238E27FC236}">
                <a16:creationId xmlns:a16="http://schemas.microsoft.com/office/drawing/2014/main" id="{4C85A15C-2713-97C0-35B0-F1E463513B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1BDF2E-43EC-3F67-0C4B-1DCFE96CC87F}"/>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366769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948E-FAEC-815A-7120-02F6E642B1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AD7E4F-43F7-E93F-E7F2-16D1A4A1F0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05D979-6F86-D875-968F-A65B0DAD81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BE0C78F-22A4-1B2B-D49E-32A97F7AF7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7812D2-771B-CB32-C69C-0EF3535FEE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F76161-88C5-3E54-CA0B-E95AB64EB127}"/>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8" name="Footer Placeholder 7">
            <a:extLst>
              <a:ext uri="{FF2B5EF4-FFF2-40B4-BE49-F238E27FC236}">
                <a16:creationId xmlns:a16="http://schemas.microsoft.com/office/drawing/2014/main" id="{11E9B99B-2F60-3F8F-C295-91681E210A8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CC68585-9DF6-B74A-F151-1142005D7236}"/>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636028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1147-422A-2366-996F-16F7E63360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CEDC00-E333-F02E-3452-98C04D36E193}"/>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4" name="Footer Placeholder 3">
            <a:extLst>
              <a:ext uri="{FF2B5EF4-FFF2-40B4-BE49-F238E27FC236}">
                <a16:creationId xmlns:a16="http://schemas.microsoft.com/office/drawing/2014/main" id="{816D49F7-2642-1EDF-BE9F-5E4C332160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387702-7D21-2EB4-5A27-4C1099E09681}"/>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246516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157159-264B-5ADA-8B6B-7D240918219B}"/>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3" name="Footer Placeholder 2">
            <a:extLst>
              <a:ext uri="{FF2B5EF4-FFF2-40B4-BE49-F238E27FC236}">
                <a16:creationId xmlns:a16="http://schemas.microsoft.com/office/drawing/2014/main" id="{61315619-58AD-CA86-39D5-2470FCC210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0A8A3D8-152D-592F-EDFB-D4FDEC063541}"/>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3066916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1CA1D-9A99-C122-DFDB-D7FD8ADC84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2EF8E6-4DD7-DF66-013F-BC53930103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3B51A5B-8D8A-C7C5-361A-B9DD6DAB1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72AFBF-D62A-0998-2AF5-15669D7E10C6}"/>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6" name="Footer Placeholder 5">
            <a:extLst>
              <a:ext uri="{FF2B5EF4-FFF2-40B4-BE49-F238E27FC236}">
                <a16:creationId xmlns:a16="http://schemas.microsoft.com/office/drawing/2014/main" id="{4A37330A-F44B-B42C-F4E1-FDFD10AFF5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1F4169-BD0E-FEC7-4C30-E860227A7631}"/>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2012829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2C47-1ED2-3657-457B-7316645180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8840EF-D31E-7699-C8EF-ADD71770EA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A19C05-D413-13D5-01C8-368197BC2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1F9B29-228E-8121-1B2B-49AC6F6B4038}"/>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6" name="Footer Placeholder 5">
            <a:extLst>
              <a:ext uri="{FF2B5EF4-FFF2-40B4-BE49-F238E27FC236}">
                <a16:creationId xmlns:a16="http://schemas.microsoft.com/office/drawing/2014/main" id="{E4097C52-C335-E0D7-402D-1F479E8CB0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60403-8374-3878-F5CC-3A3C5C4B3D88}"/>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1697836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EA81E-FBA3-9F66-88F5-231970D8B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0CDD5E3-FFEB-FE2C-1BF0-25EE98887D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10A5A9-E4A4-B9CE-BBA4-2429257ED510}"/>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5" name="Footer Placeholder 4">
            <a:extLst>
              <a:ext uri="{FF2B5EF4-FFF2-40B4-BE49-F238E27FC236}">
                <a16:creationId xmlns:a16="http://schemas.microsoft.com/office/drawing/2014/main" id="{881DC6AB-4F34-AA25-C1A5-7A2A661A16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881BA9-AC36-0113-CC44-9F23473EF8B3}"/>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1418710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038D13-5335-27B7-0C8D-1BF33092A4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96CD4C-60BE-DDC9-990B-8AEF814116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67591A-EA8E-7482-F409-A81039B9E9AA}"/>
              </a:ext>
            </a:extLst>
          </p:cNvPr>
          <p:cNvSpPr>
            <a:spLocks noGrp="1"/>
          </p:cNvSpPr>
          <p:nvPr>
            <p:ph type="dt" sz="half" idx="10"/>
          </p:nvPr>
        </p:nvSpPr>
        <p:spPr/>
        <p:txBody>
          <a:bodyPr/>
          <a:lstStyle/>
          <a:p>
            <a:fld id="{AADF84EE-61D0-4A1D-8169-9FED7C012954}" type="datetimeFigureOut">
              <a:rPr lang="en-IN" smtClean="0"/>
              <a:t>11-01-2025</a:t>
            </a:fld>
            <a:endParaRPr lang="en-IN"/>
          </a:p>
        </p:txBody>
      </p:sp>
      <p:sp>
        <p:nvSpPr>
          <p:cNvPr id="5" name="Footer Placeholder 4">
            <a:extLst>
              <a:ext uri="{FF2B5EF4-FFF2-40B4-BE49-F238E27FC236}">
                <a16:creationId xmlns:a16="http://schemas.microsoft.com/office/drawing/2014/main" id="{9CDFB5AB-91F9-71D1-1CD4-A8377C5FD4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115D45-DAE2-1947-3029-BBA9F88BB7CD}"/>
              </a:ext>
            </a:extLst>
          </p:cNvPr>
          <p:cNvSpPr>
            <a:spLocks noGrp="1"/>
          </p:cNvSpPr>
          <p:nvPr>
            <p:ph type="sldNum" sz="quarter" idx="12"/>
          </p:nvPr>
        </p:nvSpPr>
        <p:spPr/>
        <p:txBody>
          <a:bodyPr/>
          <a:lstStyle/>
          <a:p>
            <a:fld id="{538D374A-A2A9-4ACD-9EA9-4E45ECC613A1}" type="slidenum">
              <a:rPr lang="en-IN" smtClean="0"/>
              <a:t>‹#›</a:t>
            </a:fld>
            <a:endParaRPr lang="en-IN"/>
          </a:p>
        </p:txBody>
      </p:sp>
    </p:spTree>
    <p:extLst>
      <p:ext uri="{BB962C8B-B14F-4D97-AF65-F5344CB8AC3E}">
        <p14:creationId xmlns:p14="http://schemas.microsoft.com/office/powerpoint/2010/main" val="2990231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0F1EA2-62CE-060A-75E5-6CB50CB09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DCCF3D8-8C6F-FE0B-F60D-F79DC88F2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05301C-3F45-A70A-F680-CAB716C4C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DF84EE-61D0-4A1D-8169-9FED7C012954}" type="datetimeFigureOut">
              <a:rPr lang="en-IN" smtClean="0"/>
              <a:t>11-01-2025</a:t>
            </a:fld>
            <a:endParaRPr lang="en-IN"/>
          </a:p>
        </p:txBody>
      </p:sp>
      <p:sp>
        <p:nvSpPr>
          <p:cNvPr id="5" name="Footer Placeholder 4">
            <a:extLst>
              <a:ext uri="{FF2B5EF4-FFF2-40B4-BE49-F238E27FC236}">
                <a16:creationId xmlns:a16="http://schemas.microsoft.com/office/drawing/2014/main" id="{A322547D-D490-9D9D-EEA7-C19E8B68E8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941E11-9ACA-0769-7C28-5882F2DF0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8D374A-A2A9-4ACD-9EA9-4E45ECC613A1}" type="slidenum">
              <a:rPr lang="en-IN" smtClean="0"/>
              <a:t>‹#›</a:t>
            </a:fld>
            <a:endParaRPr lang="en-IN"/>
          </a:p>
        </p:txBody>
      </p:sp>
    </p:spTree>
    <p:extLst>
      <p:ext uri="{BB962C8B-B14F-4D97-AF65-F5344CB8AC3E}">
        <p14:creationId xmlns:p14="http://schemas.microsoft.com/office/powerpoint/2010/main" val="24021500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github.com/reduxjs/redux-devtools/tree/main/extension" TargetMode="External"/><Relationship Id="rId3" Type="http://schemas.openxmlformats.org/officeDocument/2006/relationships/hyperlink" Target="https://redux.js.org/tutorials/essentials/part-1-overview-concepts#react-redux" TargetMode="External"/><Relationship Id="rId7" Type="http://schemas.openxmlformats.org/officeDocument/2006/relationships/hyperlink" Target="https://redux.js.org/tutorials/essentials/part-1-overview-concepts#redux-devtools-extension" TargetMode="External"/><Relationship Id="rId2" Type="http://schemas.openxmlformats.org/officeDocument/2006/relationships/hyperlink" Target="https://redux.js.org/tutorials/essentials/part-1-overview-concepts#redux-libraries-and-tools" TargetMode="External"/><Relationship Id="rId1" Type="http://schemas.openxmlformats.org/officeDocument/2006/relationships/slideLayout" Target="../slideLayouts/slideLayout2.xml"/><Relationship Id="rId6" Type="http://schemas.openxmlformats.org/officeDocument/2006/relationships/hyperlink" Target="https://redux-toolkit.js.org/" TargetMode="External"/><Relationship Id="rId5" Type="http://schemas.openxmlformats.org/officeDocument/2006/relationships/hyperlink" Target="https://redux.js.org/tutorials/essentials/part-1-overview-concepts#redux-toolkit" TargetMode="External"/><Relationship Id="rId4" Type="http://schemas.openxmlformats.org/officeDocument/2006/relationships/hyperlink" Target="https://react-redux.js.or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redux.js.org/tutorials/essentials/part-1-overview-concepts#state-manageme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reactjs.org/docs/lifting-state-up.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redux.js.org/tutorials/essentials/part-1-overview-concepts#selector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redux.js.org/introduction/getting-started/#legacy-examp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00C29E-5D5E-CCC8-C3DB-C12025C97691}"/>
              </a:ext>
            </a:extLst>
          </p:cNvPr>
          <p:cNvSpPr txBox="1"/>
          <p:nvPr/>
        </p:nvSpPr>
        <p:spPr>
          <a:xfrm>
            <a:off x="210139" y="0"/>
            <a:ext cx="11771721" cy="2092881"/>
          </a:xfrm>
          <a:prstGeom prst="rect">
            <a:avLst/>
          </a:prstGeom>
          <a:noFill/>
        </p:spPr>
        <p:txBody>
          <a:bodyPr wrap="square">
            <a:spAutoFit/>
          </a:bodyPr>
          <a:lstStyle/>
          <a:p>
            <a:r>
              <a:rPr lang="en-US" b="1" i="0" dirty="0">
                <a:solidFill>
                  <a:srgbClr val="454C55"/>
                </a:solidFill>
                <a:effectLst/>
                <a:latin typeface="Open Sans" panose="020B0606030504020204" pitchFamily="34" charset="0"/>
              </a:rPr>
              <a:t>Redux</a:t>
            </a:r>
            <a:r>
              <a:rPr lang="en-US" b="0" i="0" dirty="0">
                <a:solidFill>
                  <a:srgbClr val="454C55"/>
                </a:solidFill>
                <a:effectLst/>
                <a:latin typeface="Open Sans" panose="020B0606030504020204" pitchFamily="34" charset="0"/>
              </a:rPr>
              <a:t> is quite an excellent State </a:t>
            </a:r>
            <a:r>
              <a:rPr lang="en-US" b="0" i="0" dirty="0" err="1">
                <a:solidFill>
                  <a:srgbClr val="454C55"/>
                </a:solidFill>
                <a:effectLst/>
                <a:latin typeface="Open Sans" panose="020B0606030504020204" pitchFamily="34" charset="0"/>
              </a:rPr>
              <a:t>Managment</a:t>
            </a:r>
            <a:r>
              <a:rPr lang="en-US" b="0" i="0" dirty="0">
                <a:solidFill>
                  <a:srgbClr val="454C55"/>
                </a:solidFill>
                <a:effectLst/>
                <a:latin typeface="Open Sans" panose="020B0606030504020204" pitchFamily="34" charset="0"/>
              </a:rPr>
              <a:t> Framework usually used with React.js library. </a:t>
            </a:r>
          </a:p>
          <a:p>
            <a:endParaRPr lang="en-US" sz="1600" dirty="0">
              <a:solidFill>
                <a:srgbClr val="454C55"/>
              </a:solidFill>
              <a:latin typeface="Open Sans" panose="020B0606030504020204" pitchFamily="34" charset="0"/>
            </a:endParaRPr>
          </a:p>
          <a:p>
            <a:r>
              <a:rPr lang="en-US" sz="1600" b="0" i="0" dirty="0">
                <a:solidFill>
                  <a:srgbClr val="454C55"/>
                </a:solidFill>
                <a:effectLst/>
                <a:latin typeface="Open Sans" panose="020B0606030504020204" pitchFamily="34" charset="0"/>
              </a:rPr>
              <a:t>In Single Page Application, data management at client side is far more complicated than just imagine. Now, you are familiar that, ReactJS is relying on the State of the application. </a:t>
            </a:r>
          </a:p>
          <a:p>
            <a:endParaRPr lang="en-US" sz="1600" dirty="0">
              <a:solidFill>
                <a:srgbClr val="454C55"/>
              </a:solidFill>
              <a:latin typeface="Open Sans" panose="020B0606030504020204" pitchFamily="34" charset="0"/>
            </a:endParaRPr>
          </a:p>
          <a:p>
            <a:r>
              <a:rPr lang="en-US" sz="1600" b="0" i="0" dirty="0">
                <a:solidFill>
                  <a:srgbClr val="454C55"/>
                </a:solidFill>
                <a:effectLst/>
                <a:latin typeface="Open Sans" panose="020B0606030504020204" pitchFamily="34" charset="0"/>
              </a:rPr>
              <a:t>However, In </a:t>
            </a:r>
            <a:r>
              <a:rPr lang="en-US" sz="1600" b="1" i="0" dirty="0">
                <a:solidFill>
                  <a:srgbClr val="454C55"/>
                </a:solidFill>
                <a:effectLst/>
                <a:latin typeface="Open Sans" panose="020B0606030504020204" pitchFamily="34" charset="0"/>
              </a:rPr>
              <a:t>React.js</a:t>
            </a:r>
            <a:r>
              <a:rPr lang="en-US" sz="1600" b="0" i="0" dirty="0">
                <a:solidFill>
                  <a:srgbClr val="454C55"/>
                </a:solidFill>
                <a:effectLst/>
                <a:latin typeface="Open Sans" panose="020B0606030504020204" pitchFamily="34" charset="0"/>
              </a:rPr>
              <a:t> state management is possible, but when the application gets bigger and bigger, unwanted errors and data changes are detected, and which module has changed which state and which view is updated, all these matters get complex, and we feel like, we trapped in our application. </a:t>
            </a:r>
            <a:endParaRPr lang="en-IN" sz="1600" dirty="0"/>
          </a:p>
        </p:txBody>
      </p:sp>
    </p:spTree>
    <p:extLst>
      <p:ext uri="{BB962C8B-B14F-4D97-AF65-F5344CB8AC3E}">
        <p14:creationId xmlns:p14="http://schemas.microsoft.com/office/powerpoint/2010/main" val="2532689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6">
            <a:extLst>
              <a:ext uri="{FF2B5EF4-FFF2-40B4-BE49-F238E27FC236}">
                <a16:creationId xmlns:a16="http://schemas.microsoft.com/office/drawing/2014/main" id="{41C362A1-29EA-DE42-CF1B-55AE24D19B70}"/>
              </a:ext>
            </a:extLst>
          </p:cNvPr>
          <p:cNvGraphicFramePr>
            <a:graphicFrameLocks noGrp="1"/>
          </p:cNvGraphicFramePr>
          <p:nvPr>
            <p:extLst>
              <p:ext uri="{D42A27DB-BD31-4B8C-83A1-F6EECF244321}">
                <p14:modId xmlns:p14="http://schemas.microsoft.com/office/powerpoint/2010/main" val="2687933803"/>
              </p:ext>
            </p:extLst>
          </p:nvPr>
        </p:nvGraphicFramePr>
        <p:xfrm>
          <a:off x="124904" y="153186"/>
          <a:ext cx="11620893" cy="5577840"/>
        </p:xfrm>
        <a:graphic>
          <a:graphicData uri="http://schemas.openxmlformats.org/drawingml/2006/table">
            <a:tbl>
              <a:tblPr firstRow="1" bandRow="1">
                <a:tableStyleId>{5C22544A-7EE6-4342-B048-85BDC9FD1C3A}</a:tableStyleId>
              </a:tblPr>
              <a:tblGrid>
                <a:gridCol w="6139589">
                  <a:extLst>
                    <a:ext uri="{9D8B030D-6E8A-4147-A177-3AD203B41FA5}">
                      <a16:colId xmlns:a16="http://schemas.microsoft.com/office/drawing/2014/main" val="2868427077"/>
                    </a:ext>
                  </a:extLst>
                </a:gridCol>
                <a:gridCol w="5481304">
                  <a:extLst>
                    <a:ext uri="{9D8B030D-6E8A-4147-A177-3AD203B41FA5}">
                      <a16:colId xmlns:a16="http://schemas.microsoft.com/office/drawing/2014/main" val="1683184555"/>
                    </a:ext>
                  </a:extLst>
                </a:gridCol>
              </a:tblGrid>
              <a:tr h="3615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lt1"/>
                          </a:solidFill>
                          <a:effectLst/>
                          <a:latin typeface="+mn-lt"/>
                          <a:ea typeface="+mn-ea"/>
                          <a:cs typeface="+mn-cs"/>
                        </a:rPr>
                        <a:t>Flux</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lt1"/>
                          </a:solidFill>
                          <a:effectLst/>
                          <a:latin typeface="+mn-lt"/>
                          <a:ea typeface="+mn-ea"/>
                          <a:cs typeface="+mn-cs"/>
                        </a:rPr>
                        <a:t>Redux</a:t>
                      </a:r>
                    </a:p>
                    <a:p>
                      <a:endParaRPr lang="en-IN" dirty="0"/>
                    </a:p>
                  </a:txBody>
                  <a:tcPr/>
                </a:tc>
                <a:extLst>
                  <a:ext uri="{0D108BD9-81ED-4DB2-BD59-A6C34878D82A}">
                    <a16:rowId xmlns:a16="http://schemas.microsoft.com/office/drawing/2014/main" val="2614190408"/>
                  </a:ext>
                </a:extLst>
              </a:tr>
              <a:tr h="2194512">
                <a:tc>
                  <a:txBody>
                    <a:bodyPr/>
                    <a:lstStyle/>
                    <a:p>
                      <a:r>
                        <a:rPr lang="en-US" sz="1800" b="0" i="0" kern="1200" dirty="0">
                          <a:solidFill>
                            <a:schemeClr val="dk1"/>
                          </a:solidFill>
                          <a:effectLst/>
                          <a:latin typeface="+mn-lt"/>
                          <a:ea typeface="+mn-ea"/>
                          <a:cs typeface="+mn-cs"/>
                        </a:rPr>
                        <a:t>Fl</a:t>
                      </a:r>
                      <a:r>
                        <a:rPr lang="en-US" sz="1800" b="1" i="0" kern="1200" dirty="0">
                          <a:solidFill>
                            <a:schemeClr val="dk1"/>
                          </a:solidFill>
                          <a:effectLst/>
                          <a:latin typeface="+mn-lt"/>
                          <a:ea typeface="+mn-ea"/>
                          <a:cs typeface="+mn-cs"/>
                        </a:rPr>
                        <a:t>ux</a:t>
                      </a:r>
                      <a:r>
                        <a:rPr lang="en-US" sz="1800" b="0" i="0" kern="1200" dirty="0">
                          <a:solidFill>
                            <a:schemeClr val="dk1"/>
                          </a:solidFill>
                          <a:effectLst/>
                          <a:latin typeface="+mn-lt"/>
                          <a:ea typeface="+mn-ea"/>
                          <a:cs typeface="+mn-cs"/>
                        </a:rPr>
                        <a:t> complements </a:t>
                      </a:r>
                      <a:r>
                        <a:rPr lang="en-US" sz="1800" b="0" i="0" kern="1200" dirty="0" err="1">
                          <a:solidFill>
                            <a:schemeClr val="dk1"/>
                          </a:solidFill>
                          <a:effectLst/>
                          <a:latin typeface="+mn-lt"/>
                          <a:ea typeface="+mn-ea"/>
                          <a:cs typeface="+mn-cs"/>
                        </a:rPr>
                        <a:t>React’s</a:t>
                      </a:r>
                      <a:r>
                        <a:rPr lang="en-US" sz="1800" b="0" i="0" kern="1200" dirty="0">
                          <a:solidFill>
                            <a:schemeClr val="dk1"/>
                          </a:solidFill>
                          <a:effectLst/>
                          <a:latin typeface="+mn-lt"/>
                          <a:ea typeface="+mn-ea"/>
                          <a:cs typeface="+mn-cs"/>
                        </a:rPr>
                        <a:t> </a:t>
                      </a:r>
                      <a:r>
                        <a:rPr lang="en-US" sz="1800" b="1" i="0" kern="1200" dirty="0">
                          <a:solidFill>
                            <a:schemeClr val="dk1"/>
                          </a:solidFill>
                          <a:effectLst/>
                          <a:latin typeface="+mn-lt"/>
                          <a:ea typeface="+mn-ea"/>
                          <a:cs typeface="+mn-cs"/>
                        </a:rPr>
                        <a:t>composable view components </a:t>
                      </a:r>
                      <a:r>
                        <a:rPr lang="en-US" sz="1800" b="0" i="0" kern="1200" dirty="0">
                          <a:solidFill>
                            <a:schemeClr val="dk1"/>
                          </a:solidFill>
                          <a:effectLst/>
                          <a:latin typeface="+mn-lt"/>
                          <a:ea typeface="+mn-ea"/>
                          <a:cs typeface="+mn-cs"/>
                        </a:rPr>
                        <a:t>by utilizing the </a:t>
                      </a:r>
                      <a:r>
                        <a:rPr lang="en-US" sz="1800" b="0" i="0" kern="1200" dirty="0">
                          <a:solidFill>
                            <a:schemeClr val="dk1"/>
                          </a:solidFill>
                          <a:effectLst/>
                          <a:highlight>
                            <a:srgbClr val="FFFF00"/>
                          </a:highlight>
                          <a:latin typeface="+mn-lt"/>
                          <a:ea typeface="+mn-ea"/>
                          <a:cs typeface="+mn-cs"/>
                        </a:rPr>
                        <a:t>unidirectional data flow</a:t>
                      </a:r>
                      <a:r>
                        <a:rPr lang="en-US" sz="1800" b="0" i="0" kern="1200" dirty="0">
                          <a:solidFill>
                            <a:schemeClr val="dk1"/>
                          </a:solidFill>
                          <a:effectLst/>
                          <a:latin typeface="+mn-lt"/>
                          <a:ea typeface="+mn-ea"/>
                          <a:cs typeface="+mn-cs"/>
                        </a:rPr>
                        <a:t>. When the users interact with views, the views propagates actions through a central dispatcher, to the various stores that hold the application data and logic, which updates all of our views that are affected.</a:t>
                      </a:r>
                    </a:p>
                    <a:p>
                      <a:r>
                        <a:rPr lang="en-US" sz="1800" b="0" i="0" kern="1200" dirty="0">
                          <a:solidFill>
                            <a:schemeClr val="dk1"/>
                          </a:solidFill>
                          <a:effectLst/>
                          <a:latin typeface="+mn-lt"/>
                          <a:ea typeface="+mn-ea"/>
                          <a:cs typeface="+mn-cs"/>
                        </a:rPr>
                        <a:t>Flux has </a:t>
                      </a:r>
                      <a:r>
                        <a:rPr lang="en-US" sz="1800" b="0" i="0" kern="1200" dirty="0">
                          <a:solidFill>
                            <a:schemeClr val="dk1"/>
                          </a:solidFill>
                          <a:effectLst/>
                          <a:highlight>
                            <a:srgbClr val="FFFF00"/>
                          </a:highlight>
                          <a:latin typeface="+mn-lt"/>
                          <a:ea typeface="+mn-ea"/>
                          <a:cs typeface="+mn-cs"/>
                        </a:rPr>
                        <a:t>so many stores</a:t>
                      </a:r>
                      <a:r>
                        <a:rPr lang="en-US" sz="1800" b="0" i="0" kern="1200" dirty="0">
                          <a:solidFill>
                            <a:schemeClr val="dk1"/>
                          </a:solidFill>
                          <a:effectLst/>
                          <a:latin typeface="+mn-lt"/>
                          <a:ea typeface="+mn-ea"/>
                          <a:cs typeface="+mn-cs"/>
                        </a:rPr>
                        <a:t>, and each store is using different small part of the state or data of our application. In other words, each different module has its store.</a:t>
                      </a:r>
                    </a:p>
                    <a:p>
                      <a:endParaRPr lang="en-IN" dirty="0"/>
                    </a:p>
                  </a:txBody>
                  <a:tcPr/>
                </a:tc>
                <a:tc>
                  <a:txBody>
                    <a:bodyPr/>
                    <a:lstStyle/>
                    <a:p>
                      <a:r>
                        <a:rPr lang="en-US" sz="1800" b="1" i="0" kern="1200" dirty="0">
                          <a:solidFill>
                            <a:schemeClr val="dk1"/>
                          </a:solidFill>
                          <a:effectLst/>
                          <a:latin typeface="+mn-lt"/>
                          <a:ea typeface="+mn-ea"/>
                          <a:cs typeface="+mn-cs"/>
                        </a:rPr>
                        <a:t>Redux</a:t>
                      </a:r>
                      <a:r>
                        <a:rPr lang="en-US" sz="1800" b="0" i="0" kern="1200" dirty="0">
                          <a:solidFill>
                            <a:schemeClr val="dk1"/>
                          </a:solidFill>
                          <a:effectLst/>
                          <a:latin typeface="+mn-lt"/>
                          <a:ea typeface="+mn-ea"/>
                          <a:cs typeface="+mn-cs"/>
                        </a:rPr>
                        <a:t> is the predictable state container for JavaScript applications. </a:t>
                      </a:r>
                      <a:r>
                        <a:rPr lang="en-US" sz="1800" b="1" i="0" kern="1200" dirty="0">
                          <a:solidFill>
                            <a:schemeClr val="dk1"/>
                          </a:solidFill>
                          <a:effectLst/>
                          <a:latin typeface="+mn-lt"/>
                          <a:ea typeface="+mn-ea"/>
                          <a:cs typeface="+mn-cs"/>
                        </a:rPr>
                        <a:t>Redux</a:t>
                      </a:r>
                      <a:r>
                        <a:rPr lang="en-US" sz="1800" b="0" i="0" kern="1200" dirty="0">
                          <a:solidFill>
                            <a:schemeClr val="dk1"/>
                          </a:solidFill>
                          <a:effectLst/>
                          <a:latin typeface="+mn-lt"/>
                          <a:ea typeface="+mn-ea"/>
                          <a:cs typeface="+mn-cs"/>
                        </a:rPr>
                        <a:t> is also following the Unidirectional flow, but it is entirely different </a:t>
                      </a:r>
                    </a:p>
                    <a:p>
                      <a:r>
                        <a:rPr lang="en-US" sz="1800" b="1" i="0" kern="1200" dirty="0">
                          <a:solidFill>
                            <a:schemeClr val="dk1"/>
                          </a:solidFill>
                          <a:effectLst/>
                          <a:latin typeface="+mn-lt"/>
                          <a:ea typeface="+mn-ea"/>
                          <a:cs typeface="+mn-cs"/>
                        </a:rPr>
                        <a:t>Redux has a Single Store.</a:t>
                      </a:r>
                      <a:endParaRPr lang="en-US" sz="1800" b="0" i="0" kern="1200" dirty="0">
                        <a:solidFill>
                          <a:schemeClr val="dk1"/>
                        </a:solidFill>
                        <a:effectLst/>
                        <a:latin typeface="+mn-lt"/>
                        <a:ea typeface="+mn-ea"/>
                        <a:cs typeface="+mn-cs"/>
                      </a:endParaRPr>
                    </a:p>
                    <a:p>
                      <a:r>
                        <a:rPr lang="en-US" sz="1800" b="1" i="0" kern="1200" dirty="0">
                          <a:solidFill>
                            <a:schemeClr val="dk1"/>
                          </a:solidFill>
                          <a:effectLst/>
                          <a:latin typeface="+mn-lt"/>
                          <a:ea typeface="+mn-ea"/>
                          <a:cs typeface="+mn-cs"/>
                        </a:rPr>
                        <a:t>Redux</a:t>
                      </a:r>
                      <a:r>
                        <a:rPr lang="en-US" sz="1800" b="0" i="0" kern="1200" dirty="0">
                          <a:solidFill>
                            <a:schemeClr val="dk1"/>
                          </a:solidFill>
                          <a:effectLst/>
                          <a:latin typeface="+mn-lt"/>
                          <a:ea typeface="+mn-ea"/>
                          <a:cs typeface="+mn-cs"/>
                        </a:rPr>
                        <a:t> can not have multiple stores. The store is divided into various state objects. So all we need is to maintain the single store, or we can say the only source of truth.</a:t>
                      </a:r>
                    </a:p>
                    <a:p>
                      <a:endParaRPr lang="en-IN" dirty="0"/>
                    </a:p>
                  </a:txBody>
                  <a:tcPr/>
                </a:tc>
                <a:extLst>
                  <a:ext uri="{0D108BD9-81ED-4DB2-BD59-A6C34878D82A}">
                    <a16:rowId xmlns:a16="http://schemas.microsoft.com/office/drawing/2014/main" val="1612275102"/>
                  </a:ext>
                </a:extLst>
              </a:tr>
              <a:tr h="361513">
                <a:tc>
                  <a:txBody>
                    <a:bodyPr/>
                    <a:lstStyle/>
                    <a:p>
                      <a:pPr marL="285750" indent="-285750" fontAlgn="t">
                        <a:buFont typeface="Arial" panose="020B0604020202020204" pitchFamily="34" charset="0"/>
                        <a:buChar char="•"/>
                      </a:pPr>
                      <a:r>
                        <a:rPr lang="en-US" sz="1800" b="0" i="0" kern="1200" dirty="0">
                          <a:solidFill>
                            <a:schemeClr val="dk1"/>
                          </a:solidFill>
                          <a:effectLst/>
                          <a:latin typeface="+mn-lt"/>
                          <a:ea typeface="+mn-ea"/>
                          <a:cs typeface="+mn-cs"/>
                        </a:rPr>
                        <a:t>The user interacts with the view and view triggers an action.</a:t>
                      </a:r>
                    </a:p>
                    <a:p>
                      <a:pPr marL="285750" indent="-285750" fontAlgn="t">
                        <a:buFont typeface="Arial" panose="020B0604020202020204" pitchFamily="34" charset="0"/>
                        <a:buChar char="•"/>
                      </a:pPr>
                      <a:r>
                        <a:rPr lang="en-US" sz="1800" b="0" i="0" kern="1200" dirty="0">
                          <a:solidFill>
                            <a:schemeClr val="dk1"/>
                          </a:solidFill>
                          <a:effectLst/>
                          <a:latin typeface="+mn-lt"/>
                          <a:ea typeface="+mn-ea"/>
                          <a:cs typeface="+mn-cs"/>
                        </a:rPr>
                        <a:t>Action dispatch the corresponding function and then that function change the store.</a:t>
                      </a:r>
                    </a:p>
                    <a:p>
                      <a:pPr marL="285750" indent="-285750" fontAlgn="t">
                        <a:buFont typeface="Arial" panose="020B0604020202020204" pitchFamily="34" charset="0"/>
                        <a:buChar char="•"/>
                      </a:pPr>
                      <a:r>
                        <a:rPr lang="en-US" sz="1800" b="0" i="0" kern="1200" dirty="0">
                          <a:solidFill>
                            <a:schemeClr val="dk1"/>
                          </a:solidFill>
                          <a:effectLst/>
                          <a:latin typeface="+mn-lt"/>
                          <a:ea typeface="+mn-ea"/>
                          <a:cs typeface="+mn-cs"/>
                        </a:rPr>
                        <a:t>When store updates its data, the subscriber views are automatically updated. We do not need to modify the data in different modules manually.</a:t>
                      </a:r>
                    </a:p>
                    <a:p>
                      <a:endParaRPr lang="en-IN" dirty="0"/>
                    </a:p>
                  </a:txBody>
                  <a:tcPr/>
                </a:tc>
                <a:tc>
                  <a:txBody>
                    <a:bodyPr/>
                    <a:lstStyle/>
                    <a:p>
                      <a:pPr marL="285750" indent="-285750" fontAlgn="t">
                        <a:buFont typeface="Arial" panose="020B0604020202020204" pitchFamily="34" charset="0"/>
                        <a:buChar char="•"/>
                      </a:pPr>
                      <a:r>
                        <a:rPr lang="en-US" sz="1800" b="0" i="0" kern="1200" dirty="0">
                          <a:solidFill>
                            <a:schemeClr val="dk1"/>
                          </a:solidFill>
                          <a:effectLst/>
                          <a:latin typeface="+mn-lt"/>
                          <a:ea typeface="+mn-ea"/>
                          <a:cs typeface="+mn-cs"/>
                        </a:rPr>
                        <a:t>Single source of truth.</a:t>
                      </a:r>
                    </a:p>
                    <a:p>
                      <a:pPr marL="285750" indent="-285750" fontAlgn="t">
                        <a:buFont typeface="Arial" panose="020B0604020202020204" pitchFamily="34" charset="0"/>
                        <a:buChar char="•"/>
                      </a:pPr>
                      <a:r>
                        <a:rPr lang="en-US" sz="1800" b="0" i="0" kern="1200" dirty="0">
                          <a:solidFill>
                            <a:schemeClr val="dk1"/>
                          </a:solidFill>
                          <a:effectLst/>
                          <a:latin typeface="+mn-lt"/>
                          <a:ea typeface="+mn-ea"/>
                          <a:cs typeface="+mn-cs"/>
                        </a:rPr>
                        <a:t>The state is read-only.</a:t>
                      </a:r>
                    </a:p>
                    <a:p>
                      <a:pPr marL="285750" indent="-285750" fontAlgn="t">
                        <a:buFont typeface="Arial" panose="020B0604020202020204" pitchFamily="34" charset="0"/>
                        <a:buChar char="•"/>
                      </a:pPr>
                      <a:r>
                        <a:rPr lang="en-US" sz="1800" b="0" i="0" kern="1200" dirty="0">
                          <a:solidFill>
                            <a:schemeClr val="dk1"/>
                          </a:solidFill>
                          <a:effectLst/>
                          <a:latin typeface="+mn-lt"/>
                          <a:ea typeface="+mn-ea"/>
                          <a:cs typeface="+mn-cs"/>
                        </a:rPr>
                        <a:t>Changes are made with pure functions.</a:t>
                      </a:r>
                    </a:p>
                    <a:p>
                      <a:endParaRPr lang="en-IN" dirty="0"/>
                    </a:p>
                  </a:txBody>
                  <a:tcPr/>
                </a:tc>
                <a:extLst>
                  <a:ext uri="{0D108BD9-81ED-4DB2-BD59-A6C34878D82A}">
                    <a16:rowId xmlns:a16="http://schemas.microsoft.com/office/drawing/2014/main" val="1954978167"/>
                  </a:ext>
                </a:extLst>
              </a:tr>
              <a:tr h="361513">
                <a:tc>
                  <a:txBody>
                    <a:bodyPr/>
                    <a:lstStyle/>
                    <a:p>
                      <a:endParaRPr lang="en-IN"/>
                    </a:p>
                  </a:txBody>
                  <a:tcPr/>
                </a:tc>
                <a:tc>
                  <a:txBody>
                    <a:bodyPr/>
                    <a:lstStyle/>
                    <a:p>
                      <a:endParaRPr lang="en-IN" dirty="0"/>
                    </a:p>
                  </a:txBody>
                  <a:tcPr/>
                </a:tc>
                <a:extLst>
                  <a:ext uri="{0D108BD9-81ED-4DB2-BD59-A6C34878D82A}">
                    <a16:rowId xmlns:a16="http://schemas.microsoft.com/office/drawing/2014/main" val="3889827344"/>
                  </a:ext>
                </a:extLst>
              </a:tr>
            </a:tbl>
          </a:graphicData>
        </a:graphic>
      </p:graphicFrame>
    </p:spTree>
    <p:extLst>
      <p:ext uri="{BB962C8B-B14F-4D97-AF65-F5344CB8AC3E}">
        <p14:creationId xmlns:p14="http://schemas.microsoft.com/office/powerpoint/2010/main" val="2121569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162A490-3C33-A55D-7F12-D2AA7CA39237}"/>
              </a:ext>
            </a:extLst>
          </p:cNvPr>
          <p:cNvSpPr txBox="1"/>
          <p:nvPr/>
        </p:nvSpPr>
        <p:spPr>
          <a:xfrm>
            <a:off x="2038547" y="296101"/>
            <a:ext cx="609442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1" i="0" dirty="0">
                <a:solidFill>
                  <a:srgbClr val="1C1E21"/>
                </a:solidFill>
                <a:effectLst/>
                <a:latin typeface="system-ui"/>
              </a:rPr>
              <a:t>Why Should I Use Redux?</a:t>
            </a:r>
          </a:p>
        </p:txBody>
      </p:sp>
      <p:sp>
        <p:nvSpPr>
          <p:cNvPr id="7" name="TextBox 6">
            <a:extLst>
              <a:ext uri="{FF2B5EF4-FFF2-40B4-BE49-F238E27FC236}">
                <a16:creationId xmlns:a16="http://schemas.microsoft.com/office/drawing/2014/main" id="{C964E239-3C39-CC19-3F9D-29A1CD3E825F}"/>
              </a:ext>
            </a:extLst>
          </p:cNvPr>
          <p:cNvSpPr txBox="1"/>
          <p:nvPr/>
        </p:nvSpPr>
        <p:spPr>
          <a:xfrm>
            <a:off x="370001" y="1027051"/>
            <a:ext cx="11432357" cy="923330"/>
          </a:xfrm>
          <a:prstGeom prst="rect">
            <a:avLst/>
          </a:prstGeom>
          <a:noFill/>
        </p:spPr>
        <p:txBody>
          <a:bodyPr wrap="square">
            <a:spAutoFit/>
          </a:bodyPr>
          <a:lstStyle/>
          <a:p>
            <a:pPr algn="l"/>
            <a:r>
              <a:rPr lang="en-US" b="0" i="0" dirty="0">
                <a:solidFill>
                  <a:srgbClr val="1C1E21"/>
                </a:solidFill>
                <a:effectLst/>
                <a:latin typeface="system-ui"/>
              </a:rPr>
              <a:t>Redux helps you manage "global" state - state that is needed across many parts of your application.</a:t>
            </a:r>
          </a:p>
          <a:p>
            <a:pPr algn="l"/>
            <a:r>
              <a:rPr lang="en-US" b="1" i="0" dirty="0">
                <a:solidFill>
                  <a:srgbClr val="1C1E21"/>
                </a:solidFill>
                <a:effectLst/>
                <a:latin typeface="system-ui"/>
              </a:rPr>
              <a:t>The patterns and tools provided by Redux make it easier to understand when, where, why, and how the state in your application is being updated, and how your application logic will behave when those changes occur</a:t>
            </a:r>
            <a:r>
              <a:rPr lang="en-US" b="0" i="0" dirty="0">
                <a:solidFill>
                  <a:srgbClr val="1C1E21"/>
                </a:solidFill>
                <a:effectLst/>
                <a:latin typeface="system-ui"/>
              </a:rPr>
              <a:t>.</a:t>
            </a:r>
          </a:p>
        </p:txBody>
      </p:sp>
      <p:sp>
        <p:nvSpPr>
          <p:cNvPr id="9" name="TextBox 8">
            <a:extLst>
              <a:ext uri="{FF2B5EF4-FFF2-40B4-BE49-F238E27FC236}">
                <a16:creationId xmlns:a16="http://schemas.microsoft.com/office/drawing/2014/main" id="{A84B7D5F-6274-B8B6-914A-5C40E1D9FBB0}"/>
              </a:ext>
            </a:extLst>
          </p:cNvPr>
          <p:cNvSpPr txBox="1"/>
          <p:nvPr/>
        </p:nvSpPr>
        <p:spPr>
          <a:xfrm>
            <a:off x="2038547" y="2127333"/>
            <a:ext cx="609442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1" i="0" dirty="0">
                <a:solidFill>
                  <a:srgbClr val="1C1E21"/>
                </a:solidFill>
                <a:effectLst/>
                <a:latin typeface="system-ui"/>
              </a:rPr>
              <a:t>When Should I Use Redux?</a:t>
            </a:r>
          </a:p>
        </p:txBody>
      </p:sp>
      <p:sp>
        <p:nvSpPr>
          <p:cNvPr id="11" name="TextBox 10">
            <a:extLst>
              <a:ext uri="{FF2B5EF4-FFF2-40B4-BE49-F238E27FC236}">
                <a16:creationId xmlns:a16="http://schemas.microsoft.com/office/drawing/2014/main" id="{BBA3BA2E-A174-226D-4272-0CAB082B135D}"/>
              </a:ext>
            </a:extLst>
          </p:cNvPr>
          <p:cNvSpPr txBox="1"/>
          <p:nvPr/>
        </p:nvSpPr>
        <p:spPr>
          <a:xfrm>
            <a:off x="370001" y="2773193"/>
            <a:ext cx="10715919" cy="2031325"/>
          </a:xfrm>
          <a:prstGeom prst="rect">
            <a:avLst/>
          </a:prstGeom>
          <a:noFill/>
        </p:spPr>
        <p:txBody>
          <a:bodyPr wrap="square">
            <a:spAutoFit/>
          </a:bodyPr>
          <a:lstStyle/>
          <a:p>
            <a:pPr algn="l"/>
            <a:r>
              <a:rPr lang="en-US" b="0" i="0" dirty="0">
                <a:solidFill>
                  <a:srgbClr val="1C1E21"/>
                </a:solidFill>
                <a:effectLst/>
                <a:latin typeface="system-ui"/>
              </a:rPr>
              <a:t>Redux is more useful when:</a:t>
            </a:r>
          </a:p>
          <a:p>
            <a:pPr algn="l">
              <a:buFont typeface="Arial" panose="020B0604020202020204" pitchFamily="34" charset="0"/>
              <a:buChar char="•"/>
            </a:pPr>
            <a:r>
              <a:rPr lang="en-US" b="0" i="0" dirty="0">
                <a:solidFill>
                  <a:srgbClr val="1C1E21"/>
                </a:solidFill>
                <a:effectLst/>
                <a:latin typeface="system-ui"/>
              </a:rPr>
              <a:t>You have large amounts of application state that are needed in many places in the app</a:t>
            </a:r>
          </a:p>
          <a:p>
            <a:pPr algn="l">
              <a:buFont typeface="Arial" panose="020B0604020202020204" pitchFamily="34" charset="0"/>
              <a:buChar char="•"/>
            </a:pPr>
            <a:r>
              <a:rPr lang="en-US" b="0" i="0" dirty="0">
                <a:solidFill>
                  <a:srgbClr val="1C1E21"/>
                </a:solidFill>
                <a:effectLst/>
                <a:latin typeface="system-ui"/>
              </a:rPr>
              <a:t>The app state is updated frequently over time</a:t>
            </a:r>
          </a:p>
          <a:p>
            <a:pPr algn="l">
              <a:buFont typeface="Arial" panose="020B0604020202020204" pitchFamily="34" charset="0"/>
              <a:buChar char="•"/>
            </a:pPr>
            <a:r>
              <a:rPr lang="en-US" b="0" i="0" dirty="0">
                <a:solidFill>
                  <a:srgbClr val="1C1E21"/>
                </a:solidFill>
                <a:effectLst/>
                <a:latin typeface="system-ui"/>
              </a:rPr>
              <a:t>The logic to update that state may be complex</a:t>
            </a:r>
          </a:p>
          <a:p>
            <a:pPr algn="l">
              <a:buFont typeface="Arial" panose="020B0604020202020204" pitchFamily="34" charset="0"/>
              <a:buChar char="•"/>
            </a:pPr>
            <a:r>
              <a:rPr lang="en-US" b="0" i="0" dirty="0">
                <a:solidFill>
                  <a:srgbClr val="1C1E21"/>
                </a:solidFill>
                <a:effectLst/>
                <a:latin typeface="system-ui"/>
              </a:rPr>
              <a:t>The app has a medium or large-sized codebase, and might be worked on by many people</a:t>
            </a:r>
          </a:p>
          <a:p>
            <a:pPr algn="l"/>
            <a:r>
              <a:rPr lang="en-US" b="1" i="0" dirty="0">
                <a:solidFill>
                  <a:srgbClr val="1C1E21"/>
                </a:solidFill>
                <a:effectLst/>
                <a:latin typeface="system-ui"/>
              </a:rPr>
              <a:t>Not all apps need Redux. Take some time to think about the kind of app you're building, and decide what tools would be best to help solve the problems you're working on.</a:t>
            </a:r>
            <a:endParaRPr lang="en-US" b="0" i="0" dirty="0">
              <a:solidFill>
                <a:srgbClr val="1C1E21"/>
              </a:solidFill>
              <a:effectLst/>
              <a:latin typeface="system-ui"/>
            </a:endParaRPr>
          </a:p>
        </p:txBody>
      </p:sp>
    </p:spTree>
    <p:extLst>
      <p:ext uri="{BB962C8B-B14F-4D97-AF65-F5344CB8AC3E}">
        <p14:creationId xmlns:p14="http://schemas.microsoft.com/office/powerpoint/2010/main" val="4277209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29B4A3-3898-3F75-45E5-E61BE1B8D5BA}"/>
              </a:ext>
            </a:extLst>
          </p:cNvPr>
          <p:cNvSpPr txBox="1"/>
          <p:nvPr/>
        </p:nvSpPr>
        <p:spPr>
          <a:xfrm>
            <a:off x="219174" y="91614"/>
            <a:ext cx="10329419" cy="646331"/>
          </a:xfrm>
          <a:prstGeom prst="rect">
            <a:avLst/>
          </a:prstGeom>
          <a:noFill/>
        </p:spPr>
        <p:txBody>
          <a:bodyPr wrap="square">
            <a:spAutoFit/>
          </a:bodyPr>
          <a:lstStyle/>
          <a:p>
            <a:pPr algn="l"/>
            <a:r>
              <a:rPr lang="en-US" b="1" i="0" dirty="0">
                <a:solidFill>
                  <a:srgbClr val="1C1E21"/>
                </a:solidFill>
                <a:effectLst/>
                <a:latin typeface="system-ui"/>
              </a:rPr>
              <a:t>Redux Libraries and Tools</a:t>
            </a:r>
            <a:r>
              <a:rPr lang="en-US" b="1" i="0" dirty="0">
                <a:solidFill>
                  <a:srgbClr val="1C1E21"/>
                </a:solidFill>
                <a:effectLst/>
                <a:latin typeface="system-ui"/>
                <a:hlinkClick r:id="rId2" tooltip="Direct link to heading"/>
              </a:rPr>
              <a:t>​</a:t>
            </a:r>
            <a:endParaRPr lang="en-US" b="1" i="0" dirty="0">
              <a:solidFill>
                <a:srgbClr val="1C1E21"/>
              </a:solidFill>
              <a:effectLst/>
              <a:latin typeface="system-ui"/>
            </a:endParaRPr>
          </a:p>
          <a:p>
            <a:pPr algn="l"/>
            <a:r>
              <a:rPr lang="en-US" b="0" i="0" dirty="0">
                <a:solidFill>
                  <a:srgbClr val="1C1E21"/>
                </a:solidFill>
                <a:effectLst/>
                <a:latin typeface="system-ui"/>
              </a:rPr>
              <a:t>Redux is a small standalone JS library. </a:t>
            </a:r>
          </a:p>
        </p:txBody>
      </p:sp>
      <p:sp>
        <p:nvSpPr>
          <p:cNvPr id="7" name="TextBox 6">
            <a:extLst>
              <a:ext uri="{FF2B5EF4-FFF2-40B4-BE49-F238E27FC236}">
                <a16:creationId xmlns:a16="http://schemas.microsoft.com/office/drawing/2014/main" id="{040E40E7-EBE9-6A17-6492-DA9032EDC6F3}"/>
              </a:ext>
            </a:extLst>
          </p:cNvPr>
          <p:cNvSpPr txBox="1"/>
          <p:nvPr/>
        </p:nvSpPr>
        <p:spPr>
          <a:xfrm>
            <a:off x="134332" y="963246"/>
            <a:ext cx="11498344" cy="2308324"/>
          </a:xfrm>
          <a:prstGeom prst="rect">
            <a:avLst/>
          </a:prstGeom>
          <a:noFill/>
        </p:spPr>
        <p:txBody>
          <a:bodyPr wrap="square">
            <a:spAutoFit/>
          </a:bodyPr>
          <a:lstStyle/>
          <a:p>
            <a:pPr algn="l"/>
            <a:r>
              <a:rPr lang="en-US" b="1" i="0" dirty="0">
                <a:solidFill>
                  <a:srgbClr val="1C1E21"/>
                </a:solidFill>
                <a:effectLst/>
                <a:latin typeface="system-ui"/>
              </a:rPr>
              <a:t>React-Redux</a:t>
            </a:r>
            <a:r>
              <a:rPr lang="en-US" b="1" i="0" dirty="0">
                <a:solidFill>
                  <a:srgbClr val="1C1E21"/>
                </a:solidFill>
                <a:effectLst/>
                <a:latin typeface="system-ui"/>
                <a:hlinkClick r:id="rId3" tooltip="Direct link to heading"/>
              </a:rPr>
              <a:t>​</a:t>
            </a:r>
            <a:endParaRPr lang="en-US" b="1" i="0" dirty="0">
              <a:solidFill>
                <a:srgbClr val="1C1E21"/>
              </a:solidFill>
              <a:effectLst/>
              <a:latin typeface="system-ui"/>
            </a:endParaRPr>
          </a:p>
          <a:p>
            <a:pPr algn="l"/>
            <a:r>
              <a:rPr lang="en-US" b="0" i="0" dirty="0">
                <a:solidFill>
                  <a:srgbClr val="1C1E21"/>
                </a:solidFill>
                <a:effectLst/>
                <a:latin typeface="system-ui"/>
              </a:rPr>
              <a:t>Redux can integrate with any UI framework, and is most frequently used with React. </a:t>
            </a:r>
            <a:r>
              <a:rPr lang="en-US" b="1" i="0" dirty="0">
                <a:solidFill>
                  <a:srgbClr val="1C1E21"/>
                </a:solidFill>
                <a:effectLst/>
                <a:latin typeface="system-ui"/>
                <a:hlinkClick r:id="rId4"/>
              </a:rPr>
              <a:t>React-Redux</a:t>
            </a:r>
            <a:r>
              <a:rPr lang="en-US" b="0" i="0" dirty="0">
                <a:solidFill>
                  <a:srgbClr val="1C1E21"/>
                </a:solidFill>
                <a:effectLst/>
                <a:latin typeface="system-ui"/>
              </a:rPr>
              <a:t> is our official package that lets your React components interact with a Redux store by reading pieces of state and dispatching actions to update the store.</a:t>
            </a:r>
          </a:p>
          <a:p>
            <a:pPr algn="l"/>
            <a:endParaRPr lang="en-US" b="0" i="0" dirty="0">
              <a:solidFill>
                <a:srgbClr val="1C1E21"/>
              </a:solidFill>
              <a:effectLst/>
              <a:latin typeface="system-ui"/>
            </a:endParaRPr>
          </a:p>
          <a:p>
            <a:pPr algn="l"/>
            <a:r>
              <a:rPr lang="en-US" b="1" i="0" dirty="0">
                <a:solidFill>
                  <a:srgbClr val="1C1E21"/>
                </a:solidFill>
                <a:effectLst/>
                <a:latin typeface="system-ui"/>
              </a:rPr>
              <a:t>Redux Toolkit</a:t>
            </a:r>
            <a:r>
              <a:rPr lang="en-US" b="1" i="0" dirty="0">
                <a:solidFill>
                  <a:srgbClr val="1C1E21"/>
                </a:solidFill>
                <a:effectLst/>
                <a:latin typeface="system-ui"/>
                <a:hlinkClick r:id="rId5" tooltip="Direct link to heading"/>
              </a:rPr>
              <a:t>​</a:t>
            </a:r>
            <a:endParaRPr lang="en-US" b="1" i="0" dirty="0">
              <a:solidFill>
                <a:srgbClr val="1C1E21"/>
              </a:solidFill>
              <a:effectLst/>
              <a:latin typeface="system-ui"/>
            </a:endParaRPr>
          </a:p>
          <a:p>
            <a:pPr algn="l"/>
            <a:r>
              <a:rPr lang="en-US" b="1" i="0" dirty="0">
                <a:solidFill>
                  <a:srgbClr val="1C1E21"/>
                </a:solidFill>
                <a:effectLst/>
                <a:latin typeface="system-ui"/>
                <a:hlinkClick r:id="rId6"/>
              </a:rPr>
              <a:t>Redux Toolkit</a:t>
            </a:r>
            <a:r>
              <a:rPr lang="en-US" b="0" i="0" dirty="0">
                <a:solidFill>
                  <a:srgbClr val="1C1E21"/>
                </a:solidFill>
                <a:effectLst/>
                <a:latin typeface="system-ui"/>
              </a:rPr>
              <a:t> is our recommended approach for writing Redux logic. It contains packages and functions that we think are essential for building a Redux app</a:t>
            </a:r>
          </a:p>
        </p:txBody>
      </p:sp>
      <p:sp>
        <p:nvSpPr>
          <p:cNvPr id="9" name="TextBox 8">
            <a:extLst>
              <a:ext uri="{FF2B5EF4-FFF2-40B4-BE49-F238E27FC236}">
                <a16:creationId xmlns:a16="http://schemas.microsoft.com/office/drawing/2014/main" id="{2DDB310B-3E7D-6DA1-74C4-A3A2D4A65EC9}"/>
              </a:ext>
            </a:extLst>
          </p:cNvPr>
          <p:cNvSpPr txBox="1"/>
          <p:nvPr/>
        </p:nvSpPr>
        <p:spPr>
          <a:xfrm>
            <a:off x="134332" y="3429000"/>
            <a:ext cx="11272101" cy="646331"/>
          </a:xfrm>
          <a:prstGeom prst="rect">
            <a:avLst/>
          </a:prstGeom>
          <a:noFill/>
        </p:spPr>
        <p:txBody>
          <a:bodyPr wrap="square">
            <a:spAutoFit/>
          </a:bodyPr>
          <a:lstStyle/>
          <a:p>
            <a:pPr algn="l"/>
            <a:r>
              <a:rPr lang="en-US" b="1" i="0" dirty="0">
                <a:solidFill>
                  <a:srgbClr val="1C1E21"/>
                </a:solidFill>
                <a:effectLst/>
                <a:latin typeface="system-ui"/>
              </a:rPr>
              <a:t>Redux </a:t>
            </a:r>
            <a:r>
              <a:rPr lang="en-US" b="1" i="0" dirty="0" err="1">
                <a:solidFill>
                  <a:srgbClr val="1C1E21"/>
                </a:solidFill>
                <a:effectLst/>
                <a:latin typeface="system-ui"/>
              </a:rPr>
              <a:t>DevTools</a:t>
            </a:r>
            <a:r>
              <a:rPr lang="en-US" b="1" i="0" dirty="0">
                <a:solidFill>
                  <a:srgbClr val="1C1E21"/>
                </a:solidFill>
                <a:effectLst/>
                <a:latin typeface="system-ui"/>
              </a:rPr>
              <a:t> Extension</a:t>
            </a:r>
            <a:r>
              <a:rPr lang="en-US" b="1" i="0" dirty="0">
                <a:solidFill>
                  <a:srgbClr val="1C1E21"/>
                </a:solidFill>
                <a:effectLst/>
                <a:latin typeface="system-ui"/>
                <a:hlinkClick r:id="rId7" tooltip="Direct link to heading"/>
              </a:rPr>
              <a:t>​</a:t>
            </a:r>
            <a:endParaRPr lang="en-US" b="1" i="0" dirty="0">
              <a:solidFill>
                <a:srgbClr val="1C1E21"/>
              </a:solidFill>
              <a:effectLst/>
              <a:latin typeface="system-ui"/>
            </a:endParaRPr>
          </a:p>
          <a:p>
            <a:pPr algn="l"/>
            <a:r>
              <a:rPr lang="en-US" b="0" i="0" dirty="0">
                <a:solidFill>
                  <a:srgbClr val="1C1E21"/>
                </a:solidFill>
                <a:effectLst/>
                <a:latin typeface="system-ui"/>
              </a:rPr>
              <a:t>The </a:t>
            </a:r>
            <a:r>
              <a:rPr lang="en-US" b="1" i="0" dirty="0">
                <a:solidFill>
                  <a:srgbClr val="1C1E21"/>
                </a:solidFill>
                <a:effectLst/>
                <a:latin typeface="system-ui"/>
                <a:hlinkClick r:id="rId8"/>
              </a:rPr>
              <a:t>Redux </a:t>
            </a:r>
            <a:r>
              <a:rPr lang="en-US" b="1" i="0" dirty="0" err="1">
                <a:solidFill>
                  <a:srgbClr val="1C1E21"/>
                </a:solidFill>
                <a:effectLst/>
                <a:latin typeface="system-ui"/>
                <a:hlinkClick r:id="rId8"/>
              </a:rPr>
              <a:t>DevTools</a:t>
            </a:r>
            <a:r>
              <a:rPr lang="en-US" b="1" i="0" dirty="0">
                <a:solidFill>
                  <a:srgbClr val="1C1E21"/>
                </a:solidFill>
                <a:effectLst/>
                <a:latin typeface="system-ui"/>
                <a:hlinkClick r:id="rId8"/>
              </a:rPr>
              <a:t> Extension</a:t>
            </a:r>
            <a:r>
              <a:rPr lang="en-US" b="0" i="0" dirty="0">
                <a:solidFill>
                  <a:srgbClr val="1C1E21"/>
                </a:solidFill>
                <a:effectLst/>
                <a:latin typeface="system-ui"/>
              </a:rPr>
              <a:t> shows a history of the changes to the state in your Redux store over time</a:t>
            </a:r>
          </a:p>
        </p:txBody>
      </p:sp>
    </p:spTree>
    <p:extLst>
      <p:ext uri="{BB962C8B-B14F-4D97-AF65-F5344CB8AC3E}">
        <p14:creationId xmlns:p14="http://schemas.microsoft.com/office/powerpoint/2010/main" val="1180156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FA3DAA-CD13-F85E-B8A9-6AC854FE9358}"/>
              </a:ext>
            </a:extLst>
          </p:cNvPr>
          <p:cNvSpPr txBox="1"/>
          <p:nvPr/>
        </p:nvSpPr>
        <p:spPr>
          <a:xfrm>
            <a:off x="2557021" y="107564"/>
            <a:ext cx="609442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b="1" i="0" dirty="0">
                <a:solidFill>
                  <a:srgbClr val="1C1E21"/>
                </a:solidFill>
                <a:effectLst/>
                <a:latin typeface="system-ui"/>
              </a:rPr>
              <a:t>Redux Terms and Concepts</a:t>
            </a:r>
          </a:p>
        </p:txBody>
      </p:sp>
      <p:sp>
        <p:nvSpPr>
          <p:cNvPr id="7" name="TextBox 6">
            <a:extLst>
              <a:ext uri="{FF2B5EF4-FFF2-40B4-BE49-F238E27FC236}">
                <a16:creationId xmlns:a16="http://schemas.microsoft.com/office/drawing/2014/main" id="{E8A313EE-ACFA-FE59-B2FB-FC5049BF8288}"/>
              </a:ext>
            </a:extLst>
          </p:cNvPr>
          <p:cNvSpPr txBox="1"/>
          <p:nvPr/>
        </p:nvSpPr>
        <p:spPr>
          <a:xfrm>
            <a:off x="313834" y="565101"/>
            <a:ext cx="11564332" cy="923330"/>
          </a:xfrm>
          <a:prstGeom prst="rect">
            <a:avLst/>
          </a:prstGeom>
          <a:noFill/>
        </p:spPr>
        <p:txBody>
          <a:bodyPr wrap="square">
            <a:spAutoFit/>
          </a:bodyPr>
          <a:lstStyle/>
          <a:p>
            <a:pPr algn="l"/>
            <a:r>
              <a:rPr lang="en-US" b="1" i="0" dirty="0">
                <a:solidFill>
                  <a:srgbClr val="1C1E21"/>
                </a:solidFill>
                <a:effectLst/>
                <a:latin typeface="system-ui"/>
              </a:rPr>
              <a:t>State Management</a:t>
            </a:r>
            <a:r>
              <a:rPr lang="en-US" b="1" i="0" dirty="0">
                <a:solidFill>
                  <a:srgbClr val="1C1E21"/>
                </a:solidFill>
                <a:effectLst/>
                <a:latin typeface="system-ui"/>
                <a:hlinkClick r:id="rId2" tooltip="Direct link to heading"/>
              </a:rPr>
              <a:t>​</a:t>
            </a:r>
            <a:endParaRPr lang="en-US" b="1" i="0" dirty="0">
              <a:solidFill>
                <a:srgbClr val="1C1E21"/>
              </a:solidFill>
              <a:effectLst/>
              <a:latin typeface="system-ui"/>
            </a:endParaRPr>
          </a:p>
          <a:p>
            <a:pPr algn="l"/>
            <a:r>
              <a:rPr lang="en-US" b="0" i="0" dirty="0">
                <a:solidFill>
                  <a:srgbClr val="1C1E21"/>
                </a:solidFill>
                <a:effectLst/>
                <a:latin typeface="system-ui"/>
              </a:rPr>
              <a:t>Let's start by looking at a small React counter component. It tracks a number in component state, and increments the number when a button is clicked:</a:t>
            </a:r>
          </a:p>
        </p:txBody>
      </p:sp>
      <p:sp>
        <p:nvSpPr>
          <p:cNvPr id="9" name="TextBox 8">
            <a:extLst>
              <a:ext uri="{FF2B5EF4-FFF2-40B4-BE49-F238E27FC236}">
                <a16:creationId xmlns:a16="http://schemas.microsoft.com/office/drawing/2014/main" id="{D3B64A2C-04F0-D1CA-FA9A-A7D573DE32C3}"/>
              </a:ext>
            </a:extLst>
          </p:cNvPr>
          <p:cNvSpPr txBox="1"/>
          <p:nvPr/>
        </p:nvSpPr>
        <p:spPr>
          <a:xfrm>
            <a:off x="181466" y="1576636"/>
            <a:ext cx="5757421" cy="5078313"/>
          </a:xfrm>
          <a:prstGeom prst="rect">
            <a:avLst/>
          </a:prstGeom>
          <a:solidFill>
            <a:schemeClr val="tx1"/>
          </a:solidFill>
        </p:spPr>
        <p:txBody>
          <a:bodyPr wrap="square">
            <a:spAutoFit/>
          </a:bodyPr>
          <a:lstStyle/>
          <a:p>
            <a:r>
              <a:rPr lang="en-IN" b="0" i="0" dirty="0">
                <a:solidFill>
                  <a:srgbClr val="F92672"/>
                </a:solidFill>
                <a:effectLst/>
                <a:latin typeface="SFMono-Regular"/>
              </a:rPr>
              <a:t>function</a:t>
            </a:r>
            <a:r>
              <a:rPr lang="en-IN" b="0" i="0" dirty="0">
                <a:solidFill>
                  <a:srgbClr val="F8F8F2"/>
                </a:solidFill>
                <a:effectLst/>
                <a:latin typeface="SFMono-Regular"/>
              </a:rPr>
              <a:t> </a:t>
            </a:r>
            <a:r>
              <a:rPr lang="en-IN" b="0" i="0" dirty="0">
                <a:solidFill>
                  <a:srgbClr val="E6D874"/>
                </a:solidFill>
                <a:effectLst/>
                <a:latin typeface="SFMono-Regular"/>
              </a:rPr>
              <a:t>Counter</a:t>
            </a:r>
            <a:r>
              <a:rPr lang="en-IN" b="0" i="0" dirty="0">
                <a:solidFill>
                  <a:srgbClr val="F8F8F2"/>
                </a:solidFill>
                <a:effectLst/>
                <a:latin typeface="SFMono-Regular"/>
              </a:rPr>
              <a:t>() {</a:t>
            </a:r>
            <a:br>
              <a:rPr lang="en-IN" b="0" i="0" dirty="0">
                <a:solidFill>
                  <a:srgbClr val="F8F8F2"/>
                </a:solidFill>
                <a:effectLst/>
                <a:latin typeface="SFMono-Regular"/>
              </a:rPr>
            </a:br>
            <a:r>
              <a:rPr lang="en-IN" b="0" i="0" dirty="0">
                <a:solidFill>
                  <a:srgbClr val="C6CAD2"/>
                </a:solidFill>
                <a:effectLst/>
                <a:latin typeface="SFMono-Regular"/>
              </a:rPr>
              <a:t>// State: a counter value</a:t>
            </a:r>
            <a:br>
              <a:rPr lang="en-IN" b="0" i="0" dirty="0">
                <a:solidFill>
                  <a:srgbClr val="F8F8F2"/>
                </a:solidFill>
                <a:effectLst/>
                <a:latin typeface="SFMono-Regular"/>
              </a:rPr>
            </a:br>
            <a:r>
              <a:rPr lang="en-IN" b="0" i="0" dirty="0" err="1">
                <a:solidFill>
                  <a:srgbClr val="F92672"/>
                </a:solidFill>
                <a:effectLst/>
                <a:latin typeface="SFMono-Regular"/>
              </a:rPr>
              <a:t>const</a:t>
            </a:r>
            <a:r>
              <a:rPr lang="en-IN" b="0" i="0" dirty="0">
                <a:solidFill>
                  <a:srgbClr val="F8F8F2"/>
                </a:solidFill>
                <a:effectLst/>
                <a:latin typeface="SFMono-Regular"/>
              </a:rPr>
              <a:t> [counter, </a:t>
            </a:r>
            <a:r>
              <a:rPr lang="en-IN" b="0" i="0" dirty="0" err="1">
                <a:solidFill>
                  <a:srgbClr val="F8F8F2"/>
                </a:solidFill>
                <a:effectLst/>
                <a:latin typeface="SFMono-Regular"/>
              </a:rPr>
              <a:t>setCounter</a:t>
            </a:r>
            <a:r>
              <a:rPr lang="en-IN" b="0" i="0" dirty="0">
                <a:solidFill>
                  <a:srgbClr val="F8F8F2"/>
                </a:solidFill>
                <a:effectLst/>
                <a:latin typeface="SFMono-Regular"/>
              </a:rPr>
              <a:t>] = </a:t>
            </a:r>
            <a:r>
              <a:rPr lang="en-IN" b="0" i="0" dirty="0" err="1">
                <a:solidFill>
                  <a:srgbClr val="E6D874"/>
                </a:solidFill>
                <a:effectLst/>
                <a:latin typeface="SFMono-Regular"/>
              </a:rPr>
              <a:t>useState</a:t>
            </a:r>
            <a:r>
              <a:rPr lang="en-IN" b="0" i="0" dirty="0">
                <a:solidFill>
                  <a:srgbClr val="F8F8F2"/>
                </a:solidFill>
                <a:effectLst/>
                <a:latin typeface="SFMono-Regular"/>
              </a:rPr>
              <a:t>(</a:t>
            </a:r>
            <a:r>
              <a:rPr lang="en-IN" b="0" i="0" dirty="0">
                <a:solidFill>
                  <a:srgbClr val="AE81FF"/>
                </a:solidFill>
                <a:effectLst/>
                <a:latin typeface="SFMono-Regular"/>
              </a:rPr>
              <a:t>0</a:t>
            </a:r>
            <a:r>
              <a:rPr lang="en-IN" b="0" i="0" dirty="0">
                <a:solidFill>
                  <a:srgbClr val="F8F8F2"/>
                </a:solidFill>
                <a:effectLst/>
                <a:latin typeface="SFMono-Regular"/>
              </a:rPr>
              <a:t>)</a:t>
            </a:r>
            <a:br>
              <a:rPr lang="en-IN" b="0" i="0" dirty="0">
                <a:solidFill>
                  <a:srgbClr val="F8F8F2"/>
                </a:solidFill>
                <a:effectLst/>
                <a:latin typeface="SFMono-Regular"/>
              </a:rPr>
            </a:br>
            <a:br>
              <a:rPr lang="en-IN" b="0" i="0" dirty="0">
                <a:solidFill>
                  <a:srgbClr val="F8F8F2"/>
                </a:solidFill>
                <a:effectLst/>
                <a:latin typeface="SFMono-Regular"/>
              </a:rPr>
            </a:br>
            <a:r>
              <a:rPr lang="en-IN" b="0" i="0" dirty="0">
                <a:solidFill>
                  <a:srgbClr val="C6CAD2"/>
                </a:solidFill>
                <a:effectLst/>
                <a:latin typeface="SFMono-Regular"/>
              </a:rPr>
              <a:t>// Action: code that causes an update to the state when something happens</a:t>
            </a:r>
            <a:br>
              <a:rPr lang="en-IN" b="0" i="0" dirty="0">
                <a:solidFill>
                  <a:srgbClr val="F8F8F2"/>
                </a:solidFill>
                <a:effectLst/>
                <a:latin typeface="SFMono-Regular"/>
              </a:rPr>
            </a:br>
            <a:r>
              <a:rPr lang="en-IN" b="0" i="0" dirty="0" err="1">
                <a:solidFill>
                  <a:srgbClr val="F92672"/>
                </a:solidFill>
                <a:effectLst/>
                <a:latin typeface="SFMono-Regular"/>
              </a:rPr>
              <a:t>const</a:t>
            </a:r>
            <a:r>
              <a:rPr lang="en-IN" b="0" i="0" dirty="0">
                <a:solidFill>
                  <a:srgbClr val="F8F8F2"/>
                </a:solidFill>
                <a:effectLst/>
                <a:latin typeface="SFMono-Regular"/>
              </a:rPr>
              <a:t> </a:t>
            </a:r>
            <a:r>
              <a:rPr lang="en-IN" b="0" i="0" dirty="0">
                <a:solidFill>
                  <a:srgbClr val="E6D874"/>
                </a:solidFill>
                <a:effectLst/>
                <a:latin typeface="SFMono-Regular"/>
              </a:rPr>
              <a:t>increment</a:t>
            </a:r>
            <a:r>
              <a:rPr lang="en-IN" b="0" i="0" dirty="0">
                <a:solidFill>
                  <a:srgbClr val="F8F8F2"/>
                </a:solidFill>
                <a:effectLst/>
                <a:latin typeface="SFMono-Regular"/>
              </a:rPr>
              <a:t> = () =&gt; {</a:t>
            </a:r>
            <a:br>
              <a:rPr lang="en-IN" b="0" i="0" dirty="0">
                <a:solidFill>
                  <a:srgbClr val="F8F8F2"/>
                </a:solidFill>
                <a:effectLst/>
                <a:latin typeface="SFMono-Regular"/>
              </a:rPr>
            </a:br>
            <a:r>
              <a:rPr lang="en-IN" b="0" i="0" dirty="0" err="1">
                <a:solidFill>
                  <a:srgbClr val="E6D874"/>
                </a:solidFill>
                <a:effectLst/>
                <a:latin typeface="SFMono-Regular"/>
              </a:rPr>
              <a:t>setCounter</a:t>
            </a:r>
            <a:r>
              <a:rPr lang="en-IN" b="0" i="0" dirty="0">
                <a:solidFill>
                  <a:srgbClr val="F8F8F2"/>
                </a:solidFill>
                <a:effectLst/>
                <a:latin typeface="SFMono-Regular"/>
              </a:rPr>
              <a:t>(</a:t>
            </a:r>
            <a:r>
              <a:rPr lang="en-IN" b="0" i="0" dirty="0" err="1">
                <a:solidFill>
                  <a:srgbClr val="F8F8F2"/>
                </a:solidFill>
                <a:effectLst/>
                <a:latin typeface="SFMono-Regular"/>
              </a:rPr>
              <a:t>prevCounter</a:t>
            </a:r>
            <a:r>
              <a:rPr lang="en-IN" b="0" i="0" dirty="0">
                <a:solidFill>
                  <a:srgbClr val="F8F8F2"/>
                </a:solidFill>
                <a:effectLst/>
                <a:latin typeface="SFMono-Regular"/>
              </a:rPr>
              <a:t> =&gt; </a:t>
            </a:r>
            <a:r>
              <a:rPr lang="en-IN" b="0" i="0" dirty="0" err="1">
                <a:solidFill>
                  <a:srgbClr val="F8F8F2"/>
                </a:solidFill>
                <a:effectLst/>
                <a:latin typeface="SFMono-Regular"/>
              </a:rPr>
              <a:t>prevCounter</a:t>
            </a:r>
            <a:r>
              <a:rPr lang="en-IN" b="0" i="0" dirty="0">
                <a:solidFill>
                  <a:srgbClr val="F8F8F2"/>
                </a:solidFill>
                <a:effectLst/>
                <a:latin typeface="SFMono-Regular"/>
              </a:rPr>
              <a:t> + </a:t>
            </a:r>
            <a:r>
              <a:rPr lang="en-IN" b="0" i="0" dirty="0">
                <a:solidFill>
                  <a:srgbClr val="AE81FF"/>
                </a:solidFill>
                <a:effectLst/>
                <a:latin typeface="SFMono-Regular"/>
              </a:rPr>
              <a:t>1</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F8F8F2"/>
                </a:solidFill>
                <a:effectLst/>
                <a:latin typeface="SFMono-Regular"/>
              </a:rPr>
              <a:t>}</a:t>
            </a:r>
            <a:br>
              <a:rPr lang="en-IN" b="0" i="0" dirty="0">
                <a:solidFill>
                  <a:srgbClr val="F8F8F2"/>
                </a:solidFill>
                <a:effectLst/>
                <a:latin typeface="SFMono-Regular"/>
              </a:rPr>
            </a:br>
            <a:br>
              <a:rPr lang="en-IN" b="0" i="0" dirty="0">
                <a:solidFill>
                  <a:srgbClr val="F8F8F2"/>
                </a:solidFill>
                <a:effectLst/>
                <a:latin typeface="SFMono-Regular"/>
              </a:rPr>
            </a:br>
            <a:r>
              <a:rPr lang="en-IN" b="0" i="0" dirty="0">
                <a:solidFill>
                  <a:srgbClr val="C6CAD2"/>
                </a:solidFill>
                <a:effectLst/>
                <a:latin typeface="SFMono-Regular"/>
              </a:rPr>
              <a:t>// View: the UI definition</a:t>
            </a:r>
            <a:br>
              <a:rPr lang="en-IN" b="0" i="0" dirty="0">
                <a:solidFill>
                  <a:srgbClr val="F8F8F2"/>
                </a:solidFill>
                <a:effectLst/>
                <a:latin typeface="SFMono-Regular"/>
              </a:rPr>
            </a:br>
            <a:r>
              <a:rPr lang="en-IN" b="0" i="0" dirty="0">
                <a:solidFill>
                  <a:srgbClr val="F92672"/>
                </a:solidFill>
                <a:effectLst/>
                <a:latin typeface="SFMono-Regular"/>
              </a:rPr>
              <a:t>return</a:t>
            </a:r>
            <a:r>
              <a:rPr lang="en-IN" b="0" i="0" dirty="0">
                <a:solidFill>
                  <a:srgbClr val="F8F8F2"/>
                </a:solidFill>
                <a:effectLst/>
                <a:latin typeface="SFMono-Regular"/>
              </a:rPr>
              <a:t> (</a:t>
            </a:r>
            <a:br>
              <a:rPr lang="en-IN" b="0" i="0" dirty="0">
                <a:solidFill>
                  <a:srgbClr val="F8F8F2"/>
                </a:solidFill>
                <a:effectLst/>
                <a:latin typeface="SFMono-Regular"/>
              </a:rPr>
            </a:br>
            <a:r>
              <a:rPr lang="en-IN" b="0" i="0" dirty="0">
                <a:solidFill>
                  <a:srgbClr val="F8F8F2"/>
                </a:solidFill>
                <a:effectLst/>
                <a:latin typeface="SFMono-Regular"/>
              </a:rPr>
              <a:t>&lt;</a:t>
            </a:r>
            <a:r>
              <a:rPr lang="en-IN" b="0" i="0" dirty="0">
                <a:solidFill>
                  <a:srgbClr val="F92672"/>
                </a:solidFill>
                <a:effectLst/>
                <a:latin typeface="SFMono-Regular"/>
              </a:rPr>
              <a:t>div</a:t>
            </a:r>
            <a:r>
              <a:rPr lang="en-IN" b="0" i="0" dirty="0">
                <a:solidFill>
                  <a:srgbClr val="F8F8F2"/>
                </a:solidFill>
                <a:effectLst/>
                <a:latin typeface="SFMono-Regular"/>
              </a:rPr>
              <a:t>&gt;</a:t>
            </a:r>
            <a:br>
              <a:rPr lang="en-IN" b="0" i="0" dirty="0">
                <a:solidFill>
                  <a:srgbClr val="F8F8F2"/>
                </a:solidFill>
                <a:effectLst/>
                <a:latin typeface="SFMono-Regular"/>
              </a:rPr>
            </a:br>
            <a:r>
              <a:rPr lang="en-IN" b="0" i="0" dirty="0">
                <a:solidFill>
                  <a:srgbClr val="F8F8F2"/>
                </a:solidFill>
                <a:effectLst/>
                <a:latin typeface="SFMono-Regular"/>
              </a:rPr>
              <a:t>Value: {counter} &lt;</a:t>
            </a:r>
            <a:r>
              <a:rPr lang="en-IN" b="0" i="0" dirty="0">
                <a:solidFill>
                  <a:srgbClr val="F92672"/>
                </a:solidFill>
                <a:effectLst/>
                <a:latin typeface="SFMono-Regular"/>
              </a:rPr>
              <a:t>button </a:t>
            </a:r>
            <a:r>
              <a:rPr lang="en-IN" b="0" i="0" dirty="0" err="1">
                <a:solidFill>
                  <a:srgbClr val="A6E22E"/>
                </a:solidFill>
                <a:effectLst/>
                <a:latin typeface="SFMono-Regular"/>
              </a:rPr>
              <a:t>onClick</a:t>
            </a:r>
            <a:r>
              <a:rPr lang="en-IN" b="0" i="0" dirty="0">
                <a:solidFill>
                  <a:srgbClr val="F8F8F2"/>
                </a:solidFill>
                <a:effectLst/>
                <a:latin typeface="SFMono-Regular"/>
              </a:rPr>
              <a:t>={</a:t>
            </a:r>
            <a:r>
              <a:rPr lang="en-IN" b="0" i="0" dirty="0">
                <a:solidFill>
                  <a:srgbClr val="F92672"/>
                </a:solidFill>
                <a:effectLst/>
                <a:latin typeface="SFMono-Regular"/>
              </a:rPr>
              <a:t>increment</a:t>
            </a:r>
            <a:r>
              <a:rPr lang="en-IN" b="0" i="0" dirty="0">
                <a:solidFill>
                  <a:srgbClr val="F8F8F2"/>
                </a:solidFill>
                <a:effectLst/>
                <a:latin typeface="SFMono-Regular"/>
              </a:rPr>
              <a:t>}&gt;Increment&lt;/</a:t>
            </a:r>
            <a:r>
              <a:rPr lang="en-IN" b="0" i="0" dirty="0">
                <a:solidFill>
                  <a:srgbClr val="F92672"/>
                </a:solidFill>
                <a:effectLst/>
                <a:latin typeface="SFMono-Regular"/>
              </a:rPr>
              <a:t>button</a:t>
            </a:r>
            <a:r>
              <a:rPr lang="en-IN" b="0" i="0" dirty="0">
                <a:solidFill>
                  <a:srgbClr val="F8F8F2"/>
                </a:solidFill>
                <a:effectLst/>
                <a:latin typeface="SFMono-Regular"/>
              </a:rPr>
              <a:t>&gt;</a:t>
            </a:r>
            <a:br>
              <a:rPr lang="en-IN" b="0" i="0" dirty="0">
                <a:solidFill>
                  <a:srgbClr val="F8F8F2"/>
                </a:solidFill>
                <a:effectLst/>
                <a:latin typeface="SFMono-Regular"/>
              </a:rPr>
            </a:br>
            <a:r>
              <a:rPr lang="en-IN" b="0" i="0" dirty="0">
                <a:solidFill>
                  <a:srgbClr val="F8F8F2"/>
                </a:solidFill>
                <a:effectLst/>
                <a:latin typeface="SFMono-Regular"/>
              </a:rPr>
              <a:t>&lt;/</a:t>
            </a:r>
            <a:r>
              <a:rPr lang="en-IN" b="0" i="0" dirty="0">
                <a:solidFill>
                  <a:srgbClr val="F92672"/>
                </a:solidFill>
                <a:effectLst/>
                <a:latin typeface="SFMono-Regular"/>
              </a:rPr>
              <a:t>div</a:t>
            </a:r>
            <a:r>
              <a:rPr lang="en-IN" b="0" i="0" dirty="0">
                <a:solidFill>
                  <a:srgbClr val="F8F8F2"/>
                </a:solidFill>
                <a:effectLst/>
                <a:latin typeface="SFMono-Regular"/>
              </a:rPr>
              <a:t>&gt;</a:t>
            </a:r>
            <a:br>
              <a:rPr lang="en-IN" b="0" i="0" dirty="0">
                <a:solidFill>
                  <a:srgbClr val="F8F8F2"/>
                </a:solidFill>
                <a:effectLst/>
                <a:latin typeface="SFMono-Regular"/>
              </a:rPr>
            </a:b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F8F8F2"/>
                </a:solidFill>
                <a:effectLst/>
                <a:latin typeface="SFMono-Regular"/>
              </a:rPr>
              <a:t>}</a:t>
            </a:r>
            <a:endParaRPr lang="en-IN" dirty="0"/>
          </a:p>
        </p:txBody>
      </p:sp>
      <p:sp>
        <p:nvSpPr>
          <p:cNvPr id="11" name="TextBox 10">
            <a:extLst>
              <a:ext uri="{FF2B5EF4-FFF2-40B4-BE49-F238E27FC236}">
                <a16:creationId xmlns:a16="http://schemas.microsoft.com/office/drawing/2014/main" id="{CCF79AA4-DD48-E9C5-1E20-28E063EFA2FA}"/>
              </a:ext>
            </a:extLst>
          </p:cNvPr>
          <p:cNvSpPr txBox="1"/>
          <p:nvPr/>
        </p:nvSpPr>
        <p:spPr>
          <a:xfrm>
            <a:off x="6096000" y="1611046"/>
            <a:ext cx="5572447" cy="1754326"/>
          </a:xfrm>
          <a:prstGeom prst="rect">
            <a:avLst/>
          </a:prstGeom>
          <a:noFill/>
        </p:spPr>
        <p:txBody>
          <a:bodyPr wrap="square">
            <a:spAutoFit/>
          </a:bodyPr>
          <a:lstStyle/>
          <a:p>
            <a:pPr algn="l"/>
            <a:r>
              <a:rPr lang="en-US" b="0" i="0" dirty="0">
                <a:solidFill>
                  <a:srgbClr val="1C1E21"/>
                </a:solidFill>
                <a:effectLst/>
                <a:latin typeface="system-ui"/>
              </a:rPr>
              <a:t>It is a self-contained app with the following parts:</a:t>
            </a:r>
          </a:p>
          <a:p>
            <a:pPr algn="l">
              <a:buFont typeface="Arial" panose="020B0604020202020204" pitchFamily="34" charset="0"/>
              <a:buChar char="•"/>
            </a:pPr>
            <a:r>
              <a:rPr lang="en-US" b="0" i="0" dirty="0">
                <a:solidFill>
                  <a:srgbClr val="1C1E21"/>
                </a:solidFill>
                <a:effectLst/>
                <a:latin typeface="system-ui"/>
              </a:rPr>
              <a:t>The </a:t>
            </a:r>
            <a:r>
              <a:rPr lang="en-US" b="1" i="0" dirty="0">
                <a:solidFill>
                  <a:srgbClr val="1C1E21"/>
                </a:solidFill>
                <a:effectLst/>
                <a:latin typeface="system-ui"/>
              </a:rPr>
              <a:t>state</a:t>
            </a:r>
            <a:r>
              <a:rPr lang="en-US" b="0" i="0" dirty="0">
                <a:solidFill>
                  <a:srgbClr val="1C1E21"/>
                </a:solidFill>
                <a:effectLst/>
                <a:latin typeface="system-ui"/>
              </a:rPr>
              <a:t>, the source of truth that drives our app;</a:t>
            </a:r>
          </a:p>
          <a:p>
            <a:pPr algn="l">
              <a:buFont typeface="Arial" panose="020B0604020202020204" pitchFamily="34" charset="0"/>
              <a:buChar char="•"/>
            </a:pPr>
            <a:r>
              <a:rPr lang="en-US" b="0" i="0" dirty="0">
                <a:solidFill>
                  <a:srgbClr val="1C1E21"/>
                </a:solidFill>
                <a:effectLst/>
                <a:latin typeface="system-ui"/>
              </a:rPr>
              <a:t>The </a:t>
            </a:r>
            <a:r>
              <a:rPr lang="en-US" b="1" i="0" dirty="0">
                <a:solidFill>
                  <a:srgbClr val="1C1E21"/>
                </a:solidFill>
                <a:effectLst/>
                <a:latin typeface="system-ui"/>
              </a:rPr>
              <a:t>view</a:t>
            </a:r>
            <a:r>
              <a:rPr lang="en-US" b="0" i="0" dirty="0">
                <a:solidFill>
                  <a:srgbClr val="1C1E21"/>
                </a:solidFill>
                <a:effectLst/>
                <a:latin typeface="system-ui"/>
              </a:rPr>
              <a:t>, a declarative description of the UI based on the current state</a:t>
            </a:r>
          </a:p>
          <a:p>
            <a:pPr algn="l">
              <a:buFont typeface="Arial" panose="020B0604020202020204" pitchFamily="34" charset="0"/>
              <a:buChar char="•"/>
            </a:pPr>
            <a:r>
              <a:rPr lang="en-US" b="0" i="0" dirty="0">
                <a:solidFill>
                  <a:srgbClr val="1C1E21"/>
                </a:solidFill>
                <a:effectLst/>
                <a:latin typeface="system-ui"/>
              </a:rPr>
              <a:t>The </a:t>
            </a:r>
            <a:r>
              <a:rPr lang="en-US" b="1" i="0" dirty="0">
                <a:solidFill>
                  <a:srgbClr val="1C1E21"/>
                </a:solidFill>
                <a:effectLst/>
                <a:latin typeface="system-ui"/>
              </a:rPr>
              <a:t>actions</a:t>
            </a:r>
            <a:r>
              <a:rPr lang="en-US" b="0" i="0" dirty="0">
                <a:solidFill>
                  <a:srgbClr val="1C1E21"/>
                </a:solidFill>
                <a:effectLst/>
                <a:latin typeface="system-ui"/>
              </a:rPr>
              <a:t>, the events that occur in the app based on user input, and trigger updates in the state</a:t>
            </a:r>
          </a:p>
        </p:txBody>
      </p:sp>
      <p:pic>
        <p:nvPicPr>
          <p:cNvPr id="1026" name="Picture 2" descr="One-way data flow">
            <a:extLst>
              <a:ext uri="{FF2B5EF4-FFF2-40B4-BE49-F238E27FC236}">
                <a16:creationId xmlns:a16="http://schemas.microsoft.com/office/drawing/2014/main" id="{0433BC17-5C1E-124D-9790-7BAE894FA9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193" y="3429000"/>
            <a:ext cx="5068094"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606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A80E5E-45F2-57E4-1CCB-A15E3E25E68B}"/>
              </a:ext>
            </a:extLst>
          </p:cNvPr>
          <p:cNvSpPr txBox="1"/>
          <p:nvPr/>
        </p:nvSpPr>
        <p:spPr>
          <a:xfrm>
            <a:off x="341722" y="1343222"/>
            <a:ext cx="11686880" cy="3693319"/>
          </a:xfrm>
          <a:prstGeom prst="rect">
            <a:avLst/>
          </a:prstGeom>
          <a:noFill/>
        </p:spPr>
        <p:txBody>
          <a:bodyPr wrap="square">
            <a:spAutoFit/>
          </a:bodyPr>
          <a:lstStyle/>
          <a:p>
            <a:pPr algn="l"/>
            <a:r>
              <a:rPr lang="en-US" b="0" i="0" dirty="0">
                <a:solidFill>
                  <a:srgbClr val="1C1E21"/>
                </a:solidFill>
                <a:effectLst/>
                <a:latin typeface="system-ui"/>
              </a:rPr>
              <a:t>However, the simplicity can break down when we have </a:t>
            </a:r>
            <a:r>
              <a:rPr lang="en-US" b="1" i="0" dirty="0">
                <a:solidFill>
                  <a:srgbClr val="1C1E21"/>
                </a:solidFill>
                <a:effectLst/>
                <a:latin typeface="system-ui"/>
              </a:rPr>
              <a:t>multiple components that need to share and use the same state</a:t>
            </a:r>
            <a:r>
              <a:rPr lang="en-US" b="0" i="0" dirty="0">
                <a:solidFill>
                  <a:srgbClr val="1C1E21"/>
                </a:solidFill>
                <a:effectLst/>
                <a:latin typeface="system-ui"/>
              </a:rPr>
              <a:t>, especially if those components are located in different parts of the application. Sometimes this can be solved by </a:t>
            </a:r>
            <a:r>
              <a:rPr lang="en-US" b="0" i="0" dirty="0">
                <a:solidFill>
                  <a:srgbClr val="1C1E21"/>
                </a:solidFill>
                <a:effectLst/>
                <a:latin typeface="system-ui"/>
                <a:hlinkClick r:id="rId2"/>
              </a:rPr>
              <a:t>"lifting state up"</a:t>
            </a:r>
            <a:r>
              <a:rPr lang="en-US" b="0" i="0" dirty="0">
                <a:solidFill>
                  <a:srgbClr val="1C1E21"/>
                </a:solidFill>
                <a:effectLst/>
                <a:latin typeface="system-ui"/>
              </a:rPr>
              <a:t> to parent components, but that doesn't always help.</a:t>
            </a:r>
          </a:p>
          <a:p>
            <a:pPr algn="l"/>
            <a:endParaRPr lang="en-US" b="0" i="0" dirty="0">
              <a:solidFill>
                <a:srgbClr val="1C1E21"/>
              </a:solidFill>
              <a:effectLst/>
              <a:latin typeface="system-ui"/>
            </a:endParaRPr>
          </a:p>
          <a:p>
            <a:pPr algn="l"/>
            <a:r>
              <a:rPr lang="en-US" b="0" i="0" dirty="0">
                <a:solidFill>
                  <a:srgbClr val="1C1E21"/>
                </a:solidFill>
                <a:effectLst/>
                <a:latin typeface="system-ui"/>
              </a:rPr>
              <a:t>One way to solve this is to extract the shared state from the components, and put it into a centralized location outside the component tree. With this, our component tree becomes a big "view", and any component can access the state or trigger actions, no matter where they are in the tree!</a:t>
            </a:r>
          </a:p>
          <a:p>
            <a:pPr algn="l"/>
            <a:endParaRPr lang="en-US" b="0" i="0" dirty="0">
              <a:solidFill>
                <a:srgbClr val="1C1E21"/>
              </a:solidFill>
              <a:effectLst/>
              <a:latin typeface="system-ui"/>
            </a:endParaRPr>
          </a:p>
          <a:p>
            <a:pPr algn="l"/>
            <a:r>
              <a:rPr lang="en-US" b="0" i="0" dirty="0">
                <a:solidFill>
                  <a:srgbClr val="1C1E21"/>
                </a:solidFill>
                <a:effectLst/>
                <a:latin typeface="system-ui"/>
              </a:rPr>
              <a:t>By defining and separating the concepts involved in state management and enforcing rules that maintain independence between views and states, we give our code more structure and maintainability.</a:t>
            </a:r>
          </a:p>
          <a:p>
            <a:pPr algn="l"/>
            <a:r>
              <a:rPr lang="en-US" b="0" i="0" dirty="0">
                <a:solidFill>
                  <a:srgbClr val="1C1E21"/>
                </a:solidFill>
                <a:effectLst/>
                <a:latin typeface="system-ui"/>
              </a:rPr>
              <a:t>This is the basic idea behind Redux: a single centralized place to contain the global state in your application, and specific patterns to follow when updating that state to make the code predictable.</a:t>
            </a:r>
          </a:p>
          <a:p>
            <a:pPr algn="l"/>
            <a:endParaRPr lang="en-US" b="0" i="0" dirty="0">
              <a:solidFill>
                <a:srgbClr val="1C1E21"/>
              </a:solidFill>
              <a:effectLst/>
              <a:latin typeface="system-ui"/>
            </a:endParaRPr>
          </a:p>
        </p:txBody>
      </p:sp>
    </p:spTree>
    <p:extLst>
      <p:ext uri="{BB962C8B-B14F-4D97-AF65-F5344CB8AC3E}">
        <p14:creationId xmlns:p14="http://schemas.microsoft.com/office/powerpoint/2010/main" val="592970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D9E6803-1C7A-203A-7862-B7B0C2770A11}"/>
              </a:ext>
            </a:extLst>
          </p:cNvPr>
          <p:cNvSpPr txBox="1"/>
          <p:nvPr/>
        </p:nvSpPr>
        <p:spPr>
          <a:xfrm>
            <a:off x="0" y="229393"/>
            <a:ext cx="6718954" cy="1200329"/>
          </a:xfrm>
          <a:prstGeom prst="rect">
            <a:avLst/>
          </a:prstGeom>
          <a:noFill/>
        </p:spPr>
        <p:txBody>
          <a:bodyPr wrap="square">
            <a:spAutoFit/>
          </a:bodyPr>
          <a:lstStyle/>
          <a:p>
            <a:r>
              <a:rPr lang="en-US" b="1" dirty="0"/>
              <a:t>Actions</a:t>
            </a:r>
          </a:p>
          <a:p>
            <a:r>
              <a:rPr lang="en-US" dirty="0"/>
              <a:t>An action is a plain </a:t>
            </a:r>
            <a:r>
              <a:rPr lang="en-US" dirty="0">
                <a:highlight>
                  <a:srgbClr val="FFFF00"/>
                </a:highlight>
              </a:rPr>
              <a:t>JavaScript object </a:t>
            </a:r>
            <a:r>
              <a:rPr lang="en-US" dirty="0"/>
              <a:t>that has a type field. You can think of an action as an event that describes something that happened in the application.</a:t>
            </a:r>
            <a:endParaRPr lang="en-IN" dirty="0"/>
          </a:p>
        </p:txBody>
      </p:sp>
      <p:sp>
        <p:nvSpPr>
          <p:cNvPr id="8" name="TextBox 7">
            <a:extLst>
              <a:ext uri="{FF2B5EF4-FFF2-40B4-BE49-F238E27FC236}">
                <a16:creationId xmlns:a16="http://schemas.microsoft.com/office/drawing/2014/main" id="{238C554F-58C3-CEC5-4355-2E7339612482}"/>
              </a:ext>
            </a:extLst>
          </p:cNvPr>
          <p:cNvSpPr txBox="1"/>
          <p:nvPr/>
        </p:nvSpPr>
        <p:spPr>
          <a:xfrm>
            <a:off x="6704815" y="229394"/>
            <a:ext cx="5191812" cy="1200329"/>
          </a:xfrm>
          <a:prstGeom prst="rect">
            <a:avLst/>
          </a:prstGeom>
          <a:solidFill>
            <a:schemeClr val="tx1"/>
          </a:solidFill>
        </p:spPr>
        <p:txBody>
          <a:bodyPr wrap="square">
            <a:spAutoFit/>
          </a:bodyPr>
          <a:lstStyle/>
          <a:p>
            <a:r>
              <a:rPr lang="en-IN" b="0" i="0" dirty="0" err="1">
                <a:solidFill>
                  <a:srgbClr val="F92672"/>
                </a:solidFill>
                <a:effectLst/>
                <a:latin typeface="SFMono-Regular"/>
              </a:rPr>
              <a:t>const</a:t>
            </a:r>
            <a:r>
              <a:rPr lang="en-IN" b="0" i="0" dirty="0">
                <a:solidFill>
                  <a:srgbClr val="F8F8F2"/>
                </a:solidFill>
                <a:effectLst/>
                <a:latin typeface="SFMono-Regular"/>
              </a:rPr>
              <a:t> </a:t>
            </a:r>
            <a:r>
              <a:rPr lang="en-IN" b="0" i="0" dirty="0" err="1">
                <a:solidFill>
                  <a:srgbClr val="F8F8F2"/>
                </a:solidFill>
                <a:effectLst/>
                <a:latin typeface="SFMono-Regular"/>
              </a:rPr>
              <a:t>add</a:t>
            </a:r>
            <a:r>
              <a:rPr lang="en-IN" dirty="0" err="1">
                <a:solidFill>
                  <a:srgbClr val="F8F8F2"/>
                </a:solidFill>
                <a:latin typeface="SFMono-Regular"/>
              </a:rPr>
              <a:t>C</a:t>
            </a:r>
            <a:r>
              <a:rPr lang="en-IN" b="0" i="0" dirty="0" err="1">
                <a:solidFill>
                  <a:srgbClr val="F8F8F2"/>
                </a:solidFill>
                <a:effectLst/>
                <a:latin typeface="SFMono-Regular"/>
              </a:rPr>
              <a:t>ountAction</a:t>
            </a:r>
            <a:r>
              <a:rPr lang="en-IN" b="0" i="0" dirty="0">
                <a:solidFill>
                  <a:srgbClr val="F8F8F2"/>
                </a:solidFill>
                <a:effectLst/>
                <a:latin typeface="SFMono-Regular"/>
              </a:rPr>
              <a:t> = {</a:t>
            </a:r>
            <a:br>
              <a:rPr lang="en-IN" b="0" i="0" dirty="0">
                <a:solidFill>
                  <a:srgbClr val="F8F8F2"/>
                </a:solidFill>
                <a:effectLst/>
                <a:latin typeface="SFMono-Regular"/>
              </a:rPr>
            </a:br>
            <a:r>
              <a:rPr lang="en-IN" b="0" i="0" dirty="0">
                <a:solidFill>
                  <a:srgbClr val="F92672"/>
                </a:solidFill>
                <a:effectLst/>
                <a:latin typeface="SFMono-Regular"/>
              </a:rPr>
              <a:t>type</a:t>
            </a:r>
            <a:r>
              <a:rPr lang="en-IN" b="0" i="0" dirty="0">
                <a:solidFill>
                  <a:srgbClr val="F8F8F2"/>
                </a:solidFill>
                <a:effectLst/>
                <a:latin typeface="SFMono-Regular"/>
              </a:rPr>
              <a:t>: </a:t>
            </a:r>
            <a:r>
              <a:rPr lang="en-IN" b="0" i="0" dirty="0">
                <a:solidFill>
                  <a:srgbClr val="A6E22E"/>
                </a:solidFill>
                <a:effectLst/>
                <a:latin typeface="SFMono-Regular"/>
              </a:rPr>
              <a:t>' </a:t>
            </a:r>
            <a:r>
              <a:rPr lang="en-US" sz="1800" b="0" i="0" dirty="0">
                <a:solidFill>
                  <a:srgbClr val="A6E22E"/>
                </a:solidFill>
                <a:effectLst/>
                <a:latin typeface="SFMono-Regular"/>
              </a:rPr>
              <a:t>counter/increment </a:t>
            </a:r>
            <a:r>
              <a:rPr lang="en-IN" b="0" i="0" dirty="0">
                <a:solidFill>
                  <a:srgbClr val="A6E22E"/>
                </a:solidFill>
                <a:effectLst/>
                <a:latin typeface="SFMono-Regular"/>
              </a:rPr>
              <a:t>'</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F92672"/>
                </a:solidFill>
                <a:effectLst/>
                <a:latin typeface="SFMono-Regular"/>
              </a:rPr>
              <a:t>payload</a:t>
            </a:r>
            <a:r>
              <a:rPr lang="en-IN" b="0" i="0" dirty="0">
                <a:solidFill>
                  <a:srgbClr val="F8F8F2"/>
                </a:solidFill>
                <a:effectLst/>
                <a:latin typeface="SFMono-Regular"/>
              </a:rPr>
              <a:t>: </a:t>
            </a:r>
            <a:r>
              <a:rPr lang="en-IN" b="0" i="0" dirty="0">
                <a:solidFill>
                  <a:srgbClr val="A6E22E"/>
                </a:solidFill>
                <a:effectLst/>
                <a:latin typeface="SFMono-Regular"/>
              </a:rPr>
              <a:t>3'</a:t>
            </a:r>
            <a:br>
              <a:rPr lang="en-IN" b="0" i="0" dirty="0">
                <a:solidFill>
                  <a:srgbClr val="F8F8F2"/>
                </a:solidFill>
                <a:effectLst/>
                <a:latin typeface="SFMono-Regular"/>
              </a:rPr>
            </a:br>
            <a:r>
              <a:rPr lang="en-IN" b="0" i="0" dirty="0">
                <a:solidFill>
                  <a:srgbClr val="F8F8F2"/>
                </a:solidFill>
                <a:effectLst/>
                <a:latin typeface="SFMono-Regular"/>
              </a:rPr>
              <a:t>}</a:t>
            </a:r>
            <a:endParaRPr lang="en-IN" dirty="0"/>
          </a:p>
        </p:txBody>
      </p:sp>
      <p:sp>
        <p:nvSpPr>
          <p:cNvPr id="10" name="TextBox 9">
            <a:extLst>
              <a:ext uri="{FF2B5EF4-FFF2-40B4-BE49-F238E27FC236}">
                <a16:creationId xmlns:a16="http://schemas.microsoft.com/office/drawing/2014/main" id="{3A1E3828-AD58-2FC6-982E-388BE6A2B23B}"/>
              </a:ext>
            </a:extLst>
          </p:cNvPr>
          <p:cNvSpPr txBox="1"/>
          <p:nvPr/>
        </p:nvSpPr>
        <p:spPr>
          <a:xfrm>
            <a:off x="1572" y="1725353"/>
            <a:ext cx="6094428" cy="923330"/>
          </a:xfrm>
          <a:prstGeom prst="rect">
            <a:avLst/>
          </a:prstGeom>
          <a:noFill/>
        </p:spPr>
        <p:txBody>
          <a:bodyPr wrap="square">
            <a:spAutoFit/>
          </a:bodyPr>
          <a:lstStyle/>
          <a:p>
            <a:r>
              <a:rPr lang="en-US" b="1" dirty="0"/>
              <a:t>Action Creators</a:t>
            </a:r>
          </a:p>
          <a:p>
            <a:r>
              <a:rPr lang="en-US" dirty="0"/>
              <a:t>An action creator is a </a:t>
            </a:r>
            <a:r>
              <a:rPr lang="en-US" dirty="0">
                <a:highlight>
                  <a:srgbClr val="FFFF00"/>
                </a:highlight>
              </a:rPr>
              <a:t>function </a:t>
            </a:r>
            <a:r>
              <a:rPr lang="en-US" dirty="0"/>
              <a:t>that creates and returns an action object</a:t>
            </a:r>
            <a:endParaRPr lang="en-IN" dirty="0"/>
          </a:p>
        </p:txBody>
      </p:sp>
      <p:sp>
        <p:nvSpPr>
          <p:cNvPr id="12" name="TextBox 11">
            <a:extLst>
              <a:ext uri="{FF2B5EF4-FFF2-40B4-BE49-F238E27FC236}">
                <a16:creationId xmlns:a16="http://schemas.microsoft.com/office/drawing/2014/main" id="{466F9E83-13EB-1DE9-5F10-43AC76040A2B}"/>
              </a:ext>
            </a:extLst>
          </p:cNvPr>
          <p:cNvSpPr txBox="1"/>
          <p:nvPr/>
        </p:nvSpPr>
        <p:spPr>
          <a:xfrm>
            <a:off x="6704815" y="1637113"/>
            <a:ext cx="5295507" cy="1477328"/>
          </a:xfrm>
          <a:prstGeom prst="rect">
            <a:avLst/>
          </a:prstGeom>
          <a:solidFill>
            <a:schemeClr val="tx1"/>
          </a:solidFill>
        </p:spPr>
        <p:txBody>
          <a:bodyPr wrap="square">
            <a:spAutoFit/>
          </a:bodyPr>
          <a:lstStyle/>
          <a:p>
            <a:r>
              <a:rPr lang="en-IN" b="0" i="0" dirty="0" err="1">
                <a:solidFill>
                  <a:srgbClr val="F92672"/>
                </a:solidFill>
                <a:effectLst/>
                <a:latin typeface="SFMono-Regular"/>
              </a:rPr>
              <a:t>const</a:t>
            </a:r>
            <a:r>
              <a:rPr lang="en-IN" b="0" i="0" dirty="0">
                <a:solidFill>
                  <a:srgbClr val="F8F8F2"/>
                </a:solidFill>
                <a:effectLst/>
                <a:latin typeface="SFMono-Regular"/>
              </a:rPr>
              <a:t> </a:t>
            </a:r>
            <a:r>
              <a:rPr lang="en-IN" b="0" i="0" dirty="0" err="1">
                <a:solidFill>
                  <a:srgbClr val="E6D874"/>
                </a:solidFill>
                <a:effectLst/>
                <a:latin typeface="SFMono-Regular"/>
              </a:rPr>
              <a:t>addCount</a:t>
            </a:r>
            <a:r>
              <a:rPr lang="en-IN" b="0" i="0" dirty="0">
                <a:solidFill>
                  <a:srgbClr val="F8F8F2"/>
                </a:solidFill>
                <a:effectLst/>
                <a:latin typeface="SFMono-Regular"/>
              </a:rPr>
              <a:t> = no =&gt; {</a:t>
            </a:r>
            <a:br>
              <a:rPr lang="en-IN" b="0" i="0" dirty="0">
                <a:solidFill>
                  <a:srgbClr val="F8F8F2"/>
                </a:solidFill>
                <a:effectLst/>
                <a:latin typeface="SFMono-Regular"/>
              </a:rPr>
            </a:br>
            <a:r>
              <a:rPr lang="en-IN" b="0" i="0" dirty="0">
                <a:solidFill>
                  <a:srgbClr val="F92672"/>
                </a:solidFill>
                <a:effectLst/>
                <a:latin typeface="SFMono-Regular"/>
              </a:rPr>
              <a:t>return</a:t>
            </a:r>
            <a:r>
              <a:rPr lang="en-IN" b="0" i="0" dirty="0">
                <a:solidFill>
                  <a:srgbClr val="F8F8F2"/>
                </a:solidFill>
                <a:effectLst/>
                <a:latin typeface="SFMono-Regular"/>
              </a:rPr>
              <a:t> {</a:t>
            </a:r>
            <a:br>
              <a:rPr lang="en-IN" b="0" i="0" dirty="0">
                <a:solidFill>
                  <a:srgbClr val="F8F8F2"/>
                </a:solidFill>
                <a:effectLst/>
                <a:latin typeface="SFMono-Regular"/>
              </a:rPr>
            </a:br>
            <a:r>
              <a:rPr lang="en-IN" b="0" i="0" dirty="0">
                <a:solidFill>
                  <a:srgbClr val="F92672"/>
                </a:solidFill>
                <a:effectLst/>
                <a:latin typeface="SFMono-Regular"/>
              </a:rPr>
              <a:t>type</a:t>
            </a:r>
            <a:r>
              <a:rPr lang="en-IN" b="0" i="0" dirty="0">
                <a:solidFill>
                  <a:srgbClr val="F8F8F2"/>
                </a:solidFill>
                <a:effectLst/>
                <a:latin typeface="SFMono-Regular"/>
              </a:rPr>
              <a:t>: </a:t>
            </a:r>
            <a:r>
              <a:rPr lang="en-US" sz="1800" b="0" i="0" dirty="0">
                <a:solidFill>
                  <a:srgbClr val="A6E22E"/>
                </a:solidFill>
                <a:effectLst/>
                <a:latin typeface="SFMono-Regular"/>
              </a:rPr>
              <a:t>'counter/increment</a:t>
            </a:r>
            <a:r>
              <a:rPr lang="en-IN" b="0" i="0" dirty="0">
                <a:solidFill>
                  <a:srgbClr val="A6E22E"/>
                </a:solidFill>
                <a:effectLst/>
                <a:latin typeface="SFMono-Regular"/>
              </a:rPr>
              <a:t>'</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F92672"/>
                </a:solidFill>
                <a:effectLst/>
                <a:latin typeface="SFMono-Regular"/>
              </a:rPr>
              <a:t>payload</a:t>
            </a:r>
            <a:r>
              <a:rPr lang="en-IN" b="0" i="0" dirty="0">
                <a:solidFill>
                  <a:srgbClr val="F8F8F2"/>
                </a:solidFill>
                <a:effectLst/>
                <a:latin typeface="SFMono-Regular"/>
              </a:rPr>
              <a:t>: no }</a:t>
            </a:r>
            <a:br>
              <a:rPr lang="en-IN" b="0" i="0" dirty="0">
                <a:solidFill>
                  <a:srgbClr val="F8F8F2"/>
                </a:solidFill>
                <a:effectLst/>
                <a:latin typeface="SFMono-Regular"/>
              </a:rPr>
            </a:br>
            <a:r>
              <a:rPr lang="en-IN" b="0" i="0" dirty="0">
                <a:solidFill>
                  <a:srgbClr val="F8F8F2"/>
                </a:solidFill>
                <a:effectLst/>
                <a:latin typeface="SFMono-Regular"/>
              </a:rPr>
              <a:t>}</a:t>
            </a:r>
            <a:endParaRPr lang="en-IN" dirty="0"/>
          </a:p>
        </p:txBody>
      </p:sp>
      <p:sp>
        <p:nvSpPr>
          <p:cNvPr id="15" name="TextBox 14">
            <a:extLst>
              <a:ext uri="{FF2B5EF4-FFF2-40B4-BE49-F238E27FC236}">
                <a16:creationId xmlns:a16="http://schemas.microsoft.com/office/drawing/2014/main" id="{D596FAC6-0209-245E-88A6-2E3B20AFA0AA}"/>
              </a:ext>
            </a:extLst>
          </p:cNvPr>
          <p:cNvSpPr txBox="1"/>
          <p:nvPr/>
        </p:nvSpPr>
        <p:spPr>
          <a:xfrm>
            <a:off x="-10212" y="2789863"/>
            <a:ext cx="6117996" cy="1754326"/>
          </a:xfrm>
          <a:prstGeom prst="rect">
            <a:avLst/>
          </a:prstGeom>
          <a:noFill/>
        </p:spPr>
        <p:txBody>
          <a:bodyPr wrap="square">
            <a:spAutoFit/>
          </a:bodyPr>
          <a:lstStyle/>
          <a:p>
            <a:r>
              <a:rPr lang="en-US" b="1" dirty="0"/>
              <a:t>Reducers</a:t>
            </a:r>
          </a:p>
          <a:p>
            <a:r>
              <a:rPr lang="en-US" dirty="0"/>
              <a:t>A reducer is a function that receives the </a:t>
            </a:r>
            <a:r>
              <a:rPr lang="en-US" dirty="0">
                <a:highlight>
                  <a:srgbClr val="00FFFF"/>
                </a:highlight>
              </a:rPr>
              <a:t>current state </a:t>
            </a:r>
            <a:r>
              <a:rPr lang="en-US" dirty="0"/>
              <a:t>and an </a:t>
            </a:r>
            <a:r>
              <a:rPr lang="en-US" dirty="0">
                <a:highlight>
                  <a:srgbClr val="00FFFF"/>
                </a:highlight>
              </a:rPr>
              <a:t>action object</a:t>
            </a:r>
            <a:r>
              <a:rPr lang="en-US" dirty="0"/>
              <a:t>, decides how to </a:t>
            </a:r>
            <a:r>
              <a:rPr lang="en-US" dirty="0">
                <a:highlight>
                  <a:srgbClr val="00FFFF"/>
                </a:highlight>
              </a:rPr>
              <a:t>update the state </a:t>
            </a:r>
            <a:r>
              <a:rPr lang="en-US" dirty="0"/>
              <a:t>if necessary, and returns the new state: (state, action) =&gt; </a:t>
            </a:r>
            <a:r>
              <a:rPr lang="en-US" dirty="0" err="1"/>
              <a:t>newState</a:t>
            </a:r>
            <a:r>
              <a:rPr lang="en-US" dirty="0"/>
              <a:t>. You can think of a reducer as an event listener which handles events based on the received action (event) type.</a:t>
            </a:r>
            <a:endParaRPr lang="en-IN" dirty="0"/>
          </a:p>
        </p:txBody>
      </p:sp>
      <p:sp>
        <p:nvSpPr>
          <p:cNvPr id="17" name="TextBox 16">
            <a:extLst>
              <a:ext uri="{FF2B5EF4-FFF2-40B4-BE49-F238E27FC236}">
                <a16:creationId xmlns:a16="http://schemas.microsoft.com/office/drawing/2014/main" id="{4EB3ADA7-D639-CD0E-88DD-8CE985EA5235}"/>
              </a:ext>
            </a:extLst>
          </p:cNvPr>
          <p:cNvSpPr txBox="1"/>
          <p:nvPr/>
        </p:nvSpPr>
        <p:spPr>
          <a:xfrm>
            <a:off x="6291214" y="3328061"/>
            <a:ext cx="5605413" cy="3539430"/>
          </a:xfrm>
          <a:prstGeom prst="rect">
            <a:avLst/>
          </a:prstGeom>
          <a:solidFill>
            <a:schemeClr val="tx1"/>
          </a:solidFill>
        </p:spPr>
        <p:txBody>
          <a:bodyPr wrap="square">
            <a:spAutoFit/>
          </a:bodyPr>
          <a:lstStyle/>
          <a:p>
            <a:r>
              <a:rPr lang="en-US" sz="1600" b="0" i="0" dirty="0">
                <a:solidFill>
                  <a:srgbClr val="F92672"/>
                </a:solidFill>
                <a:effectLst/>
                <a:latin typeface="SFMono-Regular"/>
              </a:rPr>
              <a:t>const</a:t>
            </a:r>
            <a:r>
              <a:rPr lang="en-US" sz="1600" b="0" i="0" dirty="0">
                <a:solidFill>
                  <a:srgbClr val="F8F8F2"/>
                </a:solidFill>
                <a:effectLst/>
                <a:latin typeface="SFMono-Regular"/>
              </a:rPr>
              <a:t> </a:t>
            </a:r>
            <a:r>
              <a:rPr lang="en-US" sz="1600" b="0" i="0" dirty="0" err="1">
                <a:solidFill>
                  <a:srgbClr val="F8F8F2"/>
                </a:solidFill>
                <a:effectLst/>
                <a:latin typeface="SFMono-Regular"/>
              </a:rPr>
              <a:t>initialState</a:t>
            </a:r>
            <a:r>
              <a:rPr lang="en-US" sz="1600" b="0" i="0" dirty="0">
                <a:solidFill>
                  <a:srgbClr val="F8F8F2"/>
                </a:solidFill>
                <a:effectLst/>
                <a:latin typeface="SFMono-Regular"/>
              </a:rPr>
              <a:t> = { </a:t>
            </a:r>
            <a:r>
              <a:rPr lang="en-US" sz="1600" b="0" i="0" dirty="0">
                <a:solidFill>
                  <a:srgbClr val="F92672"/>
                </a:solidFill>
                <a:effectLst/>
                <a:latin typeface="SFMono-Regular"/>
              </a:rPr>
              <a:t>value</a:t>
            </a:r>
            <a:r>
              <a:rPr lang="en-US" sz="1600" b="0" i="0" dirty="0">
                <a:solidFill>
                  <a:srgbClr val="F8F8F2"/>
                </a:solidFill>
                <a:effectLst/>
                <a:latin typeface="SFMono-Regular"/>
              </a:rPr>
              <a:t>: </a:t>
            </a:r>
            <a:r>
              <a:rPr lang="en-US" sz="1600" b="0" i="0" dirty="0">
                <a:solidFill>
                  <a:srgbClr val="AE81FF"/>
                </a:solidFill>
                <a:effectLst/>
                <a:latin typeface="SFMono-Regular"/>
              </a:rPr>
              <a:t>0</a:t>
            </a:r>
            <a:r>
              <a:rPr lang="en-US" sz="1600" b="0" i="0" dirty="0">
                <a:solidFill>
                  <a:srgbClr val="F8F8F2"/>
                </a:solidFill>
                <a:effectLst/>
                <a:latin typeface="SFMono-Regular"/>
              </a:rPr>
              <a:t> }</a:t>
            </a:r>
            <a:br>
              <a:rPr lang="en-US" sz="1600" b="0" i="0" dirty="0">
                <a:solidFill>
                  <a:srgbClr val="F8F8F2"/>
                </a:solidFill>
                <a:effectLst/>
                <a:latin typeface="SFMono-Regular"/>
              </a:rPr>
            </a:br>
            <a:br>
              <a:rPr lang="en-US" sz="1600" b="0" i="0" dirty="0">
                <a:solidFill>
                  <a:srgbClr val="F8F8F2"/>
                </a:solidFill>
                <a:effectLst/>
                <a:latin typeface="SFMono-Regular"/>
              </a:rPr>
            </a:br>
            <a:r>
              <a:rPr lang="en-US" sz="1600" b="0" i="0" dirty="0">
                <a:solidFill>
                  <a:srgbClr val="F92672"/>
                </a:solidFill>
                <a:effectLst/>
                <a:latin typeface="SFMono-Regular"/>
              </a:rPr>
              <a:t>function</a:t>
            </a:r>
            <a:r>
              <a:rPr lang="en-US" sz="1600" b="0" i="0" dirty="0">
                <a:solidFill>
                  <a:srgbClr val="F8F8F2"/>
                </a:solidFill>
                <a:effectLst/>
                <a:latin typeface="SFMono-Regular"/>
              </a:rPr>
              <a:t> </a:t>
            </a:r>
            <a:r>
              <a:rPr lang="en-US" sz="1600" b="0" i="0" dirty="0" err="1">
                <a:solidFill>
                  <a:srgbClr val="E6D874"/>
                </a:solidFill>
                <a:effectLst/>
                <a:latin typeface="SFMono-Regular"/>
              </a:rPr>
              <a:t>counterReducer</a:t>
            </a:r>
            <a:r>
              <a:rPr lang="en-US" sz="1600" b="0" i="0" dirty="0">
                <a:solidFill>
                  <a:srgbClr val="F8F8F2"/>
                </a:solidFill>
                <a:effectLst/>
                <a:latin typeface="SFMono-Regular"/>
              </a:rPr>
              <a:t>(state = </a:t>
            </a:r>
            <a:r>
              <a:rPr lang="en-US" sz="1600" b="0" i="0" dirty="0" err="1">
                <a:solidFill>
                  <a:srgbClr val="F8F8F2"/>
                </a:solidFill>
                <a:effectLst/>
                <a:latin typeface="SFMono-Regular"/>
              </a:rPr>
              <a:t>initialState</a:t>
            </a:r>
            <a:r>
              <a:rPr lang="en-US" sz="1600" b="0" i="0" dirty="0">
                <a:solidFill>
                  <a:srgbClr val="F8F8F2"/>
                </a:solidFill>
                <a:effectLst/>
                <a:latin typeface="SFMono-Regular"/>
              </a:rPr>
              <a:t>, action) {</a:t>
            </a:r>
            <a:br>
              <a:rPr lang="en-US" sz="1600" b="0" i="0" dirty="0">
                <a:solidFill>
                  <a:srgbClr val="F8F8F2"/>
                </a:solidFill>
                <a:effectLst/>
                <a:latin typeface="SFMono-Regular"/>
              </a:rPr>
            </a:br>
            <a:r>
              <a:rPr lang="en-US" sz="1600" b="0" i="0" dirty="0">
                <a:solidFill>
                  <a:srgbClr val="C6CAD2"/>
                </a:solidFill>
                <a:effectLst/>
                <a:latin typeface="SFMono-Regular"/>
              </a:rPr>
              <a:t>// Check to see if the reducer cares about this action</a:t>
            </a:r>
            <a:br>
              <a:rPr lang="en-US" sz="1600" b="0" i="0" dirty="0">
                <a:solidFill>
                  <a:srgbClr val="F8F8F2"/>
                </a:solidFill>
                <a:effectLst/>
                <a:latin typeface="SFMono-Regular"/>
              </a:rPr>
            </a:br>
            <a:r>
              <a:rPr lang="en-US" sz="1600" b="0" i="0" dirty="0">
                <a:solidFill>
                  <a:srgbClr val="F92672"/>
                </a:solidFill>
                <a:effectLst/>
                <a:latin typeface="SFMono-Regular"/>
              </a:rPr>
              <a:t>if</a:t>
            </a:r>
            <a:r>
              <a:rPr lang="en-US" sz="1600" b="0" i="0" dirty="0">
                <a:solidFill>
                  <a:srgbClr val="F8F8F2"/>
                </a:solidFill>
                <a:effectLst/>
                <a:latin typeface="SFMono-Regular"/>
              </a:rPr>
              <a:t> (</a:t>
            </a:r>
            <a:r>
              <a:rPr lang="en-US" sz="1600" b="0" i="0" dirty="0" err="1">
                <a:solidFill>
                  <a:srgbClr val="F8F8F2"/>
                </a:solidFill>
                <a:effectLst/>
                <a:latin typeface="SFMono-Regular"/>
              </a:rPr>
              <a:t>action.type</a:t>
            </a:r>
            <a:r>
              <a:rPr lang="en-US" sz="1600" b="0" i="0" dirty="0">
                <a:solidFill>
                  <a:srgbClr val="F8F8F2"/>
                </a:solidFill>
                <a:effectLst/>
                <a:latin typeface="SFMono-Regular"/>
              </a:rPr>
              <a:t> === </a:t>
            </a:r>
            <a:r>
              <a:rPr lang="en-US" sz="1600" b="0" i="0" dirty="0">
                <a:solidFill>
                  <a:srgbClr val="A6E22E"/>
                </a:solidFill>
                <a:effectLst/>
                <a:latin typeface="SFMono-Regular"/>
              </a:rPr>
              <a:t>'counter/increment'</a:t>
            </a:r>
            <a:r>
              <a:rPr lang="en-US" sz="1600" b="0" i="0" dirty="0">
                <a:solidFill>
                  <a:srgbClr val="F8F8F2"/>
                </a:solidFill>
                <a:effectLst/>
                <a:latin typeface="SFMono-Regular"/>
              </a:rPr>
              <a:t>) {</a:t>
            </a:r>
            <a:br>
              <a:rPr lang="en-US" sz="1600" b="0" i="0" dirty="0">
                <a:solidFill>
                  <a:srgbClr val="F8F8F2"/>
                </a:solidFill>
                <a:effectLst/>
                <a:latin typeface="SFMono-Regular"/>
              </a:rPr>
            </a:br>
            <a:r>
              <a:rPr lang="en-US" sz="1600" b="0" i="0" dirty="0">
                <a:solidFill>
                  <a:srgbClr val="C6CAD2"/>
                </a:solidFill>
                <a:effectLst/>
                <a:latin typeface="SFMono-Regular"/>
              </a:rPr>
              <a:t>// If so, make a copy of `state`</a:t>
            </a:r>
            <a:br>
              <a:rPr lang="en-US" sz="1600" b="0" i="0" dirty="0">
                <a:solidFill>
                  <a:srgbClr val="F8F8F2"/>
                </a:solidFill>
                <a:effectLst/>
                <a:latin typeface="SFMono-Regular"/>
              </a:rPr>
            </a:br>
            <a:r>
              <a:rPr lang="en-US" sz="1600" b="0" i="0" dirty="0">
                <a:solidFill>
                  <a:srgbClr val="F92672"/>
                </a:solidFill>
                <a:effectLst/>
                <a:latin typeface="SFMono-Regular"/>
              </a:rPr>
              <a:t>return</a:t>
            </a:r>
            <a:r>
              <a:rPr lang="en-US" sz="1600" b="0" i="0" dirty="0">
                <a:solidFill>
                  <a:srgbClr val="F8F8F2"/>
                </a:solidFill>
                <a:effectLst/>
                <a:latin typeface="SFMono-Regular"/>
              </a:rPr>
              <a:t> {</a:t>
            </a:r>
            <a:br>
              <a:rPr lang="en-US" sz="1600" b="0" i="0" dirty="0">
                <a:solidFill>
                  <a:srgbClr val="F8F8F2"/>
                </a:solidFill>
                <a:effectLst/>
                <a:latin typeface="SFMono-Regular"/>
              </a:rPr>
            </a:br>
            <a:r>
              <a:rPr lang="en-US" sz="1600" b="0" i="0" dirty="0">
                <a:solidFill>
                  <a:srgbClr val="F8F8F2"/>
                </a:solidFill>
                <a:effectLst/>
                <a:latin typeface="SFMono-Regular"/>
              </a:rPr>
              <a:t>...state,</a:t>
            </a:r>
            <a:br>
              <a:rPr lang="en-US" sz="1600" b="0" i="0" dirty="0">
                <a:solidFill>
                  <a:srgbClr val="F8F8F2"/>
                </a:solidFill>
                <a:effectLst/>
                <a:latin typeface="SFMono-Regular"/>
              </a:rPr>
            </a:br>
            <a:r>
              <a:rPr lang="en-US" sz="1600" b="0" i="0" dirty="0">
                <a:solidFill>
                  <a:srgbClr val="C6CAD2"/>
                </a:solidFill>
                <a:effectLst/>
                <a:latin typeface="SFMono-Regular"/>
              </a:rPr>
              <a:t>// and update the copy with the new value</a:t>
            </a:r>
            <a:br>
              <a:rPr lang="en-US" sz="1600" b="0" i="0" dirty="0">
                <a:solidFill>
                  <a:srgbClr val="F8F8F2"/>
                </a:solidFill>
                <a:effectLst/>
                <a:latin typeface="SFMono-Regular"/>
              </a:rPr>
            </a:br>
            <a:r>
              <a:rPr lang="en-US" sz="1600" b="0" i="0" dirty="0" err="1">
                <a:solidFill>
                  <a:srgbClr val="F92672"/>
                </a:solidFill>
                <a:effectLst/>
                <a:latin typeface="SFMono-Regular"/>
              </a:rPr>
              <a:t>value</a:t>
            </a:r>
            <a:r>
              <a:rPr lang="en-US" sz="1600" b="0" i="0" dirty="0">
                <a:solidFill>
                  <a:srgbClr val="F8F8F2"/>
                </a:solidFill>
                <a:effectLst/>
                <a:latin typeface="SFMono-Regular"/>
              </a:rPr>
              <a:t>: </a:t>
            </a:r>
            <a:r>
              <a:rPr lang="en-US" sz="1600" b="0" i="0" dirty="0" err="1">
                <a:solidFill>
                  <a:srgbClr val="F8F8F2"/>
                </a:solidFill>
                <a:effectLst/>
                <a:latin typeface="SFMono-Regular"/>
              </a:rPr>
              <a:t>state.value</a:t>
            </a:r>
            <a:r>
              <a:rPr lang="en-US" sz="1600" b="0" i="0" dirty="0">
                <a:solidFill>
                  <a:srgbClr val="F8F8F2"/>
                </a:solidFill>
                <a:effectLst/>
                <a:latin typeface="SFMono-Regular"/>
              </a:rPr>
              <a:t> + </a:t>
            </a:r>
            <a:r>
              <a:rPr lang="en-US" sz="1600" b="0" i="0" dirty="0">
                <a:solidFill>
                  <a:srgbClr val="AE81FF"/>
                </a:solidFill>
                <a:effectLst/>
                <a:latin typeface="SFMono-Regular"/>
              </a:rPr>
              <a:t>1</a:t>
            </a:r>
            <a:br>
              <a:rPr lang="en-US" sz="1600" b="0" i="0" dirty="0">
                <a:solidFill>
                  <a:srgbClr val="F8F8F2"/>
                </a:solidFill>
                <a:effectLst/>
                <a:latin typeface="SFMono-Regular"/>
              </a:rPr>
            </a:br>
            <a:r>
              <a:rPr lang="en-US" sz="1600" b="0" i="0" dirty="0">
                <a:solidFill>
                  <a:srgbClr val="F8F8F2"/>
                </a:solidFill>
                <a:effectLst/>
                <a:latin typeface="SFMono-Regular"/>
              </a:rPr>
              <a:t>    }</a:t>
            </a:r>
            <a:br>
              <a:rPr lang="en-US" sz="1600" b="0" i="0" dirty="0">
                <a:solidFill>
                  <a:srgbClr val="F8F8F2"/>
                </a:solidFill>
                <a:effectLst/>
                <a:latin typeface="SFMono-Regular"/>
              </a:rPr>
            </a:br>
            <a:r>
              <a:rPr lang="en-US" sz="1600" b="0" i="0" dirty="0">
                <a:solidFill>
                  <a:srgbClr val="F8F8F2"/>
                </a:solidFill>
                <a:effectLst/>
                <a:latin typeface="SFMono-Regular"/>
              </a:rPr>
              <a:t>}    </a:t>
            </a:r>
            <a:r>
              <a:rPr lang="en-US" sz="1600" b="0" i="0" dirty="0">
                <a:solidFill>
                  <a:srgbClr val="C6CAD2"/>
                </a:solidFill>
                <a:effectLst/>
                <a:latin typeface="SFMono-Regular"/>
              </a:rPr>
              <a:t>// otherwise return the existing state unchanged</a:t>
            </a:r>
            <a:br>
              <a:rPr lang="en-US" sz="1600" b="0" i="0" dirty="0">
                <a:solidFill>
                  <a:srgbClr val="F8F8F2"/>
                </a:solidFill>
                <a:effectLst/>
                <a:latin typeface="SFMono-Regular"/>
              </a:rPr>
            </a:br>
            <a:r>
              <a:rPr lang="en-US" sz="1600" b="0" i="0" dirty="0">
                <a:solidFill>
                  <a:srgbClr val="F92672"/>
                </a:solidFill>
                <a:effectLst/>
                <a:latin typeface="SFMono-Regular"/>
              </a:rPr>
              <a:t>return</a:t>
            </a:r>
            <a:r>
              <a:rPr lang="en-US" sz="1600" b="0" i="0" dirty="0">
                <a:solidFill>
                  <a:srgbClr val="F8F8F2"/>
                </a:solidFill>
                <a:effectLst/>
                <a:latin typeface="SFMono-Regular"/>
              </a:rPr>
              <a:t> state</a:t>
            </a:r>
            <a:br>
              <a:rPr lang="en-US" sz="1600" b="0" i="0" dirty="0">
                <a:solidFill>
                  <a:srgbClr val="F8F8F2"/>
                </a:solidFill>
                <a:effectLst/>
                <a:latin typeface="SFMono-Regular"/>
              </a:rPr>
            </a:br>
            <a:r>
              <a:rPr lang="en-US" sz="1600" b="0" i="0" dirty="0">
                <a:solidFill>
                  <a:srgbClr val="F8F8F2"/>
                </a:solidFill>
                <a:effectLst/>
                <a:latin typeface="SFMono-Regular"/>
              </a:rPr>
              <a:t>}</a:t>
            </a:r>
            <a:endParaRPr lang="en-IN" sz="1600" dirty="0"/>
          </a:p>
        </p:txBody>
      </p:sp>
    </p:spTree>
    <p:extLst>
      <p:ext uri="{BB962C8B-B14F-4D97-AF65-F5344CB8AC3E}">
        <p14:creationId xmlns:p14="http://schemas.microsoft.com/office/powerpoint/2010/main" val="331069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1B0BDE3-5122-896F-1B5E-D3A1467D12EA}"/>
              </a:ext>
            </a:extLst>
          </p:cNvPr>
          <p:cNvSpPr txBox="1"/>
          <p:nvPr/>
        </p:nvSpPr>
        <p:spPr>
          <a:xfrm>
            <a:off x="0" y="0"/>
            <a:ext cx="6094428" cy="1477328"/>
          </a:xfrm>
          <a:prstGeom prst="rect">
            <a:avLst/>
          </a:prstGeom>
          <a:noFill/>
        </p:spPr>
        <p:txBody>
          <a:bodyPr wrap="square">
            <a:spAutoFit/>
          </a:bodyPr>
          <a:lstStyle/>
          <a:p>
            <a:r>
              <a:rPr lang="en-US" b="1" dirty="0"/>
              <a:t>Store</a:t>
            </a:r>
          </a:p>
          <a:p>
            <a:r>
              <a:rPr lang="en-US" dirty="0"/>
              <a:t>The current Redux application state lives in an object called the store .</a:t>
            </a:r>
          </a:p>
          <a:p>
            <a:r>
              <a:rPr lang="en-US" dirty="0"/>
              <a:t>The store is created by passing in a reducer, and has a method called </a:t>
            </a:r>
            <a:r>
              <a:rPr lang="en-US" dirty="0" err="1"/>
              <a:t>getState</a:t>
            </a:r>
            <a:r>
              <a:rPr lang="en-US" dirty="0"/>
              <a:t> that returns the current state value:</a:t>
            </a:r>
            <a:endParaRPr lang="en-IN" dirty="0"/>
          </a:p>
        </p:txBody>
      </p:sp>
      <p:sp>
        <p:nvSpPr>
          <p:cNvPr id="8" name="TextBox 7">
            <a:extLst>
              <a:ext uri="{FF2B5EF4-FFF2-40B4-BE49-F238E27FC236}">
                <a16:creationId xmlns:a16="http://schemas.microsoft.com/office/drawing/2014/main" id="{45ECEBF5-06AD-7A87-DBCD-772EB50B9EF3}"/>
              </a:ext>
            </a:extLst>
          </p:cNvPr>
          <p:cNvSpPr txBox="1"/>
          <p:nvPr/>
        </p:nvSpPr>
        <p:spPr>
          <a:xfrm>
            <a:off x="6226404" y="183352"/>
            <a:ext cx="5877612" cy="1569660"/>
          </a:xfrm>
          <a:prstGeom prst="rect">
            <a:avLst/>
          </a:prstGeom>
          <a:solidFill>
            <a:schemeClr val="tx1"/>
          </a:solidFill>
        </p:spPr>
        <p:txBody>
          <a:bodyPr wrap="square">
            <a:spAutoFit/>
          </a:bodyPr>
          <a:lstStyle/>
          <a:p>
            <a:r>
              <a:rPr lang="en-IN" sz="1600" b="0" i="0" dirty="0">
                <a:solidFill>
                  <a:srgbClr val="F92672"/>
                </a:solidFill>
                <a:effectLst/>
                <a:latin typeface="SFMono-Regular"/>
              </a:rPr>
              <a:t>import</a:t>
            </a:r>
            <a:r>
              <a:rPr lang="en-IN" sz="1600" b="0" i="0" dirty="0">
                <a:solidFill>
                  <a:srgbClr val="F8F8F2"/>
                </a:solidFill>
                <a:effectLst/>
                <a:latin typeface="SFMono-Regular"/>
              </a:rPr>
              <a:t> { </a:t>
            </a:r>
            <a:r>
              <a:rPr lang="en-IN" sz="1600" b="0" i="0" dirty="0" err="1">
                <a:solidFill>
                  <a:srgbClr val="F8F8F2"/>
                </a:solidFill>
                <a:effectLst/>
                <a:latin typeface="SFMono-Regular"/>
              </a:rPr>
              <a:t>configureStore</a:t>
            </a:r>
            <a:r>
              <a:rPr lang="en-IN" sz="1600" b="0" i="0" dirty="0">
                <a:solidFill>
                  <a:srgbClr val="F8F8F2"/>
                </a:solidFill>
                <a:effectLst/>
                <a:latin typeface="SFMono-Regular"/>
              </a:rPr>
              <a:t> } </a:t>
            </a:r>
            <a:r>
              <a:rPr lang="en-IN" sz="1600" b="0" i="0" dirty="0">
                <a:solidFill>
                  <a:srgbClr val="F92672"/>
                </a:solidFill>
                <a:effectLst/>
                <a:latin typeface="SFMono-Regular"/>
              </a:rPr>
              <a:t>from</a:t>
            </a:r>
            <a:r>
              <a:rPr lang="en-IN" sz="1600" b="0" i="0" dirty="0">
                <a:solidFill>
                  <a:srgbClr val="F8F8F2"/>
                </a:solidFill>
                <a:effectLst/>
                <a:latin typeface="SFMono-Regular"/>
              </a:rPr>
              <a:t> </a:t>
            </a:r>
            <a:r>
              <a:rPr lang="en-IN" sz="1600" b="0" i="0" dirty="0">
                <a:solidFill>
                  <a:srgbClr val="A6E22E"/>
                </a:solidFill>
                <a:effectLst/>
                <a:latin typeface="SFMono-Regular"/>
              </a:rPr>
              <a:t>'@</a:t>
            </a:r>
            <a:r>
              <a:rPr lang="en-IN" sz="1600" b="0" i="0" dirty="0" err="1">
                <a:solidFill>
                  <a:srgbClr val="A6E22E"/>
                </a:solidFill>
                <a:effectLst/>
                <a:latin typeface="SFMono-Regular"/>
              </a:rPr>
              <a:t>reduxjs</a:t>
            </a:r>
            <a:r>
              <a:rPr lang="en-IN" sz="1600" b="0" i="0" dirty="0">
                <a:solidFill>
                  <a:srgbClr val="A6E22E"/>
                </a:solidFill>
                <a:effectLst/>
                <a:latin typeface="SFMono-Regular"/>
              </a:rPr>
              <a:t>/toolkit'</a:t>
            </a:r>
            <a:br>
              <a:rPr lang="en-IN" sz="1600" b="0" i="0" dirty="0">
                <a:solidFill>
                  <a:srgbClr val="F8F8F2"/>
                </a:solidFill>
                <a:effectLst/>
                <a:latin typeface="SFMono-Regular"/>
              </a:rPr>
            </a:br>
            <a:br>
              <a:rPr lang="en-IN" sz="1600" b="0" i="0" dirty="0">
                <a:solidFill>
                  <a:srgbClr val="F8F8F2"/>
                </a:solidFill>
                <a:effectLst/>
                <a:latin typeface="SFMono-Regular"/>
              </a:rPr>
            </a:br>
            <a:r>
              <a:rPr lang="en-IN" sz="1600" b="0" i="0" dirty="0" err="1">
                <a:solidFill>
                  <a:srgbClr val="F92672"/>
                </a:solidFill>
                <a:effectLst/>
                <a:latin typeface="SFMono-Regular"/>
              </a:rPr>
              <a:t>const</a:t>
            </a:r>
            <a:r>
              <a:rPr lang="en-IN" sz="1600" b="0" i="0" dirty="0">
                <a:solidFill>
                  <a:srgbClr val="F8F8F2"/>
                </a:solidFill>
                <a:effectLst/>
                <a:latin typeface="SFMono-Regular"/>
              </a:rPr>
              <a:t> store = </a:t>
            </a:r>
            <a:r>
              <a:rPr lang="en-IN" sz="1600" b="0" i="0" dirty="0" err="1">
                <a:solidFill>
                  <a:srgbClr val="E6D874"/>
                </a:solidFill>
                <a:effectLst/>
                <a:latin typeface="SFMono-Regular"/>
              </a:rPr>
              <a:t>configureStore</a:t>
            </a:r>
            <a:r>
              <a:rPr lang="en-IN" sz="1600" b="0" i="0" dirty="0">
                <a:solidFill>
                  <a:srgbClr val="F8F8F2"/>
                </a:solidFill>
                <a:effectLst/>
                <a:latin typeface="SFMono-Regular"/>
              </a:rPr>
              <a:t>({ </a:t>
            </a:r>
            <a:r>
              <a:rPr lang="en-IN" sz="1600" b="0" i="0" dirty="0">
                <a:solidFill>
                  <a:srgbClr val="F92672"/>
                </a:solidFill>
                <a:effectLst/>
                <a:latin typeface="SFMono-Regular"/>
              </a:rPr>
              <a:t>reducer</a:t>
            </a:r>
            <a:r>
              <a:rPr lang="en-IN" sz="1600" b="0" i="0" dirty="0">
                <a:solidFill>
                  <a:srgbClr val="F8F8F2"/>
                </a:solidFill>
                <a:effectLst/>
                <a:latin typeface="SFMono-Regular"/>
              </a:rPr>
              <a:t>: </a:t>
            </a:r>
            <a:r>
              <a:rPr lang="en-IN" sz="1600" b="0" i="0" dirty="0" err="1">
                <a:solidFill>
                  <a:srgbClr val="F8F8F2"/>
                </a:solidFill>
                <a:effectLst/>
                <a:latin typeface="SFMono-Regular"/>
              </a:rPr>
              <a:t>counterReducer</a:t>
            </a:r>
            <a:r>
              <a:rPr lang="en-IN" sz="1600" b="0" i="0" dirty="0">
                <a:solidFill>
                  <a:srgbClr val="F8F8F2"/>
                </a:solidFill>
                <a:effectLst/>
                <a:latin typeface="SFMono-Regular"/>
              </a:rPr>
              <a:t> })</a:t>
            </a:r>
            <a:br>
              <a:rPr lang="en-IN" sz="1600" b="0" i="0" dirty="0">
                <a:solidFill>
                  <a:srgbClr val="F8F8F2"/>
                </a:solidFill>
                <a:effectLst/>
                <a:latin typeface="SFMono-Regular"/>
              </a:rPr>
            </a:br>
            <a:br>
              <a:rPr lang="en-IN" sz="1600" b="0" i="0" dirty="0">
                <a:solidFill>
                  <a:srgbClr val="F8F8F2"/>
                </a:solidFill>
                <a:effectLst/>
                <a:latin typeface="SFMono-Regular"/>
              </a:rPr>
            </a:br>
            <a:r>
              <a:rPr lang="en-IN" sz="1600" b="0" i="0" dirty="0">
                <a:solidFill>
                  <a:srgbClr val="F8F8F2"/>
                </a:solidFill>
                <a:effectLst/>
                <a:latin typeface="SFMono-Regular"/>
              </a:rPr>
              <a:t>console.</a:t>
            </a:r>
            <a:r>
              <a:rPr lang="en-IN" sz="1600" b="0" i="0" dirty="0">
                <a:solidFill>
                  <a:srgbClr val="E6D874"/>
                </a:solidFill>
                <a:effectLst/>
                <a:latin typeface="SFMono-Regular"/>
              </a:rPr>
              <a:t>log</a:t>
            </a:r>
            <a:r>
              <a:rPr lang="en-IN" sz="1600" b="0" i="0" dirty="0">
                <a:solidFill>
                  <a:srgbClr val="F8F8F2"/>
                </a:solidFill>
                <a:effectLst/>
                <a:latin typeface="SFMono-Regular"/>
              </a:rPr>
              <a:t>(</a:t>
            </a:r>
            <a:r>
              <a:rPr lang="en-IN" sz="1600" b="0" i="0" dirty="0" err="1">
                <a:solidFill>
                  <a:srgbClr val="F8F8F2"/>
                </a:solidFill>
                <a:effectLst/>
                <a:latin typeface="SFMono-Regular"/>
              </a:rPr>
              <a:t>store.</a:t>
            </a:r>
            <a:r>
              <a:rPr lang="en-IN" sz="1600" b="0" i="0" dirty="0" err="1">
                <a:solidFill>
                  <a:srgbClr val="E6D874"/>
                </a:solidFill>
                <a:effectLst/>
                <a:latin typeface="SFMono-Regular"/>
              </a:rPr>
              <a:t>getState</a:t>
            </a:r>
            <a:r>
              <a:rPr lang="en-IN" sz="1600" b="0" i="0" dirty="0">
                <a:solidFill>
                  <a:srgbClr val="F8F8F2"/>
                </a:solidFill>
                <a:effectLst/>
                <a:latin typeface="SFMono-Regular"/>
              </a:rPr>
              <a:t>())</a:t>
            </a:r>
            <a:br>
              <a:rPr lang="en-IN" sz="1600" b="0" i="0" dirty="0">
                <a:solidFill>
                  <a:srgbClr val="F8F8F2"/>
                </a:solidFill>
                <a:effectLst/>
                <a:latin typeface="SFMono-Regular"/>
              </a:rPr>
            </a:br>
            <a:r>
              <a:rPr lang="en-IN" sz="1600" b="0" i="0" dirty="0">
                <a:solidFill>
                  <a:srgbClr val="C6CAD2"/>
                </a:solidFill>
                <a:effectLst/>
                <a:latin typeface="SFMono-Regular"/>
              </a:rPr>
              <a:t>// {value: 0}</a:t>
            </a:r>
            <a:endParaRPr lang="en-IN" sz="1600" dirty="0"/>
          </a:p>
        </p:txBody>
      </p:sp>
      <p:sp>
        <p:nvSpPr>
          <p:cNvPr id="10" name="TextBox 9">
            <a:extLst>
              <a:ext uri="{FF2B5EF4-FFF2-40B4-BE49-F238E27FC236}">
                <a16:creationId xmlns:a16="http://schemas.microsoft.com/office/drawing/2014/main" id="{60E5B5AF-BEDD-15EE-8BA3-FFEAA712EF35}"/>
              </a:ext>
            </a:extLst>
          </p:cNvPr>
          <p:cNvSpPr txBox="1"/>
          <p:nvPr/>
        </p:nvSpPr>
        <p:spPr>
          <a:xfrm>
            <a:off x="42420" y="1674674"/>
            <a:ext cx="6117996" cy="1754326"/>
          </a:xfrm>
          <a:prstGeom prst="rect">
            <a:avLst/>
          </a:prstGeom>
          <a:noFill/>
        </p:spPr>
        <p:txBody>
          <a:bodyPr wrap="square">
            <a:spAutoFit/>
          </a:bodyPr>
          <a:lstStyle/>
          <a:p>
            <a:r>
              <a:rPr lang="en-US" b="1" dirty="0"/>
              <a:t>Dispatch</a:t>
            </a:r>
          </a:p>
          <a:p>
            <a:r>
              <a:rPr lang="en-US" dirty="0"/>
              <a:t>The Redux store has a method called dispatch. The only way to update the state is to call </a:t>
            </a:r>
            <a:r>
              <a:rPr lang="en-US" dirty="0" err="1"/>
              <a:t>store.dispatch</a:t>
            </a:r>
            <a:r>
              <a:rPr lang="en-US" dirty="0"/>
              <a:t>() and pass in an action object. The store will run its reducer function and save the new state value inside, and we can call </a:t>
            </a:r>
            <a:r>
              <a:rPr lang="en-US" dirty="0" err="1"/>
              <a:t>getState</a:t>
            </a:r>
            <a:r>
              <a:rPr lang="en-US" dirty="0"/>
              <a:t>() to retrieve the updated value:</a:t>
            </a:r>
            <a:endParaRPr lang="en-IN" dirty="0"/>
          </a:p>
        </p:txBody>
      </p:sp>
      <p:sp>
        <p:nvSpPr>
          <p:cNvPr id="12" name="TextBox 11">
            <a:extLst>
              <a:ext uri="{FF2B5EF4-FFF2-40B4-BE49-F238E27FC236}">
                <a16:creationId xmlns:a16="http://schemas.microsoft.com/office/drawing/2014/main" id="{13860E98-4137-3980-FDCC-C4B03BAEAB65}"/>
              </a:ext>
            </a:extLst>
          </p:cNvPr>
          <p:cNvSpPr txBox="1"/>
          <p:nvPr/>
        </p:nvSpPr>
        <p:spPr>
          <a:xfrm>
            <a:off x="6160416" y="1883798"/>
            <a:ext cx="5989164" cy="1200329"/>
          </a:xfrm>
          <a:prstGeom prst="rect">
            <a:avLst/>
          </a:prstGeom>
          <a:solidFill>
            <a:schemeClr val="tx1"/>
          </a:solidFill>
        </p:spPr>
        <p:txBody>
          <a:bodyPr wrap="square">
            <a:spAutoFit/>
          </a:bodyPr>
          <a:lstStyle/>
          <a:p>
            <a:r>
              <a:rPr lang="en-IN" b="0" i="0" dirty="0" err="1">
                <a:solidFill>
                  <a:srgbClr val="F8F8F2"/>
                </a:solidFill>
                <a:effectLst/>
                <a:latin typeface="SFMono-Regular"/>
              </a:rPr>
              <a:t>store.</a:t>
            </a:r>
            <a:r>
              <a:rPr lang="en-IN" b="0" i="0" dirty="0" err="1">
                <a:solidFill>
                  <a:srgbClr val="E6D874"/>
                </a:solidFill>
                <a:effectLst/>
                <a:latin typeface="SFMono-Regular"/>
              </a:rPr>
              <a:t>dispatch</a:t>
            </a:r>
            <a:r>
              <a:rPr lang="en-IN" b="0" i="0" dirty="0">
                <a:solidFill>
                  <a:srgbClr val="F8F8F2"/>
                </a:solidFill>
                <a:effectLst/>
                <a:latin typeface="SFMono-Regular"/>
              </a:rPr>
              <a:t>({ </a:t>
            </a:r>
            <a:r>
              <a:rPr lang="en-IN" b="0" i="0" dirty="0">
                <a:solidFill>
                  <a:srgbClr val="F92672"/>
                </a:solidFill>
                <a:effectLst/>
                <a:latin typeface="SFMono-Regular"/>
              </a:rPr>
              <a:t>type</a:t>
            </a:r>
            <a:r>
              <a:rPr lang="en-IN" b="0" i="0" dirty="0">
                <a:solidFill>
                  <a:srgbClr val="F8F8F2"/>
                </a:solidFill>
                <a:effectLst/>
                <a:latin typeface="SFMono-Regular"/>
              </a:rPr>
              <a:t>: </a:t>
            </a:r>
            <a:r>
              <a:rPr lang="en-IN" b="0" i="0" dirty="0">
                <a:solidFill>
                  <a:srgbClr val="A6E22E"/>
                </a:solidFill>
                <a:effectLst/>
                <a:latin typeface="SFMono-Regular"/>
              </a:rPr>
              <a:t>'counter/increment'</a:t>
            </a:r>
            <a:r>
              <a:rPr lang="en-IN" b="0" i="0" dirty="0">
                <a:solidFill>
                  <a:srgbClr val="F8F8F2"/>
                </a:solidFill>
                <a:effectLst/>
                <a:latin typeface="SFMono-Regular"/>
              </a:rPr>
              <a:t> })</a:t>
            </a:r>
            <a:br>
              <a:rPr lang="en-IN" b="0" i="0" dirty="0">
                <a:solidFill>
                  <a:srgbClr val="F8F8F2"/>
                </a:solidFill>
                <a:effectLst/>
                <a:latin typeface="SFMono-Regular"/>
              </a:rPr>
            </a:br>
            <a:br>
              <a:rPr lang="en-IN" b="0" i="0" dirty="0">
                <a:solidFill>
                  <a:srgbClr val="F8F8F2"/>
                </a:solidFill>
                <a:effectLst/>
                <a:latin typeface="SFMono-Regular"/>
              </a:rPr>
            </a:br>
            <a:r>
              <a:rPr lang="en-IN" b="0" i="0" dirty="0">
                <a:solidFill>
                  <a:srgbClr val="F8F8F2"/>
                </a:solidFill>
                <a:effectLst/>
                <a:latin typeface="SFMono-Regular"/>
              </a:rPr>
              <a:t>console.</a:t>
            </a:r>
            <a:r>
              <a:rPr lang="en-IN" b="0" i="0" dirty="0">
                <a:solidFill>
                  <a:srgbClr val="E6D874"/>
                </a:solidFill>
                <a:effectLst/>
                <a:latin typeface="SFMono-Regular"/>
              </a:rPr>
              <a:t>log</a:t>
            </a:r>
            <a:r>
              <a:rPr lang="en-IN" b="0" i="0" dirty="0">
                <a:solidFill>
                  <a:srgbClr val="F8F8F2"/>
                </a:solidFill>
                <a:effectLst/>
                <a:latin typeface="SFMono-Regular"/>
              </a:rPr>
              <a:t>(</a:t>
            </a:r>
            <a:r>
              <a:rPr lang="en-IN" b="0" i="0" dirty="0" err="1">
                <a:solidFill>
                  <a:srgbClr val="F8F8F2"/>
                </a:solidFill>
                <a:effectLst/>
                <a:latin typeface="SFMono-Regular"/>
              </a:rPr>
              <a:t>store.</a:t>
            </a:r>
            <a:r>
              <a:rPr lang="en-IN" b="0" i="0" dirty="0" err="1">
                <a:solidFill>
                  <a:srgbClr val="E6D874"/>
                </a:solidFill>
                <a:effectLst/>
                <a:latin typeface="SFMono-Regular"/>
              </a:rPr>
              <a:t>getState</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C6CAD2"/>
                </a:solidFill>
                <a:effectLst/>
                <a:latin typeface="SFMono-Regular"/>
              </a:rPr>
              <a:t>// {value: 1}</a:t>
            </a:r>
            <a:endParaRPr lang="en-IN" dirty="0"/>
          </a:p>
        </p:txBody>
      </p:sp>
      <p:sp>
        <p:nvSpPr>
          <p:cNvPr id="14" name="TextBox 13">
            <a:extLst>
              <a:ext uri="{FF2B5EF4-FFF2-40B4-BE49-F238E27FC236}">
                <a16:creationId xmlns:a16="http://schemas.microsoft.com/office/drawing/2014/main" id="{05E7FB06-CE10-50D5-7611-5B583371504F}"/>
              </a:ext>
            </a:extLst>
          </p:cNvPr>
          <p:cNvSpPr txBox="1"/>
          <p:nvPr/>
        </p:nvSpPr>
        <p:spPr>
          <a:xfrm>
            <a:off x="42420" y="3432152"/>
            <a:ext cx="6117996" cy="646331"/>
          </a:xfrm>
          <a:prstGeom prst="rect">
            <a:avLst/>
          </a:prstGeom>
          <a:noFill/>
        </p:spPr>
        <p:txBody>
          <a:bodyPr wrap="square">
            <a:spAutoFit/>
          </a:bodyPr>
          <a:lstStyle/>
          <a:p>
            <a:r>
              <a:rPr lang="en-US" b="1" i="0" dirty="0">
                <a:solidFill>
                  <a:srgbClr val="1C1E21"/>
                </a:solidFill>
                <a:effectLst/>
                <a:latin typeface="system-ui"/>
              </a:rPr>
              <a:t>You can think of dispatching actions as "triggering an event"</a:t>
            </a:r>
            <a:r>
              <a:rPr lang="en-US" b="0" i="0" dirty="0">
                <a:solidFill>
                  <a:srgbClr val="1C1E21"/>
                </a:solidFill>
                <a:effectLst/>
                <a:latin typeface="system-ui"/>
              </a:rPr>
              <a:t> in the application.</a:t>
            </a:r>
            <a:endParaRPr lang="en-IN" dirty="0"/>
          </a:p>
        </p:txBody>
      </p:sp>
      <p:sp>
        <p:nvSpPr>
          <p:cNvPr id="16" name="TextBox 15">
            <a:extLst>
              <a:ext uri="{FF2B5EF4-FFF2-40B4-BE49-F238E27FC236}">
                <a16:creationId xmlns:a16="http://schemas.microsoft.com/office/drawing/2014/main" id="{22666DB8-32BA-94A0-886E-A40D3D71F228}"/>
              </a:ext>
            </a:extLst>
          </p:cNvPr>
          <p:cNvSpPr txBox="1"/>
          <p:nvPr/>
        </p:nvSpPr>
        <p:spPr>
          <a:xfrm>
            <a:off x="42420" y="4260072"/>
            <a:ext cx="6117996" cy="369332"/>
          </a:xfrm>
          <a:prstGeom prst="rect">
            <a:avLst/>
          </a:prstGeom>
          <a:noFill/>
        </p:spPr>
        <p:txBody>
          <a:bodyPr wrap="square">
            <a:spAutoFit/>
          </a:bodyPr>
          <a:lstStyle/>
          <a:p>
            <a:r>
              <a:rPr lang="en-US" b="0" i="0" dirty="0">
                <a:solidFill>
                  <a:srgbClr val="1C1E21"/>
                </a:solidFill>
                <a:effectLst/>
                <a:latin typeface="system-ui"/>
              </a:rPr>
              <a:t>We typically call action creators to dispatch the right action:</a:t>
            </a:r>
            <a:endParaRPr lang="en-IN" dirty="0"/>
          </a:p>
        </p:txBody>
      </p:sp>
      <p:sp>
        <p:nvSpPr>
          <p:cNvPr id="18" name="TextBox 17">
            <a:extLst>
              <a:ext uri="{FF2B5EF4-FFF2-40B4-BE49-F238E27FC236}">
                <a16:creationId xmlns:a16="http://schemas.microsoft.com/office/drawing/2014/main" id="{5ED7570F-76C6-767C-ECCC-E64FF6C113CD}"/>
              </a:ext>
            </a:extLst>
          </p:cNvPr>
          <p:cNvSpPr txBox="1"/>
          <p:nvPr/>
        </p:nvSpPr>
        <p:spPr>
          <a:xfrm>
            <a:off x="6106212" y="3198243"/>
            <a:ext cx="6117996" cy="2031325"/>
          </a:xfrm>
          <a:prstGeom prst="rect">
            <a:avLst/>
          </a:prstGeom>
          <a:solidFill>
            <a:schemeClr val="tx1"/>
          </a:solidFill>
        </p:spPr>
        <p:txBody>
          <a:bodyPr wrap="square">
            <a:spAutoFit/>
          </a:bodyPr>
          <a:lstStyle/>
          <a:p>
            <a:r>
              <a:rPr lang="en-IN" b="0" i="0" dirty="0" err="1">
                <a:solidFill>
                  <a:srgbClr val="F92672"/>
                </a:solidFill>
                <a:effectLst/>
                <a:latin typeface="SFMono-Regular"/>
              </a:rPr>
              <a:t>const</a:t>
            </a:r>
            <a:r>
              <a:rPr lang="en-IN" b="0" i="0" dirty="0">
                <a:solidFill>
                  <a:srgbClr val="F8F8F2"/>
                </a:solidFill>
                <a:effectLst/>
                <a:latin typeface="SFMono-Regular"/>
              </a:rPr>
              <a:t> </a:t>
            </a:r>
            <a:r>
              <a:rPr lang="en-IN" b="0" i="0" dirty="0">
                <a:solidFill>
                  <a:srgbClr val="E6D874"/>
                </a:solidFill>
                <a:effectLst/>
                <a:latin typeface="SFMono-Regular"/>
              </a:rPr>
              <a:t>increment</a:t>
            </a:r>
            <a:r>
              <a:rPr lang="en-IN" b="0" i="0" dirty="0">
                <a:solidFill>
                  <a:srgbClr val="F8F8F2"/>
                </a:solidFill>
                <a:effectLst/>
                <a:latin typeface="SFMono-Regular"/>
              </a:rPr>
              <a:t> = () =&gt; {</a:t>
            </a:r>
            <a:br>
              <a:rPr lang="en-IN" b="0" i="0" dirty="0">
                <a:solidFill>
                  <a:srgbClr val="F8F8F2"/>
                </a:solidFill>
                <a:effectLst/>
                <a:latin typeface="SFMono-Regular"/>
              </a:rPr>
            </a:br>
            <a:r>
              <a:rPr lang="en-IN" b="0" i="0" dirty="0">
                <a:solidFill>
                  <a:srgbClr val="F92672"/>
                </a:solidFill>
                <a:effectLst/>
                <a:latin typeface="SFMono-Regular"/>
              </a:rPr>
              <a:t>return</a:t>
            </a:r>
            <a:r>
              <a:rPr lang="en-IN" b="0" i="0" dirty="0">
                <a:solidFill>
                  <a:srgbClr val="F8F8F2"/>
                </a:solidFill>
                <a:effectLst/>
                <a:latin typeface="SFMono-Regular"/>
              </a:rPr>
              <a:t> {  </a:t>
            </a:r>
            <a:r>
              <a:rPr lang="en-IN" b="0" i="0" dirty="0">
                <a:solidFill>
                  <a:srgbClr val="F92672"/>
                </a:solidFill>
                <a:effectLst/>
                <a:latin typeface="SFMono-Regular"/>
              </a:rPr>
              <a:t>type</a:t>
            </a:r>
            <a:r>
              <a:rPr lang="en-IN" b="0" i="0" dirty="0">
                <a:solidFill>
                  <a:srgbClr val="F8F8F2"/>
                </a:solidFill>
                <a:effectLst/>
                <a:latin typeface="SFMono-Regular"/>
              </a:rPr>
              <a:t>: </a:t>
            </a:r>
            <a:r>
              <a:rPr lang="en-IN" b="0" i="0" dirty="0">
                <a:solidFill>
                  <a:srgbClr val="A6E22E"/>
                </a:solidFill>
                <a:effectLst/>
                <a:latin typeface="SFMono-Regular"/>
              </a:rPr>
              <a:t>'counter/increment’</a:t>
            </a:r>
            <a:br>
              <a:rPr lang="en-IN" b="0" i="0" dirty="0">
                <a:solidFill>
                  <a:srgbClr val="F8F8F2"/>
                </a:solidFill>
                <a:effectLst/>
                <a:latin typeface="SFMono-Regular"/>
              </a:rPr>
            </a:br>
            <a:r>
              <a:rPr lang="en-IN" b="0" i="0" dirty="0">
                <a:solidFill>
                  <a:srgbClr val="F8F8F2"/>
                </a:solidFill>
                <a:effectLst/>
                <a:latin typeface="SFMono-Regular"/>
              </a:rPr>
              <a:t>   }</a:t>
            </a:r>
            <a:br>
              <a:rPr lang="en-IN" b="0" i="0" dirty="0">
                <a:solidFill>
                  <a:srgbClr val="F8F8F2"/>
                </a:solidFill>
                <a:effectLst/>
                <a:latin typeface="SFMono-Regular"/>
              </a:rPr>
            </a:br>
            <a:r>
              <a:rPr lang="en-IN" b="0" i="0" dirty="0">
                <a:solidFill>
                  <a:srgbClr val="F8F8F2"/>
                </a:solidFill>
                <a:effectLst/>
                <a:latin typeface="SFMono-Regular"/>
              </a:rPr>
              <a:t>}</a:t>
            </a:r>
            <a:br>
              <a:rPr lang="en-IN" b="0" i="0" dirty="0">
                <a:solidFill>
                  <a:srgbClr val="F8F8F2"/>
                </a:solidFill>
                <a:effectLst/>
                <a:latin typeface="SFMono-Regular"/>
              </a:rPr>
            </a:br>
            <a:r>
              <a:rPr lang="en-IN" b="0" i="0" dirty="0" err="1">
                <a:solidFill>
                  <a:srgbClr val="F8F8F2"/>
                </a:solidFill>
                <a:effectLst/>
                <a:latin typeface="SFMono-Regular"/>
              </a:rPr>
              <a:t>store.</a:t>
            </a:r>
            <a:r>
              <a:rPr lang="en-IN" b="0" i="0" dirty="0" err="1">
                <a:solidFill>
                  <a:srgbClr val="E6D874"/>
                </a:solidFill>
                <a:effectLst/>
                <a:latin typeface="SFMono-Regular"/>
              </a:rPr>
              <a:t>dispatch</a:t>
            </a:r>
            <a:r>
              <a:rPr lang="en-IN" b="0" i="0" dirty="0">
                <a:solidFill>
                  <a:srgbClr val="F8F8F2"/>
                </a:solidFill>
                <a:effectLst/>
                <a:latin typeface="SFMono-Regular"/>
              </a:rPr>
              <a:t>(</a:t>
            </a:r>
            <a:r>
              <a:rPr lang="en-IN" b="0" i="0" dirty="0">
                <a:solidFill>
                  <a:srgbClr val="E6D874"/>
                </a:solidFill>
                <a:effectLst/>
                <a:latin typeface="SFMono-Regular"/>
              </a:rPr>
              <a:t>increment</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F8F8F2"/>
                </a:solidFill>
                <a:effectLst/>
                <a:latin typeface="SFMono-Regular"/>
              </a:rPr>
              <a:t>console.</a:t>
            </a:r>
            <a:r>
              <a:rPr lang="en-IN" b="0" i="0" dirty="0">
                <a:solidFill>
                  <a:srgbClr val="E6D874"/>
                </a:solidFill>
                <a:effectLst/>
                <a:latin typeface="SFMono-Regular"/>
              </a:rPr>
              <a:t>log</a:t>
            </a:r>
            <a:r>
              <a:rPr lang="en-IN" b="0" i="0" dirty="0">
                <a:solidFill>
                  <a:srgbClr val="F8F8F2"/>
                </a:solidFill>
                <a:effectLst/>
                <a:latin typeface="SFMono-Regular"/>
              </a:rPr>
              <a:t>(</a:t>
            </a:r>
            <a:r>
              <a:rPr lang="en-IN" b="0" i="0" dirty="0" err="1">
                <a:solidFill>
                  <a:srgbClr val="F8F8F2"/>
                </a:solidFill>
                <a:effectLst/>
                <a:latin typeface="SFMono-Regular"/>
              </a:rPr>
              <a:t>store.</a:t>
            </a:r>
            <a:r>
              <a:rPr lang="en-IN" b="0" i="0" dirty="0" err="1">
                <a:solidFill>
                  <a:srgbClr val="E6D874"/>
                </a:solidFill>
                <a:effectLst/>
                <a:latin typeface="SFMono-Regular"/>
              </a:rPr>
              <a:t>getState</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C6CAD2"/>
                </a:solidFill>
                <a:effectLst/>
                <a:latin typeface="SFMono-Regular"/>
              </a:rPr>
              <a:t>// {value: 2}</a:t>
            </a:r>
            <a:endParaRPr lang="en-IN" dirty="0"/>
          </a:p>
        </p:txBody>
      </p:sp>
      <p:sp>
        <p:nvSpPr>
          <p:cNvPr id="20" name="TextBox 19">
            <a:extLst>
              <a:ext uri="{FF2B5EF4-FFF2-40B4-BE49-F238E27FC236}">
                <a16:creationId xmlns:a16="http://schemas.microsoft.com/office/drawing/2014/main" id="{33A2FDA1-A0EA-70FE-575C-A40A701380E7}"/>
              </a:ext>
            </a:extLst>
          </p:cNvPr>
          <p:cNvSpPr txBox="1"/>
          <p:nvPr/>
        </p:nvSpPr>
        <p:spPr>
          <a:xfrm>
            <a:off x="-30636" y="5117675"/>
            <a:ext cx="6136848" cy="923330"/>
          </a:xfrm>
          <a:prstGeom prst="rect">
            <a:avLst/>
          </a:prstGeom>
          <a:noFill/>
        </p:spPr>
        <p:txBody>
          <a:bodyPr wrap="square">
            <a:spAutoFit/>
          </a:bodyPr>
          <a:lstStyle/>
          <a:p>
            <a:pPr algn="l"/>
            <a:r>
              <a:rPr lang="en-US" b="1" i="0" dirty="0">
                <a:solidFill>
                  <a:srgbClr val="1C1E21"/>
                </a:solidFill>
                <a:effectLst/>
                <a:latin typeface="system-ui"/>
              </a:rPr>
              <a:t>Selectors</a:t>
            </a:r>
            <a:r>
              <a:rPr lang="en-US" b="1" i="0" dirty="0">
                <a:solidFill>
                  <a:srgbClr val="1C1E21"/>
                </a:solidFill>
                <a:effectLst/>
                <a:latin typeface="system-ui"/>
                <a:hlinkClick r:id="rId2" tooltip="Direct link to heading"/>
              </a:rPr>
              <a:t>​</a:t>
            </a:r>
            <a:endParaRPr lang="en-US" b="1" i="0" dirty="0">
              <a:solidFill>
                <a:srgbClr val="1C1E21"/>
              </a:solidFill>
              <a:effectLst/>
              <a:latin typeface="system-ui"/>
            </a:endParaRPr>
          </a:p>
          <a:p>
            <a:pPr algn="l"/>
            <a:r>
              <a:rPr lang="en-US" b="1" i="0" dirty="0">
                <a:solidFill>
                  <a:srgbClr val="1C1E21"/>
                </a:solidFill>
                <a:effectLst/>
                <a:latin typeface="system-ui"/>
              </a:rPr>
              <a:t>Selectors</a:t>
            </a:r>
            <a:r>
              <a:rPr lang="en-US" b="0" i="0" dirty="0">
                <a:solidFill>
                  <a:srgbClr val="1C1E21"/>
                </a:solidFill>
                <a:effectLst/>
                <a:latin typeface="system-ui"/>
              </a:rPr>
              <a:t> are functions that know how to extract specific pieces of information from a store state value</a:t>
            </a:r>
          </a:p>
        </p:txBody>
      </p:sp>
      <p:sp>
        <p:nvSpPr>
          <p:cNvPr id="22" name="TextBox 21">
            <a:extLst>
              <a:ext uri="{FF2B5EF4-FFF2-40B4-BE49-F238E27FC236}">
                <a16:creationId xmlns:a16="http://schemas.microsoft.com/office/drawing/2014/main" id="{95688AB0-131F-DBAA-7899-D031E7A845E9}"/>
              </a:ext>
            </a:extLst>
          </p:cNvPr>
          <p:cNvSpPr txBox="1"/>
          <p:nvPr/>
        </p:nvSpPr>
        <p:spPr>
          <a:xfrm>
            <a:off x="6068506" y="5343684"/>
            <a:ext cx="6155702" cy="1477328"/>
          </a:xfrm>
          <a:prstGeom prst="rect">
            <a:avLst/>
          </a:prstGeom>
          <a:solidFill>
            <a:schemeClr val="tx1"/>
          </a:solidFill>
        </p:spPr>
        <p:txBody>
          <a:bodyPr wrap="square">
            <a:spAutoFit/>
          </a:bodyPr>
          <a:lstStyle/>
          <a:p>
            <a:r>
              <a:rPr lang="en-IN" b="0" i="0" dirty="0" err="1">
                <a:solidFill>
                  <a:srgbClr val="F92672"/>
                </a:solidFill>
                <a:effectLst/>
                <a:latin typeface="SFMono-Regular"/>
              </a:rPr>
              <a:t>const</a:t>
            </a:r>
            <a:r>
              <a:rPr lang="en-IN" b="0" i="0" dirty="0">
                <a:solidFill>
                  <a:srgbClr val="F8F8F2"/>
                </a:solidFill>
                <a:effectLst/>
                <a:latin typeface="SFMono-Regular"/>
              </a:rPr>
              <a:t> </a:t>
            </a:r>
            <a:r>
              <a:rPr lang="en-IN" b="0" i="0" dirty="0" err="1">
                <a:solidFill>
                  <a:srgbClr val="E6D874"/>
                </a:solidFill>
                <a:effectLst/>
                <a:latin typeface="SFMono-Regular"/>
              </a:rPr>
              <a:t>selectCounterValue</a:t>
            </a:r>
            <a:r>
              <a:rPr lang="en-IN" b="0" i="0" dirty="0">
                <a:solidFill>
                  <a:srgbClr val="F8F8F2"/>
                </a:solidFill>
                <a:effectLst/>
                <a:latin typeface="SFMono-Regular"/>
              </a:rPr>
              <a:t> = state =&gt; </a:t>
            </a:r>
            <a:r>
              <a:rPr lang="en-IN" b="0" i="0" dirty="0" err="1">
                <a:solidFill>
                  <a:srgbClr val="F8F8F2"/>
                </a:solidFill>
                <a:effectLst/>
                <a:latin typeface="SFMono-Regular"/>
              </a:rPr>
              <a:t>state.value</a:t>
            </a:r>
            <a:br>
              <a:rPr lang="en-IN" b="0" i="0" dirty="0">
                <a:solidFill>
                  <a:srgbClr val="F8F8F2"/>
                </a:solidFill>
                <a:effectLst/>
                <a:latin typeface="SFMono-Regular"/>
              </a:rPr>
            </a:br>
            <a:br>
              <a:rPr lang="en-IN" b="0" i="0" dirty="0">
                <a:solidFill>
                  <a:srgbClr val="F8F8F2"/>
                </a:solidFill>
                <a:effectLst/>
                <a:latin typeface="SFMono-Regular"/>
              </a:rPr>
            </a:br>
            <a:r>
              <a:rPr lang="en-IN" b="0" i="0" dirty="0" err="1">
                <a:solidFill>
                  <a:srgbClr val="F92672"/>
                </a:solidFill>
                <a:effectLst/>
                <a:latin typeface="SFMono-Regular"/>
              </a:rPr>
              <a:t>const</a:t>
            </a:r>
            <a:r>
              <a:rPr lang="en-IN" b="0" i="0" dirty="0">
                <a:solidFill>
                  <a:srgbClr val="F8F8F2"/>
                </a:solidFill>
                <a:effectLst/>
                <a:latin typeface="SFMono-Regular"/>
              </a:rPr>
              <a:t> </a:t>
            </a:r>
            <a:r>
              <a:rPr lang="en-IN" b="0" i="0" dirty="0" err="1">
                <a:solidFill>
                  <a:srgbClr val="F8F8F2"/>
                </a:solidFill>
                <a:effectLst/>
                <a:latin typeface="SFMono-Regular"/>
              </a:rPr>
              <a:t>currentValue</a:t>
            </a:r>
            <a:r>
              <a:rPr lang="en-IN" b="0" i="0" dirty="0">
                <a:solidFill>
                  <a:srgbClr val="F8F8F2"/>
                </a:solidFill>
                <a:effectLst/>
                <a:latin typeface="SFMono-Regular"/>
              </a:rPr>
              <a:t> = </a:t>
            </a:r>
            <a:r>
              <a:rPr lang="en-IN" b="0" i="0" dirty="0" err="1">
                <a:solidFill>
                  <a:srgbClr val="E6D874"/>
                </a:solidFill>
                <a:effectLst/>
                <a:latin typeface="SFMono-Regular"/>
              </a:rPr>
              <a:t>selectCounterValue</a:t>
            </a:r>
            <a:r>
              <a:rPr lang="en-IN" b="0" i="0" dirty="0">
                <a:solidFill>
                  <a:srgbClr val="F8F8F2"/>
                </a:solidFill>
                <a:effectLst/>
                <a:latin typeface="SFMono-Regular"/>
              </a:rPr>
              <a:t>(</a:t>
            </a:r>
            <a:r>
              <a:rPr lang="en-IN" b="0" i="0" dirty="0" err="1">
                <a:solidFill>
                  <a:srgbClr val="F8F8F2"/>
                </a:solidFill>
                <a:effectLst/>
                <a:latin typeface="SFMono-Regular"/>
              </a:rPr>
              <a:t>store.</a:t>
            </a:r>
            <a:r>
              <a:rPr lang="en-IN" b="0" i="0" dirty="0" err="1">
                <a:solidFill>
                  <a:srgbClr val="E6D874"/>
                </a:solidFill>
                <a:effectLst/>
                <a:latin typeface="SFMono-Regular"/>
              </a:rPr>
              <a:t>getState</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F8F8F2"/>
                </a:solidFill>
                <a:effectLst/>
                <a:latin typeface="SFMono-Regular"/>
              </a:rPr>
              <a:t>console.</a:t>
            </a:r>
            <a:r>
              <a:rPr lang="en-IN" b="0" i="0" dirty="0">
                <a:solidFill>
                  <a:srgbClr val="E6D874"/>
                </a:solidFill>
                <a:effectLst/>
                <a:latin typeface="SFMono-Regular"/>
              </a:rPr>
              <a:t>log</a:t>
            </a:r>
            <a:r>
              <a:rPr lang="en-IN" b="0" i="0" dirty="0">
                <a:solidFill>
                  <a:srgbClr val="F8F8F2"/>
                </a:solidFill>
                <a:effectLst/>
                <a:latin typeface="SFMono-Regular"/>
              </a:rPr>
              <a:t>(</a:t>
            </a:r>
            <a:r>
              <a:rPr lang="en-IN" b="0" i="0" dirty="0" err="1">
                <a:solidFill>
                  <a:srgbClr val="F8F8F2"/>
                </a:solidFill>
                <a:effectLst/>
                <a:latin typeface="SFMono-Regular"/>
              </a:rPr>
              <a:t>currentValue</a:t>
            </a:r>
            <a:r>
              <a:rPr lang="en-IN" b="0" i="0" dirty="0">
                <a:solidFill>
                  <a:srgbClr val="F8F8F2"/>
                </a:solidFill>
                <a:effectLst/>
                <a:latin typeface="SFMono-Regular"/>
              </a:rPr>
              <a:t>)</a:t>
            </a:r>
            <a:br>
              <a:rPr lang="en-IN" b="0" i="0" dirty="0">
                <a:solidFill>
                  <a:srgbClr val="F8F8F2"/>
                </a:solidFill>
                <a:effectLst/>
                <a:latin typeface="SFMono-Regular"/>
              </a:rPr>
            </a:br>
            <a:r>
              <a:rPr lang="en-IN" b="0" i="0" dirty="0">
                <a:solidFill>
                  <a:srgbClr val="C6CAD2"/>
                </a:solidFill>
                <a:effectLst/>
                <a:latin typeface="SFMono-Regular"/>
              </a:rPr>
              <a:t>// 2</a:t>
            </a:r>
            <a:endParaRPr lang="en-IN" dirty="0"/>
          </a:p>
        </p:txBody>
      </p:sp>
    </p:spTree>
    <p:extLst>
      <p:ext uri="{BB962C8B-B14F-4D97-AF65-F5344CB8AC3E}">
        <p14:creationId xmlns:p14="http://schemas.microsoft.com/office/powerpoint/2010/main" val="2453528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Redux data flow diagram">
            <a:extLst>
              <a:ext uri="{FF2B5EF4-FFF2-40B4-BE49-F238E27FC236}">
                <a16:creationId xmlns:a16="http://schemas.microsoft.com/office/drawing/2014/main" id="{77897822-C311-86D8-5085-E35AC2B3E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2103" y="87197"/>
            <a:ext cx="7205221" cy="5403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904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405A51A-73B8-A92A-42EC-22F4F25A43D2}"/>
              </a:ext>
            </a:extLst>
          </p:cNvPr>
          <p:cNvSpPr txBox="1"/>
          <p:nvPr/>
        </p:nvSpPr>
        <p:spPr>
          <a:xfrm>
            <a:off x="480767" y="348792"/>
            <a:ext cx="10850252" cy="3970318"/>
          </a:xfrm>
          <a:prstGeom prst="rect">
            <a:avLst/>
          </a:prstGeom>
          <a:noFill/>
        </p:spPr>
        <p:txBody>
          <a:bodyPr wrap="square">
            <a:spAutoFit/>
          </a:bodyPr>
          <a:lstStyle/>
          <a:p>
            <a:pPr marL="285750" indent="-285750">
              <a:buFont typeface="Arial" panose="020B0604020202020204" pitchFamily="34" charset="0"/>
              <a:buChar char="•"/>
            </a:pPr>
            <a:r>
              <a:rPr lang="en-US" dirty="0"/>
              <a:t>Redux is a library for managing global application state</a:t>
            </a:r>
          </a:p>
          <a:p>
            <a:pPr marL="285750" indent="-285750">
              <a:buFont typeface="Arial" panose="020B0604020202020204" pitchFamily="34" charset="0"/>
              <a:buChar char="•"/>
            </a:pPr>
            <a:r>
              <a:rPr lang="en-US" dirty="0"/>
              <a:t>Redux is typically used with the React-Redux library for integrating Redux and React together</a:t>
            </a:r>
          </a:p>
          <a:p>
            <a:pPr marL="285750" indent="-285750">
              <a:buFont typeface="Arial" panose="020B0604020202020204" pitchFamily="34" charset="0"/>
              <a:buChar char="•"/>
            </a:pPr>
            <a:r>
              <a:rPr lang="en-US" dirty="0"/>
              <a:t>Redux Toolkit is the recommended way to write Redux logic</a:t>
            </a:r>
          </a:p>
          <a:p>
            <a:pPr marL="285750" indent="-285750">
              <a:buFont typeface="Arial" panose="020B0604020202020204" pitchFamily="34" charset="0"/>
              <a:buChar char="•"/>
            </a:pPr>
            <a:r>
              <a:rPr lang="en-US" dirty="0"/>
              <a:t>Redux uses a "one-way data flow" app structure</a:t>
            </a:r>
          </a:p>
          <a:p>
            <a:pPr marL="285750" indent="-285750">
              <a:buFont typeface="Arial" panose="020B0604020202020204" pitchFamily="34" charset="0"/>
              <a:buChar char="•"/>
            </a:pPr>
            <a:r>
              <a:rPr lang="en-US" dirty="0"/>
              <a:t>State describes the condition of the app at a point in time, and UI renders based on that state</a:t>
            </a:r>
          </a:p>
          <a:p>
            <a:pPr marL="285750" indent="-285750">
              <a:buFont typeface="Arial" panose="020B0604020202020204" pitchFamily="34" charset="0"/>
              <a:buChar char="•"/>
            </a:pPr>
            <a:r>
              <a:rPr lang="en-US" dirty="0"/>
              <a:t>When something happens in the app:</a:t>
            </a:r>
          </a:p>
          <a:p>
            <a:pPr marL="285750" indent="-285750">
              <a:buFont typeface="Arial" panose="020B0604020202020204" pitchFamily="34" charset="0"/>
              <a:buChar char="•"/>
            </a:pPr>
            <a:r>
              <a:rPr lang="en-US" dirty="0"/>
              <a:t>The UI dispatches an action</a:t>
            </a:r>
          </a:p>
          <a:p>
            <a:pPr marL="285750" indent="-285750">
              <a:buFont typeface="Arial" panose="020B0604020202020204" pitchFamily="34" charset="0"/>
              <a:buChar char="•"/>
            </a:pPr>
            <a:r>
              <a:rPr lang="en-US" dirty="0"/>
              <a:t>The store runs the reducers, and the state is updated based on what occurred</a:t>
            </a:r>
          </a:p>
          <a:p>
            <a:pPr marL="285750" indent="-285750">
              <a:buFont typeface="Arial" panose="020B0604020202020204" pitchFamily="34" charset="0"/>
              <a:buChar char="•"/>
            </a:pPr>
            <a:r>
              <a:rPr lang="en-US" dirty="0"/>
              <a:t>The store notifies the UI that the state has changed</a:t>
            </a:r>
          </a:p>
          <a:p>
            <a:pPr marL="285750" indent="-285750">
              <a:buFont typeface="Arial" panose="020B0604020202020204" pitchFamily="34" charset="0"/>
              <a:buChar char="•"/>
            </a:pPr>
            <a:r>
              <a:rPr lang="en-US" dirty="0"/>
              <a:t>The UI re-renders based on the new state</a:t>
            </a:r>
          </a:p>
          <a:p>
            <a:pPr marL="285750" indent="-285750">
              <a:buFont typeface="Arial" panose="020B0604020202020204" pitchFamily="34" charset="0"/>
              <a:buChar char="•"/>
            </a:pPr>
            <a:r>
              <a:rPr lang="en-US" dirty="0"/>
              <a:t>Redux uses several types of code</a:t>
            </a:r>
          </a:p>
          <a:p>
            <a:pPr marL="285750" indent="-285750">
              <a:buFont typeface="Arial" panose="020B0604020202020204" pitchFamily="34" charset="0"/>
              <a:buChar char="•"/>
            </a:pPr>
            <a:r>
              <a:rPr lang="en-US" dirty="0"/>
              <a:t>Actions are plain objects with a type field, and describe "what happened" in the app</a:t>
            </a:r>
          </a:p>
          <a:p>
            <a:pPr marL="285750" indent="-285750">
              <a:buFont typeface="Arial" panose="020B0604020202020204" pitchFamily="34" charset="0"/>
              <a:buChar char="•"/>
            </a:pPr>
            <a:r>
              <a:rPr lang="en-US" dirty="0"/>
              <a:t>Reducers are functions that calculate a new state value based on previous state + an action</a:t>
            </a:r>
          </a:p>
          <a:p>
            <a:pPr marL="285750" indent="-285750">
              <a:buFont typeface="Arial" panose="020B0604020202020204" pitchFamily="34" charset="0"/>
              <a:buChar char="•"/>
            </a:pPr>
            <a:r>
              <a:rPr lang="en-US" dirty="0"/>
              <a:t>A Redux store runs the root reducer whenever an action is dispatched</a:t>
            </a:r>
            <a:endParaRPr lang="en-IN" dirty="0"/>
          </a:p>
        </p:txBody>
      </p:sp>
    </p:spTree>
    <p:extLst>
      <p:ext uri="{BB962C8B-B14F-4D97-AF65-F5344CB8AC3E}">
        <p14:creationId xmlns:p14="http://schemas.microsoft.com/office/powerpoint/2010/main" val="448359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449672-E419-0454-BF5D-A8FD08D3CC25}"/>
              </a:ext>
            </a:extLst>
          </p:cNvPr>
          <p:cNvSpPr txBox="1"/>
          <p:nvPr/>
        </p:nvSpPr>
        <p:spPr>
          <a:xfrm>
            <a:off x="0" y="34961"/>
            <a:ext cx="6094428" cy="369332"/>
          </a:xfrm>
          <a:prstGeom prst="rect">
            <a:avLst/>
          </a:prstGeom>
          <a:noFill/>
        </p:spPr>
        <p:txBody>
          <a:bodyPr wrap="square">
            <a:spAutoFit/>
          </a:bodyPr>
          <a:lstStyle/>
          <a:p>
            <a:r>
              <a:rPr lang="en-IN" dirty="0"/>
              <a:t>https://redux.js.org/tutorials/essentials/part-2-app-structure</a:t>
            </a:r>
          </a:p>
        </p:txBody>
      </p:sp>
      <p:sp>
        <p:nvSpPr>
          <p:cNvPr id="3" name="TextBox 2">
            <a:extLst>
              <a:ext uri="{FF2B5EF4-FFF2-40B4-BE49-F238E27FC236}">
                <a16:creationId xmlns:a16="http://schemas.microsoft.com/office/drawing/2014/main" id="{F4B392E9-3EE5-34BB-7A57-EB2E30B4E598}"/>
              </a:ext>
            </a:extLst>
          </p:cNvPr>
          <p:cNvSpPr txBox="1"/>
          <p:nvPr/>
        </p:nvSpPr>
        <p:spPr>
          <a:xfrm>
            <a:off x="127000" y="636730"/>
            <a:ext cx="6096000" cy="6001643"/>
          </a:xfrm>
          <a:prstGeom prst="rect">
            <a:avLst/>
          </a:prstGeom>
          <a:solidFill>
            <a:schemeClr val="tx1"/>
          </a:solidFill>
        </p:spPr>
        <p:txBody>
          <a:bodyPr wrap="square">
            <a:spAutoFit/>
          </a:bodyPr>
          <a:lstStyle/>
          <a:p>
            <a:r>
              <a:rPr lang="en-US" b="0" i="0" dirty="0">
                <a:solidFill>
                  <a:srgbClr val="F92672"/>
                </a:solidFill>
                <a:effectLst/>
                <a:latin typeface="SFMono-Regular"/>
              </a:rPr>
              <a:t>import</a:t>
            </a:r>
            <a:r>
              <a:rPr lang="en-US" b="0" i="0" dirty="0">
                <a:solidFill>
                  <a:srgbClr val="F8F8F2"/>
                </a:solidFill>
                <a:effectLst/>
                <a:latin typeface="SFMono-Regular"/>
              </a:rPr>
              <a:t> { </a:t>
            </a:r>
            <a:r>
              <a:rPr lang="en-US" b="0" i="0" dirty="0" err="1">
                <a:solidFill>
                  <a:srgbClr val="F8F8F2"/>
                </a:solidFill>
                <a:effectLst/>
                <a:latin typeface="SFMono-Regular"/>
              </a:rPr>
              <a:t>createStore</a:t>
            </a:r>
            <a:r>
              <a:rPr lang="en-US" b="0" i="0" dirty="0">
                <a:solidFill>
                  <a:srgbClr val="F8F8F2"/>
                </a:solidFill>
                <a:effectLst/>
                <a:latin typeface="SFMono-Regular"/>
              </a:rPr>
              <a:t> } </a:t>
            </a:r>
            <a:r>
              <a:rPr lang="en-US" b="0" i="0" dirty="0">
                <a:solidFill>
                  <a:srgbClr val="F92672"/>
                </a:solidFill>
                <a:effectLst/>
                <a:latin typeface="SFMono-Regular"/>
              </a:rPr>
              <a:t>from</a:t>
            </a:r>
            <a:r>
              <a:rPr lang="en-US" b="0" i="0" dirty="0">
                <a:solidFill>
                  <a:srgbClr val="F8F8F2"/>
                </a:solidFill>
                <a:effectLst/>
                <a:latin typeface="SFMono-Regular"/>
              </a:rPr>
              <a:t> </a:t>
            </a:r>
            <a:r>
              <a:rPr lang="en-US" b="0" i="0" dirty="0">
                <a:solidFill>
                  <a:srgbClr val="A6E22E"/>
                </a:solidFill>
                <a:effectLst/>
                <a:latin typeface="SFMono-Regular"/>
              </a:rPr>
              <a:t>'redux'</a:t>
            </a:r>
            <a:br>
              <a:rPr lang="en-US" b="0" i="0" dirty="0">
                <a:solidFill>
                  <a:srgbClr val="F8F8F2"/>
                </a:solidFill>
                <a:effectLst/>
                <a:latin typeface="SFMono-Regular"/>
              </a:rPr>
            </a:br>
            <a:r>
              <a:rPr lang="en-US" sz="1100" b="0" i="0" dirty="0">
                <a:solidFill>
                  <a:srgbClr val="C6CAD2"/>
                </a:solidFill>
                <a:effectLst/>
                <a:latin typeface="SFMono-Regular"/>
              </a:rPr>
              <a:t>/**</a:t>
            </a:r>
            <a:br>
              <a:rPr lang="en-US" sz="1100" b="0" i="0" dirty="0">
                <a:solidFill>
                  <a:srgbClr val="F8F8F2"/>
                </a:solidFill>
                <a:effectLst/>
                <a:latin typeface="SFMono-Regular"/>
              </a:rPr>
            </a:br>
            <a:r>
              <a:rPr lang="en-US" sz="1100" b="0" i="0" dirty="0">
                <a:solidFill>
                  <a:srgbClr val="C6CAD2"/>
                </a:solidFill>
                <a:effectLst/>
                <a:latin typeface="SFMono-Regular"/>
              </a:rPr>
              <a:t>* This is a reducer - a function that takes a current state value and an</a:t>
            </a:r>
            <a:br>
              <a:rPr lang="en-US" sz="1100" b="0" i="0" dirty="0">
                <a:solidFill>
                  <a:srgbClr val="F8F8F2"/>
                </a:solidFill>
                <a:effectLst/>
                <a:latin typeface="SFMono-Regular"/>
              </a:rPr>
            </a:br>
            <a:r>
              <a:rPr lang="en-US" sz="1100" b="0" i="0" dirty="0">
                <a:solidFill>
                  <a:srgbClr val="C6CAD2"/>
                </a:solidFill>
                <a:effectLst/>
                <a:latin typeface="SFMono-Regular"/>
              </a:rPr>
              <a:t>* action object describing "what happened", and returns a new state value.</a:t>
            </a:r>
            <a:br>
              <a:rPr lang="en-US" sz="1100" b="0" i="0" dirty="0">
                <a:solidFill>
                  <a:srgbClr val="F8F8F2"/>
                </a:solidFill>
                <a:effectLst/>
                <a:latin typeface="SFMono-Regular"/>
              </a:rPr>
            </a:br>
            <a:r>
              <a:rPr lang="en-US" sz="1100" b="0" i="0" dirty="0">
                <a:solidFill>
                  <a:srgbClr val="C6CAD2"/>
                </a:solidFill>
                <a:effectLst/>
                <a:latin typeface="SFMono-Regular"/>
              </a:rPr>
              <a:t>* A reducer's function signature is: (state, action) =&gt; </a:t>
            </a:r>
            <a:r>
              <a:rPr lang="en-US" sz="1100" b="0" i="0" dirty="0" err="1">
                <a:solidFill>
                  <a:srgbClr val="C6CAD2"/>
                </a:solidFill>
                <a:effectLst/>
                <a:latin typeface="SFMono-Regular"/>
              </a:rPr>
              <a:t>newState</a:t>
            </a:r>
            <a:br>
              <a:rPr lang="en-US" sz="1100" b="0" i="0" dirty="0">
                <a:solidFill>
                  <a:srgbClr val="F8F8F2"/>
                </a:solidFill>
                <a:effectLst/>
                <a:latin typeface="SFMono-Regular"/>
              </a:rPr>
            </a:br>
            <a:r>
              <a:rPr lang="en-US" sz="1100" b="0" i="0" dirty="0">
                <a:solidFill>
                  <a:srgbClr val="C6CAD2"/>
                </a:solidFill>
                <a:effectLst/>
                <a:latin typeface="SFMono-Regular"/>
              </a:rPr>
              <a:t>*</a:t>
            </a:r>
            <a:br>
              <a:rPr lang="en-US" sz="1100" b="0" i="0" dirty="0">
                <a:solidFill>
                  <a:srgbClr val="F8F8F2"/>
                </a:solidFill>
                <a:effectLst/>
                <a:latin typeface="SFMono-Regular"/>
              </a:rPr>
            </a:br>
            <a:r>
              <a:rPr lang="en-US" sz="1100" b="0" i="0" dirty="0">
                <a:solidFill>
                  <a:srgbClr val="C6CAD2"/>
                </a:solidFill>
                <a:effectLst/>
                <a:latin typeface="SFMono-Regular"/>
              </a:rPr>
              <a:t>* The Redux state should contain only plain JS objects, arrays, and primitives.</a:t>
            </a:r>
            <a:br>
              <a:rPr lang="en-US" sz="1100" b="0" i="0" dirty="0">
                <a:solidFill>
                  <a:srgbClr val="F8F8F2"/>
                </a:solidFill>
                <a:effectLst/>
                <a:latin typeface="SFMono-Regular"/>
              </a:rPr>
            </a:br>
            <a:r>
              <a:rPr lang="en-US" sz="1100" b="0" i="0" dirty="0">
                <a:solidFill>
                  <a:srgbClr val="C6CAD2"/>
                </a:solidFill>
                <a:effectLst/>
                <a:latin typeface="SFMono-Regular"/>
              </a:rPr>
              <a:t>* The root state value is usually an object. It's important that you should</a:t>
            </a:r>
            <a:br>
              <a:rPr lang="en-US" sz="1100" b="0" i="0" dirty="0">
                <a:solidFill>
                  <a:srgbClr val="F8F8F2"/>
                </a:solidFill>
                <a:effectLst/>
                <a:latin typeface="SFMono-Regular"/>
              </a:rPr>
            </a:br>
            <a:r>
              <a:rPr lang="en-US" sz="1100" b="0" i="0" dirty="0">
                <a:solidFill>
                  <a:srgbClr val="C6CAD2"/>
                </a:solidFill>
                <a:effectLst/>
                <a:latin typeface="SFMono-Regular"/>
              </a:rPr>
              <a:t>* not mutate the state object, but return a new object if the state changes.</a:t>
            </a:r>
            <a:br>
              <a:rPr lang="en-US" sz="1100" b="0" i="0" dirty="0">
                <a:solidFill>
                  <a:srgbClr val="F8F8F2"/>
                </a:solidFill>
                <a:effectLst/>
                <a:latin typeface="SFMono-Regular"/>
              </a:rPr>
            </a:br>
            <a:r>
              <a:rPr lang="en-US" sz="1100" b="0" i="0" dirty="0">
                <a:solidFill>
                  <a:srgbClr val="C6CAD2"/>
                </a:solidFill>
                <a:effectLst/>
                <a:latin typeface="SFMono-Regular"/>
              </a:rPr>
              <a:t>*</a:t>
            </a:r>
            <a:br>
              <a:rPr lang="en-US" sz="1100" b="0" i="0" dirty="0">
                <a:solidFill>
                  <a:srgbClr val="F8F8F2"/>
                </a:solidFill>
                <a:effectLst/>
                <a:latin typeface="SFMono-Regular"/>
              </a:rPr>
            </a:br>
            <a:r>
              <a:rPr lang="en-US" sz="1100" b="0" i="0" dirty="0">
                <a:solidFill>
                  <a:srgbClr val="C6CAD2"/>
                </a:solidFill>
                <a:effectLst/>
                <a:latin typeface="SFMono-Regular"/>
              </a:rPr>
              <a:t>* You can use any conditional logic you want in a reducer. In this example,</a:t>
            </a:r>
            <a:br>
              <a:rPr lang="en-US" sz="1100" b="0" i="0" dirty="0">
                <a:solidFill>
                  <a:srgbClr val="F8F8F2"/>
                </a:solidFill>
                <a:effectLst/>
                <a:latin typeface="SFMono-Regular"/>
              </a:rPr>
            </a:br>
            <a:r>
              <a:rPr lang="en-US" sz="1100" b="0" i="0" dirty="0">
                <a:solidFill>
                  <a:srgbClr val="C6CAD2"/>
                </a:solidFill>
                <a:effectLst/>
                <a:latin typeface="SFMono-Regular"/>
              </a:rPr>
              <a:t>* we use a switch statement, but it's not required.</a:t>
            </a:r>
            <a:br>
              <a:rPr lang="en-US" sz="1100" b="0" i="0" dirty="0">
                <a:solidFill>
                  <a:srgbClr val="F8F8F2"/>
                </a:solidFill>
                <a:effectLst/>
                <a:latin typeface="SFMono-Regular"/>
              </a:rPr>
            </a:br>
            <a:r>
              <a:rPr lang="en-US" sz="1100" b="0" i="0" dirty="0">
                <a:solidFill>
                  <a:srgbClr val="C6CAD2"/>
                </a:solidFill>
                <a:effectLst/>
                <a:latin typeface="SFMono-Regular"/>
              </a:rPr>
              <a:t>*/</a:t>
            </a:r>
            <a:br>
              <a:rPr lang="en-US" b="0" i="0" dirty="0">
                <a:solidFill>
                  <a:srgbClr val="F8F8F2"/>
                </a:solidFill>
                <a:effectLst/>
                <a:latin typeface="SFMono-Regular"/>
              </a:rPr>
            </a:br>
            <a:r>
              <a:rPr lang="en-US" b="0" i="0" dirty="0">
                <a:solidFill>
                  <a:srgbClr val="F92672"/>
                </a:solidFill>
                <a:effectLst/>
                <a:latin typeface="SFMono-Regular"/>
              </a:rPr>
              <a:t>function</a:t>
            </a:r>
            <a:r>
              <a:rPr lang="en-US" b="0" i="0" dirty="0">
                <a:solidFill>
                  <a:srgbClr val="F8F8F2"/>
                </a:solidFill>
                <a:effectLst/>
                <a:latin typeface="SFMono-Regular"/>
              </a:rPr>
              <a:t> </a:t>
            </a:r>
            <a:r>
              <a:rPr lang="en-US" b="0" i="0" dirty="0" err="1">
                <a:solidFill>
                  <a:srgbClr val="E6D874"/>
                </a:solidFill>
                <a:effectLst/>
                <a:latin typeface="SFMono-Regular"/>
              </a:rPr>
              <a:t>counterReducer</a:t>
            </a:r>
            <a:r>
              <a:rPr lang="en-US" b="0" i="0" dirty="0">
                <a:solidFill>
                  <a:srgbClr val="F8F8F2"/>
                </a:solidFill>
                <a:effectLst/>
                <a:latin typeface="SFMono-Regular"/>
              </a:rPr>
              <a:t>(state = { </a:t>
            </a:r>
            <a:r>
              <a:rPr lang="en-US" b="0" i="0" dirty="0">
                <a:solidFill>
                  <a:srgbClr val="F92672"/>
                </a:solidFill>
                <a:effectLst/>
                <a:latin typeface="SFMono-Regular"/>
              </a:rPr>
              <a:t>value</a:t>
            </a:r>
            <a:r>
              <a:rPr lang="en-US" b="0" i="0" dirty="0">
                <a:solidFill>
                  <a:srgbClr val="F8F8F2"/>
                </a:solidFill>
                <a:effectLst/>
                <a:latin typeface="SFMono-Regular"/>
              </a:rPr>
              <a:t>: </a:t>
            </a:r>
            <a:r>
              <a:rPr lang="en-US" b="0" i="0" dirty="0">
                <a:solidFill>
                  <a:srgbClr val="AE81FF"/>
                </a:solidFill>
                <a:effectLst/>
                <a:latin typeface="SFMono-Regular"/>
              </a:rPr>
              <a:t>0</a:t>
            </a:r>
            <a:r>
              <a:rPr lang="en-US" b="0" i="0" dirty="0">
                <a:solidFill>
                  <a:srgbClr val="F8F8F2"/>
                </a:solidFill>
                <a:effectLst/>
                <a:latin typeface="SFMono-Regular"/>
              </a:rPr>
              <a:t> }, action) {</a:t>
            </a:r>
            <a:br>
              <a:rPr lang="en-US" b="0" i="0" dirty="0">
                <a:solidFill>
                  <a:srgbClr val="F8F8F2"/>
                </a:solidFill>
                <a:effectLst/>
                <a:latin typeface="SFMono-Regular"/>
              </a:rPr>
            </a:br>
            <a:r>
              <a:rPr lang="en-US" b="0" i="0" dirty="0">
                <a:solidFill>
                  <a:srgbClr val="F92672"/>
                </a:solidFill>
                <a:effectLst/>
                <a:latin typeface="SFMono-Regular"/>
              </a:rPr>
              <a:t>switch</a:t>
            </a:r>
            <a:r>
              <a:rPr lang="en-US" b="0" i="0" dirty="0">
                <a:solidFill>
                  <a:srgbClr val="F8F8F2"/>
                </a:solidFill>
                <a:effectLst/>
                <a:latin typeface="SFMono-Regular"/>
              </a:rPr>
              <a:t> (</a:t>
            </a:r>
            <a:r>
              <a:rPr lang="en-US" b="0" i="0" dirty="0" err="1">
                <a:solidFill>
                  <a:srgbClr val="F8F8F2"/>
                </a:solidFill>
                <a:effectLst/>
                <a:latin typeface="SFMono-Regular"/>
              </a:rPr>
              <a:t>action.type</a:t>
            </a:r>
            <a:r>
              <a:rPr lang="en-US" b="0" i="0" dirty="0">
                <a:solidFill>
                  <a:srgbClr val="F8F8F2"/>
                </a:solidFill>
                <a:effectLst/>
                <a:latin typeface="SFMono-Regular"/>
              </a:rPr>
              <a:t>) {</a:t>
            </a:r>
            <a:br>
              <a:rPr lang="en-US" b="0" i="0" dirty="0">
                <a:solidFill>
                  <a:srgbClr val="F8F8F2"/>
                </a:solidFill>
                <a:effectLst/>
                <a:latin typeface="SFMono-Regular"/>
              </a:rPr>
            </a:br>
            <a:r>
              <a:rPr lang="en-US" b="0" i="0" dirty="0">
                <a:solidFill>
                  <a:srgbClr val="F92672"/>
                </a:solidFill>
                <a:effectLst/>
                <a:latin typeface="SFMono-Regular"/>
              </a:rPr>
              <a:t>case</a:t>
            </a:r>
            <a:r>
              <a:rPr lang="en-US" b="0" i="0" dirty="0">
                <a:solidFill>
                  <a:srgbClr val="F8F8F2"/>
                </a:solidFill>
                <a:effectLst/>
                <a:latin typeface="SFMono-Regular"/>
              </a:rPr>
              <a:t> </a:t>
            </a:r>
            <a:r>
              <a:rPr lang="en-US" b="0" i="0" dirty="0">
                <a:solidFill>
                  <a:srgbClr val="A6E22E"/>
                </a:solidFill>
                <a:effectLst/>
                <a:latin typeface="SFMono-Regular"/>
              </a:rPr>
              <a:t>'counter/incremented'</a:t>
            </a:r>
            <a:r>
              <a:rPr lang="en-US" b="0" i="0" dirty="0">
                <a:solidFill>
                  <a:srgbClr val="F8F8F2"/>
                </a:solidFill>
                <a:effectLst/>
                <a:latin typeface="SFMono-Regular"/>
              </a:rPr>
              <a:t>:</a:t>
            </a:r>
            <a:br>
              <a:rPr lang="en-US" b="0" i="0" dirty="0">
                <a:solidFill>
                  <a:srgbClr val="F8F8F2"/>
                </a:solidFill>
                <a:effectLst/>
                <a:latin typeface="SFMono-Regular"/>
              </a:rPr>
            </a:br>
            <a:r>
              <a:rPr lang="en-US" b="0" i="0" dirty="0">
                <a:solidFill>
                  <a:srgbClr val="F92672"/>
                </a:solidFill>
                <a:effectLst/>
                <a:latin typeface="SFMono-Regular"/>
              </a:rPr>
              <a:t>return</a:t>
            </a:r>
            <a:r>
              <a:rPr lang="en-US" b="0" i="0" dirty="0">
                <a:solidFill>
                  <a:srgbClr val="F8F8F2"/>
                </a:solidFill>
                <a:effectLst/>
                <a:latin typeface="SFMono-Regular"/>
              </a:rPr>
              <a:t> { </a:t>
            </a:r>
            <a:r>
              <a:rPr lang="en-US" b="0" i="0" dirty="0">
                <a:solidFill>
                  <a:srgbClr val="F92672"/>
                </a:solidFill>
                <a:effectLst/>
                <a:latin typeface="SFMono-Regular"/>
              </a:rPr>
              <a:t>value</a:t>
            </a:r>
            <a:r>
              <a:rPr lang="en-US" b="0" i="0" dirty="0">
                <a:solidFill>
                  <a:srgbClr val="F8F8F2"/>
                </a:solidFill>
                <a:effectLst/>
                <a:latin typeface="SFMono-Regular"/>
              </a:rPr>
              <a:t>: </a:t>
            </a:r>
            <a:r>
              <a:rPr lang="en-US" b="0" i="0" dirty="0" err="1">
                <a:solidFill>
                  <a:srgbClr val="F8F8F2"/>
                </a:solidFill>
                <a:effectLst/>
                <a:latin typeface="SFMono-Regular"/>
              </a:rPr>
              <a:t>state.value</a:t>
            </a:r>
            <a:r>
              <a:rPr lang="en-US" b="0" i="0" dirty="0">
                <a:solidFill>
                  <a:srgbClr val="F8F8F2"/>
                </a:solidFill>
                <a:effectLst/>
                <a:latin typeface="SFMono-Regular"/>
              </a:rPr>
              <a:t> + </a:t>
            </a:r>
            <a:r>
              <a:rPr lang="en-US" b="0" i="0" dirty="0">
                <a:solidFill>
                  <a:srgbClr val="AE81FF"/>
                </a:solidFill>
                <a:effectLst/>
                <a:latin typeface="SFMono-Regular"/>
              </a:rPr>
              <a:t>1</a:t>
            </a:r>
            <a:r>
              <a:rPr lang="en-US" b="0" i="0" dirty="0">
                <a:solidFill>
                  <a:srgbClr val="F8F8F2"/>
                </a:solidFill>
                <a:effectLst/>
                <a:latin typeface="SFMono-Regular"/>
              </a:rPr>
              <a:t> }</a:t>
            </a:r>
            <a:br>
              <a:rPr lang="en-US" b="0" i="0" dirty="0">
                <a:solidFill>
                  <a:srgbClr val="F8F8F2"/>
                </a:solidFill>
                <a:effectLst/>
                <a:latin typeface="SFMono-Regular"/>
              </a:rPr>
            </a:br>
            <a:r>
              <a:rPr lang="en-US" b="0" i="0" dirty="0">
                <a:solidFill>
                  <a:srgbClr val="F92672"/>
                </a:solidFill>
                <a:effectLst/>
                <a:latin typeface="SFMono-Regular"/>
              </a:rPr>
              <a:t>case</a:t>
            </a:r>
            <a:r>
              <a:rPr lang="en-US" b="0" i="0" dirty="0">
                <a:solidFill>
                  <a:srgbClr val="F8F8F2"/>
                </a:solidFill>
                <a:effectLst/>
                <a:latin typeface="SFMono-Regular"/>
              </a:rPr>
              <a:t> </a:t>
            </a:r>
            <a:r>
              <a:rPr lang="en-US" b="0" i="0" dirty="0">
                <a:solidFill>
                  <a:srgbClr val="A6E22E"/>
                </a:solidFill>
                <a:effectLst/>
                <a:latin typeface="SFMono-Regular"/>
              </a:rPr>
              <a:t>'counter/decremented'</a:t>
            </a:r>
            <a:r>
              <a:rPr lang="en-US" b="0" i="0" dirty="0">
                <a:solidFill>
                  <a:srgbClr val="F8F8F2"/>
                </a:solidFill>
                <a:effectLst/>
                <a:latin typeface="SFMono-Regular"/>
              </a:rPr>
              <a:t>:</a:t>
            </a:r>
            <a:br>
              <a:rPr lang="en-US" b="0" i="0" dirty="0">
                <a:solidFill>
                  <a:srgbClr val="F8F8F2"/>
                </a:solidFill>
                <a:effectLst/>
                <a:latin typeface="SFMono-Regular"/>
              </a:rPr>
            </a:br>
            <a:r>
              <a:rPr lang="en-US" b="0" i="0" dirty="0">
                <a:solidFill>
                  <a:srgbClr val="F92672"/>
                </a:solidFill>
                <a:effectLst/>
                <a:latin typeface="SFMono-Regular"/>
              </a:rPr>
              <a:t>return</a:t>
            </a:r>
            <a:r>
              <a:rPr lang="en-US" b="0" i="0" dirty="0">
                <a:solidFill>
                  <a:srgbClr val="F8F8F2"/>
                </a:solidFill>
                <a:effectLst/>
                <a:latin typeface="SFMono-Regular"/>
              </a:rPr>
              <a:t> { </a:t>
            </a:r>
            <a:r>
              <a:rPr lang="en-US" b="0" i="0" dirty="0">
                <a:solidFill>
                  <a:srgbClr val="F92672"/>
                </a:solidFill>
                <a:effectLst/>
                <a:latin typeface="SFMono-Regular"/>
              </a:rPr>
              <a:t>value</a:t>
            </a:r>
            <a:r>
              <a:rPr lang="en-US" b="0" i="0" dirty="0">
                <a:solidFill>
                  <a:srgbClr val="F8F8F2"/>
                </a:solidFill>
                <a:effectLst/>
                <a:latin typeface="SFMono-Regular"/>
              </a:rPr>
              <a:t>: </a:t>
            </a:r>
            <a:r>
              <a:rPr lang="en-US" b="0" i="0" dirty="0" err="1">
                <a:solidFill>
                  <a:srgbClr val="F8F8F2"/>
                </a:solidFill>
                <a:effectLst/>
                <a:latin typeface="SFMono-Regular"/>
              </a:rPr>
              <a:t>state.value</a:t>
            </a:r>
            <a:r>
              <a:rPr lang="en-US" b="0" i="0" dirty="0">
                <a:solidFill>
                  <a:srgbClr val="F8F8F2"/>
                </a:solidFill>
                <a:effectLst/>
                <a:latin typeface="SFMono-Regular"/>
              </a:rPr>
              <a:t> - </a:t>
            </a:r>
            <a:r>
              <a:rPr lang="en-US" b="0" i="0" dirty="0">
                <a:solidFill>
                  <a:srgbClr val="AE81FF"/>
                </a:solidFill>
                <a:effectLst/>
                <a:latin typeface="SFMono-Regular"/>
              </a:rPr>
              <a:t>1</a:t>
            </a:r>
            <a:r>
              <a:rPr lang="en-US" b="0" i="0" dirty="0">
                <a:solidFill>
                  <a:srgbClr val="F8F8F2"/>
                </a:solidFill>
                <a:effectLst/>
                <a:latin typeface="SFMono-Regular"/>
              </a:rPr>
              <a:t> }</a:t>
            </a:r>
            <a:br>
              <a:rPr lang="en-US" b="0" i="0" dirty="0">
                <a:solidFill>
                  <a:srgbClr val="F8F8F2"/>
                </a:solidFill>
                <a:effectLst/>
                <a:latin typeface="SFMono-Regular"/>
              </a:rPr>
            </a:br>
            <a:r>
              <a:rPr lang="en-US" b="0" i="0" dirty="0">
                <a:solidFill>
                  <a:srgbClr val="F92672"/>
                </a:solidFill>
                <a:effectLst/>
                <a:latin typeface="SFMono-Regular"/>
              </a:rPr>
              <a:t>default</a:t>
            </a:r>
            <a:r>
              <a:rPr lang="en-US" b="0" i="0" dirty="0">
                <a:solidFill>
                  <a:srgbClr val="F8F8F2"/>
                </a:solidFill>
                <a:effectLst/>
                <a:latin typeface="SFMono-Regular"/>
              </a:rPr>
              <a:t>:</a:t>
            </a:r>
            <a:br>
              <a:rPr lang="en-US" b="0" i="0" dirty="0">
                <a:solidFill>
                  <a:srgbClr val="F8F8F2"/>
                </a:solidFill>
                <a:effectLst/>
                <a:latin typeface="SFMono-Regular"/>
              </a:rPr>
            </a:br>
            <a:r>
              <a:rPr lang="en-US" b="0" i="0" dirty="0">
                <a:solidFill>
                  <a:srgbClr val="F92672"/>
                </a:solidFill>
                <a:effectLst/>
                <a:latin typeface="SFMono-Regular"/>
              </a:rPr>
              <a:t>return</a:t>
            </a:r>
            <a:r>
              <a:rPr lang="en-US" b="0" i="0" dirty="0">
                <a:solidFill>
                  <a:srgbClr val="F8F8F2"/>
                </a:solidFill>
                <a:effectLst/>
                <a:latin typeface="SFMono-Regular"/>
              </a:rPr>
              <a:t> state</a:t>
            </a:r>
            <a:br>
              <a:rPr lang="en-US" b="0" i="0" dirty="0">
                <a:solidFill>
                  <a:srgbClr val="F8F8F2"/>
                </a:solidFill>
                <a:effectLst/>
                <a:latin typeface="SFMono-Regular"/>
              </a:rPr>
            </a:br>
            <a:r>
              <a:rPr lang="en-US" b="0" i="0" dirty="0">
                <a:solidFill>
                  <a:srgbClr val="F8F8F2"/>
                </a:solidFill>
                <a:effectLst/>
                <a:latin typeface="SFMono-Regular"/>
              </a:rPr>
              <a:t>}</a:t>
            </a:r>
            <a:br>
              <a:rPr lang="en-US" b="0" i="0" dirty="0">
                <a:solidFill>
                  <a:srgbClr val="F8F8F2"/>
                </a:solidFill>
                <a:effectLst/>
                <a:latin typeface="SFMono-Regular"/>
              </a:rPr>
            </a:br>
            <a:r>
              <a:rPr lang="en-US" b="0" i="0" dirty="0">
                <a:solidFill>
                  <a:srgbClr val="F8F8F2"/>
                </a:solidFill>
                <a:effectLst/>
                <a:latin typeface="SFMono-Regular"/>
              </a:rPr>
              <a:t>}</a:t>
            </a:r>
            <a:br>
              <a:rPr lang="en-US" b="0" i="0" dirty="0">
                <a:solidFill>
                  <a:srgbClr val="F8F8F2"/>
                </a:solidFill>
                <a:effectLst/>
                <a:latin typeface="SFMono-Regular"/>
              </a:rPr>
            </a:br>
            <a:r>
              <a:rPr lang="en-US" b="0" i="0" dirty="0">
                <a:solidFill>
                  <a:srgbClr val="C6CAD2"/>
                </a:solidFill>
                <a:effectLst/>
                <a:latin typeface="SFMono-Regular"/>
              </a:rPr>
              <a:t>// Create a Redux store holding the state of your app.</a:t>
            </a:r>
            <a:br>
              <a:rPr lang="en-US" b="0" i="0" dirty="0">
                <a:solidFill>
                  <a:srgbClr val="F8F8F2"/>
                </a:solidFill>
                <a:effectLst/>
                <a:latin typeface="SFMono-Regular"/>
              </a:rPr>
            </a:br>
            <a:r>
              <a:rPr lang="en-US" b="0" i="0" dirty="0">
                <a:solidFill>
                  <a:srgbClr val="C6CAD2"/>
                </a:solidFill>
                <a:effectLst/>
                <a:latin typeface="SFMono-Regular"/>
              </a:rPr>
              <a:t>// Its API is { subscribe, dispatch, </a:t>
            </a:r>
            <a:r>
              <a:rPr lang="en-US" b="0" i="0" dirty="0" err="1">
                <a:solidFill>
                  <a:srgbClr val="C6CAD2"/>
                </a:solidFill>
                <a:effectLst/>
                <a:latin typeface="SFMono-Regular"/>
              </a:rPr>
              <a:t>getState</a:t>
            </a:r>
            <a:r>
              <a:rPr lang="en-US" b="0" i="0" dirty="0">
                <a:solidFill>
                  <a:srgbClr val="C6CAD2"/>
                </a:solidFill>
                <a:effectLst/>
                <a:latin typeface="SFMono-Regular"/>
              </a:rPr>
              <a:t> }.</a:t>
            </a:r>
            <a:br>
              <a:rPr lang="en-US" b="0" i="0" dirty="0">
                <a:solidFill>
                  <a:srgbClr val="F8F8F2"/>
                </a:solidFill>
                <a:effectLst/>
                <a:latin typeface="SFMono-Regular"/>
              </a:rPr>
            </a:br>
            <a:r>
              <a:rPr lang="en-US" b="0" i="0" dirty="0">
                <a:solidFill>
                  <a:srgbClr val="F92672"/>
                </a:solidFill>
                <a:effectLst/>
                <a:latin typeface="SFMono-Regular"/>
              </a:rPr>
              <a:t>let</a:t>
            </a:r>
            <a:r>
              <a:rPr lang="en-US" b="0" i="0" dirty="0">
                <a:solidFill>
                  <a:srgbClr val="F8F8F2"/>
                </a:solidFill>
                <a:effectLst/>
                <a:latin typeface="SFMono-Regular"/>
              </a:rPr>
              <a:t> store = </a:t>
            </a:r>
            <a:r>
              <a:rPr lang="en-US" b="0" i="0" dirty="0" err="1">
                <a:solidFill>
                  <a:srgbClr val="E6D874"/>
                </a:solidFill>
                <a:effectLst/>
                <a:latin typeface="SFMono-Regular"/>
              </a:rPr>
              <a:t>createStore</a:t>
            </a:r>
            <a:r>
              <a:rPr lang="en-US" b="0" i="0" dirty="0">
                <a:solidFill>
                  <a:srgbClr val="F8F8F2"/>
                </a:solidFill>
                <a:effectLst/>
                <a:latin typeface="SFMono-Regular"/>
              </a:rPr>
              <a:t>(</a:t>
            </a:r>
            <a:r>
              <a:rPr lang="en-US" b="0" i="0" dirty="0" err="1">
                <a:solidFill>
                  <a:srgbClr val="F8F8F2"/>
                </a:solidFill>
                <a:effectLst/>
                <a:latin typeface="SFMono-Regular"/>
              </a:rPr>
              <a:t>counterReducer</a:t>
            </a:r>
            <a:r>
              <a:rPr lang="en-US" b="0" i="0" dirty="0">
                <a:solidFill>
                  <a:srgbClr val="F8F8F2"/>
                </a:solidFill>
                <a:effectLst/>
                <a:latin typeface="SFMono-Regular"/>
              </a:rPr>
              <a:t>)</a:t>
            </a:r>
            <a:endParaRPr lang="en-IN" dirty="0"/>
          </a:p>
        </p:txBody>
      </p:sp>
      <p:sp>
        <p:nvSpPr>
          <p:cNvPr id="6" name="TextBox 5">
            <a:extLst>
              <a:ext uri="{FF2B5EF4-FFF2-40B4-BE49-F238E27FC236}">
                <a16:creationId xmlns:a16="http://schemas.microsoft.com/office/drawing/2014/main" id="{82A60BB6-81F8-D1FC-4DA8-08B35CA37EAC}"/>
              </a:ext>
            </a:extLst>
          </p:cNvPr>
          <p:cNvSpPr txBox="1"/>
          <p:nvPr/>
        </p:nvSpPr>
        <p:spPr>
          <a:xfrm>
            <a:off x="6299200" y="705977"/>
            <a:ext cx="5892800" cy="6186309"/>
          </a:xfrm>
          <a:prstGeom prst="rect">
            <a:avLst/>
          </a:prstGeom>
          <a:solidFill>
            <a:schemeClr val="tx1"/>
          </a:solidFill>
        </p:spPr>
        <p:txBody>
          <a:bodyPr wrap="square">
            <a:spAutoFit/>
          </a:bodyPr>
          <a:lstStyle/>
          <a:p>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You can use subscribe() to update the UI in response to state changes.</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Normally you'd use a view binding library (e.g. React Redux) rather than subscribe() directly.</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There may be additional use cases where it's helpful to subscribe as well.</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err="1">
                <a:ln>
                  <a:noFill/>
                </a:ln>
                <a:solidFill>
                  <a:srgbClr val="F8F8F2"/>
                </a:solidFill>
                <a:effectLst/>
                <a:uLnTx/>
                <a:uFillTx/>
                <a:latin typeface="SFMono-Regular"/>
                <a:ea typeface="+mn-ea"/>
                <a:cs typeface="+mn-cs"/>
              </a:rPr>
              <a:t>store.</a:t>
            </a:r>
            <a:r>
              <a:rPr kumimoji="0" lang="en-US" sz="1800" b="0" i="0" u="none" strike="noStrike" kern="1200" cap="none" spc="0" normalizeH="0" baseline="0" noProof="0" dirty="0" err="1">
                <a:ln>
                  <a:noFill/>
                </a:ln>
                <a:solidFill>
                  <a:srgbClr val="E6D874"/>
                </a:solidFill>
                <a:effectLst/>
                <a:uLnTx/>
                <a:uFillTx/>
                <a:latin typeface="SFMono-Regular"/>
                <a:ea typeface="+mn-ea"/>
                <a:cs typeface="+mn-cs"/>
              </a:rPr>
              <a:t>subscribe</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=&gt; console.</a:t>
            </a:r>
            <a:r>
              <a:rPr kumimoji="0" lang="en-US" sz="1800" b="0" i="0" u="none" strike="noStrike" kern="1200" cap="none" spc="0" normalizeH="0" baseline="0" noProof="0" dirty="0">
                <a:ln>
                  <a:noFill/>
                </a:ln>
                <a:solidFill>
                  <a:srgbClr val="E6D874"/>
                </a:solidFill>
                <a:effectLst/>
                <a:uLnTx/>
                <a:uFillTx/>
                <a:latin typeface="SFMono-Regular"/>
                <a:ea typeface="+mn-ea"/>
                <a:cs typeface="+mn-cs"/>
              </a:rPr>
              <a:t>log</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a:t>
            </a:r>
            <a:r>
              <a:rPr kumimoji="0" lang="en-US" sz="1800" b="0" i="0" u="none" strike="noStrike" kern="1200" cap="none" spc="0" normalizeH="0" baseline="0" noProof="0" dirty="0" err="1">
                <a:ln>
                  <a:noFill/>
                </a:ln>
                <a:solidFill>
                  <a:srgbClr val="F8F8F2"/>
                </a:solidFill>
                <a:effectLst/>
                <a:uLnTx/>
                <a:uFillTx/>
                <a:latin typeface="SFMono-Regular"/>
                <a:ea typeface="+mn-ea"/>
                <a:cs typeface="+mn-cs"/>
              </a:rPr>
              <a:t>store.</a:t>
            </a:r>
            <a:r>
              <a:rPr kumimoji="0" lang="en-US" sz="1800" b="0" i="0" u="none" strike="noStrike" kern="1200" cap="none" spc="0" normalizeH="0" baseline="0" noProof="0" dirty="0" err="1">
                <a:ln>
                  <a:noFill/>
                </a:ln>
                <a:solidFill>
                  <a:srgbClr val="E6D874"/>
                </a:solidFill>
                <a:effectLst/>
                <a:uLnTx/>
                <a:uFillTx/>
                <a:latin typeface="SFMono-Regular"/>
                <a:ea typeface="+mn-ea"/>
                <a:cs typeface="+mn-cs"/>
              </a:rPr>
              <a:t>getState</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a:t>
            </a:r>
          </a:p>
          <a:p>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The only way to mutate the internal state is to dispatch an action.</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The actions can be serialized, logged or stored and later replayed.</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err="1">
                <a:ln>
                  <a:noFill/>
                </a:ln>
                <a:solidFill>
                  <a:srgbClr val="F8F8F2"/>
                </a:solidFill>
                <a:effectLst/>
                <a:uLnTx/>
                <a:uFillTx/>
                <a:latin typeface="SFMono-Regular"/>
                <a:ea typeface="+mn-ea"/>
                <a:cs typeface="+mn-cs"/>
              </a:rPr>
              <a:t>store.</a:t>
            </a:r>
            <a:r>
              <a:rPr kumimoji="0" lang="en-US" sz="1800" b="0" i="0" u="none" strike="noStrike" kern="1200" cap="none" spc="0" normalizeH="0" baseline="0" noProof="0" dirty="0" err="1">
                <a:ln>
                  <a:noFill/>
                </a:ln>
                <a:solidFill>
                  <a:srgbClr val="E6D874"/>
                </a:solidFill>
                <a:effectLst/>
                <a:uLnTx/>
                <a:uFillTx/>
                <a:latin typeface="SFMono-Regular"/>
                <a:ea typeface="+mn-ea"/>
                <a:cs typeface="+mn-cs"/>
              </a:rPr>
              <a:t>dispatch</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r>
              <a:rPr kumimoji="0" lang="en-US" sz="1800" b="0" i="0" u="none" strike="noStrike" kern="1200" cap="none" spc="0" normalizeH="0" baseline="0" noProof="0" dirty="0">
                <a:ln>
                  <a:noFill/>
                </a:ln>
                <a:solidFill>
                  <a:srgbClr val="F92672"/>
                </a:solidFill>
                <a:effectLst/>
                <a:uLnTx/>
                <a:uFillTx/>
                <a:latin typeface="SFMono-Regular"/>
                <a:ea typeface="+mn-ea"/>
                <a:cs typeface="+mn-cs"/>
              </a:rPr>
              <a:t>type</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r>
              <a:rPr kumimoji="0" lang="en-US" sz="1800" b="0" i="0" u="none" strike="noStrike" kern="1200" cap="none" spc="0" normalizeH="0" baseline="0" noProof="0" dirty="0">
                <a:ln>
                  <a:noFill/>
                </a:ln>
                <a:solidFill>
                  <a:srgbClr val="A6E22E"/>
                </a:solidFill>
                <a:effectLst/>
                <a:uLnTx/>
                <a:uFillTx/>
                <a:latin typeface="SFMono-Regular"/>
                <a:ea typeface="+mn-ea"/>
                <a:cs typeface="+mn-cs"/>
              </a:rPr>
              <a:t>'counter/incremented’</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p>
          <a:p>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{value: 1}</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err="1">
                <a:ln>
                  <a:noFill/>
                </a:ln>
                <a:solidFill>
                  <a:srgbClr val="F8F8F2"/>
                </a:solidFill>
                <a:effectLst/>
                <a:uLnTx/>
                <a:uFillTx/>
                <a:latin typeface="SFMono-Regular"/>
                <a:ea typeface="+mn-ea"/>
                <a:cs typeface="+mn-cs"/>
              </a:rPr>
              <a:t>store.</a:t>
            </a:r>
            <a:r>
              <a:rPr kumimoji="0" lang="en-US" sz="1800" b="0" i="0" u="none" strike="noStrike" kern="1200" cap="none" spc="0" normalizeH="0" baseline="0" noProof="0" dirty="0" err="1">
                <a:ln>
                  <a:noFill/>
                </a:ln>
                <a:solidFill>
                  <a:srgbClr val="E6D874"/>
                </a:solidFill>
                <a:effectLst/>
                <a:uLnTx/>
                <a:uFillTx/>
                <a:latin typeface="SFMono-Regular"/>
                <a:ea typeface="+mn-ea"/>
                <a:cs typeface="+mn-cs"/>
              </a:rPr>
              <a:t>dispatch</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r>
              <a:rPr kumimoji="0" lang="en-US" sz="1800" b="0" i="0" u="none" strike="noStrike" kern="1200" cap="none" spc="0" normalizeH="0" baseline="0" noProof="0" dirty="0">
                <a:ln>
                  <a:noFill/>
                </a:ln>
                <a:solidFill>
                  <a:srgbClr val="F92672"/>
                </a:solidFill>
                <a:effectLst/>
                <a:uLnTx/>
                <a:uFillTx/>
                <a:latin typeface="SFMono-Regular"/>
                <a:ea typeface="+mn-ea"/>
                <a:cs typeface="+mn-cs"/>
              </a:rPr>
              <a:t>type</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r>
              <a:rPr kumimoji="0" lang="en-US" sz="1800" b="0" i="0" u="none" strike="noStrike" kern="1200" cap="none" spc="0" normalizeH="0" baseline="0" noProof="0" dirty="0">
                <a:ln>
                  <a:noFill/>
                </a:ln>
                <a:solidFill>
                  <a:srgbClr val="A6E22E"/>
                </a:solidFill>
                <a:effectLst/>
                <a:uLnTx/>
                <a:uFillTx/>
                <a:latin typeface="SFMono-Regular"/>
                <a:ea typeface="+mn-ea"/>
                <a:cs typeface="+mn-cs"/>
              </a:rPr>
              <a:t>'counter</a:t>
            </a:r>
            <a:r>
              <a:rPr kumimoji="0" lang="en-US" sz="1800" b="0" i="0" u="none" strike="noStrike" kern="1200" cap="none" spc="0" normalizeH="0" baseline="0" noProof="0">
                <a:ln>
                  <a:noFill/>
                </a:ln>
                <a:solidFill>
                  <a:srgbClr val="A6E22E"/>
                </a:solidFill>
                <a:effectLst/>
                <a:uLnTx/>
                <a:uFillTx/>
                <a:latin typeface="SFMono-Regular"/>
                <a:ea typeface="+mn-ea"/>
                <a:cs typeface="+mn-cs"/>
              </a:rPr>
              <a:t>/incremented’</a:t>
            </a:r>
            <a:r>
              <a:rPr kumimoji="0" lang="en-US" sz="1800" b="0" i="0" u="none" strike="noStrike" kern="1200" cap="none" spc="0" normalizeH="0" baseline="0" noProof="0">
                <a:ln>
                  <a:noFill/>
                </a:ln>
                <a:solidFill>
                  <a:srgbClr val="F8F8F2"/>
                </a:solidFill>
                <a:effectLst/>
                <a:uLnTx/>
                <a:uFillTx/>
                <a:latin typeface="SFMono-Regular"/>
                <a:ea typeface="+mn-ea"/>
                <a:cs typeface="+mn-cs"/>
              </a:rPr>
              <a:t> })</a:t>
            </a:r>
          </a:p>
          <a:p>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{value: 2}</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err="1">
                <a:ln>
                  <a:noFill/>
                </a:ln>
                <a:solidFill>
                  <a:srgbClr val="F8F8F2"/>
                </a:solidFill>
                <a:effectLst/>
                <a:uLnTx/>
                <a:uFillTx/>
                <a:latin typeface="SFMono-Regular"/>
                <a:ea typeface="+mn-ea"/>
                <a:cs typeface="+mn-cs"/>
              </a:rPr>
              <a:t>store.</a:t>
            </a:r>
            <a:r>
              <a:rPr kumimoji="0" lang="en-US" sz="1800" b="0" i="0" u="none" strike="noStrike" kern="1200" cap="none" spc="0" normalizeH="0" baseline="0" noProof="0" dirty="0" err="1">
                <a:ln>
                  <a:noFill/>
                </a:ln>
                <a:solidFill>
                  <a:srgbClr val="E6D874"/>
                </a:solidFill>
                <a:effectLst/>
                <a:uLnTx/>
                <a:uFillTx/>
                <a:latin typeface="SFMono-Regular"/>
                <a:ea typeface="+mn-ea"/>
                <a:cs typeface="+mn-cs"/>
              </a:rPr>
              <a:t>dispatch</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r>
              <a:rPr kumimoji="0" lang="en-US" sz="1800" b="0" i="0" u="none" strike="noStrike" kern="1200" cap="none" spc="0" normalizeH="0" baseline="0" noProof="0" dirty="0">
                <a:ln>
                  <a:noFill/>
                </a:ln>
                <a:solidFill>
                  <a:srgbClr val="F92672"/>
                </a:solidFill>
                <a:effectLst/>
                <a:uLnTx/>
                <a:uFillTx/>
                <a:latin typeface="SFMono-Regular"/>
                <a:ea typeface="+mn-ea"/>
                <a:cs typeface="+mn-cs"/>
              </a:rPr>
              <a:t>type</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r>
              <a:rPr kumimoji="0" lang="en-US" sz="1800" b="0" i="0" u="none" strike="noStrike" kern="1200" cap="none" spc="0" normalizeH="0" baseline="0" noProof="0" dirty="0">
                <a:ln>
                  <a:noFill/>
                </a:ln>
                <a:solidFill>
                  <a:srgbClr val="A6E22E"/>
                </a:solidFill>
                <a:effectLst/>
                <a:uLnTx/>
                <a:uFillTx/>
                <a:latin typeface="SFMono-Regular"/>
                <a:ea typeface="+mn-ea"/>
                <a:cs typeface="+mn-cs"/>
              </a:rPr>
              <a:t>'counter/decremented'</a:t>
            </a:r>
            <a:r>
              <a:rPr kumimoji="0" lang="en-US" sz="1800" b="0" i="0" u="none" strike="noStrike" kern="1200" cap="none" spc="0" normalizeH="0" baseline="0" noProof="0" dirty="0">
                <a:ln>
                  <a:noFill/>
                </a:ln>
                <a:solidFill>
                  <a:srgbClr val="F8F8F2"/>
                </a:solidFill>
                <a:effectLst/>
                <a:uLnTx/>
                <a:uFillTx/>
                <a:latin typeface="SFMono-Regular"/>
                <a:ea typeface="+mn-ea"/>
                <a:cs typeface="+mn-cs"/>
              </a:rPr>
              <a:t> })</a:t>
            </a:r>
            <a:br>
              <a:rPr kumimoji="0" lang="en-US" sz="1800" b="0" i="0" u="none" strike="noStrike" kern="1200" cap="none" spc="0" normalizeH="0" baseline="0" noProof="0" dirty="0">
                <a:ln>
                  <a:noFill/>
                </a:ln>
                <a:solidFill>
                  <a:srgbClr val="F8F8F2"/>
                </a:solidFill>
                <a:effectLst/>
                <a:uLnTx/>
                <a:uFillTx/>
                <a:latin typeface="SFMono-Regular"/>
                <a:ea typeface="+mn-ea"/>
                <a:cs typeface="+mn-cs"/>
              </a:rPr>
            </a:br>
            <a:r>
              <a:rPr kumimoji="0" lang="en-US" sz="1800" b="0" i="0" u="none" strike="noStrike" kern="1200" cap="none" spc="0" normalizeH="0" baseline="0" noProof="0" dirty="0">
                <a:ln>
                  <a:noFill/>
                </a:ln>
                <a:solidFill>
                  <a:srgbClr val="C6CAD2"/>
                </a:solidFill>
                <a:effectLst/>
                <a:uLnTx/>
                <a:uFillTx/>
                <a:latin typeface="SFMono-Regular"/>
                <a:ea typeface="+mn-ea"/>
                <a:cs typeface="+mn-cs"/>
              </a:rPr>
              <a:t>// {value: 1}</a:t>
            </a:r>
            <a:endParaRPr lang="en-IN" dirty="0"/>
          </a:p>
        </p:txBody>
      </p:sp>
      <p:sp>
        <p:nvSpPr>
          <p:cNvPr id="8" name="TextBox 7">
            <a:extLst>
              <a:ext uri="{FF2B5EF4-FFF2-40B4-BE49-F238E27FC236}">
                <a16:creationId xmlns:a16="http://schemas.microsoft.com/office/drawing/2014/main" id="{00B9CB67-A1EA-B745-61BD-8BD47D51E87E}"/>
              </a:ext>
            </a:extLst>
          </p:cNvPr>
          <p:cNvSpPr txBox="1"/>
          <p:nvPr/>
        </p:nvSpPr>
        <p:spPr>
          <a:xfrm>
            <a:off x="6377517" y="0"/>
            <a:ext cx="6009216"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1" i="0" dirty="0">
                <a:solidFill>
                  <a:srgbClr val="000000"/>
                </a:solidFill>
                <a:effectLst/>
                <a:latin typeface="system-ui"/>
              </a:rPr>
              <a:t>Legacy Example</a:t>
            </a:r>
            <a:r>
              <a:rPr lang="en-US" b="1" i="0" dirty="0">
                <a:solidFill>
                  <a:srgbClr val="000000"/>
                </a:solidFill>
                <a:effectLst/>
                <a:latin typeface="system-ui"/>
                <a:hlinkClick r:id="rId2" tooltip="Direct link to heading"/>
              </a:rPr>
              <a:t>​</a:t>
            </a:r>
            <a:r>
              <a:rPr lang="en-US" b="1" i="0" dirty="0">
                <a:solidFill>
                  <a:srgbClr val="000000"/>
                </a:solidFill>
                <a:effectLst/>
                <a:latin typeface="system-ui"/>
              </a:rPr>
              <a:t>:</a:t>
            </a:r>
            <a:r>
              <a:rPr lang="en-US" b="0" i="0" dirty="0">
                <a:solidFill>
                  <a:srgbClr val="000000"/>
                </a:solidFill>
                <a:effectLst/>
                <a:latin typeface="system-ui"/>
              </a:rPr>
              <a:t>For comparison, the original Redux legacy syntax (with no abstractions) looks like this:</a:t>
            </a:r>
          </a:p>
        </p:txBody>
      </p:sp>
    </p:spTree>
    <p:extLst>
      <p:ext uri="{BB962C8B-B14F-4D97-AF65-F5344CB8AC3E}">
        <p14:creationId xmlns:p14="http://schemas.microsoft.com/office/powerpoint/2010/main" val="219910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TotalTime>
  <Words>2100</Words>
  <Application>Microsoft Office PowerPoint</Application>
  <PresentationFormat>Widescreen</PresentationFormat>
  <Paragraphs>94</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Open Sans</vt:lpstr>
      <vt:lpstr>SFMono-Regular</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sriram mantri vidyanidhi infotech academy</cp:lastModifiedBy>
  <cp:revision>26</cp:revision>
  <dcterms:created xsi:type="dcterms:W3CDTF">2023-03-25T05:05:19Z</dcterms:created>
  <dcterms:modified xsi:type="dcterms:W3CDTF">2025-01-11T06:05:32Z</dcterms:modified>
</cp:coreProperties>
</file>