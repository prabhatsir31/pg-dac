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56"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8823-E09A-AF37-7964-1BDCF972D5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5B3CBB-EA17-9B22-5090-3EF8A19DE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40BEF6-6D4D-DBF3-6560-3106694D5105}"/>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682AF1CD-E316-D966-9873-1150AB287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C75EAB-0DD9-F822-E23B-B593B30081E0}"/>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381169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62423-D846-5F6B-4F63-2D3E591E52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3CA0A3-374A-BD3A-1570-B36C504319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FA2C97-E43A-B469-154D-DC2D82EDA75D}"/>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4CD7599F-7444-597D-88C0-EA047B3F6F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334924-8B68-89E1-5A10-F60FAE4F61E4}"/>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4260156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7C923-B23C-6199-6AD3-3615D28C14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DB324F-08CC-89C9-9DF7-48EAEF3082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4C04DB-6EED-2EF7-4DAF-1A992B14E302}"/>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C89B458D-C7D2-12C1-7846-3E62AFACAE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1B6CD7-ACA8-BBA3-3E1D-F79CDD48AD7F}"/>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3715761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329E-55D9-15B4-2CE2-3F6EC33AD9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C68ABE-FAE2-362A-8EF9-BB8F1EDCFA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0EEC89-C18D-8A56-CD2E-3DCB20EA6B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9EEC3A-D054-906F-4C81-F385A0B5F236}"/>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6" name="Footer Placeholder 5">
            <a:extLst>
              <a:ext uri="{FF2B5EF4-FFF2-40B4-BE49-F238E27FC236}">
                <a16:creationId xmlns:a16="http://schemas.microsoft.com/office/drawing/2014/main" id="{9E37FF56-5DE8-1FE7-953B-94A68FB318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145FD-77E4-B4A1-FBD1-13F6E27FE1E3}"/>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334282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954C-F15D-8C93-3523-F8A6E1E29F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56A3D1-1CA4-7A4E-E594-393432AF7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65E3AE-500D-490A-BDAB-B6B2A05D37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C4924C-D304-C86E-DAC6-86CCA6D873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E1B036-4512-95CB-EC33-D76B8D63C5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63AAC2-C4BD-EFD7-2CAB-29D2011C4A9D}"/>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8" name="Footer Placeholder 7">
            <a:extLst>
              <a:ext uri="{FF2B5EF4-FFF2-40B4-BE49-F238E27FC236}">
                <a16:creationId xmlns:a16="http://schemas.microsoft.com/office/drawing/2014/main" id="{0DAEC953-07D9-F6F4-F06C-FE1D211F05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59F9976-95CA-03EE-3743-5B7D23258DB9}"/>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2792191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8E18-62E9-AD14-1367-4EA9C2C7CB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589D90-A0CA-04DF-6FA6-034330CAE276}"/>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4" name="Footer Placeholder 3">
            <a:extLst>
              <a:ext uri="{FF2B5EF4-FFF2-40B4-BE49-F238E27FC236}">
                <a16:creationId xmlns:a16="http://schemas.microsoft.com/office/drawing/2014/main" id="{9E0BD30A-EEEE-5F73-11B8-FFD7B3A0B7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A26FF9-687C-F058-93FA-BFAAD0EF920B}"/>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388754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272EB3-37BD-49B6-9CFE-02235842FFA9}"/>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3" name="Footer Placeholder 2">
            <a:extLst>
              <a:ext uri="{FF2B5EF4-FFF2-40B4-BE49-F238E27FC236}">
                <a16:creationId xmlns:a16="http://schemas.microsoft.com/office/drawing/2014/main" id="{F50381B3-CA48-C938-A314-8A7EC3E9F0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7E7280-F23E-FB0C-7B29-A89440C378E5}"/>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1535681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C69FA-6065-0413-894E-FD288D259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D34544-E10E-FA2B-A2E1-FDF47207C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A6222D-4185-7860-F22A-D090777C4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3ED1EF-15E0-7B6B-E708-39CD9F7F18E8}"/>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6" name="Footer Placeholder 5">
            <a:extLst>
              <a:ext uri="{FF2B5EF4-FFF2-40B4-BE49-F238E27FC236}">
                <a16:creationId xmlns:a16="http://schemas.microsoft.com/office/drawing/2014/main" id="{1C457D12-70CE-79B0-2F72-8A3C1EE45D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281F0F-E805-A825-806F-EFDA3CE0291A}"/>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2603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1424-3688-A9A6-B6C6-659F3EB98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EB0DE6-CE7D-2F29-3A57-70F4C60E2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6B3116-693A-8EAF-9015-D1A2A4100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E529C-EAA7-F9C4-38CE-D07EADE8A0FE}"/>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6" name="Footer Placeholder 5">
            <a:extLst>
              <a:ext uri="{FF2B5EF4-FFF2-40B4-BE49-F238E27FC236}">
                <a16:creationId xmlns:a16="http://schemas.microsoft.com/office/drawing/2014/main" id="{6F1CD50B-35F6-FE85-7DB3-590FF62D98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B1CEA2-5E5C-402E-E560-0CBF5E17389F}"/>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2679912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870C-CFAC-475C-45C4-F1728F061F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924ED40-6172-2F6E-9388-EA4E8E7623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99C824-423D-DB24-D647-F77A638E0BFE}"/>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14A9F819-A29D-6176-6F2F-E8F3C13449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773AC-E9C5-D4EE-FE4F-59BBDC415488}"/>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608809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FC71E8-ECFE-2EDE-F3DB-E8B94B3A0E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3E4DC9-61C6-8A4C-0D65-E6E39E50A7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E5F6F-BA67-6365-B003-D3112B9A2247}"/>
              </a:ext>
            </a:extLst>
          </p:cNvPr>
          <p:cNvSpPr>
            <a:spLocks noGrp="1"/>
          </p:cNvSpPr>
          <p:nvPr>
            <p:ph type="dt" sz="half" idx="10"/>
          </p:nvPr>
        </p:nvSpPr>
        <p:spPr/>
        <p:txBody>
          <a:body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934A4F82-A2C6-3D65-DFFB-81A675D78E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37BFCC-452D-92DF-2B63-D0F2339C77EC}"/>
              </a:ext>
            </a:extLst>
          </p:cNvPr>
          <p:cNvSpPr>
            <a:spLocks noGrp="1"/>
          </p:cNvSpPr>
          <p:nvPr>
            <p:ph type="sldNum" sz="quarter" idx="12"/>
          </p:nvPr>
        </p:nvSpPr>
        <p:spPr/>
        <p:txBody>
          <a:bodyPr/>
          <a:lstStyle/>
          <a:p>
            <a:fld id="{72660541-B796-48F4-9D07-9A1361F1FE29}" type="slidenum">
              <a:rPr lang="en-IN" smtClean="0"/>
              <a:t>‹#›</a:t>
            </a:fld>
            <a:endParaRPr lang="en-IN"/>
          </a:p>
        </p:txBody>
      </p:sp>
    </p:spTree>
    <p:extLst>
      <p:ext uri="{BB962C8B-B14F-4D97-AF65-F5344CB8AC3E}">
        <p14:creationId xmlns:p14="http://schemas.microsoft.com/office/powerpoint/2010/main" val="253858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E0BD57-EB97-5F2E-09D7-3EA4B3FDE3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77E2CA-73F2-F7D4-CE9F-26D2155B4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0962B8-D459-07C9-3807-3CD0D34A3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7AA50F-969B-4365-B279-122B2F2ABF74}" type="datetimeFigureOut">
              <a:rPr lang="en-IN" smtClean="0"/>
              <a:t>11-01-2025</a:t>
            </a:fld>
            <a:endParaRPr lang="en-IN"/>
          </a:p>
        </p:txBody>
      </p:sp>
      <p:sp>
        <p:nvSpPr>
          <p:cNvPr id="5" name="Footer Placeholder 4">
            <a:extLst>
              <a:ext uri="{FF2B5EF4-FFF2-40B4-BE49-F238E27FC236}">
                <a16:creationId xmlns:a16="http://schemas.microsoft.com/office/drawing/2014/main" id="{34B4D6E4-7A84-45E7-853E-2BE6E51ECC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4AB141-18A0-5FB9-6498-66139D393D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660541-B796-48F4-9D07-9A1361F1FE29}" type="slidenum">
              <a:rPr lang="en-IN" smtClean="0"/>
              <a:t>‹#›</a:t>
            </a:fld>
            <a:endParaRPr lang="en-IN"/>
          </a:p>
        </p:txBody>
      </p:sp>
    </p:spTree>
    <p:extLst>
      <p:ext uri="{BB962C8B-B14F-4D97-AF65-F5344CB8AC3E}">
        <p14:creationId xmlns:p14="http://schemas.microsoft.com/office/powerpoint/2010/main" val="4092472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688D57-7C07-BC61-3391-5AF4A2414C72}"/>
              </a:ext>
            </a:extLst>
          </p:cNvPr>
          <p:cNvPicPr>
            <a:picLocks noChangeAspect="1"/>
          </p:cNvPicPr>
          <p:nvPr/>
        </p:nvPicPr>
        <p:blipFill>
          <a:blip r:embed="rId2"/>
          <a:stretch>
            <a:fillRect/>
          </a:stretch>
        </p:blipFill>
        <p:spPr>
          <a:xfrm>
            <a:off x="1057710" y="681037"/>
            <a:ext cx="3337849" cy="5349704"/>
          </a:xfrm>
          <a:prstGeom prst="rect">
            <a:avLst/>
          </a:prstGeom>
        </p:spPr>
      </p:pic>
      <p:sp>
        <p:nvSpPr>
          <p:cNvPr id="6" name="TextBox 5">
            <a:extLst>
              <a:ext uri="{FF2B5EF4-FFF2-40B4-BE49-F238E27FC236}">
                <a16:creationId xmlns:a16="http://schemas.microsoft.com/office/drawing/2014/main" id="{7F922D48-5A03-5B3A-69B8-C58F196DAF79}"/>
              </a:ext>
            </a:extLst>
          </p:cNvPr>
          <p:cNvSpPr txBox="1"/>
          <p:nvPr/>
        </p:nvSpPr>
        <p:spPr>
          <a:xfrm>
            <a:off x="7174394" y="717240"/>
            <a:ext cx="3616189"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a:t>File name: Counter.js</a:t>
            </a:r>
            <a:endParaRPr lang="en-IN" sz="2800" dirty="0"/>
          </a:p>
        </p:txBody>
      </p:sp>
      <p:sp>
        <p:nvSpPr>
          <p:cNvPr id="7" name="TextBox 6">
            <a:extLst>
              <a:ext uri="{FF2B5EF4-FFF2-40B4-BE49-F238E27FC236}">
                <a16:creationId xmlns:a16="http://schemas.microsoft.com/office/drawing/2014/main" id="{E814E54C-4528-56CF-75E6-63F7A9347452}"/>
              </a:ext>
            </a:extLst>
          </p:cNvPr>
          <p:cNvSpPr txBox="1"/>
          <p:nvPr/>
        </p:nvSpPr>
        <p:spPr>
          <a:xfrm>
            <a:off x="7088257" y="1803045"/>
            <a:ext cx="495962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a:t>File name: counterSlice.js</a:t>
            </a:r>
            <a:endParaRPr lang="en-IN" sz="2800" dirty="0"/>
          </a:p>
        </p:txBody>
      </p:sp>
      <p:sp>
        <p:nvSpPr>
          <p:cNvPr id="8" name="TextBox 7">
            <a:extLst>
              <a:ext uri="{FF2B5EF4-FFF2-40B4-BE49-F238E27FC236}">
                <a16:creationId xmlns:a16="http://schemas.microsoft.com/office/drawing/2014/main" id="{E4118574-04F3-C1EE-CD90-16C8E3D6E83F}"/>
              </a:ext>
            </a:extLst>
          </p:cNvPr>
          <p:cNvSpPr txBox="1"/>
          <p:nvPr/>
        </p:nvSpPr>
        <p:spPr>
          <a:xfrm>
            <a:off x="6589643" y="2673626"/>
            <a:ext cx="5458240" cy="369332"/>
          </a:xfrm>
          <a:prstGeom prst="rect">
            <a:avLst/>
          </a:prstGeom>
          <a:noFill/>
        </p:spPr>
        <p:txBody>
          <a:bodyPr wrap="square" rtlCol="0">
            <a:spAutoFit/>
          </a:bodyPr>
          <a:lstStyle/>
          <a:p>
            <a:r>
              <a:rPr lang="en-US" dirty="0"/>
              <a:t>Above file is in </a:t>
            </a:r>
            <a:r>
              <a:rPr lang="en-US" dirty="0" err="1"/>
              <a:t>src</a:t>
            </a:r>
            <a:r>
              <a:rPr lang="en-US" dirty="0"/>
              <a:t>\feature\counter     folder</a:t>
            </a:r>
            <a:endParaRPr lang="en-IN" dirty="0"/>
          </a:p>
        </p:txBody>
      </p:sp>
    </p:spTree>
    <p:extLst>
      <p:ext uri="{BB962C8B-B14F-4D97-AF65-F5344CB8AC3E}">
        <p14:creationId xmlns:p14="http://schemas.microsoft.com/office/powerpoint/2010/main" val="3784016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DDF5C5-A710-F31A-7D41-52274C30AC1E}"/>
              </a:ext>
            </a:extLst>
          </p:cNvPr>
          <p:cNvSpPr txBox="1"/>
          <p:nvPr/>
        </p:nvSpPr>
        <p:spPr>
          <a:xfrm>
            <a:off x="146601" y="0"/>
            <a:ext cx="10349121" cy="6093976"/>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createSlice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reduxjs</a:t>
            </a:r>
            <a:r>
              <a:rPr lang="en-IN" b="0" dirty="0">
                <a:solidFill>
                  <a:srgbClr val="A31515"/>
                </a:solidFill>
                <a:effectLst/>
                <a:latin typeface="Consolas" panose="020B0609020204030204" pitchFamily="49" charset="0"/>
              </a:rPr>
              <a:t>/toolkit'</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00FF00"/>
                </a:highlight>
                <a:latin typeface="Consolas" panose="020B0609020204030204" pitchFamily="49" charset="0"/>
              </a:rPr>
              <a:t>counterSlice</a:t>
            </a:r>
            <a:r>
              <a:rPr lang="en-IN" b="0" dirty="0">
                <a:solidFill>
                  <a:srgbClr val="000000"/>
                </a:solidFill>
                <a:effectLst/>
                <a:highlight>
                  <a:srgbClr val="800000"/>
                </a:highlight>
                <a:latin typeface="Consolas" panose="020B0609020204030204" pitchFamily="49" charset="0"/>
              </a:rPr>
              <a:t> </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createSlice</a:t>
            </a:r>
            <a:r>
              <a:rPr lang="en-IN" b="0" dirty="0">
                <a:solidFill>
                  <a:srgbClr val="FF0000"/>
                </a:solidFill>
                <a:effectLst/>
                <a:latin typeface="Consolas" panose="020B0609020204030204" pitchFamily="49" charset="0"/>
              </a:rPr>
              <a:t>(</a:t>
            </a:r>
            <a:r>
              <a:rPr lang="en-IN" b="1" dirty="0">
                <a:solidFill>
                  <a:schemeClr val="accent6"/>
                </a:solidFill>
                <a:effectLst/>
                <a:latin typeface="Consolas" panose="020B0609020204030204" pitchFamily="49" charset="0"/>
              </a:rPr>
              <a:t>{</a:t>
            </a:r>
          </a:p>
          <a:p>
            <a:r>
              <a:rPr lang="en-IN" b="0" dirty="0">
                <a:solidFill>
                  <a:srgbClr val="000000"/>
                </a:solidFill>
                <a:effectLst/>
                <a:latin typeface="Consolas" panose="020B0609020204030204" pitchFamily="49" charset="0"/>
              </a:rPr>
              <a:t>  name: </a:t>
            </a:r>
            <a:r>
              <a:rPr lang="en-IN" b="0" dirty="0">
                <a:solidFill>
                  <a:srgbClr val="A31515"/>
                </a:solidFill>
                <a:effectLst/>
                <a:latin typeface="Consolas" panose="020B0609020204030204" pitchFamily="49" charset="0"/>
              </a:rPr>
              <a:t>'counter'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initialState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value: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00"/>
                </a:solidFill>
                <a:effectLst/>
                <a:highlight>
                  <a:srgbClr val="00FF00"/>
                </a:highlight>
                <a:latin typeface="Consolas" panose="020B0609020204030204" pitchFamily="49" charset="0"/>
              </a:rPr>
              <a:t>reducers</a:t>
            </a:r>
            <a:r>
              <a:rPr lang="en-IN" b="0" dirty="0">
                <a:solidFill>
                  <a:srgbClr val="000000"/>
                </a:solidFill>
                <a:effectLst/>
                <a:latin typeface="Consolas" panose="020B0609020204030204" pitchFamily="49" charset="0"/>
              </a:rPr>
              <a:t>: </a:t>
            </a:r>
            <a:r>
              <a:rPr lang="en-IN" sz="2400" b="1" dirty="0">
                <a:solidFill>
                  <a:srgbClr val="000000"/>
                </a:solidFill>
                <a:effectLst/>
                <a:highlight>
                  <a:srgbClr val="FFFF00"/>
                </a:highligh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00"/>
                </a:solidFill>
                <a:effectLst/>
                <a:highlight>
                  <a:srgbClr val="00FFFF"/>
                </a:highlight>
                <a:latin typeface="Consolas" panose="020B0609020204030204" pitchFamily="49" charset="0"/>
              </a:rPr>
              <a:t>increment</a:t>
            </a:r>
            <a:r>
              <a:rPr lang="en-IN" b="0" dirty="0">
                <a:solidFill>
                  <a:srgbClr val="000000"/>
                </a:solidFill>
                <a:effectLst/>
                <a:latin typeface="Consolas" panose="020B0609020204030204" pitchFamily="49" charset="0"/>
              </a:rPr>
              <a:t>: state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state.value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00"/>
                </a:solidFill>
                <a:effectLst/>
                <a:highlight>
                  <a:srgbClr val="C0C0C0"/>
                </a:highlight>
                <a:latin typeface="Consolas" panose="020B0609020204030204" pitchFamily="49" charset="0"/>
              </a:rPr>
              <a:t>decrement</a:t>
            </a:r>
            <a:r>
              <a:rPr lang="en-IN" b="0" dirty="0">
                <a:solidFill>
                  <a:srgbClr val="000000"/>
                </a:solidFill>
                <a:effectLst/>
                <a:latin typeface="Consolas" panose="020B0609020204030204" pitchFamily="49" charset="0"/>
              </a:rPr>
              <a:t>: state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state.value</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highlight>
                  <a:srgbClr val="FF00FF"/>
                </a:highlight>
                <a:latin typeface="Consolas" panose="020B0609020204030204" pitchFamily="49" charset="0"/>
              </a:rPr>
              <a:t>incrementByAmount</a:t>
            </a:r>
            <a:r>
              <a:rPr lang="en-IN" b="0" dirty="0">
                <a:solidFill>
                  <a:srgbClr val="000000"/>
                </a:solidFill>
                <a:effectLst/>
                <a:latin typeface="Consolas" panose="020B0609020204030204" pitchFamily="49" charset="0"/>
              </a:rPr>
              <a:t>: (state, action)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state.value</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action.payload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sz="2400" b="1" dirty="0">
                <a:solidFill>
                  <a:srgbClr val="000000"/>
                </a:solidFill>
                <a:effectLst/>
                <a:highlight>
                  <a:srgbClr val="FFFF00"/>
                </a:highlight>
                <a:latin typeface="Consolas" panose="020B0609020204030204" pitchFamily="49" charset="0"/>
              </a:rPr>
              <a:t>}</a:t>
            </a:r>
          </a:p>
          <a:p>
            <a:r>
              <a:rPr lang="en-IN" b="1" dirty="0">
                <a:solidFill>
                  <a:schemeClr val="accent6"/>
                </a:solidFill>
                <a:effectLst/>
                <a:latin typeface="Consolas" panose="020B0609020204030204" pitchFamily="49" charset="0"/>
              </a:rPr>
              <a:t>}</a:t>
            </a:r>
            <a:r>
              <a:rPr lang="en-IN" b="0" dirty="0">
                <a:solidFill>
                  <a:srgbClr val="FF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FF0000"/>
                </a:highlight>
                <a:latin typeface="Consolas" panose="020B0609020204030204" pitchFamily="49" charset="0"/>
              </a:rPr>
              <a:t>selectCount</a:t>
            </a:r>
            <a:r>
              <a:rPr lang="en-IN" b="0" dirty="0">
                <a:solidFill>
                  <a:srgbClr val="000000"/>
                </a:solidFill>
                <a:effectLst/>
                <a:latin typeface="Consolas" panose="020B0609020204030204" pitchFamily="49" charset="0"/>
              </a:rPr>
              <a:t> = (state)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state.counter.value</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Action creators are generated for each case reducer function</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 </a:t>
            </a:r>
            <a:r>
              <a:rPr lang="en-IN" b="0" dirty="0">
                <a:solidFill>
                  <a:srgbClr val="000000"/>
                </a:solidFill>
                <a:effectLst/>
                <a:highlight>
                  <a:srgbClr val="00FFFF"/>
                </a:highlight>
                <a:latin typeface="Consolas" panose="020B0609020204030204" pitchFamily="49" charset="0"/>
              </a:rPr>
              <a:t>increment,</a:t>
            </a:r>
            <a:r>
              <a:rPr lang="en-IN" b="0" dirty="0">
                <a:solidFill>
                  <a:srgbClr val="000000"/>
                </a:solidFill>
                <a:effectLst/>
                <a:latin typeface="Consolas" panose="020B0609020204030204" pitchFamily="49" charset="0"/>
              </a:rPr>
              <a:t> </a:t>
            </a:r>
            <a:r>
              <a:rPr lang="en-IN" b="0" dirty="0">
                <a:solidFill>
                  <a:srgbClr val="000000"/>
                </a:solidFill>
                <a:effectLst/>
                <a:highlight>
                  <a:srgbClr val="C0C0C0"/>
                </a:highlight>
                <a:latin typeface="Consolas" panose="020B0609020204030204" pitchFamily="49" charset="0"/>
              </a:rPr>
              <a:t>decrement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FF00FF"/>
                </a:highlight>
                <a:latin typeface="Consolas" panose="020B0609020204030204" pitchFamily="49" charset="0"/>
              </a:rPr>
              <a:t>incrementByAmount</a:t>
            </a:r>
            <a:r>
              <a:rPr lang="en-IN" b="0" dirty="0">
                <a:solidFill>
                  <a:srgbClr val="000000"/>
                </a:solidFill>
                <a:effectLst/>
                <a:latin typeface="Consolas" panose="020B0609020204030204" pitchFamily="49" charset="0"/>
              </a:rPr>
              <a:t> } = </a:t>
            </a:r>
            <a:r>
              <a:rPr lang="en-IN" b="0" dirty="0" err="1">
                <a:solidFill>
                  <a:srgbClr val="000000"/>
                </a:solidFill>
                <a:effectLst/>
                <a:highlight>
                  <a:srgbClr val="00FF00"/>
                </a:highlight>
                <a:latin typeface="Consolas" panose="020B0609020204030204" pitchFamily="49" charset="0"/>
              </a:rPr>
              <a:t>counterSlice</a:t>
            </a:r>
            <a:r>
              <a:rPr lang="en-IN" b="0" dirty="0" err="1">
                <a:solidFill>
                  <a:srgbClr val="000000"/>
                </a:solidFill>
                <a:effectLst/>
                <a:latin typeface="Consolas" panose="020B0609020204030204" pitchFamily="49" charset="0"/>
              </a:rPr>
              <a:t>.actions</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00FF00"/>
                </a:highlight>
                <a:latin typeface="Consolas" panose="020B0609020204030204" pitchFamily="49" charset="0"/>
              </a:rPr>
              <a:t>counterSlice</a:t>
            </a:r>
            <a:r>
              <a:rPr lang="en-IN" b="0" dirty="0" err="1">
                <a:solidFill>
                  <a:srgbClr val="000000"/>
                </a:solidFill>
                <a:effectLst/>
                <a:latin typeface="Consolas" panose="020B0609020204030204" pitchFamily="49" charset="0"/>
              </a:rPr>
              <a:t>.</a:t>
            </a:r>
            <a:r>
              <a:rPr lang="en-IN" b="0" dirty="0" err="1">
                <a:solidFill>
                  <a:srgbClr val="000000"/>
                </a:solidFill>
                <a:effectLst/>
                <a:highlight>
                  <a:srgbClr val="FFFF00"/>
                </a:highlight>
                <a:latin typeface="Consolas" panose="020B0609020204030204" pitchFamily="49" charset="0"/>
              </a:rPr>
              <a:t>reducer</a:t>
            </a:r>
            <a:endParaRPr lang="en-IN" b="0" dirty="0">
              <a:solidFill>
                <a:srgbClr val="000000"/>
              </a:solidFill>
              <a:effectLst/>
              <a:highlight>
                <a:srgbClr val="FFFF00"/>
              </a:highlight>
              <a:latin typeface="Consolas" panose="020B0609020204030204" pitchFamily="49" charset="0"/>
            </a:endParaRPr>
          </a:p>
        </p:txBody>
      </p:sp>
      <p:sp>
        <p:nvSpPr>
          <p:cNvPr id="7" name="TextBox 6">
            <a:extLst>
              <a:ext uri="{FF2B5EF4-FFF2-40B4-BE49-F238E27FC236}">
                <a16:creationId xmlns:a16="http://schemas.microsoft.com/office/drawing/2014/main" id="{9DA0569C-74AA-EBE9-D097-4FE87966B12E}"/>
              </a:ext>
            </a:extLst>
          </p:cNvPr>
          <p:cNvSpPr txBox="1"/>
          <p:nvPr/>
        </p:nvSpPr>
        <p:spPr>
          <a:xfrm>
            <a:off x="6152324" y="906422"/>
            <a:ext cx="6097656"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Redux Toolkit allows us to write "mutating" logic in reducers. It</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doesn't actually mutate the state because it uses the </a:t>
            </a:r>
            <a:r>
              <a:rPr kumimoji="0" lang="en-IN" sz="1800" b="0" i="0" u="none" strike="noStrike" kern="1200" cap="none" spc="0" normalizeH="0" baseline="0" noProof="0" dirty="0" err="1">
                <a:ln>
                  <a:noFill/>
                </a:ln>
                <a:solidFill>
                  <a:srgbClr val="008000"/>
                </a:solidFill>
                <a:effectLst/>
                <a:uLnTx/>
                <a:uFillTx/>
                <a:latin typeface="Consolas" panose="020B0609020204030204" pitchFamily="49" charset="0"/>
                <a:ea typeface="+mn-ea"/>
                <a:cs typeface="+mn-cs"/>
              </a:rPr>
              <a:t>Immer</a:t>
            </a: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library,</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which detects changes to a "draft state" and produces a brand new</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immutable state based off those changes</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9" name="TextBox 8">
            <a:extLst>
              <a:ext uri="{FF2B5EF4-FFF2-40B4-BE49-F238E27FC236}">
                <a16:creationId xmlns:a16="http://schemas.microsoft.com/office/drawing/2014/main" id="{61D90D62-0D22-A74C-D34F-6BFF9BBF19A3}"/>
              </a:ext>
            </a:extLst>
          </p:cNvPr>
          <p:cNvSpPr txBox="1"/>
          <p:nvPr/>
        </p:nvSpPr>
        <p:spPr>
          <a:xfrm>
            <a:off x="8818493" y="3965713"/>
            <a:ext cx="3128342"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Action creators for the types of actions that are handled by the slice reducer.</a:t>
            </a:r>
          </a:p>
          <a:p>
            <a:endParaRPr lang="en-US" dirty="0"/>
          </a:p>
        </p:txBody>
      </p:sp>
      <p:cxnSp>
        <p:nvCxnSpPr>
          <p:cNvPr id="11" name="Straight Arrow Connector 10">
            <a:extLst>
              <a:ext uri="{FF2B5EF4-FFF2-40B4-BE49-F238E27FC236}">
                <a16:creationId xmlns:a16="http://schemas.microsoft.com/office/drawing/2014/main" id="{A35259AA-CF0C-296C-8560-F1C409EF28B8}"/>
              </a:ext>
            </a:extLst>
          </p:cNvPr>
          <p:cNvCxnSpPr/>
          <p:nvPr/>
        </p:nvCxnSpPr>
        <p:spPr>
          <a:xfrm flipV="1">
            <a:off x="9462052" y="5009322"/>
            <a:ext cx="278296" cy="487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5C9875F2-061B-B6E8-B022-2082D5D587FF}"/>
              </a:ext>
            </a:extLst>
          </p:cNvPr>
          <p:cNvSpPr/>
          <p:nvPr/>
        </p:nvSpPr>
        <p:spPr>
          <a:xfrm>
            <a:off x="1868557" y="1311965"/>
            <a:ext cx="4403034" cy="3637722"/>
          </a:xfrm>
          <a:custGeom>
            <a:avLst/>
            <a:gdLst>
              <a:gd name="connsiteX0" fmla="*/ 0 w 4403034"/>
              <a:gd name="connsiteY0" fmla="*/ 0 h 3637722"/>
              <a:gd name="connsiteX1" fmla="*/ 377686 w 4403034"/>
              <a:gd name="connsiteY1" fmla="*/ 29818 h 3637722"/>
              <a:gd name="connsiteX2" fmla="*/ 1043608 w 4403034"/>
              <a:gd name="connsiteY2" fmla="*/ 49696 h 3637722"/>
              <a:gd name="connsiteX3" fmla="*/ 1480930 w 4403034"/>
              <a:gd name="connsiteY3" fmla="*/ 129209 h 3637722"/>
              <a:gd name="connsiteX4" fmla="*/ 1987826 w 4403034"/>
              <a:gd name="connsiteY4" fmla="*/ 238539 h 3637722"/>
              <a:gd name="connsiteX5" fmla="*/ 2415208 w 4403034"/>
              <a:gd name="connsiteY5" fmla="*/ 298174 h 3637722"/>
              <a:gd name="connsiteX6" fmla="*/ 2971800 w 4403034"/>
              <a:gd name="connsiteY6" fmla="*/ 437322 h 3637722"/>
              <a:gd name="connsiteX7" fmla="*/ 3150704 w 4403034"/>
              <a:gd name="connsiteY7" fmla="*/ 487018 h 3637722"/>
              <a:gd name="connsiteX8" fmla="*/ 3597965 w 4403034"/>
              <a:gd name="connsiteY8" fmla="*/ 646044 h 3637722"/>
              <a:gd name="connsiteX9" fmla="*/ 3816626 w 4403034"/>
              <a:gd name="connsiteY9" fmla="*/ 745435 h 3637722"/>
              <a:gd name="connsiteX10" fmla="*/ 4134678 w 4403034"/>
              <a:gd name="connsiteY10" fmla="*/ 983974 h 3637722"/>
              <a:gd name="connsiteX11" fmla="*/ 4224130 w 4403034"/>
              <a:gd name="connsiteY11" fmla="*/ 1103244 h 3637722"/>
              <a:gd name="connsiteX12" fmla="*/ 4323521 w 4403034"/>
              <a:gd name="connsiteY12" fmla="*/ 1331844 h 3637722"/>
              <a:gd name="connsiteX13" fmla="*/ 4353339 w 4403034"/>
              <a:gd name="connsiteY13" fmla="*/ 1461052 h 3637722"/>
              <a:gd name="connsiteX14" fmla="*/ 4403034 w 4403034"/>
              <a:gd name="connsiteY14" fmla="*/ 1729409 h 3637722"/>
              <a:gd name="connsiteX15" fmla="*/ 4393095 w 4403034"/>
              <a:gd name="connsiteY15" fmla="*/ 2375452 h 3637722"/>
              <a:gd name="connsiteX16" fmla="*/ 4363278 w 4403034"/>
              <a:gd name="connsiteY16" fmla="*/ 2454965 h 3637722"/>
              <a:gd name="connsiteX17" fmla="*/ 4323521 w 4403034"/>
              <a:gd name="connsiteY17" fmla="*/ 2544418 h 3637722"/>
              <a:gd name="connsiteX18" fmla="*/ 4283765 w 4403034"/>
              <a:gd name="connsiteY18" fmla="*/ 2613992 h 3637722"/>
              <a:gd name="connsiteX19" fmla="*/ 4253947 w 4403034"/>
              <a:gd name="connsiteY19" fmla="*/ 2713383 h 3637722"/>
              <a:gd name="connsiteX20" fmla="*/ 4184373 w 4403034"/>
              <a:gd name="connsiteY20" fmla="*/ 2852531 h 3637722"/>
              <a:gd name="connsiteX21" fmla="*/ 4154556 w 4403034"/>
              <a:gd name="connsiteY21" fmla="*/ 2912165 h 3637722"/>
              <a:gd name="connsiteX22" fmla="*/ 4114800 w 4403034"/>
              <a:gd name="connsiteY22" fmla="*/ 3021496 h 3637722"/>
              <a:gd name="connsiteX23" fmla="*/ 4104860 w 4403034"/>
              <a:gd name="connsiteY23" fmla="*/ 3289852 h 3637722"/>
              <a:gd name="connsiteX24" fmla="*/ 4084982 w 4403034"/>
              <a:gd name="connsiteY24" fmla="*/ 3359426 h 3637722"/>
              <a:gd name="connsiteX25" fmla="*/ 4075043 w 4403034"/>
              <a:gd name="connsiteY25" fmla="*/ 3458818 h 3637722"/>
              <a:gd name="connsiteX26" fmla="*/ 4055165 w 4403034"/>
              <a:gd name="connsiteY26" fmla="*/ 3538331 h 3637722"/>
              <a:gd name="connsiteX27" fmla="*/ 4035286 w 4403034"/>
              <a:gd name="connsiteY27" fmla="*/ 3578087 h 3637722"/>
              <a:gd name="connsiteX28" fmla="*/ 4015408 w 4403034"/>
              <a:gd name="connsiteY28" fmla="*/ 3627783 h 3637722"/>
              <a:gd name="connsiteX29" fmla="*/ 4015408 w 4403034"/>
              <a:gd name="connsiteY29" fmla="*/ 3637722 h 363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03034" h="3637722">
                <a:moveTo>
                  <a:pt x="0" y="0"/>
                </a:moveTo>
                <a:cubicBezTo>
                  <a:pt x="235778" y="72548"/>
                  <a:pt x="33883" y="26081"/>
                  <a:pt x="377686" y="29818"/>
                </a:cubicBezTo>
                <a:cubicBezTo>
                  <a:pt x="599746" y="32232"/>
                  <a:pt x="821634" y="43070"/>
                  <a:pt x="1043608" y="49696"/>
                </a:cubicBezTo>
                <a:lnTo>
                  <a:pt x="1480930" y="129209"/>
                </a:lnTo>
                <a:cubicBezTo>
                  <a:pt x="1650424" y="163108"/>
                  <a:pt x="1817734" y="207778"/>
                  <a:pt x="1987826" y="238539"/>
                </a:cubicBezTo>
                <a:cubicBezTo>
                  <a:pt x="2129371" y="264137"/>
                  <a:pt x="2273324" y="274527"/>
                  <a:pt x="2415208" y="298174"/>
                </a:cubicBezTo>
                <a:cubicBezTo>
                  <a:pt x="2829848" y="367281"/>
                  <a:pt x="2654083" y="339563"/>
                  <a:pt x="2971800" y="437322"/>
                </a:cubicBezTo>
                <a:cubicBezTo>
                  <a:pt x="3030956" y="455524"/>
                  <a:pt x="3091326" y="469554"/>
                  <a:pt x="3150704" y="487018"/>
                </a:cubicBezTo>
                <a:cubicBezTo>
                  <a:pt x="3292142" y="528617"/>
                  <a:pt x="3471821" y="588706"/>
                  <a:pt x="3597965" y="646044"/>
                </a:cubicBezTo>
                <a:cubicBezTo>
                  <a:pt x="3670852" y="679174"/>
                  <a:pt x="3747302" y="705381"/>
                  <a:pt x="3816626" y="745435"/>
                </a:cubicBezTo>
                <a:cubicBezTo>
                  <a:pt x="3866230" y="774095"/>
                  <a:pt x="4066853" y="908612"/>
                  <a:pt x="4134678" y="983974"/>
                </a:cubicBezTo>
                <a:cubicBezTo>
                  <a:pt x="4167923" y="1020913"/>
                  <a:pt x="4197450" y="1061318"/>
                  <a:pt x="4224130" y="1103244"/>
                </a:cubicBezTo>
                <a:cubicBezTo>
                  <a:pt x="4256928" y="1154783"/>
                  <a:pt x="4307290" y="1279095"/>
                  <a:pt x="4323521" y="1331844"/>
                </a:cubicBezTo>
                <a:cubicBezTo>
                  <a:pt x="4336520" y="1374091"/>
                  <a:pt x="4344670" y="1417709"/>
                  <a:pt x="4353339" y="1461052"/>
                </a:cubicBezTo>
                <a:cubicBezTo>
                  <a:pt x="4371180" y="1550259"/>
                  <a:pt x="4403034" y="1729409"/>
                  <a:pt x="4403034" y="1729409"/>
                </a:cubicBezTo>
                <a:cubicBezTo>
                  <a:pt x="4399721" y="1944757"/>
                  <a:pt x="4404878" y="2160401"/>
                  <a:pt x="4393095" y="2375452"/>
                </a:cubicBezTo>
                <a:cubicBezTo>
                  <a:pt x="4391546" y="2403716"/>
                  <a:pt x="4374056" y="2428790"/>
                  <a:pt x="4363278" y="2454965"/>
                </a:cubicBezTo>
                <a:cubicBezTo>
                  <a:pt x="4350854" y="2485137"/>
                  <a:pt x="4338114" y="2515233"/>
                  <a:pt x="4323521" y="2544418"/>
                </a:cubicBezTo>
                <a:cubicBezTo>
                  <a:pt x="4311576" y="2568309"/>
                  <a:pt x="4293935" y="2589293"/>
                  <a:pt x="4283765" y="2613992"/>
                </a:cubicBezTo>
                <a:cubicBezTo>
                  <a:pt x="4270595" y="2645976"/>
                  <a:pt x="4267251" y="2681455"/>
                  <a:pt x="4253947" y="2713383"/>
                </a:cubicBezTo>
                <a:cubicBezTo>
                  <a:pt x="4234002" y="2761251"/>
                  <a:pt x="4207564" y="2806148"/>
                  <a:pt x="4184373" y="2852531"/>
                </a:cubicBezTo>
                <a:cubicBezTo>
                  <a:pt x="4174434" y="2872409"/>
                  <a:pt x="4161584" y="2891081"/>
                  <a:pt x="4154556" y="2912165"/>
                </a:cubicBezTo>
                <a:cubicBezTo>
                  <a:pt x="4129036" y="2988726"/>
                  <a:pt x="4142460" y="2952345"/>
                  <a:pt x="4114800" y="3021496"/>
                </a:cubicBezTo>
                <a:cubicBezTo>
                  <a:pt x="4111487" y="3110948"/>
                  <a:pt x="4112728" y="3200685"/>
                  <a:pt x="4104860" y="3289852"/>
                </a:cubicBezTo>
                <a:cubicBezTo>
                  <a:pt x="4102740" y="3313878"/>
                  <a:pt x="4089174" y="3335674"/>
                  <a:pt x="4084982" y="3359426"/>
                </a:cubicBezTo>
                <a:cubicBezTo>
                  <a:pt x="4079196" y="3392215"/>
                  <a:pt x="4080517" y="3425975"/>
                  <a:pt x="4075043" y="3458818"/>
                </a:cubicBezTo>
                <a:cubicBezTo>
                  <a:pt x="4070552" y="3485766"/>
                  <a:pt x="4063804" y="3512413"/>
                  <a:pt x="4055165" y="3538331"/>
                </a:cubicBezTo>
                <a:cubicBezTo>
                  <a:pt x="4050480" y="3552387"/>
                  <a:pt x="4041304" y="3564548"/>
                  <a:pt x="4035286" y="3578087"/>
                </a:cubicBezTo>
                <a:cubicBezTo>
                  <a:pt x="4028040" y="3594391"/>
                  <a:pt x="4021050" y="3610857"/>
                  <a:pt x="4015408" y="3627783"/>
                </a:cubicBezTo>
                <a:cubicBezTo>
                  <a:pt x="4014360" y="3630926"/>
                  <a:pt x="4015408" y="3634409"/>
                  <a:pt x="4015408" y="363772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Isosceles Triangle 12">
            <a:extLst>
              <a:ext uri="{FF2B5EF4-FFF2-40B4-BE49-F238E27FC236}">
                <a16:creationId xmlns:a16="http://schemas.microsoft.com/office/drawing/2014/main" id="{7CFE3FDA-8F73-6CA5-F379-D2B84F2ECB70}"/>
              </a:ext>
            </a:extLst>
          </p:cNvPr>
          <p:cNvSpPr/>
          <p:nvPr/>
        </p:nvSpPr>
        <p:spPr>
          <a:xfrm rot="11263506">
            <a:off x="5397970" y="4430307"/>
            <a:ext cx="1093304" cy="48701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8488FD4-0FE0-825A-8DE4-148DBC4F0E6A}"/>
              </a:ext>
            </a:extLst>
          </p:cNvPr>
          <p:cNvSpPr txBox="1"/>
          <p:nvPr/>
        </p:nvSpPr>
        <p:spPr>
          <a:xfrm>
            <a:off x="7078318" y="143210"/>
            <a:ext cx="495962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a:t>File name: counterSlice.js</a:t>
            </a:r>
            <a:endParaRPr lang="en-IN" sz="2800" dirty="0"/>
          </a:p>
        </p:txBody>
      </p:sp>
      <p:sp>
        <p:nvSpPr>
          <p:cNvPr id="16" name="TextBox 15">
            <a:extLst>
              <a:ext uri="{FF2B5EF4-FFF2-40B4-BE49-F238E27FC236}">
                <a16:creationId xmlns:a16="http://schemas.microsoft.com/office/drawing/2014/main" id="{91BF3451-D664-0CC0-64B9-2BC9225513B7}"/>
              </a:ext>
            </a:extLst>
          </p:cNvPr>
          <p:cNvSpPr txBox="1"/>
          <p:nvPr/>
        </p:nvSpPr>
        <p:spPr>
          <a:xfrm>
            <a:off x="4939747" y="6229989"/>
            <a:ext cx="2663687"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0" i="0" dirty="0">
                <a:solidFill>
                  <a:srgbClr val="616161"/>
                </a:solidFill>
                <a:effectLst/>
                <a:latin typeface="Segoe WPC"/>
              </a:rPr>
              <a:t>The slice's reducer.</a:t>
            </a:r>
            <a:endParaRPr lang="en-IN" dirty="0"/>
          </a:p>
        </p:txBody>
      </p:sp>
      <p:cxnSp>
        <p:nvCxnSpPr>
          <p:cNvPr id="18" name="Straight Arrow Connector 17">
            <a:extLst>
              <a:ext uri="{FF2B5EF4-FFF2-40B4-BE49-F238E27FC236}">
                <a16:creationId xmlns:a16="http://schemas.microsoft.com/office/drawing/2014/main" id="{66DDE9A2-8674-6028-9DEA-7030D4D3E69D}"/>
              </a:ext>
            </a:extLst>
          </p:cNvPr>
          <p:cNvCxnSpPr/>
          <p:nvPr/>
        </p:nvCxnSpPr>
        <p:spPr>
          <a:xfrm>
            <a:off x="4313583" y="5928765"/>
            <a:ext cx="824947" cy="204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993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064043-3F50-7836-9D4D-D31058B290E9}"/>
              </a:ext>
            </a:extLst>
          </p:cNvPr>
          <p:cNvSpPr txBox="1"/>
          <p:nvPr/>
        </p:nvSpPr>
        <p:spPr>
          <a:xfrm>
            <a:off x="236053" y="0"/>
            <a:ext cx="11750537" cy="7571303"/>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useSelector</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useDispatch</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'react-redux'</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a:solidFill>
                  <a:srgbClr val="000000"/>
                </a:solidFill>
                <a:effectLst/>
                <a:highlight>
                  <a:srgbClr val="C0C0C0"/>
                </a:highlight>
                <a:latin typeface="Consolas" panose="020B0609020204030204" pitchFamily="49" charset="0"/>
              </a:rPr>
              <a:t>decrement</a:t>
            </a:r>
            <a:r>
              <a:rPr lang="en-IN" b="0" dirty="0">
                <a:solidFill>
                  <a:srgbClr val="000000"/>
                </a:solidFill>
                <a:effectLst/>
                <a:latin typeface="Consolas" panose="020B0609020204030204" pitchFamily="49" charset="0"/>
              </a:rPr>
              <a:t>,  </a:t>
            </a:r>
            <a:r>
              <a:rPr lang="en-IN" b="0" dirty="0">
                <a:solidFill>
                  <a:srgbClr val="000000"/>
                </a:solidFill>
                <a:effectLst/>
                <a:highlight>
                  <a:srgbClr val="00FFFF"/>
                </a:highlight>
                <a:latin typeface="Consolas" panose="020B0609020204030204" pitchFamily="49" charset="0"/>
              </a:rPr>
              <a:t>increment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FF00FF"/>
                </a:highlight>
                <a:latin typeface="Consolas" panose="020B0609020204030204" pitchFamily="49" charset="0"/>
              </a:rPr>
              <a:t>incrementByAmount</a:t>
            </a:r>
            <a:r>
              <a:rPr lang="en-IN" b="0" dirty="0">
                <a:solidFill>
                  <a:srgbClr val="000000"/>
                </a:solidFill>
                <a:effectLst/>
                <a:latin typeface="Consolas" panose="020B0609020204030204" pitchFamily="49" charset="0"/>
              </a:rPr>
              <a:t>,  </a:t>
            </a:r>
            <a:r>
              <a:rPr lang="en-IN" b="0" dirty="0" err="1">
                <a:solidFill>
                  <a:srgbClr val="000000"/>
                </a:solidFill>
                <a:effectLst/>
                <a:highlight>
                  <a:srgbClr val="FF0000"/>
                </a:highlight>
                <a:latin typeface="Consolas" panose="020B0609020204030204" pitchFamily="49" charset="0"/>
              </a:rPr>
              <a:t>selectCount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counterSlice</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Counter()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useSelector</a:t>
            </a:r>
            <a:r>
              <a:rPr lang="en-IN" b="0" dirty="0">
                <a:solidFill>
                  <a:srgbClr val="000000"/>
                </a:solidFill>
                <a:effectLst/>
                <a:latin typeface="Consolas" panose="020B0609020204030204" pitchFamily="49" charset="0"/>
              </a:rPr>
              <a:t>(</a:t>
            </a:r>
            <a:r>
              <a:rPr lang="en-IN" b="0" dirty="0" err="1">
                <a:solidFill>
                  <a:srgbClr val="000000"/>
                </a:solidFill>
                <a:effectLst/>
                <a:highlight>
                  <a:srgbClr val="FF0000"/>
                </a:highlight>
                <a:latin typeface="Consolas" panose="020B0609020204030204" pitchFamily="49" charset="0"/>
              </a:rPr>
              <a:t>selectCount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dispatch</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useDispatch</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incrementAmount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setIncrementAmount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dispatch</a:t>
            </a:r>
            <a:r>
              <a:rPr lang="en-IN" b="0" dirty="0">
                <a:solidFill>
                  <a:srgbClr val="000000"/>
                </a:solidFill>
                <a:effectLst/>
                <a:latin typeface="Consolas" panose="020B0609020204030204" pitchFamily="49" charset="0"/>
              </a:rPr>
              <a:t>(</a:t>
            </a:r>
            <a:r>
              <a:rPr lang="en-IN" b="0" dirty="0">
                <a:solidFill>
                  <a:srgbClr val="000000"/>
                </a:solidFill>
                <a:effectLst/>
                <a:highlight>
                  <a:srgbClr val="00FFFF"/>
                </a:highlight>
                <a:latin typeface="Consolas" panose="020B0609020204030204" pitchFamily="49" charset="0"/>
              </a:rPr>
              <a:t>increment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&lt;span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highlight>
                  <a:srgbClr val="FFFF00"/>
                </a:highligh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&lt;/span&gt;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dispatch</a:t>
            </a:r>
            <a:r>
              <a:rPr lang="en-IN" b="0" dirty="0">
                <a:solidFill>
                  <a:srgbClr val="000000"/>
                </a:solidFill>
                <a:effectLst/>
                <a:latin typeface="Consolas" panose="020B0609020204030204" pitchFamily="49" charset="0"/>
              </a:rPr>
              <a:t>(</a:t>
            </a:r>
            <a:r>
              <a:rPr lang="en-IN" b="0" dirty="0">
                <a:solidFill>
                  <a:srgbClr val="000000"/>
                </a:solidFill>
                <a:effectLst/>
                <a:highlight>
                  <a:srgbClr val="C0C0C0"/>
                </a:highlight>
                <a:latin typeface="Consolas" panose="020B0609020204030204" pitchFamily="49" charset="0"/>
              </a:rPr>
              <a:t>decrement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&lt;input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incrementAmount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setIncrementAmount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e.target.value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dispatch(</a:t>
            </a:r>
            <a:r>
              <a:rPr lang="en-IN" b="0" dirty="0" err="1">
                <a:solidFill>
                  <a:srgbClr val="000000"/>
                </a:solidFill>
                <a:effectLst/>
                <a:highlight>
                  <a:srgbClr val="FF00FF"/>
                </a:highlight>
                <a:latin typeface="Consolas" panose="020B0609020204030204" pitchFamily="49" charset="0"/>
              </a:rPr>
              <a:t>incrementByAmount</a:t>
            </a:r>
            <a:r>
              <a:rPr lang="en-IN" b="0" dirty="0">
                <a:solidFill>
                  <a:srgbClr val="000000"/>
                </a:solidFill>
                <a:effectLst/>
                <a:latin typeface="Consolas" panose="020B0609020204030204" pitchFamily="49" charset="0"/>
              </a:rPr>
              <a:t>(Number(</a:t>
            </a:r>
            <a:r>
              <a:rPr lang="en-IN" b="0" dirty="0" err="1">
                <a:solidFill>
                  <a:srgbClr val="000000"/>
                </a:solidFill>
                <a:effectLst/>
                <a:latin typeface="Consolas" panose="020B0609020204030204" pitchFamily="49" charset="0"/>
              </a:rPr>
              <a:t>incrementAmount</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Add Amount       </a:t>
            </a:r>
            <a:r>
              <a:rPr lang="en-IN" b="0" dirty="0">
                <a:solidFill>
                  <a:srgbClr val="800000"/>
                </a:solidFill>
                <a:effectLst/>
                <a:latin typeface="Consolas" panose="020B0609020204030204" pitchFamily="49" charset="0"/>
              </a:rPr>
              <a:t>&lt;/button&gt;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47226D9A-9C7E-7019-94DD-CEFA9B34C386}"/>
              </a:ext>
            </a:extLst>
          </p:cNvPr>
          <p:cNvSpPr txBox="1"/>
          <p:nvPr/>
        </p:nvSpPr>
        <p:spPr>
          <a:xfrm>
            <a:off x="8575811" y="0"/>
            <a:ext cx="3616189"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800" dirty="0"/>
              <a:t>File name: Counter.js</a:t>
            </a:r>
            <a:endParaRPr lang="en-IN" sz="2800" dirty="0"/>
          </a:p>
        </p:txBody>
      </p:sp>
    </p:spTree>
    <p:extLst>
      <p:ext uri="{BB962C8B-B14F-4D97-AF65-F5344CB8AC3E}">
        <p14:creationId xmlns:p14="http://schemas.microsoft.com/office/powerpoint/2010/main" val="3191064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2B864-CC73-0624-8007-147E940536DD}"/>
              </a:ext>
            </a:extLst>
          </p:cNvPr>
          <p:cNvSpPr txBox="1"/>
          <p:nvPr/>
        </p:nvSpPr>
        <p:spPr>
          <a:xfrm>
            <a:off x="504410" y="478449"/>
            <a:ext cx="11432486" cy="3785652"/>
          </a:xfrm>
          <a:prstGeom prst="rect">
            <a:avLst/>
          </a:prstGeom>
          <a:noFill/>
        </p:spPr>
        <p:txBody>
          <a:bodyPr wrap="square">
            <a:spAutoFit/>
          </a:bodyPr>
          <a:lstStyle/>
          <a:p>
            <a:r>
              <a:rPr lang="en-IN" sz="2400" b="0" dirty="0">
                <a:solidFill>
                  <a:srgbClr val="0000FF"/>
                </a:solidFill>
                <a:effectLst/>
                <a:latin typeface="Consolas" panose="020B0609020204030204" pitchFamily="49" charset="0"/>
              </a:rPr>
              <a:t>import</a:t>
            </a:r>
            <a:r>
              <a:rPr lang="en-IN" sz="2400" b="0" dirty="0">
                <a:solidFill>
                  <a:srgbClr val="000000"/>
                </a:solidFill>
                <a:effectLst/>
                <a:latin typeface="Consolas" panose="020B0609020204030204" pitchFamily="49" charset="0"/>
              </a:rPr>
              <a:t> { </a:t>
            </a:r>
            <a:r>
              <a:rPr lang="en-IN" sz="2400" b="0" dirty="0" err="1">
                <a:solidFill>
                  <a:srgbClr val="000000"/>
                </a:solidFill>
                <a:effectLst/>
                <a:latin typeface="Consolas" panose="020B0609020204030204" pitchFamily="49" charset="0"/>
              </a:rPr>
              <a:t>configureStore</a:t>
            </a:r>
            <a:r>
              <a:rPr lang="en-IN" sz="2400" b="0" dirty="0">
                <a:solidFill>
                  <a:srgbClr val="000000"/>
                </a:solidFill>
                <a:effectLst/>
                <a:latin typeface="Consolas" panose="020B0609020204030204" pitchFamily="49" charset="0"/>
              </a:rPr>
              <a:t> } </a:t>
            </a:r>
            <a:r>
              <a:rPr lang="en-IN" sz="2400" b="0" dirty="0">
                <a:solidFill>
                  <a:srgbClr val="0000FF"/>
                </a:solidFill>
                <a:effectLst/>
                <a:latin typeface="Consolas" panose="020B0609020204030204" pitchFamily="49" charset="0"/>
              </a:rPr>
              <a:t>from</a:t>
            </a:r>
            <a:r>
              <a:rPr lang="en-IN" sz="2400" b="0" dirty="0">
                <a:solidFill>
                  <a:srgbClr val="000000"/>
                </a:solidFill>
                <a:effectLst/>
                <a:latin typeface="Consolas" panose="020B0609020204030204" pitchFamily="49" charset="0"/>
              </a:rPr>
              <a:t> </a:t>
            </a:r>
            <a:r>
              <a:rPr lang="en-IN" sz="2400" b="0" dirty="0">
                <a:solidFill>
                  <a:srgbClr val="A31515"/>
                </a:solidFill>
                <a:effectLst/>
                <a:latin typeface="Consolas" panose="020B0609020204030204" pitchFamily="49" charset="0"/>
              </a:rPr>
              <a:t>'@</a:t>
            </a:r>
            <a:r>
              <a:rPr lang="en-IN" sz="2400" b="0" dirty="0" err="1">
                <a:solidFill>
                  <a:srgbClr val="A31515"/>
                </a:solidFill>
                <a:effectLst/>
                <a:latin typeface="Consolas" panose="020B0609020204030204" pitchFamily="49" charset="0"/>
              </a:rPr>
              <a:t>reduxjs</a:t>
            </a:r>
            <a:r>
              <a:rPr lang="en-IN" sz="2400" b="0" dirty="0">
                <a:solidFill>
                  <a:srgbClr val="A31515"/>
                </a:solidFill>
                <a:effectLst/>
                <a:latin typeface="Consolas" panose="020B0609020204030204" pitchFamily="49" charset="0"/>
              </a:rPr>
              <a:t>/toolkit'</a:t>
            </a:r>
            <a:r>
              <a:rPr lang="en-IN" sz="2400" b="0" dirty="0">
                <a:solidFill>
                  <a:srgbClr val="000000"/>
                </a:solidFill>
                <a:effectLst/>
                <a:latin typeface="Consolas" panose="020B0609020204030204" pitchFamily="49" charset="0"/>
              </a:rPr>
              <a:t>;</a:t>
            </a:r>
          </a:p>
          <a:p>
            <a:r>
              <a:rPr lang="en-IN" sz="2400" b="0" dirty="0">
                <a:solidFill>
                  <a:srgbClr val="0000FF"/>
                </a:solidFill>
                <a:effectLst/>
                <a:latin typeface="Consolas" panose="020B0609020204030204" pitchFamily="49" charset="0"/>
              </a:rPr>
              <a:t>import</a:t>
            </a:r>
            <a:r>
              <a:rPr lang="en-IN" sz="2400" b="0" dirty="0">
                <a:solidFill>
                  <a:srgbClr val="000000"/>
                </a:solidFill>
                <a:effectLst/>
                <a:latin typeface="Consolas" panose="020B0609020204030204" pitchFamily="49" charset="0"/>
              </a:rPr>
              <a:t> </a:t>
            </a:r>
            <a:r>
              <a:rPr lang="en-IN" sz="2400" b="0" dirty="0" err="1">
                <a:solidFill>
                  <a:srgbClr val="000000"/>
                </a:solidFill>
                <a:effectLst/>
                <a:highlight>
                  <a:srgbClr val="FFFF00"/>
                </a:highlight>
                <a:latin typeface="Consolas" panose="020B0609020204030204" pitchFamily="49" charset="0"/>
              </a:rPr>
              <a:t>counterReducer</a:t>
            </a:r>
            <a:r>
              <a:rPr lang="en-IN" sz="2400" b="0" dirty="0">
                <a:solidFill>
                  <a:srgbClr val="000000"/>
                </a:solidFill>
                <a:effectLst/>
                <a:latin typeface="Consolas" panose="020B0609020204030204" pitchFamily="49" charset="0"/>
              </a:rPr>
              <a:t> </a:t>
            </a:r>
            <a:r>
              <a:rPr lang="en-IN" sz="2400" b="0" dirty="0">
                <a:solidFill>
                  <a:srgbClr val="0000FF"/>
                </a:solidFill>
                <a:effectLst/>
                <a:latin typeface="Consolas" panose="020B0609020204030204" pitchFamily="49" charset="0"/>
              </a:rPr>
              <a:t>from</a:t>
            </a:r>
            <a:r>
              <a:rPr lang="en-IN" sz="2400" b="0" dirty="0">
                <a:solidFill>
                  <a:srgbClr val="000000"/>
                </a:solidFill>
                <a:effectLst/>
                <a:latin typeface="Consolas" panose="020B0609020204030204" pitchFamily="49" charset="0"/>
              </a:rPr>
              <a:t> </a:t>
            </a:r>
            <a:r>
              <a:rPr lang="en-IN" sz="2400" b="0" dirty="0">
                <a:solidFill>
                  <a:srgbClr val="A31515"/>
                </a:solidFill>
                <a:effectLst/>
                <a:latin typeface="Consolas" panose="020B0609020204030204" pitchFamily="49" charset="0"/>
              </a:rPr>
              <a:t>'./features/counter/</a:t>
            </a:r>
            <a:r>
              <a:rPr lang="en-IN" sz="2400" b="0" dirty="0" err="1">
                <a:solidFill>
                  <a:srgbClr val="A31515"/>
                </a:solidFill>
                <a:effectLst/>
                <a:latin typeface="Consolas" panose="020B0609020204030204" pitchFamily="49" charset="0"/>
              </a:rPr>
              <a:t>counterSlice</a:t>
            </a:r>
            <a:r>
              <a:rPr lang="en-IN" sz="2400" b="0" dirty="0">
                <a:solidFill>
                  <a:srgbClr val="A31515"/>
                </a:solidFill>
                <a:effectLst/>
                <a:latin typeface="Consolas" panose="020B0609020204030204" pitchFamily="49" charset="0"/>
              </a:rPr>
              <a:t>'</a:t>
            </a:r>
            <a:r>
              <a:rPr lang="en-IN" sz="2400" b="0" dirty="0">
                <a:solidFill>
                  <a:srgbClr val="000000"/>
                </a:solidFill>
                <a:effectLst/>
                <a:latin typeface="Consolas" panose="020B0609020204030204" pitchFamily="49" charset="0"/>
              </a:rPr>
              <a:t>;</a:t>
            </a:r>
          </a:p>
          <a:p>
            <a:br>
              <a:rPr lang="en-IN" sz="2400" b="0" dirty="0">
                <a:solidFill>
                  <a:srgbClr val="000000"/>
                </a:solidFill>
                <a:effectLst/>
                <a:latin typeface="Consolas" panose="020B0609020204030204" pitchFamily="49" charset="0"/>
              </a:rPr>
            </a:br>
            <a:r>
              <a:rPr lang="en-IN" sz="2400" b="0" dirty="0">
                <a:solidFill>
                  <a:srgbClr val="0000FF"/>
                </a:solidFill>
                <a:effectLst/>
                <a:latin typeface="Consolas" panose="020B0609020204030204" pitchFamily="49" charset="0"/>
              </a:rPr>
              <a:t>export</a:t>
            </a:r>
            <a:r>
              <a:rPr lang="en-IN" sz="2400" b="0" dirty="0">
                <a:solidFill>
                  <a:srgbClr val="000000"/>
                </a:solidFill>
                <a:effectLst/>
                <a:latin typeface="Consolas" panose="020B0609020204030204" pitchFamily="49" charset="0"/>
              </a:rPr>
              <a:t> </a:t>
            </a:r>
            <a:r>
              <a:rPr lang="en-IN" sz="2400" b="0" dirty="0">
                <a:solidFill>
                  <a:srgbClr val="0000FF"/>
                </a:solidFill>
                <a:effectLst/>
                <a:latin typeface="Consolas" panose="020B0609020204030204" pitchFamily="49" charset="0"/>
              </a:rPr>
              <a:t>default</a:t>
            </a:r>
            <a:r>
              <a:rPr lang="en-IN" sz="2400" b="0" dirty="0">
                <a:solidFill>
                  <a:srgbClr val="000000"/>
                </a:solidFill>
                <a:effectLst/>
                <a:latin typeface="Consolas" panose="020B0609020204030204" pitchFamily="49" charset="0"/>
              </a:rPr>
              <a:t> </a:t>
            </a:r>
            <a:r>
              <a:rPr lang="en-IN" sz="2400" b="0" dirty="0" err="1">
                <a:solidFill>
                  <a:srgbClr val="000000"/>
                </a:solidFill>
                <a:effectLst/>
                <a:latin typeface="Consolas" panose="020B0609020204030204" pitchFamily="49" charset="0"/>
              </a:rPr>
              <a:t>configureStore</a:t>
            </a:r>
            <a:r>
              <a:rPr lang="en-IN" sz="2400" b="0" dirty="0">
                <a:solidFill>
                  <a:srgbClr val="000000"/>
                </a:solidFill>
                <a:effectLst/>
                <a:latin typeface="Consolas" panose="020B0609020204030204" pitchFamily="49" charset="0"/>
              </a:rPr>
              <a:t>({</a:t>
            </a:r>
          </a:p>
          <a:p>
            <a:r>
              <a:rPr lang="en-IN" sz="2400" b="0" dirty="0">
                <a:solidFill>
                  <a:srgbClr val="000000"/>
                </a:solidFill>
                <a:effectLst/>
                <a:latin typeface="Consolas" panose="020B0609020204030204" pitchFamily="49" charset="0"/>
              </a:rPr>
              <a:t>  reducer: {</a:t>
            </a:r>
          </a:p>
          <a:p>
            <a:r>
              <a:rPr lang="en-IN" sz="2400" b="0" dirty="0">
                <a:solidFill>
                  <a:srgbClr val="000000"/>
                </a:solidFill>
                <a:effectLst/>
                <a:latin typeface="Consolas" panose="020B0609020204030204" pitchFamily="49" charset="0"/>
              </a:rPr>
              <a:t>    counter: </a:t>
            </a:r>
            <a:r>
              <a:rPr lang="en-IN" sz="2400" b="0" dirty="0" err="1">
                <a:solidFill>
                  <a:srgbClr val="000000"/>
                </a:solidFill>
                <a:effectLst/>
                <a:highlight>
                  <a:srgbClr val="FFFF00"/>
                </a:highlight>
                <a:latin typeface="Consolas" panose="020B0609020204030204" pitchFamily="49" charset="0"/>
              </a:rPr>
              <a:t>counterReducer</a:t>
            </a:r>
            <a:r>
              <a:rPr lang="en-IN" sz="2400" b="0" dirty="0">
                <a:solidFill>
                  <a:srgbClr val="000000"/>
                </a:solidFill>
                <a:effectLst/>
                <a:latin typeface="Consolas" panose="020B0609020204030204" pitchFamily="49" charset="0"/>
              </a:rPr>
              <a:t>,</a:t>
            </a:r>
          </a:p>
          <a:p>
            <a:r>
              <a:rPr lang="en-IN" sz="2400" b="0" dirty="0">
                <a:solidFill>
                  <a:srgbClr val="000000"/>
                </a:solidFill>
                <a:effectLst/>
                <a:latin typeface="Consolas" panose="020B0609020204030204" pitchFamily="49" charset="0"/>
              </a:rPr>
              <a:t>  },</a:t>
            </a:r>
          </a:p>
          <a:p>
            <a:r>
              <a:rPr lang="en-IN" sz="2400" b="0" dirty="0">
                <a:solidFill>
                  <a:srgbClr val="000000"/>
                </a:solidFill>
                <a:effectLst/>
                <a:latin typeface="Consolas" panose="020B0609020204030204" pitchFamily="49" charset="0"/>
              </a:rPr>
              <a:t>});</a:t>
            </a:r>
          </a:p>
          <a:p>
            <a:br>
              <a:rPr lang="en-IN" sz="2400" b="0" dirty="0">
                <a:solidFill>
                  <a:srgbClr val="000000"/>
                </a:solidFill>
                <a:effectLst/>
                <a:latin typeface="Consolas" panose="020B0609020204030204" pitchFamily="49" charset="0"/>
              </a:rPr>
            </a:br>
            <a:endParaRPr lang="en-IN" sz="2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7265AEE-CEEA-FC50-42A2-B09ECB23082A}"/>
              </a:ext>
            </a:extLst>
          </p:cNvPr>
          <p:cNvSpPr txBox="1"/>
          <p:nvPr/>
        </p:nvSpPr>
        <p:spPr>
          <a:xfrm>
            <a:off x="6096000" y="1410280"/>
            <a:ext cx="6097656"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A single reducer function that will be used as the </a:t>
            </a:r>
            <a:r>
              <a:rPr lang="en-US" sz="2400" b="1" dirty="0"/>
              <a:t>root reducer</a:t>
            </a:r>
            <a:r>
              <a:rPr lang="en-US" sz="2400" dirty="0"/>
              <a:t>, or an object of slice reducers that will be passed to </a:t>
            </a:r>
            <a:r>
              <a:rPr lang="en-US" sz="2400" dirty="0" err="1"/>
              <a:t>combineReducers</a:t>
            </a:r>
            <a:r>
              <a:rPr lang="en-US" sz="2400" dirty="0"/>
              <a:t>().</a:t>
            </a:r>
            <a:endParaRPr lang="en-IN" sz="2400" dirty="0"/>
          </a:p>
        </p:txBody>
      </p:sp>
      <p:sp>
        <p:nvSpPr>
          <p:cNvPr id="8" name="TextBox 7">
            <a:extLst>
              <a:ext uri="{FF2B5EF4-FFF2-40B4-BE49-F238E27FC236}">
                <a16:creationId xmlns:a16="http://schemas.microsoft.com/office/drawing/2014/main" id="{CDC01AF7-1B10-F7A3-4D0E-65D478187250}"/>
              </a:ext>
            </a:extLst>
          </p:cNvPr>
          <p:cNvSpPr txBox="1"/>
          <p:nvPr/>
        </p:nvSpPr>
        <p:spPr>
          <a:xfrm>
            <a:off x="9330357" y="0"/>
            <a:ext cx="2474843"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File Name:  store.js</a:t>
            </a:r>
            <a:endParaRPr lang="en-IN" dirty="0"/>
          </a:p>
        </p:txBody>
      </p:sp>
      <p:sp>
        <p:nvSpPr>
          <p:cNvPr id="10" name="TextBox 9">
            <a:extLst>
              <a:ext uri="{FF2B5EF4-FFF2-40B4-BE49-F238E27FC236}">
                <a16:creationId xmlns:a16="http://schemas.microsoft.com/office/drawing/2014/main" id="{5B3261B9-7B26-135E-63CC-206BD124D809}"/>
              </a:ext>
            </a:extLst>
          </p:cNvPr>
          <p:cNvSpPr txBox="1"/>
          <p:nvPr/>
        </p:nvSpPr>
        <p:spPr>
          <a:xfrm>
            <a:off x="-1" y="3864668"/>
            <a:ext cx="7543801" cy="3416320"/>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logo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logo.svg</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{Counter}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'./features/counter/Counter'</a:t>
            </a:r>
            <a:endParaRPr lang="en-IN" b="0" dirty="0">
              <a:solidFill>
                <a:srgbClr val="000000"/>
              </a:solidFill>
              <a:effectLst/>
              <a:latin typeface="Consolas" panose="020B0609020204030204" pitchFamily="49" charset="0"/>
            </a:endParaRPr>
          </a:p>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App()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&lt;Counter/&gt;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App;</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cxnSp>
        <p:nvCxnSpPr>
          <p:cNvPr id="12" name="Straight Arrow Connector 11">
            <a:extLst>
              <a:ext uri="{FF2B5EF4-FFF2-40B4-BE49-F238E27FC236}">
                <a16:creationId xmlns:a16="http://schemas.microsoft.com/office/drawing/2014/main" id="{F7D4DB06-02A3-6F1E-EB93-9978443D6B9B}"/>
              </a:ext>
            </a:extLst>
          </p:cNvPr>
          <p:cNvCxnSpPr/>
          <p:nvPr/>
        </p:nvCxnSpPr>
        <p:spPr>
          <a:xfrm flipV="1">
            <a:off x="1997765" y="5237922"/>
            <a:ext cx="4313583" cy="188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6DD45A3-D627-98CA-61B3-9ED723EC7C54}"/>
              </a:ext>
            </a:extLst>
          </p:cNvPr>
          <p:cNvSpPr txBox="1"/>
          <p:nvPr/>
        </p:nvSpPr>
        <p:spPr>
          <a:xfrm>
            <a:off x="4919869" y="5011266"/>
            <a:ext cx="3269974" cy="1200329"/>
          </a:xfrm>
          <a:prstGeom prst="rect">
            <a:avLst/>
          </a:prstGeom>
          <a:noFill/>
        </p:spPr>
        <p:txBody>
          <a:bodyPr wrap="square" rtlCol="0">
            <a:spAutoFit/>
          </a:bodyPr>
          <a:lstStyle/>
          <a:p>
            <a:r>
              <a:rPr lang="en-US" dirty="0"/>
              <a:t>Calling counter component which is in</a:t>
            </a:r>
          </a:p>
          <a:p>
            <a:endParaRPr lang="en-US" dirty="0"/>
          </a:p>
          <a:p>
            <a:endParaRPr lang="en-IN" dirty="0"/>
          </a:p>
        </p:txBody>
      </p:sp>
      <p:sp>
        <p:nvSpPr>
          <p:cNvPr id="15" name="TextBox 14">
            <a:extLst>
              <a:ext uri="{FF2B5EF4-FFF2-40B4-BE49-F238E27FC236}">
                <a16:creationId xmlns:a16="http://schemas.microsoft.com/office/drawing/2014/main" id="{B2443031-65A5-9A6E-936C-21DF761AAA72}"/>
              </a:ext>
            </a:extLst>
          </p:cNvPr>
          <p:cNvSpPr txBox="1"/>
          <p:nvPr/>
        </p:nvSpPr>
        <p:spPr>
          <a:xfrm>
            <a:off x="5292587" y="5728903"/>
            <a:ext cx="2768048"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dirty="0" err="1"/>
              <a:t>src</a:t>
            </a:r>
            <a:r>
              <a:rPr lang="en-US" dirty="0"/>
              <a:t>\feature\counter </a:t>
            </a:r>
            <a:endParaRPr lang="en-IN" dirty="0"/>
          </a:p>
        </p:txBody>
      </p:sp>
      <p:cxnSp>
        <p:nvCxnSpPr>
          <p:cNvPr id="3" name="Straight Arrow Connector 2">
            <a:extLst>
              <a:ext uri="{FF2B5EF4-FFF2-40B4-BE49-F238E27FC236}">
                <a16:creationId xmlns:a16="http://schemas.microsoft.com/office/drawing/2014/main" id="{281AD304-873A-5324-1304-417C375EA8EC}"/>
              </a:ext>
            </a:extLst>
          </p:cNvPr>
          <p:cNvCxnSpPr/>
          <p:nvPr/>
        </p:nvCxnSpPr>
        <p:spPr>
          <a:xfrm>
            <a:off x="3518452" y="1277611"/>
            <a:ext cx="2435087" cy="293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0498D6B4-3C97-364A-185C-53750993837E}"/>
              </a:ext>
            </a:extLst>
          </p:cNvPr>
          <p:cNvSpPr>
            <a:spLocks noChangeArrowheads="1"/>
          </p:cNvSpPr>
          <p:nvPr/>
        </p:nvSpPr>
        <p:spPr bwMode="auto">
          <a:xfrm>
            <a:off x="7543800" y="2530687"/>
            <a:ext cx="4562061" cy="2585323"/>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onsolas" panose="020B0609020204030204" pitchFamily="49" charset="0"/>
              </a:rPr>
              <a:t>(alias) </a:t>
            </a:r>
            <a:r>
              <a:rPr kumimoji="0" lang="en-US" altLang="en-US" sz="1000" b="0" i="0" u="none" strike="noStrike" cap="none" normalizeH="0" baseline="0" dirty="0" err="1">
                <a:ln>
                  <a:noFill/>
                </a:ln>
                <a:solidFill>
                  <a:srgbClr val="000000"/>
                </a:solidFill>
                <a:effectLst/>
                <a:latin typeface="Consolas" panose="020B0609020204030204" pitchFamily="49" charset="0"/>
              </a:rPr>
              <a:t>configureStore</a:t>
            </a:r>
            <a:r>
              <a:rPr kumimoji="0" lang="en-US" altLang="en-US" sz="1000" b="0" i="0" u="none" strike="noStrike" cap="none" normalizeH="0" baseline="0" dirty="0">
                <a:ln>
                  <a:noFill/>
                </a:ln>
                <a:solidFill>
                  <a:srgbClr val="000000"/>
                </a:solidFill>
                <a:effectLst/>
                <a:latin typeface="Consolas" panose="020B0609020204030204" pitchFamily="49" charset="0"/>
              </a:rPr>
              <a:t>&lt;{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counter: {</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value: number;</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000000"/>
                </a:solidFill>
                <a:effectLst/>
                <a:latin typeface="Consolas" panose="020B0609020204030204" pitchFamily="49" charset="0"/>
              </a:rPr>
              <a:t>UnknownAction</a:t>
            </a:r>
            <a:r>
              <a:rPr kumimoji="0" lang="en-US" altLang="en-US" sz="1000" b="0" i="0" u="none" strike="noStrike" cap="none" normalizeH="0" baseline="0" dirty="0">
                <a:ln>
                  <a:noFill/>
                </a:ln>
                <a:solidFill>
                  <a:srgbClr val="000000"/>
                </a:solidFill>
                <a:effectLst/>
                <a:latin typeface="Consolas" panose="020B0609020204030204" pitchFamily="49" charset="0"/>
              </a:rPr>
              <a:t>, Tuple&lt;[</a:t>
            </a:r>
            <a:r>
              <a:rPr kumimoji="0" lang="en-US" altLang="en-US" sz="1000" b="0" i="0" u="none" strike="noStrike" cap="none" normalizeH="0" baseline="0" dirty="0" err="1">
                <a:ln>
                  <a:noFill/>
                </a:ln>
                <a:solidFill>
                  <a:srgbClr val="000000"/>
                </a:solidFill>
                <a:effectLst/>
                <a:latin typeface="Consolas" panose="020B0609020204030204" pitchFamily="49" charset="0"/>
              </a:rPr>
              <a:t>ThunkMiddleware</a:t>
            </a:r>
            <a:r>
              <a:rPr kumimoji="0" lang="en-US" altLang="en-US" sz="1000" b="0" i="0" u="none" strike="noStrike" cap="none" normalizeH="0" baseline="0" dirty="0">
                <a:ln>
                  <a:noFill/>
                </a:ln>
                <a:solidFill>
                  <a:srgbClr val="000000"/>
                </a:solidFill>
                <a:effectLst/>
                <a:latin typeface="Consolas" panose="020B0609020204030204" pitchFamily="49" charset="0"/>
              </a:rPr>
              <a:t>&lt;{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counter: {</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value: number;</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000000"/>
                </a:solidFill>
                <a:effectLst/>
                <a:latin typeface="Consolas" panose="020B0609020204030204" pitchFamily="49" charset="0"/>
              </a:rPr>
              <a:t>UnknownAction</a:t>
            </a:r>
            <a:r>
              <a:rPr kumimoji="0" lang="en-US" altLang="en-US" sz="1000" b="0" i="0" u="none" strike="noStrike" cap="none" normalizeH="0" baseline="0" dirty="0">
                <a:ln>
                  <a:noFill/>
                </a:ln>
                <a:solidFill>
                  <a:srgbClr val="000000"/>
                </a:solidFill>
                <a:effectLst/>
                <a:latin typeface="Consolas" panose="020B0609020204030204" pitchFamily="49" charset="0"/>
              </a:rPr>
              <a:t>&gt;]&gt;, Tuple&lt;[...]&gt;, {</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00"/>
                </a:solidFill>
                <a:effectLst/>
                <a:latin typeface="Consolas" panose="020B0609020204030204" pitchFamily="49" charset="0"/>
              </a:rPr>
              <a:t>}&gt;(options: </a:t>
            </a:r>
            <a:r>
              <a:rPr kumimoji="0" lang="en-US" altLang="en-US" sz="1000" b="0" i="0" u="none" strike="noStrike" cap="none" normalizeH="0" baseline="0" dirty="0" err="1">
                <a:ln>
                  <a:noFill/>
                </a:ln>
                <a:solidFill>
                  <a:srgbClr val="000000"/>
                </a:solidFill>
                <a:effectLst/>
                <a:latin typeface="Consolas" panose="020B0609020204030204" pitchFamily="49" charset="0"/>
              </a:rPr>
              <a:t>ConfigureStoreOptions</a:t>
            </a:r>
            <a:r>
              <a:rPr kumimoji="0" lang="en-US" altLang="en-US" sz="1000" b="0" i="0" u="none" strike="noStrike" cap="none" normalizeH="0" baseline="0" dirty="0">
                <a:ln>
                  <a:noFill/>
                </a:ln>
                <a:solidFill>
                  <a:srgbClr val="000000"/>
                </a:solidFill>
                <a:effectLst/>
                <a:latin typeface="Consolas" panose="020B0609020204030204" pitchFamily="49" charset="0"/>
              </a:rPr>
              <a:t>&lt;...&gt;): </a:t>
            </a:r>
            <a:r>
              <a:rPr kumimoji="0" lang="en-US" altLang="en-US" sz="1000" b="0" i="0" u="none" strike="noStrike" cap="none" normalizeH="0" baseline="0" dirty="0" err="1">
                <a:ln>
                  <a:noFill/>
                </a:ln>
                <a:solidFill>
                  <a:srgbClr val="000000"/>
                </a:solidFill>
                <a:effectLst/>
                <a:latin typeface="Consolas" panose="020B0609020204030204" pitchFamily="49" charset="0"/>
              </a:rPr>
              <a:t>EnhancedStore</a:t>
            </a:r>
            <a:r>
              <a:rPr kumimoji="0" lang="en-US" altLang="en-US" sz="1000" b="0" i="0" u="none" strike="noStrike" cap="none" normalizeH="0" baseline="0" dirty="0">
                <a:ln>
                  <a:noFill/>
                </a:ln>
                <a:solidFill>
                  <a:srgbClr val="000000"/>
                </a:solidFill>
                <a:effectLst/>
                <a:latin typeface="Consolas" panose="020B0609020204030204" pitchFamily="49" charset="0"/>
              </a:rPr>
              <a:t>&lt;...&gt;</a:t>
            </a:r>
            <a:br>
              <a:rPr kumimoji="0" lang="en-US" altLang="en-US" sz="1000" b="0" i="0" u="none" strike="noStrike" cap="none" normalizeH="0" baseline="0" dirty="0">
                <a:ln>
                  <a:noFill/>
                </a:ln>
                <a:solidFill>
                  <a:srgbClr val="616161"/>
                </a:solidFill>
                <a:effectLst/>
                <a:latin typeface="Consolas" panose="020B0609020204030204" pitchFamily="49" charset="0"/>
              </a:rPr>
            </a:br>
            <a:r>
              <a:rPr kumimoji="0" lang="en-US" altLang="en-US" sz="1000" b="0" i="0" u="none" strike="noStrike" cap="none" normalizeH="0" baseline="0" dirty="0">
                <a:ln>
                  <a:noFill/>
                </a:ln>
                <a:solidFill>
                  <a:srgbClr val="0000FF"/>
                </a:solidFill>
                <a:effectLst/>
                <a:latin typeface="Consolas" panose="020B0609020204030204" pitchFamily="49" charset="0"/>
              </a:rPr>
              <a:t>import</a:t>
            </a:r>
            <a:r>
              <a:rPr kumimoji="0" lang="en-US" altLang="en-US" sz="1000" b="0" i="0" u="none" strike="noStrike" cap="none" normalizeH="0" baseline="0" dirty="0">
                <a:ln>
                  <a:noFill/>
                </a:ln>
                <a:solidFill>
                  <a:srgbClr val="000000"/>
                </a:solidFill>
                <a:effectLst/>
                <a:latin typeface="Consolas" panose="020B0609020204030204" pitchFamily="49" charset="0"/>
              </a:rPr>
              <a:t> </a:t>
            </a:r>
            <a:r>
              <a:rPr kumimoji="0" lang="en-US" altLang="en-US" sz="1000" b="0" i="0" u="none" strike="noStrike" cap="none" normalizeH="0" baseline="0" dirty="0" err="1">
                <a:ln>
                  <a:noFill/>
                </a:ln>
                <a:solidFill>
                  <a:srgbClr val="000000"/>
                </a:solidFill>
                <a:effectLst/>
                <a:latin typeface="Consolas" panose="020B0609020204030204" pitchFamily="49" charset="0"/>
              </a:rPr>
              <a:t>configureStore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616161"/>
                </a:solidFill>
                <a:effectLst/>
                <a:latin typeface="Segoe WPC"/>
              </a:rPr>
              <a:t>A friendly abstraction over the standard Redux </a:t>
            </a:r>
            <a:r>
              <a:rPr kumimoji="0" lang="en-US" altLang="en-US" sz="1000" b="0" i="0" u="none" strike="noStrike" cap="none" normalizeH="0" baseline="0" dirty="0" err="1">
                <a:ln>
                  <a:noFill/>
                </a:ln>
                <a:solidFill>
                  <a:srgbClr val="616161"/>
                </a:solidFill>
                <a:effectLst/>
                <a:latin typeface="var(--monaco-monospace-font)"/>
              </a:rPr>
              <a:t>createStore</a:t>
            </a:r>
            <a:r>
              <a:rPr kumimoji="0" lang="en-US" altLang="en-US" sz="1000" b="0" i="0" u="none" strike="noStrike" cap="none" normalizeH="0" baseline="0" dirty="0">
                <a:ln>
                  <a:noFill/>
                </a:ln>
                <a:solidFill>
                  <a:srgbClr val="616161"/>
                </a:solidFill>
                <a:effectLst/>
                <a:latin typeface="var(--monaco-monospace-font)"/>
              </a:rPr>
              <a:t>()</a:t>
            </a:r>
            <a:r>
              <a:rPr kumimoji="0" lang="en-US" altLang="en-US" sz="1000" b="0" i="0" u="none" strike="noStrike" cap="none" normalizeH="0" baseline="0" dirty="0">
                <a:ln>
                  <a:noFill/>
                </a:ln>
                <a:solidFill>
                  <a:srgbClr val="616161"/>
                </a:solidFill>
                <a:effectLst/>
                <a:latin typeface="Segoe WPC"/>
              </a:rPr>
              <a:t>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616161"/>
                </a:solidFill>
                <a:effectLst/>
                <a:latin typeface="Segoe WPC"/>
              </a:rPr>
              <a:t>@param</a:t>
            </a:r>
            <a:r>
              <a:rPr kumimoji="0" lang="en-US" altLang="en-US" sz="1000" b="0" i="0" u="none" strike="noStrike" cap="none" normalizeH="0" baseline="0" dirty="0">
                <a:ln>
                  <a:noFill/>
                </a:ln>
                <a:solidFill>
                  <a:srgbClr val="616161"/>
                </a:solidFill>
                <a:effectLst/>
                <a:latin typeface="Segoe WPC"/>
              </a:rPr>
              <a:t> </a:t>
            </a:r>
            <a:r>
              <a:rPr kumimoji="0" lang="en-US" altLang="en-US" sz="1000" b="0" i="0" u="none" strike="noStrike" cap="none" normalizeH="0" baseline="0" dirty="0">
                <a:ln>
                  <a:noFill/>
                </a:ln>
                <a:solidFill>
                  <a:srgbClr val="616161"/>
                </a:solidFill>
                <a:effectLst/>
                <a:latin typeface="var(--monaco-monospace-font)"/>
              </a:rPr>
              <a:t>options</a:t>
            </a:r>
            <a:r>
              <a:rPr kumimoji="0" lang="en-US" altLang="en-US" sz="1000" b="0" i="0" u="none" strike="noStrike" cap="none" normalizeH="0" baseline="0" dirty="0">
                <a:ln>
                  <a:noFill/>
                </a:ln>
                <a:solidFill>
                  <a:srgbClr val="616161"/>
                </a:solidFill>
                <a:effectLst/>
                <a:latin typeface="Segoe WPC"/>
              </a:rPr>
              <a:t> — The store configuration.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616161"/>
                </a:solidFill>
                <a:effectLst/>
                <a:latin typeface="Segoe WPC"/>
              </a:rPr>
              <a:t>@returns</a:t>
            </a:r>
            <a:r>
              <a:rPr kumimoji="0" lang="en-US" altLang="en-US" sz="1000" b="0" i="0" u="none" strike="noStrike" cap="none" normalizeH="0" baseline="0" dirty="0">
                <a:ln>
                  <a:noFill/>
                </a:ln>
                <a:solidFill>
                  <a:srgbClr val="616161"/>
                </a:solidFill>
                <a:effectLst/>
                <a:latin typeface="Segoe WPC"/>
              </a:rPr>
              <a:t> — A configured Redux </a:t>
            </a:r>
            <a:r>
              <a:rPr kumimoji="0" lang="en-US" altLang="en-US" sz="1200" b="1" i="0" u="none" strike="noStrike" cap="none" normalizeH="0" baseline="0" dirty="0">
                <a:ln>
                  <a:noFill/>
                </a:ln>
                <a:solidFill>
                  <a:srgbClr val="616161"/>
                </a:solidFill>
                <a:effectLst/>
                <a:latin typeface="Segoe WPC"/>
              </a:rPr>
              <a:t>store.</a:t>
            </a:r>
            <a:endParaRPr kumimoji="0" lang="en-US" altLang="en-US" sz="1000" b="1" i="0" u="none" strike="noStrike" cap="none" normalizeH="0" baseline="0" dirty="0">
              <a:ln>
                <a:noFill/>
              </a:ln>
              <a:solidFill>
                <a:srgbClr val="616161"/>
              </a:solidFill>
              <a:effectLst/>
              <a:latin typeface="Segoe WPC"/>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a:ln>
                  <a:noFill/>
                </a:ln>
                <a:solidFill>
                  <a:srgbClr val="616161"/>
                </a:solidFill>
                <a:effectLst/>
                <a:latin typeface="Segoe WPC"/>
              </a:rPr>
              <a:t>@public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9" name="Straight Arrow Connector 8">
            <a:extLst>
              <a:ext uri="{FF2B5EF4-FFF2-40B4-BE49-F238E27FC236}">
                <a16:creationId xmlns:a16="http://schemas.microsoft.com/office/drawing/2014/main" id="{F9CBC14A-D4BF-E801-B5AA-6B4B28339C2F}"/>
              </a:ext>
            </a:extLst>
          </p:cNvPr>
          <p:cNvCxnSpPr/>
          <p:nvPr/>
        </p:nvCxnSpPr>
        <p:spPr>
          <a:xfrm>
            <a:off x="5009322" y="2010444"/>
            <a:ext cx="2446683" cy="197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0707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00B964-B660-CFC5-DFFC-1781E7884130}"/>
              </a:ext>
            </a:extLst>
          </p:cNvPr>
          <p:cNvSpPr txBox="1"/>
          <p:nvPr/>
        </p:nvSpPr>
        <p:spPr>
          <a:xfrm>
            <a:off x="484532" y="-106876"/>
            <a:ext cx="10826197" cy="674030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React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'./index.css'</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App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0000"/>
                </a:solidFill>
                <a:effectLst/>
                <a:highlight>
                  <a:srgbClr val="00FFFF"/>
                </a:highlight>
                <a:latin typeface="Consolas" panose="020B0609020204030204" pitchFamily="49" charset="0"/>
              </a:rPr>
              <a:t>store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'./store'</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Provider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'react-redux'</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reportWebVitals</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root = </a:t>
            </a:r>
            <a:r>
              <a:rPr lang="en-IN" b="0" dirty="0" err="1">
                <a:solidFill>
                  <a:srgbClr val="000000"/>
                </a:solidFill>
                <a:effectLst/>
                <a:latin typeface="Consolas" panose="020B0609020204030204" pitchFamily="49" charset="0"/>
              </a:rPr>
              <a:t>ReactDOM.createRoot</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document.getElementById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'root'</a:t>
            </a:r>
            <a:r>
              <a:rPr lang="en-IN" b="0" dirty="0">
                <a:solidFill>
                  <a:srgbClr val="000000"/>
                </a:solidFill>
                <a:effectLst/>
                <a:latin typeface="Consolas" panose="020B0609020204030204" pitchFamily="49" charset="0"/>
              </a:rPr>
              <a:t>));</a:t>
            </a:r>
          </a:p>
          <a:p>
            <a:r>
              <a:rPr lang="en-IN" b="0" dirty="0" err="1">
                <a:solidFill>
                  <a:srgbClr val="000000"/>
                </a:solidFill>
                <a:effectLst/>
                <a:latin typeface="Consolas" panose="020B0609020204030204" pitchFamily="49" charset="0"/>
              </a:rPr>
              <a:t>root.render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&lt;Provider</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store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highlight>
                  <a:srgbClr val="00FFFF"/>
                </a:highlight>
                <a:latin typeface="Consolas" panose="020B0609020204030204" pitchFamily="49" charset="0"/>
              </a:rPr>
              <a:t>store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&lt;/Provider&gt;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React.StrictMode</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If you want to start measuring performance in your app, pass a function</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to log results (for example: </a:t>
            </a:r>
            <a:r>
              <a:rPr lang="en-IN" b="0" dirty="0" err="1">
                <a:solidFill>
                  <a:srgbClr val="008000"/>
                </a:solidFill>
                <a:effectLst/>
                <a:latin typeface="Consolas" panose="020B0609020204030204" pitchFamily="49" charset="0"/>
              </a:rPr>
              <a:t>reportWebVitals</a:t>
            </a:r>
            <a:r>
              <a:rPr lang="en-IN" b="0" dirty="0">
                <a:solidFill>
                  <a:srgbClr val="008000"/>
                </a:solidFill>
                <a:effectLst/>
                <a:latin typeface="Consolas" panose="020B0609020204030204" pitchFamily="49" charset="0"/>
              </a:rPr>
              <a:t>(console.log))</a:t>
            </a:r>
            <a:endParaRPr lang="en-IN" b="0" dirty="0">
              <a:solidFill>
                <a:srgbClr val="000000"/>
              </a:solidFill>
              <a:effectLst/>
              <a:latin typeface="Consolas" panose="020B0609020204030204" pitchFamily="49" charset="0"/>
            </a:endParaRPr>
          </a:p>
          <a:p>
            <a:r>
              <a:rPr lang="en-IN" b="0" dirty="0">
                <a:solidFill>
                  <a:srgbClr val="008000"/>
                </a:solidFill>
                <a:effectLst/>
                <a:latin typeface="Consolas" panose="020B0609020204030204" pitchFamily="49" charset="0"/>
              </a:rPr>
              <a:t>// or send to an analytics endpoint. Learn more: https://bit.ly/CRA-vitals</a:t>
            </a:r>
            <a:endParaRPr lang="en-IN" b="0" dirty="0">
              <a:solidFill>
                <a:srgbClr val="000000"/>
              </a:solidFill>
              <a:effectLst/>
              <a:latin typeface="Consolas" panose="020B0609020204030204" pitchFamily="49" charset="0"/>
            </a:endParaRPr>
          </a:p>
          <a:p>
            <a:r>
              <a:rPr lang="en-IN" b="0" dirty="0" err="1">
                <a:solidFill>
                  <a:srgbClr val="000000"/>
                </a:solidFill>
                <a:effectLst/>
                <a:latin typeface="Consolas" panose="020B0609020204030204" pitchFamily="49" charset="0"/>
              </a:rPr>
              <a:t>reportWebVitals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F9AAAF02-F1B6-DFDA-5532-7AB9382660D2}"/>
              </a:ext>
            </a:extLst>
          </p:cNvPr>
          <p:cNvSpPr txBox="1"/>
          <p:nvPr/>
        </p:nvSpPr>
        <p:spPr>
          <a:xfrm>
            <a:off x="6348620" y="2413337"/>
            <a:ext cx="542925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&lt;Provider&gt; component makes the Redux store available to any nested components that need to access the Redux store.</a:t>
            </a:r>
          </a:p>
          <a:p>
            <a:endParaRPr lang="en-US" dirty="0"/>
          </a:p>
          <a:p>
            <a:r>
              <a:rPr lang="en-US" dirty="0"/>
              <a:t>Since any React component in a React Redux app can be connected to the store, most applications will render a &lt;Provider&gt; at the top level, with the entire app’s component tree inside of it.</a:t>
            </a:r>
            <a:endParaRPr lang="en-IN" dirty="0"/>
          </a:p>
        </p:txBody>
      </p:sp>
      <p:cxnSp>
        <p:nvCxnSpPr>
          <p:cNvPr id="10" name="Straight Arrow Connector 9">
            <a:extLst>
              <a:ext uri="{FF2B5EF4-FFF2-40B4-BE49-F238E27FC236}">
                <a16:creationId xmlns:a16="http://schemas.microsoft.com/office/drawing/2014/main" id="{BECA03CA-5401-068A-0D22-E96D55C81501}"/>
              </a:ext>
            </a:extLst>
          </p:cNvPr>
          <p:cNvCxnSpPr/>
          <p:nvPr/>
        </p:nvCxnSpPr>
        <p:spPr>
          <a:xfrm>
            <a:off x="4492487" y="3120887"/>
            <a:ext cx="17492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03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A53A9BF-28BA-12F8-6039-C2997ED8EA53}"/>
              </a:ext>
            </a:extLst>
          </p:cNvPr>
          <p:cNvSpPr txBox="1"/>
          <p:nvPr/>
        </p:nvSpPr>
        <p:spPr>
          <a:xfrm>
            <a:off x="337931" y="178904"/>
            <a:ext cx="11290852" cy="923330"/>
          </a:xfrm>
          <a:prstGeom prst="rect">
            <a:avLst/>
          </a:prstGeom>
          <a:noFill/>
        </p:spPr>
        <p:txBody>
          <a:bodyPr wrap="square" rtlCol="0">
            <a:spAutoFit/>
          </a:bodyPr>
          <a:lstStyle/>
          <a:p>
            <a:r>
              <a:rPr lang="en-US" dirty="0"/>
              <a:t>Your application start from index.js so here store is props holding value of counter which will be given to nested component with the help of provider component</a:t>
            </a:r>
          </a:p>
          <a:p>
            <a:endParaRPr lang="en-IN" dirty="0"/>
          </a:p>
        </p:txBody>
      </p:sp>
      <p:sp>
        <p:nvSpPr>
          <p:cNvPr id="6" name="TextBox 5">
            <a:extLst>
              <a:ext uri="{FF2B5EF4-FFF2-40B4-BE49-F238E27FC236}">
                <a16:creationId xmlns:a16="http://schemas.microsoft.com/office/drawing/2014/main" id="{73899F9B-6561-6A7C-5746-54590167A8E1}"/>
              </a:ext>
            </a:extLst>
          </p:cNvPr>
          <p:cNvSpPr txBox="1"/>
          <p:nvPr/>
        </p:nvSpPr>
        <p:spPr>
          <a:xfrm>
            <a:off x="337931" y="984473"/>
            <a:ext cx="3667814" cy="923330"/>
          </a:xfrm>
          <a:prstGeom prst="rect">
            <a:avLst/>
          </a:prstGeom>
          <a:noFill/>
        </p:spPr>
        <p:txBody>
          <a:bodyPr wrap="square">
            <a:spAutoFit/>
          </a:bodyPr>
          <a:lstStyle/>
          <a:p>
            <a:r>
              <a:rPr lang="en-IN" b="0" dirty="0">
                <a:solidFill>
                  <a:srgbClr val="800000"/>
                </a:solidFill>
                <a:effectLst/>
                <a:latin typeface="Consolas" panose="020B0609020204030204" pitchFamily="49" charset="0"/>
              </a:rPr>
              <a:t>&lt;Provider</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store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store</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&lt;App</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&lt;/Provider&gt;</a:t>
            </a:r>
            <a:endParaRPr lang="en-IN" b="0" dirty="0">
              <a:solidFill>
                <a:srgbClr val="00000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9D1FC20A-0B1F-EC3D-894D-4A9170E862BA}"/>
              </a:ext>
            </a:extLst>
          </p:cNvPr>
          <p:cNvPicPr>
            <a:picLocks noChangeAspect="1"/>
          </p:cNvPicPr>
          <p:nvPr/>
        </p:nvPicPr>
        <p:blipFill>
          <a:blip r:embed="rId2"/>
          <a:stretch>
            <a:fillRect/>
          </a:stretch>
        </p:blipFill>
        <p:spPr>
          <a:xfrm>
            <a:off x="4882386" y="864268"/>
            <a:ext cx="6971683" cy="2992113"/>
          </a:xfrm>
          <a:prstGeom prst="rect">
            <a:avLst/>
          </a:prstGeom>
        </p:spPr>
      </p:pic>
      <p:cxnSp>
        <p:nvCxnSpPr>
          <p:cNvPr id="10" name="Straight Arrow Connector 9">
            <a:extLst>
              <a:ext uri="{FF2B5EF4-FFF2-40B4-BE49-F238E27FC236}">
                <a16:creationId xmlns:a16="http://schemas.microsoft.com/office/drawing/2014/main" id="{577B9B5B-2351-E7B4-EBD5-8ECBD67CDBDD}"/>
              </a:ext>
            </a:extLst>
          </p:cNvPr>
          <p:cNvCxnSpPr/>
          <p:nvPr/>
        </p:nvCxnSpPr>
        <p:spPr>
          <a:xfrm>
            <a:off x="3051313" y="1282148"/>
            <a:ext cx="1669774" cy="163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73A35C-38ED-B3D5-1BD2-F145D01217D8}"/>
              </a:ext>
            </a:extLst>
          </p:cNvPr>
          <p:cNvSpPr txBox="1"/>
          <p:nvPr/>
        </p:nvSpPr>
        <p:spPr>
          <a:xfrm>
            <a:off x="228600" y="4205760"/>
            <a:ext cx="8319052" cy="646331"/>
          </a:xfrm>
          <a:prstGeom prst="rect">
            <a:avLst/>
          </a:prstGeom>
          <a:noFill/>
        </p:spPr>
        <p:txBody>
          <a:bodyPr wrap="square" rtlCol="0">
            <a:spAutoFit/>
          </a:bodyPr>
          <a:lstStyle/>
          <a:p>
            <a:r>
              <a:rPr lang="en-US" dirty="0"/>
              <a:t>Then control will go in App function which is calling Counter component</a:t>
            </a:r>
          </a:p>
          <a:p>
            <a:endParaRPr lang="en-IN" dirty="0"/>
          </a:p>
        </p:txBody>
      </p:sp>
      <p:pic>
        <p:nvPicPr>
          <p:cNvPr id="13" name="Picture 12">
            <a:extLst>
              <a:ext uri="{FF2B5EF4-FFF2-40B4-BE49-F238E27FC236}">
                <a16:creationId xmlns:a16="http://schemas.microsoft.com/office/drawing/2014/main" id="{CAB919C9-A407-C92E-FBCD-CD101EBE1509}"/>
              </a:ext>
            </a:extLst>
          </p:cNvPr>
          <p:cNvPicPr>
            <a:picLocks noChangeAspect="1"/>
          </p:cNvPicPr>
          <p:nvPr/>
        </p:nvPicPr>
        <p:blipFill>
          <a:blip r:embed="rId3"/>
          <a:stretch>
            <a:fillRect/>
          </a:stretch>
        </p:blipFill>
        <p:spPr>
          <a:xfrm>
            <a:off x="228600" y="4852091"/>
            <a:ext cx="5189670" cy="1607959"/>
          </a:xfrm>
          <a:prstGeom prst="rect">
            <a:avLst/>
          </a:prstGeom>
        </p:spPr>
      </p:pic>
      <p:sp>
        <p:nvSpPr>
          <p:cNvPr id="14" name="TextBox 13">
            <a:extLst>
              <a:ext uri="{FF2B5EF4-FFF2-40B4-BE49-F238E27FC236}">
                <a16:creationId xmlns:a16="http://schemas.microsoft.com/office/drawing/2014/main" id="{EA8E7C60-E556-5494-294D-72F3DB59F80A}"/>
              </a:ext>
            </a:extLst>
          </p:cNvPr>
          <p:cNvSpPr txBox="1"/>
          <p:nvPr/>
        </p:nvSpPr>
        <p:spPr>
          <a:xfrm>
            <a:off x="5764696" y="4852091"/>
            <a:ext cx="6427304" cy="369332"/>
          </a:xfrm>
          <a:prstGeom prst="rect">
            <a:avLst/>
          </a:prstGeom>
          <a:noFill/>
        </p:spPr>
        <p:txBody>
          <a:bodyPr wrap="square" rtlCol="0">
            <a:spAutoFit/>
          </a:bodyPr>
          <a:lstStyle/>
          <a:p>
            <a:r>
              <a:rPr lang="en-US" dirty="0"/>
              <a:t>When you click on + button </a:t>
            </a:r>
            <a:endParaRPr lang="en-IN" dirty="0"/>
          </a:p>
        </p:txBody>
      </p:sp>
      <p:sp>
        <p:nvSpPr>
          <p:cNvPr id="16" name="TextBox 15">
            <a:extLst>
              <a:ext uri="{FF2B5EF4-FFF2-40B4-BE49-F238E27FC236}">
                <a16:creationId xmlns:a16="http://schemas.microsoft.com/office/drawing/2014/main" id="{6270F779-950D-1780-D974-6BABC2C24AB8}"/>
              </a:ext>
            </a:extLst>
          </p:cNvPr>
          <p:cNvSpPr txBox="1"/>
          <p:nvPr/>
        </p:nvSpPr>
        <p:spPr>
          <a:xfrm>
            <a:off x="5753514" y="5201470"/>
            <a:ext cx="5588276" cy="261610"/>
          </a:xfrm>
          <a:prstGeom prst="rect">
            <a:avLst/>
          </a:prstGeom>
          <a:noFill/>
        </p:spPr>
        <p:txBody>
          <a:bodyPr wrap="square">
            <a:spAutoFit/>
          </a:bodyPr>
          <a:lstStyle/>
          <a:p>
            <a:r>
              <a:rPr lang="en-IN" sz="1100" b="0" dirty="0">
                <a:solidFill>
                  <a:srgbClr val="800000"/>
                </a:solidFill>
                <a:effectLst/>
                <a:latin typeface="Consolas" panose="020B0609020204030204" pitchFamily="49" charset="0"/>
              </a:rPr>
              <a:t>&lt;button</a:t>
            </a:r>
            <a:r>
              <a:rPr lang="en-IN" sz="1100" b="0" dirty="0">
                <a:solidFill>
                  <a:srgbClr val="000000"/>
                </a:solidFill>
                <a:effectLst/>
                <a:latin typeface="Consolas" panose="020B0609020204030204" pitchFamily="49" charset="0"/>
              </a:rPr>
              <a:t>  </a:t>
            </a:r>
            <a:r>
              <a:rPr lang="en-IN" sz="1100" b="0" dirty="0" err="1">
                <a:solidFill>
                  <a:srgbClr val="E50000"/>
                </a:solidFill>
                <a:effectLst/>
                <a:latin typeface="Consolas" panose="020B0609020204030204" pitchFamily="49" charset="0"/>
              </a:rPr>
              <a:t>onClick</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=&gt;</a:t>
            </a:r>
            <a:r>
              <a:rPr lang="en-IN" sz="1100" b="0" dirty="0">
                <a:solidFill>
                  <a:srgbClr val="000000"/>
                </a:solidFill>
                <a:effectLst/>
                <a:latin typeface="Consolas" panose="020B0609020204030204" pitchFamily="49" charset="0"/>
              </a:rPr>
              <a:t>dispatch(</a:t>
            </a:r>
            <a:r>
              <a:rPr lang="en-IN" sz="1100" b="0" dirty="0">
                <a:solidFill>
                  <a:srgbClr val="000000"/>
                </a:solidFill>
                <a:effectLst/>
                <a:highlight>
                  <a:srgbClr val="00FFFF"/>
                </a:highlight>
                <a:latin typeface="Consolas" panose="020B0609020204030204" pitchFamily="49" charset="0"/>
              </a:rPr>
              <a:t>increment</a:t>
            </a: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       +     </a:t>
            </a:r>
            <a:r>
              <a:rPr lang="en-IN" sz="1100" b="0" dirty="0">
                <a:solidFill>
                  <a:srgbClr val="800000"/>
                </a:solidFill>
                <a:effectLst/>
                <a:latin typeface="Consolas" panose="020B0609020204030204" pitchFamily="49" charset="0"/>
              </a:rPr>
              <a:t>&lt;/button&gt;</a:t>
            </a:r>
            <a:endParaRPr lang="en-IN" sz="11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61917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4EFC2B-03C6-AC51-6453-514B2F8A4ED3}"/>
              </a:ext>
            </a:extLst>
          </p:cNvPr>
          <p:cNvPicPr>
            <a:picLocks noChangeAspect="1"/>
          </p:cNvPicPr>
          <p:nvPr/>
        </p:nvPicPr>
        <p:blipFill>
          <a:blip r:embed="rId2"/>
          <a:stretch>
            <a:fillRect/>
          </a:stretch>
        </p:blipFill>
        <p:spPr>
          <a:xfrm>
            <a:off x="7177439" y="1182318"/>
            <a:ext cx="4914341" cy="2744910"/>
          </a:xfrm>
          <a:prstGeom prst="rect">
            <a:avLst/>
          </a:prstGeom>
        </p:spPr>
      </p:pic>
      <p:sp>
        <p:nvSpPr>
          <p:cNvPr id="6" name="TextBox 5">
            <a:extLst>
              <a:ext uri="{FF2B5EF4-FFF2-40B4-BE49-F238E27FC236}">
                <a16:creationId xmlns:a16="http://schemas.microsoft.com/office/drawing/2014/main" id="{D810BBAE-6B56-C90D-1BC9-87B2DAE3086E}"/>
              </a:ext>
            </a:extLst>
          </p:cNvPr>
          <p:cNvSpPr txBox="1"/>
          <p:nvPr/>
        </p:nvSpPr>
        <p:spPr>
          <a:xfrm>
            <a:off x="20977" y="54577"/>
            <a:ext cx="6427304" cy="369332"/>
          </a:xfrm>
          <a:prstGeom prst="rect">
            <a:avLst/>
          </a:prstGeom>
          <a:noFill/>
        </p:spPr>
        <p:txBody>
          <a:bodyPr wrap="square" rtlCol="0">
            <a:spAutoFit/>
          </a:bodyPr>
          <a:lstStyle/>
          <a:p>
            <a:r>
              <a:rPr lang="en-US" dirty="0"/>
              <a:t>When you click on + button </a:t>
            </a:r>
            <a:endParaRPr lang="en-IN" dirty="0"/>
          </a:p>
        </p:txBody>
      </p:sp>
      <p:sp>
        <p:nvSpPr>
          <p:cNvPr id="7" name="TextBox 6">
            <a:extLst>
              <a:ext uri="{FF2B5EF4-FFF2-40B4-BE49-F238E27FC236}">
                <a16:creationId xmlns:a16="http://schemas.microsoft.com/office/drawing/2014/main" id="{51BCED1C-A728-55BC-1942-B0D394AE0810}"/>
              </a:ext>
            </a:extLst>
          </p:cNvPr>
          <p:cNvSpPr txBox="1"/>
          <p:nvPr/>
        </p:nvSpPr>
        <p:spPr>
          <a:xfrm>
            <a:off x="20977" y="535805"/>
            <a:ext cx="874560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highlight>
                  <a:srgbClr val="FFFF00"/>
                </a:highlight>
                <a:latin typeface="Consolas" panose="020B0609020204030204" pitchFamily="49" charset="0"/>
              </a:rPr>
              <a:t>dispatch</a:t>
            </a:r>
            <a:r>
              <a:rPr lang="en-IN" b="0" dirty="0">
                <a:solidFill>
                  <a:srgbClr val="000000"/>
                </a:solidFill>
                <a:effectLst/>
                <a:latin typeface="Consolas" panose="020B0609020204030204" pitchFamily="49" charset="0"/>
              </a:rPr>
              <a:t>(</a:t>
            </a:r>
            <a:r>
              <a:rPr lang="en-IN" b="0" dirty="0">
                <a:solidFill>
                  <a:srgbClr val="000000"/>
                </a:solidFill>
                <a:effectLst/>
                <a:highlight>
                  <a:srgbClr val="00FFFF"/>
                </a:highlight>
                <a:latin typeface="Consolas" panose="020B0609020204030204" pitchFamily="49" charset="0"/>
              </a:rPr>
              <a:t>increment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58777522-D134-71DB-CEAA-14ABEDCEEB3B}"/>
              </a:ext>
            </a:extLst>
          </p:cNvPr>
          <p:cNvSpPr txBox="1"/>
          <p:nvPr/>
        </p:nvSpPr>
        <p:spPr>
          <a:xfrm>
            <a:off x="20977" y="997652"/>
            <a:ext cx="7203113" cy="369332"/>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useSelector</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useDispatch</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'react-redux'</a:t>
            </a:r>
            <a:r>
              <a:rPr lang="en-IN" b="0" dirty="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53B414E0-7AA7-B1D1-5618-1D9517BE96B1}"/>
              </a:ext>
            </a:extLst>
          </p:cNvPr>
          <p:cNvSpPr txBox="1"/>
          <p:nvPr/>
        </p:nvSpPr>
        <p:spPr>
          <a:xfrm>
            <a:off x="100220" y="1398512"/>
            <a:ext cx="6097656" cy="646331"/>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useSelector</a:t>
            </a:r>
            <a:r>
              <a:rPr lang="en-IN" b="0" dirty="0">
                <a:solidFill>
                  <a:srgbClr val="000000"/>
                </a:solidFill>
                <a:effectLst/>
                <a:latin typeface="Consolas" panose="020B0609020204030204" pitchFamily="49" charset="0"/>
              </a:rPr>
              <a:t>(</a:t>
            </a:r>
            <a:r>
              <a:rPr lang="en-IN" b="0" dirty="0" err="1">
                <a:solidFill>
                  <a:srgbClr val="000000"/>
                </a:solidFill>
                <a:effectLst/>
                <a:highlight>
                  <a:srgbClr val="FF0000"/>
                </a:highlight>
                <a:latin typeface="Consolas" panose="020B0609020204030204" pitchFamily="49" charset="0"/>
              </a:rPr>
              <a:t>selectCount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dispatch</a:t>
            </a:r>
            <a:r>
              <a:rPr lang="en-IN" b="0" dirty="0">
                <a:solidFill>
                  <a:srgbClr val="000000"/>
                </a:solidFill>
                <a:effectLst/>
                <a:latin typeface="Consolas" panose="020B0609020204030204" pitchFamily="49" charset="0"/>
              </a:rPr>
              <a:t> = </a:t>
            </a:r>
            <a:r>
              <a:rPr lang="en-IN" b="0" dirty="0" err="1">
                <a:solidFill>
                  <a:srgbClr val="FF0000"/>
                </a:solidFill>
                <a:effectLst/>
                <a:latin typeface="Consolas" panose="020B0609020204030204" pitchFamily="49" charset="0"/>
              </a:rPr>
              <a:t>useDispatch</a:t>
            </a:r>
            <a:r>
              <a:rPr lang="en-IN" b="0" dirty="0">
                <a:solidFill>
                  <a:srgbClr val="000000"/>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6B29CF17-5D9D-172A-D87C-56A604FEB321}"/>
              </a:ext>
            </a:extLst>
          </p:cNvPr>
          <p:cNvSpPr txBox="1"/>
          <p:nvPr/>
        </p:nvSpPr>
        <p:spPr>
          <a:xfrm>
            <a:off x="-1656" y="2436228"/>
            <a:ext cx="6097656" cy="1754326"/>
          </a:xfrm>
          <a:prstGeom prst="rect">
            <a:avLst/>
          </a:prstGeom>
          <a:noFill/>
        </p:spPr>
        <p:txBody>
          <a:bodyPr wrap="square">
            <a:spAutoFit/>
          </a:bodyPr>
          <a:lstStyle/>
          <a:p>
            <a:r>
              <a:rPr lang="en-IN" b="0" dirty="0" err="1">
                <a:solidFill>
                  <a:srgbClr val="FF0000"/>
                </a:solidFill>
                <a:effectLst/>
                <a:latin typeface="Consolas" panose="020B0609020204030204" pitchFamily="49" charset="0"/>
              </a:rPr>
              <a:t>useDispatch</a:t>
            </a:r>
            <a:r>
              <a:rPr lang="en-IN" b="0" dirty="0">
                <a:solidFill>
                  <a:srgbClr val="FF0000"/>
                </a:solidFill>
                <a:effectLst/>
                <a:latin typeface="Consolas" panose="020B0609020204030204" pitchFamily="49" charset="0"/>
              </a:rPr>
              <a:t> </a:t>
            </a:r>
            <a:r>
              <a:rPr lang="en-IN" b="0" dirty="0">
                <a:effectLst/>
                <a:latin typeface="Consolas" panose="020B0609020204030204" pitchFamily="49" charset="0"/>
              </a:rPr>
              <a:t>hook is used to call action which is point to increment function.</a:t>
            </a:r>
          </a:p>
          <a:p>
            <a:endParaRPr lang="en-IN" dirty="0">
              <a:latin typeface="Consolas" panose="020B0609020204030204" pitchFamily="49" charset="0"/>
            </a:endParaRPr>
          </a:p>
          <a:p>
            <a:r>
              <a:rPr lang="en-IN" b="0" dirty="0">
                <a:effectLst/>
                <a:latin typeface="Consolas" panose="020B0609020204030204" pitchFamily="49" charset="0"/>
              </a:rPr>
              <a:t>So here dispatch will call action and then action will increment state in store.</a:t>
            </a:r>
          </a:p>
          <a:p>
            <a:r>
              <a:rPr lang="en-IN" dirty="0">
                <a:latin typeface="Consolas" panose="020B0609020204030204" pitchFamily="49" charset="0"/>
              </a:rPr>
              <a:t>And then count get updated.</a:t>
            </a:r>
            <a:r>
              <a:rPr lang="en-IN" b="0" dirty="0">
                <a:effectLst/>
                <a:latin typeface="Consolas" panose="020B0609020204030204" pitchFamily="49" charset="0"/>
              </a:rPr>
              <a:t> </a:t>
            </a:r>
            <a:endParaRPr lang="en-IN" dirty="0"/>
          </a:p>
        </p:txBody>
      </p:sp>
      <p:pic>
        <p:nvPicPr>
          <p:cNvPr id="16" name="Picture 15">
            <a:extLst>
              <a:ext uri="{FF2B5EF4-FFF2-40B4-BE49-F238E27FC236}">
                <a16:creationId xmlns:a16="http://schemas.microsoft.com/office/drawing/2014/main" id="{9AD2297D-A35E-7552-64DD-2BB6695562BE}"/>
              </a:ext>
            </a:extLst>
          </p:cNvPr>
          <p:cNvPicPr>
            <a:picLocks noChangeAspect="1"/>
          </p:cNvPicPr>
          <p:nvPr/>
        </p:nvPicPr>
        <p:blipFill>
          <a:blip r:embed="rId3"/>
          <a:stretch>
            <a:fillRect/>
          </a:stretch>
        </p:blipFill>
        <p:spPr>
          <a:xfrm>
            <a:off x="4752118" y="3682224"/>
            <a:ext cx="6862583" cy="3078148"/>
          </a:xfrm>
          <a:prstGeom prst="rect">
            <a:avLst/>
          </a:prstGeom>
        </p:spPr>
      </p:pic>
      <p:cxnSp>
        <p:nvCxnSpPr>
          <p:cNvPr id="18" name="Straight Arrow Connector 17">
            <a:extLst>
              <a:ext uri="{FF2B5EF4-FFF2-40B4-BE49-F238E27FC236}">
                <a16:creationId xmlns:a16="http://schemas.microsoft.com/office/drawing/2014/main" id="{8BA287F5-4F0C-F46F-0BC0-E533F986B2C0}"/>
              </a:ext>
            </a:extLst>
          </p:cNvPr>
          <p:cNvCxnSpPr/>
          <p:nvPr/>
        </p:nvCxnSpPr>
        <p:spPr>
          <a:xfrm flipV="1">
            <a:off x="1948070" y="1955000"/>
            <a:ext cx="7583556" cy="19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3D79369-BADE-EDBF-F424-486A7DD5CFAB}"/>
              </a:ext>
            </a:extLst>
          </p:cNvPr>
          <p:cNvCxnSpPr/>
          <p:nvPr/>
        </p:nvCxnSpPr>
        <p:spPr>
          <a:xfrm>
            <a:off x="1689652" y="1551650"/>
            <a:ext cx="5534438" cy="2130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835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58C9C5E9-6D77-C24E-28C0-DB780715B7CE}"/>
              </a:ext>
            </a:extLst>
          </p:cNvPr>
          <p:cNvSpPr>
            <a:spLocks noChangeArrowheads="1"/>
          </p:cNvSpPr>
          <p:nvPr/>
        </p:nvSpPr>
        <p:spPr bwMode="auto">
          <a:xfrm>
            <a:off x="109330" y="226504"/>
            <a:ext cx="11618844" cy="4278094"/>
          </a:xfrm>
          <a:prstGeom prst="rect">
            <a:avLst/>
          </a:prstGeom>
          <a:solidFill>
            <a:srgbClr val="F3F3F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onsolas" panose="020B0609020204030204" pitchFamily="49" charset="0"/>
              </a:rPr>
              <a:t>(alias) </a:t>
            </a:r>
            <a:r>
              <a:rPr kumimoji="0" lang="en-US" altLang="en-US" sz="1600" b="0" i="0" u="none" strike="noStrike" cap="none" normalizeH="0" baseline="0" dirty="0">
                <a:ln>
                  <a:noFill/>
                </a:ln>
                <a:solidFill>
                  <a:srgbClr val="0000FF"/>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useSelector</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UseSelector</a:t>
            </a:r>
            <a:r>
              <a:rPr kumimoji="0" lang="en-US" altLang="en-US" sz="1600" b="0" i="0" u="none" strike="noStrike" cap="none" normalizeH="0" baseline="0" dirty="0">
                <a:ln>
                  <a:noFill/>
                </a:ln>
                <a:solidFill>
                  <a:srgbClr val="000000"/>
                </a:solidFill>
                <a:effectLst/>
                <a:latin typeface="Consolas" panose="020B0609020204030204" pitchFamily="49" charset="0"/>
              </a:rPr>
              <a:t>&lt;unknown&gt;</a:t>
            </a: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FF"/>
                </a:solidFill>
                <a:effectLst/>
                <a:latin typeface="Consolas" panose="020B0609020204030204" pitchFamily="49" charset="0"/>
              </a:rPr>
              <a:t>import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useSelector</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616161"/>
                </a:solidFill>
                <a:effectLst/>
                <a:latin typeface="Segoe WPC"/>
              </a:rPr>
              <a:t>A hook to access the redux store's state. This hook takes a selector function as an argument. The selector is called with the store state.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616161"/>
                </a:solidFill>
                <a:effectLst/>
                <a:latin typeface="Segoe WPC"/>
              </a:rPr>
              <a:t>This hook takes an optional equality comparison function as the second parameter that allows you to customize the way the selected state is compared to determine whether the component needs to be re-rendered.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616161"/>
                </a:solidFill>
                <a:effectLst/>
                <a:latin typeface="Segoe WPC"/>
              </a:rPr>
              <a:t>@param</a:t>
            </a:r>
            <a:r>
              <a:rPr kumimoji="0" lang="en-US" altLang="en-US" sz="1600" b="0" i="0" u="none" strike="noStrike" cap="none" normalizeH="0" baseline="0" dirty="0">
                <a:ln>
                  <a:noFill/>
                </a:ln>
                <a:solidFill>
                  <a:srgbClr val="616161"/>
                </a:solidFill>
                <a:effectLst/>
                <a:latin typeface="Segoe WPC"/>
              </a:rPr>
              <a:t> </a:t>
            </a:r>
            <a:r>
              <a:rPr kumimoji="0" lang="en-US" altLang="en-US" sz="1600" b="0" i="0" u="none" strike="noStrike" cap="none" normalizeH="0" baseline="0" dirty="0">
                <a:ln>
                  <a:noFill/>
                </a:ln>
                <a:solidFill>
                  <a:srgbClr val="616161"/>
                </a:solidFill>
                <a:effectLst/>
                <a:latin typeface="var(--monaco-monospace-font)"/>
              </a:rPr>
              <a:t>selector</a:t>
            </a:r>
            <a:r>
              <a:rPr kumimoji="0" lang="en-US" altLang="en-US" sz="1600" b="0" i="0" u="none" strike="noStrike" cap="none" normalizeH="0" baseline="0" dirty="0">
                <a:ln>
                  <a:noFill/>
                </a:ln>
                <a:solidFill>
                  <a:srgbClr val="616161"/>
                </a:solidFill>
                <a:effectLst/>
                <a:latin typeface="Segoe WPC"/>
              </a:rPr>
              <a:t> — the selector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616161"/>
                </a:solidFill>
                <a:effectLst/>
                <a:latin typeface="Segoe WPC"/>
              </a:rPr>
              <a:t>@param</a:t>
            </a:r>
            <a:r>
              <a:rPr kumimoji="0" lang="en-US" altLang="en-US" sz="1600" b="0" i="0" u="none" strike="noStrike" cap="none" normalizeH="0" baseline="0" dirty="0">
                <a:ln>
                  <a:noFill/>
                </a:ln>
                <a:solidFill>
                  <a:srgbClr val="616161"/>
                </a:solidFill>
                <a:effectLst/>
                <a:latin typeface="Segoe WPC"/>
              </a:rPr>
              <a:t> </a:t>
            </a:r>
            <a:r>
              <a:rPr kumimoji="0" lang="en-US" altLang="en-US" sz="1600" b="0" i="0" u="none" strike="noStrike" cap="none" normalizeH="0" baseline="0" dirty="0" err="1">
                <a:ln>
                  <a:noFill/>
                </a:ln>
                <a:solidFill>
                  <a:srgbClr val="616161"/>
                </a:solidFill>
                <a:effectLst/>
                <a:latin typeface="var(--monaco-monospace-font)"/>
              </a:rPr>
              <a:t>equalityFn</a:t>
            </a:r>
            <a:r>
              <a:rPr kumimoji="0" lang="en-US" altLang="en-US" sz="1600" b="0" i="0" u="none" strike="noStrike" cap="none" normalizeH="0" baseline="0" dirty="0">
                <a:ln>
                  <a:noFill/>
                </a:ln>
                <a:solidFill>
                  <a:srgbClr val="616161"/>
                </a:solidFill>
                <a:effectLst/>
                <a:latin typeface="Segoe WPC"/>
              </a:rPr>
              <a:t> — the function that will be used to determine equality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616161"/>
                </a:solidFill>
                <a:effectLst/>
                <a:latin typeface="Segoe WPC"/>
              </a:rPr>
              <a:t>@returns</a:t>
            </a:r>
            <a:r>
              <a:rPr kumimoji="0" lang="en-US" altLang="en-US" sz="1600" b="0" i="0" u="none" strike="noStrike" cap="none" normalizeH="0" baseline="0" dirty="0">
                <a:ln>
                  <a:noFill/>
                </a:ln>
                <a:solidFill>
                  <a:srgbClr val="616161"/>
                </a:solidFill>
                <a:effectLst/>
                <a:latin typeface="Segoe WPC"/>
              </a:rPr>
              <a:t> — the selected state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616161"/>
                </a:solidFill>
                <a:effectLst/>
                <a:latin typeface="Segoe WPC"/>
              </a:rPr>
              <a:t>@example</a:t>
            </a:r>
            <a:endParaRPr kumimoji="0" lang="en-US" altLang="en-US" sz="1600" b="0" i="0" u="none" strike="noStrike" cap="none" normalizeH="0" baseline="0" dirty="0">
              <a:ln>
                <a:noFill/>
              </a:ln>
              <a:solidFill>
                <a:srgbClr val="616161"/>
              </a:solidFill>
              <a:effectLst/>
              <a:latin typeface="Segoe WPC"/>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onsolas" panose="020B0609020204030204" pitchFamily="49" charset="0"/>
              </a:rPr>
              <a:t>import</a:t>
            </a:r>
            <a:r>
              <a:rPr kumimoji="0" lang="en-US" altLang="en-US" sz="1600" b="0" i="0" u="none" strike="noStrike" cap="none" normalizeH="0" baseline="0" dirty="0">
                <a:ln>
                  <a:noFill/>
                </a:ln>
                <a:solidFill>
                  <a:srgbClr val="000000"/>
                </a:solidFill>
                <a:effectLst/>
                <a:latin typeface="Consolas" panose="020B0609020204030204" pitchFamily="49" charset="0"/>
              </a:rPr>
              <a:t> React </a:t>
            </a:r>
            <a:r>
              <a:rPr kumimoji="0" lang="en-US" altLang="en-US" sz="1600" b="0" i="0" u="none" strike="noStrike" cap="none" normalizeH="0" baseline="0" dirty="0">
                <a:ln>
                  <a:noFill/>
                </a:ln>
                <a:solidFill>
                  <a:srgbClr val="0000FF"/>
                </a:solidFill>
                <a:effectLst/>
                <a:latin typeface="Consolas" panose="020B0609020204030204" pitchFamily="49" charset="0"/>
              </a:rPr>
              <a:t>from</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A31515"/>
                </a:solidFill>
                <a:effectLst/>
                <a:latin typeface="Consolas" panose="020B0609020204030204" pitchFamily="49" charset="0"/>
              </a:rPr>
              <a:t>'react'</a:t>
            </a: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FF"/>
                </a:solidFill>
                <a:effectLst/>
                <a:latin typeface="Consolas" panose="020B0609020204030204" pitchFamily="49" charset="0"/>
              </a:rPr>
              <a:t>import</a:t>
            </a:r>
            <a:r>
              <a:rPr kumimoji="0" lang="en-US" altLang="en-US" sz="1600" b="0" i="0" u="none" strike="noStrike" cap="none" normalizeH="0" baseline="0" dirty="0">
                <a:ln>
                  <a:noFill/>
                </a:ln>
                <a:solidFill>
                  <a:srgbClr val="000000"/>
                </a:solidFill>
                <a:effectLst/>
                <a:latin typeface="Consolas" panose="020B0609020204030204" pitchFamily="49" charset="0"/>
              </a:rPr>
              <a:t> { </a:t>
            </a:r>
            <a:r>
              <a:rPr kumimoji="0" lang="en-US" altLang="en-US" sz="1600" b="0" i="0" u="none" strike="noStrike" cap="none" normalizeH="0" baseline="0" dirty="0" err="1">
                <a:ln>
                  <a:noFill/>
                </a:ln>
                <a:solidFill>
                  <a:srgbClr val="000000"/>
                </a:solidFill>
                <a:effectLst/>
                <a:latin typeface="Consolas" panose="020B0609020204030204" pitchFamily="49" charset="0"/>
              </a:rPr>
              <a:t>useSelector</a:t>
            </a:r>
            <a:r>
              <a:rPr kumimoji="0" lang="en-US" altLang="en-US" sz="1600" b="0" i="0" u="none" strike="noStrike" cap="none" normalizeH="0" baseline="0" dirty="0">
                <a:ln>
                  <a:noFill/>
                </a:ln>
                <a:solidFill>
                  <a:srgbClr val="000000"/>
                </a:solidFill>
                <a:effectLst/>
                <a:latin typeface="Consolas" panose="020B0609020204030204" pitchFamily="49" charset="0"/>
              </a:rPr>
              <a:t> } </a:t>
            </a:r>
            <a:r>
              <a:rPr kumimoji="0" lang="en-US" altLang="en-US" sz="1600" b="0" i="0" u="none" strike="noStrike" cap="none" normalizeH="0" baseline="0" dirty="0">
                <a:ln>
                  <a:noFill/>
                </a:ln>
                <a:solidFill>
                  <a:srgbClr val="0000FF"/>
                </a:solidFill>
                <a:effectLst/>
                <a:latin typeface="Consolas" panose="020B0609020204030204" pitchFamily="49" charset="0"/>
              </a:rPr>
              <a:t>from</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A31515"/>
                </a:solidFill>
                <a:effectLst/>
                <a:latin typeface="Consolas" panose="020B0609020204030204" pitchFamily="49" charset="0"/>
              </a:rPr>
              <a:t>'react-redux'</a:t>
            </a:r>
            <a:br>
              <a:rPr kumimoji="0" lang="en-US" altLang="en-US" sz="1600" b="0" i="0" u="none" strike="noStrike" cap="none" normalizeH="0" baseline="0" dirty="0">
                <a:ln>
                  <a:noFill/>
                </a:ln>
                <a:solidFill>
                  <a:srgbClr val="616161"/>
                </a:solidFill>
                <a:effectLst/>
                <a:latin typeface="Consolas" panose="020B0609020204030204" pitchFamily="49" charset="0"/>
              </a:rPr>
            </a:b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FF"/>
                </a:solidFill>
                <a:effectLst/>
                <a:latin typeface="Consolas" panose="020B0609020204030204" pitchFamily="49" charset="0"/>
              </a:rPr>
              <a:t>export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FF"/>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CounterComponent</a:t>
            </a:r>
            <a:r>
              <a:rPr kumimoji="0" lang="en-US" altLang="en-US" sz="1600" b="0" i="0" u="none" strike="noStrike" cap="none" normalizeH="0" baseline="0" dirty="0">
                <a:ln>
                  <a:noFill/>
                </a:ln>
                <a:solidFill>
                  <a:srgbClr val="000000"/>
                </a:solidFill>
                <a:effectLst/>
                <a:latin typeface="Consolas" panose="020B0609020204030204" pitchFamily="49" charset="0"/>
              </a:rPr>
              <a:t> = () </a:t>
            </a:r>
            <a:r>
              <a:rPr kumimoji="0" lang="en-US" altLang="en-US" sz="1600" b="0" i="0" u="none" strike="noStrike" cap="none" normalizeH="0" baseline="0" dirty="0">
                <a:ln>
                  <a:noFill/>
                </a:ln>
                <a:solidFill>
                  <a:srgbClr val="0000FF"/>
                </a:solidFill>
                <a:effectLst/>
                <a:latin typeface="Consolas" panose="020B0609020204030204" pitchFamily="49" charset="0"/>
              </a:rPr>
              <a:t>=&gt;</a:t>
            </a:r>
            <a:r>
              <a:rPr kumimoji="0" lang="en-US" altLang="en-US" sz="1600" b="0" i="0" u="none" strike="noStrike" cap="none" normalizeH="0" baseline="0" dirty="0">
                <a:ln>
                  <a:noFill/>
                </a:ln>
                <a:solidFill>
                  <a:srgbClr val="000000"/>
                </a:solidFill>
                <a:effectLst/>
                <a:latin typeface="Consolas" panose="020B0609020204030204" pitchFamily="49" charset="0"/>
              </a:rPr>
              <a:t> {</a:t>
            </a: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FF"/>
                </a:solidFill>
                <a:effectLst/>
                <a:latin typeface="Consolas" panose="020B0609020204030204" pitchFamily="49" charset="0"/>
              </a:rPr>
              <a:t>const</a:t>
            </a:r>
            <a:r>
              <a:rPr kumimoji="0" lang="en-US" altLang="en-US" sz="1600" b="0" i="0" u="none" strike="noStrike" cap="none" normalizeH="0" baseline="0" dirty="0">
                <a:ln>
                  <a:noFill/>
                </a:ln>
                <a:solidFill>
                  <a:srgbClr val="000000"/>
                </a:solidFill>
                <a:effectLst/>
                <a:latin typeface="Consolas" panose="020B0609020204030204" pitchFamily="49" charset="0"/>
              </a:rPr>
              <a:t> counter = </a:t>
            </a:r>
            <a:r>
              <a:rPr kumimoji="0" lang="en-US" altLang="en-US" sz="1600" b="0" i="0" u="none" strike="noStrike" cap="none" normalizeH="0" baseline="0" dirty="0" err="1">
                <a:ln>
                  <a:noFill/>
                </a:ln>
                <a:solidFill>
                  <a:srgbClr val="000000"/>
                </a:solidFill>
                <a:effectLst/>
                <a:latin typeface="Consolas" panose="020B0609020204030204" pitchFamily="49" charset="0"/>
              </a:rPr>
              <a:t>useSelector</a:t>
            </a:r>
            <a:r>
              <a:rPr kumimoji="0" lang="en-US" altLang="en-US" sz="1600" b="0" i="0" u="none" strike="noStrike" cap="none" normalizeH="0" baseline="0" dirty="0">
                <a:ln>
                  <a:noFill/>
                </a:ln>
                <a:solidFill>
                  <a:srgbClr val="000000"/>
                </a:solidFill>
                <a:effectLst/>
                <a:latin typeface="Consolas" panose="020B0609020204030204" pitchFamily="49" charset="0"/>
              </a:rPr>
              <a:t>(state </a:t>
            </a:r>
            <a:r>
              <a:rPr kumimoji="0" lang="en-US" altLang="en-US" sz="1600" b="0" i="0" u="none" strike="noStrike" cap="none" normalizeH="0" baseline="0" dirty="0">
                <a:ln>
                  <a:noFill/>
                </a:ln>
                <a:solidFill>
                  <a:srgbClr val="0000FF"/>
                </a:solidFill>
                <a:effectLst/>
                <a:latin typeface="Consolas" panose="020B0609020204030204" pitchFamily="49" charset="0"/>
              </a:rPr>
              <a:t>=&gt;</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state.counter</a:t>
            </a:r>
            <a:r>
              <a:rPr kumimoji="0" lang="en-US" altLang="en-US" sz="1600" b="0" i="0" u="none" strike="noStrike" cap="none" normalizeH="0" baseline="0" dirty="0">
                <a:ln>
                  <a:noFill/>
                </a:ln>
                <a:solidFill>
                  <a:srgbClr val="000000"/>
                </a:solidFill>
                <a:effectLst/>
                <a:latin typeface="Consolas" panose="020B0609020204030204" pitchFamily="49" charset="0"/>
              </a:rPr>
              <a:t>)</a:t>
            </a: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FF"/>
                </a:solidFill>
                <a:effectLst/>
                <a:latin typeface="Consolas" panose="020B0609020204030204" pitchFamily="49" charset="0"/>
              </a:rPr>
              <a:t>return</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800000"/>
                </a:solidFill>
                <a:effectLst/>
                <a:latin typeface="Consolas" panose="020B0609020204030204" pitchFamily="49" charset="0"/>
              </a:rPr>
              <a:t>&lt;div&gt;</a:t>
            </a:r>
            <a:r>
              <a:rPr kumimoji="0" lang="en-US" altLang="en-US" sz="1600" b="0" i="0" u="none" strike="noStrike" cap="none" normalizeH="0" baseline="0" dirty="0">
                <a:ln>
                  <a:noFill/>
                </a:ln>
                <a:solidFill>
                  <a:srgbClr val="0000FF"/>
                </a:solidFill>
                <a:effectLst/>
                <a:latin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rPr>
              <a:t>counter</a:t>
            </a:r>
            <a:r>
              <a:rPr kumimoji="0" lang="en-US" altLang="en-US" sz="1600" b="0" i="0" u="none" strike="noStrike" cap="none" normalizeH="0" baseline="0" dirty="0">
                <a:ln>
                  <a:noFill/>
                </a:ln>
                <a:solidFill>
                  <a:srgbClr val="0000FF"/>
                </a:solidFill>
                <a:effectLst/>
                <a:latin typeface="Consolas" panose="020B0609020204030204" pitchFamily="49" charset="0"/>
              </a:rPr>
              <a:t>}</a:t>
            </a:r>
            <a:r>
              <a:rPr kumimoji="0" lang="en-US" altLang="en-US" sz="1600" b="0" i="0" u="none" strike="noStrike" cap="none" normalizeH="0" baseline="0" dirty="0">
                <a:ln>
                  <a:noFill/>
                </a:ln>
                <a:solidFill>
                  <a:srgbClr val="800000"/>
                </a:solidFill>
                <a:effectLst/>
                <a:latin typeface="Consolas" panose="020B0609020204030204" pitchFamily="49" charset="0"/>
              </a:rPr>
              <a:t>&lt;/div&gt;</a:t>
            </a:r>
            <a:br>
              <a:rPr kumimoji="0" lang="en-US" altLang="en-US" sz="1600" b="0" i="0" u="none" strike="noStrike" cap="none" normalizeH="0" baseline="0" dirty="0">
                <a:ln>
                  <a:noFill/>
                </a:ln>
                <a:solidFill>
                  <a:srgbClr val="616161"/>
                </a:solidFill>
                <a:effectLst/>
                <a:latin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2B6FF8FA-4BE1-58BD-BA6F-467E2CAF4D15}"/>
              </a:ext>
            </a:extLst>
          </p:cNvPr>
          <p:cNvSpPr txBox="1"/>
          <p:nvPr/>
        </p:nvSpPr>
        <p:spPr>
          <a:xfrm>
            <a:off x="2343150" y="5560152"/>
            <a:ext cx="6097656" cy="369332"/>
          </a:xfrm>
          <a:prstGeom prst="rect">
            <a:avLst/>
          </a:prstGeom>
          <a:noFill/>
        </p:spPr>
        <p:txBody>
          <a:bodyPr wrap="square">
            <a:spAutoFit/>
          </a:bodyPr>
          <a:lstStyle/>
          <a:p>
            <a:r>
              <a:rPr lang="en-IN" dirty="0"/>
              <a:t>https://react-redux.js.org/tutorials/quick-start</a:t>
            </a:r>
          </a:p>
        </p:txBody>
      </p:sp>
    </p:spTree>
    <p:extLst>
      <p:ext uri="{BB962C8B-B14F-4D97-AF65-F5344CB8AC3E}">
        <p14:creationId xmlns:p14="http://schemas.microsoft.com/office/powerpoint/2010/main" val="1314540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1137</Words>
  <Application>Microsoft Office PowerPoint</Application>
  <PresentationFormat>Widescreen</PresentationFormat>
  <Paragraphs>133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Consolas</vt:lpstr>
      <vt:lpstr>Segoe WPC</vt:lpstr>
      <vt:lpstr>var(--monaco-monospace-font)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9</cp:revision>
  <dcterms:created xsi:type="dcterms:W3CDTF">2024-01-23T04:12:30Z</dcterms:created>
  <dcterms:modified xsi:type="dcterms:W3CDTF">2025-01-11T05:55:38Z</dcterms:modified>
</cp:coreProperties>
</file>