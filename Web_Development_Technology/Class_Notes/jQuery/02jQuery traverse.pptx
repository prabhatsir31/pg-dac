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1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667345-2826-41D5-A086-E491BC8DE5FE}" type="datetimeFigureOut">
              <a:rPr lang="en-IN" smtClean="0"/>
              <a:t>08-03-2022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27529-61A6-4D56-8001-AAA2A6445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849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89443-FFEE-4C82-A966-BF1CE2F80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93334-666B-4F20-ACB6-61846BF65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4E580-2FB4-457A-A152-EF6B9D382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08-03-2022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60D9B-B68C-4620-87CE-F0A187098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136A0-EDC3-4BA9-B4B6-EC9BF9D03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47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C580A-668F-4970-939B-82FD72315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C0C4B-F586-4500-8F73-5AB60C98B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E74F4-FCA3-423C-8169-8DE1C0521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08-03-2022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D7A50-489D-4A36-9E70-A7CE26DD3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1DF1E-DB70-435B-B5B9-04642DBFF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822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6F664-4139-40D8-BD0C-35879E69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F26F1-4D00-4DB5-9F33-8C620144C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AFA7E-9C13-42BB-B8F5-23167082F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08-03-2022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5A40E-26F3-49D5-8231-9CFBE0FA2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A8821-1DD5-46AF-B859-E9DB767F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52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51D5B-DD80-4F4B-BB8B-3C6E40D35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A43B7-8865-447C-9193-E158DC9C4A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041A5-4AA5-4584-9AFF-0D61E3065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86933-95C5-4E0D-AA2B-A304FD2F5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08-03-2022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BD086-7216-419B-A6C2-5F7B78265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03E10-F0A2-45A1-9365-3ABF74638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29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1F1CA-47E7-4B65-AB75-C3261008F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7C2BE-930A-4711-B915-DA01FBCF3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23A3D-8034-492F-A3FC-218108F55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F7BFD0-D5C1-41E3-B446-203258A7C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8C35BF-C149-4790-95D1-210A40703B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8650A6-80C6-405E-891A-5C08D56AF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08-03-2022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8AE45E-EF40-40B8-A8C4-93AF497E6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C4334E-6748-41DF-A0A1-B0D6C07A5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076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5B3E6-97E4-49A2-9744-8A16A9B3A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DE765C-AE3B-4BB2-8980-1663BA2C5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08-03-2022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A86FB-C3AD-479D-B553-81ADCFC7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8B2B66-F1AE-441B-8A26-046F8127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8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9A9C74-D28D-4EB5-BD2E-6497EB289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08-03-2022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D64809-42FD-4A11-B819-AD17C8D67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2BC93-2C20-4A10-8386-5E6BBC6B7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505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27F65-DBCB-4801-B4F7-01DAA9F1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DDB3-BF37-4811-AA22-0157F0F56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2E616A-B6D5-4B0C-BE05-75FC81B41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50D6E-AB39-4131-931B-11AEE155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08-03-2022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0CE22-92D3-4DAA-8BCE-0A03B688A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E6409-721A-4A59-8C8C-991DFF5DB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52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215F6-2CCA-471A-8A4C-B14E37B46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881F1C-8AB8-4B4B-AB87-147354B359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143F0-C23B-4B04-BC3E-09FD7FA9B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86794-29D4-48F5-AAB7-FEDE38699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08-03-2022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6CB9B-4D4C-4ACA-A95C-383DD8CF2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648DB-2CE3-4422-BA6A-7F581DD4E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913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7F9C4-EC3D-4D88-916D-9C28F12E0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F3ECD7-301A-4007-9555-FAB7F47F1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8B08-380A-4D4C-8558-710BAA448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08-03-2022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45EE6-7C0B-46D1-ACD2-1400C51A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7C531-6255-483B-85A2-FC2B5D915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382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72BEA0-82D9-44CE-8195-5A5B7E10A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70A67E-302F-423F-92E9-8B2E7DD36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B3939-E0C6-4AEC-B1A6-99FA8EBD6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08-03-2022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9C804-538E-4BBD-975D-7A768D3EC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03EAE-674C-4E86-883E-3AF5874ED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603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314469-9391-4513-9B67-5B4CAA8F0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7ACC0-3600-409D-B5CE-5EE024B62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E5ABD-DCDA-47A0-A577-5162BFA578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3DDF5-237E-4516-A055-57F6167FD6A0}" type="datetimeFigureOut">
              <a:rPr lang="en-IN" smtClean="0"/>
              <a:t>08-03-2022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5718B-B236-4E69-93D5-5A2D017259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9D5EC-A01E-4BD2-91FF-5D1045935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030DFE-449A-4058-8FEB-0F17D90CCD4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B921E84-7975-4E42-8D87-BD3396E8F9A7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601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02C46-B8FA-4E46-A7FD-B581EF650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8438" y="365126"/>
            <a:ext cx="7745361" cy="315912"/>
          </a:xfrm>
        </p:spPr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333333"/>
                </a:solidFill>
                <a:effectLst/>
                <a:latin typeface="klavika-web"/>
              </a:rPr>
              <a:t>Traversing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3D444-722F-431E-9986-486FE4770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973393"/>
            <a:ext cx="5368413" cy="49554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i="0" dirty="0">
                <a:solidFill>
                  <a:srgbClr val="333333"/>
                </a:solidFill>
                <a:effectLst/>
                <a:latin typeface="klavika-web"/>
              </a:rPr>
              <a:t>.</a:t>
            </a:r>
            <a:r>
              <a:rPr lang="en-IN" b="1" i="0" dirty="0" err="1">
                <a:solidFill>
                  <a:srgbClr val="333333"/>
                </a:solidFill>
                <a:effectLst/>
                <a:latin typeface="klavika-web"/>
              </a:rPr>
              <a:t>eq</a:t>
            </a:r>
            <a:r>
              <a:rPr lang="en-IN" b="1" i="0" dirty="0">
                <a:solidFill>
                  <a:srgbClr val="333333"/>
                </a:solidFill>
                <a:effectLst/>
                <a:latin typeface="klavika-web"/>
              </a:rPr>
              <a:t>(index)</a:t>
            </a:r>
          </a:p>
          <a:p>
            <a:pPr marL="0" indent="0">
              <a:buNone/>
            </a:pPr>
            <a:r>
              <a:rPr lang="en-IN" dirty="0"/>
              <a:t>.</a:t>
            </a:r>
            <a:r>
              <a:rPr lang="en-IN" sz="2800" dirty="0" err="1"/>
              <a:t>eq</a:t>
            </a:r>
            <a:r>
              <a:rPr lang="en-IN" sz="2800" dirty="0"/>
              <a:t>(index) and .</a:t>
            </a:r>
            <a:r>
              <a:rPr lang="en-IN" sz="2800" dirty="0" err="1"/>
              <a:t>eq</a:t>
            </a:r>
            <a:r>
              <a:rPr lang="en-IN" sz="2800" dirty="0"/>
              <a:t>(-index)[-</a:t>
            </a:r>
            <a:r>
              <a:rPr lang="en-IN" sz="2800" dirty="0" err="1"/>
              <a:t>ve</a:t>
            </a:r>
            <a:r>
              <a:rPr lang="en-IN" sz="2800" dirty="0"/>
              <a:t> means from last]</a:t>
            </a:r>
          </a:p>
          <a:p>
            <a:pPr marL="0" indent="0">
              <a:buNone/>
            </a:pPr>
            <a:r>
              <a:rPr lang="en-IN" b="1" i="0" dirty="0">
                <a:solidFill>
                  <a:srgbClr val="333333"/>
                </a:solidFill>
                <a:effectLst/>
                <a:latin typeface="klavika-web"/>
              </a:rPr>
              <a:t>.filter()</a:t>
            </a:r>
          </a:p>
          <a:p>
            <a:pPr marL="0" indent="0">
              <a:buNone/>
            </a:pPr>
            <a:r>
              <a:rPr lang="en-IN" b="1" dirty="0">
                <a:solidFill>
                  <a:srgbClr val="333333"/>
                </a:solidFill>
                <a:latin typeface="klavika-web"/>
              </a:rPr>
              <a:t>.first()</a:t>
            </a:r>
          </a:p>
          <a:p>
            <a:pPr marL="0" indent="0">
              <a:buNone/>
            </a:pPr>
            <a:r>
              <a:rPr lang="en-IN" b="1" i="0" dirty="0">
                <a:solidFill>
                  <a:srgbClr val="333333"/>
                </a:solidFill>
                <a:effectLst/>
                <a:latin typeface="klavika-web"/>
              </a:rPr>
              <a:t>.last()</a:t>
            </a:r>
          </a:p>
          <a:p>
            <a:pPr marL="0" indent="0">
              <a:buNone/>
            </a:pPr>
            <a:r>
              <a:rPr lang="en-IN" b="1" dirty="0">
                <a:solidFill>
                  <a:srgbClr val="333333"/>
                </a:solidFill>
                <a:latin typeface="klavika-web"/>
              </a:rPr>
              <a:t>.not()</a:t>
            </a:r>
          </a:p>
          <a:p>
            <a:pPr marL="0" indent="0">
              <a:buNone/>
            </a:pPr>
            <a:r>
              <a:rPr lang="en-IN" b="1" i="0" dirty="0">
                <a:solidFill>
                  <a:srgbClr val="333333"/>
                </a:solidFill>
                <a:effectLst/>
                <a:latin typeface="klavika-web"/>
              </a:rPr>
              <a:t>.has()</a:t>
            </a:r>
          </a:p>
          <a:p>
            <a:pPr marL="0" indent="0">
              <a:buNone/>
            </a:pPr>
            <a:r>
              <a:rPr lang="en-IN" b="1" dirty="0">
                <a:solidFill>
                  <a:srgbClr val="333333"/>
                </a:solidFill>
                <a:latin typeface="klavika-web"/>
              </a:rPr>
              <a:t>.find()</a:t>
            </a:r>
          </a:p>
          <a:p>
            <a:pPr marL="0" indent="0">
              <a:buNone/>
            </a:pPr>
            <a:r>
              <a:rPr lang="en-IN" b="1" i="0" dirty="0">
                <a:solidFill>
                  <a:srgbClr val="333333"/>
                </a:solidFill>
                <a:effectLst/>
                <a:latin typeface="klavika-web"/>
              </a:rPr>
              <a:t>.end()</a:t>
            </a:r>
          </a:p>
          <a:p>
            <a:pPr marL="0" indent="0">
              <a:buNone/>
            </a:pPr>
            <a:r>
              <a:rPr lang="en-IN" b="1" dirty="0">
                <a:solidFill>
                  <a:srgbClr val="333333"/>
                </a:solidFill>
                <a:latin typeface="klavika-web"/>
              </a:rPr>
              <a:t>.</a:t>
            </a:r>
            <a:r>
              <a:rPr lang="en-IN" b="1" dirty="0" err="1">
                <a:solidFill>
                  <a:srgbClr val="333333"/>
                </a:solidFill>
                <a:latin typeface="klavika-web"/>
              </a:rPr>
              <a:t>endself</a:t>
            </a:r>
            <a:r>
              <a:rPr lang="en-IN" b="1" dirty="0">
                <a:solidFill>
                  <a:srgbClr val="333333"/>
                </a:solidFill>
                <a:latin typeface="klavika-web"/>
              </a:rPr>
              <a:t>()</a:t>
            </a:r>
            <a:endParaRPr lang="en-IN" b="1" i="0" dirty="0">
              <a:solidFill>
                <a:srgbClr val="333333"/>
              </a:solidFill>
              <a:effectLst/>
              <a:latin typeface="klavika-web"/>
            </a:endParaRPr>
          </a:p>
          <a:p>
            <a:pPr marL="0" indent="0">
              <a:buNone/>
            </a:pPr>
            <a:endParaRPr lang="en-IN" b="1" i="0" dirty="0">
              <a:solidFill>
                <a:srgbClr val="333333"/>
              </a:solidFill>
              <a:effectLst/>
              <a:latin typeface="klavika-web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7106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CCAF-D042-444C-A99A-66C5C1939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197" y="200588"/>
            <a:ext cx="8551606" cy="480449"/>
          </a:xfrm>
        </p:spPr>
        <p:txBody>
          <a:bodyPr>
            <a:normAutofit fontScale="90000"/>
          </a:bodyPr>
          <a:lstStyle/>
          <a:p>
            <a:r>
              <a:rPr lang="en-IN" dirty="0"/>
              <a:t>.</a:t>
            </a:r>
            <a:r>
              <a:rPr lang="en-IN" sz="3600" dirty="0" err="1"/>
              <a:t>eq</a:t>
            </a:r>
            <a:r>
              <a:rPr lang="en-IN" sz="3600" dirty="0"/>
              <a:t>(index) and .</a:t>
            </a:r>
            <a:r>
              <a:rPr lang="en-IN" sz="3600" dirty="0" err="1"/>
              <a:t>eq</a:t>
            </a:r>
            <a:r>
              <a:rPr lang="en-IN" sz="3600" dirty="0"/>
              <a:t>(-index)[-</a:t>
            </a:r>
            <a:r>
              <a:rPr lang="en-IN" sz="3600" dirty="0" err="1"/>
              <a:t>ve</a:t>
            </a:r>
            <a:r>
              <a:rPr lang="en-IN" sz="3600" dirty="0"/>
              <a:t> means from last]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D1793-CC69-4964-A701-31BE75C6B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06" y="763742"/>
            <a:ext cx="3645310" cy="246124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t-IT" dirty="0"/>
              <a:t>&lt;ul&gt;</a:t>
            </a:r>
          </a:p>
          <a:p>
            <a:pPr marL="0" indent="0">
              <a:buNone/>
            </a:pPr>
            <a:r>
              <a:rPr lang="it-IT" dirty="0"/>
              <a:t>  &lt;li&gt;list item 1&lt;/li&gt;</a:t>
            </a:r>
          </a:p>
          <a:p>
            <a:pPr marL="0" indent="0">
              <a:buNone/>
            </a:pPr>
            <a:r>
              <a:rPr lang="it-IT" dirty="0"/>
              <a:t>  &lt;li&gt;list item 2&lt;/li&gt;</a:t>
            </a:r>
          </a:p>
          <a:p>
            <a:pPr marL="0" indent="0">
              <a:buNone/>
            </a:pPr>
            <a:r>
              <a:rPr lang="it-IT" dirty="0"/>
              <a:t>  &lt;li&gt;list item 3&lt;/li&gt;</a:t>
            </a:r>
          </a:p>
          <a:p>
            <a:pPr marL="0" indent="0">
              <a:buNone/>
            </a:pPr>
            <a:r>
              <a:rPr lang="it-IT" dirty="0"/>
              <a:t>  &lt;li&gt;list item 4&lt;/li&gt;</a:t>
            </a:r>
          </a:p>
          <a:p>
            <a:pPr marL="0" indent="0">
              <a:buNone/>
            </a:pPr>
            <a:r>
              <a:rPr lang="it-IT" dirty="0"/>
              <a:t>  &lt;li&gt;list item 5&lt;/li&gt;</a:t>
            </a:r>
          </a:p>
          <a:p>
            <a:pPr marL="0" indent="0">
              <a:buNone/>
            </a:pPr>
            <a:r>
              <a:rPr lang="it-IT" dirty="0"/>
              <a:t>&lt;/ul&gt;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70750-26FA-4B18-A5C7-15A1DE1FFB34}"/>
              </a:ext>
            </a:extLst>
          </p:cNvPr>
          <p:cNvSpPr txBox="1"/>
          <p:nvPr/>
        </p:nvSpPr>
        <p:spPr>
          <a:xfrm>
            <a:off x="4513006" y="850599"/>
            <a:ext cx="754134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can apply this method to the set of list items:</a:t>
            </a:r>
          </a:p>
          <a:p>
            <a:endParaRPr lang="en-US" dirty="0"/>
          </a:p>
          <a:p>
            <a:r>
              <a:rPr lang="en-US" dirty="0"/>
              <a:t>1. $( "li" ).eq( 2 ).</a:t>
            </a:r>
            <a:r>
              <a:rPr lang="en-US" dirty="0" err="1"/>
              <a:t>css</a:t>
            </a:r>
            <a:r>
              <a:rPr lang="en-US" dirty="0"/>
              <a:t>( "background-color", "red" );</a:t>
            </a:r>
          </a:p>
          <a:p>
            <a:r>
              <a:rPr lang="en-US" dirty="0"/>
              <a:t>The result of this call is a red background for item 3. Note that the supplied index is zero-based, and refers to the position of the element within the jQuery object, not within the DOM tree.</a:t>
            </a:r>
          </a:p>
          <a:p>
            <a:endParaRPr lang="en-US" dirty="0"/>
          </a:p>
          <a:p>
            <a:r>
              <a:rPr lang="en-US" dirty="0"/>
              <a:t>Providing a negative number indicates a position starting from the end of the set, rather than the beginning. For example:</a:t>
            </a:r>
          </a:p>
          <a:p>
            <a:endParaRPr lang="en-US" dirty="0"/>
          </a:p>
          <a:p>
            <a:r>
              <a:rPr lang="en-US" dirty="0"/>
              <a:t>2.   $( "li" ).eq( -2 ).</a:t>
            </a:r>
            <a:r>
              <a:rPr lang="en-US" dirty="0" err="1"/>
              <a:t>css</a:t>
            </a:r>
            <a:r>
              <a:rPr lang="en-US" dirty="0"/>
              <a:t>( "background-color", "red" );</a:t>
            </a:r>
          </a:p>
          <a:p>
            <a:r>
              <a:rPr lang="en-US" dirty="0"/>
              <a:t>This time list item 4 is turned red, since it is two from the end of the set.</a:t>
            </a:r>
            <a:endParaRPr lang="en-IN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D4DB99-23F2-41A4-AD7E-C7659E349381}"/>
              </a:ext>
            </a:extLst>
          </p:cNvPr>
          <p:cNvSpPr txBox="1">
            <a:spLocks/>
          </p:cNvSpPr>
          <p:nvPr/>
        </p:nvSpPr>
        <p:spPr>
          <a:xfrm>
            <a:off x="263012" y="3944477"/>
            <a:ext cx="3645310" cy="24612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dirty="0"/>
              <a:t>&lt;ul&gt;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it-IT" dirty="0"/>
              <a:t>  &lt;li&gt;list item 1&lt;/li&gt;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it-IT" dirty="0"/>
              <a:t>  &lt;li&gt;list item 2&lt;/li&gt;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it-IT" dirty="0"/>
              <a:t>  </a:t>
            </a:r>
            <a:r>
              <a:rPr lang="it-IT" dirty="0">
                <a:highlight>
                  <a:srgbClr val="FF0000"/>
                </a:highlight>
              </a:rPr>
              <a:t>&lt;li&gt;list item 3&lt;/li&gt;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it-IT" dirty="0"/>
              <a:t>  &lt;li&gt;list item 4&lt;/li&gt;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it-IT" dirty="0"/>
              <a:t>  &lt;li&gt;list item 5&lt;/li&gt;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it-IT" dirty="0"/>
              <a:t>&lt;/ul&gt;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90A4D7D-AE97-4B85-B7E7-92470358BE95}"/>
              </a:ext>
            </a:extLst>
          </p:cNvPr>
          <p:cNvSpPr txBox="1">
            <a:spLocks/>
          </p:cNvSpPr>
          <p:nvPr/>
        </p:nvSpPr>
        <p:spPr>
          <a:xfrm>
            <a:off x="5719916" y="4266919"/>
            <a:ext cx="3645310" cy="24612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dirty="0"/>
              <a:t>&lt;ul&gt;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it-IT" dirty="0"/>
              <a:t>  &lt;li&gt;list item 1&lt;/li&gt;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it-IT" dirty="0"/>
              <a:t>  &lt;li&gt;list item 2&lt;/li&gt;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it-IT" dirty="0"/>
              <a:t>  &lt;li&gt;list item 3&lt;/li&gt;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it-IT" dirty="0">
                <a:solidFill>
                  <a:srgbClr val="FF0000"/>
                </a:solidFill>
                <a:highlight>
                  <a:srgbClr val="FF0000"/>
                </a:highlight>
              </a:rPr>
              <a:t>  </a:t>
            </a:r>
            <a:r>
              <a:rPr lang="it-IT" dirty="0">
                <a:solidFill>
                  <a:schemeClr val="tx1"/>
                </a:solidFill>
                <a:highlight>
                  <a:srgbClr val="FF0000"/>
                </a:highlight>
              </a:rPr>
              <a:t>&lt;li&gt;list item 4&lt;/li&gt;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it-IT" dirty="0"/>
              <a:t>  &lt;li&gt;list item 5&lt;/li&gt;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it-IT" dirty="0"/>
              <a:t>&lt;/ul&gt;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223941-E29F-4AA8-9DD0-4E2A39635162}"/>
              </a:ext>
            </a:extLst>
          </p:cNvPr>
          <p:cNvCxnSpPr/>
          <p:nvPr/>
        </p:nvCxnSpPr>
        <p:spPr>
          <a:xfrm flipH="1">
            <a:off x="3185652" y="1632155"/>
            <a:ext cx="1327354" cy="2487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38191A-82B4-4C07-9BD2-4ADBC6C01ABB}"/>
              </a:ext>
            </a:extLst>
          </p:cNvPr>
          <p:cNvCxnSpPr/>
          <p:nvPr/>
        </p:nvCxnSpPr>
        <p:spPr>
          <a:xfrm>
            <a:off x="4699819" y="3854245"/>
            <a:ext cx="993058" cy="747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703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5F022-F5D8-4AA8-A6E8-B9F402888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674" y="127486"/>
            <a:ext cx="2589571" cy="40011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333333"/>
                </a:solidFill>
                <a:effectLst/>
                <a:latin typeface="klavika-web"/>
              </a:rPr>
              <a:t>.filter()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31768-A4D6-45FE-A745-0BB3E93E2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90" y="845575"/>
            <a:ext cx="9576620" cy="141584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1600" dirty="0"/>
              <a:t>The filter() method returns elements that match a certain criteria.</a:t>
            </a:r>
          </a:p>
          <a:p>
            <a:r>
              <a:rPr lang="en-US" sz="1600" dirty="0"/>
              <a:t>This method lets you specify a criteria. Elements that do not match the criteria are removed from the selection, and those that match will be returned.</a:t>
            </a:r>
          </a:p>
          <a:p>
            <a:r>
              <a:rPr lang="en-US" sz="1600" dirty="0"/>
              <a:t>This method is often used to narrow down the search for an element in a group of selected elements.</a:t>
            </a: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510FD-B587-4397-AF3C-F3FA2C6ABFEF}"/>
              </a:ext>
            </a:extLst>
          </p:cNvPr>
          <p:cNvSpPr txBox="1"/>
          <p:nvPr/>
        </p:nvSpPr>
        <p:spPr>
          <a:xfrm>
            <a:off x="4709653" y="127486"/>
            <a:ext cx="7197212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$(</a:t>
            </a:r>
            <a:r>
              <a:rPr lang="en-US" sz="20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selector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).filter(</a:t>
            </a:r>
            <a:r>
              <a:rPr lang="en-US" sz="2000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criteria,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(index)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5BC627-56C4-4044-845E-3B02D92D4CF4}"/>
              </a:ext>
            </a:extLst>
          </p:cNvPr>
          <p:cNvSpPr txBox="1"/>
          <p:nvPr/>
        </p:nvSpPr>
        <p:spPr>
          <a:xfrm>
            <a:off x="88489" y="2467500"/>
            <a:ext cx="7816646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$(document).ready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function()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":even"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"background-color"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"yellow"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067076-8103-40D8-937B-37C958A3A446}"/>
              </a:ext>
            </a:extLst>
          </p:cNvPr>
          <p:cNvSpPr txBox="1"/>
          <p:nvPr/>
        </p:nvSpPr>
        <p:spPr>
          <a:xfrm>
            <a:off x="7806815" y="2413337"/>
            <a:ext cx="4296696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&lt;p&gt;My name is Donald (index 0).&lt;/p&gt;</a:t>
            </a:r>
          </a:p>
          <a:p>
            <a:r>
              <a:rPr lang="en-US" dirty="0"/>
              <a:t>&lt;p&gt;I live in Duckburg (index 1).&lt;/p&gt;</a:t>
            </a:r>
          </a:p>
          <a:p>
            <a:r>
              <a:rPr lang="en-US" dirty="0"/>
              <a:t>&lt;p&gt;My best friend is Mickey (index 2).&lt;/p&gt;</a:t>
            </a:r>
          </a:p>
          <a:p>
            <a:r>
              <a:rPr lang="en-US" dirty="0"/>
              <a:t>&lt;p&gt;My name is Daisy (index 3).&lt;/p&gt;</a:t>
            </a:r>
          </a:p>
          <a:p>
            <a:r>
              <a:rPr lang="en-US" dirty="0"/>
              <a:t>&lt;p&gt;I live in Duckburg (index 4).&lt;/p&gt;</a:t>
            </a:r>
          </a:p>
          <a:p>
            <a:r>
              <a:rPr lang="en-US" dirty="0"/>
              <a:t>&lt;p&gt;My best friend is Minnie (index 5).&lt;/p&gt;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9D32E6C-B089-48C8-ABBA-9AC837C912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274" t="22795" r="8306" b="49444"/>
          <a:stretch/>
        </p:blipFill>
        <p:spPr>
          <a:xfrm>
            <a:off x="157317" y="3492740"/>
            <a:ext cx="5171767" cy="190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32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DAFC3-1AF5-47E4-87FA-16BC7A779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039" y="72768"/>
            <a:ext cx="8895735" cy="608269"/>
          </a:xfrm>
        </p:spPr>
        <p:txBody>
          <a:bodyPr>
            <a:normAutofit fontScale="90000"/>
          </a:bodyPr>
          <a:lstStyle/>
          <a:p>
            <a:r>
              <a:rPr lang="en-IN" dirty="0"/>
              <a:t>Filter() with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EB9BA-4820-4BB6-88F5-514FAAFB7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2" y="865239"/>
            <a:ext cx="7049728" cy="172064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$(document).ready(function()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"li"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).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) 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strong"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=== 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}).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"background-color"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);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BE7E3-D824-43D2-B5DF-F7E613D75359}"/>
              </a:ext>
            </a:extLst>
          </p:cNvPr>
          <p:cNvSpPr txBox="1"/>
          <p:nvPr/>
        </p:nvSpPr>
        <p:spPr>
          <a:xfrm>
            <a:off x="176982" y="2979455"/>
            <a:ext cx="8681885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&lt;ul&gt;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800000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&lt;li&gt;&lt;strong&gt;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list</a:t>
            </a:r>
            <a:r>
              <a:rPr lang="en-IN" b="0" dirty="0">
                <a:solidFill>
                  <a:srgbClr val="800000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&lt;/strong&gt;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 item 1 - one strong tag</a:t>
            </a:r>
            <a:r>
              <a:rPr lang="en-IN" b="0" dirty="0">
                <a:solidFill>
                  <a:srgbClr val="800000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&lt;/li&gt;</a:t>
            </a:r>
            <a:endParaRPr lang="en-IN" b="0" dirty="0">
              <a:solidFill>
                <a:srgbClr val="000000"/>
              </a:solidFill>
              <a:effectLst/>
              <a:highlight>
                <a:srgbClr val="FF0000"/>
              </a:highlight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&lt;li&gt;&lt;strong&gt;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&lt;/strong&gt;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item 1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&lt;strong&gt;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 strong tag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&lt;/strong&gt;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-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two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strong tags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&lt;/span&gt;&lt;/li&gt;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 item 3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 item 4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 item 5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 item 6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&lt;/ul&gt;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983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2B07A-98E4-443A-9D5F-03F308247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9981" y="197977"/>
            <a:ext cx="9731477" cy="686927"/>
          </a:xfrm>
        </p:spPr>
        <p:txBody>
          <a:bodyPr>
            <a:normAutofit fontScale="90000"/>
          </a:bodyPr>
          <a:lstStyle/>
          <a:p>
            <a:r>
              <a:rPr lang="en-IN" dirty="0"/>
              <a:t>First-last-not-has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25DCB-6DF3-4E9F-8462-BAD7F637C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091" y="984148"/>
            <a:ext cx="3733800" cy="1603375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b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para 1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para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2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&lt;/span&gt;&lt;/p&gt;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E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"nm"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para 3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para 4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0EED3F-3F06-459B-BEDF-7B2E3B14E969}"/>
              </a:ext>
            </a:extLst>
          </p:cNvPr>
          <p:cNvSpPr txBox="1"/>
          <p:nvPr/>
        </p:nvSpPr>
        <p:spPr>
          <a:xfrm>
            <a:off x="4788310" y="879363"/>
            <a:ext cx="56633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$(document).ready(function()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"#nm"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'span'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3456147-FC51-4E71-BAC6-8C82AB3DB20D}"/>
              </a:ext>
            </a:extLst>
          </p:cNvPr>
          <p:cNvCxnSpPr/>
          <p:nvPr/>
        </p:nvCxnSpPr>
        <p:spPr>
          <a:xfrm flipH="1" flipV="1">
            <a:off x="2183991" y="1258529"/>
            <a:ext cx="3135261" cy="816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571F9A-F41B-488D-9DB8-6BEDE2A7598F}"/>
              </a:ext>
            </a:extLst>
          </p:cNvPr>
          <p:cNvCxnSpPr/>
          <p:nvPr/>
        </p:nvCxnSpPr>
        <p:spPr>
          <a:xfrm flipH="1" flipV="1">
            <a:off x="2104103" y="2379406"/>
            <a:ext cx="3293807" cy="78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428E49-DCAC-424E-97C0-DE83A996FC74}"/>
              </a:ext>
            </a:extLst>
          </p:cNvPr>
          <p:cNvCxnSpPr/>
          <p:nvPr/>
        </p:nvCxnSpPr>
        <p:spPr>
          <a:xfrm flipH="1" flipV="1">
            <a:off x="2772697" y="1785835"/>
            <a:ext cx="2546555" cy="1175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3C2846-6287-42C8-8AEE-8C09D3A5A624}"/>
              </a:ext>
            </a:extLst>
          </p:cNvPr>
          <p:cNvCxnSpPr>
            <a:cxnSpLocks/>
          </p:cNvCxnSpPr>
          <p:nvPr/>
        </p:nvCxnSpPr>
        <p:spPr>
          <a:xfrm flipH="1">
            <a:off x="4045974" y="2694039"/>
            <a:ext cx="1351936" cy="566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1E63791-E93B-4862-9A3D-E9B6CE71EB3D}"/>
              </a:ext>
            </a:extLst>
          </p:cNvPr>
          <p:cNvSpPr txBox="1">
            <a:spLocks/>
          </p:cNvSpPr>
          <p:nvPr/>
        </p:nvSpPr>
        <p:spPr>
          <a:xfrm>
            <a:off x="237203" y="2961149"/>
            <a:ext cx="3733800" cy="16033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b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s-E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&lt;p&gt;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 para 1</a:t>
            </a:r>
            <a:r>
              <a:rPr lang="es-E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endParaRPr lang="es-E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E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&lt;p&gt;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 para</a:t>
            </a:r>
            <a:r>
              <a:rPr lang="es-E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&lt;span&gt;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 2</a:t>
            </a:r>
            <a:r>
              <a:rPr lang="es-E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&lt;/span&gt;&lt;/p&gt;</a:t>
            </a:r>
            <a:endParaRPr lang="es-E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E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&lt;p&gt;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 para 4</a:t>
            </a:r>
            <a:r>
              <a:rPr lang="es-E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endParaRPr lang="es-E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52520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CC38-82AE-4CAF-98E4-7A561EAA9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135" y="102265"/>
            <a:ext cx="9721646" cy="578772"/>
          </a:xfrm>
        </p:spPr>
        <p:txBody>
          <a:bodyPr>
            <a:noAutofit/>
          </a:bodyPr>
          <a:lstStyle/>
          <a:p>
            <a:r>
              <a:rPr lang="en-IN" sz="1800" b="1" dirty="0"/>
              <a:t>Find():</a:t>
            </a:r>
            <a:r>
              <a:rPr lang="en-US" sz="1800" b="1" dirty="0"/>
              <a:t>method returns descendant elements of the selected element.  A descendant is a child, grandchild, great-grandchild, and so on.</a:t>
            </a:r>
            <a:endParaRPr lang="en-IN" sz="1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51470-0C88-4427-BF39-26025188D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084" y="911225"/>
            <a:ext cx="10515600" cy="578772"/>
          </a:xfrm>
        </p:spPr>
        <p:txBody>
          <a:bodyPr>
            <a:normAutofit/>
          </a:bodyPr>
          <a:lstStyle/>
          <a:p>
            <a:r>
              <a:rPr lang="en-US" sz="16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DOM tree: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This method traverse downwards along descendants of DOM elements, all the way down to the last descendant.</a:t>
            </a: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D92728-E10F-43CC-9754-E35A4C21BD97}"/>
              </a:ext>
            </a:extLst>
          </p:cNvPr>
          <p:cNvSpPr txBox="1"/>
          <p:nvPr/>
        </p:nvSpPr>
        <p:spPr>
          <a:xfrm>
            <a:off x="471949" y="1489997"/>
            <a:ext cx="95569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"descendants"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"width:500px;"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 (current element)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 (child)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span (grandchild)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 (child)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span (grandchild)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5F9A8E-1ACC-4282-99C9-89E316314B00}"/>
              </a:ext>
            </a:extLst>
          </p:cNvPr>
          <p:cNvSpPr txBox="1"/>
          <p:nvPr/>
        </p:nvSpPr>
        <p:spPr>
          <a:xfrm>
            <a:off x="6607278" y="2300031"/>
            <a:ext cx="475881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&lt;style&gt;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.descendants *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block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2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lightgrey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lightgrey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5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15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&lt;/style&gt;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F022F4-4921-492F-9A7A-53BFD0E25A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t="23370" r="3306" b="40576"/>
          <a:stretch/>
        </p:blipFill>
        <p:spPr>
          <a:xfrm>
            <a:off x="596081" y="4131672"/>
            <a:ext cx="5692877" cy="24726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2E509C-A114-4F71-9BC0-F8F4D50D28BC}"/>
              </a:ext>
            </a:extLst>
          </p:cNvPr>
          <p:cNvSpPr txBox="1"/>
          <p:nvPr/>
        </p:nvSpPr>
        <p:spPr>
          <a:xfrm>
            <a:off x="5919634" y="5460357"/>
            <a:ext cx="61341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$(document).ready(function() {</a:t>
            </a:r>
          </a:p>
          <a:p>
            <a:r>
              <a:rPr lang="en-US" dirty="0"/>
              <a:t>   $('div').find('span').</a:t>
            </a:r>
            <a:r>
              <a:rPr lang="en-US" dirty="0" err="1"/>
              <a:t>css</a:t>
            </a:r>
            <a:r>
              <a:rPr lang="en-US" dirty="0"/>
              <a:t>('</a:t>
            </a:r>
            <a:r>
              <a:rPr lang="en-US" dirty="0" err="1"/>
              <a:t>color',"red</a:t>
            </a:r>
            <a:r>
              <a:rPr lang="en-US" dirty="0"/>
              <a:t>");</a:t>
            </a:r>
          </a:p>
          <a:p>
            <a:endParaRPr lang="en-US" dirty="0"/>
          </a:p>
          <a:p>
            <a:r>
              <a:rPr lang="en-US" dirty="0"/>
              <a:t>});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4719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93A1A-6167-434E-91B2-1880BA360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632" y="79990"/>
            <a:ext cx="8895735" cy="608269"/>
          </a:xfrm>
        </p:spPr>
        <p:txBody>
          <a:bodyPr>
            <a:normAutofit fontScale="90000"/>
          </a:bodyPr>
          <a:lstStyle/>
          <a:p>
            <a:r>
              <a:rPr lang="en-IN" dirty="0"/>
              <a:t>end()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94FE7-C218-4388-8BBB-272AC2307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928" y="862063"/>
            <a:ext cx="9357852" cy="129120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8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8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8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8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IN" sz="8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8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8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8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8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8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ul.first</a:t>
            </a:r>
            <a:r>
              <a:rPr lang="en-IN" sz="8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8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8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IN" sz="8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'.foo'</a:t>
            </a:r>
            <a:r>
              <a:rPr lang="en-IN" sz="8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8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IN" sz="8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'background-</a:t>
            </a:r>
            <a:r>
              <a:rPr lang="en-IN" sz="8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8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8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8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en-IN" sz="8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8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.</a:t>
            </a:r>
            <a:r>
              <a:rPr lang="en-IN" sz="8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sz="8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8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IN" sz="8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'.bar'</a:t>
            </a:r>
            <a:r>
              <a:rPr lang="en-IN" sz="8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8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IN" sz="8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'background-</a:t>
            </a:r>
            <a:r>
              <a:rPr lang="en-IN" sz="8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8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8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8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'green'</a:t>
            </a:r>
            <a:r>
              <a:rPr lang="en-IN" sz="8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8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</a:p>
          <a:p>
            <a:pPr marL="0" indent="0">
              <a:buNone/>
            </a:pPr>
            <a:r>
              <a:rPr lang="en-IN" sz="8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});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65EB8B-8DA0-45AA-87B1-66E8713FEEB5}"/>
              </a:ext>
            </a:extLst>
          </p:cNvPr>
          <p:cNvSpPr txBox="1"/>
          <p:nvPr/>
        </p:nvSpPr>
        <p:spPr>
          <a:xfrm>
            <a:off x="422787" y="2550056"/>
            <a:ext cx="61353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&lt;ul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"first"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"foo"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list item 1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 item 2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"bar"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list item 3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&lt;/ul&gt;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&lt;ul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"second"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"foo"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 item 1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 item 2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"bar"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 item 3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&lt;/ul&gt;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B6670A7-6E25-41C0-ACE8-087E35F20729}"/>
              </a:ext>
            </a:extLst>
          </p:cNvPr>
          <p:cNvCxnSpPr/>
          <p:nvPr/>
        </p:nvCxnSpPr>
        <p:spPr>
          <a:xfrm flipH="1">
            <a:off x="963561" y="1818968"/>
            <a:ext cx="609600" cy="1120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8266FA1-B5E7-45C5-92DC-13D374020471}"/>
              </a:ext>
            </a:extLst>
          </p:cNvPr>
          <p:cNvSpPr txBox="1"/>
          <p:nvPr/>
        </p:nvSpPr>
        <p:spPr>
          <a:xfrm>
            <a:off x="6626942" y="2194740"/>
            <a:ext cx="4031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end() will take you back </a:t>
            </a:r>
            <a:r>
              <a:rPr lang="en-IN" dirty="0" err="1"/>
              <a:t>ie</a:t>
            </a:r>
            <a:r>
              <a:rPr lang="en-IN" dirty="0"/>
              <a:t> to parent.</a:t>
            </a:r>
          </a:p>
        </p:txBody>
      </p:sp>
    </p:spTree>
    <p:extLst>
      <p:ext uri="{BB962C8B-B14F-4D97-AF65-F5344CB8AC3E}">
        <p14:creationId xmlns:p14="http://schemas.microsoft.com/office/powerpoint/2010/main" val="3014684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C1E24-2771-43B5-91B2-8C69F0946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838" y="365125"/>
            <a:ext cx="9878961" cy="785249"/>
          </a:xfrm>
        </p:spPr>
        <p:txBody>
          <a:bodyPr/>
          <a:lstStyle/>
          <a:p>
            <a:r>
              <a:rPr lang="en-IN" dirty="0" err="1"/>
              <a:t>andself</a:t>
            </a:r>
            <a:r>
              <a:rPr lang="en-IN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2868A-8FD3-47C4-8A78-0E90378B6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777748" cy="13649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"div"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andSelf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"background 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});</a:t>
            </a: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B8CB31-278B-414C-95BF-378E4286BE20}"/>
              </a:ext>
            </a:extLst>
          </p:cNvPr>
          <p:cNvSpPr txBox="1"/>
          <p:nvPr/>
        </p:nvSpPr>
        <p:spPr>
          <a:xfrm>
            <a:off x="621890" y="3667432"/>
            <a:ext cx="47661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&lt;div&gt;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data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First Paragraph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&lt;/p&gt;</a:t>
            </a:r>
            <a:endParaRPr lang="en-US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Second Paragraph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&lt;/p&gt;</a:t>
            </a:r>
            <a:endParaRPr lang="en-US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&lt;/div&gt;</a:t>
            </a:r>
            <a:endParaRPr lang="en-US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97AD7C-C725-4C11-B655-DB463920E26D}"/>
              </a:ext>
            </a:extLst>
          </p:cNvPr>
          <p:cNvSpPr txBox="1"/>
          <p:nvPr/>
        </p:nvSpPr>
        <p:spPr>
          <a:xfrm>
            <a:off x="6473311" y="965708"/>
            <a:ext cx="511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 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background: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D4C106-A8D6-4F56-B0BE-A99BEBAD7444}"/>
              </a:ext>
            </a:extLst>
          </p:cNvPr>
          <p:cNvSpPr txBox="1"/>
          <p:nvPr/>
        </p:nvSpPr>
        <p:spPr>
          <a:xfrm>
            <a:off x="6253315" y="3549445"/>
            <a:ext cx="59386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andSelf</a:t>
            </a:r>
            <a:r>
              <a:rPr lang="en-IN" dirty="0"/>
              <a:t>() will include effects on div tag also.</a:t>
            </a:r>
          </a:p>
          <a:p>
            <a:r>
              <a:rPr lang="en-IN" dirty="0"/>
              <a:t>If you write 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"div"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addClass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"background 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dirty="0"/>
          </a:p>
          <a:p>
            <a:r>
              <a:rPr lang="en-IN" dirty="0"/>
              <a:t>It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C5EA87-CE96-42D9-8D1D-381EE1BED36A}"/>
              </a:ext>
            </a:extLst>
          </p:cNvPr>
          <p:cNvSpPr txBox="1"/>
          <p:nvPr/>
        </p:nvSpPr>
        <p:spPr>
          <a:xfrm>
            <a:off x="6414318" y="5108651"/>
            <a:ext cx="45584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First Paragraph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&lt;/p&gt;</a:t>
            </a:r>
            <a:endParaRPr lang="en-US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Second Paragraph</a:t>
            </a:r>
            <a:r>
              <a:rPr lang="en-US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&lt;/p&gt;</a:t>
            </a:r>
            <a:endParaRPr lang="en-US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649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35089-7F04-4BCF-ABC4-260495910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3103" y="0"/>
            <a:ext cx="4372897" cy="824578"/>
          </a:xfrm>
        </p:spPr>
        <p:txBody>
          <a:bodyPr/>
          <a:lstStyle/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contents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2AFA-010D-4F44-8B06-9EA5F1D23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20" y="894735"/>
            <a:ext cx="11729884" cy="824578"/>
          </a:xfrm>
        </p:spPr>
        <p:txBody>
          <a:bodyPr/>
          <a:lstStyle/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.contents(): Get the children of each element in the set of matched elements, including 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 nodes.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98868-7234-41D9-8AB2-3D564D29F087}"/>
              </a:ext>
            </a:extLst>
          </p:cNvPr>
          <p:cNvSpPr txBox="1"/>
          <p:nvPr/>
        </p:nvSpPr>
        <p:spPr>
          <a:xfrm>
            <a:off x="206477" y="1789470"/>
            <a:ext cx="77183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'.container'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contents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'.container'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contents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nodeValue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 //this refer to current object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nodeType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wrap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"&lt;b&gt;&lt;/b&gt;"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10082B-A9D2-43E3-ABBE-566298752047}"/>
              </a:ext>
            </a:extLst>
          </p:cNvPr>
          <p:cNvSpPr txBox="1"/>
          <p:nvPr/>
        </p:nvSpPr>
        <p:spPr>
          <a:xfrm>
            <a:off x="127820" y="4815522"/>
            <a:ext cx="7718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"container"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 is 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divdata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37A21E-8351-4E36-BAAD-66F1F02AFBB0}"/>
              </a:ext>
            </a:extLst>
          </p:cNvPr>
          <p:cNvCxnSpPr/>
          <p:nvPr/>
        </p:nvCxnSpPr>
        <p:spPr>
          <a:xfrm>
            <a:off x="5486400" y="2271252"/>
            <a:ext cx="21827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92B4B3E-ED76-4FE6-A287-469A12457E0E}"/>
              </a:ext>
            </a:extLst>
          </p:cNvPr>
          <p:cNvSpPr txBox="1"/>
          <p:nvPr/>
        </p:nvSpPr>
        <p:spPr>
          <a:xfrm>
            <a:off x="8032955" y="1927123"/>
            <a:ext cx="3677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Data====text node [</a:t>
            </a:r>
            <a:r>
              <a:rPr lang="en-IN" dirty="0" err="1"/>
              <a:t>nodeType</a:t>
            </a:r>
            <a:r>
              <a:rPr lang="en-IN" dirty="0"/>
              <a:t>=3]</a:t>
            </a:r>
          </a:p>
          <a:p>
            <a:r>
              <a:rPr lang="en-IN" dirty="0"/>
              <a:t>&lt;p&gt; this is&lt;/p&gt;</a:t>
            </a:r>
          </a:p>
          <a:p>
            <a:r>
              <a:rPr lang="en-IN" dirty="0" err="1"/>
              <a:t>Div</a:t>
            </a:r>
            <a:r>
              <a:rPr lang="en-IN" dirty="0"/>
              <a:t> data===text node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1AE5AA9-6868-4492-AC27-11A6344C80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64" r="66936" b="79785"/>
          <a:stretch/>
        </p:blipFill>
        <p:spPr>
          <a:xfrm>
            <a:off x="7678993" y="3559277"/>
            <a:ext cx="4031226" cy="1162502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6D7654-6516-4072-89A6-A4319F4E5112}"/>
              </a:ext>
            </a:extLst>
          </p:cNvPr>
          <p:cNvCxnSpPr/>
          <p:nvPr/>
        </p:nvCxnSpPr>
        <p:spPr>
          <a:xfrm>
            <a:off x="1061884" y="3429000"/>
            <a:ext cx="6469626" cy="599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852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35089-7F04-4BCF-ABC4-260495910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3103" y="0"/>
            <a:ext cx="4372897" cy="824578"/>
          </a:xfrm>
        </p:spPr>
        <p:txBody>
          <a:bodyPr/>
          <a:lstStyle/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contents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2AFA-010D-4F44-8B06-9EA5F1D23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20" y="894735"/>
            <a:ext cx="11729884" cy="824578"/>
          </a:xfrm>
        </p:spPr>
        <p:txBody>
          <a:bodyPr/>
          <a:lstStyle/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.contents(): Get the children of each element in the set of matched elements, including 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 nodes.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98868-7234-41D9-8AB2-3D564D29F087}"/>
              </a:ext>
            </a:extLst>
          </p:cNvPr>
          <p:cNvSpPr txBox="1"/>
          <p:nvPr/>
        </p:nvSpPr>
        <p:spPr>
          <a:xfrm>
            <a:off x="206477" y="1789470"/>
            <a:ext cx="77183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'.container'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contents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'.container'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contents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nodeValue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 //this refer to current object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nodeType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wrapAll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"&lt;b&gt;&lt;/b&gt;"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10082B-A9D2-43E3-ABBE-566298752047}"/>
              </a:ext>
            </a:extLst>
          </p:cNvPr>
          <p:cNvSpPr txBox="1"/>
          <p:nvPr/>
        </p:nvSpPr>
        <p:spPr>
          <a:xfrm>
            <a:off x="127820" y="4815522"/>
            <a:ext cx="7718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"container"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 is 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divdata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37A21E-8351-4E36-BAAD-66F1F02AFBB0}"/>
              </a:ext>
            </a:extLst>
          </p:cNvPr>
          <p:cNvCxnSpPr/>
          <p:nvPr/>
        </p:nvCxnSpPr>
        <p:spPr>
          <a:xfrm>
            <a:off x="5486400" y="2271252"/>
            <a:ext cx="21827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92B4B3E-ED76-4FE6-A287-469A12457E0E}"/>
              </a:ext>
            </a:extLst>
          </p:cNvPr>
          <p:cNvSpPr txBox="1"/>
          <p:nvPr/>
        </p:nvSpPr>
        <p:spPr>
          <a:xfrm>
            <a:off x="8032955" y="1927123"/>
            <a:ext cx="3677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Data====text node [</a:t>
            </a:r>
            <a:r>
              <a:rPr lang="en-IN" dirty="0" err="1"/>
              <a:t>nodeType</a:t>
            </a:r>
            <a:r>
              <a:rPr lang="en-IN" dirty="0"/>
              <a:t>=3]</a:t>
            </a:r>
          </a:p>
          <a:p>
            <a:r>
              <a:rPr lang="en-IN" dirty="0"/>
              <a:t>&lt;p&gt; this is&lt;/p&gt;</a:t>
            </a:r>
          </a:p>
          <a:p>
            <a:r>
              <a:rPr lang="en-IN" dirty="0" err="1"/>
              <a:t>Div</a:t>
            </a:r>
            <a:r>
              <a:rPr lang="en-IN" dirty="0"/>
              <a:t> data===text node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6D7654-6516-4072-89A6-A4319F4E5112}"/>
              </a:ext>
            </a:extLst>
          </p:cNvPr>
          <p:cNvCxnSpPr/>
          <p:nvPr/>
        </p:nvCxnSpPr>
        <p:spPr>
          <a:xfrm>
            <a:off x="1061884" y="3429000"/>
            <a:ext cx="6469626" cy="599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9BFD938-9870-48AA-A96E-05E84364F0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158" r="9677" b="45376"/>
          <a:stretch/>
        </p:blipFill>
        <p:spPr>
          <a:xfrm>
            <a:off x="7108723" y="3357037"/>
            <a:ext cx="5083277" cy="215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57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8DFD-52EA-41BE-ADBB-270357B4F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34CAE-3814-4336-8065-8BFFC5979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478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1519</Words>
  <Application>Microsoft Office PowerPoint</Application>
  <PresentationFormat>Widescreen</PresentationFormat>
  <Paragraphs>177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Consolas</vt:lpstr>
      <vt:lpstr>klavika-web</vt:lpstr>
      <vt:lpstr>Verdana</vt:lpstr>
      <vt:lpstr>Office Theme</vt:lpstr>
      <vt:lpstr>PowerPoint Presentation</vt:lpstr>
      <vt:lpstr>Traversing</vt:lpstr>
      <vt:lpstr>.eq(index) and .eq(-index)[-ve means from last]</vt:lpstr>
      <vt:lpstr>.filter()</vt:lpstr>
      <vt:lpstr>Filter() with function</vt:lpstr>
      <vt:lpstr>First-last-not-has </vt:lpstr>
      <vt:lpstr>Find():method returns descendant elements of the selected element.  A descendant is a child, grandchild, great-grandchild, and so on.</vt:lpstr>
      <vt:lpstr>end()</vt:lpstr>
      <vt:lpstr>andself()</vt:lpstr>
      <vt:lpstr>.contents()</vt:lpstr>
      <vt:lpstr>.contents()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Ketki Acharya</cp:lastModifiedBy>
  <cp:revision>84</cp:revision>
  <dcterms:created xsi:type="dcterms:W3CDTF">2020-12-08T04:28:35Z</dcterms:created>
  <dcterms:modified xsi:type="dcterms:W3CDTF">2022-03-08T03:59:34Z</dcterms:modified>
</cp:coreProperties>
</file>