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60" r:id="rId2"/>
    <p:sldId id="261" r:id="rId3"/>
    <p:sldId id="262" r:id="rId4"/>
    <p:sldId id="263" r:id="rId5"/>
    <p:sldId id="264" r:id="rId6"/>
    <p:sldId id="265" r:id="rId7"/>
    <p:sldId id="266" r:id="rId8"/>
    <p:sldId id="267" r:id="rId9"/>
    <p:sldId id="268" r:id="rId10"/>
    <p:sldId id="269" r:id="rId11"/>
    <p:sldId id="270" r:id="rId12"/>
    <p:sldId id="272" r:id="rId13"/>
    <p:sldId id="271" r:id="rId14"/>
    <p:sldId id="273" r:id="rId15"/>
    <p:sldId id="274" r:id="rId16"/>
    <p:sldId id="275" r:id="rId17"/>
    <p:sldId id="27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806"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667345-2826-41D5-A086-E491BC8DE5FE}" type="datetimeFigureOut">
              <a:rPr lang="en-IN" smtClean="0"/>
              <a:t>15-01-2024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827529-61A6-4D56-8001-AAA2A6445CCD}" type="slidenum">
              <a:rPr lang="en-IN" smtClean="0"/>
              <a:t>‹#›</a:t>
            </a:fld>
            <a:endParaRPr lang="en-IN"/>
          </a:p>
        </p:txBody>
      </p:sp>
    </p:spTree>
    <p:extLst>
      <p:ext uri="{BB962C8B-B14F-4D97-AF65-F5344CB8AC3E}">
        <p14:creationId xmlns:p14="http://schemas.microsoft.com/office/powerpoint/2010/main" val="2310849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E827529-61A6-4D56-8001-AAA2A6445CCD}" type="slidenum">
              <a:rPr lang="en-IN" smtClean="0"/>
              <a:t>2</a:t>
            </a:fld>
            <a:endParaRPr lang="en-IN"/>
          </a:p>
        </p:txBody>
      </p:sp>
    </p:spTree>
    <p:extLst>
      <p:ext uri="{BB962C8B-B14F-4D97-AF65-F5344CB8AC3E}">
        <p14:creationId xmlns:p14="http://schemas.microsoft.com/office/powerpoint/2010/main" val="2678387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89443-FFEE-4C82-A966-BF1CE2F8074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8C93334-666B-4F20-ACB6-61846BF651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1E4E580-2FB4-457A-A152-EF6B9D382E45}"/>
              </a:ext>
            </a:extLst>
          </p:cNvPr>
          <p:cNvSpPr>
            <a:spLocks noGrp="1"/>
          </p:cNvSpPr>
          <p:nvPr>
            <p:ph type="dt" sz="half" idx="10"/>
          </p:nvPr>
        </p:nvSpPr>
        <p:spPr/>
        <p:txBody>
          <a:bodyPr/>
          <a:lstStyle/>
          <a:p>
            <a:fld id="{DC63DDF5-237E-4516-A055-57F6167FD6A0}" type="datetimeFigureOut">
              <a:rPr lang="en-IN" smtClean="0"/>
              <a:t>15-01-2024</a:t>
            </a:fld>
            <a:endParaRPr lang="en-IN"/>
          </a:p>
        </p:txBody>
      </p:sp>
      <p:sp>
        <p:nvSpPr>
          <p:cNvPr id="5" name="Footer Placeholder 4">
            <a:extLst>
              <a:ext uri="{FF2B5EF4-FFF2-40B4-BE49-F238E27FC236}">
                <a16:creationId xmlns:a16="http://schemas.microsoft.com/office/drawing/2014/main" id="{0B260D9B-B68C-4620-87CE-F0A1870983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C136A0-EDC3-4BA9-B4B6-EC9BF9D03A88}"/>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978479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C580A-668F-4970-939B-82FD723150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3C0C4B-F586-4500-8F73-5AB60C98B4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EE74F4-FCA3-423C-8169-8DE1C05217AC}"/>
              </a:ext>
            </a:extLst>
          </p:cNvPr>
          <p:cNvSpPr>
            <a:spLocks noGrp="1"/>
          </p:cNvSpPr>
          <p:nvPr>
            <p:ph type="dt" sz="half" idx="10"/>
          </p:nvPr>
        </p:nvSpPr>
        <p:spPr/>
        <p:txBody>
          <a:bodyPr/>
          <a:lstStyle/>
          <a:p>
            <a:fld id="{DC63DDF5-237E-4516-A055-57F6167FD6A0}" type="datetimeFigureOut">
              <a:rPr lang="en-IN" smtClean="0"/>
              <a:t>15-01-2024</a:t>
            </a:fld>
            <a:endParaRPr lang="en-IN"/>
          </a:p>
        </p:txBody>
      </p:sp>
      <p:sp>
        <p:nvSpPr>
          <p:cNvPr id="5" name="Footer Placeholder 4">
            <a:extLst>
              <a:ext uri="{FF2B5EF4-FFF2-40B4-BE49-F238E27FC236}">
                <a16:creationId xmlns:a16="http://schemas.microsoft.com/office/drawing/2014/main" id="{5DFD7A50-489D-4A36-9E70-A7CE26DD3F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D1DF1E-DB70-435B-B5B9-04642DBFF9DD}"/>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1728822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6F664-4139-40D8-BD0C-35879E6993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9EF26F1-4D00-4DB5-9F33-8C620144C5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5AFA7E-9C13-42BB-B8F5-23167082F65C}"/>
              </a:ext>
            </a:extLst>
          </p:cNvPr>
          <p:cNvSpPr>
            <a:spLocks noGrp="1"/>
          </p:cNvSpPr>
          <p:nvPr>
            <p:ph type="dt" sz="half" idx="10"/>
          </p:nvPr>
        </p:nvSpPr>
        <p:spPr/>
        <p:txBody>
          <a:bodyPr/>
          <a:lstStyle/>
          <a:p>
            <a:fld id="{DC63DDF5-237E-4516-A055-57F6167FD6A0}" type="datetimeFigureOut">
              <a:rPr lang="en-IN" smtClean="0"/>
              <a:t>15-01-2024</a:t>
            </a:fld>
            <a:endParaRPr lang="en-IN"/>
          </a:p>
        </p:txBody>
      </p:sp>
      <p:sp>
        <p:nvSpPr>
          <p:cNvPr id="5" name="Footer Placeholder 4">
            <a:extLst>
              <a:ext uri="{FF2B5EF4-FFF2-40B4-BE49-F238E27FC236}">
                <a16:creationId xmlns:a16="http://schemas.microsoft.com/office/drawing/2014/main" id="{0FB5A40E-26F3-49D5-8231-9CFBE0FA2C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CA8821-1DD5-46AF-B859-E9DB767FCD9C}"/>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137652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51D5B-DD80-4F4B-BB8B-3C6E40D356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86A43B7-8865-447C-9193-E158DC9C4A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59041A5-4AA5-4584-9AFF-0D61E3065E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A986933-95C5-4E0D-AA2B-A304FD2F5E41}"/>
              </a:ext>
            </a:extLst>
          </p:cNvPr>
          <p:cNvSpPr>
            <a:spLocks noGrp="1"/>
          </p:cNvSpPr>
          <p:nvPr>
            <p:ph type="dt" sz="half" idx="10"/>
          </p:nvPr>
        </p:nvSpPr>
        <p:spPr/>
        <p:txBody>
          <a:bodyPr/>
          <a:lstStyle/>
          <a:p>
            <a:fld id="{DC63DDF5-237E-4516-A055-57F6167FD6A0}" type="datetimeFigureOut">
              <a:rPr lang="en-IN" smtClean="0"/>
              <a:t>15-01-2024</a:t>
            </a:fld>
            <a:endParaRPr lang="en-IN"/>
          </a:p>
        </p:txBody>
      </p:sp>
      <p:sp>
        <p:nvSpPr>
          <p:cNvPr id="6" name="Footer Placeholder 5">
            <a:extLst>
              <a:ext uri="{FF2B5EF4-FFF2-40B4-BE49-F238E27FC236}">
                <a16:creationId xmlns:a16="http://schemas.microsoft.com/office/drawing/2014/main" id="{067BD086-7216-419B-A6C2-5F7B782659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603E10-F0A2-45A1-9365-3ABF74638A13}"/>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333729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1F1CA-47E7-4B65-AB75-C3261008F3F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427C2BE-930A-4711-B915-DA01FBCF39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323A3D-8034-492F-A3FC-218108F551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F7BFD0-D5C1-41E3-B446-203258A7CD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8C35BF-C149-4790-95D1-210A40703B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88650A6-80C6-405E-891A-5C08D56AFFCE}"/>
              </a:ext>
            </a:extLst>
          </p:cNvPr>
          <p:cNvSpPr>
            <a:spLocks noGrp="1"/>
          </p:cNvSpPr>
          <p:nvPr>
            <p:ph type="dt" sz="half" idx="10"/>
          </p:nvPr>
        </p:nvSpPr>
        <p:spPr/>
        <p:txBody>
          <a:bodyPr/>
          <a:lstStyle/>
          <a:p>
            <a:fld id="{DC63DDF5-237E-4516-A055-57F6167FD6A0}" type="datetimeFigureOut">
              <a:rPr lang="en-IN" smtClean="0"/>
              <a:t>15-01-2024</a:t>
            </a:fld>
            <a:endParaRPr lang="en-IN"/>
          </a:p>
        </p:txBody>
      </p:sp>
      <p:sp>
        <p:nvSpPr>
          <p:cNvPr id="8" name="Footer Placeholder 7">
            <a:extLst>
              <a:ext uri="{FF2B5EF4-FFF2-40B4-BE49-F238E27FC236}">
                <a16:creationId xmlns:a16="http://schemas.microsoft.com/office/drawing/2014/main" id="{F48AE45E-EF40-40B8-A8C4-93AF497E661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7C4334E-6748-41DF-A0A1-B0D6C07A55D6}"/>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3419076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5B3E6-97E4-49A2-9744-8A16A9B3A22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BDE765C-AE3B-4BB2-8980-1663BA2C5017}"/>
              </a:ext>
            </a:extLst>
          </p:cNvPr>
          <p:cNvSpPr>
            <a:spLocks noGrp="1"/>
          </p:cNvSpPr>
          <p:nvPr>
            <p:ph type="dt" sz="half" idx="10"/>
          </p:nvPr>
        </p:nvSpPr>
        <p:spPr/>
        <p:txBody>
          <a:bodyPr/>
          <a:lstStyle/>
          <a:p>
            <a:fld id="{DC63DDF5-237E-4516-A055-57F6167FD6A0}" type="datetimeFigureOut">
              <a:rPr lang="en-IN" smtClean="0"/>
              <a:t>15-01-2024</a:t>
            </a:fld>
            <a:endParaRPr lang="en-IN"/>
          </a:p>
        </p:txBody>
      </p:sp>
      <p:sp>
        <p:nvSpPr>
          <p:cNvPr id="4" name="Footer Placeholder 3">
            <a:extLst>
              <a:ext uri="{FF2B5EF4-FFF2-40B4-BE49-F238E27FC236}">
                <a16:creationId xmlns:a16="http://schemas.microsoft.com/office/drawing/2014/main" id="{6E4A86FB-C3AD-479D-B553-81ADCFC776F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38B2B66-F1AE-441B-8A26-046F8127DC6F}"/>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148688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9A9C74-D28D-4EB5-BD2E-6497EB289B2C}"/>
              </a:ext>
            </a:extLst>
          </p:cNvPr>
          <p:cNvSpPr>
            <a:spLocks noGrp="1"/>
          </p:cNvSpPr>
          <p:nvPr>
            <p:ph type="dt" sz="half" idx="10"/>
          </p:nvPr>
        </p:nvSpPr>
        <p:spPr/>
        <p:txBody>
          <a:bodyPr/>
          <a:lstStyle/>
          <a:p>
            <a:fld id="{DC63DDF5-237E-4516-A055-57F6167FD6A0}" type="datetimeFigureOut">
              <a:rPr lang="en-IN" smtClean="0"/>
              <a:t>15-01-2024</a:t>
            </a:fld>
            <a:endParaRPr lang="en-IN"/>
          </a:p>
        </p:txBody>
      </p:sp>
      <p:sp>
        <p:nvSpPr>
          <p:cNvPr id="3" name="Footer Placeholder 2">
            <a:extLst>
              <a:ext uri="{FF2B5EF4-FFF2-40B4-BE49-F238E27FC236}">
                <a16:creationId xmlns:a16="http://schemas.microsoft.com/office/drawing/2014/main" id="{47D64809-42FD-4A11-B819-AD17C8D6725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002BC93-2C20-4A10-8386-5E6BBC6B7584}"/>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1811505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27F65-DBCB-4801-B4F7-01DAA9F1EA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492DDB3-BF37-4811-AA22-0157F0F566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22E616A-B6D5-4B0C-BE05-75FC81B410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D50D6E-AB39-4131-931B-11AEE1558B50}"/>
              </a:ext>
            </a:extLst>
          </p:cNvPr>
          <p:cNvSpPr>
            <a:spLocks noGrp="1"/>
          </p:cNvSpPr>
          <p:nvPr>
            <p:ph type="dt" sz="half" idx="10"/>
          </p:nvPr>
        </p:nvSpPr>
        <p:spPr/>
        <p:txBody>
          <a:bodyPr/>
          <a:lstStyle/>
          <a:p>
            <a:fld id="{DC63DDF5-237E-4516-A055-57F6167FD6A0}" type="datetimeFigureOut">
              <a:rPr lang="en-IN" smtClean="0"/>
              <a:t>15-01-2024</a:t>
            </a:fld>
            <a:endParaRPr lang="en-IN"/>
          </a:p>
        </p:txBody>
      </p:sp>
      <p:sp>
        <p:nvSpPr>
          <p:cNvPr id="6" name="Footer Placeholder 5">
            <a:extLst>
              <a:ext uri="{FF2B5EF4-FFF2-40B4-BE49-F238E27FC236}">
                <a16:creationId xmlns:a16="http://schemas.microsoft.com/office/drawing/2014/main" id="{50E0CE22-92D3-4DAA-8BCE-0A03B688A6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FE6409-721A-4A59-8C8C-991DFF5DB60D}"/>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703529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215F6-2CCA-471A-8A4C-B14E37B46C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5881F1C-8AB8-4B4B-AB87-147354B359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3F143F0-C23B-4B04-BC3E-09FD7FA9BF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A86794-29D4-48F5-AAB7-FEDE38699205}"/>
              </a:ext>
            </a:extLst>
          </p:cNvPr>
          <p:cNvSpPr>
            <a:spLocks noGrp="1"/>
          </p:cNvSpPr>
          <p:nvPr>
            <p:ph type="dt" sz="half" idx="10"/>
          </p:nvPr>
        </p:nvSpPr>
        <p:spPr/>
        <p:txBody>
          <a:bodyPr/>
          <a:lstStyle/>
          <a:p>
            <a:fld id="{DC63DDF5-237E-4516-A055-57F6167FD6A0}" type="datetimeFigureOut">
              <a:rPr lang="en-IN" smtClean="0"/>
              <a:t>15-01-2024</a:t>
            </a:fld>
            <a:endParaRPr lang="en-IN"/>
          </a:p>
        </p:txBody>
      </p:sp>
      <p:sp>
        <p:nvSpPr>
          <p:cNvPr id="6" name="Footer Placeholder 5">
            <a:extLst>
              <a:ext uri="{FF2B5EF4-FFF2-40B4-BE49-F238E27FC236}">
                <a16:creationId xmlns:a16="http://schemas.microsoft.com/office/drawing/2014/main" id="{0806CB9B-4D4C-4ACA-A95C-383DD8CF224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11648DB-2CE3-4422-BA6A-7F581DD4ECCD}"/>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2582913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7F9C4-EC3D-4D88-916D-9C28F12E07A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F3ECD7-301A-4007-9555-FAB7F47F16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9D8B08-380A-4D4C-8558-710BAA448F51}"/>
              </a:ext>
            </a:extLst>
          </p:cNvPr>
          <p:cNvSpPr>
            <a:spLocks noGrp="1"/>
          </p:cNvSpPr>
          <p:nvPr>
            <p:ph type="dt" sz="half" idx="10"/>
          </p:nvPr>
        </p:nvSpPr>
        <p:spPr/>
        <p:txBody>
          <a:bodyPr/>
          <a:lstStyle/>
          <a:p>
            <a:fld id="{DC63DDF5-237E-4516-A055-57F6167FD6A0}" type="datetimeFigureOut">
              <a:rPr lang="en-IN" smtClean="0"/>
              <a:t>15-01-2024</a:t>
            </a:fld>
            <a:endParaRPr lang="en-IN"/>
          </a:p>
        </p:txBody>
      </p:sp>
      <p:sp>
        <p:nvSpPr>
          <p:cNvPr id="5" name="Footer Placeholder 4">
            <a:extLst>
              <a:ext uri="{FF2B5EF4-FFF2-40B4-BE49-F238E27FC236}">
                <a16:creationId xmlns:a16="http://schemas.microsoft.com/office/drawing/2014/main" id="{FAA45EE6-7C0B-46D1-ACD2-1400C51A81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87C531-6255-483B-85A2-FC2B5D915DB6}"/>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2200382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72BEA0-82D9-44CE-8195-5A5B7E10AA2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F70A67E-302F-423F-92E9-8B2E7DD36A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6B3939-E0C6-4AEC-B1A6-99FA8EBD67C4}"/>
              </a:ext>
            </a:extLst>
          </p:cNvPr>
          <p:cNvSpPr>
            <a:spLocks noGrp="1"/>
          </p:cNvSpPr>
          <p:nvPr>
            <p:ph type="dt" sz="half" idx="10"/>
          </p:nvPr>
        </p:nvSpPr>
        <p:spPr/>
        <p:txBody>
          <a:bodyPr/>
          <a:lstStyle/>
          <a:p>
            <a:fld id="{DC63DDF5-237E-4516-A055-57F6167FD6A0}" type="datetimeFigureOut">
              <a:rPr lang="en-IN" smtClean="0"/>
              <a:t>15-01-2024</a:t>
            </a:fld>
            <a:endParaRPr lang="en-IN"/>
          </a:p>
        </p:txBody>
      </p:sp>
      <p:sp>
        <p:nvSpPr>
          <p:cNvPr id="5" name="Footer Placeholder 4">
            <a:extLst>
              <a:ext uri="{FF2B5EF4-FFF2-40B4-BE49-F238E27FC236}">
                <a16:creationId xmlns:a16="http://schemas.microsoft.com/office/drawing/2014/main" id="{F329C804-538E-4BBD-975D-7A768D3ECC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803EAE-674C-4E86-883E-3AF5874ED180}"/>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769603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314469-9391-4513-9B67-5B4CAA8F02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807ACC0-3600-409D-B5CE-5EE024B627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AE5ABD-DCDA-47A0-A577-5162BFA578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63DDF5-237E-4516-A055-57F6167FD6A0}" type="datetimeFigureOut">
              <a:rPr lang="en-IN" smtClean="0"/>
              <a:t>15-01-2024</a:t>
            </a:fld>
            <a:endParaRPr lang="en-IN"/>
          </a:p>
        </p:txBody>
      </p:sp>
      <p:sp>
        <p:nvSpPr>
          <p:cNvPr id="5" name="Footer Placeholder 4">
            <a:extLst>
              <a:ext uri="{FF2B5EF4-FFF2-40B4-BE49-F238E27FC236}">
                <a16:creationId xmlns:a16="http://schemas.microsoft.com/office/drawing/2014/main" id="{0CA5718B-B236-4E69-93D5-5A2D017259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B99D5EC-A01E-4BD2-91FF-5D1045935C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299C85-F5E8-48EE-B13A-6A0A32891F88}" type="slidenum">
              <a:rPr lang="en-IN" smtClean="0"/>
              <a:t>‹#›</a:t>
            </a:fld>
            <a:endParaRPr lang="en-IN"/>
          </a:p>
        </p:txBody>
      </p:sp>
      <p:pic>
        <p:nvPicPr>
          <p:cNvPr id="7" name="Picture 6">
            <a:extLst>
              <a:ext uri="{FF2B5EF4-FFF2-40B4-BE49-F238E27FC236}">
                <a16:creationId xmlns:a16="http://schemas.microsoft.com/office/drawing/2014/main" id="{E6030DFE-449A-4058-8FEB-0F17D90CCD43}"/>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8" name="Rectangle 7">
            <a:extLst>
              <a:ext uri="{FF2B5EF4-FFF2-40B4-BE49-F238E27FC236}">
                <a16:creationId xmlns:a16="http://schemas.microsoft.com/office/drawing/2014/main" id="{9B921E84-7975-4E42-8D87-BD3396E8F9A7}"/>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3966015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a:hlinkClick r:id="rId2"/>
              </a:rPr>
              <a:t>http://www.vidyanidhi.com/</a:t>
            </a:r>
            <a:endParaRPr lang="en-IN"/>
          </a:p>
          <a:p>
            <a:pPr marL="0" indent="0" algn="ctr">
              <a:buNone/>
            </a:pPr>
            <a:r>
              <a:rPr lang="en-IN"/>
              <a:t>ketkiacharya.net@gmail.com</a:t>
            </a:r>
            <a:endParaRPr lang="en-IN" dirty="0"/>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04E27C-2E27-49BF-AA6C-06AF20B2EA9B}"/>
              </a:ext>
            </a:extLst>
          </p:cNvPr>
          <p:cNvSpPr>
            <a:spLocks noGrp="1"/>
          </p:cNvSpPr>
          <p:nvPr>
            <p:ph idx="1"/>
          </p:nvPr>
        </p:nvSpPr>
        <p:spPr>
          <a:xfrm>
            <a:off x="226142" y="629265"/>
            <a:ext cx="11336593" cy="727587"/>
          </a:xfrm>
        </p:spPr>
        <p:txBody>
          <a:bodyPr>
            <a:normAutofit/>
          </a:bodyPr>
          <a:lstStyle/>
          <a:p>
            <a:r>
              <a:rPr lang="en-US" sz="1400" b="0" i="0" dirty="0">
                <a:solidFill>
                  <a:srgbClr val="000000"/>
                </a:solidFill>
                <a:effectLst/>
                <a:latin typeface="Verdana" panose="020B0604030504040204" pitchFamily="34" charset="0"/>
              </a:rPr>
              <a:t>AJAX is the art of exchanging data with a server, and updating parts of a web page - without reloading the whole page.</a:t>
            </a:r>
          </a:p>
          <a:p>
            <a:r>
              <a:rPr lang="en-US" sz="1400" dirty="0">
                <a:solidFill>
                  <a:srgbClr val="000000"/>
                </a:solidFill>
                <a:latin typeface="Verdana" panose="020B0604030504040204" pitchFamily="34" charset="0"/>
              </a:rPr>
              <a:t>Run code </a:t>
            </a:r>
            <a:r>
              <a:rPr lang="en-US" sz="1400">
                <a:solidFill>
                  <a:srgbClr val="000000"/>
                </a:solidFill>
                <a:latin typeface="Verdana" panose="020B0604030504040204" pitchFamily="34" charset="0"/>
              </a:rPr>
              <a:t>through server</a:t>
            </a:r>
            <a:r>
              <a:rPr lang="en-US" sz="1400" dirty="0">
                <a:solidFill>
                  <a:srgbClr val="000000"/>
                </a:solidFill>
                <a:latin typeface="Verdana" panose="020B0604030504040204" pitchFamily="34" charset="0"/>
              </a:rPr>
              <a:t>. You need to have </a:t>
            </a:r>
            <a:r>
              <a:rPr lang="en-IN" sz="1050" dirty="0"/>
              <a:t>demo_test.txt on server  </a:t>
            </a:r>
            <a:r>
              <a:rPr lang="en-IN" sz="2000" dirty="0"/>
              <a:t>Method</a:t>
            </a:r>
            <a:r>
              <a:rPr lang="en-IN" sz="2000" dirty="0">
                <a:sym typeface="Wingdings" panose="05000000000000000000" pitchFamily="2" charset="2"/>
              </a:rPr>
              <a:t></a:t>
            </a:r>
            <a:r>
              <a:rPr lang="en-IN" sz="2000" dirty="0"/>
              <a:t> </a:t>
            </a:r>
            <a:r>
              <a:rPr lang="en-IN" sz="2000" dirty="0">
                <a:sym typeface="Wingdings" panose="05000000000000000000" pitchFamily="2" charset="2"/>
              </a:rPr>
              <a:t>GET</a:t>
            </a:r>
            <a:endParaRPr lang="en-IN" sz="1400" dirty="0"/>
          </a:p>
        </p:txBody>
      </p:sp>
      <p:sp>
        <p:nvSpPr>
          <p:cNvPr id="5" name="TextBox 4">
            <a:extLst>
              <a:ext uri="{FF2B5EF4-FFF2-40B4-BE49-F238E27FC236}">
                <a16:creationId xmlns:a16="http://schemas.microsoft.com/office/drawing/2014/main" id="{1FA0B97C-784D-4FC0-AE4E-E4A1613D0089}"/>
              </a:ext>
            </a:extLst>
          </p:cNvPr>
          <p:cNvSpPr txBox="1"/>
          <p:nvPr/>
        </p:nvSpPr>
        <p:spPr>
          <a:xfrm>
            <a:off x="432620" y="1356852"/>
            <a:ext cx="9252154" cy="5078313"/>
          </a:xfrm>
          <a:prstGeom prst="rect">
            <a:avLst/>
          </a:prstGeom>
          <a:noFill/>
        </p:spPr>
        <p:txBody>
          <a:bodyPr wrap="square">
            <a:spAutoFit/>
          </a:bodyPr>
          <a:lstStyle/>
          <a:p>
            <a:r>
              <a:rPr lang="en-IN" dirty="0"/>
              <a:t>&lt;!DOCTYPE html&gt;</a:t>
            </a:r>
          </a:p>
          <a:p>
            <a:r>
              <a:rPr lang="en-IN" dirty="0"/>
              <a:t>&lt;html&gt;</a:t>
            </a:r>
          </a:p>
          <a:p>
            <a:r>
              <a:rPr lang="en-IN" dirty="0"/>
              <a:t>&lt;head&gt;</a:t>
            </a:r>
          </a:p>
          <a:p>
            <a:r>
              <a:rPr lang="en-IN" dirty="0"/>
              <a:t>&lt;script </a:t>
            </a:r>
            <a:r>
              <a:rPr lang="en-IN" dirty="0" err="1"/>
              <a:t>src</a:t>
            </a:r>
            <a:r>
              <a:rPr lang="en-IN" dirty="0"/>
              <a:t>="https://ajax.googleapis.com/ajax/libs/</a:t>
            </a:r>
            <a:r>
              <a:rPr lang="en-IN" dirty="0" err="1"/>
              <a:t>jquery</a:t>
            </a:r>
            <a:r>
              <a:rPr lang="en-IN" dirty="0"/>
              <a:t>/3.5.1/jquery.min.js"&gt;&lt;/script&gt;</a:t>
            </a:r>
          </a:p>
          <a:p>
            <a:r>
              <a:rPr lang="en-IN" dirty="0"/>
              <a:t>&lt;script&gt;</a:t>
            </a:r>
          </a:p>
          <a:p>
            <a:r>
              <a:rPr lang="en-IN" dirty="0"/>
              <a:t>$(document).ready(function(){</a:t>
            </a:r>
          </a:p>
          <a:p>
            <a:r>
              <a:rPr lang="en-IN" dirty="0"/>
              <a:t>  $("button").click(function(){</a:t>
            </a:r>
          </a:p>
          <a:p>
            <a:r>
              <a:rPr lang="en-IN" dirty="0"/>
              <a:t>    $("#div1").load("demo_test.txt"); </a:t>
            </a:r>
          </a:p>
          <a:p>
            <a:r>
              <a:rPr lang="en-IN" dirty="0"/>
              <a:t>  });</a:t>
            </a:r>
          </a:p>
          <a:p>
            <a:r>
              <a:rPr lang="en-IN" dirty="0"/>
              <a:t>});</a:t>
            </a:r>
          </a:p>
          <a:p>
            <a:r>
              <a:rPr lang="en-IN" dirty="0"/>
              <a:t>&lt;/script&gt;</a:t>
            </a:r>
          </a:p>
          <a:p>
            <a:r>
              <a:rPr lang="en-IN" dirty="0"/>
              <a:t>&lt;/head&gt;</a:t>
            </a:r>
          </a:p>
          <a:p>
            <a:r>
              <a:rPr lang="en-IN" dirty="0"/>
              <a:t>&lt;body&gt;</a:t>
            </a:r>
          </a:p>
          <a:p>
            <a:endParaRPr lang="en-IN" dirty="0"/>
          </a:p>
          <a:p>
            <a:r>
              <a:rPr lang="en-IN" dirty="0"/>
              <a:t>&lt;div id="div1"&gt;&lt;h2&gt;Let jQuery AJAX Change This Text&lt;/h2&gt;&lt;/div&gt;</a:t>
            </a:r>
          </a:p>
          <a:p>
            <a:r>
              <a:rPr lang="en-IN" dirty="0"/>
              <a:t>&lt;button&gt;Get External Content&lt;/button&gt;</a:t>
            </a:r>
          </a:p>
          <a:p>
            <a:r>
              <a:rPr lang="en-IN" dirty="0"/>
              <a:t>&lt;/body&gt;</a:t>
            </a:r>
          </a:p>
          <a:p>
            <a:r>
              <a:rPr lang="en-IN" dirty="0"/>
              <a:t>&lt;/html&gt;</a:t>
            </a:r>
          </a:p>
        </p:txBody>
      </p:sp>
    </p:spTree>
    <p:extLst>
      <p:ext uri="{BB962C8B-B14F-4D97-AF65-F5344CB8AC3E}">
        <p14:creationId xmlns:p14="http://schemas.microsoft.com/office/powerpoint/2010/main" val="5565928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DC409C-1867-4CB7-A7F4-0985838D32F6}"/>
              </a:ext>
            </a:extLst>
          </p:cNvPr>
          <p:cNvSpPr>
            <a:spLocks noGrp="1"/>
          </p:cNvSpPr>
          <p:nvPr>
            <p:ph idx="1"/>
          </p:nvPr>
        </p:nvSpPr>
        <p:spPr>
          <a:xfrm>
            <a:off x="395748" y="871896"/>
            <a:ext cx="10515600" cy="4351338"/>
          </a:xfrm>
        </p:spPr>
        <p:txBody>
          <a:bodyPr>
            <a:normAutofit/>
          </a:bodyPr>
          <a:lstStyle/>
          <a:p>
            <a:pPr algn="l"/>
            <a:r>
              <a:rPr lang="en-US" sz="1600" b="0" i="0" dirty="0">
                <a:solidFill>
                  <a:srgbClr val="000000"/>
                </a:solidFill>
                <a:effectLst/>
                <a:latin typeface="Segoe UI" panose="020B0502040204020203" pitchFamily="34" charset="0"/>
              </a:rPr>
              <a:t>What is AJAX?</a:t>
            </a:r>
          </a:p>
          <a:p>
            <a:pPr algn="l"/>
            <a:r>
              <a:rPr lang="en-US" sz="1600" b="0" i="0" dirty="0">
                <a:solidFill>
                  <a:srgbClr val="000000"/>
                </a:solidFill>
                <a:effectLst/>
                <a:latin typeface="Verdana" panose="020B0604030504040204" pitchFamily="34" charset="0"/>
              </a:rPr>
              <a:t>AJAX = Asynchronous JavaScript and XML.</a:t>
            </a:r>
          </a:p>
          <a:p>
            <a:pPr algn="l"/>
            <a:r>
              <a:rPr lang="en-US" sz="1600" b="0" i="0" dirty="0">
                <a:solidFill>
                  <a:srgbClr val="000000"/>
                </a:solidFill>
                <a:effectLst/>
                <a:latin typeface="Verdana" panose="020B0604030504040204" pitchFamily="34" charset="0"/>
              </a:rPr>
              <a:t>In short; AJAX is about loading data in the background and display it on the webpage, without reloading the whole page.</a:t>
            </a:r>
          </a:p>
          <a:p>
            <a:r>
              <a:rPr lang="en-US" sz="1600" b="0" i="0" dirty="0">
                <a:solidFill>
                  <a:srgbClr val="000000"/>
                </a:solidFill>
                <a:effectLst/>
                <a:latin typeface="Segoe UI" panose="020B0502040204020203" pitchFamily="34" charset="0"/>
              </a:rPr>
              <a:t>What About jQuery and AJAX?</a:t>
            </a:r>
          </a:p>
          <a:p>
            <a:pPr algn="l"/>
            <a:r>
              <a:rPr lang="en-US" sz="1600" b="0" i="0" dirty="0">
                <a:solidFill>
                  <a:srgbClr val="000000"/>
                </a:solidFill>
                <a:effectLst/>
                <a:latin typeface="Verdana" panose="020B0604030504040204" pitchFamily="34" charset="0"/>
              </a:rPr>
              <a:t>jQuery provides several methods for AJAX functionality.</a:t>
            </a:r>
          </a:p>
          <a:p>
            <a:pPr algn="l"/>
            <a:r>
              <a:rPr lang="en-US" sz="1600" b="0" i="0" dirty="0">
                <a:solidFill>
                  <a:srgbClr val="000000"/>
                </a:solidFill>
                <a:effectLst/>
                <a:latin typeface="Verdana" panose="020B0604030504040204" pitchFamily="34" charset="0"/>
              </a:rPr>
              <a:t>With the jQuery AJAX methods, you can request text, HTML, XML, or JSON from a remote server using both HTTP Get and HTTP Post - And you can load the external data directly into the selected HTML elements of your web page!</a:t>
            </a:r>
          </a:p>
          <a:p>
            <a:pPr algn="l"/>
            <a:r>
              <a:rPr lang="en-US" sz="1600" b="1" i="0" dirty="0">
                <a:solidFill>
                  <a:srgbClr val="000000"/>
                </a:solidFill>
                <a:effectLst/>
                <a:latin typeface="Verdana" panose="020B0604030504040204" pitchFamily="34" charset="0"/>
              </a:rPr>
              <a:t>Without jQuery, AJAX coding can be a bit tricky!</a:t>
            </a:r>
            <a:br>
              <a:rPr lang="en-US" sz="1600" b="0" i="0" dirty="0">
                <a:solidFill>
                  <a:srgbClr val="000000"/>
                </a:solidFill>
                <a:effectLst/>
                <a:latin typeface="Verdana" panose="020B0604030504040204" pitchFamily="34" charset="0"/>
              </a:rPr>
            </a:br>
            <a:br>
              <a:rPr lang="en-US" sz="1600" b="0" i="0" dirty="0">
                <a:solidFill>
                  <a:srgbClr val="000000"/>
                </a:solidFill>
                <a:effectLst/>
                <a:latin typeface="Verdana" panose="020B0604030504040204" pitchFamily="34" charset="0"/>
              </a:rPr>
            </a:br>
            <a:r>
              <a:rPr lang="en-US" sz="1600" b="0" i="0" dirty="0">
                <a:solidFill>
                  <a:srgbClr val="000000"/>
                </a:solidFill>
                <a:effectLst/>
                <a:latin typeface="Verdana" panose="020B0604030504040204" pitchFamily="34" charset="0"/>
              </a:rPr>
              <a:t>Writing regular AJAX code can be a bit tricky, because different browsers have different syntax for AJAX implementation. This means that you will have to write extra code to test for different browsers. However, the jQuery team has taken care of this for us, so that we can write AJAX functionality with only one single line of code.</a:t>
            </a:r>
          </a:p>
          <a:p>
            <a:endParaRPr lang="en-IN" sz="1600" dirty="0"/>
          </a:p>
        </p:txBody>
      </p:sp>
    </p:spTree>
    <p:extLst>
      <p:ext uri="{BB962C8B-B14F-4D97-AF65-F5344CB8AC3E}">
        <p14:creationId xmlns:p14="http://schemas.microsoft.com/office/powerpoint/2010/main" val="662069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468A-1AA9-45C3-B625-ABDDE2556903}"/>
              </a:ext>
            </a:extLst>
          </p:cNvPr>
          <p:cNvSpPr>
            <a:spLocks noGrp="1"/>
          </p:cNvSpPr>
          <p:nvPr>
            <p:ph type="title"/>
          </p:nvPr>
        </p:nvSpPr>
        <p:spPr>
          <a:xfrm>
            <a:off x="1131938" y="70158"/>
            <a:ext cx="9928123" cy="883572"/>
          </a:xfrm>
        </p:spPr>
        <p:txBody>
          <a:bodyPr/>
          <a:lstStyle/>
          <a:p>
            <a:r>
              <a:rPr lang="en-IN" dirty="0"/>
              <a:t>Run example through server</a:t>
            </a:r>
          </a:p>
        </p:txBody>
      </p:sp>
      <p:sp>
        <p:nvSpPr>
          <p:cNvPr id="4" name="Rectangle 1">
            <a:extLst>
              <a:ext uri="{FF2B5EF4-FFF2-40B4-BE49-F238E27FC236}">
                <a16:creationId xmlns:a16="http://schemas.microsoft.com/office/drawing/2014/main" id="{09830381-3C3E-4B43-BD12-190FAF4EC7C4}"/>
              </a:ext>
            </a:extLst>
          </p:cNvPr>
          <p:cNvSpPr>
            <a:spLocks noGrp="1" noChangeArrowheads="1"/>
          </p:cNvSpPr>
          <p:nvPr>
            <p:ph idx="1"/>
          </p:nvPr>
        </p:nvSpPr>
        <p:spPr bwMode="auto">
          <a:xfrm>
            <a:off x="314530" y="184290"/>
            <a:ext cx="10658269" cy="597595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jQuery load() Method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Verdana" panose="020B0604030504040204" pitchFamily="34" charset="0"/>
              </a:rPr>
              <a:t>The jQuery </a:t>
            </a:r>
            <a:r>
              <a:rPr kumimoji="0" lang="en-US" altLang="en-US" sz="2000" b="0" i="0" u="none" strike="noStrike" cap="none" normalizeH="0" baseline="0" dirty="0">
                <a:ln>
                  <a:noFill/>
                </a:ln>
                <a:solidFill>
                  <a:srgbClr val="DC143C"/>
                </a:solidFill>
                <a:effectLst/>
                <a:latin typeface="Consolas" panose="020B0609020204030204" pitchFamily="49" charset="0"/>
              </a:rPr>
              <a:t>load()</a:t>
            </a:r>
            <a:r>
              <a:rPr kumimoji="0" lang="en-US" altLang="en-US" sz="2000" b="0" i="0" u="none" strike="noStrike" cap="none" normalizeH="0" baseline="0" dirty="0">
                <a:ln>
                  <a:noFill/>
                </a:ln>
                <a:solidFill>
                  <a:srgbClr val="000000"/>
                </a:solidFill>
                <a:effectLst/>
                <a:latin typeface="Verdana" panose="020B0604030504040204" pitchFamily="34" charset="0"/>
              </a:rPr>
              <a:t> method is a simple, but powerful AJAX method.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Verdana" panose="020B0604030504040204" pitchFamily="34" charset="0"/>
              </a:rPr>
              <a:t>The </a:t>
            </a:r>
            <a:r>
              <a:rPr kumimoji="0" lang="en-US" altLang="en-US" sz="2000" b="0" i="0" u="none" strike="noStrike" cap="none" normalizeH="0" baseline="0" dirty="0">
                <a:ln>
                  <a:noFill/>
                </a:ln>
                <a:solidFill>
                  <a:srgbClr val="DC143C"/>
                </a:solidFill>
                <a:effectLst/>
                <a:latin typeface="Consolas" panose="020B0609020204030204" pitchFamily="49" charset="0"/>
              </a:rPr>
              <a:t>load()</a:t>
            </a:r>
            <a:r>
              <a:rPr kumimoji="0" lang="en-US" altLang="en-US" sz="2000" b="0" i="0" u="none" strike="noStrike" cap="none" normalizeH="0" baseline="0" dirty="0">
                <a:ln>
                  <a:noFill/>
                </a:ln>
                <a:solidFill>
                  <a:srgbClr val="000000"/>
                </a:solidFill>
                <a:effectLst/>
                <a:latin typeface="Verdana" panose="020B0604030504040204" pitchFamily="34" charset="0"/>
              </a:rPr>
              <a:t> method loads data from a server and puts the returned data into the selected element.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Verdana" panose="020B0604030504040204" pitchFamily="34" charset="0"/>
              </a:rPr>
              <a:t>Syntax:</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nsolas" panose="020B0609020204030204" pitchFamily="49" charset="0"/>
              </a:rPr>
              <a:t>$(</a:t>
            </a:r>
            <a:r>
              <a:rPr kumimoji="0" lang="en-US" altLang="en-US" sz="2000" b="0" i="1" u="none" strike="noStrike" cap="none" normalizeH="0" baseline="0" dirty="0">
                <a:ln>
                  <a:noFill/>
                </a:ln>
                <a:solidFill>
                  <a:srgbClr val="000000"/>
                </a:solidFill>
                <a:effectLst/>
                <a:latin typeface="Consolas" panose="020B0609020204030204" pitchFamily="49" charset="0"/>
              </a:rPr>
              <a:t>selector</a:t>
            </a:r>
            <a:r>
              <a:rPr kumimoji="0" lang="en-US" altLang="en-US" sz="2000" b="0" i="0" u="none" strike="noStrike" cap="none" normalizeH="0" baseline="0" dirty="0">
                <a:ln>
                  <a:noFill/>
                </a:ln>
                <a:solidFill>
                  <a:srgbClr val="000000"/>
                </a:solidFill>
                <a:effectLst/>
                <a:latin typeface="Consolas" panose="020B0609020204030204" pitchFamily="49" charset="0"/>
              </a:rPr>
              <a:t>).load(</a:t>
            </a:r>
            <a:r>
              <a:rPr kumimoji="0" lang="en-US" altLang="en-US" sz="2000" b="0" i="1" u="none" strike="noStrike" cap="none" normalizeH="0" baseline="0" dirty="0" err="1">
                <a:ln>
                  <a:noFill/>
                </a:ln>
                <a:solidFill>
                  <a:srgbClr val="000000"/>
                </a:solidFill>
                <a:effectLst/>
                <a:latin typeface="Consolas" panose="020B0609020204030204" pitchFamily="49" charset="0"/>
              </a:rPr>
              <a:t>URL,data,callback</a:t>
            </a:r>
            <a:r>
              <a:rPr kumimoji="0" lang="en-US" altLang="en-US" sz="2000" b="0" i="0" u="none" strike="noStrike" cap="none" normalizeH="0" baseline="0" dirty="0">
                <a:ln>
                  <a:noFill/>
                </a:ln>
                <a:solidFill>
                  <a:srgbClr val="000000"/>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Verdana" panose="020B0604030504040204" pitchFamily="34" charset="0"/>
              </a:rPr>
              <a:t>The required URL parameter specifies the URL you wish to load.</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Verdana" panose="020B0604030504040204" pitchFamily="34" charset="0"/>
              </a:rPr>
              <a:t>The optional data parameter specifies a set of </a:t>
            </a:r>
            <a:r>
              <a:rPr kumimoji="0" lang="en-US" altLang="en-US" sz="2000" b="0" i="0" u="none" strike="noStrike" cap="none" normalizeH="0" baseline="0" dirty="0" err="1">
                <a:ln>
                  <a:noFill/>
                </a:ln>
                <a:solidFill>
                  <a:srgbClr val="000000"/>
                </a:solidFill>
                <a:effectLst/>
                <a:latin typeface="Verdana" panose="020B0604030504040204" pitchFamily="34" charset="0"/>
              </a:rPr>
              <a:t>querystring</a:t>
            </a:r>
            <a:r>
              <a:rPr kumimoji="0" lang="en-US" altLang="en-US" sz="2000" b="0" i="0" u="none" strike="noStrike" cap="none" normalizeH="0" baseline="0" dirty="0">
                <a:ln>
                  <a:noFill/>
                </a:ln>
                <a:solidFill>
                  <a:srgbClr val="000000"/>
                </a:solidFill>
                <a:effectLst/>
                <a:latin typeface="Verdana" panose="020B0604030504040204" pitchFamily="34" charset="0"/>
              </a:rPr>
              <a:t> key/value pairs to send along with the request.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Verdana" panose="020B0604030504040204" pitchFamily="34" charset="0"/>
              </a:rPr>
              <a:t>The optional callback parameter is the name of a function to be executed after the </a:t>
            </a:r>
            <a:r>
              <a:rPr kumimoji="0" lang="en-US" altLang="en-US" sz="2000" b="0" i="0" u="none" strike="noStrike" cap="none" normalizeH="0" baseline="0" dirty="0">
                <a:ln>
                  <a:noFill/>
                </a:ln>
                <a:solidFill>
                  <a:srgbClr val="DC143C"/>
                </a:solidFill>
                <a:effectLst/>
                <a:latin typeface="Consolas" panose="020B0609020204030204" pitchFamily="49" charset="0"/>
              </a:rPr>
              <a:t>load()</a:t>
            </a:r>
            <a:r>
              <a:rPr kumimoji="0" lang="en-US" altLang="en-US" sz="2000" b="0" i="0" u="none" strike="noStrike" cap="none" normalizeH="0" baseline="0" dirty="0">
                <a:ln>
                  <a:noFill/>
                </a:ln>
                <a:solidFill>
                  <a:srgbClr val="000000"/>
                </a:solidFill>
                <a:effectLst/>
                <a:latin typeface="Verdana" panose="020B0604030504040204" pitchFamily="34" charset="0"/>
              </a:rPr>
              <a:t> method is completed.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Verdana" panose="020B0604030504040204" pitchFamily="34" charset="0"/>
              </a:rPr>
              <a:t>Here is the content of our example file: "demo_test.txt":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CD"/>
                </a:solidFill>
                <a:effectLst/>
                <a:latin typeface="Consolas" panose="020B0609020204030204" pitchFamily="49" charset="0"/>
              </a:rPr>
              <a:t>&lt;</a:t>
            </a:r>
            <a:r>
              <a:rPr kumimoji="0" lang="en-US" altLang="en-US" sz="2000" b="0" i="0" u="none" strike="noStrike" cap="none" normalizeH="0" baseline="0" dirty="0">
                <a:ln>
                  <a:noFill/>
                </a:ln>
                <a:solidFill>
                  <a:srgbClr val="A52A2A"/>
                </a:solidFill>
                <a:effectLst/>
                <a:latin typeface="Consolas" panose="020B0609020204030204" pitchFamily="49" charset="0"/>
              </a:rPr>
              <a:t>h2</a:t>
            </a:r>
            <a:r>
              <a:rPr kumimoji="0" lang="en-US" altLang="en-US" sz="2000" b="0" i="0" u="none" strike="noStrike" cap="none" normalizeH="0" baseline="0" dirty="0">
                <a:ln>
                  <a:noFill/>
                </a:ln>
                <a:solidFill>
                  <a:srgbClr val="0000CD"/>
                </a:solidFill>
                <a:effectLst/>
                <a:latin typeface="Consolas" panose="020B0609020204030204" pitchFamily="49" charset="0"/>
              </a:rPr>
              <a:t>&gt;</a:t>
            </a:r>
            <a:r>
              <a:rPr kumimoji="0" lang="en-US" altLang="en-US" sz="2000" b="0" i="0" u="none" strike="noStrike" cap="none" normalizeH="0" baseline="0" dirty="0">
                <a:ln>
                  <a:noFill/>
                </a:ln>
                <a:solidFill>
                  <a:srgbClr val="000000"/>
                </a:solidFill>
                <a:effectLst/>
                <a:latin typeface="Consolas" panose="020B0609020204030204" pitchFamily="49" charset="0"/>
              </a:rPr>
              <a:t>jQuery and AJAX is FUN!!!</a:t>
            </a:r>
            <a:r>
              <a:rPr kumimoji="0" lang="en-US" altLang="en-US" sz="2000" b="0" i="0" u="none" strike="noStrike" cap="none" normalizeH="0" baseline="0" dirty="0">
                <a:ln>
                  <a:noFill/>
                </a:ln>
                <a:solidFill>
                  <a:srgbClr val="0000CD"/>
                </a:solidFill>
                <a:effectLst/>
                <a:latin typeface="Consolas" panose="020B0609020204030204" pitchFamily="49" charset="0"/>
              </a:rPr>
              <a:t>&lt;</a:t>
            </a:r>
            <a:r>
              <a:rPr kumimoji="0" lang="en-US" altLang="en-US" sz="2000" b="0" i="0" u="none" strike="noStrike" cap="none" normalizeH="0" baseline="0" dirty="0">
                <a:ln>
                  <a:noFill/>
                </a:ln>
                <a:solidFill>
                  <a:srgbClr val="A52A2A"/>
                </a:solidFill>
                <a:effectLst/>
                <a:latin typeface="Consolas" panose="020B0609020204030204" pitchFamily="49" charset="0"/>
              </a:rPr>
              <a:t>/h2</a:t>
            </a:r>
            <a:r>
              <a:rPr kumimoji="0" lang="en-US" altLang="en-US" sz="2000" b="0" i="0" u="none" strike="noStrike" cap="none" normalizeH="0" baseline="0" dirty="0">
                <a:ln>
                  <a:noFill/>
                </a:ln>
                <a:solidFill>
                  <a:srgbClr val="0000CD"/>
                </a:solidFill>
                <a:effectLst/>
                <a:latin typeface="Consolas" panose="020B0609020204030204" pitchFamily="49" charset="0"/>
              </a:rPr>
              <a:t>&gt;</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0000CD"/>
                </a:solidFill>
                <a:effectLst/>
                <a:latin typeface="Consolas" panose="020B0609020204030204" pitchFamily="49" charset="0"/>
              </a:rPr>
              <a:t>&lt;</a:t>
            </a:r>
            <a:r>
              <a:rPr kumimoji="0" lang="en-US" altLang="en-US" sz="2000" b="0" i="0" u="none" strike="noStrike" cap="none" normalizeH="0" baseline="0" dirty="0">
                <a:ln>
                  <a:noFill/>
                </a:ln>
                <a:solidFill>
                  <a:srgbClr val="A52A2A"/>
                </a:solidFill>
                <a:effectLst/>
                <a:latin typeface="Consolas" panose="020B0609020204030204" pitchFamily="49" charset="0"/>
              </a:rPr>
              <a:t>p</a:t>
            </a:r>
            <a:r>
              <a:rPr kumimoji="0" lang="en-US" altLang="en-US" sz="2000" b="0" i="0" u="none" strike="noStrike" cap="none" normalizeH="0" baseline="0" dirty="0">
                <a:ln>
                  <a:noFill/>
                </a:ln>
                <a:solidFill>
                  <a:srgbClr val="FF0000"/>
                </a:solidFill>
                <a:effectLst/>
                <a:latin typeface="Consolas" panose="020B0609020204030204" pitchFamily="49" charset="0"/>
              </a:rPr>
              <a:t> id</a:t>
            </a:r>
            <a:r>
              <a:rPr kumimoji="0" lang="en-US" altLang="en-US" sz="2000" b="0" i="0" u="none" strike="noStrike" cap="none" normalizeH="0" baseline="0" dirty="0">
                <a:ln>
                  <a:noFill/>
                </a:ln>
                <a:solidFill>
                  <a:srgbClr val="0000CD"/>
                </a:solidFill>
                <a:effectLst/>
                <a:latin typeface="Consolas" panose="020B0609020204030204" pitchFamily="49" charset="0"/>
              </a:rPr>
              <a:t>="p1"&gt;</a:t>
            </a:r>
            <a:r>
              <a:rPr kumimoji="0" lang="en-US" altLang="en-US" sz="2000" b="0" i="0" u="none" strike="noStrike" cap="none" normalizeH="0" baseline="0" dirty="0">
                <a:ln>
                  <a:noFill/>
                </a:ln>
                <a:solidFill>
                  <a:srgbClr val="000000"/>
                </a:solidFill>
                <a:effectLst/>
                <a:latin typeface="Consolas" panose="020B0609020204030204" pitchFamily="49" charset="0"/>
              </a:rPr>
              <a:t>This is some text in a paragraph.</a:t>
            </a:r>
            <a:r>
              <a:rPr kumimoji="0" lang="en-US" altLang="en-US" sz="2000" b="0" i="0" u="none" strike="noStrike" cap="none" normalizeH="0" baseline="0" dirty="0">
                <a:ln>
                  <a:noFill/>
                </a:ln>
                <a:solidFill>
                  <a:srgbClr val="0000CD"/>
                </a:solidFill>
                <a:effectLst/>
                <a:latin typeface="Consolas" panose="020B0609020204030204" pitchFamily="49" charset="0"/>
              </a:rPr>
              <a:t>&lt;</a:t>
            </a:r>
            <a:r>
              <a:rPr kumimoji="0" lang="en-US" altLang="en-US" sz="2000" b="0" i="0" u="none" strike="noStrike" cap="none" normalizeH="0" baseline="0" dirty="0">
                <a:ln>
                  <a:noFill/>
                </a:ln>
                <a:solidFill>
                  <a:srgbClr val="A52A2A"/>
                </a:solidFill>
                <a:effectLst/>
                <a:latin typeface="Consolas" panose="020B0609020204030204" pitchFamily="49" charset="0"/>
              </a:rPr>
              <a:t>/p</a:t>
            </a:r>
            <a:r>
              <a:rPr kumimoji="0" lang="en-US" altLang="en-US" sz="2000" b="0" i="0" u="none" strike="noStrike" cap="none" normalizeH="0" baseline="0" dirty="0">
                <a:ln>
                  <a:noFill/>
                </a:ln>
                <a:solidFill>
                  <a:srgbClr val="0000CD"/>
                </a:solidFill>
                <a:effectLst/>
                <a:latin typeface="Consolas" panose="020B0609020204030204" pitchFamily="49" charset="0"/>
              </a:rPr>
              <a:t>&gt;</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87497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5F34468E-75C8-4C5E-9BF3-798A30896BBB}"/>
              </a:ext>
            </a:extLst>
          </p:cNvPr>
          <p:cNvSpPr>
            <a:spLocks noGrp="1" noChangeArrowheads="1"/>
          </p:cNvSpPr>
          <p:nvPr>
            <p:ph idx="1"/>
          </p:nvPr>
        </p:nvSpPr>
        <p:spPr bwMode="auto">
          <a:xfrm>
            <a:off x="1209521" y="118515"/>
            <a:ext cx="9822273"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Verdana" panose="020B0604030504040204" pitchFamily="34" charset="0"/>
              </a:rPr>
              <a:t>The following example loads the content of the file "demo_test.txt" into a specific </a:t>
            </a:r>
            <a:r>
              <a:rPr kumimoji="0" lang="en-US" altLang="en-US" sz="1100" b="0" i="0" u="none" strike="noStrike" cap="none" normalizeH="0" baseline="0" dirty="0">
                <a:ln>
                  <a:noFill/>
                </a:ln>
                <a:solidFill>
                  <a:srgbClr val="DC143C"/>
                </a:solidFill>
                <a:effectLst/>
                <a:latin typeface="Consolas" panose="020B0609020204030204" pitchFamily="49" charset="0"/>
              </a:rPr>
              <a:t>&lt;div&gt;</a:t>
            </a:r>
            <a:r>
              <a:rPr kumimoji="0" lang="en-US" altLang="en-US" sz="1100" b="0" i="0" u="none" strike="noStrike" cap="none" normalizeH="0" baseline="0" dirty="0">
                <a:ln>
                  <a:noFill/>
                </a:ln>
                <a:solidFill>
                  <a:srgbClr val="000000"/>
                </a:solidFill>
                <a:effectLst/>
                <a:latin typeface="Verdana" panose="020B0604030504040204" pitchFamily="34" charset="0"/>
              </a:rPr>
              <a:t> element:</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943452C2-D25A-4C7C-8574-8A5402F40F85}"/>
              </a:ext>
            </a:extLst>
          </p:cNvPr>
          <p:cNvSpPr txBox="1"/>
          <p:nvPr/>
        </p:nvSpPr>
        <p:spPr>
          <a:xfrm>
            <a:off x="314632" y="796592"/>
            <a:ext cx="8534400" cy="5632311"/>
          </a:xfrm>
          <a:prstGeom prst="rect">
            <a:avLst/>
          </a:prstGeom>
          <a:noFill/>
        </p:spPr>
        <p:txBody>
          <a:bodyPr wrap="square">
            <a:spAutoFit/>
          </a:bodyPr>
          <a:lstStyle/>
          <a:p>
            <a:r>
              <a:rPr lang="en-IN" dirty="0"/>
              <a:t>&lt;!DOCTYPE html&gt;</a:t>
            </a:r>
          </a:p>
          <a:p>
            <a:r>
              <a:rPr lang="en-IN" dirty="0"/>
              <a:t>&lt;html&gt;</a:t>
            </a:r>
          </a:p>
          <a:p>
            <a:r>
              <a:rPr lang="en-IN" dirty="0"/>
              <a:t>&lt;head&gt;</a:t>
            </a:r>
          </a:p>
          <a:p>
            <a:r>
              <a:rPr lang="en-IN" dirty="0"/>
              <a:t>&lt;script </a:t>
            </a:r>
            <a:r>
              <a:rPr lang="en-IN" dirty="0" err="1"/>
              <a:t>src</a:t>
            </a:r>
            <a:r>
              <a:rPr lang="en-IN" dirty="0"/>
              <a:t>="https://ajax.googleapis.com/ajax/libs/</a:t>
            </a:r>
            <a:r>
              <a:rPr lang="en-IN" dirty="0" err="1"/>
              <a:t>jquery</a:t>
            </a:r>
            <a:r>
              <a:rPr lang="en-IN" dirty="0"/>
              <a:t>/3.5.1/jquery.min.js"&gt;&lt;/script&gt;</a:t>
            </a:r>
          </a:p>
          <a:p>
            <a:r>
              <a:rPr lang="en-IN" dirty="0"/>
              <a:t>&lt;script&gt;</a:t>
            </a:r>
          </a:p>
          <a:p>
            <a:r>
              <a:rPr lang="en-IN" dirty="0"/>
              <a:t>$(document).ready(function(){</a:t>
            </a:r>
          </a:p>
          <a:p>
            <a:r>
              <a:rPr lang="en-IN" dirty="0"/>
              <a:t>  $("button").click(function(){</a:t>
            </a:r>
          </a:p>
          <a:p>
            <a:r>
              <a:rPr lang="en-IN" dirty="0"/>
              <a:t>    $("#div1").load("demo_test.txt");</a:t>
            </a:r>
          </a:p>
          <a:p>
            <a:r>
              <a:rPr lang="en-IN" dirty="0"/>
              <a:t>  });</a:t>
            </a:r>
          </a:p>
          <a:p>
            <a:r>
              <a:rPr lang="en-IN" dirty="0"/>
              <a:t>});</a:t>
            </a:r>
          </a:p>
          <a:p>
            <a:r>
              <a:rPr lang="en-IN" dirty="0"/>
              <a:t>&lt;/script&gt;</a:t>
            </a:r>
          </a:p>
          <a:p>
            <a:r>
              <a:rPr lang="en-IN" dirty="0"/>
              <a:t>&lt;/head&gt;</a:t>
            </a:r>
          </a:p>
          <a:p>
            <a:r>
              <a:rPr lang="en-IN" dirty="0"/>
              <a:t>&lt;body&gt;</a:t>
            </a:r>
          </a:p>
          <a:p>
            <a:endParaRPr lang="en-IN" dirty="0"/>
          </a:p>
          <a:p>
            <a:r>
              <a:rPr lang="en-IN" dirty="0"/>
              <a:t>&lt;div id="div1"&gt;&lt;h2&gt;Let jQuery AJAX Change This Text&lt;/h2&gt;&lt;/div&gt;</a:t>
            </a:r>
          </a:p>
          <a:p>
            <a:endParaRPr lang="en-IN" dirty="0"/>
          </a:p>
          <a:p>
            <a:r>
              <a:rPr lang="en-IN" dirty="0"/>
              <a:t>&lt;button&gt;Get External Content&lt;/button&gt;</a:t>
            </a:r>
          </a:p>
          <a:p>
            <a:endParaRPr lang="en-IN" dirty="0"/>
          </a:p>
          <a:p>
            <a:r>
              <a:rPr lang="en-IN" dirty="0"/>
              <a:t>&lt;/body&gt;</a:t>
            </a:r>
          </a:p>
          <a:p>
            <a:r>
              <a:rPr lang="en-IN" dirty="0"/>
              <a:t>&lt;/html&gt;</a:t>
            </a:r>
          </a:p>
        </p:txBody>
      </p:sp>
    </p:spTree>
    <p:extLst>
      <p:ext uri="{BB962C8B-B14F-4D97-AF65-F5344CB8AC3E}">
        <p14:creationId xmlns:p14="http://schemas.microsoft.com/office/powerpoint/2010/main" val="5798057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269A9-D343-4F2C-B9E7-83CCA7095B1A}"/>
              </a:ext>
            </a:extLst>
          </p:cNvPr>
          <p:cNvSpPr>
            <a:spLocks noGrp="1"/>
          </p:cNvSpPr>
          <p:nvPr>
            <p:ph type="title"/>
          </p:nvPr>
        </p:nvSpPr>
        <p:spPr>
          <a:xfrm>
            <a:off x="1671484" y="178714"/>
            <a:ext cx="9397180" cy="326104"/>
          </a:xfrm>
        </p:spPr>
        <p:txBody>
          <a:bodyPr>
            <a:normAutofit fontScale="90000"/>
          </a:bodyPr>
          <a:lstStyle/>
          <a:p>
            <a:r>
              <a:rPr lang="en-IN" dirty="0"/>
              <a:t>Loading part of the data</a:t>
            </a:r>
          </a:p>
        </p:txBody>
      </p:sp>
      <p:sp>
        <p:nvSpPr>
          <p:cNvPr id="4" name="Rectangle 1">
            <a:extLst>
              <a:ext uri="{FF2B5EF4-FFF2-40B4-BE49-F238E27FC236}">
                <a16:creationId xmlns:a16="http://schemas.microsoft.com/office/drawing/2014/main" id="{37A692E1-9F37-45DD-8C99-3622FA6254AC}"/>
              </a:ext>
            </a:extLst>
          </p:cNvPr>
          <p:cNvSpPr>
            <a:spLocks noGrp="1" noChangeArrowheads="1"/>
          </p:cNvSpPr>
          <p:nvPr>
            <p:ph idx="1"/>
          </p:nvPr>
        </p:nvSpPr>
        <p:spPr bwMode="auto">
          <a:xfrm>
            <a:off x="176980" y="823011"/>
            <a:ext cx="10734368" cy="43088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Verdana" panose="020B0604030504040204" pitchFamily="34" charset="0"/>
              </a:rPr>
              <a:t>It is also possible to add a jQuery selector to the URL parameter.</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Verdana" panose="020B0604030504040204" pitchFamily="34" charset="0"/>
              </a:rPr>
              <a:t>The following example loads the content of the element with id="p1", inside the file "demo_test.txt", into a specific </a:t>
            </a:r>
            <a:r>
              <a:rPr kumimoji="0" lang="en-US" altLang="en-US" sz="1100" b="0" i="0" u="none" strike="noStrike" cap="none" normalizeH="0" baseline="0" dirty="0">
                <a:ln>
                  <a:noFill/>
                </a:ln>
                <a:solidFill>
                  <a:srgbClr val="DC143C"/>
                </a:solidFill>
                <a:effectLst/>
                <a:latin typeface="Consolas" panose="020B0609020204030204" pitchFamily="49" charset="0"/>
              </a:rPr>
              <a:t>&lt;div&gt;</a:t>
            </a:r>
            <a:r>
              <a:rPr kumimoji="0" lang="en-US" altLang="en-US" sz="1100" b="0" i="0" u="none" strike="noStrike" cap="none" normalizeH="0" baseline="0" dirty="0">
                <a:ln>
                  <a:noFill/>
                </a:ln>
                <a:solidFill>
                  <a:srgbClr val="000000"/>
                </a:solidFill>
                <a:effectLst/>
                <a:latin typeface="Verdana" panose="020B0604030504040204" pitchFamily="34" charset="0"/>
              </a:rPr>
              <a:t> element: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9D16A627-147A-4029-8D14-A7C5DB704A06}"/>
              </a:ext>
            </a:extLst>
          </p:cNvPr>
          <p:cNvSpPr txBox="1"/>
          <p:nvPr/>
        </p:nvSpPr>
        <p:spPr>
          <a:xfrm>
            <a:off x="176980" y="1253897"/>
            <a:ext cx="9419304" cy="5632311"/>
          </a:xfrm>
          <a:prstGeom prst="rect">
            <a:avLst/>
          </a:prstGeom>
          <a:noFill/>
        </p:spPr>
        <p:txBody>
          <a:bodyPr wrap="square">
            <a:spAutoFit/>
          </a:bodyPr>
          <a:lstStyle/>
          <a:p>
            <a:r>
              <a:rPr lang="en-IN" dirty="0"/>
              <a:t>&lt;!DOCTYPE html&gt;</a:t>
            </a:r>
          </a:p>
          <a:p>
            <a:r>
              <a:rPr lang="en-IN" dirty="0"/>
              <a:t>&lt;html&gt;</a:t>
            </a:r>
          </a:p>
          <a:p>
            <a:r>
              <a:rPr lang="en-IN" dirty="0"/>
              <a:t>&lt;head&gt;</a:t>
            </a:r>
          </a:p>
          <a:p>
            <a:r>
              <a:rPr lang="en-IN" dirty="0"/>
              <a:t>&lt;script </a:t>
            </a:r>
            <a:r>
              <a:rPr lang="en-IN" dirty="0" err="1"/>
              <a:t>src</a:t>
            </a:r>
            <a:r>
              <a:rPr lang="en-IN" dirty="0"/>
              <a:t>="https://ajax.googleapis.com/ajax/libs/</a:t>
            </a:r>
            <a:r>
              <a:rPr lang="en-IN" dirty="0" err="1"/>
              <a:t>jquery</a:t>
            </a:r>
            <a:r>
              <a:rPr lang="en-IN" dirty="0"/>
              <a:t>/3.5.1/jquery.min.js"&gt;&lt;/script&gt;</a:t>
            </a:r>
          </a:p>
          <a:p>
            <a:r>
              <a:rPr lang="en-IN" dirty="0"/>
              <a:t>&lt;script&gt;</a:t>
            </a:r>
          </a:p>
          <a:p>
            <a:r>
              <a:rPr lang="en-IN" dirty="0"/>
              <a:t>$(document).ready(function(){</a:t>
            </a:r>
          </a:p>
          <a:p>
            <a:r>
              <a:rPr lang="en-IN" dirty="0"/>
              <a:t>  $("button").click(function(){</a:t>
            </a:r>
          </a:p>
          <a:p>
            <a:r>
              <a:rPr lang="en-IN" dirty="0"/>
              <a:t>    $("#div1").load("</a:t>
            </a:r>
            <a:r>
              <a:rPr lang="en-IN" dirty="0" err="1"/>
              <a:t>demo_test</a:t>
            </a:r>
            <a:r>
              <a:rPr lang="en-IN" dirty="0"/>
              <a:t>. html #p1");</a:t>
            </a:r>
          </a:p>
          <a:p>
            <a:r>
              <a:rPr lang="en-IN" dirty="0"/>
              <a:t>  });</a:t>
            </a:r>
          </a:p>
          <a:p>
            <a:r>
              <a:rPr lang="en-IN" dirty="0"/>
              <a:t>});</a:t>
            </a:r>
          </a:p>
          <a:p>
            <a:r>
              <a:rPr lang="en-IN" dirty="0"/>
              <a:t>&lt;/script&gt;</a:t>
            </a:r>
          </a:p>
          <a:p>
            <a:r>
              <a:rPr lang="en-IN" dirty="0"/>
              <a:t>&lt;/head&gt;</a:t>
            </a:r>
          </a:p>
          <a:p>
            <a:r>
              <a:rPr lang="en-IN" dirty="0"/>
              <a:t>&lt;body&gt;</a:t>
            </a:r>
          </a:p>
          <a:p>
            <a:endParaRPr lang="en-IN" dirty="0"/>
          </a:p>
          <a:p>
            <a:r>
              <a:rPr lang="en-IN" dirty="0"/>
              <a:t>&lt;div id="div1"&gt;&lt;h2&gt;Let jQuery AJAX Change This Text&lt;/h2&gt;&lt;/div&gt;</a:t>
            </a:r>
          </a:p>
          <a:p>
            <a:endParaRPr lang="en-IN" dirty="0"/>
          </a:p>
          <a:p>
            <a:r>
              <a:rPr lang="en-IN" dirty="0"/>
              <a:t>&lt;button&gt;Get External Content&lt;/button&gt;</a:t>
            </a:r>
          </a:p>
          <a:p>
            <a:endParaRPr lang="en-IN" dirty="0"/>
          </a:p>
          <a:p>
            <a:r>
              <a:rPr lang="en-IN" dirty="0"/>
              <a:t>&lt;/body&gt;</a:t>
            </a:r>
          </a:p>
          <a:p>
            <a:r>
              <a:rPr lang="en-IN" dirty="0"/>
              <a:t>&lt;/html&gt;</a:t>
            </a:r>
          </a:p>
        </p:txBody>
      </p:sp>
    </p:spTree>
    <p:extLst>
      <p:ext uri="{BB962C8B-B14F-4D97-AF65-F5344CB8AC3E}">
        <p14:creationId xmlns:p14="http://schemas.microsoft.com/office/powerpoint/2010/main" val="1403251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D36F5CCB-569D-49B2-BB54-0BE3A2995CA8}"/>
              </a:ext>
            </a:extLst>
          </p:cNvPr>
          <p:cNvSpPr>
            <a:spLocks noGrp="1" noChangeArrowheads="1"/>
          </p:cNvSpPr>
          <p:nvPr>
            <p:ph idx="1"/>
          </p:nvPr>
        </p:nvSpPr>
        <p:spPr bwMode="auto">
          <a:xfrm>
            <a:off x="285135" y="625612"/>
            <a:ext cx="10114935" cy="121571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Verdana" panose="020B0604030504040204" pitchFamily="34" charset="0"/>
              </a:rPr>
              <a:t>The optional callback parameter specifies a callback function to run when the </a:t>
            </a:r>
            <a:r>
              <a:rPr kumimoji="0" lang="en-US" altLang="en-US" sz="1100" b="0" i="0" u="none" strike="noStrike" cap="none" normalizeH="0" baseline="0" dirty="0">
                <a:ln>
                  <a:noFill/>
                </a:ln>
                <a:solidFill>
                  <a:srgbClr val="DC143C"/>
                </a:solidFill>
                <a:effectLst/>
                <a:latin typeface="Consolas" panose="020B0609020204030204" pitchFamily="49" charset="0"/>
              </a:rPr>
              <a:t>load()</a:t>
            </a:r>
            <a:r>
              <a:rPr kumimoji="0" lang="en-US" altLang="en-US" sz="1100" b="0" i="0" u="none" strike="noStrike" cap="none" normalizeH="0" baseline="0" dirty="0">
                <a:ln>
                  <a:noFill/>
                </a:ln>
                <a:solidFill>
                  <a:srgbClr val="000000"/>
                </a:solidFill>
                <a:effectLst/>
                <a:latin typeface="Verdana" panose="020B0604030504040204" pitchFamily="34" charset="0"/>
              </a:rPr>
              <a:t> method is completed. The callback function can have different parameters:</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err="1">
                <a:ln>
                  <a:noFill/>
                </a:ln>
                <a:solidFill>
                  <a:srgbClr val="DC143C"/>
                </a:solidFill>
                <a:effectLst/>
                <a:latin typeface="Consolas" panose="020B0609020204030204" pitchFamily="49" charset="0"/>
              </a:rPr>
              <a:t>responseTxt</a:t>
            </a:r>
            <a:r>
              <a:rPr kumimoji="0" lang="en-US" altLang="en-US" sz="1100" b="0" i="0" u="none" strike="noStrike" cap="none" normalizeH="0" baseline="0" dirty="0">
                <a:ln>
                  <a:noFill/>
                </a:ln>
                <a:solidFill>
                  <a:srgbClr val="000000"/>
                </a:solidFill>
                <a:effectLst/>
                <a:latin typeface="Verdana" panose="020B0604030504040204" pitchFamily="34" charset="0"/>
              </a:rPr>
              <a:t> - contains the resulting content if the call succeeds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err="1">
                <a:ln>
                  <a:noFill/>
                </a:ln>
                <a:solidFill>
                  <a:srgbClr val="DC143C"/>
                </a:solidFill>
                <a:effectLst/>
                <a:latin typeface="Consolas" panose="020B0609020204030204" pitchFamily="49" charset="0"/>
              </a:rPr>
              <a:t>statusTxt</a:t>
            </a:r>
            <a:r>
              <a:rPr kumimoji="0" lang="en-US" altLang="en-US" sz="1100" b="0" i="0" u="none" strike="noStrike" cap="none" normalizeH="0" baseline="0" dirty="0">
                <a:ln>
                  <a:noFill/>
                </a:ln>
                <a:solidFill>
                  <a:srgbClr val="000000"/>
                </a:solidFill>
                <a:effectLst/>
                <a:latin typeface="Verdana" panose="020B0604030504040204" pitchFamily="34" charset="0"/>
              </a:rPr>
              <a:t> - contains the status of the call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err="1">
                <a:ln>
                  <a:noFill/>
                </a:ln>
                <a:solidFill>
                  <a:srgbClr val="DC143C"/>
                </a:solidFill>
                <a:effectLst/>
                <a:latin typeface="Consolas" panose="020B0609020204030204" pitchFamily="49" charset="0"/>
              </a:rPr>
              <a:t>xhr</a:t>
            </a:r>
            <a:r>
              <a:rPr kumimoji="0" lang="en-US" altLang="en-US" sz="1100" b="0" i="0" u="none" strike="noStrike" cap="none" normalizeH="0" baseline="0" dirty="0">
                <a:ln>
                  <a:noFill/>
                </a:ln>
                <a:solidFill>
                  <a:srgbClr val="000000"/>
                </a:solidFill>
                <a:effectLst/>
                <a:latin typeface="Verdana" panose="020B0604030504040204" pitchFamily="34" charset="0"/>
              </a:rPr>
              <a:t> - contains the </a:t>
            </a:r>
            <a:r>
              <a:rPr kumimoji="0" lang="en-US" altLang="en-US" sz="1100" b="0" i="0" u="none" strike="noStrike" cap="none" normalizeH="0" baseline="0" dirty="0" err="1">
                <a:ln>
                  <a:noFill/>
                </a:ln>
                <a:solidFill>
                  <a:srgbClr val="000000"/>
                </a:solidFill>
                <a:effectLst/>
                <a:latin typeface="Verdana" panose="020B0604030504040204" pitchFamily="34" charset="0"/>
              </a:rPr>
              <a:t>XMLHttpRequest</a:t>
            </a:r>
            <a:r>
              <a:rPr kumimoji="0" lang="en-US" altLang="en-US" sz="1100" b="0" i="0" u="none" strike="noStrike" cap="none" normalizeH="0" baseline="0" dirty="0">
                <a:ln>
                  <a:noFill/>
                </a:ln>
                <a:solidFill>
                  <a:srgbClr val="000000"/>
                </a:solidFill>
                <a:effectLst/>
                <a:latin typeface="Verdana" panose="020B0604030504040204" pitchFamily="34" charset="0"/>
              </a:rPr>
              <a:t> object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9159997E-1987-418B-BB21-A45B2364EDFB}"/>
              </a:ext>
            </a:extLst>
          </p:cNvPr>
          <p:cNvSpPr txBox="1"/>
          <p:nvPr/>
        </p:nvSpPr>
        <p:spPr>
          <a:xfrm>
            <a:off x="1637071" y="195373"/>
            <a:ext cx="6135328" cy="40011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altLang="en-US" sz="2000" b="0" i="1"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selector</a:t>
            </a:r>
            <a:r>
              <a:rPr kumimoji="0" lang="en-US" altLang="en-US" sz="20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).load(</a:t>
            </a:r>
            <a:r>
              <a:rPr kumimoji="0" lang="en-US" altLang="en-US" sz="2000" b="0" i="1"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URL,data,callback</a:t>
            </a:r>
            <a:r>
              <a:rPr kumimoji="0" lang="en-US" altLang="en-US" sz="20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7" name="Rectangle 2">
            <a:extLst>
              <a:ext uri="{FF2B5EF4-FFF2-40B4-BE49-F238E27FC236}">
                <a16:creationId xmlns:a16="http://schemas.microsoft.com/office/drawing/2014/main" id="{2623A30F-2553-4BB5-938C-C13713D53709}"/>
              </a:ext>
            </a:extLst>
          </p:cNvPr>
          <p:cNvSpPr>
            <a:spLocks noChangeArrowheads="1"/>
          </p:cNvSpPr>
          <p:nvPr/>
        </p:nvSpPr>
        <p:spPr bwMode="auto">
          <a:xfrm>
            <a:off x="235973" y="1625885"/>
            <a:ext cx="8937523"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Verdana" panose="020B0604030504040204" pitchFamily="34" charset="0"/>
              </a:rPr>
              <a:t>The following example displays an alert box after the load() method completes. If the </a:t>
            </a:r>
            <a:r>
              <a:rPr kumimoji="0" lang="en-US" altLang="en-US" sz="1100" b="0" i="0" u="none" strike="noStrike" cap="none" normalizeH="0" baseline="0" dirty="0">
                <a:ln>
                  <a:noFill/>
                </a:ln>
                <a:solidFill>
                  <a:srgbClr val="DC143C"/>
                </a:solidFill>
                <a:effectLst/>
                <a:latin typeface="Consolas" panose="020B0609020204030204" pitchFamily="49" charset="0"/>
              </a:rPr>
              <a:t>load()</a:t>
            </a:r>
            <a:r>
              <a:rPr kumimoji="0" lang="en-US" altLang="en-US" sz="1100" b="0" i="0" u="none" strike="noStrike" cap="none" normalizeH="0" baseline="0" dirty="0">
                <a:ln>
                  <a:noFill/>
                </a:ln>
                <a:solidFill>
                  <a:srgbClr val="000000"/>
                </a:solidFill>
                <a:effectLst/>
                <a:latin typeface="Verdana" panose="020B0604030504040204" pitchFamily="34" charset="0"/>
              </a:rPr>
              <a:t> method has succeeded, it displays "External content loaded successfully!", and if it fails it displays an error message:</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4A09E020-5A0E-4B42-9548-399B42409CA7}"/>
              </a:ext>
            </a:extLst>
          </p:cNvPr>
          <p:cNvSpPr txBox="1"/>
          <p:nvPr/>
        </p:nvSpPr>
        <p:spPr>
          <a:xfrm>
            <a:off x="285134" y="2056772"/>
            <a:ext cx="9763433" cy="4801314"/>
          </a:xfrm>
          <a:prstGeom prst="rect">
            <a:avLst/>
          </a:prstGeom>
          <a:noFill/>
        </p:spPr>
        <p:txBody>
          <a:bodyPr wrap="square">
            <a:spAutoFit/>
          </a:bodyPr>
          <a:lstStyle/>
          <a:p>
            <a:r>
              <a:rPr lang="en-IN" dirty="0"/>
              <a:t>&lt;!DOCTYPE html&gt;</a:t>
            </a:r>
          </a:p>
          <a:p>
            <a:r>
              <a:rPr lang="en-IN" dirty="0"/>
              <a:t>&lt;html&gt;&lt;head&gt;</a:t>
            </a:r>
          </a:p>
          <a:p>
            <a:r>
              <a:rPr lang="en-IN" dirty="0"/>
              <a:t>&lt;script </a:t>
            </a:r>
            <a:r>
              <a:rPr lang="en-IN" dirty="0" err="1"/>
              <a:t>src</a:t>
            </a:r>
            <a:r>
              <a:rPr lang="en-IN" dirty="0"/>
              <a:t>="https://ajax.googleapis.com/ajax/libs/</a:t>
            </a:r>
            <a:r>
              <a:rPr lang="en-IN" dirty="0" err="1"/>
              <a:t>jquery</a:t>
            </a:r>
            <a:r>
              <a:rPr lang="en-IN" dirty="0"/>
              <a:t>/3.5.1/jquery.min.js"&gt;&lt;/script&gt;</a:t>
            </a:r>
          </a:p>
          <a:p>
            <a:r>
              <a:rPr lang="en-IN" dirty="0"/>
              <a:t>&lt;script&gt;</a:t>
            </a:r>
          </a:p>
          <a:p>
            <a:r>
              <a:rPr lang="en-IN" dirty="0"/>
              <a:t>$(document).ready(function(){</a:t>
            </a:r>
          </a:p>
          <a:p>
            <a:r>
              <a:rPr lang="en-IN" dirty="0"/>
              <a:t>  $("button").click(function(){</a:t>
            </a:r>
          </a:p>
          <a:p>
            <a:r>
              <a:rPr lang="en-IN" dirty="0"/>
              <a:t>    $("#div1").load("demo_test.txt", function(</a:t>
            </a:r>
            <a:r>
              <a:rPr lang="en-IN" dirty="0" err="1"/>
              <a:t>responseTxt</a:t>
            </a:r>
            <a:r>
              <a:rPr lang="en-IN" dirty="0"/>
              <a:t>, </a:t>
            </a:r>
            <a:r>
              <a:rPr lang="en-IN" dirty="0" err="1"/>
              <a:t>statusTxt</a:t>
            </a:r>
            <a:r>
              <a:rPr lang="en-IN" dirty="0"/>
              <a:t>, </a:t>
            </a:r>
            <a:r>
              <a:rPr lang="en-IN" dirty="0" err="1"/>
              <a:t>xhr</a:t>
            </a:r>
            <a:r>
              <a:rPr lang="en-IN" dirty="0"/>
              <a:t>){</a:t>
            </a:r>
          </a:p>
          <a:p>
            <a:r>
              <a:rPr lang="en-IN" dirty="0"/>
              <a:t>      if(</a:t>
            </a:r>
            <a:r>
              <a:rPr lang="en-IN" dirty="0" err="1"/>
              <a:t>statusTxt</a:t>
            </a:r>
            <a:r>
              <a:rPr lang="en-IN" dirty="0"/>
              <a:t> == "success")</a:t>
            </a:r>
          </a:p>
          <a:p>
            <a:r>
              <a:rPr lang="en-IN" dirty="0"/>
              <a:t>        alert("External content loaded successfully!");</a:t>
            </a:r>
          </a:p>
          <a:p>
            <a:r>
              <a:rPr lang="en-IN" dirty="0"/>
              <a:t>      if(</a:t>
            </a:r>
            <a:r>
              <a:rPr lang="en-IN" dirty="0" err="1"/>
              <a:t>statusTxt</a:t>
            </a:r>
            <a:r>
              <a:rPr lang="en-IN" dirty="0"/>
              <a:t> == "error")</a:t>
            </a:r>
          </a:p>
          <a:p>
            <a:r>
              <a:rPr lang="en-IN" dirty="0"/>
              <a:t>        alert("Error: " + </a:t>
            </a:r>
            <a:r>
              <a:rPr lang="en-IN" dirty="0" err="1"/>
              <a:t>xhr.status</a:t>
            </a:r>
            <a:r>
              <a:rPr lang="en-IN" dirty="0"/>
              <a:t> + ": " + </a:t>
            </a:r>
            <a:r>
              <a:rPr lang="en-IN" dirty="0" err="1"/>
              <a:t>xhr.statusText</a:t>
            </a:r>
            <a:r>
              <a:rPr lang="en-IN" dirty="0"/>
              <a:t>);</a:t>
            </a:r>
          </a:p>
          <a:p>
            <a:r>
              <a:rPr lang="en-IN" dirty="0"/>
              <a:t>    });</a:t>
            </a:r>
          </a:p>
          <a:p>
            <a:r>
              <a:rPr lang="en-IN" dirty="0"/>
              <a:t>  });</a:t>
            </a:r>
          </a:p>
          <a:p>
            <a:r>
              <a:rPr lang="en-IN" dirty="0"/>
              <a:t>});</a:t>
            </a:r>
          </a:p>
          <a:p>
            <a:r>
              <a:rPr lang="en-IN" dirty="0"/>
              <a:t>&lt;/script&gt;&lt;/head&gt;&lt;body&gt;  &lt;div id="div1"&gt;&lt;h2&gt;Let jQuery AJAX Change This Text&lt;/h2&gt;&lt;/div&gt;</a:t>
            </a:r>
          </a:p>
          <a:p>
            <a:r>
              <a:rPr lang="en-IN" dirty="0"/>
              <a:t>&lt;button&gt;Get External Content&lt;/button&gt;</a:t>
            </a:r>
          </a:p>
          <a:p>
            <a:r>
              <a:rPr lang="en-IN" dirty="0"/>
              <a:t>&lt;/body&gt;&lt;/html&gt;</a:t>
            </a:r>
          </a:p>
        </p:txBody>
      </p:sp>
    </p:spTree>
    <p:extLst>
      <p:ext uri="{BB962C8B-B14F-4D97-AF65-F5344CB8AC3E}">
        <p14:creationId xmlns:p14="http://schemas.microsoft.com/office/powerpoint/2010/main" val="1172614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BF3D17-6781-4B3A-88B4-18CB6FD51663}"/>
              </a:ext>
            </a:extLst>
          </p:cNvPr>
          <p:cNvSpPr>
            <a:spLocks noGrp="1"/>
          </p:cNvSpPr>
          <p:nvPr>
            <p:ph idx="1"/>
          </p:nvPr>
        </p:nvSpPr>
        <p:spPr>
          <a:xfrm>
            <a:off x="314632" y="560439"/>
            <a:ext cx="11169445" cy="2998838"/>
          </a:xfrm>
        </p:spPr>
        <p:txBody>
          <a:bodyPr>
            <a:normAutofit/>
          </a:bodyPr>
          <a:lstStyle/>
          <a:p>
            <a:pPr algn="l"/>
            <a:r>
              <a:rPr lang="en-US" sz="1400" b="0" i="0" dirty="0">
                <a:solidFill>
                  <a:srgbClr val="000000"/>
                </a:solidFill>
                <a:effectLst/>
                <a:latin typeface="Segoe UI" panose="020B0502040204020203" pitchFamily="34" charset="0"/>
              </a:rPr>
              <a:t>HTTP Request: GET vs. POST</a:t>
            </a:r>
          </a:p>
          <a:p>
            <a:pPr algn="l"/>
            <a:r>
              <a:rPr lang="en-US" sz="1400" b="0" i="0" dirty="0">
                <a:solidFill>
                  <a:srgbClr val="000000"/>
                </a:solidFill>
                <a:effectLst/>
                <a:latin typeface="Verdana" panose="020B0604030504040204" pitchFamily="34" charset="0"/>
              </a:rPr>
              <a:t>Two commonly used methods for a request-response between a client and server are: GET and POST.</a:t>
            </a:r>
          </a:p>
          <a:p>
            <a:pPr algn="l">
              <a:buFont typeface="Arial" panose="020B0604020202020204" pitchFamily="34" charset="0"/>
              <a:buChar char="•"/>
            </a:pPr>
            <a:r>
              <a:rPr lang="en-US" sz="1400" b="1" i="0" dirty="0">
                <a:solidFill>
                  <a:srgbClr val="000000"/>
                </a:solidFill>
                <a:effectLst/>
                <a:latin typeface="Verdana" panose="020B0604030504040204" pitchFamily="34" charset="0"/>
              </a:rPr>
              <a:t>GET</a:t>
            </a:r>
            <a:r>
              <a:rPr lang="en-US" sz="1400" b="0" i="0" dirty="0">
                <a:solidFill>
                  <a:srgbClr val="000000"/>
                </a:solidFill>
                <a:effectLst/>
                <a:latin typeface="Verdana" panose="020B0604030504040204" pitchFamily="34" charset="0"/>
              </a:rPr>
              <a:t> - Requests data from a specified resource</a:t>
            </a:r>
          </a:p>
          <a:p>
            <a:pPr algn="l">
              <a:buFont typeface="Arial" panose="020B0604020202020204" pitchFamily="34" charset="0"/>
              <a:buChar char="•"/>
            </a:pPr>
            <a:r>
              <a:rPr lang="en-US" sz="1400" b="1" i="0" dirty="0">
                <a:solidFill>
                  <a:srgbClr val="000000"/>
                </a:solidFill>
                <a:effectLst/>
                <a:latin typeface="Verdana" panose="020B0604030504040204" pitchFamily="34" charset="0"/>
              </a:rPr>
              <a:t>POST</a:t>
            </a:r>
            <a:r>
              <a:rPr lang="en-US" sz="1400" b="0" i="0" dirty="0">
                <a:solidFill>
                  <a:srgbClr val="000000"/>
                </a:solidFill>
                <a:effectLst/>
                <a:latin typeface="Verdana" panose="020B0604030504040204" pitchFamily="34" charset="0"/>
              </a:rPr>
              <a:t> - Submits data to be processed to a specified resource</a:t>
            </a:r>
          </a:p>
          <a:p>
            <a:pPr algn="l"/>
            <a:r>
              <a:rPr lang="en-US" sz="1400" b="0" i="0" dirty="0">
                <a:solidFill>
                  <a:srgbClr val="000000"/>
                </a:solidFill>
                <a:effectLst/>
                <a:latin typeface="Verdana" panose="020B0604030504040204" pitchFamily="34" charset="0"/>
              </a:rPr>
              <a:t>GET is basically used for just getting (retrieving) some data from the server. </a:t>
            </a:r>
            <a:r>
              <a:rPr lang="en-US" sz="1400" b="1" i="0" dirty="0">
                <a:solidFill>
                  <a:srgbClr val="000000"/>
                </a:solidFill>
                <a:effectLst/>
                <a:latin typeface="Verdana" panose="020B0604030504040204" pitchFamily="34" charset="0"/>
              </a:rPr>
              <a:t>Note:</a:t>
            </a:r>
            <a:r>
              <a:rPr lang="en-US" sz="1400" b="0" i="0" dirty="0">
                <a:solidFill>
                  <a:srgbClr val="000000"/>
                </a:solidFill>
                <a:effectLst/>
                <a:latin typeface="Verdana" panose="020B0604030504040204" pitchFamily="34" charset="0"/>
              </a:rPr>
              <a:t> The GET method may return cached data.</a:t>
            </a:r>
          </a:p>
          <a:p>
            <a:pPr algn="l"/>
            <a:r>
              <a:rPr lang="en-US" sz="1400" b="0" i="0" dirty="0">
                <a:solidFill>
                  <a:srgbClr val="000000"/>
                </a:solidFill>
                <a:effectLst/>
                <a:latin typeface="Verdana" panose="020B0604030504040204" pitchFamily="34" charset="0"/>
              </a:rPr>
              <a:t>POST can also be used to get some data from the server. However, the POST method NEVER caches data, and is often used to send data along with the request.</a:t>
            </a:r>
          </a:p>
          <a:p>
            <a:endParaRPr lang="en-IN" sz="1400" dirty="0"/>
          </a:p>
        </p:txBody>
      </p:sp>
      <p:sp>
        <p:nvSpPr>
          <p:cNvPr id="4" name="Rectangle 1">
            <a:extLst>
              <a:ext uri="{FF2B5EF4-FFF2-40B4-BE49-F238E27FC236}">
                <a16:creationId xmlns:a16="http://schemas.microsoft.com/office/drawing/2014/main" id="{90B55BEA-237C-4470-ACB1-695B0886F7B7}"/>
              </a:ext>
            </a:extLst>
          </p:cNvPr>
          <p:cNvSpPr>
            <a:spLocks noChangeArrowheads="1"/>
          </p:cNvSpPr>
          <p:nvPr/>
        </p:nvSpPr>
        <p:spPr bwMode="auto">
          <a:xfrm>
            <a:off x="314632" y="3429000"/>
            <a:ext cx="10422193" cy="209797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jQuery $.get() Method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Verdana" panose="020B0604030504040204" pitchFamily="34" charset="0"/>
              </a:rPr>
              <a:t>The </a:t>
            </a:r>
            <a:r>
              <a:rPr kumimoji="0" lang="en-US" altLang="en-US" sz="1600" b="0" i="0" u="none" strike="noStrike" cap="none" normalizeH="0" baseline="0" dirty="0">
                <a:ln>
                  <a:noFill/>
                </a:ln>
                <a:solidFill>
                  <a:srgbClr val="DC143C"/>
                </a:solidFill>
                <a:effectLst/>
                <a:latin typeface="Consolas" panose="020B0609020204030204" pitchFamily="49" charset="0"/>
              </a:rPr>
              <a:t>$.get()</a:t>
            </a:r>
            <a:r>
              <a:rPr kumimoji="0" lang="en-US" altLang="en-US" sz="1600" b="0" i="0" u="none" strike="noStrike" cap="none" normalizeH="0" baseline="0" dirty="0">
                <a:ln>
                  <a:noFill/>
                </a:ln>
                <a:solidFill>
                  <a:srgbClr val="000000"/>
                </a:solidFill>
                <a:effectLst/>
                <a:latin typeface="Verdana" panose="020B0604030504040204" pitchFamily="34" charset="0"/>
              </a:rPr>
              <a:t> method requests data from the server with an HTTP GET request.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00"/>
                </a:solidFill>
                <a:effectLst/>
                <a:latin typeface="Verdana" panose="020B0604030504040204" pitchFamily="34" charset="0"/>
              </a:rPr>
              <a:t>Syntax:</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$.get(</a:t>
            </a:r>
            <a:r>
              <a:rPr kumimoji="0" lang="en-US" altLang="en-US" sz="1600" b="0" i="1" u="none" strike="noStrike" cap="none" normalizeH="0" baseline="0" dirty="0" err="1">
                <a:ln>
                  <a:noFill/>
                </a:ln>
                <a:solidFill>
                  <a:srgbClr val="000000"/>
                </a:solidFill>
                <a:effectLst/>
                <a:latin typeface="Consolas" panose="020B0609020204030204" pitchFamily="49" charset="0"/>
              </a:rPr>
              <a:t>URL,callback</a:t>
            </a:r>
            <a:r>
              <a:rPr kumimoji="0" lang="en-US" altLang="en-US" sz="1600" b="0" i="0" u="none" strike="noStrike" cap="none" normalizeH="0" baseline="0" dirty="0">
                <a:ln>
                  <a:noFill/>
                </a:ln>
                <a:solidFill>
                  <a:srgbClr val="000000"/>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Verdana" panose="020B0604030504040204" pitchFamily="34" charset="0"/>
              </a:rPr>
              <a:t>The required URL parameter specifies the URL you wish to request.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Verdana" panose="020B0604030504040204" pitchFamily="34" charset="0"/>
              </a:rPr>
              <a:t>The optional callback parameter is the name of a function to be executed if the request succeeds.</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Verdana" panose="020B0604030504040204" pitchFamily="34" charset="0"/>
              </a:rPr>
              <a:t>The following example uses the </a:t>
            </a:r>
            <a:r>
              <a:rPr kumimoji="0" lang="en-US" altLang="en-US" sz="1600" b="0" i="0" u="none" strike="noStrike" cap="none" normalizeH="0" baseline="0" dirty="0">
                <a:ln>
                  <a:noFill/>
                </a:ln>
                <a:solidFill>
                  <a:srgbClr val="DC143C"/>
                </a:solidFill>
                <a:effectLst/>
                <a:latin typeface="Consolas" panose="020B0609020204030204" pitchFamily="49" charset="0"/>
              </a:rPr>
              <a:t>$.get()</a:t>
            </a:r>
            <a:r>
              <a:rPr kumimoji="0" lang="en-US" altLang="en-US" sz="1600" b="0" i="0" u="none" strike="noStrike" cap="none" normalizeH="0" baseline="0" dirty="0">
                <a:ln>
                  <a:noFill/>
                </a:ln>
                <a:solidFill>
                  <a:srgbClr val="000000"/>
                </a:solidFill>
                <a:effectLst/>
                <a:latin typeface="Verdana" panose="020B0604030504040204" pitchFamily="34" charset="0"/>
              </a:rPr>
              <a:t> method to retrieve data from a file on the server:</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5705CC6E-87CC-4A64-B8C2-FDBC771A1D0A}"/>
              </a:ext>
            </a:extLst>
          </p:cNvPr>
          <p:cNvSpPr>
            <a:spLocks noChangeArrowheads="1"/>
          </p:cNvSpPr>
          <p:nvPr/>
        </p:nvSpPr>
        <p:spPr bwMode="auto">
          <a:xfrm>
            <a:off x="68826" y="5650893"/>
            <a:ext cx="10009239" cy="6001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Verdana" panose="020B0604030504040204" pitchFamily="34" charset="0"/>
              </a:rPr>
              <a:t>The first parameter of </a:t>
            </a:r>
            <a:r>
              <a:rPr kumimoji="0" lang="en-US" altLang="en-US" sz="1100" b="0" i="0" u="none" strike="noStrike" cap="none" normalizeH="0" baseline="0" dirty="0">
                <a:ln>
                  <a:noFill/>
                </a:ln>
                <a:solidFill>
                  <a:srgbClr val="DC143C"/>
                </a:solidFill>
                <a:effectLst/>
                <a:latin typeface="Consolas" panose="020B0609020204030204" pitchFamily="49" charset="0"/>
              </a:rPr>
              <a:t>$.get()</a:t>
            </a:r>
            <a:r>
              <a:rPr kumimoji="0" lang="en-US" altLang="en-US" sz="1100" b="0" i="0" u="none" strike="noStrike" cap="none" normalizeH="0" baseline="0" dirty="0">
                <a:ln>
                  <a:noFill/>
                </a:ln>
                <a:solidFill>
                  <a:srgbClr val="000000"/>
                </a:solidFill>
                <a:effectLst/>
                <a:latin typeface="Verdana" panose="020B0604030504040204" pitchFamily="34" charset="0"/>
              </a:rPr>
              <a:t> is the URL we wish to request ("</a:t>
            </a:r>
            <a:r>
              <a:rPr lang="en-US" sz="1100" dirty="0"/>
              <a:t> </a:t>
            </a:r>
            <a:r>
              <a:rPr lang="en-US" sz="1100" dirty="0" err="1"/>
              <a:t>demo_test.php</a:t>
            </a:r>
            <a:r>
              <a:rPr lang="en-US" sz="1100" dirty="0"/>
              <a:t> </a:t>
            </a:r>
            <a:r>
              <a:rPr kumimoji="0" lang="en-US" altLang="en-US" sz="1100" b="0" i="0" u="none" strike="noStrike" cap="none" normalizeH="0" baseline="0" dirty="0">
                <a:ln>
                  <a:noFill/>
                </a:ln>
                <a:solidFill>
                  <a:srgbClr val="000000"/>
                </a:solidFill>
                <a:effectLst/>
                <a:latin typeface="Verdana" panose="020B0604030504040204" pitchFamily="34" charset="0"/>
              </a:rPr>
              <a: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Verdana" panose="020B0604030504040204" pitchFamily="34" charset="0"/>
              </a:rPr>
              <a:t>The second parameter is a callback function. The first callback parameter holds the content of the page requested, and the second callback parameter holds the status of the request.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76403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214B48-2B8E-4F14-AA0B-88E5CFDD749F}"/>
              </a:ext>
            </a:extLst>
          </p:cNvPr>
          <p:cNvSpPr>
            <a:spLocks noGrp="1"/>
          </p:cNvSpPr>
          <p:nvPr>
            <p:ph idx="1"/>
          </p:nvPr>
        </p:nvSpPr>
        <p:spPr>
          <a:xfrm>
            <a:off x="530942" y="757084"/>
            <a:ext cx="7197213" cy="5419879"/>
          </a:xfrm>
        </p:spPr>
        <p:txBody>
          <a:bodyPr>
            <a:noAutofit/>
          </a:bodyPr>
          <a:lstStyle/>
          <a:p>
            <a:pPr marL="0" indent="0">
              <a:buNone/>
            </a:pPr>
            <a:r>
              <a:rPr lang="en-US" sz="1200" dirty="0"/>
              <a:t>&lt;!DOCTYPE html&gt;</a:t>
            </a:r>
          </a:p>
          <a:p>
            <a:pPr marL="0" indent="0">
              <a:buNone/>
            </a:pPr>
            <a:r>
              <a:rPr lang="en-US" sz="1200" dirty="0"/>
              <a:t>&lt;html&gt;</a:t>
            </a:r>
          </a:p>
          <a:p>
            <a:pPr marL="0" indent="0">
              <a:buNone/>
            </a:pPr>
            <a:r>
              <a:rPr lang="en-US" sz="1200" dirty="0"/>
              <a:t>&lt;head&gt;</a:t>
            </a:r>
          </a:p>
          <a:p>
            <a:pPr marL="0" indent="0">
              <a:buNone/>
            </a:pPr>
            <a:r>
              <a:rPr lang="en-US" sz="1200" dirty="0"/>
              <a:t>&lt;script </a:t>
            </a:r>
            <a:r>
              <a:rPr lang="en-US" sz="1200" dirty="0" err="1"/>
              <a:t>src</a:t>
            </a:r>
            <a:r>
              <a:rPr lang="en-US" sz="1200" dirty="0"/>
              <a:t>="jquery-1.9.1.js"&gt;</a:t>
            </a:r>
          </a:p>
          <a:p>
            <a:pPr marL="0" indent="0">
              <a:buNone/>
            </a:pPr>
            <a:r>
              <a:rPr lang="en-US" sz="1200" dirty="0"/>
              <a:t>&lt;/script&gt;</a:t>
            </a:r>
          </a:p>
          <a:p>
            <a:pPr marL="0" indent="0">
              <a:buNone/>
            </a:pPr>
            <a:r>
              <a:rPr lang="en-US" sz="1200" dirty="0"/>
              <a:t>&lt;script&gt;</a:t>
            </a:r>
          </a:p>
          <a:p>
            <a:pPr marL="0" indent="0">
              <a:buNone/>
            </a:pPr>
            <a:r>
              <a:rPr lang="en-US" sz="1200" dirty="0"/>
              <a:t>$(document).ready(function(){</a:t>
            </a:r>
          </a:p>
          <a:p>
            <a:pPr marL="0" indent="0">
              <a:buNone/>
            </a:pPr>
            <a:r>
              <a:rPr lang="en-US" sz="1200" dirty="0"/>
              <a:t>  $("button").click(function(){</a:t>
            </a:r>
          </a:p>
          <a:p>
            <a:pPr marL="0" indent="0">
              <a:buNone/>
            </a:pPr>
            <a:r>
              <a:rPr lang="en-US" sz="1200" dirty="0"/>
              <a:t>    $.get("</a:t>
            </a:r>
            <a:r>
              <a:rPr lang="en-US" sz="1200" dirty="0" err="1"/>
              <a:t>demo_test.php",function</a:t>
            </a:r>
            <a:r>
              <a:rPr lang="en-US" sz="1200" dirty="0"/>
              <a:t>(</a:t>
            </a:r>
            <a:r>
              <a:rPr lang="en-US" sz="1200" dirty="0" err="1"/>
              <a:t>data,status</a:t>
            </a:r>
            <a:r>
              <a:rPr lang="en-US" sz="1200" dirty="0"/>
              <a:t>){</a:t>
            </a:r>
          </a:p>
          <a:p>
            <a:pPr marL="0" indent="0">
              <a:buNone/>
            </a:pPr>
            <a:r>
              <a:rPr lang="en-US" sz="1200" dirty="0"/>
              <a:t>      alert("Data: " + data + "\</a:t>
            </a:r>
            <a:r>
              <a:rPr lang="en-US" sz="1200" dirty="0" err="1"/>
              <a:t>nStatus</a:t>
            </a:r>
            <a:r>
              <a:rPr lang="en-US" sz="1200" dirty="0"/>
              <a:t>: " + status);</a:t>
            </a:r>
          </a:p>
          <a:p>
            <a:pPr marL="0" indent="0">
              <a:buNone/>
            </a:pPr>
            <a:r>
              <a:rPr lang="en-US" sz="1200" dirty="0"/>
              <a:t>    });</a:t>
            </a:r>
          </a:p>
          <a:p>
            <a:pPr marL="0" indent="0">
              <a:buNone/>
            </a:pPr>
            <a:r>
              <a:rPr lang="en-US" sz="1200" dirty="0"/>
              <a:t>  });</a:t>
            </a:r>
          </a:p>
          <a:p>
            <a:pPr marL="0" indent="0">
              <a:buNone/>
            </a:pPr>
            <a:r>
              <a:rPr lang="en-US" sz="1200" dirty="0"/>
              <a:t>});</a:t>
            </a:r>
          </a:p>
          <a:p>
            <a:pPr marL="0" indent="0">
              <a:buNone/>
            </a:pPr>
            <a:r>
              <a:rPr lang="en-US" sz="1200" dirty="0"/>
              <a:t>&lt;/script&gt;</a:t>
            </a:r>
          </a:p>
          <a:p>
            <a:pPr marL="0" indent="0">
              <a:buNone/>
            </a:pPr>
            <a:r>
              <a:rPr lang="en-US" sz="1200" dirty="0"/>
              <a:t>&lt;/head&gt;w&lt;body&gt;&lt;button&gt;Send an HTTP GET request to a page and get the result back&lt;/button&gt;</a:t>
            </a:r>
          </a:p>
          <a:p>
            <a:pPr marL="0" indent="0">
              <a:buNone/>
            </a:pPr>
            <a:r>
              <a:rPr lang="en-US" sz="1200" dirty="0"/>
              <a:t>&lt;h3&gt;</a:t>
            </a:r>
          </a:p>
          <a:p>
            <a:pPr marL="0" indent="0">
              <a:buNone/>
            </a:pPr>
            <a:r>
              <a:rPr lang="en-US" sz="1200" dirty="0"/>
              <a:t>Syntax:$.get(</a:t>
            </a:r>
            <a:r>
              <a:rPr lang="en-US" sz="1200" dirty="0" err="1"/>
              <a:t>URL,callback</a:t>
            </a:r>
            <a:r>
              <a:rPr lang="en-US" sz="1200" dirty="0"/>
              <a:t>);</a:t>
            </a:r>
          </a:p>
          <a:p>
            <a:pPr marL="0" indent="0">
              <a:buNone/>
            </a:pPr>
            <a:r>
              <a:rPr lang="en-US" sz="1200" dirty="0"/>
              <a:t>The required URL parameter specifies the URL you wish to request.</a:t>
            </a:r>
          </a:p>
          <a:p>
            <a:pPr marL="0" indent="0">
              <a:buNone/>
            </a:pPr>
            <a:r>
              <a:rPr lang="en-US" sz="1200" dirty="0"/>
              <a:t>The optional callback parameter is the name of a function to be executed if the request succeeds.&lt;/h2&gt;</a:t>
            </a:r>
          </a:p>
          <a:p>
            <a:pPr marL="0" indent="0">
              <a:buNone/>
            </a:pPr>
            <a:r>
              <a:rPr lang="en-US" sz="1200" dirty="0"/>
              <a:t>&lt;/body&gt;</a:t>
            </a:r>
          </a:p>
          <a:p>
            <a:pPr marL="0" indent="0">
              <a:buNone/>
            </a:pPr>
            <a:r>
              <a:rPr lang="en-US" sz="1200" dirty="0"/>
              <a:t>&lt;/html&gt;</a:t>
            </a:r>
          </a:p>
          <a:p>
            <a:pPr marL="0" indent="0">
              <a:buNone/>
            </a:pPr>
            <a:endParaRPr lang="en-US" sz="1200" dirty="0"/>
          </a:p>
          <a:p>
            <a:pPr marL="0" indent="0">
              <a:buNone/>
            </a:pPr>
            <a:endParaRPr lang="en-IN" sz="1200" dirty="0"/>
          </a:p>
        </p:txBody>
      </p:sp>
      <p:sp>
        <p:nvSpPr>
          <p:cNvPr id="5" name="TextBox 4">
            <a:extLst>
              <a:ext uri="{FF2B5EF4-FFF2-40B4-BE49-F238E27FC236}">
                <a16:creationId xmlns:a16="http://schemas.microsoft.com/office/drawing/2014/main" id="{008554AE-0135-4FA7-8D01-AA71DBA2DEE3}"/>
              </a:ext>
            </a:extLst>
          </p:cNvPr>
          <p:cNvSpPr txBox="1"/>
          <p:nvPr/>
        </p:nvSpPr>
        <p:spPr>
          <a:xfrm>
            <a:off x="6174659" y="850093"/>
            <a:ext cx="5407741" cy="1200329"/>
          </a:xfrm>
          <a:prstGeom prst="rect">
            <a:avLst/>
          </a:prstGeom>
          <a:noFill/>
        </p:spPr>
        <p:txBody>
          <a:bodyPr wrap="square">
            <a:spAutoFit/>
          </a:bodyPr>
          <a:lstStyle/>
          <a:p>
            <a:r>
              <a:rPr lang="en-US" dirty="0"/>
              <a:t>&lt;?php </a:t>
            </a:r>
          </a:p>
          <a:p>
            <a:r>
              <a:rPr lang="en-US" dirty="0"/>
              <a:t>    echo 'This text was fetched from the server with Ajax and PHP.'; </a:t>
            </a:r>
          </a:p>
          <a:p>
            <a:r>
              <a:rPr lang="en-US" dirty="0"/>
              <a:t>?&gt;</a:t>
            </a:r>
          </a:p>
        </p:txBody>
      </p:sp>
      <p:sp>
        <p:nvSpPr>
          <p:cNvPr id="6" name="TextBox 5">
            <a:extLst>
              <a:ext uri="{FF2B5EF4-FFF2-40B4-BE49-F238E27FC236}">
                <a16:creationId xmlns:a16="http://schemas.microsoft.com/office/drawing/2014/main" id="{A373239B-F2DC-4F13-857D-49FD9B6BF345}"/>
              </a:ext>
            </a:extLst>
          </p:cNvPr>
          <p:cNvSpPr txBox="1"/>
          <p:nvPr/>
        </p:nvSpPr>
        <p:spPr>
          <a:xfrm>
            <a:off x="6096000" y="186813"/>
            <a:ext cx="4837471" cy="369332"/>
          </a:xfrm>
          <a:prstGeom prst="rect">
            <a:avLst/>
          </a:prstGeom>
          <a:noFill/>
        </p:spPr>
        <p:txBody>
          <a:bodyPr wrap="square" rtlCol="0">
            <a:spAutoFit/>
          </a:bodyPr>
          <a:lstStyle/>
          <a:p>
            <a:r>
              <a:rPr lang="en-IN" dirty="0" err="1"/>
              <a:t>Demo_test.php</a:t>
            </a:r>
            <a:endParaRPr lang="en-IN" dirty="0"/>
          </a:p>
        </p:txBody>
      </p:sp>
    </p:spTree>
    <p:extLst>
      <p:ext uri="{BB962C8B-B14F-4D97-AF65-F5344CB8AC3E}">
        <p14:creationId xmlns:p14="http://schemas.microsoft.com/office/powerpoint/2010/main" val="3474597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EB98EED8-B218-4ACE-9975-BE36F914FB1F}"/>
              </a:ext>
            </a:extLst>
          </p:cNvPr>
          <p:cNvSpPr>
            <a:spLocks noGrp="1" noChangeArrowheads="1"/>
          </p:cNvSpPr>
          <p:nvPr>
            <p:ph idx="1"/>
          </p:nvPr>
        </p:nvSpPr>
        <p:spPr bwMode="auto">
          <a:xfrm>
            <a:off x="304390" y="1236264"/>
            <a:ext cx="11415661" cy="332907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jQuery $.post() Method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Verdana" panose="020B0604030504040204" pitchFamily="34" charset="0"/>
              </a:rPr>
              <a:t>The </a:t>
            </a:r>
            <a:r>
              <a:rPr kumimoji="0" lang="en-US" altLang="en-US" sz="1600" b="0" i="0" u="none" strike="noStrike" cap="none" normalizeH="0" baseline="0" dirty="0">
                <a:ln>
                  <a:noFill/>
                </a:ln>
                <a:solidFill>
                  <a:srgbClr val="DC143C"/>
                </a:solidFill>
                <a:effectLst/>
                <a:latin typeface="Consolas" panose="020B0609020204030204" pitchFamily="49" charset="0"/>
              </a:rPr>
              <a:t>$.post()</a:t>
            </a:r>
            <a:r>
              <a:rPr kumimoji="0" lang="en-US" altLang="en-US" sz="1600" b="0" i="0" u="none" strike="noStrike" cap="none" normalizeH="0" baseline="0" dirty="0">
                <a:ln>
                  <a:noFill/>
                </a:ln>
                <a:solidFill>
                  <a:srgbClr val="000000"/>
                </a:solidFill>
                <a:effectLst/>
                <a:latin typeface="Verdana" panose="020B0604030504040204" pitchFamily="34" charset="0"/>
              </a:rPr>
              <a:t> method requests data from the server using an HTTP POST request.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00"/>
                </a:solidFill>
                <a:effectLst/>
                <a:latin typeface="Verdana" panose="020B0604030504040204" pitchFamily="34" charset="0"/>
              </a:rPr>
              <a:t>Syntax:</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$.post(</a:t>
            </a:r>
            <a:r>
              <a:rPr kumimoji="0" lang="en-US" altLang="en-US" sz="1600" b="0" i="1" u="none" strike="noStrike" cap="none" normalizeH="0" baseline="0" dirty="0" err="1">
                <a:ln>
                  <a:noFill/>
                </a:ln>
                <a:solidFill>
                  <a:srgbClr val="000000"/>
                </a:solidFill>
                <a:effectLst/>
                <a:latin typeface="Consolas" panose="020B0609020204030204" pitchFamily="49" charset="0"/>
              </a:rPr>
              <a:t>URL,data,callback</a:t>
            </a:r>
            <a:r>
              <a:rPr kumimoji="0" lang="en-US" altLang="en-US" sz="1600" b="0" i="0" u="none" strike="noStrike" cap="none" normalizeH="0" baseline="0" dirty="0">
                <a:ln>
                  <a:noFill/>
                </a:ln>
                <a:solidFill>
                  <a:srgbClr val="000000"/>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Verdana" panose="020B0604030504040204" pitchFamily="34" charset="0"/>
              </a:rPr>
              <a:t>The required URL parameter specifies the URL you wish to request.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Verdana" panose="020B0604030504040204" pitchFamily="34" charset="0"/>
              </a:rPr>
              <a:t>The optional data parameter specifies some data to send along with the request.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Verdana" panose="020B0604030504040204" pitchFamily="34" charset="0"/>
              </a:rPr>
              <a:t>The optional callback parameter is the name of a function to be executed if the request succeeds.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Verdana" panose="020B0604030504040204" pitchFamily="34" charset="0"/>
              </a:rPr>
              <a:t>The following example uses the </a:t>
            </a:r>
            <a:r>
              <a:rPr kumimoji="0" lang="en-US" altLang="en-US" sz="1600" b="0" i="0" u="none" strike="noStrike" cap="none" normalizeH="0" baseline="0" dirty="0">
                <a:ln>
                  <a:noFill/>
                </a:ln>
                <a:solidFill>
                  <a:srgbClr val="DC143C"/>
                </a:solidFill>
                <a:effectLst/>
                <a:latin typeface="Consolas" panose="020B0609020204030204" pitchFamily="49" charset="0"/>
              </a:rPr>
              <a:t>$.post()</a:t>
            </a:r>
            <a:r>
              <a:rPr kumimoji="0" lang="en-US" altLang="en-US" sz="1600" b="0" i="0" u="none" strike="noStrike" cap="none" normalizeH="0" baseline="0" dirty="0">
                <a:ln>
                  <a:noFill/>
                </a:ln>
                <a:solidFill>
                  <a:srgbClr val="000000"/>
                </a:solidFill>
                <a:effectLst/>
                <a:latin typeface="Verdana" panose="020B0604030504040204" pitchFamily="34" charset="0"/>
              </a:rPr>
              <a:t> method to send some data along with the request:</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30547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011D5A-6EE2-4E56-8A2D-F897F279FC1E}"/>
              </a:ext>
            </a:extLst>
          </p:cNvPr>
          <p:cNvSpPr>
            <a:spLocks noGrp="1"/>
          </p:cNvSpPr>
          <p:nvPr>
            <p:ph idx="1"/>
          </p:nvPr>
        </p:nvSpPr>
        <p:spPr>
          <a:xfrm>
            <a:off x="117988" y="619432"/>
            <a:ext cx="6912078" cy="5557531"/>
          </a:xfrm>
        </p:spPr>
        <p:txBody>
          <a:bodyPr>
            <a:noAutofit/>
          </a:bodyPr>
          <a:lstStyle/>
          <a:p>
            <a:pPr marL="0" indent="0">
              <a:buNone/>
            </a:pPr>
            <a:r>
              <a:rPr lang="en-IN" sz="1200" dirty="0"/>
              <a:t>&lt;!DOCTYPE html&gt;</a:t>
            </a:r>
          </a:p>
          <a:p>
            <a:pPr marL="0" indent="0">
              <a:buNone/>
            </a:pPr>
            <a:r>
              <a:rPr lang="en-IN" sz="1200" dirty="0"/>
              <a:t>&lt;html&gt;</a:t>
            </a:r>
          </a:p>
          <a:p>
            <a:pPr marL="0" indent="0">
              <a:buNone/>
            </a:pPr>
            <a:r>
              <a:rPr lang="en-IN" sz="1200" dirty="0"/>
              <a:t>&lt;head&gt;</a:t>
            </a:r>
          </a:p>
          <a:p>
            <a:pPr marL="0" indent="0">
              <a:buNone/>
            </a:pPr>
            <a:r>
              <a:rPr lang="en-IN" sz="1200" dirty="0"/>
              <a:t>&lt;script </a:t>
            </a:r>
            <a:r>
              <a:rPr lang="en-IN" sz="1200" dirty="0" err="1"/>
              <a:t>src</a:t>
            </a:r>
            <a:r>
              <a:rPr lang="en-IN" sz="1200" dirty="0"/>
              <a:t>="jquery-1.9.1.js"&gt;</a:t>
            </a:r>
          </a:p>
          <a:p>
            <a:pPr marL="0" indent="0">
              <a:buNone/>
            </a:pPr>
            <a:r>
              <a:rPr lang="en-IN" sz="1200" dirty="0"/>
              <a:t>&lt;/script&gt;</a:t>
            </a:r>
          </a:p>
          <a:p>
            <a:pPr marL="0" indent="0">
              <a:buNone/>
            </a:pPr>
            <a:r>
              <a:rPr lang="en-IN" sz="1200" dirty="0"/>
              <a:t>&lt;script&gt;</a:t>
            </a:r>
          </a:p>
          <a:p>
            <a:pPr marL="0" indent="0">
              <a:buNone/>
            </a:pPr>
            <a:r>
              <a:rPr lang="en-IN" sz="1200" dirty="0"/>
              <a:t>$(document).ready(function(){</a:t>
            </a:r>
          </a:p>
          <a:p>
            <a:pPr marL="0" indent="0">
              <a:buNone/>
            </a:pPr>
            <a:r>
              <a:rPr lang="en-IN" sz="1200" dirty="0"/>
              <a:t>  $("button").click(function(){</a:t>
            </a:r>
          </a:p>
          <a:p>
            <a:pPr marL="0" indent="0">
              <a:buNone/>
            </a:pPr>
            <a:r>
              <a:rPr lang="en-IN" sz="1200" dirty="0"/>
              <a:t>    $.post("</a:t>
            </a:r>
            <a:r>
              <a:rPr lang="en-IN" sz="1200" dirty="0" err="1"/>
              <a:t>demo_test_post.php</a:t>
            </a:r>
            <a:r>
              <a:rPr lang="en-IN" sz="1200" dirty="0"/>
              <a:t>",</a:t>
            </a:r>
          </a:p>
          <a:p>
            <a:pPr marL="0" indent="0">
              <a:buNone/>
            </a:pPr>
            <a:r>
              <a:rPr lang="en-IN" sz="1200" dirty="0"/>
              <a:t>    {</a:t>
            </a:r>
          </a:p>
          <a:p>
            <a:pPr marL="0" indent="0">
              <a:buNone/>
            </a:pPr>
            <a:r>
              <a:rPr lang="en-IN" sz="1200" dirty="0"/>
              <a:t>      </a:t>
            </a:r>
            <a:r>
              <a:rPr lang="en-IN" sz="1200" dirty="0" err="1"/>
              <a:t>name:"vidya</a:t>
            </a:r>
            <a:r>
              <a:rPr lang="en-IN" sz="1200" dirty="0"/>
              <a:t>",</a:t>
            </a:r>
          </a:p>
          <a:p>
            <a:pPr marL="0" indent="0">
              <a:buNone/>
            </a:pPr>
            <a:r>
              <a:rPr lang="en-IN" sz="1200" dirty="0"/>
              <a:t>      </a:t>
            </a:r>
            <a:r>
              <a:rPr lang="en-IN" sz="1200" dirty="0" err="1"/>
              <a:t>city:"Mumbai</a:t>
            </a:r>
            <a:r>
              <a:rPr lang="en-IN" sz="1200" dirty="0"/>
              <a:t>"</a:t>
            </a:r>
          </a:p>
          <a:p>
            <a:pPr marL="0" indent="0">
              <a:buNone/>
            </a:pPr>
            <a:r>
              <a:rPr lang="en-IN" sz="1200" dirty="0"/>
              <a:t>    },</a:t>
            </a:r>
          </a:p>
          <a:p>
            <a:pPr marL="0" indent="0">
              <a:buNone/>
            </a:pPr>
            <a:r>
              <a:rPr lang="en-IN" sz="1200" dirty="0"/>
              <a:t>    function(</a:t>
            </a:r>
            <a:r>
              <a:rPr lang="en-IN" sz="1200" dirty="0" err="1"/>
              <a:t>data,status</a:t>
            </a:r>
            <a:r>
              <a:rPr lang="en-IN" sz="1200" dirty="0"/>
              <a:t>){</a:t>
            </a:r>
          </a:p>
          <a:p>
            <a:pPr marL="0" indent="0">
              <a:buNone/>
            </a:pPr>
            <a:r>
              <a:rPr lang="en-IN" sz="1200" dirty="0"/>
              <a:t>      alert("Data: " + data + "\</a:t>
            </a:r>
            <a:r>
              <a:rPr lang="en-IN" sz="1200" dirty="0" err="1"/>
              <a:t>nStatus</a:t>
            </a:r>
            <a:r>
              <a:rPr lang="en-IN" sz="1200" dirty="0"/>
              <a:t>: " + status);</a:t>
            </a:r>
          </a:p>
          <a:p>
            <a:pPr marL="0" indent="0">
              <a:buNone/>
            </a:pPr>
            <a:r>
              <a:rPr lang="en-IN" sz="1200" dirty="0"/>
              <a:t>    });</a:t>
            </a:r>
          </a:p>
          <a:p>
            <a:pPr marL="0" indent="0">
              <a:buNone/>
            </a:pPr>
            <a:r>
              <a:rPr lang="en-IN" sz="1200" dirty="0"/>
              <a:t>  });</a:t>
            </a:r>
          </a:p>
          <a:p>
            <a:pPr marL="0" indent="0">
              <a:buNone/>
            </a:pPr>
            <a:r>
              <a:rPr lang="en-IN" sz="1200" dirty="0"/>
              <a:t>});</a:t>
            </a:r>
          </a:p>
          <a:p>
            <a:pPr marL="0" indent="0">
              <a:buNone/>
            </a:pPr>
            <a:r>
              <a:rPr lang="en-IN" sz="1200" dirty="0"/>
              <a:t>&lt;/script&gt;&lt;/head&gt;&lt;body&gt;</a:t>
            </a:r>
          </a:p>
          <a:p>
            <a:pPr marL="0" indent="0">
              <a:buNone/>
            </a:pPr>
            <a:r>
              <a:rPr lang="en-IN" sz="1200" dirty="0"/>
              <a:t>&lt;button&gt;Send an HTTP POST request to a page and get the result back&lt;/button&gt;</a:t>
            </a:r>
          </a:p>
          <a:p>
            <a:pPr marL="0" indent="0">
              <a:buNone/>
            </a:pPr>
            <a:r>
              <a:rPr lang="en-IN" sz="1200" dirty="0"/>
              <a:t>&lt;/body&gt;&lt;/html&gt;</a:t>
            </a:r>
          </a:p>
        </p:txBody>
      </p:sp>
      <p:sp>
        <p:nvSpPr>
          <p:cNvPr id="5" name="TextBox 4">
            <a:extLst>
              <a:ext uri="{FF2B5EF4-FFF2-40B4-BE49-F238E27FC236}">
                <a16:creationId xmlns:a16="http://schemas.microsoft.com/office/drawing/2014/main" id="{4A2B3230-ACDF-47C8-98EB-B714FC47EB7B}"/>
              </a:ext>
            </a:extLst>
          </p:cNvPr>
          <p:cNvSpPr txBox="1"/>
          <p:nvPr/>
        </p:nvSpPr>
        <p:spPr>
          <a:xfrm>
            <a:off x="5938684" y="818901"/>
            <a:ext cx="6135328" cy="1754326"/>
          </a:xfrm>
          <a:prstGeom prst="rect">
            <a:avLst/>
          </a:prstGeom>
          <a:noFill/>
        </p:spPr>
        <p:txBody>
          <a:bodyPr wrap="square">
            <a:spAutoFit/>
          </a:bodyPr>
          <a:lstStyle/>
          <a:p>
            <a:r>
              <a:rPr lang="en-US" dirty="0"/>
              <a:t>&lt;?php</a:t>
            </a:r>
          </a:p>
          <a:p>
            <a:endParaRPr lang="en-US" dirty="0"/>
          </a:p>
          <a:p>
            <a:r>
              <a:rPr lang="en-US" dirty="0"/>
              <a:t>echo ("Dear " . $_REQUEST["name"] . ". ");</a:t>
            </a:r>
          </a:p>
          <a:p>
            <a:r>
              <a:rPr lang="en-US" dirty="0"/>
              <a:t>echo("Hope you live well in " . $_RQUEST["city"] . ".");</a:t>
            </a:r>
          </a:p>
          <a:p>
            <a:endParaRPr lang="en-US" dirty="0"/>
          </a:p>
          <a:p>
            <a:r>
              <a:rPr lang="en-US" dirty="0"/>
              <a:t>?&gt;</a:t>
            </a:r>
          </a:p>
        </p:txBody>
      </p:sp>
      <p:sp>
        <p:nvSpPr>
          <p:cNvPr id="7" name="TextBox 6">
            <a:extLst>
              <a:ext uri="{FF2B5EF4-FFF2-40B4-BE49-F238E27FC236}">
                <a16:creationId xmlns:a16="http://schemas.microsoft.com/office/drawing/2014/main" id="{89B7F3CA-F818-40EF-8153-1976F52CFA8D}"/>
              </a:ext>
            </a:extLst>
          </p:cNvPr>
          <p:cNvSpPr txBox="1"/>
          <p:nvPr/>
        </p:nvSpPr>
        <p:spPr>
          <a:xfrm>
            <a:off x="6504040" y="342433"/>
            <a:ext cx="3809999" cy="276999"/>
          </a:xfrm>
          <a:prstGeom prst="rect">
            <a:avLst/>
          </a:prstGeom>
          <a:noFill/>
        </p:spPr>
        <p:txBody>
          <a:bodyPr wrap="square">
            <a:spAutoFit/>
          </a:bodyPr>
          <a:lstStyle/>
          <a:p>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demo_test_post.php</a:t>
            </a:r>
            <a:endParaRPr lang="en-IN" dirty="0"/>
          </a:p>
        </p:txBody>
      </p:sp>
    </p:spTree>
    <p:extLst>
      <p:ext uri="{BB962C8B-B14F-4D97-AF65-F5344CB8AC3E}">
        <p14:creationId xmlns:p14="http://schemas.microsoft.com/office/powerpoint/2010/main" val="676465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191CC-26D6-4F2B-8C0F-22E70C4A7254}"/>
              </a:ext>
            </a:extLst>
          </p:cNvPr>
          <p:cNvSpPr>
            <a:spLocks noGrp="1"/>
          </p:cNvSpPr>
          <p:nvPr>
            <p:ph type="title"/>
          </p:nvPr>
        </p:nvSpPr>
        <p:spPr/>
        <p:txBody>
          <a:bodyPr/>
          <a:lstStyle/>
          <a:p>
            <a:endParaRPr lang="en-IN" dirty="0"/>
          </a:p>
        </p:txBody>
      </p:sp>
      <p:sp>
        <p:nvSpPr>
          <p:cNvPr id="4" name="Title 1">
            <a:extLst>
              <a:ext uri="{FF2B5EF4-FFF2-40B4-BE49-F238E27FC236}">
                <a16:creationId xmlns:a16="http://schemas.microsoft.com/office/drawing/2014/main" id="{88284C1B-F072-49A7-92B6-5408810726C6}"/>
              </a:ext>
            </a:extLst>
          </p:cNvPr>
          <p:cNvSpPr>
            <a:spLocks noGrp="1"/>
          </p:cNvSpPr>
          <p:nvPr>
            <p:ph idx="1"/>
          </p:nvPr>
        </p:nvSpPr>
        <p:spPr>
          <a:xfrm>
            <a:off x="838200" y="1825625"/>
            <a:ext cx="10515600" cy="4351338"/>
          </a:xfrm>
        </p:spPr>
        <p:txBody>
          <a:bodyPr>
            <a:normAutofit/>
          </a:bodyPr>
          <a:lstStyle/>
          <a:p>
            <a:r>
              <a:rPr lang="en-US" sz="1800" b="0" i="0" dirty="0">
                <a:solidFill>
                  <a:srgbClr val="000000"/>
                </a:solidFill>
                <a:effectLst/>
                <a:latin typeface="Verdana" panose="020B0604030504040204" pitchFamily="34" charset="0"/>
              </a:rPr>
              <a:t>The ajax() method is used to perform an AJAX (asynchronous HTTP) request.</a:t>
            </a:r>
          </a:p>
          <a:p>
            <a:br>
              <a:rPr lang="en-US" sz="1800" b="0" i="0" dirty="0">
                <a:solidFill>
                  <a:srgbClr val="000000"/>
                </a:solidFill>
                <a:effectLst/>
                <a:latin typeface="Verdana" panose="020B0604030504040204" pitchFamily="34" charset="0"/>
              </a:rPr>
            </a:br>
            <a:r>
              <a:rPr lang="en-US" sz="1800" b="0" i="0" dirty="0">
                <a:solidFill>
                  <a:srgbClr val="000000"/>
                </a:solidFill>
                <a:effectLst/>
                <a:latin typeface="Consolas" panose="020B0609020204030204" pitchFamily="49" charset="0"/>
              </a:rPr>
              <a:t>$.ajax(</a:t>
            </a:r>
            <a:r>
              <a:rPr lang="en-US" sz="1800" b="0" i="1" dirty="0">
                <a:solidFill>
                  <a:srgbClr val="000000"/>
                </a:solidFill>
                <a:effectLst/>
                <a:latin typeface="Consolas" panose="020B0609020204030204" pitchFamily="49" charset="0"/>
              </a:rPr>
              <a:t>{</a:t>
            </a:r>
            <a:r>
              <a:rPr lang="en-US" sz="1800" b="0" i="1" dirty="0" err="1">
                <a:solidFill>
                  <a:srgbClr val="000000"/>
                </a:solidFill>
                <a:effectLst/>
                <a:latin typeface="Consolas" panose="020B0609020204030204" pitchFamily="49" charset="0"/>
              </a:rPr>
              <a:t>name:value</a:t>
            </a:r>
            <a:r>
              <a:rPr lang="en-US" sz="1800" b="0" i="1" dirty="0">
                <a:solidFill>
                  <a:srgbClr val="000000"/>
                </a:solidFill>
                <a:effectLst/>
                <a:latin typeface="Consolas" panose="020B0609020204030204" pitchFamily="49" charset="0"/>
              </a:rPr>
              <a:t>, </a:t>
            </a:r>
            <a:r>
              <a:rPr lang="en-US" sz="1800" b="0" i="1" dirty="0" err="1">
                <a:solidFill>
                  <a:srgbClr val="000000"/>
                </a:solidFill>
                <a:effectLst/>
                <a:latin typeface="Consolas" panose="020B0609020204030204" pitchFamily="49" charset="0"/>
              </a:rPr>
              <a:t>name:value</a:t>
            </a:r>
            <a:r>
              <a:rPr lang="en-US" sz="1800" b="0" i="1" dirty="0">
                <a:solidFill>
                  <a:srgbClr val="000000"/>
                </a:solidFill>
                <a:effectLst/>
                <a:latin typeface="Consolas" panose="020B0609020204030204" pitchFamily="49" charset="0"/>
              </a:rPr>
              <a:t>, ... }</a:t>
            </a:r>
            <a:r>
              <a:rPr lang="en-US" sz="1800" b="0" i="0" dirty="0">
                <a:solidFill>
                  <a:srgbClr val="000000"/>
                </a:solidFill>
                <a:effectLst/>
                <a:latin typeface="Consolas" panose="020B0609020204030204" pitchFamily="49" charset="0"/>
              </a:rPr>
              <a:t>)</a:t>
            </a:r>
            <a:endParaRPr lang="en-IN" sz="1800" dirty="0"/>
          </a:p>
        </p:txBody>
      </p:sp>
    </p:spTree>
    <p:extLst>
      <p:ext uri="{BB962C8B-B14F-4D97-AF65-F5344CB8AC3E}">
        <p14:creationId xmlns:p14="http://schemas.microsoft.com/office/powerpoint/2010/main" val="3344849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C5E2CB0-5B23-4CFC-94EE-B70B7F066FFD}"/>
              </a:ext>
            </a:extLst>
          </p:cNvPr>
          <p:cNvGraphicFramePr>
            <a:graphicFrameLocks noGrp="1"/>
          </p:cNvGraphicFramePr>
          <p:nvPr>
            <p:ph idx="1"/>
            <p:extLst>
              <p:ext uri="{D42A27DB-BD31-4B8C-83A1-F6EECF244321}">
                <p14:modId xmlns:p14="http://schemas.microsoft.com/office/powerpoint/2010/main" val="2367303868"/>
              </p:ext>
            </p:extLst>
          </p:nvPr>
        </p:nvGraphicFramePr>
        <p:xfrm>
          <a:off x="93406" y="0"/>
          <a:ext cx="12005187" cy="7650280"/>
        </p:xfrm>
        <a:graphic>
          <a:graphicData uri="http://schemas.openxmlformats.org/drawingml/2006/table">
            <a:tbl>
              <a:tblPr/>
              <a:tblGrid>
                <a:gridCol w="2571136">
                  <a:extLst>
                    <a:ext uri="{9D8B030D-6E8A-4147-A177-3AD203B41FA5}">
                      <a16:colId xmlns:a16="http://schemas.microsoft.com/office/drawing/2014/main" val="3240810079"/>
                    </a:ext>
                  </a:extLst>
                </a:gridCol>
                <a:gridCol w="9434051">
                  <a:extLst>
                    <a:ext uri="{9D8B030D-6E8A-4147-A177-3AD203B41FA5}">
                      <a16:colId xmlns:a16="http://schemas.microsoft.com/office/drawing/2014/main" val="657181461"/>
                    </a:ext>
                  </a:extLst>
                </a:gridCol>
              </a:tblGrid>
              <a:tr h="138657">
                <a:tc>
                  <a:txBody>
                    <a:bodyPr/>
                    <a:lstStyle/>
                    <a:p>
                      <a:pPr algn="l" fontAlgn="t"/>
                      <a:r>
                        <a:rPr lang="en-IN" sz="1600">
                          <a:effectLst/>
                        </a:rPr>
                        <a:t>Name</a:t>
                      </a:r>
                    </a:p>
                  </a:txBody>
                  <a:tcPr marL="42664"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1600" dirty="0">
                          <a:effectLst/>
                        </a:rPr>
                        <a:t>Value/Description</a:t>
                      </a:r>
                    </a:p>
                  </a:txBody>
                  <a:tcPr marL="21332"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767306405"/>
                  </a:ext>
                </a:extLst>
              </a:tr>
              <a:tr h="234650">
                <a:tc>
                  <a:txBody>
                    <a:bodyPr/>
                    <a:lstStyle/>
                    <a:p>
                      <a:pPr algn="l" fontAlgn="t"/>
                      <a:r>
                        <a:rPr lang="en-IN" sz="1600">
                          <a:effectLst/>
                        </a:rPr>
                        <a:t>async</a:t>
                      </a:r>
                    </a:p>
                  </a:txBody>
                  <a:tcPr marL="42664"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600">
                          <a:effectLst/>
                        </a:rPr>
                        <a:t>A Boolean value indicating whether the request should be handled asynchronous or not. Default is true</a:t>
                      </a:r>
                    </a:p>
                  </a:txBody>
                  <a:tcPr marL="21332"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2825802062"/>
                  </a:ext>
                </a:extLst>
              </a:tr>
              <a:tr h="138657">
                <a:tc>
                  <a:txBody>
                    <a:bodyPr/>
                    <a:lstStyle/>
                    <a:p>
                      <a:pPr algn="l" fontAlgn="t"/>
                      <a:r>
                        <a:rPr lang="en-IN" sz="1600">
                          <a:effectLst/>
                        </a:rPr>
                        <a:t>beforeSend(</a:t>
                      </a:r>
                      <a:r>
                        <a:rPr lang="en-IN" sz="1600" i="1">
                          <a:effectLst/>
                        </a:rPr>
                        <a:t>xhr</a:t>
                      </a:r>
                      <a:r>
                        <a:rPr lang="en-IN" sz="1600">
                          <a:effectLst/>
                        </a:rPr>
                        <a:t>)</a:t>
                      </a:r>
                    </a:p>
                  </a:txBody>
                  <a:tcPr marL="42664"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600">
                          <a:effectLst/>
                        </a:rPr>
                        <a:t>A function to run before the request is sent</a:t>
                      </a:r>
                    </a:p>
                  </a:txBody>
                  <a:tcPr marL="21332"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597614669"/>
                  </a:ext>
                </a:extLst>
              </a:tr>
              <a:tr h="234650">
                <a:tc>
                  <a:txBody>
                    <a:bodyPr/>
                    <a:lstStyle/>
                    <a:p>
                      <a:pPr algn="l" fontAlgn="t"/>
                      <a:r>
                        <a:rPr lang="en-IN" sz="1600" dirty="0">
                          <a:effectLst/>
                        </a:rPr>
                        <a:t>cache</a:t>
                      </a:r>
                    </a:p>
                  </a:txBody>
                  <a:tcPr marL="42664"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600">
                          <a:effectLst/>
                        </a:rPr>
                        <a:t>A Boolean value indicating whether the browser should cache the requested pages. Default is true</a:t>
                      </a:r>
                    </a:p>
                  </a:txBody>
                  <a:tcPr marL="21332"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2019265051"/>
                  </a:ext>
                </a:extLst>
              </a:tr>
              <a:tr h="234650">
                <a:tc>
                  <a:txBody>
                    <a:bodyPr/>
                    <a:lstStyle/>
                    <a:p>
                      <a:pPr algn="l" fontAlgn="t"/>
                      <a:r>
                        <a:rPr lang="en-IN" sz="1600" dirty="0">
                          <a:effectLst/>
                        </a:rPr>
                        <a:t>complete(</a:t>
                      </a:r>
                      <a:r>
                        <a:rPr lang="en-IN" sz="1600" i="1" dirty="0" err="1">
                          <a:effectLst/>
                        </a:rPr>
                        <a:t>xhr,status</a:t>
                      </a:r>
                      <a:r>
                        <a:rPr lang="en-IN" sz="1600" dirty="0">
                          <a:effectLst/>
                        </a:rPr>
                        <a:t>)</a:t>
                      </a:r>
                    </a:p>
                  </a:txBody>
                  <a:tcPr marL="42664"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600">
                          <a:effectLst/>
                        </a:rPr>
                        <a:t>A function to run when the request is finished (after success and error functions)</a:t>
                      </a:r>
                    </a:p>
                  </a:txBody>
                  <a:tcPr marL="21332"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636282026"/>
                  </a:ext>
                </a:extLst>
              </a:tr>
              <a:tr h="234650">
                <a:tc>
                  <a:txBody>
                    <a:bodyPr/>
                    <a:lstStyle/>
                    <a:p>
                      <a:pPr algn="l" fontAlgn="t"/>
                      <a:r>
                        <a:rPr lang="en-IN" sz="1600">
                          <a:effectLst/>
                        </a:rPr>
                        <a:t>contentType</a:t>
                      </a:r>
                    </a:p>
                  </a:txBody>
                  <a:tcPr marL="42664"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600">
                          <a:effectLst/>
                        </a:rPr>
                        <a:t>The content type used when sending data to the server. Default is: "application/x-www-form-urlencoded"</a:t>
                      </a:r>
                    </a:p>
                  </a:txBody>
                  <a:tcPr marL="21332"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2507219074"/>
                  </a:ext>
                </a:extLst>
              </a:tr>
              <a:tr h="234650">
                <a:tc>
                  <a:txBody>
                    <a:bodyPr/>
                    <a:lstStyle/>
                    <a:p>
                      <a:pPr algn="l" fontAlgn="t"/>
                      <a:r>
                        <a:rPr lang="en-IN" sz="1600">
                          <a:effectLst/>
                        </a:rPr>
                        <a:t>context</a:t>
                      </a:r>
                    </a:p>
                  </a:txBody>
                  <a:tcPr marL="42664"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600">
                          <a:effectLst/>
                        </a:rPr>
                        <a:t>Specifies the "this" value for all AJAX related callback functions</a:t>
                      </a:r>
                    </a:p>
                  </a:txBody>
                  <a:tcPr marL="21332"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214600645"/>
                  </a:ext>
                </a:extLst>
              </a:tr>
              <a:tr h="138657">
                <a:tc>
                  <a:txBody>
                    <a:bodyPr/>
                    <a:lstStyle/>
                    <a:p>
                      <a:pPr algn="l" fontAlgn="t"/>
                      <a:r>
                        <a:rPr lang="en-IN" sz="1600">
                          <a:effectLst/>
                        </a:rPr>
                        <a:t>data</a:t>
                      </a:r>
                    </a:p>
                  </a:txBody>
                  <a:tcPr marL="42664"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600">
                          <a:effectLst/>
                        </a:rPr>
                        <a:t>Specifies data to be sent to the server</a:t>
                      </a:r>
                    </a:p>
                  </a:txBody>
                  <a:tcPr marL="21332"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2992243865"/>
                  </a:ext>
                </a:extLst>
              </a:tr>
              <a:tr h="234650">
                <a:tc>
                  <a:txBody>
                    <a:bodyPr/>
                    <a:lstStyle/>
                    <a:p>
                      <a:pPr algn="l" fontAlgn="t"/>
                      <a:r>
                        <a:rPr lang="en-IN" sz="1600">
                          <a:effectLst/>
                        </a:rPr>
                        <a:t>dataFilter(</a:t>
                      </a:r>
                      <a:r>
                        <a:rPr lang="en-IN" sz="1600" i="1">
                          <a:effectLst/>
                        </a:rPr>
                        <a:t>data</a:t>
                      </a:r>
                      <a:r>
                        <a:rPr lang="en-IN" sz="1600">
                          <a:effectLst/>
                        </a:rPr>
                        <a:t>,</a:t>
                      </a:r>
                      <a:r>
                        <a:rPr lang="en-IN" sz="1600" i="1">
                          <a:effectLst/>
                        </a:rPr>
                        <a:t>type</a:t>
                      </a:r>
                      <a:r>
                        <a:rPr lang="en-IN" sz="1600">
                          <a:effectLst/>
                        </a:rPr>
                        <a:t>)</a:t>
                      </a:r>
                    </a:p>
                  </a:txBody>
                  <a:tcPr marL="42664"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600">
                          <a:effectLst/>
                        </a:rPr>
                        <a:t>A function used to handle the raw response data of the XMLHttpRequest</a:t>
                      </a:r>
                    </a:p>
                  </a:txBody>
                  <a:tcPr marL="21332"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777753108"/>
                  </a:ext>
                </a:extLst>
              </a:tr>
              <a:tr h="138657">
                <a:tc>
                  <a:txBody>
                    <a:bodyPr/>
                    <a:lstStyle/>
                    <a:p>
                      <a:pPr algn="l" fontAlgn="t"/>
                      <a:r>
                        <a:rPr lang="en-IN" sz="1600">
                          <a:effectLst/>
                        </a:rPr>
                        <a:t>dataType</a:t>
                      </a:r>
                    </a:p>
                  </a:txBody>
                  <a:tcPr marL="42664"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600">
                          <a:effectLst/>
                        </a:rPr>
                        <a:t>The data type expected of the server response.</a:t>
                      </a:r>
                    </a:p>
                  </a:txBody>
                  <a:tcPr marL="21332"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1437325037"/>
                  </a:ext>
                </a:extLst>
              </a:tr>
              <a:tr h="234650">
                <a:tc>
                  <a:txBody>
                    <a:bodyPr/>
                    <a:lstStyle/>
                    <a:p>
                      <a:pPr algn="l" fontAlgn="t"/>
                      <a:r>
                        <a:rPr lang="en-IN" sz="1600">
                          <a:effectLst/>
                        </a:rPr>
                        <a:t>error(</a:t>
                      </a:r>
                      <a:r>
                        <a:rPr lang="en-IN" sz="1600" i="1">
                          <a:effectLst/>
                        </a:rPr>
                        <a:t>xhr,status,error</a:t>
                      </a:r>
                      <a:r>
                        <a:rPr lang="en-IN" sz="1600">
                          <a:effectLst/>
                        </a:rPr>
                        <a:t>)</a:t>
                      </a:r>
                    </a:p>
                  </a:txBody>
                  <a:tcPr marL="42664"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600">
                          <a:effectLst/>
                        </a:rPr>
                        <a:t>A function to run if the request fails.</a:t>
                      </a:r>
                    </a:p>
                  </a:txBody>
                  <a:tcPr marL="21332"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4104149161"/>
                  </a:ext>
                </a:extLst>
              </a:tr>
              <a:tr h="234650">
                <a:tc>
                  <a:txBody>
                    <a:bodyPr/>
                    <a:lstStyle/>
                    <a:p>
                      <a:pPr algn="l" fontAlgn="t"/>
                      <a:r>
                        <a:rPr lang="en-IN" sz="1600" dirty="0">
                          <a:effectLst/>
                        </a:rPr>
                        <a:t>global</a:t>
                      </a:r>
                    </a:p>
                  </a:txBody>
                  <a:tcPr marL="42664"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600">
                          <a:effectLst/>
                        </a:rPr>
                        <a:t>A Boolean value specifying whether or not to trigger global AJAX event handles for the request. Default is true</a:t>
                      </a:r>
                    </a:p>
                  </a:txBody>
                  <a:tcPr marL="21332"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2015338786"/>
                  </a:ext>
                </a:extLst>
              </a:tr>
              <a:tr h="330643">
                <a:tc>
                  <a:txBody>
                    <a:bodyPr/>
                    <a:lstStyle/>
                    <a:p>
                      <a:pPr algn="l" fontAlgn="t"/>
                      <a:r>
                        <a:rPr lang="en-IN" sz="1600">
                          <a:effectLst/>
                        </a:rPr>
                        <a:t>ifModified</a:t>
                      </a:r>
                    </a:p>
                  </a:txBody>
                  <a:tcPr marL="42664"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600">
                          <a:effectLst/>
                        </a:rPr>
                        <a:t>A Boolean value specifying whether a request is only successful if the response has changed since the last request. Default is: false.</a:t>
                      </a:r>
                    </a:p>
                  </a:txBody>
                  <a:tcPr marL="21332"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86429494"/>
                  </a:ext>
                </a:extLst>
              </a:tr>
              <a:tr h="138657">
                <a:tc>
                  <a:txBody>
                    <a:bodyPr/>
                    <a:lstStyle/>
                    <a:p>
                      <a:pPr algn="l" fontAlgn="t"/>
                      <a:r>
                        <a:rPr lang="en-IN" sz="1600">
                          <a:effectLst/>
                        </a:rPr>
                        <a:t>jsonp</a:t>
                      </a:r>
                    </a:p>
                  </a:txBody>
                  <a:tcPr marL="42664"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600">
                          <a:effectLst/>
                        </a:rPr>
                        <a:t>A string overriding the callback function in a jsonp request</a:t>
                      </a:r>
                    </a:p>
                  </a:txBody>
                  <a:tcPr marL="21332"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187947677"/>
                  </a:ext>
                </a:extLst>
              </a:tr>
              <a:tr h="234650">
                <a:tc>
                  <a:txBody>
                    <a:bodyPr/>
                    <a:lstStyle/>
                    <a:p>
                      <a:pPr algn="l" fontAlgn="t"/>
                      <a:r>
                        <a:rPr lang="en-IN" sz="1600">
                          <a:effectLst/>
                        </a:rPr>
                        <a:t>jsonpCallback</a:t>
                      </a:r>
                    </a:p>
                  </a:txBody>
                  <a:tcPr marL="42664"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600">
                          <a:effectLst/>
                        </a:rPr>
                        <a:t>Specifies a name for the callback function in a jsonp request</a:t>
                      </a:r>
                    </a:p>
                  </a:txBody>
                  <a:tcPr marL="21332"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85106649"/>
                  </a:ext>
                </a:extLst>
              </a:tr>
              <a:tr h="234650">
                <a:tc>
                  <a:txBody>
                    <a:bodyPr/>
                    <a:lstStyle/>
                    <a:p>
                      <a:pPr algn="l" fontAlgn="t"/>
                      <a:r>
                        <a:rPr lang="en-IN" sz="1600">
                          <a:effectLst/>
                        </a:rPr>
                        <a:t>password</a:t>
                      </a:r>
                    </a:p>
                  </a:txBody>
                  <a:tcPr marL="42664"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600">
                          <a:effectLst/>
                        </a:rPr>
                        <a:t>Specifies a password to be used in an HTTP access authentication request.</a:t>
                      </a:r>
                    </a:p>
                  </a:txBody>
                  <a:tcPr marL="21332"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337898357"/>
                  </a:ext>
                </a:extLst>
              </a:tr>
              <a:tr h="330643">
                <a:tc>
                  <a:txBody>
                    <a:bodyPr/>
                    <a:lstStyle/>
                    <a:p>
                      <a:pPr algn="l" fontAlgn="t"/>
                      <a:r>
                        <a:rPr lang="en-IN" sz="1600">
                          <a:effectLst/>
                        </a:rPr>
                        <a:t>processData</a:t>
                      </a:r>
                    </a:p>
                  </a:txBody>
                  <a:tcPr marL="42664"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600">
                          <a:effectLst/>
                        </a:rPr>
                        <a:t>A Boolean value specifying whether or not data sent with the request should be transformed into a query string. Default is true</a:t>
                      </a:r>
                    </a:p>
                  </a:txBody>
                  <a:tcPr marL="21332"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841960254"/>
                  </a:ext>
                </a:extLst>
              </a:tr>
              <a:tr h="138657">
                <a:tc>
                  <a:txBody>
                    <a:bodyPr/>
                    <a:lstStyle/>
                    <a:p>
                      <a:pPr algn="l" fontAlgn="t"/>
                      <a:r>
                        <a:rPr lang="en-IN" sz="1600">
                          <a:effectLst/>
                        </a:rPr>
                        <a:t>scriptCharset</a:t>
                      </a:r>
                    </a:p>
                  </a:txBody>
                  <a:tcPr marL="42664"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600">
                          <a:effectLst/>
                        </a:rPr>
                        <a:t>Specifies the charset for the request</a:t>
                      </a:r>
                    </a:p>
                  </a:txBody>
                  <a:tcPr marL="21332"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1500301503"/>
                  </a:ext>
                </a:extLst>
              </a:tr>
              <a:tr h="234650">
                <a:tc>
                  <a:txBody>
                    <a:bodyPr/>
                    <a:lstStyle/>
                    <a:p>
                      <a:pPr algn="l" fontAlgn="t"/>
                      <a:r>
                        <a:rPr lang="en-IN" sz="1600">
                          <a:effectLst/>
                        </a:rPr>
                        <a:t>success(</a:t>
                      </a:r>
                      <a:r>
                        <a:rPr lang="en-IN" sz="1600" i="1">
                          <a:effectLst/>
                        </a:rPr>
                        <a:t>result,status,xhr</a:t>
                      </a:r>
                      <a:r>
                        <a:rPr lang="en-IN" sz="1600">
                          <a:effectLst/>
                        </a:rPr>
                        <a:t>)</a:t>
                      </a:r>
                    </a:p>
                  </a:txBody>
                  <a:tcPr marL="42664"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600">
                          <a:effectLst/>
                        </a:rPr>
                        <a:t>A function to be run when the request succeeds</a:t>
                      </a:r>
                    </a:p>
                  </a:txBody>
                  <a:tcPr marL="21332"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720509001"/>
                  </a:ext>
                </a:extLst>
              </a:tr>
              <a:tr h="138657">
                <a:tc>
                  <a:txBody>
                    <a:bodyPr/>
                    <a:lstStyle/>
                    <a:p>
                      <a:pPr algn="l" fontAlgn="t"/>
                      <a:r>
                        <a:rPr lang="en-IN" sz="1600">
                          <a:effectLst/>
                        </a:rPr>
                        <a:t>timeout</a:t>
                      </a:r>
                    </a:p>
                  </a:txBody>
                  <a:tcPr marL="42664"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600">
                          <a:effectLst/>
                        </a:rPr>
                        <a:t>The local timeout (in milliseconds) for the request</a:t>
                      </a:r>
                    </a:p>
                  </a:txBody>
                  <a:tcPr marL="21332"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2492592105"/>
                  </a:ext>
                </a:extLst>
              </a:tr>
              <a:tr h="234650">
                <a:tc>
                  <a:txBody>
                    <a:bodyPr/>
                    <a:lstStyle/>
                    <a:p>
                      <a:pPr algn="l" fontAlgn="t"/>
                      <a:r>
                        <a:rPr lang="en-IN" sz="1600">
                          <a:effectLst/>
                        </a:rPr>
                        <a:t>traditional</a:t>
                      </a:r>
                    </a:p>
                  </a:txBody>
                  <a:tcPr marL="42664"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600">
                          <a:effectLst/>
                        </a:rPr>
                        <a:t>A Boolean value specifying whether or not to use the traditional style of param serialization</a:t>
                      </a:r>
                    </a:p>
                  </a:txBody>
                  <a:tcPr marL="21332"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619712753"/>
                  </a:ext>
                </a:extLst>
              </a:tr>
              <a:tr h="138657">
                <a:tc>
                  <a:txBody>
                    <a:bodyPr/>
                    <a:lstStyle/>
                    <a:p>
                      <a:pPr algn="l" fontAlgn="t"/>
                      <a:r>
                        <a:rPr lang="en-IN" sz="1600">
                          <a:effectLst/>
                        </a:rPr>
                        <a:t>type</a:t>
                      </a:r>
                    </a:p>
                  </a:txBody>
                  <a:tcPr marL="42664"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600">
                          <a:effectLst/>
                        </a:rPr>
                        <a:t>Specifies the type of request. (GET or POST)</a:t>
                      </a:r>
                    </a:p>
                  </a:txBody>
                  <a:tcPr marL="21332"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3536674013"/>
                  </a:ext>
                </a:extLst>
              </a:tr>
              <a:tr h="234650">
                <a:tc>
                  <a:txBody>
                    <a:bodyPr/>
                    <a:lstStyle/>
                    <a:p>
                      <a:pPr algn="l" fontAlgn="t"/>
                      <a:r>
                        <a:rPr lang="en-IN" sz="1600">
                          <a:effectLst/>
                        </a:rPr>
                        <a:t>url</a:t>
                      </a:r>
                    </a:p>
                  </a:txBody>
                  <a:tcPr marL="42664"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600">
                          <a:effectLst/>
                        </a:rPr>
                        <a:t>Specifies the URL to send the request to. Default is the current page</a:t>
                      </a:r>
                    </a:p>
                  </a:txBody>
                  <a:tcPr marL="21332"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269671944"/>
                  </a:ext>
                </a:extLst>
              </a:tr>
              <a:tr h="234650">
                <a:tc>
                  <a:txBody>
                    <a:bodyPr/>
                    <a:lstStyle/>
                    <a:p>
                      <a:pPr algn="l" fontAlgn="t"/>
                      <a:r>
                        <a:rPr lang="en-IN" sz="1600">
                          <a:effectLst/>
                        </a:rPr>
                        <a:t>username</a:t>
                      </a:r>
                    </a:p>
                  </a:txBody>
                  <a:tcPr marL="42664"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600">
                          <a:effectLst/>
                        </a:rPr>
                        <a:t>Specifies a username to be used in an HTTP access authentication request</a:t>
                      </a:r>
                    </a:p>
                  </a:txBody>
                  <a:tcPr marL="21332"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2489842449"/>
                  </a:ext>
                </a:extLst>
              </a:tr>
              <a:tr h="138657">
                <a:tc>
                  <a:txBody>
                    <a:bodyPr/>
                    <a:lstStyle/>
                    <a:p>
                      <a:pPr algn="l" fontAlgn="t"/>
                      <a:r>
                        <a:rPr lang="en-IN" sz="1600">
                          <a:effectLst/>
                        </a:rPr>
                        <a:t>xhr</a:t>
                      </a:r>
                    </a:p>
                  </a:txBody>
                  <a:tcPr marL="42664"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600" dirty="0">
                          <a:effectLst/>
                        </a:rPr>
                        <a:t>A function used for creating the </a:t>
                      </a:r>
                      <a:r>
                        <a:rPr lang="en-US" sz="1600" dirty="0" err="1">
                          <a:effectLst/>
                        </a:rPr>
                        <a:t>XMLHttpRequest</a:t>
                      </a:r>
                      <a:r>
                        <a:rPr lang="en-US" sz="1600" dirty="0">
                          <a:effectLst/>
                        </a:rPr>
                        <a:t> object</a:t>
                      </a:r>
                    </a:p>
                  </a:txBody>
                  <a:tcPr marL="21332" marR="21332" marT="21332" marB="2133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841832778"/>
                  </a:ext>
                </a:extLst>
              </a:tr>
            </a:tbl>
          </a:graphicData>
        </a:graphic>
      </p:graphicFrame>
    </p:spTree>
    <p:extLst>
      <p:ext uri="{BB962C8B-B14F-4D97-AF65-F5344CB8AC3E}">
        <p14:creationId xmlns:p14="http://schemas.microsoft.com/office/powerpoint/2010/main" val="19217101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76086-3857-4BE0-BFA7-179E824BF590}"/>
              </a:ext>
            </a:extLst>
          </p:cNvPr>
          <p:cNvSpPr>
            <a:spLocks noGrp="1"/>
          </p:cNvSpPr>
          <p:nvPr>
            <p:ph type="title"/>
          </p:nvPr>
        </p:nvSpPr>
        <p:spPr>
          <a:xfrm>
            <a:off x="1160206" y="197977"/>
            <a:ext cx="10085439" cy="618101"/>
          </a:xfrm>
        </p:spPr>
        <p:txBody>
          <a:bodyPr>
            <a:normAutofit fontScale="90000"/>
          </a:bodyPr>
          <a:lstStyle/>
          <a:p>
            <a:r>
              <a:rPr lang="en-IN" dirty="0"/>
              <a:t>Serialise form and post to server</a:t>
            </a:r>
          </a:p>
        </p:txBody>
      </p:sp>
      <p:sp>
        <p:nvSpPr>
          <p:cNvPr id="3" name="Content Placeholder 2">
            <a:extLst>
              <a:ext uri="{FF2B5EF4-FFF2-40B4-BE49-F238E27FC236}">
                <a16:creationId xmlns:a16="http://schemas.microsoft.com/office/drawing/2014/main" id="{B8FC2D61-330D-4EE3-AFD1-98AE585BFCD1}"/>
              </a:ext>
            </a:extLst>
          </p:cNvPr>
          <p:cNvSpPr>
            <a:spLocks noGrp="1"/>
          </p:cNvSpPr>
          <p:nvPr>
            <p:ph idx="1"/>
          </p:nvPr>
        </p:nvSpPr>
        <p:spPr>
          <a:xfrm>
            <a:off x="147484" y="924232"/>
            <a:ext cx="11206316" cy="5252731"/>
          </a:xfrm>
        </p:spPr>
        <p:txBody>
          <a:bodyPr>
            <a:normAutofit fontScale="47500" lnSpcReduction="20000"/>
          </a:bodyPr>
          <a:lstStyle/>
          <a:p>
            <a:pPr marL="0" indent="0">
              <a:buNone/>
            </a:pPr>
            <a:r>
              <a:rPr lang="en-IN" dirty="0"/>
              <a:t>&lt;!DOCTYPE html&gt;</a:t>
            </a:r>
          </a:p>
          <a:p>
            <a:pPr marL="0" indent="0">
              <a:buNone/>
            </a:pPr>
            <a:r>
              <a:rPr lang="en-IN" dirty="0"/>
              <a:t>&lt;html&gt;</a:t>
            </a:r>
          </a:p>
          <a:p>
            <a:pPr marL="0" indent="0">
              <a:buNone/>
            </a:pPr>
            <a:r>
              <a:rPr lang="en-IN" dirty="0"/>
              <a:t>&lt;head&gt;</a:t>
            </a:r>
          </a:p>
          <a:p>
            <a:pPr marL="0" indent="0">
              <a:buNone/>
            </a:pPr>
            <a:r>
              <a:rPr lang="en-IN" dirty="0"/>
              <a:t>&lt;script </a:t>
            </a:r>
            <a:r>
              <a:rPr lang="en-IN" dirty="0" err="1"/>
              <a:t>src</a:t>
            </a:r>
            <a:r>
              <a:rPr lang="en-IN" dirty="0"/>
              <a:t>="jquery-1.9.1.js"&gt;&lt;/script&gt;</a:t>
            </a:r>
          </a:p>
          <a:p>
            <a:pPr marL="0" indent="0">
              <a:buNone/>
            </a:pPr>
            <a:r>
              <a:rPr lang="en-IN" dirty="0"/>
              <a:t>&lt;script </a:t>
            </a:r>
            <a:r>
              <a:rPr lang="en-IN" dirty="0" err="1"/>
              <a:t>src</a:t>
            </a:r>
            <a:r>
              <a:rPr lang="en-IN" dirty="0"/>
              <a:t>="jquery.serializeJSON.min.js"&gt;&lt;/script&gt;</a:t>
            </a:r>
          </a:p>
          <a:p>
            <a:pPr marL="0" indent="0">
              <a:buNone/>
            </a:pPr>
            <a:r>
              <a:rPr lang="en-IN" dirty="0"/>
              <a:t>&lt;script </a:t>
            </a:r>
            <a:r>
              <a:rPr lang="en-IN" dirty="0" err="1"/>
              <a:t>src</a:t>
            </a:r>
            <a:r>
              <a:rPr lang="en-IN" dirty="0"/>
              <a:t>="aja.js"&gt;&lt;/script&gt;</a:t>
            </a:r>
          </a:p>
          <a:p>
            <a:pPr marL="0" indent="0">
              <a:buNone/>
            </a:pPr>
            <a:r>
              <a:rPr lang="en-IN" dirty="0"/>
              <a:t>&lt;/head&gt;</a:t>
            </a:r>
          </a:p>
          <a:p>
            <a:pPr marL="0" indent="0">
              <a:buNone/>
            </a:pPr>
            <a:r>
              <a:rPr lang="en-IN" dirty="0"/>
              <a:t>&lt;body&gt;</a:t>
            </a:r>
          </a:p>
          <a:p>
            <a:pPr marL="0" indent="0">
              <a:buNone/>
            </a:pPr>
            <a:r>
              <a:rPr lang="en-IN" dirty="0"/>
              <a:t>&lt;</a:t>
            </a:r>
            <a:r>
              <a:rPr lang="en-IN" dirty="0" err="1"/>
              <a:t>fieldset</a:t>
            </a:r>
            <a:r>
              <a:rPr lang="en-IN" dirty="0"/>
              <a:t>&gt;</a:t>
            </a:r>
          </a:p>
          <a:p>
            <a:pPr marL="0" indent="0">
              <a:buNone/>
            </a:pPr>
            <a:r>
              <a:rPr lang="en-IN" dirty="0"/>
              <a:t>&lt;legend&gt;Login&lt;/legend&gt;</a:t>
            </a:r>
          </a:p>
          <a:p>
            <a:pPr marL="0" indent="0">
              <a:buNone/>
            </a:pPr>
            <a:r>
              <a:rPr lang="en-IN" dirty="0"/>
              <a:t>&lt;form  method="post" id="</a:t>
            </a:r>
            <a:r>
              <a:rPr lang="en-IN" dirty="0" err="1"/>
              <a:t>frm</a:t>
            </a:r>
            <a:r>
              <a:rPr lang="en-IN" dirty="0"/>
              <a:t>"&gt;</a:t>
            </a:r>
          </a:p>
          <a:p>
            <a:pPr marL="0" indent="0">
              <a:buNone/>
            </a:pPr>
            <a:r>
              <a:rPr lang="en-IN" dirty="0" err="1"/>
              <a:t>UserName</a:t>
            </a:r>
            <a:r>
              <a:rPr lang="en-IN" dirty="0"/>
              <a:t>&lt;input type="text" name="nm" id="nm" required/&gt;</a:t>
            </a:r>
          </a:p>
          <a:p>
            <a:pPr marL="0" indent="0">
              <a:buNone/>
            </a:pPr>
            <a:r>
              <a:rPr lang="en-IN" dirty="0"/>
              <a:t>Password&lt;input type="text" name="pass" id="pas" required/&gt;</a:t>
            </a:r>
          </a:p>
          <a:p>
            <a:pPr marL="0" indent="0">
              <a:buNone/>
            </a:pPr>
            <a:r>
              <a:rPr lang="en-IN" dirty="0"/>
              <a:t>&lt;input type="button" id="</a:t>
            </a:r>
            <a:r>
              <a:rPr lang="en-IN" dirty="0" err="1"/>
              <a:t>btn</a:t>
            </a:r>
            <a:r>
              <a:rPr lang="en-IN" dirty="0"/>
              <a:t>"/&gt;</a:t>
            </a:r>
          </a:p>
          <a:p>
            <a:pPr marL="0" indent="0">
              <a:buNone/>
            </a:pPr>
            <a:r>
              <a:rPr lang="en-IN" dirty="0"/>
              <a:t>&lt;/form&gt;</a:t>
            </a:r>
          </a:p>
          <a:p>
            <a:pPr marL="0" indent="0">
              <a:buNone/>
            </a:pPr>
            <a:r>
              <a:rPr lang="en-IN" dirty="0"/>
              <a:t>&lt;/</a:t>
            </a:r>
            <a:r>
              <a:rPr lang="en-IN" dirty="0" err="1"/>
              <a:t>fieldset</a:t>
            </a:r>
            <a:r>
              <a:rPr lang="en-IN" dirty="0"/>
              <a:t>&gt;</a:t>
            </a:r>
          </a:p>
          <a:p>
            <a:pPr marL="0" indent="0">
              <a:buNone/>
            </a:pPr>
            <a:r>
              <a:rPr lang="en-IN" dirty="0"/>
              <a:t>&lt;div id="dd"&gt;&lt;/div&gt;</a:t>
            </a:r>
          </a:p>
          <a:p>
            <a:pPr marL="0" indent="0">
              <a:buNone/>
            </a:pPr>
            <a:r>
              <a:rPr lang="en-IN" dirty="0"/>
              <a:t>&lt;/body&gt;</a:t>
            </a:r>
          </a:p>
          <a:p>
            <a:pPr marL="0" indent="0">
              <a:buNone/>
            </a:pPr>
            <a:r>
              <a:rPr lang="en-IN" dirty="0"/>
              <a:t>&lt;/html&gt;</a:t>
            </a:r>
          </a:p>
        </p:txBody>
      </p:sp>
    </p:spTree>
    <p:extLst>
      <p:ext uri="{BB962C8B-B14F-4D97-AF65-F5344CB8AC3E}">
        <p14:creationId xmlns:p14="http://schemas.microsoft.com/office/powerpoint/2010/main" val="38451097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80F7DD-6AB7-4B8F-9E9E-AF410BEB60A3}"/>
              </a:ext>
            </a:extLst>
          </p:cNvPr>
          <p:cNvSpPr>
            <a:spLocks noGrp="1"/>
          </p:cNvSpPr>
          <p:nvPr>
            <p:ph idx="1"/>
          </p:nvPr>
        </p:nvSpPr>
        <p:spPr>
          <a:xfrm>
            <a:off x="1052052" y="44246"/>
            <a:ext cx="11501283" cy="6813754"/>
          </a:xfrm>
        </p:spPr>
        <p:txBody>
          <a:bodyPr>
            <a:noAutofit/>
          </a:bodyPr>
          <a:lstStyle/>
          <a:p>
            <a:pPr marL="0" indent="0">
              <a:buNone/>
            </a:pPr>
            <a:r>
              <a:rPr lang="en-IN" sz="1400" dirty="0"/>
              <a:t>$(document).ready(function(){</a:t>
            </a:r>
          </a:p>
          <a:p>
            <a:pPr marL="0" indent="0">
              <a:buNone/>
            </a:pPr>
            <a:r>
              <a:rPr lang="en-IN" sz="1400" dirty="0"/>
              <a:t>	var c=0;</a:t>
            </a:r>
          </a:p>
          <a:p>
            <a:pPr marL="0" indent="0">
              <a:buNone/>
            </a:pPr>
            <a:r>
              <a:rPr lang="en-IN" sz="1400" dirty="0"/>
              <a:t>  $("#</a:t>
            </a:r>
            <a:r>
              <a:rPr lang="en-IN" sz="1400" dirty="0" err="1"/>
              <a:t>btn</a:t>
            </a:r>
            <a:r>
              <a:rPr lang="en-IN" sz="1400" dirty="0"/>
              <a:t>").click(function(){</a:t>
            </a:r>
          </a:p>
          <a:p>
            <a:pPr marL="0" indent="0">
              <a:buNone/>
            </a:pPr>
            <a:r>
              <a:rPr lang="en-IN" sz="1400" dirty="0" err="1"/>
              <a:t>arr</a:t>
            </a:r>
            <a:r>
              <a:rPr lang="en-IN" sz="1400" dirty="0"/>
              <a:t>=$("#</a:t>
            </a:r>
            <a:r>
              <a:rPr lang="en-IN" sz="1400" dirty="0" err="1"/>
              <a:t>frm</a:t>
            </a:r>
            <a:r>
              <a:rPr lang="en-IN" sz="1400" dirty="0"/>
              <a:t>").</a:t>
            </a:r>
            <a:r>
              <a:rPr lang="en-IN" sz="1400" dirty="0" err="1"/>
              <a:t>serializeJSON</a:t>
            </a:r>
            <a:r>
              <a:rPr lang="en-IN" sz="1400" dirty="0"/>
              <a:t>();</a:t>
            </a:r>
          </a:p>
          <a:p>
            <a:pPr marL="0" indent="0">
              <a:buNone/>
            </a:pPr>
            <a:r>
              <a:rPr lang="en-IN" sz="1400" dirty="0"/>
              <a:t>console.log(</a:t>
            </a:r>
            <a:r>
              <a:rPr lang="en-IN" sz="1400" dirty="0" err="1"/>
              <a:t>arr</a:t>
            </a:r>
            <a:r>
              <a:rPr lang="en-IN" sz="1400" dirty="0"/>
              <a:t>)</a:t>
            </a:r>
          </a:p>
          <a:p>
            <a:pPr marL="0" indent="0">
              <a:buNone/>
            </a:pPr>
            <a:r>
              <a:rPr lang="en-IN" sz="1400" dirty="0"/>
              <a:t>var </a:t>
            </a:r>
            <a:r>
              <a:rPr lang="en-IN" sz="1400" dirty="0" err="1"/>
              <a:t>url</a:t>
            </a:r>
            <a:r>
              <a:rPr lang="en-IN" sz="1400" dirty="0"/>
              <a:t>="</a:t>
            </a:r>
            <a:r>
              <a:rPr lang="en-IN" sz="1400" dirty="0" err="1"/>
              <a:t>insert_retjson.php</a:t>
            </a:r>
            <a:r>
              <a:rPr lang="en-IN" sz="1400" dirty="0"/>
              <a:t>";</a:t>
            </a:r>
          </a:p>
          <a:p>
            <a:pPr marL="0" indent="0">
              <a:buNone/>
            </a:pPr>
            <a:r>
              <a:rPr lang="en-IN" sz="1400" dirty="0"/>
              <a:t>console.log(</a:t>
            </a:r>
            <a:r>
              <a:rPr lang="en-IN" sz="1400" dirty="0" err="1"/>
              <a:t>arr</a:t>
            </a:r>
            <a:r>
              <a:rPr lang="en-IN" sz="1400" dirty="0"/>
              <a:t>);</a:t>
            </a:r>
          </a:p>
          <a:p>
            <a:pPr marL="0" indent="0">
              <a:buNone/>
            </a:pPr>
            <a:r>
              <a:rPr lang="en-IN" sz="1400" dirty="0"/>
              <a:t>alert(</a:t>
            </a:r>
            <a:r>
              <a:rPr lang="en-IN" sz="1400" dirty="0" err="1"/>
              <a:t>url</a:t>
            </a:r>
            <a:r>
              <a:rPr lang="en-IN" sz="1400" dirty="0"/>
              <a:t>)</a:t>
            </a:r>
          </a:p>
          <a:p>
            <a:pPr marL="0" indent="0">
              <a:buNone/>
            </a:pPr>
            <a:r>
              <a:rPr lang="en-IN" sz="1400" dirty="0"/>
              <a:t>       $.post(</a:t>
            </a:r>
            <a:r>
              <a:rPr lang="en-IN" sz="1400" dirty="0" err="1"/>
              <a:t>url</a:t>
            </a:r>
            <a:r>
              <a:rPr lang="en-IN" sz="1400" dirty="0"/>
              <a:t>,{</a:t>
            </a:r>
            <a:r>
              <a:rPr lang="en-IN" sz="1400" dirty="0" err="1"/>
              <a:t>data:arr</a:t>
            </a:r>
            <a:r>
              <a:rPr lang="en-IN" sz="1400" dirty="0"/>
              <a:t>},function(d) {</a:t>
            </a:r>
          </a:p>
          <a:p>
            <a:pPr marL="0" indent="0">
              <a:buNone/>
            </a:pPr>
            <a:r>
              <a:rPr lang="en-IN" sz="1400" dirty="0"/>
              <a:t>//</a:t>
            </a:r>
            <a:r>
              <a:rPr lang="en-IN" sz="1400" dirty="0" err="1"/>
              <a:t>JSON.parse</a:t>
            </a:r>
            <a:r>
              <a:rPr lang="en-IN" sz="1400" dirty="0"/>
              <a:t>() to convert text into a JavaScript object:</a:t>
            </a:r>
          </a:p>
          <a:p>
            <a:pPr marL="0" indent="0">
              <a:lnSpc>
                <a:spcPct val="100000"/>
              </a:lnSpc>
              <a:spcBef>
                <a:spcPts val="0"/>
              </a:spcBef>
              <a:buNone/>
            </a:pPr>
            <a:r>
              <a:rPr lang="en-IN" sz="1400" dirty="0"/>
              <a:t>			  var y= $.</a:t>
            </a:r>
            <a:r>
              <a:rPr lang="en-IN" sz="1400" dirty="0" err="1"/>
              <a:t>parseJSON</a:t>
            </a:r>
            <a:r>
              <a:rPr lang="en-IN" sz="1400" dirty="0"/>
              <a:t>(d);</a:t>
            </a:r>
          </a:p>
          <a:p>
            <a:pPr marL="0" indent="0">
              <a:lnSpc>
                <a:spcPct val="100000"/>
              </a:lnSpc>
              <a:spcBef>
                <a:spcPts val="0"/>
              </a:spcBef>
              <a:buNone/>
            </a:pPr>
            <a:r>
              <a:rPr lang="en-IN" sz="1400" dirty="0"/>
              <a:t>				   alert(</a:t>
            </a:r>
            <a:r>
              <a:rPr lang="en-IN" sz="1400" dirty="0" err="1"/>
              <a:t>y.k</a:t>
            </a:r>
            <a:r>
              <a:rPr lang="en-IN" sz="1400" dirty="0"/>
              <a:t>);</a:t>
            </a:r>
          </a:p>
          <a:p>
            <a:pPr marL="0" indent="0">
              <a:lnSpc>
                <a:spcPct val="100000"/>
              </a:lnSpc>
              <a:spcBef>
                <a:spcPts val="0"/>
              </a:spcBef>
              <a:buNone/>
            </a:pPr>
            <a:r>
              <a:rPr lang="en-IN" sz="1400" dirty="0"/>
              <a:t>             				        if(</a:t>
            </a:r>
            <a:r>
              <a:rPr lang="en-IN" sz="1400" dirty="0" err="1"/>
              <a:t>y.k</a:t>
            </a:r>
            <a:r>
              <a:rPr lang="en-IN" sz="1400" dirty="0"/>
              <a:t>==false)</a:t>
            </a:r>
          </a:p>
          <a:p>
            <a:pPr marL="0" indent="0">
              <a:lnSpc>
                <a:spcPct val="100000"/>
              </a:lnSpc>
              <a:spcBef>
                <a:spcPts val="0"/>
              </a:spcBef>
              <a:buNone/>
            </a:pPr>
            <a:r>
              <a:rPr lang="en-IN" sz="1400" dirty="0"/>
              <a:t>				 $('#dd').html("result="+</a:t>
            </a:r>
            <a:r>
              <a:rPr lang="en-IN" sz="1400" dirty="0" err="1"/>
              <a:t>y.k</a:t>
            </a:r>
            <a:r>
              <a:rPr lang="en-IN" sz="1400" dirty="0"/>
              <a:t>);</a:t>
            </a:r>
          </a:p>
          <a:p>
            <a:pPr marL="0" indent="0">
              <a:lnSpc>
                <a:spcPct val="100000"/>
              </a:lnSpc>
              <a:spcBef>
                <a:spcPts val="0"/>
              </a:spcBef>
              <a:buNone/>
            </a:pPr>
            <a:r>
              <a:rPr lang="en-IN" sz="1400" dirty="0"/>
              <a:t>					  </a:t>
            </a:r>
          </a:p>
          <a:p>
            <a:pPr marL="0" indent="0">
              <a:lnSpc>
                <a:spcPct val="100000"/>
              </a:lnSpc>
              <a:spcBef>
                <a:spcPts val="0"/>
              </a:spcBef>
              <a:buNone/>
            </a:pPr>
            <a:r>
              <a:rPr lang="en-IN" sz="1400" dirty="0"/>
              <a:t>					   else </a:t>
            </a:r>
          </a:p>
          <a:p>
            <a:pPr marL="0" indent="0">
              <a:lnSpc>
                <a:spcPct val="100000"/>
              </a:lnSpc>
              <a:spcBef>
                <a:spcPts val="0"/>
              </a:spcBef>
              <a:buNone/>
            </a:pPr>
            <a:r>
              <a:rPr lang="en-IN" sz="1400" dirty="0"/>
              <a:t>					   {    </a:t>
            </a:r>
            <a:r>
              <a:rPr lang="en-IN" sz="1400" dirty="0" err="1"/>
              <a:t>window.location</a:t>
            </a:r>
            <a:r>
              <a:rPr lang="en-IN" sz="1400" dirty="0"/>
              <a:t>="welcome.html"</a:t>
            </a:r>
          </a:p>
          <a:p>
            <a:pPr marL="0" indent="0">
              <a:lnSpc>
                <a:spcPct val="100000"/>
              </a:lnSpc>
              <a:spcBef>
                <a:spcPts val="0"/>
              </a:spcBef>
              <a:buNone/>
            </a:pPr>
            <a:r>
              <a:rPr lang="en-IN" sz="1400" dirty="0"/>
              <a:t>						   </a:t>
            </a:r>
          </a:p>
          <a:p>
            <a:pPr marL="0" indent="0">
              <a:lnSpc>
                <a:spcPct val="100000"/>
              </a:lnSpc>
              <a:spcBef>
                <a:spcPts val="0"/>
              </a:spcBef>
              <a:buNone/>
            </a:pPr>
            <a:r>
              <a:rPr lang="en-IN" sz="1400" dirty="0"/>
              <a:t>					   //$('#dd').html("result="+</a:t>
            </a:r>
            <a:r>
              <a:rPr lang="en-IN" sz="1400" dirty="0" err="1"/>
              <a:t>y.k</a:t>
            </a:r>
            <a:r>
              <a:rPr lang="en-IN" sz="1400" dirty="0"/>
              <a:t>);</a:t>
            </a:r>
          </a:p>
          <a:p>
            <a:pPr marL="0" indent="0">
              <a:lnSpc>
                <a:spcPct val="100000"/>
              </a:lnSpc>
              <a:spcBef>
                <a:spcPts val="0"/>
              </a:spcBef>
              <a:buNone/>
            </a:pPr>
            <a:r>
              <a:rPr lang="en-IN" sz="1400" dirty="0"/>
              <a:t>						   }</a:t>
            </a:r>
          </a:p>
          <a:p>
            <a:pPr marL="0" indent="0">
              <a:lnSpc>
                <a:spcPct val="100000"/>
              </a:lnSpc>
              <a:spcBef>
                <a:spcPts val="0"/>
              </a:spcBef>
              <a:buNone/>
            </a:pPr>
            <a:r>
              <a:rPr lang="en-IN" sz="1400" dirty="0"/>
              <a:t>					   					  </a:t>
            </a:r>
          </a:p>
          <a:p>
            <a:pPr marL="0" indent="0">
              <a:lnSpc>
                <a:spcPct val="100000"/>
              </a:lnSpc>
              <a:spcBef>
                <a:spcPts val="0"/>
              </a:spcBef>
              <a:buNone/>
            </a:pPr>
            <a:r>
              <a:rPr lang="en-IN" sz="1400" dirty="0"/>
              <a:t>                }).fail(function(x) {</a:t>
            </a:r>
          </a:p>
          <a:p>
            <a:pPr marL="0" indent="0">
              <a:lnSpc>
                <a:spcPct val="100000"/>
              </a:lnSpc>
              <a:spcBef>
                <a:spcPts val="0"/>
              </a:spcBef>
              <a:buNone/>
            </a:pPr>
            <a:r>
              <a:rPr lang="en-IN" sz="1400" dirty="0"/>
              <a:t>                               alert( "</a:t>
            </a:r>
            <a:r>
              <a:rPr lang="en-IN" sz="1400" dirty="0" err="1"/>
              <a:t>error"+x</a:t>
            </a:r>
            <a:r>
              <a:rPr lang="en-IN" sz="1400" dirty="0"/>
              <a:t> );</a:t>
            </a:r>
          </a:p>
          <a:p>
            <a:pPr marL="0" indent="0">
              <a:lnSpc>
                <a:spcPct val="100000"/>
              </a:lnSpc>
              <a:spcBef>
                <a:spcPts val="0"/>
              </a:spcBef>
              <a:buNone/>
            </a:pPr>
            <a:r>
              <a:rPr lang="en-IN" sz="1400" dirty="0"/>
              <a:t>                   })</a:t>
            </a:r>
          </a:p>
          <a:p>
            <a:pPr marL="0" indent="0">
              <a:lnSpc>
                <a:spcPct val="100000"/>
              </a:lnSpc>
              <a:spcBef>
                <a:spcPts val="0"/>
              </a:spcBef>
              <a:buNone/>
            </a:pPr>
            <a:endParaRPr lang="en-IN" sz="1400" dirty="0"/>
          </a:p>
          <a:p>
            <a:pPr marL="0" indent="0">
              <a:lnSpc>
                <a:spcPct val="100000"/>
              </a:lnSpc>
              <a:spcBef>
                <a:spcPts val="0"/>
              </a:spcBef>
              <a:buNone/>
            </a:pPr>
            <a:r>
              <a:rPr lang="en-IN" sz="1400" dirty="0"/>
              <a:t>          });</a:t>
            </a:r>
          </a:p>
          <a:p>
            <a:pPr marL="0" indent="0">
              <a:lnSpc>
                <a:spcPct val="100000"/>
              </a:lnSpc>
              <a:spcBef>
                <a:spcPts val="0"/>
              </a:spcBef>
              <a:buNone/>
            </a:pPr>
            <a:r>
              <a:rPr lang="en-IN" sz="1400" dirty="0"/>
              <a:t>});</a:t>
            </a:r>
          </a:p>
          <a:p>
            <a:pPr marL="0" indent="0">
              <a:buNone/>
            </a:pPr>
            <a:endParaRPr lang="en-IN" sz="1400" dirty="0"/>
          </a:p>
        </p:txBody>
      </p:sp>
    </p:spTree>
    <p:extLst>
      <p:ext uri="{BB962C8B-B14F-4D97-AF65-F5344CB8AC3E}">
        <p14:creationId xmlns:p14="http://schemas.microsoft.com/office/powerpoint/2010/main" val="8106472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CBD0C-6623-48F0-8293-12A32A5F385B}"/>
              </a:ext>
            </a:extLst>
          </p:cNvPr>
          <p:cNvSpPr>
            <a:spLocks noGrp="1"/>
          </p:cNvSpPr>
          <p:nvPr>
            <p:ph type="title"/>
          </p:nvPr>
        </p:nvSpPr>
        <p:spPr>
          <a:xfrm>
            <a:off x="2821858" y="92433"/>
            <a:ext cx="8238203" cy="251696"/>
          </a:xfrm>
        </p:spPr>
        <p:txBody>
          <a:bodyPr>
            <a:normAutofit fontScale="90000"/>
          </a:bodyPr>
          <a:lstStyle/>
          <a:p>
            <a:r>
              <a:rPr lang="en-IN" dirty="0"/>
              <a:t>Php sending json data</a:t>
            </a:r>
          </a:p>
        </p:txBody>
      </p:sp>
      <p:sp>
        <p:nvSpPr>
          <p:cNvPr id="3" name="Content Placeholder 2">
            <a:extLst>
              <a:ext uri="{FF2B5EF4-FFF2-40B4-BE49-F238E27FC236}">
                <a16:creationId xmlns:a16="http://schemas.microsoft.com/office/drawing/2014/main" id="{99F0B5D3-42F7-488C-A054-4ECACE5593BC}"/>
              </a:ext>
            </a:extLst>
          </p:cNvPr>
          <p:cNvSpPr>
            <a:spLocks noGrp="1"/>
          </p:cNvSpPr>
          <p:nvPr>
            <p:ph idx="1"/>
          </p:nvPr>
        </p:nvSpPr>
        <p:spPr>
          <a:xfrm>
            <a:off x="0" y="570271"/>
            <a:ext cx="11353800" cy="5606692"/>
          </a:xfrm>
        </p:spPr>
        <p:txBody>
          <a:bodyPr>
            <a:noAutofit/>
          </a:bodyPr>
          <a:lstStyle/>
          <a:p>
            <a:pPr marL="0" indent="0">
              <a:buNone/>
            </a:pPr>
            <a:r>
              <a:rPr lang="en-IN" sz="1400" dirty="0"/>
              <a:t>&lt;?php</a:t>
            </a:r>
          </a:p>
          <a:p>
            <a:pPr marL="0" indent="0">
              <a:buNone/>
            </a:pPr>
            <a:r>
              <a:rPr lang="en-IN" sz="1400" dirty="0"/>
              <a:t>$</a:t>
            </a:r>
            <a:r>
              <a:rPr lang="en-IN" sz="1400" dirty="0" err="1"/>
              <a:t>servername</a:t>
            </a:r>
            <a:r>
              <a:rPr lang="en-IN" sz="1400" dirty="0"/>
              <a:t> = "localhost";</a:t>
            </a:r>
          </a:p>
          <a:p>
            <a:pPr marL="0" indent="0">
              <a:buNone/>
            </a:pPr>
            <a:r>
              <a:rPr lang="en-IN" sz="1400" dirty="0"/>
              <a:t>$username = "root";</a:t>
            </a:r>
          </a:p>
          <a:p>
            <a:pPr marL="0" indent="0">
              <a:buNone/>
            </a:pPr>
            <a:r>
              <a:rPr lang="en-IN" sz="1400" dirty="0"/>
              <a:t>$password = "";</a:t>
            </a:r>
          </a:p>
          <a:p>
            <a:pPr marL="0" indent="0">
              <a:buNone/>
            </a:pPr>
            <a:r>
              <a:rPr lang="en-IN" sz="1400" dirty="0"/>
              <a:t>$</a:t>
            </a:r>
            <a:r>
              <a:rPr lang="en-IN" sz="1400" dirty="0" err="1"/>
              <a:t>dbname</a:t>
            </a:r>
            <a:r>
              <a:rPr lang="en-IN" sz="1400" dirty="0"/>
              <a:t> = "</a:t>
            </a:r>
            <a:r>
              <a:rPr lang="en-IN" sz="1400" dirty="0" err="1"/>
              <a:t>myDB</a:t>
            </a:r>
            <a:r>
              <a:rPr lang="en-IN" sz="1400" dirty="0"/>
              <a:t>";</a:t>
            </a:r>
          </a:p>
          <a:p>
            <a:pPr marL="0" indent="0">
              <a:buNone/>
            </a:pPr>
            <a:r>
              <a:rPr lang="en-IN" sz="1400" dirty="0"/>
              <a:t>// Create connection</a:t>
            </a:r>
          </a:p>
          <a:p>
            <a:pPr marL="0" indent="0">
              <a:buNone/>
            </a:pPr>
            <a:r>
              <a:rPr lang="en-IN" sz="1400" dirty="0"/>
              <a:t>$conn = new </a:t>
            </a:r>
            <a:r>
              <a:rPr lang="en-IN" sz="1400" dirty="0" err="1"/>
              <a:t>mysqli</a:t>
            </a:r>
            <a:r>
              <a:rPr lang="en-IN" sz="1400" dirty="0"/>
              <a:t>($</a:t>
            </a:r>
            <a:r>
              <a:rPr lang="en-IN" sz="1400" dirty="0" err="1"/>
              <a:t>servername</a:t>
            </a:r>
            <a:r>
              <a:rPr lang="en-IN" sz="1400" dirty="0"/>
              <a:t>, $username, $password, $</a:t>
            </a:r>
            <a:r>
              <a:rPr lang="en-IN" sz="1400" dirty="0" err="1"/>
              <a:t>dbname</a:t>
            </a:r>
            <a:r>
              <a:rPr lang="en-IN" sz="1400" dirty="0"/>
              <a:t>);</a:t>
            </a:r>
          </a:p>
          <a:p>
            <a:pPr marL="0" indent="0">
              <a:buNone/>
            </a:pPr>
            <a:r>
              <a:rPr lang="en-IN" sz="1400" dirty="0"/>
              <a:t>// Check connection</a:t>
            </a:r>
          </a:p>
          <a:p>
            <a:pPr marL="0" indent="0">
              <a:buNone/>
            </a:pPr>
            <a:r>
              <a:rPr lang="en-IN" sz="1400" dirty="0"/>
              <a:t>if ($conn-&gt;</a:t>
            </a:r>
            <a:r>
              <a:rPr lang="en-IN" sz="1400" dirty="0" err="1"/>
              <a:t>connect_error</a:t>
            </a:r>
            <a:r>
              <a:rPr lang="en-IN" sz="1400" dirty="0"/>
              <a:t>) {</a:t>
            </a:r>
          </a:p>
          <a:p>
            <a:pPr marL="0" indent="0">
              <a:buNone/>
            </a:pPr>
            <a:r>
              <a:rPr lang="en-IN" sz="1400" dirty="0"/>
              <a:t>    die("Connection failed: " . $conn-&gt;</a:t>
            </a:r>
            <a:r>
              <a:rPr lang="en-IN" sz="1400" dirty="0" err="1"/>
              <a:t>connect_error</a:t>
            </a:r>
            <a:r>
              <a:rPr lang="en-IN" sz="1400" dirty="0"/>
              <a:t>);</a:t>
            </a:r>
          </a:p>
          <a:p>
            <a:pPr marL="0" indent="0">
              <a:buNone/>
            </a:pPr>
            <a:r>
              <a:rPr lang="en-IN" sz="1400" dirty="0"/>
              <a:t>}</a:t>
            </a:r>
          </a:p>
          <a:p>
            <a:pPr marL="0" indent="0">
              <a:buNone/>
            </a:pPr>
            <a:r>
              <a:rPr lang="en-IN" sz="1400" dirty="0"/>
              <a:t>$nm=$_POST["data"]["nm"];</a:t>
            </a:r>
          </a:p>
          <a:p>
            <a:pPr marL="0" indent="0">
              <a:buNone/>
            </a:pPr>
            <a:r>
              <a:rPr lang="en-IN" sz="1400" dirty="0"/>
              <a:t>$</a:t>
            </a:r>
            <a:r>
              <a:rPr lang="en-IN" sz="1400" dirty="0" err="1"/>
              <a:t>ps</a:t>
            </a:r>
            <a:r>
              <a:rPr lang="en-IN" sz="1400" dirty="0"/>
              <a:t>=$_POST["data"]["pass"];// prepare and bind</a:t>
            </a:r>
          </a:p>
          <a:p>
            <a:pPr marL="0" indent="0">
              <a:buNone/>
            </a:pPr>
            <a:r>
              <a:rPr lang="en-IN" sz="1400" dirty="0"/>
              <a:t>$</a:t>
            </a:r>
            <a:r>
              <a:rPr lang="en-IN" sz="1400" dirty="0" err="1"/>
              <a:t>stmt</a:t>
            </a:r>
            <a:r>
              <a:rPr lang="en-IN" sz="1400" dirty="0"/>
              <a:t> = $conn-&gt;prepare("INSERT INTO </a:t>
            </a:r>
            <a:r>
              <a:rPr lang="en-IN" sz="1400" dirty="0" err="1"/>
              <a:t>MyGuests</a:t>
            </a:r>
            <a:r>
              <a:rPr lang="en-IN" sz="1400" dirty="0"/>
              <a:t> (</a:t>
            </a:r>
            <a:r>
              <a:rPr lang="en-IN" sz="1400" dirty="0" err="1"/>
              <a:t>firstname</a:t>
            </a:r>
            <a:r>
              <a:rPr lang="en-IN" sz="1400" dirty="0"/>
              <a:t>, </a:t>
            </a:r>
            <a:r>
              <a:rPr lang="en-IN" sz="1400" dirty="0" err="1"/>
              <a:t>lastname</a:t>
            </a:r>
            <a:r>
              <a:rPr lang="en-IN" sz="1400" dirty="0"/>
              <a:t>) VALUES (?, $</a:t>
            </a:r>
            <a:r>
              <a:rPr lang="en-IN" sz="1400" dirty="0" err="1"/>
              <a:t>stmt</a:t>
            </a:r>
            <a:r>
              <a:rPr lang="en-IN" sz="1400" dirty="0"/>
              <a:t>-&gt;</a:t>
            </a:r>
            <a:r>
              <a:rPr lang="en-IN" sz="1400" dirty="0" err="1"/>
              <a:t>bind_param</a:t>
            </a:r>
            <a:r>
              <a:rPr lang="en-IN" sz="1400" dirty="0"/>
              <a:t>("ss", $</a:t>
            </a:r>
            <a:r>
              <a:rPr lang="en-IN" sz="1400" dirty="0" err="1"/>
              <a:t>firstname</a:t>
            </a:r>
            <a:r>
              <a:rPr lang="en-IN" sz="1400" dirty="0"/>
              <a:t>, $</a:t>
            </a:r>
            <a:r>
              <a:rPr lang="en-IN" sz="1400" dirty="0" err="1"/>
              <a:t>lastname</a:t>
            </a:r>
            <a:r>
              <a:rPr lang="en-IN" sz="1400" dirty="0"/>
              <a:t>);</a:t>
            </a:r>
          </a:p>
          <a:p>
            <a:pPr marL="0" indent="0">
              <a:buNone/>
            </a:pPr>
            <a:r>
              <a:rPr lang="en-IN" sz="1400" dirty="0"/>
              <a:t>$</a:t>
            </a:r>
            <a:r>
              <a:rPr lang="en-IN" sz="1400" dirty="0" err="1"/>
              <a:t>firstname</a:t>
            </a:r>
            <a:r>
              <a:rPr lang="en-IN" sz="1400" dirty="0"/>
              <a:t> = $nm;</a:t>
            </a:r>
          </a:p>
          <a:p>
            <a:pPr marL="0" indent="0">
              <a:buNone/>
            </a:pPr>
            <a:r>
              <a:rPr lang="en-IN" sz="1400" dirty="0"/>
              <a:t>$</a:t>
            </a:r>
            <a:r>
              <a:rPr lang="en-IN" sz="1400" dirty="0" err="1"/>
              <a:t>lastname</a:t>
            </a:r>
            <a:r>
              <a:rPr lang="en-IN" sz="1400" dirty="0"/>
              <a:t> = $</a:t>
            </a:r>
            <a:r>
              <a:rPr lang="en-IN" sz="1400" dirty="0" err="1"/>
              <a:t>ps</a:t>
            </a:r>
            <a:r>
              <a:rPr lang="en-IN" sz="1400" dirty="0"/>
              <a:t>;</a:t>
            </a:r>
          </a:p>
          <a:p>
            <a:pPr marL="0" indent="0">
              <a:buNone/>
            </a:pPr>
            <a:r>
              <a:rPr lang="en-IN" sz="1400" dirty="0"/>
              <a:t>$flag=$</a:t>
            </a:r>
            <a:r>
              <a:rPr lang="en-IN" sz="1400" dirty="0" err="1"/>
              <a:t>stmt</a:t>
            </a:r>
            <a:r>
              <a:rPr lang="en-IN" sz="1400" dirty="0"/>
              <a:t>-&gt;execute();</a:t>
            </a:r>
          </a:p>
          <a:p>
            <a:pPr marL="0" indent="0">
              <a:buNone/>
            </a:pPr>
            <a:r>
              <a:rPr lang="en-IN" sz="1400" dirty="0"/>
              <a:t>$</a:t>
            </a:r>
            <a:r>
              <a:rPr lang="en-IN" sz="1400" dirty="0" err="1"/>
              <a:t>stmt</a:t>
            </a:r>
            <a:r>
              <a:rPr lang="en-IN" sz="1400" dirty="0"/>
              <a:t>-&gt;close();</a:t>
            </a:r>
          </a:p>
          <a:p>
            <a:pPr marL="0" indent="0">
              <a:buNone/>
            </a:pPr>
            <a:r>
              <a:rPr lang="en-IN" sz="1400" dirty="0"/>
              <a:t>$conn-&gt;close();</a:t>
            </a:r>
          </a:p>
          <a:p>
            <a:pPr marL="0" indent="0">
              <a:buNone/>
            </a:pPr>
            <a:endParaRPr lang="en-IN" sz="1400" dirty="0"/>
          </a:p>
        </p:txBody>
      </p:sp>
    </p:spTree>
    <p:extLst>
      <p:ext uri="{BB962C8B-B14F-4D97-AF65-F5344CB8AC3E}">
        <p14:creationId xmlns:p14="http://schemas.microsoft.com/office/powerpoint/2010/main" val="34295262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C86F7-B905-427F-BFFB-D5084EFA2AF9}"/>
              </a:ext>
            </a:extLst>
          </p:cNvPr>
          <p:cNvSpPr>
            <a:spLocks noGrp="1"/>
          </p:cNvSpPr>
          <p:nvPr>
            <p:ph type="title"/>
          </p:nvPr>
        </p:nvSpPr>
        <p:spPr>
          <a:xfrm>
            <a:off x="1278194" y="365126"/>
            <a:ext cx="10075606" cy="588604"/>
          </a:xfrm>
        </p:spPr>
        <p:txBody>
          <a:bodyPr>
            <a:normAutofit fontScale="90000"/>
          </a:bodyPr>
          <a:lstStyle/>
          <a:p>
            <a:r>
              <a:rPr lang="en-IN" dirty="0"/>
              <a:t>Sending json </a:t>
            </a:r>
            <a:r>
              <a:rPr lang="en-IN"/>
              <a:t>data from php</a:t>
            </a:r>
            <a:endParaRPr lang="en-IN" dirty="0"/>
          </a:p>
        </p:txBody>
      </p:sp>
      <p:sp>
        <p:nvSpPr>
          <p:cNvPr id="3" name="Content Placeholder 2">
            <a:extLst>
              <a:ext uri="{FF2B5EF4-FFF2-40B4-BE49-F238E27FC236}">
                <a16:creationId xmlns:a16="http://schemas.microsoft.com/office/drawing/2014/main" id="{3B077464-DCA4-48DA-87DE-EDEA273C7662}"/>
              </a:ext>
            </a:extLst>
          </p:cNvPr>
          <p:cNvSpPr>
            <a:spLocks noGrp="1"/>
          </p:cNvSpPr>
          <p:nvPr>
            <p:ph idx="1"/>
          </p:nvPr>
        </p:nvSpPr>
        <p:spPr>
          <a:xfrm>
            <a:off x="501445" y="1445342"/>
            <a:ext cx="10852355" cy="4731621"/>
          </a:xfrm>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if($flag==true)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  {           $r=array("k"=&gt;true);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	$x=</a:t>
            </a:r>
            <a:r>
              <a:rPr kumimoji="0" lang="en-IN" sz="1400" b="0" i="0" u="none" strike="noStrike" kern="1200" cap="none" spc="0" normalizeH="0" baseline="0" noProof="0" dirty="0" err="1">
                <a:ln>
                  <a:noFill/>
                </a:ln>
                <a:solidFill>
                  <a:prstClr val="black"/>
                </a:solidFill>
                <a:effectLst/>
                <a:uLnTx/>
                <a:uFillTx/>
                <a:latin typeface="Calibri" panose="020F0502020204030204"/>
                <a:ea typeface="+mn-ea"/>
                <a:cs typeface="+mn-cs"/>
              </a:rPr>
              <a:t>json_encode</a:t>
            </a: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($r);  //Array to json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	 echo $x;</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		else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		$r=array("k"=&gt;false);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		        $x=</a:t>
            </a:r>
            <a:r>
              <a:rPr kumimoji="0" lang="en-IN" sz="1400" b="0" i="0" u="none" strike="noStrike" kern="1200" cap="none" spc="0" normalizeH="0" baseline="0" noProof="0" dirty="0" err="1">
                <a:ln>
                  <a:noFill/>
                </a:ln>
                <a:solidFill>
                  <a:prstClr val="black"/>
                </a:solidFill>
                <a:effectLst/>
                <a:uLnTx/>
                <a:uFillTx/>
                <a:latin typeface="Calibri" panose="020F0502020204030204"/>
                <a:ea typeface="+mn-ea"/>
                <a:cs typeface="+mn-cs"/>
              </a:rPr>
              <a:t>json_encode</a:t>
            </a: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($r);</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		   echo $x;</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?&gt;</a:t>
            </a:r>
            <a:endParaRPr lang="en-IN" dirty="0"/>
          </a:p>
        </p:txBody>
      </p:sp>
    </p:spTree>
    <p:extLst>
      <p:ext uri="{BB962C8B-B14F-4D97-AF65-F5344CB8AC3E}">
        <p14:creationId xmlns:p14="http://schemas.microsoft.com/office/powerpoint/2010/main" val="26135983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641</TotalTime>
  <Words>2765</Words>
  <Application>Microsoft Office PowerPoint</Application>
  <PresentationFormat>Widescreen</PresentationFormat>
  <Paragraphs>332</Paragraphs>
  <Slides>17</Slides>
  <Notes>1</Notes>
  <HiddenSlides>4</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Calibri</vt:lpstr>
      <vt:lpstr>Calibri Light</vt:lpstr>
      <vt:lpstr>Cambria</vt:lpstr>
      <vt:lpstr>Consolas</vt:lpstr>
      <vt:lpstr>Segoe UI</vt:lpstr>
      <vt:lpstr>Verdana</vt:lpstr>
      <vt:lpstr>Wingdings</vt:lpstr>
      <vt:lpstr>Office Theme</vt:lpstr>
      <vt:lpstr>PowerPoint Presentation</vt:lpstr>
      <vt:lpstr>PowerPoint Presentation</vt:lpstr>
      <vt:lpstr>PowerPoint Presentation</vt:lpstr>
      <vt:lpstr>Run example through server</vt:lpstr>
      <vt:lpstr>PowerPoint Presentation</vt:lpstr>
      <vt:lpstr>Loading part of the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Serialise form and post to server</vt:lpstr>
      <vt:lpstr>PowerPoint Presentation</vt:lpstr>
      <vt:lpstr>Php sending json data</vt:lpstr>
      <vt:lpstr>Sending json data from php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vidyanidhi school</cp:lastModifiedBy>
  <cp:revision>115</cp:revision>
  <dcterms:created xsi:type="dcterms:W3CDTF">2020-12-08T04:28:35Z</dcterms:created>
  <dcterms:modified xsi:type="dcterms:W3CDTF">2024-01-15T17:27:43Z</dcterms:modified>
</cp:coreProperties>
</file>