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0A20C-B12C-1C2E-2300-9D4E268C30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A97255D-88D5-8FCB-E07D-596B35BFBC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173074-B8BB-F812-0311-E9B8121A7CF3}"/>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5" name="Footer Placeholder 4">
            <a:extLst>
              <a:ext uri="{FF2B5EF4-FFF2-40B4-BE49-F238E27FC236}">
                <a16:creationId xmlns:a16="http://schemas.microsoft.com/office/drawing/2014/main" id="{F875B8ED-5CC1-38C5-9A57-A4166D65CC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59581-A634-0DE8-A9AF-131D3952B2BB}"/>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1322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8152-A336-C515-2586-4C4B013E67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6F5C5B-F62C-43C7-33C3-037E5C7D25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02E9C3-FBB9-E807-B320-16B4832E3DC1}"/>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5" name="Footer Placeholder 4">
            <a:extLst>
              <a:ext uri="{FF2B5EF4-FFF2-40B4-BE49-F238E27FC236}">
                <a16:creationId xmlns:a16="http://schemas.microsoft.com/office/drawing/2014/main" id="{B26A3ABA-EFA5-B0BF-925F-0E1A28C093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7ABB74-D538-BD46-7EF1-1849CA249565}"/>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222243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6AA7B-EB48-965D-F09D-9587B52784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A89456-7B6E-56CF-4A9A-7F736160B3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E5130B-5AEC-19BA-EE95-37658E01311A}"/>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5" name="Footer Placeholder 4">
            <a:extLst>
              <a:ext uri="{FF2B5EF4-FFF2-40B4-BE49-F238E27FC236}">
                <a16:creationId xmlns:a16="http://schemas.microsoft.com/office/drawing/2014/main" id="{EAD7A266-0BAC-AAE9-804F-E9225C53AB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B5F844-D4F2-92B4-3746-CCB4C63D071C}"/>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44400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10878-2414-86B2-160B-585A6E530C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215CB0-023D-AC8B-509E-D09E19A361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DFD7155-8044-1899-9EC6-FC47E9A960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39E2A3D-119F-5C15-A503-9B3B7CE2484F}"/>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6" name="Footer Placeholder 5">
            <a:extLst>
              <a:ext uri="{FF2B5EF4-FFF2-40B4-BE49-F238E27FC236}">
                <a16:creationId xmlns:a16="http://schemas.microsoft.com/office/drawing/2014/main" id="{632A06D9-B65A-8DE2-B69C-1EFB11508A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E62B7A-6345-1C63-9D5C-130ABB5C27A3}"/>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3108379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3A26C-4224-7A7F-7396-1FC2611D086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1B05DA-21DC-32E6-B61D-352291F34D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8E92CB-5627-FC7A-A6EA-F78AC37F96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5E945E-3B57-4D80-B9B4-C285D2E7E5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5A7EA4-45CD-8A56-FA2C-5ABE479553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9634F8-9D18-63FD-EE0D-F74F828FBAB6}"/>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8" name="Footer Placeholder 7">
            <a:extLst>
              <a:ext uri="{FF2B5EF4-FFF2-40B4-BE49-F238E27FC236}">
                <a16:creationId xmlns:a16="http://schemas.microsoft.com/office/drawing/2014/main" id="{A4D31D1B-DA66-4719-B7D0-9D730DA5FBE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9578CA-8951-FD16-9034-D5B567AEFE36}"/>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3984292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2D055-A5F2-683A-7E26-AE42DAC696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09590F-8B3B-D89C-50C9-86DD0CDD1F2A}"/>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4" name="Footer Placeholder 3">
            <a:extLst>
              <a:ext uri="{FF2B5EF4-FFF2-40B4-BE49-F238E27FC236}">
                <a16:creationId xmlns:a16="http://schemas.microsoft.com/office/drawing/2014/main" id="{09643278-441D-96F6-C4B0-9378DE6072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F4812A-F3AF-B134-11DA-20825FA1D497}"/>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1417860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F6416A-BA8B-218B-BAE2-FF4F8E423F0B}"/>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3" name="Footer Placeholder 2">
            <a:extLst>
              <a:ext uri="{FF2B5EF4-FFF2-40B4-BE49-F238E27FC236}">
                <a16:creationId xmlns:a16="http://schemas.microsoft.com/office/drawing/2014/main" id="{22BA701E-32C3-59A0-A768-9D837A60919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81BF5E-41F2-D88B-3E94-1DFCFA916724}"/>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2120593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3818A-E69A-98DA-528D-B464CAC133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66A59B-F4F3-4F86-5F37-06311CF89A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DC7ADF-26B6-B77F-B3FE-8C4C6F141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ECB3F5-AC84-04EB-3B7E-DBBEE386009C}"/>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6" name="Footer Placeholder 5">
            <a:extLst>
              <a:ext uri="{FF2B5EF4-FFF2-40B4-BE49-F238E27FC236}">
                <a16:creationId xmlns:a16="http://schemas.microsoft.com/office/drawing/2014/main" id="{9823F396-5FEE-F0C5-3BEF-4A6A0AC65D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6B4526-75DF-83C3-FDBD-30E4D9B51A91}"/>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1723854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F362-D401-2055-4008-AE3112215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448EBAE-5EB8-FA62-E9B4-25F4A46C0E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CFD7F0-9139-B501-FBD5-E70F253E9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55AA19-CBD4-1451-55F3-3B60815427C4}"/>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6" name="Footer Placeholder 5">
            <a:extLst>
              <a:ext uri="{FF2B5EF4-FFF2-40B4-BE49-F238E27FC236}">
                <a16:creationId xmlns:a16="http://schemas.microsoft.com/office/drawing/2014/main" id="{03084E1A-979C-4FB3-694C-72FCA03C0C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886722-4E28-4CFA-AF42-9FE397734F91}"/>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859739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8B0A1-6BB3-0FBB-743A-1E05D471AB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C206C1-08A9-0A07-66FC-1A084C9655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D81251-FAB0-CBE4-FC96-72D22579AEEA}"/>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5" name="Footer Placeholder 4">
            <a:extLst>
              <a:ext uri="{FF2B5EF4-FFF2-40B4-BE49-F238E27FC236}">
                <a16:creationId xmlns:a16="http://schemas.microsoft.com/office/drawing/2014/main" id="{BA3E8DF1-199B-8F3E-CF45-C40786D730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E6CB62-9260-A1D8-9077-E6C90B466ADA}"/>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4083572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EE8812-485A-B250-99A0-A8EA27060B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30E3BD-04A2-7AB5-8513-BD980F4CFD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C99193-08E7-9A5A-085E-2A9501CE6F0F}"/>
              </a:ext>
            </a:extLst>
          </p:cNvPr>
          <p:cNvSpPr>
            <a:spLocks noGrp="1"/>
          </p:cNvSpPr>
          <p:nvPr>
            <p:ph type="dt" sz="half" idx="10"/>
          </p:nvPr>
        </p:nvSpPr>
        <p:spPr/>
        <p:txBody>
          <a:bodyPr/>
          <a:lstStyle/>
          <a:p>
            <a:fld id="{63C17C4E-299B-4CC7-9726-23C6BFD74930}" type="datetimeFigureOut">
              <a:rPr lang="en-IN" smtClean="0"/>
              <a:t>25-03-2025</a:t>
            </a:fld>
            <a:endParaRPr lang="en-IN"/>
          </a:p>
        </p:txBody>
      </p:sp>
      <p:sp>
        <p:nvSpPr>
          <p:cNvPr id="5" name="Footer Placeholder 4">
            <a:extLst>
              <a:ext uri="{FF2B5EF4-FFF2-40B4-BE49-F238E27FC236}">
                <a16:creationId xmlns:a16="http://schemas.microsoft.com/office/drawing/2014/main" id="{25E711E4-451E-77E3-80B5-2E7FECD74C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A7E1C2-BE6D-18D5-0C9B-D19951CBC7A3}"/>
              </a:ext>
            </a:extLst>
          </p:cNvPr>
          <p:cNvSpPr>
            <a:spLocks noGrp="1"/>
          </p:cNvSpPr>
          <p:nvPr>
            <p:ph type="sldNum" sz="quarter" idx="12"/>
          </p:nvPr>
        </p:nvSpPr>
        <p:spPr/>
        <p:txBody>
          <a:bodyPr/>
          <a:lstStyle/>
          <a:p>
            <a:fld id="{A2624BBB-F1FA-40BC-A8A8-9FD0D176D2A0}" type="slidenum">
              <a:rPr lang="en-IN" smtClean="0"/>
              <a:t>‹#›</a:t>
            </a:fld>
            <a:endParaRPr lang="en-IN"/>
          </a:p>
        </p:txBody>
      </p:sp>
    </p:spTree>
    <p:extLst>
      <p:ext uri="{BB962C8B-B14F-4D97-AF65-F5344CB8AC3E}">
        <p14:creationId xmlns:p14="http://schemas.microsoft.com/office/powerpoint/2010/main" val="4070252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BBAC22-CB7A-30B0-DA47-72E0804B6F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F2F646-FA66-470A-AF53-EF2B69603C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5D583C-54AF-90E1-D469-CEFCA97EA0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C17C4E-299B-4CC7-9726-23C6BFD74930}" type="datetimeFigureOut">
              <a:rPr lang="en-IN" smtClean="0"/>
              <a:t>25-03-2025</a:t>
            </a:fld>
            <a:endParaRPr lang="en-IN"/>
          </a:p>
        </p:txBody>
      </p:sp>
      <p:sp>
        <p:nvSpPr>
          <p:cNvPr id="5" name="Footer Placeholder 4">
            <a:extLst>
              <a:ext uri="{FF2B5EF4-FFF2-40B4-BE49-F238E27FC236}">
                <a16:creationId xmlns:a16="http://schemas.microsoft.com/office/drawing/2014/main" id="{CE072468-2292-39AF-A189-3634F0F720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0955FD1-124C-8B68-7DDA-3872873A13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624BBB-F1FA-40BC-A8A8-9FD0D176D2A0}" type="slidenum">
              <a:rPr lang="en-IN" smtClean="0"/>
              <a:t>‹#›</a:t>
            </a:fld>
            <a:endParaRPr lang="en-IN"/>
          </a:p>
        </p:txBody>
      </p:sp>
    </p:spTree>
    <p:extLst>
      <p:ext uri="{BB962C8B-B14F-4D97-AF65-F5344CB8AC3E}">
        <p14:creationId xmlns:p14="http://schemas.microsoft.com/office/powerpoint/2010/main" val="2826704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F02015-B46E-6428-411D-F24C5912EDC0}"/>
              </a:ext>
            </a:extLst>
          </p:cNvPr>
          <p:cNvSpPr txBox="1"/>
          <p:nvPr/>
        </p:nvSpPr>
        <p:spPr>
          <a:xfrm>
            <a:off x="3716866" y="111667"/>
            <a:ext cx="5249333"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b="1" dirty="0"/>
              <a:t>Parallel Routes</a:t>
            </a:r>
          </a:p>
        </p:txBody>
      </p:sp>
      <p:sp>
        <p:nvSpPr>
          <p:cNvPr id="7" name="TextBox 6">
            <a:extLst>
              <a:ext uri="{FF2B5EF4-FFF2-40B4-BE49-F238E27FC236}">
                <a16:creationId xmlns:a16="http://schemas.microsoft.com/office/drawing/2014/main" id="{8463D2C6-4283-83B6-E1E5-101973C3A61E}"/>
              </a:ext>
            </a:extLst>
          </p:cNvPr>
          <p:cNvSpPr txBox="1"/>
          <p:nvPr/>
        </p:nvSpPr>
        <p:spPr>
          <a:xfrm>
            <a:off x="118532" y="472870"/>
            <a:ext cx="11675533" cy="1200329"/>
          </a:xfrm>
          <a:prstGeom prst="rect">
            <a:avLst/>
          </a:prstGeom>
          <a:noFill/>
        </p:spPr>
        <p:txBody>
          <a:bodyPr wrap="square">
            <a:spAutoFit/>
          </a:bodyPr>
          <a:lstStyle/>
          <a:p>
            <a:r>
              <a:rPr lang="en-US" dirty="0"/>
              <a:t>Parallel Routes allows you to simultaneously or conditionally render one or more pages within the same layout.</a:t>
            </a:r>
          </a:p>
          <a:p>
            <a:r>
              <a:rPr lang="en-US" dirty="0"/>
              <a:t> They are useful for highly dynamic sections of an app, such as dashboards and feeds on social sites.</a:t>
            </a:r>
          </a:p>
          <a:p>
            <a:endParaRPr lang="en-US" dirty="0"/>
          </a:p>
          <a:p>
            <a:r>
              <a:rPr lang="en-US" dirty="0"/>
              <a:t>For example, considering a dashboard, you can use parallel routes to simultaneously render the team and analytics pages:</a:t>
            </a:r>
            <a:endParaRPr lang="en-IN" dirty="0"/>
          </a:p>
        </p:txBody>
      </p:sp>
      <p:pic>
        <p:nvPicPr>
          <p:cNvPr id="8" name="Picture 7">
            <a:extLst>
              <a:ext uri="{FF2B5EF4-FFF2-40B4-BE49-F238E27FC236}">
                <a16:creationId xmlns:a16="http://schemas.microsoft.com/office/drawing/2014/main" id="{181D8698-43E7-725A-D219-B6544AE7A825}"/>
              </a:ext>
            </a:extLst>
          </p:cNvPr>
          <p:cNvPicPr>
            <a:picLocks noChangeAspect="1"/>
          </p:cNvPicPr>
          <p:nvPr/>
        </p:nvPicPr>
        <p:blipFill>
          <a:blip r:embed="rId2"/>
          <a:stretch>
            <a:fillRect/>
          </a:stretch>
        </p:blipFill>
        <p:spPr>
          <a:xfrm>
            <a:off x="161730" y="1773660"/>
            <a:ext cx="5248977" cy="3090335"/>
          </a:xfrm>
          <a:prstGeom prst="rect">
            <a:avLst/>
          </a:prstGeom>
        </p:spPr>
      </p:pic>
      <p:sp>
        <p:nvSpPr>
          <p:cNvPr id="10" name="TextBox 9">
            <a:extLst>
              <a:ext uri="{FF2B5EF4-FFF2-40B4-BE49-F238E27FC236}">
                <a16:creationId xmlns:a16="http://schemas.microsoft.com/office/drawing/2014/main" id="{345DE0D3-5560-F6C6-3B2F-7015241C86B7}"/>
              </a:ext>
            </a:extLst>
          </p:cNvPr>
          <p:cNvSpPr txBox="1"/>
          <p:nvPr/>
        </p:nvSpPr>
        <p:spPr>
          <a:xfrm>
            <a:off x="8184726" y="1605794"/>
            <a:ext cx="1562946"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dirty="0"/>
              <a:t>Slots</a:t>
            </a:r>
          </a:p>
        </p:txBody>
      </p:sp>
      <p:sp>
        <p:nvSpPr>
          <p:cNvPr id="12" name="TextBox 11">
            <a:extLst>
              <a:ext uri="{FF2B5EF4-FFF2-40B4-BE49-F238E27FC236}">
                <a16:creationId xmlns:a16="http://schemas.microsoft.com/office/drawing/2014/main" id="{BE9204C9-045A-0B2B-D7CE-468007A79718}"/>
              </a:ext>
            </a:extLst>
          </p:cNvPr>
          <p:cNvSpPr txBox="1"/>
          <p:nvPr/>
        </p:nvSpPr>
        <p:spPr>
          <a:xfrm>
            <a:off x="5520267" y="2052296"/>
            <a:ext cx="6273798" cy="1200329"/>
          </a:xfrm>
          <a:prstGeom prst="rect">
            <a:avLst/>
          </a:prstGeom>
          <a:noFill/>
        </p:spPr>
        <p:txBody>
          <a:bodyPr wrap="square">
            <a:spAutoFit/>
          </a:bodyPr>
          <a:lstStyle/>
          <a:p>
            <a:r>
              <a:rPr lang="en-US" dirty="0"/>
              <a:t>Parallel routes are created using named slots. </a:t>
            </a:r>
          </a:p>
          <a:p>
            <a:r>
              <a:rPr lang="en-US" dirty="0"/>
              <a:t>Slots are defined with the @folder convention. </a:t>
            </a:r>
          </a:p>
          <a:p>
            <a:r>
              <a:rPr lang="en-US" dirty="0"/>
              <a:t>For example, the following file structure defines two slots: @analytics and @team:</a:t>
            </a:r>
            <a:endParaRPr lang="en-IN" dirty="0"/>
          </a:p>
        </p:txBody>
      </p:sp>
      <p:sp>
        <p:nvSpPr>
          <p:cNvPr id="14" name="TextBox 13">
            <a:extLst>
              <a:ext uri="{FF2B5EF4-FFF2-40B4-BE49-F238E27FC236}">
                <a16:creationId xmlns:a16="http://schemas.microsoft.com/office/drawing/2014/main" id="{59C70EBA-6E19-226B-B1BD-F38E7B1E8859}"/>
              </a:ext>
            </a:extLst>
          </p:cNvPr>
          <p:cNvSpPr txBox="1"/>
          <p:nvPr/>
        </p:nvSpPr>
        <p:spPr>
          <a:xfrm>
            <a:off x="5863596" y="3252625"/>
            <a:ext cx="6205205"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export default function Layout({ children, team, analytics }) {</a:t>
            </a:r>
          </a:p>
          <a:p>
            <a:r>
              <a:rPr lang="en-IN" dirty="0"/>
              <a:t>  return (</a:t>
            </a:r>
          </a:p>
          <a:p>
            <a:r>
              <a:rPr lang="en-IN" dirty="0"/>
              <a:t>    &lt;&gt;</a:t>
            </a:r>
          </a:p>
          <a:p>
            <a:r>
              <a:rPr lang="en-IN" dirty="0"/>
              <a:t>      {children}        {team}       {analytics}</a:t>
            </a:r>
          </a:p>
          <a:p>
            <a:r>
              <a:rPr lang="en-IN" dirty="0"/>
              <a:t>    &lt;/&gt;</a:t>
            </a:r>
          </a:p>
          <a:p>
            <a:r>
              <a:rPr lang="en-IN" dirty="0"/>
              <a:t>  )</a:t>
            </a:r>
          </a:p>
          <a:p>
            <a:r>
              <a:rPr lang="en-IN" dirty="0"/>
              <a:t>}</a:t>
            </a:r>
          </a:p>
        </p:txBody>
      </p:sp>
      <p:sp>
        <p:nvSpPr>
          <p:cNvPr id="16" name="TextBox 15">
            <a:extLst>
              <a:ext uri="{FF2B5EF4-FFF2-40B4-BE49-F238E27FC236}">
                <a16:creationId xmlns:a16="http://schemas.microsoft.com/office/drawing/2014/main" id="{7CC5DEAF-BC88-B89D-AD3D-4E789D68C525}"/>
              </a:ext>
            </a:extLst>
          </p:cNvPr>
          <p:cNvSpPr txBox="1"/>
          <p:nvPr/>
        </p:nvSpPr>
        <p:spPr>
          <a:xfrm>
            <a:off x="161730" y="5561796"/>
            <a:ext cx="11946468" cy="1200329"/>
          </a:xfrm>
          <a:prstGeom prst="rect">
            <a:avLst/>
          </a:prstGeom>
          <a:noFill/>
        </p:spPr>
        <p:txBody>
          <a:bodyPr wrap="square">
            <a:spAutoFit/>
          </a:bodyPr>
          <a:lstStyle/>
          <a:p>
            <a:r>
              <a:rPr lang="en-US" dirty="0"/>
              <a:t>However, slots are not route segments and do not affect the URL structure. For example, for /@analytics/views, the URL will be /views since @analytics is a slot. Slots are combined with the regular Page component to form the final page associated with the route segment. Because of this, you cannot have separate static and dynamic slots at the same route segment level. If one slot is dynamic, all slots at that level must be dynamic.</a:t>
            </a:r>
            <a:endParaRPr lang="en-IN" dirty="0"/>
          </a:p>
        </p:txBody>
      </p:sp>
    </p:spTree>
    <p:extLst>
      <p:ext uri="{BB962C8B-B14F-4D97-AF65-F5344CB8AC3E}">
        <p14:creationId xmlns:p14="http://schemas.microsoft.com/office/powerpoint/2010/main" val="779205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254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E99C279-D414-D458-A8F9-9F9B9FE6EA48}"/>
              </a:ext>
            </a:extLst>
          </p:cNvPr>
          <p:cNvSpPr txBox="1"/>
          <p:nvPr/>
        </p:nvSpPr>
        <p:spPr>
          <a:xfrm>
            <a:off x="2624667" y="86268"/>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dirty="0"/>
              <a:t>Active state and navigation</a:t>
            </a:r>
          </a:p>
        </p:txBody>
      </p:sp>
      <p:sp>
        <p:nvSpPr>
          <p:cNvPr id="7" name="TextBox 6">
            <a:extLst>
              <a:ext uri="{FF2B5EF4-FFF2-40B4-BE49-F238E27FC236}">
                <a16:creationId xmlns:a16="http://schemas.microsoft.com/office/drawing/2014/main" id="{747912D0-50AC-4C1B-2435-8B9097AE7428}"/>
              </a:ext>
            </a:extLst>
          </p:cNvPr>
          <p:cNvSpPr txBox="1"/>
          <p:nvPr/>
        </p:nvSpPr>
        <p:spPr>
          <a:xfrm>
            <a:off x="270933" y="747173"/>
            <a:ext cx="11269133" cy="2585323"/>
          </a:xfrm>
          <a:prstGeom prst="rect">
            <a:avLst/>
          </a:prstGeom>
          <a:noFill/>
        </p:spPr>
        <p:txBody>
          <a:bodyPr wrap="square">
            <a:spAutoFit/>
          </a:bodyPr>
          <a:lstStyle/>
          <a:p>
            <a:r>
              <a:rPr lang="en-US" dirty="0"/>
              <a:t>By default, Next.js keeps track of the active state (or subpage) for each slot. However, the content rendered within a slot will depend on the type of navigation:</a:t>
            </a:r>
          </a:p>
          <a:p>
            <a:endParaRPr lang="en-US" dirty="0"/>
          </a:p>
          <a:p>
            <a:r>
              <a:rPr lang="en-US" b="1" dirty="0"/>
              <a:t>Soft Navigation</a:t>
            </a:r>
            <a:r>
              <a:rPr lang="en-US" dirty="0"/>
              <a:t>: During client-side navigation, Next.js will perform a partial render, changing the subpage within the slot, while maintaining the other slot's active subpages, even if they don't match the current URL.</a:t>
            </a:r>
          </a:p>
          <a:p>
            <a:endParaRPr lang="en-US" dirty="0"/>
          </a:p>
          <a:p>
            <a:r>
              <a:rPr lang="en-US" b="1" dirty="0"/>
              <a:t>Hard Navigation</a:t>
            </a:r>
            <a:r>
              <a:rPr lang="en-US" dirty="0"/>
              <a:t>: After a full-page load (browser refresh), Next.js cannot determine the active state for the slots that don't match the current URL. Instead, it will render a default.js file for the unmatched slots, or 404 if default.js doesn't exist.</a:t>
            </a:r>
            <a:endParaRPr lang="en-IN" dirty="0"/>
          </a:p>
        </p:txBody>
      </p:sp>
      <p:sp>
        <p:nvSpPr>
          <p:cNvPr id="10" name="TextBox 9">
            <a:extLst>
              <a:ext uri="{FF2B5EF4-FFF2-40B4-BE49-F238E27FC236}">
                <a16:creationId xmlns:a16="http://schemas.microsoft.com/office/drawing/2014/main" id="{EC664AA6-3FA1-91EB-1B8F-0EFE5CA57712}"/>
              </a:ext>
            </a:extLst>
          </p:cNvPr>
          <p:cNvSpPr txBox="1"/>
          <p:nvPr/>
        </p:nvSpPr>
        <p:spPr>
          <a:xfrm>
            <a:off x="2929467" y="3059668"/>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b="1" dirty="0"/>
              <a:t>default.js</a:t>
            </a:r>
          </a:p>
        </p:txBody>
      </p:sp>
      <p:sp>
        <p:nvSpPr>
          <p:cNvPr id="12" name="TextBox 11">
            <a:extLst>
              <a:ext uri="{FF2B5EF4-FFF2-40B4-BE49-F238E27FC236}">
                <a16:creationId xmlns:a16="http://schemas.microsoft.com/office/drawing/2014/main" id="{796F7774-FBDD-7537-B5AD-9A41766367B1}"/>
              </a:ext>
            </a:extLst>
          </p:cNvPr>
          <p:cNvSpPr txBox="1"/>
          <p:nvPr/>
        </p:nvSpPr>
        <p:spPr>
          <a:xfrm>
            <a:off x="143933" y="3892601"/>
            <a:ext cx="4191000" cy="2031325"/>
          </a:xfrm>
          <a:prstGeom prst="rect">
            <a:avLst/>
          </a:prstGeom>
          <a:noFill/>
        </p:spPr>
        <p:txBody>
          <a:bodyPr wrap="square">
            <a:spAutoFit/>
          </a:bodyPr>
          <a:lstStyle/>
          <a:p>
            <a:r>
              <a:rPr lang="en-US" dirty="0"/>
              <a:t>You can define a default.js file to render as a fallback for unmatched slots during the initial load or full-page reload.</a:t>
            </a:r>
          </a:p>
          <a:p>
            <a:endParaRPr lang="en-US" dirty="0"/>
          </a:p>
          <a:p>
            <a:r>
              <a:rPr lang="en-US" dirty="0"/>
              <a:t>Consider the following folder structure. The @team slot has a /settings page, but @analytics does not.</a:t>
            </a:r>
            <a:endParaRPr lang="en-IN" dirty="0"/>
          </a:p>
        </p:txBody>
      </p:sp>
      <p:pic>
        <p:nvPicPr>
          <p:cNvPr id="13" name="Picture 12">
            <a:extLst>
              <a:ext uri="{FF2B5EF4-FFF2-40B4-BE49-F238E27FC236}">
                <a16:creationId xmlns:a16="http://schemas.microsoft.com/office/drawing/2014/main" id="{8C370B8B-1299-8F26-BB81-9BC4E5FAC1D9}"/>
              </a:ext>
            </a:extLst>
          </p:cNvPr>
          <p:cNvPicPr>
            <a:picLocks noChangeAspect="1"/>
          </p:cNvPicPr>
          <p:nvPr/>
        </p:nvPicPr>
        <p:blipFill>
          <a:blip r:embed="rId2"/>
          <a:srcRect l="33986" t="1" r="32298" b="-634"/>
          <a:stretch/>
        </p:blipFill>
        <p:spPr>
          <a:xfrm>
            <a:off x="4334933" y="3429000"/>
            <a:ext cx="1871134" cy="3246227"/>
          </a:xfrm>
          <a:prstGeom prst="rect">
            <a:avLst/>
          </a:prstGeom>
        </p:spPr>
      </p:pic>
      <p:cxnSp>
        <p:nvCxnSpPr>
          <p:cNvPr id="15" name="Straight Arrow Connector 14">
            <a:extLst>
              <a:ext uri="{FF2B5EF4-FFF2-40B4-BE49-F238E27FC236}">
                <a16:creationId xmlns:a16="http://schemas.microsoft.com/office/drawing/2014/main" id="{BD283F53-5AF3-5673-97E4-383473D6CF1C}"/>
              </a:ext>
            </a:extLst>
          </p:cNvPr>
          <p:cNvCxnSpPr/>
          <p:nvPr/>
        </p:nvCxnSpPr>
        <p:spPr>
          <a:xfrm flipV="1">
            <a:off x="2844800" y="4851400"/>
            <a:ext cx="1608667" cy="626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3763669-3975-EA6B-BAD4-C219CE533596}"/>
              </a:ext>
            </a:extLst>
          </p:cNvPr>
          <p:cNvSpPr txBox="1"/>
          <p:nvPr/>
        </p:nvSpPr>
        <p:spPr>
          <a:xfrm>
            <a:off x="6151033" y="3590538"/>
            <a:ext cx="5748867" cy="3139321"/>
          </a:xfrm>
          <a:prstGeom prst="rect">
            <a:avLst/>
          </a:prstGeom>
          <a:noFill/>
        </p:spPr>
        <p:txBody>
          <a:bodyPr wrap="square">
            <a:spAutoFit/>
          </a:bodyPr>
          <a:lstStyle/>
          <a:p>
            <a:r>
              <a:rPr lang="en-US" dirty="0"/>
              <a:t>When navigating to /settings, the @team slot will render the /settings page while maintaining the currently active page for the @analytics slot.</a:t>
            </a:r>
          </a:p>
          <a:p>
            <a:endParaRPr lang="en-US" dirty="0"/>
          </a:p>
          <a:p>
            <a:r>
              <a:rPr lang="en-US" dirty="0"/>
              <a:t>On refresh, Next.js will render a default.js for @analytics. If default.js doesn't exist, a 404 is rendered instead.</a:t>
            </a:r>
          </a:p>
          <a:p>
            <a:endParaRPr lang="en-US" dirty="0"/>
          </a:p>
          <a:p>
            <a:r>
              <a:rPr lang="en-US" dirty="0"/>
              <a:t>Additionally, since children is an implicit slot, you also need to create a default.js file to render a fallback for children when Next.js cannot recover the active state of the parent page.</a:t>
            </a:r>
            <a:endParaRPr lang="en-IN" dirty="0"/>
          </a:p>
        </p:txBody>
      </p:sp>
    </p:spTree>
    <p:extLst>
      <p:ext uri="{BB962C8B-B14F-4D97-AF65-F5344CB8AC3E}">
        <p14:creationId xmlns:p14="http://schemas.microsoft.com/office/powerpoint/2010/main" val="2446667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3048</TotalTime>
  <Words>497</Words>
  <Application>Microsoft Office PowerPoint</Application>
  <PresentationFormat>Widescreen</PresentationFormat>
  <Paragraphs>32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sriram mantri vidyanidhi infotech academy</dc:creator>
  <cp:lastModifiedBy>sriram mantri vidyanidhi infotech academy</cp:lastModifiedBy>
  <cp:revision>12</cp:revision>
  <dcterms:created xsi:type="dcterms:W3CDTF">2025-03-21T10:12:04Z</dcterms:created>
  <dcterms:modified xsi:type="dcterms:W3CDTF">2025-03-25T10:18:35Z</dcterms:modified>
</cp:coreProperties>
</file>