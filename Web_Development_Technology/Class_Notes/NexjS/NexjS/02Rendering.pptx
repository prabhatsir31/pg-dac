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 id="262" r:id="rId8"/>
    <p:sldId id="263" r:id="rId9"/>
    <p:sldId id="264" r:id="rId10"/>
    <p:sldId id="265" r:id="rId11"/>
    <p:sldId id="276" r:id="rId12"/>
    <p:sldId id="266" r:id="rId13"/>
    <p:sldId id="277" r:id="rId14"/>
    <p:sldId id="267" r:id="rId15"/>
    <p:sldId id="268" r:id="rId16"/>
    <p:sldId id="270" r:id="rId17"/>
    <p:sldId id="271" r:id="rId18"/>
    <p:sldId id="272" r:id="rId19"/>
    <p:sldId id="273" r:id="rId20"/>
    <p:sldId id="274" r:id="rId21"/>
    <p:sldId id="275"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DDD41-F52E-8E81-4E67-D02DA6D60A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DEE308-99E3-9F02-5A47-E1BFAE8AC7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6F4FE3-DE79-6C51-D831-E176949D3F57}"/>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5" name="Footer Placeholder 4">
            <a:extLst>
              <a:ext uri="{FF2B5EF4-FFF2-40B4-BE49-F238E27FC236}">
                <a16:creationId xmlns:a16="http://schemas.microsoft.com/office/drawing/2014/main" id="{06FB8519-0586-ABFD-A674-55DC722E1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1DF44-0BD9-B07F-4897-10CB1A0297A2}"/>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3901594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341D4-B67D-8805-CE22-31100D6648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518308-3A65-7CE6-7974-02EC1E0F3C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B2282F-7A05-4199-11B7-E68C572F974A}"/>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5" name="Footer Placeholder 4">
            <a:extLst>
              <a:ext uri="{FF2B5EF4-FFF2-40B4-BE49-F238E27FC236}">
                <a16:creationId xmlns:a16="http://schemas.microsoft.com/office/drawing/2014/main" id="{C1B59287-F30A-6CCF-B491-AC9A75A5B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FC9C89-C5F7-FEC3-159C-DC441A876D87}"/>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181273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F314A-CD6D-D8E8-D238-2C76B5576F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DD36B-3652-BF38-B31E-494A7606E7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05FA9E-5FA0-0ED9-C92F-FC2B453E5736}"/>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5" name="Footer Placeholder 4">
            <a:extLst>
              <a:ext uri="{FF2B5EF4-FFF2-40B4-BE49-F238E27FC236}">
                <a16:creationId xmlns:a16="http://schemas.microsoft.com/office/drawing/2014/main" id="{26945DF1-9600-2590-BDD2-B90FD76775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4FC3A7-1284-270B-22C5-856CB6CF1E1E}"/>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983541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6059-558E-104C-D613-9FBFBD78C6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DF65F3-81A3-0D27-27AC-D477A14461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DD11BD-75AD-5F93-0F85-4816F6B45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1C221C-4159-6BF9-77AF-8AEAF69CD1D6}"/>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6" name="Footer Placeholder 5">
            <a:extLst>
              <a:ext uri="{FF2B5EF4-FFF2-40B4-BE49-F238E27FC236}">
                <a16:creationId xmlns:a16="http://schemas.microsoft.com/office/drawing/2014/main" id="{C140C3C0-C6D5-14CF-B784-66643CF7FA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E5C6AC-0F97-BA51-E185-3D574F1CDD51}"/>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278291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E401F-5CE7-275B-F5B5-955962E104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39B8C7-FAAC-8237-2D5D-C893F96231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3CBDA0-2456-29C1-2453-6C8F556F6B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9D31AA-96A1-B088-B3C0-2E8D476A9D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A819F4-F247-5F43-3F99-F877DA8632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1269F5-7BD2-F7C2-5B28-BE97A80200B3}"/>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8" name="Footer Placeholder 7">
            <a:extLst>
              <a:ext uri="{FF2B5EF4-FFF2-40B4-BE49-F238E27FC236}">
                <a16:creationId xmlns:a16="http://schemas.microsoft.com/office/drawing/2014/main" id="{3E625015-2811-3651-7943-6CB7F15713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88EFC1-58F9-4B3A-05AF-6CBF190BEACA}"/>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14610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8AE7B-F0C4-6960-9FEA-8568267610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4D74FED-6133-16D8-CD88-D1C995ED5978}"/>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4" name="Footer Placeholder 3">
            <a:extLst>
              <a:ext uri="{FF2B5EF4-FFF2-40B4-BE49-F238E27FC236}">
                <a16:creationId xmlns:a16="http://schemas.microsoft.com/office/drawing/2014/main" id="{D01B752E-546F-1CDF-701F-F76EFA2235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4D1AA2C-2324-E914-A296-81A9217AFFBA}"/>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3150167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2FA58F-D422-374D-F797-035FC8274DA7}"/>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3" name="Footer Placeholder 2">
            <a:extLst>
              <a:ext uri="{FF2B5EF4-FFF2-40B4-BE49-F238E27FC236}">
                <a16:creationId xmlns:a16="http://schemas.microsoft.com/office/drawing/2014/main" id="{B867EA7E-FDB1-A09D-CECB-8EAA7A9A46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50BDC0-3D4D-6A0A-C96B-D57B62FEA46B}"/>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312313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ED60-0524-215D-AD3C-A53CEDCAD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8B44EA-6B1C-0394-1DED-F0B2E2A7E1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8933C8-C988-70D0-A809-BEBDC3EF7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2D5633-9ED8-8A78-7B15-E216091484C5}"/>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6" name="Footer Placeholder 5">
            <a:extLst>
              <a:ext uri="{FF2B5EF4-FFF2-40B4-BE49-F238E27FC236}">
                <a16:creationId xmlns:a16="http://schemas.microsoft.com/office/drawing/2014/main" id="{44D7E794-DFDA-174A-DC26-8EAFB2F0EE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93791F-065A-392F-D1F8-2A4561579EAE}"/>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1267765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EA1A-5777-DCDB-B186-D2419EA76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A4E32D-1EEA-23D2-0097-84295F1B69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25A7BD-17D7-2677-C7DE-8A9B45D033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3B0E77-10CA-406B-A23E-3E6A45776404}"/>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6" name="Footer Placeholder 5">
            <a:extLst>
              <a:ext uri="{FF2B5EF4-FFF2-40B4-BE49-F238E27FC236}">
                <a16:creationId xmlns:a16="http://schemas.microsoft.com/office/drawing/2014/main" id="{31CF989A-D478-C1B9-5969-09E45374A4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0D4D7B-581C-3124-E046-B539028B9714}"/>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401437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08F91-861E-8914-6055-98B4FCCFD3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511A09-BEB3-73EA-8446-B9B855F923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581D57-2095-CFDA-4759-F902C35D5094}"/>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5" name="Footer Placeholder 4">
            <a:extLst>
              <a:ext uri="{FF2B5EF4-FFF2-40B4-BE49-F238E27FC236}">
                <a16:creationId xmlns:a16="http://schemas.microsoft.com/office/drawing/2014/main" id="{D9C8C40D-4960-0F29-2D4C-915D5D3575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76C34E-4D29-AD2C-D4A4-0BED6DA7D156}"/>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3992211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5862C5-5594-32D0-FE29-D61666E706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99CFCF-F038-8963-3F12-1DF8D601AD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D150EA-9966-D408-AE7F-173FEDAA08BA}"/>
              </a:ext>
            </a:extLst>
          </p:cNvPr>
          <p:cNvSpPr>
            <a:spLocks noGrp="1"/>
          </p:cNvSpPr>
          <p:nvPr>
            <p:ph type="dt" sz="half" idx="10"/>
          </p:nvPr>
        </p:nvSpPr>
        <p:spPr/>
        <p:txBody>
          <a:bodyPr/>
          <a:lstStyle/>
          <a:p>
            <a:fld id="{5F1C21AF-D54F-4567-B98B-65328F0B32F0}" type="datetimeFigureOut">
              <a:rPr lang="en-IN" smtClean="0"/>
              <a:t>26-03-2025</a:t>
            </a:fld>
            <a:endParaRPr lang="en-IN"/>
          </a:p>
        </p:txBody>
      </p:sp>
      <p:sp>
        <p:nvSpPr>
          <p:cNvPr id="5" name="Footer Placeholder 4">
            <a:extLst>
              <a:ext uri="{FF2B5EF4-FFF2-40B4-BE49-F238E27FC236}">
                <a16:creationId xmlns:a16="http://schemas.microsoft.com/office/drawing/2014/main" id="{0D5B08D4-17C1-580B-5F45-41B184697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C39045-419F-59C1-A84D-509E4CD695E0}"/>
              </a:ext>
            </a:extLst>
          </p:cNvPr>
          <p:cNvSpPr>
            <a:spLocks noGrp="1"/>
          </p:cNvSpPr>
          <p:nvPr>
            <p:ph type="sldNum" sz="quarter" idx="12"/>
          </p:nvPr>
        </p:nvSpPr>
        <p:spPr/>
        <p:txBody>
          <a:bodyPr/>
          <a:lstStyle/>
          <a:p>
            <a:fld id="{A6F2AC8B-7E59-4CE3-9962-1CA25A35770A}" type="slidenum">
              <a:rPr lang="en-IN" smtClean="0"/>
              <a:t>‹#›</a:t>
            </a:fld>
            <a:endParaRPr lang="en-IN"/>
          </a:p>
        </p:txBody>
      </p:sp>
    </p:spTree>
    <p:extLst>
      <p:ext uri="{BB962C8B-B14F-4D97-AF65-F5344CB8AC3E}">
        <p14:creationId xmlns:p14="http://schemas.microsoft.com/office/powerpoint/2010/main" val="325395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234098-5CDE-CD3D-9D8F-4F4E1E7C4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810984-E537-0020-5E00-37A180CBDA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894853-F101-85DF-8CBA-EE854C82C7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C21AF-D54F-4567-B98B-65328F0B32F0}" type="datetimeFigureOut">
              <a:rPr lang="en-IN" smtClean="0"/>
              <a:t>26-03-2025</a:t>
            </a:fld>
            <a:endParaRPr lang="en-IN"/>
          </a:p>
        </p:txBody>
      </p:sp>
      <p:sp>
        <p:nvSpPr>
          <p:cNvPr id="5" name="Footer Placeholder 4">
            <a:extLst>
              <a:ext uri="{FF2B5EF4-FFF2-40B4-BE49-F238E27FC236}">
                <a16:creationId xmlns:a16="http://schemas.microsoft.com/office/drawing/2014/main" id="{B4BB3F94-D5A4-42B1-566B-F83F989D81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823CA6-441B-692A-80E6-11F3FA9151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F2AC8B-7E59-4CE3-9962-1CA25A35770A}" type="slidenum">
              <a:rPr lang="en-IN" smtClean="0"/>
              <a:t>‹#›</a:t>
            </a:fld>
            <a:endParaRPr lang="en-IN"/>
          </a:p>
        </p:txBody>
      </p:sp>
    </p:spTree>
    <p:extLst>
      <p:ext uri="{BB962C8B-B14F-4D97-AF65-F5344CB8AC3E}">
        <p14:creationId xmlns:p14="http://schemas.microsoft.com/office/powerpoint/2010/main" val="2111813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nextjs.org/docs/app/building-your-application/caching#data-cache" TargetMode="External"/><Relationship Id="rId2" Type="http://schemas.openxmlformats.org/officeDocument/2006/relationships/hyperlink" Target="https://nextjs.org/docs/app/building-your-application/caching#request-memoization" TargetMode="External"/><Relationship Id="rId1" Type="http://schemas.openxmlformats.org/officeDocument/2006/relationships/slideLayout" Target="../slideLayouts/slideLayout2.xml"/><Relationship Id="rId5" Type="http://schemas.openxmlformats.org/officeDocument/2006/relationships/hyperlink" Target="https://nextjs.org/docs/app/building-your-application/caching#client-side-router-cache" TargetMode="External"/><Relationship Id="rId4" Type="http://schemas.openxmlformats.org/officeDocument/2006/relationships/hyperlink" Target="https://nextjs.org/docs/app/building-your-application/caching#full-route-cache"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anity.io/" TargetMode="External"/><Relationship Id="rId2" Type="http://schemas.openxmlformats.org/officeDocument/2006/relationships/hyperlink" Target="https://ui.shadcn.com/docs/react-19" TargetMode="External"/><Relationship Id="rId1" Type="http://schemas.openxmlformats.org/officeDocument/2006/relationships/slideLayout" Target="../slideLayouts/slideLayout2.xml"/><Relationship Id="rId5" Type="http://schemas.openxmlformats.org/officeDocument/2006/relationships/hyperlink" Target="http://localhost:3000/studio/vision" TargetMode="External"/><Relationship Id="rId4" Type="http://schemas.openxmlformats.org/officeDocument/2006/relationships/hyperlink" Target="https://authjs.dev/getting-started/providers/github?framework=next-j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5FCF57-57E3-CE25-A7A0-0CE37D27FF7A}"/>
              </a:ext>
            </a:extLst>
          </p:cNvPr>
          <p:cNvPicPr>
            <a:picLocks noChangeAspect="1"/>
          </p:cNvPicPr>
          <p:nvPr/>
        </p:nvPicPr>
        <p:blipFill>
          <a:blip r:embed="rId2"/>
          <a:stretch>
            <a:fillRect/>
          </a:stretch>
        </p:blipFill>
        <p:spPr>
          <a:xfrm>
            <a:off x="961111" y="0"/>
            <a:ext cx="8606222" cy="7794058"/>
          </a:xfrm>
          <a:prstGeom prst="rect">
            <a:avLst/>
          </a:prstGeom>
        </p:spPr>
      </p:pic>
    </p:spTree>
    <p:extLst>
      <p:ext uri="{BB962C8B-B14F-4D97-AF65-F5344CB8AC3E}">
        <p14:creationId xmlns:p14="http://schemas.microsoft.com/office/powerpoint/2010/main" val="1849497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6DC06C-3F49-9968-0C6F-524E73909269}"/>
              </a:ext>
            </a:extLst>
          </p:cNvPr>
          <p:cNvSpPr txBox="1"/>
          <p:nvPr/>
        </p:nvSpPr>
        <p:spPr>
          <a:xfrm>
            <a:off x="414866" y="1159934"/>
            <a:ext cx="11133667" cy="3416320"/>
          </a:xfrm>
          <a:prstGeom prst="rect">
            <a:avLst/>
          </a:prstGeom>
          <a:noFill/>
        </p:spPr>
        <p:txBody>
          <a:bodyPr wrap="square">
            <a:spAutoFit/>
          </a:bodyPr>
          <a:lstStyle/>
          <a:p>
            <a:pPr algn="l"/>
            <a:r>
              <a:rPr lang="en-US" sz="1800" b="0" i="0" u="none" strike="noStrike" baseline="0" dirty="0">
                <a:latin typeface="T3Font_154"/>
              </a:rPr>
              <a:t>If search engine optimization (SEO), security concerns, and user device specifications are not a priority for you, and your focus is primarily on delivering dynamic interactivity to the user, then client-side rendering (CSR) with technologies like React.js can be a suitable choice.</a:t>
            </a:r>
          </a:p>
          <a:p>
            <a:pPr algn="l"/>
            <a:endParaRPr lang="en-US" sz="1800" b="0" i="0" u="none" strike="noStrike" baseline="0" dirty="0">
              <a:latin typeface="T3Font_154"/>
            </a:endParaRPr>
          </a:p>
          <a:p>
            <a:pPr algn="l"/>
            <a:r>
              <a:rPr lang="en-US" sz="1800" b="0" i="0" u="none" strike="noStrike" baseline="0" dirty="0">
                <a:latin typeface="T3Font_154"/>
              </a:rPr>
              <a:t>A use case where this approach is applicable is in the business-to business  (B2B) domain. </a:t>
            </a:r>
          </a:p>
          <a:p>
            <a:pPr algn="l"/>
            <a:endParaRPr lang="en-US" dirty="0">
              <a:latin typeface="T3Font_154"/>
            </a:endParaRPr>
          </a:p>
          <a:p>
            <a:pPr algn="l"/>
            <a:endParaRPr lang="en-US" sz="1800" b="0" i="0" u="none" strike="noStrike" baseline="0" dirty="0">
              <a:latin typeface="T3Font_154"/>
            </a:endParaRPr>
          </a:p>
          <a:p>
            <a:pPr algn="l"/>
            <a:r>
              <a:rPr lang="en-US" sz="1800" b="0" i="0" u="none" strike="noStrike" baseline="0" dirty="0">
                <a:latin typeface="T3Font_154"/>
              </a:rPr>
              <a:t>In such cases, the target audience is specific  and known, eliminating the need to prioritize SEO since the product is</a:t>
            </a:r>
          </a:p>
          <a:p>
            <a:pPr algn="l"/>
            <a:r>
              <a:rPr lang="en-US" sz="1800" b="0" i="0" u="none" strike="noStrike" baseline="0" dirty="0">
                <a:latin typeface="T3Font_154"/>
              </a:rPr>
              <a:t>not intended for a wide public audience. </a:t>
            </a:r>
          </a:p>
          <a:p>
            <a:pPr algn="l"/>
            <a:endParaRPr lang="en-US" dirty="0">
              <a:latin typeface="T3Font_154"/>
            </a:endParaRPr>
          </a:p>
          <a:p>
            <a:pPr algn="l"/>
            <a:r>
              <a:rPr lang="en-US" sz="1800" b="0" i="0" u="none" strike="noStrike" baseline="0" dirty="0">
                <a:latin typeface="T3Font_154"/>
              </a:rPr>
              <a:t>This allows you to prioritize  developing interactive features and functionalities without dedicating  significant resources to SEO optimization.</a:t>
            </a:r>
          </a:p>
        </p:txBody>
      </p:sp>
    </p:spTree>
    <p:extLst>
      <p:ext uri="{BB962C8B-B14F-4D97-AF65-F5344CB8AC3E}">
        <p14:creationId xmlns:p14="http://schemas.microsoft.com/office/powerpoint/2010/main" val="421365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48A44C-9AE3-6870-512A-A135812880FE}"/>
              </a:ext>
            </a:extLst>
          </p:cNvPr>
          <p:cNvSpPr txBox="1"/>
          <p:nvPr/>
        </p:nvSpPr>
        <p:spPr>
          <a:xfrm>
            <a:off x="0" y="0"/>
            <a:ext cx="11607800" cy="3416320"/>
          </a:xfrm>
          <a:prstGeom prst="rect">
            <a:avLst/>
          </a:prstGeom>
          <a:noFill/>
        </p:spPr>
        <p:txBody>
          <a:bodyPr wrap="square">
            <a:spAutoFit/>
          </a:bodyPr>
          <a:lstStyle/>
          <a:p>
            <a:pPr algn="ctr"/>
            <a:r>
              <a:rPr lang="en-US" b="1" dirty="0"/>
              <a:t>Static Site Generation</a:t>
            </a:r>
          </a:p>
          <a:p>
            <a:r>
              <a:rPr lang="en-US" dirty="0"/>
              <a:t>Remember the build time? Well, the famous SSG, static site generation, happens at build time on the server.</a:t>
            </a:r>
          </a:p>
          <a:p>
            <a:r>
              <a:rPr lang="en-US" dirty="0"/>
              <a:t>During the build process, the content is generated and converted into HTML, CSS, and JavaScript files. It doesn’t require server interaction during runtime. </a:t>
            </a:r>
          </a:p>
          <a:p>
            <a:r>
              <a:rPr lang="en-US" dirty="0"/>
              <a:t>The generated static files can be hosted on content delivery network (CDN) and then served to the client as-is.</a:t>
            </a:r>
          </a:p>
          <a:p>
            <a:r>
              <a:rPr lang="en-US" dirty="0"/>
              <a:t>The result, the rendered content, is cached and reused on subsequent requests leading to fast content delivery and less server load. </a:t>
            </a:r>
          </a:p>
          <a:p>
            <a:r>
              <a:rPr lang="en-US" dirty="0"/>
              <a:t>This minimal processing results in higher performance. Although SSG handles dynamic data during the build process, it</a:t>
            </a:r>
          </a:p>
          <a:p>
            <a:r>
              <a:rPr lang="en-US" dirty="0"/>
              <a:t>requires a rebuild if you update anything, as it happens during the build time!</a:t>
            </a:r>
          </a:p>
          <a:p>
            <a:r>
              <a:rPr lang="en-US" dirty="0"/>
              <a:t>An example use case would be </a:t>
            </a:r>
            <a:r>
              <a:rPr lang="en-US" b="1" dirty="0"/>
              <a:t>any Documentation or Blog &amp; News websites</a:t>
            </a:r>
            <a:r>
              <a:rPr lang="en-US" dirty="0"/>
              <a:t>. All the articles or content are static 90% of the time. It doesn’t need any processing. Once built, we can ship it as it is. Whenever we want to update the content, we can rebuild it!</a:t>
            </a:r>
            <a:endParaRPr lang="en-IN" dirty="0"/>
          </a:p>
        </p:txBody>
      </p:sp>
      <p:sp>
        <p:nvSpPr>
          <p:cNvPr id="2" name="Rectangle 1">
            <a:extLst>
              <a:ext uri="{FF2B5EF4-FFF2-40B4-BE49-F238E27FC236}">
                <a16:creationId xmlns:a16="http://schemas.microsoft.com/office/drawing/2014/main" id="{B963FAD8-BEF2-A829-FFE7-ECD58150CADA}"/>
              </a:ext>
            </a:extLst>
          </p:cNvPr>
          <p:cNvSpPr/>
          <p:nvPr/>
        </p:nvSpPr>
        <p:spPr>
          <a:xfrm>
            <a:off x="9186333" y="3512068"/>
            <a:ext cx="2370666" cy="2387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Server</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3" name="Rectangle 2">
            <a:extLst>
              <a:ext uri="{FF2B5EF4-FFF2-40B4-BE49-F238E27FC236}">
                <a16:creationId xmlns:a16="http://schemas.microsoft.com/office/drawing/2014/main" id="{A611F7B7-0AE6-C010-C2A2-1569BD309C88}"/>
              </a:ext>
            </a:extLst>
          </p:cNvPr>
          <p:cNvSpPr/>
          <p:nvPr/>
        </p:nvSpPr>
        <p:spPr>
          <a:xfrm>
            <a:off x="635000" y="3801533"/>
            <a:ext cx="2370666" cy="248073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Client</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cxnSp>
        <p:nvCxnSpPr>
          <p:cNvPr id="6" name="Straight Arrow Connector 5">
            <a:extLst>
              <a:ext uri="{FF2B5EF4-FFF2-40B4-BE49-F238E27FC236}">
                <a16:creationId xmlns:a16="http://schemas.microsoft.com/office/drawing/2014/main" id="{7BAF62C4-30A1-CC33-AEAD-8D5AC3DCEFF1}"/>
              </a:ext>
            </a:extLst>
          </p:cNvPr>
          <p:cNvCxnSpPr/>
          <p:nvPr/>
        </p:nvCxnSpPr>
        <p:spPr>
          <a:xfrm>
            <a:off x="3081867" y="4377267"/>
            <a:ext cx="263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7A3B2C7-2787-85CA-DE77-8A1A084144C0}"/>
              </a:ext>
            </a:extLst>
          </p:cNvPr>
          <p:cNvSpPr txBox="1"/>
          <p:nvPr/>
        </p:nvSpPr>
        <p:spPr>
          <a:xfrm>
            <a:off x="3395133" y="3911600"/>
            <a:ext cx="2116667" cy="369332"/>
          </a:xfrm>
          <a:prstGeom prst="rect">
            <a:avLst/>
          </a:prstGeom>
          <a:noFill/>
        </p:spPr>
        <p:txBody>
          <a:bodyPr wrap="square" rtlCol="0">
            <a:spAutoFit/>
          </a:bodyPr>
          <a:lstStyle/>
          <a:p>
            <a:r>
              <a:rPr lang="en-IN" dirty="0"/>
              <a:t>Request</a:t>
            </a:r>
          </a:p>
        </p:txBody>
      </p:sp>
      <p:sp>
        <p:nvSpPr>
          <p:cNvPr id="8" name="Rectangle 7">
            <a:extLst>
              <a:ext uri="{FF2B5EF4-FFF2-40B4-BE49-F238E27FC236}">
                <a16:creationId xmlns:a16="http://schemas.microsoft.com/office/drawing/2014/main" id="{01638BB7-A5DA-2DAB-E549-8E8F6D5C1EB1}"/>
              </a:ext>
            </a:extLst>
          </p:cNvPr>
          <p:cNvSpPr/>
          <p:nvPr/>
        </p:nvSpPr>
        <p:spPr>
          <a:xfrm>
            <a:off x="7594600" y="3113624"/>
            <a:ext cx="2895600" cy="338667"/>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IN" dirty="0"/>
              <a:t>Build time </a:t>
            </a:r>
          </a:p>
        </p:txBody>
      </p:sp>
      <p:sp>
        <p:nvSpPr>
          <p:cNvPr id="10" name="TextBox 9">
            <a:extLst>
              <a:ext uri="{FF2B5EF4-FFF2-40B4-BE49-F238E27FC236}">
                <a16:creationId xmlns:a16="http://schemas.microsoft.com/office/drawing/2014/main" id="{B8DFFE0A-ACB4-95B9-0A7E-50EAC47D4319}"/>
              </a:ext>
            </a:extLst>
          </p:cNvPr>
          <p:cNvSpPr txBox="1"/>
          <p:nvPr/>
        </p:nvSpPr>
        <p:spPr>
          <a:xfrm>
            <a:off x="6917266" y="3594499"/>
            <a:ext cx="194733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b="1" dirty="0"/>
              <a:t>Static file ready</a:t>
            </a:r>
          </a:p>
          <a:p>
            <a:r>
              <a:rPr lang="en-IN" dirty="0"/>
              <a:t>Html</a:t>
            </a:r>
          </a:p>
          <a:p>
            <a:r>
              <a:rPr lang="en-IN" dirty="0" err="1"/>
              <a:t>Css</a:t>
            </a:r>
            <a:endParaRPr lang="en-IN" dirty="0"/>
          </a:p>
        </p:txBody>
      </p:sp>
      <p:sp>
        <p:nvSpPr>
          <p:cNvPr id="12" name="TextBox 11">
            <a:extLst>
              <a:ext uri="{FF2B5EF4-FFF2-40B4-BE49-F238E27FC236}">
                <a16:creationId xmlns:a16="http://schemas.microsoft.com/office/drawing/2014/main" id="{9DDCB546-F113-DD09-BD53-DB71D6320025}"/>
              </a:ext>
            </a:extLst>
          </p:cNvPr>
          <p:cNvSpPr txBox="1"/>
          <p:nvPr/>
        </p:nvSpPr>
        <p:spPr>
          <a:xfrm>
            <a:off x="5803900" y="4660037"/>
            <a:ext cx="6121400"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doesn’t require server interaction during runtime</a:t>
            </a:r>
          </a:p>
          <a:p>
            <a:endParaRPr lang="en-US" dirty="0"/>
          </a:p>
          <a:p>
            <a:r>
              <a:rPr lang="en-US" dirty="0"/>
              <a:t>static files can be hosted on </a:t>
            </a:r>
            <a:r>
              <a:rPr lang="en-US" b="1" dirty="0"/>
              <a:t>content delivery network (CDN).</a:t>
            </a:r>
          </a:p>
          <a:p>
            <a:r>
              <a:rPr lang="en-US" dirty="0"/>
              <a:t> </a:t>
            </a:r>
          </a:p>
          <a:p>
            <a:r>
              <a:rPr lang="en-US" dirty="0"/>
              <a:t>rendered content, is </a:t>
            </a:r>
            <a:r>
              <a:rPr lang="en-US" b="1" dirty="0"/>
              <a:t>cached and reused on subsequent </a:t>
            </a:r>
            <a:r>
              <a:rPr lang="en-US" dirty="0"/>
              <a:t>requests leading </a:t>
            </a:r>
            <a:r>
              <a:rPr lang="en-US" b="1" dirty="0"/>
              <a:t>to fast content delivery </a:t>
            </a:r>
            <a:r>
              <a:rPr lang="en-US" dirty="0"/>
              <a:t>and less server load. </a:t>
            </a:r>
          </a:p>
          <a:p>
            <a:endParaRPr lang="en-US" dirty="0"/>
          </a:p>
        </p:txBody>
      </p:sp>
      <p:cxnSp>
        <p:nvCxnSpPr>
          <p:cNvPr id="14" name="Straight Arrow Connector 13">
            <a:extLst>
              <a:ext uri="{FF2B5EF4-FFF2-40B4-BE49-F238E27FC236}">
                <a16:creationId xmlns:a16="http://schemas.microsoft.com/office/drawing/2014/main" id="{C84ACC9E-F609-07DB-7956-EDDBDCABB215}"/>
              </a:ext>
            </a:extLst>
          </p:cNvPr>
          <p:cNvCxnSpPr/>
          <p:nvPr/>
        </p:nvCxnSpPr>
        <p:spPr>
          <a:xfrm flipH="1">
            <a:off x="3268133" y="5223932"/>
            <a:ext cx="3090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58F9D99-2C83-651F-25BF-FF0366C04EEC}"/>
              </a:ext>
            </a:extLst>
          </p:cNvPr>
          <p:cNvSpPr txBox="1"/>
          <p:nvPr/>
        </p:nvSpPr>
        <p:spPr>
          <a:xfrm>
            <a:off x="3589867" y="5537200"/>
            <a:ext cx="2506133" cy="369321"/>
          </a:xfrm>
          <a:prstGeom prst="rect">
            <a:avLst/>
          </a:prstGeom>
          <a:noFill/>
        </p:spPr>
        <p:txBody>
          <a:bodyPr wrap="square" rtlCol="0">
            <a:spAutoFit/>
          </a:bodyPr>
          <a:lstStyle/>
          <a:p>
            <a:r>
              <a:rPr lang="en-IN" dirty="0"/>
              <a:t>Response</a:t>
            </a:r>
          </a:p>
        </p:txBody>
      </p:sp>
    </p:spTree>
    <p:extLst>
      <p:ext uri="{BB962C8B-B14F-4D97-AF65-F5344CB8AC3E}">
        <p14:creationId xmlns:p14="http://schemas.microsoft.com/office/powerpoint/2010/main" val="389771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C65182-6D98-7833-C48B-7EA4CB93AC7E}"/>
              </a:ext>
            </a:extLst>
          </p:cNvPr>
          <p:cNvSpPr txBox="1"/>
          <p:nvPr/>
        </p:nvSpPr>
        <p:spPr>
          <a:xfrm>
            <a:off x="143933" y="313267"/>
            <a:ext cx="11904134" cy="2585323"/>
          </a:xfrm>
          <a:prstGeom prst="rect">
            <a:avLst/>
          </a:prstGeom>
          <a:noFill/>
        </p:spPr>
        <p:txBody>
          <a:bodyPr wrap="square">
            <a:spAutoFit/>
          </a:bodyPr>
          <a:lstStyle/>
          <a:p>
            <a:pPr algn="ctr"/>
            <a:r>
              <a:rPr lang="en-US" b="1" dirty="0"/>
              <a:t>Incremental Static Generation</a:t>
            </a:r>
          </a:p>
          <a:p>
            <a:r>
              <a:rPr lang="en-US" dirty="0"/>
              <a:t>It allows us to </a:t>
            </a:r>
            <a:r>
              <a:rPr lang="en-US" b="1" dirty="0"/>
              <a:t>update these static pages after we build them without needing to rebuild the entire site.</a:t>
            </a:r>
          </a:p>
          <a:p>
            <a:r>
              <a:rPr lang="en-US" dirty="0"/>
              <a:t>The on-demand generation of ISR allows us to generate a specific page on-demand or in response to a user’s request. Meaning, a certain part of the websites or pages will be rendered at build time while other is generated only when needed, i.e., at run time.</a:t>
            </a:r>
          </a:p>
          <a:p>
            <a:r>
              <a:rPr lang="en-US" dirty="0"/>
              <a:t>This reduces the build time and improves the overall performance of the website by updating only requested pages for regeneration. With this hybrid strategy, we now have the flexibility to manage content updates. We can cache the static content as well as revalidate them if needed. An example use case would be the same where we can use </a:t>
            </a:r>
            <a:r>
              <a:rPr lang="en-US" b="1" dirty="0"/>
              <a:t>SSG for the</a:t>
            </a:r>
          </a:p>
          <a:p>
            <a:r>
              <a:rPr lang="en-US" b="1" dirty="0"/>
              <a:t>article details page a</a:t>
            </a:r>
            <a:r>
              <a:rPr lang="en-US" dirty="0"/>
              <a:t>nd use </a:t>
            </a:r>
            <a:r>
              <a:rPr lang="en-US" b="1" dirty="0"/>
              <a:t>ISG for showing a list of articles</a:t>
            </a:r>
          </a:p>
        </p:txBody>
      </p:sp>
      <p:sp>
        <p:nvSpPr>
          <p:cNvPr id="5" name="Rectangle 4">
            <a:extLst>
              <a:ext uri="{FF2B5EF4-FFF2-40B4-BE49-F238E27FC236}">
                <a16:creationId xmlns:a16="http://schemas.microsoft.com/office/drawing/2014/main" id="{921B3801-BD5A-6B32-6AD1-F7CCCD4408A3}"/>
              </a:ext>
            </a:extLst>
          </p:cNvPr>
          <p:cNvSpPr/>
          <p:nvPr/>
        </p:nvSpPr>
        <p:spPr>
          <a:xfrm>
            <a:off x="9186333" y="3334260"/>
            <a:ext cx="2370666" cy="2387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Server</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6" name="Rectangle 5">
            <a:extLst>
              <a:ext uri="{FF2B5EF4-FFF2-40B4-BE49-F238E27FC236}">
                <a16:creationId xmlns:a16="http://schemas.microsoft.com/office/drawing/2014/main" id="{62393C0D-2A34-4D97-79E3-A91759BB43DE}"/>
              </a:ext>
            </a:extLst>
          </p:cNvPr>
          <p:cNvSpPr/>
          <p:nvPr/>
        </p:nvSpPr>
        <p:spPr>
          <a:xfrm>
            <a:off x="635000" y="3801533"/>
            <a:ext cx="2370666" cy="248073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Client</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cxnSp>
        <p:nvCxnSpPr>
          <p:cNvPr id="7" name="Straight Arrow Connector 6">
            <a:extLst>
              <a:ext uri="{FF2B5EF4-FFF2-40B4-BE49-F238E27FC236}">
                <a16:creationId xmlns:a16="http://schemas.microsoft.com/office/drawing/2014/main" id="{AC82604B-5B85-7774-7983-5A2440B3D50C}"/>
              </a:ext>
            </a:extLst>
          </p:cNvPr>
          <p:cNvCxnSpPr/>
          <p:nvPr/>
        </p:nvCxnSpPr>
        <p:spPr>
          <a:xfrm>
            <a:off x="3081867" y="4377267"/>
            <a:ext cx="263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BB3F428-4DD1-11A2-2F5E-E27F547742BD}"/>
              </a:ext>
            </a:extLst>
          </p:cNvPr>
          <p:cNvSpPr txBox="1"/>
          <p:nvPr/>
        </p:nvSpPr>
        <p:spPr>
          <a:xfrm>
            <a:off x="3395133" y="3911600"/>
            <a:ext cx="2116667" cy="369332"/>
          </a:xfrm>
          <a:prstGeom prst="rect">
            <a:avLst/>
          </a:prstGeom>
          <a:noFill/>
        </p:spPr>
        <p:txBody>
          <a:bodyPr wrap="square" rtlCol="0">
            <a:spAutoFit/>
          </a:bodyPr>
          <a:lstStyle/>
          <a:p>
            <a:r>
              <a:rPr lang="en-IN" dirty="0"/>
              <a:t>Request 1</a:t>
            </a:r>
          </a:p>
        </p:txBody>
      </p:sp>
      <p:sp>
        <p:nvSpPr>
          <p:cNvPr id="9" name="Rectangle 8">
            <a:extLst>
              <a:ext uri="{FF2B5EF4-FFF2-40B4-BE49-F238E27FC236}">
                <a16:creationId xmlns:a16="http://schemas.microsoft.com/office/drawing/2014/main" id="{76062DA1-266C-E0F8-5C56-1B11064CD5C4}"/>
              </a:ext>
            </a:extLst>
          </p:cNvPr>
          <p:cNvSpPr/>
          <p:nvPr/>
        </p:nvSpPr>
        <p:spPr>
          <a:xfrm>
            <a:off x="7535333" y="2897094"/>
            <a:ext cx="2895600" cy="338667"/>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IN" dirty="0"/>
              <a:t>Build time </a:t>
            </a:r>
          </a:p>
        </p:txBody>
      </p:sp>
      <p:sp>
        <p:nvSpPr>
          <p:cNvPr id="10" name="TextBox 9">
            <a:extLst>
              <a:ext uri="{FF2B5EF4-FFF2-40B4-BE49-F238E27FC236}">
                <a16:creationId xmlns:a16="http://schemas.microsoft.com/office/drawing/2014/main" id="{F9A29756-DB85-8221-0924-8A4932F07D64}"/>
              </a:ext>
            </a:extLst>
          </p:cNvPr>
          <p:cNvSpPr txBox="1"/>
          <p:nvPr/>
        </p:nvSpPr>
        <p:spPr>
          <a:xfrm>
            <a:off x="6125633" y="5621403"/>
            <a:ext cx="6121400"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update these static pages after we build them without needing to rebuild the entire site.</a:t>
            </a:r>
            <a:endParaRPr lang="en-US" dirty="0"/>
          </a:p>
          <a:p>
            <a:r>
              <a:rPr lang="en-US" dirty="0"/>
              <a:t>to generate a specific page on-demand or in response to a user’s request</a:t>
            </a:r>
          </a:p>
        </p:txBody>
      </p:sp>
      <p:cxnSp>
        <p:nvCxnSpPr>
          <p:cNvPr id="11" name="Straight Arrow Connector 10">
            <a:extLst>
              <a:ext uri="{FF2B5EF4-FFF2-40B4-BE49-F238E27FC236}">
                <a16:creationId xmlns:a16="http://schemas.microsoft.com/office/drawing/2014/main" id="{1973D17A-40CE-2FAF-29C5-EEE9057299A9}"/>
              </a:ext>
            </a:extLst>
          </p:cNvPr>
          <p:cNvCxnSpPr/>
          <p:nvPr/>
        </p:nvCxnSpPr>
        <p:spPr>
          <a:xfrm flipH="1">
            <a:off x="3035299" y="4639732"/>
            <a:ext cx="3090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F96CEBD-5648-C2B1-19D2-E32768A00365}"/>
              </a:ext>
            </a:extLst>
          </p:cNvPr>
          <p:cNvSpPr txBox="1"/>
          <p:nvPr/>
        </p:nvSpPr>
        <p:spPr>
          <a:xfrm>
            <a:off x="3589867" y="5537200"/>
            <a:ext cx="2506133" cy="369321"/>
          </a:xfrm>
          <a:prstGeom prst="rect">
            <a:avLst/>
          </a:prstGeom>
          <a:noFill/>
        </p:spPr>
        <p:txBody>
          <a:bodyPr wrap="square" rtlCol="0">
            <a:spAutoFit/>
          </a:bodyPr>
          <a:lstStyle/>
          <a:p>
            <a:r>
              <a:rPr lang="en-IN" dirty="0"/>
              <a:t>Response</a:t>
            </a:r>
          </a:p>
        </p:txBody>
      </p:sp>
      <p:sp>
        <p:nvSpPr>
          <p:cNvPr id="13" name="Rectangle 12">
            <a:extLst>
              <a:ext uri="{FF2B5EF4-FFF2-40B4-BE49-F238E27FC236}">
                <a16:creationId xmlns:a16="http://schemas.microsoft.com/office/drawing/2014/main" id="{421A4094-1029-BAD7-BE4B-51A772F85C88}"/>
              </a:ext>
            </a:extLst>
          </p:cNvPr>
          <p:cNvSpPr/>
          <p:nvPr/>
        </p:nvSpPr>
        <p:spPr>
          <a:xfrm>
            <a:off x="7268633" y="3377632"/>
            <a:ext cx="1752600" cy="804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r>
              <a:rPr lang="en-IN" baseline="30000" dirty="0"/>
              <a:t>St</a:t>
            </a:r>
            <a:r>
              <a:rPr lang="en-IN" dirty="0"/>
              <a:t> render some basic static page from CDN</a:t>
            </a:r>
          </a:p>
        </p:txBody>
      </p:sp>
      <p:sp>
        <p:nvSpPr>
          <p:cNvPr id="14" name="Rectangle 13">
            <a:extLst>
              <a:ext uri="{FF2B5EF4-FFF2-40B4-BE49-F238E27FC236}">
                <a16:creationId xmlns:a16="http://schemas.microsoft.com/office/drawing/2014/main" id="{B79B29CD-C407-3085-6407-4D48F69AB153}"/>
              </a:ext>
            </a:extLst>
          </p:cNvPr>
          <p:cNvSpPr/>
          <p:nvPr/>
        </p:nvSpPr>
        <p:spPr>
          <a:xfrm>
            <a:off x="7268633" y="4280932"/>
            <a:ext cx="1659467" cy="92332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at run time</a:t>
            </a:r>
          </a:p>
          <a:p>
            <a:pPr algn="ctr"/>
            <a:r>
              <a:rPr lang="en-US" dirty="0"/>
              <a:t>Generate Page </a:t>
            </a:r>
            <a:endParaRPr lang="en-IN" dirty="0"/>
          </a:p>
        </p:txBody>
      </p:sp>
      <p:sp>
        <p:nvSpPr>
          <p:cNvPr id="15" name="Oval 14">
            <a:extLst>
              <a:ext uri="{FF2B5EF4-FFF2-40B4-BE49-F238E27FC236}">
                <a16:creationId xmlns:a16="http://schemas.microsoft.com/office/drawing/2014/main" id="{501C4A47-E9F5-4B95-A379-279DB6B94700}"/>
              </a:ext>
            </a:extLst>
          </p:cNvPr>
          <p:cNvSpPr/>
          <p:nvPr/>
        </p:nvSpPr>
        <p:spPr>
          <a:xfrm>
            <a:off x="922867" y="4715934"/>
            <a:ext cx="1655232" cy="821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Click  to load User details</a:t>
            </a:r>
          </a:p>
        </p:txBody>
      </p:sp>
      <p:cxnSp>
        <p:nvCxnSpPr>
          <p:cNvPr id="17" name="Straight Arrow Connector 16">
            <a:extLst>
              <a:ext uri="{FF2B5EF4-FFF2-40B4-BE49-F238E27FC236}">
                <a16:creationId xmlns:a16="http://schemas.microsoft.com/office/drawing/2014/main" id="{209D55B2-A740-5435-F6B8-7AC9A03E1744}"/>
              </a:ext>
            </a:extLst>
          </p:cNvPr>
          <p:cNvCxnSpPr/>
          <p:nvPr/>
        </p:nvCxnSpPr>
        <p:spPr>
          <a:xfrm>
            <a:off x="2345267" y="5215467"/>
            <a:ext cx="35644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C935F57-F00F-5C85-3711-AB17073D85B6}"/>
              </a:ext>
            </a:extLst>
          </p:cNvPr>
          <p:cNvSpPr txBox="1"/>
          <p:nvPr/>
        </p:nvSpPr>
        <p:spPr>
          <a:xfrm>
            <a:off x="3437466" y="4842933"/>
            <a:ext cx="2116667" cy="369332"/>
          </a:xfrm>
          <a:prstGeom prst="rect">
            <a:avLst/>
          </a:prstGeom>
          <a:noFill/>
        </p:spPr>
        <p:txBody>
          <a:bodyPr wrap="square" rtlCol="0">
            <a:spAutoFit/>
          </a:bodyPr>
          <a:lstStyle/>
          <a:p>
            <a:r>
              <a:rPr lang="en-IN" dirty="0"/>
              <a:t>Request 2</a:t>
            </a:r>
          </a:p>
        </p:txBody>
      </p:sp>
    </p:spTree>
    <p:extLst>
      <p:ext uri="{BB962C8B-B14F-4D97-AF65-F5344CB8AC3E}">
        <p14:creationId xmlns:p14="http://schemas.microsoft.com/office/powerpoint/2010/main" val="1385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605F81-78BF-07DF-86E0-9B00576DD356}"/>
              </a:ext>
            </a:extLst>
          </p:cNvPr>
          <p:cNvSpPr txBox="1"/>
          <p:nvPr/>
        </p:nvSpPr>
        <p:spPr>
          <a:xfrm>
            <a:off x="262467" y="118533"/>
            <a:ext cx="11836400" cy="5909310"/>
          </a:xfrm>
          <a:prstGeom prst="rect">
            <a:avLst/>
          </a:prstGeom>
          <a:noFill/>
        </p:spPr>
        <p:txBody>
          <a:bodyPr wrap="square">
            <a:spAutoFit/>
          </a:bodyPr>
          <a:lstStyle/>
          <a:p>
            <a:pPr algn="ctr"/>
            <a:r>
              <a:rPr lang="en-IN" sz="1800" b="1" i="0" u="none" strike="noStrike" baseline="0" dirty="0">
                <a:latin typeface="T3Font_158"/>
              </a:rPr>
              <a:t>Server Side Rendering</a:t>
            </a:r>
            <a:endParaRPr lang="en-US" b="1" dirty="0"/>
          </a:p>
          <a:p>
            <a:r>
              <a:rPr lang="en-US" dirty="0"/>
              <a:t>Dynamic rendering, in a nutshell, enables the generation of dynamic content for each request, providing fresh and interactive experiences. If we have SSG and ISG, why do we need SSR? </a:t>
            </a:r>
          </a:p>
          <a:p>
            <a:r>
              <a:rPr lang="en-US" dirty="0"/>
              <a:t> Given the availability of Static Site Generation (SSG) and Incremental  Static Generation (ISG), one might wonder why Server Side Rendering (SSR) is still needed. </a:t>
            </a:r>
          </a:p>
          <a:p>
            <a:endParaRPr lang="en-US" dirty="0"/>
          </a:p>
          <a:p>
            <a:r>
              <a:rPr lang="en-US" dirty="0"/>
              <a:t>Both approaches offer valuable benefits, but their  suitability depends on specific use cases. SSR excels in situations where a website heavily relies on client-side interactivity and requires real-time updates. </a:t>
            </a:r>
          </a:p>
          <a:p>
            <a:r>
              <a:rPr lang="en-US" dirty="0"/>
              <a:t>It is particularly well-suited for authentication, real-time collaborative applications such as chat platforms, editing tools, and video streaming services.</a:t>
            </a:r>
          </a:p>
          <a:p>
            <a:endParaRPr lang="en-US" dirty="0"/>
          </a:p>
          <a:p>
            <a:r>
              <a:rPr lang="en-US" dirty="0"/>
              <a:t>SSR involves heavy server-side processing, where the server executes code for every individual request, generates the necessary HTML, and delivers the response along with the required JavaScript code for client-side interactivity.</a:t>
            </a:r>
          </a:p>
          <a:p>
            <a:r>
              <a:rPr lang="en-US" dirty="0"/>
              <a:t>Due to this dynamic nature, caching content responses becomes challenging, resulting in increased server load when compared to SSG or ISG. </a:t>
            </a:r>
          </a:p>
          <a:p>
            <a:r>
              <a:rPr lang="en-US" dirty="0"/>
              <a:t>However, the benefits </a:t>
            </a:r>
            <a:r>
              <a:rPr lang="en-US" b="1" dirty="0"/>
              <a:t>of real-time interactivity and up-to-date content make SSR a valuable choice for specific application requirements</a:t>
            </a:r>
            <a:r>
              <a:rPr lang="en-US" dirty="0"/>
              <a:t>. But hey, we have the freedom to choose any of these rendering techniques for any part of your page code! Yes, you read that right. By default, </a:t>
            </a:r>
            <a:r>
              <a:rPr lang="en-US" b="1" dirty="0">
                <a:highlight>
                  <a:srgbClr val="FFFF00"/>
                </a:highlight>
              </a:rPr>
              <a:t>Next.js uses Static Site Generation rendering</a:t>
            </a:r>
            <a:r>
              <a:rPr lang="en-US" dirty="0"/>
              <a:t>.</a:t>
            </a:r>
          </a:p>
          <a:p>
            <a:r>
              <a:rPr lang="en-US" dirty="0"/>
              <a:t>However, we can easily switch to Incremental Static Generation or Server Side Rendering as per our specific requirements for different parts of your application. </a:t>
            </a:r>
          </a:p>
          <a:p>
            <a:r>
              <a:rPr lang="en-US" dirty="0"/>
              <a:t>The flexibility of Next.js allows us to pick the most suitable rendering approach for each page of our website.</a:t>
            </a:r>
            <a:endParaRPr lang="en-IN" dirty="0"/>
          </a:p>
        </p:txBody>
      </p:sp>
    </p:spTree>
    <p:extLst>
      <p:ext uri="{BB962C8B-B14F-4D97-AF65-F5344CB8AC3E}">
        <p14:creationId xmlns:p14="http://schemas.microsoft.com/office/powerpoint/2010/main" val="419200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B95790-F4CB-4425-7A24-C209B142E0EB}"/>
              </a:ext>
            </a:extLst>
          </p:cNvPr>
          <p:cNvPicPr>
            <a:picLocks noChangeAspect="1"/>
          </p:cNvPicPr>
          <p:nvPr/>
        </p:nvPicPr>
        <p:blipFill>
          <a:blip r:embed="rId2"/>
          <a:stretch>
            <a:fillRect/>
          </a:stretch>
        </p:blipFill>
        <p:spPr>
          <a:xfrm>
            <a:off x="1498570" y="0"/>
            <a:ext cx="9194860" cy="6858000"/>
          </a:xfrm>
          <a:prstGeom prst="rect">
            <a:avLst/>
          </a:prstGeom>
        </p:spPr>
      </p:pic>
    </p:spTree>
    <p:extLst>
      <p:ext uri="{BB962C8B-B14F-4D97-AF65-F5344CB8AC3E}">
        <p14:creationId xmlns:p14="http://schemas.microsoft.com/office/powerpoint/2010/main" val="49486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64F9EB-9C5C-316F-BE2F-42B063D52401}"/>
              </a:ext>
            </a:extLst>
          </p:cNvPr>
          <p:cNvPicPr>
            <a:picLocks noChangeAspect="1"/>
          </p:cNvPicPr>
          <p:nvPr/>
        </p:nvPicPr>
        <p:blipFill>
          <a:blip r:embed="rId2"/>
          <a:stretch>
            <a:fillRect/>
          </a:stretch>
        </p:blipFill>
        <p:spPr>
          <a:xfrm>
            <a:off x="2428363" y="618733"/>
            <a:ext cx="7335274" cy="5620534"/>
          </a:xfrm>
          <a:prstGeom prst="rect">
            <a:avLst/>
          </a:prstGeom>
        </p:spPr>
      </p:pic>
    </p:spTree>
    <p:extLst>
      <p:ext uri="{BB962C8B-B14F-4D97-AF65-F5344CB8AC3E}">
        <p14:creationId xmlns:p14="http://schemas.microsoft.com/office/powerpoint/2010/main" val="38939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510194-E2F8-11C0-D03A-4D5ACEDB2681}"/>
              </a:ext>
            </a:extLst>
          </p:cNvPr>
          <p:cNvSpPr txBox="1"/>
          <p:nvPr/>
        </p:nvSpPr>
        <p:spPr>
          <a:xfrm>
            <a:off x="105833" y="79571"/>
            <a:ext cx="11980333"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sz="1800" b="0" i="0" u="none" strike="noStrike" baseline="0" dirty="0">
                <a:latin typeface="T3Font_138"/>
              </a:rPr>
              <a:t>With React Server Components, we directly do fetch or any operations that we want to do without any need for hooks.</a:t>
            </a:r>
          </a:p>
          <a:p>
            <a:pPr algn="l"/>
            <a:r>
              <a:rPr lang="en-US" sz="1800" b="0" i="0" u="none" strike="noStrike" baseline="0" dirty="0">
                <a:latin typeface="T3Font_138"/>
              </a:rPr>
              <a:t>For example, if we want to make a call to our database and get a list of</a:t>
            </a:r>
          </a:p>
          <a:p>
            <a:pPr algn="l"/>
            <a:r>
              <a:rPr lang="en-US" sz="1800" b="0" i="0" u="none" strike="noStrike" baseline="0" dirty="0">
                <a:latin typeface="T3Font_138"/>
              </a:rPr>
              <a:t>items, we can do this in RSC</a:t>
            </a:r>
            <a:endParaRPr lang="en-IN" dirty="0"/>
          </a:p>
        </p:txBody>
      </p:sp>
      <p:pic>
        <p:nvPicPr>
          <p:cNvPr id="7" name="Picture 6">
            <a:extLst>
              <a:ext uri="{FF2B5EF4-FFF2-40B4-BE49-F238E27FC236}">
                <a16:creationId xmlns:a16="http://schemas.microsoft.com/office/drawing/2014/main" id="{D879B9D9-936E-98A5-E464-1DB683EBCD05}"/>
              </a:ext>
            </a:extLst>
          </p:cNvPr>
          <p:cNvPicPr>
            <a:picLocks noChangeAspect="1"/>
          </p:cNvPicPr>
          <p:nvPr/>
        </p:nvPicPr>
        <p:blipFill>
          <a:blip r:embed="rId2"/>
          <a:stretch>
            <a:fillRect/>
          </a:stretch>
        </p:blipFill>
        <p:spPr>
          <a:xfrm>
            <a:off x="0" y="1002901"/>
            <a:ext cx="6654800" cy="4966352"/>
          </a:xfrm>
          <a:prstGeom prst="rect">
            <a:avLst/>
          </a:prstGeom>
        </p:spPr>
      </p:pic>
      <p:sp>
        <p:nvSpPr>
          <p:cNvPr id="12" name="TextBox 11">
            <a:extLst>
              <a:ext uri="{FF2B5EF4-FFF2-40B4-BE49-F238E27FC236}">
                <a16:creationId xmlns:a16="http://schemas.microsoft.com/office/drawing/2014/main" id="{76D17EAB-9D8A-BB03-9AD9-A713FB43C981}"/>
              </a:ext>
            </a:extLst>
          </p:cNvPr>
          <p:cNvSpPr txBox="1"/>
          <p:nvPr/>
        </p:nvSpPr>
        <p:spPr>
          <a:xfrm>
            <a:off x="7188200" y="1507067"/>
            <a:ext cx="4639733" cy="2677656"/>
          </a:xfrm>
          <a:prstGeom prst="rect">
            <a:avLst/>
          </a:prstGeom>
          <a:noFill/>
        </p:spPr>
        <p:txBody>
          <a:bodyPr wrap="square" rtlCol="0">
            <a:spAutoFit/>
          </a:bodyPr>
          <a:lstStyle/>
          <a:p>
            <a:r>
              <a:rPr lang="en-IN" sz="2800" dirty="0"/>
              <a:t>By Default , any kind of  components you’ll write in </a:t>
            </a:r>
            <a:r>
              <a:rPr lang="en-IN" sz="2800" dirty="0" err="1"/>
              <a:t>Next.Js</a:t>
            </a:r>
            <a:r>
              <a:rPr lang="en-IN" sz="2800" dirty="0"/>
              <a:t> are React Server Components which are guaranteed to run only on Server</a:t>
            </a:r>
          </a:p>
        </p:txBody>
      </p:sp>
    </p:spTree>
    <p:extLst>
      <p:ext uri="{BB962C8B-B14F-4D97-AF65-F5344CB8AC3E}">
        <p14:creationId xmlns:p14="http://schemas.microsoft.com/office/powerpoint/2010/main" val="2248742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6A3A91-E9EE-1866-FAE1-36247CB18E5D}"/>
              </a:ext>
            </a:extLst>
          </p:cNvPr>
          <p:cNvPicPr>
            <a:picLocks noChangeAspect="1"/>
          </p:cNvPicPr>
          <p:nvPr/>
        </p:nvPicPr>
        <p:blipFill>
          <a:blip r:embed="rId2"/>
          <a:stretch>
            <a:fillRect/>
          </a:stretch>
        </p:blipFill>
        <p:spPr>
          <a:xfrm>
            <a:off x="0" y="0"/>
            <a:ext cx="5525965" cy="6858000"/>
          </a:xfrm>
          <a:prstGeom prst="rect">
            <a:avLst/>
          </a:prstGeom>
        </p:spPr>
      </p:pic>
      <p:cxnSp>
        <p:nvCxnSpPr>
          <p:cNvPr id="8" name="Straight Arrow Connector 7">
            <a:extLst>
              <a:ext uri="{FF2B5EF4-FFF2-40B4-BE49-F238E27FC236}">
                <a16:creationId xmlns:a16="http://schemas.microsoft.com/office/drawing/2014/main" id="{3299C42C-4C6A-C0A7-D4E4-CA772D3DA971}"/>
              </a:ext>
            </a:extLst>
          </p:cNvPr>
          <p:cNvCxnSpPr/>
          <p:nvPr/>
        </p:nvCxnSpPr>
        <p:spPr>
          <a:xfrm>
            <a:off x="1608667" y="956733"/>
            <a:ext cx="49699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D5E325-C56E-9AA0-B387-E31D59A0C5EA}"/>
              </a:ext>
            </a:extLst>
          </p:cNvPr>
          <p:cNvSpPr txBox="1"/>
          <p:nvPr/>
        </p:nvSpPr>
        <p:spPr>
          <a:xfrm>
            <a:off x="6798733" y="829733"/>
            <a:ext cx="233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‘use client’</a:t>
            </a:r>
          </a:p>
        </p:txBody>
      </p:sp>
      <p:sp>
        <p:nvSpPr>
          <p:cNvPr id="10" name="TextBox 9">
            <a:extLst>
              <a:ext uri="{FF2B5EF4-FFF2-40B4-BE49-F238E27FC236}">
                <a16:creationId xmlns:a16="http://schemas.microsoft.com/office/drawing/2014/main" id="{7CE14EA4-559B-6EDA-1236-7E5C93CBCA44}"/>
              </a:ext>
            </a:extLst>
          </p:cNvPr>
          <p:cNvSpPr txBox="1"/>
          <p:nvPr/>
        </p:nvSpPr>
        <p:spPr>
          <a:xfrm>
            <a:off x="6493933" y="1413933"/>
            <a:ext cx="3852334" cy="646331"/>
          </a:xfrm>
          <a:prstGeom prst="rect">
            <a:avLst/>
          </a:prstGeom>
          <a:noFill/>
        </p:spPr>
        <p:txBody>
          <a:bodyPr wrap="square" rtlCol="0">
            <a:spAutoFit/>
          </a:bodyPr>
          <a:lstStyle/>
          <a:p>
            <a:r>
              <a:rPr lang="en-IN" dirty="0"/>
              <a:t>With this above line  this component run on client side</a:t>
            </a:r>
          </a:p>
        </p:txBody>
      </p:sp>
    </p:spTree>
    <p:extLst>
      <p:ext uri="{BB962C8B-B14F-4D97-AF65-F5344CB8AC3E}">
        <p14:creationId xmlns:p14="http://schemas.microsoft.com/office/powerpoint/2010/main" val="3359934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97F94A-E127-D0C1-8A04-CA37CBE45DD8}"/>
              </a:ext>
            </a:extLst>
          </p:cNvPr>
          <p:cNvSpPr txBox="1"/>
          <p:nvPr/>
        </p:nvSpPr>
        <p:spPr>
          <a:xfrm>
            <a:off x="645459" y="255494"/>
            <a:ext cx="11546541"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2400" dirty="0"/>
              <a:t>What if we need to refresh or reprocess the component or content every time a user send a request?</a:t>
            </a:r>
            <a:r>
              <a:rPr lang="en-IN" sz="2400" dirty="0">
                <a:sym typeface="Wingdings" panose="05000000000000000000" pitchFamily="2" charset="2"/>
              </a:rPr>
              <a:t></a:t>
            </a:r>
            <a:r>
              <a:rPr lang="en-IN" sz="2400" b="1" dirty="0">
                <a:sym typeface="Wingdings" panose="05000000000000000000" pitchFamily="2" charset="2"/>
              </a:rPr>
              <a:t>cache</a:t>
            </a:r>
            <a:endParaRPr lang="en-IN" sz="2400" b="1" dirty="0"/>
          </a:p>
        </p:txBody>
      </p:sp>
      <p:pic>
        <p:nvPicPr>
          <p:cNvPr id="6" name="Picture 5">
            <a:extLst>
              <a:ext uri="{FF2B5EF4-FFF2-40B4-BE49-F238E27FC236}">
                <a16:creationId xmlns:a16="http://schemas.microsoft.com/office/drawing/2014/main" id="{0245A826-8AB6-A52B-0E59-A62A83715EA2}"/>
              </a:ext>
            </a:extLst>
          </p:cNvPr>
          <p:cNvPicPr>
            <a:picLocks noChangeAspect="1"/>
          </p:cNvPicPr>
          <p:nvPr/>
        </p:nvPicPr>
        <p:blipFill>
          <a:blip r:embed="rId2"/>
          <a:stretch>
            <a:fillRect/>
          </a:stretch>
        </p:blipFill>
        <p:spPr>
          <a:xfrm>
            <a:off x="104813" y="1003543"/>
            <a:ext cx="7020905" cy="4105848"/>
          </a:xfrm>
          <a:prstGeom prst="rect">
            <a:avLst/>
          </a:prstGeom>
        </p:spPr>
      </p:pic>
      <p:pic>
        <p:nvPicPr>
          <p:cNvPr id="8" name="Picture 7">
            <a:extLst>
              <a:ext uri="{FF2B5EF4-FFF2-40B4-BE49-F238E27FC236}">
                <a16:creationId xmlns:a16="http://schemas.microsoft.com/office/drawing/2014/main" id="{938CAF62-18AF-CC60-12CA-23E68CB471A9}"/>
              </a:ext>
            </a:extLst>
          </p:cNvPr>
          <p:cNvPicPr>
            <a:picLocks noChangeAspect="1"/>
          </p:cNvPicPr>
          <p:nvPr/>
        </p:nvPicPr>
        <p:blipFill>
          <a:blip r:embed="rId3"/>
          <a:srcRect l="12333" t="1599" r="12904" b="1"/>
          <a:stretch/>
        </p:blipFill>
        <p:spPr>
          <a:xfrm>
            <a:off x="5367867" y="2496658"/>
            <a:ext cx="6637868" cy="4105848"/>
          </a:xfrm>
          <a:prstGeom prst="rect">
            <a:avLst/>
          </a:prstGeom>
        </p:spPr>
      </p:pic>
    </p:spTree>
    <p:extLst>
      <p:ext uri="{BB962C8B-B14F-4D97-AF65-F5344CB8AC3E}">
        <p14:creationId xmlns:p14="http://schemas.microsoft.com/office/powerpoint/2010/main" val="1910899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agram showing how cached and uncached fetch requests interact with the Data Cache. Cached requests are stored in the Data Cache, and memoized, uncached requests are fetched from the data source, not stored in the Data Cache, and memoized.">
            <a:extLst>
              <a:ext uri="{FF2B5EF4-FFF2-40B4-BE49-F238E27FC236}">
                <a16:creationId xmlns:a16="http://schemas.microsoft.com/office/drawing/2014/main" id="{FAA0B48B-D004-DD10-24AC-3BBD4186B6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45" t="598" r="7778"/>
          <a:stretch/>
        </p:blipFill>
        <p:spPr bwMode="auto">
          <a:xfrm>
            <a:off x="211666" y="143933"/>
            <a:ext cx="6382596" cy="31665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D198B8-FF8B-44BC-0095-3CFC43FBC53D}"/>
              </a:ext>
            </a:extLst>
          </p:cNvPr>
          <p:cNvSpPr txBox="1"/>
          <p:nvPr/>
        </p:nvSpPr>
        <p:spPr>
          <a:xfrm>
            <a:off x="118532" y="3789107"/>
            <a:ext cx="12073467"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first time a fetch request with the 'force-cache' option is called during rendering, Next.js checks the Data Cache for a cached response.</a:t>
            </a:r>
          </a:p>
          <a:p>
            <a:r>
              <a:rPr lang="en-US" dirty="0"/>
              <a:t>If a cached response is found, it's returned immediately and </a:t>
            </a:r>
            <a:r>
              <a:rPr lang="en-US" dirty="0" err="1"/>
              <a:t>memoized</a:t>
            </a:r>
            <a:r>
              <a:rPr lang="en-US" dirty="0"/>
              <a:t>.</a:t>
            </a:r>
          </a:p>
          <a:p>
            <a:r>
              <a:rPr lang="en-US" dirty="0"/>
              <a:t>If a cached response is not found, the request is made to the data source, the result is stored in the Data Cache, and </a:t>
            </a:r>
            <a:r>
              <a:rPr lang="en-US" dirty="0" err="1"/>
              <a:t>memoized</a:t>
            </a:r>
            <a:r>
              <a:rPr lang="en-US" dirty="0"/>
              <a:t>.</a:t>
            </a:r>
          </a:p>
          <a:p>
            <a:r>
              <a:rPr lang="en-US" dirty="0"/>
              <a:t>For </a:t>
            </a:r>
            <a:r>
              <a:rPr lang="en-US" dirty="0" err="1"/>
              <a:t>uncached</a:t>
            </a:r>
            <a:r>
              <a:rPr lang="en-US" dirty="0"/>
              <a:t> data (e.g. no cache option defined or using { cache: 'no-store' }), the result is always fetched from the data source, and </a:t>
            </a:r>
            <a:r>
              <a:rPr lang="en-US" dirty="0" err="1"/>
              <a:t>memoized</a:t>
            </a:r>
            <a:r>
              <a:rPr lang="en-US" dirty="0"/>
              <a:t>.</a:t>
            </a:r>
          </a:p>
          <a:p>
            <a:r>
              <a:rPr lang="en-US" dirty="0"/>
              <a:t>Whether the data is cached or </a:t>
            </a:r>
            <a:r>
              <a:rPr lang="en-US" dirty="0" err="1"/>
              <a:t>uncached</a:t>
            </a:r>
            <a:r>
              <a:rPr lang="en-US" dirty="0"/>
              <a:t>, the requests are always </a:t>
            </a:r>
            <a:r>
              <a:rPr lang="en-US" dirty="0" err="1"/>
              <a:t>memoized</a:t>
            </a:r>
            <a:r>
              <a:rPr lang="en-US" dirty="0"/>
              <a:t> to avoid making duplicate requests for the same data during a React render pass.</a:t>
            </a:r>
            <a:endParaRPr lang="en-IN" dirty="0"/>
          </a:p>
        </p:txBody>
      </p:sp>
    </p:spTree>
    <p:extLst>
      <p:ext uri="{BB962C8B-B14F-4D97-AF65-F5344CB8AC3E}">
        <p14:creationId xmlns:p14="http://schemas.microsoft.com/office/powerpoint/2010/main" val="1154241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C859BB-EEBA-B8B0-923B-4526EC025D04}"/>
              </a:ext>
            </a:extLst>
          </p:cNvPr>
          <p:cNvSpPr txBox="1"/>
          <p:nvPr/>
        </p:nvSpPr>
        <p:spPr>
          <a:xfrm>
            <a:off x="0" y="0"/>
            <a:ext cx="11607800" cy="1754326"/>
          </a:xfrm>
          <a:prstGeom prst="rect">
            <a:avLst/>
          </a:prstGeom>
          <a:noFill/>
        </p:spPr>
        <p:txBody>
          <a:bodyPr wrap="square">
            <a:spAutoFit/>
          </a:bodyPr>
          <a:lstStyle/>
          <a:p>
            <a:pPr algn="ctr"/>
            <a:r>
              <a:rPr lang="en-US" sz="1800" b="1" i="0" u="none" strike="noStrike" baseline="0" dirty="0">
                <a:latin typeface="T3Font_94"/>
              </a:rPr>
              <a:t>Time Based cache</a:t>
            </a:r>
          </a:p>
          <a:p>
            <a:pPr algn="l"/>
            <a:r>
              <a:rPr lang="en-US" sz="1800" b="0" i="0" u="none" strike="noStrike" baseline="0" dirty="0">
                <a:latin typeface="T3Font_94"/>
              </a:rPr>
              <a:t>The whole basis of these rendering strategies is to cache the data </a:t>
            </a:r>
            <a:r>
              <a:rPr lang="en-IN" sz="1800" b="0" i="0" u="none" strike="noStrike" baseline="0" dirty="0">
                <a:latin typeface="T3Font_94"/>
              </a:rPr>
              <a:t>depending on time.</a:t>
            </a:r>
          </a:p>
          <a:p>
            <a:pPr algn="l"/>
            <a:r>
              <a:rPr lang="en-US" sz="1800" b="0" i="0" u="none" strike="noStrike" baseline="0" dirty="0">
                <a:latin typeface="T3Font_94"/>
              </a:rPr>
              <a:t>We know that by default, Next.js uses Static Site Generation, which caches everything. </a:t>
            </a:r>
          </a:p>
          <a:p>
            <a:pPr algn="l"/>
            <a:endParaRPr lang="en-US" sz="1800" b="0" i="0" u="none" strike="noStrike" baseline="0" dirty="0">
              <a:latin typeface="T3Font_94"/>
            </a:endParaRPr>
          </a:p>
          <a:p>
            <a:pPr algn="l"/>
            <a:r>
              <a:rPr lang="en-US" sz="1800" b="0" i="0" u="none" strike="noStrike" baseline="0" dirty="0">
                <a:latin typeface="T3Font_94"/>
              </a:rPr>
              <a:t>So what if we define this method at the time we want? </a:t>
            </a:r>
          </a:p>
          <a:p>
            <a:pPr algn="l"/>
            <a:r>
              <a:rPr lang="en-US" sz="1800" b="0" i="0" u="none" strike="noStrike" baseline="0" dirty="0">
                <a:latin typeface="T3Font_94"/>
              </a:rPr>
              <a:t>Means, revalidate the cache whenever we want to.</a:t>
            </a:r>
          </a:p>
        </p:txBody>
      </p:sp>
      <p:pic>
        <p:nvPicPr>
          <p:cNvPr id="9" name="Picture 8">
            <a:extLst>
              <a:ext uri="{FF2B5EF4-FFF2-40B4-BE49-F238E27FC236}">
                <a16:creationId xmlns:a16="http://schemas.microsoft.com/office/drawing/2014/main" id="{A150D073-4A55-D512-46A2-2415F2A499FA}"/>
              </a:ext>
            </a:extLst>
          </p:cNvPr>
          <p:cNvPicPr>
            <a:picLocks noChangeAspect="1"/>
          </p:cNvPicPr>
          <p:nvPr/>
        </p:nvPicPr>
        <p:blipFill>
          <a:blip r:embed="rId2"/>
          <a:stretch>
            <a:fillRect/>
          </a:stretch>
        </p:blipFill>
        <p:spPr>
          <a:xfrm>
            <a:off x="169334" y="4183678"/>
            <a:ext cx="7182852" cy="2800741"/>
          </a:xfrm>
          <a:prstGeom prst="rect">
            <a:avLst/>
          </a:prstGeom>
        </p:spPr>
      </p:pic>
      <p:pic>
        <p:nvPicPr>
          <p:cNvPr id="11" name="Picture 10">
            <a:extLst>
              <a:ext uri="{FF2B5EF4-FFF2-40B4-BE49-F238E27FC236}">
                <a16:creationId xmlns:a16="http://schemas.microsoft.com/office/drawing/2014/main" id="{CBFDF3AE-7BF4-8F94-7BED-729C36F6B382}"/>
              </a:ext>
            </a:extLst>
          </p:cNvPr>
          <p:cNvPicPr>
            <a:picLocks noChangeAspect="1"/>
          </p:cNvPicPr>
          <p:nvPr/>
        </p:nvPicPr>
        <p:blipFill>
          <a:blip r:embed="rId3"/>
          <a:stretch>
            <a:fillRect/>
          </a:stretch>
        </p:blipFill>
        <p:spPr>
          <a:xfrm>
            <a:off x="5985933" y="963564"/>
            <a:ext cx="6475895" cy="3787282"/>
          </a:xfrm>
          <a:prstGeom prst="rect">
            <a:avLst/>
          </a:prstGeom>
        </p:spPr>
      </p:pic>
      <p:sp>
        <p:nvSpPr>
          <p:cNvPr id="12" name="TextBox 11">
            <a:extLst>
              <a:ext uri="{FF2B5EF4-FFF2-40B4-BE49-F238E27FC236}">
                <a16:creationId xmlns:a16="http://schemas.microsoft.com/office/drawing/2014/main" id="{2E540FB8-FD2B-8DE8-4929-BAE68040931F}"/>
              </a:ext>
            </a:extLst>
          </p:cNvPr>
          <p:cNvSpPr txBox="1"/>
          <p:nvPr/>
        </p:nvSpPr>
        <p:spPr>
          <a:xfrm>
            <a:off x="423333" y="2283089"/>
            <a:ext cx="5562599"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This code will not cache anything and every request will hit the server and get fresh data</a:t>
            </a:r>
          </a:p>
        </p:txBody>
      </p:sp>
    </p:spTree>
    <p:extLst>
      <p:ext uri="{BB962C8B-B14F-4D97-AF65-F5344CB8AC3E}">
        <p14:creationId xmlns:p14="http://schemas.microsoft.com/office/powerpoint/2010/main" val="410108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iagram showing how time-based revalidation works, after the revalidation period, stale data is returned for the first request, then data is revalidated.">
            <a:extLst>
              <a:ext uri="{FF2B5EF4-FFF2-40B4-BE49-F238E27FC236}">
                <a16:creationId xmlns:a16="http://schemas.microsoft.com/office/drawing/2014/main" id="{2BB962E8-F18B-3D6C-F27D-53C6E7C3B2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14" r="4891" b="1621"/>
          <a:stretch/>
        </p:blipFill>
        <p:spPr bwMode="auto">
          <a:xfrm>
            <a:off x="338665" y="457200"/>
            <a:ext cx="6273801" cy="55964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BE13830-8720-2F01-BF6C-EAED2F771CAB}"/>
              </a:ext>
            </a:extLst>
          </p:cNvPr>
          <p:cNvSpPr txBox="1"/>
          <p:nvPr/>
        </p:nvSpPr>
        <p:spPr>
          <a:xfrm>
            <a:off x="6612466" y="380074"/>
            <a:ext cx="5503334" cy="5078313"/>
          </a:xfrm>
          <a:prstGeom prst="rect">
            <a:avLst/>
          </a:prstGeom>
          <a:noFill/>
        </p:spPr>
        <p:txBody>
          <a:bodyPr wrap="square">
            <a:spAutoFit/>
          </a:bodyPr>
          <a:lstStyle/>
          <a:p>
            <a:r>
              <a:rPr lang="en-US" dirty="0"/>
              <a:t>The first time a fetch request with revalidate is called, the data will be fetched from the external data source and stored in the Data Cache.</a:t>
            </a:r>
          </a:p>
          <a:p>
            <a:endParaRPr lang="en-US" dirty="0"/>
          </a:p>
          <a:p>
            <a:r>
              <a:rPr lang="en-US" dirty="0"/>
              <a:t>Any requests that are called within the specified timeframe (e.g. 60-seconds) will return the cached data.</a:t>
            </a:r>
          </a:p>
          <a:p>
            <a:r>
              <a:rPr lang="en-US" dirty="0"/>
              <a:t>After the timeframe, the next request will still return the cached (now stale) data.</a:t>
            </a:r>
          </a:p>
          <a:p>
            <a:endParaRPr lang="en-US" dirty="0"/>
          </a:p>
          <a:p>
            <a:r>
              <a:rPr lang="en-US" dirty="0"/>
              <a:t>Next.js will trigger a revalidation of the data in the background.</a:t>
            </a:r>
          </a:p>
          <a:p>
            <a:endParaRPr lang="en-US" dirty="0"/>
          </a:p>
          <a:p>
            <a:r>
              <a:rPr lang="en-US" dirty="0"/>
              <a:t>Once the data is fetched successfully, Next.js will update the Data Cache with the fresh data.</a:t>
            </a:r>
          </a:p>
          <a:p>
            <a:r>
              <a:rPr lang="en-US" dirty="0"/>
              <a:t>If the background revalidation fails, the previous data will be kept </a:t>
            </a:r>
            <a:r>
              <a:rPr lang="en-US"/>
              <a:t>unaltered.</a:t>
            </a:r>
          </a:p>
          <a:p>
            <a:endParaRPr lang="en-US" dirty="0"/>
          </a:p>
          <a:p>
            <a:r>
              <a:rPr lang="en-US" dirty="0"/>
              <a:t>This is similar to stale-while-revalidate behavior.</a:t>
            </a:r>
            <a:endParaRPr lang="en-IN" dirty="0"/>
          </a:p>
        </p:txBody>
      </p:sp>
    </p:spTree>
    <p:extLst>
      <p:ext uri="{BB962C8B-B14F-4D97-AF65-F5344CB8AC3E}">
        <p14:creationId xmlns:p14="http://schemas.microsoft.com/office/powerpoint/2010/main" val="3699198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5BAE3F-B827-FB81-41CF-4B1EE4B58C1D}"/>
              </a:ext>
            </a:extLst>
          </p:cNvPr>
          <p:cNvPicPr>
            <a:picLocks noChangeAspect="1"/>
          </p:cNvPicPr>
          <p:nvPr/>
        </p:nvPicPr>
        <p:blipFill>
          <a:blip r:embed="rId2"/>
          <a:stretch>
            <a:fillRect/>
          </a:stretch>
        </p:blipFill>
        <p:spPr>
          <a:xfrm>
            <a:off x="333667" y="93133"/>
            <a:ext cx="5936665" cy="6858000"/>
          </a:xfrm>
          <a:prstGeom prst="rect">
            <a:avLst/>
          </a:prstGeom>
        </p:spPr>
      </p:pic>
    </p:spTree>
    <p:extLst>
      <p:ext uri="{BB962C8B-B14F-4D97-AF65-F5344CB8AC3E}">
        <p14:creationId xmlns:p14="http://schemas.microsoft.com/office/powerpoint/2010/main" val="282153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B0B28-8AF8-BB1D-706C-71C8E7A4977D}"/>
              </a:ext>
            </a:extLst>
          </p:cNvPr>
          <p:cNvSpPr>
            <a:spLocks noGrp="1"/>
          </p:cNvSpPr>
          <p:nvPr>
            <p:ph type="title"/>
          </p:nvPr>
        </p:nvSpPr>
        <p:spPr>
          <a:xfrm>
            <a:off x="838200" y="157162"/>
            <a:ext cx="9677400" cy="523875"/>
          </a:xfrm>
        </p:spPr>
        <p:txBody>
          <a:bodyPr>
            <a:normAutofit fontScale="90000"/>
          </a:bodyPr>
          <a:lstStyle/>
          <a:p>
            <a:r>
              <a:rPr lang="en-IN" dirty="0"/>
              <a:t>PPR</a:t>
            </a:r>
            <a:r>
              <a:rPr lang="en-IN" dirty="0">
                <a:sym typeface="Wingdings" panose="05000000000000000000" pitchFamily="2" charset="2"/>
              </a:rPr>
              <a:t> Partial pre rendering</a:t>
            </a:r>
            <a:endParaRPr lang="en-IN" dirty="0"/>
          </a:p>
        </p:txBody>
      </p:sp>
      <p:sp>
        <p:nvSpPr>
          <p:cNvPr id="3" name="Content Placeholder 2">
            <a:extLst>
              <a:ext uri="{FF2B5EF4-FFF2-40B4-BE49-F238E27FC236}">
                <a16:creationId xmlns:a16="http://schemas.microsoft.com/office/drawing/2014/main" id="{C70AFEAE-1C7B-B4B0-BE65-82264C4F2AB4}"/>
              </a:ext>
            </a:extLst>
          </p:cNvPr>
          <p:cNvSpPr>
            <a:spLocks noGrp="1"/>
          </p:cNvSpPr>
          <p:nvPr>
            <p:ph idx="1"/>
          </p:nvPr>
        </p:nvSpPr>
        <p:spPr>
          <a:xfrm>
            <a:off x="402166" y="767292"/>
            <a:ext cx="10515600" cy="1950508"/>
          </a:xfrm>
        </p:spPr>
        <p:txBody>
          <a:bodyPr/>
          <a:lstStyle/>
          <a:p>
            <a:pPr marL="514350" indent="-514350">
              <a:buAutoNum type="arabicPeriod"/>
            </a:pPr>
            <a:r>
              <a:rPr lang="en-IN" dirty="0"/>
              <a:t>Layout page can be static and SSG(static site generation) at built time</a:t>
            </a:r>
          </a:p>
          <a:p>
            <a:pPr marL="514350" indent="-514350">
              <a:buAutoNum type="arabicPeriod"/>
            </a:pPr>
            <a:r>
              <a:rPr lang="en-IN" dirty="0"/>
              <a:t>Some data may get loaded on demand basis so it can be SSR(Server side react component)</a:t>
            </a:r>
          </a:p>
        </p:txBody>
      </p:sp>
      <p:pic>
        <p:nvPicPr>
          <p:cNvPr id="5" name="Picture 4">
            <a:extLst>
              <a:ext uri="{FF2B5EF4-FFF2-40B4-BE49-F238E27FC236}">
                <a16:creationId xmlns:a16="http://schemas.microsoft.com/office/drawing/2014/main" id="{C26BC497-00D2-774A-E6C8-FA0B57DDA460}"/>
              </a:ext>
            </a:extLst>
          </p:cNvPr>
          <p:cNvPicPr>
            <a:picLocks noChangeAspect="1"/>
          </p:cNvPicPr>
          <p:nvPr/>
        </p:nvPicPr>
        <p:blipFill>
          <a:blip r:embed="rId2"/>
          <a:stretch>
            <a:fillRect/>
          </a:stretch>
        </p:blipFill>
        <p:spPr>
          <a:xfrm>
            <a:off x="541867" y="2964779"/>
            <a:ext cx="5740400" cy="3571099"/>
          </a:xfrm>
          <a:prstGeom prst="rect">
            <a:avLst/>
          </a:prstGeom>
        </p:spPr>
      </p:pic>
    </p:spTree>
    <p:extLst>
      <p:ext uri="{BB962C8B-B14F-4D97-AF65-F5344CB8AC3E}">
        <p14:creationId xmlns:p14="http://schemas.microsoft.com/office/powerpoint/2010/main" val="3804085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F83945C-F0FC-119C-32FE-C04C4C5C60B0}"/>
              </a:ext>
            </a:extLst>
          </p:cNvPr>
          <p:cNvGraphicFramePr>
            <a:graphicFrameLocks noGrp="1"/>
          </p:cNvGraphicFramePr>
          <p:nvPr>
            <p:extLst>
              <p:ext uri="{D42A27DB-BD31-4B8C-83A1-F6EECF244321}">
                <p14:modId xmlns:p14="http://schemas.microsoft.com/office/powerpoint/2010/main" val="94031030"/>
              </p:ext>
            </p:extLst>
          </p:nvPr>
        </p:nvGraphicFramePr>
        <p:xfrm>
          <a:off x="846666" y="496332"/>
          <a:ext cx="9787465" cy="4900373"/>
        </p:xfrm>
        <a:graphic>
          <a:graphicData uri="http://schemas.openxmlformats.org/drawingml/2006/table">
            <a:tbl>
              <a:tblPr/>
              <a:tblGrid>
                <a:gridCol w="1957493">
                  <a:extLst>
                    <a:ext uri="{9D8B030D-6E8A-4147-A177-3AD203B41FA5}">
                      <a16:colId xmlns:a16="http://schemas.microsoft.com/office/drawing/2014/main" val="3496151219"/>
                    </a:ext>
                  </a:extLst>
                </a:gridCol>
                <a:gridCol w="1957493">
                  <a:extLst>
                    <a:ext uri="{9D8B030D-6E8A-4147-A177-3AD203B41FA5}">
                      <a16:colId xmlns:a16="http://schemas.microsoft.com/office/drawing/2014/main" val="591879976"/>
                    </a:ext>
                  </a:extLst>
                </a:gridCol>
                <a:gridCol w="1957493">
                  <a:extLst>
                    <a:ext uri="{9D8B030D-6E8A-4147-A177-3AD203B41FA5}">
                      <a16:colId xmlns:a16="http://schemas.microsoft.com/office/drawing/2014/main" val="2728010935"/>
                    </a:ext>
                  </a:extLst>
                </a:gridCol>
                <a:gridCol w="1957493">
                  <a:extLst>
                    <a:ext uri="{9D8B030D-6E8A-4147-A177-3AD203B41FA5}">
                      <a16:colId xmlns:a16="http://schemas.microsoft.com/office/drawing/2014/main" val="1903454604"/>
                    </a:ext>
                  </a:extLst>
                </a:gridCol>
                <a:gridCol w="1957493">
                  <a:extLst>
                    <a:ext uri="{9D8B030D-6E8A-4147-A177-3AD203B41FA5}">
                      <a16:colId xmlns:a16="http://schemas.microsoft.com/office/drawing/2014/main" val="4224369754"/>
                    </a:ext>
                  </a:extLst>
                </a:gridCol>
              </a:tblGrid>
              <a:tr h="383633">
                <a:tc>
                  <a:txBody>
                    <a:bodyPr/>
                    <a:lstStyle/>
                    <a:p>
                      <a:pPr algn="l" fontAlgn="b"/>
                      <a:r>
                        <a:rPr lang="en-IN" sz="1800" b="1" dirty="0">
                          <a:effectLst/>
                        </a:rPr>
                        <a:t>Mechanism</a:t>
                      </a:r>
                    </a:p>
                  </a:txBody>
                  <a:tcPr marL="48891" marR="48891" marT="24446" marB="24446" anchor="b">
                    <a:lnL w="12700" cap="flat" cmpd="sng" algn="ctr">
                      <a:solidFill>
                        <a:srgbClr val="7027AD"/>
                      </a:solidFill>
                      <a:prstDash val="solid"/>
                      <a:round/>
                      <a:headEnd type="none" w="med" len="med"/>
                      <a:tailEnd type="none" w="med" len="med"/>
                    </a:lnL>
                    <a:lnR w="12700" cap="flat" cmpd="sng" algn="ctr">
                      <a:solidFill>
                        <a:srgbClr val="3028AD"/>
                      </a:solidFill>
                      <a:prstDash val="solid"/>
                      <a:round/>
                      <a:headEnd type="none" w="med" len="med"/>
                      <a:tailEnd type="none" w="med" len="med"/>
                    </a:lnR>
                    <a:lnT w="12700" cap="flat" cmpd="sng" algn="ctr">
                      <a:solidFill>
                        <a:srgbClr val="7027AD"/>
                      </a:solidFill>
                      <a:prstDash val="solid"/>
                      <a:round/>
                      <a:headEnd type="none" w="med" len="med"/>
                      <a:tailEnd type="none" w="med" len="med"/>
                    </a:lnT>
                    <a:lnB w="12700" cap="flat" cmpd="sng" algn="ctr">
                      <a:solidFill>
                        <a:srgbClr val="B03CAD"/>
                      </a:solidFill>
                      <a:prstDash val="solid"/>
                      <a:round/>
                      <a:headEnd type="none" w="med" len="med"/>
                      <a:tailEnd type="none" w="med" len="med"/>
                    </a:lnB>
                    <a:solidFill>
                      <a:srgbClr val="FFFFFF"/>
                    </a:solidFill>
                  </a:tcPr>
                </a:tc>
                <a:tc>
                  <a:txBody>
                    <a:bodyPr/>
                    <a:lstStyle/>
                    <a:p>
                      <a:pPr algn="l" fontAlgn="b"/>
                      <a:r>
                        <a:rPr lang="en-IN" sz="1800" b="1" dirty="0">
                          <a:effectLst/>
                        </a:rPr>
                        <a:t>What</a:t>
                      </a:r>
                    </a:p>
                  </a:txBody>
                  <a:tcPr marL="48891" marR="48891" marT="24446" marB="24446" anchor="b">
                    <a:lnL w="12700" cap="flat" cmpd="sng" algn="ctr">
                      <a:solidFill>
                        <a:srgbClr val="3028AD"/>
                      </a:solidFill>
                      <a:prstDash val="solid"/>
                      <a:round/>
                      <a:headEnd type="none" w="med" len="med"/>
                      <a:tailEnd type="none" w="med" len="med"/>
                    </a:lnL>
                    <a:lnR w="12700" cap="flat" cmpd="sng" algn="ctr">
                      <a:solidFill>
                        <a:srgbClr val="B025AD"/>
                      </a:solidFill>
                      <a:prstDash val="solid"/>
                      <a:round/>
                      <a:headEnd type="none" w="med" len="med"/>
                      <a:tailEnd type="none" w="med" len="med"/>
                    </a:lnR>
                    <a:lnT w="12700" cap="flat" cmpd="sng" algn="ctr">
                      <a:solidFill>
                        <a:srgbClr val="3028AD"/>
                      </a:solidFill>
                      <a:prstDash val="solid"/>
                      <a:round/>
                      <a:headEnd type="none" w="med" len="med"/>
                      <a:tailEnd type="none" w="med" len="med"/>
                    </a:lnT>
                    <a:lnB w="12700" cap="flat" cmpd="sng" algn="ctr">
                      <a:solidFill>
                        <a:srgbClr val="B031AD"/>
                      </a:solidFill>
                      <a:prstDash val="solid"/>
                      <a:round/>
                      <a:headEnd type="none" w="med" len="med"/>
                      <a:tailEnd type="none" w="med" len="med"/>
                    </a:lnB>
                    <a:solidFill>
                      <a:srgbClr val="FFFFFF"/>
                    </a:solidFill>
                  </a:tcPr>
                </a:tc>
                <a:tc>
                  <a:txBody>
                    <a:bodyPr/>
                    <a:lstStyle/>
                    <a:p>
                      <a:pPr algn="l" fontAlgn="b"/>
                      <a:r>
                        <a:rPr lang="en-IN" sz="1800" b="1">
                          <a:effectLst/>
                        </a:rPr>
                        <a:t>Where</a:t>
                      </a:r>
                    </a:p>
                  </a:txBody>
                  <a:tcPr marL="48891" marR="48891" marT="24446" marB="24446" anchor="b">
                    <a:lnL w="12700" cap="flat" cmpd="sng" algn="ctr">
                      <a:solidFill>
                        <a:srgbClr val="B025AD"/>
                      </a:solidFill>
                      <a:prstDash val="solid"/>
                      <a:round/>
                      <a:headEnd type="none" w="med" len="med"/>
                      <a:tailEnd type="none" w="med" len="med"/>
                    </a:lnL>
                    <a:lnR w="12700" cap="flat" cmpd="sng" algn="ctr">
                      <a:solidFill>
                        <a:srgbClr val="3022AD"/>
                      </a:solidFill>
                      <a:prstDash val="solid"/>
                      <a:round/>
                      <a:headEnd type="none" w="med" len="med"/>
                      <a:tailEnd type="none" w="med" len="med"/>
                    </a:lnR>
                    <a:lnT w="12700" cap="flat" cmpd="sng" algn="ctr">
                      <a:solidFill>
                        <a:srgbClr val="B025AD"/>
                      </a:solidFill>
                      <a:prstDash val="solid"/>
                      <a:round/>
                      <a:headEnd type="none" w="med" len="med"/>
                      <a:tailEnd type="none" w="med" len="med"/>
                    </a:lnT>
                    <a:lnB w="12700" cap="flat" cmpd="sng" algn="ctr">
                      <a:solidFill>
                        <a:srgbClr val="B033AD"/>
                      </a:solidFill>
                      <a:prstDash val="solid"/>
                      <a:round/>
                      <a:headEnd type="none" w="med" len="med"/>
                      <a:tailEnd type="none" w="med" len="med"/>
                    </a:lnB>
                    <a:solidFill>
                      <a:srgbClr val="FFFFFF"/>
                    </a:solidFill>
                  </a:tcPr>
                </a:tc>
                <a:tc>
                  <a:txBody>
                    <a:bodyPr/>
                    <a:lstStyle/>
                    <a:p>
                      <a:pPr algn="l" fontAlgn="b"/>
                      <a:r>
                        <a:rPr lang="en-IN" sz="1800" b="1">
                          <a:effectLst/>
                        </a:rPr>
                        <a:t>Purpose</a:t>
                      </a:r>
                    </a:p>
                  </a:txBody>
                  <a:tcPr marL="48891" marR="48891" marT="24446" marB="24446" anchor="b">
                    <a:lnL w="12700" cap="flat" cmpd="sng" algn="ctr">
                      <a:solidFill>
                        <a:srgbClr val="3022AD"/>
                      </a:solidFill>
                      <a:prstDash val="solid"/>
                      <a:round/>
                      <a:headEnd type="none" w="med" len="med"/>
                      <a:tailEnd type="none" w="med" len="med"/>
                    </a:lnL>
                    <a:lnR w="12700" cap="flat" cmpd="sng" algn="ctr">
                      <a:solidFill>
                        <a:srgbClr val="F029AD"/>
                      </a:solidFill>
                      <a:prstDash val="solid"/>
                      <a:round/>
                      <a:headEnd type="none" w="med" len="med"/>
                      <a:tailEnd type="none" w="med" len="med"/>
                    </a:lnR>
                    <a:lnT w="12700" cap="flat" cmpd="sng" algn="ctr">
                      <a:solidFill>
                        <a:srgbClr val="3022AD"/>
                      </a:solidFill>
                      <a:prstDash val="solid"/>
                      <a:round/>
                      <a:headEnd type="none" w="med" len="med"/>
                      <a:tailEnd type="none" w="med" len="med"/>
                    </a:lnT>
                    <a:lnB w="12700" cap="flat" cmpd="sng" algn="ctr">
                      <a:solidFill>
                        <a:srgbClr val="303EAD"/>
                      </a:solidFill>
                      <a:prstDash val="solid"/>
                      <a:round/>
                      <a:headEnd type="none" w="med" len="med"/>
                      <a:tailEnd type="none" w="med" len="med"/>
                    </a:lnB>
                    <a:solidFill>
                      <a:srgbClr val="FFFFFF"/>
                    </a:solidFill>
                  </a:tcPr>
                </a:tc>
                <a:tc>
                  <a:txBody>
                    <a:bodyPr/>
                    <a:lstStyle/>
                    <a:p>
                      <a:pPr algn="l" fontAlgn="b"/>
                      <a:r>
                        <a:rPr lang="en-IN" sz="1800" b="1">
                          <a:effectLst/>
                        </a:rPr>
                        <a:t>Duration</a:t>
                      </a:r>
                    </a:p>
                  </a:txBody>
                  <a:tcPr marL="48891" marR="48891" marT="24446" marB="24446" anchor="b">
                    <a:lnL w="12700" cap="flat" cmpd="sng" algn="ctr">
                      <a:solidFill>
                        <a:srgbClr val="F029AD"/>
                      </a:solidFill>
                      <a:prstDash val="solid"/>
                      <a:round/>
                      <a:headEnd type="none" w="med" len="med"/>
                      <a:tailEnd type="none" w="med" len="med"/>
                    </a:lnL>
                    <a:lnR w="12700" cap="flat" cmpd="sng" algn="ctr">
                      <a:solidFill>
                        <a:srgbClr val="F029AD"/>
                      </a:solidFill>
                      <a:prstDash val="solid"/>
                      <a:round/>
                      <a:headEnd type="none" w="med" len="med"/>
                      <a:tailEnd type="none" w="med" len="med"/>
                    </a:lnR>
                    <a:lnT w="12700" cap="flat" cmpd="sng" algn="ctr">
                      <a:solidFill>
                        <a:srgbClr val="F029AD"/>
                      </a:solidFill>
                      <a:prstDash val="solid"/>
                      <a:round/>
                      <a:headEnd type="none" w="med" len="med"/>
                      <a:tailEnd type="none" w="med" len="med"/>
                    </a:lnT>
                    <a:lnB w="12700" cap="flat" cmpd="sng" algn="ctr">
                      <a:solidFill>
                        <a:srgbClr val="F048AD"/>
                      </a:solidFill>
                      <a:prstDash val="solid"/>
                      <a:round/>
                      <a:headEnd type="none" w="med" len="med"/>
                      <a:tailEnd type="none" w="med" len="med"/>
                    </a:lnB>
                    <a:solidFill>
                      <a:srgbClr val="FFFFFF"/>
                    </a:solidFill>
                  </a:tcPr>
                </a:tc>
                <a:extLst>
                  <a:ext uri="{0D108BD9-81ED-4DB2-BD59-A6C34878D82A}">
                    <a16:rowId xmlns:a16="http://schemas.microsoft.com/office/drawing/2014/main" val="2807908809"/>
                  </a:ext>
                </a:extLst>
              </a:tr>
              <a:tr h="1044838">
                <a:tc>
                  <a:txBody>
                    <a:bodyPr/>
                    <a:lstStyle/>
                    <a:p>
                      <a:pPr algn="l" fontAlgn="auto"/>
                      <a:r>
                        <a:rPr lang="en-IN" sz="1800" u="none" strike="noStrike">
                          <a:effectLst/>
                          <a:hlinkClick r:id="rId2"/>
                        </a:rPr>
                        <a:t>Request Memoization</a:t>
                      </a:r>
                      <a:endParaRPr lang="en-IN" sz="1800">
                        <a:effectLst/>
                      </a:endParaRPr>
                    </a:p>
                  </a:txBody>
                  <a:tcPr marL="48891" marR="48891" marT="24446" marB="24446" anchor="ctr">
                    <a:lnL w="12700" cap="flat" cmpd="sng" algn="ctr">
                      <a:solidFill>
                        <a:srgbClr val="B03CAD"/>
                      </a:solidFill>
                      <a:prstDash val="solid"/>
                      <a:round/>
                      <a:headEnd type="none" w="med" len="med"/>
                      <a:tailEnd type="none" w="med" len="med"/>
                    </a:lnL>
                    <a:lnR w="12700" cap="flat" cmpd="sng" algn="ctr">
                      <a:solidFill>
                        <a:srgbClr val="B031AD"/>
                      </a:solidFill>
                      <a:prstDash val="solid"/>
                      <a:round/>
                      <a:headEnd type="none" w="med" len="med"/>
                      <a:tailEnd type="none" w="med" len="med"/>
                    </a:lnR>
                    <a:lnT w="12700" cap="flat" cmpd="sng" algn="ctr">
                      <a:solidFill>
                        <a:srgbClr val="B03CAD"/>
                      </a:solidFill>
                      <a:prstDash val="solid"/>
                      <a:round/>
                      <a:headEnd type="none" w="med" len="med"/>
                      <a:tailEnd type="none" w="med" len="med"/>
                    </a:lnT>
                    <a:lnB w="12700" cap="flat" cmpd="sng" algn="ctr">
                      <a:solidFill>
                        <a:srgbClr val="B042AD"/>
                      </a:solidFill>
                      <a:prstDash val="solid"/>
                      <a:round/>
                      <a:headEnd type="none" w="med" len="med"/>
                      <a:tailEnd type="none" w="med" len="med"/>
                    </a:lnB>
                    <a:solidFill>
                      <a:srgbClr val="FFFFFF"/>
                    </a:solidFill>
                  </a:tcPr>
                </a:tc>
                <a:tc>
                  <a:txBody>
                    <a:bodyPr/>
                    <a:lstStyle/>
                    <a:p>
                      <a:pPr algn="l" fontAlgn="auto"/>
                      <a:r>
                        <a:rPr lang="en-IN" sz="1800">
                          <a:effectLst/>
                        </a:rPr>
                        <a:t>Return values of functions</a:t>
                      </a:r>
                    </a:p>
                  </a:txBody>
                  <a:tcPr marL="48891" marR="48891" marT="24446" marB="24446" anchor="ctr">
                    <a:lnL w="12700" cap="flat" cmpd="sng" algn="ctr">
                      <a:solidFill>
                        <a:srgbClr val="B031AD"/>
                      </a:solidFill>
                      <a:prstDash val="solid"/>
                      <a:round/>
                      <a:headEnd type="none" w="med" len="med"/>
                      <a:tailEnd type="none" w="med" len="med"/>
                    </a:lnL>
                    <a:lnR w="12700" cap="flat" cmpd="sng" algn="ctr">
                      <a:solidFill>
                        <a:srgbClr val="B033AD"/>
                      </a:solidFill>
                      <a:prstDash val="solid"/>
                      <a:round/>
                      <a:headEnd type="none" w="med" len="med"/>
                      <a:tailEnd type="none" w="med" len="med"/>
                    </a:lnR>
                    <a:lnT w="12700" cap="flat" cmpd="sng" algn="ctr">
                      <a:solidFill>
                        <a:srgbClr val="B031AD"/>
                      </a:solidFill>
                      <a:prstDash val="solid"/>
                      <a:round/>
                      <a:headEnd type="none" w="med" len="med"/>
                      <a:tailEnd type="none" w="med" len="med"/>
                    </a:lnT>
                    <a:lnB w="12700" cap="flat" cmpd="sng" algn="ctr">
                      <a:solidFill>
                        <a:srgbClr val="B054AD"/>
                      </a:solidFill>
                      <a:prstDash val="solid"/>
                      <a:round/>
                      <a:headEnd type="none" w="med" len="med"/>
                      <a:tailEnd type="none" w="med" len="med"/>
                    </a:lnB>
                    <a:solidFill>
                      <a:srgbClr val="FFFFFF"/>
                    </a:solidFill>
                  </a:tcPr>
                </a:tc>
                <a:tc>
                  <a:txBody>
                    <a:bodyPr/>
                    <a:lstStyle/>
                    <a:p>
                      <a:pPr algn="l" fontAlgn="auto"/>
                      <a:r>
                        <a:rPr lang="en-IN" sz="1800">
                          <a:effectLst/>
                        </a:rPr>
                        <a:t>Server</a:t>
                      </a:r>
                    </a:p>
                  </a:txBody>
                  <a:tcPr marL="48891" marR="48891" marT="24446" marB="24446" anchor="ctr">
                    <a:lnL w="12700" cap="flat" cmpd="sng" algn="ctr">
                      <a:solidFill>
                        <a:srgbClr val="B033AD"/>
                      </a:solidFill>
                      <a:prstDash val="solid"/>
                      <a:round/>
                      <a:headEnd type="none" w="med" len="med"/>
                      <a:tailEnd type="none" w="med" len="med"/>
                    </a:lnL>
                    <a:lnR w="12700" cap="flat" cmpd="sng" algn="ctr">
                      <a:solidFill>
                        <a:srgbClr val="303EAD"/>
                      </a:solidFill>
                      <a:prstDash val="solid"/>
                      <a:round/>
                      <a:headEnd type="none" w="med" len="med"/>
                      <a:tailEnd type="none" w="med" len="med"/>
                    </a:lnR>
                    <a:lnT w="12700" cap="flat" cmpd="sng" algn="ctr">
                      <a:solidFill>
                        <a:srgbClr val="B033AD"/>
                      </a:solidFill>
                      <a:prstDash val="solid"/>
                      <a:round/>
                      <a:headEnd type="none" w="med" len="med"/>
                      <a:tailEnd type="none" w="med" len="med"/>
                    </a:lnT>
                    <a:lnB w="12700" cap="flat" cmpd="sng" algn="ctr">
                      <a:solidFill>
                        <a:srgbClr val="706EAD"/>
                      </a:solidFill>
                      <a:prstDash val="solid"/>
                      <a:round/>
                      <a:headEnd type="none" w="med" len="med"/>
                      <a:tailEnd type="none" w="med" len="med"/>
                    </a:lnB>
                    <a:solidFill>
                      <a:srgbClr val="FFFFFF"/>
                    </a:solidFill>
                  </a:tcPr>
                </a:tc>
                <a:tc>
                  <a:txBody>
                    <a:bodyPr/>
                    <a:lstStyle/>
                    <a:p>
                      <a:pPr algn="l" fontAlgn="auto"/>
                      <a:r>
                        <a:rPr lang="en-US" sz="1800">
                          <a:effectLst/>
                        </a:rPr>
                        <a:t>Re-use data in a React Component tree</a:t>
                      </a:r>
                    </a:p>
                  </a:txBody>
                  <a:tcPr marL="48891" marR="48891" marT="24446" marB="24446" anchor="ctr">
                    <a:lnL w="12700" cap="flat" cmpd="sng" algn="ctr">
                      <a:solidFill>
                        <a:srgbClr val="303EAD"/>
                      </a:solidFill>
                      <a:prstDash val="solid"/>
                      <a:round/>
                      <a:headEnd type="none" w="med" len="med"/>
                      <a:tailEnd type="none" w="med" len="med"/>
                    </a:lnL>
                    <a:lnR w="12700" cap="flat" cmpd="sng" algn="ctr">
                      <a:solidFill>
                        <a:srgbClr val="F048AD"/>
                      </a:solidFill>
                      <a:prstDash val="solid"/>
                      <a:round/>
                      <a:headEnd type="none" w="med" len="med"/>
                      <a:tailEnd type="none" w="med" len="med"/>
                    </a:lnR>
                    <a:lnT w="12700" cap="flat" cmpd="sng" algn="ctr">
                      <a:solidFill>
                        <a:srgbClr val="303EAD"/>
                      </a:solidFill>
                      <a:prstDash val="solid"/>
                      <a:round/>
                      <a:headEnd type="none" w="med" len="med"/>
                      <a:tailEnd type="none" w="med" len="med"/>
                    </a:lnT>
                    <a:lnB w="12700" cap="flat" cmpd="sng" algn="ctr">
                      <a:solidFill>
                        <a:srgbClr val="F067AD"/>
                      </a:solidFill>
                      <a:prstDash val="solid"/>
                      <a:round/>
                      <a:headEnd type="none" w="med" len="med"/>
                      <a:tailEnd type="none" w="med" len="med"/>
                    </a:lnB>
                    <a:solidFill>
                      <a:srgbClr val="FFFFFF"/>
                    </a:solidFill>
                  </a:tcPr>
                </a:tc>
                <a:tc>
                  <a:txBody>
                    <a:bodyPr/>
                    <a:lstStyle/>
                    <a:p>
                      <a:pPr algn="l" fontAlgn="auto"/>
                      <a:r>
                        <a:rPr lang="en-IN" sz="1800">
                          <a:effectLst/>
                        </a:rPr>
                        <a:t>Per-request lifecycle</a:t>
                      </a:r>
                    </a:p>
                  </a:txBody>
                  <a:tcPr marL="48891" marR="48891" marT="24446" marB="24446" anchor="ctr">
                    <a:lnL w="12700" cap="flat" cmpd="sng" algn="ctr">
                      <a:solidFill>
                        <a:srgbClr val="F048AD"/>
                      </a:solidFill>
                      <a:prstDash val="solid"/>
                      <a:round/>
                      <a:headEnd type="none" w="med" len="med"/>
                      <a:tailEnd type="none" w="med" len="med"/>
                    </a:lnL>
                    <a:lnR w="12700" cap="flat" cmpd="sng" algn="ctr">
                      <a:solidFill>
                        <a:srgbClr val="F048AD"/>
                      </a:solidFill>
                      <a:prstDash val="solid"/>
                      <a:round/>
                      <a:headEnd type="none" w="med" len="med"/>
                      <a:tailEnd type="none" w="med" len="med"/>
                    </a:lnR>
                    <a:lnT w="12700" cap="flat" cmpd="sng" algn="ctr">
                      <a:solidFill>
                        <a:srgbClr val="F048AD"/>
                      </a:solidFill>
                      <a:prstDash val="solid"/>
                      <a:round/>
                      <a:headEnd type="none" w="med" len="med"/>
                      <a:tailEnd type="none" w="med" len="med"/>
                    </a:lnT>
                    <a:lnB w="12700" cap="flat" cmpd="sng" algn="ctr">
                      <a:solidFill>
                        <a:srgbClr val="B068AD"/>
                      </a:solidFill>
                      <a:prstDash val="solid"/>
                      <a:round/>
                      <a:headEnd type="none" w="med" len="med"/>
                      <a:tailEnd type="none" w="med" len="med"/>
                    </a:lnB>
                    <a:solidFill>
                      <a:srgbClr val="FFFFFF"/>
                    </a:solidFill>
                  </a:tcPr>
                </a:tc>
                <a:extLst>
                  <a:ext uri="{0D108BD9-81ED-4DB2-BD59-A6C34878D82A}">
                    <a16:rowId xmlns:a16="http://schemas.microsoft.com/office/drawing/2014/main" val="1002567395"/>
                  </a:ext>
                </a:extLst>
              </a:tr>
              <a:tr h="1207864">
                <a:tc>
                  <a:txBody>
                    <a:bodyPr/>
                    <a:lstStyle/>
                    <a:p>
                      <a:pPr algn="l" fontAlgn="auto"/>
                      <a:r>
                        <a:rPr lang="en-IN" sz="1800" u="none" strike="noStrike" dirty="0">
                          <a:effectLst/>
                          <a:hlinkClick r:id="rId3"/>
                        </a:rPr>
                        <a:t>Data Cache</a:t>
                      </a:r>
                      <a:endParaRPr lang="en-IN" sz="1800" dirty="0">
                        <a:effectLst/>
                      </a:endParaRPr>
                    </a:p>
                  </a:txBody>
                  <a:tcPr marL="48891" marR="48891" marT="24446" marB="24446" anchor="ctr">
                    <a:lnL w="12700" cap="flat" cmpd="sng" algn="ctr">
                      <a:solidFill>
                        <a:srgbClr val="B042AD"/>
                      </a:solidFill>
                      <a:prstDash val="solid"/>
                      <a:round/>
                      <a:headEnd type="none" w="med" len="med"/>
                      <a:tailEnd type="none" w="med" len="med"/>
                    </a:lnL>
                    <a:lnR w="12700" cap="flat" cmpd="sng" algn="ctr">
                      <a:solidFill>
                        <a:srgbClr val="B054AD"/>
                      </a:solidFill>
                      <a:prstDash val="solid"/>
                      <a:round/>
                      <a:headEnd type="none" w="med" len="med"/>
                      <a:tailEnd type="none" w="med" len="med"/>
                    </a:lnR>
                    <a:lnT w="12700" cap="flat" cmpd="sng" algn="ctr">
                      <a:solidFill>
                        <a:srgbClr val="B042AD"/>
                      </a:solidFill>
                      <a:prstDash val="solid"/>
                      <a:round/>
                      <a:headEnd type="none" w="med" len="med"/>
                      <a:tailEnd type="none" w="med" len="med"/>
                    </a:lnT>
                    <a:lnB w="12700" cap="flat" cmpd="sng" algn="ctr">
                      <a:solidFill>
                        <a:srgbClr val="3074AD"/>
                      </a:solidFill>
                      <a:prstDash val="solid"/>
                      <a:round/>
                      <a:headEnd type="none" w="med" len="med"/>
                      <a:tailEnd type="none" w="med" len="med"/>
                    </a:lnB>
                    <a:solidFill>
                      <a:srgbClr val="FFFFFF"/>
                    </a:solidFill>
                  </a:tcPr>
                </a:tc>
                <a:tc>
                  <a:txBody>
                    <a:bodyPr/>
                    <a:lstStyle/>
                    <a:p>
                      <a:pPr algn="l" fontAlgn="auto"/>
                      <a:r>
                        <a:rPr lang="en-IN" sz="1800" dirty="0">
                          <a:effectLst/>
                        </a:rPr>
                        <a:t>Data</a:t>
                      </a:r>
                    </a:p>
                  </a:txBody>
                  <a:tcPr marL="48891" marR="48891" marT="24446" marB="24446" anchor="ctr">
                    <a:lnL w="12700" cap="flat" cmpd="sng" algn="ctr">
                      <a:solidFill>
                        <a:srgbClr val="B054AD"/>
                      </a:solidFill>
                      <a:prstDash val="solid"/>
                      <a:round/>
                      <a:headEnd type="none" w="med" len="med"/>
                      <a:tailEnd type="none" w="med" len="med"/>
                    </a:lnL>
                    <a:lnR w="12700" cap="flat" cmpd="sng" algn="ctr">
                      <a:solidFill>
                        <a:srgbClr val="706EAD"/>
                      </a:solidFill>
                      <a:prstDash val="solid"/>
                      <a:round/>
                      <a:headEnd type="none" w="med" len="med"/>
                      <a:tailEnd type="none" w="med" len="med"/>
                    </a:lnR>
                    <a:lnT w="12700" cap="flat" cmpd="sng" algn="ctr">
                      <a:solidFill>
                        <a:srgbClr val="B054AD"/>
                      </a:solidFill>
                      <a:prstDash val="solid"/>
                      <a:round/>
                      <a:headEnd type="none" w="med" len="med"/>
                      <a:tailEnd type="none" w="med" len="med"/>
                    </a:lnT>
                    <a:lnB w="12700" cap="flat" cmpd="sng" algn="ctr">
                      <a:solidFill>
                        <a:srgbClr val="307BAD"/>
                      </a:solidFill>
                      <a:prstDash val="solid"/>
                      <a:round/>
                      <a:headEnd type="none" w="med" len="med"/>
                      <a:tailEnd type="none" w="med" len="med"/>
                    </a:lnB>
                    <a:solidFill>
                      <a:srgbClr val="FFFFFF"/>
                    </a:solidFill>
                  </a:tcPr>
                </a:tc>
                <a:tc>
                  <a:txBody>
                    <a:bodyPr/>
                    <a:lstStyle/>
                    <a:p>
                      <a:pPr algn="l" fontAlgn="auto"/>
                      <a:r>
                        <a:rPr lang="en-IN" sz="1800">
                          <a:effectLst/>
                        </a:rPr>
                        <a:t>Server</a:t>
                      </a:r>
                    </a:p>
                  </a:txBody>
                  <a:tcPr marL="48891" marR="48891" marT="24446" marB="24446" anchor="ctr">
                    <a:lnL w="12700" cap="flat" cmpd="sng" algn="ctr">
                      <a:solidFill>
                        <a:srgbClr val="706EAD"/>
                      </a:solidFill>
                      <a:prstDash val="solid"/>
                      <a:round/>
                      <a:headEnd type="none" w="med" len="med"/>
                      <a:tailEnd type="none" w="med" len="med"/>
                    </a:lnL>
                    <a:lnR w="12700" cap="flat" cmpd="sng" algn="ctr">
                      <a:solidFill>
                        <a:srgbClr val="F067AD"/>
                      </a:solidFill>
                      <a:prstDash val="solid"/>
                      <a:round/>
                      <a:headEnd type="none" w="med" len="med"/>
                      <a:tailEnd type="none" w="med" len="med"/>
                    </a:lnR>
                    <a:lnT w="12700" cap="flat" cmpd="sng" algn="ctr">
                      <a:solidFill>
                        <a:srgbClr val="706EAD"/>
                      </a:solidFill>
                      <a:prstDash val="solid"/>
                      <a:round/>
                      <a:headEnd type="none" w="med" len="med"/>
                      <a:tailEnd type="none" w="med" len="med"/>
                    </a:lnT>
                    <a:lnB w="12700" cap="flat" cmpd="sng" algn="ctr">
                      <a:solidFill>
                        <a:srgbClr val="708EAD"/>
                      </a:solidFill>
                      <a:prstDash val="solid"/>
                      <a:round/>
                      <a:headEnd type="none" w="med" len="med"/>
                      <a:tailEnd type="none" w="med" len="med"/>
                    </a:lnB>
                    <a:solidFill>
                      <a:srgbClr val="FFFFFF"/>
                    </a:solidFill>
                  </a:tcPr>
                </a:tc>
                <a:tc>
                  <a:txBody>
                    <a:bodyPr/>
                    <a:lstStyle/>
                    <a:p>
                      <a:pPr algn="l" fontAlgn="auto"/>
                      <a:r>
                        <a:rPr lang="en-US" sz="1800">
                          <a:effectLst/>
                        </a:rPr>
                        <a:t>Store data across user requests and deployments</a:t>
                      </a:r>
                    </a:p>
                  </a:txBody>
                  <a:tcPr marL="48891" marR="48891" marT="24446" marB="24446" anchor="ctr">
                    <a:lnL w="12700" cap="flat" cmpd="sng" algn="ctr">
                      <a:solidFill>
                        <a:srgbClr val="F067AD"/>
                      </a:solidFill>
                      <a:prstDash val="solid"/>
                      <a:round/>
                      <a:headEnd type="none" w="med" len="med"/>
                      <a:tailEnd type="none" w="med" len="med"/>
                    </a:lnL>
                    <a:lnR w="12700" cap="flat" cmpd="sng" algn="ctr">
                      <a:solidFill>
                        <a:srgbClr val="B068AD"/>
                      </a:solidFill>
                      <a:prstDash val="solid"/>
                      <a:round/>
                      <a:headEnd type="none" w="med" len="med"/>
                      <a:tailEnd type="none" w="med" len="med"/>
                    </a:lnR>
                    <a:lnT w="12700" cap="flat" cmpd="sng" algn="ctr">
                      <a:solidFill>
                        <a:srgbClr val="F067AD"/>
                      </a:solidFill>
                      <a:prstDash val="solid"/>
                      <a:round/>
                      <a:headEnd type="none" w="med" len="med"/>
                      <a:tailEnd type="none" w="med" len="med"/>
                    </a:lnT>
                    <a:lnB w="12700" cap="flat" cmpd="sng" algn="ctr">
                      <a:solidFill>
                        <a:srgbClr val="B08BAD"/>
                      </a:solidFill>
                      <a:prstDash val="solid"/>
                      <a:round/>
                      <a:headEnd type="none" w="med" len="med"/>
                      <a:tailEnd type="none" w="med" len="med"/>
                    </a:lnB>
                    <a:solidFill>
                      <a:srgbClr val="FFFFFF"/>
                    </a:solidFill>
                  </a:tcPr>
                </a:tc>
                <a:tc>
                  <a:txBody>
                    <a:bodyPr/>
                    <a:lstStyle/>
                    <a:p>
                      <a:pPr algn="l" fontAlgn="auto"/>
                      <a:r>
                        <a:rPr lang="en-IN" sz="1800">
                          <a:effectLst/>
                        </a:rPr>
                        <a:t>Persistent (can be revalidated)</a:t>
                      </a:r>
                    </a:p>
                  </a:txBody>
                  <a:tcPr marL="48891" marR="48891" marT="24446" marB="24446" anchor="ctr">
                    <a:lnL w="12700" cap="flat" cmpd="sng" algn="ctr">
                      <a:solidFill>
                        <a:srgbClr val="B068AD"/>
                      </a:solidFill>
                      <a:prstDash val="solid"/>
                      <a:round/>
                      <a:headEnd type="none" w="med" len="med"/>
                      <a:tailEnd type="none" w="med" len="med"/>
                    </a:lnL>
                    <a:lnR w="12700" cap="flat" cmpd="sng" algn="ctr">
                      <a:solidFill>
                        <a:srgbClr val="B068AD"/>
                      </a:solidFill>
                      <a:prstDash val="solid"/>
                      <a:round/>
                      <a:headEnd type="none" w="med" len="med"/>
                      <a:tailEnd type="none" w="med" len="med"/>
                    </a:lnR>
                    <a:lnT w="12700" cap="flat" cmpd="sng" algn="ctr">
                      <a:solidFill>
                        <a:srgbClr val="B068AD"/>
                      </a:solidFill>
                      <a:prstDash val="solid"/>
                      <a:round/>
                      <a:headEnd type="none" w="med" len="med"/>
                      <a:tailEnd type="none" w="med" len="med"/>
                    </a:lnT>
                    <a:lnB w="12700" cap="flat" cmpd="sng" algn="ctr">
                      <a:solidFill>
                        <a:srgbClr val="F089AD"/>
                      </a:solidFill>
                      <a:prstDash val="solid"/>
                      <a:round/>
                      <a:headEnd type="none" w="med" len="med"/>
                      <a:tailEnd type="none" w="med" len="med"/>
                    </a:lnB>
                    <a:solidFill>
                      <a:srgbClr val="FFFFFF"/>
                    </a:solidFill>
                  </a:tcPr>
                </a:tc>
                <a:extLst>
                  <a:ext uri="{0D108BD9-81ED-4DB2-BD59-A6C34878D82A}">
                    <a16:rowId xmlns:a16="http://schemas.microsoft.com/office/drawing/2014/main" val="2888672876"/>
                  </a:ext>
                </a:extLst>
              </a:tr>
              <a:tr h="1219200">
                <a:tc>
                  <a:txBody>
                    <a:bodyPr/>
                    <a:lstStyle/>
                    <a:p>
                      <a:pPr algn="l" fontAlgn="auto"/>
                      <a:r>
                        <a:rPr lang="en-IN" sz="1800" u="none" strike="noStrike">
                          <a:effectLst/>
                          <a:hlinkClick r:id="rId4"/>
                        </a:rPr>
                        <a:t>Full Route Cache</a:t>
                      </a:r>
                      <a:endParaRPr lang="en-IN" sz="1800">
                        <a:effectLst/>
                      </a:endParaRPr>
                    </a:p>
                  </a:txBody>
                  <a:tcPr marL="48891" marR="48891" marT="24446" marB="24446" anchor="ctr">
                    <a:lnL w="12700" cap="flat" cmpd="sng" algn="ctr">
                      <a:solidFill>
                        <a:srgbClr val="3074AD"/>
                      </a:solidFill>
                      <a:prstDash val="solid"/>
                      <a:round/>
                      <a:headEnd type="none" w="med" len="med"/>
                      <a:tailEnd type="none" w="med" len="med"/>
                    </a:lnL>
                    <a:lnR w="12700" cap="flat" cmpd="sng" algn="ctr">
                      <a:solidFill>
                        <a:srgbClr val="307BAD"/>
                      </a:solidFill>
                      <a:prstDash val="solid"/>
                      <a:round/>
                      <a:headEnd type="none" w="med" len="med"/>
                      <a:tailEnd type="none" w="med" len="med"/>
                    </a:lnR>
                    <a:lnT w="12700" cap="flat" cmpd="sng" algn="ctr">
                      <a:solidFill>
                        <a:srgbClr val="3074AD"/>
                      </a:solidFill>
                      <a:prstDash val="solid"/>
                      <a:round/>
                      <a:headEnd type="none" w="med" len="med"/>
                      <a:tailEnd type="none" w="med" len="med"/>
                    </a:lnT>
                    <a:lnB w="12700" cap="flat" cmpd="sng" algn="ctr">
                      <a:solidFill>
                        <a:srgbClr val="F082AD"/>
                      </a:solidFill>
                      <a:prstDash val="solid"/>
                      <a:round/>
                      <a:headEnd type="none" w="med" len="med"/>
                      <a:tailEnd type="none" w="med" len="med"/>
                    </a:lnB>
                    <a:solidFill>
                      <a:srgbClr val="FFFFFF"/>
                    </a:solidFill>
                  </a:tcPr>
                </a:tc>
                <a:tc>
                  <a:txBody>
                    <a:bodyPr/>
                    <a:lstStyle/>
                    <a:p>
                      <a:pPr algn="l" fontAlgn="auto"/>
                      <a:r>
                        <a:rPr lang="en-IN" sz="1800">
                          <a:effectLst/>
                        </a:rPr>
                        <a:t>HTML and RSC payload</a:t>
                      </a:r>
                    </a:p>
                  </a:txBody>
                  <a:tcPr marL="48891" marR="48891" marT="24446" marB="24446" anchor="ctr">
                    <a:lnL w="12700" cap="flat" cmpd="sng" algn="ctr">
                      <a:solidFill>
                        <a:srgbClr val="307BAD"/>
                      </a:solidFill>
                      <a:prstDash val="solid"/>
                      <a:round/>
                      <a:headEnd type="none" w="med" len="med"/>
                      <a:tailEnd type="none" w="med" len="med"/>
                    </a:lnL>
                    <a:lnR w="12700" cap="flat" cmpd="sng" algn="ctr">
                      <a:solidFill>
                        <a:srgbClr val="708EAD"/>
                      </a:solidFill>
                      <a:prstDash val="solid"/>
                      <a:round/>
                      <a:headEnd type="none" w="med" len="med"/>
                      <a:tailEnd type="none" w="med" len="med"/>
                    </a:lnR>
                    <a:lnT w="12700" cap="flat" cmpd="sng" algn="ctr">
                      <a:solidFill>
                        <a:srgbClr val="307BAD"/>
                      </a:solidFill>
                      <a:prstDash val="solid"/>
                      <a:round/>
                      <a:headEnd type="none" w="med" len="med"/>
                      <a:tailEnd type="none" w="med" len="med"/>
                    </a:lnT>
                    <a:lnB w="12700" cap="flat" cmpd="sng" algn="ctr">
                      <a:solidFill>
                        <a:srgbClr val="30A1AD"/>
                      </a:solidFill>
                      <a:prstDash val="solid"/>
                      <a:round/>
                      <a:headEnd type="none" w="med" len="med"/>
                      <a:tailEnd type="none" w="med" len="med"/>
                    </a:lnB>
                    <a:solidFill>
                      <a:srgbClr val="FFFFFF"/>
                    </a:solidFill>
                  </a:tcPr>
                </a:tc>
                <a:tc>
                  <a:txBody>
                    <a:bodyPr/>
                    <a:lstStyle/>
                    <a:p>
                      <a:pPr algn="l" fontAlgn="auto"/>
                      <a:r>
                        <a:rPr lang="en-IN" sz="1800" dirty="0">
                          <a:effectLst/>
                        </a:rPr>
                        <a:t>Server</a:t>
                      </a:r>
                    </a:p>
                  </a:txBody>
                  <a:tcPr marL="48891" marR="48891" marT="24446" marB="24446" anchor="ctr">
                    <a:lnL w="12700" cap="flat" cmpd="sng" algn="ctr">
                      <a:solidFill>
                        <a:srgbClr val="708EAD"/>
                      </a:solidFill>
                      <a:prstDash val="solid"/>
                      <a:round/>
                      <a:headEnd type="none" w="med" len="med"/>
                      <a:tailEnd type="none" w="med" len="med"/>
                    </a:lnL>
                    <a:lnR w="12700" cap="flat" cmpd="sng" algn="ctr">
                      <a:solidFill>
                        <a:srgbClr val="B08BAD"/>
                      </a:solidFill>
                      <a:prstDash val="solid"/>
                      <a:round/>
                      <a:headEnd type="none" w="med" len="med"/>
                      <a:tailEnd type="none" w="med" len="med"/>
                    </a:lnR>
                    <a:lnT w="12700" cap="flat" cmpd="sng" algn="ctr">
                      <a:solidFill>
                        <a:srgbClr val="708EAD"/>
                      </a:solidFill>
                      <a:prstDash val="solid"/>
                      <a:round/>
                      <a:headEnd type="none" w="med" len="med"/>
                      <a:tailEnd type="none" w="med" len="med"/>
                    </a:lnT>
                    <a:lnB w="12700" cap="flat" cmpd="sng" algn="ctr">
                      <a:solidFill>
                        <a:srgbClr val="709EAD"/>
                      </a:solidFill>
                      <a:prstDash val="solid"/>
                      <a:round/>
                      <a:headEnd type="none" w="med" len="med"/>
                      <a:tailEnd type="none" w="med" len="med"/>
                    </a:lnB>
                    <a:solidFill>
                      <a:srgbClr val="FFFFFF"/>
                    </a:solidFill>
                  </a:tcPr>
                </a:tc>
                <a:tc>
                  <a:txBody>
                    <a:bodyPr/>
                    <a:lstStyle/>
                    <a:p>
                      <a:pPr algn="l" fontAlgn="auto"/>
                      <a:r>
                        <a:rPr lang="en-US" sz="1800">
                          <a:effectLst/>
                        </a:rPr>
                        <a:t>Reduce rendering cost and improve performance</a:t>
                      </a:r>
                    </a:p>
                  </a:txBody>
                  <a:tcPr marL="48891" marR="48891" marT="24446" marB="24446" anchor="ctr">
                    <a:lnL w="12700" cap="flat" cmpd="sng" algn="ctr">
                      <a:solidFill>
                        <a:srgbClr val="B08BAD"/>
                      </a:solidFill>
                      <a:prstDash val="solid"/>
                      <a:round/>
                      <a:headEnd type="none" w="med" len="med"/>
                      <a:tailEnd type="none" w="med" len="med"/>
                    </a:lnL>
                    <a:lnR w="12700" cap="flat" cmpd="sng" algn="ctr">
                      <a:solidFill>
                        <a:srgbClr val="F089AD"/>
                      </a:solidFill>
                      <a:prstDash val="solid"/>
                      <a:round/>
                      <a:headEnd type="none" w="med" len="med"/>
                      <a:tailEnd type="none" w="med" len="med"/>
                    </a:lnR>
                    <a:lnT w="12700" cap="flat" cmpd="sng" algn="ctr">
                      <a:solidFill>
                        <a:srgbClr val="B08BAD"/>
                      </a:solidFill>
                      <a:prstDash val="solid"/>
                      <a:round/>
                      <a:headEnd type="none" w="med" len="med"/>
                      <a:tailEnd type="none" w="med" len="med"/>
                    </a:lnT>
                    <a:lnB w="12700" cap="flat" cmpd="sng" algn="ctr">
                      <a:solidFill>
                        <a:srgbClr val="F09CAD"/>
                      </a:solidFill>
                      <a:prstDash val="solid"/>
                      <a:round/>
                      <a:headEnd type="none" w="med" len="med"/>
                      <a:tailEnd type="none" w="med" len="med"/>
                    </a:lnB>
                    <a:solidFill>
                      <a:srgbClr val="FFFFFF"/>
                    </a:solidFill>
                  </a:tcPr>
                </a:tc>
                <a:tc>
                  <a:txBody>
                    <a:bodyPr/>
                    <a:lstStyle/>
                    <a:p>
                      <a:pPr algn="l" fontAlgn="auto"/>
                      <a:r>
                        <a:rPr lang="en-IN" sz="1800">
                          <a:effectLst/>
                        </a:rPr>
                        <a:t>Persistent (can be revalidated)</a:t>
                      </a:r>
                    </a:p>
                  </a:txBody>
                  <a:tcPr marL="48891" marR="48891" marT="24446" marB="24446" anchor="ctr">
                    <a:lnL w="12700" cap="flat" cmpd="sng" algn="ctr">
                      <a:solidFill>
                        <a:srgbClr val="F089AD"/>
                      </a:solidFill>
                      <a:prstDash val="solid"/>
                      <a:round/>
                      <a:headEnd type="none" w="med" len="med"/>
                      <a:tailEnd type="none" w="med" len="med"/>
                    </a:lnL>
                    <a:lnR w="12700" cap="flat" cmpd="sng" algn="ctr">
                      <a:solidFill>
                        <a:srgbClr val="F089AD"/>
                      </a:solidFill>
                      <a:prstDash val="solid"/>
                      <a:round/>
                      <a:headEnd type="none" w="med" len="med"/>
                      <a:tailEnd type="none" w="med" len="med"/>
                    </a:lnR>
                    <a:lnT w="12700" cap="flat" cmpd="sng" algn="ctr">
                      <a:solidFill>
                        <a:srgbClr val="F089AD"/>
                      </a:solidFill>
                      <a:prstDash val="solid"/>
                      <a:round/>
                      <a:headEnd type="none" w="med" len="med"/>
                      <a:tailEnd type="none" w="med" len="med"/>
                    </a:lnT>
                    <a:lnB w="12700" cap="flat" cmpd="sng" algn="ctr">
                      <a:solidFill>
                        <a:srgbClr val="30A1AD"/>
                      </a:solidFill>
                      <a:prstDash val="solid"/>
                      <a:round/>
                      <a:headEnd type="none" w="med" len="med"/>
                      <a:tailEnd type="none" w="med" len="med"/>
                    </a:lnB>
                    <a:solidFill>
                      <a:srgbClr val="FFFFFF"/>
                    </a:solidFill>
                  </a:tcPr>
                </a:tc>
                <a:extLst>
                  <a:ext uri="{0D108BD9-81ED-4DB2-BD59-A6C34878D82A}">
                    <a16:rowId xmlns:a16="http://schemas.microsoft.com/office/drawing/2014/main" val="2935010270"/>
                  </a:ext>
                </a:extLst>
              </a:tr>
              <a:tr h="1044838">
                <a:tc>
                  <a:txBody>
                    <a:bodyPr/>
                    <a:lstStyle/>
                    <a:p>
                      <a:pPr algn="l" fontAlgn="auto"/>
                      <a:r>
                        <a:rPr lang="en-IN" sz="1800" u="none" strike="noStrike">
                          <a:effectLst/>
                          <a:hlinkClick r:id="rId5"/>
                        </a:rPr>
                        <a:t>Router Cache</a:t>
                      </a:r>
                      <a:endParaRPr lang="en-IN" sz="1800">
                        <a:effectLst/>
                      </a:endParaRPr>
                    </a:p>
                  </a:txBody>
                  <a:tcPr marL="48891" marR="48891" marT="24446" marB="24446" anchor="ctr">
                    <a:lnL w="12700" cap="flat" cmpd="sng" algn="ctr">
                      <a:solidFill>
                        <a:srgbClr val="F082AD"/>
                      </a:solidFill>
                      <a:prstDash val="solid"/>
                      <a:round/>
                      <a:headEnd type="none" w="med" len="med"/>
                      <a:tailEnd type="none" w="med" len="med"/>
                    </a:lnL>
                    <a:lnR w="12700" cap="flat" cmpd="sng" algn="ctr">
                      <a:solidFill>
                        <a:srgbClr val="30A1AD"/>
                      </a:solidFill>
                      <a:prstDash val="solid"/>
                      <a:round/>
                      <a:headEnd type="none" w="med" len="med"/>
                      <a:tailEnd type="none" w="med" len="med"/>
                    </a:lnR>
                    <a:lnT w="12700" cap="flat" cmpd="sng" algn="ctr">
                      <a:solidFill>
                        <a:srgbClr val="F082AD"/>
                      </a:solidFill>
                      <a:prstDash val="solid"/>
                      <a:round/>
                      <a:headEnd type="none" w="med" len="med"/>
                      <a:tailEnd type="none" w="med" len="med"/>
                    </a:lnT>
                    <a:lnB w="12700" cap="flat" cmpd="sng" algn="ctr">
                      <a:solidFill>
                        <a:srgbClr val="F082AD"/>
                      </a:solidFill>
                      <a:prstDash val="solid"/>
                      <a:round/>
                      <a:headEnd type="none" w="med" len="med"/>
                      <a:tailEnd type="none" w="med" len="med"/>
                    </a:lnB>
                    <a:solidFill>
                      <a:srgbClr val="FFFFFF"/>
                    </a:solidFill>
                  </a:tcPr>
                </a:tc>
                <a:tc>
                  <a:txBody>
                    <a:bodyPr/>
                    <a:lstStyle/>
                    <a:p>
                      <a:pPr algn="l" fontAlgn="auto"/>
                      <a:r>
                        <a:rPr lang="en-IN" sz="1800">
                          <a:effectLst/>
                        </a:rPr>
                        <a:t>RSC Payload</a:t>
                      </a:r>
                    </a:p>
                  </a:txBody>
                  <a:tcPr marL="48891" marR="48891" marT="24446" marB="24446" anchor="ctr">
                    <a:lnL w="12700" cap="flat" cmpd="sng" algn="ctr">
                      <a:solidFill>
                        <a:srgbClr val="30A1AD"/>
                      </a:solidFill>
                      <a:prstDash val="solid"/>
                      <a:round/>
                      <a:headEnd type="none" w="med" len="med"/>
                      <a:tailEnd type="none" w="med" len="med"/>
                    </a:lnL>
                    <a:lnR w="12700" cap="flat" cmpd="sng" algn="ctr">
                      <a:solidFill>
                        <a:srgbClr val="709EAD"/>
                      </a:solidFill>
                      <a:prstDash val="solid"/>
                      <a:round/>
                      <a:headEnd type="none" w="med" len="med"/>
                      <a:tailEnd type="none" w="med" len="med"/>
                    </a:lnR>
                    <a:lnT w="12700" cap="flat" cmpd="sng" algn="ctr">
                      <a:solidFill>
                        <a:srgbClr val="30A1AD"/>
                      </a:solidFill>
                      <a:prstDash val="solid"/>
                      <a:round/>
                      <a:headEnd type="none" w="med" len="med"/>
                      <a:tailEnd type="none" w="med" len="med"/>
                    </a:lnT>
                    <a:lnB w="12700" cap="flat" cmpd="sng" algn="ctr">
                      <a:solidFill>
                        <a:srgbClr val="30A1AD"/>
                      </a:solidFill>
                      <a:prstDash val="solid"/>
                      <a:round/>
                      <a:headEnd type="none" w="med" len="med"/>
                      <a:tailEnd type="none" w="med" len="med"/>
                    </a:lnB>
                    <a:solidFill>
                      <a:srgbClr val="FFFFFF"/>
                    </a:solidFill>
                  </a:tcPr>
                </a:tc>
                <a:tc>
                  <a:txBody>
                    <a:bodyPr/>
                    <a:lstStyle/>
                    <a:p>
                      <a:pPr algn="l" fontAlgn="auto"/>
                      <a:r>
                        <a:rPr lang="en-IN" sz="1800">
                          <a:effectLst/>
                        </a:rPr>
                        <a:t>Client</a:t>
                      </a:r>
                    </a:p>
                  </a:txBody>
                  <a:tcPr marL="48891" marR="48891" marT="24446" marB="24446" anchor="ctr">
                    <a:lnL w="12700" cap="flat" cmpd="sng" algn="ctr">
                      <a:solidFill>
                        <a:srgbClr val="709EAD"/>
                      </a:solidFill>
                      <a:prstDash val="solid"/>
                      <a:round/>
                      <a:headEnd type="none" w="med" len="med"/>
                      <a:tailEnd type="none" w="med" len="med"/>
                    </a:lnL>
                    <a:lnR w="12700" cap="flat" cmpd="sng" algn="ctr">
                      <a:solidFill>
                        <a:srgbClr val="F09CAD"/>
                      </a:solidFill>
                      <a:prstDash val="solid"/>
                      <a:round/>
                      <a:headEnd type="none" w="med" len="med"/>
                      <a:tailEnd type="none" w="med" len="med"/>
                    </a:lnR>
                    <a:lnT w="12700" cap="flat" cmpd="sng" algn="ctr">
                      <a:solidFill>
                        <a:srgbClr val="709EAD"/>
                      </a:solidFill>
                      <a:prstDash val="solid"/>
                      <a:round/>
                      <a:headEnd type="none" w="med" len="med"/>
                      <a:tailEnd type="none" w="med" len="med"/>
                    </a:lnT>
                    <a:lnB w="12700" cap="flat" cmpd="sng" algn="ctr">
                      <a:solidFill>
                        <a:srgbClr val="709EAD"/>
                      </a:solidFill>
                      <a:prstDash val="solid"/>
                      <a:round/>
                      <a:headEnd type="none" w="med" len="med"/>
                      <a:tailEnd type="none" w="med" len="med"/>
                    </a:lnB>
                    <a:solidFill>
                      <a:srgbClr val="FFFFFF"/>
                    </a:solidFill>
                  </a:tcPr>
                </a:tc>
                <a:tc>
                  <a:txBody>
                    <a:bodyPr/>
                    <a:lstStyle/>
                    <a:p>
                      <a:pPr algn="l" fontAlgn="auto"/>
                      <a:r>
                        <a:rPr lang="en-US" sz="1800">
                          <a:effectLst/>
                        </a:rPr>
                        <a:t>Reduce server requests on navigation</a:t>
                      </a:r>
                    </a:p>
                  </a:txBody>
                  <a:tcPr marL="48891" marR="48891" marT="24446" marB="24446" anchor="ctr">
                    <a:lnL w="12700" cap="flat" cmpd="sng" algn="ctr">
                      <a:solidFill>
                        <a:srgbClr val="F09CAD"/>
                      </a:solidFill>
                      <a:prstDash val="solid"/>
                      <a:round/>
                      <a:headEnd type="none" w="med" len="med"/>
                      <a:tailEnd type="none" w="med" len="med"/>
                    </a:lnL>
                    <a:lnR w="12700" cap="flat" cmpd="sng" algn="ctr">
                      <a:solidFill>
                        <a:srgbClr val="30A1AD"/>
                      </a:solidFill>
                      <a:prstDash val="solid"/>
                      <a:round/>
                      <a:headEnd type="none" w="med" len="med"/>
                      <a:tailEnd type="none" w="med" len="med"/>
                    </a:lnR>
                    <a:lnT w="12700" cap="flat" cmpd="sng" algn="ctr">
                      <a:solidFill>
                        <a:srgbClr val="F09CAD"/>
                      </a:solidFill>
                      <a:prstDash val="solid"/>
                      <a:round/>
                      <a:headEnd type="none" w="med" len="med"/>
                      <a:tailEnd type="none" w="med" len="med"/>
                    </a:lnT>
                    <a:lnB w="12700" cap="flat" cmpd="sng" algn="ctr">
                      <a:solidFill>
                        <a:srgbClr val="F09CAD"/>
                      </a:solidFill>
                      <a:prstDash val="solid"/>
                      <a:round/>
                      <a:headEnd type="none" w="med" len="med"/>
                      <a:tailEnd type="none" w="med" len="med"/>
                    </a:lnB>
                    <a:solidFill>
                      <a:srgbClr val="FFFFFF"/>
                    </a:solidFill>
                  </a:tcPr>
                </a:tc>
                <a:tc>
                  <a:txBody>
                    <a:bodyPr/>
                    <a:lstStyle/>
                    <a:p>
                      <a:pPr algn="l" fontAlgn="auto"/>
                      <a:r>
                        <a:rPr lang="en-IN" sz="1800" dirty="0">
                          <a:effectLst/>
                        </a:rPr>
                        <a:t>User session or time-based</a:t>
                      </a:r>
                    </a:p>
                  </a:txBody>
                  <a:tcPr marL="48891" marR="48891" marT="24446" marB="24446" anchor="ctr">
                    <a:lnL w="12700" cap="flat" cmpd="sng" algn="ctr">
                      <a:solidFill>
                        <a:srgbClr val="30A1AD"/>
                      </a:solidFill>
                      <a:prstDash val="solid"/>
                      <a:round/>
                      <a:headEnd type="none" w="med" len="med"/>
                      <a:tailEnd type="none" w="med" len="med"/>
                    </a:lnL>
                    <a:lnR w="12700" cap="flat" cmpd="sng" algn="ctr">
                      <a:solidFill>
                        <a:srgbClr val="30A1AD"/>
                      </a:solidFill>
                      <a:prstDash val="solid"/>
                      <a:round/>
                      <a:headEnd type="none" w="med" len="med"/>
                      <a:tailEnd type="none" w="med" len="med"/>
                    </a:lnR>
                    <a:lnT w="12700" cap="flat" cmpd="sng" algn="ctr">
                      <a:solidFill>
                        <a:srgbClr val="30A1AD"/>
                      </a:solidFill>
                      <a:prstDash val="solid"/>
                      <a:round/>
                      <a:headEnd type="none" w="med" len="med"/>
                      <a:tailEnd type="none" w="med" len="med"/>
                    </a:lnT>
                    <a:lnB w="12700" cap="flat" cmpd="sng" algn="ctr">
                      <a:solidFill>
                        <a:srgbClr val="30A1AD"/>
                      </a:solidFill>
                      <a:prstDash val="solid"/>
                      <a:round/>
                      <a:headEnd type="none" w="med" len="med"/>
                      <a:tailEnd type="none" w="med" len="med"/>
                    </a:lnB>
                    <a:solidFill>
                      <a:srgbClr val="FFFFFF"/>
                    </a:solidFill>
                  </a:tcPr>
                </a:tc>
                <a:extLst>
                  <a:ext uri="{0D108BD9-81ED-4DB2-BD59-A6C34878D82A}">
                    <a16:rowId xmlns:a16="http://schemas.microsoft.com/office/drawing/2014/main" val="1371023479"/>
                  </a:ext>
                </a:extLst>
              </a:tr>
            </a:tbl>
          </a:graphicData>
        </a:graphic>
      </p:graphicFrame>
      <p:sp>
        <p:nvSpPr>
          <p:cNvPr id="6" name="TextBox 5">
            <a:extLst>
              <a:ext uri="{FF2B5EF4-FFF2-40B4-BE49-F238E27FC236}">
                <a16:creationId xmlns:a16="http://schemas.microsoft.com/office/drawing/2014/main" id="{38FEC6CC-26AD-7EC1-08B0-7CBA31D256D5}"/>
              </a:ext>
            </a:extLst>
          </p:cNvPr>
          <p:cNvSpPr txBox="1"/>
          <p:nvPr/>
        </p:nvSpPr>
        <p:spPr>
          <a:xfrm>
            <a:off x="3183467" y="0"/>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dirty="0"/>
              <a:t>Caching in Next.js</a:t>
            </a:r>
          </a:p>
        </p:txBody>
      </p:sp>
      <p:sp>
        <p:nvSpPr>
          <p:cNvPr id="8" name="TextBox 7">
            <a:extLst>
              <a:ext uri="{FF2B5EF4-FFF2-40B4-BE49-F238E27FC236}">
                <a16:creationId xmlns:a16="http://schemas.microsoft.com/office/drawing/2014/main" id="{AC557616-0DA0-8D34-6425-F24760F646DC}"/>
              </a:ext>
            </a:extLst>
          </p:cNvPr>
          <p:cNvSpPr txBox="1"/>
          <p:nvPr/>
        </p:nvSpPr>
        <p:spPr>
          <a:xfrm>
            <a:off x="135467" y="5786447"/>
            <a:ext cx="11641666"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171717"/>
                </a:solidFill>
                <a:effectLst/>
                <a:latin typeface="Geist"/>
              </a:rPr>
              <a:t>By default, Next.js will cache as much as possible to improve performance and reduce cost. This means routes are </a:t>
            </a:r>
            <a:r>
              <a:rPr lang="en-US" b="1" i="0" dirty="0">
                <a:solidFill>
                  <a:srgbClr val="171717"/>
                </a:solidFill>
                <a:effectLst/>
                <a:latin typeface="Geist"/>
              </a:rPr>
              <a:t>statically rendered</a:t>
            </a:r>
            <a:r>
              <a:rPr lang="en-US" b="0" i="0" dirty="0">
                <a:solidFill>
                  <a:srgbClr val="171717"/>
                </a:solidFill>
                <a:effectLst/>
                <a:latin typeface="Geist"/>
              </a:rPr>
              <a:t> and data requests are </a:t>
            </a:r>
            <a:r>
              <a:rPr lang="en-US" b="1" i="0" dirty="0">
                <a:solidFill>
                  <a:srgbClr val="171717"/>
                </a:solidFill>
                <a:effectLst/>
                <a:latin typeface="Geist"/>
              </a:rPr>
              <a:t>cached</a:t>
            </a:r>
            <a:r>
              <a:rPr lang="en-US" b="0" i="0" dirty="0">
                <a:solidFill>
                  <a:srgbClr val="171717"/>
                </a:solidFill>
                <a:effectLst/>
                <a:latin typeface="Geist"/>
              </a:rPr>
              <a:t> unless you opt out. The diagram below shows the default caching behavior: when a route is statically rendered at build time and when a static route is first visited.</a:t>
            </a:r>
            <a:endParaRPr lang="en-IN" dirty="0"/>
          </a:p>
        </p:txBody>
      </p:sp>
    </p:spTree>
    <p:extLst>
      <p:ext uri="{BB962C8B-B14F-4D97-AF65-F5344CB8AC3E}">
        <p14:creationId xmlns:p14="http://schemas.microsoft.com/office/powerpoint/2010/main" val="886238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agram showing the default caching behavior in Next.js for the four mechanisms, with HIT, MISS and SET at build time and when a route is first visited.">
            <a:extLst>
              <a:ext uri="{FF2B5EF4-FFF2-40B4-BE49-F238E27FC236}">
                <a16:creationId xmlns:a16="http://schemas.microsoft.com/office/drawing/2014/main" id="{DB1ABE13-5268-D54B-2E68-B72E8A652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534" y="347134"/>
            <a:ext cx="8708496" cy="6416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459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8D68C3-CB03-FC89-A4D1-9A5CE2763B32}"/>
              </a:ext>
            </a:extLst>
          </p:cNvPr>
          <p:cNvSpPr txBox="1"/>
          <p:nvPr/>
        </p:nvSpPr>
        <p:spPr>
          <a:xfrm>
            <a:off x="3361266" y="0"/>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dirty="0"/>
              <a:t>Request </a:t>
            </a:r>
            <a:r>
              <a:rPr lang="en-IN" dirty="0" err="1"/>
              <a:t>Memoization</a:t>
            </a:r>
            <a:endParaRPr lang="en-IN" dirty="0"/>
          </a:p>
        </p:txBody>
      </p:sp>
      <p:sp>
        <p:nvSpPr>
          <p:cNvPr id="7" name="TextBox 6">
            <a:extLst>
              <a:ext uri="{FF2B5EF4-FFF2-40B4-BE49-F238E27FC236}">
                <a16:creationId xmlns:a16="http://schemas.microsoft.com/office/drawing/2014/main" id="{0EF9494B-FA5B-2BAB-03ED-941029259A81}"/>
              </a:ext>
            </a:extLst>
          </p:cNvPr>
          <p:cNvSpPr txBox="1"/>
          <p:nvPr/>
        </p:nvSpPr>
        <p:spPr>
          <a:xfrm>
            <a:off x="194733" y="483569"/>
            <a:ext cx="11802533" cy="646331"/>
          </a:xfrm>
          <a:prstGeom prst="rect">
            <a:avLst/>
          </a:prstGeom>
          <a:noFill/>
        </p:spPr>
        <p:txBody>
          <a:bodyPr wrap="square">
            <a:spAutoFit/>
          </a:bodyPr>
          <a:lstStyle/>
          <a:p>
            <a:r>
              <a:rPr lang="en-US" dirty="0"/>
              <a:t>Next.js extends the fetch API to automatically </a:t>
            </a:r>
            <a:r>
              <a:rPr lang="en-US" dirty="0" err="1"/>
              <a:t>memoize</a:t>
            </a:r>
            <a:r>
              <a:rPr lang="en-US" dirty="0"/>
              <a:t> requests that have the same URL and options. This means you can call a fetch function for the same data in multiple places in a React component tree while only executing it once.</a:t>
            </a:r>
            <a:endParaRPr lang="en-IN" dirty="0"/>
          </a:p>
        </p:txBody>
      </p:sp>
      <p:pic>
        <p:nvPicPr>
          <p:cNvPr id="3074" name="Picture 2" descr="Deduplicated Fetch Requests">
            <a:extLst>
              <a:ext uri="{FF2B5EF4-FFF2-40B4-BE49-F238E27FC236}">
                <a16:creationId xmlns:a16="http://schemas.microsoft.com/office/drawing/2014/main" id="{9FA59719-703B-905D-DE00-B222CFE841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33" y="1244137"/>
            <a:ext cx="8561664" cy="458628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BBC3D6-E41D-3CD0-5669-0F92AB308F74}"/>
              </a:ext>
            </a:extLst>
          </p:cNvPr>
          <p:cNvSpPr txBox="1"/>
          <p:nvPr/>
        </p:nvSpPr>
        <p:spPr>
          <a:xfrm>
            <a:off x="9110132" y="1296118"/>
            <a:ext cx="2887133" cy="480131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171717"/>
                </a:solidFill>
                <a:effectLst/>
                <a:latin typeface="Geist"/>
              </a:rPr>
              <a:t>For example,</a:t>
            </a:r>
          </a:p>
          <a:p>
            <a:r>
              <a:rPr lang="en-US" b="0" i="0" dirty="0">
                <a:solidFill>
                  <a:srgbClr val="171717"/>
                </a:solidFill>
                <a:effectLst/>
                <a:latin typeface="Geist"/>
              </a:rPr>
              <a:t> if you need to use the same data across a route (e.g. in a Layout, Page, and multiple components), </a:t>
            </a:r>
          </a:p>
          <a:p>
            <a:endParaRPr lang="en-US" dirty="0">
              <a:solidFill>
                <a:srgbClr val="171717"/>
              </a:solidFill>
              <a:latin typeface="Geist"/>
            </a:endParaRPr>
          </a:p>
          <a:p>
            <a:r>
              <a:rPr lang="en-US" b="0" i="0" dirty="0">
                <a:solidFill>
                  <a:srgbClr val="171717"/>
                </a:solidFill>
                <a:effectLst/>
                <a:latin typeface="Geist"/>
              </a:rPr>
              <a:t>you do not have to fetch data at the top of the tree, and forward props between components. </a:t>
            </a:r>
          </a:p>
          <a:p>
            <a:r>
              <a:rPr lang="en-US" b="0" i="0" dirty="0">
                <a:solidFill>
                  <a:srgbClr val="171717"/>
                </a:solidFill>
                <a:effectLst/>
                <a:latin typeface="Geist"/>
              </a:rPr>
              <a:t>Instead, you can fetch data in the components that need it without worrying about the performance implications of making multiple requests across the network for the same data.</a:t>
            </a:r>
            <a:endParaRPr lang="en-IN" dirty="0"/>
          </a:p>
        </p:txBody>
      </p:sp>
    </p:spTree>
    <p:extLst>
      <p:ext uri="{BB962C8B-B14F-4D97-AF65-F5344CB8AC3E}">
        <p14:creationId xmlns:p14="http://schemas.microsoft.com/office/powerpoint/2010/main" val="512368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F2812A-D3F3-4F20-1E74-8B63936496FE}"/>
              </a:ext>
            </a:extLst>
          </p:cNvPr>
          <p:cNvSpPr txBox="1"/>
          <p:nvPr/>
        </p:nvSpPr>
        <p:spPr>
          <a:xfrm>
            <a:off x="126999" y="156195"/>
            <a:ext cx="5731933"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0" dirty="0">
                <a:solidFill>
                  <a:srgbClr val="0000FF"/>
                </a:solidFill>
                <a:effectLst/>
                <a:latin typeface="Consolas" panose="020B0609020204030204" pitchFamily="49" charset="0"/>
              </a:rPr>
              <a:t>async</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getItem</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8000"/>
                </a:solidFill>
                <a:effectLst/>
                <a:latin typeface="Consolas" panose="020B0609020204030204" pitchFamily="49" charset="0"/>
              </a:rPr>
              <a:t>// The `fetch` function is automatically </a:t>
            </a:r>
            <a:r>
              <a:rPr lang="en-US" b="0" dirty="0" err="1">
                <a:solidFill>
                  <a:srgbClr val="008000"/>
                </a:solidFill>
                <a:effectLst/>
                <a:latin typeface="Consolas" panose="020B0609020204030204" pitchFamily="49" charset="0"/>
              </a:rPr>
              <a:t>memoized</a:t>
            </a:r>
            <a:r>
              <a:rPr lang="en-US" b="0" dirty="0">
                <a:solidFill>
                  <a:srgbClr val="008000"/>
                </a:solidFill>
                <a:effectLst/>
                <a:latin typeface="Consolas" panose="020B0609020204030204" pitchFamily="49" charset="0"/>
              </a:rPr>
              <a:t> and the result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008000"/>
                </a:solidFill>
                <a:effectLst/>
                <a:latin typeface="Consolas" panose="020B0609020204030204" pitchFamily="49" charset="0"/>
              </a:rPr>
              <a:t>// is cached</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res</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await</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fetch</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'https://.../item/1'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res</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json</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a:p>
            <a:pPr>
              <a:buNone/>
            </a:pPr>
            <a:r>
              <a:rPr lang="en-US" b="0" dirty="0">
                <a:solidFill>
                  <a:srgbClr val="008000"/>
                </a:solidFill>
                <a:effectLst/>
                <a:latin typeface="Consolas" panose="020B0609020204030204" pitchFamily="49" charset="0"/>
              </a:rPr>
              <a:t>// This function is called twice, but only executed the first time</a:t>
            </a:r>
            <a:endParaRPr lang="en-US" b="0" dirty="0">
              <a:solidFill>
                <a:srgbClr val="3B3B3B"/>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item</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await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getItem</a:t>
            </a:r>
            <a:r>
              <a:rPr lang="en-US" b="0" dirty="0">
                <a:solidFill>
                  <a:srgbClr val="3B3B3B"/>
                </a:solidFill>
                <a:effectLst/>
                <a:latin typeface="Consolas" panose="020B0609020204030204" pitchFamily="49" charset="0"/>
              </a:rPr>
              <a:t>() </a:t>
            </a:r>
            <a:r>
              <a:rPr lang="en-US" b="0" dirty="0">
                <a:solidFill>
                  <a:srgbClr val="008000"/>
                </a:solidFill>
                <a:effectLst/>
                <a:latin typeface="Consolas" panose="020B0609020204030204" pitchFamily="49" charset="0"/>
              </a:rPr>
              <a:t>// cache MISS</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p>
          <a:p>
            <a:pPr>
              <a:buNone/>
            </a:pPr>
            <a:r>
              <a:rPr lang="en-US" b="0" dirty="0">
                <a:solidFill>
                  <a:srgbClr val="008000"/>
                </a:solidFill>
                <a:effectLst/>
                <a:latin typeface="Consolas" panose="020B0609020204030204" pitchFamily="49" charset="0"/>
              </a:rPr>
              <a:t>// The second call could be anywhere in your route</a:t>
            </a:r>
            <a:endParaRPr lang="en-US" b="0" dirty="0">
              <a:solidFill>
                <a:srgbClr val="3B3B3B"/>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item</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await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getItem</a:t>
            </a:r>
            <a:r>
              <a:rPr lang="en-US" b="0" dirty="0">
                <a:solidFill>
                  <a:srgbClr val="3B3B3B"/>
                </a:solidFill>
                <a:effectLst/>
                <a:latin typeface="Consolas" panose="020B0609020204030204" pitchFamily="49" charset="0"/>
              </a:rPr>
              <a:t>() </a:t>
            </a:r>
            <a:r>
              <a:rPr lang="en-US" b="0" dirty="0">
                <a:solidFill>
                  <a:srgbClr val="008000"/>
                </a:solidFill>
                <a:effectLst/>
                <a:latin typeface="Consolas" panose="020B0609020204030204" pitchFamily="49" charset="0"/>
              </a:rPr>
              <a:t>// cache HIT</a:t>
            </a:r>
            <a:endParaRPr lang="en-US" b="0" dirty="0">
              <a:solidFill>
                <a:srgbClr val="3B3B3B"/>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5E9AD9DB-3C5D-F6E4-DDB9-FD9447E6ADED}"/>
              </a:ext>
            </a:extLst>
          </p:cNvPr>
          <p:cNvPicPr>
            <a:picLocks noChangeAspect="1"/>
          </p:cNvPicPr>
          <p:nvPr/>
        </p:nvPicPr>
        <p:blipFill>
          <a:blip r:embed="rId2"/>
          <a:srcRect l="12885" t="1134" r="10374"/>
          <a:stretch/>
        </p:blipFill>
        <p:spPr>
          <a:xfrm>
            <a:off x="6439304" y="735593"/>
            <a:ext cx="5625697" cy="3623733"/>
          </a:xfrm>
          <a:prstGeom prst="rect">
            <a:avLst/>
          </a:prstGeom>
        </p:spPr>
      </p:pic>
      <p:sp>
        <p:nvSpPr>
          <p:cNvPr id="10" name="TextBox 9">
            <a:extLst>
              <a:ext uri="{FF2B5EF4-FFF2-40B4-BE49-F238E27FC236}">
                <a16:creationId xmlns:a16="http://schemas.microsoft.com/office/drawing/2014/main" id="{5B216F59-9BBC-8171-3F9F-AF0C795DF8BD}"/>
              </a:ext>
            </a:extLst>
          </p:cNvPr>
          <p:cNvSpPr txBox="1"/>
          <p:nvPr/>
        </p:nvSpPr>
        <p:spPr>
          <a:xfrm>
            <a:off x="7095067" y="144527"/>
            <a:ext cx="45212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dirty="0"/>
              <a:t>How Request </a:t>
            </a:r>
            <a:r>
              <a:rPr lang="en-IN" dirty="0" err="1"/>
              <a:t>Memoization</a:t>
            </a:r>
            <a:r>
              <a:rPr lang="en-IN" dirty="0"/>
              <a:t> Works</a:t>
            </a:r>
          </a:p>
        </p:txBody>
      </p:sp>
      <p:sp>
        <p:nvSpPr>
          <p:cNvPr id="13" name="TextBox 12">
            <a:extLst>
              <a:ext uri="{FF2B5EF4-FFF2-40B4-BE49-F238E27FC236}">
                <a16:creationId xmlns:a16="http://schemas.microsoft.com/office/drawing/2014/main" id="{CB190386-EF4C-7C87-1482-E6E0B051D35B}"/>
              </a:ext>
            </a:extLst>
          </p:cNvPr>
          <p:cNvSpPr txBox="1"/>
          <p:nvPr/>
        </p:nvSpPr>
        <p:spPr>
          <a:xfrm>
            <a:off x="127000" y="4766733"/>
            <a:ext cx="11938002"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While rendering a route, the first time a particular request is called, its result will not be in memory and it'll be a cache MISS.</a:t>
            </a:r>
          </a:p>
          <a:p>
            <a:r>
              <a:rPr lang="en-US" dirty="0"/>
              <a:t>Therefore, the function will be executed, and the data will be fetched from the external source, and the result will be stored in memory.</a:t>
            </a:r>
          </a:p>
          <a:p>
            <a:r>
              <a:rPr lang="en-US" dirty="0"/>
              <a:t>Subsequent function calls of the request in the same render pass will be a cache HIT, and the data will be returned from memory without executing the function.</a:t>
            </a:r>
          </a:p>
          <a:p>
            <a:r>
              <a:rPr lang="en-US" dirty="0"/>
              <a:t>Once the route has been rendered and the rendering pass is complete, memory is "reset" and all request </a:t>
            </a:r>
            <a:r>
              <a:rPr lang="en-US" dirty="0" err="1"/>
              <a:t>memoization</a:t>
            </a:r>
            <a:r>
              <a:rPr lang="en-US" dirty="0"/>
              <a:t> entries are cleared.</a:t>
            </a:r>
            <a:endParaRPr lang="en-IN" dirty="0"/>
          </a:p>
        </p:txBody>
      </p:sp>
    </p:spTree>
    <p:extLst>
      <p:ext uri="{BB962C8B-B14F-4D97-AF65-F5344CB8AC3E}">
        <p14:creationId xmlns:p14="http://schemas.microsoft.com/office/powerpoint/2010/main" val="527404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143B96-EAB0-18BE-330A-EDB7C840F8FB}"/>
              </a:ext>
            </a:extLst>
          </p:cNvPr>
          <p:cNvSpPr txBox="1"/>
          <p:nvPr/>
        </p:nvSpPr>
        <p:spPr>
          <a:xfrm>
            <a:off x="177799" y="235509"/>
            <a:ext cx="11853333" cy="3693319"/>
          </a:xfrm>
          <a:prstGeom prst="rect">
            <a:avLst/>
          </a:prstGeom>
          <a:noFill/>
        </p:spPr>
        <p:txBody>
          <a:bodyPr wrap="square">
            <a:spAutoFit/>
          </a:bodyPr>
          <a:lstStyle/>
          <a:p>
            <a:r>
              <a:rPr lang="en-US" b="1" dirty="0"/>
              <a:t>Good to know:</a:t>
            </a:r>
          </a:p>
          <a:p>
            <a:endParaRPr lang="en-US" dirty="0"/>
          </a:p>
          <a:p>
            <a:r>
              <a:rPr lang="en-US" dirty="0"/>
              <a:t>Request </a:t>
            </a:r>
            <a:r>
              <a:rPr lang="en-US" dirty="0" err="1"/>
              <a:t>memoization</a:t>
            </a:r>
            <a:r>
              <a:rPr lang="en-US" dirty="0"/>
              <a:t> is a React feature, not a Next.js feature. It's included here to show how it interacts with the other caching mechanisms.</a:t>
            </a:r>
          </a:p>
          <a:p>
            <a:r>
              <a:rPr lang="en-US" dirty="0" err="1"/>
              <a:t>Memoization</a:t>
            </a:r>
            <a:r>
              <a:rPr lang="en-US" dirty="0"/>
              <a:t> only applies to the GET method in fetch requests.</a:t>
            </a:r>
          </a:p>
          <a:p>
            <a:endParaRPr lang="en-US" dirty="0"/>
          </a:p>
          <a:p>
            <a:r>
              <a:rPr lang="en-US" dirty="0" err="1"/>
              <a:t>Memoization</a:t>
            </a:r>
            <a:r>
              <a:rPr lang="en-US" dirty="0"/>
              <a:t> only applies to the React Component tree, this means:</a:t>
            </a:r>
          </a:p>
          <a:p>
            <a:endParaRPr lang="en-US" dirty="0"/>
          </a:p>
          <a:p>
            <a:r>
              <a:rPr lang="en-US" dirty="0"/>
              <a:t>It applies to fetch requests in </a:t>
            </a:r>
            <a:r>
              <a:rPr lang="en-US" dirty="0" err="1"/>
              <a:t>generateMetadata</a:t>
            </a:r>
            <a:r>
              <a:rPr lang="en-US" dirty="0"/>
              <a:t>, </a:t>
            </a:r>
            <a:r>
              <a:rPr lang="en-US" dirty="0" err="1"/>
              <a:t>generateStaticParams</a:t>
            </a:r>
            <a:r>
              <a:rPr lang="en-US" dirty="0"/>
              <a:t>, Layouts, Pages, and other Server Components.</a:t>
            </a:r>
          </a:p>
          <a:p>
            <a:r>
              <a:rPr lang="en-US" dirty="0"/>
              <a:t>It doesn't apply to fetch requests in Route Handlers as they are not a part of the React component tree.</a:t>
            </a:r>
          </a:p>
          <a:p>
            <a:endParaRPr lang="en-US" dirty="0"/>
          </a:p>
          <a:p>
            <a:r>
              <a:rPr lang="en-US" dirty="0"/>
              <a:t>For cases where fetch is not suitable (e.g. some database clients, CMS clients, or </a:t>
            </a:r>
            <a:r>
              <a:rPr lang="en-US" dirty="0" err="1"/>
              <a:t>GraphQL</a:t>
            </a:r>
            <a:r>
              <a:rPr lang="en-US" dirty="0"/>
              <a:t> clients), you can use the React cache function to </a:t>
            </a:r>
            <a:r>
              <a:rPr lang="en-US" dirty="0" err="1"/>
              <a:t>memoize</a:t>
            </a:r>
            <a:r>
              <a:rPr lang="en-US" dirty="0"/>
              <a:t> functions.</a:t>
            </a:r>
            <a:endParaRPr lang="en-IN" dirty="0"/>
          </a:p>
        </p:txBody>
      </p:sp>
    </p:spTree>
    <p:extLst>
      <p:ext uri="{BB962C8B-B14F-4D97-AF65-F5344CB8AC3E}">
        <p14:creationId xmlns:p14="http://schemas.microsoft.com/office/powerpoint/2010/main" val="3212413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8D1F5D-A15C-B141-75D1-ED03D3914AA6}"/>
              </a:ext>
            </a:extLst>
          </p:cNvPr>
          <p:cNvSpPr txBox="1"/>
          <p:nvPr/>
        </p:nvSpPr>
        <p:spPr>
          <a:xfrm>
            <a:off x="4148667" y="77800"/>
            <a:ext cx="3539067"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dirty="0"/>
              <a:t>Data Cache</a:t>
            </a:r>
          </a:p>
        </p:txBody>
      </p:sp>
      <p:sp>
        <p:nvSpPr>
          <p:cNvPr id="7" name="TextBox 6">
            <a:extLst>
              <a:ext uri="{FF2B5EF4-FFF2-40B4-BE49-F238E27FC236}">
                <a16:creationId xmlns:a16="http://schemas.microsoft.com/office/drawing/2014/main" id="{CFE94588-BF2B-9508-01C0-8606F49DC9F9}"/>
              </a:ext>
            </a:extLst>
          </p:cNvPr>
          <p:cNvSpPr txBox="1"/>
          <p:nvPr/>
        </p:nvSpPr>
        <p:spPr>
          <a:xfrm>
            <a:off x="59266" y="641403"/>
            <a:ext cx="11717867" cy="923330"/>
          </a:xfrm>
          <a:prstGeom prst="rect">
            <a:avLst/>
          </a:prstGeom>
          <a:noFill/>
        </p:spPr>
        <p:txBody>
          <a:bodyPr wrap="square">
            <a:spAutoFit/>
          </a:bodyPr>
          <a:lstStyle/>
          <a:p>
            <a:r>
              <a:rPr lang="en-US" dirty="0"/>
              <a:t>Next.js has a built-in Data Cache that persists the result of data fetches across incoming server requests and deployments. This is possible because Next.js extends the native fetch API to allow each request on the server to set its own persistent caching semantics</a:t>
            </a:r>
            <a:endParaRPr lang="en-IN" dirty="0"/>
          </a:p>
        </p:txBody>
      </p:sp>
      <p:pic>
        <p:nvPicPr>
          <p:cNvPr id="8" name="Picture 7">
            <a:extLst>
              <a:ext uri="{FF2B5EF4-FFF2-40B4-BE49-F238E27FC236}">
                <a16:creationId xmlns:a16="http://schemas.microsoft.com/office/drawing/2014/main" id="{715735DB-9B6E-B26E-9223-D62DECBF71A6}"/>
              </a:ext>
            </a:extLst>
          </p:cNvPr>
          <p:cNvPicPr>
            <a:picLocks noChangeAspect="1"/>
          </p:cNvPicPr>
          <p:nvPr/>
        </p:nvPicPr>
        <p:blipFill>
          <a:blip r:embed="rId2"/>
          <a:srcRect l="8403" t="4481" r="7986"/>
          <a:stretch/>
        </p:blipFill>
        <p:spPr>
          <a:xfrm>
            <a:off x="465666" y="1888067"/>
            <a:ext cx="10193868" cy="4811130"/>
          </a:xfrm>
          <a:prstGeom prst="rect">
            <a:avLst/>
          </a:prstGeom>
        </p:spPr>
      </p:pic>
    </p:spTree>
    <p:extLst>
      <p:ext uri="{BB962C8B-B14F-4D97-AF65-F5344CB8AC3E}">
        <p14:creationId xmlns:p14="http://schemas.microsoft.com/office/powerpoint/2010/main" val="1421949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BDDB5B-9B07-35C5-74C8-FA94F3A97206}"/>
              </a:ext>
            </a:extLst>
          </p:cNvPr>
          <p:cNvSpPr>
            <a:spLocks noGrp="1"/>
          </p:cNvSpPr>
          <p:nvPr>
            <p:ph idx="1"/>
          </p:nvPr>
        </p:nvSpPr>
        <p:spPr/>
        <p:txBody>
          <a:bodyPr/>
          <a:lstStyle/>
          <a:p>
            <a:r>
              <a:rPr lang="en-US" dirty="0">
                <a:hlinkClick r:id="rId2"/>
              </a:rPr>
              <a:t>Next.js 15 + React 19 - </a:t>
            </a:r>
            <a:r>
              <a:rPr lang="en-US" dirty="0" err="1">
                <a:hlinkClick r:id="rId2"/>
              </a:rPr>
              <a:t>shadcn</a:t>
            </a:r>
            <a:r>
              <a:rPr lang="en-US" dirty="0">
                <a:hlinkClick r:id="rId2"/>
              </a:rPr>
              <a:t>/</a:t>
            </a:r>
            <a:r>
              <a:rPr lang="en-US" dirty="0" err="1">
                <a:hlinkClick r:id="rId2"/>
              </a:rPr>
              <a:t>ui</a:t>
            </a:r>
            <a:endParaRPr lang="en-US" dirty="0"/>
          </a:p>
          <a:p>
            <a:r>
              <a:rPr lang="en-US" dirty="0">
                <a:hlinkClick r:id="rId3"/>
              </a:rPr>
              <a:t>The Content Operating System | Sanity</a:t>
            </a:r>
            <a:endParaRPr lang="en-US" dirty="0"/>
          </a:p>
          <a:p>
            <a:r>
              <a:rPr lang="en-IN" dirty="0">
                <a:hlinkClick r:id="rId4"/>
              </a:rPr>
              <a:t>Auth.js | </a:t>
            </a:r>
            <a:r>
              <a:rPr lang="en-IN" dirty="0" err="1">
                <a:hlinkClick r:id="rId4"/>
              </a:rPr>
              <a:t>Github</a:t>
            </a:r>
            <a:endParaRPr lang="en-IN" dirty="0"/>
          </a:p>
          <a:p>
            <a:r>
              <a:rPr lang="en-IN">
                <a:hlinkClick r:id="rId5"/>
              </a:rPr>
              <a:t>Vision |</a:t>
            </a:r>
            <a:r>
              <a:rPr lang="en-IN"/>
              <a:t>http://localhost:3000/studio/vision</a:t>
            </a:r>
            <a:endParaRPr lang="en-IN" dirty="0"/>
          </a:p>
        </p:txBody>
      </p:sp>
    </p:spTree>
    <p:extLst>
      <p:ext uri="{BB962C8B-B14F-4D97-AF65-F5344CB8AC3E}">
        <p14:creationId xmlns:p14="http://schemas.microsoft.com/office/powerpoint/2010/main" val="1753138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TotalTime>
  <Words>2022</Words>
  <Application>Microsoft Office PowerPoint</Application>
  <PresentationFormat>Widescreen</PresentationFormat>
  <Paragraphs>178</Paragraphs>
  <Slides>22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Arial</vt:lpstr>
      <vt:lpstr>Calibri</vt:lpstr>
      <vt:lpstr>Calibri Light</vt:lpstr>
      <vt:lpstr>Consolas</vt:lpstr>
      <vt:lpstr>Geist</vt:lpstr>
      <vt:lpstr>T3Font_138</vt:lpstr>
      <vt:lpstr>T3Font_154</vt:lpstr>
      <vt:lpstr>T3Font_158</vt:lpstr>
      <vt:lpstr>T3Font_94</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PPR Partial pre rendering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 mantri vidyanidhi infotech academy</dc:creator>
  <cp:lastModifiedBy>sriram mantri vidyanidhi infotech academy</cp:lastModifiedBy>
  <cp:revision>49</cp:revision>
  <dcterms:created xsi:type="dcterms:W3CDTF">2025-03-10T10:56:33Z</dcterms:created>
  <dcterms:modified xsi:type="dcterms:W3CDTF">2025-03-26T09:33:36Z</dcterms:modified>
</cp:coreProperties>
</file>