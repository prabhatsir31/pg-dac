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1026B-8493-DC28-FF5B-04DF321A0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5E78A9-173C-95B9-4446-6453D82EB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1E313C-1AB7-57D9-4A45-6241508F4195}"/>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2FB7F814-8D68-7F58-2B67-6186CD8535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9BFC6-C0ED-D13C-6D8C-DDF2DDAC4BFE}"/>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3136375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F753-FE3A-894C-2846-B0BBDBA976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595AFF-7472-FDA7-40FC-E25F0B2502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D1A30-D16F-F500-FF87-0FD162553FA4}"/>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BAED7B0F-BD15-9CB7-0C87-80BA09DF9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642C24-2B47-8260-936E-E068800B948C}"/>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68317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A765-CBD1-602F-4EDB-4DDEFC90D4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20F2FC-D53B-5BEB-24DC-9971DBD8F4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1376E3-D647-4079-EB2F-34DA96171656}"/>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89AD191E-DE30-0CC8-113F-C7799B4C5F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D822F3-1859-B24B-013A-9229AC849644}"/>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1495365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02DCD-02CE-63E4-16F3-A5C7DB4B30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005A9E-39DA-BF0E-751E-E878709D0C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8C494D-BF0A-71A0-E1A9-3619EA6439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ACB1F2-9091-45E0-7B1F-DFD29B6FBBAA}"/>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6" name="Footer Placeholder 5">
            <a:extLst>
              <a:ext uri="{FF2B5EF4-FFF2-40B4-BE49-F238E27FC236}">
                <a16:creationId xmlns:a16="http://schemas.microsoft.com/office/drawing/2014/main" id="{A175BA6A-F64D-1A4F-02F2-01C829FEC9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483057-6F91-337A-359F-EBCA308981FF}"/>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1468699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9EFF0-6B09-1FC2-AF9E-067B63043B6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41073E-3651-01BA-211A-49D0984322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BB15EA-DFEF-C38B-9290-6989ED9879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265986-352A-E27E-7DD7-D9AF2A2D02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6BF1AF-2CED-FB49-5D63-FE1A3A6BBF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FE466E-8F31-8C3F-8B98-5CCD0D6AD5FA}"/>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8" name="Footer Placeholder 7">
            <a:extLst>
              <a:ext uri="{FF2B5EF4-FFF2-40B4-BE49-F238E27FC236}">
                <a16:creationId xmlns:a16="http://schemas.microsoft.com/office/drawing/2014/main" id="{C98BC530-D9E0-62AD-2BF0-18C9953B7B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C2CE07-6D42-6AD0-74B2-3F64277C5027}"/>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2627848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04E5-4EDD-1A5D-B67A-25B11D5EBC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289CD7-DB8B-DF37-F6A5-69B5A57DB9A5}"/>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4" name="Footer Placeholder 3">
            <a:extLst>
              <a:ext uri="{FF2B5EF4-FFF2-40B4-BE49-F238E27FC236}">
                <a16:creationId xmlns:a16="http://schemas.microsoft.com/office/drawing/2014/main" id="{01CCA6CB-9AA1-AA69-48D2-133BB1757F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154C23-CA15-EE3A-0622-4B548ACB9678}"/>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104162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E9303-BEB0-0661-4819-3D3ABCF6A35F}"/>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3" name="Footer Placeholder 2">
            <a:extLst>
              <a:ext uri="{FF2B5EF4-FFF2-40B4-BE49-F238E27FC236}">
                <a16:creationId xmlns:a16="http://schemas.microsoft.com/office/drawing/2014/main" id="{934BCC40-694D-7839-91EF-5FB0A41AC7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67C597-C172-9B3A-2C2C-2267D75B240D}"/>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2384138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D447-9B51-A83D-AE68-B0CBC15F69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1B51F0-D6F1-9128-2765-29469E3884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2CEFF9-6728-D74F-5191-7EF7E14BA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2BB12-A892-0CE4-9288-A8C77787F070}"/>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6" name="Footer Placeholder 5">
            <a:extLst>
              <a:ext uri="{FF2B5EF4-FFF2-40B4-BE49-F238E27FC236}">
                <a16:creationId xmlns:a16="http://schemas.microsoft.com/office/drawing/2014/main" id="{A0E0D507-6ECB-E25F-33CD-679E0F5222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C93849-46EE-1D99-AB40-AAD4B1299542}"/>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1078004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793F-9A6A-BEBB-A011-52EB94EBC0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D08A43-DCE5-C6D8-7D8F-C2E4796B0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D8FE3A-E505-531A-05E0-292928B1C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8B1217-DF34-E122-B96C-E5C5A81CFD96}"/>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6" name="Footer Placeholder 5">
            <a:extLst>
              <a:ext uri="{FF2B5EF4-FFF2-40B4-BE49-F238E27FC236}">
                <a16:creationId xmlns:a16="http://schemas.microsoft.com/office/drawing/2014/main" id="{7C1F937A-CE4B-9A63-CE27-F206CF34B2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BABF45-718D-8956-4664-A30204B0F243}"/>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594759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CAD7-09B6-575A-DD0B-9EB5377BCD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220029-88AB-FABE-14BE-51B349B655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EF8C48-236C-534C-85C1-C733BB525985}"/>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C015ACF1-A67A-2043-33B2-19F17201E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963809-5033-CF4F-36BF-E309104036CD}"/>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349524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3E8BE-ACEB-067A-86F6-85978AD030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F40B6C-2A8D-DB1B-AA10-F20B93D24C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7D2C0D-2B1E-42D2-55EF-D1938013082C}"/>
              </a:ext>
            </a:extLst>
          </p:cNvPr>
          <p:cNvSpPr>
            <a:spLocks noGrp="1"/>
          </p:cNvSpPr>
          <p:nvPr>
            <p:ph type="dt" sz="half" idx="10"/>
          </p:nvPr>
        </p:nvSpPr>
        <p:spPr/>
        <p:txBody>
          <a:body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449D057A-008C-18C4-5C6D-B462BDE69A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3A3992-A5E7-0CFC-6BF4-744C83176F63}"/>
              </a:ext>
            </a:extLst>
          </p:cNvPr>
          <p:cNvSpPr>
            <a:spLocks noGrp="1"/>
          </p:cNvSpPr>
          <p:nvPr>
            <p:ph type="sldNum" sz="quarter" idx="12"/>
          </p:nvPr>
        </p:nvSpPr>
        <p:spPr/>
        <p:txBody>
          <a:bodyPr/>
          <a:lstStyle/>
          <a:p>
            <a:fld id="{73C4236D-3AE3-4011-965A-8B7D771276BC}" type="slidenum">
              <a:rPr lang="en-IN" smtClean="0"/>
              <a:t>‹#›</a:t>
            </a:fld>
            <a:endParaRPr lang="en-IN"/>
          </a:p>
        </p:txBody>
      </p:sp>
    </p:spTree>
    <p:extLst>
      <p:ext uri="{BB962C8B-B14F-4D97-AF65-F5344CB8AC3E}">
        <p14:creationId xmlns:p14="http://schemas.microsoft.com/office/powerpoint/2010/main" val="584149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AF6DBC-F706-6A4F-7C30-71BD486A67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C07A80-C6D7-E896-C600-372E05B26D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69511E-7DB3-4FF5-1820-63983DD039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134E0-4B79-4837-9B58-6C7D1FF4D88C}" type="datetimeFigureOut">
              <a:rPr lang="en-IN" smtClean="0"/>
              <a:t>13-03-2025</a:t>
            </a:fld>
            <a:endParaRPr lang="en-IN"/>
          </a:p>
        </p:txBody>
      </p:sp>
      <p:sp>
        <p:nvSpPr>
          <p:cNvPr id="5" name="Footer Placeholder 4">
            <a:extLst>
              <a:ext uri="{FF2B5EF4-FFF2-40B4-BE49-F238E27FC236}">
                <a16:creationId xmlns:a16="http://schemas.microsoft.com/office/drawing/2014/main" id="{EB41FC14-DA01-BEF3-28C0-2253B9F171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086C7E-71BF-B8D3-F392-331D9B4989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C4236D-3AE3-4011-965A-8B7D771276BC}" type="slidenum">
              <a:rPr lang="en-IN" smtClean="0"/>
              <a:t>‹#›</a:t>
            </a:fld>
            <a:endParaRPr lang="en-IN"/>
          </a:p>
        </p:txBody>
      </p:sp>
    </p:spTree>
    <p:extLst>
      <p:ext uri="{BB962C8B-B14F-4D97-AF65-F5344CB8AC3E}">
        <p14:creationId xmlns:p14="http://schemas.microsoft.com/office/powerpoint/2010/main" val="310121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E7754B-867A-3B6D-6C2E-DC856E321040}"/>
              </a:ext>
            </a:extLst>
          </p:cNvPr>
          <p:cNvSpPr txBox="1"/>
          <p:nvPr/>
        </p:nvSpPr>
        <p:spPr>
          <a:xfrm>
            <a:off x="211666" y="213647"/>
            <a:ext cx="11413068" cy="5078313"/>
          </a:xfrm>
          <a:prstGeom prst="rect">
            <a:avLst/>
          </a:prstGeom>
          <a:noFill/>
        </p:spPr>
        <p:txBody>
          <a:bodyPr wrap="square">
            <a:spAutoFit/>
          </a:bodyPr>
          <a:lstStyle/>
          <a:p>
            <a:pPr algn="ctr"/>
            <a:r>
              <a:rPr lang="en-US" b="1" dirty="0"/>
              <a:t>Static Metadata</a:t>
            </a:r>
          </a:p>
          <a:p>
            <a:pPr algn="ctr"/>
            <a:endParaRPr lang="en-US" b="1" dirty="0"/>
          </a:p>
          <a:p>
            <a:r>
              <a:rPr lang="en-US" dirty="0"/>
              <a:t>Simply put, it’s information that doesn't change very often, if at all. This includes things like the page title, meta description, and meta keywords. Once set, these elements remain the same unless</a:t>
            </a:r>
          </a:p>
          <a:p>
            <a:r>
              <a:rPr lang="en-US" dirty="0"/>
              <a:t>intentionally updated by a website owner or developer. It's like writing your name on a label that's stuck on a box - it's there to stay unless you physically change it.</a:t>
            </a:r>
          </a:p>
          <a:p>
            <a:endParaRPr lang="en-US" dirty="0"/>
          </a:p>
          <a:p>
            <a:endParaRPr lang="en-US" dirty="0"/>
          </a:p>
          <a:p>
            <a:pPr algn="ctr"/>
            <a:r>
              <a:rPr lang="en-US" b="1" dirty="0"/>
              <a:t>Dynamic Metadata</a:t>
            </a:r>
          </a:p>
          <a:p>
            <a:pPr algn="ctr"/>
            <a:endParaRPr lang="en-US" b="1" dirty="0"/>
          </a:p>
          <a:p>
            <a:r>
              <a:rPr lang="en-US" dirty="0"/>
              <a:t>As you can guess, it’s information that can change based on various factors like user interactions, search queries, or other conditions.</a:t>
            </a:r>
          </a:p>
          <a:p>
            <a:r>
              <a:rPr lang="en-US" dirty="0"/>
              <a:t>This type of metadata is often generated automatically by a website’s content management system (CMS) or scripting languages.</a:t>
            </a:r>
          </a:p>
          <a:p>
            <a:r>
              <a:rPr lang="en-US" dirty="0"/>
              <a:t>For instance, the meta description might change depending on the specific search term a user uses or based on the content of the page.</a:t>
            </a:r>
          </a:p>
          <a:p>
            <a:r>
              <a:rPr lang="en-US" dirty="0"/>
              <a:t>It's like a label that updates itself depending on what's inside the box or who's looking at it.</a:t>
            </a:r>
          </a:p>
          <a:p>
            <a:r>
              <a:rPr lang="en-US" dirty="0"/>
              <a:t>Understood?</a:t>
            </a:r>
            <a:endParaRPr lang="en-IN" dirty="0"/>
          </a:p>
        </p:txBody>
      </p:sp>
    </p:spTree>
    <p:extLst>
      <p:ext uri="{BB962C8B-B14F-4D97-AF65-F5344CB8AC3E}">
        <p14:creationId xmlns:p14="http://schemas.microsoft.com/office/powerpoint/2010/main" val="3050374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4DDA8A-DD3B-2FA1-11C8-04A7578A1B04}"/>
              </a:ext>
            </a:extLst>
          </p:cNvPr>
          <p:cNvPicPr>
            <a:picLocks noChangeAspect="1"/>
          </p:cNvPicPr>
          <p:nvPr/>
        </p:nvPicPr>
        <p:blipFill>
          <a:blip r:embed="rId2"/>
          <a:stretch>
            <a:fillRect/>
          </a:stretch>
        </p:blipFill>
        <p:spPr>
          <a:xfrm>
            <a:off x="0" y="0"/>
            <a:ext cx="6691086" cy="6858000"/>
          </a:xfrm>
          <a:prstGeom prst="rect">
            <a:avLst/>
          </a:prstGeom>
        </p:spPr>
      </p:pic>
      <p:sp>
        <p:nvSpPr>
          <p:cNvPr id="7" name="TextBox 6">
            <a:extLst>
              <a:ext uri="{FF2B5EF4-FFF2-40B4-BE49-F238E27FC236}">
                <a16:creationId xmlns:a16="http://schemas.microsoft.com/office/drawing/2014/main" id="{D98AD488-50C3-A884-9D91-9FEC09B2BE31}"/>
              </a:ext>
            </a:extLst>
          </p:cNvPr>
          <p:cNvSpPr txBox="1"/>
          <p:nvPr/>
        </p:nvSpPr>
        <p:spPr>
          <a:xfrm>
            <a:off x="6758818" y="78939"/>
            <a:ext cx="5433181" cy="2308324"/>
          </a:xfrm>
          <a:prstGeom prst="rect">
            <a:avLst/>
          </a:prstGeom>
          <a:noFill/>
        </p:spPr>
        <p:txBody>
          <a:bodyPr wrap="square">
            <a:spAutoFit/>
          </a:bodyPr>
          <a:lstStyle/>
          <a:p>
            <a:pPr algn="ctr"/>
            <a:r>
              <a:rPr lang="en-US" b="1" dirty="0">
                <a:solidFill>
                  <a:schemeClr val="accent1"/>
                </a:solidFill>
              </a:rPr>
              <a:t>Dynamic Metadata</a:t>
            </a:r>
          </a:p>
          <a:p>
            <a:r>
              <a:rPr lang="en-US" dirty="0"/>
              <a:t>If there are dynamically generated pages, i.e., dynamic routes, that we</a:t>
            </a:r>
          </a:p>
          <a:p>
            <a:r>
              <a:rPr lang="en-US" dirty="0"/>
              <a:t>want search engines to index—which is a best practice—we can use the </a:t>
            </a:r>
            <a:r>
              <a:rPr lang="en-US" b="1" u="sng" dirty="0" err="1"/>
              <a:t>generateMetadata</a:t>
            </a:r>
            <a:r>
              <a:rPr lang="en-US" b="1" u="sng" dirty="0"/>
              <a:t> function </a:t>
            </a:r>
            <a:r>
              <a:rPr lang="en-US" dirty="0"/>
              <a:t>in Next.js to produce metadata specifically tailored for these pages.</a:t>
            </a:r>
          </a:p>
          <a:p>
            <a:endParaRPr lang="en-IN" dirty="0"/>
          </a:p>
        </p:txBody>
      </p:sp>
      <p:pic>
        <p:nvPicPr>
          <p:cNvPr id="9" name="Picture 8">
            <a:extLst>
              <a:ext uri="{FF2B5EF4-FFF2-40B4-BE49-F238E27FC236}">
                <a16:creationId xmlns:a16="http://schemas.microsoft.com/office/drawing/2014/main" id="{3402FDAE-832E-B906-DFC1-F8E910DC9469}"/>
              </a:ext>
            </a:extLst>
          </p:cNvPr>
          <p:cNvPicPr>
            <a:picLocks noChangeAspect="1"/>
          </p:cNvPicPr>
          <p:nvPr/>
        </p:nvPicPr>
        <p:blipFill>
          <a:blip r:embed="rId3"/>
          <a:stretch>
            <a:fillRect/>
          </a:stretch>
        </p:blipFill>
        <p:spPr>
          <a:xfrm>
            <a:off x="6691086" y="2175933"/>
            <a:ext cx="5618503" cy="4586533"/>
          </a:xfrm>
          <a:prstGeom prst="rect">
            <a:avLst/>
          </a:prstGeom>
        </p:spPr>
      </p:pic>
    </p:spTree>
    <p:extLst>
      <p:ext uri="{BB962C8B-B14F-4D97-AF65-F5344CB8AC3E}">
        <p14:creationId xmlns:p14="http://schemas.microsoft.com/office/powerpoint/2010/main" val="422733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5C121D-48EA-FB2A-0C6F-1C0B227912BD}"/>
              </a:ext>
            </a:extLst>
          </p:cNvPr>
          <p:cNvPicPr>
            <a:picLocks noChangeAspect="1"/>
          </p:cNvPicPr>
          <p:nvPr/>
        </p:nvPicPr>
        <p:blipFill>
          <a:blip r:embed="rId2"/>
          <a:stretch>
            <a:fillRect/>
          </a:stretch>
        </p:blipFill>
        <p:spPr>
          <a:xfrm>
            <a:off x="175769" y="0"/>
            <a:ext cx="6354062" cy="3296110"/>
          </a:xfrm>
          <a:prstGeom prst="rect">
            <a:avLst/>
          </a:prstGeom>
        </p:spPr>
      </p:pic>
      <p:pic>
        <p:nvPicPr>
          <p:cNvPr id="7" name="Picture 6">
            <a:extLst>
              <a:ext uri="{FF2B5EF4-FFF2-40B4-BE49-F238E27FC236}">
                <a16:creationId xmlns:a16="http://schemas.microsoft.com/office/drawing/2014/main" id="{49841613-6236-F265-0827-184DE5C313EE}"/>
              </a:ext>
            </a:extLst>
          </p:cNvPr>
          <p:cNvPicPr>
            <a:picLocks noChangeAspect="1"/>
          </p:cNvPicPr>
          <p:nvPr/>
        </p:nvPicPr>
        <p:blipFill>
          <a:blip r:embed="rId3"/>
          <a:stretch>
            <a:fillRect/>
          </a:stretch>
        </p:blipFill>
        <p:spPr>
          <a:xfrm>
            <a:off x="175769" y="3296110"/>
            <a:ext cx="6535062" cy="1819529"/>
          </a:xfrm>
          <a:prstGeom prst="rect">
            <a:avLst/>
          </a:prstGeom>
        </p:spPr>
      </p:pic>
      <p:pic>
        <p:nvPicPr>
          <p:cNvPr id="9" name="Picture 8">
            <a:extLst>
              <a:ext uri="{FF2B5EF4-FFF2-40B4-BE49-F238E27FC236}">
                <a16:creationId xmlns:a16="http://schemas.microsoft.com/office/drawing/2014/main" id="{120F9F1A-9156-B7F3-AE66-393596878DF3}"/>
              </a:ext>
            </a:extLst>
          </p:cNvPr>
          <p:cNvPicPr>
            <a:picLocks noChangeAspect="1"/>
          </p:cNvPicPr>
          <p:nvPr/>
        </p:nvPicPr>
        <p:blipFill>
          <a:blip r:embed="rId4"/>
          <a:stretch>
            <a:fillRect/>
          </a:stretch>
        </p:blipFill>
        <p:spPr>
          <a:xfrm>
            <a:off x="2666521" y="5628696"/>
            <a:ext cx="6858957" cy="714475"/>
          </a:xfrm>
          <a:prstGeom prst="rect">
            <a:avLst/>
          </a:prstGeom>
        </p:spPr>
      </p:pic>
    </p:spTree>
    <p:extLst>
      <p:ext uri="{BB962C8B-B14F-4D97-AF65-F5344CB8AC3E}">
        <p14:creationId xmlns:p14="http://schemas.microsoft.com/office/powerpoint/2010/main" val="2287419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218</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mantri vidyanidhi infotech academy</dc:creator>
  <cp:lastModifiedBy>sriram mantri vidyanidhi infotech academy</cp:lastModifiedBy>
  <cp:revision>7</cp:revision>
  <dcterms:created xsi:type="dcterms:W3CDTF">2025-03-11T10:03:09Z</dcterms:created>
  <dcterms:modified xsi:type="dcterms:W3CDTF">2025-03-13T05:33:15Z</dcterms:modified>
</cp:coreProperties>
</file>