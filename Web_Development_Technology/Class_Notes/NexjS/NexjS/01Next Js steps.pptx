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7" r:id="rId5"/>
    <p:sldId id="258" r:id="rId6"/>
    <p:sldId id="261" r:id="rId7"/>
    <p:sldId id="262" r:id="rId8"/>
    <p:sldId id="263" r:id="rId9"/>
    <p:sldId id="265" r:id="rId10"/>
    <p:sldId id="264" r:id="rId11"/>
    <p:sldId id="270" r:id="rId12"/>
    <p:sldId id="271" r:id="rId13"/>
    <p:sldId id="266" r:id="rId14"/>
    <p:sldId id="272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3A8DF-72BA-41F6-DB5B-07F9C683B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6B3D30-2705-32A5-B5B0-53EDE39C38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CFF65-3435-24DA-212F-C1FDDA15C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50B35-CAE3-44C4-A65A-61E7EB6111CC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84901-ADAD-3676-DBB3-5F663D7E4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44CE3-BCA8-4712-BE8F-F9A05EEC9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38CE1-BBBC-4558-9DF6-C565B8489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198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04144-E536-16B2-AF93-1C5C3F046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8DEAF-5180-FB28-2949-096452AAE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F1994-4A10-C039-0C86-AB164FFC5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50B35-CAE3-44C4-A65A-61E7EB6111CC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DB81E-F17C-3C01-36E2-381A9AC4F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03193-2619-599F-ECF9-7FE9DBFC6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38CE1-BBBC-4558-9DF6-C565B8489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5077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ECC6C-C156-C402-C340-574FA9F52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0E477-00F5-46BC-B59B-9452B7079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CEA1E-51B6-1E7F-54D0-4ADB6DC96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50B35-CAE3-44C4-A65A-61E7EB6111CC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3792A-C510-5091-85EB-B935D5988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BF5FC-69DA-0A5C-3367-8AD40A8D5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38CE1-BBBC-4558-9DF6-C565B8489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039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2F7CD-8418-06FF-ACDD-CB102E599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FDFCC-3424-33DB-9FBD-95D8722B36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96B0B-C0F3-4C90-36CF-52431037F1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D5FA0-3B24-11D2-7E65-7405718FB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50B35-CAE3-44C4-A65A-61E7EB6111CC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DAED5-6489-01B3-22AF-67C0359C1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83B156-AB46-7D64-FB5C-BD5C54B68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38CE1-BBBC-4558-9DF6-C565B8489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253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B9AC0-F4DC-0389-C6AA-632EF187C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270DA-DCEA-B3E1-D6FF-E57160278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A99E0A-04D7-6D0E-158F-05102EE8FF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F34417-BEEA-DC9F-EE89-D1C5BB951B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E9C1B7-E899-E60D-797D-245895068F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524B73-05A4-BF63-5751-53D61FF7F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50B35-CAE3-44C4-A65A-61E7EB6111CC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E8E1E6-E0DB-9F52-17B2-A2A5ABEB0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5523C-BED8-4AF3-A8D4-430EF0458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38CE1-BBBC-4558-9DF6-C565B8489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991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0D088-CE70-1C49-E07A-F1E010CCA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0B1D12-0881-D3CC-5F67-D33A21874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50B35-CAE3-44C4-A65A-61E7EB6111CC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E306F1-5580-B68F-B692-10F8B6AEA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9F77FB-E2BE-7C1D-C2FC-5289368BC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38CE1-BBBC-4558-9DF6-C565B8489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015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770294-682F-08CC-7365-7DD1D1249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50B35-CAE3-44C4-A65A-61E7EB6111CC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C43EB2-4ADC-E42B-E5B6-95E6323F4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A807D-F3D4-2E5F-68C9-F5650A402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38CE1-BBBC-4558-9DF6-C565B8489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918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6F071-9857-048B-A9A2-40843FACA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11FDB-7520-9488-B34D-1B0B9D51E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113F9-2C53-DFBE-B690-DAFF89EF8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961FFC-3DB2-C5F1-CA24-4EB6C54F2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50B35-CAE3-44C4-A65A-61E7EB6111CC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734321-FE2B-AB34-254C-3304B3CB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9F259C-5D67-14FA-950D-A158E1502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38CE1-BBBC-4558-9DF6-C565B8489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350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E972B-E10E-9E53-E077-5A2B7E09F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EA0D38-0C16-634A-9C6A-6DB74488AC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1578B5-E235-7ECC-313C-BF6C04241D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4A454-92A9-E7E0-D4CA-68141CB66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50B35-CAE3-44C4-A65A-61E7EB6111CC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62653-3079-ED0B-AB57-CF47C5A05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76ACCE-9E14-160C-F5DE-7177FCF04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38CE1-BBBC-4558-9DF6-C565B8489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784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FF8C6-A34B-3D81-6F33-4A4CFCDBF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AE80CC-C11A-B2EB-AFDF-B6C1C54BA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A1A44-EE49-7400-9512-6661AFA92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50B35-CAE3-44C4-A65A-61E7EB6111CC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3AB49-19FE-6A77-2B12-909E2A20A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73AAB-80BC-3259-4CD9-273A88EC2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38CE1-BBBC-4558-9DF6-C565B8489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456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1E0279-F0FB-970D-D9FB-545A5C96E9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7CA250-E7BE-A35F-18D4-4295DDD24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2C0B1-07D5-8BA9-58DC-8CC095CFC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50B35-CAE3-44C4-A65A-61E7EB6111CC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F0BD1-8183-A40D-3632-84BDA4F66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ED908-36BD-0E2D-4A8D-96BF5BEC6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38CE1-BBBC-4558-9DF6-C565B8489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939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8C3685-5E99-150C-8D84-0AB3512C7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643A5-006F-26C6-1747-A3A59247F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D428D-FD69-88DC-8129-547D7C0905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50B35-CAE3-44C4-A65A-61E7EB6111CC}" type="datetimeFigureOut">
              <a:rPr lang="en-IN" smtClean="0"/>
              <a:t>14-07-2025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72E44-21F3-0FA2-743D-5839D852B1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5B54D-6A0B-2805-3201-7180EFBF3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38CE1-BBBC-4558-9DF6-C565B8489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53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nextjs.org/docs/14/app/building-your-application/routing#nested-routes" TargetMode="External"/><Relationship Id="rId2" Type="http://schemas.openxmlformats.org/officeDocument/2006/relationships/hyperlink" Target="https://nextjs.org/docs/14/app/building-your-application/routing#route-segment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nextjs.org/docs/14/pages/building-your-application/routing" TargetMode="External"/><Relationship Id="rId2" Type="http://schemas.openxmlformats.org/officeDocument/2006/relationships/hyperlink" Target="https://nextjs.org/docs/14/app/building-your-application/routing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hyperlink" Target="https://nextjs.org/docs/14/app/building-your-application/configuring/src-directory" TargetMode="External"/><Relationship Id="rId4" Type="http://schemas.openxmlformats.org/officeDocument/2006/relationships/hyperlink" Target="https://nextjs.org/docs/14/app/building-your-application/optimizing/static-assets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nextjs.org/docs/14/getting-started/project-structure#top-level-files" TargetMode="External"/><Relationship Id="rId3" Type="http://schemas.openxmlformats.org/officeDocument/2006/relationships/hyperlink" Target="https://nextjs.org/docs/14/getting-started/installation#manual-installation" TargetMode="External"/><Relationship Id="rId7" Type="http://schemas.openxmlformats.org/officeDocument/2006/relationships/hyperlink" Target="https://nextjs.org/docs/14/app/building-your-application/configuring/eslint" TargetMode="External"/><Relationship Id="rId2" Type="http://schemas.openxmlformats.org/officeDocument/2006/relationships/hyperlink" Target="https://nextjs.org/docs/14/app/api-reference/next-config-j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extjs.org/docs/14/app/building-your-application/configuring/environment-variables" TargetMode="External"/><Relationship Id="rId5" Type="http://schemas.openxmlformats.org/officeDocument/2006/relationships/hyperlink" Target="https://nextjs.org/docs/14/app/building-your-application/routing/middleware" TargetMode="External"/><Relationship Id="rId4" Type="http://schemas.openxmlformats.org/officeDocument/2006/relationships/hyperlink" Target="https://nextjs.org/docs/14/app/building-your-application/optimizing/instrumentation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B4D58A-C468-4E8E-0D45-19001FC4C2CB}"/>
              </a:ext>
            </a:extLst>
          </p:cNvPr>
          <p:cNvSpPr txBox="1"/>
          <p:nvPr/>
        </p:nvSpPr>
        <p:spPr>
          <a:xfrm>
            <a:off x="220134" y="507840"/>
            <a:ext cx="375073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0" i="0" dirty="0" err="1">
                <a:effectLst/>
                <a:latin typeface="Courier New" panose="02070309020205020404" pitchFamily="49" charset="0"/>
              </a:rPr>
              <a:t>npx</a:t>
            </a:r>
            <a:r>
              <a:rPr lang="en-IN" b="0" i="0" dirty="0">
                <a:effectLst/>
                <a:latin typeface="Courier New" panose="02070309020205020404" pitchFamily="49" charset="0"/>
              </a:rPr>
              <a:t> </a:t>
            </a:r>
            <a:r>
              <a:rPr lang="en-IN" b="0" i="0" dirty="0" err="1">
                <a:effectLst/>
                <a:latin typeface="Courier New" panose="02070309020205020404" pitchFamily="49" charset="0"/>
              </a:rPr>
              <a:t>create-next-app@latest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18301C-930C-F8A7-D12D-2287334A454F}"/>
              </a:ext>
            </a:extLst>
          </p:cNvPr>
          <p:cNvSpPr txBox="1"/>
          <p:nvPr/>
        </p:nvSpPr>
        <p:spPr>
          <a:xfrm>
            <a:off x="220133" y="3429000"/>
            <a:ext cx="375073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IN" dirty="0" err="1"/>
              <a:t>npm</a:t>
            </a:r>
            <a:r>
              <a:rPr lang="en-IN" dirty="0"/>
              <a:t> run dev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1FCA62-8C40-7246-FDE7-8CFFB98E9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108" y="486250"/>
            <a:ext cx="7544853" cy="228631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B2AD196-1C02-452B-C92B-876113D94AB4}"/>
              </a:ext>
            </a:extLst>
          </p:cNvPr>
          <p:cNvSpPr txBox="1"/>
          <p:nvPr/>
        </p:nvSpPr>
        <p:spPr>
          <a:xfrm>
            <a:off x="677333" y="4581220"/>
            <a:ext cx="5977467" cy="1004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Create Folder component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 for</a:t>
            </a:r>
            <a:endParaRPr lang="en-IN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dirty="0">
                <a:solidFill>
                  <a:srgbClr val="800000"/>
                </a:solidFill>
                <a:latin typeface="Consolas" panose="020B0609020204030204" pitchFamily="49" charset="0"/>
              </a:rPr>
              <a:t>Create Nav component and type </a:t>
            </a:r>
            <a:r>
              <a:rPr lang="en-IN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rafce</a:t>
            </a:r>
            <a:endParaRPr lang="en-IN" b="1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IN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IN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IN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87D2AC8-3582-E4C7-56A0-04BE70E5EDE8}"/>
              </a:ext>
            </a:extLst>
          </p:cNvPr>
          <p:cNvCxnSpPr>
            <a:cxnSpLocks/>
          </p:cNvCxnSpPr>
          <p:nvPr/>
        </p:nvCxnSpPr>
        <p:spPr>
          <a:xfrm>
            <a:off x="5325533" y="4950552"/>
            <a:ext cx="660400" cy="95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60A4F68-74E8-94B6-6F0B-0E70FF34D7B4}"/>
              </a:ext>
            </a:extLst>
          </p:cNvPr>
          <p:cNvSpPr txBox="1"/>
          <p:nvPr/>
        </p:nvSpPr>
        <p:spPr>
          <a:xfrm>
            <a:off x="5985933" y="5047158"/>
            <a:ext cx="5592760" cy="2863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React Arrow function component export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3B3B3B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210854-91E5-A984-59E4-A482A62B0EB4}"/>
              </a:ext>
            </a:extLst>
          </p:cNvPr>
          <p:cNvSpPr txBox="1"/>
          <p:nvPr/>
        </p:nvSpPr>
        <p:spPr>
          <a:xfrm>
            <a:off x="5367866" y="4235650"/>
            <a:ext cx="2573867" cy="36854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faster 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coading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 </a:t>
            </a:r>
            <a:endParaRPr lang="en-IN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B3BFC4D-F571-25C0-5396-9D89B728D69E}"/>
              </a:ext>
            </a:extLst>
          </p:cNvPr>
          <p:cNvCxnSpPr/>
          <p:nvPr/>
        </p:nvCxnSpPr>
        <p:spPr>
          <a:xfrm flipH="1">
            <a:off x="5198533" y="4533310"/>
            <a:ext cx="127000" cy="329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B3ED2B8-8530-95A3-3F3E-9BE9F946069F}"/>
              </a:ext>
            </a:extLst>
          </p:cNvPr>
          <p:cNvSpPr/>
          <p:nvPr/>
        </p:nvSpPr>
        <p:spPr>
          <a:xfrm>
            <a:off x="9985589" y="1938867"/>
            <a:ext cx="1100985" cy="1490133"/>
          </a:xfrm>
          <a:custGeom>
            <a:avLst/>
            <a:gdLst>
              <a:gd name="connsiteX0" fmla="*/ 331515 w 2033634"/>
              <a:gd name="connsiteY0" fmla="*/ 125721 h 1344921"/>
              <a:gd name="connsiteX1" fmla="*/ 1847049 w 2033634"/>
              <a:gd name="connsiteY1" fmla="*/ 91854 h 1344921"/>
              <a:gd name="connsiteX2" fmla="*/ 1906315 w 2033634"/>
              <a:gd name="connsiteY2" fmla="*/ 125721 h 1344921"/>
              <a:gd name="connsiteX3" fmla="*/ 1990982 w 2033634"/>
              <a:gd name="connsiteY3" fmla="*/ 235788 h 1344921"/>
              <a:gd name="connsiteX4" fmla="*/ 1999449 w 2033634"/>
              <a:gd name="connsiteY4" fmla="*/ 354321 h 1344921"/>
              <a:gd name="connsiteX5" fmla="*/ 2033315 w 2033634"/>
              <a:gd name="connsiteY5" fmla="*/ 455921 h 1344921"/>
              <a:gd name="connsiteX6" fmla="*/ 2007915 w 2033634"/>
              <a:gd name="connsiteY6" fmla="*/ 769188 h 1344921"/>
              <a:gd name="connsiteX7" fmla="*/ 1804715 w 2033634"/>
              <a:gd name="connsiteY7" fmla="*/ 1006254 h 1344921"/>
              <a:gd name="connsiteX8" fmla="*/ 1593049 w 2033634"/>
              <a:gd name="connsiteY8" fmla="*/ 1141721 h 1344921"/>
              <a:gd name="connsiteX9" fmla="*/ 1389849 w 2033634"/>
              <a:gd name="connsiteY9" fmla="*/ 1217921 h 1344921"/>
              <a:gd name="connsiteX10" fmla="*/ 822582 w 2033634"/>
              <a:gd name="connsiteY10" fmla="*/ 1344921 h 1344921"/>
              <a:gd name="connsiteX11" fmla="*/ 94449 w 2033634"/>
              <a:gd name="connsiteY11" fmla="*/ 1336454 h 1344921"/>
              <a:gd name="connsiteX12" fmla="*/ 1315 w 2033634"/>
              <a:gd name="connsiteY12" fmla="*/ 1268721 h 1344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033634" h="1344921">
                <a:moveTo>
                  <a:pt x="331515" y="125721"/>
                </a:moveTo>
                <a:cubicBezTo>
                  <a:pt x="871568" y="-105729"/>
                  <a:pt x="477791" y="44089"/>
                  <a:pt x="1847049" y="91854"/>
                </a:cubicBezTo>
                <a:cubicBezTo>
                  <a:pt x="1869789" y="92647"/>
                  <a:pt x="1888112" y="112069"/>
                  <a:pt x="1906315" y="125721"/>
                </a:cubicBezTo>
                <a:cubicBezTo>
                  <a:pt x="1949490" y="158102"/>
                  <a:pt x="1962069" y="189526"/>
                  <a:pt x="1990982" y="235788"/>
                </a:cubicBezTo>
                <a:cubicBezTo>
                  <a:pt x="1993804" y="275299"/>
                  <a:pt x="1991968" y="315422"/>
                  <a:pt x="1999449" y="354321"/>
                </a:cubicBezTo>
                <a:cubicBezTo>
                  <a:pt x="2006191" y="389377"/>
                  <a:pt x="2032587" y="420230"/>
                  <a:pt x="2033315" y="455921"/>
                </a:cubicBezTo>
                <a:cubicBezTo>
                  <a:pt x="2035452" y="560664"/>
                  <a:pt x="2026841" y="666147"/>
                  <a:pt x="2007915" y="769188"/>
                </a:cubicBezTo>
                <a:cubicBezTo>
                  <a:pt x="1989320" y="870427"/>
                  <a:pt x="1873043" y="955406"/>
                  <a:pt x="1804715" y="1006254"/>
                </a:cubicBezTo>
                <a:cubicBezTo>
                  <a:pt x="1737513" y="1056264"/>
                  <a:pt x="1667666" y="1103651"/>
                  <a:pt x="1593049" y="1141721"/>
                </a:cubicBezTo>
                <a:cubicBezTo>
                  <a:pt x="1528612" y="1174597"/>
                  <a:pt x="1459137" y="1197134"/>
                  <a:pt x="1389849" y="1217921"/>
                </a:cubicBezTo>
                <a:cubicBezTo>
                  <a:pt x="1182366" y="1280166"/>
                  <a:pt x="1031497" y="1304486"/>
                  <a:pt x="822582" y="1344921"/>
                </a:cubicBezTo>
                <a:lnTo>
                  <a:pt x="94449" y="1336454"/>
                </a:lnTo>
                <a:cubicBezTo>
                  <a:pt x="-18360" y="1334128"/>
                  <a:pt x="1315" y="1354136"/>
                  <a:pt x="1315" y="126872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C5D40-D438-C118-714F-6B272A79E477}"/>
              </a:ext>
            </a:extLst>
          </p:cNvPr>
          <p:cNvSpPr txBox="1"/>
          <p:nvPr/>
        </p:nvSpPr>
        <p:spPr>
          <a:xfrm>
            <a:off x="7941733" y="3276600"/>
            <a:ext cx="2387600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Similar to web pack</a:t>
            </a:r>
          </a:p>
          <a:p>
            <a:r>
              <a:rPr lang="en-IN" dirty="0"/>
              <a:t>It will to </a:t>
            </a:r>
            <a:r>
              <a:rPr lang="en-IN" dirty="0" err="1"/>
              <a:t>minifiction</a:t>
            </a:r>
            <a:r>
              <a:rPr lang="en-IN" dirty="0"/>
              <a:t> and zipping of your project code</a:t>
            </a: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65A91A4B-6AE0-D6DA-6FA0-DBB9B5EB1285}"/>
              </a:ext>
            </a:extLst>
          </p:cNvPr>
          <p:cNvSpPr/>
          <p:nvPr/>
        </p:nvSpPr>
        <p:spPr>
          <a:xfrm rot="16531509">
            <a:off x="9978490" y="3247754"/>
            <a:ext cx="757241" cy="28636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677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8D9588-8BD4-1D58-D535-771CE6BB9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78" y="0"/>
            <a:ext cx="2982709" cy="685800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BE279C-A762-A099-E6D2-C01CBAEFCCEC}"/>
              </a:ext>
            </a:extLst>
          </p:cNvPr>
          <p:cNvCxnSpPr>
            <a:cxnSpLocks/>
          </p:cNvCxnSpPr>
          <p:nvPr/>
        </p:nvCxnSpPr>
        <p:spPr>
          <a:xfrm flipV="1">
            <a:off x="1507067" y="736600"/>
            <a:ext cx="3767666" cy="2006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C755AAB-7219-3AB9-7146-50A8139CE820}"/>
              </a:ext>
            </a:extLst>
          </p:cNvPr>
          <p:cNvSpPr txBox="1"/>
          <p:nvPr/>
        </p:nvSpPr>
        <p:spPr>
          <a:xfrm>
            <a:off x="4038601" y="507999"/>
            <a:ext cx="7442200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When you load application it will load layout page 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in it’s children 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page (home page) get loaded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C4C5828-9E8A-2088-4781-2B2AE91686EE}"/>
              </a:ext>
            </a:extLst>
          </p:cNvPr>
          <p:cNvCxnSpPr/>
          <p:nvPr/>
        </p:nvCxnSpPr>
        <p:spPr>
          <a:xfrm flipV="1">
            <a:off x="1295400" y="2556933"/>
            <a:ext cx="2904067" cy="431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70F36F-AC32-ADD3-6DDE-DA5D04298FB7}"/>
              </a:ext>
            </a:extLst>
          </p:cNvPr>
          <p:cNvSpPr txBox="1"/>
          <p:nvPr/>
        </p:nvSpPr>
        <p:spPr>
          <a:xfrm>
            <a:off x="4038600" y="3139745"/>
            <a:ext cx="7264399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To create a reusable component create a folder component and store all reusable component. </a:t>
            </a:r>
            <a:r>
              <a:rPr lang="en-IN" dirty="0" err="1"/>
              <a:t>Eg.</a:t>
            </a:r>
            <a:r>
              <a:rPr lang="en-IN" dirty="0"/>
              <a:t> Nav component .</a:t>
            </a:r>
          </a:p>
          <a:p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E212190-B215-1260-867B-ABF7E6F29E96}"/>
              </a:ext>
            </a:extLst>
          </p:cNvPr>
          <p:cNvCxnSpPr/>
          <p:nvPr/>
        </p:nvCxnSpPr>
        <p:spPr>
          <a:xfrm flipV="1">
            <a:off x="1600200" y="3175000"/>
            <a:ext cx="7112000" cy="101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4C07843-7665-9555-3AE1-A6D6D6A1FC73}"/>
              </a:ext>
            </a:extLst>
          </p:cNvPr>
          <p:cNvSpPr txBox="1"/>
          <p:nvPr/>
        </p:nvSpPr>
        <p:spPr>
          <a:xfrm>
            <a:off x="4097867" y="4182533"/>
            <a:ext cx="7205132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Create a folder style to store global </a:t>
            </a:r>
            <a:r>
              <a:rPr lang="en-IN" dirty="0" err="1"/>
              <a:t>css</a:t>
            </a:r>
            <a:r>
              <a:rPr lang="en-IN" dirty="0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EEF54B-D799-00B7-E26F-F87AB7DBF9E8}"/>
              </a:ext>
            </a:extLst>
          </p:cNvPr>
          <p:cNvSpPr txBox="1"/>
          <p:nvPr/>
        </p:nvSpPr>
        <p:spPr>
          <a:xfrm>
            <a:off x="4038600" y="4809066"/>
            <a:ext cx="7900622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The public folder (optional)</a:t>
            </a:r>
          </a:p>
          <a:p>
            <a:r>
              <a:rPr lang="en-US" dirty="0"/>
              <a:t>Create a public folder to store static assets such as images, fonts, etc. Files inside public directory can then be referenced by your code starting from the base URL (/).</a:t>
            </a:r>
            <a:endParaRPr lang="en-I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1834674-4BDB-AEAD-3FE4-CB5EF3D2AD64}"/>
              </a:ext>
            </a:extLst>
          </p:cNvPr>
          <p:cNvCxnSpPr/>
          <p:nvPr/>
        </p:nvCxnSpPr>
        <p:spPr>
          <a:xfrm>
            <a:off x="1159933" y="3826933"/>
            <a:ext cx="2802467" cy="1193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4603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pp Folder Structure">
            <a:extLst>
              <a:ext uri="{FF2B5EF4-FFF2-40B4-BE49-F238E27FC236}">
                <a16:creationId xmlns:a16="http://schemas.microsoft.com/office/drawing/2014/main" id="{4D0E200B-437A-AE8D-7EF2-4604B884B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133" y="1902354"/>
            <a:ext cx="10500610" cy="2381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BF57FC3-6995-34B5-D314-CE7FB1ABA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5670778"/>
            <a:ext cx="10642599" cy="215444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Geist"/>
              </a:rPr>
              <a:t>Good to know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Geist"/>
              </a:rPr>
              <a:t>: If you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Geist"/>
              </a:rPr>
              <a:t>forget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Geist"/>
              </a:rPr>
              <a:t> to create 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171717"/>
                </a:solidFill>
                <a:effectLst/>
                <a:latin typeface="var(--font-mono)"/>
              </a:rPr>
              <a:t>layout.tsx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Geist"/>
              </a:rPr>
              <a:t>, Next.js will automatically create this file when running the development server with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var(--font-mono)"/>
              </a:rPr>
              <a:t>next dev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Geist"/>
              </a:rPr>
              <a:t>.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436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0F3AF-7BBA-6182-1B8E-2A7022967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6" y="1"/>
            <a:ext cx="5740401" cy="838200"/>
          </a:xfrm>
        </p:spPr>
        <p:txBody>
          <a:bodyPr>
            <a:normAutofit/>
          </a:bodyPr>
          <a:lstStyle/>
          <a:p>
            <a:pPr algn="ctr"/>
            <a:r>
              <a:rPr lang="en-IN" b="1" i="0" u="none" strike="noStrike" dirty="0">
                <a:solidFill>
                  <a:srgbClr val="171717"/>
                </a:solidFill>
                <a:effectLst/>
                <a:latin typeface="Geist"/>
              </a:rPr>
              <a:t>Creating Routes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1CF9C5-8462-70BC-FEC1-D247596D26F4}"/>
              </a:ext>
            </a:extLst>
          </p:cNvPr>
          <p:cNvSpPr txBox="1"/>
          <p:nvPr/>
        </p:nvSpPr>
        <p:spPr>
          <a:xfrm>
            <a:off x="220133" y="897466"/>
            <a:ext cx="11811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171717"/>
                </a:solidFill>
                <a:effectLst/>
                <a:latin typeface="Geist"/>
              </a:rPr>
              <a:t>Next.js uses a file-system based router where </a:t>
            </a:r>
            <a:r>
              <a:rPr lang="en-US" b="1" i="0" dirty="0">
                <a:solidFill>
                  <a:srgbClr val="171717"/>
                </a:solidFill>
                <a:effectLst/>
                <a:latin typeface="Geist"/>
              </a:rPr>
              <a:t>folders</a:t>
            </a:r>
            <a:r>
              <a:rPr lang="en-US" b="0" i="0" dirty="0">
                <a:solidFill>
                  <a:srgbClr val="171717"/>
                </a:solidFill>
                <a:effectLst/>
                <a:latin typeface="Geist"/>
              </a:rPr>
              <a:t> are used to define routes.</a:t>
            </a:r>
          </a:p>
          <a:p>
            <a:pPr algn="l"/>
            <a:r>
              <a:rPr lang="en-US" b="0" i="0" dirty="0">
                <a:solidFill>
                  <a:srgbClr val="171717"/>
                </a:solidFill>
                <a:effectLst/>
                <a:latin typeface="Geist"/>
              </a:rPr>
              <a:t>Each folder represents a </a:t>
            </a:r>
            <a:r>
              <a:rPr lang="en-US" b="1" i="0" u="none" strike="noStrike" dirty="0">
                <a:solidFill>
                  <a:srgbClr val="171717"/>
                </a:solidFill>
                <a:effectLst/>
                <a:latin typeface="Geist"/>
                <a:hlinkClick r:id="rId2"/>
              </a:rPr>
              <a:t>route</a:t>
            </a:r>
            <a:r>
              <a:rPr lang="en-US" b="0" i="0" u="none" strike="noStrike" dirty="0">
                <a:solidFill>
                  <a:srgbClr val="171717"/>
                </a:solidFill>
                <a:effectLst/>
                <a:latin typeface="Geist"/>
                <a:hlinkClick r:id="rId2"/>
              </a:rPr>
              <a:t> segment</a:t>
            </a:r>
            <a:r>
              <a:rPr lang="en-US" b="0" i="0" dirty="0">
                <a:solidFill>
                  <a:srgbClr val="171717"/>
                </a:solidFill>
                <a:effectLst/>
                <a:latin typeface="Geist"/>
              </a:rPr>
              <a:t> that maps to a </a:t>
            </a:r>
            <a:r>
              <a:rPr lang="en-US" b="1" i="0" dirty="0">
                <a:solidFill>
                  <a:srgbClr val="171717"/>
                </a:solidFill>
                <a:effectLst/>
                <a:latin typeface="Geist"/>
              </a:rPr>
              <a:t>URL</a:t>
            </a:r>
            <a:r>
              <a:rPr lang="en-US" b="0" i="0" dirty="0">
                <a:solidFill>
                  <a:srgbClr val="171717"/>
                </a:solidFill>
                <a:effectLst/>
                <a:latin typeface="Geist"/>
              </a:rPr>
              <a:t> segment. To create a </a:t>
            </a:r>
            <a:r>
              <a:rPr lang="en-US" b="0" i="0" u="none" strike="noStrike" dirty="0">
                <a:solidFill>
                  <a:srgbClr val="171717"/>
                </a:solidFill>
                <a:effectLst/>
                <a:latin typeface="Geist"/>
                <a:hlinkClick r:id="rId3"/>
              </a:rPr>
              <a:t>nested route</a:t>
            </a:r>
            <a:r>
              <a:rPr lang="en-US" b="0" i="0" dirty="0">
                <a:solidFill>
                  <a:srgbClr val="171717"/>
                </a:solidFill>
                <a:effectLst/>
                <a:latin typeface="Geist"/>
              </a:rPr>
              <a:t>, you can nest folders inside each other.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B99FA8-3CD6-CBA8-7D78-1693BE0179ED}"/>
              </a:ext>
            </a:extLst>
          </p:cNvPr>
          <p:cNvSpPr txBox="1"/>
          <p:nvPr/>
        </p:nvSpPr>
        <p:spPr>
          <a:xfrm>
            <a:off x="7027335" y="274082"/>
            <a:ext cx="317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Page Routing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7F14754-CEE4-5EB0-D605-7C930453F4D1}"/>
              </a:ext>
            </a:extLst>
          </p:cNvPr>
          <p:cNvCxnSpPr>
            <a:endCxn id="6" idx="1"/>
          </p:cNvCxnSpPr>
          <p:nvPr/>
        </p:nvCxnSpPr>
        <p:spPr>
          <a:xfrm>
            <a:off x="5334000" y="448733"/>
            <a:ext cx="158326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026" name="Picture 2" descr="Route segments to path segments">
            <a:extLst>
              <a:ext uri="{FF2B5EF4-FFF2-40B4-BE49-F238E27FC236}">
                <a16:creationId xmlns:a16="http://schemas.microsoft.com/office/drawing/2014/main" id="{DA469A86-F670-C906-2A7B-B8581F9FF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265" y="1947821"/>
            <a:ext cx="7979972" cy="2962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A2F41E4-3FA3-15EE-399E-6D44D1CD09E8}"/>
              </a:ext>
            </a:extLst>
          </p:cNvPr>
          <p:cNvCxnSpPr/>
          <p:nvPr/>
        </p:nvCxnSpPr>
        <p:spPr>
          <a:xfrm>
            <a:off x="3979333" y="4478867"/>
            <a:ext cx="2404534" cy="1126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0C27D34-FB6A-A0E4-73C6-5FACA2D2DC49}"/>
              </a:ext>
            </a:extLst>
          </p:cNvPr>
          <p:cNvSpPr txBox="1"/>
          <p:nvPr/>
        </p:nvSpPr>
        <p:spPr>
          <a:xfrm>
            <a:off x="6468533" y="5232400"/>
            <a:ext cx="19812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Nested Route</a:t>
            </a:r>
          </a:p>
        </p:txBody>
      </p:sp>
    </p:spTree>
    <p:extLst>
      <p:ext uri="{BB962C8B-B14F-4D97-AF65-F5344CB8AC3E}">
        <p14:creationId xmlns:p14="http://schemas.microsoft.com/office/powerpoint/2010/main" val="3006212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747A70-64AB-3F0A-2F40-9D11DC2B5179}"/>
              </a:ext>
            </a:extLst>
          </p:cNvPr>
          <p:cNvSpPr txBox="1"/>
          <p:nvPr/>
        </p:nvSpPr>
        <p:spPr>
          <a:xfrm>
            <a:off x="381000" y="164869"/>
            <a:ext cx="102870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A special page.js file is used to make route segments publicly accessible.</a:t>
            </a:r>
          </a:p>
          <a:p>
            <a:endParaRPr lang="en-US" dirty="0"/>
          </a:p>
        </p:txBody>
      </p:sp>
      <p:pic>
        <p:nvPicPr>
          <p:cNvPr id="2050" name="Picture 2" descr="Defining Routes">
            <a:extLst>
              <a:ext uri="{FF2B5EF4-FFF2-40B4-BE49-F238E27FC236}">
                <a16:creationId xmlns:a16="http://schemas.microsoft.com/office/drawing/2014/main" id="{BB468A5C-0A77-2069-B37A-D38531439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33" y="1293814"/>
            <a:ext cx="8087333" cy="3472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A224066-9093-F909-BE04-C14ED04A7D18}"/>
              </a:ext>
            </a:extLst>
          </p:cNvPr>
          <p:cNvCxnSpPr/>
          <p:nvPr/>
        </p:nvCxnSpPr>
        <p:spPr>
          <a:xfrm flipH="1">
            <a:off x="3530600" y="745067"/>
            <a:ext cx="1769533" cy="14562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7507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CD8498-C38C-D0CA-66AC-3811B5A753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510943"/>
              </p:ext>
            </p:extLst>
          </p:nvPr>
        </p:nvGraphicFramePr>
        <p:xfrm>
          <a:off x="882227" y="543507"/>
          <a:ext cx="4907280" cy="2377440"/>
        </p:xfrm>
        <a:graphic>
          <a:graphicData uri="http://schemas.openxmlformats.org/drawingml/2006/table">
            <a:tbl>
              <a:tblPr/>
              <a:tblGrid>
                <a:gridCol w="2453640">
                  <a:extLst>
                    <a:ext uri="{9D8B030D-6E8A-4147-A177-3AD203B41FA5}">
                      <a16:colId xmlns:a16="http://schemas.microsoft.com/office/drawing/2014/main" val="1144408162"/>
                    </a:ext>
                  </a:extLst>
                </a:gridCol>
                <a:gridCol w="2453640">
                  <a:extLst>
                    <a:ext uri="{9D8B030D-6E8A-4147-A177-3AD203B41FA5}">
                      <a16:colId xmlns:a16="http://schemas.microsoft.com/office/drawing/2014/main" val="16349550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endParaRPr lang="en-IN" b="1">
                        <a:effectLst/>
                      </a:endParaRPr>
                    </a:p>
                  </a:txBody>
                  <a:tcPr anchor="b">
                    <a:lnL w="12700" cap="flat" cmpd="sng" algn="ctr">
                      <a:solidFill>
                        <a:srgbClr val="30B1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A1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B1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B6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b="1">
                        <a:effectLst/>
                      </a:endParaRPr>
                    </a:p>
                  </a:txBody>
                  <a:tcPr anchor="b">
                    <a:lnL w="12700" cap="flat" cmpd="sng" algn="ctr">
                      <a:solidFill>
                        <a:srgbClr val="B0A1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A1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A1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BC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705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auto"/>
                      <a:r>
                        <a:rPr lang="en-IN" u="none" strike="noStrike">
                          <a:effectLst/>
                          <a:hlinkClick r:id="rId2"/>
                        </a:rPr>
                        <a:t>app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0B6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C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B6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C1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IN">
                          <a:effectLst/>
                        </a:rPr>
                        <a:t>App Router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0BC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BC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BC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5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427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auto"/>
                      <a:r>
                        <a:rPr lang="en-IN" u="none" strike="noStrike">
                          <a:effectLst/>
                          <a:hlinkClick r:id="rId3"/>
                        </a:rPr>
                        <a:t>pages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0C1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5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C1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CE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IN">
                          <a:effectLst/>
                        </a:rPr>
                        <a:t>Pages Router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B0B5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5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5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C6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134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auto"/>
                      <a:r>
                        <a:rPr lang="en-IN" u="none" strike="noStrike">
                          <a:effectLst/>
                          <a:hlinkClick r:id="rId4"/>
                        </a:rPr>
                        <a:t>public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0CE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C6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CE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C3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US">
                          <a:effectLst/>
                        </a:rPr>
                        <a:t>Static assets to be served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0C6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C6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C6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C6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576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auto"/>
                      <a:r>
                        <a:rPr lang="en-IN" u="none" strike="noStrike">
                          <a:effectLst/>
                          <a:hlinkClick r:id="rId5"/>
                        </a:rPr>
                        <a:t>src</a:t>
                      </a:r>
                      <a:endParaRPr lang="en-IN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0C3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C6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C3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C3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IN" dirty="0">
                          <a:effectLst/>
                        </a:rPr>
                        <a:t>Optional application source folder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0C6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C6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C6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C60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513279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04218D0-3E7D-1747-89FB-89B6AB7F4FFE}"/>
              </a:ext>
            </a:extLst>
          </p:cNvPr>
          <p:cNvCxnSpPr/>
          <p:nvPr/>
        </p:nvCxnSpPr>
        <p:spPr>
          <a:xfrm flipV="1">
            <a:off x="5147733" y="956733"/>
            <a:ext cx="1566334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671CA93-C5C7-002A-B9BA-DB19F4E92B5D}"/>
              </a:ext>
            </a:extLst>
          </p:cNvPr>
          <p:cNvSpPr txBox="1"/>
          <p:nvPr/>
        </p:nvSpPr>
        <p:spPr>
          <a:xfrm>
            <a:off x="6781800" y="543507"/>
            <a:ext cx="362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Should be used on server side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17D1385-E663-DE18-643B-5B43B823D7C1}"/>
              </a:ext>
            </a:extLst>
          </p:cNvPr>
          <p:cNvCxnSpPr/>
          <p:nvPr/>
        </p:nvCxnSpPr>
        <p:spPr>
          <a:xfrm>
            <a:off x="5410200" y="1490133"/>
            <a:ext cx="1761067" cy="254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E3ECE00-5EE2-10B0-B8FE-74B44B530418}"/>
              </a:ext>
            </a:extLst>
          </p:cNvPr>
          <p:cNvSpPr txBox="1"/>
          <p:nvPr/>
        </p:nvSpPr>
        <p:spPr>
          <a:xfrm>
            <a:off x="7306733" y="1374801"/>
            <a:ext cx="43925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If you put all page routing in pages folder then call it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852F40-DB3D-FC56-5122-DB80167E24F5}"/>
              </a:ext>
            </a:extLst>
          </p:cNvPr>
          <p:cNvSpPr txBox="1"/>
          <p:nvPr/>
        </p:nvSpPr>
        <p:spPr>
          <a:xfrm>
            <a:off x="7518400" y="2280138"/>
            <a:ext cx="4538134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http://localhost:3000/Pages/about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E4A42C2-2EA8-2482-8A11-FF6FDB2F02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5662" y="3382909"/>
            <a:ext cx="3867690" cy="243874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A76EA7B-F110-2BFA-69B3-626F5EDD2764}"/>
              </a:ext>
            </a:extLst>
          </p:cNvPr>
          <p:cNvCxnSpPr/>
          <p:nvPr/>
        </p:nvCxnSpPr>
        <p:spPr>
          <a:xfrm flipV="1">
            <a:off x="7723352" y="2751667"/>
            <a:ext cx="1581515" cy="284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548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31D7C55-ACAA-9E1D-F039-75F75DC642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588365"/>
              </p:ext>
            </p:extLst>
          </p:nvPr>
        </p:nvGraphicFramePr>
        <p:xfrm>
          <a:off x="643466" y="1634128"/>
          <a:ext cx="9821334" cy="4794690"/>
        </p:xfrm>
        <a:graphic>
          <a:graphicData uri="http://schemas.openxmlformats.org/drawingml/2006/table">
            <a:tbl>
              <a:tblPr/>
              <a:tblGrid>
                <a:gridCol w="4910667">
                  <a:extLst>
                    <a:ext uri="{9D8B030D-6E8A-4147-A177-3AD203B41FA5}">
                      <a16:colId xmlns:a16="http://schemas.microsoft.com/office/drawing/2014/main" val="2487088485"/>
                    </a:ext>
                  </a:extLst>
                </a:gridCol>
                <a:gridCol w="4910667">
                  <a:extLst>
                    <a:ext uri="{9D8B030D-6E8A-4147-A177-3AD203B41FA5}">
                      <a16:colId xmlns:a16="http://schemas.microsoft.com/office/drawing/2014/main" val="1576380620"/>
                    </a:ext>
                  </a:extLst>
                </a:gridCol>
              </a:tblGrid>
              <a:tr h="181690">
                <a:tc>
                  <a:txBody>
                    <a:bodyPr/>
                    <a:lstStyle/>
                    <a:p>
                      <a:pPr algn="l" fontAlgn="b"/>
                      <a:endParaRPr lang="en-IN" sz="1800" b="1">
                        <a:effectLst/>
                      </a:endParaRPr>
                    </a:p>
                  </a:txBody>
                  <a:tcPr marL="45326" marR="45326" marT="22663" marB="22663" anchor="b">
                    <a:lnL w="12700" cap="flat" cmpd="sng" algn="ctr">
                      <a:solidFill>
                        <a:srgbClr val="006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69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3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51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800" b="1">
                        <a:effectLst/>
                      </a:endParaRPr>
                    </a:p>
                  </a:txBody>
                  <a:tcPr marL="45326" marR="45326" marT="22663" marB="22663" anchor="b">
                    <a:lnL w="12700" cap="flat" cmpd="sng" algn="ctr">
                      <a:solidFill>
                        <a:srgbClr val="C069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69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69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5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936603"/>
                  </a:ext>
                </a:extLst>
              </a:tr>
              <a:tr h="181690">
                <a:tc>
                  <a:txBody>
                    <a:bodyPr/>
                    <a:lstStyle/>
                    <a:p>
                      <a:pPr algn="l" fontAlgn="auto"/>
                      <a:r>
                        <a:rPr lang="en-IN" sz="1800" b="1">
                          <a:effectLst/>
                        </a:rPr>
                        <a:t>Next.js</a:t>
                      </a:r>
                      <a:endParaRPr lang="en-IN" sz="1800">
                        <a:effectLst/>
                      </a:endParaRP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rgbClr val="0051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5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51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/>
                      <a:endParaRPr lang="en-IN" sz="1800">
                        <a:effectLst/>
                      </a:endParaRP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rgbClr val="005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5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5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E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566302"/>
                  </a:ext>
                </a:extLst>
              </a:tr>
              <a:tr h="318252">
                <a:tc>
                  <a:txBody>
                    <a:bodyPr/>
                    <a:lstStyle/>
                    <a:p>
                      <a:pPr algn="l" fontAlgn="auto"/>
                      <a:r>
                        <a:rPr lang="en-IN" sz="1800" u="none" strike="noStrike">
                          <a:solidFill>
                            <a:srgbClr val="68B5FB"/>
                          </a:solidFill>
                          <a:effectLst/>
                          <a:hlinkClick r:id="rId2"/>
                        </a:rPr>
                        <a:t>next.config.js</a:t>
                      </a:r>
                      <a:endParaRPr lang="en-IN" sz="1800">
                        <a:effectLst/>
                      </a:endParaRP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rgbClr val="E0E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E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5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F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US" sz="1800">
                          <a:effectLst/>
                        </a:rPr>
                        <a:t>Configuration file for Next.js</a:t>
                      </a: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rgbClr val="A0E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E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E4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F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240550"/>
                  </a:ext>
                </a:extLst>
              </a:tr>
              <a:tr h="309555">
                <a:tc>
                  <a:txBody>
                    <a:bodyPr/>
                    <a:lstStyle/>
                    <a:p>
                      <a:pPr algn="l" fontAlgn="auto"/>
                      <a:r>
                        <a:rPr lang="en-IN" sz="1800" u="none" strike="noStrike">
                          <a:effectLst/>
                          <a:hlinkClick r:id="rId3"/>
                        </a:rPr>
                        <a:t>package.json</a:t>
                      </a:r>
                      <a:endParaRPr lang="en-IN" sz="1800">
                        <a:effectLst/>
                      </a:endParaRP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rgbClr val="20F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F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FC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F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IN" sz="1800">
                          <a:effectLst/>
                        </a:rPr>
                        <a:t>Project dependencies and scripts</a:t>
                      </a: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rgbClr val="20F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F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FD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0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1450363"/>
                  </a:ext>
                </a:extLst>
              </a:tr>
              <a:tr h="318252">
                <a:tc>
                  <a:txBody>
                    <a:bodyPr/>
                    <a:lstStyle/>
                    <a:p>
                      <a:pPr algn="l" fontAlgn="auto"/>
                      <a:r>
                        <a:rPr lang="en-IN" sz="1800" u="none" strike="noStrike">
                          <a:effectLst/>
                          <a:hlinkClick r:id="rId4"/>
                        </a:rPr>
                        <a:t>instrumentation.ts</a:t>
                      </a:r>
                      <a:endParaRPr lang="en-IN" sz="1800">
                        <a:effectLst/>
                      </a:endParaRP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rgbClr val="E0F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0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F1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0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IN" sz="1800">
                          <a:effectLst/>
                        </a:rPr>
                        <a:t>OpenTelemetry and Instrumentation file</a:t>
                      </a: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rgbClr val="A00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0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06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0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6373915"/>
                  </a:ext>
                </a:extLst>
              </a:tr>
              <a:tr h="318252">
                <a:tc>
                  <a:txBody>
                    <a:bodyPr/>
                    <a:lstStyle/>
                    <a:p>
                      <a:pPr algn="l" fontAlgn="auto"/>
                      <a:r>
                        <a:rPr lang="en-IN" sz="1800" u="none" strike="noStrike" dirty="0" err="1">
                          <a:effectLst/>
                          <a:hlinkClick r:id="rId5"/>
                        </a:rPr>
                        <a:t>middleware.ts</a:t>
                      </a:r>
                      <a:endParaRPr lang="en-IN" sz="1800" dirty="0">
                        <a:effectLst/>
                      </a:endParaRP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rgbClr val="600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0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0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1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IN" sz="1800">
                          <a:effectLst/>
                        </a:rPr>
                        <a:t>Next.js request middleware</a:t>
                      </a: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rgbClr val="600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0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0F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1D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904287"/>
                  </a:ext>
                </a:extLst>
              </a:tr>
              <a:tr h="181690">
                <a:tc>
                  <a:txBody>
                    <a:bodyPr/>
                    <a:lstStyle/>
                    <a:p>
                      <a:pPr algn="l" fontAlgn="auto"/>
                      <a:r>
                        <a:rPr lang="en-IN" sz="1800" u="none" strike="noStrike">
                          <a:effectLst/>
                          <a:hlinkClick r:id="rId6"/>
                        </a:rPr>
                        <a:t>.env</a:t>
                      </a:r>
                      <a:endParaRPr lang="en-IN" sz="1800">
                        <a:effectLst/>
                      </a:endParaRP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rgbClr val="601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1D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1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1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IN" sz="1800">
                          <a:effectLst/>
                        </a:rPr>
                        <a:t>Environment variables</a:t>
                      </a: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rgbClr val="601D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1D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1D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2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243341"/>
                  </a:ext>
                </a:extLst>
              </a:tr>
              <a:tr h="318252">
                <a:tc>
                  <a:txBody>
                    <a:bodyPr/>
                    <a:lstStyle/>
                    <a:p>
                      <a:pPr algn="l" fontAlgn="auto"/>
                      <a:r>
                        <a:rPr lang="en-IN" sz="1800" u="none" strike="noStrike">
                          <a:effectLst/>
                          <a:hlinkClick r:id="rId6"/>
                        </a:rPr>
                        <a:t>.env.local</a:t>
                      </a:r>
                      <a:endParaRPr lang="en-IN" sz="1800">
                        <a:effectLst/>
                      </a:endParaRP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rgbClr val="E01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2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1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2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IN" sz="1800">
                          <a:effectLst/>
                        </a:rPr>
                        <a:t>Local environment variables</a:t>
                      </a: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rgbClr val="E02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2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2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2C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4891886"/>
                  </a:ext>
                </a:extLst>
              </a:tr>
              <a:tr h="318252">
                <a:tc>
                  <a:txBody>
                    <a:bodyPr/>
                    <a:lstStyle/>
                    <a:p>
                      <a:pPr algn="l" fontAlgn="auto"/>
                      <a:r>
                        <a:rPr lang="en-IN" sz="1800" u="none" strike="noStrike">
                          <a:effectLst/>
                          <a:hlinkClick r:id="rId6"/>
                        </a:rPr>
                        <a:t>.env.production</a:t>
                      </a:r>
                      <a:endParaRPr lang="en-IN" sz="1800">
                        <a:effectLst/>
                      </a:endParaRP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rgbClr val="202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2C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2D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IN" sz="1800">
                          <a:effectLst/>
                        </a:rPr>
                        <a:t>Production environment variables</a:t>
                      </a: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rgbClr val="A02C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2C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2C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29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785485"/>
                  </a:ext>
                </a:extLst>
              </a:tr>
              <a:tr h="318252">
                <a:tc>
                  <a:txBody>
                    <a:bodyPr/>
                    <a:lstStyle/>
                    <a:p>
                      <a:pPr algn="l" fontAlgn="auto"/>
                      <a:r>
                        <a:rPr lang="en-IN" sz="1800" u="none" strike="noStrike">
                          <a:effectLst/>
                          <a:hlinkClick r:id="rId6"/>
                        </a:rPr>
                        <a:t>.env.development</a:t>
                      </a:r>
                      <a:endParaRPr lang="en-IN" sz="1800">
                        <a:effectLst/>
                      </a:endParaRP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rgbClr val="E02D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29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2D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3C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IN" sz="1800">
                          <a:effectLst/>
                        </a:rPr>
                        <a:t>Development environment variables</a:t>
                      </a: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rgbClr val="6029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29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29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3C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381724"/>
                  </a:ext>
                </a:extLst>
              </a:tr>
              <a:tr h="318252">
                <a:tc>
                  <a:txBody>
                    <a:bodyPr/>
                    <a:lstStyle/>
                    <a:p>
                      <a:pPr algn="l" fontAlgn="auto"/>
                      <a:r>
                        <a:rPr lang="en-IN" sz="1800" u="none" strike="noStrike">
                          <a:effectLst/>
                          <a:hlinkClick r:id="rId7"/>
                        </a:rPr>
                        <a:t>.eslintrc.json</a:t>
                      </a:r>
                      <a:endParaRPr lang="en-IN" sz="1800">
                        <a:effectLst/>
                      </a:endParaRP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rgbClr val="E03C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3C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3C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3D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IN" sz="1800">
                          <a:effectLst/>
                        </a:rPr>
                        <a:t>Configuration file for ESLint</a:t>
                      </a: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rgbClr val="A03C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3C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3C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3A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064291"/>
                  </a:ext>
                </a:extLst>
              </a:tr>
              <a:tr h="318252">
                <a:tc>
                  <a:txBody>
                    <a:bodyPr/>
                    <a:lstStyle/>
                    <a:p>
                      <a:pPr algn="l" fontAlgn="auto"/>
                      <a:r>
                        <a:rPr lang="en-IN" sz="1800">
                          <a:effectLst/>
                        </a:rPr>
                        <a:t>.gitignore</a:t>
                      </a: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rgbClr val="E03D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3A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3D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41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US" sz="1800">
                          <a:effectLst/>
                        </a:rPr>
                        <a:t>Git files and folders to ignore</a:t>
                      </a: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rgbClr val="203A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3A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3A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4E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5299401"/>
                  </a:ext>
                </a:extLst>
              </a:tr>
              <a:tr h="318252">
                <a:tc>
                  <a:txBody>
                    <a:bodyPr/>
                    <a:lstStyle/>
                    <a:p>
                      <a:pPr algn="l" fontAlgn="auto"/>
                      <a:r>
                        <a:rPr lang="en-IN" sz="1800">
                          <a:effectLst/>
                        </a:rPr>
                        <a:t>next-env.d.ts</a:t>
                      </a: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rgbClr val="E041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4E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41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4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US" sz="1800">
                          <a:effectLst/>
                        </a:rPr>
                        <a:t>TypeScript declaration file for Next.js</a:t>
                      </a: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rgbClr val="604E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4E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4E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4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0729316"/>
                  </a:ext>
                </a:extLst>
              </a:tr>
              <a:tr h="318252">
                <a:tc>
                  <a:txBody>
                    <a:bodyPr/>
                    <a:lstStyle/>
                    <a:p>
                      <a:pPr algn="l" fontAlgn="auto"/>
                      <a:r>
                        <a:rPr lang="en-IN" sz="1800">
                          <a:effectLst/>
                        </a:rPr>
                        <a:t>tsconfig.json</a:t>
                      </a: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rgbClr val="204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4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4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5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IN" sz="1800">
                          <a:effectLst/>
                        </a:rPr>
                        <a:t>Configuration file for TypeScript</a:t>
                      </a: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rgbClr val="E04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4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4B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5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0848407"/>
                  </a:ext>
                </a:extLst>
              </a:tr>
              <a:tr h="318252">
                <a:tc>
                  <a:txBody>
                    <a:bodyPr/>
                    <a:lstStyle/>
                    <a:p>
                      <a:pPr algn="l" fontAlgn="auto"/>
                      <a:r>
                        <a:rPr lang="en-IN" sz="1800" dirty="0" err="1">
                          <a:effectLst/>
                        </a:rPr>
                        <a:t>jsconfig.json</a:t>
                      </a:r>
                      <a:endParaRPr lang="en-IN" sz="1800" dirty="0">
                        <a:effectLst/>
                      </a:endParaRP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rgbClr val="605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5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5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5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en-IN" sz="1800" dirty="0">
                          <a:effectLst/>
                        </a:rPr>
                        <a:t>Configuration file for JavaScript</a:t>
                      </a:r>
                    </a:p>
                  </a:txBody>
                  <a:tcPr marL="45326" marR="45326" marT="22663" marB="22663" anchor="ctr">
                    <a:lnL w="12700" cap="flat" cmpd="sng" algn="ctr">
                      <a:solidFill>
                        <a:srgbClr val="E05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5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5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57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568135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5DA64F0C-977D-2D2A-C71F-1069B8326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965" y="18301"/>
            <a:ext cx="11498701" cy="1615827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6600" b="1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Geist"/>
                <a:hlinkClick r:id="rId8"/>
              </a:rPr>
              <a:t>Top-level files</a:t>
            </a:r>
            <a:endParaRPr kumimoji="0" lang="en-US" altLang="en-US" sz="6600" b="1" i="0" u="none" strike="noStrike" cap="none" normalizeH="0" baseline="0" dirty="0">
              <a:ln>
                <a:noFill/>
              </a:ln>
              <a:solidFill>
                <a:srgbClr val="171717"/>
              </a:solidFill>
              <a:effectLst/>
              <a:latin typeface="Geis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Geist"/>
              </a:rPr>
              <a:t>Top-level files are used to configure your application, manage dependencies, run middleware, integrate monitoring tools, and define environment variables.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597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E99A2CD-EDF6-DC50-3214-06412CB8B478}"/>
              </a:ext>
            </a:extLst>
          </p:cNvPr>
          <p:cNvSpPr txBox="1"/>
          <p:nvPr/>
        </p:nvSpPr>
        <p:spPr>
          <a:xfrm>
            <a:off x="-67733" y="107037"/>
            <a:ext cx="303953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fontAlgn="auto"/>
            <a:r>
              <a:rPr lang="en-IN" sz="1800" b="1" dirty="0" err="1">
                <a:effectLst/>
              </a:rPr>
              <a:t>jsconfig.json</a:t>
            </a:r>
            <a:endParaRPr lang="en-IN" sz="1800" b="1" dirty="0"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4B871D-2887-F198-6F85-533ACA3BBA19}"/>
              </a:ext>
            </a:extLst>
          </p:cNvPr>
          <p:cNvSpPr txBox="1"/>
          <p:nvPr/>
        </p:nvSpPr>
        <p:spPr>
          <a:xfrm>
            <a:off x="0" y="635674"/>
            <a:ext cx="3598333" cy="17333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compilerOptions</a:t>
            </a:r>
            <a:r>
              <a:rPr lang="en-IN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baseUrl</a:t>
            </a:r>
            <a:r>
              <a:rPr lang="en-IN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"paths"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"@*"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"./*"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</a:t>
            </a: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E871B9-627E-AABD-8C9B-8BE2610076D6}"/>
              </a:ext>
            </a:extLst>
          </p:cNvPr>
          <p:cNvSpPr txBox="1"/>
          <p:nvPr/>
        </p:nvSpPr>
        <p:spPr>
          <a:xfrm>
            <a:off x="6485467" y="107037"/>
            <a:ext cx="5715000" cy="378565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"@components/Nav"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Footer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"@components/Footer"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metadata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title: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"Create Next App"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description: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"Generated by create next app"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MainLayout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children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}) {</a:t>
            </a:r>
          </a:p>
          <a:p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en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&lt;main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'app'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children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&lt;/main&gt;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Footer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3636B3-5F0B-0CFC-7E8C-10569E1609F4}"/>
              </a:ext>
            </a:extLst>
          </p:cNvPr>
          <p:cNvSpPr txBox="1"/>
          <p:nvPr/>
        </p:nvSpPr>
        <p:spPr>
          <a:xfrm>
            <a:off x="177800" y="4488935"/>
            <a:ext cx="3420533" cy="221599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b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Footer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1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1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1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Footer Copy right SMVITA</a:t>
            </a:r>
          </a:p>
          <a:p>
            <a:pPr>
              <a:lnSpc>
                <a:spcPts val="1425"/>
              </a:lnSpc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1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Footer</a:t>
            </a:r>
            <a:endParaRPr lang="en-IN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AB11DA-BD48-EB33-B36B-9236640AE37C}"/>
              </a:ext>
            </a:extLst>
          </p:cNvPr>
          <p:cNvSpPr txBox="1"/>
          <p:nvPr/>
        </p:nvSpPr>
        <p:spPr>
          <a:xfrm>
            <a:off x="101600" y="2224296"/>
            <a:ext cx="4055533" cy="219290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b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"next/link"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05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Nav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IN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sz="10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0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"pages/about"</a:t>
            </a: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About </a:t>
            </a: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0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|</a:t>
            </a:r>
          </a:p>
          <a:p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0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Home </a:t>
            </a: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0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|</a:t>
            </a:r>
          </a:p>
          <a:p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0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</a:t>
            </a:r>
            <a:r>
              <a:rPr lang="en-IN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listemp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ListEmp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05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0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0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05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Nav</a:t>
            </a:r>
            <a:endParaRPr lang="en-IN" sz="105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0D983A-7902-A3D9-9F0A-1CDDBC9E9202}"/>
              </a:ext>
            </a:extLst>
          </p:cNvPr>
          <p:cNvSpPr txBox="1"/>
          <p:nvPr/>
        </p:nvSpPr>
        <p:spPr>
          <a:xfrm>
            <a:off x="5450416" y="4417204"/>
            <a:ext cx="5920317" cy="22612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Home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&lt;center&gt;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Welcome to Next JS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&lt;/center&gt;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EC29EEB-5BA6-FD1A-67B4-45BD4A35AA00}"/>
              </a:ext>
            </a:extLst>
          </p:cNvPr>
          <p:cNvSpPr/>
          <p:nvPr/>
        </p:nvSpPr>
        <p:spPr>
          <a:xfrm>
            <a:off x="9228667" y="1041356"/>
            <a:ext cx="2590800" cy="4369301"/>
          </a:xfrm>
          <a:custGeom>
            <a:avLst/>
            <a:gdLst>
              <a:gd name="connsiteX0" fmla="*/ 0 w 2590800"/>
              <a:gd name="connsiteY0" fmla="*/ 4318044 h 4369301"/>
              <a:gd name="connsiteX1" fmla="*/ 50800 w 2590800"/>
              <a:gd name="connsiteY1" fmla="*/ 4351911 h 4369301"/>
              <a:gd name="connsiteX2" fmla="*/ 1253066 w 2590800"/>
              <a:gd name="connsiteY2" fmla="*/ 4334977 h 4369301"/>
              <a:gd name="connsiteX3" fmla="*/ 1413933 w 2590800"/>
              <a:gd name="connsiteY3" fmla="*/ 4275711 h 4369301"/>
              <a:gd name="connsiteX4" fmla="*/ 1752600 w 2590800"/>
              <a:gd name="connsiteY4" fmla="*/ 4089444 h 4369301"/>
              <a:gd name="connsiteX5" fmla="*/ 1879600 w 2590800"/>
              <a:gd name="connsiteY5" fmla="*/ 3962444 h 4369301"/>
              <a:gd name="connsiteX6" fmla="*/ 1998133 w 2590800"/>
              <a:gd name="connsiteY6" fmla="*/ 3810044 h 4369301"/>
              <a:gd name="connsiteX7" fmla="*/ 2269066 w 2590800"/>
              <a:gd name="connsiteY7" fmla="*/ 3200444 h 4369301"/>
              <a:gd name="connsiteX8" fmla="*/ 2429933 w 2590800"/>
              <a:gd name="connsiteY8" fmla="*/ 2743244 h 4369301"/>
              <a:gd name="connsiteX9" fmla="*/ 2480733 w 2590800"/>
              <a:gd name="connsiteY9" fmla="*/ 2480777 h 4369301"/>
              <a:gd name="connsiteX10" fmla="*/ 2540000 w 2590800"/>
              <a:gd name="connsiteY10" fmla="*/ 2218311 h 4369301"/>
              <a:gd name="connsiteX11" fmla="*/ 2548466 w 2590800"/>
              <a:gd name="connsiteY11" fmla="*/ 2023577 h 4369301"/>
              <a:gd name="connsiteX12" fmla="*/ 2565400 w 2590800"/>
              <a:gd name="connsiteY12" fmla="*/ 1803444 h 4369301"/>
              <a:gd name="connsiteX13" fmla="*/ 2590800 w 2590800"/>
              <a:gd name="connsiteY13" fmla="*/ 668911 h 4369301"/>
              <a:gd name="connsiteX14" fmla="*/ 2573866 w 2590800"/>
              <a:gd name="connsiteY14" fmla="*/ 135511 h 4369301"/>
              <a:gd name="connsiteX15" fmla="*/ 2548466 w 2590800"/>
              <a:gd name="connsiteY15" fmla="*/ 110111 h 4369301"/>
              <a:gd name="connsiteX16" fmla="*/ 2531533 w 2590800"/>
              <a:gd name="connsiteY16" fmla="*/ 84711 h 4369301"/>
              <a:gd name="connsiteX17" fmla="*/ 2506133 w 2590800"/>
              <a:gd name="connsiteY17" fmla="*/ 76244 h 4369301"/>
              <a:gd name="connsiteX18" fmla="*/ 2353733 w 2590800"/>
              <a:gd name="connsiteY18" fmla="*/ 42377 h 4369301"/>
              <a:gd name="connsiteX19" fmla="*/ 2260600 w 2590800"/>
              <a:gd name="connsiteY19" fmla="*/ 33911 h 4369301"/>
              <a:gd name="connsiteX20" fmla="*/ 2150533 w 2590800"/>
              <a:gd name="connsiteY20" fmla="*/ 25444 h 4369301"/>
              <a:gd name="connsiteX21" fmla="*/ 2074333 w 2590800"/>
              <a:gd name="connsiteY21" fmla="*/ 16977 h 4369301"/>
              <a:gd name="connsiteX22" fmla="*/ 1794933 w 2590800"/>
              <a:gd name="connsiteY22" fmla="*/ 8511 h 4369301"/>
              <a:gd name="connsiteX23" fmla="*/ 1744133 w 2590800"/>
              <a:gd name="connsiteY23" fmla="*/ 44 h 4369301"/>
              <a:gd name="connsiteX24" fmla="*/ 1210733 w 2590800"/>
              <a:gd name="connsiteY24" fmla="*/ 67777 h 4369301"/>
              <a:gd name="connsiteX25" fmla="*/ 1168400 w 2590800"/>
              <a:gd name="connsiteY25" fmla="*/ 93177 h 4369301"/>
              <a:gd name="connsiteX26" fmla="*/ 1066800 w 2590800"/>
              <a:gd name="connsiteY26" fmla="*/ 143977 h 4369301"/>
              <a:gd name="connsiteX27" fmla="*/ 1007533 w 2590800"/>
              <a:gd name="connsiteY27" fmla="*/ 203244 h 4369301"/>
              <a:gd name="connsiteX28" fmla="*/ 982133 w 2590800"/>
              <a:gd name="connsiteY28" fmla="*/ 220177 h 4369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2590800" h="4369301">
                <a:moveTo>
                  <a:pt x="0" y="4318044"/>
                </a:moveTo>
                <a:cubicBezTo>
                  <a:pt x="16933" y="4329333"/>
                  <a:pt x="30553" y="4349852"/>
                  <a:pt x="50800" y="4351911"/>
                </a:cubicBezTo>
                <a:cubicBezTo>
                  <a:pt x="445472" y="4392047"/>
                  <a:pt x="862849" y="4352515"/>
                  <a:pt x="1253066" y="4334977"/>
                </a:cubicBezTo>
                <a:cubicBezTo>
                  <a:pt x="1306688" y="4315222"/>
                  <a:pt x="1361145" y="4297599"/>
                  <a:pt x="1413933" y="4275711"/>
                </a:cubicBezTo>
                <a:cubicBezTo>
                  <a:pt x="1544141" y="4221722"/>
                  <a:pt x="1643392" y="4178796"/>
                  <a:pt x="1752600" y="4089444"/>
                </a:cubicBezTo>
                <a:cubicBezTo>
                  <a:pt x="1798936" y="4051533"/>
                  <a:pt x="1840080" y="4007415"/>
                  <a:pt x="1879600" y="3962444"/>
                </a:cubicBezTo>
                <a:cubicBezTo>
                  <a:pt x="1922083" y="3914102"/>
                  <a:pt x="1962762" y="3863809"/>
                  <a:pt x="1998133" y="3810044"/>
                </a:cubicBezTo>
                <a:cubicBezTo>
                  <a:pt x="2109835" y="3640257"/>
                  <a:pt x="2208921" y="3360832"/>
                  <a:pt x="2269066" y="3200444"/>
                </a:cubicBezTo>
                <a:cubicBezTo>
                  <a:pt x="2314791" y="3078511"/>
                  <a:pt x="2398649" y="2862515"/>
                  <a:pt x="2429933" y="2743244"/>
                </a:cubicBezTo>
                <a:cubicBezTo>
                  <a:pt x="2452542" y="2657047"/>
                  <a:pt x="2462446" y="2567993"/>
                  <a:pt x="2480733" y="2480777"/>
                </a:cubicBezTo>
                <a:cubicBezTo>
                  <a:pt x="2499139" y="2392994"/>
                  <a:pt x="2520244" y="2305800"/>
                  <a:pt x="2540000" y="2218311"/>
                </a:cubicBezTo>
                <a:cubicBezTo>
                  <a:pt x="2542822" y="2153400"/>
                  <a:pt x="2544496" y="2088428"/>
                  <a:pt x="2548466" y="2023577"/>
                </a:cubicBezTo>
                <a:cubicBezTo>
                  <a:pt x="2552963" y="1950120"/>
                  <a:pt x="2563101" y="1877003"/>
                  <a:pt x="2565400" y="1803444"/>
                </a:cubicBezTo>
                <a:cubicBezTo>
                  <a:pt x="2577215" y="1425356"/>
                  <a:pt x="2582333" y="1047089"/>
                  <a:pt x="2590800" y="668911"/>
                </a:cubicBezTo>
                <a:cubicBezTo>
                  <a:pt x="2585155" y="491111"/>
                  <a:pt x="2587304" y="312892"/>
                  <a:pt x="2573866" y="135511"/>
                </a:cubicBezTo>
                <a:cubicBezTo>
                  <a:pt x="2572961" y="123572"/>
                  <a:pt x="2556131" y="119309"/>
                  <a:pt x="2548466" y="110111"/>
                </a:cubicBezTo>
                <a:cubicBezTo>
                  <a:pt x="2541952" y="102294"/>
                  <a:pt x="2539479" y="91068"/>
                  <a:pt x="2531533" y="84711"/>
                </a:cubicBezTo>
                <a:cubicBezTo>
                  <a:pt x="2524564" y="79136"/>
                  <a:pt x="2514815" y="78311"/>
                  <a:pt x="2506133" y="76244"/>
                </a:cubicBezTo>
                <a:cubicBezTo>
                  <a:pt x="2455509" y="64190"/>
                  <a:pt x="2405559" y="47088"/>
                  <a:pt x="2353733" y="42377"/>
                </a:cubicBezTo>
                <a:lnTo>
                  <a:pt x="2260600" y="33911"/>
                </a:lnTo>
                <a:lnTo>
                  <a:pt x="2150533" y="25444"/>
                </a:lnTo>
                <a:cubicBezTo>
                  <a:pt x="2125082" y="23130"/>
                  <a:pt x="2099860" y="18193"/>
                  <a:pt x="2074333" y="16977"/>
                </a:cubicBezTo>
                <a:cubicBezTo>
                  <a:pt x="1981262" y="12545"/>
                  <a:pt x="1888066" y="11333"/>
                  <a:pt x="1794933" y="8511"/>
                </a:cubicBezTo>
                <a:cubicBezTo>
                  <a:pt x="1778000" y="5689"/>
                  <a:pt x="1761288" y="-591"/>
                  <a:pt x="1744133" y="44"/>
                </a:cubicBezTo>
                <a:cubicBezTo>
                  <a:pt x="1467727" y="10281"/>
                  <a:pt x="1409120" y="-11577"/>
                  <a:pt x="1210733" y="67777"/>
                </a:cubicBezTo>
                <a:cubicBezTo>
                  <a:pt x="1195454" y="73889"/>
                  <a:pt x="1183381" y="86367"/>
                  <a:pt x="1168400" y="93177"/>
                </a:cubicBezTo>
                <a:cubicBezTo>
                  <a:pt x="1117905" y="116130"/>
                  <a:pt x="1110092" y="100685"/>
                  <a:pt x="1066800" y="143977"/>
                </a:cubicBezTo>
                <a:cubicBezTo>
                  <a:pt x="1047044" y="163733"/>
                  <a:pt x="1030780" y="187747"/>
                  <a:pt x="1007533" y="203244"/>
                </a:cubicBezTo>
                <a:lnTo>
                  <a:pt x="982133" y="220177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1BAD7181-F45C-22AB-12C5-BC1D903D9750}"/>
              </a:ext>
            </a:extLst>
          </p:cNvPr>
          <p:cNvSpPr/>
          <p:nvPr/>
        </p:nvSpPr>
        <p:spPr>
          <a:xfrm rot="14525732">
            <a:off x="10117667" y="1066800"/>
            <a:ext cx="355600" cy="296333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61FAE-9DBA-5BA0-93D6-A01AC487249E}"/>
              </a:ext>
            </a:extLst>
          </p:cNvPr>
          <p:cNvSpPr txBox="1"/>
          <p:nvPr/>
        </p:nvSpPr>
        <p:spPr>
          <a:xfrm>
            <a:off x="3979333" y="228600"/>
            <a:ext cx="22182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Create a folder Components in app folder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45566E-973B-E4CC-B62E-D2D50DD78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028" y="1151930"/>
            <a:ext cx="1306188" cy="279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272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74C9A1-FC58-2739-9F46-0B6C9F1DD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3" y="645412"/>
            <a:ext cx="5394215" cy="25380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7AA927-F7EA-1CFA-4FBB-28552700CA5A}"/>
              </a:ext>
            </a:extLst>
          </p:cNvPr>
          <p:cNvSpPr txBox="1"/>
          <p:nvPr/>
        </p:nvSpPr>
        <p:spPr>
          <a:xfrm>
            <a:off x="169333" y="170934"/>
            <a:ext cx="43434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http://localhost:3000/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6508E0-EE0F-4275-D17D-21F1902F2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1" y="3620827"/>
            <a:ext cx="5336982" cy="271876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C10175-086A-2BAE-569D-02A4FFCAD1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0467" y="568512"/>
            <a:ext cx="5740400" cy="30523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FF1A49B-91C3-3702-3E86-3B48173BB207}"/>
              </a:ext>
            </a:extLst>
          </p:cNvPr>
          <p:cNvSpPr txBox="1"/>
          <p:nvPr/>
        </p:nvSpPr>
        <p:spPr>
          <a:xfrm>
            <a:off x="330199" y="3103948"/>
            <a:ext cx="43434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http://localhost:3000/page/about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230DFF-CB93-E847-EBF9-669686238A8E}"/>
              </a:ext>
            </a:extLst>
          </p:cNvPr>
          <p:cNvSpPr txBox="1"/>
          <p:nvPr/>
        </p:nvSpPr>
        <p:spPr>
          <a:xfrm>
            <a:off x="5850467" y="156906"/>
            <a:ext cx="5740400" cy="38335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http://localhost:3000/listemp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016AE03-00E4-C692-2571-EADA8C6EF792}"/>
              </a:ext>
            </a:extLst>
          </p:cNvPr>
          <p:cNvCxnSpPr/>
          <p:nvPr/>
        </p:nvCxnSpPr>
        <p:spPr>
          <a:xfrm>
            <a:off x="6756400" y="3352800"/>
            <a:ext cx="1337733" cy="601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D3A66FF-6031-9B50-83CA-D1D849F4F6F7}"/>
              </a:ext>
            </a:extLst>
          </p:cNvPr>
          <p:cNvSpPr txBox="1"/>
          <p:nvPr/>
        </p:nvSpPr>
        <p:spPr>
          <a:xfrm>
            <a:off x="5731935" y="4038601"/>
            <a:ext cx="6256572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This will execute on client side but 1</a:t>
            </a:r>
            <a:r>
              <a:rPr lang="en-IN" baseline="30000" dirty="0"/>
              <a:t>st</a:t>
            </a:r>
            <a:r>
              <a:rPr lang="en-IN" dirty="0"/>
              <a:t> it stream data on server side then it render on client side .</a:t>
            </a:r>
          </a:p>
          <a:p>
            <a:endParaRPr lang="en-IN" dirty="0"/>
          </a:p>
          <a:p>
            <a:r>
              <a:rPr lang="en-IN" dirty="0"/>
              <a:t>Due  to this feature it perform much faster.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FEB6B0-A172-7086-5431-6FD28EBDB0CF}"/>
              </a:ext>
            </a:extLst>
          </p:cNvPr>
          <p:cNvSpPr txBox="1"/>
          <p:nvPr/>
        </p:nvSpPr>
        <p:spPr>
          <a:xfrm>
            <a:off x="5731935" y="5545667"/>
            <a:ext cx="6375104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All data fetching from server should be on server side </a:t>
            </a:r>
          </a:p>
          <a:p>
            <a:endParaRPr lang="en-IN" dirty="0"/>
          </a:p>
          <a:p>
            <a:r>
              <a:rPr lang="en-IN" dirty="0"/>
              <a:t>All event associated communication should be </a:t>
            </a:r>
            <a:r>
              <a:rPr lang="en-IN" dirty="0" err="1"/>
              <a:t>onclient</a:t>
            </a:r>
            <a:r>
              <a:rPr lang="en-IN" dirty="0"/>
              <a:t> side</a:t>
            </a:r>
          </a:p>
        </p:txBody>
      </p:sp>
    </p:spTree>
    <p:extLst>
      <p:ext uri="{BB962C8B-B14F-4D97-AF65-F5344CB8AC3E}">
        <p14:creationId xmlns:p14="http://schemas.microsoft.com/office/powerpoint/2010/main" val="411471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516C5-FE3E-3C27-0A44-42D28FCC0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9776" y="0"/>
            <a:ext cx="3234267" cy="363007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IN" dirty="0"/>
              <a:t>Basic Routes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EDCB9B-BDEB-0E90-BA5E-94D92453E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44" y="0"/>
            <a:ext cx="2927378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88B447-AEB8-1292-E57D-9A43B209557A}"/>
              </a:ext>
            </a:extLst>
          </p:cNvPr>
          <p:cNvSpPr txBox="1"/>
          <p:nvPr/>
        </p:nvSpPr>
        <p:spPr>
          <a:xfrm>
            <a:off x="3649133" y="363007"/>
            <a:ext cx="8372489" cy="6929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'use client'</a:t>
            </a:r>
            <a:endParaRPr lang="en-IN" b="0" dirty="0">
              <a:solidFill>
                <a:srgbClr val="3B3B3B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'next/link'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Page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setEmployee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([]);</a:t>
            </a: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"http://localhost:5221/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/Employee"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setEmployee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}, []);</a:t>
            </a: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</a:t>
            </a: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&lt;h2&gt;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Employees Data...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&lt;table&gt;&lt;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thead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&lt;tr&gt;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Departmrnt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&lt;/tr&gt;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thead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tbody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employees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&lt;td&gt;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&lt;/td&gt;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&lt;td&gt;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&lt;/td&gt;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&lt;td&gt;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&lt;/td&gt;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&lt;td&gt;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department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&lt;/td&gt;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&lt;td&gt;&lt;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`emp/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&lt;/td&gt;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&lt;/tr&gt;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))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tbody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&gt;&lt;/table&gt;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ts val="1425"/>
              </a:lnSpc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  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Page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3A641A-EC20-71E4-D0B3-E36E9BFCC473}"/>
              </a:ext>
            </a:extLst>
          </p:cNvPr>
          <p:cNvSpPr txBox="1"/>
          <p:nvPr/>
        </p:nvSpPr>
        <p:spPr>
          <a:xfrm>
            <a:off x="9202224" y="2523067"/>
            <a:ext cx="2887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 URL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5B9CF74-6A4F-C471-01B1-4EEC86888F1B}"/>
              </a:ext>
            </a:extLst>
          </p:cNvPr>
          <p:cNvCxnSpPr/>
          <p:nvPr/>
        </p:nvCxnSpPr>
        <p:spPr>
          <a:xfrm>
            <a:off x="922867" y="1820333"/>
            <a:ext cx="2802466" cy="1286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6BFB887-6875-18F0-96FC-AB984EBEFCBB}"/>
              </a:ext>
            </a:extLst>
          </p:cNvPr>
          <p:cNvSpPr txBox="1"/>
          <p:nvPr/>
        </p:nvSpPr>
        <p:spPr>
          <a:xfrm>
            <a:off x="3268133" y="3124200"/>
            <a:ext cx="1659467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Dynamic Route</a:t>
            </a:r>
          </a:p>
        </p:txBody>
      </p:sp>
    </p:spTree>
    <p:extLst>
      <p:ext uri="{BB962C8B-B14F-4D97-AF65-F5344CB8AC3E}">
        <p14:creationId xmlns:p14="http://schemas.microsoft.com/office/powerpoint/2010/main" val="1163512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C326D-4263-6AF9-2200-9FE557F90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133" y="0"/>
            <a:ext cx="10515600" cy="464608"/>
          </a:xfrm>
        </p:spPr>
        <p:txBody>
          <a:bodyPr>
            <a:noAutofit/>
          </a:bodyPr>
          <a:lstStyle/>
          <a:p>
            <a:r>
              <a:rPr lang="en-IN" sz="3200" dirty="0"/>
              <a:t>Let’s convert above code which will run on server side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38C7F5-A1BD-1B1B-CADC-BAC4D3515186}"/>
              </a:ext>
            </a:extLst>
          </p:cNvPr>
          <p:cNvSpPr txBox="1"/>
          <p:nvPr/>
        </p:nvSpPr>
        <p:spPr>
          <a:xfrm>
            <a:off x="279399" y="464608"/>
            <a:ext cx="6688667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'next/link'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ServerExample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"http://localhost:5221/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/Employee"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employees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&lt;h2&gt;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Employees Data...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&lt;table&gt;&lt;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thead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&lt;tr&gt;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Departmrnt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&lt;/tr&gt;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thead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tbody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&lt;td&gt;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&lt;/td&gt;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&lt;td&gt;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&lt;/td&gt;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&lt;td&gt;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&lt;/td&gt;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&lt;td&gt;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department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&lt;/td&gt;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&lt;td&gt;&lt;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`emp/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&lt;/td&gt;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&lt;/tr&gt;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))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tbody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&gt;&lt;/table&gt;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ServerExample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b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C794DA-61AE-944B-95B2-4EA9374DC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9756" y="-127000"/>
            <a:ext cx="2096487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D5AB6D-EB96-2F08-BE98-48515B681F5E}"/>
              </a:ext>
            </a:extLst>
          </p:cNvPr>
          <p:cNvSpPr txBox="1"/>
          <p:nvPr/>
        </p:nvSpPr>
        <p:spPr>
          <a:xfrm>
            <a:off x="5833534" y="591608"/>
            <a:ext cx="372272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How do I know that it’s running on server side or client side? </a:t>
            </a:r>
          </a:p>
          <a:p>
            <a:pPr marL="342900" indent="-342900">
              <a:buAutoNum type="arabicPeriod"/>
            </a:pPr>
            <a:r>
              <a:rPr lang="en-IN" dirty="0"/>
              <a:t>By default next </a:t>
            </a:r>
            <a:r>
              <a:rPr lang="en-IN" dirty="0" err="1"/>
              <a:t>js</a:t>
            </a:r>
            <a:r>
              <a:rPr lang="en-IN" dirty="0"/>
              <a:t> execute code on server side.</a:t>
            </a:r>
          </a:p>
          <a:p>
            <a:pPr marL="342900" indent="-342900">
              <a:buFontTx/>
              <a:buAutoNum type="arabicPeriod"/>
            </a:pPr>
            <a:r>
              <a:rPr lang="en-IN" dirty="0"/>
              <a:t>If you write </a:t>
            </a:r>
            <a:r>
              <a:rPr lang="en-IN" dirty="0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'use client’</a:t>
            </a:r>
            <a:endParaRPr lang="en-IN" dirty="0">
              <a:solidFill>
                <a:srgbClr val="3B3B3B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IN" dirty="0"/>
              <a:t>Then only it execute on client side</a:t>
            </a:r>
          </a:p>
          <a:p>
            <a:endParaRPr lang="en-IN" dirty="0"/>
          </a:p>
          <a:p>
            <a:r>
              <a:rPr lang="en-IN" dirty="0"/>
              <a:t>What is the proof?</a:t>
            </a:r>
          </a:p>
          <a:p>
            <a:pPr marL="342900" indent="-342900">
              <a:buAutoNum type="arabicPeriod"/>
            </a:pPr>
            <a:r>
              <a:rPr lang="en-IN" dirty="0"/>
              <a:t>On network tab check the type of response. If response is </a:t>
            </a:r>
            <a:r>
              <a:rPr lang="en-IN" dirty="0" err="1"/>
              <a:t>json</a:t>
            </a:r>
            <a:r>
              <a:rPr lang="en-IN" dirty="0"/>
              <a:t> data the I’s running on client side</a:t>
            </a:r>
          </a:p>
          <a:p>
            <a:r>
              <a:rPr lang="en-IN" dirty="0"/>
              <a:t>And if response is HTML page then it’s running on server side </a:t>
            </a:r>
          </a:p>
          <a:p>
            <a:endParaRPr lang="en-IN" dirty="0"/>
          </a:p>
          <a:p>
            <a:r>
              <a:rPr lang="en-IN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7115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E601D-46FA-C2BB-C3E4-808AC3A59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934" y="153458"/>
            <a:ext cx="10735733" cy="752475"/>
          </a:xfrm>
        </p:spPr>
        <p:txBody>
          <a:bodyPr/>
          <a:lstStyle/>
          <a:p>
            <a:r>
              <a:rPr lang="en-IN" dirty="0"/>
              <a:t>One more example of server side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5E79D-76E2-D126-1607-023A31ECA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26091"/>
            <a:ext cx="10515600" cy="435133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6667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394AA64-D0B2-C42C-0005-DB26D8EC3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1" y="719667"/>
            <a:ext cx="5462472" cy="17695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CFE63E-31A2-77B3-87EB-82A8B9E84C2D}"/>
              </a:ext>
            </a:extLst>
          </p:cNvPr>
          <p:cNvSpPr txBox="1"/>
          <p:nvPr/>
        </p:nvSpPr>
        <p:spPr>
          <a:xfrm>
            <a:off x="440266" y="170933"/>
            <a:ext cx="3267028" cy="37093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http://localhost:3000/emp/1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AF565E-87BF-F9CD-047C-ED3D76F6799A}"/>
              </a:ext>
            </a:extLst>
          </p:cNvPr>
          <p:cNvSpPr txBox="1"/>
          <p:nvPr/>
        </p:nvSpPr>
        <p:spPr>
          <a:xfrm>
            <a:off x="6067279" y="0"/>
            <a:ext cx="6096000" cy="6563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EmployeeDetail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({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})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Server-side fetch (executed on the server)</a:t>
            </a:r>
          </a:p>
          <a:p>
            <a:pPr>
              <a:lnSpc>
                <a:spcPts val="1425"/>
              </a:lnSpc>
            </a:pPr>
            <a:r>
              <a:rPr lang="en-IN" dirty="0"/>
              <a:t> </a:t>
            </a:r>
            <a:r>
              <a:rPr lang="en-IN" dirty="0" err="1"/>
              <a:t>const</a:t>
            </a:r>
            <a:r>
              <a:rPr lang="en-IN" dirty="0"/>
              <a:t> {id} = </a:t>
            </a:r>
            <a:r>
              <a:rPr lang="en-IN" dirty="0">
                <a:highlight>
                  <a:srgbClr val="FFFF00"/>
                </a:highlight>
              </a:rPr>
              <a:t>await params;</a:t>
            </a:r>
          </a:p>
          <a:p>
            <a:pPr>
              <a:lnSpc>
                <a:spcPts val="1425"/>
              </a:lnSpc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`http://localhost:5221/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/Employee/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6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{</a:t>
            </a:r>
          </a:p>
          <a:p>
            <a:pPr>
              <a:lnSpc>
                <a:spcPts val="1425"/>
              </a:lnSpc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cache: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"no-store"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Prevents caching (useful for dynamic data)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});</a:t>
            </a:r>
          </a:p>
          <a:p>
            <a:pPr>
              <a:lnSpc>
                <a:spcPts val="1425"/>
              </a:lnSpc>
            </a:pPr>
            <a:b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"Failed to fetch employee data"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b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</a:pPr>
            <a:b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425"/>
              </a:lnSpc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&lt;div&gt;&lt;label&gt;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Id: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Email: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Dpartment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department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ts val="1425"/>
              </a:lnSpc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"Error fetching employee data:"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Failed to load employee data.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</a:pP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ts val="1425"/>
              </a:lnSpc>
            </a:pPr>
            <a:b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EmployeeDetail</a:t>
            </a:r>
            <a:r>
              <a:rPr lang="en-IN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55F5C3-E0B7-8C4C-2A0F-B92906AE9538}"/>
              </a:ext>
            </a:extLst>
          </p:cNvPr>
          <p:cNvSpPr txBox="1"/>
          <p:nvPr/>
        </p:nvSpPr>
        <p:spPr>
          <a:xfrm>
            <a:off x="101601" y="2489200"/>
            <a:ext cx="6526328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By default all component execute on server side and send html page=&gt;  this is node server communicate to kestrel on which </a:t>
            </a:r>
            <a:r>
              <a:rPr lang="en-IN" dirty="0" err="1"/>
              <a:t>.Net</a:t>
            </a:r>
            <a:r>
              <a:rPr lang="en-IN" dirty="0"/>
              <a:t> API runs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0EF8706-C325-DB86-9B1D-83B3DE439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18045"/>
            <a:ext cx="5462473" cy="2122787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319D7AD-6D0D-3F54-2098-8BA4F53B2BBD}"/>
              </a:ext>
            </a:extLst>
          </p:cNvPr>
          <p:cNvCxnSpPr/>
          <p:nvPr/>
        </p:nvCxnSpPr>
        <p:spPr>
          <a:xfrm flipH="1">
            <a:off x="11006667" y="905933"/>
            <a:ext cx="956733" cy="1921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411C24D-3ECC-368F-967E-9B8E066EAEAE}"/>
              </a:ext>
            </a:extLst>
          </p:cNvPr>
          <p:cNvSpPr txBox="1"/>
          <p:nvPr/>
        </p:nvSpPr>
        <p:spPr>
          <a:xfrm>
            <a:off x="10329332" y="2912533"/>
            <a:ext cx="1634067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Name of folder</a:t>
            </a:r>
          </a:p>
          <a:p>
            <a:r>
              <a:rPr lang="en-IN" dirty="0"/>
              <a:t>[id]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BB7346-EB02-A8C7-55BE-5F29EA643C0D}"/>
              </a:ext>
            </a:extLst>
          </p:cNvPr>
          <p:cNvSpPr txBox="1"/>
          <p:nvPr/>
        </p:nvSpPr>
        <p:spPr>
          <a:xfrm>
            <a:off x="254000" y="5844708"/>
            <a:ext cx="5208473" cy="100450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metadata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title :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'Display By Id 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 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Description: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'employe details by id'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 </a:t>
            </a: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96B4D6A-90B1-0264-1E0C-55B1A0F06670}"/>
              </a:ext>
            </a:extLst>
          </p:cNvPr>
          <p:cNvCxnSpPr/>
          <p:nvPr/>
        </p:nvCxnSpPr>
        <p:spPr>
          <a:xfrm>
            <a:off x="5054600" y="6390596"/>
            <a:ext cx="1573329" cy="162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A4AFE6B-7944-4D15-4D48-9AABDEF0ADFC}"/>
              </a:ext>
            </a:extLst>
          </p:cNvPr>
          <p:cNvSpPr txBox="1"/>
          <p:nvPr/>
        </p:nvSpPr>
        <p:spPr>
          <a:xfrm>
            <a:off x="6627929" y="6324600"/>
            <a:ext cx="5022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This will generate title for this page and meta </a:t>
            </a:r>
            <a:r>
              <a:rPr lang="en-IN" dirty="0" err="1"/>
              <a:t>deta</a:t>
            </a:r>
            <a:r>
              <a:rPr lang="en-IN" dirty="0"/>
              <a:t> for SEO</a:t>
            </a:r>
          </a:p>
        </p:txBody>
      </p:sp>
    </p:spTree>
    <p:extLst>
      <p:ext uri="{BB962C8B-B14F-4D97-AF65-F5344CB8AC3E}">
        <p14:creationId xmlns:p14="http://schemas.microsoft.com/office/powerpoint/2010/main" val="2903990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F5F89C3-F386-DE81-9C7B-F1A25313E4AF}"/>
              </a:ext>
            </a:extLst>
          </p:cNvPr>
          <p:cNvSpPr txBox="1"/>
          <p:nvPr/>
        </p:nvSpPr>
        <p:spPr>
          <a:xfrm>
            <a:off x="897467" y="739339"/>
            <a:ext cx="9779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Somewhere in your code you used an API that opts into dynamic rendering.</a:t>
            </a:r>
          </a:p>
          <a:p>
            <a:endParaRPr lang="en-US" dirty="0"/>
          </a:p>
          <a:p>
            <a:r>
              <a:rPr lang="en-US" dirty="0"/>
              <a:t>Dynamic APIs are:</a:t>
            </a:r>
          </a:p>
          <a:p>
            <a:endParaRPr lang="en-US" dirty="0"/>
          </a:p>
          <a:p>
            <a:r>
              <a:rPr lang="en-US" dirty="0"/>
              <a:t>The params and </a:t>
            </a:r>
            <a:r>
              <a:rPr lang="en-US" dirty="0" err="1"/>
              <a:t>searchParams</a:t>
            </a:r>
            <a:r>
              <a:rPr lang="en-US" dirty="0"/>
              <a:t> props that get provided to pages, layouts, metadata APIs, and route handlers.</a:t>
            </a:r>
          </a:p>
          <a:p>
            <a:r>
              <a:rPr lang="en-US" dirty="0"/>
              <a:t>cookies(), </a:t>
            </a:r>
            <a:r>
              <a:rPr lang="en-US" dirty="0" err="1"/>
              <a:t>draftMode</a:t>
            </a:r>
            <a:r>
              <a:rPr lang="en-US" dirty="0"/>
              <a:t>(), and headers() from next/headers</a:t>
            </a:r>
          </a:p>
          <a:p>
            <a:endParaRPr lang="en-US" dirty="0"/>
          </a:p>
          <a:p>
            <a:r>
              <a:rPr lang="en-US" dirty="0"/>
              <a:t>In Next 15, these APIs have been made </a:t>
            </a:r>
            <a:r>
              <a:rPr lang="en-US" b="1" dirty="0"/>
              <a:t>asynchronous.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84859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A89DEF-D2CC-A03A-65E1-E1710EB22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55" y="225260"/>
            <a:ext cx="6414812" cy="21572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37079F-DE0B-243E-C14B-A85F55A16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888" y="2830371"/>
            <a:ext cx="8417596" cy="3802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411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026D64-8F6D-4C5F-80ED-1AB2A7A3387A}"/>
              </a:ext>
            </a:extLst>
          </p:cNvPr>
          <p:cNvSpPr txBox="1"/>
          <p:nvPr/>
        </p:nvSpPr>
        <p:spPr>
          <a:xfrm>
            <a:off x="0" y="369332"/>
            <a:ext cx="119210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When working with a file-based system, having numerous folders within the app folder may be better, especially in a more complex system. </a:t>
            </a:r>
          </a:p>
          <a:p>
            <a:r>
              <a:rPr lang="en-US" dirty="0"/>
              <a:t>To address this and offer better control over folder organization without impacting the URL path structure, Next.js introduced a feature called    "Route Groups.”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F58537-4EC1-15D7-A625-5029AAFA0F7A}"/>
              </a:ext>
            </a:extLst>
          </p:cNvPr>
          <p:cNvSpPr txBox="1"/>
          <p:nvPr/>
        </p:nvSpPr>
        <p:spPr>
          <a:xfrm>
            <a:off x="3589867" y="0"/>
            <a:ext cx="250613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/>
              <a:t>Route Groups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735817-B08A-CF9C-A879-A5AAFC247EF4}"/>
              </a:ext>
            </a:extLst>
          </p:cNvPr>
          <p:cNvSpPr txBox="1"/>
          <p:nvPr/>
        </p:nvSpPr>
        <p:spPr>
          <a:xfrm>
            <a:off x="88899" y="1569661"/>
            <a:ext cx="117432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What if we could limit the number of folders inside the app folder to a  maximum of 1-3 and include everything within these folders while   maintaining the same route path?</a:t>
            </a:r>
          </a:p>
          <a:p>
            <a:endParaRPr lang="en-US" dirty="0"/>
          </a:p>
          <a:p>
            <a:r>
              <a:rPr lang="en-US" dirty="0"/>
              <a:t>In this case, if we create these folders, i.e., auth and, let's say, dashboard, right away and add the corresponding folders &amp; pages inside them, it will impact our routing. </a:t>
            </a:r>
          </a:p>
          <a:p>
            <a:r>
              <a:rPr lang="en-US" dirty="0"/>
              <a:t>   Why? Because, as we've learned, each folder</a:t>
            </a:r>
          </a:p>
          <a:p>
            <a:r>
              <a:rPr lang="en-US" dirty="0"/>
              <a:t>name serves as a route name.</a:t>
            </a:r>
          </a:p>
          <a:p>
            <a:r>
              <a:rPr lang="en-US" dirty="0"/>
              <a:t>app</a:t>
            </a:r>
          </a:p>
          <a:p>
            <a:r>
              <a:rPr lang="en-US" dirty="0"/>
              <a:t>auth</a:t>
            </a:r>
          </a:p>
          <a:p>
            <a:r>
              <a:rPr lang="en-US" dirty="0"/>
              <a:t>sign-in</a:t>
            </a:r>
          </a:p>
          <a:p>
            <a:r>
              <a:rPr lang="en-US" dirty="0"/>
              <a:t>page.js</a:t>
            </a:r>
          </a:p>
          <a:p>
            <a:r>
              <a:rPr lang="en-US" dirty="0"/>
              <a:t>page.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21E4B81-9254-6075-F741-C452BC780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791" y="3639066"/>
            <a:ext cx="2010042" cy="23706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1339DB8-31B0-9E96-52DA-E93574EBA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1074" y="2818741"/>
            <a:ext cx="2562583" cy="21672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8BE11B4-133E-0A1F-E817-B368ADFD0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6723" y="2634321"/>
            <a:ext cx="2482350" cy="253608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429ABDE-CCD1-3012-E6F0-4C5235176C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3775" y="4985981"/>
            <a:ext cx="5124449" cy="1872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677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9D33EA-1CE4-24F5-7378-4D4654918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3700768" cy="4191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21CCFB-3ECF-7045-0883-E98D8152F154}"/>
              </a:ext>
            </a:extLst>
          </p:cNvPr>
          <p:cNvSpPr txBox="1"/>
          <p:nvPr/>
        </p:nvSpPr>
        <p:spPr>
          <a:xfrm>
            <a:off x="4089400" y="304800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If you want two separate Layout without </a:t>
            </a:r>
            <a:r>
              <a:rPr lang="en-IN" dirty="0" err="1"/>
              <a:t>RootLayout</a:t>
            </a:r>
            <a:r>
              <a:rPr lang="en-IN" dirty="0"/>
              <a:t> you can do this. Put layout page in both folder </a:t>
            </a:r>
            <a:r>
              <a:rPr lang="en-IN" dirty="0" err="1"/>
              <a:t>ie</a:t>
            </a:r>
            <a:r>
              <a:rPr lang="en-IN" dirty="0"/>
              <a:t>. (auth) and (dashboard)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BC10EA-FD31-E3C0-2BA1-76FC60836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2534" y="1090873"/>
            <a:ext cx="4784507" cy="20515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D441AA-B4E4-0DEC-664C-C231DA982F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1698" y="3511018"/>
            <a:ext cx="3382768" cy="296663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962C7E5-F382-2C0F-8AB1-826306BA9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9613" y="3511018"/>
            <a:ext cx="3655957" cy="3190653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27A048A-B081-BF30-C66B-9232E56DB7A3}"/>
              </a:ext>
            </a:extLst>
          </p:cNvPr>
          <p:cNvCxnSpPr/>
          <p:nvPr/>
        </p:nvCxnSpPr>
        <p:spPr>
          <a:xfrm flipV="1">
            <a:off x="7882466" y="1586404"/>
            <a:ext cx="905934" cy="67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A529245-FE3B-4FB2-178F-33FB6D6DA9CA}"/>
              </a:ext>
            </a:extLst>
          </p:cNvPr>
          <p:cNvSpPr txBox="1"/>
          <p:nvPr/>
        </p:nvSpPr>
        <p:spPr>
          <a:xfrm>
            <a:off x="9059333" y="1090873"/>
            <a:ext cx="3064935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Default it will load page.js of (dashboard) folder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7399DC-6F41-3375-403C-4C8AF6C5AA3E}"/>
              </a:ext>
            </a:extLst>
          </p:cNvPr>
          <p:cNvSpPr txBox="1"/>
          <p:nvPr/>
        </p:nvSpPr>
        <p:spPr>
          <a:xfrm>
            <a:off x="8873068" y="2133600"/>
            <a:ext cx="325120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You can not have Page.js in both folder. it has to be in either (dashboard) or (auth)</a:t>
            </a:r>
          </a:p>
        </p:txBody>
      </p:sp>
    </p:spTree>
    <p:extLst>
      <p:ext uri="{BB962C8B-B14F-4D97-AF65-F5344CB8AC3E}">
        <p14:creationId xmlns:p14="http://schemas.microsoft.com/office/powerpoint/2010/main" val="3933527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2171</TotalTime>
  <Words>1876</Words>
  <Application>Microsoft Office PowerPoint</Application>
  <PresentationFormat>Widescreen</PresentationFormat>
  <Paragraphs>280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Consolas</vt:lpstr>
      <vt:lpstr>Courier New</vt:lpstr>
      <vt:lpstr>Geist</vt:lpstr>
      <vt:lpstr>var(--font-mono)</vt:lpstr>
      <vt:lpstr>Office Theme</vt:lpstr>
      <vt:lpstr>PowerPoint Presentation</vt:lpstr>
      <vt:lpstr>PowerPoint Presentation</vt:lpstr>
      <vt:lpstr>PowerPoint Presentation</vt:lpstr>
      <vt:lpstr>Creating Routes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Basic Routes</vt:lpstr>
      <vt:lpstr>Let’s convert above code which will run on server side</vt:lpstr>
      <vt:lpstr>One more example of server side execution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mantri vidyanidhi infotech academy</dc:creator>
  <cp:lastModifiedBy>sriram mantri vidyanidhi infotech academy</cp:lastModifiedBy>
  <cp:revision>49</cp:revision>
  <dcterms:created xsi:type="dcterms:W3CDTF">2025-03-06T10:12:21Z</dcterms:created>
  <dcterms:modified xsi:type="dcterms:W3CDTF">2025-07-14T10:11:14Z</dcterms:modified>
</cp:coreProperties>
</file>