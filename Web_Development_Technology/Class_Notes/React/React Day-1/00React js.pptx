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60" r:id="rId2"/>
    <p:sldId id="261" r:id="rId3"/>
    <p:sldId id="262" r:id="rId4"/>
    <p:sldId id="263" r:id="rId5"/>
    <p:sldId id="264" r:id="rId6"/>
    <p:sldId id="265" r:id="rId7"/>
    <p:sldId id="266" r:id="rId8"/>
    <p:sldId id="288" r:id="rId9"/>
    <p:sldId id="267" r:id="rId10"/>
    <p:sldId id="268" r:id="rId11"/>
    <p:sldId id="269" r:id="rId12"/>
    <p:sldId id="282" r:id="rId13"/>
    <p:sldId id="281" r:id="rId14"/>
    <p:sldId id="280" r:id="rId15"/>
    <p:sldId id="278" r:id="rId16"/>
    <p:sldId id="274" r:id="rId17"/>
    <p:sldId id="270" r:id="rId18"/>
    <p:sldId id="271" r:id="rId19"/>
    <p:sldId id="272" r:id="rId20"/>
    <p:sldId id="287" r:id="rId21"/>
    <p:sldId id="275" r:id="rId22"/>
    <p:sldId id="276" r:id="rId23"/>
    <p:sldId id="277" r:id="rId24"/>
    <p:sldId id="273" r:id="rId25"/>
    <p:sldId id="283" r:id="rId26"/>
    <p:sldId id="284" r:id="rId27"/>
    <p:sldId id="286" r:id="rId28"/>
    <p:sldId id="285"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96"/>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2A5F55-251C-4F81-9AC1-F0A080185D9D}" type="datetimeFigureOut">
              <a:rPr lang="en-IN" smtClean="0"/>
              <a:t>05-05-2025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EB6A38-92D1-48EF-BF3B-AEEE6CB462B3}" type="slidenum">
              <a:rPr lang="en-IN" smtClean="0"/>
              <a:t>‹#›</a:t>
            </a:fld>
            <a:endParaRPr lang="en-IN"/>
          </a:p>
        </p:txBody>
      </p:sp>
    </p:spTree>
    <p:extLst>
      <p:ext uri="{BB962C8B-B14F-4D97-AF65-F5344CB8AC3E}">
        <p14:creationId xmlns:p14="http://schemas.microsoft.com/office/powerpoint/2010/main" val="31853726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8F274-4539-49A0-87A3-8A92926FC48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913C69C-C15D-488F-8E9B-26F0B1525A2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F5146E9-5B29-4689-B98F-C7A175B11628}"/>
              </a:ext>
            </a:extLst>
          </p:cNvPr>
          <p:cNvSpPr>
            <a:spLocks noGrp="1"/>
          </p:cNvSpPr>
          <p:nvPr>
            <p:ph type="dt" sz="half" idx="10"/>
          </p:nvPr>
        </p:nvSpPr>
        <p:spPr/>
        <p:txBody>
          <a:bodyPr/>
          <a:lstStyle/>
          <a:p>
            <a:fld id="{D6FE7E06-79CA-4948-8009-C5BAAA988AD0}" type="datetimeFigureOut">
              <a:rPr lang="en-IN" smtClean="0"/>
              <a:t>05-05-2025</a:t>
            </a:fld>
            <a:endParaRPr lang="en-IN"/>
          </a:p>
        </p:txBody>
      </p:sp>
      <p:sp>
        <p:nvSpPr>
          <p:cNvPr id="5" name="Footer Placeholder 4">
            <a:extLst>
              <a:ext uri="{FF2B5EF4-FFF2-40B4-BE49-F238E27FC236}">
                <a16:creationId xmlns:a16="http://schemas.microsoft.com/office/drawing/2014/main" id="{4BDD42DB-8643-44D3-B820-E974547989A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691B433-8249-456C-AB7B-51A5A281DB06}"/>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5478436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4E34C-EBDD-49B8-AE4A-F0DF046D36FB}"/>
              </a:ext>
            </a:extLst>
          </p:cNvPr>
          <p:cNvSpPr>
            <a:spLocks noGrp="1"/>
          </p:cNvSpPr>
          <p:nvPr>
            <p:ph type="title"/>
          </p:nvPr>
        </p:nvSpPr>
        <p:spPr/>
        <p:txBody>
          <a:body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8BED6A62-373F-446D-BFBD-A2306CF231FF}"/>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6F1599FF-4428-40EF-AA95-511B46F701CA}"/>
              </a:ext>
            </a:extLst>
          </p:cNvPr>
          <p:cNvSpPr>
            <a:spLocks noGrp="1"/>
          </p:cNvSpPr>
          <p:nvPr>
            <p:ph type="dt" sz="half" idx="10"/>
          </p:nvPr>
        </p:nvSpPr>
        <p:spPr/>
        <p:txBody>
          <a:bodyPr/>
          <a:lstStyle/>
          <a:p>
            <a:fld id="{D6FE7E06-79CA-4948-8009-C5BAAA988AD0}" type="datetimeFigureOut">
              <a:rPr lang="en-IN" smtClean="0"/>
              <a:t>05-05-2025</a:t>
            </a:fld>
            <a:endParaRPr lang="en-IN"/>
          </a:p>
        </p:txBody>
      </p:sp>
      <p:sp>
        <p:nvSpPr>
          <p:cNvPr id="5" name="Footer Placeholder 4">
            <a:extLst>
              <a:ext uri="{FF2B5EF4-FFF2-40B4-BE49-F238E27FC236}">
                <a16:creationId xmlns:a16="http://schemas.microsoft.com/office/drawing/2014/main" id="{2B965240-55B7-47C4-A3A8-5BB8E54DF67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0EA2475-74E2-4E41-8886-F3660D2A9761}"/>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17829919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6E01C-29F8-490B-8FCF-5A1BA68330A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E42801F-0138-406C-AAEC-1F17FAEE393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119E173-E83D-48DF-9FEC-A692B1FDE17F}"/>
              </a:ext>
            </a:extLst>
          </p:cNvPr>
          <p:cNvSpPr>
            <a:spLocks noGrp="1"/>
          </p:cNvSpPr>
          <p:nvPr>
            <p:ph type="dt" sz="half" idx="10"/>
          </p:nvPr>
        </p:nvSpPr>
        <p:spPr/>
        <p:txBody>
          <a:bodyPr/>
          <a:lstStyle/>
          <a:p>
            <a:fld id="{D6FE7E06-79CA-4948-8009-C5BAAA988AD0}" type="datetimeFigureOut">
              <a:rPr lang="en-IN" smtClean="0"/>
              <a:t>05-05-2025</a:t>
            </a:fld>
            <a:endParaRPr lang="en-IN"/>
          </a:p>
        </p:txBody>
      </p:sp>
      <p:sp>
        <p:nvSpPr>
          <p:cNvPr id="5" name="Footer Placeholder 4">
            <a:extLst>
              <a:ext uri="{FF2B5EF4-FFF2-40B4-BE49-F238E27FC236}">
                <a16:creationId xmlns:a16="http://schemas.microsoft.com/office/drawing/2014/main" id="{02D9C63D-2389-42AA-9B07-EB7E73B18DF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39BFC83-08F9-4A8D-AD10-8340F22DCE6A}"/>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28840509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D2DE2-51FD-4F10-9681-13C93405150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5A61EAF-F639-4B21-897F-73E828D6951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625640D-430D-41E6-B518-D24AE86B106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209ED6F-D3D2-4301-8236-17897DB66F2C}"/>
              </a:ext>
            </a:extLst>
          </p:cNvPr>
          <p:cNvSpPr>
            <a:spLocks noGrp="1"/>
          </p:cNvSpPr>
          <p:nvPr>
            <p:ph type="dt" sz="half" idx="10"/>
          </p:nvPr>
        </p:nvSpPr>
        <p:spPr/>
        <p:txBody>
          <a:bodyPr/>
          <a:lstStyle/>
          <a:p>
            <a:fld id="{D6FE7E06-79CA-4948-8009-C5BAAA988AD0}" type="datetimeFigureOut">
              <a:rPr lang="en-IN" smtClean="0"/>
              <a:t>05-05-2025</a:t>
            </a:fld>
            <a:endParaRPr lang="en-IN"/>
          </a:p>
        </p:txBody>
      </p:sp>
      <p:sp>
        <p:nvSpPr>
          <p:cNvPr id="6" name="Footer Placeholder 5">
            <a:extLst>
              <a:ext uri="{FF2B5EF4-FFF2-40B4-BE49-F238E27FC236}">
                <a16:creationId xmlns:a16="http://schemas.microsoft.com/office/drawing/2014/main" id="{32F62381-5FAE-4B7D-8D9C-CB218975A34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2FCB351-5329-49A8-B8D2-E48C310019BA}"/>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15939710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90C04-E375-40C5-B7BA-A9919778CAF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A37561B-10E8-4E49-8165-C7B1F2B478B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AD2C891-3169-4C58-B8C1-F5731E89BA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FD0839A-777F-4B21-87B0-4C4D42E3B3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4C1FAA-AE14-43CB-869B-A8AF2C6646A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125958C-7EC9-44EF-BB36-03DEE3EF9D03}"/>
              </a:ext>
            </a:extLst>
          </p:cNvPr>
          <p:cNvSpPr>
            <a:spLocks noGrp="1"/>
          </p:cNvSpPr>
          <p:nvPr>
            <p:ph type="dt" sz="half" idx="10"/>
          </p:nvPr>
        </p:nvSpPr>
        <p:spPr/>
        <p:txBody>
          <a:bodyPr/>
          <a:lstStyle/>
          <a:p>
            <a:fld id="{D6FE7E06-79CA-4948-8009-C5BAAA988AD0}" type="datetimeFigureOut">
              <a:rPr lang="en-IN" smtClean="0"/>
              <a:t>05-05-2025</a:t>
            </a:fld>
            <a:endParaRPr lang="en-IN"/>
          </a:p>
        </p:txBody>
      </p:sp>
      <p:sp>
        <p:nvSpPr>
          <p:cNvPr id="8" name="Footer Placeholder 7">
            <a:extLst>
              <a:ext uri="{FF2B5EF4-FFF2-40B4-BE49-F238E27FC236}">
                <a16:creationId xmlns:a16="http://schemas.microsoft.com/office/drawing/2014/main" id="{B7C8A2B2-25CB-4912-80F5-71B3F4A4BA1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2B76D43-02E0-4EC5-AA63-8C56325BF156}"/>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30043728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17326-CF1B-499C-8B9F-5F1927E6909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EE45BAB-CAA8-4AC3-BDDF-7C436DC538C8}"/>
              </a:ext>
            </a:extLst>
          </p:cNvPr>
          <p:cNvSpPr>
            <a:spLocks noGrp="1"/>
          </p:cNvSpPr>
          <p:nvPr>
            <p:ph type="dt" sz="half" idx="10"/>
          </p:nvPr>
        </p:nvSpPr>
        <p:spPr/>
        <p:txBody>
          <a:bodyPr/>
          <a:lstStyle/>
          <a:p>
            <a:fld id="{D6FE7E06-79CA-4948-8009-C5BAAA988AD0}" type="datetimeFigureOut">
              <a:rPr lang="en-IN" smtClean="0"/>
              <a:t>05-05-2025</a:t>
            </a:fld>
            <a:endParaRPr lang="en-IN"/>
          </a:p>
        </p:txBody>
      </p:sp>
      <p:sp>
        <p:nvSpPr>
          <p:cNvPr id="4" name="Footer Placeholder 3">
            <a:extLst>
              <a:ext uri="{FF2B5EF4-FFF2-40B4-BE49-F238E27FC236}">
                <a16:creationId xmlns:a16="http://schemas.microsoft.com/office/drawing/2014/main" id="{332CF544-61DD-4F09-B6D7-67A699300B8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B958294-3C1C-4F63-9C5E-DD1D6E703601}"/>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3318024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D136457-3425-4CFA-92CF-2A286F2D4A6A}"/>
              </a:ext>
            </a:extLst>
          </p:cNvPr>
          <p:cNvSpPr>
            <a:spLocks noGrp="1"/>
          </p:cNvSpPr>
          <p:nvPr>
            <p:ph type="dt" sz="half" idx="10"/>
          </p:nvPr>
        </p:nvSpPr>
        <p:spPr/>
        <p:txBody>
          <a:bodyPr/>
          <a:lstStyle/>
          <a:p>
            <a:fld id="{D6FE7E06-79CA-4948-8009-C5BAAA988AD0}" type="datetimeFigureOut">
              <a:rPr lang="en-IN" smtClean="0"/>
              <a:t>05-05-2025</a:t>
            </a:fld>
            <a:endParaRPr lang="en-IN"/>
          </a:p>
        </p:txBody>
      </p:sp>
      <p:sp>
        <p:nvSpPr>
          <p:cNvPr id="3" name="Footer Placeholder 2">
            <a:extLst>
              <a:ext uri="{FF2B5EF4-FFF2-40B4-BE49-F238E27FC236}">
                <a16:creationId xmlns:a16="http://schemas.microsoft.com/office/drawing/2014/main" id="{9597BCE3-C3D5-41D4-AEBA-25E6B29B7C2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B758923-2415-409F-8349-E9FEC2B05A05}"/>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40283761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790AE-383D-495A-B54E-66E7D72675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9A4A5F1-07C2-42DD-8DE3-D03AC50EB95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8F7D3AA-403A-49AE-8E4E-15D16E277E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B0DD28-F5CB-46D6-BE31-32DE3E3401D8}"/>
              </a:ext>
            </a:extLst>
          </p:cNvPr>
          <p:cNvSpPr>
            <a:spLocks noGrp="1"/>
          </p:cNvSpPr>
          <p:nvPr>
            <p:ph type="dt" sz="half" idx="10"/>
          </p:nvPr>
        </p:nvSpPr>
        <p:spPr/>
        <p:txBody>
          <a:bodyPr/>
          <a:lstStyle/>
          <a:p>
            <a:fld id="{D6FE7E06-79CA-4948-8009-C5BAAA988AD0}" type="datetimeFigureOut">
              <a:rPr lang="en-IN" smtClean="0"/>
              <a:t>05-05-2025</a:t>
            </a:fld>
            <a:endParaRPr lang="en-IN"/>
          </a:p>
        </p:txBody>
      </p:sp>
      <p:sp>
        <p:nvSpPr>
          <p:cNvPr id="6" name="Footer Placeholder 5">
            <a:extLst>
              <a:ext uri="{FF2B5EF4-FFF2-40B4-BE49-F238E27FC236}">
                <a16:creationId xmlns:a16="http://schemas.microsoft.com/office/drawing/2014/main" id="{05FCB876-6E1E-4D5C-BBA6-66671E252A3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91C78CA-ABFB-40DE-8344-B588BDDB875D}"/>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8602778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846F7-2CFF-4127-A0E4-9CA20E67E9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D74EB2A-A292-4128-97D8-BFA093C8CD0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DEF6526-000C-4C84-B2FA-7646132989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5B93E7C-181E-45B4-8CCF-DFE2E5F65535}"/>
              </a:ext>
            </a:extLst>
          </p:cNvPr>
          <p:cNvSpPr>
            <a:spLocks noGrp="1"/>
          </p:cNvSpPr>
          <p:nvPr>
            <p:ph type="dt" sz="half" idx="10"/>
          </p:nvPr>
        </p:nvSpPr>
        <p:spPr/>
        <p:txBody>
          <a:bodyPr/>
          <a:lstStyle/>
          <a:p>
            <a:fld id="{D6FE7E06-79CA-4948-8009-C5BAAA988AD0}" type="datetimeFigureOut">
              <a:rPr lang="en-IN" smtClean="0"/>
              <a:t>05-05-2025</a:t>
            </a:fld>
            <a:endParaRPr lang="en-IN"/>
          </a:p>
        </p:txBody>
      </p:sp>
      <p:sp>
        <p:nvSpPr>
          <p:cNvPr id="6" name="Footer Placeholder 5">
            <a:extLst>
              <a:ext uri="{FF2B5EF4-FFF2-40B4-BE49-F238E27FC236}">
                <a16:creationId xmlns:a16="http://schemas.microsoft.com/office/drawing/2014/main" id="{2B7FF50B-C3A8-4E4A-9384-79959A130BA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A79BFE2-92B0-48A4-98B5-55F485BB9AEC}"/>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2418479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5E366-8D52-42B6-8DC8-74EB1D390F7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C5F1B5B-E156-45F3-B38C-3ACEEB57883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CAF018B-EF2B-43AD-AF6E-37ED5B5420E6}"/>
              </a:ext>
            </a:extLst>
          </p:cNvPr>
          <p:cNvSpPr>
            <a:spLocks noGrp="1"/>
          </p:cNvSpPr>
          <p:nvPr>
            <p:ph type="dt" sz="half" idx="10"/>
          </p:nvPr>
        </p:nvSpPr>
        <p:spPr/>
        <p:txBody>
          <a:bodyPr/>
          <a:lstStyle/>
          <a:p>
            <a:fld id="{D6FE7E06-79CA-4948-8009-C5BAAA988AD0}" type="datetimeFigureOut">
              <a:rPr lang="en-IN" smtClean="0"/>
              <a:t>05-05-2025</a:t>
            </a:fld>
            <a:endParaRPr lang="en-IN"/>
          </a:p>
        </p:txBody>
      </p:sp>
      <p:sp>
        <p:nvSpPr>
          <p:cNvPr id="5" name="Footer Placeholder 4">
            <a:extLst>
              <a:ext uri="{FF2B5EF4-FFF2-40B4-BE49-F238E27FC236}">
                <a16:creationId xmlns:a16="http://schemas.microsoft.com/office/drawing/2014/main" id="{A4CE5020-33BC-438D-AE2B-A8FAFACD4E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1DBF86-A9FC-4622-9940-C27B234622AF}"/>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35900004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39AC017-584B-41B4-ABC6-FC854AA8850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7EE36F7-2936-4623-A08C-EE2C114AB43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A2B394-CC83-49C3-A330-2997DE017B10}"/>
              </a:ext>
            </a:extLst>
          </p:cNvPr>
          <p:cNvSpPr>
            <a:spLocks noGrp="1"/>
          </p:cNvSpPr>
          <p:nvPr>
            <p:ph type="dt" sz="half" idx="10"/>
          </p:nvPr>
        </p:nvSpPr>
        <p:spPr/>
        <p:txBody>
          <a:bodyPr/>
          <a:lstStyle/>
          <a:p>
            <a:fld id="{D6FE7E06-79CA-4948-8009-C5BAAA988AD0}" type="datetimeFigureOut">
              <a:rPr lang="en-IN" smtClean="0"/>
              <a:t>05-05-2025</a:t>
            </a:fld>
            <a:endParaRPr lang="en-IN"/>
          </a:p>
        </p:txBody>
      </p:sp>
      <p:sp>
        <p:nvSpPr>
          <p:cNvPr id="5" name="Footer Placeholder 4">
            <a:extLst>
              <a:ext uri="{FF2B5EF4-FFF2-40B4-BE49-F238E27FC236}">
                <a16:creationId xmlns:a16="http://schemas.microsoft.com/office/drawing/2014/main" id="{5410327C-31C9-42F2-9AAB-D6410B88E65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5D2D46E-8457-4CA5-B3A4-4A02D8756EEA}"/>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33455916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622E19-BB47-4253-8B0A-2302E95EC32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12880FA-FD6E-43D3-B07B-D84D7AFB85D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BB2360E-FCC2-4F98-9AA1-CF50B2B059C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FE7E06-79CA-4948-8009-C5BAAA988AD0}" type="datetimeFigureOut">
              <a:rPr lang="en-IN" smtClean="0"/>
              <a:t>05-05-2025</a:t>
            </a:fld>
            <a:endParaRPr lang="en-IN"/>
          </a:p>
        </p:txBody>
      </p:sp>
      <p:sp>
        <p:nvSpPr>
          <p:cNvPr id="5" name="Footer Placeholder 4">
            <a:extLst>
              <a:ext uri="{FF2B5EF4-FFF2-40B4-BE49-F238E27FC236}">
                <a16:creationId xmlns:a16="http://schemas.microsoft.com/office/drawing/2014/main" id="{4345772D-BFA1-42C1-928A-9198778526B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DD8C82B-5DF4-4847-9FF4-5F8A632B92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941A85-03DF-41F8-80EC-AFB96AE601B6}" type="slidenum">
              <a:rPr lang="en-IN" smtClean="0"/>
              <a:t>‹#›</a:t>
            </a:fld>
            <a:endParaRPr lang="en-IN"/>
          </a:p>
        </p:txBody>
      </p:sp>
      <p:pic>
        <p:nvPicPr>
          <p:cNvPr id="7" name="Picture 6">
            <a:extLst>
              <a:ext uri="{FF2B5EF4-FFF2-40B4-BE49-F238E27FC236}">
                <a16:creationId xmlns:a16="http://schemas.microsoft.com/office/drawing/2014/main" id="{F775C86D-6AD8-4D5A-97D6-4F8037C90BDA}"/>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6199" y="-76200"/>
            <a:ext cx="1249218" cy="835151"/>
          </a:xfrm>
          <a:prstGeom prst="rect">
            <a:avLst/>
          </a:prstGeom>
        </p:spPr>
      </p:pic>
      <p:sp>
        <p:nvSpPr>
          <p:cNvPr id="8" name="Rectangle 7">
            <a:extLst>
              <a:ext uri="{FF2B5EF4-FFF2-40B4-BE49-F238E27FC236}">
                <a16:creationId xmlns:a16="http://schemas.microsoft.com/office/drawing/2014/main" id="{D0B7BB87-21E0-4FE6-8CF1-87F129F0BC20}"/>
              </a:ext>
            </a:extLst>
          </p:cNvPr>
          <p:cNvSpPr/>
          <p:nvPr userDrawn="1"/>
        </p:nvSpPr>
        <p:spPr>
          <a:xfrm>
            <a:off x="1173019" y="6550223"/>
            <a:ext cx="8293082"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1312567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2924175" y="350900"/>
            <a:ext cx="6343650" cy="50292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3067050" y="3886201"/>
            <a:ext cx="2457450" cy="923330"/>
          </a:xfrm>
          <a:prstGeom prst="rect">
            <a:avLst/>
          </a:prstGeom>
          <a:noFill/>
        </p:spPr>
        <p:txBody>
          <a:bodyPr wrap="square" rtlCol="0">
            <a:spAutoFit/>
          </a:bodyPr>
          <a:lstStyle/>
          <a:p>
            <a:r>
              <a:rPr lang="en-IN" sz="1350" dirty="0" err="1"/>
              <a:t>Ketki</a:t>
            </a:r>
            <a:r>
              <a:rPr lang="en-IN" sz="1350" dirty="0"/>
              <a:t> Acharya</a:t>
            </a:r>
          </a:p>
          <a:p>
            <a:r>
              <a:rPr lang="en-IN" sz="1350" dirty="0"/>
              <a:t>From: SM VITA ATC of CDAC</a:t>
            </a:r>
          </a:p>
          <a:p>
            <a:r>
              <a:rPr lang="en-IN" sz="1350" dirty="0"/>
              <a:t>9769201036</a:t>
            </a:r>
          </a:p>
          <a:p>
            <a:r>
              <a:rPr lang="en-IN" sz="1350" dirty="0"/>
              <a:t>ketkiacharya.net@gmail.com</a:t>
            </a:r>
          </a:p>
        </p:txBody>
      </p:sp>
      <p:sp>
        <p:nvSpPr>
          <p:cNvPr id="2" name="TextBox 1">
            <a:extLst>
              <a:ext uri="{FF2B5EF4-FFF2-40B4-BE49-F238E27FC236}">
                <a16:creationId xmlns:a16="http://schemas.microsoft.com/office/drawing/2014/main" id="{71F23579-AC9B-BDE0-432D-267776B3E94D}"/>
              </a:ext>
            </a:extLst>
          </p:cNvPr>
          <p:cNvSpPr txBox="1"/>
          <p:nvPr/>
        </p:nvSpPr>
        <p:spPr>
          <a:xfrm>
            <a:off x="4741682" y="2403835"/>
            <a:ext cx="2337847" cy="461665"/>
          </a:xfrm>
          <a:prstGeom prst="rect">
            <a:avLst/>
          </a:prstGeom>
          <a:noFill/>
        </p:spPr>
        <p:txBody>
          <a:bodyPr wrap="square" rtlCol="0">
            <a:spAutoFit/>
          </a:bodyPr>
          <a:lstStyle/>
          <a:p>
            <a:pPr algn="ctr"/>
            <a:r>
              <a:rPr lang="en-US" sz="2400" b="1" dirty="0"/>
              <a:t>REACT JS</a:t>
            </a:r>
            <a:endParaRPr lang="en-IN" sz="2400" b="1" dirty="0"/>
          </a:p>
        </p:txBody>
      </p:sp>
    </p:spTree>
    <p:extLst>
      <p:ext uri="{BB962C8B-B14F-4D97-AF65-F5344CB8AC3E}">
        <p14:creationId xmlns:p14="http://schemas.microsoft.com/office/powerpoint/2010/main" val="6297673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9E64C-AF8F-42C9-8822-9130C8ECB8A6}"/>
              </a:ext>
            </a:extLst>
          </p:cNvPr>
          <p:cNvSpPr>
            <a:spLocks noGrp="1"/>
          </p:cNvSpPr>
          <p:nvPr>
            <p:ph type="title"/>
          </p:nvPr>
        </p:nvSpPr>
        <p:spPr>
          <a:xfrm>
            <a:off x="1651818" y="365126"/>
            <a:ext cx="9701981" cy="568940"/>
          </a:xfrm>
        </p:spPr>
        <p:txBody>
          <a:bodyPr>
            <a:normAutofit fontScale="90000"/>
          </a:bodyPr>
          <a:lstStyle/>
          <a:p>
            <a:r>
              <a:rPr lang="en-IN" dirty="0"/>
              <a:t>What is React </a:t>
            </a:r>
            <a:r>
              <a:rPr lang="en-IN" dirty="0" err="1"/>
              <a:t>js</a:t>
            </a:r>
            <a:endParaRPr lang="en-IN" dirty="0"/>
          </a:p>
        </p:txBody>
      </p:sp>
      <p:sp>
        <p:nvSpPr>
          <p:cNvPr id="3" name="Content Placeholder 2">
            <a:extLst>
              <a:ext uri="{FF2B5EF4-FFF2-40B4-BE49-F238E27FC236}">
                <a16:creationId xmlns:a16="http://schemas.microsoft.com/office/drawing/2014/main" id="{1621A763-FB5D-41EC-8E77-AF779EE506DB}"/>
              </a:ext>
            </a:extLst>
          </p:cNvPr>
          <p:cNvSpPr>
            <a:spLocks noGrp="1"/>
          </p:cNvSpPr>
          <p:nvPr>
            <p:ph idx="1"/>
          </p:nvPr>
        </p:nvSpPr>
        <p:spPr>
          <a:xfrm>
            <a:off x="629265" y="1327355"/>
            <a:ext cx="10724535" cy="4849608"/>
          </a:xfrm>
        </p:spPr>
        <p:txBody>
          <a:bodyPr>
            <a:normAutofit fontScale="92500" lnSpcReduction="10000"/>
          </a:bodyPr>
          <a:lstStyle/>
          <a:p>
            <a:pPr algn="just"/>
            <a:r>
              <a:rPr lang="en-US" b="0" i="0" dirty="0">
                <a:solidFill>
                  <a:srgbClr val="000000"/>
                </a:solidFill>
                <a:effectLst/>
                <a:latin typeface="+mj-lt"/>
              </a:rPr>
              <a:t>ReactJS is JavaScript library used for building reusable UI components. According to React official documentation, following is the definition −</a:t>
            </a:r>
          </a:p>
          <a:p>
            <a:pPr algn="just"/>
            <a:r>
              <a:rPr lang="en-US" b="0" i="0" dirty="0">
                <a:solidFill>
                  <a:srgbClr val="000000"/>
                </a:solidFill>
                <a:effectLst/>
                <a:latin typeface="+mj-lt"/>
              </a:rPr>
              <a:t>React is a library for building composable user interfaces.</a:t>
            </a:r>
          </a:p>
          <a:p>
            <a:pPr algn="just"/>
            <a:r>
              <a:rPr lang="en-US" b="0" i="0" dirty="0">
                <a:solidFill>
                  <a:srgbClr val="000000"/>
                </a:solidFill>
                <a:effectLst/>
                <a:latin typeface="+mj-lt"/>
              </a:rPr>
              <a:t> It encourages the creation of reusable UI components, which present data that changes over time. </a:t>
            </a:r>
          </a:p>
          <a:p>
            <a:pPr algn="just"/>
            <a:r>
              <a:rPr lang="en-US" b="0" i="0" dirty="0">
                <a:solidFill>
                  <a:srgbClr val="000000"/>
                </a:solidFill>
                <a:effectLst/>
                <a:latin typeface="+mj-lt"/>
              </a:rPr>
              <a:t>Lots of people use React as the V in MVC. </a:t>
            </a:r>
          </a:p>
          <a:p>
            <a:pPr algn="just"/>
            <a:r>
              <a:rPr lang="en-US" b="0" i="0" dirty="0">
                <a:solidFill>
                  <a:srgbClr val="000000"/>
                </a:solidFill>
                <a:effectLst/>
                <a:latin typeface="+mj-lt"/>
              </a:rPr>
              <a:t>React abstracts away the DOM from you, offering a simpler programming model and better performance. </a:t>
            </a:r>
          </a:p>
          <a:p>
            <a:pPr algn="just"/>
            <a:r>
              <a:rPr lang="en-US" b="0" i="0" dirty="0">
                <a:solidFill>
                  <a:srgbClr val="000000"/>
                </a:solidFill>
                <a:effectLst/>
                <a:latin typeface="+mj-lt"/>
              </a:rPr>
              <a:t>React can also render on the server using Node, and it can power native apps using React Native. </a:t>
            </a:r>
          </a:p>
          <a:p>
            <a:pPr algn="just"/>
            <a:r>
              <a:rPr lang="en-US" b="0" i="0" dirty="0">
                <a:solidFill>
                  <a:srgbClr val="000000"/>
                </a:solidFill>
                <a:effectLst/>
                <a:latin typeface="+mj-lt"/>
              </a:rPr>
              <a:t>React implements one-way reactive data flow, which reduces the boilerplate and is easier to reason about than traditional data binding.</a:t>
            </a:r>
          </a:p>
          <a:p>
            <a:endParaRPr lang="en-IN" dirty="0">
              <a:latin typeface="+mj-lt"/>
            </a:endParaRPr>
          </a:p>
        </p:txBody>
      </p:sp>
    </p:spTree>
    <p:extLst>
      <p:ext uri="{BB962C8B-B14F-4D97-AF65-F5344CB8AC3E}">
        <p14:creationId xmlns:p14="http://schemas.microsoft.com/office/powerpoint/2010/main" val="7771746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71ED1-8908-4D55-83B3-AB1CAA31D4C8}"/>
              </a:ext>
            </a:extLst>
          </p:cNvPr>
          <p:cNvSpPr>
            <a:spLocks noGrp="1"/>
          </p:cNvSpPr>
          <p:nvPr>
            <p:ph type="title"/>
          </p:nvPr>
        </p:nvSpPr>
        <p:spPr>
          <a:xfrm>
            <a:off x="1327354" y="99655"/>
            <a:ext cx="9869129" cy="500114"/>
          </a:xfrm>
        </p:spPr>
        <p:txBody>
          <a:bodyPr>
            <a:normAutofit fontScale="90000"/>
          </a:bodyPr>
          <a:lstStyle/>
          <a:p>
            <a:r>
              <a:rPr lang="en-IN" b="0" i="0" dirty="0">
                <a:effectLst/>
                <a:latin typeface="Arial" panose="020B0604020202020204" pitchFamily="34" charset="0"/>
              </a:rPr>
              <a:t>React Features</a:t>
            </a:r>
            <a:endParaRPr lang="en-IN" dirty="0"/>
          </a:p>
        </p:txBody>
      </p:sp>
      <p:sp>
        <p:nvSpPr>
          <p:cNvPr id="3" name="Content Placeholder 2">
            <a:extLst>
              <a:ext uri="{FF2B5EF4-FFF2-40B4-BE49-F238E27FC236}">
                <a16:creationId xmlns:a16="http://schemas.microsoft.com/office/drawing/2014/main" id="{F91E77CD-FA4E-49BE-8A0A-9134F680EDEA}"/>
              </a:ext>
            </a:extLst>
          </p:cNvPr>
          <p:cNvSpPr>
            <a:spLocks noGrp="1"/>
          </p:cNvSpPr>
          <p:nvPr>
            <p:ph idx="1"/>
          </p:nvPr>
        </p:nvSpPr>
        <p:spPr>
          <a:xfrm>
            <a:off x="285135" y="1002890"/>
            <a:ext cx="11068665" cy="5174073"/>
          </a:xfrm>
        </p:spPr>
        <p:txBody>
          <a:bodyPr/>
          <a:lstStyle/>
          <a:p>
            <a:pPr algn="just">
              <a:buFont typeface="Arial" panose="020B0604020202020204" pitchFamily="34" charset="0"/>
              <a:buChar char="•"/>
            </a:pPr>
            <a:r>
              <a:rPr lang="en-US" b="1" i="0" dirty="0">
                <a:solidFill>
                  <a:srgbClr val="000000"/>
                </a:solidFill>
                <a:effectLst/>
                <a:latin typeface="+mj-lt"/>
              </a:rPr>
              <a:t>JSX</a:t>
            </a:r>
            <a:r>
              <a:rPr lang="en-US" b="0" i="0" dirty="0">
                <a:solidFill>
                  <a:srgbClr val="000000"/>
                </a:solidFill>
                <a:effectLst/>
                <a:latin typeface="+mj-lt"/>
              </a:rPr>
              <a:t> − JSX is JavaScript syntax extension. It isn't necessary to use JSX in React development, but it is recommended.</a:t>
            </a:r>
          </a:p>
          <a:p>
            <a:pPr algn="just">
              <a:buFont typeface="Arial" panose="020B0604020202020204" pitchFamily="34" charset="0"/>
              <a:buChar char="•"/>
            </a:pPr>
            <a:r>
              <a:rPr lang="en-US" b="1" i="0" dirty="0">
                <a:solidFill>
                  <a:srgbClr val="000000"/>
                </a:solidFill>
                <a:effectLst/>
                <a:latin typeface="+mj-lt"/>
              </a:rPr>
              <a:t>Components</a:t>
            </a:r>
            <a:r>
              <a:rPr lang="en-US" b="0" i="0" dirty="0">
                <a:solidFill>
                  <a:srgbClr val="000000"/>
                </a:solidFill>
                <a:effectLst/>
                <a:latin typeface="+mj-lt"/>
              </a:rPr>
              <a:t> − React is all about components. You need to think of everything as a component. This will help you maintain the code when working on larger scale projects.</a:t>
            </a:r>
          </a:p>
          <a:p>
            <a:pPr algn="just">
              <a:buFont typeface="Arial" panose="020B0604020202020204" pitchFamily="34" charset="0"/>
              <a:buChar char="•"/>
            </a:pPr>
            <a:r>
              <a:rPr lang="en-US" b="1" i="0" dirty="0">
                <a:solidFill>
                  <a:srgbClr val="000000"/>
                </a:solidFill>
                <a:effectLst/>
                <a:latin typeface="+mj-lt"/>
              </a:rPr>
              <a:t>Unidirectional data flow and Flux</a:t>
            </a:r>
            <a:r>
              <a:rPr lang="en-US" b="0" i="0" dirty="0">
                <a:solidFill>
                  <a:srgbClr val="000000"/>
                </a:solidFill>
                <a:effectLst/>
                <a:latin typeface="+mj-lt"/>
              </a:rPr>
              <a:t> − React implements one-way data flow which makes it easy to reason about your app. Flux is a pattern that helps keeping your data unidirectional.</a:t>
            </a:r>
          </a:p>
          <a:p>
            <a:pPr algn="just">
              <a:buFont typeface="Arial" panose="020B0604020202020204" pitchFamily="34" charset="0"/>
              <a:buChar char="•"/>
            </a:pPr>
            <a:r>
              <a:rPr lang="en-US" b="1" i="0" dirty="0">
                <a:solidFill>
                  <a:srgbClr val="000000"/>
                </a:solidFill>
                <a:effectLst/>
                <a:latin typeface="+mj-lt"/>
              </a:rPr>
              <a:t>License</a:t>
            </a:r>
            <a:r>
              <a:rPr lang="en-US" b="0" i="0" dirty="0">
                <a:solidFill>
                  <a:srgbClr val="000000"/>
                </a:solidFill>
                <a:effectLst/>
                <a:latin typeface="+mj-lt"/>
              </a:rPr>
              <a:t> − React is licensed under the Facebook Inc. Documentation is licensed under CC BY 4.0.</a:t>
            </a:r>
          </a:p>
          <a:p>
            <a:endParaRPr lang="en-IN" dirty="0">
              <a:latin typeface="+mj-lt"/>
            </a:endParaRPr>
          </a:p>
        </p:txBody>
      </p:sp>
    </p:spTree>
    <p:extLst>
      <p:ext uri="{BB962C8B-B14F-4D97-AF65-F5344CB8AC3E}">
        <p14:creationId xmlns:p14="http://schemas.microsoft.com/office/powerpoint/2010/main" val="4362200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2B4BF-38FE-45D3-A6F0-EA026ADD9F8E}"/>
              </a:ext>
            </a:extLst>
          </p:cNvPr>
          <p:cNvSpPr>
            <a:spLocks noGrp="1"/>
          </p:cNvSpPr>
          <p:nvPr>
            <p:ph type="title"/>
          </p:nvPr>
        </p:nvSpPr>
        <p:spPr>
          <a:xfrm>
            <a:off x="1259758" y="279246"/>
            <a:ext cx="9672484" cy="401791"/>
          </a:xfrm>
        </p:spPr>
        <p:txBody>
          <a:bodyPr>
            <a:normAutofit fontScale="90000"/>
          </a:bodyPr>
          <a:lstStyle/>
          <a:p>
            <a:r>
              <a:rPr lang="en-IN" b="0" i="0" dirty="0">
                <a:solidFill>
                  <a:srgbClr val="000000"/>
                </a:solidFill>
                <a:effectLst/>
                <a:latin typeface="Segoe UI" panose="020B0502040204020203" pitchFamily="34" charset="0"/>
              </a:rPr>
              <a:t>React.JS History</a:t>
            </a:r>
            <a:endParaRPr lang="en-IN" dirty="0"/>
          </a:p>
        </p:txBody>
      </p:sp>
      <p:sp>
        <p:nvSpPr>
          <p:cNvPr id="3" name="Content Placeholder 2">
            <a:extLst>
              <a:ext uri="{FF2B5EF4-FFF2-40B4-BE49-F238E27FC236}">
                <a16:creationId xmlns:a16="http://schemas.microsoft.com/office/drawing/2014/main" id="{9C65C3C1-A0BD-4583-9CF0-A12257E5C068}"/>
              </a:ext>
            </a:extLst>
          </p:cNvPr>
          <p:cNvSpPr>
            <a:spLocks noGrp="1"/>
          </p:cNvSpPr>
          <p:nvPr>
            <p:ph idx="1"/>
          </p:nvPr>
        </p:nvSpPr>
        <p:spPr>
          <a:xfrm>
            <a:off x="543232" y="773574"/>
            <a:ext cx="10515600" cy="3139665"/>
          </a:xfrm>
        </p:spPr>
        <p:txBody>
          <a:bodyPr>
            <a:normAutofit fontScale="92500" lnSpcReduction="10000"/>
          </a:bodyPr>
          <a:lstStyle/>
          <a:p>
            <a:pPr algn="l"/>
            <a:r>
              <a:rPr lang="en-US" b="0" i="0" dirty="0">
                <a:solidFill>
                  <a:srgbClr val="000000"/>
                </a:solidFill>
                <a:effectLst/>
                <a:latin typeface="+mj-lt"/>
              </a:rPr>
              <a:t>Latest version V 19</a:t>
            </a:r>
          </a:p>
          <a:p>
            <a:pPr algn="l"/>
            <a:r>
              <a:rPr lang="en-US" b="0" i="0" dirty="0">
                <a:solidFill>
                  <a:srgbClr val="000000"/>
                </a:solidFill>
                <a:effectLst/>
                <a:latin typeface="+mj-lt"/>
              </a:rPr>
              <a:t>Current version of React.JS is V18.2.0 (June 14 2022).</a:t>
            </a:r>
          </a:p>
          <a:p>
            <a:pPr algn="l"/>
            <a:r>
              <a:rPr lang="en-US" b="0" i="0" dirty="0">
                <a:solidFill>
                  <a:srgbClr val="000000"/>
                </a:solidFill>
                <a:effectLst/>
                <a:latin typeface="+mj-lt"/>
              </a:rPr>
              <a:t>Initial Release to the Public (V0.3.0) was in July 2013.</a:t>
            </a:r>
          </a:p>
          <a:p>
            <a:pPr algn="l"/>
            <a:r>
              <a:rPr lang="en-US" b="0" i="0" dirty="0">
                <a:solidFill>
                  <a:srgbClr val="000000"/>
                </a:solidFill>
                <a:effectLst/>
                <a:latin typeface="+mj-lt"/>
              </a:rPr>
              <a:t>React.JS was first used in 2011 for Facebook's Newsfeed feature.</a:t>
            </a:r>
          </a:p>
          <a:p>
            <a:pPr algn="l"/>
            <a:r>
              <a:rPr lang="en-US" b="0" i="0" dirty="0">
                <a:solidFill>
                  <a:srgbClr val="000000"/>
                </a:solidFill>
                <a:effectLst/>
                <a:latin typeface="+mj-lt"/>
              </a:rPr>
              <a:t>Facebook Software Engineer, Jordan </a:t>
            </a:r>
            <a:r>
              <a:rPr lang="en-US" b="0" i="0" dirty="0" err="1">
                <a:solidFill>
                  <a:srgbClr val="000000"/>
                </a:solidFill>
                <a:effectLst/>
                <a:latin typeface="+mj-lt"/>
              </a:rPr>
              <a:t>Walke</a:t>
            </a:r>
            <a:r>
              <a:rPr lang="en-US" b="0" i="0" dirty="0">
                <a:solidFill>
                  <a:srgbClr val="000000"/>
                </a:solidFill>
                <a:effectLst/>
                <a:latin typeface="+mj-lt"/>
              </a:rPr>
              <a:t>, created it.</a:t>
            </a:r>
          </a:p>
          <a:p>
            <a:pPr algn="l"/>
            <a:r>
              <a:rPr lang="en-US" b="0" i="0" dirty="0">
                <a:solidFill>
                  <a:srgbClr val="000000"/>
                </a:solidFill>
                <a:effectLst/>
                <a:latin typeface="+mj-lt"/>
              </a:rPr>
              <a:t>The create-react-app version 2.0 package was released in October 2018.</a:t>
            </a:r>
          </a:p>
          <a:p>
            <a:pPr algn="l"/>
            <a:r>
              <a:rPr lang="en-US" b="0" i="0" dirty="0">
                <a:solidFill>
                  <a:srgbClr val="000000"/>
                </a:solidFill>
                <a:effectLst/>
                <a:latin typeface="+mj-lt"/>
              </a:rPr>
              <a:t>Create-react-app version 2.0 supports Babel 7, webpack 4, and Jest23.</a:t>
            </a:r>
          </a:p>
          <a:p>
            <a:endParaRPr lang="en-IN" dirty="0">
              <a:latin typeface="+mj-lt"/>
            </a:endParaRPr>
          </a:p>
        </p:txBody>
      </p:sp>
      <p:sp>
        <p:nvSpPr>
          <p:cNvPr id="4" name="Rectangle 1">
            <a:extLst>
              <a:ext uri="{FF2B5EF4-FFF2-40B4-BE49-F238E27FC236}">
                <a16:creationId xmlns:a16="http://schemas.microsoft.com/office/drawing/2014/main" id="{1ED6309D-B524-4A68-B39D-3BA148B691EF}"/>
              </a:ext>
            </a:extLst>
          </p:cNvPr>
          <p:cNvSpPr>
            <a:spLocks noChangeArrowheads="1"/>
          </p:cNvSpPr>
          <p:nvPr/>
        </p:nvSpPr>
        <p:spPr bwMode="auto">
          <a:xfrm>
            <a:off x="444909" y="3930051"/>
            <a:ext cx="9436510" cy="2408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126960" rIns="9144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26292E"/>
                </a:solidFill>
                <a:effectLst/>
                <a:latin typeface="Roboto Slab"/>
              </a:rPr>
              <a:t>Who is using </a:t>
            </a:r>
            <a:r>
              <a:rPr kumimoji="0" lang="en-US" altLang="en-US" sz="1600" b="1" i="0" u="none" strike="noStrike" cap="none" normalizeH="0" baseline="0" dirty="0" err="1">
                <a:ln>
                  <a:noFill/>
                </a:ln>
                <a:solidFill>
                  <a:srgbClr val="26292E"/>
                </a:solidFill>
                <a:effectLst/>
                <a:latin typeface="Roboto Slab"/>
              </a:rPr>
              <a:t>Reactjs</a:t>
            </a:r>
            <a:r>
              <a:rPr kumimoji="0" lang="en-US" altLang="en-US" sz="1600" b="1" i="0" u="none" strike="noStrike" cap="none" normalizeH="0" baseline="0" dirty="0">
                <a:ln>
                  <a:noFill/>
                </a:ln>
                <a:solidFill>
                  <a:srgbClr val="26292E"/>
                </a:solidFill>
                <a:effectLst/>
                <a:latin typeface="Roboto Slab"/>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333333"/>
                </a:solidFill>
                <a:effectLst/>
                <a:latin typeface="Roboto Slab"/>
              </a:rPr>
              <a:t>Facebook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333333"/>
                </a:solidFill>
                <a:effectLst/>
                <a:latin typeface="Roboto Slab"/>
              </a:rPr>
              <a:t>Instagram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333333"/>
                </a:solidFill>
                <a:effectLst/>
                <a:latin typeface="Roboto Slab"/>
              </a:rPr>
              <a:t>Netflix</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err="1">
                <a:ln>
                  <a:noFill/>
                </a:ln>
                <a:solidFill>
                  <a:srgbClr val="333333"/>
                </a:solidFill>
                <a:effectLst/>
                <a:latin typeface="Roboto Slab"/>
              </a:rPr>
              <a:t>Paypal</a:t>
            </a:r>
            <a:r>
              <a:rPr kumimoji="0" lang="en-US" altLang="en-US" sz="1600" b="0" i="0" u="none" strike="noStrike" cap="none" normalizeH="0" baseline="0" dirty="0">
                <a:ln>
                  <a:noFill/>
                </a:ln>
                <a:solidFill>
                  <a:srgbClr val="333333"/>
                </a:solidFill>
                <a:effectLst/>
                <a:latin typeface="Roboto Slab"/>
              </a:rPr>
              <a:t>…</a:t>
            </a:r>
            <a:r>
              <a:rPr kumimoji="0" lang="en-US" altLang="en-US" sz="1600" b="0" i="0" u="none" strike="noStrike" cap="none" normalizeH="0" baseline="0" dirty="0" err="1">
                <a:ln>
                  <a:noFill/>
                </a:ln>
                <a:solidFill>
                  <a:srgbClr val="333333"/>
                </a:solidFill>
                <a:effectLst/>
                <a:latin typeface="Roboto Slab"/>
              </a:rPr>
              <a:t>etc</a:t>
            </a:r>
            <a:endParaRPr kumimoji="0" lang="en-US" altLang="en-US" sz="1600" b="0" i="0" u="none" strike="noStrike" cap="none" normalizeH="0" baseline="0" dirty="0">
              <a:ln>
                <a:noFill/>
              </a:ln>
              <a:solidFill>
                <a:srgbClr val="333333"/>
              </a:solidFill>
              <a:effectLst/>
              <a:latin typeface="Roboto Slab"/>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err="1">
                <a:ln>
                  <a:noFill/>
                </a:ln>
                <a:solidFill>
                  <a:srgbClr val="333333"/>
                </a:solidFill>
                <a:effectLst/>
                <a:latin typeface="Roboto Slab"/>
              </a:rPr>
              <a:t>AirBnB</a:t>
            </a:r>
            <a:endParaRPr kumimoji="0" lang="en-US" altLang="en-US" sz="1600" b="0" i="0" u="none" strike="noStrike" cap="none" normalizeH="0" baseline="0" dirty="0">
              <a:ln>
                <a:noFill/>
              </a:ln>
              <a:solidFill>
                <a:srgbClr val="333333"/>
              </a:solidFill>
              <a:effectLst/>
              <a:latin typeface="Roboto Slab"/>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333333"/>
                </a:solidFill>
                <a:effectLst/>
                <a:latin typeface="Roboto Slab"/>
              </a:rPr>
              <a:t>BBC</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333333"/>
                </a:solidFill>
                <a:effectLst/>
                <a:latin typeface="Roboto Slab"/>
              </a:rPr>
              <a:t>Dropbox</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333333"/>
                </a:solidFill>
                <a:effectLst/>
                <a:latin typeface="Roboto Slab"/>
              </a:rPr>
              <a:t>Flipboard</a:t>
            </a:r>
            <a:r>
              <a:rPr kumimoji="0" lang="en-US" altLang="en-US" sz="1000" b="0" i="0" u="none" strike="noStrike" cap="none" normalizeH="0" baseline="0" dirty="0">
                <a:ln>
                  <a:noFill/>
                </a:ln>
                <a:solidFill>
                  <a:schemeClr val="tx1"/>
                </a:solidFill>
                <a:effectLst/>
              </a:rPr>
              <a:t> </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36724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A3B1A-E596-4046-878D-E53159ABCAA6}"/>
              </a:ext>
            </a:extLst>
          </p:cNvPr>
          <p:cNvSpPr>
            <a:spLocks noGrp="1"/>
          </p:cNvSpPr>
          <p:nvPr>
            <p:ph type="title"/>
          </p:nvPr>
        </p:nvSpPr>
        <p:spPr>
          <a:xfrm>
            <a:off x="3559276" y="148816"/>
            <a:ext cx="7794523" cy="532221"/>
          </a:xfrm>
        </p:spPr>
        <p:txBody>
          <a:bodyPr>
            <a:normAutofit fontScale="90000"/>
          </a:bodyPr>
          <a:lstStyle/>
          <a:p>
            <a:r>
              <a:rPr lang="en-IN" b="0" i="0" dirty="0">
                <a:effectLst/>
                <a:latin typeface="+mn-lt"/>
              </a:rPr>
              <a:t>React Advantages</a:t>
            </a:r>
            <a:endParaRPr lang="en-IN" dirty="0">
              <a:latin typeface="+mn-lt"/>
            </a:endParaRPr>
          </a:p>
        </p:txBody>
      </p:sp>
      <p:sp>
        <p:nvSpPr>
          <p:cNvPr id="3" name="Content Placeholder 2">
            <a:extLst>
              <a:ext uri="{FF2B5EF4-FFF2-40B4-BE49-F238E27FC236}">
                <a16:creationId xmlns:a16="http://schemas.microsoft.com/office/drawing/2014/main" id="{EC2DDEED-11F3-48A2-A355-FEEDC5D7FF52}"/>
              </a:ext>
            </a:extLst>
          </p:cNvPr>
          <p:cNvSpPr>
            <a:spLocks noGrp="1"/>
          </p:cNvSpPr>
          <p:nvPr>
            <p:ph idx="1"/>
          </p:nvPr>
        </p:nvSpPr>
        <p:spPr>
          <a:xfrm>
            <a:off x="1002889" y="785301"/>
            <a:ext cx="9996949" cy="2459343"/>
          </a:xfrm>
        </p:spPr>
        <p:txBody>
          <a:bodyPr>
            <a:normAutofit fontScale="92500" lnSpcReduction="10000"/>
          </a:bodyPr>
          <a:lstStyle/>
          <a:p>
            <a:pPr algn="just">
              <a:buFont typeface="Arial" panose="020B0604020202020204" pitchFamily="34" charset="0"/>
              <a:buChar char="•"/>
            </a:pPr>
            <a:r>
              <a:rPr lang="en-US" b="0" i="0" dirty="0">
                <a:solidFill>
                  <a:srgbClr val="000000"/>
                </a:solidFill>
                <a:effectLst/>
              </a:rPr>
              <a:t>Uses virtual DOM which is a JavaScript object. This will improve apps performance, since JavaScript virtual DOM is faster than the regular DOM.</a:t>
            </a:r>
          </a:p>
          <a:p>
            <a:pPr algn="just">
              <a:buFont typeface="Arial" panose="020B0604020202020204" pitchFamily="34" charset="0"/>
              <a:buChar char="•"/>
            </a:pPr>
            <a:r>
              <a:rPr lang="en-US" b="0" i="0" dirty="0">
                <a:solidFill>
                  <a:srgbClr val="000000"/>
                </a:solidFill>
                <a:effectLst/>
              </a:rPr>
              <a:t>Can be used on client and server side as well as with other frameworks.</a:t>
            </a:r>
          </a:p>
          <a:p>
            <a:pPr algn="just">
              <a:buFont typeface="Arial" panose="020B0604020202020204" pitchFamily="34" charset="0"/>
              <a:buChar char="•"/>
            </a:pPr>
            <a:r>
              <a:rPr lang="en-US" b="0" i="0" dirty="0">
                <a:solidFill>
                  <a:srgbClr val="000000"/>
                </a:solidFill>
                <a:effectLst/>
              </a:rPr>
              <a:t>Component and data patterns improve readability, which helps to maintain larger apps.</a:t>
            </a:r>
          </a:p>
          <a:p>
            <a:endParaRPr lang="en-IN" dirty="0"/>
          </a:p>
        </p:txBody>
      </p:sp>
      <p:sp>
        <p:nvSpPr>
          <p:cNvPr id="5" name="TextBox 4">
            <a:extLst>
              <a:ext uri="{FF2B5EF4-FFF2-40B4-BE49-F238E27FC236}">
                <a16:creationId xmlns:a16="http://schemas.microsoft.com/office/drawing/2014/main" id="{DB42E885-0B75-4EEE-AE67-DB80845421A5}"/>
              </a:ext>
            </a:extLst>
          </p:cNvPr>
          <p:cNvSpPr txBox="1"/>
          <p:nvPr/>
        </p:nvSpPr>
        <p:spPr>
          <a:xfrm>
            <a:off x="3028336" y="3164242"/>
            <a:ext cx="6135328" cy="369332"/>
          </a:xfrm>
          <a:prstGeom prst="rect">
            <a:avLst/>
          </a:prstGeom>
          <a:noFill/>
        </p:spPr>
        <p:txBody>
          <a:bodyPr wrap="square">
            <a:spAutoFit/>
          </a:bodyPr>
          <a:lstStyle/>
          <a:p>
            <a:pPr algn="l"/>
            <a:r>
              <a:rPr lang="en-IN" b="0" i="0" dirty="0">
                <a:effectLst/>
                <a:latin typeface="Arial" panose="020B0604020202020204" pitchFamily="34" charset="0"/>
              </a:rPr>
              <a:t>React Limitations</a:t>
            </a:r>
          </a:p>
        </p:txBody>
      </p:sp>
      <p:sp>
        <p:nvSpPr>
          <p:cNvPr id="7" name="TextBox 6">
            <a:extLst>
              <a:ext uri="{FF2B5EF4-FFF2-40B4-BE49-F238E27FC236}">
                <a16:creationId xmlns:a16="http://schemas.microsoft.com/office/drawing/2014/main" id="{5651303A-2F7E-40D5-BDA9-CF6A6BD83700}"/>
              </a:ext>
            </a:extLst>
          </p:cNvPr>
          <p:cNvSpPr txBox="1"/>
          <p:nvPr/>
        </p:nvSpPr>
        <p:spPr>
          <a:xfrm>
            <a:off x="1002889" y="3882497"/>
            <a:ext cx="10677834" cy="923330"/>
          </a:xfrm>
          <a:prstGeom prst="rect">
            <a:avLst/>
          </a:prstGeom>
          <a:noFill/>
        </p:spPr>
        <p:txBody>
          <a:bodyPr wrap="square">
            <a:spAutoFit/>
          </a:bodyPr>
          <a:lstStyle/>
          <a:p>
            <a:pPr algn="just">
              <a:buFont typeface="Arial" panose="020B0604020202020204" pitchFamily="34" charset="0"/>
              <a:buChar char="•"/>
            </a:pPr>
            <a:r>
              <a:rPr lang="en-US" b="0" i="0" dirty="0">
                <a:solidFill>
                  <a:srgbClr val="000000"/>
                </a:solidFill>
                <a:effectLst/>
                <a:latin typeface="Arial" panose="020B0604020202020204" pitchFamily="34" charset="0"/>
              </a:rPr>
              <a:t>Covers only the view layer of the app, hence you still need to choose other technologies to get a complete tooling set for development.</a:t>
            </a:r>
          </a:p>
          <a:p>
            <a:pPr algn="just">
              <a:buFont typeface="Arial" panose="020B0604020202020204" pitchFamily="34" charset="0"/>
              <a:buChar char="•"/>
            </a:pPr>
            <a:r>
              <a:rPr lang="en-US" b="0" i="0" dirty="0">
                <a:solidFill>
                  <a:srgbClr val="000000"/>
                </a:solidFill>
                <a:effectLst/>
                <a:latin typeface="Arial" panose="020B0604020202020204" pitchFamily="34" charset="0"/>
              </a:rPr>
              <a:t>Uses inline templating and JSX, which might seem awkward to some developers.</a:t>
            </a:r>
          </a:p>
        </p:txBody>
      </p:sp>
    </p:spTree>
    <p:extLst>
      <p:ext uri="{BB962C8B-B14F-4D97-AF65-F5344CB8AC3E}">
        <p14:creationId xmlns:p14="http://schemas.microsoft.com/office/powerpoint/2010/main" val="17764686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D89D88-10FB-4943-9B37-99C22692D4B7}"/>
              </a:ext>
            </a:extLst>
          </p:cNvPr>
          <p:cNvSpPr>
            <a:spLocks noGrp="1"/>
          </p:cNvSpPr>
          <p:nvPr>
            <p:ph type="title"/>
          </p:nvPr>
        </p:nvSpPr>
        <p:spPr>
          <a:xfrm>
            <a:off x="1676400" y="1"/>
            <a:ext cx="6100916" cy="776748"/>
          </a:xfrm>
        </p:spPr>
        <p:txBody>
          <a:bodyPr/>
          <a:lstStyle/>
          <a:p>
            <a:r>
              <a:rPr lang="en-IN" dirty="0"/>
              <a:t>Why React JS</a:t>
            </a:r>
          </a:p>
        </p:txBody>
      </p:sp>
      <p:sp>
        <p:nvSpPr>
          <p:cNvPr id="3" name="Content Placeholder 2">
            <a:extLst>
              <a:ext uri="{FF2B5EF4-FFF2-40B4-BE49-F238E27FC236}">
                <a16:creationId xmlns:a16="http://schemas.microsoft.com/office/drawing/2014/main" id="{E712C979-363D-4B18-A19E-5D3519E74DB6}"/>
              </a:ext>
            </a:extLst>
          </p:cNvPr>
          <p:cNvSpPr>
            <a:spLocks noGrp="1"/>
          </p:cNvSpPr>
          <p:nvPr>
            <p:ph idx="1"/>
          </p:nvPr>
        </p:nvSpPr>
        <p:spPr>
          <a:xfrm>
            <a:off x="609600" y="1435510"/>
            <a:ext cx="10744200" cy="2871019"/>
          </a:xfrm>
        </p:spPr>
        <p:txBody>
          <a:bodyPr>
            <a:normAutofit/>
          </a:bodyPr>
          <a:lstStyle/>
          <a:p>
            <a:pPr algn="l"/>
            <a:r>
              <a:rPr lang="en-US" b="0" i="0" dirty="0">
                <a:solidFill>
                  <a:srgbClr val="000000"/>
                </a:solidFill>
                <a:effectLst/>
              </a:rPr>
              <a:t>React creates a VIRTUAL DOM in memory.</a:t>
            </a:r>
          </a:p>
          <a:p>
            <a:pPr lvl="1"/>
            <a:r>
              <a:rPr lang="en-US" b="0" i="0" dirty="0">
                <a:solidFill>
                  <a:srgbClr val="000000"/>
                </a:solidFill>
                <a:effectLst/>
              </a:rPr>
              <a:t>Instead of manipulating the browser's DOM directly, React creates a virtual DOM in memory, where it does all the necessary manipulating, before making the changes in the browser DOM.</a:t>
            </a:r>
          </a:p>
          <a:p>
            <a:pPr algn="l"/>
            <a:r>
              <a:rPr lang="en-US" b="0" i="0" dirty="0">
                <a:solidFill>
                  <a:srgbClr val="000000"/>
                </a:solidFill>
                <a:effectLst/>
              </a:rPr>
              <a:t>React only changes what needs to be changed!</a:t>
            </a:r>
          </a:p>
          <a:p>
            <a:pPr lvl="1"/>
            <a:r>
              <a:rPr lang="en-US" b="0" i="0" dirty="0">
                <a:solidFill>
                  <a:srgbClr val="000000"/>
                </a:solidFill>
                <a:effectLst/>
              </a:rPr>
              <a:t>React finds out what changes have been made, and changes </a:t>
            </a:r>
            <a:r>
              <a:rPr lang="en-US" b="1" i="0" dirty="0">
                <a:solidFill>
                  <a:srgbClr val="000000"/>
                </a:solidFill>
                <a:effectLst/>
              </a:rPr>
              <a:t>only</a:t>
            </a:r>
            <a:r>
              <a:rPr lang="en-US" b="0" i="0" dirty="0">
                <a:solidFill>
                  <a:srgbClr val="000000"/>
                </a:solidFill>
                <a:effectLst/>
              </a:rPr>
              <a:t> what needs to be changed.</a:t>
            </a:r>
          </a:p>
          <a:p>
            <a:endParaRPr lang="en-IN" dirty="0"/>
          </a:p>
        </p:txBody>
      </p:sp>
      <p:sp>
        <p:nvSpPr>
          <p:cNvPr id="5" name="TextBox 4">
            <a:extLst>
              <a:ext uri="{FF2B5EF4-FFF2-40B4-BE49-F238E27FC236}">
                <a16:creationId xmlns:a16="http://schemas.microsoft.com/office/drawing/2014/main" id="{9A133616-8BD2-4DDE-9205-9ED731B31D7E}"/>
              </a:ext>
            </a:extLst>
          </p:cNvPr>
          <p:cNvSpPr txBox="1"/>
          <p:nvPr/>
        </p:nvSpPr>
        <p:spPr>
          <a:xfrm>
            <a:off x="609599" y="4776159"/>
            <a:ext cx="9635613" cy="369332"/>
          </a:xfrm>
          <a:prstGeom prst="rect">
            <a:avLst/>
          </a:prstGeom>
          <a:noFill/>
        </p:spPr>
        <p:txBody>
          <a:bodyPr wrap="square">
            <a:spAutoFit/>
          </a:bodyPr>
          <a:lstStyle/>
          <a:p>
            <a:r>
              <a:rPr lang="en-US" b="0" i="0" dirty="0">
                <a:solidFill>
                  <a:srgbClr val="000000"/>
                </a:solidFill>
                <a:effectLst/>
                <a:latin typeface="Verdana" panose="020B0604030504040204" pitchFamily="34" charset="0"/>
              </a:rPr>
              <a:t>To use React in production, you need NPM and Node.js</a:t>
            </a:r>
            <a:endParaRPr lang="en-IN" dirty="0"/>
          </a:p>
        </p:txBody>
      </p:sp>
    </p:spTree>
    <p:extLst>
      <p:ext uri="{BB962C8B-B14F-4D97-AF65-F5344CB8AC3E}">
        <p14:creationId xmlns:p14="http://schemas.microsoft.com/office/powerpoint/2010/main" val="40453097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E99C5-4FD3-4301-B971-5843CBE797D1}"/>
              </a:ext>
            </a:extLst>
          </p:cNvPr>
          <p:cNvSpPr>
            <a:spLocks noGrp="1"/>
          </p:cNvSpPr>
          <p:nvPr>
            <p:ph type="title"/>
          </p:nvPr>
        </p:nvSpPr>
        <p:spPr>
          <a:xfrm>
            <a:off x="1170038" y="355292"/>
            <a:ext cx="10105103" cy="490281"/>
          </a:xfrm>
        </p:spPr>
        <p:txBody>
          <a:bodyPr>
            <a:normAutofit fontScale="90000"/>
          </a:bodyPr>
          <a:lstStyle/>
          <a:p>
            <a:r>
              <a:rPr lang="en-IN" sz="2400" dirty="0" err="1"/>
              <a:t>Npm</a:t>
            </a:r>
            <a:r>
              <a:rPr lang="en-IN" sz="2400" dirty="0"/>
              <a:t> –version node –version will display version installed</a:t>
            </a:r>
            <a:br>
              <a:rPr lang="en-IN" sz="2400" dirty="0"/>
            </a:br>
            <a:endParaRPr lang="en-IN" sz="2400" dirty="0"/>
          </a:p>
        </p:txBody>
      </p:sp>
      <p:pic>
        <p:nvPicPr>
          <p:cNvPr id="5" name="Content Placeholder 4">
            <a:extLst>
              <a:ext uri="{FF2B5EF4-FFF2-40B4-BE49-F238E27FC236}">
                <a16:creationId xmlns:a16="http://schemas.microsoft.com/office/drawing/2014/main" id="{81E2EBCD-51BA-4AC2-A81B-C12479B56934}"/>
              </a:ext>
            </a:extLst>
          </p:cNvPr>
          <p:cNvPicPr>
            <a:picLocks noGrp="1" noChangeAspect="1"/>
          </p:cNvPicPr>
          <p:nvPr>
            <p:ph idx="1"/>
          </p:nvPr>
        </p:nvPicPr>
        <p:blipFill rotWithShape="1">
          <a:blip r:embed="rId2"/>
          <a:srcRect l="6855" t="11175" r="45140" b="68504"/>
          <a:stretch/>
        </p:blipFill>
        <p:spPr>
          <a:xfrm>
            <a:off x="838200" y="1553037"/>
            <a:ext cx="7878417" cy="1875964"/>
          </a:xfrm>
        </p:spPr>
      </p:pic>
      <p:sp>
        <p:nvSpPr>
          <p:cNvPr id="3" name="Rectangle 1">
            <a:extLst>
              <a:ext uri="{FF2B5EF4-FFF2-40B4-BE49-F238E27FC236}">
                <a16:creationId xmlns:a16="http://schemas.microsoft.com/office/drawing/2014/main" id="{6EB84CD1-C368-4C79-9864-990FB3CC009A}"/>
              </a:ext>
            </a:extLst>
          </p:cNvPr>
          <p:cNvSpPr>
            <a:spLocks noChangeArrowheads="1"/>
          </p:cNvSpPr>
          <p:nvPr/>
        </p:nvSpPr>
        <p:spPr bwMode="auto">
          <a:xfrm>
            <a:off x="1966450" y="731027"/>
            <a:ext cx="769865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err="1">
                <a:ln>
                  <a:noFill/>
                </a:ln>
                <a:solidFill>
                  <a:schemeClr val="tx1"/>
                </a:solidFill>
                <a:effectLst/>
                <a:latin typeface="inherit"/>
              </a:rPr>
              <a:t>npm</a:t>
            </a:r>
            <a:r>
              <a:rPr kumimoji="0" lang="en-US" altLang="en-US" sz="2000" b="0" i="0" u="none" strike="noStrike" cap="none" normalizeH="0" baseline="0" dirty="0">
                <a:ln>
                  <a:noFill/>
                </a:ln>
                <a:solidFill>
                  <a:schemeClr val="tx1"/>
                </a:solidFill>
                <a:effectLst/>
                <a:latin typeface="inherit"/>
              </a:rPr>
              <a:t> view react version</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923534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9E01C6F-F784-ED80-71F9-A1E51B2B3B97}"/>
              </a:ext>
            </a:extLst>
          </p:cNvPr>
          <p:cNvSpPr txBox="1"/>
          <p:nvPr/>
        </p:nvSpPr>
        <p:spPr>
          <a:xfrm>
            <a:off x="2415116" y="137067"/>
            <a:ext cx="6134100" cy="36933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IN" b="0" i="0" dirty="0" err="1">
                <a:effectLst/>
                <a:latin typeface="ui-monospace"/>
              </a:rPr>
              <a:t>npm</a:t>
            </a:r>
            <a:r>
              <a:rPr lang="en-IN" b="0" i="0" dirty="0">
                <a:effectLst/>
                <a:latin typeface="ui-monospace"/>
              </a:rPr>
              <a:t> create </a:t>
            </a:r>
            <a:r>
              <a:rPr lang="en-IN" b="0" i="0" dirty="0" err="1">
                <a:effectLst/>
                <a:latin typeface="ui-monospace"/>
              </a:rPr>
              <a:t>vite@latest</a:t>
            </a:r>
            <a:endParaRPr lang="en-IN" dirty="0"/>
          </a:p>
        </p:txBody>
      </p:sp>
      <p:sp>
        <p:nvSpPr>
          <p:cNvPr id="7" name="TextBox 6">
            <a:extLst>
              <a:ext uri="{FF2B5EF4-FFF2-40B4-BE49-F238E27FC236}">
                <a16:creationId xmlns:a16="http://schemas.microsoft.com/office/drawing/2014/main" id="{02932340-15E0-2C47-8477-722DB5B7B5ED}"/>
              </a:ext>
            </a:extLst>
          </p:cNvPr>
          <p:cNvSpPr txBox="1"/>
          <p:nvPr/>
        </p:nvSpPr>
        <p:spPr>
          <a:xfrm>
            <a:off x="425208" y="566016"/>
            <a:ext cx="6134100" cy="64633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b="0" i="0" dirty="0" err="1">
                <a:effectLst/>
                <a:latin typeface="ui-monospace"/>
              </a:rPr>
              <a:t>npm</a:t>
            </a:r>
            <a:r>
              <a:rPr lang="en-US" b="0" i="0" dirty="0">
                <a:effectLst/>
                <a:latin typeface="ui-monospace"/>
              </a:rPr>
              <a:t> install</a:t>
            </a:r>
            <a:r>
              <a:rPr lang="en-US" b="0" i="0" dirty="0">
                <a:solidFill>
                  <a:srgbClr val="67676C"/>
                </a:solidFill>
                <a:effectLst/>
                <a:latin typeface="ui-monospace"/>
              </a:rPr>
              <a:t> </a:t>
            </a:r>
          </a:p>
          <a:p>
            <a:r>
              <a:rPr lang="en-US" b="0" i="0" dirty="0" err="1">
                <a:effectLst/>
                <a:latin typeface="ui-monospace"/>
              </a:rPr>
              <a:t>npm</a:t>
            </a:r>
            <a:r>
              <a:rPr lang="en-US" b="0" i="0" dirty="0">
                <a:effectLst/>
                <a:latin typeface="ui-monospace"/>
              </a:rPr>
              <a:t> run dev</a:t>
            </a:r>
            <a:endParaRPr lang="en-IN" dirty="0"/>
          </a:p>
        </p:txBody>
      </p:sp>
      <p:pic>
        <p:nvPicPr>
          <p:cNvPr id="9" name="Picture 8">
            <a:extLst>
              <a:ext uri="{FF2B5EF4-FFF2-40B4-BE49-F238E27FC236}">
                <a16:creationId xmlns:a16="http://schemas.microsoft.com/office/drawing/2014/main" id="{2A4F6660-9574-1B0A-4DB8-A89DA19958A4}"/>
              </a:ext>
            </a:extLst>
          </p:cNvPr>
          <p:cNvPicPr>
            <a:picLocks noChangeAspect="1"/>
          </p:cNvPicPr>
          <p:nvPr/>
        </p:nvPicPr>
        <p:blipFill>
          <a:blip r:embed="rId2"/>
          <a:stretch>
            <a:fillRect/>
          </a:stretch>
        </p:blipFill>
        <p:spPr>
          <a:xfrm>
            <a:off x="0" y="1594148"/>
            <a:ext cx="6346777" cy="3669703"/>
          </a:xfrm>
          <a:prstGeom prst="rect">
            <a:avLst/>
          </a:prstGeom>
        </p:spPr>
      </p:pic>
      <p:sp>
        <p:nvSpPr>
          <p:cNvPr id="3" name="TextBox 2">
            <a:extLst>
              <a:ext uri="{FF2B5EF4-FFF2-40B4-BE49-F238E27FC236}">
                <a16:creationId xmlns:a16="http://schemas.microsoft.com/office/drawing/2014/main" id="{3578BDBF-51D9-C682-2C7D-55FADF3AF2A1}"/>
              </a:ext>
            </a:extLst>
          </p:cNvPr>
          <p:cNvSpPr txBox="1"/>
          <p:nvPr/>
        </p:nvSpPr>
        <p:spPr>
          <a:xfrm>
            <a:off x="6458555" y="1883677"/>
            <a:ext cx="5463479" cy="3970318"/>
          </a:xfrm>
          <a:prstGeom prst="rect">
            <a:avLst/>
          </a:prstGeom>
          <a:noFill/>
        </p:spPr>
        <p:txBody>
          <a:bodyPr wrap="square">
            <a:spAutoFit/>
          </a:bodyPr>
          <a:lstStyle/>
          <a:p>
            <a:r>
              <a:rPr lang="en-US" dirty="0"/>
              <a:t>SWC stands for Speedy Web Compiler. </a:t>
            </a:r>
          </a:p>
          <a:p>
            <a:r>
              <a:rPr lang="en-US" dirty="0"/>
              <a:t>It is a JavaScript and TypeScript compiler written in Rust, designed to be faster than traditional JavaScript build tools like Babel. </a:t>
            </a:r>
          </a:p>
          <a:p>
            <a:endParaRPr lang="en-US" dirty="0"/>
          </a:p>
          <a:p>
            <a:r>
              <a:rPr lang="en-US" dirty="0"/>
              <a:t>SWC is used for </a:t>
            </a:r>
            <a:r>
              <a:rPr lang="en-US" dirty="0" err="1"/>
              <a:t>transpilation</a:t>
            </a:r>
            <a:r>
              <a:rPr lang="en-US" dirty="0"/>
              <a:t>, taking modern JavaScript/TypeScript code and converting it into code that can be run in older browsers. </a:t>
            </a:r>
          </a:p>
          <a:p>
            <a:endParaRPr lang="en-US" dirty="0"/>
          </a:p>
          <a:p>
            <a:r>
              <a:rPr lang="en-US" dirty="0"/>
              <a:t>It can also be used for bundling and minification. </a:t>
            </a:r>
          </a:p>
          <a:p>
            <a:endParaRPr lang="en-US"/>
          </a:p>
          <a:p>
            <a:r>
              <a:rPr lang="en-US"/>
              <a:t>Due </a:t>
            </a:r>
            <a:r>
              <a:rPr lang="en-US" dirty="0"/>
              <a:t>to its speed and efficiency, SWC is often integrated into other tools and frameworks like Next.js, Parcel, and Deno to improve build times</a:t>
            </a:r>
            <a:endParaRPr lang="en-IN" dirty="0"/>
          </a:p>
        </p:txBody>
      </p:sp>
    </p:spTree>
    <p:extLst>
      <p:ext uri="{BB962C8B-B14F-4D97-AF65-F5344CB8AC3E}">
        <p14:creationId xmlns:p14="http://schemas.microsoft.com/office/powerpoint/2010/main" val="16129422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EA25C-D4CB-475A-83FC-388533C321AA}"/>
              </a:ext>
            </a:extLst>
          </p:cNvPr>
          <p:cNvSpPr>
            <a:spLocks noGrp="1"/>
          </p:cNvSpPr>
          <p:nvPr>
            <p:ph type="title"/>
          </p:nvPr>
        </p:nvSpPr>
        <p:spPr>
          <a:xfrm>
            <a:off x="838200" y="365125"/>
            <a:ext cx="11353800" cy="1325563"/>
          </a:xfrm>
        </p:spPr>
        <p:txBody>
          <a:bodyPr>
            <a:normAutofit/>
          </a:bodyPr>
          <a:lstStyle/>
          <a:p>
            <a:r>
              <a:rPr lang="en-IN" sz="1800" dirty="0"/>
              <a:t>Create 1</a:t>
            </a:r>
            <a:r>
              <a:rPr lang="en-IN" sz="1800" baseline="30000" dirty="0"/>
              <a:t>st</a:t>
            </a:r>
            <a:r>
              <a:rPr lang="en-IN" sz="1800" dirty="0"/>
              <a:t> app </a:t>
            </a:r>
            <a:r>
              <a:rPr lang="en-US" sz="1800" b="0" i="0" dirty="0">
                <a:solidFill>
                  <a:srgbClr val="FFFFFF"/>
                </a:solidFill>
                <a:effectLst/>
                <a:latin typeface="Consolas" panose="020B0609020204030204" pitchFamily="49" charset="0"/>
              </a:rPr>
              <a:t>C</a:t>
            </a:r>
            <a:br>
              <a:rPr lang="en-US" sz="1800" b="0" i="0" dirty="0">
                <a:solidFill>
                  <a:srgbClr val="FFFFFF"/>
                </a:solidFill>
                <a:effectLst/>
                <a:latin typeface="Consolas" panose="020B0609020204030204" pitchFamily="49" charset="0"/>
              </a:rPr>
            </a:br>
            <a:r>
              <a:rPr lang="en-US" sz="1800" b="0" i="0" dirty="0">
                <a:effectLst/>
                <a:latin typeface="Consolas" panose="020B0609020204030204" pitchFamily="49" charset="0"/>
              </a:rPr>
              <a:t>Users\</a:t>
            </a:r>
            <a:r>
              <a:rPr lang="en-US" sz="1800" b="0" i="1" dirty="0">
                <a:effectLst/>
                <a:latin typeface="Consolas" panose="020B0609020204030204" pitchFamily="49" charset="0"/>
              </a:rPr>
              <a:t>Your Name</a:t>
            </a:r>
            <a:r>
              <a:rPr lang="en-US" sz="1800" b="0" i="0" dirty="0">
                <a:effectLst/>
                <a:latin typeface="Consolas" panose="020B0609020204030204" pitchFamily="49" charset="0"/>
              </a:rPr>
              <a:t>&gt;</a:t>
            </a:r>
            <a:r>
              <a:rPr lang="en-US" sz="2800" b="0" i="0" dirty="0" err="1">
                <a:effectLst/>
                <a:latin typeface="Consolas" panose="020B0609020204030204" pitchFamily="49" charset="0"/>
              </a:rPr>
              <a:t>npx</a:t>
            </a:r>
            <a:r>
              <a:rPr lang="en-US" sz="2800" b="0" i="0" dirty="0">
                <a:effectLst/>
                <a:latin typeface="Consolas" panose="020B0609020204030204" pitchFamily="49" charset="0"/>
              </a:rPr>
              <a:t> create-react-app </a:t>
            </a:r>
            <a:r>
              <a:rPr lang="en-US" sz="2800" b="0" i="0" dirty="0" err="1">
                <a:effectLst/>
                <a:latin typeface="Consolas" panose="020B0609020204030204" pitchFamily="49" charset="0"/>
              </a:rPr>
              <a:t>myfirstreac</a:t>
            </a:r>
            <a:br>
              <a:rPr lang="en-US" sz="1800" b="0" i="0" dirty="0">
                <a:effectLst/>
                <a:latin typeface="Consolas" panose="020B0609020204030204" pitchFamily="49" charset="0"/>
              </a:rPr>
            </a:br>
            <a:r>
              <a:rPr lang="en-US" sz="1800" b="0" i="0" dirty="0">
                <a:effectLst/>
                <a:latin typeface="Consolas" panose="020B0609020204030204" pitchFamily="49" charset="0"/>
              </a:rPr>
              <a:t>Installing react, react-</a:t>
            </a:r>
            <a:r>
              <a:rPr lang="en-US" sz="1800" b="0" i="0" dirty="0" err="1">
                <a:effectLst/>
                <a:latin typeface="Consolas" panose="020B0609020204030204" pitchFamily="49" charset="0"/>
              </a:rPr>
              <a:t>dom</a:t>
            </a:r>
            <a:r>
              <a:rPr lang="en-US" sz="1800" b="0" i="0" dirty="0">
                <a:effectLst/>
                <a:latin typeface="Consolas" panose="020B0609020204030204" pitchFamily="49" charset="0"/>
              </a:rPr>
              <a:t>, and react-scripts with </a:t>
            </a:r>
            <a:r>
              <a:rPr lang="en-US" sz="1800" b="0" i="0" dirty="0" err="1">
                <a:effectLst/>
                <a:latin typeface="Consolas" panose="020B0609020204030204" pitchFamily="49" charset="0"/>
              </a:rPr>
              <a:t>cra</a:t>
            </a:r>
            <a:r>
              <a:rPr lang="en-US" sz="1800" b="0" i="0" dirty="0">
                <a:effectLst/>
                <a:latin typeface="Consolas" panose="020B0609020204030204" pitchFamily="49" charset="0"/>
              </a:rPr>
              <a:t>-template...</a:t>
            </a:r>
            <a:br>
              <a:rPr lang="en-US" sz="2800" b="0" i="0" dirty="0">
                <a:effectLst/>
                <a:latin typeface="Consolas" panose="020B0609020204030204" pitchFamily="49" charset="0"/>
              </a:rPr>
            </a:br>
            <a:endParaRPr lang="en-IN" sz="1400" dirty="0"/>
          </a:p>
        </p:txBody>
      </p:sp>
      <p:sp>
        <p:nvSpPr>
          <p:cNvPr id="3" name="Content Placeholder 2">
            <a:extLst>
              <a:ext uri="{FF2B5EF4-FFF2-40B4-BE49-F238E27FC236}">
                <a16:creationId xmlns:a16="http://schemas.microsoft.com/office/drawing/2014/main" id="{3275D191-6434-4B0E-89A2-42F15F91553E}"/>
              </a:ext>
            </a:extLst>
          </p:cNvPr>
          <p:cNvSpPr>
            <a:spLocks noGrp="1"/>
          </p:cNvSpPr>
          <p:nvPr>
            <p:ph idx="1"/>
          </p:nvPr>
        </p:nvSpPr>
        <p:spPr/>
        <p:txBody>
          <a:bodyPr/>
          <a:lstStyle/>
          <a:p>
            <a:r>
              <a:rPr lang="en-US" sz="2400" b="0" i="0" dirty="0">
                <a:solidFill>
                  <a:srgbClr val="273239"/>
                </a:solidFill>
                <a:effectLst/>
                <a:latin typeface="Nunito" pitchFamily="2" charset="0"/>
              </a:rPr>
              <a:t>The </a:t>
            </a:r>
            <a:r>
              <a:rPr lang="en-US" sz="2400" b="0" i="0" dirty="0" err="1">
                <a:solidFill>
                  <a:srgbClr val="273239"/>
                </a:solidFill>
                <a:effectLst/>
                <a:latin typeface="Nunito" pitchFamily="2" charset="0"/>
              </a:rPr>
              <a:t>npx</a:t>
            </a:r>
            <a:r>
              <a:rPr lang="en-US" sz="2400" b="0" i="0" dirty="0">
                <a:solidFill>
                  <a:srgbClr val="273239"/>
                </a:solidFill>
                <a:effectLst/>
                <a:latin typeface="Nunito" pitchFamily="2" charset="0"/>
              </a:rPr>
              <a:t> stands for </a:t>
            </a:r>
            <a:r>
              <a:rPr lang="en-US" sz="2400" b="1" i="0" dirty="0">
                <a:solidFill>
                  <a:srgbClr val="273239"/>
                </a:solidFill>
                <a:effectLst/>
                <a:latin typeface="Nunito" pitchFamily="2" charset="0"/>
              </a:rPr>
              <a:t>Node Package Execute</a:t>
            </a:r>
            <a:r>
              <a:rPr lang="en-US" sz="2400" b="0" i="0" dirty="0">
                <a:solidFill>
                  <a:srgbClr val="273239"/>
                </a:solidFill>
                <a:effectLst/>
                <a:latin typeface="Nunito" pitchFamily="2" charset="0"/>
              </a:rPr>
              <a:t> and it comes with the </a:t>
            </a:r>
            <a:r>
              <a:rPr lang="en-US" sz="2400" b="0" i="0" dirty="0" err="1">
                <a:solidFill>
                  <a:srgbClr val="273239"/>
                </a:solidFill>
                <a:effectLst/>
                <a:latin typeface="Nunito" pitchFamily="2" charset="0"/>
              </a:rPr>
              <a:t>npm</a:t>
            </a:r>
            <a:r>
              <a:rPr lang="en-US" sz="2400" b="0" i="0" dirty="0">
                <a:solidFill>
                  <a:srgbClr val="273239"/>
                </a:solidFill>
                <a:effectLst/>
                <a:latin typeface="Nunito" pitchFamily="2" charset="0"/>
              </a:rPr>
              <a:t>, when you installed </a:t>
            </a:r>
            <a:r>
              <a:rPr lang="en-US" sz="2400" b="0" i="0" dirty="0" err="1">
                <a:solidFill>
                  <a:srgbClr val="273239"/>
                </a:solidFill>
                <a:effectLst/>
                <a:latin typeface="Nunito" pitchFamily="2" charset="0"/>
              </a:rPr>
              <a:t>npm</a:t>
            </a:r>
            <a:r>
              <a:rPr lang="en-US" sz="2400" b="0" i="0" dirty="0">
                <a:solidFill>
                  <a:srgbClr val="273239"/>
                </a:solidFill>
                <a:effectLst/>
                <a:latin typeface="Nunito" pitchFamily="2" charset="0"/>
              </a:rPr>
              <a:t> above 5.2.0 version then automatically </a:t>
            </a:r>
            <a:r>
              <a:rPr lang="en-US" sz="2400" b="0" i="0" dirty="0" err="1">
                <a:solidFill>
                  <a:srgbClr val="273239"/>
                </a:solidFill>
                <a:effectLst/>
                <a:latin typeface="Nunito" pitchFamily="2" charset="0"/>
              </a:rPr>
              <a:t>npx</a:t>
            </a:r>
            <a:r>
              <a:rPr lang="en-US" sz="2400" b="0" i="0" dirty="0">
                <a:solidFill>
                  <a:srgbClr val="273239"/>
                </a:solidFill>
                <a:effectLst/>
                <a:latin typeface="Nunito" pitchFamily="2" charset="0"/>
              </a:rPr>
              <a:t> will installed. It is an </a:t>
            </a:r>
            <a:r>
              <a:rPr lang="en-US" sz="2400" b="0" i="0" dirty="0" err="1">
                <a:solidFill>
                  <a:srgbClr val="273239"/>
                </a:solidFill>
                <a:effectLst/>
                <a:latin typeface="Nunito" pitchFamily="2" charset="0"/>
              </a:rPr>
              <a:t>npm</a:t>
            </a:r>
            <a:r>
              <a:rPr lang="en-US" sz="2400" b="0" i="0" dirty="0">
                <a:solidFill>
                  <a:srgbClr val="273239"/>
                </a:solidFill>
                <a:effectLst/>
                <a:latin typeface="Nunito" pitchFamily="2" charset="0"/>
              </a:rPr>
              <a:t> package runner that can execute any package that you want from the </a:t>
            </a:r>
            <a:r>
              <a:rPr lang="en-US" sz="2400" b="0" i="0" dirty="0" err="1">
                <a:solidFill>
                  <a:srgbClr val="273239"/>
                </a:solidFill>
                <a:effectLst/>
                <a:latin typeface="Nunito" pitchFamily="2" charset="0"/>
              </a:rPr>
              <a:t>npm</a:t>
            </a:r>
            <a:r>
              <a:rPr lang="en-US" sz="2400" b="0" i="0" dirty="0">
                <a:solidFill>
                  <a:srgbClr val="273239"/>
                </a:solidFill>
                <a:effectLst/>
                <a:latin typeface="Nunito" pitchFamily="2" charset="0"/>
              </a:rPr>
              <a:t> registry without even installing that package. The </a:t>
            </a:r>
            <a:r>
              <a:rPr lang="en-US" sz="2400" b="0" i="0" dirty="0" err="1">
                <a:solidFill>
                  <a:srgbClr val="273239"/>
                </a:solidFill>
                <a:effectLst/>
                <a:latin typeface="Nunito" pitchFamily="2" charset="0"/>
              </a:rPr>
              <a:t>npx</a:t>
            </a:r>
            <a:r>
              <a:rPr lang="en-US" sz="2400" b="0" i="0" dirty="0">
                <a:solidFill>
                  <a:srgbClr val="273239"/>
                </a:solidFill>
                <a:effectLst/>
                <a:latin typeface="Nunito" pitchFamily="2" charset="0"/>
              </a:rPr>
              <a:t> is useful during a single time use package. If you have installed </a:t>
            </a:r>
            <a:r>
              <a:rPr lang="en-US" sz="2400" b="0" i="0" dirty="0" err="1">
                <a:solidFill>
                  <a:srgbClr val="273239"/>
                </a:solidFill>
                <a:effectLst/>
                <a:latin typeface="Nunito" pitchFamily="2" charset="0"/>
              </a:rPr>
              <a:t>npm</a:t>
            </a:r>
            <a:r>
              <a:rPr lang="en-US" sz="2400" b="0" i="0" dirty="0">
                <a:solidFill>
                  <a:srgbClr val="273239"/>
                </a:solidFill>
                <a:effectLst/>
                <a:latin typeface="Nunito" pitchFamily="2" charset="0"/>
              </a:rPr>
              <a:t> below 5.2.0 then </a:t>
            </a:r>
            <a:r>
              <a:rPr lang="en-US" sz="2400" b="0" i="0" dirty="0" err="1">
                <a:solidFill>
                  <a:srgbClr val="273239"/>
                </a:solidFill>
                <a:effectLst/>
                <a:latin typeface="Nunito" pitchFamily="2" charset="0"/>
              </a:rPr>
              <a:t>npx</a:t>
            </a:r>
            <a:r>
              <a:rPr lang="en-US" sz="2400" b="0" i="0" dirty="0">
                <a:solidFill>
                  <a:srgbClr val="273239"/>
                </a:solidFill>
                <a:effectLst/>
                <a:latin typeface="Nunito" pitchFamily="2" charset="0"/>
              </a:rPr>
              <a:t> is not installed in your system.</a:t>
            </a:r>
          </a:p>
          <a:p>
            <a:r>
              <a:rPr lang="en-US" sz="2400" dirty="0">
                <a:solidFill>
                  <a:srgbClr val="202124"/>
                </a:solidFill>
                <a:latin typeface="arial" panose="020B0604020202020204" pitchFamily="34" charset="0"/>
              </a:rPr>
              <a:t>Got to project folder:  </a:t>
            </a:r>
          </a:p>
          <a:p>
            <a:r>
              <a:rPr lang="en-US" dirty="0">
                <a:solidFill>
                  <a:srgbClr val="202124"/>
                </a:solidFill>
                <a:latin typeface="arial" panose="020B0604020202020204" pitchFamily="34" charset="0"/>
              </a:rPr>
              <a:t>cd </a:t>
            </a:r>
            <a:r>
              <a:rPr lang="en-US" b="0" i="0" dirty="0" err="1">
                <a:effectLst/>
                <a:latin typeface="Consolas" panose="020B0609020204030204" pitchFamily="49" charset="0"/>
              </a:rPr>
              <a:t>myfirstreact</a:t>
            </a:r>
            <a:r>
              <a:rPr lang="en-US" b="0" i="0" dirty="0">
                <a:effectLst/>
                <a:latin typeface="Consolas" panose="020B0609020204030204" pitchFamily="49" charset="0"/>
              </a:rPr>
              <a:t>;</a:t>
            </a:r>
            <a:endParaRPr lang="en-US" dirty="0">
              <a:solidFill>
                <a:srgbClr val="202124"/>
              </a:solidFill>
              <a:latin typeface="arial" panose="020B0604020202020204" pitchFamily="34" charset="0"/>
            </a:endParaRPr>
          </a:p>
          <a:p>
            <a:pPr marL="0" indent="0">
              <a:buNone/>
            </a:pPr>
            <a:r>
              <a:rPr lang="en-US" b="0" i="0" dirty="0">
                <a:effectLst/>
                <a:latin typeface="Consolas" panose="020B0609020204030204" pitchFamily="49" charset="0"/>
              </a:rPr>
              <a:t>C:\Users\</a:t>
            </a:r>
            <a:r>
              <a:rPr lang="en-US" b="0" i="1" dirty="0">
                <a:effectLst/>
                <a:latin typeface="Consolas" panose="020B0609020204030204" pitchFamily="49" charset="0"/>
              </a:rPr>
              <a:t>Your Name</a:t>
            </a:r>
            <a:r>
              <a:rPr lang="en-US" b="0" i="0" dirty="0">
                <a:effectLst/>
                <a:latin typeface="Consolas" panose="020B0609020204030204" pitchFamily="49" charset="0"/>
              </a:rPr>
              <a:t>\</a:t>
            </a:r>
            <a:r>
              <a:rPr lang="en-US" b="0" i="0" dirty="0" err="1">
                <a:effectLst/>
                <a:latin typeface="Consolas" panose="020B0609020204030204" pitchFamily="49" charset="0"/>
              </a:rPr>
              <a:t>myfirstreact</a:t>
            </a:r>
            <a:r>
              <a:rPr lang="en-US" b="0" i="0" dirty="0">
                <a:effectLst/>
                <a:latin typeface="Consolas" panose="020B0609020204030204" pitchFamily="49" charset="0"/>
              </a:rPr>
              <a:t>&gt;</a:t>
            </a:r>
            <a:r>
              <a:rPr lang="en-US" b="0" i="0" dirty="0" err="1">
                <a:effectLst/>
                <a:latin typeface="Consolas" panose="020B0609020204030204" pitchFamily="49" charset="0"/>
              </a:rPr>
              <a:t>npm</a:t>
            </a:r>
            <a:r>
              <a:rPr lang="en-US" b="0" i="0" dirty="0">
                <a:effectLst/>
                <a:latin typeface="Consolas" panose="020B0609020204030204" pitchFamily="49" charset="0"/>
              </a:rPr>
              <a:t> start</a:t>
            </a:r>
            <a:endParaRPr lang="en-IN" dirty="0"/>
          </a:p>
        </p:txBody>
      </p:sp>
      <p:sp>
        <p:nvSpPr>
          <p:cNvPr id="5" name="TextBox 4">
            <a:extLst>
              <a:ext uri="{FF2B5EF4-FFF2-40B4-BE49-F238E27FC236}">
                <a16:creationId xmlns:a16="http://schemas.microsoft.com/office/drawing/2014/main" id="{A02D5162-D2BC-4BCD-9F5C-E47AE8D649D2}"/>
              </a:ext>
            </a:extLst>
          </p:cNvPr>
          <p:cNvSpPr txBox="1"/>
          <p:nvPr/>
        </p:nvSpPr>
        <p:spPr>
          <a:xfrm>
            <a:off x="905933" y="5490813"/>
            <a:ext cx="9308690" cy="923330"/>
          </a:xfrm>
          <a:prstGeom prst="rect">
            <a:avLst/>
          </a:prstGeom>
          <a:noFill/>
        </p:spPr>
        <p:txBody>
          <a:bodyPr wrap="square">
            <a:spAutoFit/>
          </a:bodyPr>
          <a:lstStyle/>
          <a:p>
            <a:r>
              <a:rPr lang="en-US" dirty="0"/>
              <a:t>v6&gt;</a:t>
            </a:r>
            <a:r>
              <a:rPr lang="en-US" dirty="0" err="1"/>
              <a:t>npm</a:t>
            </a:r>
            <a:r>
              <a:rPr lang="en-US" dirty="0"/>
              <a:t> install -g create-react-app</a:t>
            </a:r>
          </a:p>
          <a:p>
            <a:r>
              <a:rPr lang="en-US" b="1" dirty="0"/>
              <a:t>If computer name has space then</a:t>
            </a:r>
          </a:p>
          <a:p>
            <a:r>
              <a:rPr lang="en-IN" dirty="0" err="1"/>
              <a:t>npm</a:t>
            </a:r>
            <a:r>
              <a:rPr lang="en-IN" dirty="0"/>
              <a:t> config set cache "C:\Users\Shiram~1\AppData\Roaming\npm-cache" --global</a:t>
            </a:r>
          </a:p>
        </p:txBody>
      </p:sp>
    </p:spTree>
    <p:extLst>
      <p:ext uri="{BB962C8B-B14F-4D97-AF65-F5344CB8AC3E}">
        <p14:creationId xmlns:p14="http://schemas.microsoft.com/office/powerpoint/2010/main" val="23118944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F36DE2-4B9B-4907-BFE1-06B1E644DC82}"/>
              </a:ext>
            </a:extLst>
          </p:cNvPr>
          <p:cNvSpPr>
            <a:spLocks noGrp="1"/>
          </p:cNvSpPr>
          <p:nvPr>
            <p:ph idx="1"/>
          </p:nvPr>
        </p:nvSpPr>
        <p:spPr>
          <a:xfrm>
            <a:off x="471948" y="737419"/>
            <a:ext cx="10881852" cy="5439544"/>
          </a:xfrm>
        </p:spPr>
        <p:txBody>
          <a:bodyPr/>
          <a:lstStyle/>
          <a:p>
            <a:pPr algn="just"/>
            <a:r>
              <a:rPr lang="en-US" b="0" i="0" dirty="0">
                <a:solidFill>
                  <a:srgbClr val="000000"/>
                </a:solidFill>
                <a:effectLst/>
              </a:rPr>
              <a:t>React uses JSX for templating instead of regular JavaScript. It is not necessary to use it, however, following are some pros that come with it.</a:t>
            </a:r>
          </a:p>
          <a:p>
            <a:pPr algn="just">
              <a:buFont typeface="Arial" panose="020B0604020202020204" pitchFamily="34" charset="0"/>
              <a:buChar char="•"/>
            </a:pPr>
            <a:r>
              <a:rPr lang="en-US" b="0" i="0" dirty="0">
                <a:solidFill>
                  <a:srgbClr val="000000"/>
                </a:solidFill>
                <a:effectLst/>
              </a:rPr>
              <a:t>It is faster because it performs optimization while compiling code to JavaScript.</a:t>
            </a:r>
          </a:p>
          <a:p>
            <a:pPr algn="just">
              <a:buFont typeface="Arial" panose="020B0604020202020204" pitchFamily="34" charset="0"/>
              <a:buChar char="•"/>
            </a:pPr>
            <a:r>
              <a:rPr lang="en-US" b="0" i="0" dirty="0">
                <a:solidFill>
                  <a:srgbClr val="000000"/>
                </a:solidFill>
                <a:effectLst/>
              </a:rPr>
              <a:t>It is also type-safe and most of the errors can be caught during compilation.</a:t>
            </a:r>
          </a:p>
          <a:p>
            <a:pPr algn="just">
              <a:buFont typeface="Arial" panose="020B0604020202020204" pitchFamily="34" charset="0"/>
              <a:buChar char="•"/>
            </a:pPr>
            <a:r>
              <a:rPr lang="en-US" b="0" i="0" dirty="0">
                <a:solidFill>
                  <a:srgbClr val="000000"/>
                </a:solidFill>
                <a:effectLst/>
              </a:rPr>
              <a:t>It makes it easier and faster to write templates, if you are familiar with HTML.</a:t>
            </a:r>
          </a:p>
          <a:p>
            <a:endParaRPr lang="en-IN" dirty="0"/>
          </a:p>
        </p:txBody>
      </p:sp>
    </p:spTree>
    <p:extLst>
      <p:ext uri="{BB962C8B-B14F-4D97-AF65-F5344CB8AC3E}">
        <p14:creationId xmlns:p14="http://schemas.microsoft.com/office/powerpoint/2010/main" val="14235437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2E84B-1180-45A6-80B5-F9CCBB89128A}"/>
              </a:ext>
            </a:extLst>
          </p:cNvPr>
          <p:cNvSpPr>
            <a:spLocks noGrp="1"/>
          </p:cNvSpPr>
          <p:nvPr>
            <p:ph type="title"/>
          </p:nvPr>
        </p:nvSpPr>
        <p:spPr>
          <a:xfrm>
            <a:off x="838200" y="365125"/>
            <a:ext cx="10515600" cy="559107"/>
          </a:xfrm>
        </p:spPr>
        <p:txBody>
          <a:bodyPr>
            <a:normAutofit fontScale="90000"/>
          </a:bodyPr>
          <a:lstStyle/>
          <a:p>
            <a:r>
              <a:rPr lang="en-US" b="0" i="0" dirty="0">
                <a:solidFill>
                  <a:srgbClr val="000000"/>
                </a:solidFill>
                <a:effectLst/>
                <a:latin typeface="Arial" panose="020B0604020202020204" pitchFamily="34" charset="0"/>
              </a:rPr>
              <a:t>JSX looks like a regular HTML in most cases</a:t>
            </a:r>
            <a:endParaRPr lang="en-IN" dirty="0"/>
          </a:p>
        </p:txBody>
      </p:sp>
      <p:sp>
        <p:nvSpPr>
          <p:cNvPr id="3" name="Content Placeholder 2">
            <a:extLst>
              <a:ext uri="{FF2B5EF4-FFF2-40B4-BE49-F238E27FC236}">
                <a16:creationId xmlns:a16="http://schemas.microsoft.com/office/drawing/2014/main" id="{5658C399-24B2-4381-97E6-93DEEDF1A16A}"/>
              </a:ext>
            </a:extLst>
          </p:cNvPr>
          <p:cNvSpPr>
            <a:spLocks noGrp="1"/>
          </p:cNvSpPr>
          <p:nvPr>
            <p:ph idx="1"/>
          </p:nvPr>
        </p:nvSpPr>
        <p:spPr>
          <a:xfrm>
            <a:off x="285136" y="1347019"/>
            <a:ext cx="5486400" cy="4829944"/>
          </a:xfrm>
        </p:spPr>
        <p:txBody>
          <a:bodyPr>
            <a:normAutofit fontScale="70000" lnSpcReduction="20000"/>
          </a:bodyPr>
          <a:lstStyle/>
          <a:p>
            <a:pPr marL="0" indent="0">
              <a:buNone/>
            </a:pPr>
            <a:r>
              <a:rPr lang="en-IN" b="0" i="0" dirty="0" err="1">
                <a:effectLst/>
                <a:latin typeface="Arial" panose="020B0604020202020204" pitchFamily="34" charset="0"/>
              </a:rPr>
              <a:t>App.jsx</a:t>
            </a:r>
            <a:r>
              <a:rPr lang="en-IN" b="0" i="0" dirty="0">
                <a:effectLst/>
                <a:latin typeface="Arial" panose="020B0604020202020204" pitchFamily="34" charset="0"/>
              </a:rPr>
              <a:t> </a:t>
            </a:r>
            <a:r>
              <a:rPr lang="en-IN" b="0" i="0" dirty="0">
                <a:effectLst/>
                <a:latin typeface="Arial" panose="020B0604020202020204" pitchFamily="34" charset="0"/>
                <a:sym typeface="Wingdings" panose="05000000000000000000" pitchFamily="2" charset="2"/>
              </a:rPr>
              <a:t>demo1</a:t>
            </a:r>
            <a:endParaRPr lang="en-IN" b="0" i="0" dirty="0">
              <a:effectLst/>
              <a:latin typeface="Arial" panose="020B0604020202020204" pitchFamily="34" charset="0"/>
            </a:endParaRPr>
          </a:p>
          <a:p>
            <a:pPr marL="0" indent="0">
              <a:buNone/>
            </a:pPr>
            <a:endParaRPr lang="en-IN" b="0" i="0" dirty="0">
              <a:effectLst/>
              <a:latin typeface="Arial" panose="020B0604020202020204" pitchFamily="34" charset="0"/>
            </a:endParaRPr>
          </a:p>
          <a:p>
            <a:pPr marL="0" indent="0">
              <a:buNone/>
            </a:pP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App</a:t>
            </a:r>
            <a:r>
              <a:rPr lang="en-US" b="0" dirty="0">
                <a:solidFill>
                  <a:srgbClr val="000000"/>
                </a:solidFill>
                <a:effectLst/>
                <a:latin typeface="Consolas" panose="020B0609020204030204" pitchFamily="49" charset="0"/>
              </a:rPr>
              <a:t>() {</a:t>
            </a:r>
          </a:p>
          <a:p>
            <a:pPr marL="0" indent="0">
              <a:buNone/>
            </a:pPr>
            <a:r>
              <a:rPr lang="en-US" b="0" dirty="0">
                <a:solidFill>
                  <a:srgbClr val="000000"/>
                </a:solidFill>
                <a:effectLst/>
                <a:latin typeface="Consolas" panose="020B0609020204030204" pitchFamily="49" charset="0"/>
              </a:rPr>
              <a:t>  </a:t>
            </a:r>
            <a:r>
              <a:rPr lang="en-US" b="0" dirty="0">
                <a:solidFill>
                  <a:srgbClr val="AF00DB"/>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p>
          <a:p>
            <a:pPr marL="0" indent="0">
              <a:buNone/>
            </a:pP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&lt;div</a:t>
            </a: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pPr marL="0" indent="0">
              <a:buNone/>
            </a:pPr>
            <a:r>
              <a:rPr lang="en-US" b="0" dirty="0">
                <a:solidFill>
                  <a:srgbClr val="000000"/>
                </a:solidFill>
                <a:effectLst/>
                <a:latin typeface="Consolas" panose="020B0609020204030204" pitchFamily="49" charset="0"/>
              </a:rPr>
              <a:t>     </a:t>
            </a:r>
          </a:p>
          <a:p>
            <a:pPr marL="0" indent="0">
              <a:buNone/>
            </a:pPr>
            <a:r>
              <a:rPr lang="en-US" b="0" dirty="0">
                <a:solidFill>
                  <a:srgbClr val="000000"/>
                </a:solidFill>
                <a:effectLst/>
                <a:latin typeface="Consolas" panose="020B0609020204030204" pitchFamily="49" charset="0"/>
              </a:rPr>
              <a:t>    </a:t>
            </a:r>
          </a:p>
          <a:p>
            <a:pPr marL="0" indent="0">
              <a:buNone/>
            </a:pP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&lt;h1&gt;</a:t>
            </a:r>
            <a:r>
              <a:rPr lang="en-US" b="0" dirty="0">
                <a:solidFill>
                  <a:srgbClr val="000000"/>
                </a:solidFill>
                <a:effectLst/>
                <a:latin typeface="Consolas" panose="020B0609020204030204" pitchFamily="49" charset="0"/>
              </a:rPr>
              <a:t> Hello world!</a:t>
            </a:r>
            <a:r>
              <a:rPr lang="en-US" b="0" dirty="0">
                <a:solidFill>
                  <a:srgbClr val="800000"/>
                </a:solidFill>
                <a:effectLst/>
                <a:latin typeface="Consolas" panose="020B0609020204030204" pitchFamily="49" charset="0"/>
              </a:rPr>
              <a:t>&lt;/h1&gt;</a:t>
            </a:r>
            <a:endParaRPr lang="en-US" b="0" dirty="0">
              <a:solidFill>
                <a:srgbClr val="000000"/>
              </a:solidFill>
              <a:effectLst/>
              <a:latin typeface="Consolas" panose="020B0609020204030204" pitchFamily="49" charset="0"/>
            </a:endParaRPr>
          </a:p>
          <a:p>
            <a:pPr marL="0" indent="0">
              <a:buNone/>
            </a:pP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&lt;/div&gt;</a:t>
            </a:r>
            <a:endParaRPr lang="en-US" b="0" dirty="0">
              <a:solidFill>
                <a:srgbClr val="000000"/>
              </a:solidFill>
              <a:effectLst/>
              <a:latin typeface="Consolas" panose="020B0609020204030204" pitchFamily="49" charset="0"/>
            </a:endParaRPr>
          </a:p>
          <a:p>
            <a:pPr marL="0" indent="0">
              <a:buNone/>
            </a:pPr>
            <a:r>
              <a:rPr lang="en-US" b="0" dirty="0">
                <a:solidFill>
                  <a:srgbClr val="000000"/>
                </a:solidFill>
                <a:effectLst/>
                <a:latin typeface="Consolas" panose="020B0609020204030204" pitchFamily="49" charset="0"/>
              </a:rPr>
              <a:t>  );</a:t>
            </a:r>
          </a:p>
          <a:p>
            <a:pPr marL="0" indent="0">
              <a:buNone/>
            </a:pPr>
            <a:r>
              <a:rPr lang="en-US" b="0" dirty="0">
                <a:solidFill>
                  <a:srgbClr val="000000"/>
                </a:solidFill>
                <a:effectLst/>
                <a:latin typeface="Consolas" panose="020B0609020204030204" pitchFamily="49" charset="0"/>
              </a:rPr>
              <a:t>}</a:t>
            </a:r>
          </a:p>
          <a:p>
            <a:pPr marL="0" indent="0">
              <a:buNone/>
            </a:pPr>
            <a:br>
              <a:rPr lang="en-US" b="0" dirty="0">
                <a:solidFill>
                  <a:srgbClr val="000000"/>
                </a:solidFill>
                <a:effectLst/>
                <a:latin typeface="Consolas" panose="020B0609020204030204" pitchFamily="49" charset="0"/>
              </a:rPr>
            </a:br>
            <a:r>
              <a:rPr lang="en-US" b="0" dirty="0">
                <a:solidFill>
                  <a:srgbClr val="AF00DB"/>
                </a:solidFill>
                <a:effectLst/>
                <a:latin typeface="Consolas" panose="020B0609020204030204" pitchFamily="49" charset="0"/>
              </a:rPr>
              <a:t>export</a:t>
            </a:r>
            <a:r>
              <a:rPr lang="en-US" b="0" dirty="0">
                <a:solidFill>
                  <a:srgbClr val="000000"/>
                </a:solidFill>
                <a:effectLst/>
                <a:latin typeface="Consolas" panose="020B0609020204030204" pitchFamily="49" charset="0"/>
              </a:rPr>
              <a:t> </a:t>
            </a:r>
            <a:r>
              <a:rPr lang="en-US" b="0" dirty="0">
                <a:solidFill>
                  <a:srgbClr val="AF00DB"/>
                </a:solidFill>
                <a:effectLst/>
                <a:latin typeface="Consolas" panose="020B0609020204030204" pitchFamily="49" charset="0"/>
              </a:rPr>
              <a:t>default</a:t>
            </a:r>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App</a:t>
            </a:r>
            <a:r>
              <a:rPr lang="en-US" b="0" dirty="0">
                <a:solidFill>
                  <a:srgbClr val="000000"/>
                </a:solidFill>
                <a:effectLst/>
                <a:latin typeface="Consolas" panose="020B0609020204030204" pitchFamily="49" charset="0"/>
              </a:rPr>
              <a:t>;</a:t>
            </a:r>
          </a:p>
          <a:p>
            <a:pPr marL="0" indent="0">
              <a:buNone/>
            </a:pPr>
            <a:br>
              <a:rPr lang="en-US" b="0" dirty="0">
                <a:solidFill>
                  <a:srgbClr val="000000"/>
                </a:solidFill>
                <a:effectLst/>
                <a:latin typeface="Consolas" panose="020B0609020204030204" pitchFamily="49" charset="0"/>
              </a:rPr>
            </a:br>
            <a:endParaRPr lang="en-US" b="0" dirty="0">
              <a:solidFill>
                <a:srgbClr val="000000"/>
              </a:solidFill>
              <a:effectLst/>
              <a:latin typeface="Consolas" panose="020B0609020204030204" pitchFamily="49" charset="0"/>
            </a:endParaRPr>
          </a:p>
          <a:p>
            <a:pPr marL="0" indent="0">
              <a:buNone/>
            </a:pPr>
            <a:endParaRPr lang="en-IN" dirty="0"/>
          </a:p>
        </p:txBody>
      </p:sp>
      <p:cxnSp>
        <p:nvCxnSpPr>
          <p:cNvPr id="7" name="Straight Arrow Connector 6">
            <a:extLst>
              <a:ext uri="{FF2B5EF4-FFF2-40B4-BE49-F238E27FC236}">
                <a16:creationId xmlns:a16="http://schemas.microsoft.com/office/drawing/2014/main" id="{B3A52083-8D41-4E36-86E2-AACD36093DC7}"/>
              </a:ext>
            </a:extLst>
          </p:cNvPr>
          <p:cNvCxnSpPr>
            <a:cxnSpLocks/>
          </p:cNvCxnSpPr>
          <p:nvPr/>
        </p:nvCxnSpPr>
        <p:spPr>
          <a:xfrm flipH="1" flipV="1">
            <a:off x="7867651" y="2079903"/>
            <a:ext cx="562896" cy="5485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2AA1ED02-54F8-48E1-9AE7-E5A65DD9DFFA}"/>
              </a:ext>
            </a:extLst>
          </p:cNvPr>
          <p:cNvSpPr txBox="1"/>
          <p:nvPr/>
        </p:nvSpPr>
        <p:spPr>
          <a:xfrm>
            <a:off x="8393061" y="2496176"/>
            <a:ext cx="2792361" cy="369332"/>
          </a:xfrm>
          <a:prstGeom prst="rect">
            <a:avLst/>
          </a:prstGeom>
          <a:noFill/>
        </p:spPr>
        <p:txBody>
          <a:bodyPr wrap="square" rtlCol="0">
            <a:spAutoFit/>
          </a:bodyPr>
          <a:lstStyle/>
          <a:p>
            <a:r>
              <a:rPr lang="en-IN" dirty="0"/>
              <a:t>Without JSX in </a:t>
            </a:r>
            <a:r>
              <a:rPr lang="en-IN" dirty="0" err="1"/>
              <a:t>App.jsx</a:t>
            </a:r>
            <a:r>
              <a:rPr lang="en-IN" dirty="0"/>
              <a:t> file</a:t>
            </a:r>
          </a:p>
        </p:txBody>
      </p:sp>
      <p:cxnSp>
        <p:nvCxnSpPr>
          <p:cNvPr id="10" name="Straight Arrow Connector 9">
            <a:extLst>
              <a:ext uri="{FF2B5EF4-FFF2-40B4-BE49-F238E27FC236}">
                <a16:creationId xmlns:a16="http://schemas.microsoft.com/office/drawing/2014/main" id="{41FD774C-EDB2-4698-B956-1323844A5BEA}"/>
              </a:ext>
            </a:extLst>
          </p:cNvPr>
          <p:cNvCxnSpPr>
            <a:cxnSpLocks/>
          </p:cNvCxnSpPr>
          <p:nvPr/>
        </p:nvCxnSpPr>
        <p:spPr>
          <a:xfrm>
            <a:off x="3028336" y="3702467"/>
            <a:ext cx="639096" cy="3195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7FAA0A76-1F8D-4568-8761-30841B5B3AA8}"/>
              </a:ext>
            </a:extLst>
          </p:cNvPr>
          <p:cNvSpPr txBox="1"/>
          <p:nvPr/>
        </p:nvSpPr>
        <p:spPr>
          <a:xfrm>
            <a:off x="3347884" y="4260095"/>
            <a:ext cx="1317523" cy="369332"/>
          </a:xfrm>
          <a:prstGeom prst="rect">
            <a:avLst/>
          </a:prstGeom>
          <a:noFill/>
        </p:spPr>
        <p:txBody>
          <a:bodyPr wrap="square" rtlCol="0">
            <a:spAutoFit/>
          </a:bodyPr>
          <a:lstStyle/>
          <a:p>
            <a:r>
              <a:rPr lang="en-IN" dirty="0"/>
              <a:t>JSX</a:t>
            </a:r>
          </a:p>
        </p:txBody>
      </p:sp>
      <p:sp>
        <p:nvSpPr>
          <p:cNvPr id="13" name="TextBox 12">
            <a:extLst>
              <a:ext uri="{FF2B5EF4-FFF2-40B4-BE49-F238E27FC236}">
                <a16:creationId xmlns:a16="http://schemas.microsoft.com/office/drawing/2014/main" id="{B172D942-937D-410C-BF60-C9782E5EAC17}"/>
              </a:ext>
            </a:extLst>
          </p:cNvPr>
          <p:cNvSpPr txBox="1"/>
          <p:nvPr/>
        </p:nvSpPr>
        <p:spPr>
          <a:xfrm>
            <a:off x="5133668" y="1195071"/>
            <a:ext cx="6518786" cy="1200329"/>
          </a:xfrm>
          <a:prstGeom prst="rect">
            <a:avLst/>
          </a:prstGeom>
          <a:noFill/>
        </p:spPr>
        <p:txBody>
          <a:bodyPr wrap="square">
            <a:spAutoFit/>
          </a:bodyPr>
          <a:lstStyle/>
          <a:p>
            <a:r>
              <a:rPr lang="en-US" b="0" dirty="0">
                <a:solidFill>
                  <a:srgbClr val="AF00DB"/>
                </a:solidFill>
                <a:effectLst/>
                <a:latin typeface="Consolas" panose="020B0609020204030204" pitchFamily="49" charset="0"/>
              </a:rPr>
              <a:t>Notes: </a:t>
            </a:r>
            <a:r>
              <a:rPr lang="en-US" b="0" dirty="0">
                <a:solidFill>
                  <a:srgbClr val="AF00DB"/>
                </a:solidFill>
                <a:effectLst/>
                <a:latin typeface="Consolas" panose="020B0609020204030204" pitchFamily="49" charset="0"/>
                <a:sym typeface="Wingdings" panose="05000000000000000000" pitchFamily="2" charset="2"/>
              </a:rPr>
              <a:t></a:t>
            </a:r>
            <a:endParaRPr lang="en-US" b="0" dirty="0">
              <a:solidFill>
                <a:srgbClr val="AF00DB"/>
              </a:solidFill>
              <a:effectLst/>
              <a:latin typeface="Consolas" panose="020B0609020204030204" pitchFamily="49" charset="0"/>
            </a:endParaRPr>
          </a:p>
          <a:p>
            <a:r>
              <a:rPr lang="en-US" b="0" dirty="0">
                <a:solidFill>
                  <a:srgbClr val="AF00DB"/>
                </a:solidFill>
                <a:effectLst/>
                <a:latin typeface="Consolas" panose="020B0609020204030204" pitchFamily="49" charset="0"/>
              </a:rPr>
              <a:t>import</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React</a:t>
            </a:r>
            <a:r>
              <a:rPr lang="en-US" b="0" dirty="0">
                <a:solidFill>
                  <a:srgbClr val="000000"/>
                </a:solidFill>
                <a:effectLst/>
                <a:latin typeface="Consolas" panose="020B0609020204030204" pitchFamily="49" charset="0"/>
              </a:rPr>
              <a:t> </a:t>
            </a:r>
            <a:r>
              <a:rPr lang="en-US" b="0" dirty="0">
                <a:solidFill>
                  <a:srgbClr val="AF00DB"/>
                </a:solidFill>
                <a:effectLst/>
                <a:latin typeface="Consolas" panose="020B0609020204030204" pitchFamily="49" charset="0"/>
              </a:rPr>
              <a:t>from</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'react'</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70C1"/>
                </a:solidFill>
                <a:effectLst/>
                <a:latin typeface="Consolas" panose="020B0609020204030204" pitchFamily="49" charset="0"/>
              </a:rPr>
              <a:t>Myelement</a:t>
            </a:r>
            <a:r>
              <a:rPr lang="en-US" b="0" dirty="0">
                <a:solidFill>
                  <a:srgbClr val="000000"/>
                </a:solidFill>
                <a:effectLst/>
                <a:latin typeface="Consolas" panose="020B0609020204030204" pitchFamily="49" charset="0"/>
              </a:rPr>
              <a:t> = </a:t>
            </a:r>
            <a:r>
              <a:rPr lang="en-US" b="0" dirty="0" err="1">
                <a:solidFill>
                  <a:srgbClr val="267F99"/>
                </a:solidFill>
                <a:effectLst/>
                <a:latin typeface="Consolas" panose="020B0609020204030204" pitchFamily="49" charset="0"/>
              </a:rPr>
              <a:t>React</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createElement</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'h1'</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'I do not use JSX!’</a:t>
            </a:r>
            <a:r>
              <a:rPr lang="en-US" b="0" dirty="0">
                <a:solidFill>
                  <a:srgbClr val="000000"/>
                </a:solidFill>
                <a:effectLst/>
                <a:latin typeface="Consolas" panose="020B0609020204030204" pitchFamily="49" charset="0"/>
              </a:rPr>
              <a:t>);</a:t>
            </a:r>
          </a:p>
        </p:txBody>
      </p:sp>
      <p:sp>
        <p:nvSpPr>
          <p:cNvPr id="5" name="TextBox 4">
            <a:extLst>
              <a:ext uri="{FF2B5EF4-FFF2-40B4-BE49-F238E27FC236}">
                <a16:creationId xmlns:a16="http://schemas.microsoft.com/office/drawing/2014/main" id="{1BA51ED7-C0A5-9186-5199-CA2FCA0055C8}"/>
              </a:ext>
            </a:extLst>
          </p:cNvPr>
          <p:cNvSpPr txBox="1"/>
          <p:nvPr/>
        </p:nvSpPr>
        <p:spPr>
          <a:xfrm>
            <a:off x="9864773" y="1347019"/>
            <a:ext cx="2402759"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Tag, </a:t>
            </a:r>
            <a:r>
              <a:rPr kumimoji="0" lang="en-US" sz="18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css</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data</a:t>
            </a:r>
          </a:p>
        </p:txBody>
      </p:sp>
    </p:spTree>
    <p:extLst>
      <p:ext uri="{BB962C8B-B14F-4D97-AF65-F5344CB8AC3E}">
        <p14:creationId xmlns:p14="http://schemas.microsoft.com/office/powerpoint/2010/main" val="36407895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0EF9A6F-C11A-F2FA-EA8F-9DD40AA1EA4E}"/>
              </a:ext>
            </a:extLst>
          </p:cNvPr>
          <p:cNvSpPr txBox="1"/>
          <p:nvPr/>
        </p:nvSpPr>
        <p:spPr>
          <a:xfrm>
            <a:off x="1435510" y="511894"/>
            <a:ext cx="9871587" cy="5632311"/>
          </a:xfrm>
          <a:prstGeom prst="rect">
            <a:avLst/>
          </a:prstGeom>
          <a:noFill/>
        </p:spPr>
        <p:txBody>
          <a:bodyPr wrap="square">
            <a:spAutoFit/>
          </a:bodyPr>
          <a:lstStyle/>
          <a:p>
            <a:r>
              <a:rPr lang="en-IN" b="0" dirty="0">
                <a:solidFill>
                  <a:srgbClr val="AF00DB"/>
                </a:solidFill>
                <a:effectLst/>
                <a:latin typeface="Consolas" panose="020B0609020204030204" pitchFamily="49" charset="0"/>
              </a:rPr>
              <a:t>import</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React</a:t>
            </a:r>
            <a:r>
              <a:rPr lang="en-IN" b="0" dirty="0">
                <a:solidFill>
                  <a:srgbClr val="000000"/>
                </a:solidFill>
                <a:effectLst/>
                <a:latin typeface="Consolas" panose="020B0609020204030204" pitchFamily="49" charset="0"/>
              </a:rPr>
              <a:t> </a:t>
            </a:r>
            <a:r>
              <a:rPr lang="en-IN" b="0" dirty="0">
                <a:solidFill>
                  <a:srgbClr val="AF00DB"/>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'react'</a:t>
            </a:r>
            <a:r>
              <a:rPr lang="en-IN" b="0" dirty="0">
                <a:solidFill>
                  <a:srgbClr val="000000"/>
                </a:solidFill>
                <a:effectLst/>
                <a:latin typeface="Consolas" panose="020B0609020204030204" pitchFamily="49" charset="0"/>
              </a:rPr>
              <a:t>;</a:t>
            </a:r>
          </a:p>
          <a:p>
            <a:r>
              <a:rPr lang="en-US" b="0" dirty="0">
                <a:solidFill>
                  <a:srgbClr val="AF00DB"/>
                </a:solidFill>
                <a:effectLst/>
                <a:latin typeface="Consolas" panose="020B0609020204030204" pitchFamily="49" charset="0"/>
              </a:rPr>
              <a:t>import</a:t>
            </a:r>
            <a:r>
              <a:rPr lang="en-US" b="0" dirty="0">
                <a:solidFill>
                  <a:srgbClr val="3B3B3B"/>
                </a:solidFill>
                <a:effectLst/>
                <a:latin typeface="Consolas" panose="020B0609020204030204" pitchFamily="49" charset="0"/>
              </a:rPr>
              <a:t> { </a:t>
            </a:r>
            <a:r>
              <a:rPr lang="en-US" b="0" dirty="0" err="1">
                <a:solidFill>
                  <a:srgbClr val="001080"/>
                </a:solidFill>
                <a:effectLst/>
                <a:latin typeface="Consolas" panose="020B0609020204030204" pitchFamily="49" charset="0"/>
              </a:rPr>
              <a:t>createRoot</a:t>
            </a:r>
            <a:r>
              <a:rPr lang="en-US" b="0" dirty="0">
                <a:solidFill>
                  <a:srgbClr val="3B3B3B"/>
                </a:solidFill>
                <a:effectLst/>
                <a:latin typeface="Consolas" panose="020B0609020204030204" pitchFamily="49" charset="0"/>
              </a:rPr>
              <a:t> } </a:t>
            </a:r>
            <a:r>
              <a:rPr lang="en-US" b="0" dirty="0">
                <a:solidFill>
                  <a:srgbClr val="AF00DB"/>
                </a:solidFill>
                <a:effectLst/>
                <a:latin typeface="Consolas" panose="020B0609020204030204" pitchFamily="49" charset="0"/>
              </a:rPr>
              <a:t>from</a:t>
            </a:r>
            <a:r>
              <a:rPr lang="en-US" b="0" dirty="0">
                <a:solidFill>
                  <a:srgbClr val="3B3B3B"/>
                </a:solidFill>
                <a:effectLst/>
                <a:latin typeface="Consolas" panose="020B0609020204030204" pitchFamily="49" charset="0"/>
              </a:rPr>
              <a:t> </a:t>
            </a:r>
            <a:r>
              <a:rPr lang="en-US" b="0" dirty="0">
                <a:solidFill>
                  <a:srgbClr val="A31515"/>
                </a:solidFill>
                <a:effectLst/>
                <a:latin typeface="Consolas" panose="020B0609020204030204" pitchFamily="49" charset="0"/>
              </a:rPr>
              <a:t>'react-</a:t>
            </a:r>
            <a:r>
              <a:rPr lang="en-US" b="0" dirty="0" err="1">
                <a:solidFill>
                  <a:srgbClr val="A31515"/>
                </a:solidFill>
                <a:effectLst/>
                <a:latin typeface="Consolas" panose="020B0609020204030204" pitchFamily="49" charset="0"/>
              </a:rPr>
              <a:t>dom</a:t>
            </a:r>
            <a:r>
              <a:rPr lang="en-US" b="0" dirty="0">
                <a:solidFill>
                  <a:srgbClr val="A31515"/>
                </a:solidFill>
                <a:effectLst/>
                <a:latin typeface="Consolas" panose="020B0609020204030204" pitchFamily="49" charset="0"/>
              </a:rPr>
              <a:t>/client'</a:t>
            </a:r>
            <a:r>
              <a:rPr lang="en-US" b="0" dirty="0">
                <a:solidFill>
                  <a:srgbClr val="3B3B3B"/>
                </a:solidFill>
                <a:effectLst/>
                <a:latin typeface="Consolas" panose="020B0609020204030204" pitchFamily="49" charset="0"/>
              </a:rPr>
              <a:t> </a:t>
            </a:r>
          </a:p>
          <a:p>
            <a:r>
              <a:rPr lang="en-IN" b="0" dirty="0">
                <a:solidFill>
                  <a:srgbClr val="AF00DB"/>
                </a:solidFill>
                <a:effectLst/>
                <a:latin typeface="Consolas" panose="020B0609020204030204" pitchFamily="49" charset="0"/>
              </a:rPr>
              <a:t>import</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'./index.css'</a:t>
            </a:r>
            <a:r>
              <a:rPr lang="en-IN" b="0" dirty="0">
                <a:solidFill>
                  <a:srgbClr val="000000"/>
                </a:solidFill>
                <a:effectLst/>
                <a:latin typeface="Consolas" panose="020B0609020204030204" pitchFamily="49" charset="0"/>
              </a:rPr>
              <a:t>;</a:t>
            </a:r>
          </a:p>
          <a:p>
            <a:r>
              <a:rPr lang="en-IN" b="0" dirty="0">
                <a:solidFill>
                  <a:srgbClr val="AF00DB"/>
                </a:solidFill>
                <a:effectLst/>
                <a:latin typeface="Consolas" panose="020B0609020204030204" pitchFamily="49" charset="0"/>
              </a:rPr>
              <a:t>import</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App</a:t>
            </a:r>
            <a:r>
              <a:rPr lang="en-IN" b="0" dirty="0">
                <a:solidFill>
                  <a:srgbClr val="000000"/>
                </a:solidFill>
                <a:effectLst/>
                <a:latin typeface="Consolas" panose="020B0609020204030204" pitchFamily="49" charset="0"/>
              </a:rPr>
              <a:t> </a:t>
            </a:r>
            <a:r>
              <a:rPr lang="en-IN" b="0" dirty="0">
                <a:solidFill>
                  <a:srgbClr val="AF00DB"/>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'./App'</a:t>
            </a:r>
            <a:r>
              <a:rPr lang="en-IN" b="0" dirty="0">
                <a:solidFill>
                  <a:srgbClr val="000000"/>
                </a:solidFill>
                <a:effectLst/>
                <a:latin typeface="Consolas" panose="020B0609020204030204" pitchFamily="49" charset="0"/>
              </a:rPr>
              <a:t>;</a:t>
            </a:r>
          </a:p>
          <a:p>
            <a:r>
              <a:rPr lang="en-IN" b="0" dirty="0">
                <a:solidFill>
                  <a:srgbClr val="AF00DB"/>
                </a:solidFill>
                <a:effectLst/>
                <a:latin typeface="Consolas" panose="020B0609020204030204" pitchFamily="49" charset="0"/>
              </a:rPr>
              <a:t>import</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reportWebVitals</a:t>
            </a:r>
            <a:r>
              <a:rPr lang="en-IN" b="0" dirty="0">
                <a:solidFill>
                  <a:srgbClr val="000000"/>
                </a:solidFill>
                <a:effectLst/>
                <a:latin typeface="Consolas" panose="020B0609020204030204" pitchFamily="49" charset="0"/>
              </a:rPr>
              <a:t> </a:t>
            </a:r>
            <a:r>
              <a:rPr lang="en-IN" b="0" dirty="0">
                <a:solidFill>
                  <a:srgbClr val="AF00DB"/>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reportWebVitals</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a:t>
            </a:r>
          </a:p>
          <a:p>
            <a:pPr algn="ctr"/>
            <a:br>
              <a:rPr lang="en-IN" b="0" dirty="0">
                <a:solidFill>
                  <a:srgbClr val="000000"/>
                </a:solidFill>
                <a:effectLst/>
                <a:latin typeface="Consolas" panose="020B0609020204030204" pitchFamily="49" charset="0"/>
              </a:rPr>
            </a:br>
            <a:r>
              <a:rPr lang="en-IN" b="0" dirty="0" err="1">
                <a:solidFill>
                  <a:srgbClr val="0000FF"/>
                </a:solidFill>
                <a:effectLst/>
                <a:latin typeface="Consolas" panose="020B0609020204030204" pitchFamily="49" charset="0"/>
              </a:rPr>
              <a:t>const</a:t>
            </a:r>
            <a:r>
              <a:rPr lang="en-IN" b="0" dirty="0">
                <a:solidFill>
                  <a:srgbClr val="000000"/>
                </a:solidFill>
                <a:effectLst/>
                <a:latin typeface="Consolas" panose="020B0609020204030204" pitchFamily="49" charset="0"/>
              </a:rPr>
              <a:t> </a:t>
            </a:r>
            <a:r>
              <a:rPr lang="en-IN" b="0" dirty="0">
                <a:solidFill>
                  <a:srgbClr val="0070C1"/>
                </a:solidFill>
                <a:effectLst/>
                <a:latin typeface="Consolas" panose="020B0609020204030204" pitchFamily="49" charset="0"/>
              </a:rPr>
              <a:t>root</a:t>
            </a:r>
            <a:r>
              <a:rPr lang="en-IN" b="0" dirty="0">
                <a:solidFill>
                  <a:srgbClr val="000000"/>
                </a:solidFill>
                <a:effectLst/>
                <a:latin typeface="Consolas" panose="020B0609020204030204" pitchFamily="49" charset="0"/>
              </a:rPr>
              <a:t> = </a:t>
            </a:r>
            <a:r>
              <a:rPr lang="en-IN" b="0" dirty="0" err="1">
                <a:solidFill>
                  <a:srgbClr val="795E26"/>
                </a:solidFill>
                <a:effectLst/>
                <a:latin typeface="Consolas" panose="020B0609020204030204" pitchFamily="49" charset="0"/>
              </a:rPr>
              <a:t>createRoot</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getElementById</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'root'</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err="1">
                <a:solidFill>
                  <a:srgbClr val="0070C1"/>
                </a:solidFill>
                <a:effectLst/>
                <a:latin typeface="Consolas" panose="020B0609020204030204" pitchFamily="49" charset="0"/>
              </a:rPr>
              <a:t>root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render</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a:t>
            </a:r>
            <a:r>
              <a:rPr lang="en-IN" b="0" dirty="0" err="1">
                <a:solidFill>
                  <a:srgbClr val="267F99"/>
                </a:solidFill>
                <a:effectLst/>
                <a:latin typeface="Consolas" panose="020B0609020204030204" pitchFamily="49" charset="0"/>
              </a:rPr>
              <a:t>React.StrictMode</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a:t>
            </a:r>
            <a:r>
              <a:rPr lang="en-IN" b="0" dirty="0">
                <a:solidFill>
                  <a:srgbClr val="267F99"/>
                </a:solidFill>
                <a:effectLst/>
                <a:latin typeface="Consolas" panose="020B0609020204030204" pitchFamily="49" charset="0"/>
              </a:rPr>
              <a:t>App</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a:t>
            </a:r>
            <a:r>
              <a:rPr lang="en-IN" b="0" dirty="0" err="1">
                <a:solidFill>
                  <a:srgbClr val="267F99"/>
                </a:solidFill>
                <a:effectLst/>
                <a:latin typeface="Consolas" panose="020B0609020204030204" pitchFamily="49" charset="0"/>
              </a:rPr>
              <a:t>React.StrictMode</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008000"/>
                </a:solidFill>
                <a:effectLst/>
                <a:latin typeface="Consolas" panose="020B0609020204030204" pitchFamily="49" charset="0"/>
              </a:rPr>
              <a:t>// If you want to start measuring performance in your app, pass a function</a:t>
            </a:r>
            <a:endParaRPr lang="en-IN" b="0" dirty="0">
              <a:solidFill>
                <a:srgbClr val="000000"/>
              </a:solidFill>
              <a:effectLst/>
              <a:latin typeface="Consolas" panose="020B0609020204030204" pitchFamily="49" charset="0"/>
            </a:endParaRPr>
          </a:p>
          <a:p>
            <a:r>
              <a:rPr lang="en-IN" b="0" dirty="0">
                <a:solidFill>
                  <a:srgbClr val="008000"/>
                </a:solidFill>
                <a:effectLst/>
                <a:latin typeface="Consolas" panose="020B0609020204030204" pitchFamily="49" charset="0"/>
              </a:rPr>
              <a:t>// to log results (for example: </a:t>
            </a:r>
            <a:r>
              <a:rPr lang="en-IN" b="0" dirty="0" err="1">
                <a:solidFill>
                  <a:srgbClr val="008000"/>
                </a:solidFill>
                <a:effectLst/>
                <a:latin typeface="Consolas" panose="020B0609020204030204" pitchFamily="49" charset="0"/>
              </a:rPr>
              <a:t>reportWebVitals</a:t>
            </a:r>
            <a:r>
              <a:rPr lang="en-IN" b="0" dirty="0">
                <a:solidFill>
                  <a:srgbClr val="008000"/>
                </a:solidFill>
                <a:effectLst/>
                <a:latin typeface="Consolas" panose="020B0609020204030204" pitchFamily="49" charset="0"/>
              </a:rPr>
              <a:t>(console.log))</a:t>
            </a:r>
            <a:endParaRPr lang="en-IN" b="0" dirty="0">
              <a:solidFill>
                <a:srgbClr val="000000"/>
              </a:solidFill>
              <a:effectLst/>
              <a:latin typeface="Consolas" panose="020B0609020204030204" pitchFamily="49" charset="0"/>
            </a:endParaRPr>
          </a:p>
          <a:p>
            <a:r>
              <a:rPr lang="en-IN" b="0" dirty="0">
                <a:solidFill>
                  <a:srgbClr val="008000"/>
                </a:solidFill>
                <a:effectLst/>
                <a:latin typeface="Consolas" panose="020B0609020204030204" pitchFamily="49" charset="0"/>
              </a:rPr>
              <a:t>// or send to an analytics endpoint. Learn more: https://bit.ly/CRA-vitals</a:t>
            </a:r>
            <a:endParaRPr lang="en-IN" b="0" dirty="0">
              <a:solidFill>
                <a:srgbClr val="000000"/>
              </a:solidFill>
              <a:effectLst/>
              <a:latin typeface="Consolas" panose="020B0609020204030204" pitchFamily="49" charset="0"/>
            </a:endParaRPr>
          </a:p>
          <a:p>
            <a:r>
              <a:rPr lang="en-IN" b="0" dirty="0" err="1">
                <a:solidFill>
                  <a:srgbClr val="795E26"/>
                </a:solidFill>
                <a:effectLst/>
                <a:latin typeface="Consolas" panose="020B0609020204030204" pitchFamily="49" charset="0"/>
              </a:rPr>
              <a:t>reportWebVitals</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endParaRPr lang="en-IN"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25882872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A7158B8-53C4-1343-FE12-CAA14C2AB070}"/>
              </a:ext>
            </a:extLst>
          </p:cNvPr>
          <p:cNvSpPr txBox="1"/>
          <p:nvPr/>
        </p:nvSpPr>
        <p:spPr>
          <a:xfrm>
            <a:off x="275304" y="765671"/>
            <a:ext cx="11916696" cy="3970318"/>
          </a:xfrm>
          <a:prstGeom prst="rect">
            <a:avLst/>
          </a:prstGeom>
          <a:noFill/>
        </p:spPr>
        <p:txBody>
          <a:bodyPr wrap="square">
            <a:spAutoFit/>
          </a:bodyPr>
          <a:lstStyle/>
          <a:p>
            <a:pPr algn="l"/>
            <a:r>
              <a:rPr lang="en-US" b="0" i="0" dirty="0">
                <a:solidFill>
                  <a:srgbClr val="202124"/>
                </a:solidFill>
                <a:effectLst/>
                <a:latin typeface="arial" panose="020B0604020202020204" pitchFamily="34" charset="0"/>
              </a:rPr>
              <a:t>What is </a:t>
            </a:r>
            <a:r>
              <a:rPr lang="en-US" b="0" i="0" dirty="0" err="1">
                <a:solidFill>
                  <a:srgbClr val="202124"/>
                </a:solidFill>
                <a:effectLst/>
                <a:latin typeface="arial" panose="020B0604020202020204" pitchFamily="34" charset="0"/>
              </a:rPr>
              <a:t>ReactDOM</a:t>
            </a:r>
            <a:r>
              <a:rPr lang="en-US" b="0" i="0" dirty="0">
                <a:solidFill>
                  <a:srgbClr val="202124"/>
                </a:solidFill>
                <a:effectLst/>
                <a:latin typeface="arial" panose="020B0604020202020204" pitchFamily="34" charset="0"/>
              </a:rPr>
              <a:t> </a:t>
            </a:r>
            <a:r>
              <a:rPr lang="en-US" b="0" i="0" dirty="0" err="1">
                <a:solidFill>
                  <a:srgbClr val="202124"/>
                </a:solidFill>
                <a:effectLst/>
                <a:latin typeface="arial" panose="020B0604020202020204" pitchFamily="34" charset="0"/>
              </a:rPr>
              <a:t>createRoot</a:t>
            </a:r>
            <a:r>
              <a:rPr lang="en-US" b="0" i="0" dirty="0">
                <a:solidFill>
                  <a:srgbClr val="202124"/>
                </a:solidFill>
                <a:effectLst/>
                <a:latin typeface="arial" panose="020B0604020202020204" pitchFamily="34" charset="0"/>
              </a:rPr>
              <a:t> ()?</a:t>
            </a:r>
          </a:p>
          <a:p>
            <a:pPr algn="l"/>
            <a:endParaRPr lang="en-US" dirty="0">
              <a:solidFill>
                <a:srgbClr val="202124"/>
              </a:solidFill>
              <a:latin typeface="arial" panose="020B0604020202020204" pitchFamily="34" charset="0"/>
            </a:endParaRPr>
          </a:p>
          <a:p>
            <a:pPr algn="l"/>
            <a:endParaRPr lang="en-US" b="0" i="0" dirty="0">
              <a:solidFill>
                <a:srgbClr val="202124"/>
              </a:solidFill>
              <a:effectLst/>
              <a:latin typeface="arial" panose="020B0604020202020204" pitchFamily="34" charset="0"/>
            </a:endParaRPr>
          </a:p>
          <a:p>
            <a:pPr algn="l"/>
            <a:r>
              <a:rPr lang="en-US" b="0" i="0" dirty="0" err="1">
                <a:solidFill>
                  <a:srgbClr val="202124"/>
                </a:solidFill>
                <a:effectLst/>
                <a:latin typeface="arial" panose="020B0604020202020204" pitchFamily="34" charset="0"/>
              </a:rPr>
              <a:t>createRoot</a:t>
            </a:r>
            <a:r>
              <a:rPr lang="en-US" b="0" i="0" dirty="0">
                <a:solidFill>
                  <a:srgbClr val="202124"/>
                </a:solidFill>
                <a:effectLst/>
                <a:latin typeface="arial" panose="020B0604020202020204" pitchFamily="34" charset="0"/>
              </a:rPr>
              <a:t>(container[, options]); </a:t>
            </a:r>
            <a:r>
              <a:rPr lang="en-US" b="1" i="0" dirty="0">
                <a:solidFill>
                  <a:srgbClr val="202124"/>
                </a:solidFill>
                <a:effectLst/>
                <a:latin typeface="arial" panose="020B0604020202020204" pitchFamily="34" charset="0"/>
              </a:rPr>
              <a:t>Create a React root for the supplied container and return the root</a:t>
            </a:r>
            <a:r>
              <a:rPr lang="en-US" b="0" i="0" dirty="0">
                <a:solidFill>
                  <a:srgbClr val="202124"/>
                </a:solidFill>
                <a:effectLst/>
                <a:latin typeface="arial" panose="020B0604020202020204" pitchFamily="34" charset="0"/>
              </a:rPr>
              <a:t>. The root can be used to render a React element into the DOM with render : </a:t>
            </a:r>
            <a:endParaRPr lang="en-US" dirty="0">
              <a:solidFill>
                <a:srgbClr val="202124"/>
              </a:solidFill>
              <a:latin typeface="arial" panose="020B0604020202020204" pitchFamily="34" charset="0"/>
            </a:endParaRPr>
          </a:p>
          <a:p>
            <a:pPr algn="l"/>
            <a:endParaRPr lang="en-US" b="0" dirty="0">
              <a:solidFill>
                <a:srgbClr val="202124"/>
              </a:solidFill>
              <a:effectLst/>
              <a:latin typeface="arial" panose="020B0604020202020204" pitchFamily="34" charset="0"/>
            </a:endParaRPr>
          </a:p>
          <a:p>
            <a:pPr algn="l"/>
            <a:endParaRPr lang="en-US" dirty="0">
              <a:solidFill>
                <a:srgbClr val="202124"/>
              </a:solidFill>
              <a:latin typeface="arial" panose="020B0604020202020204" pitchFamily="34" charset="0"/>
            </a:endParaRPr>
          </a:p>
          <a:p>
            <a:pPr algn="l"/>
            <a:r>
              <a:rPr lang="en-IN" b="0" dirty="0" err="1">
                <a:solidFill>
                  <a:srgbClr val="0000FF"/>
                </a:solidFill>
                <a:effectLst/>
                <a:latin typeface="Consolas" panose="020B0609020204030204" pitchFamily="49" charset="0"/>
              </a:rPr>
              <a:t>const</a:t>
            </a:r>
            <a:r>
              <a:rPr lang="en-IN" b="0" dirty="0">
                <a:solidFill>
                  <a:srgbClr val="000000"/>
                </a:solidFill>
                <a:effectLst/>
                <a:latin typeface="Consolas" panose="020B0609020204030204" pitchFamily="49" charset="0"/>
              </a:rPr>
              <a:t> </a:t>
            </a:r>
            <a:r>
              <a:rPr lang="en-IN" b="0" dirty="0">
                <a:solidFill>
                  <a:srgbClr val="0070C1"/>
                </a:solidFill>
                <a:effectLst/>
                <a:latin typeface="Consolas" panose="020B0609020204030204" pitchFamily="49" charset="0"/>
              </a:rPr>
              <a:t>root</a:t>
            </a:r>
            <a:r>
              <a:rPr lang="en-IN" b="0" dirty="0">
                <a:solidFill>
                  <a:srgbClr val="000000"/>
                </a:solidFill>
                <a:effectLst/>
                <a:latin typeface="Consolas" panose="020B0609020204030204" pitchFamily="49" charset="0"/>
              </a:rPr>
              <a:t> = </a:t>
            </a:r>
            <a:r>
              <a:rPr lang="en-IN" b="0" dirty="0" err="1">
                <a:solidFill>
                  <a:srgbClr val="795E26"/>
                </a:solidFill>
                <a:effectLst/>
                <a:latin typeface="Consolas" panose="020B0609020204030204" pitchFamily="49" charset="0"/>
              </a:rPr>
              <a:t>createRoot</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getElementById</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'root'</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err="1">
                <a:solidFill>
                  <a:srgbClr val="0070C1"/>
                </a:solidFill>
                <a:effectLst/>
                <a:latin typeface="Consolas" panose="020B0609020204030204" pitchFamily="49" charset="0"/>
              </a:rPr>
              <a:t>root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render</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a:t>
            </a:r>
            <a:r>
              <a:rPr lang="en-IN" b="0" dirty="0" err="1">
                <a:solidFill>
                  <a:srgbClr val="267F99"/>
                </a:solidFill>
                <a:effectLst/>
                <a:latin typeface="Consolas" panose="020B0609020204030204" pitchFamily="49" charset="0"/>
              </a:rPr>
              <a:t>React.StrictMode</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a:t>
            </a:r>
            <a:r>
              <a:rPr lang="en-IN" b="0" dirty="0">
                <a:solidFill>
                  <a:srgbClr val="267F99"/>
                </a:solidFill>
                <a:effectLst/>
                <a:latin typeface="Consolas" panose="020B0609020204030204" pitchFamily="49" charset="0"/>
              </a:rPr>
              <a:t>App</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a:t>
            </a:r>
            <a:r>
              <a:rPr lang="en-IN" b="0" dirty="0" err="1">
                <a:solidFill>
                  <a:srgbClr val="267F99"/>
                </a:solidFill>
                <a:effectLst/>
                <a:latin typeface="Consolas" panose="020B0609020204030204" pitchFamily="49" charset="0"/>
              </a:rPr>
              <a:t>React.StrictMode</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7629184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E4DB0D0-71C9-F0B2-EEA6-A8A57996DE1C}"/>
              </a:ext>
            </a:extLst>
          </p:cNvPr>
          <p:cNvSpPr txBox="1"/>
          <p:nvPr/>
        </p:nvSpPr>
        <p:spPr>
          <a:xfrm>
            <a:off x="1278194" y="1"/>
            <a:ext cx="10461522" cy="5909310"/>
          </a:xfrm>
          <a:prstGeom prst="rect">
            <a:avLst/>
          </a:prstGeom>
          <a:noFill/>
        </p:spPr>
        <p:txBody>
          <a:bodyPr wrap="square">
            <a:spAutoFit/>
          </a:bodyPr>
          <a:lstStyle/>
          <a:p>
            <a:r>
              <a:rPr lang="en-IN" b="0" dirty="0">
                <a:solidFill>
                  <a:srgbClr val="AF00DB"/>
                </a:solidFill>
                <a:effectLst/>
                <a:latin typeface="Consolas" panose="020B0609020204030204" pitchFamily="49" charset="0"/>
              </a:rPr>
              <a:t>import</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React</a:t>
            </a:r>
            <a:r>
              <a:rPr lang="en-IN" b="0" dirty="0">
                <a:solidFill>
                  <a:srgbClr val="000000"/>
                </a:solidFill>
                <a:effectLst/>
                <a:latin typeface="Consolas" panose="020B0609020204030204" pitchFamily="49" charset="0"/>
              </a:rPr>
              <a:t> </a:t>
            </a:r>
            <a:r>
              <a:rPr lang="en-IN" b="0" dirty="0">
                <a:solidFill>
                  <a:srgbClr val="AF00DB"/>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'react'</a:t>
            </a:r>
            <a:r>
              <a:rPr lang="en-IN" b="0" dirty="0">
                <a:solidFill>
                  <a:srgbClr val="000000"/>
                </a:solidFill>
                <a:effectLst/>
                <a:latin typeface="Consolas" panose="020B0609020204030204" pitchFamily="49" charset="0"/>
              </a:rPr>
              <a:t>;</a:t>
            </a:r>
          </a:p>
          <a:p>
            <a:r>
              <a:rPr lang="en-IN" b="0" dirty="0">
                <a:solidFill>
                  <a:srgbClr val="AF00DB"/>
                </a:solidFill>
                <a:effectLst/>
                <a:latin typeface="Consolas" panose="020B0609020204030204" pitchFamily="49" charset="0"/>
              </a:rPr>
              <a:t>import</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ReactDOM</a:t>
            </a:r>
            <a:r>
              <a:rPr lang="en-IN" b="0" dirty="0">
                <a:solidFill>
                  <a:srgbClr val="000000"/>
                </a:solidFill>
                <a:effectLst/>
                <a:latin typeface="Consolas" panose="020B0609020204030204" pitchFamily="49" charset="0"/>
              </a:rPr>
              <a:t> </a:t>
            </a:r>
            <a:r>
              <a:rPr lang="en-IN" b="0" dirty="0">
                <a:solidFill>
                  <a:srgbClr val="AF00DB"/>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'react-</a:t>
            </a:r>
            <a:r>
              <a:rPr lang="en-IN" b="0" dirty="0" err="1">
                <a:solidFill>
                  <a:srgbClr val="A31515"/>
                </a:solidFill>
                <a:effectLst/>
                <a:latin typeface="Consolas" panose="020B0609020204030204" pitchFamily="49" charset="0"/>
              </a:rPr>
              <a:t>dom</a:t>
            </a:r>
            <a:r>
              <a:rPr lang="en-IN" b="0" dirty="0">
                <a:solidFill>
                  <a:srgbClr val="A31515"/>
                </a:solidFill>
                <a:effectLst/>
                <a:latin typeface="Consolas" panose="020B0609020204030204" pitchFamily="49" charset="0"/>
              </a:rPr>
              <a:t>/client’</a:t>
            </a:r>
            <a:r>
              <a:rPr lang="en-IN" b="0" dirty="0">
                <a:solidFill>
                  <a:srgbClr val="000000"/>
                </a:solidFill>
                <a:effectLst/>
                <a:latin typeface="Consolas" panose="020B0609020204030204" pitchFamily="49" charset="0"/>
              </a:rPr>
              <a:t>;</a:t>
            </a:r>
          </a:p>
          <a:p>
            <a:r>
              <a:rPr lang="en-US" b="0" dirty="0">
                <a:solidFill>
                  <a:srgbClr val="AF00DB"/>
                </a:solidFill>
                <a:effectLst/>
                <a:latin typeface="Consolas" panose="020B0609020204030204" pitchFamily="49" charset="0"/>
              </a:rPr>
              <a:t>import</a:t>
            </a:r>
            <a:r>
              <a:rPr lang="en-US" b="0" dirty="0">
                <a:solidFill>
                  <a:srgbClr val="3B3B3B"/>
                </a:solidFill>
                <a:effectLst/>
                <a:latin typeface="Consolas" panose="020B0609020204030204" pitchFamily="49" charset="0"/>
              </a:rPr>
              <a:t> { </a:t>
            </a:r>
            <a:r>
              <a:rPr lang="en-US" b="0" dirty="0" err="1">
                <a:solidFill>
                  <a:srgbClr val="001080"/>
                </a:solidFill>
                <a:effectLst/>
                <a:latin typeface="Consolas" panose="020B0609020204030204" pitchFamily="49" charset="0"/>
              </a:rPr>
              <a:t>createRoot</a:t>
            </a:r>
            <a:r>
              <a:rPr lang="en-US" b="0" dirty="0">
                <a:solidFill>
                  <a:srgbClr val="3B3B3B"/>
                </a:solidFill>
                <a:effectLst/>
                <a:latin typeface="Consolas" panose="020B0609020204030204" pitchFamily="49" charset="0"/>
              </a:rPr>
              <a:t> } </a:t>
            </a:r>
            <a:r>
              <a:rPr lang="en-US" b="0" dirty="0">
                <a:solidFill>
                  <a:srgbClr val="AF00DB"/>
                </a:solidFill>
                <a:effectLst/>
                <a:latin typeface="Consolas" panose="020B0609020204030204" pitchFamily="49" charset="0"/>
              </a:rPr>
              <a:t>from</a:t>
            </a:r>
            <a:r>
              <a:rPr lang="en-US" b="0" dirty="0">
                <a:solidFill>
                  <a:srgbClr val="3B3B3B"/>
                </a:solidFill>
                <a:effectLst/>
                <a:latin typeface="Consolas" panose="020B0609020204030204" pitchFamily="49" charset="0"/>
              </a:rPr>
              <a:t> </a:t>
            </a:r>
            <a:r>
              <a:rPr lang="en-US" b="0" dirty="0">
                <a:solidFill>
                  <a:srgbClr val="A31515"/>
                </a:solidFill>
                <a:effectLst/>
                <a:latin typeface="Consolas" panose="020B0609020204030204" pitchFamily="49" charset="0"/>
              </a:rPr>
              <a:t>'react-</a:t>
            </a:r>
            <a:r>
              <a:rPr lang="en-US" b="0" dirty="0" err="1">
                <a:solidFill>
                  <a:srgbClr val="A31515"/>
                </a:solidFill>
                <a:effectLst/>
                <a:latin typeface="Consolas" panose="020B0609020204030204" pitchFamily="49" charset="0"/>
              </a:rPr>
              <a:t>dom</a:t>
            </a:r>
            <a:r>
              <a:rPr lang="en-US" b="0" dirty="0">
                <a:solidFill>
                  <a:srgbClr val="A31515"/>
                </a:solidFill>
                <a:effectLst/>
                <a:latin typeface="Consolas" panose="020B0609020204030204" pitchFamily="49" charset="0"/>
              </a:rPr>
              <a:t>/client'</a:t>
            </a:r>
            <a:r>
              <a:rPr lang="en-US" b="0" dirty="0">
                <a:solidFill>
                  <a:srgbClr val="3B3B3B"/>
                </a:solidFill>
                <a:effectLst/>
                <a:latin typeface="Consolas" panose="020B0609020204030204" pitchFamily="49" charset="0"/>
              </a:rPr>
              <a:t> </a:t>
            </a:r>
          </a:p>
          <a:p>
            <a:r>
              <a:rPr lang="en-IN" b="0" dirty="0">
                <a:solidFill>
                  <a:srgbClr val="AF00DB"/>
                </a:solidFill>
                <a:effectLst/>
                <a:latin typeface="Consolas" panose="020B0609020204030204" pitchFamily="49" charset="0"/>
              </a:rPr>
              <a:t>import</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'./index.css'</a:t>
            </a:r>
            <a:r>
              <a:rPr lang="en-IN" b="0" dirty="0">
                <a:solidFill>
                  <a:srgbClr val="000000"/>
                </a:solidFill>
                <a:effectLst/>
                <a:latin typeface="Consolas" panose="020B0609020204030204" pitchFamily="49" charset="0"/>
              </a:rPr>
              <a:t>;</a:t>
            </a:r>
          </a:p>
          <a:p>
            <a:r>
              <a:rPr lang="en-IN" b="0" dirty="0">
                <a:solidFill>
                  <a:srgbClr val="AF00DB"/>
                </a:solidFill>
                <a:effectLst/>
                <a:latin typeface="Consolas" panose="020B0609020204030204" pitchFamily="49" charset="0"/>
              </a:rPr>
              <a:t>import</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App</a:t>
            </a:r>
            <a:r>
              <a:rPr lang="en-IN" b="0" dirty="0">
                <a:solidFill>
                  <a:srgbClr val="000000"/>
                </a:solidFill>
                <a:effectLst/>
                <a:latin typeface="Consolas" panose="020B0609020204030204" pitchFamily="49" charset="0"/>
              </a:rPr>
              <a:t> </a:t>
            </a:r>
            <a:r>
              <a:rPr lang="en-IN" b="0" dirty="0">
                <a:solidFill>
                  <a:srgbClr val="AF00DB"/>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'./App'</a:t>
            </a:r>
            <a:r>
              <a:rPr lang="en-IN" b="0" dirty="0">
                <a:solidFill>
                  <a:srgbClr val="000000"/>
                </a:solidFill>
                <a:effectLst/>
                <a:latin typeface="Consolas" panose="020B0609020204030204" pitchFamily="49" charset="0"/>
              </a:rPr>
              <a:t>;</a:t>
            </a:r>
          </a:p>
          <a:p>
            <a:r>
              <a:rPr lang="en-IN" b="0" dirty="0">
                <a:solidFill>
                  <a:srgbClr val="AF00DB"/>
                </a:solidFill>
                <a:effectLst/>
                <a:latin typeface="Consolas" panose="020B0609020204030204" pitchFamily="49" charset="0"/>
              </a:rPr>
              <a:t>import</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reportWebVitals</a:t>
            </a:r>
            <a:r>
              <a:rPr lang="en-IN" b="0" dirty="0">
                <a:solidFill>
                  <a:srgbClr val="000000"/>
                </a:solidFill>
                <a:effectLst/>
                <a:latin typeface="Consolas" panose="020B0609020204030204" pitchFamily="49" charset="0"/>
              </a:rPr>
              <a:t> </a:t>
            </a:r>
            <a:r>
              <a:rPr lang="en-IN" b="0" dirty="0">
                <a:solidFill>
                  <a:srgbClr val="AF00DB"/>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reportWebVitals</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a:t>
            </a:r>
          </a:p>
          <a:p>
            <a:endParaRPr lang="en-IN" b="0" dirty="0">
              <a:solidFill>
                <a:srgbClr val="000000"/>
              </a:solidFill>
              <a:effectLst/>
              <a:latin typeface="Consolas" panose="020B0609020204030204" pitchFamily="49" charset="0"/>
            </a:endParaRPr>
          </a:p>
          <a:p>
            <a:r>
              <a:rPr lang="en-IN" b="0" dirty="0" err="1">
                <a:solidFill>
                  <a:srgbClr val="0000FF"/>
                </a:solidFill>
                <a:effectLst/>
                <a:latin typeface="Consolas" panose="020B0609020204030204" pitchFamily="49" charset="0"/>
              </a:rPr>
              <a:t>const</a:t>
            </a:r>
            <a:r>
              <a:rPr lang="en-IN" b="0" dirty="0">
                <a:solidFill>
                  <a:srgbClr val="000000"/>
                </a:solidFill>
                <a:effectLst/>
                <a:latin typeface="Consolas" panose="020B0609020204030204" pitchFamily="49" charset="0"/>
              </a:rPr>
              <a:t> </a:t>
            </a:r>
            <a:r>
              <a:rPr lang="en-IN" b="0" dirty="0" err="1">
                <a:solidFill>
                  <a:srgbClr val="795E26"/>
                </a:solidFill>
                <a:effectLst/>
                <a:latin typeface="Consolas" panose="020B0609020204030204" pitchFamily="49" charset="0"/>
              </a:rPr>
              <a:t>Myelement</a:t>
            </a:r>
            <a:r>
              <a:rPr lang="en-IN" b="0" dirty="0">
                <a:solidFill>
                  <a:srgbClr val="000000"/>
                </a:solidFill>
                <a:effectLst/>
                <a:latin typeface="Consolas" panose="020B0609020204030204" pitchFamily="49" charset="0"/>
              </a:rPr>
              <a:t> = </a:t>
            </a:r>
            <a:r>
              <a:rPr lang="en-IN" b="0" dirty="0" err="1">
                <a:solidFill>
                  <a:srgbClr val="267F99"/>
                </a:solidFill>
                <a:effectLst/>
                <a:latin typeface="Consolas" panose="020B0609020204030204" pitchFamily="49" charset="0"/>
              </a:rPr>
              <a:t>React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createElement</a:t>
            </a:r>
            <a:r>
              <a:rPr lang="en-IN" b="0" dirty="0">
                <a:solidFill>
                  <a:srgbClr val="000000"/>
                </a:solidFill>
                <a:effectLst/>
                <a:latin typeface="Consolas" panose="020B0609020204030204" pitchFamily="49" charset="0"/>
              </a:rPr>
              <a:t>;</a:t>
            </a:r>
          </a:p>
          <a:p>
            <a:endParaRPr lang="en-IN" b="0" dirty="0">
              <a:solidFill>
                <a:srgbClr val="000000"/>
              </a:solidFill>
              <a:effectLst/>
              <a:latin typeface="Consolas" panose="020B0609020204030204" pitchFamily="49" charset="0"/>
            </a:endParaRPr>
          </a:p>
          <a:p>
            <a:r>
              <a:rPr lang="en-IN" b="0" dirty="0" err="1">
                <a:solidFill>
                  <a:srgbClr val="0000FF"/>
                </a:solidFill>
                <a:effectLst/>
                <a:latin typeface="Consolas" panose="020B0609020204030204" pitchFamily="49" charset="0"/>
              </a:rPr>
              <a:t>const</a:t>
            </a:r>
            <a:r>
              <a:rPr lang="en-IN" b="0" dirty="0">
                <a:solidFill>
                  <a:srgbClr val="000000"/>
                </a:solidFill>
                <a:effectLst/>
                <a:latin typeface="Consolas" panose="020B0609020204030204" pitchFamily="49" charset="0"/>
              </a:rPr>
              <a:t> </a:t>
            </a:r>
            <a:r>
              <a:rPr lang="en-IN" b="0" dirty="0">
                <a:solidFill>
                  <a:srgbClr val="0070C1"/>
                </a:solidFill>
                <a:effectLst/>
                <a:latin typeface="Consolas" panose="020B0609020204030204" pitchFamily="49" charset="0"/>
              </a:rPr>
              <a:t>root</a:t>
            </a:r>
            <a:r>
              <a:rPr lang="en-IN" b="0" dirty="0">
                <a:solidFill>
                  <a:srgbClr val="000000"/>
                </a:solidFill>
                <a:effectLst/>
                <a:latin typeface="Consolas" panose="020B0609020204030204" pitchFamily="49" charset="0"/>
              </a:rPr>
              <a:t> = </a:t>
            </a:r>
            <a:r>
              <a:rPr lang="en-IN" b="0" dirty="0" err="1">
                <a:solidFill>
                  <a:srgbClr val="795E26"/>
                </a:solidFill>
                <a:effectLst/>
                <a:latin typeface="Consolas" panose="020B0609020204030204" pitchFamily="49" charset="0"/>
              </a:rPr>
              <a:t>createRoot</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getElementById</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'root'</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err="1">
                <a:solidFill>
                  <a:srgbClr val="0070C1"/>
                </a:solidFill>
                <a:effectLst/>
                <a:latin typeface="Consolas" panose="020B0609020204030204" pitchFamily="49" charset="0"/>
              </a:rPr>
              <a:t>root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render</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err="1">
                <a:solidFill>
                  <a:srgbClr val="795E26"/>
                </a:solidFill>
                <a:effectLst/>
                <a:latin typeface="Consolas" panose="020B0609020204030204" pitchFamily="49" charset="0"/>
              </a:rPr>
              <a:t>Myelement</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'h1'</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'I do not use JSX!'</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008000"/>
                </a:solidFill>
                <a:effectLst/>
                <a:latin typeface="Consolas" panose="020B0609020204030204" pitchFamily="49" charset="0"/>
              </a:rPr>
              <a:t>// If you want to start measuring performance in your app, pass a function</a:t>
            </a:r>
            <a:endParaRPr lang="en-IN" b="0" dirty="0">
              <a:solidFill>
                <a:srgbClr val="000000"/>
              </a:solidFill>
              <a:effectLst/>
              <a:latin typeface="Consolas" panose="020B0609020204030204" pitchFamily="49" charset="0"/>
            </a:endParaRPr>
          </a:p>
          <a:p>
            <a:r>
              <a:rPr lang="en-IN" b="0" dirty="0">
                <a:solidFill>
                  <a:srgbClr val="008000"/>
                </a:solidFill>
                <a:effectLst/>
                <a:latin typeface="Consolas" panose="020B0609020204030204" pitchFamily="49" charset="0"/>
              </a:rPr>
              <a:t>// to log results (for example: </a:t>
            </a:r>
            <a:r>
              <a:rPr lang="en-IN" b="0" dirty="0" err="1">
                <a:solidFill>
                  <a:srgbClr val="008000"/>
                </a:solidFill>
                <a:effectLst/>
                <a:latin typeface="Consolas" panose="020B0609020204030204" pitchFamily="49" charset="0"/>
              </a:rPr>
              <a:t>reportWebVitals</a:t>
            </a:r>
            <a:r>
              <a:rPr lang="en-IN" b="0" dirty="0">
                <a:solidFill>
                  <a:srgbClr val="008000"/>
                </a:solidFill>
                <a:effectLst/>
                <a:latin typeface="Consolas" panose="020B0609020204030204" pitchFamily="49" charset="0"/>
              </a:rPr>
              <a:t>(console.log))</a:t>
            </a:r>
            <a:endParaRPr lang="en-IN" b="0" dirty="0">
              <a:solidFill>
                <a:srgbClr val="000000"/>
              </a:solidFill>
              <a:effectLst/>
              <a:latin typeface="Consolas" panose="020B0609020204030204" pitchFamily="49" charset="0"/>
            </a:endParaRPr>
          </a:p>
          <a:p>
            <a:r>
              <a:rPr lang="en-IN" b="0" dirty="0">
                <a:solidFill>
                  <a:srgbClr val="008000"/>
                </a:solidFill>
                <a:effectLst/>
                <a:latin typeface="Consolas" panose="020B0609020204030204" pitchFamily="49" charset="0"/>
              </a:rPr>
              <a:t>// or send to an analytics endpoint. Learn more: https://bit.ly/CRA-vitals</a:t>
            </a:r>
            <a:endParaRPr lang="en-IN" b="0" dirty="0">
              <a:solidFill>
                <a:srgbClr val="000000"/>
              </a:solidFill>
              <a:effectLst/>
              <a:latin typeface="Consolas" panose="020B0609020204030204" pitchFamily="49" charset="0"/>
            </a:endParaRPr>
          </a:p>
          <a:p>
            <a:r>
              <a:rPr lang="en-IN" b="0" dirty="0" err="1">
                <a:solidFill>
                  <a:srgbClr val="795E26"/>
                </a:solidFill>
                <a:effectLst/>
                <a:latin typeface="Consolas" panose="020B0609020204030204" pitchFamily="49" charset="0"/>
              </a:rPr>
              <a:t>reportWebVitals</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endParaRPr lang="en-IN" b="0" dirty="0">
              <a:solidFill>
                <a:srgbClr val="000000"/>
              </a:solidFill>
              <a:effectLst/>
              <a:latin typeface="Consolas" panose="020B0609020204030204" pitchFamily="49" charset="0"/>
            </a:endParaRPr>
          </a:p>
        </p:txBody>
      </p:sp>
      <p:sp>
        <p:nvSpPr>
          <p:cNvPr id="2" name="TextBox 1">
            <a:extLst>
              <a:ext uri="{FF2B5EF4-FFF2-40B4-BE49-F238E27FC236}">
                <a16:creationId xmlns:a16="http://schemas.microsoft.com/office/drawing/2014/main" id="{14A3806F-32BE-5BB2-7B75-54E0C39E639E}"/>
              </a:ext>
            </a:extLst>
          </p:cNvPr>
          <p:cNvSpPr txBox="1"/>
          <p:nvPr/>
        </p:nvSpPr>
        <p:spPr>
          <a:xfrm>
            <a:off x="7742583" y="149087"/>
            <a:ext cx="1639956" cy="369332"/>
          </a:xfrm>
          <a:prstGeom prst="rect">
            <a:avLst/>
          </a:prstGeom>
          <a:noFill/>
        </p:spPr>
        <p:txBody>
          <a:bodyPr wrap="square" rtlCol="0">
            <a:spAutoFit/>
          </a:bodyPr>
          <a:lstStyle/>
          <a:p>
            <a:r>
              <a:rPr lang="en-US" dirty="0"/>
              <a:t>demo2</a:t>
            </a:r>
            <a:endParaRPr lang="en-IN" dirty="0"/>
          </a:p>
        </p:txBody>
      </p:sp>
    </p:spTree>
    <p:extLst>
      <p:ext uri="{BB962C8B-B14F-4D97-AF65-F5344CB8AC3E}">
        <p14:creationId xmlns:p14="http://schemas.microsoft.com/office/powerpoint/2010/main" val="37016218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34D3C49-8E38-4053-A935-E852B2910666}"/>
              </a:ext>
            </a:extLst>
          </p:cNvPr>
          <p:cNvSpPr txBox="1"/>
          <p:nvPr/>
        </p:nvSpPr>
        <p:spPr>
          <a:xfrm>
            <a:off x="530942" y="845574"/>
            <a:ext cx="10835148" cy="2308324"/>
          </a:xfrm>
          <a:prstGeom prst="rect">
            <a:avLst/>
          </a:prstGeom>
          <a:noFill/>
        </p:spPr>
        <p:txBody>
          <a:bodyPr wrap="square">
            <a:spAutoFit/>
          </a:bodyPr>
          <a:lstStyle/>
          <a:p>
            <a:pPr algn="ctr"/>
            <a:r>
              <a:rPr lang="en-US" b="1" i="0" dirty="0">
                <a:solidFill>
                  <a:srgbClr val="202124"/>
                </a:solidFill>
                <a:effectLst/>
                <a:latin typeface="arial" panose="020B0604020202020204" pitchFamily="34" charset="0"/>
              </a:rPr>
              <a:t>Render</a:t>
            </a:r>
            <a:r>
              <a:rPr lang="en-US" b="0" i="0" dirty="0">
                <a:solidFill>
                  <a:srgbClr val="202124"/>
                </a:solidFill>
                <a:effectLst/>
                <a:latin typeface="arial" panose="020B0604020202020204" pitchFamily="34" charset="0"/>
              </a:rPr>
              <a:t> </a:t>
            </a:r>
            <a:endParaRPr lang="en-US" b="1" i="0" dirty="0">
              <a:solidFill>
                <a:srgbClr val="202124"/>
              </a:solidFill>
              <a:effectLst/>
              <a:latin typeface="arial" panose="020B0604020202020204" pitchFamily="34" charset="0"/>
            </a:endParaRPr>
          </a:p>
          <a:p>
            <a:endParaRPr lang="en-US" b="1" dirty="0">
              <a:solidFill>
                <a:srgbClr val="202124"/>
              </a:solidFill>
              <a:latin typeface="arial" panose="020B0604020202020204" pitchFamily="34" charset="0"/>
            </a:endParaRPr>
          </a:p>
          <a:p>
            <a:endParaRPr lang="en-US" b="1" i="0" dirty="0">
              <a:solidFill>
                <a:srgbClr val="202124"/>
              </a:solidFill>
              <a:effectLst/>
              <a:latin typeface="arial" panose="020B0604020202020204" pitchFamily="34" charset="0"/>
            </a:endParaRPr>
          </a:p>
          <a:p>
            <a:r>
              <a:rPr lang="en-US" b="1" i="0" dirty="0">
                <a:solidFill>
                  <a:srgbClr val="202124"/>
                </a:solidFill>
                <a:effectLst/>
                <a:latin typeface="arial" panose="020B0604020202020204" pitchFamily="34" charset="0"/>
              </a:rPr>
              <a:t>Render</a:t>
            </a:r>
            <a:r>
              <a:rPr lang="en-US" b="0" i="0" dirty="0">
                <a:solidFill>
                  <a:srgbClr val="202124"/>
                </a:solidFill>
                <a:effectLst/>
                <a:latin typeface="arial" panose="020B0604020202020204" pitchFamily="34" charset="0"/>
              </a:rPr>
              <a:t> a </a:t>
            </a:r>
            <a:r>
              <a:rPr lang="en-US" b="1" i="0" dirty="0">
                <a:solidFill>
                  <a:srgbClr val="202124"/>
                </a:solidFill>
                <a:effectLst/>
                <a:latin typeface="arial" panose="020B0604020202020204" pitchFamily="34" charset="0"/>
              </a:rPr>
              <a:t>React</a:t>
            </a:r>
            <a:r>
              <a:rPr lang="en-US" b="0" i="0" dirty="0">
                <a:solidFill>
                  <a:srgbClr val="202124"/>
                </a:solidFill>
                <a:effectLst/>
                <a:latin typeface="arial" panose="020B0604020202020204" pitchFamily="34" charset="0"/>
              </a:rPr>
              <a:t> element into the DOM in the supplied container and return a reference to the component (or returns null for stateless components).</a:t>
            </a:r>
          </a:p>
          <a:p>
            <a:endParaRPr lang="en-US" dirty="0">
              <a:solidFill>
                <a:srgbClr val="202124"/>
              </a:solidFill>
              <a:latin typeface="arial" panose="020B0604020202020204" pitchFamily="34" charset="0"/>
            </a:endParaRPr>
          </a:p>
          <a:p>
            <a:r>
              <a:rPr lang="en-US" b="0" i="0" dirty="0">
                <a:solidFill>
                  <a:srgbClr val="202124"/>
                </a:solidFill>
                <a:effectLst/>
                <a:latin typeface="arial" panose="020B0604020202020204" pitchFamily="34" charset="0"/>
              </a:rPr>
              <a:t> If the </a:t>
            </a:r>
            <a:r>
              <a:rPr lang="en-US" b="1" i="0" dirty="0">
                <a:solidFill>
                  <a:srgbClr val="202124"/>
                </a:solidFill>
                <a:effectLst/>
                <a:latin typeface="arial" panose="020B0604020202020204" pitchFamily="34" charset="0"/>
              </a:rPr>
              <a:t>React</a:t>
            </a:r>
            <a:r>
              <a:rPr lang="en-US" b="0" i="0" dirty="0">
                <a:solidFill>
                  <a:srgbClr val="202124"/>
                </a:solidFill>
                <a:effectLst/>
                <a:latin typeface="arial" panose="020B0604020202020204" pitchFamily="34" charset="0"/>
              </a:rPr>
              <a:t> element was previously </a:t>
            </a:r>
            <a:r>
              <a:rPr lang="en-US" b="1" i="0" dirty="0">
                <a:solidFill>
                  <a:srgbClr val="202124"/>
                </a:solidFill>
                <a:effectLst/>
                <a:latin typeface="arial" panose="020B0604020202020204" pitchFamily="34" charset="0"/>
              </a:rPr>
              <a:t>rendered</a:t>
            </a:r>
            <a:r>
              <a:rPr lang="en-US" b="0" i="0" dirty="0">
                <a:solidFill>
                  <a:srgbClr val="202124"/>
                </a:solidFill>
                <a:effectLst/>
                <a:latin typeface="arial" panose="020B0604020202020204" pitchFamily="34" charset="0"/>
              </a:rPr>
              <a:t> into container , this will perform an </a:t>
            </a:r>
            <a:r>
              <a:rPr lang="en-US" b="0" i="0" dirty="0">
                <a:solidFill>
                  <a:srgbClr val="202124"/>
                </a:solidFill>
                <a:effectLst/>
                <a:highlight>
                  <a:srgbClr val="FFFF00"/>
                </a:highlight>
                <a:latin typeface="arial" panose="020B0604020202020204" pitchFamily="34" charset="0"/>
              </a:rPr>
              <a:t>update</a:t>
            </a:r>
            <a:r>
              <a:rPr lang="en-US" b="0" i="0" dirty="0">
                <a:solidFill>
                  <a:srgbClr val="202124"/>
                </a:solidFill>
                <a:effectLst/>
                <a:latin typeface="arial" panose="020B0604020202020204" pitchFamily="34" charset="0"/>
              </a:rPr>
              <a:t> on it and only mutate the DOM as necessary to reflect the latest </a:t>
            </a:r>
            <a:r>
              <a:rPr lang="en-US" b="1" i="0" dirty="0">
                <a:solidFill>
                  <a:srgbClr val="202124"/>
                </a:solidFill>
                <a:effectLst/>
                <a:latin typeface="arial" panose="020B0604020202020204" pitchFamily="34" charset="0"/>
              </a:rPr>
              <a:t>React</a:t>
            </a:r>
            <a:r>
              <a:rPr lang="en-US" b="0" i="0" dirty="0">
                <a:solidFill>
                  <a:srgbClr val="202124"/>
                </a:solidFill>
                <a:effectLst/>
                <a:latin typeface="arial" panose="020B0604020202020204" pitchFamily="34" charset="0"/>
              </a:rPr>
              <a:t> element.</a:t>
            </a:r>
            <a:endParaRPr lang="en-IN" dirty="0"/>
          </a:p>
        </p:txBody>
      </p:sp>
    </p:spTree>
    <p:extLst>
      <p:ext uri="{BB962C8B-B14F-4D97-AF65-F5344CB8AC3E}">
        <p14:creationId xmlns:p14="http://schemas.microsoft.com/office/powerpoint/2010/main" val="11424593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CB5D0-460F-425F-BE2C-D669BE31A146}"/>
              </a:ext>
            </a:extLst>
          </p:cNvPr>
          <p:cNvSpPr>
            <a:spLocks noGrp="1"/>
          </p:cNvSpPr>
          <p:nvPr>
            <p:ph type="title"/>
          </p:nvPr>
        </p:nvSpPr>
        <p:spPr/>
        <p:txBody>
          <a:bodyPr/>
          <a:lstStyle/>
          <a:p>
            <a:r>
              <a:rPr lang="en-IN" dirty="0"/>
              <a:t>Put this code in index.js file</a:t>
            </a:r>
          </a:p>
        </p:txBody>
      </p:sp>
      <p:sp>
        <p:nvSpPr>
          <p:cNvPr id="3" name="Content Placeholder 2">
            <a:extLst>
              <a:ext uri="{FF2B5EF4-FFF2-40B4-BE49-F238E27FC236}">
                <a16:creationId xmlns:a16="http://schemas.microsoft.com/office/drawing/2014/main" id="{54BA7C19-3D9F-48C9-8E98-3E63330CA3BA}"/>
              </a:ext>
            </a:extLst>
          </p:cNvPr>
          <p:cNvSpPr>
            <a:spLocks noGrp="1"/>
          </p:cNvSpPr>
          <p:nvPr>
            <p:ph idx="1"/>
          </p:nvPr>
        </p:nvSpPr>
        <p:spPr>
          <a:xfrm>
            <a:off x="717755" y="1510993"/>
            <a:ext cx="10114935" cy="2746375"/>
          </a:xfrm>
        </p:spPr>
        <p:txBody>
          <a:bodyPr>
            <a:normAutofit fontScale="25000" lnSpcReduction="20000"/>
          </a:bodyPr>
          <a:lstStyle/>
          <a:p>
            <a:pPr marL="0" indent="0">
              <a:buNone/>
            </a:pPr>
            <a:r>
              <a:rPr lang="en-IN" sz="8000" b="0" dirty="0" err="1">
                <a:solidFill>
                  <a:srgbClr val="0000FF"/>
                </a:solidFill>
                <a:effectLst/>
                <a:latin typeface="Consolas" panose="020B0609020204030204" pitchFamily="49" charset="0"/>
              </a:rPr>
              <a:t>const</a:t>
            </a:r>
            <a:r>
              <a:rPr lang="en-IN" sz="8000" b="0" dirty="0">
                <a:solidFill>
                  <a:srgbClr val="000000"/>
                </a:solidFill>
                <a:effectLst/>
                <a:latin typeface="Consolas" panose="020B0609020204030204" pitchFamily="49" charset="0"/>
              </a:rPr>
              <a:t> </a:t>
            </a:r>
            <a:r>
              <a:rPr lang="en-IN" sz="8000" b="0" dirty="0" err="1">
                <a:solidFill>
                  <a:srgbClr val="000000"/>
                </a:solidFill>
                <a:effectLst/>
                <a:highlight>
                  <a:srgbClr val="FFFF00"/>
                </a:highlight>
                <a:latin typeface="Consolas" panose="020B0609020204030204" pitchFamily="49" charset="0"/>
              </a:rPr>
              <a:t>Myelement</a:t>
            </a:r>
            <a:r>
              <a:rPr lang="en-IN" sz="8000" b="0" dirty="0">
                <a:solidFill>
                  <a:srgbClr val="000000"/>
                </a:solidFill>
                <a:effectLst/>
                <a:latin typeface="Consolas" panose="020B0609020204030204" pitchFamily="49" charset="0"/>
              </a:rPr>
              <a:t> = </a:t>
            </a:r>
            <a:r>
              <a:rPr lang="en-IN" sz="8000" b="0" dirty="0" err="1">
                <a:solidFill>
                  <a:srgbClr val="000000"/>
                </a:solidFill>
                <a:effectLst/>
                <a:latin typeface="Consolas" panose="020B0609020204030204" pitchFamily="49" charset="0"/>
              </a:rPr>
              <a:t>React.createElement</a:t>
            </a:r>
            <a:r>
              <a:rPr lang="en-IN" sz="8000" b="0" dirty="0">
                <a:solidFill>
                  <a:srgbClr val="000000"/>
                </a:solidFill>
                <a:effectLst/>
                <a:latin typeface="Consolas" panose="020B0609020204030204" pitchFamily="49" charset="0"/>
              </a:rPr>
              <a:t>;</a:t>
            </a:r>
          </a:p>
          <a:p>
            <a:pPr marL="0" indent="0">
              <a:buNone/>
            </a:pPr>
            <a:r>
              <a:rPr lang="en-IN" sz="8000" b="0" dirty="0" err="1">
                <a:solidFill>
                  <a:srgbClr val="0000FF"/>
                </a:solidFill>
                <a:effectLst/>
                <a:latin typeface="Consolas" panose="020B0609020204030204" pitchFamily="49" charset="0"/>
              </a:rPr>
              <a:t>const</a:t>
            </a:r>
            <a:r>
              <a:rPr lang="en-IN" sz="8000" b="0" dirty="0">
                <a:solidFill>
                  <a:srgbClr val="000000"/>
                </a:solidFill>
                <a:effectLst/>
                <a:latin typeface="Consolas" panose="020B0609020204030204" pitchFamily="49" charset="0"/>
              </a:rPr>
              <a:t> </a:t>
            </a:r>
            <a:r>
              <a:rPr lang="en-IN" sz="8000" b="0" dirty="0">
                <a:solidFill>
                  <a:srgbClr val="000000"/>
                </a:solidFill>
                <a:effectLst/>
                <a:highlight>
                  <a:srgbClr val="FFFF00"/>
                </a:highlight>
                <a:latin typeface="Consolas" panose="020B0609020204030204" pitchFamily="49" charset="0"/>
              </a:rPr>
              <a:t>container</a:t>
            </a:r>
            <a:r>
              <a:rPr lang="en-IN" sz="8000" b="0" dirty="0">
                <a:solidFill>
                  <a:srgbClr val="000000"/>
                </a:solidFill>
                <a:effectLst/>
                <a:latin typeface="Consolas" panose="020B0609020204030204" pitchFamily="49" charset="0"/>
              </a:rPr>
              <a:t>=</a:t>
            </a:r>
            <a:r>
              <a:rPr lang="en-IN" sz="8000" b="0" dirty="0" err="1">
                <a:solidFill>
                  <a:srgbClr val="000000"/>
                </a:solidFill>
                <a:effectLst/>
                <a:latin typeface="Consolas" panose="020B0609020204030204" pitchFamily="49" charset="0"/>
              </a:rPr>
              <a:t>React.createElement</a:t>
            </a:r>
            <a:r>
              <a:rPr lang="en-IN" sz="8000" b="0" dirty="0">
                <a:solidFill>
                  <a:srgbClr val="000000"/>
                </a:solidFill>
                <a:effectLst/>
                <a:latin typeface="Consolas" panose="020B0609020204030204" pitchFamily="49" charset="0"/>
              </a:rPr>
              <a:t>;</a:t>
            </a:r>
          </a:p>
          <a:p>
            <a:pPr marL="0" indent="0">
              <a:buNone/>
            </a:pPr>
            <a:br>
              <a:rPr lang="en-IN" sz="8000" b="0" dirty="0">
                <a:solidFill>
                  <a:srgbClr val="000000"/>
                </a:solidFill>
                <a:effectLst/>
                <a:latin typeface="Consolas" panose="020B0609020204030204" pitchFamily="49" charset="0"/>
              </a:rPr>
            </a:br>
            <a:br>
              <a:rPr lang="en-IN" sz="8000" b="0" dirty="0">
                <a:solidFill>
                  <a:srgbClr val="000000"/>
                </a:solidFill>
                <a:effectLst/>
                <a:latin typeface="Consolas" panose="020B0609020204030204" pitchFamily="49" charset="0"/>
              </a:rPr>
            </a:br>
            <a:r>
              <a:rPr lang="en-IN" sz="8000" b="0" dirty="0" err="1">
                <a:solidFill>
                  <a:srgbClr val="0000FF"/>
                </a:solidFill>
                <a:effectLst/>
                <a:latin typeface="Consolas" panose="020B0609020204030204" pitchFamily="49" charset="0"/>
              </a:rPr>
              <a:t>const</a:t>
            </a:r>
            <a:r>
              <a:rPr lang="en-IN" sz="8000" b="0" dirty="0">
                <a:solidFill>
                  <a:srgbClr val="000000"/>
                </a:solidFill>
                <a:effectLst/>
                <a:latin typeface="Consolas" panose="020B0609020204030204" pitchFamily="49" charset="0"/>
              </a:rPr>
              <a:t> root = </a:t>
            </a:r>
            <a:r>
              <a:rPr lang="en-IN" sz="8000" b="0" dirty="0" err="1">
                <a:solidFill>
                  <a:srgbClr val="000000"/>
                </a:solidFill>
                <a:effectLst/>
                <a:latin typeface="Consolas" panose="020B0609020204030204" pitchFamily="49" charset="0"/>
              </a:rPr>
              <a:t>createRoot</a:t>
            </a:r>
            <a:r>
              <a:rPr lang="en-IN" sz="8000" b="0" dirty="0">
                <a:solidFill>
                  <a:srgbClr val="000000"/>
                </a:solidFill>
                <a:effectLst/>
                <a:latin typeface="Consolas" panose="020B0609020204030204" pitchFamily="49" charset="0"/>
              </a:rPr>
              <a:t>(</a:t>
            </a:r>
            <a:r>
              <a:rPr lang="en-IN" sz="8000" b="0" dirty="0" err="1">
                <a:solidFill>
                  <a:srgbClr val="000000"/>
                </a:solidFill>
                <a:effectLst/>
                <a:latin typeface="Consolas" panose="020B0609020204030204" pitchFamily="49" charset="0"/>
              </a:rPr>
              <a:t>document.getElementById</a:t>
            </a:r>
            <a:r>
              <a:rPr lang="en-IN" sz="8000" b="0" dirty="0">
                <a:solidFill>
                  <a:srgbClr val="000000"/>
                </a:solidFill>
                <a:effectLst/>
                <a:latin typeface="Consolas" panose="020B0609020204030204" pitchFamily="49" charset="0"/>
              </a:rPr>
              <a:t>(</a:t>
            </a:r>
            <a:r>
              <a:rPr lang="en-IN" sz="8000" b="0" dirty="0">
                <a:solidFill>
                  <a:srgbClr val="A31515"/>
                </a:solidFill>
                <a:effectLst/>
                <a:latin typeface="Consolas" panose="020B0609020204030204" pitchFamily="49" charset="0"/>
              </a:rPr>
              <a:t>'root'</a:t>
            </a:r>
            <a:r>
              <a:rPr lang="en-IN" sz="8000" b="0" dirty="0">
                <a:solidFill>
                  <a:srgbClr val="000000"/>
                </a:solidFill>
                <a:effectLst/>
                <a:latin typeface="Consolas" panose="020B0609020204030204" pitchFamily="49" charset="0"/>
              </a:rPr>
              <a:t>));</a:t>
            </a:r>
          </a:p>
          <a:p>
            <a:pPr marL="0" indent="0">
              <a:buNone/>
            </a:pPr>
            <a:r>
              <a:rPr lang="en-IN" sz="8000" b="0" dirty="0" err="1">
                <a:solidFill>
                  <a:srgbClr val="000000"/>
                </a:solidFill>
                <a:effectLst/>
                <a:latin typeface="Consolas" panose="020B0609020204030204" pitchFamily="49" charset="0"/>
              </a:rPr>
              <a:t>root.render</a:t>
            </a:r>
            <a:r>
              <a:rPr lang="en-IN" sz="8000" b="0" dirty="0">
                <a:solidFill>
                  <a:srgbClr val="000000"/>
                </a:solidFill>
                <a:effectLst/>
                <a:latin typeface="Consolas" panose="020B0609020204030204" pitchFamily="49" charset="0"/>
              </a:rPr>
              <a:t>(</a:t>
            </a:r>
          </a:p>
          <a:p>
            <a:pPr marL="0" indent="0">
              <a:buNone/>
            </a:pPr>
            <a:r>
              <a:rPr lang="en-IN" sz="8000" b="0" dirty="0">
                <a:solidFill>
                  <a:srgbClr val="000000"/>
                </a:solidFill>
                <a:effectLst/>
                <a:latin typeface="Consolas" panose="020B0609020204030204" pitchFamily="49" charset="0"/>
              </a:rPr>
              <a:t>  </a:t>
            </a:r>
            <a:r>
              <a:rPr lang="en-IN" sz="8000" b="0" dirty="0">
                <a:solidFill>
                  <a:srgbClr val="000000"/>
                </a:solidFill>
                <a:effectLst/>
                <a:highlight>
                  <a:srgbClr val="FFFF00"/>
                </a:highlight>
                <a:latin typeface="Consolas" panose="020B0609020204030204" pitchFamily="49" charset="0"/>
              </a:rPr>
              <a:t>container</a:t>
            </a:r>
            <a:r>
              <a:rPr lang="en-IN" sz="8000" b="0" dirty="0">
                <a:solidFill>
                  <a:srgbClr val="000000"/>
                </a:solidFill>
                <a:effectLst/>
                <a:latin typeface="Consolas" panose="020B0609020204030204" pitchFamily="49" charset="0"/>
              </a:rPr>
              <a:t>(</a:t>
            </a:r>
            <a:r>
              <a:rPr lang="en-IN" sz="8000" b="0" dirty="0">
                <a:solidFill>
                  <a:srgbClr val="A31515"/>
                </a:solidFill>
                <a:effectLst/>
                <a:latin typeface="Consolas" panose="020B0609020204030204" pitchFamily="49" charset="0"/>
              </a:rPr>
              <a:t>'div'</a:t>
            </a:r>
            <a:r>
              <a:rPr lang="en-IN" sz="8000" b="0" dirty="0">
                <a:solidFill>
                  <a:srgbClr val="000000"/>
                </a:solidFill>
                <a:effectLst/>
                <a:latin typeface="Consolas" panose="020B0609020204030204" pitchFamily="49" charset="0"/>
              </a:rPr>
              <a:t>,{},</a:t>
            </a:r>
            <a:r>
              <a:rPr lang="en-IN" sz="8000" b="0" dirty="0" err="1">
                <a:solidFill>
                  <a:srgbClr val="000000"/>
                </a:solidFill>
                <a:effectLst/>
                <a:highlight>
                  <a:srgbClr val="FFFF00"/>
                </a:highlight>
                <a:latin typeface="Consolas" panose="020B0609020204030204" pitchFamily="49" charset="0"/>
              </a:rPr>
              <a:t>Myelement</a:t>
            </a:r>
            <a:r>
              <a:rPr lang="en-IN" sz="8000" b="0" dirty="0">
                <a:solidFill>
                  <a:srgbClr val="000000"/>
                </a:solidFill>
                <a:effectLst/>
                <a:latin typeface="Consolas" panose="020B0609020204030204" pitchFamily="49" charset="0"/>
              </a:rPr>
              <a:t>(</a:t>
            </a:r>
            <a:r>
              <a:rPr lang="en-IN" sz="8000" b="0" dirty="0">
                <a:solidFill>
                  <a:srgbClr val="A31515"/>
                </a:solidFill>
                <a:effectLst/>
                <a:latin typeface="Consolas" panose="020B0609020204030204" pitchFamily="49" charset="0"/>
              </a:rPr>
              <a:t>'h1'</a:t>
            </a:r>
            <a:r>
              <a:rPr lang="en-IN" sz="8000" b="0" dirty="0">
                <a:solidFill>
                  <a:srgbClr val="000000"/>
                </a:solidFill>
                <a:effectLst/>
                <a:latin typeface="Consolas" panose="020B0609020204030204" pitchFamily="49" charset="0"/>
              </a:rPr>
              <a:t>,{}, </a:t>
            </a:r>
            <a:r>
              <a:rPr lang="en-IN" sz="8000" b="0" dirty="0">
                <a:solidFill>
                  <a:srgbClr val="A31515"/>
                </a:solidFill>
                <a:effectLst/>
                <a:latin typeface="Consolas" panose="020B0609020204030204" pitchFamily="49" charset="0"/>
              </a:rPr>
              <a:t>'I do not use JSX!'</a:t>
            </a:r>
            <a:r>
              <a:rPr lang="en-IN" sz="8000" b="0" dirty="0">
                <a:solidFill>
                  <a:srgbClr val="000000"/>
                </a:solidFill>
                <a:effectLst/>
                <a:latin typeface="Consolas" panose="020B0609020204030204" pitchFamily="49" charset="0"/>
              </a:rPr>
              <a:t>))</a:t>
            </a:r>
          </a:p>
          <a:p>
            <a:pPr marL="0" indent="0">
              <a:buNone/>
            </a:pPr>
            <a:r>
              <a:rPr lang="en-IN" sz="8000" b="0" dirty="0">
                <a:solidFill>
                  <a:srgbClr val="000000"/>
                </a:solidFill>
                <a:effectLst/>
                <a:latin typeface="Consolas" panose="020B0609020204030204" pitchFamily="49" charset="0"/>
              </a:rPr>
              <a:t>   </a:t>
            </a:r>
          </a:p>
          <a:p>
            <a:pPr marL="0" indent="0">
              <a:buNone/>
            </a:pPr>
            <a:r>
              <a:rPr lang="en-IN" sz="8000" b="0" dirty="0">
                <a:solidFill>
                  <a:srgbClr val="000000"/>
                </a:solidFill>
                <a:effectLst/>
                <a:latin typeface="Consolas" panose="020B0609020204030204" pitchFamily="49" charset="0"/>
              </a:rPr>
              <a:t>  </a:t>
            </a:r>
          </a:p>
          <a:p>
            <a:pPr marL="0" indent="0">
              <a:buNone/>
            </a:pPr>
            <a:r>
              <a:rPr lang="en-IN" sz="8000" b="0" dirty="0">
                <a:solidFill>
                  <a:srgbClr val="000000"/>
                </a:solidFill>
                <a:effectLst/>
                <a:latin typeface="Consolas" panose="020B0609020204030204" pitchFamily="49" charset="0"/>
              </a:rPr>
              <a:t>);</a:t>
            </a:r>
          </a:p>
          <a:p>
            <a:pPr marL="0" indent="0">
              <a:buNone/>
            </a:pPr>
            <a:r>
              <a:rPr lang="en-IN" sz="1800" dirty="0"/>
              <a:t>//remove &lt;app/&gt;</a:t>
            </a:r>
          </a:p>
        </p:txBody>
      </p:sp>
      <p:sp>
        <p:nvSpPr>
          <p:cNvPr id="5" name="TextBox 4">
            <a:extLst>
              <a:ext uri="{FF2B5EF4-FFF2-40B4-BE49-F238E27FC236}">
                <a16:creationId xmlns:a16="http://schemas.microsoft.com/office/drawing/2014/main" id="{6690C410-0905-4389-B187-54AAC8A6B1D8}"/>
              </a:ext>
            </a:extLst>
          </p:cNvPr>
          <p:cNvSpPr txBox="1"/>
          <p:nvPr/>
        </p:nvSpPr>
        <p:spPr>
          <a:xfrm>
            <a:off x="619432" y="4803071"/>
            <a:ext cx="9901083" cy="923330"/>
          </a:xfrm>
          <a:prstGeom prst="rect">
            <a:avLst/>
          </a:prstGeom>
          <a:noFill/>
        </p:spPr>
        <p:txBody>
          <a:bodyPr wrap="square">
            <a:spAutoFit/>
          </a:bodyPr>
          <a:lstStyle/>
          <a:p>
            <a:r>
              <a:rPr lang="en-US" dirty="0"/>
              <a:t>The first statement imports the React library itself. Because React turns the JSX we write into </a:t>
            </a:r>
            <a:r>
              <a:rPr lang="en-US" dirty="0" err="1"/>
              <a:t>React.createElement</a:t>
            </a:r>
            <a:r>
              <a:rPr lang="en-US" dirty="0"/>
              <a:t>(), all React components must import the React module. If you skip this step, your application will produce an error.</a:t>
            </a:r>
            <a:endParaRPr lang="en-IN" dirty="0"/>
          </a:p>
        </p:txBody>
      </p:sp>
      <p:sp>
        <p:nvSpPr>
          <p:cNvPr id="4" name="TextBox 3">
            <a:extLst>
              <a:ext uri="{FF2B5EF4-FFF2-40B4-BE49-F238E27FC236}">
                <a16:creationId xmlns:a16="http://schemas.microsoft.com/office/drawing/2014/main" id="{6F551FEB-2BEF-E016-3A90-B330CFF4B292}"/>
              </a:ext>
            </a:extLst>
          </p:cNvPr>
          <p:cNvSpPr txBox="1"/>
          <p:nvPr/>
        </p:nvSpPr>
        <p:spPr>
          <a:xfrm>
            <a:off x="9584267" y="3488267"/>
            <a:ext cx="1889978" cy="923330"/>
          </a:xfrm>
          <a:prstGeom prst="rect">
            <a:avLst/>
          </a:prstGeom>
          <a:noFill/>
        </p:spPr>
        <p:txBody>
          <a:bodyPr wrap="square" rtlCol="0">
            <a:spAutoFit/>
          </a:bodyPr>
          <a:lstStyle/>
          <a:p>
            <a:r>
              <a:rPr lang="en-IN" dirty="0"/>
              <a:t>&lt;div&gt;</a:t>
            </a:r>
          </a:p>
          <a:p>
            <a:r>
              <a:rPr lang="en-IN" dirty="0"/>
              <a:t>&lt;h1&gt;&lt;/h1&gt;</a:t>
            </a:r>
          </a:p>
          <a:p>
            <a:r>
              <a:rPr lang="en-IN" dirty="0"/>
              <a:t>&lt;/div&gt;</a:t>
            </a:r>
          </a:p>
        </p:txBody>
      </p:sp>
    </p:spTree>
    <p:extLst>
      <p:ext uri="{BB962C8B-B14F-4D97-AF65-F5344CB8AC3E}">
        <p14:creationId xmlns:p14="http://schemas.microsoft.com/office/powerpoint/2010/main" val="1670194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950D9-C01F-43A5-9CD8-95446643E005}"/>
              </a:ext>
            </a:extLst>
          </p:cNvPr>
          <p:cNvSpPr>
            <a:spLocks noGrp="1"/>
          </p:cNvSpPr>
          <p:nvPr>
            <p:ph type="title"/>
          </p:nvPr>
        </p:nvSpPr>
        <p:spPr>
          <a:xfrm>
            <a:off x="1809134" y="365126"/>
            <a:ext cx="9544665" cy="315912"/>
          </a:xfrm>
        </p:spPr>
        <p:txBody>
          <a:bodyPr>
            <a:normAutofit fontScale="90000"/>
          </a:bodyPr>
          <a:lstStyle/>
          <a:p>
            <a:r>
              <a:rPr lang="en-IN" dirty="0"/>
              <a:t>Index.js</a:t>
            </a:r>
          </a:p>
        </p:txBody>
      </p:sp>
      <p:sp>
        <p:nvSpPr>
          <p:cNvPr id="3" name="Content Placeholder 2">
            <a:extLst>
              <a:ext uri="{FF2B5EF4-FFF2-40B4-BE49-F238E27FC236}">
                <a16:creationId xmlns:a16="http://schemas.microsoft.com/office/drawing/2014/main" id="{AF1C62A1-FE35-4C81-9D5E-2120692083DA}"/>
              </a:ext>
            </a:extLst>
          </p:cNvPr>
          <p:cNvSpPr>
            <a:spLocks noGrp="1"/>
          </p:cNvSpPr>
          <p:nvPr>
            <p:ph idx="1"/>
          </p:nvPr>
        </p:nvSpPr>
        <p:spPr>
          <a:xfrm>
            <a:off x="412955" y="1101213"/>
            <a:ext cx="7973961" cy="5075750"/>
          </a:xfrm>
        </p:spPr>
        <p:txBody>
          <a:bodyPr>
            <a:normAutofit fontScale="55000" lnSpcReduction="20000"/>
          </a:bodyPr>
          <a:lstStyle/>
          <a:p>
            <a:pPr marL="0" indent="0">
              <a:buNone/>
            </a:pPr>
            <a:r>
              <a:rPr lang="en-IN" b="0" dirty="0">
                <a:solidFill>
                  <a:srgbClr val="AF00DB"/>
                </a:solidFill>
                <a:effectLst/>
                <a:latin typeface="Consolas" panose="020B0609020204030204" pitchFamily="49" charset="0"/>
              </a:rPr>
              <a:t>import</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React</a:t>
            </a:r>
            <a:r>
              <a:rPr lang="en-IN" b="0" dirty="0">
                <a:solidFill>
                  <a:srgbClr val="000000"/>
                </a:solidFill>
                <a:effectLst/>
                <a:latin typeface="Consolas" panose="020B0609020204030204" pitchFamily="49" charset="0"/>
              </a:rPr>
              <a:t> </a:t>
            </a:r>
            <a:r>
              <a:rPr lang="en-IN" b="0" dirty="0">
                <a:solidFill>
                  <a:srgbClr val="AF00DB"/>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'react'</a:t>
            </a:r>
            <a:r>
              <a:rPr lang="en-IN" b="0" dirty="0">
                <a:solidFill>
                  <a:srgbClr val="000000"/>
                </a:solidFill>
                <a:effectLst/>
                <a:latin typeface="Consolas" panose="020B0609020204030204" pitchFamily="49" charset="0"/>
              </a:rPr>
              <a:t>;</a:t>
            </a:r>
          </a:p>
          <a:p>
            <a:pPr marL="0" indent="0">
              <a:buNone/>
            </a:pPr>
            <a:r>
              <a:rPr lang="en-IN" b="0" dirty="0">
                <a:solidFill>
                  <a:srgbClr val="AF00DB"/>
                </a:solidFill>
                <a:effectLst/>
                <a:latin typeface="Consolas" panose="020B0609020204030204" pitchFamily="49" charset="0"/>
              </a:rPr>
              <a:t>import</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ReactDOM</a:t>
            </a:r>
            <a:r>
              <a:rPr lang="en-IN" b="0" dirty="0">
                <a:solidFill>
                  <a:srgbClr val="000000"/>
                </a:solidFill>
                <a:effectLst/>
                <a:latin typeface="Consolas" panose="020B0609020204030204" pitchFamily="49" charset="0"/>
              </a:rPr>
              <a:t> </a:t>
            </a:r>
            <a:r>
              <a:rPr lang="en-IN" b="0" dirty="0">
                <a:solidFill>
                  <a:srgbClr val="AF00DB"/>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'react-</a:t>
            </a:r>
            <a:r>
              <a:rPr lang="en-IN" b="0" dirty="0" err="1">
                <a:solidFill>
                  <a:srgbClr val="A31515"/>
                </a:solidFill>
                <a:effectLst/>
                <a:latin typeface="Consolas" panose="020B0609020204030204" pitchFamily="49" charset="0"/>
              </a:rPr>
              <a:t>dom</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a:t>
            </a:r>
          </a:p>
          <a:p>
            <a:pPr marL="0" indent="0">
              <a:buNone/>
            </a:pPr>
            <a:r>
              <a:rPr lang="en-IN" b="0" dirty="0">
                <a:solidFill>
                  <a:srgbClr val="AF00DB"/>
                </a:solidFill>
                <a:effectLst/>
                <a:latin typeface="Consolas" panose="020B0609020204030204" pitchFamily="49" charset="0"/>
              </a:rPr>
              <a:t>import</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'./index.css'</a:t>
            </a:r>
            <a:r>
              <a:rPr lang="en-IN" b="0" dirty="0">
                <a:solidFill>
                  <a:srgbClr val="000000"/>
                </a:solidFill>
                <a:effectLst/>
                <a:latin typeface="Consolas" panose="020B0609020204030204" pitchFamily="49" charset="0"/>
              </a:rPr>
              <a:t>;</a:t>
            </a:r>
          </a:p>
          <a:p>
            <a:pPr marL="0" indent="0">
              <a:buNone/>
            </a:pPr>
            <a:r>
              <a:rPr lang="en-IN" b="0" dirty="0">
                <a:solidFill>
                  <a:srgbClr val="AF00DB"/>
                </a:solidFill>
                <a:effectLst/>
                <a:latin typeface="Consolas" panose="020B0609020204030204" pitchFamily="49" charset="0"/>
              </a:rPr>
              <a:t>import</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App</a:t>
            </a:r>
            <a:r>
              <a:rPr lang="en-IN" b="0" dirty="0">
                <a:solidFill>
                  <a:srgbClr val="000000"/>
                </a:solidFill>
                <a:effectLst/>
                <a:latin typeface="Consolas" panose="020B0609020204030204" pitchFamily="49" charset="0"/>
              </a:rPr>
              <a:t> </a:t>
            </a:r>
            <a:r>
              <a:rPr lang="en-IN" b="0" dirty="0">
                <a:solidFill>
                  <a:srgbClr val="AF00DB"/>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'./App'</a:t>
            </a:r>
            <a:r>
              <a:rPr lang="en-IN" b="0" dirty="0">
                <a:solidFill>
                  <a:srgbClr val="000000"/>
                </a:solidFill>
                <a:effectLst/>
                <a:latin typeface="Consolas" panose="020B0609020204030204" pitchFamily="49" charset="0"/>
              </a:rPr>
              <a:t>;</a:t>
            </a:r>
          </a:p>
          <a:p>
            <a:pPr marL="0" indent="0">
              <a:buNone/>
            </a:pPr>
            <a:r>
              <a:rPr lang="en-IN" b="0" dirty="0">
                <a:solidFill>
                  <a:srgbClr val="AF00DB"/>
                </a:solidFill>
                <a:effectLst/>
                <a:latin typeface="Consolas" panose="020B0609020204030204" pitchFamily="49" charset="0"/>
              </a:rPr>
              <a:t>import</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reportWebVitals</a:t>
            </a:r>
            <a:r>
              <a:rPr lang="en-IN" b="0" dirty="0">
                <a:solidFill>
                  <a:srgbClr val="000000"/>
                </a:solidFill>
                <a:effectLst/>
                <a:latin typeface="Consolas" panose="020B0609020204030204" pitchFamily="49" charset="0"/>
              </a:rPr>
              <a:t> </a:t>
            </a:r>
            <a:r>
              <a:rPr lang="en-IN" b="0" dirty="0">
                <a:solidFill>
                  <a:srgbClr val="AF00DB"/>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reportWebVitals</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a:t>
            </a:r>
          </a:p>
          <a:p>
            <a:pPr marL="0" indent="0">
              <a:buNone/>
            </a:pPr>
            <a:br>
              <a:rPr lang="en-IN" b="0" dirty="0">
                <a:solidFill>
                  <a:srgbClr val="000000"/>
                </a:solidFill>
                <a:effectLst/>
                <a:latin typeface="Consolas" panose="020B0609020204030204" pitchFamily="49" charset="0"/>
              </a:rPr>
            </a:br>
            <a:r>
              <a:rPr lang="en-IN" b="0" dirty="0" err="1">
                <a:solidFill>
                  <a:srgbClr val="001080"/>
                </a:solidFill>
                <a:effectLst/>
                <a:latin typeface="Consolas" panose="020B0609020204030204" pitchFamily="49" charset="0"/>
              </a:rPr>
              <a:t>ReactDOM</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render</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a:t>
            </a:r>
            <a:r>
              <a:rPr lang="en-IN" b="0" dirty="0" err="1">
                <a:solidFill>
                  <a:srgbClr val="267F99"/>
                </a:solidFill>
                <a:effectLst/>
                <a:latin typeface="Consolas" panose="020B0609020204030204" pitchFamily="49" charset="0"/>
              </a:rPr>
              <a:t>React.StrictMode</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pPr marL="0" indent="0">
              <a:buNone/>
            </a:pP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a:t>
            </a:r>
            <a:r>
              <a:rPr lang="en-IN" b="0" dirty="0">
                <a:solidFill>
                  <a:srgbClr val="267F99"/>
                </a:solidFill>
                <a:effectLst/>
                <a:latin typeface="Consolas" panose="020B0609020204030204" pitchFamily="49" charset="0"/>
              </a:rPr>
              <a:t>App</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pPr marL="0" indent="0">
              <a:buNone/>
            </a:pP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a:t>
            </a:r>
            <a:r>
              <a:rPr lang="en-IN" b="0" dirty="0" err="1">
                <a:solidFill>
                  <a:srgbClr val="267F99"/>
                </a:solidFill>
                <a:effectLst/>
                <a:latin typeface="Consolas" panose="020B0609020204030204" pitchFamily="49" charset="0"/>
              </a:rPr>
              <a:t>React.StrictMode</a:t>
            </a:r>
            <a:r>
              <a:rPr lang="en-IN" b="0" dirty="0">
                <a:solidFill>
                  <a:srgbClr val="800000"/>
                </a:solidFill>
                <a:effectLst/>
                <a:latin typeface="Consolas" panose="020B0609020204030204" pitchFamily="49" charset="0"/>
              </a:rPr>
              <a:t>&gt;</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getElementById</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'root'</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a:t>
            </a:r>
          </a:p>
          <a:p>
            <a:pPr marL="0" indent="0">
              <a:buNone/>
            </a:pPr>
            <a:br>
              <a:rPr lang="en-IN" b="0" dirty="0">
                <a:solidFill>
                  <a:srgbClr val="000000"/>
                </a:solidFill>
                <a:effectLst/>
                <a:latin typeface="Consolas" panose="020B0609020204030204" pitchFamily="49" charset="0"/>
              </a:rPr>
            </a:br>
            <a:r>
              <a:rPr lang="en-IN" b="0" dirty="0">
                <a:solidFill>
                  <a:srgbClr val="008000"/>
                </a:solidFill>
                <a:effectLst/>
                <a:latin typeface="Consolas" panose="020B0609020204030204" pitchFamily="49" charset="0"/>
              </a:rPr>
              <a:t>// If you want to start measuring performance in your app, pass a function</a:t>
            </a:r>
            <a:endParaRPr lang="en-IN" b="0" dirty="0">
              <a:solidFill>
                <a:srgbClr val="000000"/>
              </a:solidFill>
              <a:effectLst/>
              <a:latin typeface="Consolas" panose="020B0609020204030204" pitchFamily="49" charset="0"/>
            </a:endParaRPr>
          </a:p>
          <a:p>
            <a:pPr marL="0" indent="0">
              <a:buNone/>
            </a:pPr>
            <a:r>
              <a:rPr lang="en-IN" b="0" dirty="0">
                <a:solidFill>
                  <a:srgbClr val="008000"/>
                </a:solidFill>
                <a:effectLst/>
                <a:latin typeface="Consolas" panose="020B0609020204030204" pitchFamily="49" charset="0"/>
              </a:rPr>
              <a:t>// to log results (for example: </a:t>
            </a:r>
            <a:r>
              <a:rPr lang="en-IN" b="0" dirty="0" err="1">
                <a:solidFill>
                  <a:srgbClr val="008000"/>
                </a:solidFill>
                <a:effectLst/>
                <a:latin typeface="Consolas" panose="020B0609020204030204" pitchFamily="49" charset="0"/>
              </a:rPr>
              <a:t>reportWebVitals</a:t>
            </a:r>
            <a:r>
              <a:rPr lang="en-IN" b="0" dirty="0">
                <a:solidFill>
                  <a:srgbClr val="008000"/>
                </a:solidFill>
                <a:effectLst/>
                <a:latin typeface="Consolas" panose="020B0609020204030204" pitchFamily="49" charset="0"/>
              </a:rPr>
              <a:t>(console.log))</a:t>
            </a:r>
            <a:endParaRPr lang="en-IN" b="0" dirty="0">
              <a:solidFill>
                <a:srgbClr val="000000"/>
              </a:solidFill>
              <a:effectLst/>
              <a:latin typeface="Consolas" panose="020B0609020204030204" pitchFamily="49" charset="0"/>
            </a:endParaRPr>
          </a:p>
          <a:p>
            <a:pPr marL="0" indent="0">
              <a:buNone/>
            </a:pPr>
            <a:r>
              <a:rPr lang="en-IN" b="0" dirty="0">
                <a:solidFill>
                  <a:srgbClr val="008000"/>
                </a:solidFill>
                <a:effectLst/>
                <a:latin typeface="Consolas" panose="020B0609020204030204" pitchFamily="49" charset="0"/>
              </a:rPr>
              <a:t>// or send to an analytics endpoint. Learn more: https://bit.ly/CRA-vitals</a:t>
            </a:r>
            <a:endParaRPr lang="en-IN" b="0" dirty="0">
              <a:solidFill>
                <a:srgbClr val="000000"/>
              </a:solidFill>
              <a:effectLst/>
              <a:latin typeface="Consolas" panose="020B0609020204030204" pitchFamily="49" charset="0"/>
            </a:endParaRPr>
          </a:p>
          <a:p>
            <a:pPr marL="0" indent="0">
              <a:buNone/>
            </a:pPr>
            <a:r>
              <a:rPr lang="en-IN" b="0" dirty="0" err="1">
                <a:solidFill>
                  <a:srgbClr val="795E26"/>
                </a:solidFill>
                <a:effectLst/>
                <a:latin typeface="Consolas" panose="020B0609020204030204" pitchFamily="49" charset="0"/>
              </a:rPr>
              <a:t>reportWebVitals</a:t>
            </a:r>
            <a:r>
              <a:rPr lang="en-IN" b="0" dirty="0">
                <a:solidFill>
                  <a:srgbClr val="000000"/>
                </a:solidFill>
                <a:effectLst/>
                <a:latin typeface="Consolas" panose="020B0609020204030204" pitchFamily="49" charset="0"/>
              </a:rPr>
              <a:t>();</a:t>
            </a:r>
          </a:p>
          <a:p>
            <a:pPr marL="0" indent="0">
              <a:buNone/>
            </a:pPr>
            <a:br>
              <a:rPr lang="en-IN" b="0" dirty="0">
                <a:solidFill>
                  <a:srgbClr val="000000"/>
                </a:solidFill>
                <a:effectLst/>
                <a:latin typeface="Consolas" panose="020B0609020204030204" pitchFamily="49" charset="0"/>
              </a:rPr>
            </a:br>
            <a:endParaRPr lang="en-IN" b="0" dirty="0">
              <a:solidFill>
                <a:srgbClr val="000000"/>
              </a:solidFill>
              <a:effectLst/>
              <a:latin typeface="Consolas" panose="020B0609020204030204" pitchFamily="49" charset="0"/>
            </a:endParaRPr>
          </a:p>
          <a:p>
            <a:pPr marL="0" indent="0">
              <a:buNone/>
            </a:pPr>
            <a:endParaRPr lang="en-IN" dirty="0"/>
          </a:p>
        </p:txBody>
      </p:sp>
      <p:grpSp>
        <p:nvGrpSpPr>
          <p:cNvPr id="5" name="Group 4">
            <a:extLst>
              <a:ext uri="{FF2B5EF4-FFF2-40B4-BE49-F238E27FC236}">
                <a16:creationId xmlns:a16="http://schemas.microsoft.com/office/drawing/2014/main" id="{CF5BD1E1-3C4F-4173-8E90-EEF29596CD79}"/>
              </a:ext>
            </a:extLst>
          </p:cNvPr>
          <p:cNvGrpSpPr/>
          <p:nvPr/>
        </p:nvGrpSpPr>
        <p:grpSpPr>
          <a:xfrm>
            <a:off x="9134167" y="884904"/>
            <a:ext cx="2713705" cy="4559767"/>
            <a:chOff x="9134167" y="884904"/>
            <a:chExt cx="2713705" cy="4559767"/>
          </a:xfrm>
        </p:grpSpPr>
        <p:pic>
          <p:nvPicPr>
            <p:cNvPr id="2050" name="Picture 2">
              <a:extLst>
                <a:ext uri="{FF2B5EF4-FFF2-40B4-BE49-F238E27FC236}">
                  <a16:creationId xmlns:a16="http://schemas.microsoft.com/office/drawing/2014/main" id="{E8FFDCA2-310A-4E4C-824E-B35204798ED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71222" b="-872"/>
            <a:stretch/>
          </p:blipFill>
          <p:spPr bwMode="auto">
            <a:xfrm>
              <a:off x="9134167" y="884904"/>
              <a:ext cx="2644878" cy="455976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5EFF96A8-F814-485E-B77A-AAA7CF8724AF}"/>
                </a:ext>
              </a:extLst>
            </p:cNvPr>
            <p:cNvSpPr/>
            <p:nvPr/>
          </p:nvSpPr>
          <p:spPr>
            <a:xfrm>
              <a:off x="10874478" y="2536723"/>
              <a:ext cx="973394" cy="511277"/>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grpSp>
    </p:spTree>
    <p:extLst>
      <p:ext uri="{BB962C8B-B14F-4D97-AF65-F5344CB8AC3E}">
        <p14:creationId xmlns:p14="http://schemas.microsoft.com/office/powerpoint/2010/main" val="13707069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6788B-8BD5-4D29-8D31-D6AB6048F3AE}"/>
              </a:ext>
            </a:extLst>
          </p:cNvPr>
          <p:cNvSpPr>
            <a:spLocks noGrp="1"/>
          </p:cNvSpPr>
          <p:nvPr>
            <p:ph type="title"/>
          </p:nvPr>
        </p:nvSpPr>
        <p:spPr>
          <a:xfrm>
            <a:off x="1455175" y="-93409"/>
            <a:ext cx="2025444" cy="501445"/>
          </a:xfrm>
        </p:spPr>
        <p:txBody>
          <a:bodyPr>
            <a:normAutofit fontScale="90000"/>
          </a:bodyPr>
          <a:lstStyle/>
          <a:p>
            <a:r>
              <a:rPr lang="en-IN" sz="1600" b="1" dirty="0"/>
              <a:t>Certain rules to follow</a:t>
            </a:r>
          </a:p>
        </p:txBody>
      </p:sp>
      <p:sp>
        <p:nvSpPr>
          <p:cNvPr id="3" name="Content Placeholder 2">
            <a:extLst>
              <a:ext uri="{FF2B5EF4-FFF2-40B4-BE49-F238E27FC236}">
                <a16:creationId xmlns:a16="http://schemas.microsoft.com/office/drawing/2014/main" id="{BDDF08DE-ECB3-46B9-8D03-DABBFA5B53C3}"/>
              </a:ext>
            </a:extLst>
          </p:cNvPr>
          <p:cNvSpPr>
            <a:spLocks noGrp="1"/>
          </p:cNvSpPr>
          <p:nvPr>
            <p:ph idx="1"/>
          </p:nvPr>
        </p:nvSpPr>
        <p:spPr>
          <a:xfrm>
            <a:off x="87263" y="250722"/>
            <a:ext cx="11711448" cy="3458862"/>
          </a:xfrm>
        </p:spPr>
        <p:txBody>
          <a:bodyPr>
            <a:noAutofit/>
          </a:bodyPr>
          <a:lstStyle/>
          <a:p>
            <a:pPr marL="0" indent="0" algn="l">
              <a:buNone/>
            </a:pPr>
            <a:r>
              <a:rPr lang="en-US" sz="1600" b="0" i="0" dirty="0">
                <a:effectLst/>
                <a:latin typeface="Arial" panose="020B0604020202020204" pitchFamily="34" charset="0"/>
              </a:rPr>
              <a:t>	</a:t>
            </a:r>
            <a:r>
              <a:rPr lang="en-US" sz="1600" b="1" i="0" dirty="0">
                <a:effectLst/>
                <a:latin typeface="Arial" panose="020B0604020202020204" pitchFamily="34" charset="0"/>
              </a:rPr>
              <a:t>Nested Elements</a:t>
            </a:r>
          </a:p>
          <a:p>
            <a:pPr marL="0" indent="0" algn="just">
              <a:buNone/>
            </a:pPr>
            <a:r>
              <a:rPr lang="en-US" sz="1600" b="0" i="0" dirty="0">
                <a:solidFill>
                  <a:srgbClr val="000000"/>
                </a:solidFill>
                <a:effectLst/>
                <a:latin typeface="Arial" panose="020B0604020202020204" pitchFamily="34" charset="0"/>
              </a:rPr>
              <a:t>If we want to return more elements, we need to wrap it with one container element. Notice how we are using </a:t>
            </a:r>
            <a:r>
              <a:rPr lang="en-US" sz="1600" b="1" i="0" dirty="0">
                <a:solidFill>
                  <a:srgbClr val="000000"/>
                </a:solidFill>
                <a:effectLst/>
                <a:latin typeface="Arial" panose="020B0604020202020204" pitchFamily="34" charset="0"/>
              </a:rPr>
              <a:t>div</a:t>
            </a:r>
            <a:r>
              <a:rPr lang="en-US" sz="1600" b="0" i="0" dirty="0">
                <a:solidFill>
                  <a:srgbClr val="000000"/>
                </a:solidFill>
                <a:effectLst/>
                <a:latin typeface="Arial" panose="020B0604020202020204" pitchFamily="34" charset="0"/>
              </a:rPr>
              <a:t> as a wrapper for </a:t>
            </a:r>
            <a:r>
              <a:rPr lang="en-US" sz="1600" b="1" i="0" dirty="0">
                <a:solidFill>
                  <a:srgbClr val="000000"/>
                </a:solidFill>
                <a:effectLst/>
                <a:latin typeface="Arial" panose="020B0604020202020204" pitchFamily="34" charset="0"/>
              </a:rPr>
              <a:t>h1</a:t>
            </a:r>
            <a:r>
              <a:rPr lang="en-US" sz="1600" b="0" i="0" dirty="0">
                <a:solidFill>
                  <a:srgbClr val="000000"/>
                </a:solidFill>
                <a:effectLst/>
                <a:latin typeface="Arial" panose="020B0604020202020204" pitchFamily="34" charset="0"/>
              </a:rPr>
              <a:t>, </a:t>
            </a:r>
            <a:r>
              <a:rPr lang="en-US" sz="1600" b="1" i="0" dirty="0">
                <a:solidFill>
                  <a:srgbClr val="000000"/>
                </a:solidFill>
                <a:effectLst/>
                <a:latin typeface="Arial" panose="020B0604020202020204" pitchFamily="34" charset="0"/>
              </a:rPr>
              <a:t>h2</a:t>
            </a:r>
            <a:r>
              <a:rPr lang="en-US" sz="1600" b="0" i="0" dirty="0">
                <a:solidFill>
                  <a:srgbClr val="000000"/>
                </a:solidFill>
                <a:effectLst/>
                <a:latin typeface="Arial" panose="020B0604020202020204" pitchFamily="34" charset="0"/>
              </a:rPr>
              <a:t> and </a:t>
            </a:r>
            <a:r>
              <a:rPr lang="en-US" sz="1600" b="1" i="0" dirty="0">
                <a:solidFill>
                  <a:srgbClr val="000000"/>
                </a:solidFill>
                <a:effectLst/>
                <a:latin typeface="Arial" panose="020B0604020202020204" pitchFamily="34" charset="0"/>
              </a:rPr>
              <a:t>p</a:t>
            </a:r>
            <a:r>
              <a:rPr lang="en-US" sz="1600" b="0" i="0" dirty="0">
                <a:solidFill>
                  <a:srgbClr val="000000"/>
                </a:solidFill>
                <a:effectLst/>
                <a:latin typeface="Arial" panose="020B0604020202020204" pitchFamily="34" charset="0"/>
              </a:rPr>
              <a:t> elements.</a:t>
            </a:r>
          </a:p>
          <a:p>
            <a:pPr marL="0" indent="0">
              <a:buNone/>
            </a:pPr>
            <a:r>
              <a:rPr lang="en-US" sz="1600" b="0" dirty="0">
                <a:solidFill>
                  <a:srgbClr val="000000"/>
                </a:solidFill>
                <a:effectLst/>
                <a:latin typeface="Consolas" panose="020B0609020204030204" pitchFamily="49" charset="0"/>
              </a:rPr>
              <a:t>function </a:t>
            </a:r>
            <a:r>
              <a:rPr lang="en-US" sz="1600" b="0" dirty="0" err="1">
                <a:solidFill>
                  <a:srgbClr val="000000"/>
                </a:solidFill>
                <a:effectLst/>
                <a:latin typeface="Consolas" panose="020B0609020204030204" pitchFamily="49" charset="0"/>
              </a:rPr>
              <a:t>getdata</a:t>
            </a:r>
            <a:r>
              <a:rPr lang="en-US" sz="1600" b="0" dirty="0">
                <a:solidFill>
                  <a:srgbClr val="000000"/>
                </a:solidFill>
                <a:effectLst/>
                <a:latin typeface="Consolas" panose="020B0609020204030204" pitchFamily="49" charset="0"/>
              </a:rPr>
              <a:t>()</a:t>
            </a:r>
          </a:p>
          <a:p>
            <a:pPr marL="0" indent="0">
              <a:buNone/>
            </a:pPr>
            <a:r>
              <a:rPr lang="en-US" sz="1600" b="0" dirty="0">
                <a:solidFill>
                  <a:srgbClr val="000000"/>
                </a:solidFill>
                <a:effectLst/>
                <a:latin typeface="Consolas" panose="020B0609020204030204" pitchFamily="49" charset="0"/>
              </a:rPr>
              <a:t>	{  </a:t>
            </a:r>
            <a:r>
              <a:rPr lang="en-US" sz="1600" b="0" dirty="0">
                <a:solidFill>
                  <a:srgbClr val="AF00DB"/>
                </a:solidFill>
                <a:effectLst/>
                <a:latin typeface="Consolas" panose="020B0609020204030204" pitchFamily="49" charset="0"/>
              </a:rPr>
              <a:t>return</a:t>
            </a:r>
            <a:r>
              <a:rPr lang="en-US" sz="1600" b="0" dirty="0">
                <a:solidFill>
                  <a:srgbClr val="000000"/>
                </a:solidFill>
                <a:effectLst/>
                <a:latin typeface="Consolas" panose="020B0609020204030204" pitchFamily="49" charset="0"/>
              </a:rPr>
              <a:t> (</a:t>
            </a:r>
          </a:p>
          <a:p>
            <a:pPr marL="0" indent="0">
              <a:buNone/>
            </a:pPr>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&lt;div&gt;</a:t>
            </a:r>
            <a:endParaRPr lang="en-US" sz="1600" b="0" dirty="0">
              <a:solidFill>
                <a:srgbClr val="000000"/>
              </a:solidFill>
              <a:effectLst/>
              <a:latin typeface="Consolas" panose="020B0609020204030204" pitchFamily="49" charset="0"/>
            </a:endParaRPr>
          </a:p>
          <a:p>
            <a:pPr marL="0" indent="0">
              <a:buNone/>
            </a:pPr>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&lt;h1&gt;</a:t>
            </a:r>
            <a:r>
              <a:rPr lang="en-US" sz="1600" b="0" dirty="0">
                <a:solidFill>
                  <a:srgbClr val="000000"/>
                </a:solidFill>
                <a:effectLst/>
                <a:latin typeface="Consolas" panose="020B0609020204030204" pitchFamily="49" charset="0"/>
              </a:rPr>
              <a:t>Header</a:t>
            </a:r>
            <a:r>
              <a:rPr lang="en-US" sz="1600" b="0" dirty="0">
                <a:solidFill>
                  <a:srgbClr val="800000"/>
                </a:solidFill>
                <a:effectLst/>
                <a:latin typeface="Consolas" panose="020B0609020204030204" pitchFamily="49" charset="0"/>
              </a:rPr>
              <a:t>&lt;/h1&gt;</a:t>
            </a:r>
            <a:endParaRPr lang="en-US" sz="1600" b="0" dirty="0">
              <a:solidFill>
                <a:srgbClr val="000000"/>
              </a:solidFill>
              <a:effectLst/>
              <a:latin typeface="Consolas" panose="020B0609020204030204" pitchFamily="49" charset="0"/>
            </a:endParaRPr>
          </a:p>
          <a:p>
            <a:pPr marL="0" indent="0">
              <a:buNone/>
            </a:pPr>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&lt;h2&gt;</a:t>
            </a:r>
            <a:r>
              <a:rPr lang="en-US" sz="1600" b="0" dirty="0">
                <a:solidFill>
                  <a:srgbClr val="000000"/>
                </a:solidFill>
                <a:effectLst/>
                <a:latin typeface="Consolas" panose="020B0609020204030204" pitchFamily="49" charset="0"/>
              </a:rPr>
              <a:t>Content</a:t>
            </a:r>
            <a:r>
              <a:rPr lang="en-US" sz="1600" b="0" dirty="0">
                <a:solidFill>
                  <a:srgbClr val="800000"/>
                </a:solidFill>
                <a:effectLst/>
                <a:latin typeface="Consolas" panose="020B0609020204030204" pitchFamily="49" charset="0"/>
              </a:rPr>
              <a:t>&lt;/h2&gt;</a:t>
            </a:r>
            <a:endParaRPr lang="en-US" sz="1600" b="0" dirty="0">
              <a:solidFill>
                <a:srgbClr val="000000"/>
              </a:solidFill>
              <a:effectLst/>
              <a:latin typeface="Consolas" panose="020B0609020204030204" pitchFamily="49" charset="0"/>
            </a:endParaRPr>
          </a:p>
          <a:p>
            <a:pPr marL="0" indent="0">
              <a:buNone/>
            </a:pPr>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&lt;p&gt;</a:t>
            </a:r>
            <a:r>
              <a:rPr lang="en-US" sz="1600" b="0" dirty="0">
                <a:solidFill>
                  <a:srgbClr val="000000"/>
                </a:solidFill>
                <a:effectLst/>
                <a:latin typeface="Consolas" panose="020B0609020204030204" pitchFamily="49" charset="0"/>
              </a:rPr>
              <a:t>This is the content!!!</a:t>
            </a:r>
            <a:r>
              <a:rPr lang="en-US" sz="1600" b="0" dirty="0">
                <a:solidFill>
                  <a:srgbClr val="800000"/>
                </a:solidFill>
                <a:effectLst/>
                <a:latin typeface="Consolas" panose="020B0609020204030204" pitchFamily="49" charset="0"/>
              </a:rPr>
              <a:t>&lt;/p&gt;</a:t>
            </a:r>
            <a:endParaRPr lang="en-US" sz="1600" b="0" dirty="0">
              <a:solidFill>
                <a:srgbClr val="000000"/>
              </a:solidFill>
              <a:effectLst/>
              <a:latin typeface="Consolas" panose="020B0609020204030204" pitchFamily="49" charset="0"/>
            </a:endParaRPr>
          </a:p>
          <a:p>
            <a:pPr marL="0" indent="0">
              <a:buNone/>
            </a:pPr>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&lt;/div&gt;</a:t>
            </a:r>
            <a:endParaRPr lang="en-US" sz="1600" b="0" dirty="0">
              <a:solidFill>
                <a:srgbClr val="000000"/>
              </a:solidFill>
              <a:effectLst/>
              <a:latin typeface="Consolas" panose="020B0609020204030204" pitchFamily="49" charset="0"/>
            </a:endParaRPr>
          </a:p>
          <a:p>
            <a:pPr marL="0" indent="0">
              <a:buNone/>
            </a:pPr>
            <a:r>
              <a:rPr lang="en-US" sz="1600" b="0" dirty="0">
                <a:solidFill>
                  <a:srgbClr val="000000"/>
                </a:solidFill>
                <a:effectLst/>
                <a:latin typeface="Consolas" panose="020B0609020204030204" pitchFamily="49" charset="0"/>
              </a:rPr>
              <a:t>  );}</a:t>
            </a:r>
          </a:p>
          <a:p>
            <a:pPr marL="0" indent="0">
              <a:buNone/>
            </a:pPr>
            <a:endParaRPr lang="en-IN" sz="1600" dirty="0"/>
          </a:p>
        </p:txBody>
      </p:sp>
      <p:sp>
        <p:nvSpPr>
          <p:cNvPr id="5" name="TextBox 4">
            <a:extLst>
              <a:ext uri="{FF2B5EF4-FFF2-40B4-BE49-F238E27FC236}">
                <a16:creationId xmlns:a16="http://schemas.microsoft.com/office/drawing/2014/main" id="{006EDA57-0C5A-4247-8C13-E0851CEA6C75}"/>
              </a:ext>
            </a:extLst>
          </p:cNvPr>
          <p:cNvSpPr txBox="1"/>
          <p:nvPr/>
        </p:nvSpPr>
        <p:spPr>
          <a:xfrm>
            <a:off x="87263" y="3832099"/>
            <a:ext cx="12260826" cy="1323439"/>
          </a:xfrm>
          <a:prstGeom prst="rect">
            <a:avLst/>
          </a:prstGeom>
          <a:noFill/>
        </p:spPr>
        <p:txBody>
          <a:bodyPr wrap="square">
            <a:spAutoFit/>
          </a:bodyPr>
          <a:lstStyle/>
          <a:p>
            <a:pPr algn="l"/>
            <a:r>
              <a:rPr lang="en-US" sz="1600" b="1" i="0" dirty="0">
                <a:effectLst/>
                <a:latin typeface="Arial" panose="020B0604020202020204" pitchFamily="34" charset="0"/>
              </a:rPr>
              <a:t>Attributes</a:t>
            </a:r>
          </a:p>
          <a:p>
            <a:pPr algn="just"/>
            <a:r>
              <a:rPr lang="en-US" sz="1600" b="0" i="0" dirty="0">
                <a:solidFill>
                  <a:srgbClr val="000000"/>
                </a:solidFill>
                <a:effectLst/>
                <a:latin typeface="Arial" panose="020B0604020202020204" pitchFamily="34" charset="0"/>
              </a:rPr>
              <a:t>We can use our own custom attributes in addition to regular HTML properties and attributes. When we want to add custom attribute, we need to use </a:t>
            </a:r>
            <a:r>
              <a:rPr lang="en-US" sz="1600" b="1" i="0" dirty="0">
                <a:solidFill>
                  <a:srgbClr val="000000"/>
                </a:solidFill>
                <a:effectLst/>
                <a:latin typeface="Arial" panose="020B0604020202020204" pitchFamily="34" charset="0"/>
              </a:rPr>
              <a:t>data-</a:t>
            </a:r>
            <a:r>
              <a:rPr lang="en-US" sz="1600" b="0" i="0" dirty="0">
                <a:solidFill>
                  <a:srgbClr val="000000"/>
                </a:solidFill>
                <a:effectLst/>
                <a:latin typeface="Arial" panose="020B0604020202020204" pitchFamily="34" charset="0"/>
              </a:rPr>
              <a:t> prefix. In the following example, we added </a:t>
            </a:r>
            <a:r>
              <a:rPr lang="en-US" sz="1600" b="1" i="0" dirty="0">
                <a:solidFill>
                  <a:srgbClr val="000000"/>
                </a:solidFill>
                <a:effectLst/>
                <a:latin typeface="Arial" panose="020B0604020202020204" pitchFamily="34" charset="0"/>
              </a:rPr>
              <a:t>data-</a:t>
            </a:r>
            <a:r>
              <a:rPr lang="en-US" sz="1600" b="1" i="0" dirty="0" err="1">
                <a:solidFill>
                  <a:srgbClr val="000000"/>
                </a:solidFill>
                <a:effectLst/>
                <a:latin typeface="Arial" panose="020B0604020202020204" pitchFamily="34" charset="0"/>
              </a:rPr>
              <a:t>myattribute</a:t>
            </a:r>
            <a:r>
              <a:rPr lang="en-US" sz="1600" b="0" i="0" dirty="0">
                <a:solidFill>
                  <a:srgbClr val="000000"/>
                </a:solidFill>
                <a:effectLst/>
                <a:latin typeface="Arial" panose="020B0604020202020204" pitchFamily="34" charset="0"/>
              </a:rPr>
              <a:t> as an attribute of </a:t>
            </a:r>
            <a:r>
              <a:rPr lang="en-US" sz="1600" b="1" i="0" dirty="0">
                <a:solidFill>
                  <a:srgbClr val="000000"/>
                </a:solidFill>
                <a:effectLst/>
                <a:latin typeface="Arial" panose="020B0604020202020204" pitchFamily="34" charset="0"/>
              </a:rPr>
              <a:t>p</a:t>
            </a:r>
            <a:r>
              <a:rPr lang="en-US" sz="1600" b="0" i="0" dirty="0">
                <a:solidFill>
                  <a:srgbClr val="000000"/>
                </a:solidFill>
                <a:effectLst/>
                <a:latin typeface="Arial" panose="020B0604020202020204" pitchFamily="34" charset="0"/>
              </a:rPr>
              <a:t> element.</a:t>
            </a:r>
          </a:p>
          <a:p>
            <a:pPr algn="just"/>
            <a:r>
              <a:rPr lang="en-US" sz="1600" b="0" dirty="0">
                <a:solidFill>
                  <a:srgbClr val="800000"/>
                </a:solidFill>
                <a:effectLst/>
                <a:latin typeface="Consolas" panose="020B0609020204030204" pitchFamily="49" charset="0"/>
              </a:rPr>
              <a:t>&lt;p</a:t>
            </a:r>
            <a:r>
              <a:rPr lang="en-US" sz="1600" b="0" dirty="0">
                <a:solidFill>
                  <a:srgbClr val="000000"/>
                </a:solidFill>
                <a:effectLst/>
                <a:latin typeface="Consolas" panose="020B0609020204030204" pitchFamily="49" charset="0"/>
              </a:rPr>
              <a:t> </a:t>
            </a:r>
            <a:r>
              <a:rPr lang="en-US" sz="1600" b="0" dirty="0">
                <a:solidFill>
                  <a:srgbClr val="FF0000"/>
                </a:solidFill>
                <a:effectLst/>
                <a:latin typeface="Consolas" panose="020B0609020204030204" pitchFamily="49" charset="0"/>
              </a:rPr>
              <a:t>data-</a:t>
            </a:r>
            <a:r>
              <a:rPr lang="en-US" sz="1600" b="0" dirty="0" err="1">
                <a:solidFill>
                  <a:srgbClr val="FF0000"/>
                </a:solidFill>
                <a:effectLst/>
                <a:latin typeface="Consolas" panose="020B0609020204030204" pitchFamily="49" charset="0"/>
              </a:rPr>
              <a:t>myattribute</a:t>
            </a:r>
            <a:r>
              <a:rPr lang="en-US" sz="1600" b="0" dirty="0">
                <a:solidFill>
                  <a:srgbClr val="000000"/>
                </a:solidFill>
                <a:effectLst/>
                <a:latin typeface="Consolas" panose="020B0609020204030204" pitchFamily="49" charset="0"/>
              </a:rPr>
              <a:t> = </a:t>
            </a:r>
            <a:r>
              <a:rPr lang="en-US" sz="1600" b="0" dirty="0">
                <a:solidFill>
                  <a:srgbClr val="A31515"/>
                </a:solidFill>
                <a:effectLst/>
                <a:latin typeface="Consolas" panose="020B0609020204030204" pitchFamily="49" charset="0"/>
              </a:rPr>
              <a:t>"</a:t>
            </a:r>
            <a:r>
              <a:rPr lang="en-US" sz="1600" b="0" dirty="0" err="1">
                <a:solidFill>
                  <a:srgbClr val="A31515"/>
                </a:solidFill>
                <a:effectLst/>
                <a:latin typeface="Consolas" panose="020B0609020204030204" pitchFamily="49" charset="0"/>
              </a:rPr>
              <a:t>somevalue</a:t>
            </a:r>
            <a:r>
              <a:rPr lang="en-US" sz="1600" b="0" dirty="0">
                <a:solidFill>
                  <a:srgbClr val="A31515"/>
                </a:solidFill>
                <a:effectLst/>
                <a:latin typeface="Consolas" panose="020B0609020204030204" pitchFamily="49" charset="0"/>
              </a:rPr>
              <a:t>"</a:t>
            </a:r>
            <a:r>
              <a:rPr lang="en-US" sz="1600" b="0" dirty="0">
                <a:solidFill>
                  <a:srgbClr val="800000"/>
                </a:solidFill>
                <a:effectLst/>
                <a:latin typeface="Consolas" panose="020B0609020204030204" pitchFamily="49" charset="0"/>
              </a:rPr>
              <a:t>&gt;</a:t>
            </a:r>
            <a:r>
              <a:rPr lang="en-US" sz="1600" b="0" dirty="0">
                <a:solidFill>
                  <a:srgbClr val="000000"/>
                </a:solidFill>
                <a:effectLst/>
                <a:latin typeface="Consolas" panose="020B0609020204030204" pitchFamily="49" charset="0"/>
              </a:rPr>
              <a:t>This is the content!!!</a:t>
            </a:r>
            <a:r>
              <a:rPr lang="en-US" sz="1600" b="0" dirty="0">
                <a:solidFill>
                  <a:srgbClr val="800000"/>
                </a:solidFill>
                <a:effectLst/>
                <a:latin typeface="Consolas" panose="020B0609020204030204" pitchFamily="49" charset="0"/>
              </a:rPr>
              <a:t>&lt;/p&gt;</a:t>
            </a:r>
            <a:endParaRPr lang="en-US" sz="1600" b="0" dirty="0">
              <a:solidFill>
                <a:srgbClr val="000000"/>
              </a:solidFill>
              <a:effectLst/>
              <a:latin typeface="Consolas" panose="020B0609020204030204" pitchFamily="49" charset="0"/>
            </a:endParaRPr>
          </a:p>
          <a:p>
            <a:pPr algn="just"/>
            <a:endParaRPr lang="en-US" sz="1600" b="0" i="0" dirty="0">
              <a:solidFill>
                <a:srgbClr val="000000"/>
              </a:solidFill>
              <a:effectLst/>
              <a:latin typeface="Arial" panose="020B0604020202020204" pitchFamily="34" charset="0"/>
            </a:endParaRPr>
          </a:p>
        </p:txBody>
      </p:sp>
      <p:sp>
        <p:nvSpPr>
          <p:cNvPr id="7" name="TextBox 6">
            <a:extLst>
              <a:ext uri="{FF2B5EF4-FFF2-40B4-BE49-F238E27FC236}">
                <a16:creationId xmlns:a16="http://schemas.microsoft.com/office/drawing/2014/main" id="{98DACAA5-7425-401F-B680-760BFC2C7F45}"/>
              </a:ext>
            </a:extLst>
          </p:cNvPr>
          <p:cNvSpPr txBox="1"/>
          <p:nvPr/>
        </p:nvSpPr>
        <p:spPr>
          <a:xfrm>
            <a:off x="-24581" y="4969413"/>
            <a:ext cx="12216581" cy="1200329"/>
          </a:xfrm>
          <a:prstGeom prst="rect">
            <a:avLst/>
          </a:prstGeom>
          <a:noFill/>
        </p:spPr>
        <p:txBody>
          <a:bodyPr wrap="square">
            <a:spAutoFit/>
          </a:bodyPr>
          <a:lstStyle/>
          <a:p>
            <a:pPr algn="l"/>
            <a:r>
              <a:rPr lang="en-US" b="1" i="0" dirty="0">
                <a:effectLst/>
                <a:latin typeface="Arial" panose="020B0604020202020204" pitchFamily="34" charset="0"/>
              </a:rPr>
              <a:t>JavaScript Expressions</a:t>
            </a:r>
          </a:p>
          <a:p>
            <a:pPr algn="just"/>
            <a:r>
              <a:rPr lang="en-US" b="0" i="0" dirty="0">
                <a:solidFill>
                  <a:srgbClr val="000000"/>
                </a:solidFill>
                <a:effectLst/>
                <a:latin typeface="Arial" panose="020B0604020202020204" pitchFamily="34" charset="0"/>
              </a:rPr>
              <a:t>JavaScript expressions can be used inside of JSX. We just need to wrap it with curly brackets </a:t>
            </a:r>
            <a:r>
              <a:rPr lang="en-US" b="1" i="0" dirty="0">
                <a:solidFill>
                  <a:srgbClr val="000000"/>
                </a:solidFill>
                <a:effectLst/>
                <a:latin typeface="Arial" panose="020B0604020202020204" pitchFamily="34" charset="0"/>
              </a:rPr>
              <a:t>{}</a:t>
            </a:r>
            <a:r>
              <a:rPr lang="en-US" b="0" i="0" dirty="0">
                <a:solidFill>
                  <a:srgbClr val="000000"/>
                </a:solidFill>
                <a:effectLst/>
                <a:latin typeface="Arial" panose="020B0604020202020204" pitchFamily="34" charset="0"/>
              </a:rPr>
              <a:t>. The following example will render </a:t>
            </a:r>
            <a:r>
              <a:rPr lang="en-US" b="1" i="0" dirty="0">
                <a:solidFill>
                  <a:srgbClr val="000000"/>
                </a:solidFill>
                <a:effectLst/>
                <a:latin typeface="Arial" panose="020B0604020202020204" pitchFamily="34" charset="0"/>
              </a:rPr>
              <a:t>2</a:t>
            </a:r>
            <a:r>
              <a:rPr lang="en-US" b="0" i="0" dirty="0">
                <a:solidFill>
                  <a:srgbClr val="000000"/>
                </a:solidFill>
                <a:effectLst/>
                <a:latin typeface="Arial" panose="020B0604020202020204" pitchFamily="34" charset="0"/>
              </a:rPr>
              <a:t>.</a:t>
            </a:r>
          </a:p>
          <a:p>
            <a:pPr algn="just"/>
            <a:r>
              <a:rPr lang="en-IN" b="0" dirty="0">
                <a:solidFill>
                  <a:srgbClr val="800000"/>
                </a:solidFill>
                <a:effectLst/>
                <a:latin typeface="Consolas" panose="020B0609020204030204" pitchFamily="49" charset="0"/>
              </a:rPr>
              <a:t>&lt;h1&gt;</a:t>
            </a:r>
            <a:r>
              <a:rPr lang="en-IN" b="0" dirty="0">
                <a:solidFill>
                  <a:srgbClr val="0000FF"/>
                </a:solidFill>
                <a:effectLst/>
                <a:latin typeface="Consolas" panose="020B0609020204030204" pitchFamily="49" charset="0"/>
              </a:rPr>
              <a:t>{</a:t>
            </a:r>
            <a:r>
              <a:rPr lang="en-IN" b="0" dirty="0">
                <a:solidFill>
                  <a:srgbClr val="098658"/>
                </a:solidFill>
                <a:effectLst/>
                <a:latin typeface="Consolas" panose="020B0609020204030204" pitchFamily="49" charset="0"/>
              </a:rPr>
              <a:t>1</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1</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&lt;/h1&gt;</a:t>
            </a:r>
            <a:endParaRPr lang="en-US" b="0" i="0"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33141399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3E6D30-9211-4D92-845C-8420F48AE282}"/>
              </a:ext>
            </a:extLst>
          </p:cNvPr>
          <p:cNvSpPr>
            <a:spLocks noGrp="1"/>
          </p:cNvSpPr>
          <p:nvPr>
            <p:ph idx="1"/>
          </p:nvPr>
        </p:nvSpPr>
        <p:spPr>
          <a:xfrm>
            <a:off x="162233" y="675590"/>
            <a:ext cx="11009671" cy="901536"/>
          </a:xfrm>
        </p:spPr>
        <p:txBody>
          <a:bodyPr>
            <a:normAutofit fontScale="92500"/>
          </a:bodyPr>
          <a:lstStyle/>
          <a:p>
            <a:r>
              <a:rPr lang="en-US" sz="1600" b="0" i="0" dirty="0">
                <a:solidFill>
                  <a:srgbClr val="000000"/>
                </a:solidFill>
                <a:effectLst/>
                <a:latin typeface="Arial" panose="020B0604020202020204" pitchFamily="34" charset="0"/>
              </a:rPr>
              <a:t>We cannot use </a:t>
            </a:r>
            <a:r>
              <a:rPr lang="en-US" sz="1600" b="1" i="0" dirty="0">
                <a:solidFill>
                  <a:srgbClr val="000000"/>
                </a:solidFill>
                <a:effectLst/>
                <a:latin typeface="Arial" panose="020B0604020202020204" pitchFamily="34" charset="0"/>
              </a:rPr>
              <a:t>if else</a:t>
            </a:r>
            <a:r>
              <a:rPr lang="en-US" sz="1600" b="0" i="0" dirty="0">
                <a:solidFill>
                  <a:srgbClr val="000000"/>
                </a:solidFill>
                <a:effectLst/>
                <a:latin typeface="Arial" panose="020B0604020202020204" pitchFamily="34" charset="0"/>
              </a:rPr>
              <a:t> statements inside JSX, instead we can use </a:t>
            </a:r>
            <a:r>
              <a:rPr lang="en-US" sz="1600" b="1" i="0" dirty="0">
                <a:solidFill>
                  <a:srgbClr val="000000"/>
                </a:solidFill>
                <a:effectLst/>
                <a:latin typeface="Arial" panose="020B0604020202020204" pitchFamily="34" charset="0"/>
              </a:rPr>
              <a:t>conditional (ternary)</a:t>
            </a:r>
            <a:r>
              <a:rPr lang="en-US" sz="1600" b="0" i="0" dirty="0">
                <a:solidFill>
                  <a:srgbClr val="000000"/>
                </a:solidFill>
                <a:effectLst/>
                <a:latin typeface="Arial" panose="020B0604020202020204" pitchFamily="34" charset="0"/>
              </a:rPr>
              <a:t> expressions. In the following example, variable </a:t>
            </a:r>
            <a:r>
              <a:rPr lang="en-US" sz="1600" b="1" i="0" dirty="0" err="1">
                <a:solidFill>
                  <a:srgbClr val="000000"/>
                </a:solidFill>
                <a:effectLst/>
                <a:latin typeface="Arial" panose="020B0604020202020204" pitchFamily="34" charset="0"/>
              </a:rPr>
              <a:t>i</a:t>
            </a:r>
            <a:r>
              <a:rPr lang="en-US" sz="1600" b="0" i="0" dirty="0">
                <a:solidFill>
                  <a:srgbClr val="000000"/>
                </a:solidFill>
                <a:effectLst/>
                <a:latin typeface="Arial" panose="020B0604020202020204" pitchFamily="34" charset="0"/>
              </a:rPr>
              <a:t> equals to </a:t>
            </a:r>
            <a:r>
              <a:rPr lang="en-US" sz="1600" b="1" i="0" dirty="0">
                <a:solidFill>
                  <a:srgbClr val="000000"/>
                </a:solidFill>
                <a:effectLst/>
                <a:latin typeface="Arial" panose="020B0604020202020204" pitchFamily="34" charset="0"/>
              </a:rPr>
              <a:t>1</a:t>
            </a:r>
            <a:r>
              <a:rPr lang="en-US" sz="1600" b="0" i="0" dirty="0">
                <a:solidFill>
                  <a:srgbClr val="000000"/>
                </a:solidFill>
                <a:effectLst/>
                <a:latin typeface="Arial" panose="020B0604020202020204" pitchFamily="34" charset="0"/>
              </a:rPr>
              <a:t> so the browser will render </a:t>
            </a:r>
            <a:r>
              <a:rPr lang="en-US" sz="1600" b="1" i="0" dirty="0">
                <a:solidFill>
                  <a:srgbClr val="000000"/>
                </a:solidFill>
                <a:effectLst/>
                <a:latin typeface="Arial" panose="020B0604020202020204" pitchFamily="34" charset="0"/>
              </a:rPr>
              <a:t>true</a:t>
            </a:r>
            <a:r>
              <a:rPr lang="en-US" sz="1600" b="0" i="0" dirty="0">
                <a:solidFill>
                  <a:srgbClr val="000000"/>
                </a:solidFill>
                <a:effectLst/>
                <a:latin typeface="Arial" panose="020B0604020202020204" pitchFamily="34" charset="0"/>
              </a:rPr>
              <a:t>, If we change it to some other value, it will render </a:t>
            </a:r>
            <a:r>
              <a:rPr lang="en-US" sz="1600" b="1" i="0" dirty="0">
                <a:solidFill>
                  <a:srgbClr val="000000"/>
                </a:solidFill>
                <a:effectLst/>
                <a:latin typeface="Arial" panose="020B0604020202020204" pitchFamily="34" charset="0"/>
              </a:rPr>
              <a:t>false</a:t>
            </a:r>
            <a:r>
              <a:rPr lang="en-US" sz="1600" b="0" i="0" dirty="0">
                <a:solidFill>
                  <a:srgbClr val="000000"/>
                </a:solidFill>
                <a:effectLst/>
                <a:latin typeface="Arial" panose="020B0604020202020204" pitchFamily="34" charset="0"/>
              </a:rPr>
              <a:t>.</a:t>
            </a:r>
          </a:p>
          <a:p>
            <a:r>
              <a:rPr lang="pt-BR" sz="1600" b="0" dirty="0">
                <a:solidFill>
                  <a:srgbClr val="800000"/>
                </a:solidFill>
                <a:effectLst/>
                <a:latin typeface="Consolas" panose="020B0609020204030204" pitchFamily="49" charset="0"/>
              </a:rPr>
              <a:t>&lt;h1&gt;</a:t>
            </a:r>
            <a:r>
              <a:rPr lang="pt-BR" sz="1600" b="0" dirty="0">
                <a:solidFill>
                  <a:srgbClr val="0000FF"/>
                </a:solidFill>
                <a:effectLst/>
                <a:latin typeface="Consolas" panose="020B0609020204030204" pitchFamily="49" charset="0"/>
              </a:rPr>
              <a:t>{</a:t>
            </a:r>
            <a:r>
              <a:rPr lang="pt-BR" sz="1600" b="0" dirty="0">
                <a:solidFill>
                  <a:srgbClr val="001080"/>
                </a:solidFill>
                <a:effectLst/>
                <a:latin typeface="Consolas" panose="020B0609020204030204" pitchFamily="49" charset="0"/>
              </a:rPr>
              <a:t>i</a:t>
            </a:r>
            <a:r>
              <a:rPr lang="pt-BR" sz="1600" b="0" dirty="0">
                <a:solidFill>
                  <a:srgbClr val="000000"/>
                </a:solidFill>
                <a:effectLst/>
                <a:latin typeface="Consolas" panose="020B0609020204030204" pitchFamily="49" charset="0"/>
              </a:rPr>
              <a:t> == </a:t>
            </a:r>
            <a:r>
              <a:rPr lang="pt-BR" sz="1600" b="0" dirty="0">
                <a:solidFill>
                  <a:srgbClr val="098658"/>
                </a:solidFill>
                <a:effectLst/>
                <a:latin typeface="Consolas" panose="020B0609020204030204" pitchFamily="49" charset="0"/>
              </a:rPr>
              <a:t>1</a:t>
            </a:r>
            <a:r>
              <a:rPr lang="pt-BR" sz="1600" b="0" dirty="0">
                <a:solidFill>
                  <a:srgbClr val="000000"/>
                </a:solidFill>
                <a:effectLst/>
                <a:latin typeface="Consolas" panose="020B0609020204030204" pitchFamily="49" charset="0"/>
              </a:rPr>
              <a:t> ? </a:t>
            </a:r>
            <a:r>
              <a:rPr lang="pt-BR" sz="1600" b="0" dirty="0">
                <a:solidFill>
                  <a:srgbClr val="A31515"/>
                </a:solidFill>
                <a:effectLst/>
                <a:latin typeface="Consolas" panose="020B0609020204030204" pitchFamily="49" charset="0"/>
              </a:rPr>
              <a:t>'True!'</a:t>
            </a:r>
            <a:r>
              <a:rPr lang="pt-BR" sz="1600" b="0" dirty="0">
                <a:solidFill>
                  <a:srgbClr val="000000"/>
                </a:solidFill>
                <a:effectLst/>
                <a:latin typeface="Consolas" panose="020B0609020204030204" pitchFamily="49" charset="0"/>
              </a:rPr>
              <a:t> : </a:t>
            </a:r>
            <a:r>
              <a:rPr lang="pt-BR" sz="1600" b="0" dirty="0">
                <a:solidFill>
                  <a:srgbClr val="A31515"/>
                </a:solidFill>
                <a:effectLst/>
                <a:latin typeface="Consolas" panose="020B0609020204030204" pitchFamily="49" charset="0"/>
              </a:rPr>
              <a:t>'False'</a:t>
            </a:r>
            <a:r>
              <a:rPr lang="pt-BR" sz="1600" b="0" dirty="0">
                <a:solidFill>
                  <a:srgbClr val="0000FF"/>
                </a:solidFill>
                <a:effectLst/>
                <a:latin typeface="Consolas" panose="020B0609020204030204" pitchFamily="49" charset="0"/>
              </a:rPr>
              <a:t>}</a:t>
            </a:r>
            <a:r>
              <a:rPr lang="pt-BR" sz="1600" b="0" dirty="0">
                <a:solidFill>
                  <a:srgbClr val="800000"/>
                </a:solidFill>
                <a:effectLst/>
                <a:latin typeface="Consolas" panose="020B0609020204030204" pitchFamily="49" charset="0"/>
              </a:rPr>
              <a:t>&lt;/h1&gt;</a:t>
            </a:r>
            <a:endParaRPr lang="pt-BR" sz="1600" b="0" dirty="0">
              <a:solidFill>
                <a:srgbClr val="000000"/>
              </a:solidFill>
              <a:effectLst/>
              <a:latin typeface="Consolas" panose="020B0609020204030204" pitchFamily="49" charset="0"/>
            </a:endParaRPr>
          </a:p>
          <a:p>
            <a:endParaRPr lang="en-IN" sz="1200" dirty="0"/>
          </a:p>
        </p:txBody>
      </p:sp>
      <p:sp>
        <p:nvSpPr>
          <p:cNvPr id="4" name="Title 1">
            <a:extLst>
              <a:ext uri="{FF2B5EF4-FFF2-40B4-BE49-F238E27FC236}">
                <a16:creationId xmlns:a16="http://schemas.microsoft.com/office/drawing/2014/main" id="{20F704DA-FBBA-4606-A442-F8EF62DE4963}"/>
              </a:ext>
            </a:extLst>
          </p:cNvPr>
          <p:cNvSpPr>
            <a:spLocks noGrp="1"/>
          </p:cNvSpPr>
          <p:nvPr>
            <p:ph type="title"/>
          </p:nvPr>
        </p:nvSpPr>
        <p:spPr>
          <a:xfrm>
            <a:off x="1455174" y="103236"/>
            <a:ext cx="4925747" cy="501445"/>
          </a:xfrm>
        </p:spPr>
        <p:txBody>
          <a:bodyPr>
            <a:noAutofit/>
          </a:bodyPr>
          <a:lstStyle/>
          <a:p>
            <a:r>
              <a:rPr lang="en-IN" sz="2000" b="1" dirty="0"/>
              <a:t>Certain rules to follow</a:t>
            </a:r>
          </a:p>
        </p:txBody>
      </p:sp>
      <p:sp>
        <p:nvSpPr>
          <p:cNvPr id="6" name="TextBox 5">
            <a:extLst>
              <a:ext uri="{FF2B5EF4-FFF2-40B4-BE49-F238E27FC236}">
                <a16:creationId xmlns:a16="http://schemas.microsoft.com/office/drawing/2014/main" id="{ED35A9EC-2B1A-481F-98DA-E4A1ECF968E7}"/>
              </a:ext>
            </a:extLst>
          </p:cNvPr>
          <p:cNvSpPr txBox="1"/>
          <p:nvPr/>
        </p:nvSpPr>
        <p:spPr>
          <a:xfrm>
            <a:off x="162233" y="1579962"/>
            <a:ext cx="11867534" cy="646331"/>
          </a:xfrm>
          <a:prstGeom prst="rect">
            <a:avLst/>
          </a:prstGeom>
          <a:noFill/>
        </p:spPr>
        <p:txBody>
          <a:bodyPr wrap="square">
            <a:spAutoFit/>
          </a:bodyPr>
          <a:lstStyle/>
          <a:p>
            <a:pPr algn="l"/>
            <a:r>
              <a:rPr lang="en-US" sz="1200" b="1" i="0" dirty="0">
                <a:effectLst/>
                <a:latin typeface="Arial" panose="020B0604020202020204" pitchFamily="34" charset="0"/>
              </a:rPr>
              <a:t>Styling</a:t>
            </a:r>
          </a:p>
          <a:p>
            <a:pPr algn="just"/>
            <a:r>
              <a:rPr lang="en-US" sz="1200" b="0" i="0" dirty="0">
                <a:solidFill>
                  <a:srgbClr val="000000"/>
                </a:solidFill>
                <a:effectLst/>
                <a:latin typeface="Arial" panose="020B0604020202020204" pitchFamily="34" charset="0"/>
              </a:rPr>
              <a:t>React recommends using inline styles. When we want to set inline styles, we need to use </a:t>
            </a:r>
            <a:r>
              <a:rPr lang="en-US" sz="1200" b="1" i="0" dirty="0">
                <a:solidFill>
                  <a:srgbClr val="000000"/>
                </a:solidFill>
                <a:effectLst/>
                <a:latin typeface="Arial" panose="020B0604020202020204" pitchFamily="34" charset="0"/>
              </a:rPr>
              <a:t>camelCase</a:t>
            </a:r>
            <a:r>
              <a:rPr lang="en-US" sz="1200" b="0" i="0" dirty="0">
                <a:solidFill>
                  <a:srgbClr val="000000"/>
                </a:solidFill>
                <a:effectLst/>
                <a:latin typeface="Arial" panose="020B0604020202020204" pitchFamily="34" charset="0"/>
              </a:rPr>
              <a:t> syntax. React will also automatically append </a:t>
            </a:r>
            <a:r>
              <a:rPr lang="en-US" sz="1200" b="1" i="0" dirty="0">
                <a:solidFill>
                  <a:srgbClr val="000000"/>
                </a:solidFill>
                <a:effectLst/>
                <a:latin typeface="Arial" panose="020B0604020202020204" pitchFamily="34" charset="0"/>
              </a:rPr>
              <a:t>px</a:t>
            </a:r>
            <a:r>
              <a:rPr lang="en-US" sz="1200" b="0" i="0" dirty="0">
                <a:solidFill>
                  <a:srgbClr val="000000"/>
                </a:solidFill>
                <a:effectLst/>
                <a:latin typeface="Arial" panose="020B0604020202020204" pitchFamily="34" charset="0"/>
              </a:rPr>
              <a:t> after the number value on specific elements. The following example shows how to add </a:t>
            </a:r>
            <a:r>
              <a:rPr lang="en-US" sz="1200" b="1" i="0" dirty="0" err="1">
                <a:solidFill>
                  <a:srgbClr val="000000"/>
                </a:solidFill>
                <a:effectLst/>
                <a:latin typeface="Arial" panose="020B0604020202020204" pitchFamily="34" charset="0"/>
              </a:rPr>
              <a:t>myStyle</a:t>
            </a:r>
            <a:r>
              <a:rPr lang="en-US" sz="1200" b="0" i="0" dirty="0">
                <a:solidFill>
                  <a:srgbClr val="000000"/>
                </a:solidFill>
                <a:effectLst/>
                <a:latin typeface="Arial" panose="020B0604020202020204" pitchFamily="34" charset="0"/>
              </a:rPr>
              <a:t> inline to </a:t>
            </a:r>
            <a:r>
              <a:rPr lang="en-US" sz="1200" b="1" i="0" dirty="0">
                <a:solidFill>
                  <a:srgbClr val="000000"/>
                </a:solidFill>
                <a:effectLst/>
                <a:latin typeface="Arial" panose="020B0604020202020204" pitchFamily="34" charset="0"/>
              </a:rPr>
              <a:t>h1</a:t>
            </a:r>
            <a:r>
              <a:rPr lang="en-US" sz="1200" b="0" i="0" dirty="0">
                <a:solidFill>
                  <a:srgbClr val="000000"/>
                </a:solidFill>
                <a:effectLst/>
                <a:latin typeface="Arial" panose="020B0604020202020204" pitchFamily="34" charset="0"/>
              </a:rPr>
              <a:t> element.</a:t>
            </a:r>
          </a:p>
        </p:txBody>
      </p:sp>
      <p:sp>
        <p:nvSpPr>
          <p:cNvPr id="10" name="TextBox 9">
            <a:extLst>
              <a:ext uri="{FF2B5EF4-FFF2-40B4-BE49-F238E27FC236}">
                <a16:creationId xmlns:a16="http://schemas.microsoft.com/office/drawing/2014/main" id="{55C09D60-3060-4A8B-A567-54EBC6AD62F0}"/>
              </a:ext>
            </a:extLst>
          </p:cNvPr>
          <p:cNvSpPr txBox="1"/>
          <p:nvPr/>
        </p:nvSpPr>
        <p:spPr>
          <a:xfrm>
            <a:off x="162233" y="2210397"/>
            <a:ext cx="4370438" cy="2862322"/>
          </a:xfrm>
          <a:prstGeom prst="rect">
            <a:avLst/>
          </a:prstGeom>
          <a:noFill/>
        </p:spPr>
        <p:txBody>
          <a:bodyPr wrap="square">
            <a:spAutoFit/>
          </a:bodyPr>
          <a:lstStyle/>
          <a:p>
            <a:r>
              <a:rPr lang="en-IN" sz="1200" b="0" dirty="0">
                <a:solidFill>
                  <a:srgbClr val="0000FF"/>
                </a:solidFill>
                <a:effectLst/>
                <a:latin typeface="Consolas" panose="020B0609020204030204" pitchFamily="49" charset="0"/>
              </a:rPr>
              <a:t>function</a:t>
            </a:r>
            <a:r>
              <a:rPr lang="en-IN" sz="1200" b="0" dirty="0">
                <a:solidFill>
                  <a:srgbClr val="000000"/>
                </a:solidFill>
                <a:effectLst/>
                <a:latin typeface="Consolas" panose="020B0609020204030204" pitchFamily="49" charset="0"/>
              </a:rPr>
              <a:t> </a:t>
            </a:r>
            <a:r>
              <a:rPr lang="en-IN" sz="1200" b="0" dirty="0">
                <a:solidFill>
                  <a:srgbClr val="795E26"/>
                </a:solidFill>
                <a:effectLst/>
                <a:latin typeface="Consolas" panose="020B0609020204030204" pitchFamily="49" charset="0"/>
              </a:rPr>
              <a:t>App</a:t>
            </a:r>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var</a:t>
            </a: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myStyle</a:t>
            </a:r>
            <a:r>
              <a:rPr lang="en-IN" sz="1200" b="0" dirty="0">
                <a:solidFill>
                  <a:srgbClr val="000000"/>
                </a:solidFill>
                <a:effectLst/>
                <a:latin typeface="Consolas" panose="020B0609020204030204" pitchFamily="49" charset="0"/>
              </a:rPr>
              <a:t> = {</a:t>
            </a:r>
          </a:p>
          <a:p>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fontSize</a:t>
            </a:r>
            <a:r>
              <a:rPr lang="en-IN" sz="1200" b="0" dirty="0">
                <a:solidFill>
                  <a:srgbClr val="001080"/>
                </a:solidFill>
                <a:effectLst/>
                <a:latin typeface="Consolas" panose="020B0609020204030204" pitchFamily="49" charset="0"/>
              </a:rPr>
              <a:t>:</a:t>
            </a:r>
            <a:r>
              <a:rPr lang="en-IN" sz="1200" b="0" dirty="0">
                <a:solidFill>
                  <a:srgbClr val="000000"/>
                </a:solidFill>
                <a:effectLst/>
                <a:latin typeface="Consolas" panose="020B0609020204030204" pitchFamily="49" charset="0"/>
              </a:rPr>
              <a:t> </a:t>
            </a:r>
            <a:r>
              <a:rPr lang="en-IN" sz="1200" b="0" dirty="0">
                <a:solidFill>
                  <a:srgbClr val="098658"/>
                </a:solidFill>
                <a:effectLst/>
                <a:latin typeface="Consolas" panose="020B0609020204030204" pitchFamily="49" charset="0"/>
              </a:rPr>
              <a:t>100</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color</a:t>
            </a:r>
            <a:r>
              <a:rPr lang="en-IN" sz="1200" b="0" dirty="0">
                <a:solidFill>
                  <a:srgbClr val="001080"/>
                </a:solidFill>
                <a:effectLst/>
                <a:latin typeface="Consolas" panose="020B0609020204030204" pitchFamily="49" charset="0"/>
              </a:rPr>
              <a:t>:</a:t>
            </a:r>
            <a:r>
              <a:rPr lang="en-IN" sz="1200" b="0" dirty="0">
                <a:solidFill>
                  <a:srgbClr val="000000"/>
                </a:solidFill>
                <a:effectLst/>
                <a:latin typeface="Consolas" panose="020B0609020204030204" pitchFamily="49" charset="0"/>
              </a:rPr>
              <a:t> </a:t>
            </a:r>
            <a:r>
              <a:rPr lang="en-IN" sz="1200" b="0" dirty="0">
                <a:solidFill>
                  <a:srgbClr val="A31515"/>
                </a:solidFill>
                <a:effectLst/>
                <a:latin typeface="Consolas" panose="020B0609020204030204" pitchFamily="49" charset="0"/>
              </a:rPr>
              <a:t>'#FF0000'</a:t>
            </a:r>
            <a:endParaRPr lang="en-IN" sz="1200" b="0" dirty="0">
              <a:solidFill>
                <a:srgbClr val="000000"/>
              </a:solidFill>
              <a:effectLst/>
              <a:latin typeface="Consolas" panose="020B0609020204030204" pitchFamily="49" charset="0"/>
            </a:endParaRPr>
          </a:p>
          <a:p>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return</a:t>
            </a:r>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&lt;div&gt;</a:t>
            </a:r>
            <a:endParaRPr lang="en-IN" sz="1200" b="0" dirty="0">
              <a:solidFill>
                <a:srgbClr val="000000"/>
              </a:solidFill>
              <a:effectLst/>
              <a:latin typeface="Consolas" panose="020B0609020204030204" pitchFamily="49" charset="0"/>
            </a:endParaRPr>
          </a:p>
          <a:p>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&lt;h1</a:t>
            </a:r>
            <a:r>
              <a:rPr lang="en-IN" sz="1200" b="0" dirty="0">
                <a:solidFill>
                  <a:srgbClr val="000000"/>
                </a:solidFill>
                <a:effectLst/>
                <a:latin typeface="Consolas" panose="020B0609020204030204" pitchFamily="49" charset="0"/>
              </a:rPr>
              <a:t> </a:t>
            </a:r>
            <a:r>
              <a:rPr lang="en-IN" sz="1200" b="0" dirty="0">
                <a:solidFill>
                  <a:srgbClr val="FF0000"/>
                </a:solidFill>
                <a:effectLst/>
                <a:latin typeface="Consolas" panose="020B0609020204030204" pitchFamily="49" charset="0"/>
              </a:rPr>
              <a:t>style</a:t>
            </a:r>
            <a:r>
              <a:rPr lang="en-IN" sz="1200" b="0" dirty="0">
                <a:solidFill>
                  <a:srgbClr val="000000"/>
                </a:solidFill>
                <a:effectLst/>
                <a:latin typeface="Consolas" panose="020B0609020204030204" pitchFamily="49" charset="0"/>
              </a:rPr>
              <a:t> = </a:t>
            </a:r>
            <a:r>
              <a:rPr lang="en-IN" sz="1200" b="0" dirty="0">
                <a:solidFill>
                  <a:srgbClr val="0000FF"/>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myStyle</a:t>
            </a:r>
            <a:r>
              <a:rPr lang="en-IN" sz="1200" b="0" dirty="0">
                <a:solidFill>
                  <a:srgbClr val="0000FF"/>
                </a:solidFill>
                <a:effectLst/>
                <a:latin typeface="Consolas" panose="020B0609020204030204" pitchFamily="49" charset="0"/>
              </a:rPr>
              <a:t>}</a:t>
            </a:r>
            <a:r>
              <a:rPr lang="en-IN" sz="1200" b="0" dirty="0">
                <a:solidFill>
                  <a:srgbClr val="800000"/>
                </a:solidFill>
                <a:effectLst/>
                <a:latin typeface="Consolas" panose="020B0609020204030204" pitchFamily="49" charset="0"/>
              </a:rPr>
              <a:t>&gt;</a:t>
            </a:r>
            <a:r>
              <a:rPr lang="en-IN" sz="1200" b="0" dirty="0">
                <a:solidFill>
                  <a:srgbClr val="000000"/>
                </a:solidFill>
                <a:effectLst/>
                <a:latin typeface="Consolas" panose="020B0609020204030204" pitchFamily="49" charset="0"/>
              </a:rPr>
              <a:t>Header</a:t>
            </a:r>
            <a:r>
              <a:rPr lang="en-IN" sz="1200" b="0" dirty="0">
                <a:solidFill>
                  <a:srgbClr val="800000"/>
                </a:solidFill>
                <a:effectLst/>
                <a:latin typeface="Consolas" panose="020B0609020204030204" pitchFamily="49" charset="0"/>
              </a:rPr>
              <a:t>&lt;/h1&gt;</a:t>
            </a:r>
            <a:endParaRPr lang="en-IN" sz="1200" b="0" dirty="0">
              <a:solidFill>
                <a:srgbClr val="000000"/>
              </a:solidFill>
              <a:effectLst/>
              <a:latin typeface="Consolas" panose="020B0609020204030204" pitchFamily="49" charset="0"/>
            </a:endParaRPr>
          </a:p>
          <a:p>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&lt;/div&gt;</a:t>
            </a:r>
            <a:endParaRPr lang="en-IN" sz="1200" b="0" dirty="0">
              <a:solidFill>
                <a:srgbClr val="000000"/>
              </a:solidFill>
              <a:effectLst/>
              <a:latin typeface="Consolas" panose="020B0609020204030204" pitchFamily="49" charset="0"/>
            </a:endParaRPr>
          </a:p>
          <a:p>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a:t>
            </a:r>
          </a:p>
          <a:p>
            <a:br>
              <a:rPr lang="en-IN" sz="1200" b="0" dirty="0">
                <a:solidFill>
                  <a:srgbClr val="000000"/>
                </a:solidFill>
                <a:effectLst/>
                <a:latin typeface="Consolas" panose="020B0609020204030204" pitchFamily="49" charset="0"/>
              </a:rPr>
            </a:br>
            <a:r>
              <a:rPr lang="en-IN" sz="1200" b="0" dirty="0">
                <a:solidFill>
                  <a:srgbClr val="AF00DB"/>
                </a:solidFill>
                <a:effectLst/>
                <a:latin typeface="Consolas" panose="020B0609020204030204" pitchFamily="49" charset="0"/>
              </a:rPr>
              <a:t>export</a:t>
            </a:r>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default</a:t>
            </a:r>
            <a:r>
              <a:rPr lang="en-IN" sz="1200" b="0" dirty="0">
                <a:solidFill>
                  <a:srgbClr val="000000"/>
                </a:solidFill>
                <a:effectLst/>
                <a:latin typeface="Consolas" panose="020B0609020204030204" pitchFamily="49" charset="0"/>
              </a:rPr>
              <a:t> </a:t>
            </a:r>
            <a:r>
              <a:rPr lang="en-IN" sz="1200" b="0" dirty="0">
                <a:solidFill>
                  <a:srgbClr val="795E26"/>
                </a:solidFill>
                <a:effectLst/>
                <a:latin typeface="Consolas" panose="020B0609020204030204" pitchFamily="49" charset="0"/>
              </a:rPr>
              <a:t>App</a:t>
            </a:r>
            <a:r>
              <a:rPr lang="en-IN" sz="1200" b="0" dirty="0">
                <a:solidFill>
                  <a:srgbClr val="000000"/>
                </a:solidFill>
                <a:effectLst/>
                <a:latin typeface="Consolas" panose="020B0609020204030204" pitchFamily="49" charset="0"/>
              </a:rPr>
              <a:t>;</a:t>
            </a:r>
          </a:p>
          <a:p>
            <a:br>
              <a:rPr lang="en-IN" sz="1200" b="0" dirty="0">
                <a:solidFill>
                  <a:srgbClr val="000000"/>
                </a:solidFill>
                <a:effectLst/>
                <a:latin typeface="Consolas" panose="020B0609020204030204" pitchFamily="49" charset="0"/>
              </a:rPr>
            </a:br>
            <a:endParaRPr lang="en-IN" sz="1200" b="0" dirty="0">
              <a:solidFill>
                <a:srgbClr val="000000"/>
              </a:solidFill>
              <a:effectLst/>
              <a:latin typeface="Consolas" panose="020B0609020204030204" pitchFamily="49" charset="0"/>
            </a:endParaRPr>
          </a:p>
        </p:txBody>
      </p:sp>
      <p:sp>
        <p:nvSpPr>
          <p:cNvPr id="12" name="TextBox 11">
            <a:extLst>
              <a:ext uri="{FF2B5EF4-FFF2-40B4-BE49-F238E27FC236}">
                <a16:creationId xmlns:a16="http://schemas.microsoft.com/office/drawing/2014/main" id="{CE45755A-F9DB-4E23-89F8-FB57883B34A2}"/>
              </a:ext>
            </a:extLst>
          </p:cNvPr>
          <p:cNvSpPr txBox="1"/>
          <p:nvPr/>
        </p:nvSpPr>
        <p:spPr>
          <a:xfrm>
            <a:off x="4424516" y="2441229"/>
            <a:ext cx="7374193" cy="1754326"/>
          </a:xfrm>
          <a:prstGeom prst="rect">
            <a:avLst/>
          </a:prstGeom>
          <a:noFill/>
        </p:spPr>
        <p:txBody>
          <a:bodyPr wrap="square">
            <a:spAutoFit/>
          </a:bodyPr>
          <a:lstStyle/>
          <a:p>
            <a:pPr algn="l"/>
            <a:r>
              <a:rPr lang="en-US" sz="1600" b="1" i="0" dirty="0">
                <a:effectLst/>
                <a:latin typeface="+mj-lt"/>
              </a:rPr>
              <a:t>Comments</a:t>
            </a:r>
          </a:p>
          <a:p>
            <a:pPr algn="just"/>
            <a:r>
              <a:rPr lang="en-US" sz="1600" b="0" i="0" dirty="0">
                <a:solidFill>
                  <a:srgbClr val="000000"/>
                </a:solidFill>
                <a:effectLst/>
                <a:latin typeface="+mj-lt"/>
              </a:rPr>
              <a:t>When writing comments, we need to put curly brackets </a:t>
            </a:r>
            <a:r>
              <a:rPr lang="en-US" sz="1600" b="1" i="0" dirty="0">
                <a:solidFill>
                  <a:srgbClr val="000000"/>
                </a:solidFill>
                <a:effectLst/>
                <a:latin typeface="+mj-lt"/>
              </a:rPr>
              <a:t>{}</a:t>
            </a:r>
            <a:r>
              <a:rPr lang="en-US" sz="1600" b="0" i="0" dirty="0">
                <a:solidFill>
                  <a:srgbClr val="000000"/>
                </a:solidFill>
                <a:effectLst/>
                <a:latin typeface="+mj-lt"/>
              </a:rPr>
              <a:t> when we want to write comment within children section of a tag. It is a good practice to always use </a:t>
            </a:r>
            <a:r>
              <a:rPr lang="en-US" sz="1600" b="1" i="0" dirty="0">
                <a:solidFill>
                  <a:srgbClr val="000000"/>
                </a:solidFill>
                <a:effectLst/>
                <a:latin typeface="+mj-lt"/>
              </a:rPr>
              <a:t>{}</a:t>
            </a:r>
            <a:r>
              <a:rPr lang="en-US" sz="1600" b="0" i="0" dirty="0">
                <a:solidFill>
                  <a:srgbClr val="000000"/>
                </a:solidFill>
                <a:effectLst/>
                <a:latin typeface="+mj-lt"/>
              </a:rPr>
              <a:t> when writing comments, since we want to be consistent when writing the app.</a:t>
            </a:r>
          </a:p>
          <a:p>
            <a:r>
              <a:rPr lang="en-US" sz="1600" b="0" dirty="0">
                <a:solidFill>
                  <a:srgbClr val="000000"/>
                </a:solidFill>
                <a:effectLst/>
                <a:latin typeface="Consolas" panose="020B0609020204030204" pitchFamily="49" charset="0"/>
              </a:rPr>
              <a:t>	{</a:t>
            </a:r>
            <a:r>
              <a:rPr lang="en-US" sz="1600" b="0" dirty="0">
                <a:solidFill>
                  <a:srgbClr val="008000"/>
                </a:solidFill>
                <a:effectLst/>
                <a:latin typeface="Consolas" panose="020B0609020204030204" pitchFamily="49" charset="0"/>
              </a:rPr>
              <a:t>//End of the line Comment...}</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r>
              <a:rPr lang="en-US" sz="1600" b="0" dirty="0">
                <a:solidFill>
                  <a:srgbClr val="008000"/>
                </a:solidFill>
                <a:effectLst/>
                <a:latin typeface="Consolas" panose="020B0609020204030204" pitchFamily="49" charset="0"/>
              </a:rPr>
              <a:t>/*Multi line comment...*/</a:t>
            </a:r>
            <a:r>
              <a:rPr lang="en-US" sz="1600" b="0" dirty="0">
                <a:solidFill>
                  <a:srgbClr val="000000"/>
                </a:solidFill>
                <a:effectLst/>
                <a:latin typeface="Consolas" panose="020B0609020204030204" pitchFamily="49" charset="0"/>
              </a:rPr>
              <a:t>}</a:t>
            </a:r>
          </a:p>
          <a:p>
            <a:pPr algn="just"/>
            <a:endParaRPr lang="en-US" sz="1200" b="0" i="0" dirty="0">
              <a:solidFill>
                <a:srgbClr val="000000"/>
              </a:solidFill>
              <a:effectLst/>
              <a:latin typeface="+mj-lt"/>
            </a:endParaRPr>
          </a:p>
        </p:txBody>
      </p:sp>
      <p:sp>
        <p:nvSpPr>
          <p:cNvPr id="14" name="TextBox 13">
            <a:extLst>
              <a:ext uri="{FF2B5EF4-FFF2-40B4-BE49-F238E27FC236}">
                <a16:creationId xmlns:a16="http://schemas.microsoft.com/office/drawing/2014/main" id="{0D9DDD43-2BBB-4465-A205-B3763567C288}"/>
              </a:ext>
            </a:extLst>
          </p:cNvPr>
          <p:cNvSpPr txBox="1"/>
          <p:nvPr/>
        </p:nvSpPr>
        <p:spPr>
          <a:xfrm>
            <a:off x="344129" y="4743498"/>
            <a:ext cx="11975690" cy="1754326"/>
          </a:xfrm>
          <a:prstGeom prst="rect">
            <a:avLst/>
          </a:prstGeom>
          <a:noFill/>
        </p:spPr>
        <p:txBody>
          <a:bodyPr wrap="square">
            <a:spAutoFit/>
          </a:bodyPr>
          <a:lstStyle/>
          <a:p>
            <a:pPr algn="l"/>
            <a:r>
              <a:rPr lang="en-US" b="0" i="0" dirty="0">
                <a:effectLst/>
                <a:latin typeface="Arial" panose="020B0604020202020204" pitchFamily="34" charset="0"/>
              </a:rPr>
              <a:t>Naming Convention</a:t>
            </a:r>
          </a:p>
          <a:p>
            <a:pPr algn="just"/>
            <a:r>
              <a:rPr lang="en-US" b="0" i="0" dirty="0">
                <a:solidFill>
                  <a:srgbClr val="000000"/>
                </a:solidFill>
                <a:effectLst/>
                <a:latin typeface="Arial" panose="020B0604020202020204" pitchFamily="34" charset="0"/>
              </a:rPr>
              <a:t>HTML tags always use </a:t>
            </a:r>
            <a:r>
              <a:rPr lang="en-US" b="1" i="0" dirty="0">
                <a:solidFill>
                  <a:srgbClr val="000000"/>
                </a:solidFill>
                <a:effectLst/>
                <a:latin typeface="Arial" panose="020B0604020202020204" pitchFamily="34" charset="0"/>
              </a:rPr>
              <a:t>lowercase</a:t>
            </a:r>
            <a:r>
              <a:rPr lang="en-US" b="0" i="0" dirty="0">
                <a:solidFill>
                  <a:srgbClr val="000000"/>
                </a:solidFill>
                <a:effectLst/>
                <a:latin typeface="Arial" panose="020B0604020202020204" pitchFamily="34" charset="0"/>
              </a:rPr>
              <a:t> tag names, while React components start with </a:t>
            </a:r>
            <a:r>
              <a:rPr lang="en-US" b="1" i="0" dirty="0">
                <a:solidFill>
                  <a:srgbClr val="000000"/>
                </a:solidFill>
                <a:effectLst/>
                <a:latin typeface="Arial" panose="020B0604020202020204" pitchFamily="34" charset="0"/>
              </a:rPr>
              <a:t>Uppercase</a:t>
            </a:r>
            <a:r>
              <a:rPr lang="en-US" b="0" i="0" dirty="0">
                <a:solidFill>
                  <a:srgbClr val="000000"/>
                </a:solidFill>
                <a:effectLst/>
                <a:latin typeface="Arial" panose="020B0604020202020204" pitchFamily="34" charset="0"/>
              </a:rPr>
              <a:t>.</a:t>
            </a:r>
          </a:p>
          <a:p>
            <a:pPr algn="just"/>
            <a:r>
              <a:rPr lang="en-US" b="1" i="0" dirty="0">
                <a:solidFill>
                  <a:srgbClr val="000000"/>
                </a:solidFill>
                <a:effectLst/>
                <a:latin typeface="Arial" panose="020B0604020202020204" pitchFamily="34" charset="0"/>
              </a:rPr>
              <a:t>Note</a:t>
            </a:r>
            <a:r>
              <a:rPr lang="en-US" b="0" i="0" dirty="0">
                <a:solidFill>
                  <a:srgbClr val="000000"/>
                </a:solidFill>
                <a:effectLst/>
                <a:latin typeface="Arial" panose="020B0604020202020204" pitchFamily="34" charset="0"/>
              </a:rPr>
              <a:t> − You should use </a:t>
            </a:r>
            <a:r>
              <a:rPr lang="en-US" b="1" i="0" dirty="0" err="1">
                <a:solidFill>
                  <a:srgbClr val="000000"/>
                </a:solidFill>
                <a:effectLst/>
                <a:latin typeface="Arial" panose="020B0604020202020204" pitchFamily="34" charset="0"/>
              </a:rPr>
              <a:t>className</a:t>
            </a:r>
            <a:r>
              <a:rPr lang="en-US" b="0" i="0" dirty="0">
                <a:solidFill>
                  <a:srgbClr val="000000"/>
                </a:solidFill>
                <a:effectLst/>
                <a:latin typeface="Arial" panose="020B0604020202020204" pitchFamily="34" charset="0"/>
              </a:rPr>
              <a:t> and </a:t>
            </a:r>
            <a:r>
              <a:rPr lang="en-US" b="1" i="0" dirty="0" err="1">
                <a:solidFill>
                  <a:srgbClr val="000000"/>
                </a:solidFill>
                <a:effectLst/>
                <a:latin typeface="Arial" panose="020B0604020202020204" pitchFamily="34" charset="0"/>
              </a:rPr>
              <a:t>htmlFor</a:t>
            </a:r>
            <a:r>
              <a:rPr lang="en-US" b="0" i="0" dirty="0">
                <a:solidFill>
                  <a:srgbClr val="000000"/>
                </a:solidFill>
                <a:effectLst/>
                <a:latin typeface="Arial" panose="020B0604020202020204" pitchFamily="34" charset="0"/>
              </a:rPr>
              <a:t> as XML attribute names instead of </a:t>
            </a:r>
            <a:r>
              <a:rPr lang="en-US" b="1" i="0" dirty="0">
                <a:solidFill>
                  <a:srgbClr val="000000"/>
                </a:solidFill>
                <a:effectLst/>
                <a:latin typeface="Arial" panose="020B0604020202020204" pitchFamily="34" charset="0"/>
              </a:rPr>
              <a:t>class</a:t>
            </a:r>
            <a:r>
              <a:rPr lang="en-US" b="0" i="0" dirty="0">
                <a:solidFill>
                  <a:srgbClr val="000000"/>
                </a:solidFill>
                <a:effectLst/>
                <a:latin typeface="Arial" panose="020B0604020202020204" pitchFamily="34" charset="0"/>
              </a:rPr>
              <a:t> and </a:t>
            </a:r>
            <a:r>
              <a:rPr lang="en-US" b="1" i="0" dirty="0">
                <a:solidFill>
                  <a:srgbClr val="000000"/>
                </a:solidFill>
                <a:effectLst/>
                <a:latin typeface="Arial" panose="020B0604020202020204" pitchFamily="34" charset="0"/>
              </a:rPr>
              <a:t>for</a:t>
            </a:r>
            <a:r>
              <a:rPr lang="en-US" b="0" i="0" dirty="0">
                <a:solidFill>
                  <a:srgbClr val="000000"/>
                </a:solidFill>
                <a:effectLst/>
                <a:latin typeface="Arial" panose="020B0604020202020204" pitchFamily="34" charset="0"/>
              </a:rPr>
              <a:t>.</a:t>
            </a:r>
          </a:p>
          <a:p>
            <a:pPr algn="just"/>
            <a:r>
              <a:rPr lang="en-US" b="0" i="0" dirty="0">
                <a:solidFill>
                  <a:srgbClr val="000000"/>
                </a:solidFill>
                <a:effectLst/>
                <a:latin typeface="Arial" panose="020B0604020202020204" pitchFamily="34" charset="0"/>
              </a:rPr>
              <a:t>This is explained on React official page as −</a:t>
            </a:r>
          </a:p>
          <a:p>
            <a:pPr algn="just"/>
            <a:r>
              <a:rPr lang="en-US" b="0" i="0" dirty="0">
                <a:solidFill>
                  <a:srgbClr val="000000"/>
                </a:solidFill>
                <a:effectLst/>
                <a:latin typeface="Arial" panose="020B0604020202020204" pitchFamily="34" charset="0"/>
              </a:rPr>
              <a:t>Since JSX is JavaScript, identifiers such as </a:t>
            </a:r>
            <a:r>
              <a:rPr lang="en-US" b="1" i="0" dirty="0">
                <a:solidFill>
                  <a:srgbClr val="000000"/>
                </a:solidFill>
                <a:effectLst/>
                <a:latin typeface="Arial" panose="020B0604020202020204" pitchFamily="34" charset="0"/>
              </a:rPr>
              <a:t>class</a:t>
            </a:r>
            <a:r>
              <a:rPr lang="en-US" b="0" i="0" dirty="0">
                <a:solidFill>
                  <a:srgbClr val="000000"/>
                </a:solidFill>
                <a:effectLst/>
                <a:latin typeface="Arial" panose="020B0604020202020204" pitchFamily="34" charset="0"/>
              </a:rPr>
              <a:t> and </a:t>
            </a:r>
            <a:r>
              <a:rPr lang="en-US" b="1" i="0" dirty="0">
                <a:solidFill>
                  <a:srgbClr val="000000"/>
                </a:solidFill>
                <a:effectLst/>
                <a:latin typeface="Arial" panose="020B0604020202020204" pitchFamily="34" charset="0"/>
              </a:rPr>
              <a:t>for</a:t>
            </a:r>
            <a:r>
              <a:rPr lang="en-US" b="0" i="0" dirty="0">
                <a:solidFill>
                  <a:srgbClr val="000000"/>
                </a:solidFill>
                <a:effectLst/>
                <a:latin typeface="Arial" panose="020B0604020202020204" pitchFamily="34" charset="0"/>
              </a:rPr>
              <a:t> are discouraged as XML attribute names. Instead, React DOM components expect DOM property names such as </a:t>
            </a:r>
            <a:r>
              <a:rPr lang="en-US" b="1" i="0" dirty="0" err="1">
                <a:solidFill>
                  <a:srgbClr val="000000"/>
                </a:solidFill>
                <a:effectLst/>
                <a:latin typeface="Arial" panose="020B0604020202020204" pitchFamily="34" charset="0"/>
              </a:rPr>
              <a:t>className</a:t>
            </a:r>
            <a:r>
              <a:rPr lang="en-US" b="0" i="0" dirty="0">
                <a:solidFill>
                  <a:srgbClr val="000000"/>
                </a:solidFill>
                <a:effectLst/>
                <a:latin typeface="Arial" panose="020B0604020202020204" pitchFamily="34" charset="0"/>
              </a:rPr>
              <a:t> and </a:t>
            </a:r>
            <a:r>
              <a:rPr lang="en-US" b="1" i="0" dirty="0" err="1">
                <a:solidFill>
                  <a:srgbClr val="000000"/>
                </a:solidFill>
                <a:effectLst/>
                <a:latin typeface="Arial" panose="020B0604020202020204" pitchFamily="34" charset="0"/>
              </a:rPr>
              <a:t>htmlFor</a:t>
            </a:r>
            <a:r>
              <a:rPr lang="en-US" b="0" i="0" dirty="0">
                <a:solidFill>
                  <a:srgbClr val="000000"/>
                </a:solidFill>
                <a:effectLst/>
                <a:latin typeface="Arial" panose="020B0604020202020204" pitchFamily="34" charset="0"/>
              </a:rPr>
              <a:t>, respectively.</a:t>
            </a:r>
          </a:p>
        </p:txBody>
      </p:sp>
    </p:spTree>
    <p:extLst>
      <p:ext uri="{BB962C8B-B14F-4D97-AF65-F5344CB8AC3E}">
        <p14:creationId xmlns:p14="http://schemas.microsoft.com/office/powerpoint/2010/main" val="18739993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72F59F4-6EAB-5638-D2A7-CE6283706025}"/>
              </a:ext>
            </a:extLst>
          </p:cNvPr>
          <p:cNvSpPr txBox="1"/>
          <p:nvPr/>
        </p:nvSpPr>
        <p:spPr>
          <a:xfrm>
            <a:off x="1548019" y="96010"/>
            <a:ext cx="8430867" cy="5355312"/>
          </a:xfrm>
          <a:prstGeom prst="rect">
            <a:avLst/>
          </a:prstGeom>
          <a:noFill/>
        </p:spPr>
        <p:txBody>
          <a:bodyPr wrap="square">
            <a:spAutoFit/>
          </a:bodyPr>
          <a:lstStyle/>
          <a:p>
            <a:br>
              <a:rPr lang="en-IN" b="0" dirty="0">
                <a:solidFill>
                  <a:srgbClr val="000000"/>
                </a:solidFill>
                <a:effectLst/>
                <a:latin typeface="Consolas" panose="020B0609020204030204" pitchFamily="49" charset="0"/>
              </a:rPr>
            </a:b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App() {</a:t>
            </a:r>
          </a:p>
          <a:p>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myStyle</a:t>
            </a:r>
            <a:r>
              <a:rPr lang="en-IN" b="0" dirty="0">
                <a:solidFill>
                  <a:srgbClr val="000000"/>
                </a:solidFill>
                <a:effectLst/>
                <a:latin typeface="Consolas" panose="020B0609020204030204" pitchFamily="49" charset="0"/>
              </a:rPr>
              <a:t> = {</a:t>
            </a:r>
          </a:p>
          <a:p>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fontSize</a:t>
            </a:r>
            <a:r>
              <a:rPr lang="en-IN" b="0" dirty="0">
                <a:solidFill>
                  <a:srgbClr val="000000"/>
                </a:solidFill>
                <a:effectLst/>
                <a:latin typeface="Consolas" panose="020B0609020204030204" pitchFamily="49" charset="0"/>
              </a:rPr>
              <a:t>: </a:t>
            </a:r>
            <a:r>
              <a:rPr lang="en-IN" b="0" dirty="0">
                <a:solidFill>
                  <a:srgbClr val="098658"/>
                </a:solidFill>
                <a:effectLst/>
                <a:latin typeface="Consolas" panose="020B0609020204030204" pitchFamily="49" charset="0"/>
              </a:rPr>
              <a:t>100</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color</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'#FF0000'</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i</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1</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return</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&lt;div&gt;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&lt;h1</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style</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err="1">
                <a:solidFill>
                  <a:srgbClr val="000000"/>
                </a:solidFill>
                <a:effectLst/>
                <a:latin typeface="Consolas" panose="020B0609020204030204" pitchFamily="49" charset="0"/>
              </a:rPr>
              <a:t>myStyle</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&gt;</a:t>
            </a:r>
            <a:r>
              <a:rPr lang="en-IN" b="0" dirty="0">
                <a:solidFill>
                  <a:srgbClr val="000000"/>
                </a:solidFill>
                <a:effectLst/>
                <a:latin typeface="Consolas" panose="020B0609020204030204" pitchFamily="49" charset="0"/>
              </a:rPr>
              <a:t>Header</a:t>
            </a:r>
            <a:r>
              <a:rPr lang="en-IN" b="0" dirty="0">
                <a:solidFill>
                  <a:srgbClr val="800000"/>
                </a:solidFill>
                <a:effectLst/>
                <a:latin typeface="Consolas" panose="020B0609020204030204" pitchFamily="49" charset="0"/>
              </a:rPr>
              <a:t>&lt;/h1&gt;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&lt;span</a:t>
            </a:r>
            <a:r>
              <a:rPr lang="en-IN" b="0" dirty="0">
                <a:solidFill>
                  <a:srgbClr val="000000"/>
                </a:solidFill>
                <a:effectLst/>
                <a:latin typeface="Consolas" panose="020B0609020204030204" pitchFamily="49" charset="0"/>
              </a:rPr>
              <a:t> </a:t>
            </a:r>
            <a:r>
              <a:rPr lang="en-IN" b="0" dirty="0" err="1">
                <a:solidFill>
                  <a:srgbClr val="E50000"/>
                </a:solidFill>
                <a:effectLst/>
                <a:latin typeface="Consolas" panose="020B0609020204030204" pitchFamily="49" charset="0"/>
              </a:rPr>
              <a:t>className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myclass</a:t>
            </a:r>
            <a:r>
              <a:rPr lang="en-IN" b="0" dirty="0">
                <a:solidFill>
                  <a:srgbClr val="A31515"/>
                </a:solidFill>
                <a:effectLst/>
                <a:latin typeface="Consolas" panose="020B0609020204030204" pitchFamily="49" charset="0"/>
              </a:rPr>
              <a:t>'</a:t>
            </a:r>
            <a:r>
              <a:rPr lang="en-IN" b="0" dirty="0">
                <a:solidFill>
                  <a:srgbClr val="800000"/>
                </a:solidFill>
                <a:effectLst/>
                <a:latin typeface="Consolas" panose="020B0609020204030204" pitchFamily="49" charset="0"/>
              </a:rPr>
              <a:t>&gt;</a:t>
            </a:r>
            <a:r>
              <a:rPr lang="en-IN" b="0" dirty="0">
                <a:solidFill>
                  <a:srgbClr val="0000FF"/>
                </a:solidFill>
                <a:effectLst/>
                <a:latin typeface="Consolas" panose="020B0609020204030204" pitchFamily="49" charset="0"/>
              </a:rPr>
              <a:t>{</a:t>
            </a:r>
            <a:r>
              <a:rPr lang="en-IN" b="0" dirty="0">
                <a:solidFill>
                  <a:srgbClr val="098658"/>
                </a:solidFill>
                <a:effectLst/>
                <a:latin typeface="Consolas" panose="020B0609020204030204" pitchFamily="49" charset="0"/>
              </a:rPr>
              <a:t>5</a:t>
            </a:r>
            <a:r>
              <a:rPr lang="en-IN" b="0" dirty="0">
                <a:solidFill>
                  <a:srgbClr val="000000"/>
                </a:solidFill>
                <a:effectLst/>
                <a:latin typeface="Consolas" panose="020B0609020204030204" pitchFamily="49" charset="0"/>
              </a:rPr>
              <a:t> + </a:t>
            </a:r>
            <a:r>
              <a:rPr lang="en-IN" b="0" dirty="0">
                <a:solidFill>
                  <a:srgbClr val="098658"/>
                </a:solidFill>
                <a:effectLst/>
                <a:latin typeface="Consolas" panose="020B0609020204030204" pitchFamily="49" charset="0"/>
              </a:rPr>
              <a:t>8</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&lt;/span&gt;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&lt;h1</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style</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a:t>
            </a:r>
            <a:r>
              <a:rPr lang="en-IN" b="0" dirty="0" err="1">
                <a:solidFill>
                  <a:srgbClr val="000000"/>
                </a:solidFill>
                <a:effectLst/>
                <a:latin typeface="Consolas" panose="020B0609020204030204" pitchFamily="49" charset="0"/>
              </a:rPr>
              <a:t>color</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'red'</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&gt;</a:t>
            </a:r>
            <a:r>
              <a:rPr lang="en-IN" b="0" dirty="0">
                <a:solidFill>
                  <a:srgbClr val="0000FF"/>
                </a:solidFill>
                <a:effectLst/>
                <a:latin typeface="Consolas" panose="020B0609020204030204" pitchFamily="49" charset="0"/>
              </a:rPr>
              <a:t>{</a:t>
            </a:r>
            <a:r>
              <a:rPr lang="en-IN" b="0" dirty="0" err="1">
                <a:solidFill>
                  <a:srgbClr val="000000"/>
                </a:solidFill>
                <a:effectLst/>
                <a:latin typeface="Consolas" panose="020B0609020204030204" pitchFamily="49" charset="0"/>
              </a:rPr>
              <a:t>i</a:t>
            </a:r>
            <a:r>
              <a:rPr lang="en-IN" b="0" dirty="0">
                <a:solidFill>
                  <a:srgbClr val="000000"/>
                </a:solidFill>
                <a:effectLst/>
                <a:latin typeface="Consolas" panose="020B0609020204030204" pitchFamily="49" charset="0"/>
              </a:rPr>
              <a:t> == </a:t>
            </a:r>
            <a:r>
              <a:rPr lang="en-IN" b="0" dirty="0">
                <a:solidFill>
                  <a:srgbClr val="098658"/>
                </a:solidFill>
                <a:effectLst/>
                <a:latin typeface="Consolas" panose="020B0609020204030204" pitchFamily="49" charset="0"/>
              </a:rPr>
              <a:t>1</a:t>
            </a:r>
            <a:r>
              <a:rPr lang="en-IN" b="0" dirty="0">
                <a:solidFill>
                  <a:srgbClr val="000000"/>
                </a:solidFill>
                <a:effectLst/>
                <a:latin typeface="Consolas" panose="020B0609020204030204" pitchFamily="49" charset="0"/>
              </a:rPr>
              <a:t> ? </a:t>
            </a:r>
            <a:r>
              <a:rPr lang="en-IN" b="0" dirty="0">
                <a:solidFill>
                  <a:srgbClr val="A31515"/>
                </a:solidFill>
                <a:effectLst/>
                <a:latin typeface="Consolas" panose="020B0609020204030204" pitchFamily="49" charset="0"/>
              </a:rPr>
              <a:t>'True!'</a:t>
            </a:r>
            <a:r>
              <a:rPr lang="en-IN" b="0" dirty="0">
                <a:solidFill>
                  <a:srgbClr val="000000"/>
                </a:solidFill>
                <a:effectLst/>
                <a:latin typeface="Consolas" panose="020B0609020204030204" pitchFamily="49" charset="0"/>
              </a:rPr>
              <a:t> : </a:t>
            </a:r>
            <a:r>
              <a:rPr lang="en-IN" b="0" dirty="0">
                <a:solidFill>
                  <a:srgbClr val="A31515"/>
                </a:solidFill>
                <a:effectLst/>
                <a:latin typeface="Consolas" panose="020B0609020204030204" pitchFamily="49" charset="0"/>
              </a:rPr>
              <a:t>'False'</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&lt;/h1&gt;</a:t>
            </a:r>
            <a:endParaRPr lang="en-IN" b="0" dirty="0">
              <a:solidFill>
                <a:srgbClr val="000000"/>
              </a:solidFill>
              <a:effectLst/>
              <a:latin typeface="Consolas" panose="020B0609020204030204" pitchFamily="49" charset="0"/>
            </a:endParaRPr>
          </a:p>
          <a:p>
            <a:br>
              <a:rPr lang="en-IN" b="0" dirty="0">
                <a:solidFill>
                  <a:srgbClr val="000000"/>
                </a:solidFill>
                <a:effectLst/>
                <a:latin typeface="Consolas" panose="020B0609020204030204" pitchFamily="49" charset="0"/>
              </a:rPr>
            </a:b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&lt;/div&gt;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p>
          <a:p>
            <a:br>
              <a:rPr lang="en-IN" b="0" dirty="0">
                <a:solidFill>
                  <a:srgbClr val="000000"/>
                </a:solidFill>
                <a:effectLst/>
                <a:latin typeface="Consolas" panose="020B0609020204030204" pitchFamily="49" charset="0"/>
              </a:rPr>
            </a:b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0000FF"/>
                </a:solidFill>
                <a:effectLst/>
                <a:latin typeface="Consolas" panose="020B0609020204030204" pitchFamily="49" charset="0"/>
              </a:rPr>
              <a:t>export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default</a:t>
            </a:r>
            <a:r>
              <a:rPr lang="en-IN" b="0" dirty="0">
                <a:solidFill>
                  <a:srgbClr val="000000"/>
                </a:solidFill>
                <a:effectLst/>
                <a:latin typeface="Consolas" panose="020B0609020204030204" pitchFamily="49" charset="0"/>
              </a:rPr>
              <a:t> App;</a:t>
            </a:r>
          </a:p>
        </p:txBody>
      </p:sp>
    </p:spTree>
    <p:extLst>
      <p:ext uri="{BB962C8B-B14F-4D97-AF65-F5344CB8AC3E}">
        <p14:creationId xmlns:p14="http://schemas.microsoft.com/office/powerpoint/2010/main" val="27005734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11EE5DCE-02B7-4BC8-B84F-3C91B484B609}"/>
              </a:ext>
            </a:extLst>
          </p:cNvPr>
          <p:cNvSpPr txBox="1"/>
          <p:nvPr/>
        </p:nvSpPr>
        <p:spPr>
          <a:xfrm>
            <a:off x="294968" y="751344"/>
            <a:ext cx="11602064" cy="5355312"/>
          </a:xfrm>
          <a:prstGeom prst="rect">
            <a:avLst/>
          </a:prstGeom>
          <a:noFill/>
        </p:spPr>
        <p:txBody>
          <a:bodyPr wrap="square">
            <a:spAutoFit/>
          </a:bodyPr>
          <a:lstStyle/>
          <a:p>
            <a:r>
              <a:rPr lang="en-US" dirty="0"/>
              <a:t>Elements are the smallest building blocks of React apps. An element specifies what should be there in our UI. An Element is a plain object describing what we want to appear in terms of the DOM nodes.</a:t>
            </a:r>
          </a:p>
          <a:p>
            <a:endParaRPr lang="en-US" dirty="0"/>
          </a:p>
          <a:p>
            <a:r>
              <a:rPr lang="en-US" dirty="0"/>
              <a:t>Creating a React Element is Cheap compared to DOM elements.  An Element can be Created by using JSX or React without JSX. Lets create our first React Element using JSX. Open index.js file from </a:t>
            </a:r>
            <a:r>
              <a:rPr lang="en-US" dirty="0" err="1"/>
              <a:t>src</a:t>
            </a:r>
            <a:r>
              <a:rPr lang="en-US" dirty="0"/>
              <a:t> folder.</a:t>
            </a:r>
          </a:p>
          <a:p>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element</a:t>
            </a:r>
            <a:r>
              <a:rPr lang="en-US" b="0" dirty="0">
                <a:solidFill>
                  <a:srgbClr val="000000"/>
                </a:solidFill>
                <a:effectLst/>
                <a:latin typeface="Consolas" panose="020B0609020204030204" pitchFamily="49" charset="0"/>
              </a:rPr>
              <a:t> = </a:t>
            </a:r>
            <a:r>
              <a:rPr lang="en-US" b="0" dirty="0">
                <a:solidFill>
                  <a:srgbClr val="800000"/>
                </a:solidFill>
                <a:effectLst/>
                <a:latin typeface="Consolas" panose="020B0609020204030204" pitchFamily="49" charset="0"/>
              </a:rPr>
              <a:t>&lt;h1&gt;</a:t>
            </a:r>
            <a:r>
              <a:rPr lang="en-US" b="0" dirty="0">
                <a:solidFill>
                  <a:srgbClr val="000000"/>
                </a:solidFill>
                <a:effectLst/>
                <a:latin typeface="Consolas" panose="020B0609020204030204" pitchFamily="49" charset="0"/>
              </a:rPr>
              <a:t>Hello, world</a:t>
            </a:r>
            <a:r>
              <a:rPr lang="en-US" b="0" dirty="0">
                <a:solidFill>
                  <a:srgbClr val="800000"/>
                </a:solidFill>
                <a:effectLst/>
                <a:latin typeface="Consolas" panose="020B0609020204030204" pitchFamily="49" charset="0"/>
              </a:rPr>
              <a:t>&lt;/h1&gt;</a:t>
            </a:r>
            <a:r>
              <a:rPr lang="en-US" b="0" dirty="0">
                <a:solidFill>
                  <a:srgbClr val="000000"/>
                </a:solidFill>
                <a:effectLst/>
                <a:latin typeface="Consolas" panose="020B0609020204030204" pitchFamily="49" charset="0"/>
              </a:rPr>
              <a:t>;</a:t>
            </a:r>
          </a:p>
          <a:p>
            <a:endParaRPr lang="en-US" b="0" dirty="0">
              <a:solidFill>
                <a:srgbClr val="000000"/>
              </a:solidFill>
              <a:effectLst/>
              <a:latin typeface="Consolas" panose="020B0609020204030204" pitchFamily="49" charset="0"/>
            </a:endParaRPr>
          </a:p>
          <a:p>
            <a:r>
              <a:rPr lang="en-US" dirty="0"/>
              <a:t>We have created an Object of type h1 and assigned it to a variable called as element. This element should be rendered into the Browser DOM, and for that we need a container. Open Index.html and there is a div with id as root and we will use that div as our container.</a:t>
            </a:r>
          </a:p>
          <a:p>
            <a:endParaRPr lang="en-US" dirty="0"/>
          </a:p>
          <a:p>
            <a:r>
              <a:rPr lang="en-US" dirty="0"/>
              <a:t>The above created Element can be rendered into it By writing </a:t>
            </a:r>
          </a:p>
          <a:p>
            <a:endParaRPr lang="en-US" dirty="0"/>
          </a:p>
          <a:p>
            <a:r>
              <a:rPr lang="en-IN" b="0" dirty="0" err="1">
                <a:solidFill>
                  <a:srgbClr val="001080"/>
                </a:solidFill>
                <a:effectLst/>
                <a:latin typeface="Consolas" panose="020B0609020204030204" pitchFamily="49" charset="0"/>
              </a:rPr>
              <a:t>ReactDOM</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render</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element</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getElementById</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'root’))</a:t>
            </a:r>
            <a:r>
              <a:rPr lang="en-IN" b="0" dirty="0">
                <a:solidFill>
                  <a:srgbClr val="CD3131"/>
                </a:solidFill>
                <a:effectLst/>
                <a:latin typeface="Consolas" panose="020B0609020204030204" pitchFamily="49" charset="0"/>
              </a:rPr>
              <a:t>;</a:t>
            </a:r>
            <a:endParaRPr lang="en-IN" b="0" dirty="0">
              <a:solidFill>
                <a:srgbClr val="000000"/>
              </a:solidFill>
              <a:effectLst/>
              <a:latin typeface="Consolas" panose="020B0609020204030204" pitchFamily="49" charset="0"/>
            </a:endParaRPr>
          </a:p>
          <a:p>
            <a:endParaRPr lang="en-US" dirty="0"/>
          </a:p>
          <a:p>
            <a:r>
              <a:rPr lang="en-US" dirty="0"/>
              <a:t>Lets say we want to assign some styles to this element. Create a </a:t>
            </a:r>
            <a:r>
              <a:rPr lang="en-US" dirty="0" err="1"/>
              <a:t>css</a:t>
            </a:r>
            <a:r>
              <a:rPr lang="en-US" dirty="0"/>
              <a:t> class with </a:t>
            </a:r>
            <a:r>
              <a:rPr lang="en-US" dirty="0" err="1"/>
              <a:t>classname</a:t>
            </a:r>
            <a:r>
              <a:rPr lang="en-US" dirty="0"/>
              <a:t> as </a:t>
            </a:r>
            <a:r>
              <a:rPr lang="en-US" dirty="0" err="1"/>
              <a:t>testclass</a:t>
            </a:r>
            <a:r>
              <a:rPr lang="en-US" dirty="0"/>
              <a:t> in index.css. Apply this class to the element using </a:t>
            </a:r>
            <a:r>
              <a:rPr lang="en-US" dirty="0" err="1"/>
              <a:t>className</a:t>
            </a:r>
            <a:r>
              <a:rPr lang="en-US" dirty="0"/>
              <a:t> attribute.</a:t>
            </a:r>
          </a:p>
          <a:p>
            <a:r>
              <a:rPr lang="pt-BR" b="0" dirty="0">
                <a:solidFill>
                  <a:srgbClr val="0000FF"/>
                </a:solidFill>
                <a:effectLst/>
                <a:latin typeface="Consolas" panose="020B0609020204030204" pitchFamily="49" charset="0"/>
              </a:rPr>
              <a:t>const</a:t>
            </a:r>
            <a:r>
              <a:rPr lang="pt-BR" b="0" dirty="0">
                <a:solidFill>
                  <a:srgbClr val="000000"/>
                </a:solidFill>
                <a:effectLst/>
                <a:latin typeface="Consolas" panose="020B0609020204030204" pitchFamily="49" charset="0"/>
              </a:rPr>
              <a:t> </a:t>
            </a:r>
            <a:r>
              <a:rPr lang="pt-BR" b="0" dirty="0">
                <a:solidFill>
                  <a:srgbClr val="0070C1"/>
                </a:solidFill>
                <a:effectLst/>
                <a:latin typeface="Consolas" panose="020B0609020204030204" pitchFamily="49" charset="0"/>
              </a:rPr>
              <a:t>element</a:t>
            </a:r>
            <a:r>
              <a:rPr lang="pt-BR" b="0" dirty="0">
                <a:solidFill>
                  <a:srgbClr val="000000"/>
                </a:solidFill>
                <a:effectLst/>
                <a:latin typeface="Consolas" panose="020B0609020204030204" pitchFamily="49" charset="0"/>
              </a:rPr>
              <a:t>=</a:t>
            </a:r>
            <a:r>
              <a:rPr lang="pt-BR" b="0" dirty="0">
                <a:solidFill>
                  <a:srgbClr val="800000"/>
                </a:solidFill>
                <a:effectLst/>
                <a:latin typeface="Consolas" panose="020B0609020204030204" pitchFamily="49" charset="0"/>
              </a:rPr>
              <a:t>&lt;h1</a:t>
            </a:r>
            <a:r>
              <a:rPr lang="pt-BR" b="0" dirty="0">
                <a:solidFill>
                  <a:srgbClr val="000000"/>
                </a:solidFill>
                <a:effectLst/>
                <a:latin typeface="Consolas" panose="020B0609020204030204" pitchFamily="49" charset="0"/>
              </a:rPr>
              <a:t> </a:t>
            </a:r>
            <a:r>
              <a:rPr lang="pt-BR" b="0" dirty="0">
                <a:solidFill>
                  <a:srgbClr val="FF0000"/>
                </a:solidFill>
                <a:effectLst/>
                <a:latin typeface="Consolas" panose="020B0609020204030204" pitchFamily="49" charset="0"/>
              </a:rPr>
              <a:t>className</a:t>
            </a:r>
            <a:r>
              <a:rPr lang="pt-BR" b="0" dirty="0">
                <a:solidFill>
                  <a:srgbClr val="000000"/>
                </a:solidFill>
                <a:effectLst/>
                <a:latin typeface="Consolas" panose="020B0609020204030204" pitchFamily="49" charset="0"/>
              </a:rPr>
              <a:t>=</a:t>
            </a:r>
            <a:r>
              <a:rPr lang="pt-BR" b="0" dirty="0">
                <a:solidFill>
                  <a:srgbClr val="A31515"/>
                </a:solidFill>
                <a:effectLst/>
                <a:latin typeface="Consolas" panose="020B0609020204030204" pitchFamily="49" charset="0"/>
              </a:rPr>
              <a:t>"testClass"</a:t>
            </a:r>
            <a:r>
              <a:rPr lang="pt-BR" b="0" dirty="0">
                <a:solidFill>
                  <a:srgbClr val="800000"/>
                </a:solidFill>
                <a:effectLst/>
                <a:latin typeface="Consolas" panose="020B0609020204030204" pitchFamily="49" charset="0"/>
              </a:rPr>
              <a:t>&gt;</a:t>
            </a:r>
            <a:r>
              <a:rPr lang="pt-BR" b="0" dirty="0">
                <a:solidFill>
                  <a:srgbClr val="000000"/>
                </a:solidFill>
                <a:effectLst/>
                <a:latin typeface="Consolas" panose="020B0609020204030204" pitchFamily="49" charset="0"/>
              </a:rPr>
              <a:t>Hi...</a:t>
            </a:r>
            <a:r>
              <a:rPr lang="pt-BR" b="0" dirty="0">
                <a:solidFill>
                  <a:srgbClr val="800000"/>
                </a:solidFill>
                <a:effectLst/>
                <a:latin typeface="Consolas" panose="020B0609020204030204" pitchFamily="49" charset="0"/>
              </a:rPr>
              <a:t>&lt;/h1&gt;</a:t>
            </a:r>
            <a:endParaRPr lang="pt-BR" b="0" dirty="0">
              <a:solidFill>
                <a:srgbClr val="000000"/>
              </a:solidFill>
              <a:effectLst/>
              <a:latin typeface="Consolas" panose="020B0609020204030204" pitchFamily="49" charset="0"/>
            </a:endParaRPr>
          </a:p>
          <a:p>
            <a:endParaRPr lang="en-US" dirty="0"/>
          </a:p>
        </p:txBody>
      </p:sp>
    </p:spTree>
    <p:extLst>
      <p:ext uri="{BB962C8B-B14F-4D97-AF65-F5344CB8AC3E}">
        <p14:creationId xmlns:p14="http://schemas.microsoft.com/office/powerpoint/2010/main" val="19083612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D8B50E9-8FD6-4307-83DF-C38DF324FDB9}"/>
              </a:ext>
            </a:extLst>
          </p:cNvPr>
          <p:cNvSpPr txBox="1"/>
          <p:nvPr/>
        </p:nvSpPr>
        <p:spPr>
          <a:xfrm>
            <a:off x="364114" y="869317"/>
            <a:ext cx="10943303" cy="5909310"/>
          </a:xfrm>
          <a:prstGeom prst="rect">
            <a:avLst/>
          </a:prstGeom>
          <a:noFill/>
        </p:spPr>
        <p:txBody>
          <a:bodyPr wrap="square">
            <a:spAutoFit/>
          </a:bodyPr>
          <a:lstStyle/>
          <a:p>
            <a:r>
              <a:rPr lang="en-US" dirty="0"/>
              <a:t>An Element contains type and properties, here h1 is the type and this element contains </a:t>
            </a:r>
            <a:r>
              <a:rPr lang="en-US" dirty="0" err="1"/>
              <a:t>className</a:t>
            </a:r>
            <a:r>
              <a:rPr lang="en-US" dirty="0"/>
              <a:t> as property. An Element can be as simple as the one we have created or an element can contain elements inside it.</a:t>
            </a:r>
          </a:p>
          <a:p>
            <a:endParaRPr lang="en-US" dirty="0"/>
          </a:p>
          <a:p>
            <a:r>
              <a:rPr lang="en-US" dirty="0"/>
              <a:t> I am creating an Element which contains div and div has a h1 tag and h2 tag and we render this element to the div container.</a:t>
            </a:r>
            <a:br>
              <a:rPr lang="en-IN" b="0" dirty="0">
                <a:solidFill>
                  <a:srgbClr val="000000"/>
                </a:solidFill>
                <a:effectLst/>
                <a:latin typeface="Consolas" panose="020B0609020204030204" pitchFamily="49" charset="0"/>
              </a:rPr>
            </a:br>
            <a:br>
              <a:rPr lang="en-IN" b="0" dirty="0">
                <a:solidFill>
                  <a:srgbClr val="000000"/>
                </a:solidFill>
                <a:effectLst/>
                <a:latin typeface="Consolas" panose="020B0609020204030204" pitchFamily="49" charset="0"/>
              </a:rPr>
            </a:br>
            <a:r>
              <a:rPr lang="en-IN" b="0" dirty="0" err="1">
                <a:solidFill>
                  <a:srgbClr val="0000FF"/>
                </a:solidFill>
                <a:effectLst/>
                <a:latin typeface="Consolas" panose="020B0609020204030204" pitchFamily="49" charset="0"/>
              </a:rPr>
              <a:t>const</a:t>
            </a:r>
            <a:r>
              <a:rPr lang="en-IN" b="0" dirty="0">
                <a:solidFill>
                  <a:srgbClr val="000000"/>
                </a:solidFill>
                <a:effectLst/>
                <a:latin typeface="Consolas" panose="020B0609020204030204" pitchFamily="49" charset="0"/>
              </a:rPr>
              <a:t> element = (</a:t>
            </a: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&lt;div&gt;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&lt;h1&gt;</a:t>
            </a:r>
            <a:r>
              <a:rPr lang="en-IN" b="0" dirty="0">
                <a:solidFill>
                  <a:srgbClr val="000000"/>
                </a:solidFill>
                <a:effectLst/>
                <a:latin typeface="Consolas" panose="020B0609020204030204" pitchFamily="49" charset="0"/>
              </a:rPr>
              <a:t>Welcome  to  React  Programming  World</a:t>
            </a:r>
            <a:r>
              <a:rPr lang="en-IN" b="0" dirty="0">
                <a:solidFill>
                  <a:srgbClr val="800000"/>
                </a:solidFill>
                <a:effectLst/>
                <a:latin typeface="Consolas" panose="020B0609020204030204" pitchFamily="49" charset="0"/>
              </a:rPr>
              <a:t>&lt;/h1&gt;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&lt;h2&gt;</a:t>
            </a:r>
            <a:r>
              <a:rPr lang="en-IN" b="0" dirty="0">
                <a:solidFill>
                  <a:srgbClr val="000000"/>
                </a:solidFill>
                <a:effectLst/>
                <a:latin typeface="Consolas" panose="020B0609020204030204" pitchFamily="49" charset="0"/>
              </a:rPr>
              <a:t>Understanding  React  Rendering…</a:t>
            </a:r>
            <a:r>
              <a:rPr lang="en-IN" b="0" dirty="0">
                <a:solidFill>
                  <a:srgbClr val="800000"/>
                </a:solidFill>
                <a:effectLst/>
                <a:latin typeface="Consolas" panose="020B0609020204030204" pitchFamily="49" charset="0"/>
              </a:rPr>
              <a:t>&lt;/h2&gt;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&lt;/div&gt;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err="1">
                <a:solidFill>
                  <a:srgbClr val="0000FF"/>
                </a:solidFill>
                <a:effectLst/>
                <a:latin typeface="Consolas" panose="020B0609020204030204" pitchFamily="49" charset="0"/>
              </a:rPr>
              <a:t>const</a:t>
            </a:r>
            <a:r>
              <a:rPr lang="en-IN" b="0" dirty="0">
                <a:solidFill>
                  <a:srgbClr val="000000"/>
                </a:solidFill>
                <a:effectLst/>
                <a:latin typeface="Consolas" panose="020B0609020204030204" pitchFamily="49" charset="0"/>
              </a:rPr>
              <a:t> root = </a:t>
            </a:r>
            <a:r>
              <a:rPr lang="en-IN" b="0" dirty="0" err="1">
                <a:solidFill>
                  <a:srgbClr val="000000"/>
                </a:solidFill>
                <a:effectLst/>
                <a:latin typeface="Consolas" panose="020B0609020204030204" pitchFamily="49" charset="0"/>
              </a:rPr>
              <a:t>ReactDOM.createRoot</a:t>
            </a:r>
            <a:r>
              <a:rPr lang="en-IN" b="0" dirty="0">
                <a:solidFill>
                  <a:srgbClr val="000000"/>
                </a:solidFill>
                <a:effectLst/>
                <a:latin typeface="Consolas" panose="020B0609020204030204" pitchFamily="49" charset="0"/>
              </a:rPr>
              <a:t>(</a:t>
            </a:r>
            <a:r>
              <a:rPr lang="en-IN" b="0" dirty="0" err="1">
                <a:solidFill>
                  <a:srgbClr val="000000"/>
                </a:solidFill>
                <a:effectLst/>
                <a:latin typeface="Consolas" panose="020B0609020204030204" pitchFamily="49" charset="0"/>
              </a:rPr>
              <a:t>document.getElementById</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'root'</a:t>
            </a:r>
            <a:r>
              <a:rPr lang="en-IN" b="0" dirty="0">
                <a:solidFill>
                  <a:srgbClr val="000000"/>
                </a:solidFill>
                <a:effectLst/>
                <a:latin typeface="Consolas" panose="020B0609020204030204" pitchFamily="49" charset="0"/>
              </a:rPr>
              <a:t>));</a:t>
            </a:r>
          </a:p>
          <a:p>
            <a:r>
              <a:rPr lang="en-IN" b="0" dirty="0" err="1">
                <a:solidFill>
                  <a:srgbClr val="000000"/>
                </a:solidFill>
                <a:effectLst/>
                <a:latin typeface="Consolas" panose="020B0609020204030204" pitchFamily="49" charset="0"/>
              </a:rPr>
              <a:t>root.render</a:t>
            </a:r>
            <a:r>
              <a:rPr lang="en-IN" b="0" dirty="0">
                <a:solidFill>
                  <a:srgbClr val="000000"/>
                </a:solidFill>
                <a:effectLst/>
                <a:latin typeface="Consolas" panose="020B0609020204030204" pitchFamily="49" charset="0"/>
              </a:rPr>
              <a:t>(element);</a:t>
            </a:r>
          </a:p>
          <a:p>
            <a:endParaRPr lang="en-US" dirty="0"/>
          </a:p>
          <a:p>
            <a:r>
              <a:rPr lang="en-US" dirty="0"/>
              <a:t>Lets save these changes and observe the response in the browser. </a:t>
            </a:r>
          </a:p>
          <a:p>
            <a:endParaRPr lang="en-US" dirty="0"/>
          </a:p>
          <a:p>
            <a:r>
              <a:rPr lang="en-US" dirty="0"/>
              <a:t>The above code we have written using JSX would be compiled into Plain </a:t>
            </a:r>
            <a:r>
              <a:rPr lang="en-US" dirty="0" err="1"/>
              <a:t>Javascript</a:t>
            </a:r>
            <a:r>
              <a:rPr lang="en-US" dirty="0"/>
              <a:t> using </a:t>
            </a:r>
            <a:r>
              <a:rPr lang="en-US" b="1" dirty="0"/>
              <a:t>Babel</a:t>
            </a:r>
            <a:r>
              <a:rPr lang="en-US" dirty="0"/>
              <a:t>. JSX is not a requirement for using React. Using React without JSX is especially convenient when you don’t want to set up compilation in our build environment.</a:t>
            </a:r>
            <a:endParaRPr lang="en-IN" dirty="0"/>
          </a:p>
        </p:txBody>
      </p:sp>
    </p:spTree>
    <p:extLst>
      <p:ext uri="{BB962C8B-B14F-4D97-AF65-F5344CB8AC3E}">
        <p14:creationId xmlns:p14="http://schemas.microsoft.com/office/powerpoint/2010/main" val="36815648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F191344-A721-47A1-A4DB-B2259D6185C1}"/>
              </a:ext>
            </a:extLst>
          </p:cNvPr>
          <p:cNvSpPr txBox="1"/>
          <p:nvPr/>
        </p:nvSpPr>
        <p:spPr>
          <a:xfrm>
            <a:off x="98323" y="701756"/>
            <a:ext cx="12093677" cy="6309420"/>
          </a:xfrm>
          <a:prstGeom prst="rect">
            <a:avLst/>
          </a:prstGeom>
          <a:noFill/>
        </p:spPr>
        <p:txBody>
          <a:bodyPr wrap="square">
            <a:spAutoFit/>
          </a:bodyPr>
          <a:lstStyle/>
          <a:p>
            <a:r>
              <a:rPr lang="en-US" sz="1600" dirty="0"/>
              <a:t>The above code we have written using JSX would be compiled into Plain </a:t>
            </a:r>
            <a:r>
              <a:rPr lang="en-US" sz="1600" dirty="0" err="1"/>
              <a:t>Javascript</a:t>
            </a:r>
            <a:r>
              <a:rPr lang="en-US" sz="1600" dirty="0"/>
              <a:t> using Babel. JSX is not a requirement for using React. Using React without JSX is especially convenient when you don’t want to set up compilation in our build environment.</a:t>
            </a:r>
          </a:p>
          <a:p>
            <a:endParaRPr lang="en-US" sz="1600" dirty="0"/>
          </a:p>
          <a:p>
            <a:r>
              <a:rPr lang="en-US" sz="1600" dirty="0"/>
              <a:t>A React Element can also be created by using </a:t>
            </a:r>
          </a:p>
          <a:p>
            <a:r>
              <a:rPr lang="en-US" sz="1600" b="0" dirty="0">
                <a:solidFill>
                  <a:srgbClr val="0000FF"/>
                </a:solidFill>
                <a:effectLst/>
                <a:latin typeface="Consolas" panose="020B0609020204030204" pitchFamily="49" charset="0"/>
              </a:rPr>
              <a:t>const</a:t>
            </a:r>
            <a:r>
              <a:rPr lang="en-US" sz="1600" b="0" dirty="0">
                <a:solidFill>
                  <a:srgbClr val="000000"/>
                </a:solidFill>
                <a:effectLst/>
                <a:latin typeface="Consolas" panose="020B0609020204030204" pitchFamily="49" charset="0"/>
              </a:rPr>
              <a:t> </a:t>
            </a:r>
            <a:r>
              <a:rPr lang="en-US" sz="1600" b="0" dirty="0">
                <a:solidFill>
                  <a:srgbClr val="0070C1"/>
                </a:solidFill>
                <a:effectLst/>
                <a:latin typeface="Consolas" panose="020B0609020204030204" pitchFamily="49" charset="0"/>
              </a:rPr>
              <a:t>element</a:t>
            </a:r>
            <a:r>
              <a:rPr lang="en-US" sz="1600" b="0" dirty="0">
                <a:solidFill>
                  <a:srgbClr val="000000"/>
                </a:solidFill>
                <a:effectLst/>
                <a:latin typeface="Consolas" panose="020B0609020204030204" pitchFamily="49" charset="0"/>
              </a:rPr>
              <a:t> = </a:t>
            </a:r>
            <a:r>
              <a:rPr lang="en-US" sz="1600" b="0" dirty="0" err="1">
                <a:solidFill>
                  <a:srgbClr val="267F99"/>
                </a:solidFill>
                <a:effectLst/>
                <a:latin typeface="Consolas" panose="020B0609020204030204" pitchFamily="49" charset="0"/>
              </a:rPr>
              <a:t>React</a:t>
            </a:r>
            <a:r>
              <a:rPr lang="en-US" sz="1600" b="0" dirty="0" err="1">
                <a:solidFill>
                  <a:srgbClr val="000000"/>
                </a:solidFill>
                <a:effectLst/>
                <a:latin typeface="Consolas" panose="020B0609020204030204" pitchFamily="49" charset="0"/>
              </a:rPr>
              <a:t>.</a:t>
            </a:r>
            <a:r>
              <a:rPr lang="en-US" sz="1600" b="0" dirty="0" err="1">
                <a:solidFill>
                  <a:srgbClr val="795E26"/>
                </a:solidFill>
                <a:effectLst/>
                <a:latin typeface="Consolas" panose="020B0609020204030204" pitchFamily="49" charset="0"/>
              </a:rPr>
              <a:t>createElement</a:t>
            </a:r>
            <a:r>
              <a:rPr lang="en-US" sz="1600" b="0" dirty="0">
                <a:solidFill>
                  <a:srgbClr val="000000"/>
                </a:solidFill>
                <a:effectLst/>
                <a:latin typeface="Consolas" panose="020B0609020204030204" pitchFamily="49" charset="0"/>
              </a:rPr>
              <a:t>(</a:t>
            </a:r>
            <a:r>
              <a:rPr lang="en-US" sz="1600" b="0" dirty="0">
                <a:solidFill>
                  <a:srgbClr val="A31515"/>
                </a:solidFill>
                <a:effectLst/>
                <a:latin typeface="Consolas" panose="020B0609020204030204" pitchFamily="49" charset="0"/>
              </a:rPr>
              <a:t>"h1"</a:t>
            </a:r>
            <a:r>
              <a:rPr lang="en-US" sz="1600" b="0" dirty="0">
                <a:solidFill>
                  <a:srgbClr val="000000"/>
                </a:solidFill>
                <a:effectLst/>
                <a:latin typeface="Consolas" panose="020B0609020204030204" pitchFamily="49" charset="0"/>
              </a:rPr>
              <a:t>,</a:t>
            </a:r>
            <a:r>
              <a:rPr lang="en-US" sz="1600" b="0" dirty="0">
                <a:solidFill>
                  <a:srgbClr val="0000FF"/>
                </a:solidFill>
                <a:effectLst/>
                <a:latin typeface="Consolas" panose="020B0609020204030204" pitchFamily="49" charset="0"/>
              </a:rPr>
              <a:t>null</a:t>
            </a:r>
            <a:r>
              <a:rPr lang="en-US" sz="1600" b="0" dirty="0">
                <a:solidFill>
                  <a:srgbClr val="000000"/>
                </a:solidFill>
                <a:effectLst/>
                <a:latin typeface="Consolas" panose="020B0609020204030204" pitchFamily="49" charset="0"/>
              </a:rPr>
              <a:t>,</a:t>
            </a:r>
            <a:r>
              <a:rPr lang="en-US" sz="1600" b="0" dirty="0">
                <a:solidFill>
                  <a:srgbClr val="A31515"/>
                </a:solidFill>
                <a:effectLst/>
                <a:latin typeface="Consolas" panose="020B0609020204030204" pitchFamily="49" charset="0"/>
              </a:rPr>
              <a:t>'Hello World'</a:t>
            </a:r>
            <a:r>
              <a:rPr lang="en-US" sz="1600" b="0" dirty="0">
                <a:solidFill>
                  <a:srgbClr val="000000"/>
                </a:solidFill>
                <a:effectLst/>
                <a:latin typeface="Consolas" panose="020B0609020204030204" pitchFamily="49" charset="0"/>
              </a:rPr>
              <a:t>);</a:t>
            </a:r>
          </a:p>
          <a:p>
            <a:endParaRPr lang="en-US" sz="1600" dirty="0"/>
          </a:p>
          <a:p>
            <a:r>
              <a:rPr lang="en-US" sz="1600" dirty="0" err="1"/>
              <a:t>CreateElement</a:t>
            </a:r>
            <a:r>
              <a:rPr lang="en-US" sz="1600" dirty="0"/>
              <a:t> method takes few parameters. First one is the type of Element we want to create like h1 or h2 or div. Second parameter specifies the Properties we want to apply to this element. Third one represents the Child Element or Elements that has be placed inside the Parent one. The above line of code tells React that we want a h1 element without properties or attributes applied and Hello World being the Child in it.</a:t>
            </a:r>
          </a:p>
          <a:p>
            <a:endParaRPr lang="en-US" sz="1600" dirty="0"/>
          </a:p>
          <a:p>
            <a:r>
              <a:rPr lang="en-US" sz="1600" dirty="0"/>
              <a:t>If we want to apply the </a:t>
            </a:r>
            <a:r>
              <a:rPr lang="en-US" sz="1600" dirty="0" err="1"/>
              <a:t>css</a:t>
            </a:r>
            <a:r>
              <a:rPr lang="en-US" sz="1600" dirty="0"/>
              <a:t> class we have created to this element then, lets add a Property called </a:t>
            </a:r>
            <a:r>
              <a:rPr lang="en-US" sz="1600" dirty="0" err="1"/>
              <a:t>className</a:t>
            </a:r>
            <a:r>
              <a:rPr lang="en-US" sz="1600" dirty="0"/>
              <a:t> </a:t>
            </a:r>
          </a:p>
          <a:p>
            <a:endParaRPr lang="en-US" sz="1600" dirty="0"/>
          </a:p>
          <a:p>
            <a:r>
              <a:rPr lang="en-US" sz="1600" b="0" dirty="0">
                <a:solidFill>
                  <a:srgbClr val="0000FF"/>
                </a:solidFill>
                <a:effectLst/>
                <a:latin typeface="Consolas" panose="020B0609020204030204" pitchFamily="49" charset="0"/>
              </a:rPr>
              <a:t>const</a:t>
            </a:r>
            <a:r>
              <a:rPr lang="en-US" sz="1600" b="0" dirty="0">
                <a:solidFill>
                  <a:srgbClr val="000000"/>
                </a:solidFill>
                <a:effectLst/>
                <a:latin typeface="Consolas" panose="020B0609020204030204" pitchFamily="49" charset="0"/>
              </a:rPr>
              <a:t> </a:t>
            </a:r>
            <a:r>
              <a:rPr lang="en-US" sz="1600" b="0" dirty="0">
                <a:solidFill>
                  <a:srgbClr val="0070C1"/>
                </a:solidFill>
                <a:effectLst/>
                <a:latin typeface="Consolas" panose="020B0609020204030204" pitchFamily="49" charset="0"/>
              </a:rPr>
              <a:t>element</a:t>
            </a:r>
            <a:r>
              <a:rPr lang="en-US" sz="1600" b="0" dirty="0">
                <a:solidFill>
                  <a:srgbClr val="000000"/>
                </a:solidFill>
                <a:effectLst/>
                <a:latin typeface="Consolas" panose="020B0609020204030204" pitchFamily="49" charset="0"/>
              </a:rPr>
              <a:t> = </a:t>
            </a:r>
            <a:r>
              <a:rPr lang="en-US" sz="1600" b="0" dirty="0" err="1">
                <a:solidFill>
                  <a:srgbClr val="267F99"/>
                </a:solidFill>
                <a:effectLst/>
                <a:latin typeface="Consolas" panose="020B0609020204030204" pitchFamily="49" charset="0"/>
              </a:rPr>
              <a:t>React</a:t>
            </a:r>
            <a:r>
              <a:rPr lang="en-US" sz="1600" b="0" dirty="0" err="1">
                <a:solidFill>
                  <a:srgbClr val="000000"/>
                </a:solidFill>
                <a:effectLst/>
                <a:latin typeface="Consolas" panose="020B0609020204030204" pitchFamily="49" charset="0"/>
              </a:rPr>
              <a:t>.</a:t>
            </a:r>
            <a:r>
              <a:rPr lang="en-US" sz="1600" b="0" dirty="0" err="1">
                <a:solidFill>
                  <a:srgbClr val="795E26"/>
                </a:solidFill>
                <a:effectLst/>
                <a:latin typeface="Consolas" panose="020B0609020204030204" pitchFamily="49" charset="0"/>
              </a:rPr>
              <a:t>createElement</a:t>
            </a:r>
            <a:r>
              <a:rPr lang="en-US" sz="1600" b="0" dirty="0">
                <a:solidFill>
                  <a:srgbClr val="000000"/>
                </a:solidFill>
                <a:effectLst/>
                <a:latin typeface="Consolas" panose="020B0609020204030204" pitchFamily="49" charset="0"/>
              </a:rPr>
              <a:t>(</a:t>
            </a:r>
            <a:r>
              <a:rPr lang="en-US" sz="1600" b="0" dirty="0">
                <a:solidFill>
                  <a:srgbClr val="A31515"/>
                </a:solidFill>
                <a:effectLst/>
                <a:latin typeface="Consolas" panose="020B0609020204030204" pitchFamily="49" charset="0"/>
              </a:rPr>
              <a:t>"div"</a:t>
            </a:r>
            <a:r>
              <a:rPr lang="en-US" sz="1600" b="0" dirty="0">
                <a:solidFill>
                  <a:srgbClr val="000000"/>
                </a:solidFill>
                <a:effectLst/>
                <a:latin typeface="Consolas" panose="020B0609020204030204" pitchFamily="49" charset="0"/>
              </a:rPr>
              <a:t>,{</a:t>
            </a:r>
            <a:r>
              <a:rPr lang="en-US" sz="1600" b="0" dirty="0" err="1">
                <a:solidFill>
                  <a:srgbClr val="001080"/>
                </a:solidFill>
                <a:effectLst/>
                <a:latin typeface="Consolas" panose="020B0609020204030204" pitchFamily="49" charset="0"/>
              </a:rPr>
              <a:t>className</a:t>
            </a:r>
            <a:r>
              <a:rPr lang="en-US" sz="1600" b="0" dirty="0">
                <a:solidFill>
                  <a:srgbClr val="001080"/>
                </a:solidFill>
                <a:effectLst/>
                <a:latin typeface="Consolas" panose="020B0609020204030204" pitchFamily="49" charset="0"/>
              </a:rPr>
              <a:t>:</a:t>
            </a:r>
            <a:r>
              <a:rPr lang="en-US" sz="1600" b="0" dirty="0">
                <a:solidFill>
                  <a:srgbClr val="A31515"/>
                </a:solidFill>
                <a:effectLst/>
                <a:latin typeface="Consolas" panose="020B0609020204030204" pitchFamily="49" charset="0"/>
              </a:rPr>
              <a:t>"</a:t>
            </a:r>
            <a:r>
              <a:rPr lang="en-US" sz="1600" b="0" dirty="0" err="1">
                <a:solidFill>
                  <a:srgbClr val="A31515"/>
                </a:solidFill>
                <a:effectLst/>
                <a:latin typeface="Consolas" panose="020B0609020204030204" pitchFamily="49" charset="0"/>
              </a:rPr>
              <a:t>testClass</a:t>
            </a:r>
            <a:r>
              <a:rPr lang="en-US" sz="1600" b="0" dirty="0">
                <a:solidFill>
                  <a:srgbClr val="A31515"/>
                </a:solidFill>
                <a:effectLst/>
                <a:latin typeface="Consolas" panose="020B0609020204030204" pitchFamily="49" charset="0"/>
              </a:rPr>
              <a:t>"</a:t>
            </a:r>
            <a:r>
              <a:rPr lang="en-US" sz="1600" b="0" dirty="0">
                <a:solidFill>
                  <a:srgbClr val="000000"/>
                </a:solidFill>
                <a:effectLst/>
                <a:latin typeface="Consolas" panose="020B0609020204030204" pitchFamily="49" charset="0"/>
              </a:rPr>
              <a:t>},</a:t>
            </a:r>
            <a:r>
              <a:rPr lang="en-US" sz="1600" b="0" dirty="0">
                <a:solidFill>
                  <a:srgbClr val="A31515"/>
                </a:solidFill>
                <a:effectLst/>
                <a:latin typeface="Consolas" panose="020B0609020204030204" pitchFamily="49" charset="0"/>
              </a:rPr>
              <a:t>'Hello World'</a:t>
            </a:r>
            <a:r>
              <a:rPr lang="en-US" sz="1600" b="0" dirty="0">
                <a:solidFill>
                  <a:srgbClr val="000000"/>
                </a:solidFill>
                <a:effectLst/>
                <a:latin typeface="Consolas" panose="020B0609020204030204" pitchFamily="49" charset="0"/>
              </a:rPr>
              <a:t>);</a:t>
            </a:r>
          </a:p>
          <a:p>
            <a:r>
              <a:rPr lang="en-US" sz="1600" dirty="0"/>
              <a:t>Lets save this change and see the output in the browser. </a:t>
            </a:r>
          </a:p>
          <a:p>
            <a:endParaRPr lang="en-US" sz="1600" dirty="0"/>
          </a:p>
          <a:p>
            <a:r>
              <a:rPr lang="en-US" sz="1600" dirty="0"/>
              <a:t>Now lets say, we want to create one h1 tag and one h2 tag inside the div element. To achieve this, we have to pass two elements as child elements to this div. So lets go ahead and make changes. </a:t>
            </a:r>
          </a:p>
          <a:p>
            <a:br>
              <a:rPr lang="en-IN" sz="1600" b="0" dirty="0">
                <a:solidFill>
                  <a:srgbClr val="000000"/>
                </a:solidFill>
                <a:effectLst/>
                <a:latin typeface="Consolas" panose="020B0609020204030204" pitchFamily="49" charset="0"/>
              </a:rPr>
            </a:br>
            <a:r>
              <a:rPr lang="en-IN" sz="1600" b="0" dirty="0" err="1">
                <a:solidFill>
                  <a:srgbClr val="0000FF"/>
                </a:solidFill>
                <a:effectLst/>
                <a:latin typeface="Consolas" panose="020B0609020204030204" pitchFamily="49" charset="0"/>
              </a:rPr>
              <a:t>const</a:t>
            </a:r>
            <a:r>
              <a:rPr lang="en-IN" sz="1600" b="0" dirty="0">
                <a:solidFill>
                  <a:srgbClr val="000000"/>
                </a:solidFill>
                <a:effectLst/>
                <a:latin typeface="Consolas" panose="020B0609020204030204" pitchFamily="49" charset="0"/>
              </a:rPr>
              <a:t> </a:t>
            </a:r>
            <a:r>
              <a:rPr lang="en-IN" sz="1600" b="0" dirty="0">
                <a:solidFill>
                  <a:srgbClr val="0070C1"/>
                </a:solidFill>
                <a:effectLst/>
                <a:latin typeface="Consolas" panose="020B0609020204030204" pitchFamily="49" charset="0"/>
              </a:rPr>
              <a:t>element</a:t>
            </a:r>
            <a:r>
              <a:rPr lang="en-IN" sz="1600" b="0" dirty="0">
                <a:solidFill>
                  <a:srgbClr val="000000"/>
                </a:solidFill>
                <a:effectLst/>
                <a:latin typeface="Consolas" panose="020B0609020204030204" pitchFamily="49" charset="0"/>
              </a:rPr>
              <a:t>=</a:t>
            </a:r>
            <a:r>
              <a:rPr lang="en-IN" sz="1600" b="0" dirty="0" err="1">
                <a:solidFill>
                  <a:srgbClr val="267F99"/>
                </a:solidFill>
                <a:effectLst/>
                <a:latin typeface="Consolas" panose="020B0609020204030204" pitchFamily="49" charset="0"/>
              </a:rPr>
              <a:t>React</a:t>
            </a:r>
            <a:r>
              <a:rPr lang="en-IN" sz="1600" b="0" dirty="0" err="1">
                <a:solidFill>
                  <a:srgbClr val="000000"/>
                </a:solidFill>
                <a:effectLst/>
                <a:latin typeface="Consolas" panose="020B0609020204030204" pitchFamily="49" charset="0"/>
              </a:rPr>
              <a:t>.</a:t>
            </a:r>
            <a:r>
              <a:rPr lang="en-IN" sz="1600" b="0" dirty="0" err="1">
                <a:solidFill>
                  <a:srgbClr val="795E26"/>
                </a:solidFill>
                <a:effectLst/>
                <a:latin typeface="Consolas" panose="020B0609020204030204" pitchFamily="49" charset="0"/>
              </a:rPr>
              <a:t>createElement</a:t>
            </a:r>
            <a:r>
              <a:rPr lang="en-IN" sz="2000" b="0" dirty="0">
                <a:solidFill>
                  <a:srgbClr val="FF0000"/>
                </a:solidFill>
                <a:effectLst/>
                <a:latin typeface="Consolas" panose="020B0609020204030204" pitchFamily="49" charset="0"/>
              </a:rPr>
              <a:t>(</a:t>
            </a:r>
            <a:r>
              <a:rPr lang="en-IN" sz="1600" b="0" dirty="0">
                <a:solidFill>
                  <a:srgbClr val="A31515"/>
                </a:solidFill>
                <a:effectLst/>
                <a:latin typeface="Consolas" panose="020B0609020204030204" pitchFamily="49" charset="0"/>
              </a:rPr>
              <a:t>"div"</a:t>
            </a:r>
            <a:r>
              <a:rPr lang="en-IN" sz="1600" b="0" dirty="0">
                <a:solidFill>
                  <a:srgbClr val="000000"/>
                </a:solidFill>
                <a:effectLst/>
                <a:latin typeface="Consolas" panose="020B0609020204030204" pitchFamily="49" charset="0"/>
              </a:rPr>
              <a:t>,{</a:t>
            </a:r>
            <a:r>
              <a:rPr lang="en-IN" sz="1600" b="0" dirty="0" err="1">
                <a:solidFill>
                  <a:srgbClr val="001080"/>
                </a:solidFill>
                <a:effectLst/>
                <a:latin typeface="Consolas" panose="020B0609020204030204" pitchFamily="49" charset="0"/>
              </a:rPr>
              <a:t>className</a:t>
            </a:r>
            <a:r>
              <a:rPr lang="en-IN" sz="1600" b="0" dirty="0">
                <a:solidFill>
                  <a:srgbClr val="001080"/>
                </a:solidFill>
                <a:effectLst/>
                <a:latin typeface="Consolas" panose="020B0609020204030204" pitchFamily="49" charset="0"/>
              </a:rPr>
              <a:t>:</a:t>
            </a:r>
            <a:r>
              <a:rPr lang="en-IN" sz="1600" b="0" dirty="0">
                <a:solidFill>
                  <a:srgbClr val="A31515"/>
                </a:solidFill>
                <a:effectLst/>
                <a:latin typeface="Consolas" panose="020B0609020204030204" pitchFamily="49" charset="0"/>
              </a:rPr>
              <a:t>"</a:t>
            </a:r>
            <a:r>
              <a:rPr lang="en-IN" sz="1600" b="0" dirty="0" err="1">
                <a:solidFill>
                  <a:srgbClr val="A31515"/>
                </a:solidFill>
                <a:effectLst/>
                <a:latin typeface="Consolas" panose="020B0609020204030204" pitchFamily="49" charset="0"/>
              </a:rPr>
              <a:t>testClass</a:t>
            </a:r>
            <a:r>
              <a:rPr lang="en-IN" sz="1600" b="0" dirty="0">
                <a:solidFill>
                  <a:srgbClr val="A31515"/>
                </a:solidFill>
                <a:effectLst/>
                <a:latin typeface="Consolas" panose="020B0609020204030204" pitchFamily="49" charset="0"/>
              </a:rPr>
              <a:t>"</a:t>
            </a:r>
            <a:r>
              <a:rPr lang="en-IN" sz="1600" b="0" dirty="0">
                <a:solidFill>
                  <a:srgbClr val="000000"/>
                </a:solidFill>
                <a:effectLst/>
                <a:latin typeface="Consolas" panose="020B0609020204030204" pitchFamily="49" charset="0"/>
              </a:rPr>
              <a:t>},</a:t>
            </a:r>
          </a:p>
          <a:p>
            <a:br>
              <a:rPr lang="en-IN" sz="1600" b="0" dirty="0">
                <a:solidFill>
                  <a:srgbClr val="000000"/>
                </a:solidFill>
                <a:effectLst/>
                <a:latin typeface="Consolas" panose="020B0609020204030204" pitchFamily="49" charset="0"/>
              </a:rPr>
            </a:br>
            <a:r>
              <a:rPr lang="en-IN" sz="1600" b="0" dirty="0">
                <a:solidFill>
                  <a:srgbClr val="000000"/>
                </a:solidFill>
                <a:effectLst/>
                <a:latin typeface="Consolas" panose="020B0609020204030204" pitchFamily="49" charset="0"/>
              </a:rPr>
              <a:t>		</a:t>
            </a:r>
            <a:r>
              <a:rPr lang="en-IN" sz="1600" b="0" dirty="0" err="1">
                <a:solidFill>
                  <a:srgbClr val="267F99"/>
                </a:solidFill>
                <a:effectLst/>
                <a:latin typeface="Consolas" panose="020B0609020204030204" pitchFamily="49" charset="0"/>
              </a:rPr>
              <a:t>React</a:t>
            </a:r>
            <a:r>
              <a:rPr lang="en-IN" sz="1600" b="0" dirty="0" err="1">
                <a:solidFill>
                  <a:srgbClr val="000000"/>
                </a:solidFill>
                <a:effectLst/>
                <a:latin typeface="Consolas" panose="020B0609020204030204" pitchFamily="49" charset="0"/>
              </a:rPr>
              <a:t>.</a:t>
            </a:r>
            <a:r>
              <a:rPr lang="en-IN" sz="1600" b="0" dirty="0" err="1">
                <a:solidFill>
                  <a:srgbClr val="795E26"/>
                </a:solidFill>
                <a:effectLst/>
                <a:latin typeface="Consolas" panose="020B0609020204030204" pitchFamily="49" charset="0"/>
              </a:rPr>
              <a:t>createElement</a:t>
            </a:r>
            <a:r>
              <a:rPr lang="en-IN" sz="1600" b="0" dirty="0">
                <a:solidFill>
                  <a:srgbClr val="000000"/>
                </a:solidFill>
                <a:effectLst/>
                <a:latin typeface="Consolas" panose="020B0609020204030204" pitchFamily="49" charset="0"/>
              </a:rPr>
              <a:t>(</a:t>
            </a:r>
            <a:r>
              <a:rPr lang="en-IN" sz="1600" b="0" dirty="0">
                <a:solidFill>
                  <a:srgbClr val="A31515"/>
                </a:solidFill>
                <a:effectLst/>
                <a:latin typeface="Consolas" panose="020B0609020204030204" pitchFamily="49" charset="0"/>
              </a:rPr>
              <a:t>"h1"</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null</a:t>
            </a:r>
            <a:r>
              <a:rPr lang="en-IN" sz="1600" b="0" dirty="0">
                <a:solidFill>
                  <a:srgbClr val="000000"/>
                </a:solidFill>
                <a:effectLst/>
                <a:latin typeface="Consolas" panose="020B0609020204030204" pitchFamily="49" charset="0"/>
              </a:rPr>
              <a:t>,</a:t>
            </a:r>
            <a:r>
              <a:rPr lang="en-IN" sz="1600" b="0" dirty="0">
                <a:solidFill>
                  <a:srgbClr val="A31515"/>
                </a:solidFill>
                <a:effectLst/>
                <a:latin typeface="Consolas" panose="020B0609020204030204" pitchFamily="49" charset="0"/>
              </a:rPr>
              <a:t>'Welcome to </a:t>
            </a:r>
            <a:r>
              <a:rPr lang="en-IN" sz="1600" dirty="0" err="1">
                <a:solidFill>
                  <a:srgbClr val="A31515"/>
                </a:solidFill>
                <a:latin typeface="Consolas" panose="020B0609020204030204" pitchFamily="49" charset="0"/>
              </a:rPr>
              <a:t>D</a:t>
            </a:r>
            <a:r>
              <a:rPr lang="en-IN" sz="1600" b="0" dirty="0" err="1">
                <a:solidFill>
                  <a:srgbClr val="A31515"/>
                </a:solidFill>
                <a:effectLst/>
                <a:latin typeface="Consolas" panose="020B0609020204030204" pitchFamily="49" charset="0"/>
              </a:rPr>
              <a:t>ac</a:t>
            </a:r>
            <a:r>
              <a:rPr lang="en-IN" sz="1600" b="0" dirty="0">
                <a:solidFill>
                  <a:srgbClr val="A31515"/>
                </a:solidFill>
                <a:effectLst/>
                <a:latin typeface="Consolas" panose="020B0609020204030204" pitchFamily="49" charset="0"/>
              </a:rPr>
              <a:t>'</a:t>
            </a:r>
            <a:r>
              <a:rPr lang="en-IN" sz="1600" b="0" dirty="0">
                <a:solidFill>
                  <a:srgbClr val="000000"/>
                </a:solidFill>
                <a:effectLst/>
                <a:latin typeface="Consolas" panose="020B0609020204030204" pitchFamily="49" charset="0"/>
              </a:rPr>
              <a:t>),</a:t>
            </a:r>
          </a:p>
          <a:p>
            <a:br>
              <a:rPr lang="en-IN" sz="1600" b="0" dirty="0">
                <a:solidFill>
                  <a:srgbClr val="000000"/>
                </a:solidFill>
                <a:effectLst/>
                <a:latin typeface="Consolas" panose="020B0609020204030204" pitchFamily="49" charset="0"/>
              </a:rPr>
            </a:br>
            <a:r>
              <a:rPr lang="en-IN" sz="1600" b="0" dirty="0">
                <a:solidFill>
                  <a:srgbClr val="000000"/>
                </a:solidFill>
                <a:effectLst/>
                <a:latin typeface="Consolas" panose="020B0609020204030204" pitchFamily="49" charset="0"/>
              </a:rPr>
              <a:t>			</a:t>
            </a:r>
            <a:r>
              <a:rPr lang="en-IN" sz="1600" b="0" dirty="0" err="1">
                <a:solidFill>
                  <a:srgbClr val="267F99"/>
                </a:solidFill>
                <a:effectLst/>
                <a:latin typeface="Consolas" panose="020B0609020204030204" pitchFamily="49" charset="0"/>
              </a:rPr>
              <a:t>React</a:t>
            </a:r>
            <a:r>
              <a:rPr lang="en-IN" sz="1600" b="0" dirty="0" err="1">
                <a:solidFill>
                  <a:srgbClr val="000000"/>
                </a:solidFill>
                <a:effectLst/>
                <a:latin typeface="Consolas" panose="020B0609020204030204" pitchFamily="49" charset="0"/>
              </a:rPr>
              <a:t>.</a:t>
            </a:r>
            <a:r>
              <a:rPr lang="en-IN" sz="1600" b="0" dirty="0" err="1">
                <a:solidFill>
                  <a:srgbClr val="795E26"/>
                </a:solidFill>
                <a:effectLst/>
                <a:latin typeface="Consolas" panose="020B0609020204030204" pitchFamily="49" charset="0"/>
              </a:rPr>
              <a:t>createElement</a:t>
            </a:r>
            <a:r>
              <a:rPr lang="en-IN" sz="1600" b="0" dirty="0">
                <a:solidFill>
                  <a:srgbClr val="000000"/>
                </a:solidFill>
                <a:effectLst/>
                <a:latin typeface="Consolas" panose="020B0609020204030204" pitchFamily="49" charset="0"/>
              </a:rPr>
              <a:t>(</a:t>
            </a:r>
            <a:r>
              <a:rPr lang="en-IN" sz="1600" b="0" dirty="0">
                <a:solidFill>
                  <a:srgbClr val="A31515"/>
                </a:solidFill>
                <a:effectLst/>
                <a:latin typeface="Consolas" panose="020B0609020204030204" pitchFamily="49" charset="0"/>
              </a:rPr>
              <a:t>'h2'</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null</a:t>
            </a:r>
            <a:r>
              <a:rPr lang="en-IN" sz="1600" b="0" dirty="0">
                <a:solidFill>
                  <a:srgbClr val="000000"/>
                </a:solidFill>
                <a:effectLst/>
                <a:latin typeface="Consolas" panose="020B0609020204030204" pitchFamily="49" charset="0"/>
              </a:rPr>
              <a:t>,</a:t>
            </a:r>
            <a:r>
              <a:rPr lang="en-IN" sz="1600" b="0" dirty="0">
                <a:solidFill>
                  <a:srgbClr val="A31515"/>
                </a:solidFill>
                <a:effectLst/>
                <a:latin typeface="Consolas" panose="020B0609020204030204" pitchFamily="49" charset="0"/>
              </a:rPr>
              <a:t>'I am from h2 Tag'</a:t>
            </a:r>
            <a:r>
              <a:rPr lang="en-IN" sz="1600" b="0" dirty="0">
                <a:solidFill>
                  <a:srgbClr val="000000"/>
                </a:solidFill>
                <a:effectLst/>
                <a:latin typeface="Consolas" panose="020B0609020204030204" pitchFamily="49" charset="0"/>
              </a:rPr>
              <a:t>)</a:t>
            </a:r>
            <a:r>
              <a:rPr lang="en-IN" sz="2000" b="1" dirty="0">
                <a:solidFill>
                  <a:srgbClr val="FF0000"/>
                </a:solidFill>
                <a:effectLst/>
                <a:latin typeface="Consolas" panose="020B0609020204030204" pitchFamily="49" charset="0"/>
              </a:rPr>
              <a:t>)</a:t>
            </a:r>
            <a:r>
              <a:rPr lang="en-IN" sz="1600" b="0" dirty="0">
                <a:solidFill>
                  <a:srgbClr val="000000"/>
                </a:solidFill>
                <a:effectLst/>
                <a:latin typeface="Consolas" panose="020B0609020204030204" pitchFamily="49" charset="0"/>
              </a:rPr>
              <a:t>;</a:t>
            </a:r>
          </a:p>
          <a:p>
            <a:br>
              <a:rPr lang="en-IN" sz="1600" b="0" dirty="0">
                <a:solidFill>
                  <a:srgbClr val="000000"/>
                </a:solidFill>
                <a:effectLst/>
                <a:latin typeface="Consolas" panose="020B0609020204030204" pitchFamily="49" charset="0"/>
              </a:rPr>
            </a:br>
            <a:r>
              <a:rPr lang="en-US" sz="1600" dirty="0"/>
              <a:t>Lets save this change and see the output in the browser. </a:t>
            </a:r>
            <a:endParaRPr lang="en-IN" sz="1600" dirty="0"/>
          </a:p>
        </p:txBody>
      </p:sp>
      <p:sp>
        <p:nvSpPr>
          <p:cNvPr id="2" name="TextBox 1">
            <a:extLst>
              <a:ext uri="{FF2B5EF4-FFF2-40B4-BE49-F238E27FC236}">
                <a16:creationId xmlns:a16="http://schemas.microsoft.com/office/drawing/2014/main" id="{66B85100-0B4D-2D5F-7D35-9440EBB05D05}"/>
              </a:ext>
            </a:extLst>
          </p:cNvPr>
          <p:cNvSpPr txBox="1"/>
          <p:nvPr/>
        </p:nvSpPr>
        <p:spPr>
          <a:xfrm>
            <a:off x="8593394" y="4739148"/>
            <a:ext cx="3598605" cy="1200329"/>
          </a:xfrm>
          <a:prstGeom prst="rect">
            <a:avLst/>
          </a:prstGeom>
          <a:noFill/>
        </p:spPr>
        <p:txBody>
          <a:bodyPr wrap="square" rtlCol="0">
            <a:spAutoFit/>
          </a:bodyPr>
          <a:lstStyle/>
          <a:p>
            <a:r>
              <a:rPr lang="en-US" dirty="0"/>
              <a:t>&lt;div&gt;</a:t>
            </a:r>
          </a:p>
          <a:p>
            <a:r>
              <a:rPr lang="en-US" dirty="0"/>
              <a:t>     &lt;h1&gt; Welcome to DAC&lt;/h1&gt;</a:t>
            </a:r>
          </a:p>
          <a:p>
            <a:r>
              <a:rPr lang="en-US" dirty="0"/>
              <a:t>     &lt;h2&gt;I am from h2 tag&lt;/h2&gt;</a:t>
            </a:r>
          </a:p>
          <a:p>
            <a:r>
              <a:rPr lang="en-US" dirty="0"/>
              <a:t>&lt;div&gt;</a:t>
            </a:r>
            <a:endParaRPr lang="en-IN" dirty="0"/>
          </a:p>
        </p:txBody>
      </p:sp>
    </p:spTree>
    <p:extLst>
      <p:ext uri="{BB962C8B-B14F-4D97-AF65-F5344CB8AC3E}">
        <p14:creationId xmlns:p14="http://schemas.microsoft.com/office/powerpoint/2010/main" val="8285254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5EC2B0-5829-452D-BF3E-1A4074EFC093}"/>
              </a:ext>
            </a:extLst>
          </p:cNvPr>
          <p:cNvSpPr>
            <a:spLocks noGrp="1"/>
          </p:cNvSpPr>
          <p:nvPr>
            <p:ph idx="1"/>
          </p:nvPr>
        </p:nvSpPr>
        <p:spPr>
          <a:xfrm>
            <a:off x="1490869" y="3797887"/>
            <a:ext cx="7868478" cy="2807597"/>
          </a:xfrm>
        </p:spPr>
        <p:txBody>
          <a:bodyPr>
            <a:normAutofit/>
          </a:bodyPr>
          <a:lstStyle/>
          <a:p>
            <a:r>
              <a:rPr kumimoji="0" lang="en-US" altLang="en-US" sz="2000" b="0" i="0" u="none" strike="noStrike" kern="1200" cap="none" spc="0" normalizeH="0" baseline="0" noProof="0" dirty="0">
                <a:ln>
                  <a:noFill/>
                </a:ln>
                <a:solidFill>
                  <a:srgbClr val="000000"/>
                </a:solidFill>
                <a:effectLst/>
                <a:uLnTx/>
                <a:uFillTx/>
                <a:latin typeface="Verdana" panose="020B0604030504040204" pitchFamily="34" charset="0"/>
                <a:ea typeface="+mj-ea"/>
                <a:cs typeface="+mj-cs"/>
              </a:rPr>
              <a:t>RCE short cut key to create component class </a:t>
            </a:r>
            <a:br>
              <a:rPr kumimoji="0" lang="en-US" altLang="en-US" sz="2000" b="0" i="0" u="none" strike="noStrike" kern="1200" cap="none" spc="0" normalizeH="0" baseline="0" noProof="0" dirty="0">
                <a:ln>
                  <a:noFill/>
                </a:ln>
                <a:solidFill>
                  <a:srgbClr val="000000"/>
                </a:solidFill>
                <a:effectLst/>
                <a:uLnTx/>
                <a:uFillTx/>
                <a:latin typeface="Verdana" panose="020B0604030504040204" pitchFamily="34" charset="0"/>
                <a:ea typeface="+mj-ea"/>
                <a:cs typeface="+mj-cs"/>
              </a:rPr>
            </a:br>
            <a:r>
              <a:rPr kumimoji="0" lang="en-US" altLang="en-US" sz="2000" b="0" i="0" u="none" strike="noStrike" kern="1200" cap="none" spc="0" normalizeH="0" baseline="0" noProof="0" dirty="0" err="1">
                <a:ln>
                  <a:noFill/>
                </a:ln>
                <a:solidFill>
                  <a:srgbClr val="000000"/>
                </a:solidFill>
                <a:effectLst/>
                <a:uLnTx/>
                <a:uFillTx/>
                <a:latin typeface="Verdana" panose="020B0604030504040204" pitchFamily="34" charset="0"/>
                <a:ea typeface="+mj-ea"/>
                <a:cs typeface="+mj-cs"/>
              </a:rPr>
              <a:t>rconst</a:t>
            </a:r>
            <a:r>
              <a:rPr kumimoji="0" lang="en-US" altLang="en-US" sz="2000" b="0" i="0" u="none" strike="noStrike" kern="1200" cap="none" spc="0" normalizeH="0" baseline="0" noProof="0" dirty="0">
                <a:ln>
                  <a:noFill/>
                </a:ln>
                <a:solidFill>
                  <a:srgbClr val="000000"/>
                </a:solidFill>
                <a:effectLst/>
                <a:uLnTx/>
                <a:uFillTx/>
                <a:latin typeface="Verdana" panose="020B0604030504040204" pitchFamily="34" charset="0"/>
                <a:ea typeface="+mj-ea"/>
                <a:cs typeface="+mj-cs"/>
              </a:rPr>
              <a:t> for constructor</a:t>
            </a:r>
          </a:p>
          <a:p>
            <a:endParaRPr lang="en-US" sz="1200" dirty="0">
              <a:solidFill>
                <a:srgbClr val="000000"/>
              </a:solidFill>
              <a:latin typeface="Verdana" panose="020B0604030504040204" pitchFamily="34" charset="0"/>
              <a:ea typeface="+mj-ea"/>
              <a:cs typeface="+mj-cs"/>
            </a:endParaRPr>
          </a:p>
          <a:p>
            <a:endParaRPr lang="en-IN" dirty="0"/>
          </a:p>
        </p:txBody>
      </p:sp>
      <p:sp>
        <p:nvSpPr>
          <p:cNvPr id="5" name="TextBox 4">
            <a:extLst>
              <a:ext uri="{FF2B5EF4-FFF2-40B4-BE49-F238E27FC236}">
                <a16:creationId xmlns:a16="http://schemas.microsoft.com/office/drawing/2014/main" id="{16850348-9FF0-96EB-C84E-D6390A258948}"/>
              </a:ext>
            </a:extLst>
          </p:cNvPr>
          <p:cNvSpPr txBox="1"/>
          <p:nvPr/>
        </p:nvSpPr>
        <p:spPr>
          <a:xfrm>
            <a:off x="2485611" y="252516"/>
            <a:ext cx="8815180" cy="3416320"/>
          </a:xfrm>
          <a:prstGeom prst="rect">
            <a:avLst/>
          </a:prstGeom>
          <a:noFill/>
        </p:spPr>
        <p:txBody>
          <a:bodyPr wrap="square">
            <a:spAutoFit/>
          </a:bodyPr>
          <a:lstStyle/>
          <a:p>
            <a:r>
              <a:rPr lang="en-IN" b="0" dirty="0" err="1">
                <a:solidFill>
                  <a:srgbClr val="0000FF"/>
                </a:solidFill>
                <a:effectLst/>
                <a:latin typeface="Consolas" panose="020B0609020204030204" pitchFamily="49" charset="0"/>
              </a:rPr>
              <a:t>const</a:t>
            </a:r>
            <a:r>
              <a:rPr lang="en-IN" b="0" dirty="0">
                <a:solidFill>
                  <a:srgbClr val="000000"/>
                </a:solidFill>
                <a:effectLst/>
                <a:latin typeface="Consolas" panose="020B0609020204030204" pitchFamily="49" charset="0"/>
              </a:rPr>
              <a:t> element = </a:t>
            </a:r>
            <a:r>
              <a:rPr lang="en-IN" b="0" dirty="0" err="1">
                <a:solidFill>
                  <a:srgbClr val="000000"/>
                </a:solidFill>
                <a:effectLst/>
                <a:latin typeface="Consolas" panose="020B0609020204030204" pitchFamily="49" charset="0"/>
              </a:rPr>
              <a:t>React.createElement</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"div"</a:t>
            </a:r>
            <a:r>
              <a:rPr lang="en-IN" b="0" dirty="0">
                <a:solidFill>
                  <a:srgbClr val="000000"/>
                </a:solidFill>
                <a:effectLst/>
                <a:latin typeface="Consolas" panose="020B0609020204030204" pitchFamily="49" charset="0"/>
              </a:rPr>
              <a:t>, { </a:t>
            </a:r>
            <a:r>
              <a:rPr lang="en-IN" b="0" dirty="0" err="1">
                <a:solidFill>
                  <a:srgbClr val="000000"/>
                </a:solidFill>
                <a:effectLst/>
                <a:latin typeface="Consolas" panose="020B0609020204030204" pitchFamily="49" charset="0"/>
              </a:rPr>
              <a:t>className</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testClass</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React.createElement</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"h1"</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null</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'Welcome to </a:t>
            </a:r>
            <a:r>
              <a:rPr lang="en-IN" b="0" dirty="0" err="1">
                <a:solidFill>
                  <a:srgbClr val="A31515"/>
                </a:solidFill>
                <a:effectLst/>
                <a:latin typeface="Consolas" panose="020B0609020204030204" pitchFamily="49" charset="0"/>
              </a:rPr>
              <a:t>Dac</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React.createElement</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'h2'</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null</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'I am from h2 Tag'</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br>
              <a:rPr lang="en-IN" b="0" dirty="0">
                <a:solidFill>
                  <a:srgbClr val="000000"/>
                </a:solidFill>
                <a:effectLst/>
                <a:latin typeface="Consolas" panose="020B0609020204030204" pitchFamily="49" charset="0"/>
              </a:rPr>
            </a:br>
            <a:r>
              <a:rPr lang="en-IN" b="0" dirty="0" err="1">
                <a:solidFill>
                  <a:srgbClr val="0000FF"/>
                </a:solidFill>
                <a:effectLst/>
                <a:latin typeface="Consolas" panose="020B0609020204030204" pitchFamily="49" charset="0"/>
              </a:rPr>
              <a:t>const</a:t>
            </a:r>
            <a:r>
              <a:rPr lang="en-IN" b="0" dirty="0">
                <a:solidFill>
                  <a:srgbClr val="000000"/>
                </a:solidFill>
                <a:effectLst/>
                <a:latin typeface="Consolas" panose="020B0609020204030204" pitchFamily="49" charset="0"/>
              </a:rPr>
              <a:t> root = </a:t>
            </a:r>
            <a:r>
              <a:rPr lang="en-IN" b="0" dirty="0" err="1">
                <a:solidFill>
                  <a:srgbClr val="000000"/>
                </a:solidFill>
                <a:effectLst/>
                <a:latin typeface="Consolas" panose="020B0609020204030204" pitchFamily="49" charset="0"/>
              </a:rPr>
              <a:t>ReactDOM.createRoot</a:t>
            </a:r>
            <a:r>
              <a:rPr lang="en-IN" b="0" dirty="0">
                <a:solidFill>
                  <a:srgbClr val="000000"/>
                </a:solidFill>
                <a:effectLst/>
                <a:latin typeface="Consolas" panose="020B0609020204030204" pitchFamily="49" charset="0"/>
              </a:rPr>
              <a:t>(</a:t>
            </a:r>
            <a:r>
              <a:rPr lang="en-IN" b="0" dirty="0" err="1">
                <a:solidFill>
                  <a:srgbClr val="000000"/>
                </a:solidFill>
                <a:effectLst/>
                <a:latin typeface="Consolas" panose="020B0609020204030204" pitchFamily="49" charset="0"/>
              </a:rPr>
              <a:t>document.getElementById</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'root'</a:t>
            </a:r>
            <a:r>
              <a:rPr lang="en-IN" b="0" dirty="0">
                <a:solidFill>
                  <a:srgbClr val="000000"/>
                </a:solidFill>
                <a:effectLst/>
                <a:latin typeface="Consolas" panose="020B0609020204030204" pitchFamily="49" charset="0"/>
              </a:rPr>
              <a:t>));</a:t>
            </a:r>
          </a:p>
          <a:p>
            <a:r>
              <a:rPr lang="en-IN" b="0" dirty="0" err="1">
                <a:solidFill>
                  <a:srgbClr val="000000"/>
                </a:solidFill>
                <a:effectLst/>
                <a:latin typeface="Consolas" panose="020B0609020204030204" pitchFamily="49" charset="0"/>
              </a:rPr>
              <a:t>root.render</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000000"/>
                </a:solidFill>
                <a:effectLst/>
                <a:latin typeface="Consolas" panose="020B0609020204030204" pitchFamily="49" charset="0"/>
              </a:rPr>
              <a:t>  element</a:t>
            </a:r>
          </a:p>
          <a:p>
            <a:br>
              <a:rPr lang="en-IN" b="0" dirty="0">
                <a:solidFill>
                  <a:srgbClr val="000000"/>
                </a:solidFill>
                <a:effectLst/>
                <a:latin typeface="Consolas" panose="020B0609020204030204" pitchFamily="49" charset="0"/>
              </a:rPr>
            </a:br>
            <a:r>
              <a:rPr lang="en-IN"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4222017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D9C80E3-0BF7-619C-51DC-7826C71EB159}"/>
              </a:ext>
            </a:extLst>
          </p:cNvPr>
          <p:cNvSpPr txBox="1"/>
          <p:nvPr/>
        </p:nvSpPr>
        <p:spPr>
          <a:xfrm>
            <a:off x="1975403" y="771436"/>
            <a:ext cx="7864336" cy="923330"/>
          </a:xfrm>
          <a:prstGeom prst="rect">
            <a:avLst/>
          </a:prstGeom>
          <a:noFill/>
        </p:spPr>
        <p:txBody>
          <a:bodyPr wrap="square">
            <a:spAutoFit/>
          </a:bodyPr>
          <a:lstStyle/>
          <a:p>
            <a:pPr algn="l"/>
            <a:r>
              <a:rPr lang="en-US" b="0" i="0" dirty="0">
                <a:solidFill>
                  <a:srgbClr val="383F55"/>
                </a:solidFill>
                <a:effectLst/>
                <a:latin typeface="Metric"/>
              </a:rPr>
              <a:t>Below is a visual description of the rendering process for initial render.</a:t>
            </a:r>
          </a:p>
          <a:p>
            <a:br>
              <a:rPr lang="en-US" dirty="0"/>
            </a:br>
            <a:endParaRPr lang="en-IN" dirty="0"/>
          </a:p>
        </p:txBody>
      </p:sp>
      <p:pic>
        <p:nvPicPr>
          <p:cNvPr id="6" name="Picture 5">
            <a:extLst>
              <a:ext uri="{FF2B5EF4-FFF2-40B4-BE49-F238E27FC236}">
                <a16:creationId xmlns:a16="http://schemas.microsoft.com/office/drawing/2014/main" id="{78EEFCB3-DFD7-C49D-7A33-E4FF5C5D19EA}"/>
              </a:ext>
            </a:extLst>
          </p:cNvPr>
          <p:cNvPicPr>
            <a:picLocks noChangeAspect="1"/>
          </p:cNvPicPr>
          <p:nvPr/>
        </p:nvPicPr>
        <p:blipFill>
          <a:blip r:embed="rId2"/>
          <a:stretch>
            <a:fillRect/>
          </a:stretch>
        </p:blipFill>
        <p:spPr>
          <a:xfrm>
            <a:off x="1262270" y="1445485"/>
            <a:ext cx="8791367" cy="3607528"/>
          </a:xfrm>
          <a:prstGeom prst="rect">
            <a:avLst/>
          </a:prstGeom>
        </p:spPr>
      </p:pic>
    </p:spTree>
    <p:extLst>
      <p:ext uri="{BB962C8B-B14F-4D97-AF65-F5344CB8AC3E}">
        <p14:creationId xmlns:p14="http://schemas.microsoft.com/office/powerpoint/2010/main" val="40031685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1DA597C-F699-8637-42FB-82F7C031134F}"/>
              </a:ext>
            </a:extLst>
          </p:cNvPr>
          <p:cNvSpPr txBox="1"/>
          <p:nvPr/>
        </p:nvSpPr>
        <p:spPr>
          <a:xfrm>
            <a:off x="2005220" y="243366"/>
            <a:ext cx="7963728" cy="646331"/>
          </a:xfrm>
          <a:prstGeom prst="rect">
            <a:avLst/>
          </a:prstGeom>
          <a:noFill/>
        </p:spPr>
        <p:txBody>
          <a:bodyPr wrap="square">
            <a:spAutoFit/>
          </a:bodyPr>
          <a:lstStyle/>
          <a:p>
            <a:r>
              <a:rPr lang="en-US" b="0" i="0" dirty="0">
                <a:solidFill>
                  <a:srgbClr val="383F55"/>
                </a:solidFill>
                <a:effectLst/>
                <a:latin typeface="Metric"/>
              </a:rPr>
              <a:t>Below is a visual description of the rendering process when an application re-renders.</a:t>
            </a:r>
            <a:endParaRPr lang="en-IN" dirty="0"/>
          </a:p>
        </p:txBody>
      </p:sp>
      <p:pic>
        <p:nvPicPr>
          <p:cNvPr id="1026" name="Picture 2">
            <a:extLst>
              <a:ext uri="{FF2B5EF4-FFF2-40B4-BE49-F238E27FC236}">
                <a16:creationId xmlns:a16="http://schemas.microsoft.com/office/drawing/2014/main" id="{DCCAB2D9-9E84-A909-98CE-DB04581DB5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5848" y="1302026"/>
            <a:ext cx="9734966" cy="37509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20929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13DC989-FE25-E36C-A12F-3C03BCD01E9F}"/>
              </a:ext>
            </a:extLst>
          </p:cNvPr>
          <p:cNvSpPr txBox="1"/>
          <p:nvPr/>
        </p:nvSpPr>
        <p:spPr>
          <a:xfrm>
            <a:off x="1408872" y="1176133"/>
            <a:ext cx="9225998" cy="4893647"/>
          </a:xfrm>
          <a:prstGeom prst="rect">
            <a:avLst/>
          </a:prstGeom>
          <a:noFill/>
        </p:spPr>
        <p:txBody>
          <a:bodyPr wrap="square">
            <a:spAutoFit/>
          </a:bodyPr>
          <a:lstStyle/>
          <a:p>
            <a:pPr algn="l"/>
            <a:r>
              <a:rPr lang="en-US" sz="2400" b="0" dirty="0">
                <a:solidFill>
                  <a:srgbClr val="000000"/>
                </a:solidFill>
                <a:effectLst/>
                <a:latin typeface="Metric"/>
              </a:rPr>
              <a:t>The Render Phase</a:t>
            </a:r>
          </a:p>
          <a:p>
            <a:pPr algn="l"/>
            <a:r>
              <a:rPr lang="en-US" sz="2400" b="0" i="0" dirty="0">
                <a:solidFill>
                  <a:srgbClr val="383F55"/>
                </a:solidFill>
                <a:effectLst/>
                <a:latin typeface="Metric"/>
              </a:rPr>
              <a:t>Before React components can be displayed on the screen, they must first be rendered by React. The render phase is the initial phase of the rendering process. In this phase, the JSX code is converted to a JavaScript representation of what the HTML structure should look like.</a:t>
            </a:r>
          </a:p>
          <a:p>
            <a:pPr algn="l"/>
            <a:r>
              <a:rPr lang="en-US" sz="2400" b="0" i="0" dirty="0">
                <a:solidFill>
                  <a:srgbClr val="383F55"/>
                </a:solidFill>
                <a:effectLst/>
                <a:latin typeface="Metric"/>
              </a:rPr>
              <a:t>On the initial render, it starts from the root component and works its way down, building out a React element tree of what the actual DOM should look like.</a:t>
            </a:r>
          </a:p>
          <a:p>
            <a:pPr algn="l"/>
            <a:r>
              <a:rPr lang="en-US" sz="2400" b="0" i="0" dirty="0">
                <a:solidFill>
                  <a:srgbClr val="383F55"/>
                </a:solidFill>
                <a:effectLst/>
                <a:latin typeface="Metric"/>
              </a:rPr>
              <a:t>Re-rendering follows a similar approach but with a key difference: it creates a new JavaScript representation of the DOM, identifying all the components marked as needing an update. After this, it uses a process known as diffing to identify the changes between the old and new tree of React elements (aka the virtual DOM)</a:t>
            </a:r>
          </a:p>
        </p:txBody>
      </p:sp>
    </p:spTree>
    <p:extLst>
      <p:ext uri="{BB962C8B-B14F-4D97-AF65-F5344CB8AC3E}">
        <p14:creationId xmlns:p14="http://schemas.microsoft.com/office/powerpoint/2010/main" val="18037039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CCFF53FB-59F1-55C0-E5A7-AD3C926C6D6F}"/>
              </a:ext>
            </a:extLst>
          </p:cNvPr>
          <p:cNvSpPr txBox="1"/>
          <p:nvPr/>
        </p:nvSpPr>
        <p:spPr>
          <a:xfrm>
            <a:off x="752890" y="914909"/>
            <a:ext cx="10607536" cy="5078313"/>
          </a:xfrm>
          <a:prstGeom prst="rect">
            <a:avLst/>
          </a:prstGeom>
          <a:noFill/>
        </p:spPr>
        <p:txBody>
          <a:bodyPr wrap="square">
            <a:spAutoFit/>
          </a:bodyPr>
          <a:lstStyle/>
          <a:p>
            <a:r>
              <a:rPr lang="en-US" dirty="0"/>
              <a:t>The Virtual DOM</a:t>
            </a:r>
          </a:p>
          <a:p>
            <a:r>
              <a:rPr lang="en-US" dirty="0"/>
              <a:t>Invoking a component causes React to instantiate it and return a plain JavaScript object describing a component or an HTML tag called a React element. This object and its children make up the virtual DOM.</a:t>
            </a:r>
          </a:p>
          <a:p>
            <a:endParaRPr lang="en-US" dirty="0"/>
          </a:p>
          <a:p>
            <a:r>
              <a:rPr lang="en-US" dirty="0"/>
              <a:t>React needs to ensure that the application’s UI is always in sync with the React state. To achieve this, whenever a component’s state changes, it has to re-render all potentially affected components (the component that owns the state and its descendants).</a:t>
            </a:r>
          </a:p>
          <a:p>
            <a:endParaRPr lang="en-US" dirty="0"/>
          </a:p>
          <a:p>
            <a:r>
              <a:rPr lang="en-US" dirty="0"/>
              <a:t>Programmatically Navigate with React Router</a:t>
            </a:r>
          </a:p>
          <a:p>
            <a:r>
              <a:rPr lang="en-US" dirty="0"/>
              <a:t>Programmatic navigation refers to when a user is redirected as a result of an action that occurs on a route, like a login or signup action. In this article, we look at a myriad of approaches to navigating programmatically with React Router.</a:t>
            </a:r>
          </a:p>
          <a:p>
            <a:endParaRPr lang="en-US" dirty="0"/>
          </a:p>
          <a:p>
            <a:r>
              <a:rPr lang="en-US" dirty="0"/>
              <a:t>Writing to the actual DOM is very expensive and can lead to performance shortcomings, but generating the plain JavaScript objects (virtual DOM) is really easy. React uses the virtual DOM to reduce the excess cost incurred from repainting the entire page whenever a state change occurs that affects the UI.</a:t>
            </a:r>
          </a:p>
          <a:p>
            <a:endParaRPr lang="en-US" dirty="0"/>
          </a:p>
          <a:p>
            <a:r>
              <a:rPr lang="en-US" dirty="0"/>
              <a:t>The virtual DOM is used to figure out the changes without involving the actual DOM and then ensures that the actual DOM updates only the parts of the UI that have changed.</a:t>
            </a:r>
            <a:endParaRPr lang="en-IN" dirty="0"/>
          </a:p>
        </p:txBody>
      </p:sp>
    </p:spTree>
    <p:extLst>
      <p:ext uri="{BB962C8B-B14F-4D97-AF65-F5344CB8AC3E}">
        <p14:creationId xmlns:p14="http://schemas.microsoft.com/office/powerpoint/2010/main" val="4802067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3244</TotalTime>
  <Words>3391</Words>
  <Application>Microsoft Office PowerPoint</Application>
  <PresentationFormat>Widescreen</PresentationFormat>
  <Paragraphs>312</Paragraphs>
  <Slides>28</Slides>
  <Notes>0</Notes>
  <HiddenSlides>1</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28</vt:i4>
      </vt:variant>
    </vt:vector>
  </HeadingPairs>
  <TitlesOfParts>
    <vt:vector size="42" baseType="lpstr">
      <vt:lpstr>arial</vt:lpstr>
      <vt:lpstr>arial</vt:lpstr>
      <vt:lpstr>Calibri</vt:lpstr>
      <vt:lpstr>Cambria</vt:lpstr>
      <vt:lpstr>Consolas</vt:lpstr>
      <vt:lpstr>Garamond</vt:lpstr>
      <vt:lpstr>inherit</vt:lpstr>
      <vt:lpstr>Metric</vt:lpstr>
      <vt:lpstr>Nunito</vt:lpstr>
      <vt:lpstr>Roboto Slab</vt:lpstr>
      <vt:lpstr>Segoe UI</vt:lpstr>
      <vt:lpstr>ui-monospace</vt:lpstr>
      <vt:lpstr>Verdana</vt:lpstr>
      <vt:lpstr>Office Theme</vt:lpstr>
      <vt:lpstr>PowerPoint Presentation</vt:lpstr>
      <vt:lpstr>What is React js</vt:lpstr>
      <vt:lpstr>React Features</vt:lpstr>
      <vt:lpstr>React.JS History</vt:lpstr>
      <vt:lpstr>React Advantages</vt:lpstr>
      <vt:lpstr>Why React JS</vt:lpstr>
      <vt:lpstr>Npm –version node –version will display version installed </vt:lpstr>
      <vt:lpstr>PowerPoint Presentation</vt:lpstr>
      <vt:lpstr>Create 1st app C Users\Your Name&gt;npx create-react-app myfirstreac Installing react, react-dom, and react-scripts with cra-template... </vt:lpstr>
      <vt:lpstr>PowerPoint Presentation</vt:lpstr>
      <vt:lpstr>JSX looks like a regular HTML in most cases</vt:lpstr>
      <vt:lpstr>PowerPoint Presentation</vt:lpstr>
      <vt:lpstr>PowerPoint Presentation</vt:lpstr>
      <vt:lpstr>PowerPoint Presentation</vt:lpstr>
      <vt:lpstr>PowerPoint Presentation</vt:lpstr>
      <vt:lpstr>Put this code in index.js file</vt:lpstr>
      <vt:lpstr>Index.js</vt:lpstr>
      <vt:lpstr>Certain rules to follow</vt:lpstr>
      <vt:lpstr>Certain rules to follow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Sriram Mantri vidyanidhi infotech academy</dc:creator>
  <cp:lastModifiedBy>sriram mantri vidyanidhi infotech academy</cp:lastModifiedBy>
  <cp:revision>133</cp:revision>
  <dcterms:created xsi:type="dcterms:W3CDTF">2020-12-02T06:26:25Z</dcterms:created>
  <dcterms:modified xsi:type="dcterms:W3CDTF">2025-05-05T16:04:25Z</dcterms:modified>
</cp:coreProperties>
</file>