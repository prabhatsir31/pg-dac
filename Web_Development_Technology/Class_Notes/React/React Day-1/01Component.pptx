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62" r:id="rId3"/>
    <p:sldId id="294" r:id="rId4"/>
    <p:sldId id="292" r:id="rId5"/>
    <p:sldId id="267" r:id="rId6"/>
    <p:sldId id="268" r:id="rId7"/>
    <p:sldId id="293" r:id="rId8"/>
    <p:sldId id="296" r:id="rId9"/>
    <p:sldId id="295" r:id="rId10"/>
    <p:sldId id="288" r:id="rId11"/>
    <p:sldId id="256" r:id="rId12"/>
    <p:sldId id="299" r:id="rId13"/>
    <p:sldId id="25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9</a:t>
            </a:fld>
            <a:endParaRPr lang="en-IN"/>
          </a:p>
        </p:txBody>
      </p:sp>
    </p:spTree>
    <p:extLst>
      <p:ext uri="{BB962C8B-B14F-4D97-AF65-F5344CB8AC3E}">
        <p14:creationId xmlns:p14="http://schemas.microsoft.com/office/powerpoint/2010/main" val="1233256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ransform.tools/html-to-js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mozilla.org/en-US/docs/Web/HTML/Global_attributes/clas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2DC4C1-4D3E-454C-9EB1-1311F4010A9A}"/>
              </a:ext>
            </a:extLst>
          </p:cNvPr>
          <p:cNvSpPr txBox="1"/>
          <p:nvPr/>
        </p:nvSpPr>
        <p:spPr>
          <a:xfrm>
            <a:off x="919316" y="2228671"/>
            <a:ext cx="1035336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StrictMode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a tool for highlighting potential problems in an application. Like Fragment , </a:t>
            </a:r>
            <a:r>
              <a:rPr kumimoji="0" lang="en-US" sz="1800" b="1"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StrictMode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does not render any visible UI. It activates additional checks and warnings for its descendants. Note: </a:t>
            </a:r>
            <a:r>
              <a:rPr kumimoji="0" lang="en-US" sz="18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Strict mode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checks are run in development mode only; they do not impact the production build.</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6" name="TextBox 5">
            <a:extLst>
              <a:ext uri="{FF2B5EF4-FFF2-40B4-BE49-F238E27FC236}">
                <a16:creationId xmlns:a16="http://schemas.microsoft.com/office/drawing/2014/main" id="{DD2B2B09-4C7B-428B-9088-F5E03B4D2530}"/>
              </a:ext>
            </a:extLst>
          </p:cNvPr>
          <p:cNvSpPr txBox="1"/>
          <p:nvPr/>
        </p:nvSpPr>
        <p:spPr>
          <a:xfrm>
            <a:off x="3028336" y="374782"/>
            <a:ext cx="613532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8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React.StrictMode</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984285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AAF1D5-A59D-8080-3675-CBF19E3EB0CF}"/>
              </a:ext>
            </a:extLst>
          </p:cNvPr>
          <p:cNvSpPr txBox="1"/>
          <p:nvPr/>
        </p:nvSpPr>
        <p:spPr>
          <a:xfrm>
            <a:off x="196298" y="930462"/>
            <a:ext cx="11054798" cy="646331"/>
          </a:xfrm>
          <a:prstGeom prst="rect">
            <a:avLst/>
          </a:prstGeom>
          <a:noFill/>
        </p:spPr>
        <p:txBody>
          <a:bodyPr wrap="square">
            <a:spAutoFit/>
          </a:bodyPr>
          <a:lstStyle/>
          <a:p>
            <a:r>
              <a:rPr lang="en-US" dirty="0"/>
              <a:t>JSX is stricter than HTML. You have to close tags like &lt;</a:t>
            </a:r>
            <a:r>
              <a:rPr lang="en-US" dirty="0" err="1"/>
              <a:t>br</a:t>
            </a:r>
            <a:r>
              <a:rPr lang="en-US" dirty="0"/>
              <a:t> /&gt;. Your component also can’t return multiple JSX tags. You have to wrap them into a shared parent, like a &lt;div&gt;...&lt;/div&gt; or an empty &lt;&gt;...&lt;/&gt; wrapper:</a:t>
            </a:r>
            <a:endParaRPr lang="en-IN" dirty="0"/>
          </a:p>
        </p:txBody>
      </p:sp>
      <p:sp>
        <p:nvSpPr>
          <p:cNvPr id="9" name="TextBox 8">
            <a:extLst>
              <a:ext uri="{FF2B5EF4-FFF2-40B4-BE49-F238E27FC236}">
                <a16:creationId xmlns:a16="http://schemas.microsoft.com/office/drawing/2014/main" id="{F2F02C5C-D8FE-0B63-88DB-26588F2B6123}"/>
              </a:ext>
            </a:extLst>
          </p:cNvPr>
          <p:cNvSpPr txBox="1"/>
          <p:nvPr/>
        </p:nvSpPr>
        <p:spPr>
          <a:xfrm>
            <a:off x="395081" y="1827577"/>
            <a:ext cx="6137412" cy="2308324"/>
          </a:xfrm>
          <a:prstGeom prst="rect">
            <a:avLst/>
          </a:prstGeom>
          <a:noFill/>
        </p:spPr>
        <p:txBody>
          <a:bodyPr wrap="square">
            <a:spAutoFit/>
          </a:bodyPr>
          <a:lstStyle/>
          <a:p>
            <a:r>
              <a:rPr lang="en-US" dirty="0"/>
              <a:t>function </a:t>
            </a:r>
            <a:r>
              <a:rPr lang="en-US" dirty="0" err="1"/>
              <a:t>AboutPage</a:t>
            </a:r>
            <a:r>
              <a:rPr lang="en-US" dirty="0"/>
              <a:t>() {</a:t>
            </a:r>
          </a:p>
          <a:p>
            <a:r>
              <a:rPr lang="en-US" dirty="0"/>
              <a:t>  return (</a:t>
            </a:r>
          </a:p>
          <a:p>
            <a:r>
              <a:rPr lang="en-US" dirty="0">
                <a:highlight>
                  <a:srgbClr val="FFFF00"/>
                </a:highlight>
              </a:rPr>
              <a:t>    &lt;&gt;</a:t>
            </a:r>
          </a:p>
          <a:p>
            <a:r>
              <a:rPr lang="en-US" dirty="0"/>
              <a:t>      &lt;h1&gt;About&lt;/h1&gt;</a:t>
            </a:r>
          </a:p>
          <a:p>
            <a:r>
              <a:rPr lang="en-US" dirty="0"/>
              <a:t>      &lt;p&gt;Hello there.&lt;</a:t>
            </a:r>
            <a:r>
              <a:rPr lang="en-US" dirty="0" err="1"/>
              <a:t>br</a:t>
            </a:r>
            <a:r>
              <a:rPr lang="en-US" dirty="0"/>
              <a:t> /&gt;How do you do?&lt;/p&gt;</a:t>
            </a:r>
          </a:p>
          <a:p>
            <a:r>
              <a:rPr lang="en-US" dirty="0"/>
              <a:t>    </a:t>
            </a:r>
            <a:r>
              <a:rPr lang="en-US" dirty="0">
                <a:highlight>
                  <a:srgbClr val="FFFF00"/>
                </a:highlight>
              </a:rPr>
              <a:t>&lt;/&gt;</a:t>
            </a:r>
          </a:p>
          <a:p>
            <a:r>
              <a:rPr lang="en-US" dirty="0"/>
              <a:t>  );</a:t>
            </a:r>
          </a:p>
          <a:p>
            <a:r>
              <a:rPr lang="en-US" dirty="0"/>
              <a:t>}</a:t>
            </a:r>
            <a:endParaRPr lang="en-IN" dirty="0"/>
          </a:p>
        </p:txBody>
      </p:sp>
      <p:sp>
        <p:nvSpPr>
          <p:cNvPr id="11" name="TextBox 10">
            <a:extLst>
              <a:ext uri="{FF2B5EF4-FFF2-40B4-BE49-F238E27FC236}">
                <a16:creationId xmlns:a16="http://schemas.microsoft.com/office/drawing/2014/main" id="{FA959CCE-ABFC-5414-9E80-7C95835BD34F}"/>
              </a:ext>
            </a:extLst>
          </p:cNvPr>
          <p:cNvSpPr txBox="1"/>
          <p:nvPr/>
        </p:nvSpPr>
        <p:spPr>
          <a:xfrm>
            <a:off x="524290" y="4386685"/>
            <a:ext cx="6137412" cy="646331"/>
          </a:xfrm>
          <a:prstGeom prst="rect">
            <a:avLst/>
          </a:prstGeom>
          <a:noFill/>
        </p:spPr>
        <p:txBody>
          <a:bodyPr wrap="square">
            <a:spAutoFit/>
          </a:bodyPr>
          <a:lstStyle/>
          <a:p>
            <a:r>
              <a:rPr lang="en-US" b="0" i="0" dirty="0">
                <a:solidFill>
                  <a:srgbClr val="23272F"/>
                </a:solidFill>
                <a:effectLst/>
                <a:latin typeface="Optimistic Text"/>
              </a:rPr>
              <a:t>If you have a lot of HTML to port to JSX, you can use an </a:t>
            </a:r>
            <a:r>
              <a:rPr lang="en-US" b="0" i="0" dirty="0">
                <a:effectLst/>
                <a:latin typeface="Optimistic Text"/>
                <a:hlinkClick r:id="rId2"/>
              </a:rPr>
              <a:t>online converter.</a:t>
            </a:r>
            <a:endParaRPr lang="en-IN" dirty="0"/>
          </a:p>
        </p:txBody>
      </p:sp>
    </p:spTree>
    <p:extLst>
      <p:ext uri="{BB962C8B-B14F-4D97-AF65-F5344CB8AC3E}">
        <p14:creationId xmlns:p14="http://schemas.microsoft.com/office/powerpoint/2010/main" val="1529819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5A425D-4080-FE4F-F1A0-F3EF26237532}"/>
              </a:ext>
            </a:extLst>
          </p:cNvPr>
          <p:cNvSpPr txBox="1"/>
          <p:nvPr/>
        </p:nvSpPr>
        <p:spPr>
          <a:xfrm>
            <a:off x="403122" y="1022555"/>
            <a:ext cx="11189109" cy="3139321"/>
          </a:xfrm>
          <a:prstGeom prst="rect">
            <a:avLst/>
          </a:prstGeom>
          <a:noFill/>
        </p:spPr>
        <p:txBody>
          <a:bodyPr wrap="square">
            <a:spAutoFit/>
          </a:bodyPr>
          <a:lstStyle/>
          <a:p>
            <a:pPr algn="l" fontAlgn="base"/>
            <a:r>
              <a:rPr lang="en-US" b="0" i="0" dirty="0">
                <a:solidFill>
                  <a:srgbClr val="273239"/>
                </a:solidFill>
                <a:effectLst/>
                <a:latin typeface="urw-din"/>
              </a:rPr>
              <a:t>Class components uses render function. The </a:t>
            </a:r>
            <a:r>
              <a:rPr lang="en-US" b="0" i="0" dirty="0" err="1">
                <a:solidFill>
                  <a:srgbClr val="273239"/>
                </a:solidFill>
                <a:effectLst/>
                <a:latin typeface="urw-din"/>
              </a:rPr>
              <a:t>ReactDOM.render</a:t>
            </a:r>
            <a:r>
              <a:rPr lang="en-US" b="0" i="0" dirty="0">
                <a:solidFill>
                  <a:srgbClr val="273239"/>
                </a:solidFill>
                <a:effectLst/>
                <a:latin typeface="urw-din"/>
              </a:rPr>
              <a:t>() function takes two arguments, HTML code and an HTML element.</a:t>
            </a:r>
          </a:p>
          <a:p>
            <a:pPr algn="l" fontAlgn="base"/>
            <a:endParaRPr lang="en-US" b="0" i="0" dirty="0">
              <a:solidFill>
                <a:srgbClr val="273239"/>
              </a:solidFill>
              <a:effectLst/>
              <a:latin typeface="urw-din"/>
            </a:endParaRPr>
          </a:p>
          <a:p>
            <a:pPr algn="l" fontAlgn="base"/>
            <a:r>
              <a:rPr lang="en-US" b="1" i="0" dirty="0">
                <a:solidFill>
                  <a:srgbClr val="273239"/>
                </a:solidFill>
                <a:effectLst/>
                <a:latin typeface="urw-din"/>
              </a:rPr>
              <a:t>Purpose of render():</a:t>
            </a:r>
          </a:p>
          <a:p>
            <a:pPr algn="l" fontAlgn="base"/>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React renders HTML to the web page by using a function called render().</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The purpose of the function is to display the specified HTML code inside the specified HTML element.</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In the render() method, we can read props and state and return our JSX code to the root component of our app.</a:t>
            </a:r>
          </a:p>
          <a:p>
            <a:pPr algn="l" fontAlgn="base"/>
            <a:endParaRPr lang="en-US" b="0" i="0" dirty="0">
              <a:solidFill>
                <a:srgbClr val="273239"/>
              </a:solidFill>
              <a:effectLst/>
              <a:latin typeface="urw-din"/>
            </a:endParaRPr>
          </a:p>
        </p:txBody>
      </p:sp>
    </p:spTree>
    <p:extLst>
      <p:ext uri="{BB962C8B-B14F-4D97-AF65-F5344CB8AC3E}">
        <p14:creationId xmlns:p14="http://schemas.microsoft.com/office/powerpoint/2010/main" val="1780394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C8AF9-4C54-4D7C-9D8B-C0B5EB308C4C}"/>
              </a:ext>
            </a:extLst>
          </p:cNvPr>
          <p:cNvSpPr>
            <a:spLocks noGrp="1"/>
          </p:cNvSpPr>
          <p:nvPr>
            <p:ph idx="1"/>
          </p:nvPr>
        </p:nvSpPr>
        <p:spPr>
          <a:xfrm>
            <a:off x="766916" y="127820"/>
            <a:ext cx="10789674" cy="973393"/>
          </a:xfrm>
        </p:spPr>
        <p:txBody>
          <a:bodyPr>
            <a:normAutofit/>
          </a:bodyPr>
          <a:lstStyle/>
          <a:p>
            <a:pPr lvl="1"/>
            <a:r>
              <a:rPr lang="en-US" sz="1400" b="0" i="0" dirty="0">
                <a:solidFill>
                  <a:srgbClr val="333333"/>
                </a:solidFill>
                <a:effectLst/>
                <a:latin typeface="PT Serif"/>
              </a:rPr>
              <a:t>Now lets Say along with the Employee Details, we would like to Display Employee Department information as well. One way is to write the Code to display department information in the Employee Component. It is not a good Practice to keep everything in one component. To promote Code reusability, we will split them into different components. So lets create a New Department Component which will display Department Information and this Component can be used by any other component.</a:t>
            </a:r>
            <a:endParaRPr lang="en-IN" sz="1400" dirty="0"/>
          </a:p>
        </p:txBody>
      </p:sp>
      <p:sp>
        <p:nvSpPr>
          <p:cNvPr id="5" name="TextBox 4">
            <a:extLst>
              <a:ext uri="{FF2B5EF4-FFF2-40B4-BE49-F238E27FC236}">
                <a16:creationId xmlns:a16="http://schemas.microsoft.com/office/drawing/2014/main" id="{F32BEDB8-5AFA-4A60-A4E0-8B3E7E4D8440}"/>
              </a:ext>
            </a:extLst>
          </p:cNvPr>
          <p:cNvSpPr txBox="1"/>
          <p:nvPr/>
        </p:nvSpPr>
        <p:spPr>
          <a:xfrm>
            <a:off x="270121" y="897870"/>
            <a:ext cx="6744928" cy="5447645"/>
          </a:xfrm>
          <a:prstGeom prst="rect">
            <a:avLst/>
          </a:prstGeom>
          <a:noFill/>
        </p:spPr>
        <p:txBody>
          <a:bodyPr wrap="square">
            <a:spAutoFit/>
          </a:bodyPr>
          <a:lstStyle/>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000000"/>
                </a:solidFill>
                <a:effectLst/>
                <a:latin typeface="Consolas" panose="020B0609020204030204" pitchFamily="49" charset="0"/>
              </a:rPr>
              <a:t>;</a:t>
            </a: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Header</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Employee</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"Vidyanidhi"</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salary</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"50000"</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dept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"Placement"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head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"Pooja"</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Header</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&lt;h1&gt;</a:t>
            </a:r>
            <a:r>
              <a:rPr lang="en-IN" sz="1200" b="0" dirty="0">
                <a:solidFill>
                  <a:srgbClr val="000000"/>
                </a:solidFill>
                <a:effectLst/>
                <a:latin typeface="Consolas" panose="020B0609020204030204" pitchFamily="49" charset="0"/>
              </a:rPr>
              <a:t>Header</a:t>
            </a:r>
            <a:r>
              <a:rPr lang="en-IN" sz="1200" b="0" dirty="0">
                <a:solidFill>
                  <a:srgbClr val="800000"/>
                </a:solidFill>
                <a:effectLst/>
                <a:latin typeface="Consolas" panose="020B0609020204030204" pitchFamily="49" charset="0"/>
              </a:rPr>
              <a:t>&lt;/h1&gt;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Employee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data</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&lt;div&gt;&lt;p&gt;</a:t>
            </a:r>
            <a:r>
              <a:rPr lang="en-IN" sz="1200" b="0" dirty="0">
                <a:solidFill>
                  <a:srgbClr val="000000"/>
                </a:solidFill>
                <a:effectLst/>
                <a:latin typeface="Consolas" panose="020B0609020204030204" pitchFamily="49" charset="0"/>
              </a:rPr>
              <a:t>Name : </a:t>
            </a:r>
            <a:r>
              <a:rPr lang="en-IN" sz="1200" b="0" dirty="0">
                <a:solidFill>
                  <a:srgbClr val="0000FF"/>
                </a:solidFill>
                <a:effectLst/>
                <a:latin typeface="Consolas" panose="020B0609020204030204" pitchFamily="49" charset="0"/>
              </a:rPr>
              <a:t>{</a:t>
            </a:r>
            <a:r>
              <a:rPr lang="en-IN" sz="1200" b="0" dirty="0">
                <a:solidFill>
                  <a:srgbClr val="001080"/>
                </a:solidFill>
                <a:effectLst/>
                <a:latin typeface="Consolas" panose="020B0609020204030204" pitchFamily="49" charset="0"/>
              </a:rPr>
              <a:t>data</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Salary : </a:t>
            </a:r>
            <a:r>
              <a:rPr lang="en-IN" sz="1200" b="0" dirty="0">
                <a:solidFill>
                  <a:srgbClr val="0000FF"/>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salary</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Department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dept</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dept</a:t>
            </a:r>
            <a:r>
              <a:rPr lang="en-IN" sz="1200" b="0" dirty="0">
                <a:solidFill>
                  <a:srgbClr val="0000FF"/>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head</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data</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head</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59C3ABA0-660E-48C4-8A3C-B5F9443C0923}"/>
              </a:ext>
            </a:extLst>
          </p:cNvPr>
          <p:cNvSpPr txBox="1"/>
          <p:nvPr/>
        </p:nvSpPr>
        <p:spPr>
          <a:xfrm>
            <a:off x="6371303" y="897870"/>
            <a:ext cx="5535561"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Department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deptInfo</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Dept Name is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&lt;b&gt;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deptInfo</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&lt;/b&gt;&lt;/p&gt;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Dept Head is :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&lt;b&gt;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deptInfo</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head</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&lt;/b&gt;&lt;/p&gt;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
        <p:nvSpPr>
          <p:cNvPr id="6" name="TextBox 5">
            <a:extLst>
              <a:ext uri="{FF2B5EF4-FFF2-40B4-BE49-F238E27FC236}">
                <a16:creationId xmlns:a16="http://schemas.microsoft.com/office/drawing/2014/main" id="{6FBCA14F-5FBA-40C3-B4B5-3F42C138CC80}"/>
              </a:ext>
            </a:extLst>
          </p:cNvPr>
          <p:cNvSpPr txBox="1"/>
          <p:nvPr/>
        </p:nvSpPr>
        <p:spPr>
          <a:xfrm>
            <a:off x="6161753" y="2662086"/>
            <a:ext cx="5589640" cy="116955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dirty="0"/>
              <a:t>Employee</a:t>
            </a:r>
            <a:r>
              <a:rPr lang="en-IN" sz="1400" b="1" dirty="0">
                <a:solidFill>
                  <a:schemeClr val="accent1"/>
                </a:solidFill>
              </a:rPr>
              <a:t>(</a:t>
            </a:r>
            <a:r>
              <a:rPr lang="en-IN" sz="1400" dirty="0"/>
              <a:t>{</a:t>
            </a:r>
            <a:r>
              <a:rPr lang="en-IN" sz="1400" b="0" dirty="0" err="1">
                <a:solidFill>
                  <a:srgbClr val="FF0000"/>
                </a:solidFill>
                <a:effectLst/>
                <a:latin typeface="Consolas" panose="020B0609020204030204" pitchFamily="49" charset="0"/>
              </a:rPr>
              <a:t>name</a:t>
            </a:r>
            <a:r>
              <a:rPr lang="en-IN" sz="1400" dirty="0" err="1">
                <a:solidFill>
                  <a:srgbClr val="000000"/>
                </a:solidFill>
                <a:latin typeface="Consolas" panose="020B0609020204030204" pitchFamily="49" charset="0"/>
              </a:rPr>
              <a:t>:</a:t>
            </a:r>
            <a:r>
              <a:rPr lang="en-IN" sz="1400" b="0" dirty="0" err="1">
                <a:solidFill>
                  <a:srgbClr val="A31515"/>
                </a:solidFill>
                <a:effectLst/>
                <a:latin typeface="Consolas" panose="020B0609020204030204" pitchFamily="49" charset="0"/>
              </a:rPr>
              <a:t>"Vidyanidhi</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salary:</a:t>
            </a:r>
            <a:r>
              <a:rPr lang="en-IN" sz="1400" b="0" dirty="0">
                <a:solidFill>
                  <a:srgbClr val="A31515"/>
                </a:solidFill>
                <a:effectLst/>
                <a:latin typeface="Consolas" panose="020B0609020204030204" pitchFamily="49" charset="0"/>
              </a:rPr>
              <a:t>"50000"</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 dept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"Placement"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head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"Pooja</a:t>
            </a:r>
            <a:r>
              <a:rPr lang="en-IN" sz="1400" dirty="0"/>
              <a:t>}</a:t>
            </a:r>
            <a:r>
              <a:rPr lang="en-IN" sz="1400" b="1" dirty="0">
                <a:solidFill>
                  <a:schemeClr val="accent1"/>
                </a:solidFill>
              </a:rPr>
              <a:t>)       </a:t>
            </a:r>
          </a:p>
          <a:p>
            <a:endParaRPr lang="en-IN" sz="1400" b="1" dirty="0">
              <a:solidFill>
                <a:schemeClr val="accent1"/>
              </a:solidFill>
            </a:endParaRPr>
          </a:p>
          <a:p>
            <a:r>
              <a:rPr lang="en-IN" sz="1400" b="1" dirty="0">
                <a:solidFill>
                  <a:schemeClr val="accent1"/>
                </a:solidFill>
              </a:rPr>
              <a:t>        consider this  as function call. Function complete its task it will go back to calling function and replace call with value </a:t>
            </a:r>
            <a:endParaRPr lang="en-IN" sz="2800" b="1" dirty="0">
              <a:solidFill>
                <a:schemeClr val="accent1"/>
              </a:solidFill>
            </a:endParaRPr>
          </a:p>
        </p:txBody>
      </p:sp>
      <p:cxnSp>
        <p:nvCxnSpPr>
          <p:cNvPr id="4" name="Straight Arrow Connector 3">
            <a:extLst>
              <a:ext uri="{FF2B5EF4-FFF2-40B4-BE49-F238E27FC236}">
                <a16:creationId xmlns:a16="http://schemas.microsoft.com/office/drawing/2014/main" id="{1AAD40A6-AC51-4DB1-87F7-67A227198616}"/>
              </a:ext>
            </a:extLst>
          </p:cNvPr>
          <p:cNvCxnSpPr>
            <a:cxnSpLocks/>
          </p:cNvCxnSpPr>
          <p:nvPr/>
        </p:nvCxnSpPr>
        <p:spPr>
          <a:xfrm>
            <a:off x="2851355" y="2423549"/>
            <a:ext cx="3310398" cy="514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271DB6-1C94-45D0-8EB3-73423829491C}"/>
              </a:ext>
            </a:extLst>
          </p:cNvPr>
          <p:cNvCxnSpPr>
            <a:cxnSpLocks/>
          </p:cNvCxnSpPr>
          <p:nvPr/>
        </p:nvCxnSpPr>
        <p:spPr>
          <a:xfrm flipH="1">
            <a:off x="2243600" y="3051107"/>
            <a:ext cx="4803056" cy="1592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2D282F2-8542-4A80-B861-5A663B15F435}"/>
              </a:ext>
            </a:extLst>
          </p:cNvPr>
          <p:cNvSpPr txBox="1"/>
          <p:nvPr/>
        </p:nvSpPr>
        <p:spPr>
          <a:xfrm>
            <a:off x="6066503" y="4003624"/>
            <a:ext cx="80624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data</a:t>
            </a:r>
          </a:p>
        </p:txBody>
      </p:sp>
      <p:sp>
        <p:nvSpPr>
          <p:cNvPr id="15" name="TextBox 14">
            <a:extLst>
              <a:ext uri="{FF2B5EF4-FFF2-40B4-BE49-F238E27FC236}">
                <a16:creationId xmlns:a16="http://schemas.microsoft.com/office/drawing/2014/main" id="{E817B09F-B64F-4024-9F59-996D0EB69C0D}"/>
              </a:ext>
            </a:extLst>
          </p:cNvPr>
          <p:cNvSpPr txBox="1"/>
          <p:nvPr/>
        </p:nvSpPr>
        <p:spPr>
          <a:xfrm>
            <a:off x="5447071" y="4453820"/>
            <a:ext cx="4935793" cy="24622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000" dirty="0"/>
              <a:t>{</a:t>
            </a:r>
            <a:r>
              <a:rPr lang="en-IN" sz="1000" b="0" dirty="0" err="1">
                <a:solidFill>
                  <a:srgbClr val="FF0000"/>
                </a:solidFill>
                <a:effectLst/>
                <a:latin typeface="Consolas" panose="020B0609020204030204" pitchFamily="49" charset="0"/>
              </a:rPr>
              <a:t>name</a:t>
            </a:r>
            <a:r>
              <a:rPr lang="en-IN" sz="1000" dirty="0" err="1">
                <a:solidFill>
                  <a:srgbClr val="000000"/>
                </a:solidFill>
                <a:latin typeface="Consolas" panose="020B0609020204030204" pitchFamily="49" charset="0"/>
              </a:rPr>
              <a:t>:</a:t>
            </a:r>
            <a:r>
              <a:rPr lang="en-IN" sz="1000" b="0" dirty="0" err="1">
                <a:solidFill>
                  <a:srgbClr val="A31515"/>
                </a:solidFill>
                <a:effectLst/>
                <a:latin typeface="Consolas" panose="020B0609020204030204" pitchFamily="49" charset="0"/>
              </a:rPr>
              <a:t>"Vidyanidhi</a:t>
            </a:r>
            <a:r>
              <a:rPr lang="en-IN" sz="1000" b="0" dirty="0">
                <a:solidFill>
                  <a:srgbClr val="A31515"/>
                </a:solidFill>
                <a:effectLst/>
                <a:latin typeface="Consolas" panose="020B0609020204030204" pitchFamily="49" charset="0"/>
              </a:rPr>
              <a:t>"</a:t>
            </a:r>
            <a:r>
              <a:rPr lang="en-IN" sz="1000" b="0" dirty="0">
                <a:solidFill>
                  <a:srgbClr val="000000"/>
                </a:solidFill>
                <a:effectLst/>
                <a:latin typeface="Consolas" panose="020B0609020204030204" pitchFamily="49" charset="0"/>
              </a:rPr>
              <a:t> </a:t>
            </a:r>
            <a:r>
              <a:rPr lang="en-IN" sz="1000" b="0" dirty="0">
                <a:solidFill>
                  <a:srgbClr val="FF0000"/>
                </a:solidFill>
                <a:effectLst/>
                <a:latin typeface="Consolas" panose="020B0609020204030204" pitchFamily="49" charset="0"/>
              </a:rPr>
              <a:t>salary:</a:t>
            </a:r>
            <a:r>
              <a:rPr lang="en-IN" sz="1000" b="0" dirty="0">
                <a:solidFill>
                  <a:srgbClr val="A31515"/>
                </a:solidFill>
                <a:effectLst/>
                <a:latin typeface="Consolas" panose="020B0609020204030204" pitchFamily="49" charset="0"/>
              </a:rPr>
              <a:t>"50000"</a:t>
            </a:r>
            <a:r>
              <a:rPr lang="en-IN" sz="1000" b="0" dirty="0">
                <a:solidFill>
                  <a:srgbClr val="000000"/>
                </a:solidFill>
                <a:effectLst/>
                <a:latin typeface="Consolas" panose="020B0609020204030204" pitchFamily="49" charset="0"/>
              </a:rPr>
              <a:t> </a:t>
            </a:r>
            <a:r>
              <a:rPr lang="en-IN" sz="1000" b="0" dirty="0">
                <a:solidFill>
                  <a:srgbClr val="FF0000"/>
                </a:solidFill>
                <a:effectLst/>
                <a:latin typeface="Consolas" panose="020B0609020204030204" pitchFamily="49" charset="0"/>
              </a:rPr>
              <a:t> dept</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"Placement"</a:t>
            </a:r>
            <a:r>
              <a:rPr lang="en-IN" sz="1000" b="0" dirty="0">
                <a:solidFill>
                  <a:srgbClr val="000000"/>
                </a:solidFill>
                <a:effectLst/>
                <a:latin typeface="Consolas" panose="020B0609020204030204" pitchFamily="49" charset="0"/>
              </a:rPr>
              <a:t> </a:t>
            </a:r>
            <a:r>
              <a:rPr lang="en-IN" sz="1000" b="0" dirty="0">
                <a:solidFill>
                  <a:srgbClr val="FF0000"/>
                </a:solidFill>
                <a:effectLst/>
                <a:latin typeface="Consolas" panose="020B0609020204030204" pitchFamily="49" charset="0"/>
              </a:rPr>
              <a:t>head</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"Pooja</a:t>
            </a:r>
            <a:r>
              <a:rPr lang="en-IN" sz="1000" dirty="0"/>
              <a:t>}</a:t>
            </a:r>
          </a:p>
        </p:txBody>
      </p:sp>
      <p:sp>
        <p:nvSpPr>
          <p:cNvPr id="16" name="TextBox 15">
            <a:extLst>
              <a:ext uri="{FF2B5EF4-FFF2-40B4-BE49-F238E27FC236}">
                <a16:creationId xmlns:a16="http://schemas.microsoft.com/office/drawing/2014/main" id="{201C6552-2D48-43E6-9AEF-0C8D0E8E8C84}"/>
              </a:ext>
            </a:extLst>
          </p:cNvPr>
          <p:cNvSpPr txBox="1"/>
          <p:nvPr/>
        </p:nvSpPr>
        <p:spPr>
          <a:xfrm>
            <a:off x="5705166" y="4847890"/>
            <a:ext cx="5589640" cy="95410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b="0" dirty="0">
                <a:solidFill>
                  <a:srgbClr val="267F99"/>
                </a:solidFill>
                <a:effectLst/>
                <a:latin typeface="Consolas" panose="020B0609020204030204" pitchFamily="49" charset="0"/>
              </a:rPr>
              <a:t>Department</a:t>
            </a:r>
            <a:r>
              <a:rPr lang="en-IN" sz="1400" b="1" dirty="0">
                <a:solidFill>
                  <a:schemeClr val="accent1"/>
                </a:solidFill>
              </a:rPr>
              <a:t>(</a:t>
            </a:r>
            <a:r>
              <a:rPr lang="en-IN" sz="1400" dirty="0"/>
              <a:t>{</a:t>
            </a:r>
            <a:r>
              <a:rPr lang="en-IN" sz="1400" b="0" dirty="0">
                <a:solidFill>
                  <a:srgbClr val="FF0000"/>
                </a:solidFill>
                <a:effectLst/>
                <a:latin typeface="Consolas" panose="020B0609020204030204" pitchFamily="49" charset="0"/>
              </a:rPr>
              <a:t>dept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data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dept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head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data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head</a:t>
            </a:r>
            <a:r>
              <a:rPr lang="en-IN" sz="1400" b="0" dirty="0">
                <a:solidFill>
                  <a:srgbClr val="0000FF"/>
                </a:solidFill>
                <a:effectLst/>
                <a:latin typeface="Consolas" panose="020B0609020204030204" pitchFamily="49" charset="0"/>
              </a:rPr>
              <a:t>}</a:t>
            </a:r>
            <a:r>
              <a:rPr lang="en-IN" sz="1400" dirty="0"/>
              <a:t>}</a:t>
            </a:r>
            <a:r>
              <a:rPr lang="en-IN" sz="1400" b="1" dirty="0">
                <a:solidFill>
                  <a:schemeClr val="accent1"/>
                </a:solidFill>
              </a:rPr>
              <a:t>)       </a:t>
            </a:r>
          </a:p>
          <a:p>
            <a:endParaRPr lang="en-IN" sz="1400" b="1" dirty="0">
              <a:solidFill>
                <a:schemeClr val="accent1"/>
              </a:solidFill>
            </a:endParaRPr>
          </a:p>
          <a:p>
            <a:r>
              <a:rPr lang="en-IN" sz="1400" b="1" dirty="0">
                <a:solidFill>
                  <a:schemeClr val="accent1"/>
                </a:solidFill>
              </a:rPr>
              <a:t>        consider this  as function call. Function complete its task it will go back to calling function and replace call with value </a:t>
            </a:r>
            <a:endParaRPr lang="en-IN" sz="2800" b="1" dirty="0">
              <a:solidFill>
                <a:schemeClr val="accent1"/>
              </a:solidFill>
            </a:endParaRPr>
          </a:p>
        </p:txBody>
      </p:sp>
      <p:sp>
        <p:nvSpPr>
          <p:cNvPr id="18" name="TextBox 17">
            <a:extLst>
              <a:ext uri="{FF2B5EF4-FFF2-40B4-BE49-F238E27FC236}">
                <a16:creationId xmlns:a16="http://schemas.microsoft.com/office/drawing/2014/main" id="{3590A246-F005-456C-9BFC-C94946E3E1AA}"/>
              </a:ext>
            </a:extLst>
          </p:cNvPr>
          <p:cNvSpPr txBox="1"/>
          <p:nvPr/>
        </p:nvSpPr>
        <p:spPr>
          <a:xfrm>
            <a:off x="5493159" y="5915074"/>
            <a:ext cx="1337187" cy="3714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deptInfo</a:t>
            </a:r>
            <a:endParaRPr lang="en-IN" dirty="0"/>
          </a:p>
        </p:txBody>
      </p:sp>
      <p:sp>
        <p:nvSpPr>
          <p:cNvPr id="19" name="TextBox 18">
            <a:extLst>
              <a:ext uri="{FF2B5EF4-FFF2-40B4-BE49-F238E27FC236}">
                <a16:creationId xmlns:a16="http://schemas.microsoft.com/office/drawing/2014/main" id="{3C72796F-1349-4D96-9E21-E5E2192630DD}"/>
              </a:ext>
            </a:extLst>
          </p:cNvPr>
          <p:cNvSpPr txBox="1"/>
          <p:nvPr/>
        </p:nvSpPr>
        <p:spPr>
          <a:xfrm>
            <a:off x="7068166" y="5977702"/>
            <a:ext cx="2891912" cy="24622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000" dirty="0"/>
              <a:t>{</a:t>
            </a:r>
            <a:r>
              <a:rPr lang="en-IN" sz="1000" b="0" dirty="0">
                <a:solidFill>
                  <a:srgbClr val="FF0000"/>
                </a:solidFill>
                <a:effectLst/>
                <a:latin typeface="Consolas" panose="020B0609020204030204" pitchFamily="49" charset="0"/>
              </a:rPr>
              <a:t>dept</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data</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dept</a:t>
            </a:r>
            <a:r>
              <a:rPr lang="en-IN" sz="1000" b="0" dirty="0">
                <a:solidFill>
                  <a:srgbClr val="0000FF"/>
                </a:solidFill>
                <a:effectLst/>
                <a:latin typeface="Consolas" panose="020B0609020204030204" pitchFamily="49" charset="0"/>
              </a:rPr>
              <a:t>}</a:t>
            </a:r>
            <a:r>
              <a:rPr lang="en-IN" sz="1000" b="0" dirty="0">
                <a:solidFill>
                  <a:srgbClr val="000000"/>
                </a:solidFill>
                <a:effectLst/>
                <a:latin typeface="Consolas" panose="020B0609020204030204" pitchFamily="49" charset="0"/>
              </a:rPr>
              <a:t> </a:t>
            </a:r>
            <a:r>
              <a:rPr lang="en-IN" sz="1000" b="0" dirty="0">
                <a:solidFill>
                  <a:srgbClr val="FF0000"/>
                </a:solidFill>
                <a:effectLst/>
                <a:latin typeface="Consolas" panose="020B0609020204030204" pitchFamily="49" charset="0"/>
              </a:rPr>
              <a:t>head</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data</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head</a:t>
            </a:r>
            <a:r>
              <a:rPr lang="en-IN" sz="1000" b="0" dirty="0">
                <a:solidFill>
                  <a:srgbClr val="0000FF"/>
                </a:solidFill>
                <a:effectLst/>
                <a:latin typeface="Consolas" panose="020B0609020204030204" pitchFamily="49" charset="0"/>
              </a:rPr>
              <a:t>}</a:t>
            </a:r>
            <a:endParaRPr lang="en-IN" sz="1000" dirty="0"/>
          </a:p>
        </p:txBody>
      </p:sp>
      <p:cxnSp>
        <p:nvCxnSpPr>
          <p:cNvPr id="21" name="Straight Arrow Connector 20">
            <a:extLst>
              <a:ext uri="{FF2B5EF4-FFF2-40B4-BE49-F238E27FC236}">
                <a16:creationId xmlns:a16="http://schemas.microsoft.com/office/drawing/2014/main" id="{66A8C31A-B1FE-42DA-9E55-3F7710330515}"/>
              </a:ext>
            </a:extLst>
          </p:cNvPr>
          <p:cNvCxnSpPr/>
          <p:nvPr/>
        </p:nvCxnSpPr>
        <p:spPr>
          <a:xfrm flipV="1">
            <a:off x="4719484" y="5392510"/>
            <a:ext cx="884903" cy="12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B3C48A4-5F57-459C-9709-DCB800A53D73}"/>
              </a:ext>
            </a:extLst>
          </p:cNvPr>
          <p:cNvCxnSpPr/>
          <p:nvPr/>
        </p:nvCxnSpPr>
        <p:spPr>
          <a:xfrm flipH="1" flipV="1">
            <a:off x="8402894" y="1101213"/>
            <a:ext cx="1626009" cy="3868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CF7F9A3-A075-6319-89C7-90FCBF1AE8AA}"/>
              </a:ext>
            </a:extLst>
          </p:cNvPr>
          <p:cNvSpPr txBox="1"/>
          <p:nvPr/>
        </p:nvSpPr>
        <p:spPr>
          <a:xfrm>
            <a:off x="9817242" y="757186"/>
            <a:ext cx="1739348" cy="369332"/>
          </a:xfrm>
          <a:prstGeom prst="rect">
            <a:avLst/>
          </a:prstGeom>
          <a:noFill/>
        </p:spPr>
        <p:txBody>
          <a:bodyPr wrap="square" rtlCol="0">
            <a:spAutoFit/>
          </a:bodyPr>
          <a:lstStyle/>
          <a:p>
            <a:r>
              <a:rPr lang="en-US" dirty="0">
                <a:highlight>
                  <a:srgbClr val="FFFF00"/>
                </a:highlight>
              </a:rPr>
              <a:t>{</a:t>
            </a:r>
            <a:r>
              <a:rPr lang="en-US" dirty="0" err="1">
                <a:highlight>
                  <a:srgbClr val="FFFF00"/>
                </a:highlight>
              </a:rPr>
              <a:t>dept,head</a:t>
            </a:r>
            <a:r>
              <a:rPr lang="en-US" dirty="0">
                <a:highlight>
                  <a:srgbClr val="FFFF00"/>
                </a:highlight>
              </a:rPr>
              <a:t>}</a:t>
            </a:r>
            <a:endParaRPr lang="en-IN" dirty="0">
              <a:highlight>
                <a:srgbClr val="FFFF00"/>
              </a:highlight>
            </a:endParaRPr>
          </a:p>
        </p:txBody>
      </p:sp>
    </p:spTree>
    <p:extLst>
      <p:ext uri="{BB962C8B-B14F-4D97-AF65-F5344CB8AC3E}">
        <p14:creationId xmlns:p14="http://schemas.microsoft.com/office/powerpoint/2010/main" val="39137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8C18-AB29-48E7-99CC-539D6E03B142}"/>
              </a:ext>
            </a:extLst>
          </p:cNvPr>
          <p:cNvSpPr>
            <a:spLocks noGrp="1"/>
          </p:cNvSpPr>
          <p:nvPr>
            <p:ph type="title"/>
          </p:nvPr>
        </p:nvSpPr>
        <p:spPr>
          <a:xfrm>
            <a:off x="1651819" y="1"/>
            <a:ext cx="9615949" cy="521110"/>
          </a:xfrm>
        </p:spPr>
        <p:txBody>
          <a:bodyPr>
            <a:normAutofit fontScale="90000"/>
          </a:bodyPr>
          <a:lstStyle/>
          <a:p>
            <a:r>
              <a:rPr lang="en-IN" dirty="0"/>
              <a:t>Out put of previous code</a:t>
            </a:r>
          </a:p>
        </p:txBody>
      </p:sp>
      <p:pic>
        <p:nvPicPr>
          <p:cNvPr id="5" name="Content Placeholder 4">
            <a:extLst>
              <a:ext uri="{FF2B5EF4-FFF2-40B4-BE49-F238E27FC236}">
                <a16:creationId xmlns:a16="http://schemas.microsoft.com/office/drawing/2014/main" id="{0BC991CA-CEB7-4869-AA4D-12E9FF543931}"/>
              </a:ext>
            </a:extLst>
          </p:cNvPr>
          <p:cNvPicPr>
            <a:picLocks noGrp="1" noChangeAspect="1"/>
          </p:cNvPicPr>
          <p:nvPr>
            <p:ph idx="1"/>
          </p:nvPr>
        </p:nvPicPr>
        <p:blipFill>
          <a:blip r:embed="rId2"/>
          <a:stretch>
            <a:fillRect/>
          </a:stretch>
        </p:blipFill>
        <p:spPr>
          <a:xfrm>
            <a:off x="521110" y="865418"/>
            <a:ext cx="9442746" cy="5311545"/>
          </a:xfrm>
        </p:spPr>
      </p:pic>
    </p:spTree>
    <p:extLst>
      <p:ext uri="{BB962C8B-B14F-4D97-AF65-F5344CB8AC3E}">
        <p14:creationId xmlns:p14="http://schemas.microsoft.com/office/powerpoint/2010/main" val="3848765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EEFE-AA3F-4802-2BB8-2049F6F1AB19}"/>
              </a:ext>
            </a:extLst>
          </p:cNvPr>
          <p:cNvSpPr>
            <a:spLocks noGrp="1"/>
          </p:cNvSpPr>
          <p:nvPr>
            <p:ph type="title"/>
          </p:nvPr>
        </p:nvSpPr>
        <p:spPr>
          <a:xfrm>
            <a:off x="1948070" y="62188"/>
            <a:ext cx="9117496" cy="618849"/>
          </a:xfrm>
        </p:spPr>
        <p:txBody>
          <a:bodyPr>
            <a:normAutofit fontScale="90000"/>
          </a:bodyPr>
          <a:lstStyle/>
          <a:p>
            <a:r>
              <a:rPr lang="en-US" dirty="0"/>
              <a:t>One more example</a:t>
            </a:r>
            <a:endParaRPr lang="en-IN" dirty="0"/>
          </a:p>
        </p:txBody>
      </p:sp>
      <p:sp>
        <p:nvSpPr>
          <p:cNvPr id="5" name="TextBox 4">
            <a:extLst>
              <a:ext uri="{FF2B5EF4-FFF2-40B4-BE49-F238E27FC236}">
                <a16:creationId xmlns:a16="http://schemas.microsoft.com/office/drawing/2014/main" id="{45695EE9-A90E-E965-3947-5F3895DFC8B0}"/>
              </a:ext>
            </a:extLst>
          </p:cNvPr>
          <p:cNvSpPr txBox="1"/>
          <p:nvPr/>
        </p:nvSpPr>
        <p:spPr>
          <a:xfrm>
            <a:off x="369406" y="681037"/>
            <a:ext cx="11822594" cy="1200329"/>
          </a:xfrm>
          <a:prstGeom prst="rect">
            <a:avLst/>
          </a:prstGeom>
          <a:noFill/>
        </p:spPr>
        <p:txBody>
          <a:bodyPr wrap="square">
            <a:spAutoFit/>
          </a:bodyPr>
          <a:lstStyle/>
          <a:p>
            <a:pPr algn="l"/>
            <a:r>
              <a:rPr lang="en-US" b="1" i="0" dirty="0">
                <a:solidFill>
                  <a:srgbClr val="23272F"/>
                </a:solidFill>
                <a:effectLst/>
                <a:latin typeface="Optimistic Display"/>
              </a:rPr>
              <a:t>Creating and nesting components </a:t>
            </a:r>
          </a:p>
          <a:p>
            <a:pPr algn="l"/>
            <a:r>
              <a:rPr lang="en-US" b="0" i="0" dirty="0">
                <a:solidFill>
                  <a:srgbClr val="23272F"/>
                </a:solidFill>
                <a:effectLst/>
                <a:latin typeface="Optimistic Text"/>
              </a:rPr>
              <a:t>React apps are made out of </a:t>
            </a:r>
            <a:r>
              <a:rPr lang="en-US" b="0" i="1" dirty="0">
                <a:solidFill>
                  <a:srgbClr val="23272F"/>
                </a:solidFill>
                <a:effectLst/>
                <a:latin typeface="Optimistic Text"/>
              </a:rPr>
              <a:t>components</a:t>
            </a:r>
            <a:r>
              <a:rPr lang="en-US" b="0" i="0" dirty="0">
                <a:solidFill>
                  <a:srgbClr val="23272F"/>
                </a:solidFill>
                <a:effectLst/>
                <a:latin typeface="Optimistic Text"/>
              </a:rPr>
              <a:t>. A component is a piece of the UI (user interface) that has its own logic and appearance. A component can be as small as a button, or as large as an entire page.</a:t>
            </a:r>
          </a:p>
          <a:p>
            <a:pPr algn="l"/>
            <a:r>
              <a:rPr lang="en-US" b="0" i="0" dirty="0">
                <a:solidFill>
                  <a:srgbClr val="23272F"/>
                </a:solidFill>
                <a:effectLst/>
                <a:latin typeface="Optimistic Text"/>
              </a:rPr>
              <a:t>React components are JavaScript functions that return markup:</a:t>
            </a:r>
          </a:p>
        </p:txBody>
      </p:sp>
      <p:sp>
        <p:nvSpPr>
          <p:cNvPr id="7" name="TextBox 6">
            <a:extLst>
              <a:ext uri="{FF2B5EF4-FFF2-40B4-BE49-F238E27FC236}">
                <a16:creationId xmlns:a16="http://schemas.microsoft.com/office/drawing/2014/main" id="{7AB5E627-F0C0-93F6-114F-A6DE23906054}"/>
              </a:ext>
            </a:extLst>
          </p:cNvPr>
          <p:cNvSpPr txBox="1"/>
          <p:nvPr/>
        </p:nvSpPr>
        <p:spPr>
          <a:xfrm>
            <a:off x="265873" y="1961110"/>
            <a:ext cx="4147101" cy="4524315"/>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MyApp</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MyButton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This is a button</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D3D30B4A-5CD1-094F-0FDA-EC824BBD241F}"/>
              </a:ext>
            </a:extLst>
          </p:cNvPr>
          <p:cNvSpPr txBox="1"/>
          <p:nvPr/>
        </p:nvSpPr>
        <p:spPr>
          <a:xfrm>
            <a:off x="3856382" y="1997839"/>
            <a:ext cx="6137412"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MyApp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Welcome to my app</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8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MyButton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MyApp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879098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EEFE-AA3F-4802-2BB8-2049F6F1AB19}"/>
              </a:ext>
            </a:extLst>
          </p:cNvPr>
          <p:cNvSpPr>
            <a:spLocks noGrp="1"/>
          </p:cNvSpPr>
          <p:nvPr>
            <p:ph type="title"/>
          </p:nvPr>
        </p:nvSpPr>
        <p:spPr>
          <a:xfrm>
            <a:off x="1948070" y="62188"/>
            <a:ext cx="9117496" cy="618849"/>
          </a:xfrm>
        </p:spPr>
        <p:txBody>
          <a:bodyPr>
            <a:normAutofit fontScale="90000"/>
          </a:bodyPr>
          <a:lstStyle/>
          <a:p>
            <a:r>
              <a:rPr lang="en-US" dirty="0"/>
              <a:t>One more example</a:t>
            </a:r>
            <a:endParaRPr lang="en-IN" dirty="0"/>
          </a:p>
        </p:txBody>
      </p:sp>
      <p:sp>
        <p:nvSpPr>
          <p:cNvPr id="5" name="TextBox 4">
            <a:extLst>
              <a:ext uri="{FF2B5EF4-FFF2-40B4-BE49-F238E27FC236}">
                <a16:creationId xmlns:a16="http://schemas.microsoft.com/office/drawing/2014/main" id="{45695EE9-A90E-E965-3947-5F3895DFC8B0}"/>
              </a:ext>
            </a:extLst>
          </p:cNvPr>
          <p:cNvSpPr txBox="1"/>
          <p:nvPr/>
        </p:nvSpPr>
        <p:spPr>
          <a:xfrm>
            <a:off x="369406" y="681037"/>
            <a:ext cx="11822594" cy="1200329"/>
          </a:xfrm>
          <a:prstGeom prst="rect">
            <a:avLst/>
          </a:prstGeom>
          <a:noFill/>
        </p:spPr>
        <p:txBody>
          <a:bodyPr wrap="square">
            <a:spAutoFit/>
          </a:bodyPr>
          <a:lstStyle/>
          <a:p>
            <a:pPr algn="l"/>
            <a:r>
              <a:rPr lang="en-US" b="1" i="0" dirty="0">
                <a:solidFill>
                  <a:srgbClr val="23272F"/>
                </a:solidFill>
                <a:effectLst/>
                <a:latin typeface="Optimistic Display"/>
              </a:rPr>
              <a:t>Creating and nesting components </a:t>
            </a:r>
          </a:p>
          <a:p>
            <a:pPr algn="l"/>
            <a:r>
              <a:rPr lang="en-US" b="0" i="0" dirty="0">
                <a:solidFill>
                  <a:srgbClr val="23272F"/>
                </a:solidFill>
                <a:effectLst/>
                <a:latin typeface="Optimistic Text"/>
              </a:rPr>
              <a:t>React apps are made out of </a:t>
            </a:r>
            <a:r>
              <a:rPr lang="en-US" b="0" i="1" dirty="0">
                <a:solidFill>
                  <a:srgbClr val="23272F"/>
                </a:solidFill>
                <a:effectLst/>
                <a:latin typeface="Optimistic Text"/>
              </a:rPr>
              <a:t>components</a:t>
            </a:r>
            <a:r>
              <a:rPr lang="en-US" b="0" i="0" dirty="0">
                <a:solidFill>
                  <a:srgbClr val="23272F"/>
                </a:solidFill>
                <a:effectLst/>
                <a:latin typeface="Optimistic Text"/>
              </a:rPr>
              <a:t>. A component is a piece of the UI (user interface) that has its own logic and appearance. A component can be as small as a button, or as large as an entire page.</a:t>
            </a:r>
          </a:p>
          <a:p>
            <a:pPr algn="l"/>
            <a:r>
              <a:rPr lang="en-US" b="0" i="0" dirty="0">
                <a:solidFill>
                  <a:srgbClr val="23272F"/>
                </a:solidFill>
                <a:effectLst/>
                <a:latin typeface="Optimistic Text"/>
              </a:rPr>
              <a:t>React components are JavaScript functions that return markup:</a:t>
            </a:r>
          </a:p>
        </p:txBody>
      </p:sp>
      <p:sp>
        <p:nvSpPr>
          <p:cNvPr id="7" name="TextBox 6">
            <a:extLst>
              <a:ext uri="{FF2B5EF4-FFF2-40B4-BE49-F238E27FC236}">
                <a16:creationId xmlns:a16="http://schemas.microsoft.com/office/drawing/2014/main" id="{7AB5E627-F0C0-93F6-114F-A6DE23906054}"/>
              </a:ext>
            </a:extLst>
          </p:cNvPr>
          <p:cNvSpPr txBox="1"/>
          <p:nvPr/>
        </p:nvSpPr>
        <p:spPr>
          <a:xfrm>
            <a:off x="265873" y="1961110"/>
            <a:ext cx="4147101" cy="4524315"/>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MyApp</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MyButton</a:t>
            </a:r>
            <a:r>
              <a:rPr lang="en-IN" b="0" dirty="0">
                <a:solidFill>
                  <a:srgbClr val="000000"/>
                </a:solidFill>
                <a:effectLst/>
                <a:latin typeface="Consolas" panose="020B0609020204030204" pitchFamily="49" charset="0"/>
              </a:rPr>
              <a:t>(data)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{data.name}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D3D30B4A-5CD1-094F-0FDA-EC824BBD241F}"/>
              </a:ext>
            </a:extLst>
          </p:cNvPr>
          <p:cNvSpPr txBox="1"/>
          <p:nvPr/>
        </p:nvSpPr>
        <p:spPr>
          <a:xfrm>
            <a:off x="5605669" y="1944333"/>
            <a:ext cx="6137412"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MyApp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Welcome to my app</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8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MyButton</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name=“vita”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p>
          <a:p>
            <a:pPr>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&lt;</a:t>
            </a:r>
            <a:r>
              <a:rPr kumimoji="0" lang="en-IN" sz="18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MyButton</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name=“DAC”</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App;</a:t>
            </a:r>
          </a:p>
        </p:txBody>
      </p:sp>
    </p:spTree>
    <p:extLst>
      <p:ext uri="{BB962C8B-B14F-4D97-AF65-F5344CB8AC3E}">
        <p14:creationId xmlns:p14="http://schemas.microsoft.com/office/powerpoint/2010/main" val="3463837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6D7E188-8D40-431D-BBD7-41344829DDFE}"/>
              </a:ext>
            </a:extLst>
          </p:cNvPr>
          <p:cNvSpPr>
            <a:spLocks noChangeArrowheads="1"/>
          </p:cNvSpPr>
          <p:nvPr/>
        </p:nvSpPr>
        <p:spPr bwMode="auto">
          <a:xfrm>
            <a:off x="178905" y="685561"/>
            <a:ext cx="1117158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3272F"/>
                </a:solidFill>
                <a:effectLst/>
                <a:latin typeface="Optimistic Text"/>
              </a:rPr>
              <a:t>In React, you specify a CSS class with </a:t>
            </a:r>
            <a:r>
              <a:rPr kumimoji="0" lang="en-US" altLang="en-US" sz="1400" b="0" i="0" u="none" strike="noStrike" cap="none" normalizeH="0" baseline="0" dirty="0" err="1">
                <a:ln>
                  <a:noFill/>
                </a:ln>
                <a:solidFill>
                  <a:srgbClr val="23272F"/>
                </a:solidFill>
                <a:effectLst/>
                <a:latin typeface="Source Code Pro" panose="020B0509030403020204" pitchFamily="49" charset="0"/>
              </a:rPr>
              <a:t>className</a:t>
            </a:r>
            <a:r>
              <a:rPr kumimoji="0" lang="en-US" altLang="en-US" sz="2000" b="0" i="0" u="none" strike="noStrike" cap="none" normalizeH="0" baseline="0" dirty="0">
                <a:ln>
                  <a:noFill/>
                </a:ln>
                <a:solidFill>
                  <a:srgbClr val="23272F"/>
                </a:solidFill>
                <a:effectLst/>
                <a:latin typeface="Optimistic Text"/>
              </a:rPr>
              <a:t>. It works the same way as the HTML </a:t>
            </a:r>
            <a:r>
              <a:rPr kumimoji="0" lang="en-US" altLang="en-US" sz="1400" b="0" i="0" u="none" strike="noStrike" cap="none" normalizeH="0" baseline="0" dirty="0">
                <a:ln>
                  <a:noFill/>
                </a:ln>
                <a:solidFill>
                  <a:srgbClr val="23272F"/>
                </a:solidFill>
                <a:effectLst/>
                <a:latin typeface="Source Code Pro" panose="020B0509030403020204" pitchFamily="49" charset="0"/>
                <a:hlinkClick r:id="rId3"/>
              </a:rPr>
              <a:t>class</a:t>
            </a:r>
            <a:r>
              <a:rPr kumimoji="0" lang="en-US" altLang="en-US" sz="2000" b="0" i="0" u="none" strike="noStrike" cap="none" normalizeH="0" baseline="0" dirty="0">
                <a:ln>
                  <a:noFill/>
                </a:ln>
                <a:solidFill>
                  <a:srgbClr val="23272F"/>
                </a:solidFill>
                <a:effectLst/>
                <a:latin typeface="Optimistic Text"/>
              </a:rPr>
              <a:t> attribute:</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375CE6AB-2A91-5A55-BB98-AB82BE93FD66}"/>
              </a:ext>
            </a:extLst>
          </p:cNvPr>
          <p:cNvSpPr txBox="1"/>
          <p:nvPr/>
        </p:nvSpPr>
        <p:spPr>
          <a:xfrm>
            <a:off x="3923473" y="50081"/>
            <a:ext cx="276556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3272F"/>
                </a:solidFill>
                <a:effectLst/>
                <a:latin typeface="Optimistic Display"/>
              </a:rPr>
              <a:t>Adding styles </a:t>
            </a:r>
          </a:p>
        </p:txBody>
      </p:sp>
      <p:sp>
        <p:nvSpPr>
          <p:cNvPr id="10" name="TextBox 9">
            <a:extLst>
              <a:ext uri="{FF2B5EF4-FFF2-40B4-BE49-F238E27FC236}">
                <a16:creationId xmlns:a16="http://schemas.microsoft.com/office/drawing/2014/main" id="{5DCAE49C-1BFF-FFAC-CACC-B976F56B739F}"/>
              </a:ext>
            </a:extLst>
          </p:cNvPr>
          <p:cNvSpPr txBox="1"/>
          <p:nvPr/>
        </p:nvSpPr>
        <p:spPr>
          <a:xfrm>
            <a:off x="0" y="1085671"/>
            <a:ext cx="7295322" cy="5416868"/>
          </a:xfrm>
          <a:prstGeom prst="rect">
            <a:avLst/>
          </a:prstGeom>
          <a:noFill/>
        </p:spPr>
        <p:txBody>
          <a:bodyPr wrap="square">
            <a:spAutoFit/>
          </a:bodyPr>
          <a:lstStyle/>
          <a:p>
            <a:r>
              <a:rPr lang="en-IN" sz="1600" b="0" dirty="0">
                <a:solidFill>
                  <a:srgbClr val="0000FF"/>
                </a:solidFill>
                <a:effectLst/>
                <a:highlight>
                  <a:srgbClr val="FFFF00"/>
                </a:highlight>
                <a:latin typeface="Consolas" panose="020B0609020204030204" pitchFamily="49" charset="0"/>
              </a:rPr>
              <a:t>import</a:t>
            </a:r>
            <a:r>
              <a:rPr lang="en-IN" sz="1600" b="0" dirty="0">
                <a:solidFill>
                  <a:srgbClr val="000000"/>
                </a:solidFill>
                <a:effectLst/>
                <a:highlight>
                  <a:srgbClr val="FFFF00"/>
                </a:highlight>
                <a:latin typeface="Consolas" panose="020B0609020204030204" pitchFamily="49" charset="0"/>
              </a:rPr>
              <a:t> </a:t>
            </a:r>
            <a:r>
              <a:rPr lang="en-IN" sz="1600" b="0" dirty="0">
                <a:solidFill>
                  <a:srgbClr val="A31515"/>
                </a:solidFill>
                <a:effectLst/>
                <a:highlight>
                  <a:srgbClr val="FFFF00"/>
                </a:highlight>
                <a:latin typeface="Consolas" panose="020B0609020204030204" pitchFamily="49" charset="0"/>
              </a:rPr>
              <a:t>'./index.css'</a:t>
            </a:r>
            <a:r>
              <a:rPr lang="en-IN" sz="1600" b="0" dirty="0">
                <a:solidFill>
                  <a:srgbClr val="000000"/>
                </a:solidFill>
                <a:effectLst/>
                <a:highlight>
                  <a:srgbClr val="FFFF00"/>
                </a:highlight>
                <a:latin typeface="Consolas" panose="020B0609020204030204" pitchFamily="49" charset="0"/>
              </a:rPr>
              <a:t>;</a:t>
            </a:r>
          </a:p>
          <a:p>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user = {</a:t>
            </a:r>
          </a:p>
          <a:p>
            <a:r>
              <a:rPr lang="en-IN" sz="1600" b="0" dirty="0">
                <a:solidFill>
                  <a:srgbClr val="000000"/>
                </a:solidFill>
                <a:effectLst/>
                <a:latin typeface="Consolas" panose="020B0609020204030204" pitchFamily="49" charset="0"/>
              </a:rPr>
              <a:t>  name: </a:t>
            </a:r>
            <a:r>
              <a:rPr lang="en-IN" sz="1600" b="0" dirty="0">
                <a:solidFill>
                  <a:srgbClr val="A31515"/>
                </a:solidFill>
                <a:effectLst/>
                <a:latin typeface="Consolas" panose="020B0609020204030204" pitchFamily="49" charset="0"/>
              </a:rPr>
              <a:t>'Hedy </a:t>
            </a:r>
            <a:r>
              <a:rPr lang="en-IN" sz="1600" b="0" dirty="0" err="1">
                <a:solidFill>
                  <a:srgbClr val="A31515"/>
                </a:solidFill>
                <a:effectLst/>
                <a:latin typeface="Consolas" panose="020B0609020204030204" pitchFamily="49" charset="0"/>
              </a:rPr>
              <a:t>Lamarr</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imageUrl</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'https://i.imgur.com/yXOvdOSs.jpg'</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imageSize</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90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br>
              <a:rPr lang="en-IN" sz="1600" b="0" dirty="0">
                <a:solidFill>
                  <a:srgbClr val="000000"/>
                </a:solidFill>
                <a:effectLst/>
                <a:latin typeface="Consolas" panose="020B0609020204030204" pitchFamily="49" charset="0"/>
              </a:rPr>
            </a:br>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App =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&lt;h1&gt;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user.name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&lt;/h1&gt;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img</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className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"avatar"</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user.imageUrl</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alt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A31515"/>
                </a:solidFill>
                <a:effectLst/>
                <a:latin typeface="Consolas" panose="020B0609020204030204" pitchFamily="49" charset="0"/>
              </a:rPr>
              <a:t>'Photo of '</a:t>
            </a:r>
            <a:r>
              <a:rPr lang="en-IN" sz="1600" b="0" dirty="0">
                <a:solidFill>
                  <a:srgbClr val="000000"/>
                </a:solidFill>
                <a:effectLst/>
                <a:latin typeface="Consolas" panose="020B0609020204030204" pitchFamily="49" charset="0"/>
              </a:rPr>
              <a:t> + user.name</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style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width: </a:t>
            </a:r>
            <a:r>
              <a:rPr lang="en-IN" sz="1600" b="0" dirty="0" err="1">
                <a:solidFill>
                  <a:srgbClr val="000000"/>
                </a:solidFill>
                <a:effectLst/>
                <a:latin typeface="Consolas" panose="020B0609020204030204" pitchFamily="49" charset="0"/>
              </a:rPr>
              <a:t>user.imageSize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height: </a:t>
            </a:r>
            <a:r>
              <a:rPr lang="en-IN" sz="1600" b="0" dirty="0" err="1">
                <a:solidFill>
                  <a:srgbClr val="000000"/>
                </a:solidFill>
                <a:effectLst/>
                <a:latin typeface="Consolas" panose="020B0609020204030204" pitchFamily="49" charset="0"/>
              </a:rPr>
              <a:t>user.imageSize</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App;</a:t>
            </a:r>
          </a:p>
        </p:txBody>
      </p:sp>
      <p:sp>
        <p:nvSpPr>
          <p:cNvPr id="12" name="TextBox 11">
            <a:extLst>
              <a:ext uri="{FF2B5EF4-FFF2-40B4-BE49-F238E27FC236}">
                <a16:creationId xmlns:a16="http://schemas.microsoft.com/office/drawing/2014/main" id="{4D5B4A08-C4D4-2784-6130-061D70AB2C92}"/>
              </a:ext>
            </a:extLst>
          </p:cNvPr>
          <p:cNvSpPr txBox="1"/>
          <p:nvPr/>
        </p:nvSpPr>
        <p:spPr>
          <a:xfrm>
            <a:off x="6689035" y="1485781"/>
            <a:ext cx="4820478" cy="1477328"/>
          </a:xfrm>
          <a:prstGeom prst="rect">
            <a:avLst/>
          </a:prstGeom>
          <a:noFill/>
        </p:spPr>
        <p:txBody>
          <a:bodyPr wrap="square">
            <a:spAutoFit/>
          </a:bodyPr>
          <a:lstStyle/>
          <a:p>
            <a:r>
              <a:rPr lang="en-IN" b="0" u="dbl" dirty="0">
                <a:solidFill>
                  <a:srgbClr val="FF0000"/>
                </a:solidFill>
                <a:effectLst/>
                <a:latin typeface="Consolas" panose="020B0609020204030204" pitchFamily="49" charset="0"/>
              </a:rPr>
              <a:t>Index.css</a:t>
            </a:r>
          </a:p>
          <a:p>
            <a:endParaRPr lang="en-IN" b="0" dirty="0">
              <a:solidFill>
                <a:srgbClr val="8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.avatar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border-radius</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50%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7811C376-5946-283F-C918-1344E9736C41}"/>
              </a:ext>
            </a:extLst>
          </p:cNvPr>
          <p:cNvSpPr txBox="1"/>
          <p:nvPr/>
        </p:nvSpPr>
        <p:spPr>
          <a:xfrm>
            <a:off x="6189595" y="3524788"/>
            <a:ext cx="5160892"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in the above example, style={{}} is not a special syntax, but a regular {} object inside the style={ } JSX curly braces</a:t>
            </a:r>
            <a:endParaRPr lang="en-IN" dirty="0"/>
          </a:p>
        </p:txBody>
      </p:sp>
    </p:spTree>
    <p:extLst>
      <p:ext uri="{BB962C8B-B14F-4D97-AF65-F5344CB8AC3E}">
        <p14:creationId xmlns:p14="http://schemas.microsoft.com/office/powerpoint/2010/main" val="310824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4CC9-F142-4744-89C3-B3E580BE1866}"/>
              </a:ext>
            </a:extLst>
          </p:cNvPr>
          <p:cNvSpPr>
            <a:spLocks noGrp="1"/>
          </p:cNvSpPr>
          <p:nvPr>
            <p:ph type="title"/>
          </p:nvPr>
        </p:nvSpPr>
        <p:spPr>
          <a:xfrm>
            <a:off x="1179871" y="0"/>
            <a:ext cx="9505335" cy="699241"/>
          </a:xfrm>
        </p:spPr>
        <p:txBody>
          <a:bodyPr>
            <a:normAutofit fontScale="90000"/>
          </a:bodyPr>
          <a:lstStyle/>
          <a:p>
            <a:r>
              <a:rPr lang="en-IN" dirty="0"/>
              <a:t>Difference between export and export default</a:t>
            </a:r>
          </a:p>
        </p:txBody>
      </p:sp>
      <p:sp>
        <p:nvSpPr>
          <p:cNvPr id="4" name="Content Placeholder 3">
            <a:extLst>
              <a:ext uri="{FF2B5EF4-FFF2-40B4-BE49-F238E27FC236}">
                <a16:creationId xmlns:a16="http://schemas.microsoft.com/office/drawing/2014/main" id="{481E39F9-511A-498A-9B00-F5A6102168AC}"/>
              </a:ext>
            </a:extLst>
          </p:cNvPr>
          <p:cNvSpPr txBox="1">
            <a:spLocks noGrp="1"/>
          </p:cNvSpPr>
          <p:nvPr>
            <p:ph idx="1"/>
          </p:nvPr>
        </p:nvSpPr>
        <p:spPr>
          <a:xfrm>
            <a:off x="169606" y="699241"/>
            <a:ext cx="10515600" cy="2609304"/>
          </a:xfrm>
          <a:prstGeom prst="rect">
            <a:avLst/>
          </a:prstGeom>
          <a:noFill/>
        </p:spPr>
        <p:txBody>
          <a:bodyPr wrap="square" rtlCol="0">
            <a:spAutoFit/>
          </a:bodyPr>
          <a:lstStyle/>
          <a:p>
            <a:r>
              <a:rPr lang="en-US" sz="1800" dirty="0"/>
              <a:t>here are two different types of export, </a:t>
            </a:r>
          </a:p>
          <a:p>
            <a:r>
              <a:rPr lang="en-US" sz="1800" dirty="0"/>
              <a:t>named and default.</a:t>
            </a:r>
          </a:p>
          <a:p>
            <a:r>
              <a:rPr lang="en-US" sz="1800" dirty="0"/>
              <a:t> You can have multiple named exports per module but </a:t>
            </a:r>
          </a:p>
          <a:p>
            <a:r>
              <a:rPr lang="en-US" sz="1800" dirty="0"/>
              <a:t>only one default export[...]</a:t>
            </a:r>
          </a:p>
          <a:p>
            <a:r>
              <a:rPr lang="en-US" sz="1800" dirty="0"/>
              <a:t>Named exports are useful to export several values. </a:t>
            </a:r>
          </a:p>
          <a:p>
            <a:r>
              <a:rPr lang="en-US" sz="1800" dirty="0"/>
              <a:t>During the import, it is mandatory to use the same name of the corresponding object.</a:t>
            </a:r>
          </a:p>
          <a:p>
            <a:r>
              <a:rPr lang="en-US" sz="1800" dirty="0"/>
              <a:t>But a default export can be imported with any name</a:t>
            </a:r>
            <a:endParaRPr lang="en-IN" sz="1800" dirty="0"/>
          </a:p>
        </p:txBody>
      </p:sp>
      <p:sp>
        <p:nvSpPr>
          <p:cNvPr id="5" name="Rectangle 1">
            <a:extLst>
              <a:ext uri="{FF2B5EF4-FFF2-40B4-BE49-F238E27FC236}">
                <a16:creationId xmlns:a16="http://schemas.microsoft.com/office/drawing/2014/main" id="{BBA32432-DA14-4BC4-8397-51F32942863C}"/>
              </a:ext>
            </a:extLst>
          </p:cNvPr>
          <p:cNvSpPr>
            <a:spLocks noChangeArrowheads="1"/>
          </p:cNvSpPr>
          <p:nvPr/>
        </p:nvSpPr>
        <p:spPr bwMode="auto">
          <a:xfrm>
            <a:off x="169606" y="3410308"/>
            <a:ext cx="963758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IN" sz="1600" b="0" dirty="0">
                <a:solidFill>
                  <a:srgbClr val="000000"/>
                </a:solidFill>
                <a:effectLst/>
                <a:latin typeface="Consolas" panose="020B0609020204030204" pitchFamily="49" charset="0"/>
              </a:rPr>
            </a:br>
            <a:r>
              <a:rPr lang="en-IN" sz="1600" b="0" dirty="0">
                <a:solidFill>
                  <a:srgbClr val="008000"/>
                </a:solidFill>
                <a:effectLst/>
                <a:latin typeface="Consolas" panose="020B0609020204030204" pitchFamily="49" charset="0"/>
              </a:rPr>
              <a:t>// in file my-module.js </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myVar</a:t>
            </a:r>
            <a:r>
              <a:rPr lang="en-IN" sz="1600" b="0" dirty="0">
                <a:solidFill>
                  <a:srgbClr val="000000"/>
                </a:solidFill>
                <a:effectLst/>
                <a:latin typeface="Consolas" panose="020B0609020204030204" pitchFamily="49" charset="0"/>
              </a:rPr>
              <a:t>; </a:t>
            </a:r>
          </a:p>
          <a:p>
            <a:r>
              <a:rPr lang="en-IN" sz="1600" b="0" dirty="0">
                <a:solidFill>
                  <a:srgbClr val="AF00DB"/>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myVar</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123</a:t>
            </a:r>
            <a:r>
              <a:rPr lang="en-IN" sz="1600" b="0" dirty="0">
                <a:solidFill>
                  <a:srgbClr val="000000"/>
                </a:solidFill>
                <a:effectLst/>
                <a:latin typeface="Consolas" panose="020B0609020204030204" pitchFamily="49" charset="0"/>
              </a:rPr>
              <a:t>; </a:t>
            </a:r>
          </a:p>
          <a:p>
            <a:br>
              <a:rPr lang="en-IN" sz="1600" b="0" dirty="0">
                <a:solidFill>
                  <a:srgbClr val="000000"/>
                </a:solidFill>
                <a:effectLst/>
                <a:latin typeface="Consolas" panose="020B0609020204030204" pitchFamily="49" charset="0"/>
              </a:rPr>
            </a:br>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myExportedVar</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'./my-module'</a:t>
            </a:r>
            <a:r>
              <a:rPr lang="en-IN" sz="1600" b="0" dirty="0">
                <a:solidFill>
                  <a:srgbClr val="000000"/>
                </a:solidFill>
                <a:effectLst/>
                <a:latin typeface="Consolas" panose="020B0609020204030204" pitchFamily="49" charset="0"/>
              </a:rPr>
              <a:t> </a:t>
            </a:r>
          </a:p>
          <a:p>
            <a:r>
              <a:rPr lang="en-IN" sz="1600" b="0" dirty="0">
                <a:solidFill>
                  <a:srgbClr val="001080"/>
                </a:solidFill>
                <a:effectLst/>
                <a:latin typeface="Consolas" panose="020B0609020204030204" pitchFamily="49" charset="0"/>
              </a:rPr>
              <a:t>console</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log</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myExportedVar</a:t>
            </a:r>
            <a:r>
              <a:rPr lang="en-IN" sz="1600" b="0" dirty="0">
                <a:solidFill>
                  <a:srgbClr val="000000"/>
                </a:solidFill>
                <a:effectLst/>
                <a:latin typeface="Consolas" panose="020B0609020204030204" pitchFamily="49" charset="0"/>
              </a:rPr>
              <a:t>); </a:t>
            </a:r>
            <a:r>
              <a:rPr lang="en-IN" sz="1600" b="0" dirty="0">
                <a:solidFill>
                  <a:srgbClr val="008000"/>
                </a:solidFill>
                <a:effectLst/>
                <a:latin typeface="Consolas" panose="020B0609020204030204" pitchFamily="49" charset="0"/>
              </a:rPr>
              <a:t>// will log 123 </a:t>
            </a:r>
            <a:endParaRPr lang="en-IN" sz="1600" b="0" dirty="0">
              <a:solidFill>
                <a:srgbClr val="000000"/>
              </a:solidFill>
              <a:effectLst/>
              <a:latin typeface="Consolas" panose="020B0609020204030204" pitchFamily="49" charset="0"/>
            </a:endParaRPr>
          </a:p>
          <a:p>
            <a:r>
              <a:rPr lang="en-IN" sz="1600" b="0" dirty="0">
                <a:solidFill>
                  <a:srgbClr val="008000"/>
                </a:solidFill>
                <a:effectLst/>
                <a:latin typeface="Consolas" panose="020B0609020204030204" pitchFamily="49" charset="0"/>
              </a:rPr>
              <a:t>// we have the freedom to use </a:t>
            </a:r>
            <a:endParaRPr lang="en-IN" sz="1600" b="0" dirty="0">
              <a:solidFill>
                <a:srgbClr val="000000"/>
              </a:solidFill>
              <a:effectLst/>
              <a:latin typeface="Consolas" panose="020B0609020204030204" pitchFamily="49" charset="0"/>
            </a:endParaRPr>
          </a:p>
          <a:p>
            <a:r>
              <a:rPr lang="en-IN" sz="1600" b="0" dirty="0">
                <a:solidFill>
                  <a:srgbClr val="008000"/>
                </a:solidFill>
                <a:effectLst/>
                <a:latin typeface="Consolas" panose="020B0609020204030204" pitchFamily="49" charset="0"/>
              </a:rPr>
              <a:t>//'import </a:t>
            </a:r>
            <a:r>
              <a:rPr lang="en-IN" sz="1600" b="0" dirty="0" err="1">
                <a:solidFill>
                  <a:srgbClr val="008000"/>
                </a:solidFill>
                <a:effectLst/>
                <a:latin typeface="Consolas" panose="020B0609020204030204" pitchFamily="49" charset="0"/>
              </a:rPr>
              <a:t>myExportedVar</a:t>
            </a:r>
            <a:r>
              <a:rPr lang="en-IN" sz="1600" b="0" dirty="0">
                <a:solidFill>
                  <a:srgbClr val="008000"/>
                </a:solidFill>
                <a:effectLst/>
                <a:latin typeface="Consolas" panose="020B0609020204030204" pitchFamily="49" charset="0"/>
              </a:rPr>
              <a:t>' instead of 'import </a:t>
            </a:r>
            <a:r>
              <a:rPr lang="en-IN" sz="1600" b="0" dirty="0" err="1">
                <a:solidFill>
                  <a:srgbClr val="008000"/>
                </a:solidFill>
                <a:effectLst/>
                <a:latin typeface="Consolas" panose="020B0609020204030204" pitchFamily="49" charset="0"/>
              </a:rPr>
              <a:t>myVar</a:t>
            </a:r>
            <a:r>
              <a:rPr lang="en-IN" sz="1600" b="0" dirty="0">
                <a:solidFill>
                  <a:srgbClr val="008000"/>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8000"/>
                </a:solidFill>
                <a:effectLst/>
                <a:latin typeface="Consolas" panose="020B0609020204030204" pitchFamily="49" charset="0"/>
              </a:rPr>
              <a:t>// because </a:t>
            </a:r>
            <a:r>
              <a:rPr lang="en-IN" sz="1600" b="0" dirty="0" err="1">
                <a:solidFill>
                  <a:srgbClr val="008000"/>
                </a:solidFill>
                <a:effectLst/>
                <a:latin typeface="Consolas" panose="020B0609020204030204" pitchFamily="49" charset="0"/>
              </a:rPr>
              <a:t>myVar</a:t>
            </a:r>
            <a:r>
              <a:rPr lang="en-IN" sz="1600" b="0" dirty="0">
                <a:solidFill>
                  <a:srgbClr val="008000"/>
                </a:solidFill>
                <a:effectLst/>
                <a:latin typeface="Consolas" panose="020B0609020204030204" pitchFamily="49" charset="0"/>
              </a:rPr>
              <a:t> was defined as default export </a:t>
            </a:r>
            <a:endParaRPr lang="en-IN" sz="1600"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857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CC272C-9665-10C5-3B06-6F7EF157C0D2}"/>
              </a:ext>
            </a:extLst>
          </p:cNvPr>
          <p:cNvSpPr txBox="1"/>
          <p:nvPr/>
        </p:nvSpPr>
        <p:spPr>
          <a:xfrm>
            <a:off x="613741" y="177033"/>
            <a:ext cx="11213824"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3272F"/>
                </a:solidFill>
                <a:effectLst/>
                <a:uLnTx/>
                <a:uFillTx/>
                <a:latin typeface="Optimistic Display"/>
                <a:ea typeface="+mn-ea"/>
                <a:cs typeface="+mn-cs"/>
              </a:rPr>
              <a:t>Importing and Exporting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72F"/>
                </a:solidFill>
                <a:effectLst/>
                <a:uLnTx/>
                <a:uFillTx/>
                <a:latin typeface="Optimistic Display"/>
                <a:ea typeface="+mn-ea"/>
                <a:cs typeface="+mn-cs"/>
              </a:rPr>
              <a:t>The magic of components lies in their reusability: you can create components that are composed of other components. But as you nest more and more components, it often makes sense to start splitting them into different files. This lets you keep your files easy to scan and reuse components in more places.</a:t>
            </a:r>
          </a:p>
        </p:txBody>
      </p:sp>
      <p:graphicFrame>
        <p:nvGraphicFramePr>
          <p:cNvPr id="6" name="Table 5">
            <a:extLst>
              <a:ext uri="{FF2B5EF4-FFF2-40B4-BE49-F238E27FC236}">
                <a16:creationId xmlns:a16="http://schemas.microsoft.com/office/drawing/2014/main" id="{950A43CA-5E81-FC07-2B8D-D17BB1D6ADEA}"/>
              </a:ext>
            </a:extLst>
          </p:cNvPr>
          <p:cNvGraphicFramePr>
            <a:graphicFrameLocks noGrp="1"/>
          </p:cNvGraphicFramePr>
          <p:nvPr>
            <p:extLst>
              <p:ext uri="{D42A27DB-BD31-4B8C-83A1-F6EECF244321}">
                <p14:modId xmlns:p14="http://schemas.microsoft.com/office/powerpoint/2010/main" val="765384051"/>
              </p:ext>
            </p:extLst>
          </p:nvPr>
        </p:nvGraphicFramePr>
        <p:xfrm>
          <a:off x="2153212" y="2067339"/>
          <a:ext cx="8769891" cy="2458942"/>
        </p:xfrm>
        <a:graphic>
          <a:graphicData uri="http://schemas.openxmlformats.org/drawingml/2006/table">
            <a:tbl>
              <a:tblPr/>
              <a:tblGrid>
                <a:gridCol w="2923297">
                  <a:extLst>
                    <a:ext uri="{9D8B030D-6E8A-4147-A177-3AD203B41FA5}">
                      <a16:colId xmlns:a16="http://schemas.microsoft.com/office/drawing/2014/main" val="1768425213"/>
                    </a:ext>
                  </a:extLst>
                </a:gridCol>
                <a:gridCol w="2923297">
                  <a:extLst>
                    <a:ext uri="{9D8B030D-6E8A-4147-A177-3AD203B41FA5}">
                      <a16:colId xmlns:a16="http://schemas.microsoft.com/office/drawing/2014/main" val="2511498190"/>
                    </a:ext>
                  </a:extLst>
                </a:gridCol>
                <a:gridCol w="2923297">
                  <a:extLst>
                    <a:ext uri="{9D8B030D-6E8A-4147-A177-3AD203B41FA5}">
                      <a16:colId xmlns:a16="http://schemas.microsoft.com/office/drawing/2014/main" val="345173452"/>
                    </a:ext>
                  </a:extLst>
                </a:gridCol>
              </a:tblGrid>
              <a:tr h="409824">
                <a:tc>
                  <a:txBody>
                    <a:bodyPr/>
                    <a:lstStyle/>
                    <a:p>
                      <a:pPr fontAlgn="t"/>
                      <a:r>
                        <a:rPr lang="en-IN" dirty="0">
                          <a:effectLst/>
                        </a:rPr>
                        <a:t>Syntax</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IN">
                          <a:effectLst/>
                        </a:rPr>
                        <a:t>Export statement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IN">
                          <a:effectLst/>
                        </a:rPr>
                        <a:t>Import statement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extLst>
                  <a:ext uri="{0D108BD9-81ED-4DB2-BD59-A6C34878D82A}">
                    <a16:rowId xmlns:a16="http://schemas.microsoft.com/office/drawing/2014/main" val="2192035332"/>
                  </a:ext>
                </a:extLst>
              </a:tr>
              <a:tr h="1024559">
                <a:tc>
                  <a:txBody>
                    <a:bodyPr/>
                    <a:lstStyle/>
                    <a:p>
                      <a:pPr fontAlgn="t"/>
                      <a:r>
                        <a:rPr lang="en-IN">
                          <a:effectLst/>
                        </a:rPr>
                        <a:t>Default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IN">
                          <a:effectLst/>
                        </a:rPr>
                        <a:t>export default function Button() {}</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US">
                          <a:effectLst/>
                        </a:rPr>
                        <a:t>import Button from './Button.js';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extLst>
                  <a:ext uri="{0D108BD9-81ED-4DB2-BD59-A6C34878D82A}">
                    <a16:rowId xmlns:a16="http://schemas.microsoft.com/office/drawing/2014/main" val="155616582"/>
                  </a:ext>
                </a:extLst>
              </a:tr>
              <a:tr h="1024559">
                <a:tc>
                  <a:txBody>
                    <a:bodyPr/>
                    <a:lstStyle/>
                    <a:p>
                      <a:pPr fontAlgn="t"/>
                      <a:r>
                        <a:rPr lang="en-IN">
                          <a:effectLst/>
                        </a:rPr>
                        <a:t>Named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IN" dirty="0">
                          <a:effectLst/>
                          <a:highlight>
                            <a:srgbClr val="FFFF00"/>
                          </a:highlight>
                        </a:rPr>
                        <a:t>export</a:t>
                      </a:r>
                      <a:r>
                        <a:rPr lang="en-IN" dirty="0">
                          <a:effectLst/>
                        </a:rPr>
                        <a:t> function Button() {}</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tc>
                  <a:txBody>
                    <a:bodyPr/>
                    <a:lstStyle/>
                    <a:p>
                      <a:pPr fontAlgn="t"/>
                      <a:r>
                        <a:rPr lang="en-US" dirty="0">
                          <a:effectLst/>
                        </a:rPr>
                        <a:t>import </a:t>
                      </a:r>
                      <a:r>
                        <a:rPr lang="en-US" dirty="0">
                          <a:effectLst/>
                          <a:highlight>
                            <a:srgbClr val="FFFF00"/>
                          </a:highlight>
                        </a:rPr>
                        <a:t>{</a:t>
                      </a:r>
                      <a:r>
                        <a:rPr lang="en-US" dirty="0">
                          <a:effectLst/>
                        </a:rPr>
                        <a:t> Button </a:t>
                      </a:r>
                      <a:r>
                        <a:rPr lang="en-US" dirty="0">
                          <a:effectLst/>
                          <a:highlight>
                            <a:srgbClr val="FFFF00"/>
                          </a:highlight>
                        </a:rPr>
                        <a:t>}</a:t>
                      </a:r>
                      <a:r>
                        <a:rPr lang="en-US" dirty="0">
                          <a:effectLst/>
                        </a:rPr>
                        <a:t> from './Button.js';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6F7F9"/>
                    </a:solidFill>
                  </a:tcPr>
                </a:tc>
                <a:extLst>
                  <a:ext uri="{0D108BD9-81ED-4DB2-BD59-A6C34878D82A}">
                    <a16:rowId xmlns:a16="http://schemas.microsoft.com/office/drawing/2014/main" val="2637056611"/>
                  </a:ext>
                </a:extLst>
              </a:tr>
            </a:tbl>
          </a:graphicData>
        </a:graphic>
      </p:graphicFrame>
    </p:spTree>
    <p:extLst>
      <p:ext uri="{BB962C8B-B14F-4D97-AF65-F5344CB8AC3E}">
        <p14:creationId xmlns:p14="http://schemas.microsoft.com/office/powerpoint/2010/main" val="1578100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098674-21B4-B18A-C6C6-8FE08A919885}"/>
              </a:ext>
            </a:extLst>
          </p:cNvPr>
          <p:cNvSpPr txBox="1"/>
          <p:nvPr/>
        </p:nvSpPr>
        <p:spPr>
          <a:xfrm>
            <a:off x="0" y="845548"/>
            <a:ext cx="6097656"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Gallery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'./Gallery.js'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Profile </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'./Gallery.js'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App()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&lt;Gallery/&gt;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7" name="TextBox 6">
            <a:extLst>
              <a:ext uri="{FF2B5EF4-FFF2-40B4-BE49-F238E27FC236}">
                <a16:creationId xmlns:a16="http://schemas.microsoft.com/office/drawing/2014/main" id="{8DB0513C-4E95-E629-1CDA-048F8CF1687C}"/>
              </a:ext>
            </a:extLst>
          </p:cNvPr>
          <p:cNvSpPr txBox="1"/>
          <p:nvPr/>
        </p:nvSpPr>
        <p:spPr>
          <a:xfrm>
            <a:off x="6143212" y="-41268"/>
            <a:ext cx="6122504" cy="64633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Move this to Profile.js!</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highlight>
                  <a:srgbClr val="FFFF00"/>
                </a:highligh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Profile()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profile function</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8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img</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src</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"https://i.imgur.com/QIrZWGIs.jpg"</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alt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"Alan L. Hart"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highlight>
                  <a:srgbClr val="00FF00"/>
                </a:highligh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highlight>
                  <a:srgbClr val="00FF00"/>
                </a:highligh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Gallery()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&lt;section&gt;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Amazing scientists Gallery function</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&lt;/section&gt;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p:txBody>
      </p:sp>
    </p:spTree>
    <p:extLst>
      <p:ext uri="{BB962C8B-B14F-4D97-AF65-F5344CB8AC3E}">
        <p14:creationId xmlns:p14="http://schemas.microsoft.com/office/powerpoint/2010/main" val="47350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098674-21B4-B18A-C6C6-8FE08A919885}"/>
              </a:ext>
            </a:extLst>
          </p:cNvPr>
          <p:cNvSpPr txBox="1"/>
          <p:nvPr/>
        </p:nvSpPr>
        <p:spPr>
          <a:xfrm>
            <a:off x="0" y="845548"/>
            <a:ext cx="6097656"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Gallery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'./Gallery.js'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Profile </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'./Gallery.js'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App()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&lt;Gallery/&gt;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7" name="TextBox 6">
            <a:extLst>
              <a:ext uri="{FF2B5EF4-FFF2-40B4-BE49-F238E27FC236}">
                <a16:creationId xmlns:a16="http://schemas.microsoft.com/office/drawing/2014/main" id="{8DB0513C-4E95-E629-1CDA-048F8CF1687C}"/>
              </a:ext>
            </a:extLst>
          </p:cNvPr>
          <p:cNvSpPr txBox="1"/>
          <p:nvPr/>
        </p:nvSpPr>
        <p:spPr>
          <a:xfrm>
            <a:off x="4850296" y="-41268"/>
            <a:ext cx="7415419" cy="68018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Move me to Profile.js!</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highlight>
                  <a:srgbClr val="FFFF00"/>
                </a:highligh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Profile({</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mysrc</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800" b="0" dirty="0">
                <a:solidFill>
                  <a:srgbClr val="A31515"/>
                </a:solidFill>
                <a:effectLst/>
                <a:latin typeface="Consolas" panose="020B0609020204030204" pitchFamily="49" charset="0"/>
              </a:rPr>
              <a:t> </a:t>
            </a:r>
            <a:r>
              <a:rPr lang="en-IN" sz="1800" b="0" dirty="0" err="1">
                <a:effectLst/>
                <a:latin typeface="Consolas" panose="020B0609020204030204" pitchFamily="49" charset="0"/>
              </a:rPr>
              <a:t>myalt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profile function</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8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img</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src</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dirty="0">
                <a:solidFill>
                  <a:srgbClr val="A31515"/>
                </a:solidFill>
                <a:latin typeface="Consolas" panose="020B0609020204030204" pitchFamily="49" charset="0"/>
              </a:rPr>
              <a: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mysrc</a:t>
            </a:r>
            <a:r>
              <a:rPr lang="en-IN" dirty="0">
                <a:solidFill>
                  <a:srgbClr val="A31515"/>
                </a:solidFill>
                <a:latin typeface="Consolas" panose="020B0609020204030204" pitchFamily="49" charset="0"/>
              </a:rPr>
              <a: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alt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lang="en-IN" sz="1800" b="0" dirty="0" err="1">
                <a:effectLst/>
                <a:latin typeface="Consolas" panose="020B0609020204030204" pitchFamily="49" charset="0"/>
              </a:rPr>
              <a:t>myalt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00FF00"/>
                </a:highligh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00FF00"/>
                </a:highligh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highlight>
                  <a:srgbClr val="00FF00"/>
                </a:highlight>
                <a:uLnTx/>
                <a:uFillTx/>
                <a:latin typeface="Consolas" panose="020B0609020204030204" pitchFamily="49" charset="0"/>
                <a:ea typeface="+mn-ea"/>
                <a:cs typeface="+mn-cs"/>
              </a:rPr>
              <a:t>Gallery()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&lt;section&gt;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Amazing scientists Gallery function</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 </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mysrc</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a:t>
            </a:r>
            <a:r>
              <a:rPr lang="en-IN" sz="1400" b="0" dirty="0">
                <a:solidFill>
                  <a:srgbClr val="A31515"/>
                </a:solidFill>
                <a:effectLst/>
                <a:latin typeface="Consolas" panose="020B0609020204030204" pitchFamily="49" charset="0"/>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https://i.imgur.com/QIrZWGIs.jpg</a:t>
            </a:r>
            <a:r>
              <a:rPr lang="en-IN" sz="1400" b="0" dirty="0">
                <a:solidFill>
                  <a:srgbClr val="A31515"/>
                </a:solidFill>
                <a:effectLst/>
                <a:latin typeface="Consolas" panose="020B0609020204030204" pitchFamily="49" charset="0"/>
              </a:rPr>
              <a:t>’ </a:t>
            </a:r>
            <a:r>
              <a:rPr lang="en-IN" sz="1400" b="0" dirty="0" err="1">
                <a:solidFill>
                  <a:srgbClr val="A31515"/>
                </a:solidFill>
                <a:effectLst/>
                <a:latin typeface="Consolas" panose="020B0609020204030204" pitchFamily="49" charset="0"/>
              </a:rPr>
              <a:t>myalt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"Alan L. Hart"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a:defRPr/>
            </a:pPr>
            <a:endParaRPr lang="en-IN" sz="1400" dirty="0">
              <a:solidFill>
                <a:srgbClr val="000000"/>
              </a:solidFill>
              <a:latin typeface="Consolas" panose="020B0609020204030204" pitchFamily="49" charset="0"/>
            </a:endParaRPr>
          </a:p>
          <a:p>
            <a:pPr>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&lt;Profile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mysrc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400" b="0" dirty="0">
                <a:solidFill>
                  <a:srgbClr val="A31515"/>
                </a:solidFill>
                <a:effectLst/>
                <a:latin typeface="Consolas" panose="020B0609020204030204" pitchFamily="49" charset="0"/>
              </a:rPr>
              <a:t>'https://i.imgur.com/yXOvdOSs.jpg’ </a:t>
            </a:r>
            <a:r>
              <a:rPr lang="en-IN" sz="1400" dirty="0">
                <a:solidFill>
                  <a:srgbClr val="800000"/>
                </a:solidFill>
                <a:latin typeface="Consolas" panose="020B0609020204030204" pitchFamily="49" charset="0"/>
              </a:rPr>
              <a:t>m</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yalt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a:t>
            </a:r>
            <a:r>
              <a:rPr lang="en-IN" sz="1400" b="0" dirty="0">
                <a:solidFill>
                  <a:srgbClr val="A31515"/>
                </a:solidFill>
                <a:effectLst/>
                <a:latin typeface="Consolas" panose="020B0609020204030204" pitchFamily="49" charset="0"/>
              </a:rPr>
              <a:t> 'Hedy </a:t>
            </a:r>
            <a:r>
              <a:rPr lang="en-IN" sz="1400" b="0" dirty="0" err="1">
                <a:solidFill>
                  <a:srgbClr val="A31515"/>
                </a:solidFill>
                <a:effectLst/>
                <a:latin typeface="Consolas" panose="020B0609020204030204" pitchFamily="49" charset="0"/>
              </a:rPr>
              <a:t>Lamarr</a:t>
            </a:r>
            <a:r>
              <a:rPr lang="en-IN" sz="1400" b="0" dirty="0">
                <a:solidFill>
                  <a:srgbClr val="A31515"/>
                </a:solidFill>
                <a:effectLst/>
                <a:latin typeface="Consolas" panose="020B0609020204030204" pitchFamily="49" charset="0"/>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&lt;/section&gt;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p:txBody>
      </p:sp>
    </p:spTree>
    <p:extLst>
      <p:ext uri="{BB962C8B-B14F-4D97-AF65-F5344CB8AC3E}">
        <p14:creationId xmlns:p14="http://schemas.microsoft.com/office/powerpoint/2010/main" val="1523576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71781" y="42111"/>
            <a:ext cx="80818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rPr>
              <a:t>Use of props </a:t>
            </a:r>
          </a:p>
        </p:txBody>
      </p:sp>
      <p:sp>
        <p:nvSpPr>
          <p:cNvPr id="5" name="Rectangle 4"/>
          <p:cNvSpPr/>
          <p:nvPr/>
        </p:nvSpPr>
        <p:spPr>
          <a:xfrm>
            <a:off x="96982" y="576711"/>
            <a:ext cx="3574473" cy="224676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Profile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'./Profile'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'./App.css'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Profile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6" name="Rectangle 5"/>
          <p:cNvSpPr/>
          <p:nvPr/>
        </p:nvSpPr>
        <p:spPr>
          <a:xfrm>
            <a:off x="3768435" y="73156"/>
            <a:ext cx="6876373" cy="289310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Profile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'Desert'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200</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'Koala'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100</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Panguin</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2</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
        <p:nvSpPr>
          <p:cNvPr id="7" name="Rectangle 6"/>
          <p:cNvSpPr/>
          <p:nvPr/>
        </p:nvSpPr>
        <p:spPr>
          <a:xfrm>
            <a:off x="0" y="3019885"/>
            <a:ext cx="6096000" cy="5047536"/>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Getimg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util</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Avatar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highlight>
                  <a:srgbClr val="FFFF00"/>
                </a:highlight>
                <a:uLnTx/>
                <a:uFillTx/>
                <a:latin typeface="Consolas" panose="020B0609020204030204" pitchFamily="49" charset="0"/>
                <a:ea typeface="+mn-ea"/>
                <a:cs typeface="+mn-cs"/>
              </a:rPr>
              <a:t>200</a:t>
            </a:r>
            <a:r>
              <a:rPr kumimoji="0" lang="en-IN" sz="14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//read image name from array and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concat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imgurl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highlight>
                  <a:srgbClr val="00FFFF"/>
                </a:highlight>
                <a:uLnTx/>
                <a:uFillTx/>
                <a:latin typeface="Consolas" panose="020B0609020204030204" pitchFamily="49" charset="0"/>
                <a:ea typeface="+mn-ea"/>
                <a:cs typeface="+mn-cs"/>
              </a:rPr>
              <a:t>Getimg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highlight>
                  <a:srgbClr val="00FF00"/>
                </a:highlight>
                <a:uLnTx/>
                <a:uFillTx/>
                <a:latin typeface="Consolas" panose="020B0609020204030204" pitchFamily="49" charset="0"/>
                <a:ea typeface="+mn-ea"/>
                <a:cs typeface="+mn-cs"/>
              </a:rPr>
              <a:t>imgsrc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'Images/'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imgurl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'.jpg’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img</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className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"avatar"</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src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highlight>
                  <a:srgbClr val="00FF00"/>
                </a:highlight>
                <a:uLnTx/>
                <a:uFillTx/>
                <a:latin typeface="Consolas" panose="020B0609020204030204" pitchFamily="49" charset="0"/>
                <a:ea typeface="+mn-ea"/>
                <a:cs typeface="+mn-cs"/>
              </a:rPr>
              <a:t>imgsrc</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alt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width</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height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8" name="Rectangle 7"/>
          <p:cNvSpPr/>
          <p:nvPr/>
        </p:nvSpPr>
        <p:spPr>
          <a:xfrm>
            <a:off x="6708110" y="3998405"/>
            <a:ext cx="5283200"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rgbClr val="AF00DB"/>
                </a:solidFill>
                <a:latin typeface="Consolas" panose="020B0609020204030204" pitchFamily="49" charset="0"/>
              </a:rPr>
              <a:t>u</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til.js //save in small case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highlight>
                  <a:srgbClr val="00FFFF"/>
                </a:highlight>
                <a:uLnTx/>
                <a:uFillTx/>
                <a:latin typeface="Consolas" panose="020B0609020204030204" pitchFamily="49" charset="0"/>
                <a:ea typeface="+mn-ea"/>
                <a:cs typeface="+mn-cs"/>
              </a:rPr>
              <a:t>Getimg</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imgurl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Desert'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'Koala'</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'Penguins</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imgurl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2" name="Rectangle 1"/>
          <p:cNvSpPr/>
          <p:nvPr/>
        </p:nvSpPr>
        <p:spPr>
          <a:xfrm>
            <a:off x="7742583" y="19528"/>
            <a:ext cx="4929708"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Object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   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'Desert'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imageId</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200</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 }</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9" name="TextBox 8"/>
          <p:cNvSpPr txBox="1"/>
          <p:nvPr/>
        </p:nvSpPr>
        <p:spPr>
          <a:xfrm>
            <a:off x="9716654" y="1519706"/>
            <a:ext cx="224443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rPr>
              <a:t>Hear Avatar is reusable component</a:t>
            </a:r>
          </a:p>
        </p:txBody>
      </p:sp>
      <p:sp>
        <p:nvSpPr>
          <p:cNvPr id="10" name="TextBox 9"/>
          <p:cNvSpPr txBox="1"/>
          <p:nvPr/>
        </p:nvSpPr>
        <p:spPr>
          <a:xfrm>
            <a:off x="7742583" y="5892559"/>
            <a:ext cx="4248727"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rPr>
              <a:t>Array has name of images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rPr>
              <a:t>Store above image in public folder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cxnSp>
        <p:nvCxnSpPr>
          <p:cNvPr id="12" name="Straight Arrow Connector 11">
            <a:extLst>
              <a:ext uri="{FF2B5EF4-FFF2-40B4-BE49-F238E27FC236}">
                <a16:creationId xmlns:a16="http://schemas.microsoft.com/office/drawing/2014/main" id="{4FA78AA4-1D42-3D3E-1BD1-FA5744452D70}"/>
              </a:ext>
            </a:extLst>
          </p:cNvPr>
          <p:cNvCxnSpPr/>
          <p:nvPr/>
        </p:nvCxnSpPr>
        <p:spPr>
          <a:xfrm flipV="1">
            <a:off x="3768436" y="2832652"/>
            <a:ext cx="2115529"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60A8D53-14CE-B7B2-E95E-8D4B255B06F8}"/>
              </a:ext>
            </a:extLst>
          </p:cNvPr>
          <p:cNvSpPr txBox="1"/>
          <p:nvPr/>
        </p:nvSpPr>
        <p:spPr>
          <a:xfrm>
            <a:off x="6096000" y="2544417"/>
            <a:ext cx="3008243"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Object DE structuring</a:t>
            </a:r>
            <a:endParaRPr lang="en-IN" dirty="0"/>
          </a:p>
        </p:txBody>
      </p:sp>
      <p:cxnSp>
        <p:nvCxnSpPr>
          <p:cNvPr id="11" name="Straight Arrow Connector 10">
            <a:extLst>
              <a:ext uri="{FF2B5EF4-FFF2-40B4-BE49-F238E27FC236}">
                <a16:creationId xmlns:a16="http://schemas.microsoft.com/office/drawing/2014/main" id="{E4B66F09-B62C-3967-2997-46ED394E05DD}"/>
              </a:ext>
            </a:extLst>
          </p:cNvPr>
          <p:cNvCxnSpPr/>
          <p:nvPr/>
        </p:nvCxnSpPr>
        <p:spPr>
          <a:xfrm flipV="1">
            <a:off x="1769165" y="496581"/>
            <a:ext cx="4780722" cy="1143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5AE2878-500E-AC8F-B9BC-9D0CB86A9ED0}"/>
              </a:ext>
            </a:extLst>
          </p:cNvPr>
          <p:cNvCxnSpPr>
            <a:cxnSpLocks/>
          </p:cNvCxnSpPr>
          <p:nvPr/>
        </p:nvCxnSpPr>
        <p:spPr>
          <a:xfrm flipH="1">
            <a:off x="2027583" y="1967948"/>
            <a:ext cx="3025310" cy="1321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7951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5377</TotalTime>
  <Words>2019</Words>
  <Application>Microsoft Office PowerPoint</Application>
  <PresentationFormat>Widescreen</PresentationFormat>
  <Paragraphs>316</Paragraphs>
  <Slides>14</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Arial</vt:lpstr>
      <vt:lpstr>Calibri</vt:lpstr>
      <vt:lpstr>Cambria</vt:lpstr>
      <vt:lpstr>Consolas</vt:lpstr>
      <vt:lpstr>Garamond</vt:lpstr>
      <vt:lpstr>Optimistic Display</vt:lpstr>
      <vt:lpstr>Optimistic Text</vt:lpstr>
      <vt:lpstr>PT Serif</vt:lpstr>
      <vt:lpstr>Source Code Pro</vt:lpstr>
      <vt:lpstr>urw-din</vt:lpstr>
      <vt:lpstr>Office Theme</vt:lpstr>
      <vt:lpstr>PowerPoint Presentation</vt:lpstr>
      <vt:lpstr>PowerPoint Presentation</vt:lpstr>
      <vt:lpstr>PowerPoint Presentation</vt:lpstr>
      <vt:lpstr>PowerPoint Presentation</vt:lpstr>
      <vt:lpstr>PowerPoint Presentation</vt:lpstr>
      <vt:lpstr>Out put of previous code</vt:lpstr>
      <vt:lpstr>One more example</vt:lpstr>
      <vt:lpstr>One more example</vt:lpstr>
      <vt:lpstr>PowerPoint Presentation</vt:lpstr>
      <vt:lpstr>Difference between export and export default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221</cp:revision>
  <dcterms:created xsi:type="dcterms:W3CDTF">2020-12-02T06:26:25Z</dcterms:created>
  <dcterms:modified xsi:type="dcterms:W3CDTF">2025-05-05T13:03:43Z</dcterms:modified>
</cp:coreProperties>
</file>