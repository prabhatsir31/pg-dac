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3" r:id="rId3"/>
    <p:sldId id="256" r:id="rId4"/>
    <p:sldId id="257" r:id="rId5"/>
    <p:sldId id="258" r:id="rId6"/>
    <p:sldId id="261" r:id="rId7"/>
    <p:sldId id="262" r:id="rId8"/>
    <p:sldId id="264"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867EA61-D4C1-4089-9327-1B29CBD5D3A8}" type="datetimeFigureOut">
              <a:rPr lang="en-IN" smtClean="0"/>
              <a:t>11-05-2025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3690076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867EA61-D4C1-4089-9327-1B29CBD5D3A8}" type="datetimeFigureOut">
              <a:rPr lang="en-IN" smtClean="0"/>
              <a:t>11-05-2025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3066060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67EA61-D4C1-4089-9327-1B29CBD5D3A8}" type="datetimeFigureOut">
              <a:rPr lang="en-IN" smtClean="0"/>
              <a:t>11-05-2025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1822464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867EA61-D4C1-4089-9327-1B29CBD5D3A8}" type="datetimeFigureOut">
              <a:rPr lang="en-IN" smtClean="0"/>
              <a:t>11-05-2025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2494835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867EA61-D4C1-4089-9327-1B29CBD5D3A8}" type="datetimeFigureOut">
              <a:rPr lang="en-IN" smtClean="0"/>
              <a:t>11-05-2025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2099933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867EA61-D4C1-4089-9327-1B29CBD5D3A8}" type="datetimeFigureOut">
              <a:rPr lang="en-IN" smtClean="0"/>
              <a:t>11-05-2025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462516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67EA61-D4C1-4089-9327-1B29CBD5D3A8}" type="datetimeFigureOut">
              <a:rPr lang="en-IN" smtClean="0"/>
              <a:t>11-05-2025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3452368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67EA61-D4C1-4089-9327-1B29CBD5D3A8}" type="datetimeFigureOut">
              <a:rPr lang="en-IN" smtClean="0"/>
              <a:t>11-05-2025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527011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67EA61-D4C1-4089-9327-1B29CBD5D3A8}" type="datetimeFigureOut">
              <a:rPr lang="en-IN" smtClean="0"/>
              <a:t>11-05-2025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3201770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867EA61-D4C1-4089-9327-1B29CBD5D3A8}" type="datetimeFigureOut">
              <a:rPr lang="en-IN" smtClean="0"/>
              <a:t>11-05-2025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1910062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867EA61-D4C1-4089-9327-1B29CBD5D3A8}" type="datetimeFigureOut">
              <a:rPr lang="en-IN" smtClean="0"/>
              <a:t>11-05-2025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6F8461-40F3-4F90-8F0C-29249A7E7F8F}" type="slidenum">
              <a:rPr lang="en-IN" smtClean="0"/>
              <a:t>‹#›</a:t>
            </a:fld>
            <a:endParaRPr lang="en-IN"/>
          </a:p>
        </p:txBody>
      </p:sp>
    </p:spTree>
    <p:extLst>
      <p:ext uri="{BB962C8B-B14F-4D97-AF65-F5344CB8AC3E}">
        <p14:creationId xmlns:p14="http://schemas.microsoft.com/office/powerpoint/2010/main" val="1814653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67EA61-D4C1-4089-9327-1B29CBD5D3A8}" type="datetimeFigureOut">
              <a:rPr lang="en-IN" smtClean="0"/>
              <a:t>11-05-2025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6F8461-40F3-4F90-8F0C-29249A7E7F8F}" type="slidenum">
              <a:rPr lang="en-IN" smtClean="0"/>
              <a:t>‹#›</a:t>
            </a:fld>
            <a:endParaRPr lang="en-IN"/>
          </a:p>
        </p:txBody>
      </p:sp>
    </p:spTree>
    <p:extLst>
      <p:ext uri="{BB962C8B-B14F-4D97-AF65-F5344CB8AC3E}">
        <p14:creationId xmlns:p14="http://schemas.microsoft.com/office/powerpoint/2010/main" val="812922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refine.dev/blog/react-lazy-loading/#route-based-code-splitt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E588DB9-0B5F-3237-A976-D8EF1154C7EA}"/>
              </a:ext>
            </a:extLst>
          </p:cNvPr>
          <p:cNvSpPr>
            <a:spLocks noChangeArrowheads="1"/>
          </p:cNvSpPr>
          <p:nvPr/>
        </p:nvSpPr>
        <p:spPr bwMode="auto">
          <a:xfrm>
            <a:off x="808824" y="264243"/>
            <a:ext cx="9816107"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highlight>
                  <a:srgbClr val="FFFF00"/>
                </a:highlight>
                <a:latin typeface="Source Code Pro" panose="020B0509030403020204" pitchFamily="49" charset="0"/>
              </a:rPr>
              <a:t>Lazy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3272F"/>
                </a:solidFill>
                <a:effectLst/>
                <a:latin typeface="Optimistic Display"/>
              </a:rPr>
              <a:t> lets you defer loading component’s code until it is rendered for the first time.</a:t>
            </a:r>
            <a:r>
              <a:rPr kumimoji="0" lang="en-US" altLang="en-US" sz="120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2F43D88D-128A-1135-8E2A-F4E9127A2D55}"/>
              </a:ext>
            </a:extLst>
          </p:cNvPr>
          <p:cNvSpPr txBox="1"/>
          <p:nvPr/>
        </p:nvSpPr>
        <p:spPr>
          <a:xfrm>
            <a:off x="611891" y="1790370"/>
            <a:ext cx="10209972" cy="1938992"/>
          </a:xfrm>
          <a:prstGeom prst="rect">
            <a:avLst/>
          </a:prstGeom>
          <a:noFill/>
        </p:spPr>
        <p:txBody>
          <a:bodyPr wrap="square">
            <a:spAutoFit/>
          </a:bodyPr>
          <a:lstStyle/>
          <a:p>
            <a:pPr algn="l"/>
            <a:r>
              <a:rPr lang="en-US" sz="2400" b="0" i="0" dirty="0">
                <a:solidFill>
                  <a:srgbClr val="202124"/>
                </a:solidFill>
                <a:effectLst/>
                <a:latin typeface="Google Sans"/>
              </a:rPr>
              <a:t>What is the lazy loading in React?</a:t>
            </a:r>
            <a:endParaRPr lang="en-US" sz="2400" b="0" i="0" dirty="0">
              <a:solidFill>
                <a:srgbClr val="202124"/>
              </a:solidFill>
              <a:effectLst/>
              <a:latin typeface="arial" panose="020B0604020202020204" pitchFamily="34" charset="0"/>
            </a:endParaRPr>
          </a:p>
          <a:p>
            <a:pPr algn="l"/>
            <a:r>
              <a:rPr lang="en-US" sz="2400" b="0" i="0" dirty="0">
                <a:solidFill>
                  <a:srgbClr val="4D5156"/>
                </a:solidFill>
                <a:effectLst/>
                <a:latin typeface="Google Sans"/>
              </a:rPr>
              <a:t>In simple terms, lazy loading is a design pattern. It allows you to load parts of your application on-demand to reduce the initial load time. For example, you can initially load the components and modules related to user login and registration. Then, you can load the rest of the components based on user navigation.</a:t>
            </a:r>
            <a:endParaRPr lang="en-US" sz="2400" b="0" i="0" dirty="0">
              <a:solidFill>
                <a:srgbClr val="202124"/>
              </a:solidFill>
              <a:effectLst/>
              <a:latin typeface="arial" panose="020B0604020202020204" pitchFamily="34" charset="0"/>
            </a:endParaRPr>
          </a:p>
        </p:txBody>
      </p:sp>
      <p:sp>
        <p:nvSpPr>
          <p:cNvPr id="2" name="TextBox 1">
            <a:extLst>
              <a:ext uri="{FF2B5EF4-FFF2-40B4-BE49-F238E27FC236}">
                <a16:creationId xmlns:a16="http://schemas.microsoft.com/office/drawing/2014/main" id="{73AEDC0F-D4B2-E6B1-F844-0817F214A0FE}"/>
              </a:ext>
            </a:extLst>
          </p:cNvPr>
          <p:cNvSpPr txBox="1"/>
          <p:nvPr/>
        </p:nvSpPr>
        <p:spPr>
          <a:xfrm>
            <a:off x="7007601" y="0"/>
            <a:ext cx="32789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err="1"/>
              <a:t>npm</a:t>
            </a:r>
            <a:r>
              <a:rPr lang="en-IN" dirty="0"/>
              <a:t> install react-router-dom@6</a:t>
            </a:r>
          </a:p>
        </p:txBody>
      </p:sp>
      <p:sp>
        <p:nvSpPr>
          <p:cNvPr id="5" name="TextBox 4">
            <a:extLst>
              <a:ext uri="{FF2B5EF4-FFF2-40B4-BE49-F238E27FC236}">
                <a16:creationId xmlns:a16="http://schemas.microsoft.com/office/drawing/2014/main" id="{24791CD3-6A48-75AF-79D1-2C62516EA8E0}"/>
              </a:ext>
            </a:extLst>
          </p:cNvPr>
          <p:cNvSpPr txBox="1"/>
          <p:nvPr/>
        </p:nvSpPr>
        <p:spPr>
          <a:xfrm>
            <a:off x="315566" y="3923653"/>
            <a:ext cx="11680963" cy="2585323"/>
          </a:xfrm>
          <a:prstGeom prst="rect">
            <a:avLst/>
          </a:prstGeom>
          <a:noFill/>
        </p:spPr>
        <p:txBody>
          <a:bodyPr wrap="square">
            <a:spAutoFit/>
          </a:bodyPr>
          <a:lstStyle/>
          <a:p>
            <a:pPr algn="l" fontAlgn="base"/>
            <a:r>
              <a:rPr lang="en-US" b="1" i="0" dirty="0">
                <a:solidFill>
                  <a:srgbClr val="313337"/>
                </a:solidFill>
                <a:effectLst/>
                <a:latin typeface="Proxima Nova"/>
              </a:rPr>
              <a:t>Code-splitting in React</a:t>
            </a:r>
          </a:p>
          <a:p>
            <a:pPr algn="l" fontAlgn="base"/>
            <a:r>
              <a:rPr lang="en-US" b="0" i="0" dirty="0">
                <a:solidFill>
                  <a:srgbClr val="313337"/>
                </a:solidFill>
                <a:effectLst/>
                <a:latin typeface="Crimson Text"/>
              </a:rPr>
              <a:t>With the advent of </a:t>
            </a:r>
            <a:r>
              <a:rPr lang="en-US" b="0" i="0" u="none" strike="noStrike" dirty="0">
                <a:solidFill>
                  <a:srgbClr val="313337"/>
                </a:solidFill>
                <a:effectLst/>
                <a:latin typeface="Crimson Text"/>
              </a:rPr>
              <a:t>ES modules</a:t>
            </a:r>
            <a:r>
              <a:rPr lang="en-US" b="0" i="0" dirty="0">
                <a:solidFill>
                  <a:srgbClr val="313337"/>
                </a:solidFill>
                <a:effectLst/>
                <a:latin typeface="Crimson Text"/>
              </a:rPr>
              <a:t>, </a:t>
            </a:r>
            <a:r>
              <a:rPr lang="en-US" b="0" i="0" dirty="0" err="1">
                <a:solidFill>
                  <a:srgbClr val="313337"/>
                </a:solidFill>
                <a:effectLst/>
                <a:latin typeface="Crimson Text"/>
              </a:rPr>
              <a:t>transpilers</a:t>
            </a:r>
            <a:r>
              <a:rPr lang="en-US" b="0" i="0" dirty="0">
                <a:solidFill>
                  <a:srgbClr val="313337"/>
                </a:solidFill>
                <a:effectLst/>
                <a:latin typeface="Crimson Text"/>
              </a:rPr>
              <a:t> such as </a:t>
            </a:r>
            <a:r>
              <a:rPr lang="en-US" b="0" i="0" u="none" strike="noStrike" dirty="0">
                <a:solidFill>
                  <a:srgbClr val="313337"/>
                </a:solidFill>
                <a:effectLst/>
                <a:latin typeface="Crimson Text"/>
              </a:rPr>
              <a:t>Babel</a:t>
            </a:r>
            <a:r>
              <a:rPr lang="en-US" b="0" i="0" dirty="0">
                <a:solidFill>
                  <a:srgbClr val="313337"/>
                </a:solidFill>
                <a:effectLst/>
                <a:latin typeface="Crimson Text"/>
              </a:rPr>
              <a:t>, and bundlers such as </a:t>
            </a:r>
            <a:r>
              <a:rPr lang="en-US" b="0" i="0" u="none" strike="noStrike" dirty="0">
                <a:solidFill>
                  <a:srgbClr val="313337"/>
                </a:solidFill>
                <a:effectLst/>
                <a:latin typeface="Crimson Text"/>
              </a:rPr>
              <a:t>webpack</a:t>
            </a:r>
            <a:r>
              <a:rPr lang="en-US" b="0" i="0" dirty="0">
                <a:solidFill>
                  <a:srgbClr val="313337"/>
                </a:solidFill>
                <a:effectLst/>
                <a:latin typeface="Crimson Text"/>
              </a:rPr>
              <a:t> and </a:t>
            </a:r>
            <a:r>
              <a:rPr lang="en-US" b="0" i="0" dirty="0" err="1">
                <a:solidFill>
                  <a:srgbClr val="313337"/>
                </a:solidFill>
                <a:effectLst/>
                <a:latin typeface="Crimson Text"/>
              </a:rPr>
              <a:t>Browserify</a:t>
            </a:r>
            <a:r>
              <a:rPr lang="en-US" b="0" i="0" dirty="0">
                <a:solidFill>
                  <a:srgbClr val="313337"/>
                </a:solidFill>
                <a:effectLst/>
                <a:latin typeface="Crimson Text"/>
              </a:rPr>
              <a:t>, you can now write JavaScript applications in a completely modular pattern for easy maintainability. Usually, each module is imported and merged into a single file called a bundle, then the bundle is included on a webpage to load the entire app. As the app grows, the bundle size increases and eventually impacts page load times.</a:t>
            </a:r>
          </a:p>
          <a:p>
            <a:pPr algn="l" fontAlgn="base"/>
            <a:endParaRPr lang="en-US" b="0" i="0" dirty="0">
              <a:solidFill>
                <a:srgbClr val="313337"/>
              </a:solidFill>
              <a:effectLst/>
              <a:latin typeface="Crimson Text"/>
            </a:endParaRPr>
          </a:p>
          <a:p>
            <a:pPr algn="l" fontAlgn="base"/>
            <a:r>
              <a:rPr lang="en-US" b="0" i="0" u="none" strike="noStrike" dirty="0">
                <a:solidFill>
                  <a:srgbClr val="313337"/>
                </a:solidFill>
                <a:effectLst/>
                <a:latin typeface="Crimson Text"/>
              </a:rPr>
              <a:t>Code-splitting</a:t>
            </a:r>
            <a:r>
              <a:rPr lang="en-US" b="0" i="0" dirty="0">
                <a:solidFill>
                  <a:srgbClr val="313337"/>
                </a:solidFill>
                <a:effectLst/>
                <a:latin typeface="Crimson Text"/>
              </a:rPr>
              <a:t> is the process of dividing a large bundle of code into multiple bundles that can be loaded dynamically. This helps you avoid performance issues associated with oversized bundles without actually reducing the amount of code in your app.</a:t>
            </a:r>
          </a:p>
        </p:txBody>
      </p:sp>
    </p:spTree>
    <p:extLst>
      <p:ext uri="{BB962C8B-B14F-4D97-AF65-F5344CB8AC3E}">
        <p14:creationId xmlns:p14="http://schemas.microsoft.com/office/powerpoint/2010/main" val="101062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B5AFDD7-81B3-02B7-23A5-C191B2D2C190}"/>
              </a:ext>
            </a:extLst>
          </p:cNvPr>
          <p:cNvSpPr txBox="1"/>
          <p:nvPr/>
        </p:nvSpPr>
        <p:spPr>
          <a:xfrm>
            <a:off x="166481" y="0"/>
            <a:ext cx="11710780" cy="1200329"/>
          </a:xfrm>
          <a:prstGeom prst="rect">
            <a:avLst/>
          </a:prstGeom>
          <a:noFill/>
        </p:spPr>
        <p:txBody>
          <a:bodyPr wrap="square">
            <a:spAutoFit/>
          </a:bodyPr>
          <a:lstStyle/>
          <a:p>
            <a:r>
              <a:rPr lang="en-US" b="1" i="1" dirty="0"/>
              <a:t>Dynamic imports in React</a:t>
            </a:r>
          </a:p>
          <a:p>
            <a:r>
              <a:rPr lang="en-US" dirty="0"/>
              <a:t>One way to split code is to use dynamic imports, which leverage the import() syntax. Calling import() to load a module relies on JavaScript Promises. Hence, it returns a promise that is fulfilled with the loaded module or rejected if the module can’t be loaded.</a:t>
            </a:r>
            <a:endParaRPr lang="en-IN" dirty="0"/>
          </a:p>
        </p:txBody>
      </p:sp>
      <p:sp>
        <p:nvSpPr>
          <p:cNvPr id="8" name="TextBox 7">
            <a:extLst>
              <a:ext uri="{FF2B5EF4-FFF2-40B4-BE49-F238E27FC236}">
                <a16:creationId xmlns:a16="http://schemas.microsoft.com/office/drawing/2014/main" id="{66962707-3981-A34A-1953-B51B3A0EBE9C}"/>
              </a:ext>
            </a:extLst>
          </p:cNvPr>
          <p:cNvSpPr txBox="1"/>
          <p:nvPr/>
        </p:nvSpPr>
        <p:spPr>
          <a:xfrm>
            <a:off x="166480" y="1485973"/>
            <a:ext cx="11710779" cy="2031325"/>
          </a:xfrm>
          <a:prstGeom prst="rect">
            <a:avLst/>
          </a:prstGeom>
          <a:noFill/>
        </p:spPr>
        <p:txBody>
          <a:bodyPr wrap="square">
            <a:spAutoFit/>
          </a:bodyPr>
          <a:lstStyle/>
          <a:p>
            <a:r>
              <a:rPr lang="en-US" dirty="0"/>
              <a:t>Using</a:t>
            </a:r>
            <a:r>
              <a:rPr lang="en-US" b="1" dirty="0"/>
              <a:t> </a:t>
            </a:r>
            <a:r>
              <a:rPr lang="en-US" b="1" dirty="0" err="1"/>
              <a:t>React.lazy</a:t>
            </a:r>
            <a:r>
              <a:rPr lang="en-US" b="1" dirty="0"/>
              <a:t>()</a:t>
            </a:r>
          </a:p>
          <a:p>
            <a:endParaRPr lang="en-US" b="1" dirty="0"/>
          </a:p>
          <a:p>
            <a:r>
              <a:rPr lang="en-US" dirty="0" err="1"/>
              <a:t>React.lazy</a:t>
            </a:r>
            <a:r>
              <a:rPr lang="en-US" dirty="0"/>
              <a:t>() makes it easy to create components that are loaded using dynamic import() but rendered like regular components. This automatically causes the bundle containing the component to load when the component is rendered.</a:t>
            </a:r>
          </a:p>
          <a:p>
            <a:endParaRPr lang="en-US" dirty="0"/>
          </a:p>
          <a:p>
            <a:r>
              <a:rPr lang="en-US" dirty="0" err="1"/>
              <a:t>React.lazy</a:t>
            </a:r>
            <a:r>
              <a:rPr lang="en-US" dirty="0"/>
              <a:t>() takes as its argument a function that must return a promise by calling import() to load the component. The returned promise resolves to a module with a default export containing the React component.</a:t>
            </a:r>
            <a:endParaRPr lang="en-IN" dirty="0"/>
          </a:p>
        </p:txBody>
      </p:sp>
      <p:sp>
        <p:nvSpPr>
          <p:cNvPr id="10" name="TextBox 9">
            <a:extLst>
              <a:ext uri="{FF2B5EF4-FFF2-40B4-BE49-F238E27FC236}">
                <a16:creationId xmlns:a16="http://schemas.microsoft.com/office/drawing/2014/main" id="{934AFFBA-43F5-A127-3216-3CB00845C3BB}"/>
              </a:ext>
            </a:extLst>
          </p:cNvPr>
          <p:cNvSpPr txBox="1"/>
          <p:nvPr/>
        </p:nvSpPr>
        <p:spPr>
          <a:xfrm>
            <a:off x="166480" y="3802942"/>
            <a:ext cx="11263520" cy="2862322"/>
          </a:xfrm>
          <a:prstGeom prst="rect">
            <a:avLst/>
          </a:prstGeom>
          <a:noFill/>
        </p:spPr>
        <p:txBody>
          <a:bodyPr wrap="square">
            <a:spAutoFit/>
          </a:bodyPr>
          <a:lstStyle/>
          <a:p>
            <a:r>
              <a:rPr lang="en-US" dirty="0"/>
              <a:t>Using </a:t>
            </a:r>
            <a:r>
              <a:rPr lang="en-US" b="1" dirty="0" err="1"/>
              <a:t>React.Suspense</a:t>
            </a:r>
            <a:endParaRPr lang="en-US" b="1" dirty="0"/>
          </a:p>
          <a:p>
            <a:r>
              <a:rPr lang="en-US" dirty="0"/>
              <a:t>A component created using </a:t>
            </a:r>
            <a:r>
              <a:rPr lang="en-US" dirty="0" err="1"/>
              <a:t>React.lazy</a:t>
            </a:r>
            <a:r>
              <a:rPr lang="en-US" dirty="0"/>
              <a:t>() is loaded only when it needs to be rendered. Therefore, you should display some kind of placeholder content while the lazy component is being loaded , such as </a:t>
            </a:r>
            <a:r>
              <a:rPr lang="en-US" dirty="0">
                <a:highlight>
                  <a:srgbClr val="FFFF00"/>
                </a:highlight>
              </a:rPr>
              <a:t>a loading indicator</a:t>
            </a:r>
            <a:r>
              <a:rPr lang="en-US" dirty="0"/>
              <a:t>. This is exactly what </a:t>
            </a:r>
            <a:r>
              <a:rPr lang="en-US" dirty="0" err="1">
                <a:highlight>
                  <a:srgbClr val="FFFF00"/>
                </a:highlight>
              </a:rPr>
              <a:t>React.Suspense</a:t>
            </a:r>
            <a:r>
              <a:rPr lang="en-US" dirty="0">
                <a:highlight>
                  <a:srgbClr val="FFFF00"/>
                </a:highlight>
              </a:rPr>
              <a:t> </a:t>
            </a:r>
            <a:r>
              <a:rPr lang="en-US" dirty="0"/>
              <a:t>is designed for.</a:t>
            </a:r>
          </a:p>
          <a:p>
            <a:endParaRPr lang="en-US" dirty="0"/>
          </a:p>
          <a:p>
            <a:r>
              <a:rPr lang="en-US" dirty="0" err="1"/>
              <a:t>React.Suspense</a:t>
            </a:r>
            <a:r>
              <a:rPr lang="en-US" dirty="0"/>
              <a:t> is a component for wrapping lazy components. You can wrap multiple lazy components at different hierarchy levels with a single Suspense component.</a:t>
            </a:r>
          </a:p>
          <a:p>
            <a:endParaRPr lang="en-US" dirty="0"/>
          </a:p>
          <a:p>
            <a:r>
              <a:rPr lang="en-US" dirty="0"/>
              <a:t>The Suspense component takes a fallback prop that accepts the React elements you want rendered as placeholder content while all the lazy components get loaded.</a:t>
            </a:r>
            <a:endParaRPr lang="en-IN" dirty="0"/>
          </a:p>
        </p:txBody>
      </p:sp>
    </p:spTree>
    <p:extLst>
      <p:ext uri="{BB962C8B-B14F-4D97-AF65-F5344CB8AC3E}">
        <p14:creationId xmlns:p14="http://schemas.microsoft.com/office/powerpoint/2010/main" val="46124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8544" y="0"/>
            <a:ext cx="11859491" cy="2031325"/>
          </a:xfrm>
          <a:prstGeom prst="rect">
            <a:avLst/>
          </a:prstGeom>
        </p:spPr>
        <p:txBody>
          <a:bodyPr wrap="square">
            <a:spAutoFit/>
          </a:bodyPr>
          <a:lstStyle/>
          <a:p>
            <a:r>
              <a:rPr lang="en-IN" dirty="0"/>
              <a:t>Reference   lazy(load)</a:t>
            </a:r>
          </a:p>
          <a:p>
            <a:endParaRPr lang="en-IN" dirty="0"/>
          </a:p>
          <a:p>
            <a:r>
              <a:rPr lang="en-IN" dirty="0"/>
              <a:t>Call lazy outside your components to declare a lazy-loaded React component:</a:t>
            </a:r>
          </a:p>
          <a:p>
            <a:endParaRPr lang="en-IN" dirty="0"/>
          </a:p>
          <a:p>
            <a:r>
              <a:rPr lang="en-IN" dirty="0">
                <a:solidFill>
                  <a:srgbClr val="FF0000"/>
                </a:solidFill>
              </a:rPr>
              <a:t>import { lazy } from 'react';</a:t>
            </a:r>
          </a:p>
          <a:p>
            <a:endParaRPr lang="en-IN" dirty="0"/>
          </a:p>
          <a:p>
            <a:r>
              <a:rPr lang="en-IN" dirty="0" err="1">
                <a:solidFill>
                  <a:srgbClr val="FF0000"/>
                </a:solidFill>
              </a:rPr>
              <a:t>const</a:t>
            </a:r>
            <a:r>
              <a:rPr lang="en-IN" dirty="0">
                <a:solidFill>
                  <a:srgbClr val="FF0000"/>
                </a:solidFill>
              </a:rPr>
              <a:t> </a:t>
            </a:r>
            <a:r>
              <a:rPr lang="en-IN" dirty="0" err="1">
                <a:solidFill>
                  <a:srgbClr val="FF0000"/>
                </a:solidFill>
              </a:rPr>
              <a:t>MarkdownPreview</a:t>
            </a:r>
            <a:r>
              <a:rPr lang="en-IN" dirty="0">
                <a:solidFill>
                  <a:srgbClr val="FF0000"/>
                </a:solidFill>
              </a:rPr>
              <a:t> = lazy(() =&gt; import('./MarkdownPreview.js'));</a:t>
            </a:r>
          </a:p>
        </p:txBody>
      </p:sp>
      <p:sp>
        <p:nvSpPr>
          <p:cNvPr id="6" name="Rectangle 5"/>
          <p:cNvSpPr/>
          <p:nvPr/>
        </p:nvSpPr>
        <p:spPr>
          <a:xfrm>
            <a:off x="323273" y="2056686"/>
            <a:ext cx="11074400" cy="3693319"/>
          </a:xfrm>
          <a:prstGeom prst="rect">
            <a:avLst/>
          </a:prstGeom>
        </p:spPr>
        <p:txBody>
          <a:bodyPr wrap="square">
            <a:spAutoFit/>
          </a:bodyPr>
          <a:lstStyle/>
          <a:p>
            <a:r>
              <a:rPr lang="en-US" dirty="0"/>
              <a:t>Parameters</a:t>
            </a:r>
          </a:p>
          <a:p>
            <a:endParaRPr lang="en-US" dirty="0"/>
          </a:p>
          <a:p>
            <a:r>
              <a:rPr lang="en-US" dirty="0"/>
              <a:t>    load: A function that returns a Promise or another </a:t>
            </a:r>
            <a:r>
              <a:rPr lang="en-US" dirty="0" err="1"/>
              <a:t>thenable</a:t>
            </a:r>
            <a:r>
              <a:rPr lang="en-US" dirty="0"/>
              <a:t> (a Promise-like object with a then method). React will not call load until the first time you attempt to render the returned component. After React first calls load, it will wait for it to resolve, and then render the resolved value as a React component. Both the returned Promise and the Promise’s resolved value will be cached, so React will not call load more than once. If the Promise rejects, React will throw the rejection reason for the nearest Error Boundary to handle.</a:t>
            </a:r>
          </a:p>
          <a:p>
            <a:endParaRPr lang="en-US" dirty="0"/>
          </a:p>
          <a:p>
            <a:r>
              <a:rPr lang="en-US" dirty="0"/>
              <a:t>Returns</a:t>
            </a:r>
          </a:p>
          <a:p>
            <a:r>
              <a:rPr lang="en-US" dirty="0"/>
              <a:t>lazy returns a React component you can render in your tree. While the code for the lazy component is still loading, attempting to render it will suspend. </a:t>
            </a:r>
          </a:p>
          <a:p>
            <a:endParaRPr lang="en-US" dirty="0"/>
          </a:p>
          <a:p>
            <a:r>
              <a:rPr lang="en-US" dirty="0"/>
              <a:t>Use &lt;Suspense&gt; to display a loading indicator while it’s loading.</a:t>
            </a:r>
            <a:endParaRPr lang="en-IN" dirty="0"/>
          </a:p>
        </p:txBody>
      </p:sp>
      <p:sp>
        <p:nvSpPr>
          <p:cNvPr id="2" name="Rectangle 1">
            <a:extLst>
              <a:ext uri="{FF2B5EF4-FFF2-40B4-BE49-F238E27FC236}">
                <a16:creationId xmlns:a16="http://schemas.microsoft.com/office/drawing/2014/main" id="{DCAAD8C9-2DE9-06D1-840E-5B76E70D4B3A}"/>
              </a:ext>
            </a:extLst>
          </p:cNvPr>
          <p:cNvSpPr>
            <a:spLocks noChangeArrowheads="1"/>
          </p:cNvSpPr>
          <p:nvPr/>
        </p:nvSpPr>
        <p:spPr bwMode="auto">
          <a:xfrm>
            <a:off x="646043" y="5831244"/>
            <a:ext cx="895515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Source Code Pro" panose="020B0509030403020204" pitchFamily="49" charset="0"/>
              </a:rPr>
              <a:t>&lt;Suspense&gt;</a:t>
            </a:r>
            <a:r>
              <a:rPr kumimoji="0" lang="en-US" altLang="en-US" sz="2400" b="0" i="0" u="none" strike="noStrike" cap="none" normalizeH="0" baseline="0" dirty="0">
                <a:ln>
                  <a:noFill/>
                </a:ln>
                <a:solidFill>
                  <a:srgbClr val="23272F"/>
                </a:solidFill>
                <a:effectLst/>
                <a:latin typeface="Optimistic Display"/>
              </a:rPr>
              <a:t> lets you display a fallback until its children have finished loading.</a:t>
            </a:r>
            <a:r>
              <a:rPr kumimoji="0" lang="en-US" altLang="en-US" sz="2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921220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0908" y="0"/>
            <a:ext cx="8027267" cy="6709529"/>
          </a:xfrm>
          <a:prstGeom prst="rect">
            <a:avLst/>
          </a:prstGeom>
        </p:spPr>
        <p:txBody>
          <a:bodyPr wrap="square">
            <a:spAutoFit/>
          </a:bodyPr>
          <a:lstStyle/>
          <a:p>
            <a:r>
              <a:rPr lang="en-IN" sz="1600" b="0" dirty="0">
                <a:solidFill>
                  <a:srgbClr val="AF00DB"/>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108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Suspense</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lazy</a:t>
            </a:r>
            <a:r>
              <a:rPr lang="en-IN" sz="1600" b="0" dirty="0">
                <a:solidFill>
                  <a:srgbClr val="000000"/>
                </a:solidFill>
                <a:effectLst/>
                <a:latin typeface="Consolas" panose="020B0609020204030204" pitchFamily="49" charset="0"/>
              </a:rPr>
              <a:t> } </a:t>
            </a:r>
            <a:r>
              <a:rPr lang="en-IN" sz="1600" b="0" dirty="0">
                <a:solidFill>
                  <a:srgbClr val="AF00DB"/>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MarkdownPreview</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lazy</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=&gt;</a:t>
            </a:r>
            <a:r>
              <a:rPr lang="en-IN" sz="1400" b="1" dirty="0" err="1">
                <a:solidFill>
                  <a:srgbClr val="FF0000"/>
                </a:solidFill>
                <a:effectLst/>
                <a:latin typeface="Consolas" panose="020B0609020204030204" pitchFamily="49" charset="0"/>
              </a:rPr>
              <a:t>delayForDemo</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'./MarkdownPreview.js'</a:t>
            </a:r>
            <a:r>
              <a:rPr lang="en-IN" sz="1400" b="0" dirty="0">
                <a:solidFill>
                  <a:srgbClr val="000000"/>
                </a:solidFill>
                <a:effectLst/>
                <a:latin typeface="Consolas" panose="020B0609020204030204" pitchFamily="49" charset="0"/>
              </a:rPr>
              <a:t>) ));</a:t>
            </a:r>
          </a:p>
          <a:p>
            <a:br>
              <a:rPr lang="en-IN" sz="1600" b="0" dirty="0">
                <a:solidFill>
                  <a:srgbClr val="000000"/>
                </a:solidFill>
                <a:effectLst/>
                <a:latin typeface="Consolas" panose="020B0609020204030204" pitchFamily="49" charset="0"/>
              </a:rPr>
            </a:br>
            <a:r>
              <a:rPr lang="en-IN" sz="1600" b="0" dirty="0">
                <a:solidFill>
                  <a:srgbClr val="AF00DB"/>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default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795E26"/>
                </a:solidFill>
                <a:effectLst/>
                <a:latin typeface="Consolas" panose="020B0609020204030204" pitchFamily="49" charset="0"/>
              </a:rPr>
              <a:t>MarkdownEditor</a:t>
            </a:r>
            <a:r>
              <a:rPr lang="en-IN" sz="1600" b="0" dirty="0">
                <a:solidFill>
                  <a:srgbClr val="000000"/>
                </a:solidFill>
                <a:effectLst/>
                <a:latin typeface="Consolas" panose="020B0609020204030204" pitchFamily="49" charset="0"/>
              </a:rPr>
              <a:t>() {</a:t>
            </a:r>
          </a:p>
          <a:p>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showPreview</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setShowPreview</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false</a:t>
            </a:r>
            <a:r>
              <a:rPr lang="en-IN" sz="14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"checkbox"</a:t>
            </a:r>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checked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70C1"/>
                </a:solidFill>
                <a:effectLst/>
                <a:latin typeface="Consolas" panose="020B0609020204030204" pitchFamily="49" charset="0"/>
              </a:rPr>
              <a:t>showPreview</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onChange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001080"/>
                </a:solidFill>
                <a:effectLst/>
                <a:latin typeface="Consolas" panose="020B0609020204030204" pitchFamily="49" charset="0"/>
              </a:rPr>
              <a:t>e</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795E26"/>
                </a:solidFill>
                <a:effectLst/>
                <a:latin typeface="Consolas" panose="020B0609020204030204" pitchFamily="49" charset="0"/>
              </a:rPr>
              <a:t>setShowPreview</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e</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target</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checked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Show preview</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hr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70C1"/>
                </a:solidFill>
                <a:effectLst/>
                <a:latin typeface="Consolas" panose="020B0609020204030204" pitchFamily="49" charset="0"/>
              </a:rPr>
              <a:t>showPreview</a:t>
            </a:r>
            <a:r>
              <a:rPr lang="en-IN" sz="1600" b="0" dirty="0">
                <a:solidFill>
                  <a:srgbClr val="000000"/>
                </a:solidFill>
                <a:effectLst/>
                <a:latin typeface="Consolas" panose="020B0609020204030204" pitchFamily="49" charset="0"/>
              </a:rPr>
              <a:t> &amp;&amp;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a:solidFill>
                  <a:srgbClr val="267F99"/>
                </a:solidFill>
                <a:effectLst/>
                <a:latin typeface="Consolas" panose="020B0609020204030204" pitchFamily="49" charset="0"/>
              </a:rPr>
              <a:t>Suspense</a:t>
            </a:r>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fallback</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a:solidFill>
                  <a:srgbClr val="267F99"/>
                </a:solidFill>
                <a:effectLst/>
                <a:latin typeface="Consolas" panose="020B0609020204030204" pitchFamily="49" charset="0"/>
              </a:rPr>
              <a:t>Loading</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&lt;h2&gt;</a:t>
            </a:r>
            <a:r>
              <a:rPr lang="en-IN" sz="1600" b="0" dirty="0">
                <a:solidFill>
                  <a:srgbClr val="000000"/>
                </a:solidFill>
                <a:effectLst/>
                <a:latin typeface="Consolas" panose="020B0609020204030204" pitchFamily="49" charset="0"/>
              </a:rPr>
              <a:t>Preview</a:t>
            </a:r>
            <a:r>
              <a:rPr lang="en-IN" sz="1600" b="0" dirty="0">
                <a:solidFill>
                  <a:srgbClr val="800000"/>
                </a:solidFill>
                <a:effectLst/>
                <a:latin typeface="Consolas" panose="020B0609020204030204" pitchFamily="49" charset="0"/>
              </a:rPr>
              <a:t>&lt;/h2&gt;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267F99"/>
                </a:solidFill>
                <a:effectLst/>
                <a:latin typeface="Consolas" panose="020B0609020204030204" pitchFamily="49" charset="0"/>
              </a:rPr>
              <a:t>MarkdownPreview</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a:solidFill>
                  <a:srgbClr val="267F99"/>
                </a:solidFill>
                <a:effectLst/>
                <a:latin typeface="Consolas" panose="020B0609020204030204" pitchFamily="49" charset="0"/>
              </a:rPr>
              <a:t>Suspense</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5" name="Rectangle 4"/>
          <p:cNvSpPr/>
          <p:nvPr/>
        </p:nvSpPr>
        <p:spPr>
          <a:xfrm>
            <a:off x="7290378" y="-121860"/>
            <a:ext cx="5347854" cy="3046988"/>
          </a:xfrm>
          <a:prstGeom prst="rect">
            <a:avLst/>
          </a:prstGeom>
        </p:spPr>
        <p:txBody>
          <a:bodyPr wrap="square">
            <a:spAutoFit/>
          </a:bodyPr>
          <a:lstStyle/>
          <a:p>
            <a:pPr lvl="0"/>
            <a:br>
              <a:rPr lang="en-IN" sz="1600" dirty="0">
                <a:solidFill>
                  <a:srgbClr val="000000"/>
                </a:solidFill>
                <a:latin typeface="Consolas" panose="020B0609020204030204" pitchFamily="49" charset="0"/>
              </a:rPr>
            </a:br>
            <a:r>
              <a:rPr lang="en-IN" sz="1600" dirty="0">
                <a:solidFill>
                  <a:srgbClr val="008000"/>
                </a:solidFill>
                <a:latin typeface="Consolas" panose="020B0609020204030204" pitchFamily="49" charset="0"/>
              </a:rPr>
              <a:t>// Add a fixed delay so you can see the loading state</a:t>
            </a:r>
          </a:p>
          <a:p>
            <a:pPr lvl="0"/>
            <a:endParaRPr lang="en-IN" sz="1600" dirty="0">
              <a:solidFill>
                <a:srgbClr val="000000"/>
              </a:solidFill>
              <a:latin typeface="Consolas" panose="020B0609020204030204" pitchFamily="49" charset="0"/>
            </a:endParaRPr>
          </a:p>
          <a:p>
            <a:pPr lvl="0"/>
            <a:r>
              <a:rPr lang="en-IN" sz="1600" dirty="0">
                <a:solidFill>
                  <a:srgbClr val="0000FF"/>
                </a:solidFill>
                <a:latin typeface="Consolas" panose="020B0609020204030204" pitchFamily="49" charset="0"/>
              </a:rPr>
              <a:t>function</a:t>
            </a:r>
            <a:r>
              <a:rPr lang="en-IN" sz="1600" dirty="0">
                <a:solidFill>
                  <a:srgbClr val="000000"/>
                </a:solidFill>
                <a:latin typeface="Consolas" panose="020B0609020204030204" pitchFamily="49" charset="0"/>
              </a:rPr>
              <a:t> </a:t>
            </a:r>
            <a:r>
              <a:rPr lang="en-IN" sz="1600" b="1" dirty="0" err="1">
                <a:solidFill>
                  <a:srgbClr val="FF0000"/>
                </a:solidFill>
                <a:latin typeface="Consolas" panose="020B0609020204030204" pitchFamily="49" charset="0"/>
              </a:rPr>
              <a:t>delayForDemo</a:t>
            </a:r>
            <a:r>
              <a:rPr lang="en-IN" sz="1600" dirty="0">
                <a:solidFill>
                  <a:srgbClr val="000000"/>
                </a:solidFill>
                <a:latin typeface="Consolas" panose="020B0609020204030204" pitchFamily="49" charset="0"/>
              </a:rPr>
              <a:t>(</a:t>
            </a:r>
            <a:r>
              <a:rPr lang="en-IN" sz="1600" dirty="0">
                <a:solidFill>
                  <a:srgbClr val="001080"/>
                </a:solidFill>
                <a:latin typeface="Consolas" panose="020B0609020204030204" pitchFamily="49" charset="0"/>
              </a:rPr>
              <a:t>promise</a:t>
            </a:r>
            <a:r>
              <a:rPr lang="en-IN" sz="1600" dirty="0">
                <a:solidFill>
                  <a:srgbClr val="000000"/>
                </a:solidFill>
                <a:latin typeface="Consolas" panose="020B0609020204030204" pitchFamily="49" charset="0"/>
              </a:rPr>
              <a:t>) {</a:t>
            </a:r>
          </a:p>
          <a:p>
            <a:pPr lvl="0"/>
            <a:r>
              <a:rPr lang="en-IN" sz="1600" dirty="0">
                <a:solidFill>
                  <a:srgbClr val="000000"/>
                </a:solidFill>
                <a:latin typeface="Consolas" panose="020B0609020204030204" pitchFamily="49" charset="0"/>
              </a:rPr>
              <a:t>  </a:t>
            </a:r>
            <a:r>
              <a:rPr lang="en-IN" sz="1600" dirty="0">
                <a:solidFill>
                  <a:srgbClr val="AF00DB"/>
                </a:solidFill>
                <a:latin typeface="Consolas" panose="020B0609020204030204" pitchFamily="49" charset="0"/>
              </a:rPr>
              <a:t>return</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new</a:t>
            </a:r>
            <a:r>
              <a:rPr lang="en-IN" sz="1600" dirty="0">
                <a:solidFill>
                  <a:srgbClr val="000000"/>
                </a:solidFill>
                <a:latin typeface="Consolas" panose="020B0609020204030204" pitchFamily="49" charset="0"/>
              </a:rPr>
              <a:t> </a:t>
            </a:r>
            <a:r>
              <a:rPr lang="en-IN" sz="1600" dirty="0">
                <a:solidFill>
                  <a:srgbClr val="267F99"/>
                </a:solidFill>
                <a:latin typeface="Consolas" panose="020B0609020204030204" pitchFamily="49" charset="0"/>
              </a:rPr>
              <a:t>Promise</a:t>
            </a:r>
            <a:r>
              <a:rPr lang="en-IN" sz="1600" dirty="0">
                <a:solidFill>
                  <a:srgbClr val="000000"/>
                </a:solidFill>
                <a:latin typeface="Consolas" panose="020B0609020204030204" pitchFamily="49" charset="0"/>
              </a:rPr>
              <a:t>(</a:t>
            </a:r>
            <a:r>
              <a:rPr lang="en-IN" sz="1600" dirty="0">
                <a:solidFill>
                  <a:srgbClr val="795E26"/>
                </a:solidFill>
                <a:latin typeface="Consolas" panose="020B0609020204030204" pitchFamily="49" charset="0"/>
              </a:rPr>
              <a:t>resolve</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=&gt;</a:t>
            </a:r>
            <a:r>
              <a:rPr lang="en-IN" sz="1600" dirty="0">
                <a:solidFill>
                  <a:srgbClr val="000000"/>
                </a:solidFill>
                <a:latin typeface="Consolas" panose="020B0609020204030204" pitchFamily="49" charset="0"/>
              </a:rPr>
              <a:t> {</a:t>
            </a:r>
          </a:p>
          <a:p>
            <a:pPr lvl="0"/>
            <a:r>
              <a:rPr lang="en-IN" sz="1600" dirty="0">
                <a:solidFill>
                  <a:srgbClr val="000000"/>
                </a:solidFill>
                <a:latin typeface="Consolas" panose="020B0609020204030204" pitchFamily="49" charset="0"/>
              </a:rPr>
              <a:t>    </a:t>
            </a:r>
            <a:r>
              <a:rPr lang="en-IN" sz="1600" dirty="0" err="1">
                <a:solidFill>
                  <a:srgbClr val="795E26"/>
                </a:solidFill>
                <a:latin typeface="Consolas" panose="020B0609020204030204" pitchFamily="49" charset="0"/>
              </a:rPr>
              <a:t>setTimeout</a:t>
            </a:r>
            <a:r>
              <a:rPr lang="en-IN" sz="1600" dirty="0">
                <a:solidFill>
                  <a:srgbClr val="000000"/>
                </a:solidFill>
                <a:latin typeface="Consolas" panose="020B0609020204030204" pitchFamily="49" charset="0"/>
              </a:rPr>
              <a:t>(</a:t>
            </a:r>
            <a:r>
              <a:rPr lang="en-IN" sz="1600" dirty="0">
                <a:solidFill>
                  <a:srgbClr val="795E26"/>
                </a:solidFill>
                <a:latin typeface="Consolas" panose="020B0609020204030204" pitchFamily="49" charset="0"/>
              </a:rPr>
              <a:t>resolve</a:t>
            </a:r>
            <a:r>
              <a:rPr lang="en-IN" sz="1600" dirty="0">
                <a:solidFill>
                  <a:srgbClr val="000000"/>
                </a:solidFill>
                <a:latin typeface="Consolas" panose="020B0609020204030204" pitchFamily="49" charset="0"/>
              </a:rPr>
              <a:t>, </a:t>
            </a:r>
            <a:r>
              <a:rPr lang="en-IN" sz="1600" dirty="0">
                <a:solidFill>
                  <a:srgbClr val="098658"/>
                </a:solidFill>
                <a:latin typeface="Consolas" panose="020B0609020204030204" pitchFamily="49" charset="0"/>
              </a:rPr>
              <a:t>2000</a:t>
            </a:r>
            <a:r>
              <a:rPr lang="en-IN" sz="1600" dirty="0">
                <a:solidFill>
                  <a:srgbClr val="000000"/>
                </a:solidFill>
                <a:latin typeface="Consolas" panose="020B0609020204030204" pitchFamily="49" charset="0"/>
              </a:rPr>
              <a:t>);</a:t>
            </a:r>
          </a:p>
          <a:p>
            <a:pPr lvl="0"/>
            <a:r>
              <a:rPr lang="en-IN" sz="1600" dirty="0">
                <a:solidFill>
                  <a:srgbClr val="000000"/>
                </a:solidFill>
                <a:latin typeface="Consolas" panose="020B0609020204030204" pitchFamily="49" charset="0"/>
              </a:rPr>
              <a:t>  }).</a:t>
            </a:r>
            <a:r>
              <a:rPr lang="en-IN" sz="1600" dirty="0">
                <a:solidFill>
                  <a:srgbClr val="795E26"/>
                </a:solidFill>
                <a:latin typeface="Consolas" panose="020B0609020204030204" pitchFamily="49" charset="0"/>
              </a:rPr>
              <a:t>then</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=&gt;</a:t>
            </a:r>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promise</a:t>
            </a:r>
            <a:r>
              <a:rPr lang="en-IN" sz="1600" dirty="0">
                <a:solidFill>
                  <a:srgbClr val="000000"/>
                </a:solidFill>
                <a:latin typeface="Consolas" panose="020B0609020204030204" pitchFamily="49" charset="0"/>
              </a:rPr>
              <a:t>);</a:t>
            </a:r>
          </a:p>
          <a:p>
            <a:pPr lvl="0"/>
            <a:r>
              <a:rPr lang="en-IN" sz="1600" dirty="0">
                <a:solidFill>
                  <a:srgbClr val="000000"/>
                </a:solidFill>
                <a:latin typeface="Consolas" panose="020B0609020204030204" pitchFamily="49" charset="0"/>
              </a:rPr>
              <a:t>}</a:t>
            </a:r>
          </a:p>
          <a:p>
            <a:pPr lvl="0"/>
            <a:r>
              <a:rPr lang="en-IN" sz="1600" dirty="0">
                <a:solidFill>
                  <a:srgbClr val="0000FF"/>
                </a:solidFill>
                <a:latin typeface="Consolas" panose="020B0609020204030204" pitchFamily="49" charset="0"/>
              </a:rPr>
              <a:t>function</a:t>
            </a:r>
            <a:r>
              <a:rPr lang="en-IN" sz="1600" dirty="0">
                <a:solidFill>
                  <a:srgbClr val="000000"/>
                </a:solidFill>
                <a:latin typeface="Consolas" panose="020B0609020204030204" pitchFamily="49" charset="0"/>
              </a:rPr>
              <a:t> </a:t>
            </a:r>
            <a:r>
              <a:rPr lang="en-IN" sz="1600" dirty="0">
                <a:solidFill>
                  <a:srgbClr val="795E26"/>
                </a:solidFill>
                <a:latin typeface="Consolas" panose="020B0609020204030204" pitchFamily="49" charset="0"/>
              </a:rPr>
              <a:t>Loading</a:t>
            </a:r>
            <a:r>
              <a:rPr lang="en-IN" sz="1600" dirty="0">
                <a:solidFill>
                  <a:srgbClr val="000000"/>
                </a:solidFill>
                <a:latin typeface="Consolas" panose="020B0609020204030204" pitchFamily="49" charset="0"/>
              </a:rPr>
              <a:t>() {</a:t>
            </a:r>
          </a:p>
          <a:p>
            <a:pPr lvl="0"/>
            <a:r>
              <a:rPr lang="en-IN" sz="1600" dirty="0">
                <a:solidFill>
                  <a:srgbClr val="000000"/>
                </a:solidFill>
                <a:latin typeface="Consolas" panose="020B0609020204030204" pitchFamily="49" charset="0"/>
              </a:rPr>
              <a:t>  </a:t>
            </a:r>
            <a:r>
              <a:rPr lang="en-IN" sz="1600" dirty="0">
                <a:solidFill>
                  <a:srgbClr val="AF00DB"/>
                </a:solidFill>
                <a:latin typeface="Consolas" panose="020B0609020204030204" pitchFamily="49" charset="0"/>
              </a:rPr>
              <a:t>return</a:t>
            </a:r>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&lt;p&gt;&lt;</a:t>
            </a:r>
            <a:r>
              <a:rPr lang="en-IN" sz="1600" dirty="0" err="1">
                <a:solidFill>
                  <a:srgbClr val="800000"/>
                </a:solidFill>
                <a:latin typeface="Consolas" panose="020B0609020204030204" pitchFamily="49" charset="0"/>
              </a:rPr>
              <a:t>i</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Loading...</a:t>
            </a:r>
            <a:r>
              <a:rPr lang="en-IN" sz="1600" dirty="0">
                <a:solidFill>
                  <a:srgbClr val="800000"/>
                </a:solidFill>
                <a:latin typeface="Consolas" panose="020B0609020204030204" pitchFamily="49" charset="0"/>
              </a:rPr>
              <a:t>&lt;/</a:t>
            </a:r>
            <a:r>
              <a:rPr lang="en-IN" sz="1600" dirty="0" err="1">
                <a:solidFill>
                  <a:srgbClr val="800000"/>
                </a:solidFill>
                <a:latin typeface="Consolas" panose="020B0609020204030204" pitchFamily="49" charset="0"/>
              </a:rPr>
              <a:t>i</a:t>
            </a:r>
            <a:r>
              <a:rPr lang="en-IN" sz="1600" dirty="0">
                <a:solidFill>
                  <a:srgbClr val="800000"/>
                </a:solidFill>
                <a:latin typeface="Consolas" panose="020B0609020204030204" pitchFamily="49" charset="0"/>
              </a:rPr>
              <a:t>&gt;&lt;/p&gt;</a:t>
            </a:r>
            <a:r>
              <a:rPr lang="en-IN" sz="1600" dirty="0">
                <a:solidFill>
                  <a:srgbClr val="000000"/>
                </a:solidFill>
                <a:latin typeface="Consolas" panose="020B0609020204030204" pitchFamily="49" charset="0"/>
              </a:rPr>
              <a:t>;</a:t>
            </a:r>
          </a:p>
          <a:p>
            <a:pPr lvl="0"/>
            <a:r>
              <a:rPr lang="en-IN" sz="1600" dirty="0">
                <a:solidFill>
                  <a:srgbClr val="000000"/>
                </a:solidFill>
                <a:latin typeface="Consolas" panose="020B0609020204030204" pitchFamily="49" charset="0"/>
              </a:rPr>
              <a:t>}</a:t>
            </a:r>
          </a:p>
        </p:txBody>
      </p:sp>
      <p:sp>
        <p:nvSpPr>
          <p:cNvPr id="6" name="Rectangle 5"/>
          <p:cNvSpPr/>
          <p:nvPr/>
        </p:nvSpPr>
        <p:spPr>
          <a:xfrm>
            <a:off x="6687127" y="3641820"/>
            <a:ext cx="5061528" cy="2585323"/>
          </a:xfrm>
          <a:prstGeom prst="rect">
            <a:avLst/>
          </a:prstGeom>
        </p:spPr>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MarkdownPreview</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Hello....</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cxnSp>
        <p:nvCxnSpPr>
          <p:cNvPr id="3" name="Straight Arrow Connector 2">
            <a:extLst>
              <a:ext uri="{FF2B5EF4-FFF2-40B4-BE49-F238E27FC236}">
                <a16:creationId xmlns:a16="http://schemas.microsoft.com/office/drawing/2014/main" id="{27E13CCE-3A2E-C1B5-A0D2-F1BEF4B308B3}"/>
              </a:ext>
            </a:extLst>
          </p:cNvPr>
          <p:cNvCxnSpPr>
            <a:cxnSpLocks/>
          </p:cNvCxnSpPr>
          <p:nvPr/>
        </p:nvCxnSpPr>
        <p:spPr>
          <a:xfrm flipV="1">
            <a:off x="4072467" y="2582333"/>
            <a:ext cx="4800600" cy="16848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872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131" y="308113"/>
            <a:ext cx="7309278"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import React, { Suspense, lazy } from "react";</a:t>
            </a:r>
          </a:p>
          <a:p>
            <a:r>
              <a:rPr lang="en-IN" dirty="0"/>
              <a:t>import { </a:t>
            </a:r>
            <a:r>
              <a:rPr lang="en-IN" dirty="0" err="1"/>
              <a:t>BrowserRouter</a:t>
            </a:r>
            <a:r>
              <a:rPr lang="en-IN" dirty="0"/>
              <a:t> as Router, Routes, Route } from "react-router-</a:t>
            </a:r>
            <a:r>
              <a:rPr lang="en-IN" dirty="0" err="1"/>
              <a:t>dom</a:t>
            </a:r>
            <a:r>
              <a:rPr lang="en-IN" dirty="0"/>
              <a:t>";</a:t>
            </a:r>
          </a:p>
          <a:p>
            <a:endParaRPr lang="en-IN" dirty="0"/>
          </a:p>
          <a:p>
            <a:r>
              <a:rPr lang="en-IN" dirty="0" err="1"/>
              <a:t>const</a:t>
            </a:r>
            <a:r>
              <a:rPr lang="en-IN" dirty="0"/>
              <a:t> Home = </a:t>
            </a:r>
            <a:r>
              <a:rPr lang="en-IN" dirty="0" err="1"/>
              <a:t>React.lazy</a:t>
            </a:r>
            <a:r>
              <a:rPr lang="en-IN" dirty="0"/>
              <a:t>(() =&gt; import("./Home"));</a:t>
            </a:r>
          </a:p>
          <a:p>
            <a:r>
              <a:rPr lang="en-IN" dirty="0" err="1"/>
              <a:t>const</a:t>
            </a:r>
            <a:r>
              <a:rPr lang="en-IN" dirty="0"/>
              <a:t> About = </a:t>
            </a:r>
            <a:r>
              <a:rPr lang="en-IN" dirty="0" err="1"/>
              <a:t>React.lazy</a:t>
            </a:r>
            <a:r>
              <a:rPr lang="en-IN" dirty="0"/>
              <a:t>(() =&gt; import("./About"));</a:t>
            </a:r>
          </a:p>
          <a:p>
            <a:endParaRPr lang="en-IN" dirty="0"/>
          </a:p>
          <a:p>
            <a:r>
              <a:rPr lang="en-IN" dirty="0" err="1"/>
              <a:t>const</a:t>
            </a:r>
            <a:r>
              <a:rPr lang="en-IN" dirty="0"/>
              <a:t> App = () =&gt; (</a:t>
            </a:r>
          </a:p>
          <a:p>
            <a:r>
              <a:rPr lang="en-IN" dirty="0"/>
              <a:t>  &lt;Router&gt;</a:t>
            </a:r>
          </a:p>
          <a:p>
            <a:r>
              <a:rPr lang="en-IN" dirty="0"/>
              <a:t>    &lt;Suspense&gt;</a:t>
            </a:r>
          </a:p>
          <a:p>
            <a:r>
              <a:rPr lang="en-IN" dirty="0"/>
              <a:t>      &lt;Routes&gt;</a:t>
            </a:r>
          </a:p>
          <a:p>
            <a:r>
              <a:rPr lang="en-IN" dirty="0"/>
              <a:t>        &lt;Route path="/" element={&lt;Home /&gt;} /&gt;</a:t>
            </a:r>
          </a:p>
          <a:p>
            <a:r>
              <a:rPr lang="en-IN" dirty="0"/>
              <a:t>        &lt;Route path="/about" element={&lt;About /&gt;} /&gt;</a:t>
            </a:r>
          </a:p>
          <a:p>
            <a:r>
              <a:rPr lang="en-IN" dirty="0"/>
              <a:t>      &lt;/Routes&gt;</a:t>
            </a:r>
          </a:p>
          <a:p>
            <a:r>
              <a:rPr lang="en-IN" dirty="0"/>
              <a:t>    &lt;/Suspense&gt;</a:t>
            </a:r>
          </a:p>
          <a:p>
            <a:r>
              <a:rPr lang="en-IN" dirty="0"/>
              <a:t>  &lt;/Router&gt;</a:t>
            </a:r>
          </a:p>
          <a:p>
            <a:r>
              <a:rPr lang="en-IN" dirty="0"/>
              <a:t>);</a:t>
            </a:r>
          </a:p>
        </p:txBody>
      </p:sp>
      <p:sp>
        <p:nvSpPr>
          <p:cNvPr id="5" name="Rectangle 4"/>
          <p:cNvSpPr/>
          <p:nvPr/>
        </p:nvSpPr>
        <p:spPr>
          <a:xfrm>
            <a:off x="7332971" y="188489"/>
            <a:ext cx="4535055"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latin typeface="var(--ifm-heading-font-family)"/>
              </a:rPr>
              <a:t>Route-based code-splitting</a:t>
            </a:r>
            <a:r>
              <a:rPr lang="en-US" u="sng" dirty="0">
                <a:latin typeface="var(--ifm-heading-font-family)"/>
                <a:hlinkClick r:id="rId2" tooltip="Direct link to Route-based code-splitting"/>
              </a:rPr>
              <a:t>​</a:t>
            </a:r>
            <a:endParaRPr lang="en-US" b="1" dirty="0">
              <a:latin typeface="var(--ifm-heading-font-family)"/>
            </a:endParaRPr>
          </a:p>
          <a:p>
            <a:r>
              <a:rPr lang="en-US" dirty="0">
                <a:latin typeface="Outfit"/>
              </a:rPr>
              <a:t>Much of what we have seen here is code-splitting components used for UI sections in the application. We don't however have to lazy load all the components in our application. Doing that might lead to serious issues.</a:t>
            </a:r>
          </a:p>
          <a:p>
            <a:r>
              <a:rPr lang="en-US" dirty="0">
                <a:latin typeface="Outfit"/>
              </a:rPr>
              <a:t>Finding and knowing when and which component to lazy load is quite tricky. But the thing we know for sure is that we have to lazy load Route-based components. Route-based components are components that are loaded when a specified URL is navigated to our application. They are the route pages setup using react-router in our application:</a:t>
            </a:r>
            <a:endParaRPr lang="en-US" b="0" i="0" dirty="0">
              <a:effectLst/>
              <a:latin typeface="Outfit"/>
            </a:endParaRPr>
          </a:p>
        </p:txBody>
      </p:sp>
      <p:sp>
        <p:nvSpPr>
          <p:cNvPr id="2" name="TextBox 1">
            <a:extLst>
              <a:ext uri="{FF2B5EF4-FFF2-40B4-BE49-F238E27FC236}">
                <a16:creationId xmlns:a16="http://schemas.microsoft.com/office/drawing/2014/main" id="{2092E423-F44B-CFCD-2DF0-6EC3C9CF7B27}"/>
              </a:ext>
            </a:extLst>
          </p:cNvPr>
          <p:cNvSpPr txBox="1"/>
          <p:nvPr/>
        </p:nvSpPr>
        <p:spPr>
          <a:xfrm>
            <a:off x="357809" y="5307496"/>
            <a:ext cx="5738191" cy="1477328"/>
          </a:xfrm>
          <a:prstGeom prst="rect">
            <a:avLst/>
          </a:prstGeom>
          <a:noFill/>
        </p:spPr>
        <p:txBody>
          <a:bodyPr wrap="square" rtlCol="0">
            <a:spAutoFit/>
          </a:bodyPr>
          <a:lstStyle/>
          <a:p>
            <a:r>
              <a:rPr lang="en-US" dirty="0">
                <a:highlight>
                  <a:srgbClr val="FFFF00"/>
                </a:highlight>
              </a:rPr>
              <a:t>Note:  </a:t>
            </a:r>
            <a:r>
              <a:rPr lang="en-US" dirty="0"/>
              <a:t>Home component must be exported as</a:t>
            </a:r>
          </a:p>
          <a:p>
            <a:endParaRPr lang="en-US" dirty="0"/>
          </a:p>
          <a:p>
            <a:r>
              <a:rPr lang="en-US" dirty="0">
                <a:highlight>
                  <a:srgbClr val="FFFF00"/>
                </a:highlight>
              </a:rPr>
              <a:t>export default </a:t>
            </a:r>
            <a:r>
              <a:rPr lang="en-US" dirty="0"/>
              <a:t>Home(){}   </a:t>
            </a:r>
          </a:p>
          <a:p>
            <a:endParaRPr lang="en-US" dirty="0"/>
          </a:p>
          <a:p>
            <a:r>
              <a:rPr lang="en-US" dirty="0"/>
              <a:t>Only export will not work</a:t>
            </a:r>
            <a:endParaRPr lang="en-IN" dirty="0"/>
          </a:p>
        </p:txBody>
      </p:sp>
      <p:sp>
        <p:nvSpPr>
          <p:cNvPr id="3" name="Rectangle 2"/>
          <p:cNvSpPr/>
          <p:nvPr/>
        </p:nvSpPr>
        <p:spPr>
          <a:xfrm>
            <a:off x="4772025" y="4952052"/>
            <a:ext cx="7419975" cy="2031325"/>
          </a:xfrm>
          <a:prstGeom prst="rect">
            <a:avLst/>
          </a:prstGeom>
        </p:spPr>
        <p:txBody>
          <a:bodyPr wrap="square">
            <a:spAutoFit/>
          </a:bodyPr>
          <a:lstStyle/>
          <a:p>
            <a:r>
              <a:rPr lang="en-US" dirty="0">
                <a:latin typeface="Segoe UI" panose="020B0502040204020203" pitchFamily="34" charset="0"/>
              </a:rPr>
              <a:t>export (named export) doesn't work directly with </a:t>
            </a:r>
            <a:r>
              <a:rPr lang="en-US" dirty="0" err="1">
                <a:latin typeface="Segoe UI" panose="020B0502040204020203" pitchFamily="34" charset="0"/>
              </a:rPr>
              <a:t>React.lazy</a:t>
            </a:r>
            <a:r>
              <a:rPr lang="en-US" dirty="0">
                <a:latin typeface="Segoe UI" panose="020B0502040204020203" pitchFamily="34" charset="0"/>
              </a:rPr>
              <a:t> because </a:t>
            </a:r>
            <a:r>
              <a:rPr lang="en-US" dirty="0" err="1">
                <a:latin typeface="Segoe UI" panose="020B0502040204020203" pitchFamily="34" charset="0"/>
              </a:rPr>
              <a:t>React.lazy</a:t>
            </a:r>
            <a:r>
              <a:rPr lang="en-US" dirty="0">
                <a:latin typeface="Segoe UI" panose="020B0502040204020203" pitchFamily="34" charset="0"/>
              </a:rPr>
              <a:t> specifically requires a default export from the module it imports. This is because </a:t>
            </a:r>
            <a:r>
              <a:rPr lang="en-US" dirty="0" err="1">
                <a:highlight>
                  <a:srgbClr val="FFFF00"/>
                </a:highlight>
                <a:latin typeface="Segoe UI" panose="020B0502040204020203" pitchFamily="34" charset="0"/>
              </a:rPr>
              <a:t>React.lazy</a:t>
            </a:r>
            <a:r>
              <a:rPr lang="en-US" dirty="0">
                <a:highlight>
                  <a:srgbClr val="FFFF00"/>
                </a:highlight>
                <a:latin typeface="Segoe UI" panose="020B0502040204020203" pitchFamily="34" charset="0"/>
              </a:rPr>
              <a:t> is designed to handle a single component </a:t>
            </a:r>
            <a:r>
              <a:rPr lang="en-US" dirty="0">
                <a:latin typeface="Segoe UI" panose="020B0502040204020203" pitchFamily="34" charset="0"/>
              </a:rPr>
              <a:t>or value from the dynamically imported module, and it expects this component to be the </a:t>
            </a:r>
            <a:r>
              <a:rPr lang="en-US" b="1" dirty="0">
                <a:latin typeface="Segoe UI" panose="020B0502040204020203" pitchFamily="34" charset="0"/>
              </a:rPr>
              <a:t>default export.</a:t>
            </a:r>
            <a:br>
              <a:rPr lang="en-US" b="1" dirty="0">
                <a:latin typeface="Segoe UI" panose="020B0502040204020203" pitchFamily="34" charset="0"/>
              </a:rPr>
            </a:br>
            <a:r>
              <a:rPr lang="en-US" dirty="0">
                <a:latin typeface="Segoe UI" panose="020B0502040204020203" pitchFamily="34" charset="0"/>
              </a:rPr>
              <a:t>This is because </a:t>
            </a:r>
            <a:r>
              <a:rPr lang="en-US" dirty="0" err="1">
                <a:latin typeface="Segoe UI" panose="020B0502040204020203" pitchFamily="34" charset="0"/>
              </a:rPr>
              <a:t>React.lazy</a:t>
            </a:r>
            <a:r>
              <a:rPr lang="en-US" dirty="0">
                <a:latin typeface="Segoe UI" panose="020B0502040204020203" pitchFamily="34" charset="0"/>
              </a:rPr>
              <a:t> is designed to handle a single component or value from the dynamically imported module</a:t>
            </a:r>
            <a:endParaRPr lang="en-IN" dirty="0"/>
          </a:p>
        </p:txBody>
      </p:sp>
    </p:spTree>
    <p:extLst>
      <p:ext uri="{BB962C8B-B14F-4D97-AF65-F5344CB8AC3E}">
        <p14:creationId xmlns:p14="http://schemas.microsoft.com/office/powerpoint/2010/main" val="1226051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BF52F0-5156-EAF2-9D39-E0D75A135F45}"/>
              </a:ext>
            </a:extLst>
          </p:cNvPr>
          <p:cNvSpPr txBox="1"/>
          <p:nvPr/>
        </p:nvSpPr>
        <p:spPr>
          <a:xfrm>
            <a:off x="10018645" y="0"/>
            <a:ext cx="2335696" cy="37768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Complete demo</a:t>
            </a:r>
            <a:endParaRPr lang="en-IN" dirty="0"/>
          </a:p>
        </p:txBody>
      </p:sp>
      <p:sp>
        <p:nvSpPr>
          <p:cNvPr id="6" name="TextBox 5">
            <a:extLst>
              <a:ext uri="{FF2B5EF4-FFF2-40B4-BE49-F238E27FC236}">
                <a16:creationId xmlns:a16="http://schemas.microsoft.com/office/drawing/2014/main" id="{57D7C317-CEA9-0E1F-892E-58AE08B1D18E}"/>
              </a:ext>
            </a:extLst>
          </p:cNvPr>
          <p:cNvSpPr txBox="1"/>
          <p:nvPr/>
        </p:nvSpPr>
        <p:spPr>
          <a:xfrm>
            <a:off x="305628" y="119269"/>
            <a:ext cx="3540815" cy="369331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'./App.css'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MarkdownEditor</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MarkdownEditor</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MarkdownEditor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94CCA3A4-F885-AE73-2F00-74622757143D}"/>
              </a:ext>
            </a:extLst>
          </p:cNvPr>
          <p:cNvSpPr txBox="1"/>
          <p:nvPr/>
        </p:nvSpPr>
        <p:spPr>
          <a:xfrm>
            <a:off x="3846443" y="0"/>
            <a:ext cx="8345558" cy="7709803"/>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React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r>
              <a:rPr lang="en-IN" b="0" dirty="0">
                <a:solidFill>
                  <a:srgbClr val="0000FF"/>
                </a:solidFill>
                <a:effectLst/>
                <a:highlight>
                  <a:srgbClr val="FFFF00"/>
                </a:highlight>
                <a:latin typeface="Consolas" panose="020B0609020204030204" pitchFamily="49" charset="0"/>
              </a:rPr>
              <a:t>import</a:t>
            </a:r>
            <a:r>
              <a:rPr lang="en-IN" b="0" dirty="0">
                <a:solidFill>
                  <a:srgbClr val="000000"/>
                </a:solidFill>
                <a:effectLst/>
                <a:highlight>
                  <a:srgbClr val="FFFF00"/>
                </a:highlight>
                <a:latin typeface="Consolas" panose="020B0609020204030204" pitchFamily="49" charset="0"/>
              </a:rPr>
              <a:t> </a:t>
            </a:r>
            <a:r>
              <a:rPr lang="en-IN" b="0" dirty="0">
                <a:solidFill>
                  <a:srgbClr val="A31515"/>
                </a:solidFill>
                <a:effectLst/>
                <a:highlight>
                  <a:srgbClr val="FFFF00"/>
                </a:highlight>
                <a:latin typeface="Consolas" panose="020B0609020204030204" pitchFamily="49" charset="0"/>
              </a:rPr>
              <a:t>'./index.css'</a:t>
            </a:r>
            <a:r>
              <a:rPr lang="en-IN" b="0" dirty="0">
                <a:solidFill>
                  <a:srgbClr val="000000"/>
                </a:solidFill>
                <a:effectLst/>
                <a:highlight>
                  <a:srgbClr val="FFFF00"/>
                </a:highligh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reportWebVitals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Suspense, lazy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BrowserRouter</a:t>
            </a:r>
            <a:r>
              <a:rPr lang="en-IN" b="0" dirty="0">
                <a:solidFill>
                  <a:srgbClr val="000000"/>
                </a:solidFill>
                <a:effectLst/>
                <a:latin typeface="Consolas" panose="020B0609020204030204" pitchFamily="49" charset="0"/>
              </a:rPr>
              <a:t>, Routes, Route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{Loading}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MarkdownEditor</a:t>
            </a:r>
            <a:r>
              <a:rPr lang="en-IN" b="0" dirty="0">
                <a:solidFill>
                  <a:srgbClr val="A31515"/>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r>
              <a:rPr lang="en-IN" b="1" dirty="0" err="1">
                <a:solidFill>
                  <a:srgbClr val="0000FF"/>
                </a:solidFill>
                <a:effectLst/>
                <a:latin typeface="Consolas" panose="020B0609020204030204" pitchFamily="49" charset="0"/>
              </a:rPr>
              <a:t>const</a:t>
            </a:r>
            <a:r>
              <a:rPr lang="en-IN" b="1" dirty="0">
                <a:solidFill>
                  <a:srgbClr val="000000"/>
                </a:solidFill>
                <a:effectLst/>
                <a:latin typeface="Consolas" panose="020B0609020204030204" pitchFamily="49" charset="0"/>
              </a:rPr>
              <a:t> </a:t>
            </a:r>
            <a:r>
              <a:rPr lang="en-IN" b="1" dirty="0" err="1">
                <a:solidFill>
                  <a:srgbClr val="000000"/>
                </a:solidFill>
                <a:effectLst/>
                <a:latin typeface="Consolas" panose="020B0609020204030204" pitchFamily="49" charset="0"/>
              </a:rPr>
              <a:t>LHome</a:t>
            </a:r>
            <a:r>
              <a:rPr lang="en-IN" b="1" dirty="0">
                <a:solidFill>
                  <a:srgbClr val="000000"/>
                </a:solidFill>
                <a:effectLst/>
                <a:latin typeface="Consolas" panose="020B0609020204030204" pitchFamily="49" charset="0"/>
              </a:rPr>
              <a:t> = lazy(() </a:t>
            </a:r>
            <a:r>
              <a:rPr lang="en-IN" b="1" dirty="0">
                <a:solidFill>
                  <a:srgbClr val="0000FF"/>
                </a:solidFill>
                <a:effectLst/>
                <a:latin typeface="Consolas" panose="020B0609020204030204" pitchFamily="49" charset="0"/>
              </a:rPr>
              <a:t>=&gt;</a:t>
            </a:r>
            <a:r>
              <a:rPr lang="en-IN" b="1" dirty="0">
                <a:solidFill>
                  <a:srgbClr val="000000"/>
                </a:solidFill>
                <a:effectLst/>
                <a:latin typeface="Consolas" panose="020B0609020204030204" pitchFamily="49" charset="0"/>
              </a:rPr>
              <a:t> </a:t>
            </a:r>
            <a:r>
              <a:rPr lang="en-IN" b="1" dirty="0">
                <a:solidFill>
                  <a:srgbClr val="0000FF"/>
                </a:solidFill>
                <a:effectLst/>
                <a:latin typeface="Consolas" panose="020B0609020204030204" pitchFamily="49" charset="0"/>
              </a:rPr>
              <a:t>import</a:t>
            </a:r>
            <a:r>
              <a:rPr lang="en-IN" b="1" dirty="0">
                <a:solidFill>
                  <a:srgbClr val="000000"/>
                </a:solidFill>
                <a:effectLst/>
                <a:latin typeface="Consolas" panose="020B0609020204030204" pitchFamily="49" charset="0"/>
              </a:rPr>
              <a:t>(</a:t>
            </a:r>
            <a:r>
              <a:rPr lang="en-IN" b="1" dirty="0">
                <a:solidFill>
                  <a:srgbClr val="A31515"/>
                </a:solidFill>
                <a:effectLst/>
                <a:latin typeface="Consolas" panose="020B0609020204030204" pitchFamily="49" charset="0"/>
              </a:rPr>
              <a:t>"./Home"</a:t>
            </a:r>
            <a:r>
              <a:rPr lang="en-IN" b="1" dirty="0">
                <a:solidFill>
                  <a:srgbClr val="000000"/>
                </a:solidFill>
                <a:effectLst/>
                <a:latin typeface="Consolas" panose="020B0609020204030204" pitchFamily="49" charset="0"/>
              </a:rPr>
              <a:t>));</a:t>
            </a:r>
          </a:p>
          <a:p>
            <a:r>
              <a:rPr lang="en-IN" b="1" dirty="0" err="1">
                <a:solidFill>
                  <a:srgbClr val="0000FF"/>
                </a:solidFill>
                <a:effectLst/>
                <a:latin typeface="Consolas" panose="020B0609020204030204" pitchFamily="49" charset="0"/>
              </a:rPr>
              <a:t>const</a:t>
            </a:r>
            <a:r>
              <a:rPr lang="en-IN" b="1" dirty="0">
                <a:solidFill>
                  <a:srgbClr val="000000"/>
                </a:solidFill>
                <a:effectLst/>
                <a:latin typeface="Consolas" panose="020B0609020204030204" pitchFamily="49" charset="0"/>
              </a:rPr>
              <a:t> </a:t>
            </a:r>
            <a:r>
              <a:rPr lang="en-IN" b="1" dirty="0" err="1">
                <a:solidFill>
                  <a:srgbClr val="000000"/>
                </a:solidFill>
                <a:effectLst/>
                <a:latin typeface="Consolas" panose="020B0609020204030204" pitchFamily="49" charset="0"/>
              </a:rPr>
              <a:t>LApp</a:t>
            </a:r>
            <a:r>
              <a:rPr lang="en-IN" b="1" dirty="0">
                <a:solidFill>
                  <a:srgbClr val="000000"/>
                </a:solidFill>
                <a:effectLst/>
                <a:latin typeface="Consolas" panose="020B0609020204030204" pitchFamily="49" charset="0"/>
              </a:rPr>
              <a:t> = lazy(() </a:t>
            </a:r>
            <a:r>
              <a:rPr lang="en-IN" b="1" dirty="0">
                <a:solidFill>
                  <a:srgbClr val="0000FF"/>
                </a:solidFill>
                <a:effectLst/>
                <a:latin typeface="Consolas" panose="020B0609020204030204" pitchFamily="49" charset="0"/>
              </a:rPr>
              <a:t>=&gt;</a:t>
            </a:r>
            <a:r>
              <a:rPr lang="en-IN" b="1" dirty="0">
                <a:solidFill>
                  <a:srgbClr val="000000"/>
                </a:solidFill>
                <a:effectLst/>
                <a:latin typeface="Consolas" panose="020B0609020204030204" pitchFamily="49" charset="0"/>
              </a:rPr>
              <a:t> </a:t>
            </a:r>
            <a:r>
              <a:rPr lang="en-IN" b="1" dirty="0">
                <a:solidFill>
                  <a:srgbClr val="0000FF"/>
                </a:solidFill>
                <a:effectLst/>
                <a:latin typeface="Consolas" panose="020B0609020204030204" pitchFamily="49" charset="0"/>
              </a:rPr>
              <a:t>import</a:t>
            </a:r>
            <a:r>
              <a:rPr lang="en-IN" b="1" dirty="0">
                <a:solidFill>
                  <a:srgbClr val="000000"/>
                </a:solidFill>
                <a:effectLst/>
                <a:latin typeface="Consolas" panose="020B0609020204030204" pitchFamily="49" charset="0"/>
              </a:rPr>
              <a:t>(</a:t>
            </a:r>
            <a:r>
              <a:rPr lang="en-IN" b="1" dirty="0">
                <a:solidFill>
                  <a:srgbClr val="A31515"/>
                </a:solidFill>
                <a:effectLst/>
                <a:latin typeface="Consolas" panose="020B0609020204030204" pitchFamily="49" charset="0"/>
              </a:rPr>
              <a:t>"./App"</a:t>
            </a:r>
            <a:r>
              <a:rPr lang="en-IN" b="1"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root =</a:t>
            </a:r>
            <a:r>
              <a:rPr lang="en-IN" b="0" dirty="0" err="1">
                <a:solidFill>
                  <a:srgbClr val="000000"/>
                </a:solidFill>
                <a:effectLst/>
                <a:latin typeface="Consolas" panose="020B0609020204030204" pitchFamily="49" charset="0"/>
              </a:rPr>
              <a:t>ReactDOM.createRoot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document.getElementById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root.render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&lt;Suspense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fallback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&lt;Loading</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LHome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"/app"</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LApp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&lt;/Suspense&gt;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p>
          <a:p>
            <a:br>
              <a:rPr lang="en-IN" sz="900" b="0" dirty="0">
                <a:solidFill>
                  <a:srgbClr val="000000"/>
                </a:solidFill>
                <a:effectLst/>
                <a:latin typeface="Consolas" panose="020B0609020204030204" pitchFamily="49" charset="0"/>
              </a:rPr>
            </a:br>
            <a:r>
              <a:rPr lang="en-IN" sz="900" b="0" dirty="0">
                <a:solidFill>
                  <a:srgbClr val="008000"/>
                </a:solidFill>
                <a:effectLst/>
                <a:latin typeface="Consolas" panose="020B0609020204030204" pitchFamily="49" charset="0"/>
              </a:rPr>
              <a:t>// If you want to start measuring performance in your app, pass a function</a:t>
            </a:r>
            <a:endParaRPr lang="en-IN" sz="900" b="0" dirty="0">
              <a:solidFill>
                <a:srgbClr val="000000"/>
              </a:solidFill>
              <a:effectLst/>
              <a:latin typeface="Consolas" panose="020B0609020204030204" pitchFamily="49" charset="0"/>
            </a:endParaRPr>
          </a:p>
          <a:p>
            <a:r>
              <a:rPr lang="en-IN" sz="900" b="0" dirty="0">
                <a:solidFill>
                  <a:srgbClr val="008000"/>
                </a:solidFill>
                <a:effectLst/>
                <a:latin typeface="Consolas" panose="020B0609020204030204" pitchFamily="49" charset="0"/>
              </a:rPr>
              <a:t>// to log results (for example: </a:t>
            </a:r>
            <a:r>
              <a:rPr lang="en-IN" sz="900" b="0" dirty="0" err="1">
                <a:solidFill>
                  <a:srgbClr val="008000"/>
                </a:solidFill>
                <a:effectLst/>
                <a:latin typeface="Consolas" panose="020B0609020204030204" pitchFamily="49" charset="0"/>
              </a:rPr>
              <a:t>reportWebVitals</a:t>
            </a:r>
            <a:r>
              <a:rPr lang="en-IN" sz="900" b="0" dirty="0">
                <a:solidFill>
                  <a:srgbClr val="008000"/>
                </a:solidFill>
                <a:effectLst/>
                <a:latin typeface="Consolas" panose="020B0609020204030204" pitchFamily="49" charset="0"/>
              </a:rPr>
              <a:t>(console.log))</a:t>
            </a:r>
            <a:endParaRPr lang="en-IN" sz="900" b="0" dirty="0">
              <a:solidFill>
                <a:srgbClr val="000000"/>
              </a:solidFill>
              <a:effectLst/>
              <a:latin typeface="Consolas" panose="020B0609020204030204" pitchFamily="49" charset="0"/>
            </a:endParaRPr>
          </a:p>
          <a:p>
            <a:r>
              <a:rPr lang="en-IN" sz="900" b="0" dirty="0">
                <a:solidFill>
                  <a:srgbClr val="008000"/>
                </a:solidFill>
                <a:effectLst/>
                <a:latin typeface="Consolas" panose="020B0609020204030204" pitchFamily="49" charset="0"/>
              </a:rPr>
              <a:t>// or send to an analytics endpoint. Learn more: https://bit.ly/CRA-vitals</a:t>
            </a:r>
            <a:endParaRPr lang="en-IN" sz="900" b="0" dirty="0">
              <a:solidFill>
                <a:srgbClr val="000000"/>
              </a:solidFill>
              <a:effectLst/>
              <a:latin typeface="Consolas" panose="020B0609020204030204" pitchFamily="49" charset="0"/>
            </a:endParaRPr>
          </a:p>
          <a:p>
            <a:r>
              <a:rPr lang="en-IN" sz="900" b="0" dirty="0" err="1">
                <a:solidFill>
                  <a:srgbClr val="000000"/>
                </a:solidFill>
                <a:effectLst/>
                <a:latin typeface="Consolas" panose="020B0609020204030204" pitchFamily="49" charset="0"/>
              </a:rPr>
              <a:t>reportWebVitals</a:t>
            </a:r>
            <a:r>
              <a:rPr lang="en-IN" sz="900" b="0" dirty="0">
                <a:solidFill>
                  <a:srgbClr val="000000"/>
                </a:solidFill>
                <a:effectLst/>
                <a:latin typeface="Consolas" panose="020B0609020204030204" pitchFamily="49" charset="0"/>
              </a:rPr>
              <a:t>();</a:t>
            </a:r>
          </a:p>
          <a:p>
            <a:br>
              <a:rPr lang="en-IN" sz="900" b="0" dirty="0">
                <a:solidFill>
                  <a:srgbClr val="000000"/>
                </a:solidFill>
                <a:effectLst/>
                <a:latin typeface="Consolas" panose="020B0609020204030204" pitchFamily="49" charset="0"/>
              </a:rPr>
            </a:br>
            <a:endParaRPr lang="en-IN" sz="900"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233E73DE-776C-5F97-0E72-ED549239BB2C}"/>
              </a:ext>
            </a:extLst>
          </p:cNvPr>
          <p:cNvSpPr txBox="1"/>
          <p:nvPr/>
        </p:nvSpPr>
        <p:spPr>
          <a:xfrm>
            <a:off x="149087" y="4279300"/>
            <a:ext cx="4335946"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a:solidFill>
                  <a:srgbClr val="0000FF"/>
                </a:solidFill>
                <a:effectLst/>
                <a:highlight>
                  <a:srgbClr val="FFFF00"/>
                </a:highlight>
                <a:latin typeface="Consolas" panose="020B0609020204030204" pitchFamily="49" charset="0"/>
              </a:rPr>
              <a:t>export</a:t>
            </a: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highlight>
                  <a:srgbClr val="FFFF00"/>
                </a:highlight>
                <a:latin typeface="Consolas" panose="020B0609020204030204" pitchFamily="49" charset="0"/>
              </a:rPr>
              <a:t>default</a:t>
            </a:r>
            <a:r>
              <a:rPr lang="en-US" b="0" dirty="0">
                <a:solidFill>
                  <a:srgbClr val="000000"/>
                </a:solidFill>
                <a:effectLst/>
                <a:highlight>
                  <a:srgbClr val="FFFF00"/>
                </a:highligh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Home(){</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&lt;&gt;</a:t>
            </a:r>
            <a:r>
              <a:rPr lang="en-US" b="0" dirty="0">
                <a:solidFill>
                  <a:srgbClr val="000000"/>
                </a:solidFill>
                <a:effectLst/>
                <a:latin typeface="Consolas" panose="020B0609020204030204" pitchFamily="49" charset="0"/>
              </a:rPr>
              <a:t>This is Home page</a:t>
            </a:r>
            <a:r>
              <a:rPr lang="en-US" b="0" dirty="0">
                <a:solidFill>
                  <a:srgbClr val="800000"/>
                </a:solidFill>
                <a:effectLst/>
                <a:latin typeface="Consolas" panose="020B0609020204030204" pitchFamily="49" charset="0"/>
              </a:rPr>
              <a:t>&lt;/&gt;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11835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8F4C0B-4C78-5EE9-72D1-80210676AB50}"/>
              </a:ext>
            </a:extLst>
          </p:cNvPr>
          <p:cNvSpPr txBox="1"/>
          <p:nvPr/>
        </p:nvSpPr>
        <p:spPr>
          <a:xfrm>
            <a:off x="226115" y="0"/>
            <a:ext cx="9931676" cy="6986528"/>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Suspense, lazy }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MarkdownPreview</a:t>
            </a:r>
            <a:r>
              <a:rPr lang="en-IN" sz="1400" b="0" dirty="0">
                <a:solidFill>
                  <a:srgbClr val="000000"/>
                </a:solidFill>
                <a:effectLst/>
                <a:latin typeface="Consolas" panose="020B0609020204030204" pitchFamily="49" charset="0"/>
              </a:rPr>
              <a:t> = lazy(()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delayForDemo</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'./MarkdownPreview.js'</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delayForDemo</a:t>
            </a:r>
            <a:r>
              <a:rPr lang="en-IN" sz="1400" b="0" dirty="0">
                <a:solidFill>
                  <a:srgbClr val="000000"/>
                </a:solidFill>
                <a:effectLst/>
                <a:latin typeface="Consolas" panose="020B0609020204030204" pitchFamily="49" charset="0"/>
              </a:rPr>
              <a:t>(promise) {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Promise(resolve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setTimeout</a:t>
            </a:r>
            <a:r>
              <a:rPr lang="en-IN" sz="1400" b="0" dirty="0">
                <a:solidFill>
                  <a:srgbClr val="000000"/>
                </a:solidFill>
                <a:effectLst/>
                <a:latin typeface="Consolas" panose="020B0609020204030204" pitchFamily="49" charset="0"/>
              </a:rPr>
              <a:t>(resolve, </a:t>
            </a:r>
            <a:r>
              <a:rPr lang="en-IN" sz="1400" b="0" dirty="0">
                <a:solidFill>
                  <a:srgbClr val="098658"/>
                </a:solidFill>
                <a:effectLst/>
                <a:latin typeface="Consolas" panose="020B0609020204030204" pitchFamily="49" charset="0"/>
              </a:rPr>
              <a:t>2000</a:t>
            </a:r>
            <a:r>
              <a:rPr lang="en-IN" sz="1400" b="0" dirty="0">
                <a:solidFill>
                  <a:srgbClr val="000000"/>
                </a:solidFill>
                <a:effectLst/>
                <a:latin typeface="Consolas" panose="020B0609020204030204" pitchFamily="49" charset="0"/>
              </a:rPr>
              <a:t>);</a:t>
            </a:r>
          </a:p>
          <a:p>
            <a:r>
              <a:rPr lang="en-IN" sz="1400" dirty="0">
                <a:solidFill>
                  <a:srgbClr val="000000"/>
                </a:solidFill>
                <a:latin typeface="Consolas" panose="020B0609020204030204" pitchFamily="49" charset="0"/>
              </a:rPr>
              <a:t> </a:t>
            </a:r>
            <a:r>
              <a:rPr lang="en-IN" sz="1400" b="0" dirty="0">
                <a:solidFill>
                  <a:srgbClr val="000000"/>
                </a:solidFill>
                <a:effectLst/>
                <a:latin typeface="Consolas" panose="020B0609020204030204" pitchFamily="49" charset="0"/>
              </a:rPr>
              <a:t>   						 }).then(()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promise);</a:t>
            </a:r>
          </a:p>
          <a:p>
            <a:r>
              <a:rPr lang="en-IN" sz="1400" b="0" dirty="0">
                <a:solidFill>
                  <a:srgbClr val="000000"/>
                </a:solidFill>
                <a:effectLst/>
                <a:latin typeface="Consolas" panose="020B0609020204030204" pitchFamily="49" charset="0"/>
              </a:rPr>
              <a:t>			    }</a:t>
            </a:r>
          </a:p>
          <a:p>
            <a:r>
              <a:rPr lang="en-IN" sz="1400" b="0" dirty="0">
                <a:solidFill>
                  <a:srgbClr val="0000FF"/>
                </a:solidFill>
                <a:effectLst/>
                <a:latin typeface="Consolas" panose="020B0609020204030204" pitchFamily="49" charset="0"/>
              </a:rPr>
              <a:t>export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000000"/>
                </a:solidFill>
                <a:effectLst/>
                <a:highlight>
                  <a:srgbClr val="FFFF00"/>
                </a:highlight>
                <a:latin typeface="Consolas" panose="020B0609020204030204" pitchFamily="49" charset="0"/>
              </a:rPr>
              <a:t>Loading</a:t>
            </a:r>
            <a:r>
              <a:rPr lang="en-IN" sz="1400" b="0" dirty="0">
                <a:solidFill>
                  <a:srgbClr val="000000"/>
                </a:solidFill>
                <a:effectLst/>
                <a:latin typeface="Consolas" panose="020B0609020204030204" pitchFamily="49" charset="0"/>
              </a:rPr>
              <a:t>() {</a:t>
            </a:r>
          </a:p>
          <a:p>
            <a:r>
              <a:rPr lang="en-IN" sz="1400" b="0" dirty="0">
                <a:solidFill>
                  <a:srgbClr val="0000FF"/>
                </a:solidFill>
                <a:effectLst/>
                <a:latin typeface="Consolas" panose="020B0609020204030204" pitchFamily="49" charset="0"/>
              </a:rPr>
              <a:t>		</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&lt;p</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"search-spinner"</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aria-hidden</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a:solidFill>
                  <a:srgbClr val="000000"/>
                </a:solidFill>
                <a:effectLst/>
                <a:latin typeface="Consolas" panose="020B0609020204030204" pitchFamily="49" charset="0"/>
              </a:rPr>
              <a:t> </a:t>
            </a:r>
            <a:r>
              <a:rPr lang="en-IN" sz="1400" b="0">
                <a:solidFill>
                  <a:srgbClr val="800000"/>
                </a:solidFill>
                <a:effectLst/>
                <a:latin typeface="Consolas" panose="020B0609020204030204" pitchFamily="49" charset="0"/>
              </a:rPr>
              <a:t>&gt; </a:t>
            </a:r>
            <a:r>
              <a:rPr lang="en-IN" sz="1400" b="0" dirty="0">
                <a:solidFill>
                  <a:srgbClr val="800000"/>
                </a:solidFill>
                <a:effectLst/>
                <a:latin typeface="Consolas" panose="020B0609020204030204" pitchFamily="49" charset="0"/>
              </a:rPr>
              <a:t>/p&gt;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FF"/>
                </a:solidFill>
                <a:effectLst/>
                <a:latin typeface="Consolas" panose="020B0609020204030204" pitchFamily="49" charset="0"/>
              </a:rPr>
              <a:t>export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default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MarkdownEditor</a:t>
            </a: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showPreview</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setShowPreview</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false</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      </a:t>
            </a:r>
            <a:r>
              <a:rPr lang="en-IN" sz="1400" b="0" dirty="0">
                <a:solidFill>
                  <a:srgbClr val="800000"/>
                </a:solidFill>
                <a:effectLst/>
                <a:latin typeface="Consolas" panose="020B0609020204030204" pitchFamily="49" charset="0"/>
              </a:rPr>
              <a:t>&lt;&gt;</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&lt;</a:t>
            </a:r>
            <a:r>
              <a:rPr lang="en-IN" sz="1400" b="0" dirty="0">
                <a:solidFill>
                  <a:srgbClr val="800000"/>
                </a:solidFill>
                <a:effectLst/>
                <a:latin typeface="Consolas" panose="020B0609020204030204" pitchFamily="49" charset="0"/>
              </a:rPr>
              <a:t>input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"checkbox"</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checked</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showPreview</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err="1">
                <a:solidFill>
                  <a:srgbClr val="E50000"/>
                </a:solidFill>
                <a:effectLst/>
                <a:latin typeface="Consolas" panose="020B0609020204030204" pitchFamily="49" charset="0"/>
              </a:rPr>
              <a:t>onChange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e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setShowPreview</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e.target.checked</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Show preview</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&lt;hr</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showPreview</a:t>
            </a:r>
            <a:r>
              <a:rPr lang="en-IN" sz="1400" b="0" dirty="0">
                <a:solidFill>
                  <a:srgbClr val="000000"/>
                </a:solidFill>
                <a:effectLst/>
                <a:latin typeface="Consolas" panose="020B0609020204030204" pitchFamily="49" charset="0"/>
              </a:rPr>
              <a:t> &amp;&amp;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&lt;Suspense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fallback</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a:solidFill>
                  <a:srgbClr val="800000"/>
                </a:solidFill>
                <a:effectLst/>
                <a:highlight>
                  <a:srgbClr val="FFFF00"/>
                </a:highlight>
                <a:latin typeface="Consolas" panose="020B0609020204030204" pitchFamily="49" charset="0"/>
              </a:rPr>
              <a:t>Loading</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&lt;h2&gt;</a:t>
            </a:r>
            <a:r>
              <a:rPr lang="en-IN" sz="1400" b="0" dirty="0">
                <a:solidFill>
                  <a:srgbClr val="000000"/>
                </a:solidFill>
                <a:effectLst/>
                <a:latin typeface="Consolas" panose="020B0609020204030204" pitchFamily="49" charset="0"/>
              </a:rPr>
              <a:t>Preview</a:t>
            </a:r>
            <a:r>
              <a:rPr lang="en-IN" sz="1400" b="0" dirty="0">
                <a:solidFill>
                  <a:srgbClr val="800000"/>
                </a:solidFill>
                <a:effectLst/>
                <a:latin typeface="Consolas" panose="020B0609020204030204" pitchFamily="49" charset="0"/>
              </a:rPr>
              <a:t>&lt;/h2&gt;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MarkdownPreview</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&lt;/Suspense&gt;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1A4317EA-8B1F-1DE2-ED35-464A28476CED}"/>
              </a:ext>
            </a:extLst>
          </p:cNvPr>
          <p:cNvSpPr txBox="1"/>
          <p:nvPr/>
        </p:nvSpPr>
        <p:spPr>
          <a:xfrm>
            <a:off x="8360671" y="1380316"/>
            <a:ext cx="3594239" cy="258532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MarkdownPreview</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Hello....</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193966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7E6DDF-8959-26C1-62F5-E733562EC165}"/>
              </a:ext>
            </a:extLst>
          </p:cNvPr>
          <p:cNvSpPr txBox="1"/>
          <p:nvPr/>
        </p:nvSpPr>
        <p:spPr>
          <a:xfrm>
            <a:off x="474593" y="0"/>
            <a:ext cx="10120520" cy="6740307"/>
          </a:xfrm>
          <a:prstGeom prst="rect">
            <a:avLst/>
          </a:prstGeom>
          <a:noFill/>
        </p:spPr>
        <p:txBody>
          <a:bodyPr wrap="square">
            <a:spAutoFit/>
          </a:bodyPr>
          <a:lstStyle/>
          <a:p>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#search-spinner</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1rem</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1rem</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background-image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url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data:image</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svg+xml</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svg</a:t>
            </a:r>
            <a:r>
              <a:rPr lang="en-IN" b="0" dirty="0">
                <a:solidFill>
                  <a:srgbClr val="A31515"/>
                </a:solidFill>
                <a:effectLst/>
                <a:latin typeface="Consolas" panose="020B0609020204030204" pitchFamily="49" charset="0"/>
              </a:rPr>
              <a:t> </a:t>
            </a:r>
            <a:r>
              <a:rPr lang="en-IN" b="0" dirty="0" err="1">
                <a:solidFill>
                  <a:srgbClr val="A31515"/>
                </a:solidFill>
                <a:effectLst/>
                <a:latin typeface="Consolas" panose="020B0609020204030204" pitchFamily="49" charset="0"/>
              </a:rPr>
              <a:t>xmlns</a:t>
            </a:r>
            <a:r>
              <a:rPr lang="en-IN" b="0" dirty="0">
                <a:solidFill>
                  <a:srgbClr val="A31515"/>
                </a:solidFill>
                <a:effectLst/>
                <a:latin typeface="Consolas" panose="020B0609020204030204" pitchFamily="49" charset="0"/>
              </a:rPr>
              <a:t>='http://www.w3.org/2000/svg' fill='none' </a:t>
            </a:r>
            <a:r>
              <a:rPr lang="en-IN" b="0" dirty="0" err="1">
                <a:solidFill>
                  <a:srgbClr val="A31515"/>
                </a:solidFill>
                <a:effectLst/>
                <a:latin typeface="Consolas" panose="020B0609020204030204" pitchFamily="49" charset="0"/>
              </a:rPr>
              <a:t>viewBox</a:t>
            </a:r>
            <a:r>
              <a:rPr lang="en-IN" b="0" dirty="0">
                <a:solidFill>
                  <a:srgbClr val="A31515"/>
                </a:solidFill>
                <a:effectLst/>
                <a:latin typeface="Consolas" panose="020B0609020204030204" pitchFamily="49" charset="0"/>
              </a:rPr>
              <a:t>='0 0 24 24'&gt;&lt;path stroke='%23000' </a:t>
            </a:r>
            <a:r>
              <a:rPr lang="en-IN" b="0" dirty="0" err="1">
                <a:solidFill>
                  <a:srgbClr val="A31515"/>
                </a:solidFill>
                <a:effectLst/>
                <a:latin typeface="Consolas" panose="020B0609020204030204" pitchFamily="49" charset="0"/>
              </a:rPr>
              <a:t>strokeLinecap</a:t>
            </a:r>
            <a:r>
              <a:rPr lang="en-IN" b="0" dirty="0">
                <a:solidFill>
                  <a:srgbClr val="A31515"/>
                </a:solidFill>
                <a:effectLst/>
                <a:latin typeface="Consolas" panose="020B0609020204030204" pitchFamily="49" charset="0"/>
              </a:rPr>
              <a:t>='round' </a:t>
            </a:r>
            <a:r>
              <a:rPr lang="en-IN" b="0" dirty="0" err="1">
                <a:solidFill>
                  <a:srgbClr val="A31515"/>
                </a:solidFill>
                <a:effectLst/>
                <a:latin typeface="Consolas" panose="020B0609020204030204" pitchFamily="49" charset="0"/>
              </a:rPr>
              <a:t>strokeLinejoin</a:t>
            </a:r>
            <a:r>
              <a:rPr lang="en-IN" b="0" dirty="0">
                <a:solidFill>
                  <a:srgbClr val="A31515"/>
                </a:solidFill>
                <a:effectLst/>
                <a:latin typeface="Consolas" panose="020B0609020204030204" pitchFamily="49" charset="0"/>
              </a:rPr>
              <a:t>='round' </a:t>
            </a:r>
            <a:r>
              <a:rPr lang="en-IN" b="0" dirty="0" err="1">
                <a:solidFill>
                  <a:srgbClr val="A31515"/>
                </a:solidFill>
                <a:effectLst/>
                <a:latin typeface="Consolas" panose="020B0609020204030204" pitchFamily="49" charset="0"/>
              </a:rPr>
              <a:t>strokeWidth</a:t>
            </a:r>
            <a:r>
              <a:rPr lang="en-IN" b="0" dirty="0">
                <a:solidFill>
                  <a:srgbClr val="A31515"/>
                </a:solidFill>
                <a:effectLst/>
                <a:latin typeface="Consolas" panose="020B0609020204030204" pitchFamily="49" charset="0"/>
              </a:rPr>
              <a:t>='2' d='M20 4v5h-.582m0 0a8.001 8.001 0 00-15.356 2m15.356-2H15M4 20v-5h.581m0 0a8.003 8.003 0 0015.357-2M4.581 15H9' /&gt;&lt;/</a:t>
            </a:r>
            <a:r>
              <a:rPr lang="en-IN" b="0" dirty="0" err="1">
                <a:solidFill>
                  <a:srgbClr val="A31515"/>
                </a:solidFill>
                <a:effectLst/>
                <a:latin typeface="Consolas" panose="020B0609020204030204" pitchFamily="49" charset="0"/>
              </a:rPr>
              <a:t>svg</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animation</a:t>
            </a:r>
            <a:r>
              <a:rPr lang="en-IN" b="0" dirty="0">
                <a:solidFill>
                  <a:srgbClr val="000000"/>
                </a:solidFill>
                <a:effectLst/>
                <a:latin typeface="Consolas" panose="020B0609020204030204" pitchFamily="49" charset="0"/>
              </a:rPr>
              <a:t>: spin </a:t>
            </a:r>
            <a:r>
              <a:rPr lang="en-IN" b="0" dirty="0">
                <a:solidFill>
                  <a:srgbClr val="098658"/>
                </a:solidFill>
                <a:effectLst/>
                <a:latin typeface="Consolas" panose="020B0609020204030204" pitchFamily="49" charset="0"/>
              </a:rPr>
              <a:t>1s</a:t>
            </a:r>
            <a:r>
              <a:rPr lang="en-IN" b="0" dirty="0">
                <a:solidFill>
                  <a:srgbClr val="000000"/>
                </a:solidFill>
                <a:effectLst/>
                <a:latin typeface="Consolas" panose="020B0609020204030204" pitchFamily="49" charset="0"/>
              </a:rPr>
              <a:t> </a:t>
            </a:r>
            <a:r>
              <a:rPr lang="en-IN" b="0" dirty="0">
                <a:solidFill>
                  <a:srgbClr val="0451A5"/>
                </a:solidFill>
                <a:effectLst/>
                <a:latin typeface="Consolas" panose="020B0609020204030204" pitchFamily="49" charset="0"/>
              </a:rPr>
              <a:t>infinite</a:t>
            </a:r>
            <a:r>
              <a:rPr lang="en-IN" b="0" dirty="0">
                <a:solidFill>
                  <a:srgbClr val="000000"/>
                </a:solidFill>
                <a:effectLst/>
                <a:latin typeface="Consolas" panose="020B0609020204030204" pitchFamily="49" charset="0"/>
              </a:rPr>
              <a:t> </a:t>
            </a:r>
            <a:r>
              <a:rPr lang="en-IN" b="0" dirty="0">
                <a:solidFill>
                  <a:srgbClr val="0451A5"/>
                </a:solidFill>
                <a:effectLst/>
                <a:latin typeface="Consolas" panose="020B0609020204030204" pitchFamily="49" charset="0"/>
              </a:rPr>
              <a:t>linear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position</a:t>
            </a:r>
            <a:r>
              <a:rPr lang="en-IN" b="0" dirty="0">
                <a:solidFill>
                  <a:srgbClr val="000000"/>
                </a:solidFill>
                <a:effectLst/>
                <a:latin typeface="Consolas" panose="020B0609020204030204" pitchFamily="49" charset="0"/>
              </a:rPr>
              <a:t>: </a:t>
            </a:r>
            <a:r>
              <a:rPr lang="en-IN" b="0" dirty="0">
                <a:solidFill>
                  <a:srgbClr val="0451A5"/>
                </a:solidFill>
                <a:effectLst/>
                <a:latin typeface="Consolas" panose="020B0609020204030204" pitchFamily="49" charset="0"/>
              </a:rPr>
              <a:t>absolute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left</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0.625rem</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top</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0.75rem</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@keyframes</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spin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from {</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transform</a:t>
            </a:r>
            <a:r>
              <a:rPr lang="en-IN" b="0" dirty="0">
                <a:solidFill>
                  <a:srgbClr val="000000"/>
                </a:solidFill>
                <a:effectLst/>
                <a:latin typeface="Consolas" panose="020B0609020204030204" pitchFamily="49" charset="0"/>
              </a:rPr>
              <a:t>: rotate(</a:t>
            </a:r>
            <a:r>
              <a:rPr lang="en-IN" b="0" dirty="0">
                <a:solidFill>
                  <a:srgbClr val="098658"/>
                </a:solidFill>
                <a:effectLst/>
                <a:latin typeface="Consolas" panose="020B0609020204030204" pitchFamily="49" charset="0"/>
              </a:rPr>
              <a:t>0deg</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to {</a:t>
            </a:r>
          </a:p>
          <a:p>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transform</a:t>
            </a:r>
            <a:r>
              <a:rPr lang="en-IN" b="0" dirty="0">
                <a:solidFill>
                  <a:srgbClr val="000000"/>
                </a:solidFill>
                <a:effectLst/>
                <a:latin typeface="Consolas" panose="020B0609020204030204" pitchFamily="49" charset="0"/>
              </a:rPr>
              <a:t>: rotate(</a:t>
            </a:r>
            <a:r>
              <a:rPr lang="en-IN" b="0" dirty="0">
                <a:solidFill>
                  <a:srgbClr val="098658"/>
                </a:solidFill>
                <a:effectLst/>
                <a:latin typeface="Consolas" panose="020B0609020204030204" pitchFamily="49" charset="0"/>
              </a:rPr>
              <a:t>360deg</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A4F9F5C1-56C7-D0DC-4EA3-BA1C054B1EDE}"/>
              </a:ext>
            </a:extLst>
          </p:cNvPr>
          <p:cNvSpPr txBox="1"/>
          <p:nvPr/>
        </p:nvSpPr>
        <p:spPr>
          <a:xfrm>
            <a:off x="9730409" y="198783"/>
            <a:ext cx="1838739" cy="369332"/>
          </a:xfrm>
          <a:prstGeom prst="rect">
            <a:avLst/>
          </a:prstGeom>
          <a:noFill/>
        </p:spPr>
        <p:txBody>
          <a:bodyPr wrap="square" rtlCol="0">
            <a:spAutoFit/>
          </a:bodyPr>
          <a:lstStyle/>
          <a:p>
            <a:r>
              <a:rPr lang="en-US" dirty="0"/>
              <a:t>Index.css</a:t>
            </a:r>
            <a:endParaRPr lang="en-IN" dirty="0"/>
          </a:p>
        </p:txBody>
      </p:sp>
    </p:spTree>
    <p:extLst>
      <p:ext uri="{BB962C8B-B14F-4D97-AF65-F5344CB8AC3E}">
        <p14:creationId xmlns:p14="http://schemas.microsoft.com/office/powerpoint/2010/main" val="4244485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723A8D-6B38-A625-2BE7-D9A441C82B0C}"/>
              </a:ext>
            </a:extLst>
          </p:cNvPr>
          <p:cNvSpPr txBox="1"/>
          <p:nvPr/>
        </p:nvSpPr>
        <p:spPr>
          <a:xfrm>
            <a:off x="1100758" y="1984010"/>
            <a:ext cx="6097656" cy="1200329"/>
          </a:xfrm>
          <a:prstGeom prst="rect">
            <a:avLst/>
          </a:prstGeom>
          <a:noFill/>
        </p:spPr>
        <p:txBody>
          <a:bodyPr wrap="square">
            <a:spAutoFit/>
          </a:bodyPr>
          <a:lstStyle/>
          <a:p>
            <a:r>
              <a:rPr lang="en-IN" dirty="0"/>
              <a:t>https://tekolio.com/how-to-implement-infinite-scrolling-in-react-by-making-a-custom-hook/#:~:text=We%20can%20create%20an%20Infinite,the%20loading%20of%20additional%20content.</a:t>
            </a:r>
          </a:p>
        </p:txBody>
      </p:sp>
      <p:sp>
        <p:nvSpPr>
          <p:cNvPr id="3" name="TextBox 2">
            <a:extLst>
              <a:ext uri="{FF2B5EF4-FFF2-40B4-BE49-F238E27FC236}">
                <a16:creationId xmlns:a16="http://schemas.microsoft.com/office/drawing/2014/main" id="{E1468000-8B18-9A4E-4C3A-3EE7C7D3A566}"/>
              </a:ext>
            </a:extLst>
          </p:cNvPr>
          <p:cNvSpPr txBox="1"/>
          <p:nvPr/>
        </p:nvSpPr>
        <p:spPr>
          <a:xfrm>
            <a:off x="1100758" y="4709564"/>
            <a:ext cx="6097656" cy="646331"/>
          </a:xfrm>
          <a:prstGeom prst="rect">
            <a:avLst/>
          </a:prstGeom>
          <a:noFill/>
        </p:spPr>
        <p:txBody>
          <a:bodyPr wrap="square">
            <a:spAutoFit/>
          </a:bodyPr>
          <a:lstStyle/>
          <a:p>
            <a:r>
              <a:rPr lang="en-IN" dirty="0"/>
              <a:t>https://www.makeuseof.com/react-pagination-using-reactpaginate-library/</a:t>
            </a:r>
          </a:p>
        </p:txBody>
      </p:sp>
      <p:sp>
        <p:nvSpPr>
          <p:cNvPr id="2" name="TextBox 1">
            <a:extLst>
              <a:ext uri="{FF2B5EF4-FFF2-40B4-BE49-F238E27FC236}">
                <a16:creationId xmlns:a16="http://schemas.microsoft.com/office/drawing/2014/main" id="{0C75D5BC-E885-F472-A254-45561223D5AC}"/>
              </a:ext>
            </a:extLst>
          </p:cNvPr>
          <p:cNvSpPr txBox="1"/>
          <p:nvPr/>
        </p:nvSpPr>
        <p:spPr>
          <a:xfrm>
            <a:off x="1925707" y="1182757"/>
            <a:ext cx="2981739"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For infinite scrolling</a:t>
            </a:r>
            <a:endParaRPr lang="en-IN" dirty="0"/>
          </a:p>
        </p:txBody>
      </p:sp>
      <p:sp>
        <p:nvSpPr>
          <p:cNvPr id="4" name="TextBox 3">
            <a:extLst>
              <a:ext uri="{FF2B5EF4-FFF2-40B4-BE49-F238E27FC236}">
                <a16:creationId xmlns:a16="http://schemas.microsoft.com/office/drawing/2014/main" id="{0BBA33A9-611E-C19E-0030-1845371A61B1}"/>
              </a:ext>
            </a:extLst>
          </p:cNvPr>
          <p:cNvSpPr txBox="1"/>
          <p:nvPr/>
        </p:nvSpPr>
        <p:spPr>
          <a:xfrm>
            <a:off x="2057400" y="4084983"/>
            <a:ext cx="250466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For pagination</a:t>
            </a:r>
            <a:endParaRPr lang="en-IN" dirty="0"/>
          </a:p>
        </p:txBody>
      </p:sp>
    </p:spTree>
    <p:extLst>
      <p:ext uri="{BB962C8B-B14F-4D97-AF65-F5344CB8AC3E}">
        <p14:creationId xmlns:p14="http://schemas.microsoft.com/office/powerpoint/2010/main" val="2473469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TotalTime>
  <Words>1860</Words>
  <Application>Microsoft Office PowerPoint</Application>
  <PresentationFormat>Widescreen</PresentationFormat>
  <Paragraphs>208</Paragraphs>
  <Slides>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9</vt:i4>
      </vt:variant>
    </vt:vector>
  </HeadingPairs>
  <TitlesOfParts>
    <vt:vector size="23" baseType="lpstr">
      <vt:lpstr>Arial</vt:lpstr>
      <vt:lpstr>Arial</vt:lpstr>
      <vt:lpstr>Calibri</vt:lpstr>
      <vt:lpstr>Calibri Light</vt:lpstr>
      <vt:lpstr>Consolas</vt:lpstr>
      <vt:lpstr>Crimson Text</vt:lpstr>
      <vt:lpstr>Google Sans</vt:lpstr>
      <vt:lpstr>Optimistic Display</vt:lpstr>
      <vt:lpstr>Outfit</vt:lpstr>
      <vt:lpstr>Proxima Nova</vt:lpstr>
      <vt:lpstr>Segoe UI</vt:lpstr>
      <vt:lpstr>Source Code Pro</vt:lpstr>
      <vt:lpstr>var(--ifm-heading-font-family)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Basaid</dc:creator>
  <cp:lastModifiedBy>sriram mantri vidyanidhi infotech academy</cp:lastModifiedBy>
  <cp:revision>30</cp:revision>
  <dcterms:created xsi:type="dcterms:W3CDTF">2023-07-14T00:42:14Z</dcterms:created>
  <dcterms:modified xsi:type="dcterms:W3CDTF">2025-05-11T17:32:53Z</dcterms:modified>
</cp:coreProperties>
</file>