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0" r:id="rId2"/>
    <p:sldId id="275" r:id="rId3"/>
    <p:sldId id="276" r:id="rId4"/>
    <p:sldId id="277" r:id="rId5"/>
    <p:sldId id="278" r:id="rId6"/>
    <p:sldId id="279" r:id="rId7"/>
    <p:sldId id="280" r:id="rId8"/>
    <p:sldId id="281" r:id="rId9"/>
    <p:sldId id="301" r:id="rId10"/>
    <p:sldId id="282" r:id="rId11"/>
    <p:sldId id="283" r:id="rId12"/>
    <p:sldId id="284" r:id="rId13"/>
    <p:sldId id="285" r:id="rId14"/>
    <p:sldId id="286" r:id="rId15"/>
    <p:sldId id="287" r:id="rId16"/>
    <p:sldId id="288" r:id="rId17"/>
    <p:sldId id="289" r:id="rId18"/>
    <p:sldId id="290" r:id="rId19"/>
    <p:sldId id="291" r:id="rId20"/>
    <p:sldId id="30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9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13-05-2025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13-05-2025</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13-05-2025</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react.semantic-ui.com/" TargetMode="External"/><Relationship Id="rId2" Type="http://schemas.openxmlformats.org/officeDocument/2006/relationships/hyperlink" Target="https://react-hook-form.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E0E8E07-BAFB-44CB-8736-F5BAB9AD142B}"/>
              </a:ext>
            </a:extLst>
          </p:cNvPr>
          <p:cNvSpPr>
            <a:spLocks noGrp="1" noChangeArrowheads="1"/>
          </p:cNvSpPr>
          <p:nvPr>
            <p:ph idx="1"/>
          </p:nvPr>
        </p:nvSpPr>
        <p:spPr bwMode="auto">
          <a:xfrm>
            <a:off x="98886" y="-299478"/>
            <a:ext cx="1151301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latin typeface="Arial" panose="020B0604020202020204" pitchFamily="34" charset="0"/>
              </a:rPr>
              <a:t>1</a:t>
            </a:r>
            <a:r>
              <a:rPr kumimoji="0" lang="en-US" altLang="en-US" sz="1800" b="0" i="0" u="none" strike="noStrike" cap="none" normalizeH="0" baseline="0" dirty="0">
                <a:ln>
                  <a:noFill/>
                </a:ln>
                <a:solidFill>
                  <a:schemeClr val="tx1"/>
                </a:solidFill>
                <a:effectLst/>
                <a:latin typeface="Arial" panose="020B0604020202020204" pitchFamily="34" charset="0"/>
              </a:rPr>
              <a:t>Formik is a small group of React components and hooks for building forms in React and React Native.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It helps with the three most parts: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Getting values in and out of form state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Validation and error messages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Handling form submission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Let's navigate to our node </a:t>
            </a:r>
            <a:r>
              <a:rPr kumimoji="0" lang="en-US" altLang="en-US" sz="1800" b="0" i="0" u="none" strike="noStrike" cap="none" normalizeH="0" baseline="0" dirty="0" err="1">
                <a:ln>
                  <a:noFill/>
                </a:ln>
                <a:solidFill>
                  <a:schemeClr val="tx1"/>
                </a:solidFill>
                <a:effectLst/>
                <a:latin typeface="Arial" panose="020B0604020202020204" pitchFamily="34" charset="0"/>
              </a:rPr>
              <a:t>js</a:t>
            </a:r>
            <a:r>
              <a:rPr kumimoji="0" lang="en-US" altLang="en-US" sz="1800" b="0" i="0" u="none" strike="noStrike" cap="none" normalizeH="0" baseline="0" dirty="0">
                <a:ln>
                  <a:noFill/>
                </a:ln>
                <a:solidFill>
                  <a:schemeClr val="tx1"/>
                </a:solidFill>
                <a:effectLst/>
                <a:latin typeface="Arial" panose="020B0604020202020204" pitchFamily="34" charset="0"/>
              </a:rPr>
              <a:t> command prompt. Run a command to install </a:t>
            </a:r>
            <a:r>
              <a:rPr kumimoji="0" lang="en-US" altLang="en-US" sz="1800" b="0" i="0" u="none" strike="noStrike" cap="none" normalizeH="0" baseline="0" dirty="0" err="1">
                <a:ln>
                  <a:noFill/>
                </a:ln>
                <a:solidFill>
                  <a:schemeClr val="tx1"/>
                </a:solidFill>
                <a:effectLst/>
                <a:latin typeface="Arial" panose="020B0604020202020204" pitchFamily="34" charset="0"/>
              </a:rPr>
              <a:t>formik</a:t>
            </a:r>
            <a:r>
              <a:rPr kumimoji="0" lang="en-US" altLang="en-US" sz="1800" b="0" i="0" u="none" strike="noStrike" cap="none" normalizeH="0" baseline="0" dirty="0">
                <a:ln>
                  <a:noFill/>
                </a:ln>
                <a:solidFill>
                  <a:schemeClr val="tx1"/>
                </a:solidFill>
                <a:effectLst/>
                <a:latin typeface="Arial" panose="020B0604020202020204" pitchFamily="34" charset="0"/>
              </a:rPr>
              <a:t> into our project.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highlight>
                  <a:srgbClr val="FFFF00"/>
                </a:highlight>
                <a:latin typeface="Arial" panose="020B0604020202020204" pitchFamily="34" charset="0"/>
              </a:rPr>
              <a:t>npm</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install </a:t>
            </a:r>
            <a:r>
              <a:rPr kumimoji="0" lang="en-US" altLang="en-US" sz="1800" b="0" i="0" u="none" strike="noStrike" cap="none" normalizeH="0" baseline="0" dirty="0" err="1">
                <a:ln>
                  <a:noFill/>
                </a:ln>
                <a:solidFill>
                  <a:schemeClr val="tx1"/>
                </a:solidFill>
                <a:effectLst/>
                <a:highlight>
                  <a:srgbClr val="FFFF00"/>
                </a:highlight>
                <a:latin typeface="Arial" panose="020B0604020202020204" pitchFamily="34" charset="0"/>
              </a:rPr>
              <a:t>formik</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–save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After the installation is successful, run our project using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Npm</a:t>
            </a:r>
            <a:r>
              <a:rPr kumimoji="0" lang="en-US" altLang="en-US" sz="1800" b="0" i="0" u="none" strike="noStrike" cap="none" normalizeH="0" baseline="0" dirty="0">
                <a:ln>
                  <a:noFill/>
                </a:ln>
                <a:solidFill>
                  <a:schemeClr val="tx1"/>
                </a:solidFill>
                <a:effectLst/>
                <a:latin typeface="Arial" panose="020B0604020202020204" pitchFamily="34" charset="0"/>
              </a:rPr>
              <a:t> start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Lets import use </a:t>
            </a:r>
            <a:r>
              <a:rPr kumimoji="0" lang="en-US" altLang="en-US" sz="1800" b="0" i="0" u="none" strike="noStrike" cap="none" normalizeH="0" baseline="0" dirty="0" err="1">
                <a:ln>
                  <a:noFill/>
                </a:ln>
                <a:solidFill>
                  <a:schemeClr val="tx1"/>
                </a:solidFill>
                <a:effectLst/>
                <a:latin typeface="Arial" panose="020B0604020202020204" pitchFamily="34" charset="0"/>
              </a:rPr>
              <a:t>Formik</a:t>
            </a:r>
            <a:r>
              <a:rPr kumimoji="0" lang="en-US" altLang="en-US" sz="1800" b="0" i="0" u="none" strike="noStrike" cap="none" normalizeH="0" baseline="0" dirty="0">
                <a:ln>
                  <a:noFill/>
                </a:ln>
                <a:solidFill>
                  <a:schemeClr val="tx1"/>
                </a:solidFill>
                <a:effectLst/>
                <a:latin typeface="Arial" panose="020B0604020202020204" pitchFamily="34" charset="0"/>
              </a:rPr>
              <a:t> from </a:t>
            </a:r>
            <a:r>
              <a:rPr kumimoji="0" lang="en-US" altLang="en-US" sz="1800" b="0" i="0" u="none" strike="noStrike" cap="none" normalizeH="0" baseline="0" dirty="0" err="1">
                <a:ln>
                  <a:noFill/>
                </a:ln>
                <a:solidFill>
                  <a:schemeClr val="tx1"/>
                </a:solidFill>
                <a:effectLst/>
                <a:latin typeface="Arial" panose="020B0604020202020204" pitchFamily="34" charset="0"/>
              </a:rPr>
              <a:t>formik</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Let's create </a:t>
            </a:r>
            <a:r>
              <a:rPr kumimoji="0" lang="en-US" altLang="en-US" sz="1800" b="0" i="0" u="none" strike="noStrike" cap="none" normalizeH="0" baseline="0" dirty="0" err="1">
                <a:ln>
                  <a:noFill/>
                </a:ln>
                <a:solidFill>
                  <a:schemeClr val="tx1"/>
                </a:solidFill>
                <a:effectLst/>
                <a:latin typeface="Arial" panose="020B0604020202020204" pitchFamily="34" charset="0"/>
              </a:rPr>
              <a:t>EmployeeComponent</a:t>
            </a:r>
            <a:r>
              <a:rPr kumimoji="0" lang="en-US" altLang="en-US" sz="1800" b="0" i="0" u="none" strike="noStrike" cap="none" normalizeH="0" baseline="0" dirty="0">
                <a:ln>
                  <a:noFill/>
                </a:ln>
                <a:solidFill>
                  <a:schemeClr val="tx1"/>
                </a:solidFill>
                <a:effectLst/>
                <a:latin typeface="Arial" panose="020B0604020202020204" pitchFamily="34" charset="0"/>
              </a:rPr>
              <a:t> class and extend it from React. Component class.</a:t>
            </a:r>
          </a:p>
        </p:txBody>
      </p:sp>
    </p:spTree>
    <p:extLst>
      <p:ext uri="{BB962C8B-B14F-4D97-AF65-F5344CB8AC3E}">
        <p14:creationId xmlns:p14="http://schemas.microsoft.com/office/powerpoint/2010/main" val="3551849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3F94DC-2641-47BE-9A17-58BDDAE4FF28}"/>
              </a:ext>
            </a:extLst>
          </p:cNvPr>
          <p:cNvSpPr>
            <a:spLocks noGrp="1"/>
          </p:cNvSpPr>
          <p:nvPr>
            <p:ph idx="1"/>
          </p:nvPr>
        </p:nvSpPr>
        <p:spPr>
          <a:xfrm>
            <a:off x="324466" y="589935"/>
            <a:ext cx="4060722" cy="5587028"/>
          </a:xfrm>
        </p:spPr>
        <p:txBody>
          <a:bodyPr>
            <a:noAutofit/>
          </a:bodyPr>
          <a:lstStyle/>
          <a:p>
            <a:pPr marL="0" indent="0">
              <a:lnSpc>
                <a:spcPct val="100000"/>
              </a:lnSpc>
              <a:spcBef>
                <a:spcPts val="0"/>
              </a:spcBef>
              <a:buNone/>
            </a:pP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useFormik</a:t>
            </a:r>
            <a:r>
              <a:rPr lang="en-IN" sz="1200" b="0" dirty="0">
                <a:solidFill>
                  <a:srgbClr val="000000"/>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formik</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FF"/>
                </a:solidFill>
                <a:effectLst/>
                <a:latin typeface="Consolas" panose="020B0609020204030204" pitchFamily="49" charset="0"/>
              </a:rPr>
              <a:t>class</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extends</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React</a:t>
            </a:r>
            <a:r>
              <a:rPr lang="en-IN" sz="1200" b="0" dirty="0" err="1">
                <a:solidFill>
                  <a:srgbClr val="000000"/>
                </a:solidFill>
                <a:effectLst/>
                <a:latin typeface="Consolas" panose="020B0609020204030204" pitchFamily="49" charset="0"/>
              </a:rPr>
              <a:t>.</a:t>
            </a:r>
            <a:r>
              <a:rPr lang="en-IN" sz="1200" b="0" dirty="0" err="1">
                <a:solidFill>
                  <a:srgbClr val="267F99"/>
                </a:solidFill>
                <a:effectLst/>
                <a:latin typeface="Consolas" panose="020B0609020204030204" pitchFamily="49" charset="0"/>
              </a:rPr>
              <a:t>Component</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render</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a:solidFill>
                  <a:srgbClr val="267F99"/>
                </a:solidFill>
                <a:effectLst/>
                <a:latin typeface="Consolas" panose="020B0609020204030204" pitchFamily="49" charset="0"/>
              </a:rPr>
              <a:t>Employee</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Employee</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 = </a:t>
            </a:r>
            <a:r>
              <a:rPr lang="en-IN" sz="1200" b="0" dirty="0" err="1">
                <a:solidFill>
                  <a:srgbClr val="795E26"/>
                </a:solidFill>
                <a:effectLst/>
                <a:latin typeface="Consolas" panose="020B0609020204030204" pitchFamily="49" charset="0"/>
              </a:rPr>
              <a:t>useFormik</a:t>
            </a:r>
            <a:r>
              <a:rPr lang="en-IN" sz="1200" b="0" dirty="0">
                <a:solidFill>
                  <a:srgbClr val="000000"/>
                </a:solidFill>
                <a:effectLst/>
                <a:latin typeface="Consolas" panose="020B0609020204030204" pitchFamily="49" charset="0"/>
              </a:rPr>
              <a:t>(</a:t>
            </a:r>
            <a:r>
              <a:rPr lang="en-IN" sz="1600" b="1" dirty="0">
                <a:solidFill>
                  <a:srgbClr val="FF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initialValues</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annualSalary</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dateOfBirth</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onSubmit</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=&gt;</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JSON</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stringify</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600" b="1" dirty="0">
                <a:solidFill>
                  <a:srgbClr val="FF000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endParaRPr lang="en-IN" sz="1200" dirty="0"/>
          </a:p>
        </p:txBody>
      </p:sp>
      <p:sp>
        <p:nvSpPr>
          <p:cNvPr id="5" name="TextBox 4">
            <a:extLst>
              <a:ext uri="{FF2B5EF4-FFF2-40B4-BE49-F238E27FC236}">
                <a16:creationId xmlns:a16="http://schemas.microsoft.com/office/drawing/2014/main" id="{8ED896AF-75EF-4234-A32E-AAD9618B4C1D}"/>
              </a:ext>
            </a:extLst>
          </p:cNvPr>
          <p:cNvSpPr txBox="1"/>
          <p:nvPr/>
        </p:nvSpPr>
        <p:spPr>
          <a:xfrm>
            <a:off x="4768646" y="108320"/>
            <a:ext cx="6135328" cy="6370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onSubmit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handleSubmit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Code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"code"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code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handleChange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&gt;&lt;/input&gt;&lt;/label&gt;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name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handleChange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&gt;&lt;/input&gt;&lt;/label&gt;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gender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"gender"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gender</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handleChange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&gt;&lt;/input&gt;&lt;/label&gt;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handleChange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&gt;&lt;/input&gt;&lt;/label&gt;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handleChange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&gt;&lt;/input&gt;&lt;/label&gt;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"submit"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Create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default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1195380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F2E47-F5A1-4E08-A7AE-8998B434C975}"/>
              </a:ext>
            </a:extLst>
          </p:cNvPr>
          <p:cNvSpPr>
            <a:spLocks noGrp="1"/>
          </p:cNvSpPr>
          <p:nvPr>
            <p:ph type="title"/>
          </p:nvPr>
        </p:nvSpPr>
        <p:spPr>
          <a:xfrm>
            <a:off x="1112274" y="33439"/>
            <a:ext cx="9967452" cy="647598"/>
          </a:xfrm>
        </p:spPr>
        <p:txBody>
          <a:bodyPr>
            <a:normAutofit fontScale="90000"/>
          </a:bodyPr>
          <a:lstStyle/>
          <a:p>
            <a:r>
              <a:rPr lang="en-IN" dirty="0" err="1"/>
              <a:t>Formik</a:t>
            </a:r>
            <a:r>
              <a:rPr lang="en-IN" dirty="0"/>
              <a:t> form validation</a:t>
            </a:r>
          </a:p>
        </p:txBody>
      </p:sp>
      <p:sp>
        <p:nvSpPr>
          <p:cNvPr id="3" name="Content Placeholder 2">
            <a:extLst>
              <a:ext uri="{FF2B5EF4-FFF2-40B4-BE49-F238E27FC236}">
                <a16:creationId xmlns:a16="http://schemas.microsoft.com/office/drawing/2014/main" id="{92CCC598-91FD-48C0-BB58-417B50F93908}"/>
              </a:ext>
            </a:extLst>
          </p:cNvPr>
          <p:cNvSpPr>
            <a:spLocks noGrp="1"/>
          </p:cNvSpPr>
          <p:nvPr>
            <p:ph idx="1"/>
          </p:nvPr>
        </p:nvSpPr>
        <p:spPr>
          <a:xfrm>
            <a:off x="167148" y="806245"/>
            <a:ext cx="11186652" cy="5370718"/>
          </a:xfrm>
        </p:spPr>
        <p:txBody>
          <a:bodyPr>
            <a:normAutofit lnSpcReduction="10000"/>
          </a:bodyPr>
          <a:lstStyle/>
          <a:p>
            <a:r>
              <a:rPr lang="en-US" dirty="0"/>
              <a:t>We have to add Validation. From this forms input data, lets say we want to add Validation for Employee Name, Employee Location and Employee Email ID.</a:t>
            </a:r>
          </a:p>
          <a:p>
            <a:r>
              <a:rPr lang="en-US" dirty="0"/>
              <a:t>Lets define Our Validation rules before we proceed and write the code.</a:t>
            </a:r>
          </a:p>
          <a:p>
            <a:r>
              <a:rPr lang="en-US" dirty="0"/>
              <a:t>-Employee Name </a:t>
            </a:r>
          </a:p>
          <a:p>
            <a:pPr marL="0" indent="0">
              <a:buNone/>
            </a:pPr>
            <a:r>
              <a:rPr lang="en-US" dirty="0"/>
              <a:t>        1. Required</a:t>
            </a:r>
          </a:p>
          <a:p>
            <a:pPr marL="0" indent="0">
              <a:buNone/>
            </a:pPr>
            <a:r>
              <a:rPr lang="en-US" dirty="0"/>
              <a:t>        2. </a:t>
            </a:r>
            <a:r>
              <a:rPr lang="en-US" dirty="0" err="1"/>
              <a:t>MaxLength</a:t>
            </a:r>
            <a:r>
              <a:rPr lang="en-US" dirty="0"/>
              <a:t> 20 Characters</a:t>
            </a:r>
          </a:p>
          <a:p>
            <a:r>
              <a:rPr lang="en-US" dirty="0"/>
              <a:t>-Employee  </a:t>
            </a:r>
            <a:r>
              <a:rPr lang="en-US" dirty="0" err="1"/>
              <a:t>annualSalary</a:t>
            </a:r>
            <a:endParaRPr lang="en-US" dirty="0"/>
          </a:p>
          <a:p>
            <a:pPr marL="0" indent="0">
              <a:buNone/>
            </a:pPr>
            <a:r>
              <a:rPr lang="en-US" dirty="0"/>
              <a:t>        1. Required</a:t>
            </a:r>
          </a:p>
          <a:p>
            <a:r>
              <a:rPr lang="en-US" dirty="0"/>
              <a:t>-Employee Email</a:t>
            </a:r>
          </a:p>
          <a:p>
            <a:pPr marL="0" indent="0">
              <a:buNone/>
            </a:pPr>
            <a:r>
              <a:rPr lang="en-US" dirty="0"/>
              <a:t>        1. Required</a:t>
            </a:r>
          </a:p>
          <a:p>
            <a:pPr marL="0" indent="0">
              <a:buNone/>
            </a:pPr>
            <a:r>
              <a:rPr lang="en-US" dirty="0"/>
              <a:t>        2. Email Pattern </a:t>
            </a:r>
            <a:endParaRPr lang="en-IN" dirty="0"/>
          </a:p>
        </p:txBody>
      </p:sp>
    </p:spTree>
    <p:extLst>
      <p:ext uri="{BB962C8B-B14F-4D97-AF65-F5344CB8AC3E}">
        <p14:creationId xmlns:p14="http://schemas.microsoft.com/office/powerpoint/2010/main" val="2765545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75E0C3-AC4A-45A8-8414-4C4532372793}"/>
              </a:ext>
            </a:extLst>
          </p:cNvPr>
          <p:cNvSpPr>
            <a:spLocks noGrp="1"/>
          </p:cNvSpPr>
          <p:nvPr>
            <p:ph idx="1"/>
          </p:nvPr>
        </p:nvSpPr>
        <p:spPr>
          <a:xfrm>
            <a:off x="865239" y="98322"/>
            <a:ext cx="10931013" cy="5488705"/>
          </a:xfrm>
        </p:spPr>
        <p:txBody>
          <a:bodyPr>
            <a:normAutofit fontScale="62500" lnSpcReduction="20000"/>
          </a:bodyPr>
          <a:lstStyle/>
          <a:p>
            <a:r>
              <a:rPr lang="en-US" dirty="0"/>
              <a:t>Now lets go ahead and create a </a:t>
            </a:r>
            <a:r>
              <a:rPr lang="en-US" b="1" dirty="0"/>
              <a:t>function with a name as </a:t>
            </a:r>
            <a:r>
              <a:rPr lang="en-US" b="1" dirty="0" err="1"/>
              <a:t>ValidateEmployee</a:t>
            </a:r>
            <a:r>
              <a:rPr lang="en-US" b="1" dirty="0"/>
              <a:t> </a:t>
            </a:r>
            <a:r>
              <a:rPr lang="en-US" dirty="0"/>
              <a:t>in our index.js file. This function will receive our employee object as input data. Lets create an object using which we will return error messages. Lets check if employee Name is having the data or not and if it </a:t>
            </a:r>
            <a:r>
              <a:rPr lang="en-US" dirty="0" err="1"/>
              <a:t>doesnot</a:t>
            </a:r>
            <a:r>
              <a:rPr lang="en-US" dirty="0"/>
              <a:t> have the data, set a New Property to our errors object and write the Error Message. If Employee Name is Entered, we have to check for </a:t>
            </a:r>
            <a:r>
              <a:rPr lang="en-US" dirty="0" err="1"/>
              <a:t>maxlength</a:t>
            </a:r>
            <a:r>
              <a:rPr lang="en-US" dirty="0"/>
              <a:t> validation. </a:t>
            </a:r>
          </a:p>
          <a:p>
            <a:endParaRPr lang="en-US" dirty="0"/>
          </a:p>
          <a:p>
            <a:r>
              <a:rPr lang="en-US" dirty="0"/>
              <a:t>Now lets repeat the same for </a:t>
            </a:r>
            <a:r>
              <a:rPr lang="en-US" dirty="0" err="1"/>
              <a:t>annualSalary</a:t>
            </a:r>
            <a:r>
              <a:rPr lang="en-US" dirty="0"/>
              <a:t> and for gender we do only required field validation. And we do the same for Email ID plus we will do regular expression validation to check the Email ID format. From this function, we will return the errors object. </a:t>
            </a:r>
          </a:p>
          <a:p>
            <a:endParaRPr lang="en-US" dirty="0"/>
          </a:p>
          <a:p>
            <a:r>
              <a:rPr lang="en-US" dirty="0"/>
              <a:t>Pass this function name to the validate Property of the </a:t>
            </a:r>
            <a:r>
              <a:rPr lang="en-US" dirty="0" err="1"/>
              <a:t>useFormik</a:t>
            </a:r>
            <a:r>
              <a:rPr lang="en-US" dirty="0"/>
              <a:t> function. Now lets go ahead and add the code required to display the Error Messages. It is important to display the messages only when user touch the input. To take </a:t>
            </a:r>
            <a:r>
              <a:rPr lang="en-US" b="1" dirty="0"/>
              <a:t>advantage of touched</a:t>
            </a:r>
            <a:r>
              <a:rPr lang="en-US" dirty="0"/>
              <a:t>, we can pass </a:t>
            </a:r>
            <a:r>
              <a:rPr lang="en-US" b="1" dirty="0" err="1"/>
              <a:t>formik.handleBlur</a:t>
            </a:r>
            <a:r>
              <a:rPr lang="en-US" b="1" dirty="0"/>
              <a:t> </a:t>
            </a:r>
            <a:r>
              <a:rPr lang="en-US" dirty="0"/>
              <a:t>to each input's </a:t>
            </a:r>
            <a:r>
              <a:rPr lang="en-US" dirty="0" err="1"/>
              <a:t>onBlur</a:t>
            </a:r>
            <a:r>
              <a:rPr lang="en-US" dirty="0"/>
              <a:t> prop.</a:t>
            </a:r>
          </a:p>
          <a:p>
            <a:endParaRPr lang="en-US" dirty="0"/>
          </a:p>
          <a:p>
            <a:r>
              <a:rPr lang="en-US" dirty="0" err="1"/>
              <a:t>handleChange</a:t>
            </a:r>
            <a:r>
              <a:rPr lang="en-US" dirty="0"/>
              <a:t>: (e: </a:t>
            </a:r>
            <a:r>
              <a:rPr lang="en-US" dirty="0" err="1"/>
              <a:t>React.ChangeEvent</a:t>
            </a:r>
            <a:r>
              <a:rPr lang="en-US" dirty="0"/>
              <a:t>&lt;any&gt;) =&gt; void</a:t>
            </a:r>
          </a:p>
          <a:p>
            <a:r>
              <a:rPr lang="en-US" dirty="0"/>
              <a:t>General input change event handler. This will update the values[key] where key is the event-emitting input's name attribute. If the name attribute is not present, </a:t>
            </a:r>
            <a:r>
              <a:rPr lang="en-US" dirty="0" err="1"/>
              <a:t>handleChange</a:t>
            </a:r>
            <a:r>
              <a:rPr lang="en-US" dirty="0"/>
              <a:t> will look for an input's id attribute. Note: "input" here means all HTML inputs</a:t>
            </a:r>
          </a:p>
          <a:p>
            <a:endParaRPr lang="en-US" dirty="0"/>
          </a:p>
          <a:p>
            <a:r>
              <a:rPr lang="en-US" dirty="0"/>
              <a:t>So after the input field, lets check if Name is input field is touched or not and if it is touched, check if the Name property has any errors or not. If Name has Errors, lets display the Error message in a span. Lets repeat the same for rest of the input elements.</a:t>
            </a:r>
            <a:endParaRPr lang="en-IN" dirty="0"/>
          </a:p>
        </p:txBody>
      </p:sp>
    </p:spTree>
    <p:extLst>
      <p:ext uri="{BB962C8B-B14F-4D97-AF65-F5344CB8AC3E}">
        <p14:creationId xmlns:p14="http://schemas.microsoft.com/office/powerpoint/2010/main" val="160152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FDAD23D-1538-4CF8-9C2C-BFF3635902FE}"/>
              </a:ext>
            </a:extLst>
          </p:cNvPr>
          <p:cNvSpPr>
            <a:spLocks noGrp="1"/>
          </p:cNvSpPr>
          <p:nvPr>
            <p:ph idx="1"/>
          </p:nvPr>
        </p:nvSpPr>
        <p:spPr>
          <a:xfrm>
            <a:off x="1072229" y="0"/>
            <a:ext cx="4030713" cy="2192594"/>
          </a:xfrm>
        </p:spPr>
        <p:style>
          <a:lnRef idx="2">
            <a:schemeClr val="accent4"/>
          </a:lnRef>
          <a:fillRef idx="1">
            <a:schemeClr val="lt1"/>
          </a:fillRef>
          <a:effectRef idx="0">
            <a:schemeClr val="accent4"/>
          </a:effectRef>
          <a:fontRef idx="minor">
            <a:schemeClr val="dk1"/>
          </a:fontRef>
        </p:style>
        <p:txBody>
          <a:bodyPr>
            <a:normAutofit/>
          </a:bodyPr>
          <a:lstStyle/>
          <a:p>
            <a:pPr marL="0" indent="0">
              <a:lnSpc>
                <a:spcPct val="100000"/>
              </a:lnSpc>
              <a:spcBef>
                <a:spcPts val="0"/>
              </a:spcBef>
              <a:buNone/>
            </a:pP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useFormik</a:t>
            </a:r>
            <a:r>
              <a:rPr lang="en-IN" sz="1200" b="0" dirty="0">
                <a:solidFill>
                  <a:srgbClr val="000000"/>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formik</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FF"/>
                </a:solidFill>
                <a:effectLst/>
                <a:latin typeface="Consolas" panose="020B0609020204030204" pitchFamily="49" charset="0"/>
              </a:rPr>
              <a:t>class</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extends</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React</a:t>
            </a:r>
            <a:r>
              <a:rPr lang="en-IN" sz="1200" b="0" dirty="0" err="1">
                <a:solidFill>
                  <a:srgbClr val="000000"/>
                </a:solidFill>
                <a:effectLst/>
                <a:latin typeface="Consolas" panose="020B0609020204030204" pitchFamily="49" charset="0"/>
              </a:rPr>
              <a:t>.</a:t>
            </a:r>
            <a:r>
              <a:rPr lang="en-IN" sz="1200" b="0" dirty="0" err="1">
                <a:solidFill>
                  <a:srgbClr val="267F99"/>
                </a:solidFill>
                <a:effectLst/>
                <a:latin typeface="Consolas" panose="020B0609020204030204" pitchFamily="49" charset="0"/>
              </a:rPr>
              <a:t>Component</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render</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a:solidFill>
                  <a:srgbClr val="267F99"/>
                </a:solidFill>
                <a:effectLst/>
                <a:latin typeface="Consolas" panose="020B0609020204030204" pitchFamily="49" charset="0"/>
              </a:rPr>
              <a:t>Employee</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a:t>
            </a:r>
          </a:p>
          <a:p>
            <a:pPr marL="0" indent="0">
              <a:buNone/>
            </a:pPr>
            <a:endParaRPr lang="en-IN" sz="1200" dirty="0"/>
          </a:p>
        </p:txBody>
      </p:sp>
      <p:sp>
        <p:nvSpPr>
          <p:cNvPr id="5" name="TextBox 4">
            <a:extLst>
              <a:ext uri="{FF2B5EF4-FFF2-40B4-BE49-F238E27FC236}">
                <a16:creationId xmlns:a16="http://schemas.microsoft.com/office/drawing/2014/main" id="{D208017F-214E-48B1-89FF-A5850A5FF4EE}"/>
              </a:ext>
            </a:extLst>
          </p:cNvPr>
          <p:cNvSpPr txBox="1"/>
          <p:nvPr/>
        </p:nvSpPr>
        <p:spPr>
          <a:xfrm>
            <a:off x="5525216" y="100934"/>
            <a:ext cx="6135328" cy="563231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200" b="0" dirty="0" err="1">
                <a:solidFill>
                  <a:srgbClr val="0000FF"/>
                </a:solidFill>
                <a:effectLst/>
                <a:latin typeface="Consolas" panose="020B0609020204030204" pitchFamily="49" charset="0"/>
              </a:rPr>
              <a:t>const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validateEmployee</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empData</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=&gt;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000000"/>
                </a:solidFill>
                <a:effectLst/>
                <a:latin typeface="Consolas" panose="020B0609020204030204" pitchFamily="49" charset="0"/>
              </a:rPr>
              <a:t> </a:t>
            </a:r>
            <a:r>
              <a:rPr lang="en-IN" sz="1200" b="0" dirty="0">
                <a:solidFill>
                  <a:srgbClr val="0070C1"/>
                </a:solidFill>
                <a:effectLst/>
                <a:latin typeface="Consolas" panose="020B0609020204030204" pitchFamily="49" charset="0"/>
              </a:rPr>
              <a:t>errors</a:t>
            </a:r>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empData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'Please Enter Employee code'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r>
              <a:rPr lang="en-IN" sz="1200" b="0" dirty="0">
                <a:solidFill>
                  <a:srgbClr val="AF00DB"/>
                </a:solidFill>
                <a:effectLst/>
                <a:latin typeface="Consolas" panose="020B0609020204030204" pitchFamily="49" charset="0"/>
              </a:rPr>
              <a:t>else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empData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length</a:t>
            </a:r>
            <a:r>
              <a:rPr lang="en-IN" sz="1200" b="0" dirty="0">
                <a:solidFill>
                  <a:srgbClr val="000000"/>
                </a:solidFill>
                <a:effectLst/>
                <a:latin typeface="Consolas" panose="020B0609020204030204" pitchFamily="49" charset="0"/>
              </a:rPr>
              <a:t> &lt;</a:t>
            </a:r>
            <a:r>
              <a:rPr lang="en-IN" sz="1200" b="0" dirty="0">
                <a:solidFill>
                  <a:srgbClr val="098658"/>
                </a:solidFill>
                <a:effectLst/>
                <a:latin typeface="Consolas" panose="020B0609020204030204" pitchFamily="49" charset="0"/>
              </a:rPr>
              <a:t>2</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'code is  3 digit'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empData</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70C1"/>
                </a:solidFill>
                <a:effectLst/>
                <a:latin typeface="Consolas" panose="020B0609020204030204" pitchFamily="49" charset="0"/>
              </a:rPr>
              <a:t>errors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'Please Enter Employee 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r>
              <a:rPr lang="en-IN" sz="1200" b="0" dirty="0">
                <a:solidFill>
                  <a:srgbClr val="AF00DB"/>
                </a:solidFill>
                <a:effectLst/>
                <a:latin typeface="Consolas" panose="020B0609020204030204" pitchFamily="49" charset="0"/>
              </a:rPr>
              <a:t>else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empData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name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length</a:t>
            </a:r>
            <a:r>
              <a:rPr lang="en-IN" sz="1200" b="0" dirty="0">
                <a:solidFill>
                  <a:srgbClr val="000000"/>
                </a:solidFill>
                <a:effectLst/>
                <a:latin typeface="Consolas" panose="020B0609020204030204" pitchFamily="49" charset="0"/>
              </a:rPr>
              <a:t> &gt; </a:t>
            </a:r>
            <a:r>
              <a:rPr lang="en-IN" sz="1200" b="0" dirty="0">
                <a:solidFill>
                  <a:srgbClr val="098658"/>
                </a:solidFill>
                <a:effectLst/>
                <a:latin typeface="Consolas" panose="020B0609020204030204" pitchFamily="49" charset="0"/>
              </a:rPr>
              <a:t>20</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70C1"/>
                </a:solidFill>
                <a:effectLst/>
                <a:latin typeface="Consolas" panose="020B0609020204030204" pitchFamily="49" charset="0"/>
              </a:rPr>
              <a:t>errors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'Name cannot exceed 20 characters'</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empData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annualSalary</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annualSalary</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'Please Enter Employee salary'</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empData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'Please Enter Employee gender'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empData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EmailId</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EmailId</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'Please Enter Email ID'</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r>
              <a:rPr lang="en-IN" sz="1200" b="0" dirty="0">
                <a:solidFill>
                  <a:srgbClr val="AF00DB"/>
                </a:solidFill>
                <a:effectLst/>
                <a:latin typeface="Consolas" panose="020B0609020204030204" pitchFamily="49" charset="0"/>
              </a:rPr>
              <a:t>else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811F3F"/>
                </a:solidFill>
                <a:effectLst/>
                <a:latin typeface="Consolas" panose="020B0609020204030204" pitchFamily="49" charset="0"/>
              </a:rPr>
              <a:t>/</a:t>
            </a:r>
            <a:r>
              <a:rPr lang="en-IN" sz="1200" b="0" dirty="0">
                <a:solidFill>
                  <a:srgbClr val="EE0000"/>
                </a:solidFill>
                <a:effectLst/>
                <a:latin typeface="Consolas" panose="020B0609020204030204" pitchFamily="49" charset="0"/>
              </a:rPr>
              <a:t>^</a:t>
            </a:r>
            <a:r>
              <a:rPr lang="en-IN" sz="1200" b="0" dirty="0">
                <a:solidFill>
                  <a:srgbClr val="D16969"/>
                </a:solidFill>
                <a:effectLst/>
                <a:latin typeface="Consolas" panose="020B0609020204030204" pitchFamily="49" charset="0"/>
              </a:rPr>
              <a:t>[</a:t>
            </a:r>
            <a:r>
              <a:rPr lang="en-IN" sz="1200" b="0" dirty="0">
                <a:solidFill>
                  <a:srgbClr val="811F3F"/>
                </a:solidFill>
                <a:effectLst/>
                <a:latin typeface="Consolas" panose="020B0609020204030204" pitchFamily="49" charset="0"/>
              </a:rPr>
              <a:t>A-Z0-9._%+-</a:t>
            </a:r>
            <a:r>
              <a:rPr lang="en-IN" sz="1200" b="0" dirty="0">
                <a:solidFill>
                  <a:srgbClr val="D16969"/>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a:solidFill>
                  <a:srgbClr val="811F3F"/>
                </a:solidFill>
                <a:effectLst/>
                <a:latin typeface="Consolas" panose="020B0609020204030204" pitchFamily="49" charset="0"/>
              </a:rPr>
              <a:t>@</a:t>
            </a:r>
            <a:r>
              <a:rPr lang="en-IN" sz="1200" b="0" dirty="0">
                <a:solidFill>
                  <a:srgbClr val="D16969"/>
                </a:solidFill>
                <a:effectLst/>
                <a:latin typeface="Consolas" panose="020B0609020204030204" pitchFamily="49" charset="0"/>
              </a:rPr>
              <a:t>[</a:t>
            </a:r>
            <a:r>
              <a:rPr lang="en-IN" sz="1200" b="0" dirty="0">
                <a:solidFill>
                  <a:srgbClr val="811F3F"/>
                </a:solidFill>
                <a:effectLst/>
                <a:latin typeface="Consolas" panose="020B0609020204030204" pitchFamily="49" charset="0"/>
              </a:rPr>
              <a:t>A-Z0-9.-</a:t>
            </a:r>
            <a:r>
              <a:rPr lang="en-IN" sz="1200" b="0" dirty="0">
                <a:solidFill>
                  <a:srgbClr val="D16969"/>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a:solidFill>
                  <a:srgbClr val="EE0000"/>
                </a:solidFill>
                <a:effectLst/>
                <a:latin typeface="Consolas" panose="020B0609020204030204" pitchFamily="49" charset="0"/>
              </a:rPr>
              <a:t>\.</a:t>
            </a:r>
            <a:r>
              <a:rPr lang="en-IN" sz="1200" b="0" dirty="0">
                <a:solidFill>
                  <a:srgbClr val="D16969"/>
                </a:solidFill>
                <a:effectLst/>
                <a:latin typeface="Consolas" panose="020B0609020204030204" pitchFamily="49" charset="0"/>
              </a:rPr>
              <a:t>[</a:t>
            </a:r>
            <a:r>
              <a:rPr lang="en-IN" sz="1200" b="0" dirty="0">
                <a:solidFill>
                  <a:srgbClr val="811F3F"/>
                </a:solidFill>
                <a:effectLst/>
                <a:latin typeface="Consolas" panose="020B0609020204030204" pitchFamily="49" charset="0"/>
              </a:rPr>
              <a:t>A-Z</a:t>
            </a:r>
            <a:r>
              <a:rPr lang="en-IN" sz="1200" b="0" dirty="0">
                <a:solidFill>
                  <a:srgbClr val="D16969"/>
                </a:solidFill>
                <a:effectLst/>
                <a:latin typeface="Consolas" panose="020B0609020204030204" pitchFamily="49" charset="0"/>
              </a:rPr>
              <a:t>]</a:t>
            </a:r>
            <a:r>
              <a:rPr lang="en-IN" sz="1200" b="0" dirty="0">
                <a:solidFill>
                  <a:srgbClr val="000000"/>
                </a:solidFill>
                <a:effectLst/>
                <a:latin typeface="Consolas" panose="020B0609020204030204" pitchFamily="49" charset="0"/>
              </a:rPr>
              <a:t>{2,4}</a:t>
            </a:r>
            <a:r>
              <a:rPr lang="en-IN" sz="1200" b="0" dirty="0">
                <a:solidFill>
                  <a:srgbClr val="EE0000"/>
                </a:solidFill>
                <a:effectLst/>
                <a:latin typeface="Consolas" panose="020B0609020204030204" pitchFamily="49" charset="0"/>
              </a:rPr>
              <a:t>$</a:t>
            </a:r>
            <a:r>
              <a:rPr lang="en-IN" sz="1200" b="0" dirty="0">
                <a:solidFill>
                  <a:srgbClr val="811F3F"/>
                </a:solidFill>
                <a:effectLst/>
                <a:latin typeface="Consolas" panose="020B0609020204030204" pitchFamily="49" charset="0"/>
              </a:rPr>
              <a:t>/</a:t>
            </a:r>
            <a:r>
              <a:rPr lang="en-IN" sz="1200" b="0" dirty="0" err="1">
                <a:solidFill>
                  <a:srgbClr val="0000FF"/>
                </a:solidFill>
                <a:effectLst/>
                <a:latin typeface="Consolas" panose="020B0609020204030204" pitchFamily="49" charset="0"/>
              </a:rPr>
              <a:t>i</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test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empData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EmailId</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EmailId</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'Invalid email address'</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empData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dateOfBirth</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dateOfBirth</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'Please Enter DOB'</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a:solidFill>
                  <a:srgbClr val="0070C1"/>
                </a:solidFill>
                <a:effectLst/>
                <a:latin typeface="Consolas" panose="020B0609020204030204" pitchFamily="49" charset="0"/>
              </a:rPr>
              <a:t>errors</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5D519479-346C-456C-A2B4-F7D496ECA966}"/>
              </a:ext>
            </a:extLst>
          </p:cNvPr>
          <p:cNvSpPr txBox="1"/>
          <p:nvPr/>
        </p:nvSpPr>
        <p:spPr>
          <a:xfrm>
            <a:off x="-39329" y="2560585"/>
            <a:ext cx="5142271" cy="3231654"/>
          </a:xfrm>
          <a:prstGeom prst="rect">
            <a:avLst/>
          </a:prstGeom>
          <a:noFill/>
        </p:spPr>
        <p:txBody>
          <a:bodyPr wrap="square">
            <a:spAutoFit/>
          </a:bodyPr>
          <a:lstStyle/>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Employee</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 = </a:t>
            </a:r>
            <a:r>
              <a:rPr lang="en-IN" sz="1200" b="0" dirty="0" err="1">
                <a:solidFill>
                  <a:srgbClr val="795E26"/>
                </a:solidFill>
                <a:effectLst/>
                <a:latin typeface="Consolas" panose="020B0609020204030204" pitchFamily="49" charset="0"/>
              </a:rPr>
              <a:t>useFormik</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initialValues</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annualSalary</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dateOfBirth</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EmailId</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validate</a:t>
            </a:r>
            <a:r>
              <a:rPr lang="en-IN" sz="1200" b="0" dirty="0" err="1">
                <a:solidFill>
                  <a:srgbClr val="00108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validateEmployee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onSubmit</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=&gt;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validateEmployee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JSON</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stringify</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p>
        </p:txBody>
      </p:sp>
      <p:cxnSp>
        <p:nvCxnSpPr>
          <p:cNvPr id="3" name="Straight Arrow Connector 2">
            <a:extLst>
              <a:ext uri="{FF2B5EF4-FFF2-40B4-BE49-F238E27FC236}">
                <a16:creationId xmlns:a16="http://schemas.microsoft.com/office/drawing/2014/main" id="{9D21753D-AB4C-6AB4-8C91-5622EF6E6A92}"/>
              </a:ext>
            </a:extLst>
          </p:cNvPr>
          <p:cNvCxnSpPr/>
          <p:nvPr/>
        </p:nvCxnSpPr>
        <p:spPr>
          <a:xfrm flipV="1">
            <a:off x="2133600" y="324465"/>
            <a:ext cx="3696929" cy="4188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7309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D24C5-D2AE-4E90-A2BE-5A3DBD3D0FCB}"/>
              </a:ext>
            </a:extLst>
          </p:cNvPr>
          <p:cNvSpPr>
            <a:spLocks noGrp="1"/>
          </p:cNvSpPr>
          <p:nvPr>
            <p:ph idx="1"/>
          </p:nvPr>
        </p:nvSpPr>
        <p:spPr>
          <a:xfrm>
            <a:off x="1320866" y="73996"/>
            <a:ext cx="10441859" cy="5869858"/>
          </a:xfrm>
        </p:spPr>
        <p:txBody>
          <a:bodyPr>
            <a:noAutofit/>
          </a:bodyPr>
          <a:lstStyle/>
          <a:p>
            <a:pPr marL="0" indent="0">
              <a:buNone/>
            </a:pP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&lt;form</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onSubmit</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handleSubmit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800000"/>
                </a:solidFill>
                <a:effectLst/>
                <a:highlight>
                  <a:srgbClr val="FFFF00"/>
                </a:highlight>
                <a:latin typeface="Consolas" panose="020B0609020204030204" pitchFamily="49" charset="0"/>
              </a:rPr>
              <a:t>&lt;label&gt;</a:t>
            </a:r>
            <a:r>
              <a:rPr lang="en-IN" sz="1200" b="0" dirty="0">
                <a:solidFill>
                  <a:srgbClr val="000000"/>
                </a:solidFill>
                <a:effectLst/>
                <a:latin typeface="Consolas" panose="020B0609020204030204" pitchFamily="49" charset="0"/>
              </a:rPr>
              <a:t>Employee Code : </a:t>
            </a:r>
            <a:r>
              <a:rPr lang="en-IN" sz="1200" b="0" dirty="0">
                <a:solidFill>
                  <a:srgbClr val="800000"/>
                </a:solidFill>
                <a:effectLst/>
                <a:latin typeface="Consolas" panose="020B0609020204030204" pitchFamily="49" charset="0"/>
              </a:rPr>
              <a:t>&lt;input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"text"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t>
            </a:r>
          </a:p>
          <a:p>
            <a:pPr marL="0" indent="0">
              <a:buNone/>
            </a:pPr>
            <a:r>
              <a:rPr lang="en-IN" sz="1200" b="0" dirty="0">
                <a:solidFill>
                  <a:srgbClr val="FF000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err="1">
                <a:solidFill>
                  <a:srgbClr val="FF0000"/>
                </a:solidFill>
                <a:effectLst/>
                <a:latin typeface="Consolas" panose="020B0609020204030204" pitchFamily="49" charset="0"/>
              </a:rPr>
              <a:t>onChange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handleChange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onBlur</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handleBlur</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&gt;&lt;/input&gt;</a:t>
            </a:r>
            <a:endParaRPr lang="en-IN" sz="1200" b="0" dirty="0">
              <a:solidFill>
                <a:srgbClr val="000000"/>
              </a:solidFill>
              <a:effectLst/>
              <a:latin typeface="Consolas" panose="020B0609020204030204" pitchFamily="49" charset="0"/>
            </a:endParaRPr>
          </a:p>
          <a:p>
            <a:pPr marL="0" indent="0">
              <a:buNone/>
            </a:pPr>
            <a:r>
              <a:rPr lang="en-IN" sz="1400" b="1" dirty="0">
                <a:solidFill>
                  <a:srgbClr val="FF0000"/>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touched</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&amp;&amp; </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t>
            </a:r>
            <a:r>
              <a:rPr lang="en-IN" sz="1200" b="0" dirty="0">
                <a:solidFill>
                  <a:srgbClr val="000000"/>
                </a:solidFill>
                <a:effectLst/>
                <a:highlight>
                  <a:srgbClr val="00FFFF"/>
                </a:highlight>
                <a:latin typeface="Consolas" panose="020B0609020204030204" pitchFamily="49" charset="0"/>
              </a:rPr>
              <a:t>? </a:t>
            </a:r>
          </a:p>
          <a:p>
            <a:pPr marL="0" indent="0">
              <a:buNone/>
            </a:pPr>
            <a:r>
              <a:rPr lang="en-IN" sz="1200" b="0" dirty="0">
                <a:solidFill>
                  <a:srgbClr val="800000"/>
                </a:solidFill>
                <a:effectLst/>
                <a:latin typeface="Consolas" panose="020B0609020204030204" pitchFamily="49" charset="0"/>
              </a:rPr>
              <a:t>&lt;span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a:t>
            </a:r>
            <a:r>
              <a:rPr lang="en-IN" sz="1600" b="1" dirty="0">
                <a:solidFill>
                  <a:srgbClr val="FFFF00"/>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'red'</a:t>
            </a:r>
            <a:r>
              <a:rPr lang="en-IN" sz="1200" b="0" dirty="0">
                <a:solidFill>
                  <a:srgbClr val="000000"/>
                </a:solidFill>
                <a:effectLst/>
                <a:latin typeface="Consolas" panose="020B0609020204030204" pitchFamily="49" charset="0"/>
              </a:rPr>
              <a:t>}</a:t>
            </a:r>
            <a:r>
              <a:rPr lang="en-IN" sz="1400" b="1" dirty="0">
                <a:solidFill>
                  <a:srgbClr val="FFFF00"/>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&lt;/span&gt;</a:t>
            </a:r>
            <a:r>
              <a:rPr lang="en-IN" sz="1200" b="0" dirty="0">
                <a:solidFill>
                  <a:srgbClr val="000000"/>
                </a:solidFill>
                <a:effectLst/>
                <a:highlight>
                  <a:srgbClr val="00FFFF"/>
                </a:highlight>
                <a:latin typeface="Consolas" panose="020B0609020204030204" pitchFamily="49" charset="0"/>
              </a:rPr>
              <a:t> :</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null</a:t>
            </a:r>
            <a:r>
              <a:rPr lang="en-IN" sz="1400" b="1" dirty="0">
                <a:solidFill>
                  <a:srgbClr val="FF0000"/>
                </a:solidFill>
                <a:effectLst/>
                <a:latin typeface="Consolas" panose="020B0609020204030204" pitchFamily="49" charset="0"/>
              </a:rPr>
              <a:t>}</a:t>
            </a:r>
            <a:r>
              <a:rPr lang="en-IN" sz="1200" b="0" dirty="0">
                <a:solidFill>
                  <a:srgbClr val="800000"/>
                </a:solidFill>
                <a:effectLst/>
                <a:highlight>
                  <a:srgbClr val="FFFF00"/>
                </a:highlight>
                <a:latin typeface="Consolas" panose="020B0609020204030204" pitchFamily="49" charset="0"/>
              </a:rPr>
              <a:t>&lt;/label&gt;</a:t>
            </a:r>
            <a:endParaRPr lang="en-IN" sz="1200" b="0" dirty="0">
              <a:solidFill>
                <a:srgbClr val="000000"/>
              </a:solidFill>
              <a:effectLst/>
              <a:highlight>
                <a:srgbClr val="FFFF00"/>
              </a:highligh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name : </a:t>
            </a:r>
            <a:r>
              <a:rPr lang="en-IN" sz="1200" b="0" dirty="0">
                <a:solidFill>
                  <a:srgbClr val="800000"/>
                </a:solidFill>
                <a:effectLst/>
                <a:latin typeface="Consolas" panose="020B0609020204030204" pitchFamily="49" charset="0"/>
              </a:rPr>
              <a:t>&lt;input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"text"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p>
          <a:p>
            <a:pPr marL="0" indent="0">
              <a:buNone/>
            </a:pPr>
            <a:r>
              <a:rPr lang="en-IN" sz="1200" b="0" dirty="0">
                <a:solidFill>
                  <a:srgbClr val="FF000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err="1">
                <a:solidFill>
                  <a:srgbClr val="FF0000"/>
                </a:solidFill>
                <a:effectLst/>
                <a:latin typeface="Consolas" panose="020B0609020204030204" pitchFamily="49" charset="0"/>
              </a:rPr>
              <a:t>onChange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handleChange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onBlur</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handleBlur</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&gt;&lt;/input&gt;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a:t>
            </a:r>
            <a:r>
              <a:rPr lang="en-IN" sz="1200" b="0" dirty="0">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touched</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&amp;&amp; </a:t>
            </a:r>
            <a:r>
              <a:rPr lang="en-IN" sz="1200" b="0" dirty="0">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errors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&lt;span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'red'</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FF"/>
                </a:solidFill>
                <a:effectLst/>
                <a:latin typeface="Consolas" panose="020B0609020204030204" pitchFamily="49" charset="0"/>
              </a:rPr>
              <a:t>{</a:t>
            </a:r>
            <a:r>
              <a:rPr lang="en-IN" sz="1200" b="0" dirty="0">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errors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&lt;/span&gt;</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null}</a:t>
            </a:r>
            <a:r>
              <a:rPr lang="en-IN" sz="1200" b="0" dirty="0">
                <a:solidFill>
                  <a:srgbClr val="800000"/>
                </a:solidFill>
                <a:effectLst/>
                <a:latin typeface="Consolas" panose="020B0609020204030204" pitchFamily="49" charset="0"/>
              </a:rPr>
              <a:t>&lt;/label&gt;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endParaRPr lang="en-IN" sz="1200" dirty="0"/>
          </a:p>
        </p:txBody>
      </p:sp>
    </p:spTree>
    <p:extLst>
      <p:ext uri="{BB962C8B-B14F-4D97-AF65-F5344CB8AC3E}">
        <p14:creationId xmlns:p14="http://schemas.microsoft.com/office/powerpoint/2010/main" val="2564426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3A18A8-5C74-4203-8FC3-8FF8ADB8D412}"/>
              </a:ext>
            </a:extLst>
          </p:cNvPr>
          <p:cNvSpPr>
            <a:spLocks noGrp="1"/>
          </p:cNvSpPr>
          <p:nvPr>
            <p:ph idx="1"/>
          </p:nvPr>
        </p:nvSpPr>
        <p:spPr>
          <a:xfrm>
            <a:off x="186813" y="707922"/>
            <a:ext cx="11277600" cy="6150078"/>
          </a:xfrm>
        </p:spPr>
        <p:txBody>
          <a:bodyPr>
            <a:noAutofit/>
          </a:bodyPr>
          <a:lstStyle/>
          <a:p>
            <a:pPr marL="0" indent="0">
              <a:buNone/>
            </a:pP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gender : </a:t>
            </a:r>
            <a:r>
              <a:rPr lang="en-IN" sz="1200" b="0" dirty="0">
                <a:solidFill>
                  <a:srgbClr val="800000"/>
                </a:solidFill>
                <a:effectLst/>
                <a:latin typeface="Consolas" panose="020B0609020204030204" pitchFamily="49" charset="0"/>
              </a:rPr>
              <a:t>&lt;input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"text"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err="1">
                <a:solidFill>
                  <a:srgbClr val="FF0000"/>
                </a:solidFill>
                <a:effectLst/>
                <a:latin typeface="Consolas" panose="020B0609020204030204" pitchFamily="49" charset="0"/>
              </a:rPr>
              <a:t>onChange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handleChange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onBlur</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handleBlur</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&gt;&lt;/input&gt;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touched</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&amp;&amp; </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&lt;span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'red'</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&lt;/span&gt;</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null}</a:t>
            </a:r>
            <a:r>
              <a:rPr lang="en-IN" sz="1200" b="0" dirty="0">
                <a:solidFill>
                  <a:srgbClr val="800000"/>
                </a:solidFill>
                <a:effectLst/>
                <a:latin typeface="Consolas" panose="020B0609020204030204" pitchFamily="49" charset="0"/>
              </a:rPr>
              <a:t>&lt;/label&gt;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a:t>
            </a:r>
            <a:r>
              <a:rPr lang="en-IN" sz="1200" b="0" dirty="0" err="1">
                <a:solidFill>
                  <a:srgbClr val="000000"/>
                </a:solidFill>
                <a:effectLst/>
                <a:latin typeface="Consolas" panose="020B0609020204030204" pitchFamily="49" charset="0"/>
              </a:rPr>
              <a:t>annualSalary</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&lt;input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"text"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annualSalary</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annualSalary</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err="1">
                <a:solidFill>
                  <a:srgbClr val="FF0000"/>
                </a:solidFill>
                <a:effectLst/>
                <a:latin typeface="Consolas" panose="020B0609020204030204" pitchFamily="49" charset="0"/>
              </a:rPr>
              <a:t>onChange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handleChange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onBlur</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handleBlur</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&gt;&lt;/input&gt;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touched</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annualSalary</a:t>
            </a:r>
            <a:r>
              <a:rPr lang="en-IN" sz="1200" b="0" dirty="0">
                <a:solidFill>
                  <a:srgbClr val="000000"/>
                </a:solidFill>
                <a:effectLst/>
                <a:latin typeface="Consolas" panose="020B0609020204030204" pitchFamily="49" charset="0"/>
              </a:rPr>
              <a:t> &amp;&amp; </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annualSalary</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&lt;span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'red'</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annualSalary</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&lt;/span&gt;</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null}</a:t>
            </a:r>
            <a:r>
              <a:rPr lang="en-IN" sz="1200" b="0" dirty="0">
                <a:solidFill>
                  <a:srgbClr val="800000"/>
                </a:solidFill>
                <a:effectLst/>
                <a:latin typeface="Consolas" panose="020B0609020204030204" pitchFamily="49" charset="0"/>
              </a:rPr>
              <a:t>&lt;/label&gt;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a:t>
            </a:r>
            <a:r>
              <a:rPr lang="en-IN" sz="1200" b="0" dirty="0" err="1">
                <a:solidFill>
                  <a:srgbClr val="000000"/>
                </a:solidFill>
                <a:effectLst/>
                <a:latin typeface="Consolas" panose="020B0609020204030204" pitchFamily="49" charset="0"/>
              </a:rPr>
              <a:t>dateOfBirth</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&lt;input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"text"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dateOfBirth</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dateOfBirth</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err="1">
                <a:solidFill>
                  <a:srgbClr val="FF0000"/>
                </a:solidFill>
                <a:effectLst/>
                <a:latin typeface="Consolas" panose="020B0609020204030204" pitchFamily="49" charset="0"/>
              </a:rPr>
              <a:t>onChange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handleChange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onBlur</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handleBlur</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&gt;&lt;/input&gt;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touched</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dateOfBirth</a:t>
            </a:r>
            <a:r>
              <a:rPr lang="en-IN" sz="1200" b="0" dirty="0">
                <a:solidFill>
                  <a:srgbClr val="000000"/>
                </a:solidFill>
                <a:effectLst/>
                <a:latin typeface="Consolas" panose="020B0609020204030204" pitchFamily="49" charset="0"/>
              </a:rPr>
              <a:t> &amp;&amp; </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dateOfBirth</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&lt;span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'red'</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dateOfBirth</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&lt;/span&gt;</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null}</a:t>
            </a:r>
            <a:r>
              <a:rPr lang="en-IN" sz="1200" b="0" dirty="0">
                <a:solidFill>
                  <a:srgbClr val="800000"/>
                </a:solidFill>
                <a:effectLst/>
                <a:latin typeface="Consolas" panose="020B0609020204030204" pitchFamily="49" charset="0"/>
              </a:rPr>
              <a:t>&lt;/label&gt;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a:t>
            </a:r>
            <a:r>
              <a:rPr lang="en-IN" sz="1200" b="0" dirty="0" err="1">
                <a:solidFill>
                  <a:srgbClr val="000000"/>
                </a:solidFill>
                <a:effectLst/>
                <a:latin typeface="Consolas" panose="020B0609020204030204" pitchFamily="49" charset="0"/>
              </a:rPr>
              <a:t>EmailId</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&lt;input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"text"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EmailId</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EmailId</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err="1">
                <a:solidFill>
                  <a:srgbClr val="FF0000"/>
                </a:solidFill>
                <a:effectLst/>
                <a:latin typeface="Consolas" panose="020B0609020204030204" pitchFamily="49" charset="0"/>
              </a:rPr>
              <a:t>onChange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handleChange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onBlur</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handleBlur</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&gt;&lt;/input&gt;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touched</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EmailId</a:t>
            </a:r>
            <a:r>
              <a:rPr lang="en-IN" sz="1200" b="0" dirty="0">
                <a:solidFill>
                  <a:srgbClr val="000000"/>
                </a:solidFill>
                <a:effectLst/>
                <a:latin typeface="Consolas" panose="020B0609020204030204" pitchFamily="49" charset="0"/>
              </a:rPr>
              <a:t> &amp;&amp; </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EmailId</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&lt;span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'red'</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EmailId</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&lt;/span&gt;</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null}</a:t>
            </a:r>
            <a:r>
              <a:rPr lang="en-IN" sz="1200" b="0" dirty="0">
                <a:solidFill>
                  <a:srgbClr val="800000"/>
                </a:solidFill>
                <a:effectLst/>
                <a:latin typeface="Consolas" panose="020B0609020204030204" pitchFamily="49" charset="0"/>
              </a:rPr>
              <a:t>&lt;/label&gt;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&lt;button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"submit"</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Create</a:t>
            </a:r>
            <a:r>
              <a:rPr lang="en-IN" sz="1200" b="0" dirty="0">
                <a:solidFill>
                  <a:srgbClr val="800000"/>
                </a:solidFill>
                <a:effectLst/>
                <a:latin typeface="Consolas" panose="020B0609020204030204" pitchFamily="49" charset="0"/>
              </a:rPr>
              <a:t>&lt;/button&gt;</a:t>
            </a:r>
            <a:r>
              <a:rPr lang="en-IN" sz="1200" b="0" dirty="0">
                <a:solidFill>
                  <a:srgbClr val="000000"/>
                </a:solidFill>
                <a:effectLst/>
                <a:latin typeface="Consolas" panose="020B0609020204030204" pitchFamily="49" charset="0"/>
              </a:rPr>
              <a:t>  </a:t>
            </a:r>
          </a:p>
          <a:p>
            <a:pPr marL="0" indent="0">
              <a:buNone/>
            </a:pPr>
            <a:r>
              <a:rPr lang="en-IN" sz="1200" b="0" dirty="0">
                <a:solidFill>
                  <a:srgbClr val="800000"/>
                </a:solidFill>
                <a:effectLst/>
                <a:latin typeface="Consolas" panose="020B0609020204030204" pitchFamily="49" charset="0"/>
              </a:rPr>
              <a:t>&lt;/form&gt;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AF00DB"/>
                </a:solidFill>
                <a:effectLst/>
                <a:latin typeface="Consolas" panose="020B0609020204030204" pitchFamily="49" charset="0"/>
              </a:rPr>
              <a:t>export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default</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a:t>
            </a:r>
          </a:p>
          <a:p>
            <a:pPr marL="0" indent="0">
              <a:buNone/>
            </a:pPr>
            <a:endParaRPr lang="en-IN" sz="1200" dirty="0"/>
          </a:p>
        </p:txBody>
      </p:sp>
    </p:spTree>
    <p:extLst>
      <p:ext uri="{BB962C8B-B14F-4D97-AF65-F5344CB8AC3E}">
        <p14:creationId xmlns:p14="http://schemas.microsoft.com/office/powerpoint/2010/main" val="2896715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0AF6238-668E-EDB3-921F-94E124CBD30F}"/>
              </a:ext>
            </a:extLst>
          </p:cNvPr>
          <p:cNvSpPr txBox="1"/>
          <p:nvPr/>
        </p:nvSpPr>
        <p:spPr>
          <a:xfrm>
            <a:off x="1369242" y="1050272"/>
            <a:ext cx="9019095" cy="3416320"/>
          </a:xfrm>
          <a:prstGeom prst="rect">
            <a:avLst/>
          </a:prstGeom>
          <a:noFill/>
        </p:spPr>
        <p:txBody>
          <a:bodyPr wrap="square">
            <a:spAutoFit/>
          </a:bodyPr>
          <a:lstStyle/>
          <a:p>
            <a:r>
              <a:rPr lang="en-US" dirty="0"/>
              <a:t>Submission Phases</a:t>
            </a:r>
          </a:p>
          <a:p>
            <a:endParaRPr lang="en-US" dirty="0"/>
          </a:p>
          <a:p>
            <a:r>
              <a:rPr lang="en-US" dirty="0"/>
              <a:t>To submit a form in </a:t>
            </a:r>
            <a:r>
              <a:rPr lang="en-US" dirty="0" err="1"/>
              <a:t>Formik</a:t>
            </a:r>
            <a:r>
              <a:rPr lang="en-US" dirty="0"/>
              <a:t>, you need to somehow fire off the provided </a:t>
            </a:r>
            <a:r>
              <a:rPr lang="en-US" dirty="0" err="1"/>
              <a:t>handleSubmit</a:t>
            </a:r>
            <a:r>
              <a:rPr lang="en-US" dirty="0"/>
              <a:t>(e) or </a:t>
            </a:r>
            <a:r>
              <a:rPr lang="en-US" dirty="0" err="1"/>
              <a:t>submitForm</a:t>
            </a:r>
            <a:r>
              <a:rPr lang="en-US" dirty="0"/>
              <a:t> prop. When you call either of these methods, </a:t>
            </a:r>
            <a:r>
              <a:rPr lang="en-US" dirty="0" err="1"/>
              <a:t>Formik</a:t>
            </a:r>
            <a:r>
              <a:rPr lang="en-US" dirty="0"/>
              <a:t> will execute the following (pseudo code) each time:</a:t>
            </a:r>
          </a:p>
          <a:p>
            <a:r>
              <a:rPr lang="en-US" dirty="0"/>
              <a:t>Pre-submit</a:t>
            </a:r>
          </a:p>
          <a:p>
            <a:endParaRPr lang="en-US" dirty="0"/>
          </a:p>
          <a:p>
            <a:r>
              <a:rPr lang="en-US" dirty="0"/>
              <a:t>    Touch all fields. </a:t>
            </a:r>
            <a:r>
              <a:rPr lang="en-US" dirty="0" err="1"/>
              <a:t>initialValues</a:t>
            </a:r>
            <a:r>
              <a:rPr lang="en-US" dirty="0"/>
              <a:t> are required and should always be specified. See #445</a:t>
            </a:r>
          </a:p>
          <a:p>
            <a:r>
              <a:rPr lang="en-US" dirty="0"/>
              <a:t>    Set </a:t>
            </a:r>
            <a:r>
              <a:rPr lang="en-US" dirty="0" err="1"/>
              <a:t>isSubmitting</a:t>
            </a:r>
            <a:r>
              <a:rPr lang="en-US" dirty="0"/>
              <a:t> to true</a:t>
            </a:r>
          </a:p>
          <a:p>
            <a:r>
              <a:rPr lang="en-US" dirty="0"/>
              <a:t>    Increment </a:t>
            </a:r>
            <a:r>
              <a:rPr lang="en-US" dirty="0" err="1"/>
              <a:t>submitCount</a:t>
            </a:r>
            <a:r>
              <a:rPr lang="en-US" dirty="0"/>
              <a:t> + 1</a:t>
            </a:r>
          </a:p>
          <a:p>
            <a:endParaRPr lang="en-US" dirty="0"/>
          </a:p>
          <a:p>
            <a:r>
              <a:rPr lang="en-US" dirty="0"/>
              <a:t>Validation</a:t>
            </a:r>
            <a:endParaRPr lang="en-IN" dirty="0"/>
          </a:p>
        </p:txBody>
      </p:sp>
    </p:spTree>
    <p:extLst>
      <p:ext uri="{BB962C8B-B14F-4D97-AF65-F5344CB8AC3E}">
        <p14:creationId xmlns:p14="http://schemas.microsoft.com/office/powerpoint/2010/main" val="2789666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6179D-47F9-4AD8-81A8-D1627C2B1184}"/>
              </a:ext>
            </a:extLst>
          </p:cNvPr>
          <p:cNvSpPr>
            <a:spLocks noGrp="1"/>
          </p:cNvSpPr>
          <p:nvPr>
            <p:ph type="title"/>
          </p:nvPr>
        </p:nvSpPr>
        <p:spPr>
          <a:xfrm>
            <a:off x="1074174" y="119319"/>
            <a:ext cx="9819968" cy="460785"/>
          </a:xfrm>
        </p:spPr>
        <p:txBody>
          <a:bodyPr>
            <a:normAutofit fontScale="90000"/>
          </a:bodyPr>
          <a:lstStyle/>
          <a:p>
            <a:r>
              <a:rPr lang="en-US" b="1" dirty="0"/>
              <a:t>Validation using Yup Library</a:t>
            </a:r>
          </a:p>
        </p:txBody>
      </p:sp>
      <p:sp>
        <p:nvSpPr>
          <p:cNvPr id="3" name="Content Placeholder 2">
            <a:extLst>
              <a:ext uri="{FF2B5EF4-FFF2-40B4-BE49-F238E27FC236}">
                <a16:creationId xmlns:a16="http://schemas.microsoft.com/office/drawing/2014/main" id="{F734E7F3-CB55-434D-ABA8-A72CAEB8C9A7}"/>
              </a:ext>
            </a:extLst>
          </p:cNvPr>
          <p:cNvSpPr>
            <a:spLocks noGrp="1"/>
          </p:cNvSpPr>
          <p:nvPr>
            <p:ph idx="1"/>
          </p:nvPr>
        </p:nvSpPr>
        <p:spPr>
          <a:xfrm>
            <a:off x="235974" y="658761"/>
            <a:ext cx="11117826" cy="5518202"/>
          </a:xfrm>
        </p:spPr>
        <p:txBody>
          <a:bodyPr>
            <a:normAutofit lnSpcReduction="10000"/>
          </a:bodyPr>
          <a:lstStyle/>
          <a:p>
            <a:r>
              <a:rPr lang="en-US" dirty="0"/>
              <a:t>By now we have seen how to write the validation code for our form inputs. But we are free to use any third party validation library available and do the form validation.</a:t>
            </a:r>
          </a:p>
          <a:p>
            <a:r>
              <a:rPr lang="en-US" dirty="0" err="1"/>
              <a:t>Formik's</a:t>
            </a:r>
            <a:r>
              <a:rPr lang="en-US" dirty="0"/>
              <a:t> authors/a large portion of its users use Yup library for object schema validation. Since </a:t>
            </a:r>
            <a:r>
              <a:rPr lang="en-US" dirty="0" err="1"/>
              <a:t>Formik</a:t>
            </a:r>
            <a:r>
              <a:rPr lang="en-US" dirty="0"/>
              <a:t> authors/users love Yup so much, </a:t>
            </a:r>
            <a:r>
              <a:rPr lang="en-US" dirty="0" err="1"/>
              <a:t>Formik</a:t>
            </a:r>
            <a:r>
              <a:rPr lang="en-US" dirty="0"/>
              <a:t> has a special configuration option for Yup called </a:t>
            </a:r>
            <a:r>
              <a:rPr lang="en-US" dirty="0" err="1">
                <a:highlight>
                  <a:srgbClr val="FFFF00"/>
                </a:highlight>
              </a:rPr>
              <a:t>validationSchema</a:t>
            </a:r>
            <a:r>
              <a:rPr lang="en-US" dirty="0">
                <a:highlight>
                  <a:srgbClr val="FFFF00"/>
                </a:highlight>
              </a:rPr>
              <a:t> which will automatically transform </a:t>
            </a:r>
            <a:r>
              <a:rPr lang="en-US" dirty="0" err="1">
                <a:highlight>
                  <a:srgbClr val="FFFF00"/>
                </a:highlight>
              </a:rPr>
              <a:t>Yup's</a:t>
            </a:r>
            <a:r>
              <a:rPr lang="en-US" dirty="0">
                <a:highlight>
                  <a:srgbClr val="FFFF00"/>
                </a:highlight>
              </a:rPr>
              <a:t> validation errors messages into a pretty object whose keys match our forms input values.</a:t>
            </a:r>
          </a:p>
          <a:p>
            <a:r>
              <a:rPr lang="en-US" dirty="0"/>
              <a:t> Lets navigate to our node </a:t>
            </a:r>
            <a:r>
              <a:rPr lang="en-US" dirty="0" err="1"/>
              <a:t>js</a:t>
            </a:r>
            <a:r>
              <a:rPr lang="en-US" dirty="0"/>
              <a:t> command prompt. Run a command to install yup into our project.</a:t>
            </a:r>
          </a:p>
          <a:p>
            <a:pPr marL="0" indent="0">
              <a:buNone/>
            </a:pPr>
            <a:r>
              <a:rPr lang="en-US" dirty="0" err="1">
                <a:highlight>
                  <a:srgbClr val="FFFF00"/>
                </a:highlight>
              </a:rPr>
              <a:t>npm</a:t>
            </a:r>
            <a:r>
              <a:rPr lang="en-US" dirty="0">
                <a:highlight>
                  <a:srgbClr val="FFFF00"/>
                </a:highlight>
              </a:rPr>
              <a:t> install yup –save</a:t>
            </a:r>
          </a:p>
          <a:p>
            <a:r>
              <a:rPr lang="en-US" dirty="0"/>
              <a:t>After the Installation is successful, run our project using </a:t>
            </a:r>
          </a:p>
          <a:p>
            <a:pPr marL="0" indent="0">
              <a:buNone/>
            </a:pPr>
            <a:r>
              <a:rPr lang="en-US" dirty="0" err="1"/>
              <a:t>Npm</a:t>
            </a:r>
            <a:r>
              <a:rPr lang="en-US" dirty="0"/>
              <a:t> start </a:t>
            </a:r>
          </a:p>
          <a:p>
            <a:endParaRPr lang="en-IN" dirty="0"/>
          </a:p>
        </p:txBody>
      </p:sp>
    </p:spTree>
    <p:extLst>
      <p:ext uri="{BB962C8B-B14F-4D97-AF65-F5344CB8AC3E}">
        <p14:creationId xmlns:p14="http://schemas.microsoft.com/office/powerpoint/2010/main" val="3351779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F332E8-2F69-4C19-BBC6-5A4B5BD6B781}"/>
              </a:ext>
            </a:extLst>
          </p:cNvPr>
          <p:cNvSpPr>
            <a:spLocks noGrp="1"/>
          </p:cNvSpPr>
          <p:nvPr>
            <p:ph idx="1"/>
          </p:nvPr>
        </p:nvSpPr>
        <p:spPr>
          <a:xfrm>
            <a:off x="255639" y="501445"/>
            <a:ext cx="11098161" cy="5675518"/>
          </a:xfrm>
        </p:spPr>
        <p:txBody>
          <a:bodyPr>
            <a:normAutofit lnSpcReduction="10000"/>
          </a:bodyPr>
          <a:lstStyle/>
          <a:p>
            <a:r>
              <a:rPr lang="en-US" dirty="0"/>
              <a:t>Add a new property called as </a:t>
            </a:r>
            <a:r>
              <a:rPr lang="en-US" dirty="0" err="1"/>
              <a:t>validationSchema</a:t>
            </a:r>
            <a:r>
              <a:rPr lang="en-US" dirty="0"/>
              <a:t> in </a:t>
            </a:r>
            <a:r>
              <a:rPr lang="en-US" dirty="0" err="1"/>
              <a:t>useFormik</a:t>
            </a:r>
            <a:r>
              <a:rPr lang="en-US" dirty="0"/>
              <a:t> function and assign the object function available. To this function, we pass our validation rules. First lets do it for name. we mention the data type followed by adding the validations for max length and required. Lets add the validations for </a:t>
            </a:r>
            <a:r>
              <a:rPr lang="en-US" dirty="0" err="1"/>
              <a:t>annualSalary</a:t>
            </a:r>
            <a:r>
              <a:rPr lang="en-US" dirty="0"/>
              <a:t> and Email Id. </a:t>
            </a:r>
          </a:p>
          <a:p>
            <a:r>
              <a:rPr lang="en-US" dirty="0"/>
              <a:t>Save these changes, Navigate to the browser and we can see the validation is happening for our form data as we enter the values.</a:t>
            </a:r>
          </a:p>
          <a:p>
            <a:r>
              <a:rPr lang="en-US" dirty="0"/>
              <a:t>If we see our input elements, we are writing so much of code to set values for different attributes like id, value, </a:t>
            </a:r>
            <a:r>
              <a:rPr lang="en-US" dirty="0" err="1"/>
              <a:t>onchange</a:t>
            </a:r>
            <a:r>
              <a:rPr lang="en-US" dirty="0"/>
              <a:t>, </a:t>
            </a:r>
            <a:r>
              <a:rPr lang="en-US" dirty="0" err="1"/>
              <a:t>onblur</a:t>
            </a:r>
            <a:r>
              <a:rPr lang="en-US" dirty="0"/>
              <a:t>. However, to save you time, </a:t>
            </a:r>
            <a:r>
              <a:rPr lang="en-US" dirty="0" err="1"/>
              <a:t>useFormik</a:t>
            </a:r>
            <a:r>
              <a:rPr lang="en-US" dirty="0"/>
              <a:t>() returns a helper method called </a:t>
            </a:r>
            <a:r>
              <a:rPr lang="en-US" b="1" dirty="0" err="1"/>
              <a:t>formik.getFieldProps</a:t>
            </a:r>
            <a:r>
              <a:rPr lang="en-US" b="1" dirty="0"/>
              <a:t>()</a:t>
            </a:r>
            <a:r>
              <a:rPr lang="en-US" dirty="0"/>
              <a:t>. Lets go and modify our input elements to make use of it and to this method we will pass the Name of our input. We will do the same for rest of the input elements as well.</a:t>
            </a:r>
          </a:p>
          <a:p>
            <a:r>
              <a:rPr lang="en-US" dirty="0"/>
              <a:t>Save these changes, Navigate to the browser and we can see the </a:t>
            </a:r>
            <a:r>
              <a:rPr lang="en-US" dirty="0" err="1"/>
              <a:t>behaviour</a:t>
            </a:r>
            <a:r>
              <a:rPr lang="en-US" dirty="0"/>
              <a:t> we have earlier.</a:t>
            </a:r>
          </a:p>
          <a:p>
            <a:endParaRPr lang="en-IN" dirty="0"/>
          </a:p>
        </p:txBody>
      </p:sp>
    </p:spTree>
    <p:extLst>
      <p:ext uri="{BB962C8B-B14F-4D97-AF65-F5344CB8AC3E}">
        <p14:creationId xmlns:p14="http://schemas.microsoft.com/office/powerpoint/2010/main" val="381706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3A3BC-5819-48A7-A4A6-368D8CF66E6F}"/>
              </a:ext>
            </a:extLst>
          </p:cNvPr>
          <p:cNvSpPr>
            <a:spLocks noGrp="1"/>
          </p:cNvSpPr>
          <p:nvPr>
            <p:ph idx="1"/>
          </p:nvPr>
        </p:nvSpPr>
        <p:spPr>
          <a:xfrm>
            <a:off x="0" y="717754"/>
            <a:ext cx="4444181" cy="2428569"/>
          </a:xfrm>
        </p:spPr>
        <p:txBody>
          <a:bodyPr>
            <a:normAutofit/>
          </a:bodyPr>
          <a:lstStyle/>
          <a:p>
            <a:pPr marL="0" indent="0">
              <a:lnSpc>
                <a:spcPct val="100000"/>
              </a:lnSpc>
              <a:spcBef>
                <a:spcPts val="0"/>
              </a:spcBef>
              <a:buNone/>
            </a:pP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useFormik</a:t>
            </a:r>
            <a:r>
              <a:rPr lang="en-IN" sz="1200" b="0" dirty="0">
                <a:solidFill>
                  <a:srgbClr val="000000"/>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formik</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as</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yup</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'yup'</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AF00DB"/>
                </a:solidFill>
                <a:effectLst/>
                <a:latin typeface="Consolas" panose="020B0609020204030204" pitchFamily="49" charset="0"/>
              </a:rPr>
              <a:t>export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class</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Yupemployee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extends</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React</a:t>
            </a:r>
            <a:r>
              <a:rPr lang="en-IN" sz="1200" b="0" dirty="0" err="1">
                <a:solidFill>
                  <a:srgbClr val="000000"/>
                </a:solidFill>
                <a:effectLst/>
                <a:latin typeface="Consolas" panose="020B0609020204030204" pitchFamily="49" charset="0"/>
              </a:rPr>
              <a:t>.</a:t>
            </a:r>
            <a:r>
              <a:rPr lang="en-IN" sz="1200" b="0" dirty="0" err="1">
                <a:solidFill>
                  <a:srgbClr val="267F99"/>
                </a:solidFill>
                <a:effectLst/>
                <a:latin typeface="Consolas" panose="020B0609020204030204" pitchFamily="49" charset="0"/>
              </a:rPr>
              <a:t>Component</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render</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Yemployee</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a:t>
            </a:r>
          </a:p>
          <a:p>
            <a:pPr marL="0" indent="0">
              <a:buNone/>
            </a:pPr>
            <a:endParaRPr lang="en-IN" sz="1200" dirty="0"/>
          </a:p>
        </p:txBody>
      </p:sp>
      <p:sp>
        <p:nvSpPr>
          <p:cNvPr id="5" name="TextBox 4">
            <a:extLst>
              <a:ext uri="{FF2B5EF4-FFF2-40B4-BE49-F238E27FC236}">
                <a16:creationId xmlns:a16="http://schemas.microsoft.com/office/drawing/2014/main" id="{040C49C1-1773-47C9-9360-822F77D5B987}"/>
              </a:ext>
            </a:extLst>
          </p:cNvPr>
          <p:cNvSpPr txBox="1"/>
          <p:nvPr/>
        </p:nvSpPr>
        <p:spPr>
          <a:xfrm>
            <a:off x="5024284" y="0"/>
            <a:ext cx="6872748" cy="6740307"/>
          </a:xfrm>
          <a:prstGeom prst="rect">
            <a:avLst/>
          </a:prstGeom>
          <a:noFill/>
        </p:spPr>
        <p:txBody>
          <a:bodyPr wrap="square">
            <a:spAutoFit/>
          </a:bodyPr>
          <a:lstStyle/>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Yemployee</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000000"/>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 = </a:t>
            </a:r>
            <a:r>
              <a:rPr lang="en-IN" sz="1200" b="0" dirty="0" err="1">
                <a:solidFill>
                  <a:srgbClr val="795E26"/>
                </a:solidFill>
                <a:effectLst/>
                <a:latin typeface="Consolas" panose="020B0609020204030204" pitchFamily="49" charset="0"/>
              </a:rPr>
              <a:t>useFormik</a:t>
            </a:r>
            <a:r>
              <a:rPr lang="en-IN" sz="1200" b="0" dirty="0">
                <a:solidFill>
                  <a:srgbClr val="000000"/>
                </a:solidFill>
                <a:effectLst/>
                <a:latin typeface="Consolas" panose="020B0609020204030204" pitchFamily="49" charset="0"/>
              </a:rPr>
              <a:t>(</a:t>
            </a:r>
            <a:r>
              <a:rPr lang="en-IN" sz="1400" b="1" dirty="0">
                <a:solidFill>
                  <a:srgbClr val="FF0000"/>
                </a:solidFill>
                <a:effectLst/>
                <a:latin typeface="Consolas" panose="020B0609020204030204" pitchFamily="49" charset="0"/>
              </a:rPr>
              <a:t>{</a:t>
            </a:r>
            <a:endParaRPr lang="en-IN" sz="1200" b="1" dirty="0">
              <a:solidFill>
                <a:srgbClr val="FF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initialValues</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annualSalary</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dateOfBirth</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EmailId</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600" b="1" dirty="0">
                <a:solidFill>
                  <a:schemeClr val="accent1"/>
                </a:solidFill>
                <a:effectLst/>
                <a:latin typeface="Consolas" panose="020B0609020204030204" pitchFamily="49" charset="0"/>
              </a:rPr>
              <a:t>,</a:t>
            </a:r>
            <a:endParaRPr lang="en-IN" sz="1200" b="1" dirty="0">
              <a:solidFill>
                <a:schemeClr val="accent1"/>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validationSchema</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object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min</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3</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'code should be 3 digit'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required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'Please Enter Employee Name’</a:t>
            </a:r>
            <a:r>
              <a:rPr lang="en-IN" sz="1200" b="0" dirty="0">
                <a:solidFill>
                  <a:srgbClr val="000000"/>
                </a:solidFill>
                <a:effectLst/>
                <a:latin typeface="Consolas" panose="020B0609020204030204" pitchFamily="49" charset="0"/>
              </a:rPr>
              <a:t>),</a:t>
            </a:r>
          </a:p>
          <a:p>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max</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20</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'Name should not exceed 20 Characters'</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required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'Please Enter Employee 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required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'Please Enter Employee gender’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annualSalary</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required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'Please Enter Employee Location’</a:t>
            </a:r>
            <a:r>
              <a:rPr lang="en-IN" sz="1200" b="0" dirty="0">
                <a:solidFill>
                  <a:srgbClr val="000000"/>
                </a:solidFill>
                <a:effectLst/>
                <a:latin typeface="Consolas" panose="020B0609020204030204" pitchFamily="49" charset="0"/>
              </a:rPr>
              <a:t>),</a:t>
            </a:r>
          </a:p>
          <a:p>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EmailId</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email</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'Invalid email address'</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required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'Please Enter Email Id'</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600" b="0" dirty="0">
                <a:solidFill>
                  <a:schemeClr val="accent1"/>
                </a:solidFill>
                <a:effectLst/>
                <a:latin typeface="Consolas" panose="020B0609020204030204" pitchFamily="49" charset="0"/>
              </a:rPr>
              <a:t>,</a:t>
            </a:r>
            <a:endParaRPr lang="en-IN" sz="1200" b="0" dirty="0">
              <a:solidFill>
                <a:schemeClr val="accent1"/>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onSubmit</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=&gt;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JSON</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stringify</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400" b="1" dirty="0">
                <a:solidFill>
                  <a:srgbClr val="FF000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130342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58FAFD-2543-46E3-B299-3C0B326EA751}"/>
              </a:ext>
            </a:extLst>
          </p:cNvPr>
          <p:cNvSpPr>
            <a:spLocks noGrp="1"/>
          </p:cNvSpPr>
          <p:nvPr>
            <p:ph idx="1"/>
          </p:nvPr>
        </p:nvSpPr>
        <p:spPr>
          <a:xfrm>
            <a:off x="1071716" y="0"/>
            <a:ext cx="10282084" cy="6176963"/>
          </a:xfrm>
        </p:spPr>
        <p:txBody>
          <a:bodyPr>
            <a:noAutofit/>
          </a:bodyPr>
          <a:lstStyle/>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&lt;form</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onSubmit</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handleSubmit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Code : </a:t>
            </a:r>
            <a:r>
              <a:rPr lang="en-IN" sz="1200" b="0" dirty="0">
                <a:solidFill>
                  <a:srgbClr val="800000"/>
                </a:solidFill>
                <a:effectLst/>
                <a:latin typeface="Consolas" panose="020B0609020204030204" pitchFamily="49" charset="0"/>
              </a:rPr>
              <a:t>&lt;input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"text"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t>
            </a:r>
          </a:p>
          <a:p>
            <a:pPr marL="0" indent="0">
              <a:buNone/>
            </a:pPr>
            <a:r>
              <a:rPr lang="en-IN" sz="1200" b="0" dirty="0">
                <a:solidFill>
                  <a:srgbClr val="FF000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getFieldProps</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&gt;&lt;/input&gt;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touched</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&amp;&amp; </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 </a:t>
            </a:r>
          </a:p>
          <a:p>
            <a:pPr marL="0" indent="0">
              <a:buNone/>
            </a:pPr>
            <a:r>
              <a:rPr lang="en-IN" sz="1200" b="0" dirty="0">
                <a:solidFill>
                  <a:srgbClr val="800000"/>
                </a:solidFill>
                <a:effectLst/>
                <a:latin typeface="Consolas" panose="020B0609020204030204" pitchFamily="49" charset="0"/>
              </a:rPr>
              <a:t>&lt;span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'red'</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code</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&lt;/span&gt;</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null}</a:t>
            </a:r>
            <a:r>
              <a:rPr lang="en-IN" sz="1200" b="0" dirty="0">
                <a:solidFill>
                  <a:srgbClr val="800000"/>
                </a:solidFill>
                <a:effectLst/>
                <a:latin typeface="Consolas" panose="020B0609020204030204" pitchFamily="49" charset="0"/>
              </a:rPr>
              <a:t>&lt;/label&gt;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name : </a:t>
            </a:r>
            <a:r>
              <a:rPr lang="en-IN" sz="1200" b="0" dirty="0">
                <a:solidFill>
                  <a:srgbClr val="800000"/>
                </a:solidFill>
                <a:effectLst/>
                <a:latin typeface="Consolas" panose="020B0609020204030204" pitchFamily="49" charset="0"/>
              </a:rPr>
              <a:t>&lt;input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"text"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p>
          <a:p>
            <a:pPr marL="0" indent="0">
              <a:buNone/>
            </a:pPr>
            <a:r>
              <a:rPr lang="en-IN" sz="1200" b="0" dirty="0">
                <a:solidFill>
                  <a:srgbClr val="FF000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getFieldProps</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&gt;&lt;/input&gt;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a:t>
            </a:r>
            <a:r>
              <a:rPr lang="en-IN" sz="1200" b="0" dirty="0">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touched</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&amp;&amp; </a:t>
            </a:r>
            <a:r>
              <a:rPr lang="en-IN" sz="1200" b="0" dirty="0">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errors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&lt;span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'red'</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FF"/>
                </a:solidFill>
                <a:effectLst/>
                <a:latin typeface="Consolas" panose="020B0609020204030204" pitchFamily="49" charset="0"/>
              </a:rPr>
              <a:t>{</a:t>
            </a:r>
            <a:r>
              <a:rPr lang="en-IN" sz="1200" b="0" dirty="0">
                <a:solidFill>
                  <a:srgbClr val="0070C1"/>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errors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&lt;/span&gt;</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null}</a:t>
            </a:r>
            <a:r>
              <a:rPr lang="en-IN" sz="1200" b="0" dirty="0">
                <a:solidFill>
                  <a:srgbClr val="800000"/>
                </a:solidFill>
                <a:effectLst/>
                <a:latin typeface="Consolas" panose="020B0609020204030204" pitchFamily="49" charset="0"/>
              </a:rPr>
              <a:t>&lt;/label&gt;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gender : </a:t>
            </a:r>
            <a:r>
              <a:rPr lang="en-IN" sz="1200" b="0" dirty="0">
                <a:solidFill>
                  <a:srgbClr val="800000"/>
                </a:solidFill>
                <a:effectLst/>
                <a:latin typeface="Consolas" panose="020B0609020204030204" pitchFamily="49" charset="0"/>
              </a:rPr>
              <a:t>&lt;input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"text"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a:t>
            </a:r>
          </a:p>
          <a:p>
            <a:pPr marL="0" indent="0">
              <a:buNone/>
            </a:pPr>
            <a:r>
              <a:rPr lang="en-IN" sz="1200" b="0" dirty="0">
                <a:solidFill>
                  <a:srgbClr val="FF000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getFieldProps</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&gt;&lt;/input&gt;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touched</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&amp;&amp; </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00"/>
                </a:solidFill>
                <a:effectLst/>
                <a:latin typeface="Consolas" panose="020B0609020204030204" pitchFamily="49" charset="0"/>
              </a:rPr>
              <a:t> ? </a:t>
            </a:r>
            <a:r>
              <a:rPr lang="en-IN" sz="1200" b="0" dirty="0">
                <a:solidFill>
                  <a:srgbClr val="800000"/>
                </a:solidFill>
                <a:effectLst/>
                <a:latin typeface="Consolas" panose="020B0609020204030204" pitchFamily="49" charset="0"/>
              </a:rPr>
              <a:t>&lt;span</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'red'</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formik</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errors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gender</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&lt;/span&gt;</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null}</a:t>
            </a:r>
            <a:r>
              <a:rPr lang="en-IN" sz="1200" b="0" dirty="0">
                <a:solidFill>
                  <a:srgbClr val="800000"/>
                </a:solidFill>
                <a:effectLst/>
                <a:latin typeface="Consolas" panose="020B0609020204030204" pitchFamily="49" charset="0"/>
              </a:rPr>
              <a:t>&lt;/label&gt;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pPr marL="0" indent="0">
              <a:buNone/>
            </a:pPr>
            <a:endParaRPr lang="en-IN" sz="1200" dirty="0"/>
          </a:p>
        </p:txBody>
      </p:sp>
    </p:spTree>
    <p:extLst>
      <p:ext uri="{BB962C8B-B14F-4D97-AF65-F5344CB8AC3E}">
        <p14:creationId xmlns:p14="http://schemas.microsoft.com/office/powerpoint/2010/main" val="4106441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A3A6C2-C958-4220-8D6A-EE33C1CE1A5E}"/>
              </a:ext>
            </a:extLst>
          </p:cNvPr>
          <p:cNvSpPr>
            <a:spLocks noGrp="1"/>
          </p:cNvSpPr>
          <p:nvPr>
            <p:ph idx="1"/>
          </p:nvPr>
        </p:nvSpPr>
        <p:spPr>
          <a:xfrm>
            <a:off x="648929" y="825910"/>
            <a:ext cx="10537723" cy="5842666"/>
          </a:xfrm>
        </p:spPr>
        <p:txBody>
          <a:bodyPr>
            <a:normAutofit fontScale="925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getFieldProps</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&gt;&lt;/input&gt;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touched</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&amp;&amp;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errors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&lt;span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style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color</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errors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annualSalary</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&lt;/span&gt;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getFieldProps</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&gt;&lt;/input&gt;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touched</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&amp;&amp;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errors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&lt;span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style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color</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errors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dateOfBirth</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&lt;/span&gt;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getFieldProps</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&gt;&lt;/input&gt;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touched</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&amp;&amp;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errors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&lt;span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style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color</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formik</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errors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&lt;/span&gt;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"submit"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Create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endParaRPr lang="en-IN" dirty="0"/>
          </a:p>
        </p:txBody>
      </p:sp>
    </p:spTree>
    <p:extLst>
      <p:ext uri="{BB962C8B-B14F-4D97-AF65-F5344CB8AC3E}">
        <p14:creationId xmlns:p14="http://schemas.microsoft.com/office/powerpoint/2010/main" val="1987765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F196AD-11ED-47A4-9F7F-68F16B4DE748}"/>
              </a:ext>
            </a:extLst>
          </p:cNvPr>
          <p:cNvSpPr>
            <a:spLocks noGrp="1"/>
          </p:cNvSpPr>
          <p:nvPr>
            <p:ph idx="1"/>
          </p:nvPr>
        </p:nvSpPr>
        <p:spPr>
          <a:xfrm>
            <a:off x="265471" y="629264"/>
            <a:ext cx="11189110" cy="5781367"/>
          </a:xfrm>
        </p:spPr>
        <p:txBody>
          <a:bodyPr>
            <a:normAutofit lnSpcReduction="10000"/>
          </a:bodyPr>
          <a:lstStyle/>
          <a:p>
            <a:r>
              <a:rPr lang="en-US" dirty="0">
                <a:solidFill>
                  <a:srgbClr val="626262"/>
                </a:solidFill>
                <a:effectLst/>
              </a:rPr>
              <a:t>If we look at the code what we have written in our last session, though we have tried to make our code better by using </a:t>
            </a:r>
            <a:r>
              <a:rPr lang="en-US" dirty="0" err="1">
                <a:solidFill>
                  <a:srgbClr val="626262"/>
                </a:solidFill>
                <a:effectLst/>
              </a:rPr>
              <a:t>getProps</a:t>
            </a:r>
            <a:r>
              <a:rPr lang="en-US" dirty="0">
                <a:solidFill>
                  <a:srgbClr val="626262"/>
                </a:solidFill>
                <a:effectLst/>
              </a:rPr>
              <a:t> method, still we have to pass that to each input and we have to the code written for displaying the Validation Messages. To save us even more time and to make our code much better and easier, </a:t>
            </a:r>
            <a:r>
              <a:rPr lang="en-US" dirty="0" err="1">
                <a:solidFill>
                  <a:srgbClr val="626262"/>
                </a:solidFill>
                <a:effectLst/>
              </a:rPr>
              <a:t>Formik</a:t>
            </a:r>
            <a:r>
              <a:rPr lang="en-US" dirty="0">
                <a:solidFill>
                  <a:srgbClr val="626262"/>
                </a:solidFill>
                <a:effectLst/>
              </a:rPr>
              <a:t> comes with few built in components. They are </a:t>
            </a:r>
            <a:r>
              <a:rPr lang="en-US" b="1" dirty="0">
                <a:solidFill>
                  <a:srgbClr val="626262"/>
                </a:solidFill>
                <a:effectLst/>
              </a:rPr>
              <a:t>&lt;</a:t>
            </a:r>
            <a:r>
              <a:rPr lang="en-US" b="1" dirty="0" err="1">
                <a:solidFill>
                  <a:srgbClr val="626262"/>
                </a:solidFill>
                <a:effectLst/>
              </a:rPr>
              <a:t>Formik</a:t>
            </a:r>
            <a:r>
              <a:rPr lang="en-US" b="1" dirty="0">
                <a:solidFill>
                  <a:srgbClr val="626262"/>
                </a:solidFill>
                <a:effectLst/>
              </a:rPr>
              <a:t> /&gt;, &lt;Form /&gt;, &lt;Field /&gt;,</a:t>
            </a:r>
            <a:r>
              <a:rPr lang="en-US" dirty="0">
                <a:solidFill>
                  <a:srgbClr val="626262"/>
                </a:solidFill>
                <a:effectLst/>
              </a:rPr>
              <a:t> and </a:t>
            </a:r>
            <a:r>
              <a:rPr lang="en-US" b="1" dirty="0">
                <a:solidFill>
                  <a:srgbClr val="626262"/>
                </a:solidFill>
                <a:effectLst/>
              </a:rPr>
              <a:t>&lt;</a:t>
            </a:r>
            <a:r>
              <a:rPr lang="en-US" b="1" dirty="0" err="1">
                <a:solidFill>
                  <a:srgbClr val="626262"/>
                </a:solidFill>
                <a:effectLst/>
              </a:rPr>
              <a:t>ErrorMessage</a:t>
            </a:r>
            <a:r>
              <a:rPr lang="en-US" b="1" dirty="0">
                <a:solidFill>
                  <a:srgbClr val="626262"/>
                </a:solidFill>
                <a:effectLst/>
              </a:rPr>
              <a:t> /&gt;</a:t>
            </a:r>
            <a:r>
              <a:rPr lang="en-US" dirty="0">
                <a:solidFill>
                  <a:srgbClr val="626262"/>
                </a:solidFill>
                <a:effectLst/>
              </a:rPr>
              <a:t>. </a:t>
            </a:r>
            <a:r>
              <a:rPr lang="en-US" b="1" dirty="0">
                <a:solidFill>
                  <a:srgbClr val="626262"/>
                </a:solidFill>
                <a:effectLst/>
              </a:rPr>
              <a:t>&lt;</a:t>
            </a:r>
            <a:r>
              <a:rPr lang="en-US" b="1" dirty="0" err="1">
                <a:solidFill>
                  <a:srgbClr val="626262"/>
                </a:solidFill>
                <a:effectLst/>
              </a:rPr>
              <a:t>Formik</a:t>
            </a:r>
            <a:r>
              <a:rPr lang="en-US" b="1" dirty="0">
                <a:solidFill>
                  <a:srgbClr val="626262"/>
                </a:solidFill>
                <a:effectLst/>
              </a:rPr>
              <a:t>/&gt;</a:t>
            </a:r>
            <a:r>
              <a:rPr lang="en-US" dirty="0">
                <a:solidFill>
                  <a:srgbClr val="626262"/>
                </a:solidFill>
                <a:effectLst/>
              </a:rPr>
              <a:t> is a component that helps us with building forms. Internally, </a:t>
            </a:r>
            <a:r>
              <a:rPr lang="en-US" dirty="0" err="1">
                <a:solidFill>
                  <a:srgbClr val="626262"/>
                </a:solidFill>
                <a:effectLst/>
              </a:rPr>
              <a:t>Formik</a:t>
            </a:r>
            <a:r>
              <a:rPr lang="en-US" dirty="0">
                <a:solidFill>
                  <a:srgbClr val="626262"/>
                </a:solidFill>
                <a:effectLst/>
              </a:rPr>
              <a:t> uses </a:t>
            </a:r>
            <a:r>
              <a:rPr lang="en-US" dirty="0" err="1">
                <a:solidFill>
                  <a:srgbClr val="626262"/>
                </a:solidFill>
                <a:effectLst/>
              </a:rPr>
              <a:t>useFormik</a:t>
            </a:r>
            <a:r>
              <a:rPr lang="en-US" dirty="0">
                <a:solidFill>
                  <a:srgbClr val="626262"/>
                </a:solidFill>
                <a:effectLst/>
              </a:rPr>
              <a:t> function to create the &lt;</a:t>
            </a:r>
            <a:r>
              <a:rPr lang="en-US" dirty="0" err="1">
                <a:solidFill>
                  <a:srgbClr val="626262"/>
                </a:solidFill>
                <a:effectLst/>
              </a:rPr>
              <a:t>Formik</a:t>
            </a:r>
            <a:r>
              <a:rPr lang="en-US" dirty="0">
                <a:solidFill>
                  <a:srgbClr val="626262"/>
                </a:solidFill>
                <a:effectLst/>
              </a:rPr>
              <a:t>&gt; component. </a:t>
            </a:r>
            <a:r>
              <a:rPr lang="en-US" dirty="0" err="1">
                <a:solidFill>
                  <a:srgbClr val="626262"/>
                </a:solidFill>
                <a:effectLst/>
              </a:rPr>
              <a:t>useFormik</a:t>
            </a:r>
            <a:r>
              <a:rPr lang="en-US" dirty="0">
                <a:solidFill>
                  <a:srgbClr val="626262"/>
                </a:solidFill>
                <a:effectLst/>
              </a:rPr>
              <a:t>() is a custom React hook that will return all </a:t>
            </a:r>
            <a:r>
              <a:rPr lang="en-US" dirty="0" err="1">
                <a:solidFill>
                  <a:srgbClr val="626262"/>
                </a:solidFill>
                <a:effectLst/>
              </a:rPr>
              <a:t>Formik</a:t>
            </a:r>
            <a:r>
              <a:rPr lang="en-US" dirty="0">
                <a:solidFill>
                  <a:srgbClr val="626262"/>
                </a:solidFill>
                <a:effectLst/>
              </a:rPr>
              <a:t> state and helpers directly. Despite its name, it is not meant for the majority of use cases.</a:t>
            </a:r>
          </a:p>
          <a:p>
            <a:r>
              <a:rPr lang="en-US" dirty="0">
                <a:solidFill>
                  <a:srgbClr val="626262"/>
                </a:solidFill>
                <a:effectLst/>
              </a:rPr>
              <a:t>Let's now swap out the </a:t>
            </a:r>
            <a:r>
              <a:rPr lang="en-US" dirty="0" err="1">
                <a:solidFill>
                  <a:srgbClr val="626262"/>
                </a:solidFill>
                <a:effectLst/>
              </a:rPr>
              <a:t>useFormik</a:t>
            </a:r>
            <a:r>
              <a:rPr lang="en-US" dirty="0">
                <a:solidFill>
                  <a:srgbClr val="626262"/>
                </a:solidFill>
                <a:effectLst/>
              </a:rPr>
              <a:t>() hook for the </a:t>
            </a:r>
            <a:r>
              <a:rPr lang="en-US" dirty="0" err="1">
                <a:solidFill>
                  <a:srgbClr val="626262"/>
                </a:solidFill>
                <a:effectLst/>
              </a:rPr>
              <a:t>Formik's</a:t>
            </a:r>
            <a:r>
              <a:rPr lang="en-US" dirty="0">
                <a:solidFill>
                  <a:srgbClr val="626262"/>
                </a:solidFill>
                <a:effectLst/>
              </a:rPr>
              <a:t> &lt;</a:t>
            </a:r>
            <a:r>
              <a:rPr lang="en-US" dirty="0" err="1">
                <a:solidFill>
                  <a:srgbClr val="626262"/>
                </a:solidFill>
                <a:effectLst/>
              </a:rPr>
              <a:t>Formik</a:t>
            </a:r>
            <a:r>
              <a:rPr lang="en-US" dirty="0">
                <a:solidFill>
                  <a:srgbClr val="626262"/>
                </a:solidFill>
                <a:effectLst/>
              </a:rPr>
              <a:t>&gt; component. Since it's a component, we'll convert the object passed to </a:t>
            </a:r>
            <a:r>
              <a:rPr lang="en-US" dirty="0" err="1">
                <a:solidFill>
                  <a:srgbClr val="626262"/>
                </a:solidFill>
                <a:effectLst/>
              </a:rPr>
              <a:t>useFormik</a:t>
            </a:r>
            <a:r>
              <a:rPr lang="en-US" dirty="0">
                <a:solidFill>
                  <a:srgbClr val="626262"/>
                </a:solidFill>
                <a:effectLst/>
              </a:rPr>
              <a:t>() to JSX, with each key becoming a prop. That means </a:t>
            </a:r>
            <a:r>
              <a:rPr lang="en-US" dirty="0" err="1">
                <a:solidFill>
                  <a:srgbClr val="626262"/>
                </a:solidFill>
                <a:effectLst/>
              </a:rPr>
              <a:t>initialValues</a:t>
            </a:r>
            <a:r>
              <a:rPr lang="en-US" dirty="0">
                <a:solidFill>
                  <a:srgbClr val="626262"/>
                </a:solidFill>
                <a:effectLst/>
              </a:rPr>
              <a:t>, </a:t>
            </a:r>
            <a:r>
              <a:rPr lang="en-US" dirty="0" err="1">
                <a:solidFill>
                  <a:srgbClr val="626262"/>
                </a:solidFill>
                <a:effectLst/>
              </a:rPr>
              <a:t>validationSchema</a:t>
            </a:r>
            <a:r>
              <a:rPr lang="en-US" dirty="0">
                <a:solidFill>
                  <a:srgbClr val="626262"/>
                </a:solidFill>
                <a:effectLst/>
              </a:rPr>
              <a:t> and </a:t>
            </a:r>
            <a:r>
              <a:rPr lang="en-US" dirty="0" err="1">
                <a:solidFill>
                  <a:srgbClr val="626262"/>
                </a:solidFill>
                <a:effectLst/>
              </a:rPr>
              <a:t>onSubmit</a:t>
            </a:r>
            <a:r>
              <a:rPr lang="en-US" dirty="0">
                <a:solidFill>
                  <a:srgbClr val="626262"/>
                </a:solidFill>
                <a:effectLst/>
              </a:rPr>
              <a:t> will be passed to this </a:t>
            </a:r>
            <a:r>
              <a:rPr lang="en-US" dirty="0" err="1">
                <a:solidFill>
                  <a:srgbClr val="626262"/>
                </a:solidFill>
                <a:effectLst/>
              </a:rPr>
              <a:t>Formik</a:t>
            </a:r>
            <a:r>
              <a:rPr lang="en-US" dirty="0">
                <a:solidFill>
                  <a:srgbClr val="626262"/>
                </a:solidFill>
                <a:effectLst/>
              </a:rPr>
              <a:t> Component as properties. </a:t>
            </a:r>
          </a:p>
          <a:p>
            <a:endParaRPr lang="en-IN" dirty="0"/>
          </a:p>
        </p:txBody>
      </p:sp>
    </p:spTree>
    <p:extLst>
      <p:ext uri="{BB962C8B-B14F-4D97-AF65-F5344CB8AC3E}">
        <p14:creationId xmlns:p14="http://schemas.microsoft.com/office/powerpoint/2010/main" val="2025276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7767D6-9964-4F81-93F3-39CDEE663252}"/>
              </a:ext>
            </a:extLst>
          </p:cNvPr>
          <p:cNvSpPr>
            <a:spLocks noGrp="1"/>
          </p:cNvSpPr>
          <p:nvPr>
            <p:ph idx="1"/>
          </p:nvPr>
        </p:nvSpPr>
        <p:spPr>
          <a:xfrm>
            <a:off x="245806" y="452284"/>
            <a:ext cx="11277600" cy="6405716"/>
          </a:xfrm>
        </p:spPr>
        <p:txBody>
          <a:bodyPr>
            <a:noAutofit/>
          </a:bodyPr>
          <a:lstStyle/>
          <a:p>
            <a:pPr marL="0" indent="0">
              <a:lnSpc>
                <a:spcPct val="100000"/>
              </a:lnSpc>
              <a:spcBef>
                <a:spcPts val="0"/>
              </a:spcBef>
              <a:buNone/>
            </a:pPr>
            <a:r>
              <a:rPr lang="en-US" sz="1400" dirty="0"/>
              <a:t>in our </a:t>
            </a:r>
            <a:r>
              <a:rPr lang="en-US" sz="1400" dirty="0" err="1"/>
              <a:t>YupemployeeComponent’s</a:t>
            </a:r>
            <a:r>
              <a:rPr lang="en-US" sz="1400" dirty="0"/>
              <a:t> return Method, Call a Component Called as </a:t>
            </a:r>
            <a:r>
              <a:rPr lang="en-US" sz="1400" dirty="0" err="1"/>
              <a:t>Formik</a:t>
            </a:r>
            <a:r>
              <a:rPr lang="en-US" sz="1400" dirty="0"/>
              <a:t> and to this Component, lets pass </a:t>
            </a:r>
            <a:r>
              <a:rPr lang="en-US" sz="1400" dirty="0" err="1"/>
              <a:t>initialValues</a:t>
            </a:r>
            <a:r>
              <a:rPr lang="en-US" sz="1400" dirty="0"/>
              <a:t>, </a:t>
            </a:r>
            <a:r>
              <a:rPr lang="en-US" sz="1400" dirty="0" err="1"/>
              <a:t>validationSchema</a:t>
            </a:r>
            <a:r>
              <a:rPr lang="en-US" sz="1400" dirty="0"/>
              <a:t> and </a:t>
            </a:r>
            <a:r>
              <a:rPr lang="en-US" sz="1400" dirty="0" err="1"/>
              <a:t>onSubmit</a:t>
            </a:r>
            <a:r>
              <a:rPr lang="en-US" sz="1400" dirty="0"/>
              <a:t> as properties. We will pass the same values we have used in </a:t>
            </a:r>
            <a:r>
              <a:rPr lang="en-US" sz="1400" dirty="0" err="1"/>
              <a:t>useFormik</a:t>
            </a:r>
            <a:r>
              <a:rPr lang="en-US" sz="1400" dirty="0"/>
              <a:t> function object.</a:t>
            </a:r>
            <a:endParaRPr lang="en-IN" sz="1400" dirty="0"/>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latin typeface="Consolas" panose="020B0609020204030204" pitchFamily="49" charset="0"/>
              </a:rPr>
              <a:t>Formik</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initialValues</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lnSpc>
                <a:spcPct val="100000"/>
              </a:lnSpc>
              <a:spcBef>
                <a:spcPts val="0"/>
              </a:spcBef>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code: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dirty="0">
                <a:solidFill>
                  <a:srgbClr val="001080"/>
                </a:solidFill>
                <a:latin typeface="Consolas" panose="020B0609020204030204" pitchFamily="49" charset="0"/>
              </a:rPr>
              <a:t>n</a:t>
            </a:r>
            <a:r>
              <a:rPr lang="en-IN" sz="1400" b="0" dirty="0">
                <a:solidFill>
                  <a:srgbClr val="001080"/>
                </a:solidFill>
                <a:effectLst/>
                <a:latin typeface="Consolas" panose="020B0609020204030204" pitchFamily="49" charset="0"/>
              </a:rPr>
              <a:t>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gender:</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Salary:</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EmailId</a:t>
            </a:r>
            <a:r>
              <a:rPr lang="en-IN" sz="1400" b="0" dirty="0">
                <a:solidFill>
                  <a:srgbClr val="00108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pPr marL="0" indent="0">
              <a:lnSpc>
                <a:spcPct val="100000"/>
              </a:lnSpc>
              <a:spcBef>
                <a:spcPts val="0"/>
              </a:spcBef>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validationSchema</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yup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object</a:t>
            </a:r>
            <a:r>
              <a:rPr lang="en-IN" sz="1400" b="0" dirty="0">
                <a:solidFill>
                  <a:srgbClr val="000000"/>
                </a:solidFill>
                <a:effectLst/>
                <a:latin typeface="Consolas" panose="020B0609020204030204" pitchFamily="49" charset="0"/>
              </a:rPr>
              <a:t>({</a:t>
            </a:r>
          </a:p>
          <a:p>
            <a:pPr marL="0" indent="0">
              <a:lnSpc>
                <a:spcPct val="100000"/>
              </a:lnSpc>
              <a:spcBef>
                <a:spcPts val="0"/>
              </a:spcBef>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Name:yup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string</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max</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20</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'Name should not exceed 20 Characters’</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required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'Please Enter Employee Name'</a:t>
            </a:r>
            <a:r>
              <a:rPr lang="en-IN" sz="1400" b="0" dirty="0">
                <a:solidFill>
                  <a:srgbClr val="000000"/>
                </a:solidFill>
                <a:effectLst/>
                <a:latin typeface="Consolas" panose="020B0609020204030204" pitchFamily="49" charset="0"/>
              </a:rPr>
              <a:t>),</a:t>
            </a:r>
          </a:p>
          <a:p>
            <a:pPr marL="0" indent="0">
              <a:lnSpc>
                <a:spcPct val="100000"/>
              </a:lnSpc>
              <a:spcBef>
                <a:spcPts val="0"/>
              </a:spcBef>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Location: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yup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string</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required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'Please Enter Employee Location'</a:t>
            </a:r>
            <a:r>
              <a:rPr lang="en-IN" sz="1400" b="0" dirty="0">
                <a:solidFill>
                  <a:srgbClr val="000000"/>
                </a:solidFill>
                <a:effectLst/>
                <a:latin typeface="Consolas" panose="020B0609020204030204" pitchFamily="49" charset="0"/>
              </a:rPr>
              <a:t>),</a:t>
            </a:r>
          </a:p>
          <a:p>
            <a:pPr marL="0" indent="0">
              <a:lnSpc>
                <a:spcPct val="100000"/>
              </a:lnSpc>
              <a:spcBef>
                <a:spcPts val="0"/>
              </a:spcBef>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EmailId</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yup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string</a:t>
            </a:r>
            <a:r>
              <a:rPr lang="en-IN" sz="1400" b="0" dirty="0">
                <a:solidFill>
                  <a:srgbClr val="000000"/>
                </a:solidFill>
                <a:effectLst/>
                <a:latin typeface="Consolas" panose="020B0609020204030204" pitchFamily="49" charset="0"/>
              </a:rPr>
              <a:t>()</a:t>
            </a:r>
          </a:p>
          <a:p>
            <a:pPr marL="0" indent="0">
              <a:lnSpc>
                <a:spcPct val="100000"/>
              </a:lnSpc>
              <a:spcBef>
                <a:spcPts val="0"/>
              </a:spcBef>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email</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'Invalid email address'</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required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'Please Enter Email Id'</a:t>
            </a:r>
            <a:r>
              <a:rPr lang="en-IN" sz="1400" b="0" dirty="0">
                <a:solidFill>
                  <a:srgbClr val="000000"/>
                </a:solidFill>
                <a:effectLst/>
                <a:latin typeface="Consolas" panose="020B0609020204030204" pitchFamily="49" charset="0"/>
              </a:rPr>
              <a:t>)</a:t>
            </a:r>
          </a:p>
          <a:p>
            <a:pPr marL="0" indent="0">
              <a:lnSpc>
                <a:spcPct val="100000"/>
              </a:lnSpc>
              <a:spcBef>
                <a:spcPts val="0"/>
              </a:spcBef>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onSubmit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a:solidFill>
                  <a:srgbClr val="001080"/>
                </a:solidFill>
                <a:effectLst/>
                <a:latin typeface="Consolas" panose="020B0609020204030204" pitchFamily="49" charset="0"/>
              </a:rPr>
              <a:t>values</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pPr marL="0" indent="0">
              <a:lnSpc>
                <a:spcPct val="100000"/>
              </a:lnSpc>
              <a:spcBef>
                <a:spcPts val="0"/>
              </a:spcBef>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JSON</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stringify</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values</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247644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CD192-DF3A-427A-8EA2-59846B54F822}"/>
              </a:ext>
            </a:extLst>
          </p:cNvPr>
          <p:cNvSpPr>
            <a:spLocks noGrp="1"/>
          </p:cNvSpPr>
          <p:nvPr>
            <p:ph idx="1"/>
          </p:nvPr>
        </p:nvSpPr>
        <p:spPr>
          <a:xfrm>
            <a:off x="216310" y="589935"/>
            <a:ext cx="10999839" cy="5823002"/>
          </a:xfrm>
        </p:spPr>
        <p:txBody>
          <a:bodyPr>
            <a:normAutofit/>
          </a:bodyPr>
          <a:lstStyle/>
          <a:p>
            <a:r>
              <a:rPr lang="en-US" dirty="0"/>
              <a:t>Lets add a div container and with in this Container, place a h2 tag with text as New Employee Form. Now lets call Form Component as Child Component from this </a:t>
            </a:r>
            <a:r>
              <a:rPr lang="en-US" dirty="0" err="1"/>
              <a:t>Formik</a:t>
            </a:r>
            <a:r>
              <a:rPr lang="en-US" dirty="0"/>
              <a:t> Component. Add a paragraph tag and place a label with Text as Employee code. Now instead of placing an input, We will use another Component called as Field. To this field we will pass what type of input we want like text or number or email.</a:t>
            </a:r>
            <a:endParaRPr lang="en-IN" dirty="0"/>
          </a:p>
          <a:p>
            <a:pPr marL="0" indent="0">
              <a:buNone/>
            </a:pPr>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 &lt;</a:t>
            </a:r>
            <a:r>
              <a:rPr lang="en-US" sz="1700" b="0" dirty="0">
                <a:solidFill>
                  <a:srgbClr val="001080"/>
                </a:solidFill>
                <a:effectLst/>
                <a:latin typeface="Consolas" panose="020B0609020204030204" pitchFamily="49" charset="0"/>
              </a:rPr>
              <a:t>p</a:t>
            </a:r>
            <a:r>
              <a:rPr lang="en-US" sz="1700" b="0" dirty="0">
                <a:solidFill>
                  <a:srgbClr val="000000"/>
                </a:solidFill>
                <a:effectLst/>
                <a:latin typeface="Consolas" panose="020B0609020204030204" pitchFamily="49" charset="0"/>
              </a:rPr>
              <a:t>&gt;</a:t>
            </a:r>
          </a:p>
          <a:p>
            <a:pPr marL="0" indent="0">
              <a:buNone/>
            </a:pPr>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 </a:t>
            </a:r>
            <a:r>
              <a:rPr lang="en-US" sz="1700" b="0" dirty="0">
                <a:solidFill>
                  <a:srgbClr val="800000"/>
                </a:solidFill>
                <a:effectLst/>
                <a:latin typeface="Consolas" panose="020B0609020204030204" pitchFamily="49" charset="0"/>
              </a:rPr>
              <a:t>&lt;label</a:t>
            </a:r>
            <a:r>
              <a:rPr lang="en-US" sz="1700" b="0" dirty="0">
                <a:solidFill>
                  <a:srgbClr val="000000"/>
                </a:solidFill>
                <a:effectLst/>
                <a:latin typeface="Consolas" panose="020B0609020204030204" pitchFamily="49" charset="0"/>
              </a:rPr>
              <a:t> </a:t>
            </a:r>
            <a:r>
              <a:rPr lang="en-US" sz="1700" b="0" dirty="0" err="1">
                <a:solidFill>
                  <a:srgbClr val="FF0000"/>
                </a:solidFill>
                <a:effectLst/>
                <a:latin typeface="Consolas" panose="020B0609020204030204" pitchFamily="49" charset="0"/>
              </a:rPr>
              <a:t>htmlFor</a:t>
            </a:r>
            <a:r>
              <a:rPr lang="en-US" sz="1700" b="0" dirty="0">
                <a:solidFill>
                  <a:srgbClr val="000000"/>
                </a:solidFill>
                <a:effectLst/>
                <a:latin typeface="Consolas" panose="020B0609020204030204" pitchFamily="49" charset="0"/>
              </a:rPr>
              <a:t>=</a:t>
            </a:r>
            <a:r>
              <a:rPr lang="en-US" sz="1700" b="0" dirty="0">
                <a:solidFill>
                  <a:srgbClr val="A31515"/>
                </a:solidFill>
                <a:effectLst/>
                <a:latin typeface="Consolas" panose="020B0609020204030204" pitchFamily="49" charset="0"/>
              </a:rPr>
              <a:t>"Id"</a:t>
            </a:r>
            <a:r>
              <a:rPr lang="en-US" sz="1700" b="0" dirty="0">
                <a:solidFill>
                  <a:srgbClr val="800000"/>
                </a:solidFill>
                <a:effectLst/>
                <a:latin typeface="Consolas" panose="020B0609020204030204" pitchFamily="49" charset="0"/>
              </a:rPr>
              <a:t>&gt;</a:t>
            </a:r>
            <a:r>
              <a:rPr lang="en-US" sz="1700" b="0" dirty="0">
                <a:solidFill>
                  <a:srgbClr val="000000"/>
                </a:solidFill>
                <a:effectLst/>
                <a:latin typeface="Consolas" panose="020B0609020204030204" pitchFamily="49" charset="0"/>
              </a:rPr>
              <a:t>Employee ID </a:t>
            </a:r>
            <a:r>
              <a:rPr lang="en-US" sz="1700" b="0" dirty="0">
                <a:solidFill>
                  <a:srgbClr val="800000"/>
                </a:solidFill>
                <a:effectLst/>
                <a:latin typeface="Consolas" panose="020B0609020204030204" pitchFamily="49" charset="0"/>
              </a:rPr>
              <a:t>&lt;/label&gt;</a:t>
            </a:r>
            <a:endParaRPr lang="en-US" sz="1700" b="0" dirty="0">
              <a:solidFill>
                <a:srgbClr val="000000"/>
              </a:solidFill>
              <a:effectLst/>
              <a:latin typeface="Consolas" panose="020B0609020204030204" pitchFamily="49" charset="0"/>
            </a:endParaRPr>
          </a:p>
          <a:p>
            <a:pPr marL="0" indent="0">
              <a:buNone/>
            </a:pPr>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 </a:t>
            </a:r>
            <a:r>
              <a:rPr lang="en-US" sz="1700" b="0" dirty="0">
                <a:solidFill>
                  <a:srgbClr val="800000"/>
                </a:solidFill>
                <a:effectLst/>
                <a:latin typeface="Consolas" panose="020B0609020204030204" pitchFamily="49" charset="0"/>
              </a:rPr>
              <a:t>&lt;</a:t>
            </a:r>
            <a:r>
              <a:rPr lang="en-US" sz="1700" b="0" dirty="0">
                <a:solidFill>
                  <a:srgbClr val="267F99"/>
                </a:solidFill>
                <a:effectLst/>
                <a:latin typeface="Consolas" panose="020B0609020204030204" pitchFamily="49" charset="0"/>
              </a:rPr>
              <a:t>Field</a:t>
            </a:r>
            <a:r>
              <a:rPr lang="en-US" sz="1700" b="0" dirty="0">
                <a:solidFill>
                  <a:srgbClr val="000000"/>
                </a:solidFill>
                <a:effectLst/>
                <a:latin typeface="Consolas" panose="020B0609020204030204" pitchFamily="49" charset="0"/>
              </a:rPr>
              <a:t> </a:t>
            </a:r>
            <a:r>
              <a:rPr lang="en-US" sz="1700" b="0" dirty="0">
                <a:solidFill>
                  <a:srgbClr val="FF0000"/>
                </a:solidFill>
                <a:effectLst/>
                <a:latin typeface="Consolas" panose="020B0609020204030204" pitchFamily="49" charset="0"/>
              </a:rPr>
              <a:t>name</a:t>
            </a:r>
            <a:r>
              <a:rPr lang="en-US" sz="1700" b="0" dirty="0">
                <a:solidFill>
                  <a:srgbClr val="000000"/>
                </a:solidFill>
                <a:effectLst/>
                <a:latin typeface="Consolas" panose="020B0609020204030204" pitchFamily="49" charset="0"/>
              </a:rPr>
              <a:t>=</a:t>
            </a:r>
            <a:r>
              <a:rPr lang="en-US" sz="1700" b="0" dirty="0">
                <a:solidFill>
                  <a:srgbClr val="A31515"/>
                </a:solidFill>
                <a:effectLst/>
                <a:latin typeface="Consolas" panose="020B0609020204030204" pitchFamily="49" charset="0"/>
              </a:rPr>
              <a:t>"Id"</a:t>
            </a:r>
            <a:r>
              <a:rPr lang="en-US" sz="1700" b="0" dirty="0">
                <a:solidFill>
                  <a:srgbClr val="000000"/>
                </a:solidFill>
                <a:effectLst/>
                <a:latin typeface="Consolas" panose="020B0609020204030204" pitchFamily="49" charset="0"/>
              </a:rPr>
              <a:t> </a:t>
            </a:r>
            <a:r>
              <a:rPr lang="en-US" sz="1700" b="0" dirty="0">
                <a:solidFill>
                  <a:srgbClr val="FF0000"/>
                </a:solidFill>
                <a:effectLst/>
                <a:latin typeface="Consolas" panose="020B0609020204030204" pitchFamily="49" charset="0"/>
              </a:rPr>
              <a:t>type</a:t>
            </a:r>
            <a:r>
              <a:rPr lang="en-US" sz="1700" b="0" dirty="0">
                <a:solidFill>
                  <a:srgbClr val="000000"/>
                </a:solidFill>
                <a:effectLst/>
                <a:latin typeface="Consolas" panose="020B0609020204030204" pitchFamily="49" charset="0"/>
              </a:rPr>
              <a:t>=</a:t>
            </a:r>
            <a:r>
              <a:rPr lang="en-US" sz="1700" b="0" dirty="0">
                <a:solidFill>
                  <a:srgbClr val="A31515"/>
                </a:solidFill>
                <a:effectLst/>
                <a:latin typeface="Consolas" panose="020B0609020204030204" pitchFamily="49" charset="0"/>
              </a:rPr>
              <a:t>"text"</a:t>
            </a:r>
            <a:r>
              <a:rPr lang="en-US" sz="1700" b="0" dirty="0">
                <a:solidFill>
                  <a:srgbClr val="800000"/>
                </a:solidFill>
                <a:effectLst/>
                <a:latin typeface="Consolas" panose="020B0609020204030204" pitchFamily="49" charset="0"/>
              </a:rPr>
              <a:t>&gt;&lt;/</a:t>
            </a:r>
            <a:r>
              <a:rPr lang="en-US" sz="1700" b="0" dirty="0">
                <a:solidFill>
                  <a:srgbClr val="267F99"/>
                </a:solidFill>
                <a:effectLst/>
                <a:latin typeface="Consolas" panose="020B0609020204030204" pitchFamily="49" charset="0"/>
              </a:rPr>
              <a:t>Field</a:t>
            </a:r>
            <a:r>
              <a:rPr lang="en-US" sz="1700" b="0" dirty="0">
                <a:solidFill>
                  <a:srgbClr val="800000"/>
                </a:solidFill>
                <a:effectLst/>
                <a:latin typeface="Consolas" panose="020B0609020204030204" pitchFamily="49" charset="0"/>
              </a:rPr>
              <a:t>&gt;</a:t>
            </a:r>
            <a:endParaRPr lang="en-US" sz="1700" b="0" dirty="0">
              <a:solidFill>
                <a:srgbClr val="000000"/>
              </a:solidFill>
              <a:effectLst/>
              <a:latin typeface="Consolas" panose="020B0609020204030204" pitchFamily="49" charset="0"/>
            </a:endParaRPr>
          </a:p>
          <a:p>
            <a:pPr marL="0" indent="0">
              <a:buNone/>
            </a:pPr>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&lt;/</a:t>
            </a:r>
            <a:r>
              <a:rPr lang="en-US" sz="1700" b="0" dirty="0">
                <a:solidFill>
                  <a:srgbClr val="001080"/>
                </a:solidFill>
                <a:effectLst/>
                <a:latin typeface="Consolas" panose="020B0609020204030204" pitchFamily="49" charset="0"/>
              </a:rPr>
              <a:t>p</a:t>
            </a:r>
            <a:r>
              <a:rPr lang="en-US" sz="1700" b="0" dirty="0">
                <a:solidFill>
                  <a:srgbClr val="000000"/>
                </a:solidFill>
                <a:effectLst/>
                <a:latin typeface="Consolas" panose="020B0609020204030204" pitchFamily="49" charset="0"/>
              </a:rPr>
              <a:t>&gt;</a:t>
            </a:r>
          </a:p>
        </p:txBody>
      </p:sp>
    </p:spTree>
    <p:extLst>
      <p:ext uri="{BB962C8B-B14F-4D97-AF65-F5344CB8AC3E}">
        <p14:creationId xmlns:p14="http://schemas.microsoft.com/office/powerpoint/2010/main" val="4152967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BC3829-23BE-4702-B16B-8BAEA48EC394}"/>
              </a:ext>
            </a:extLst>
          </p:cNvPr>
          <p:cNvSpPr>
            <a:spLocks noGrp="1"/>
          </p:cNvSpPr>
          <p:nvPr>
            <p:ph idx="1"/>
          </p:nvPr>
        </p:nvSpPr>
        <p:spPr>
          <a:xfrm>
            <a:off x="776749" y="0"/>
            <a:ext cx="11058832" cy="6009815"/>
          </a:xfrm>
        </p:spPr>
        <p:txBody>
          <a:bodyPr>
            <a:noAutofit/>
          </a:bodyPr>
          <a:lstStyle/>
          <a:p>
            <a:r>
              <a:rPr lang="en-US" sz="1600" dirty="0">
                <a:effectLst/>
              </a:rPr>
              <a:t>Now lets repeat the same for Rest of the Form inputs like Name, gender, Salary and Email ID. Now We should display the Error messages when there is any Validation Error. In order to do this, we will use another Component called as </a:t>
            </a:r>
            <a:r>
              <a:rPr lang="en-US" sz="1600" b="1" dirty="0" err="1">
                <a:effectLst/>
              </a:rPr>
              <a:t>ErrorMessage</a:t>
            </a:r>
            <a:r>
              <a:rPr lang="en-US" sz="1600" b="1" dirty="0">
                <a:effectLst/>
              </a:rPr>
              <a:t> </a:t>
            </a:r>
            <a:r>
              <a:rPr lang="en-US" sz="1600" dirty="0">
                <a:effectLst/>
              </a:rPr>
              <a:t>and specify property name for which the error should be displayed. We use an attribute called as name to specify the Property Name from our </a:t>
            </a:r>
            <a:r>
              <a:rPr lang="en-US" sz="1600" dirty="0" err="1">
                <a:effectLst/>
              </a:rPr>
              <a:t>Formik</a:t>
            </a:r>
            <a:r>
              <a:rPr lang="en-US" sz="1600" dirty="0">
                <a:effectLst/>
              </a:rPr>
              <a:t> values object. Now we will repeat the same for Salary and Email ID as well. Lets save our changes, navigate to the browser. </a:t>
            </a:r>
          </a:p>
          <a:p>
            <a:r>
              <a:rPr lang="en-US" sz="1600" dirty="0">
                <a:effectLst/>
              </a:rPr>
              <a:t>As we keep playing with the form inputs, respective validation messages are displayed. When we click on the button, we can see that forms data is displayed in an alert as a json object. Now if we look at the Code, </a:t>
            </a:r>
            <a:r>
              <a:rPr lang="en-US" sz="1600" b="1" dirty="0" err="1">
                <a:effectLst/>
              </a:rPr>
              <a:t>Formik</a:t>
            </a:r>
            <a:r>
              <a:rPr lang="en-US" sz="1600" b="1" dirty="0">
                <a:effectLst/>
              </a:rPr>
              <a:t> is the Parent Component </a:t>
            </a:r>
            <a:r>
              <a:rPr lang="en-US" sz="1600" dirty="0">
                <a:effectLst/>
              </a:rPr>
              <a:t>and it has a nesting of Child Components. They are </a:t>
            </a:r>
            <a:r>
              <a:rPr lang="en-US" sz="1600" b="1" dirty="0">
                <a:effectLst/>
              </a:rPr>
              <a:t>Form, Field and Error Message</a:t>
            </a:r>
            <a:r>
              <a:rPr lang="en-US" sz="1600" dirty="0">
                <a:effectLst/>
              </a:rPr>
              <a:t>. </a:t>
            </a:r>
            <a:r>
              <a:rPr lang="en-US" sz="1600" dirty="0" err="1">
                <a:effectLst/>
              </a:rPr>
              <a:t>Formik</a:t>
            </a:r>
            <a:r>
              <a:rPr lang="en-US" sz="1600" dirty="0">
                <a:effectLst/>
              </a:rPr>
              <a:t> uses React Context internally to pass the data between these Components. </a:t>
            </a:r>
          </a:p>
          <a:p>
            <a:r>
              <a:rPr lang="en-US" sz="1600" dirty="0">
                <a:effectLst/>
              </a:rPr>
              <a:t>One must remember that We cant use Form, field, Error Message Components inside </a:t>
            </a:r>
            <a:r>
              <a:rPr lang="en-US" sz="1600" dirty="0" err="1">
                <a:effectLst/>
              </a:rPr>
              <a:t>useFormik</a:t>
            </a:r>
            <a:r>
              <a:rPr lang="en-US" sz="1600" dirty="0">
                <a:effectLst/>
              </a:rPr>
              <a:t> function. In our example we have used Field for generating the input elements. We can use Field Component to generate other html elements as well.</a:t>
            </a:r>
          </a:p>
          <a:p>
            <a:r>
              <a:rPr lang="en-US" sz="1600" dirty="0">
                <a:effectLst/>
              </a:rPr>
              <a:t>Now lets say we want to have a </a:t>
            </a:r>
            <a:r>
              <a:rPr lang="en-US" sz="1600" dirty="0" err="1">
                <a:effectLst/>
              </a:rPr>
              <a:t>dropdownlist</a:t>
            </a:r>
            <a:r>
              <a:rPr lang="en-US" sz="1600" dirty="0">
                <a:effectLst/>
              </a:rPr>
              <a:t> using which we can select the designation of the Employee. Lets add a new Property to our </a:t>
            </a:r>
            <a:r>
              <a:rPr lang="en-US" sz="1600" dirty="0" err="1">
                <a:effectLst/>
              </a:rPr>
              <a:t>initialValues</a:t>
            </a:r>
            <a:r>
              <a:rPr lang="en-US" sz="1600" dirty="0">
                <a:effectLst/>
              </a:rPr>
              <a:t> Object with a Name called Designation and initialize it to empty. Now with in our Form, add a new Field, assign the name as designation and to this field add a new attribute called as </a:t>
            </a:r>
            <a:r>
              <a:rPr lang="en-US" sz="1600" dirty="0" err="1">
                <a:effectLst/>
              </a:rPr>
              <a:t>as</a:t>
            </a:r>
            <a:r>
              <a:rPr lang="en-US" sz="1600" dirty="0">
                <a:effectLst/>
              </a:rPr>
              <a:t> and set the value as select. Add the respective options we want. For example, lets say we want to have Software Engineer, Senior Software Engineer and Lead as Designations.</a:t>
            </a:r>
          </a:p>
          <a:p>
            <a:r>
              <a:rPr lang="en-US" sz="1600" dirty="0">
                <a:effectLst/>
              </a:rPr>
              <a:t>Save these changes, navigate to the browser. Now we can see the </a:t>
            </a:r>
            <a:r>
              <a:rPr lang="en-US" sz="1600" dirty="0" err="1">
                <a:effectLst/>
              </a:rPr>
              <a:t>dropdownlist</a:t>
            </a:r>
            <a:r>
              <a:rPr lang="en-US" sz="1600" dirty="0">
                <a:effectLst/>
              </a:rPr>
              <a:t> available for us. Fill the form, click on the button. We can see the designation is added to our </a:t>
            </a:r>
            <a:r>
              <a:rPr lang="en-US" sz="1600" dirty="0" err="1">
                <a:effectLst/>
              </a:rPr>
              <a:t>JSOn</a:t>
            </a:r>
            <a:r>
              <a:rPr lang="en-US" sz="1600" dirty="0">
                <a:effectLst/>
              </a:rPr>
              <a:t> object as well.</a:t>
            </a:r>
          </a:p>
          <a:p>
            <a:r>
              <a:rPr lang="en-US" sz="1600" dirty="0">
                <a:effectLst/>
              </a:rPr>
              <a:t>Now lets say we want to disable the submit button if the form data is invalid. </a:t>
            </a:r>
            <a:r>
              <a:rPr lang="en-US" sz="1600" dirty="0" err="1">
                <a:effectLst/>
              </a:rPr>
              <a:t>Formik</a:t>
            </a:r>
            <a:r>
              <a:rPr lang="en-US" sz="1600" dirty="0">
                <a:effectLst/>
              </a:rPr>
              <a:t> Component has several Properties and we have used few properties like </a:t>
            </a:r>
            <a:r>
              <a:rPr lang="en-US" sz="1600" dirty="0" err="1">
                <a:effectLst/>
              </a:rPr>
              <a:t>initialValues</a:t>
            </a:r>
            <a:r>
              <a:rPr lang="en-US" sz="1600" dirty="0">
                <a:effectLst/>
              </a:rPr>
              <a:t>, </a:t>
            </a:r>
            <a:r>
              <a:rPr lang="en-US" sz="1600" dirty="0" err="1">
                <a:effectLst/>
              </a:rPr>
              <a:t>validationSchema</a:t>
            </a:r>
            <a:r>
              <a:rPr lang="en-US" sz="1600" dirty="0">
                <a:effectLst/>
              </a:rPr>
              <a:t> and </a:t>
            </a:r>
            <a:r>
              <a:rPr lang="en-US" sz="1600" dirty="0" err="1">
                <a:effectLst/>
              </a:rPr>
              <a:t>onSubmit</a:t>
            </a:r>
            <a:r>
              <a:rPr lang="en-US" sz="1600" dirty="0">
                <a:effectLst/>
              </a:rPr>
              <a:t>. </a:t>
            </a:r>
            <a:r>
              <a:rPr lang="en-US" sz="1600" dirty="0" err="1">
                <a:effectLst/>
              </a:rPr>
              <a:t>Formik</a:t>
            </a:r>
            <a:r>
              <a:rPr lang="en-US" sz="1600" dirty="0">
                <a:effectLst/>
              </a:rPr>
              <a:t> has another property called as </a:t>
            </a:r>
            <a:r>
              <a:rPr lang="en-US" sz="1600" dirty="0" err="1">
                <a:effectLst/>
              </a:rPr>
              <a:t>isValid</a:t>
            </a:r>
            <a:r>
              <a:rPr lang="en-US" sz="1600" dirty="0">
                <a:effectLst/>
              </a:rPr>
              <a:t>. </a:t>
            </a:r>
            <a:r>
              <a:rPr lang="en-US" sz="1600" dirty="0" err="1">
                <a:effectLst/>
              </a:rPr>
              <a:t>IsValid</a:t>
            </a:r>
            <a:r>
              <a:rPr lang="en-US" sz="1600" dirty="0">
                <a:effectLst/>
              </a:rPr>
              <a:t> Returns true if there are no errors  or if the errors Object is empty. And returns false if otherwise.</a:t>
            </a:r>
          </a:p>
          <a:p>
            <a:r>
              <a:rPr lang="en-US" sz="1600" dirty="0">
                <a:effectLst/>
              </a:rPr>
              <a:t>But in order to access any of the property from the </a:t>
            </a:r>
            <a:r>
              <a:rPr lang="en-US" sz="1600" dirty="0" err="1">
                <a:effectLst/>
              </a:rPr>
              <a:t>Formik</a:t>
            </a:r>
            <a:r>
              <a:rPr lang="en-US" sz="1600" dirty="0">
                <a:effectLst/>
              </a:rPr>
              <a:t> Component, we have to make a change. With in </a:t>
            </a:r>
            <a:r>
              <a:rPr lang="en-US" sz="1600" dirty="0" err="1">
                <a:effectLst/>
              </a:rPr>
              <a:t>Formik</a:t>
            </a:r>
            <a:r>
              <a:rPr lang="en-US" sz="1600" dirty="0">
                <a:effectLst/>
              </a:rPr>
              <a:t> Component, we will write an arrow function and properties of this formic component will be passed as a parameter to this function and this function will have our UI Code. Lets move all of our Form Code into this function.  Now to the button, add a new attribute called disabled and pass the </a:t>
            </a:r>
            <a:r>
              <a:rPr lang="en-US" sz="1600" dirty="0" err="1">
                <a:effectLst/>
              </a:rPr>
              <a:t>isValid</a:t>
            </a:r>
            <a:r>
              <a:rPr lang="en-US" sz="1600" dirty="0">
                <a:effectLst/>
              </a:rPr>
              <a:t> property. Now save these changes, navigate to the browser. We can see that button gets disabled when there are validation errors.</a:t>
            </a:r>
          </a:p>
          <a:p>
            <a:pPr marL="0" indent="0">
              <a:buNone/>
            </a:pPr>
            <a:endParaRPr lang="en-IN" sz="1600" dirty="0"/>
          </a:p>
        </p:txBody>
      </p:sp>
    </p:spTree>
    <p:extLst>
      <p:ext uri="{BB962C8B-B14F-4D97-AF65-F5344CB8AC3E}">
        <p14:creationId xmlns:p14="http://schemas.microsoft.com/office/powerpoint/2010/main" val="3449172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9E58D-6FB1-4094-B9CB-B520DB8908B8}"/>
              </a:ext>
            </a:extLst>
          </p:cNvPr>
          <p:cNvSpPr>
            <a:spLocks noGrp="1"/>
          </p:cNvSpPr>
          <p:nvPr>
            <p:ph idx="1"/>
          </p:nvPr>
        </p:nvSpPr>
        <p:spPr>
          <a:xfrm>
            <a:off x="0" y="669899"/>
            <a:ext cx="6410632" cy="5308114"/>
          </a:xfrm>
        </p:spPr>
        <p:txBody>
          <a:bodyPr>
            <a:noAutofit/>
          </a:bodyPr>
          <a:lstStyle/>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ReactDOM</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a:t>
            </a:r>
            <a:r>
              <a:rPr lang="en-IN" sz="1200" b="0" dirty="0" err="1">
                <a:solidFill>
                  <a:srgbClr val="A31515"/>
                </a:solidFill>
                <a:effectLst/>
                <a:latin typeface="Consolas" panose="020B0609020204030204" pitchFamily="49" charset="0"/>
              </a:rPr>
              <a:t>dom</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useFormik</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Formik</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Form</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Field</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ErrorMessage</a:t>
            </a:r>
            <a:r>
              <a:rPr lang="en-IN" sz="1200" b="0" dirty="0">
                <a:solidFill>
                  <a:srgbClr val="000000"/>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formik</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as</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yup</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'yup'</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err="1">
                <a:solidFill>
                  <a:srgbClr val="0000FF"/>
                </a:solidFill>
                <a:effectLst/>
                <a:latin typeface="Consolas" panose="020B0609020204030204" pitchFamily="49" charset="0"/>
              </a:rPr>
              <a:t>const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EmployeeComponent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=&gt;</a:t>
            </a:r>
            <a:r>
              <a:rPr lang="en-IN" sz="1200" b="0" dirty="0">
                <a:solidFill>
                  <a:srgbClr val="000000"/>
                </a:solidFill>
                <a:effectLst/>
                <a:latin typeface="Consolas" panose="020B0609020204030204" pitchFamily="49" charset="0"/>
              </a:rPr>
              <a:t> {</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0000"/>
                </a:solidFill>
                <a:effectLst/>
                <a:highlight>
                  <a:srgbClr val="FFFF00"/>
                </a:highlight>
                <a:latin typeface="Consolas" panose="020B0609020204030204" pitchFamily="49" charset="0"/>
              </a:rPr>
              <a:t> </a:t>
            </a:r>
            <a:r>
              <a:rPr lang="en-IN" sz="1200" b="0" dirty="0">
                <a:solidFill>
                  <a:srgbClr val="800000"/>
                </a:solidFill>
                <a:effectLst/>
                <a:highlight>
                  <a:srgbClr val="FFFF00"/>
                </a:highlight>
                <a:latin typeface="Consolas" panose="020B0609020204030204" pitchFamily="49" charset="0"/>
              </a:rPr>
              <a:t>&lt;</a:t>
            </a:r>
            <a:r>
              <a:rPr lang="en-IN" sz="1200" b="0" dirty="0" err="1">
                <a:solidFill>
                  <a:srgbClr val="267F99"/>
                </a:solidFill>
                <a:effectLst/>
                <a:highlight>
                  <a:srgbClr val="FFFF00"/>
                </a:highlight>
                <a:latin typeface="Consolas" panose="020B0609020204030204" pitchFamily="49" charset="0"/>
              </a:rPr>
              <a:t>Formik</a:t>
            </a:r>
            <a:r>
              <a:rPr lang="en-IN" sz="1200" b="0" dirty="0">
                <a:solidFill>
                  <a:srgbClr val="000000"/>
                </a:solidFill>
                <a:effectLst/>
                <a:highlight>
                  <a:srgbClr val="FFFF00"/>
                </a:highlight>
                <a:latin typeface="Consolas" panose="020B0609020204030204" pitchFamily="49" charset="0"/>
              </a:rPr>
              <a:t> </a:t>
            </a:r>
            <a:r>
              <a:rPr lang="en-IN" sz="1200" b="0" dirty="0" err="1">
                <a:solidFill>
                  <a:srgbClr val="FF0000"/>
                </a:solidFill>
                <a:effectLst/>
                <a:latin typeface="Consolas" panose="020B0609020204030204" pitchFamily="49" charset="0"/>
              </a:rPr>
              <a:t>initialValues</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Id:</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Location:</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Salary:</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EmailId</a:t>
            </a:r>
            <a:r>
              <a:rPr lang="en-IN" sz="1200" b="0" dirty="0">
                <a:solidFill>
                  <a:srgbClr val="00108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Designation:</a:t>
            </a:r>
            <a:r>
              <a:rPr lang="en-IN" sz="1200" b="0" dirty="0">
                <a:solidFill>
                  <a:srgbClr val="A31515"/>
                </a:solidFill>
                <a:effectLst/>
                <a:latin typeface="Consolas" panose="020B0609020204030204" pitchFamily="49" charset="0"/>
              </a:rPr>
              <a:t>''</a:t>
            </a:r>
            <a:endParaRPr lang="en-IN" sz="1200" b="0" dirty="0">
              <a:solidFill>
                <a:srgbClr val="000000"/>
              </a:solidFill>
              <a:effectLst/>
              <a:latin typeface="Consolas" panose="020B0609020204030204" pitchFamily="49" charset="0"/>
            </a:endParaRP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validationSchema</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object</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Name:yup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max</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20</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'Name should not exceed 20 Characters'</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required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'Please Enter Employee Name'</a:t>
            </a:r>
            <a:r>
              <a:rPr lang="en-IN" sz="1200" b="0" dirty="0">
                <a:solidFill>
                  <a:srgbClr val="000000"/>
                </a:solidFill>
                <a:effectLst/>
                <a:latin typeface="Consolas" panose="020B0609020204030204" pitchFamily="49" charset="0"/>
              </a:rPr>
              <a:t>),</a:t>
            </a:r>
          </a:p>
          <a:p>
            <a:pPr marL="0" indent="0">
              <a:lnSpc>
                <a:spcPct val="100000"/>
              </a:lnSpc>
              <a:spcBef>
                <a:spcPts val="0"/>
              </a:spcBef>
              <a:buNone/>
            </a:pP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Location: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required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'Please Enter Employee Location’</a:t>
            </a:r>
            <a:r>
              <a:rPr lang="en-IN" sz="1200" b="0" dirty="0">
                <a:solidFill>
                  <a:srgbClr val="000000"/>
                </a:solidFill>
                <a:effectLst/>
                <a:latin typeface="Consolas" panose="020B0609020204030204" pitchFamily="49" charset="0"/>
              </a:rPr>
              <a:t>),</a:t>
            </a:r>
          </a:p>
          <a:p>
            <a:pPr marL="0" indent="0">
              <a:lnSpc>
                <a:spcPct val="100000"/>
              </a:lnSpc>
              <a:spcBef>
                <a:spcPts val="0"/>
              </a:spcBef>
              <a:buNone/>
            </a:pP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EmailId</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yup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a:t>
            </a:r>
            <a:r>
              <a:rPr lang="en-IN" sz="1200" b="0" dirty="0">
                <a:solidFill>
                  <a:srgbClr val="000000"/>
                </a:solidFill>
                <a:effectLst/>
                <a:latin typeface="Consolas" panose="020B0609020204030204" pitchFamily="49" charset="0"/>
              </a:rPr>
              <a:t>()</a:t>
            </a:r>
          </a:p>
          <a:p>
            <a:pPr marL="0" indent="0">
              <a:lnSpc>
                <a:spcPct val="100000"/>
              </a:lnSpc>
              <a:spcBef>
                <a:spcPts val="0"/>
              </a:spcBef>
              <a:buNone/>
            </a:pP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email</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'Invalid email address'</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required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'Please Enter Email Id'</a:t>
            </a:r>
            <a:r>
              <a:rPr lang="en-IN" sz="1200" b="0" dirty="0">
                <a:solidFill>
                  <a:srgbClr val="000000"/>
                </a:solidFill>
                <a:effectLst/>
                <a:latin typeface="Consolas" panose="020B0609020204030204" pitchFamily="49" charset="0"/>
              </a:rPr>
              <a:t>)</a:t>
            </a:r>
          </a:p>
          <a:p>
            <a:pPr marL="0" indent="0">
              <a:lnSpc>
                <a:spcPct val="100000"/>
              </a:lnSpc>
              <a:spcBef>
                <a:spcPts val="0"/>
              </a:spcBef>
              <a:buNone/>
            </a:pP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FF0000"/>
                </a:solidFill>
                <a:effectLst/>
                <a:latin typeface="Consolas" panose="020B0609020204030204" pitchFamily="49" charset="0"/>
              </a:rPr>
              <a:t>onSubmit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=&gt;</a:t>
            </a:r>
            <a:r>
              <a:rPr lang="en-IN" sz="1200" b="0" dirty="0">
                <a:solidFill>
                  <a:srgbClr val="000000"/>
                </a:solidFill>
                <a:effectLst/>
                <a:latin typeface="Consolas" panose="020B0609020204030204" pitchFamily="49" charset="0"/>
              </a:rPr>
              <a:t> {</a:t>
            </a: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JSON</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stringify</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a:t>
            </a:r>
          </a:p>
          <a:p>
            <a:pPr marL="0" indent="0">
              <a:lnSpc>
                <a:spcPct val="100000"/>
              </a:lnSpc>
              <a:spcBef>
                <a:spcPts val="0"/>
              </a:spcBef>
              <a:buNone/>
            </a:pPr>
            <a:br>
              <a:rPr lang="en-IN" sz="1200" b="0" dirty="0">
                <a:solidFill>
                  <a:srgbClr val="000000"/>
                </a:solidFill>
                <a:effectLst/>
                <a:highlight>
                  <a:srgbClr val="FFFF00"/>
                </a:highlight>
                <a:latin typeface="Consolas" panose="020B0609020204030204" pitchFamily="49" charset="0"/>
              </a:rPr>
            </a:br>
            <a:r>
              <a:rPr lang="en-IN" sz="1200" b="0" dirty="0">
                <a:solidFill>
                  <a:srgbClr val="000000"/>
                </a:solidFill>
                <a:effectLst/>
                <a:highlight>
                  <a:srgbClr val="FFFF00"/>
                </a:highlight>
                <a:latin typeface="Consolas" panose="020B0609020204030204" pitchFamily="49" charset="0"/>
              </a:rPr>
              <a:t>    }</a:t>
            </a:r>
            <a:r>
              <a:rPr lang="en-IN" sz="1200" b="0" dirty="0">
                <a:solidFill>
                  <a:srgbClr val="0000FF"/>
                </a:solidFill>
                <a:effectLst/>
                <a:highlight>
                  <a:srgbClr val="FFFF00"/>
                </a:highlight>
                <a:latin typeface="Consolas" panose="020B0609020204030204" pitchFamily="49" charset="0"/>
              </a:rPr>
              <a:t>}&gt;</a:t>
            </a:r>
            <a:endParaRPr lang="en-IN" sz="1200" dirty="0">
              <a:highlight>
                <a:srgbClr val="FFFF00"/>
              </a:highlight>
            </a:endParaRPr>
          </a:p>
        </p:txBody>
      </p:sp>
      <p:sp>
        <p:nvSpPr>
          <p:cNvPr id="5" name="TextBox 4">
            <a:extLst>
              <a:ext uri="{FF2B5EF4-FFF2-40B4-BE49-F238E27FC236}">
                <a16:creationId xmlns:a16="http://schemas.microsoft.com/office/drawing/2014/main" id="{014C0604-50FA-4334-8934-CD415BFFFE5F}"/>
              </a:ext>
            </a:extLst>
          </p:cNvPr>
          <p:cNvSpPr txBox="1"/>
          <p:nvPr/>
        </p:nvSpPr>
        <p:spPr>
          <a:xfrm>
            <a:off x="6056672" y="-323630"/>
            <a:ext cx="6135328" cy="7478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props</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Enter Employee Details...</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Form</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htmlFor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ID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htmlFor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Name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ErrorMessage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2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ErrorMessage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htmlFor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"Location"</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Location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"Location"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ErrorMessage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"Location"</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2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ErrorMessage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htmlFor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"Salary"</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Salary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"Salary"</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htmlFor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Email ID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ErrorMessage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EmailId</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2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ErrorMessage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Designation :</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"Designation"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as</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"select"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&lt;option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Software Engineer</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&lt;/option&gt;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&lt;option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"green"</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Senior Software Engineer</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&lt;/option&gt;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&lt;option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"blue"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Lead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&lt;/option&gt;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Field</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"submit"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disabled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props</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isValid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false}</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Submit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Form</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highlight>
                  <a:srgbClr val="FFFF00"/>
                </a:highlight>
                <a:uLnTx/>
                <a:uFillTx/>
                <a:latin typeface="Consolas" panose="020B0609020204030204" pitchFamily="49" charset="0"/>
                <a:ea typeface="+mn-ea"/>
                <a:cs typeface="+mn-cs"/>
              </a:rPr>
              <a:t>&lt;/</a:t>
            </a:r>
            <a:r>
              <a:rPr kumimoji="0" lang="en-IN" sz="1200" b="0" i="0" u="none" strike="noStrike" kern="1200" cap="none" spc="0" normalizeH="0" baseline="0" noProof="0" dirty="0" err="1">
                <a:ln>
                  <a:noFill/>
                </a:ln>
                <a:solidFill>
                  <a:srgbClr val="267F99"/>
                </a:solidFill>
                <a:effectLst/>
                <a:highlight>
                  <a:srgbClr val="FFFF00"/>
                </a:highlight>
                <a:uLnTx/>
                <a:uFillTx/>
                <a:latin typeface="Consolas" panose="020B0609020204030204" pitchFamily="49" charset="0"/>
                <a:ea typeface="+mn-ea"/>
                <a:cs typeface="+mn-cs"/>
              </a:rPr>
              <a:t>Formik</a:t>
            </a:r>
            <a:r>
              <a:rPr kumimoji="0" lang="en-IN" sz="1200" b="0" i="0" u="none" strike="noStrike" kern="1200" cap="none" spc="0" normalizeH="0" baseline="0" noProof="0" dirty="0">
                <a:ln>
                  <a:noFill/>
                </a:ln>
                <a:solidFill>
                  <a:srgbClr val="800000"/>
                </a:solidFill>
                <a:effectLst/>
                <a:highlight>
                  <a:srgbClr val="FFFF00"/>
                </a:highligh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2451011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B1618-6B98-779F-7610-03B8D65B02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E796512-A9C0-143B-8BD0-5198B67A69B2}"/>
              </a:ext>
            </a:extLst>
          </p:cNvPr>
          <p:cNvSpPr>
            <a:spLocks noGrp="1"/>
          </p:cNvSpPr>
          <p:nvPr>
            <p:ph idx="1"/>
          </p:nvPr>
        </p:nvSpPr>
        <p:spPr/>
        <p:txBody>
          <a:bodyPr/>
          <a:lstStyle/>
          <a:p>
            <a:r>
              <a:rPr lang="en-IN" dirty="0">
                <a:hlinkClick r:id="rId2"/>
              </a:rPr>
              <a:t>https://react-hook-form.com/</a:t>
            </a:r>
            <a:endParaRPr lang="en-IN" dirty="0"/>
          </a:p>
          <a:p>
            <a:r>
              <a:rPr lang="en-IN" dirty="0">
                <a:hlinkClick r:id="rId3"/>
              </a:rPr>
              <a:t>https://react.semantic-ui.com</a:t>
            </a:r>
            <a:endParaRPr lang="en-IN" dirty="0"/>
          </a:p>
          <a:p>
            <a:r>
              <a:rPr lang="en-IN"/>
              <a:t>https://formik.org//</a:t>
            </a:r>
            <a:r>
              <a:rPr lang="en-IN" dirty="0"/>
              <a:t>usage/</a:t>
            </a:r>
          </a:p>
        </p:txBody>
      </p:sp>
    </p:spTree>
    <p:extLst>
      <p:ext uri="{BB962C8B-B14F-4D97-AF65-F5344CB8AC3E}">
        <p14:creationId xmlns:p14="http://schemas.microsoft.com/office/powerpoint/2010/main" val="293321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4848</TotalTime>
  <Words>4396</Words>
  <Application>Microsoft Office PowerPoint</Application>
  <PresentationFormat>Widescreen</PresentationFormat>
  <Paragraphs>360</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Consolas</vt:lpstr>
      <vt:lpstr>Garamond</vt:lpstr>
      <vt:lpstr>Office Theme</vt:lpstr>
      <vt:lpstr>PowerPoint Presentation</vt:lpstr>
      <vt:lpstr>PowerPoint Presentation</vt:lpstr>
      <vt:lpstr>PowerPoint Presentation</vt:lpstr>
      <vt:lpstr>Formik form validation</vt:lpstr>
      <vt:lpstr>PowerPoint Presentation</vt:lpstr>
      <vt:lpstr>PowerPoint Presentation</vt:lpstr>
      <vt:lpstr>PowerPoint Presentation</vt:lpstr>
      <vt:lpstr>PowerPoint Presentation</vt:lpstr>
      <vt:lpstr>PowerPoint Presentation</vt:lpstr>
      <vt:lpstr>Validation using Yup Library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213</cp:revision>
  <dcterms:created xsi:type="dcterms:W3CDTF">2020-12-02T06:26:25Z</dcterms:created>
  <dcterms:modified xsi:type="dcterms:W3CDTF">2025-05-13T16:51:08Z</dcterms:modified>
</cp:coreProperties>
</file>