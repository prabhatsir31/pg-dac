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ECA2F-93FA-4D5B-A25D-3F14ECF591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D7F806-C284-4431-8E14-26968A422F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DAD9AD5-7003-4B37-9ADF-D14CC9B8E78B}"/>
              </a:ext>
            </a:extLst>
          </p:cNvPr>
          <p:cNvSpPr>
            <a:spLocks noGrp="1"/>
          </p:cNvSpPr>
          <p:nvPr>
            <p:ph type="dt" sz="half" idx="10"/>
          </p:nvPr>
        </p:nvSpPr>
        <p:spPr/>
        <p:txBody>
          <a:bodyPr/>
          <a:lstStyle/>
          <a:p>
            <a:fld id="{8F45C40B-A26C-4E2B-9D4C-82A83A6D00A2}" type="datetimeFigureOut">
              <a:rPr lang="en-IN" smtClean="0"/>
              <a:t>07-02-2025</a:t>
            </a:fld>
            <a:endParaRPr lang="en-IN"/>
          </a:p>
        </p:txBody>
      </p:sp>
      <p:sp>
        <p:nvSpPr>
          <p:cNvPr id="5" name="Footer Placeholder 4">
            <a:extLst>
              <a:ext uri="{FF2B5EF4-FFF2-40B4-BE49-F238E27FC236}">
                <a16:creationId xmlns:a16="http://schemas.microsoft.com/office/drawing/2014/main" id="{E8D37D9E-95C3-48E1-BAB4-52E3B06F76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C8E709-F006-44B8-A1EC-A912291F30CF}"/>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877587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3D215-F206-4D45-9B25-C5CC96CBC4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21316D-7B7C-43B8-BDDB-A34C2E16D6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48808F-AD02-442E-98DA-81576C88881E}"/>
              </a:ext>
            </a:extLst>
          </p:cNvPr>
          <p:cNvSpPr>
            <a:spLocks noGrp="1"/>
          </p:cNvSpPr>
          <p:nvPr>
            <p:ph type="dt" sz="half" idx="10"/>
          </p:nvPr>
        </p:nvSpPr>
        <p:spPr/>
        <p:txBody>
          <a:bodyPr/>
          <a:lstStyle/>
          <a:p>
            <a:fld id="{8F45C40B-A26C-4E2B-9D4C-82A83A6D00A2}" type="datetimeFigureOut">
              <a:rPr lang="en-IN" smtClean="0"/>
              <a:t>07-02-2025</a:t>
            </a:fld>
            <a:endParaRPr lang="en-IN"/>
          </a:p>
        </p:txBody>
      </p:sp>
      <p:sp>
        <p:nvSpPr>
          <p:cNvPr id="5" name="Footer Placeholder 4">
            <a:extLst>
              <a:ext uri="{FF2B5EF4-FFF2-40B4-BE49-F238E27FC236}">
                <a16:creationId xmlns:a16="http://schemas.microsoft.com/office/drawing/2014/main" id="{76928B27-3089-4FE8-9D09-B530928B94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3F06D0-3CDD-43EB-BE88-F045D34029C4}"/>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1216213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F90D-8826-4863-833A-B178D7C5A3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1ECB02A-19E7-4048-ACD8-EEFB99765C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D4BEBB-7521-4A91-BC25-74234058B4A6}"/>
              </a:ext>
            </a:extLst>
          </p:cNvPr>
          <p:cNvSpPr>
            <a:spLocks noGrp="1"/>
          </p:cNvSpPr>
          <p:nvPr>
            <p:ph type="dt" sz="half" idx="10"/>
          </p:nvPr>
        </p:nvSpPr>
        <p:spPr/>
        <p:txBody>
          <a:bodyPr/>
          <a:lstStyle/>
          <a:p>
            <a:fld id="{8F45C40B-A26C-4E2B-9D4C-82A83A6D00A2}" type="datetimeFigureOut">
              <a:rPr lang="en-IN" smtClean="0"/>
              <a:t>07-02-2025</a:t>
            </a:fld>
            <a:endParaRPr lang="en-IN"/>
          </a:p>
        </p:txBody>
      </p:sp>
      <p:sp>
        <p:nvSpPr>
          <p:cNvPr id="5" name="Footer Placeholder 4">
            <a:extLst>
              <a:ext uri="{FF2B5EF4-FFF2-40B4-BE49-F238E27FC236}">
                <a16:creationId xmlns:a16="http://schemas.microsoft.com/office/drawing/2014/main" id="{EB65AB21-5EF6-4527-94D3-7CEB5AEFE5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152C96-0EBC-425C-9AE4-5B16E4A9E8DF}"/>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675644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79005-E9A9-4A7D-B52A-A2ABAC4A07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F7A6C7-E5D0-49E5-A41B-2A619C843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8CED39-301B-4868-9843-B8FA507C2F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95ECAFC-BD41-4FC5-9DFB-9F33F212E6D7}"/>
              </a:ext>
            </a:extLst>
          </p:cNvPr>
          <p:cNvSpPr>
            <a:spLocks noGrp="1"/>
          </p:cNvSpPr>
          <p:nvPr>
            <p:ph type="dt" sz="half" idx="10"/>
          </p:nvPr>
        </p:nvSpPr>
        <p:spPr/>
        <p:txBody>
          <a:bodyPr/>
          <a:lstStyle/>
          <a:p>
            <a:fld id="{8F45C40B-A26C-4E2B-9D4C-82A83A6D00A2}" type="datetimeFigureOut">
              <a:rPr lang="en-IN" smtClean="0"/>
              <a:t>07-02-2025</a:t>
            </a:fld>
            <a:endParaRPr lang="en-IN"/>
          </a:p>
        </p:txBody>
      </p:sp>
      <p:sp>
        <p:nvSpPr>
          <p:cNvPr id="6" name="Footer Placeholder 5">
            <a:extLst>
              <a:ext uri="{FF2B5EF4-FFF2-40B4-BE49-F238E27FC236}">
                <a16:creationId xmlns:a16="http://schemas.microsoft.com/office/drawing/2014/main" id="{06C3FA30-7133-41BE-A81B-8BC3CF9CE1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A3076E-8D0A-4A6A-AFBB-850EEBECA3DE}"/>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2595250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9310E-CEDD-4A9D-BCBD-8927AD08747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8DF07B-9EE6-468C-8290-FCDAB14F7D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7EB8E4-7843-4F8E-990E-1F0FD4942E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D07E59-E001-425A-9138-3547FEAA77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1B9954-9F2C-49A4-B673-5926147D83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93E9C7-3953-408F-9C65-43E5736BA08F}"/>
              </a:ext>
            </a:extLst>
          </p:cNvPr>
          <p:cNvSpPr>
            <a:spLocks noGrp="1"/>
          </p:cNvSpPr>
          <p:nvPr>
            <p:ph type="dt" sz="half" idx="10"/>
          </p:nvPr>
        </p:nvSpPr>
        <p:spPr/>
        <p:txBody>
          <a:bodyPr/>
          <a:lstStyle/>
          <a:p>
            <a:fld id="{8F45C40B-A26C-4E2B-9D4C-82A83A6D00A2}" type="datetimeFigureOut">
              <a:rPr lang="en-IN" smtClean="0"/>
              <a:t>07-02-2025</a:t>
            </a:fld>
            <a:endParaRPr lang="en-IN"/>
          </a:p>
        </p:txBody>
      </p:sp>
      <p:sp>
        <p:nvSpPr>
          <p:cNvPr id="8" name="Footer Placeholder 7">
            <a:extLst>
              <a:ext uri="{FF2B5EF4-FFF2-40B4-BE49-F238E27FC236}">
                <a16:creationId xmlns:a16="http://schemas.microsoft.com/office/drawing/2014/main" id="{D246A6D0-A569-4FCC-BAE3-811376CB38A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59F997-6BB7-4D06-9D87-FAC0D55804B7}"/>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419509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573F6-E8C0-4D65-A859-198B692975F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E56262E-54CE-4EF5-B0DC-B1E105B7800B}"/>
              </a:ext>
            </a:extLst>
          </p:cNvPr>
          <p:cNvSpPr>
            <a:spLocks noGrp="1"/>
          </p:cNvSpPr>
          <p:nvPr>
            <p:ph type="dt" sz="half" idx="10"/>
          </p:nvPr>
        </p:nvSpPr>
        <p:spPr/>
        <p:txBody>
          <a:bodyPr/>
          <a:lstStyle/>
          <a:p>
            <a:fld id="{8F45C40B-A26C-4E2B-9D4C-82A83A6D00A2}" type="datetimeFigureOut">
              <a:rPr lang="en-IN" smtClean="0"/>
              <a:t>07-02-2025</a:t>
            </a:fld>
            <a:endParaRPr lang="en-IN"/>
          </a:p>
        </p:txBody>
      </p:sp>
      <p:sp>
        <p:nvSpPr>
          <p:cNvPr id="4" name="Footer Placeholder 3">
            <a:extLst>
              <a:ext uri="{FF2B5EF4-FFF2-40B4-BE49-F238E27FC236}">
                <a16:creationId xmlns:a16="http://schemas.microsoft.com/office/drawing/2014/main" id="{08A7388A-7BCF-464A-A303-B5D29AA7DA1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4CAFC7-BEF5-46E0-9600-02E3F94B8EC3}"/>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1263887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831BB3-A8EF-4FCE-BCA8-2EE74775F280}"/>
              </a:ext>
            </a:extLst>
          </p:cNvPr>
          <p:cNvSpPr>
            <a:spLocks noGrp="1"/>
          </p:cNvSpPr>
          <p:nvPr>
            <p:ph type="dt" sz="half" idx="10"/>
          </p:nvPr>
        </p:nvSpPr>
        <p:spPr/>
        <p:txBody>
          <a:bodyPr/>
          <a:lstStyle/>
          <a:p>
            <a:fld id="{8F45C40B-A26C-4E2B-9D4C-82A83A6D00A2}" type="datetimeFigureOut">
              <a:rPr lang="en-IN" smtClean="0"/>
              <a:t>07-02-2025</a:t>
            </a:fld>
            <a:endParaRPr lang="en-IN"/>
          </a:p>
        </p:txBody>
      </p:sp>
      <p:sp>
        <p:nvSpPr>
          <p:cNvPr id="3" name="Footer Placeholder 2">
            <a:extLst>
              <a:ext uri="{FF2B5EF4-FFF2-40B4-BE49-F238E27FC236}">
                <a16:creationId xmlns:a16="http://schemas.microsoft.com/office/drawing/2014/main" id="{54B3F0F1-BECB-496A-A49A-D507BC8D60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21B588-3108-4ABD-AA4B-5D6ACAC38414}"/>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1001064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B902E-EC66-46CF-AB42-77BFCEA36F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A68822-5980-479B-A8E3-8DBD2CFED3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9E38DE-9D0C-455F-957D-3C9965D72D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B3814A-3377-4F61-BECB-93908E8C3FB3}"/>
              </a:ext>
            </a:extLst>
          </p:cNvPr>
          <p:cNvSpPr>
            <a:spLocks noGrp="1"/>
          </p:cNvSpPr>
          <p:nvPr>
            <p:ph type="dt" sz="half" idx="10"/>
          </p:nvPr>
        </p:nvSpPr>
        <p:spPr/>
        <p:txBody>
          <a:bodyPr/>
          <a:lstStyle/>
          <a:p>
            <a:fld id="{8F45C40B-A26C-4E2B-9D4C-82A83A6D00A2}" type="datetimeFigureOut">
              <a:rPr lang="en-IN" smtClean="0"/>
              <a:t>07-02-2025</a:t>
            </a:fld>
            <a:endParaRPr lang="en-IN"/>
          </a:p>
        </p:txBody>
      </p:sp>
      <p:sp>
        <p:nvSpPr>
          <p:cNvPr id="6" name="Footer Placeholder 5">
            <a:extLst>
              <a:ext uri="{FF2B5EF4-FFF2-40B4-BE49-F238E27FC236}">
                <a16:creationId xmlns:a16="http://schemas.microsoft.com/office/drawing/2014/main" id="{B2771E75-29B1-4141-A286-1FD5C84E8A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243F52-0806-4DC4-BA6F-B8665C8309A0}"/>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321626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AFC95-9A05-408C-9DCF-067362E99B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9FC83CD-0801-4EBF-9539-A08CC4A742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495BC9-A096-4866-9883-C014990D3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DACC18-85F3-4E69-9939-BF906FF4227B}"/>
              </a:ext>
            </a:extLst>
          </p:cNvPr>
          <p:cNvSpPr>
            <a:spLocks noGrp="1"/>
          </p:cNvSpPr>
          <p:nvPr>
            <p:ph type="dt" sz="half" idx="10"/>
          </p:nvPr>
        </p:nvSpPr>
        <p:spPr/>
        <p:txBody>
          <a:bodyPr/>
          <a:lstStyle/>
          <a:p>
            <a:fld id="{8F45C40B-A26C-4E2B-9D4C-82A83A6D00A2}" type="datetimeFigureOut">
              <a:rPr lang="en-IN" smtClean="0"/>
              <a:t>07-02-2025</a:t>
            </a:fld>
            <a:endParaRPr lang="en-IN"/>
          </a:p>
        </p:txBody>
      </p:sp>
      <p:sp>
        <p:nvSpPr>
          <p:cNvPr id="6" name="Footer Placeholder 5">
            <a:extLst>
              <a:ext uri="{FF2B5EF4-FFF2-40B4-BE49-F238E27FC236}">
                <a16:creationId xmlns:a16="http://schemas.microsoft.com/office/drawing/2014/main" id="{387581C5-242A-477E-A51C-97C5CD438F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13D304-6F35-4C1A-BDC5-E704D72D1805}"/>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4025820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B74BF-3947-4EA4-83BE-83104D2BD9D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52B28D-E81B-4AC8-9E77-82DCA8FE13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6D2A64-7053-45F9-B51B-A030D521F5FE}"/>
              </a:ext>
            </a:extLst>
          </p:cNvPr>
          <p:cNvSpPr>
            <a:spLocks noGrp="1"/>
          </p:cNvSpPr>
          <p:nvPr>
            <p:ph type="dt" sz="half" idx="10"/>
          </p:nvPr>
        </p:nvSpPr>
        <p:spPr/>
        <p:txBody>
          <a:bodyPr/>
          <a:lstStyle/>
          <a:p>
            <a:fld id="{8F45C40B-A26C-4E2B-9D4C-82A83A6D00A2}" type="datetimeFigureOut">
              <a:rPr lang="en-IN" smtClean="0"/>
              <a:t>07-02-2025</a:t>
            </a:fld>
            <a:endParaRPr lang="en-IN"/>
          </a:p>
        </p:txBody>
      </p:sp>
      <p:sp>
        <p:nvSpPr>
          <p:cNvPr id="5" name="Footer Placeholder 4">
            <a:extLst>
              <a:ext uri="{FF2B5EF4-FFF2-40B4-BE49-F238E27FC236}">
                <a16:creationId xmlns:a16="http://schemas.microsoft.com/office/drawing/2014/main" id="{96558E23-2633-4127-BF8C-57B6D0F9AE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6A71F6-ACB6-465C-9A34-72D19B347F50}"/>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3014993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AE649B-71EE-48CF-8360-5180A0C84D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73BB50-1FBC-4B9B-B329-A20A37D87B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366DEB-0A60-44C0-9A2E-2AAFA86B635C}"/>
              </a:ext>
            </a:extLst>
          </p:cNvPr>
          <p:cNvSpPr>
            <a:spLocks noGrp="1"/>
          </p:cNvSpPr>
          <p:nvPr>
            <p:ph type="dt" sz="half" idx="10"/>
          </p:nvPr>
        </p:nvSpPr>
        <p:spPr/>
        <p:txBody>
          <a:bodyPr/>
          <a:lstStyle/>
          <a:p>
            <a:fld id="{8F45C40B-A26C-4E2B-9D4C-82A83A6D00A2}" type="datetimeFigureOut">
              <a:rPr lang="en-IN" smtClean="0"/>
              <a:t>07-02-2025</a:t>
            </a:fld>
            <a:endParaRPr lang="en-IN"/>
          </a:p>
        </p:txBody>
      </p:sp>
      <p:sp>
        <p:nvSpPr>
          <p:cNvPr id="5" name="Footer Placeholder 4">
            <a:extLst>
              <a:ext uri="{FF2B5EF4-FFF2-40B4-BE49-F238E27FC236}">
                <a16:creationId xmlns:a16="http://schemas.microsoft.com/office/drawing/2014/main" id="{3088A292-9050-4C1E-B7F8-45790AA227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DEC8C4-2320-46F7-97A8-E5E4BC103519}"/>
              </a:ext>
            </a:extLst>
          </p:cNvPr>
          <p:cNvSpPr>
            <a:spLocks noGrp="1"/>
          </p:cNvSpPr>
          <p:nvPr>
            <p:ph type="sldNum" sz="quarter" idx="12"/>
          </p:nvPr>
        </p:nvSpPr>
        <p:spPr/>
        <p:txBody>
          <a:bodyPr/>
          <a:lstStyle/>
          <a:p>
            <a:fld id="{7D31E9E5-E20C-4BE4-96A5-96776124C699}" type="slidenum">
              <a:rPr lang="en-IN" smtClean="0"/>
              <a:t>‹#›</a:t>
            </a:fld>
            <a:endParaRPr lang="en-IN"/>
          </a:p>
        </p:txBody>
      </p:sp>
    </p:spTree>
    <p:extLst>
      <p:ext uri="{BB962C8B-B14F-4D97-AF65-F5344CB8AC3E}">
        <p14:creationId xmlns:p14="http://schemas.microsoft.com/office/powerpoint/2010/main" val="889343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02F89F-D520-476F-8049-CC92F980EE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493EDD-016F-4D68-8D43-7D3F62759B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7712D0-8F8C-4F1D-83D9-1034B42F04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45C40B-A26C-4E2B-9D4C-82A83A6D00A2}" type="datetimeFigureOut">
              <a:rPr lang="en-IN" smtClean="0"/>
              <a:t>07-02-2025</a:t>
            </a:fld>
            <a:endParaRPr lang="en-IN"/>
          </a:p>
        </p:txBody>
      </p:sp>
      <p:sp>
        <p:nvSpPr>
          <p:cNvPr id="5" name="Footer Placeholder 4">
            <a:extLst>
              <a:ext uri="{FF2B5EF4-FFF2-40B4-BE49-F238E27FC236}">
                <a16:creationId xmlns:a16="http://schemas.microsoft.com/office/drawing/2014/main" id="{E4F78E1C-AF6F-4C02-81DE-57C6C3E263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BD00085-4FB3-408C-A4A0-6D4D6A4D87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31E9E5-E20C-4BE4-96A5-96776124C699}" type="slidenum">
              <a:rPr lang="en-IN" smtClean="0"/>
              <a:t>‹#›</a:t>
            </a:fld>
            <a:endParaRPr lang="en-IN"/>
          </a:p>
        </p:txBody>
      </p:sp>
    </p:spTree>
    <p:extLst>
      <p:ext uri="{BB962C8B-B14F-4D97-AF65-F5344CB8AC3E}">
        <p14:creationId xmlns:p14="http://schemas.microsoft.com/office/powerpoint/2010/main" val="579035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C66E1-A424-4701-804C-99EDE50E1422}"/>
              </a:ext>
            </a:extLst>
          </p:cNvPr>
          <p:cNvSpPr>
            <a:spLocks noGrp="1"/>
          </p:cNvSpPr>
          <p:nvPr>
            <p:ph type="title"/>
          </p:nvPr>
        </p:nvSpPr>
        <p:spPr>
          <a:xfrm>
            <a:off x="838200" y="148817"/>
            <a:ext cx="10891684" cy="315912"/>
          </a:xfrm>
        </p:spPr>
        <p:txBody>
          <a:bodyPr>
            <a:noAutofit/>
          </a:bodyPr>
          <a:lstStyle/>
          <a:p>
            <a:r>
              <a:rPr lang="en-IN" sz="2000" b="1" i="0" dirty="0">
                <a:solidFill>
                  <a:srgbClr val="000000"/>
                </a:solidFill>
                <a:effectLst/>
                <a:latin typeface="Segoe UI" panose="020B0502040204020203" pitchFamily="34" charset="0"/>
              </a:rPr>
              <a:t>Com</a:t>
            </a:r>
            <a:r>
              <a:rPr lang="en-US" sz="2000" b="1" i="0" dirty="0">
                <a:solidFill>
                  <a:srgbClr val="000000"/>
                </a:solidFill>
                <a:effectLst/>
                <a:latin typeface="Segoe UI" panose="020B0502040204020203" pitchFamily="34" charset="0"/>
              </a:rPr>
              <a:t>Extracting State Logic into a Reducer</a:t>
            </a:r>
            <a:r>
              <a:rPr lang="en-IN" sz="2000" b="1" i="0" dirty="0">
                <a:solidFill>
                  <a:srgbClr val="000000"/>
                </a:solidFill>
                <a:effectLst/>
                <a:latin typeface="Segoe UI" panose="020B0502040204020203" pitchFamily="34" charset="0"/>
              </a:rPr>
              <a:t>ponent Communication using Context</a:t>
            </a:r>
            <a:endParaRPr lang="en-IN" sz="2000" b="1" dirty="0"/>
          </a:p>
        </p:txBody>
      </p:sp>
      <p:sp>
        <p:nvSpPr>
          <p:cNvPr id="3" name="Content Placeholder 2">
            <a:extLst>
              <a:ext uri="{FF2B5EF4-FFF2-40B4-BE49-F238E27FC236}">
                <a16:creationId xmlns:a16="http://schemas.microsoft.com/office/drawing/2014/main" id="{2533C94F-8B2D-44E7-9FE3-BD122E2E537C}"/>
              </a:ext>
            </a:extLst>
          </p:cNvPr>
          <p:cNvSpPr>
            <a:spLocks noGrp="1"/>
          </p:cNvSpPr>
          <p:nvPr>
            <p:ph idx="1"/>
          </p:nvPr>
        </p:nvSpPr>
        <p:spPr>
          <a:xfrm>
            <a:off x="462116" y="1072997"/>
            <a:ext cx="10891684" cy="1376516"/>
          </a:xfrm>
        </p:spPr>
        <p:txBody>
          <a:bodyPr>
            <a:normAutofit/>
          </a:bodyPr>
          <a:lstStyle/>
          <a:p>
            <a:pPr marL="0" indent="0">
              <a:buNone/>
            </a:pPr>
            <a:r>
              <a:rPr lang="en-US" sz="2000" b="0" i="0" dirty="0">
                <a:solidFill>
                  <a:srgbClr val="23272F"/>
                </a:solidFill>
                <a:effectLst/>
                <a:latin typeface="Optimistic Display"/>
              </a:rPr>
              <a:t>Components with many state updates spread across many event handlers can get overwhelming. For these cases, you can consolidate all the state update logic outside your component in a single function, called a </a:t>
            </a:r>
            <a:r>
              <a:rPr lang="en-US" sz="2000" b="0" i="1" dirty="0">
                <a:solidFill>
                  <a:srgbClr val="23272F"/>
                </a:solidFill>
                <a:effectLst/>
                <a:latin typeface="Optimistic Display"/>
              </a:rPr>
              <a:t>reducer.</a:t>
            </a:r>
            <a:endParaRPr lang="en-IN" sz="2000" dirty="0"/>
          </a:p>
        </p:txBody>
      </p:sp>
    </p:spTree>
    <p:extLst>
      <p:ext uri="{BB962C8B-B14F-4D97-AF65-F5344CB8AC3E}">
        <p14:creationId xmlns:p14="http://schemas.microsoft.com/office/powerpoint/2010/main" val="2793462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A72A2-0C88-BE6E-9E26-17F24E99707D}"/>
              </a:ext>
            </a:extLst>
          </p:cNvPr>
          <p:cNvSpPr>
            <a:spLocks noGrp="1"/>
          </p:cNvSpPr>
          <p:nvPr>
            <p:ph type="title"/>
          </p:nvPr>
        </p:nvSpPr>
        <p:spPr>
          <a:xfrm>
            <a:off x="2006600" y="0"/>
            <a:ext cx="7679267" cy="464608"/>
          </a:xfrm>
        </p:spPr>
        <p:txBody>
          <a:bodyPr>
            <a:noAutofit/>
          </a:bodyPr>
          <a:lstStyle/>
          <a:p>
            <a:r>
              <a:rPr lang="en-US" sz="3600" b="1" dirty="0"/>
              <a:t>Consolidate state logic with a reducer </a:t>
            </a:r>
            <a:endParaRPr lang="en-IN" sz="3600" b="1" dirty="0"/>
          </a:p>
        </p:txBody>
      </p:sp>
      <p:sp>
        <p:nvSpPr>
          <p:cNvPr id="3" name="Content Placeholder 2">
            <a:extLst>
              <a:ext uri="{FF2B5EF4-FFF2-40B4-BE49-F238E27FC236}">
                <a16:creationId xmlns:a16="http://schemas.microsoft.com/office/drawing/2014/main" id="{C0C5962E-0A8E-C537-9C34-576DA683B5E0}"/>
              </a:ext>
            </a:extLst>
          </p:cNvPr>
          <p:cNvSpPr>
            <a:spLocks noGrp="1"/>
          </p:cNvSpPr>
          <p:nvPr>
            <p:ph idx="1"/>
          </p:nvPr>
        </p:nvSpPr>
        <p:spPr>
          <a:xfrm>
            <a:off x="84666" y="414285"/>
            <a:ext cx="11954934" cy="829734"/>
          </a:xfrm>
        </p:spPr>
        <p:txBody>
          <a:bodyPr>
            <a:normAutofit lnSpcReduction="10000"/>
          </a:bodyPr>
          <a:lstStyle/>
          <a:p>
            <a:r>
              <a:rPr lang="en-US" sz="1800" dirty="0"/>
              <a:t>As your components grow in complexity, it can get harder to see at a glance all the different ways in which a component’s state gets updated. For example, the </a:t>
            </a:r>
            <a:r>
              <a:rPr lang="en-US" sz="1800" dirty="0" err="1"/>
              <a:t>TaskApp</a:t>
            </a:r>
            <a:r>
              <a:rPr lang="en-US" sz="1800" dirty="0"/>
              <a:t> component below holds an array of tasks in state and uses three different event handlers to add, remove, and edit tasks:</a:t>
            </a:r>
            <a:endParaRPr lang="en-IN" sz="1800" dirty="0"/>
          </a:p>
        </p:txBody>
      </p:sp>
      <p:sp>
        <p:nvSpPr>
          <p:cNvPr id="5" name="TextBox 4">
            <a:extLst>
              <a:ext uri="{FF2B5EF4-FFF2-40B4-BE49-F238E27FC236}">
                <a16:creationId xmlns:a16="http://schemas.microsoft.com/office/drawing/2014/main" id="{91F3D4EC-600F-CEA3-51CA-362BC7FD4BEF}"/>
              </a:ext>
            </a:extLst>
          </p:cNvPr>
          <p:cNvSpPr txBox="1"/>
          <p:nvPr/>
        </p:nvSpPr>
        <p:spPr>
          <a:xfrm>
            <a:off x="50800" y="1142315"/>
            <a:ext cx="5240868" cy="5838778"/>
          </a:xfrm>
          <a:prstGeom prst="rect">
            <a:avLst/>
          </a:prstGeom>
          <a:solidFill>
            <a:schemeClr val="tx1"/>
          </a:solidFill>
        </p:spPr>
        <p:txBody>
          <a:bodyPr wrap="square">
            <a:spAutoFit/>
          </a:bodyPr>
          <a:lstStyle/>
          <a:p>
            <a:pPr>
              <a:lnSpc>
                <a:spcPts val="1425"/>
              </a:lnSpc>
            </a:pPr>
            <a:r>
              <a:rPr lang="en-IN" sz="1400" b="0" dirty="0">
                <a:solidFill>
                  <a:srgbClr val="A390FF"/>
                </a:solidFill>
                <a:effectLst/>
                <a:latin typeface="Consolas" panose="020B0609020204030204" pitchFamily="49" charset="0"/>
              </a:rPr>
              <a:t>import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useState</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from</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react</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A390FF"/>
                </a:solidFill>
                <a:effectLst/>
                <a:latin typeface="Consolas" panose="020B0609020204030204" pitchFamily="49" charset="0"/>
              </a:rPr>
              <a:t>import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AddTask</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from</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./AddTask.js</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A390FF"/>
                </a:solidFill>
                <a:effectLst/>
                <a:latin typeface="Consolas" panose="020B0609020204030204" pitchFamily="49" charset="0"/>
              </a:rPr>
              <a:t>import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TaskList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from</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FD084"/>
                </a:solidFill>
                <a:effectLst/>
                <a:latin typeface="Consolas" panose="020B0609020204030204" pitchFamily="49" charset="0"/>
              </a:rPr>
              <a:t>./TaskList.js</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br>
              <a:rPr lang="en-IN" sz="1400" b="0" dirty="0">
                <a:solidFill>
                  <a:srgbClr val="BBBBBB"/>
                </a:solidFill>
                <a:effectLst/>
                <a:latin typeface="Consolas" panose="020B0609020204030204" pitchFamily="49" charset="0"/>
              </a:rPr>
            </a:br>
            <a:r>
              <a:rPr lang="en-IN" sz="1400" b="0" dirty="0">
                <a:solidFill>
                  <a:srgbClr val="A390FF"/>
                </a:solidFill>
                <a:effectLst/>
                <a:latin typeface="Consolas" panose="020B0609020204030204" pitchFamily="49" charset="0"/>
              </a:rPr>
              <a:t>export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default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function</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TaskApp</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err="1">
                <a:solidFill>
                  <a:srgbClr val="A390FF"/>
                </a:solidFill>
                <a:effectLst/>
                <a:latin typeface="Consolas" panose="020B0609020204030204" pitchFamily="49" charset="0"/>
              </a:rPr>
              <a:t>const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tasks</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setTasks</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useState</a:t>
            </a:r>
            <a:r>
              <a:rPr lang="en-IN" sz="1400" b="0" dirty="0">
                <a:solidFill>
                  <a:srgbClr val="86897A"/>
                </a:solidFill>
                <a:effectLst/>
                <a:latin typeface="Consolas" panose="020B0609020204030204" pitchFamily="49" charset="0"/>
              </a:rPr>
              <a:t>(</a:t>
            </a:r>
            <a:r>
              <a:rPr lang="en-IN" sz="1400" b="0" dirty="0" err="1">
                <a:solidFill>
                  <a:srgbClr val="EBEBEB"/>
                </a:solidFill>
                <a:effectLst/>
                <a:latin typeface="Consolas" panose="020B0609020204030204" pitchFamily="49" charset="0"/>
              </a:rPr>
              <a:t>initialTasks</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br>
              <a:rPr lang="en-IN" sz="1400" b="0" dirty="0">
                <a:solidFill>
                  <a:srgbClr val="BBBBBB"/>
                </a:solidFill>
                <a:effectLst/>
                <a:latin typeface="Consolas" panose="020B0609020204030204" pitchFamily="49" charset="0"/>
              </a:rPr>
            </a:b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function</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handleAddTask</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setTasks</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tasks</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id</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nextId</a:t>
            </a:r>
            <a:r>
              <a:rPr lang="en-IN" sz="1400" b="0" dirty="0">
                <a:solidFill>
                  <a:srgbClr val="B3E8B4"/>
                </a:solidFill>
                <a:effectLst/>
                <a:latin typeface="Consolas" panose="020B0609020204030204" pitchFamily="49" charset="0"/>
              </a:rPr>
              <a:t>++</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text</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done</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7AD9FB"/>
                </a:solidFill>
                <a:effectLst/>
                <a:latin typeface="Consolas" panose="020B0609020204030204" pitchFamily="49" charset="0"/>
              </a:rPr>
              <a:t>false</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br>
              <a:rPr lang="en-IN" sz="1400" b="0" dirty="0">
                <a:solidFill>
                  <a:srgbClr val="BBBBBB"/>
                </a:solidFill>
                <a:effectLst/>
                <a:latin typeface="Consolas" panose="020B0609020204030204" pitchFamily="49" charset="0"/>
              </a:rPr>
            </a:b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function</a:t>
            </a: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handleChangeTask</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task</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err="1">
                <a:solidFill>
                  <a:srgbClr val="CDF861"/>
                </a:solidFill>
                <a:effectLst/>
                <a:latin typeface="Consolas" panose="020B0609020204030204" pitchFamily="49" charset="0"/>
              </a:rPr>
              <a:t>setTasks</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err="1">
                <a:solidFill>
                  <a:srgbClr val="EBEBEB"/>
                </a:solidFill>
                <a:effectLst/>
                <a:latin typeface="Consolas" panose="020B0609020204030204" pitchFamily="49" charset="0"/>
              </a:rPr>
              <a:t>tasks</a:t>
            </a:r>
            <a:r>
              <a:rPr lang="en-IN" sz="1400" b="0" dirty="0" err="1">
                <a:solidFill>
                  <a:srgbClr val="86897A"/>
                </a:solidFill>
                <a:effectLst/>
                <a:latin typeface="Consolas" panose="020B0609020204030204" pitchFamily="49" charset="0"/>
              </a:rPr>
              <a:t>.</a:t>
            </a:r>
            <a:r>
              <a:rPr lang="en-IN" sz="1400" b="0" dirty="0" err="1">
                <a:solidFill>
                  <a:srgbClr val="CDF861"/>
                </a:solidFill>
                <a:effectLst/>
                <a:latin typeface="Consolas" panose="020B0609020204030204" pitchFamily="49" charset="0"/>
              </a:rPr>
              <a:t>map</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=&gt;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if</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t</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id</a:t>
            </a:r>
            <a:r>
              <a:rPr lang="en-IN" sz="1400" b="0" dirty="0">
                <a:solidFill>
                  <a:srgbClr val="BBBBBB"/>
                </a:solidFill>
                <a:effectLst/>
                <a:latin typeface="Consolas" panose="020B0609020204030204" pitchFamily="49" charset="0"/>
              </a:rPr>
              <a:t> </a:t>
            </a:r>
            <a:r>
              <a:rPr lang="en-IN" sz="1400" b="0" dirty="0">
                <a:solidFill>
                  <a:srgbClr val="B3E8B4"/>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task</a:t>
            </a:r>
            <a:r>
              <a:rPr lang="en-IN" sz="1400" b="0" dirty="0">
                <a:solidFill>
                  <a:srgbClr val="86897A"/>
                </a:solidFill>
                <a:effectLst/>
                <a:latin typeface="Consolas" panose="020B0609020204030204" pitchFamily="49" charset="0"/>
              </a:rPr>
              <a:t>.</a:t>
            </a:r>
            <a:r>
              <a:rPr lang="en-IN" sz="1400" b="0" dirty="0">
                <a:solidFill>
                  <a:srgbClr val="EBEBEB"/>
                </a:solidFill>
                <a:effectLst/>
                <a:latin typeface="Consolas" panose="020B0609020204030204" pitchFamily="49" charset="0"/>
              </a:rPr>
              <a:t>id</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task</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else</a:t>
            </a: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A390FF"/>
                </a:solidFill>
                <a:effectLst/>
                <a:latin typeface="Consolas" panose="020B0609020204030204" pitchFamily="49" charset="0"/>
              </a:rPr>
              <a:t>return</a:t>
            </a:r>
            <a:r>
              <a:rPr lang="en-IN" sz="1400" b="0" dirty="0">
                <a:solidFill>
                  <a:srgbClr val="BBBBBB"/>
                </a:solidFill>
                <a:effectLst/>
                <a:latin typeface="Consolas" panose="020B0609020204030204" pitchFamily="49" charset="0"/>
              </a:rPr>
              <a:t> </a:t>
            </a:r>
            <a:r>
              <a:rPr lang="en-IN" sz="1400" b="0" dirty="0">
                <a:solidFill>
                  <a:srgbClr val="EBEBEB"/>
                </a:solidFill>
                <a:effectLst/>
                <a:latin typeface="Consolas" panose="020B0609020204030204" pitchFamily="49" charset="0"/>
              </a:rPr>
              <a:t>t</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r>
              <a:rPr lang="en-IN" sz="1400" b="0" dirty="0">
                <a:solidFill>
                  <a:srgbClr val="BBBBBB"/>
                </a:solidFill>
                <a:effectLst/>
                <a:latin typeface="Consolas" panose="020B0609020204030204" pitchFamily="49" charset="0"/>
              </a:rPr>
              <a:t>;</a:t>
            </a:r>
          </a:p>
          <a:p>
            <a:pPr>
              <a:lnSpc>
                <a:spcPts val="1425"/>
              </a:lnSpc>
            </a:pPr>
            <a:r>
              <a:rPr lang="en-IN" sz="1400" b="0" dirty="0">
                <a:solidFill>
                  <a:srgbClr val="BBBBBB"/>
                </a:solidFill>
                <a:effectLst/>
                <a:latin typeface="Consolas" panose="020B0609020204030204" pitchFamily="49" charset="0"/>
              </a:rPr>
              <a:t>  </a:t>
            </a:r>
            <a:r>
              <a:rPr lang="en-IN" sz="1400" b="0" dirty="0">
                <a:solidFill>
                  <a:srgbClr val="86897A"/>
                </a:solidFill>
                <a:effectLst/>
                <a:latin typeface="Consolas" panose="020B0609020204030204" pitchFamily="49" charset="0"/>
              </a:rPr>
              <a:t>}</a:t>
            </a:r>
            <a:endParaRPr lang="en-IN" sz="1400" b="0" dirty="0">
              <a:solidFill>
                <a:srgbClr val="BBBBBB"/>
              </a:solidFill>
              <a:effectLst/>
              <a:latin typeface="Consolas" panose="020B0609020204030204" pitchFamily="49" charset="0"/>
            </a:endParaRPr>
          </a:p>
          <a:p>
            <a:pPr>
              <a:lnSpc>
                <a:spcPts val="1425"/>
              </a:lnSpc>
            </a:pPr>
            <a:br>
              <a:rPr lang="en-IN" sz="1400" b="0" dirty="0">
                <a:solidFill>
                  <a:srgbClr val="BBBBBB"/>
                </a:solidFill>
                <a:effectLst/>
                <a:latin typeface="Consolas" panose="020B0609020204030204" pitchFamily="49" charset="0"/>
              </a:rPr>
            </a:br>
            <a:r>
              <a:rPr lang="en-IN" sz="1400" b="0" dirty="0">
                <a:solidFill>
                  <a:srgbClr val="BBBBBB"/>
                </a:solidFill>
                <a:effectLst/>
                <a:latin typeface="Consolas" panose="020B0609020204030204" pitchFamily="49" charset="0"/>
              </a:rPr>
              <a:t> </a:t>
            </a:r>
            <a:br>
              <a:rPr lang="en-IN" sz="1400" b="0" dirty="0">
                <a:solidFill>
                  <a:srgbClr val="BBBBBB"/>
                </a:solidFill>
                <a:effectLst/>
                <a:latin typeface="Consolas" panose="020B0609020204030204" pitchFamily="49" charset="0"/>
              </a:rPr>
            </a:br>
            <a:endParaRPr lang="en-IN" sz="1400" b="0" dirty="0">
              <a:solidFill>
                <a:srgbClr val="BBBBBB"/>
              </a:solidFill>
              <a:effectLst/>
              <a:latin typeface="Consolas" panose="020B0609020204030204" pitchFamily="49" charset="0"/>
            </a:endParaRPr>
          </a:p>
        </p:txBody>
      </p:sp>
      <p:sp>
        <p:nvSpPr>
          <p:cNvPr id="7" name="TextBox 6">
            <a:extLst>
              <a:ext uri="{FF2B5EF4-FFF2-40B4-BE49-F238E27FC236}">
                <a16:creationId xmlns:a16="http://schemas.microsoft.com/office/drawing/2014/main" id="{6BA314BC-94A7-BAAB-C81F-503E7EA8541A}"/>
              </a:ext>
            </a:extLst>
          </p:cNvPr>
          <p:cNvSpPr txBox="1"/>
          <p:nvPr/>
        </p:nvSpPr>
        <p:spPr>
          <a:xfrm>
            <a:off x="4025900" y="2616769"/>
            <a:ext cx="5317067" cy="4241231"/>
          </a:xfrm>
          <a:prstGeom prst="rect">
            <a:avLst/>
          </a:prstGeom>
          <a:solidFill>
            <a:schemeClr val="tx1"/>
          </a:solidFill>
        </p:spPr>
        <p:txBody>
          <a:bodyPr wrap="square">
            <a:spAutoFit/>
          </a:bodyPr>
          <a:lstStyle/>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handleDeleteTask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taskId</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setTasks</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tasks</a:t>
            </a:r>
            <a:r>
              <a:rPr kumimoji="0" lang="en-IN" sz="14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filter</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taskId</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h1</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Prague itinerary</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h1</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A390FF"/>
                </a:solidFill>
                <a:effectLst/>
                <a:uLnTx/>
                <a:uFillTx/>
                <a:latin typeface="Consolas" panose="020B0609020204030204" pitchFamily="49" charset="0"/>
                <a:ea typeface="+mn-ea"/>
                <a:cs typeface="+mn-cs"/>
              </a:rPr>
              <a:t>AddTask</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ABEFF"/>
                </a:solidFill>
                <a:effectLst/>
                <a:uLnTx/>
                <a:uFillTx/>
                <a:latin typeface="Consolas" panose="020B0609020204030204" pitchFamily="49" charset="0"/>
                <a:ea typeface="+mn-ea"/>
                <a:cs typeface="+mn-cs"/>
              </a:rPr>
              <a:t>onAddTask</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handleAddTask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err="1">
                <a:ln>
                  <a:noFill/>
                </a:ln>
                <a:solidFill>
                  <a:srgbClr val="A390FF"/>
                </a:solidFill>
                <a:effectLst/>
                <a:uLnTx/>
                <a:uFillTx/>
                <a:latin typeface="Consolas" panose="020B0609020204030204" pitchFamily="49" charset="0"/>
                <a:ea typeface="+mn-ea"/>
                <a:cs typeface="+mn-cs"/>
              </a:rPr>
              <a:t>TaskList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CABEFF"/>
                </a:solidFill>
                <a:effectLst/>
                <a:uLnTx/>
                <a:uFillTx/>
                <a:latin typeface="Consolas" panose="020B0609020204030204" pitchFamily="49" charset="0"/>
                <a:ea typeface="+mn-ea"/>
                <a:cs typeface="+mn-cs"/>
              </a:rPr>
              <a:t>tasks</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tasks</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ABEFF"/>
                </a:solidFill>
                <a:effectLst/>
                <a:uLnTx/>
                <a:uFillTx/>
                <a:latin typeface="Consolas" panose="020B0609020204030204" pitchFamily="49" charset="0"/>
                <a:ea typeface="+mn-ea"/>
                <a:cs typeface="+mn-cs"/>
              </a:rPr>
              <a:t>onChangeTask</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handleChangeTask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CABEFF"/>
                </a:solidFill>
                <a:effectLst/>
                <a:uLnTx/>
                <a:uFillTx/>
                <a:latin typeface="Consolas" panose="020B0609020204030204" pitchFamily="49" charset="0"/>
                <a:ea typeface="+mn-ea"/>
                <a:cs typeface="+mn-cs"/>
              </a:rPr>
              <a:t>onDeleteTask</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handleDeleteTask</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0F0F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let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nextId</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3</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err="1">
                <a:ln>
                  <a:noFill/>
                </a:ln>
                <a:solidFill>
                  <a:srgbClr val="A39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initialTasks</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0</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Visit Kafka Museum</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true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1</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Watch a puppet show</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false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2</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Lennon Wall pic</a:t>
            </a:r>
            <a:r>
              <a:rPr kumimoji="0" lang="en-IN" sz="14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false</a:t>
            </a:r>
            <a:r>
              <a:rPr kumimoji="0" lang="en-IN" sz="14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p:txBody>
      </p:sp>
      <p:pic>
        <p:nvPicPr>
          <p:cNvPr id="9" name="Picture 8">
            <a:extLst>
              <a:ext uri="{FF2B5EF4-FFF2-40B4-BE49-F238E27FC236}">
                <a16:creationId xmlns:a16="http://schemas.microsoft.com/office/drawing/2014/main" id="{5E275A2B-3EF9-ABAA-777B-F42A298F0D91}"/>
              </a:ext>
            </a:extLst>
          </p:cNvPr>
          <p:cNvPicPr>
            <a:picLocks noChangeAspect="1"/>
          </p:cNvPicPr>
          <p:nvPr/>
        </p:nvPicPr>
        <p:blipFill>
          <a:blip r:embed="rId2"/>
          <a:stretch>
            <a:fillRect/>
          </a:stretch>
        </p:blipFill>
        <p:spPr>
          <a:xfrm>
            <a:off x="8655571" y="3048322"/>
            <a:ext cx="3858163" cy="2962688"/>
          </a:xfrm>
          <a:prstGeom prst="rect">
            <a:avLst/>
          </a:prstGeom>
        </p:spPr>
      </p:pic>
    </p:spTree>
    <p:extLst>
      <p:ext uri="{BB962C8B-B14F-4D97-AF65-F5344CB8AC3E}">
        <p14:creationId xmlns:p14="http://schemas.microsoft.com/office/powerpoint/2010/main" val="331592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3739956-82B3-0C16-A031-2FDD933C65D2}"/>
              </a:ext>
            </a:extLst>
          </p:cNvPr>
          <p:cNvSpPr>
            <a:spLocks noChangeArrowheads="1"/>
          </p:cNvSpPr>
          <p:nvPr/>
        </p:nvSpPr>
        <p:spPr bwMode="auto">
          <a:xfrm>
            <a:off x="103293" y="225652"/>
            <a:ext cx="11673840" cy="26237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Each of its event handlers calls </a:t>
            </a:r>
            <a:r>
              <a:rPr kumimoji="0" lang="en-US" altLang="en-US" sz="1200" b="0" i="0" u="none" strike="noStrike" cap="none" normalizeH="0" baseline="0" dirty="0" err="1">
                <a:ln>
                  <a:noFill/>
                </a:ln>
                <a:solidFill>
                  <a:srgbClr val="23272F"/>
                </a:solidFill>
                <a:effectLst/>
                <a:latin typeface="Source Code Pro" panose="020B0509030403020204" pitchFamily="49" charset="0"/>
              </a:rPr>
              <a:t>setTasks</a:t>
            </a:r>
            <a:r>
              <a:rPr kumimoji="0" lang="en-US" altLang="en-US" b="0" i="0" u="none" strike="noStrike" cap="none" normalizeH="0" baseline="0" dirty="0">
                <a:ln>
                  <a:noFill/>
                </a:ln>
                <a:solidFill>
                  <a:srgbClr val="23272F"/>
                </a:solidFill>
                <a:effectLst/>
                <a:latin typeface="Optimistic Text"/>
              </a:rPr>
              <a:t> in order to update the state. As this component grows, so does the amount of state logic sprinkled throughout it. To reduce this complexity and keep all your logic in one easy-to-access place, you can move that state logic into a single function outside your component, </a:t>
            </a:r>
            <a:r>
              <a:rPr kumimoji="0" lang="en-US" altLang="en-US" b="1" i="0" u="none" strike="noStrike" cap="none" normalizeH="0" baseline="0" dirty="0">
                <a:ln>
                  <a:noFill/>
                </a:ln>
                <a:solidFill>
                  <a:srgbClr val="23272F"/>
                </a:solidFill>
                <a:effectLst/>
                <a:latin typeface="Optimistic Text"/>
              </a:rPr>
              <a:t>called a “reducer”.</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Reducers are a different way to handle state. You can migrate from </a:t>
            </a:r>
            <a:r>
              <a:rPr kumimoji="0" lang="en-US" altLang="en-US" sz="1200" b="0" i="0" u="none" strike="noStrike" cap="none" normalizeH="0" baseline="0" dirty="0" err="1">
                <a:ln>
                  <a:noFill/>
                </a:ln>
                <a:solidFill>
                  <a:srgbClr val="23272F"/>
                </a:solidFill>
                <a:effectLst/>
                <a:latin typeface="Source Code Pro" panose="020B0509030403020204" pitchFamily="49" charset="0"/>
              </a:rPr>
              <a:t>useState</a:t>
            </a:r>
            <a:r>
              <a:rPr kumimoji="0" lang="en-US" altLang="en-US" b="0" i="0" u="none" strike="noStrike" cap="none" normalizeH="0" baseline="0" dirty="0">
                <a:ln>
                  <a:noFill/>
                </a:ln>
                <a:solidFill>
                  <a:srgbClr val="23272F"/>
                </a:solidFill>
                <a:effectLst/>
                <a:latin typeface="Optimistic Text"/>
              </a:rPr>
              <a:t> to </a:t>
            </a:r>
            <a:r>
              <a:rPr kumimoji="0" lang="en-US" altLang="en-US" sz="1200" b="0" i="0" u="none" strike="noStrike" cap="none" normalizeH="0" baseline="0" dirty="0" err="1">
                <a:ln>
                  <a:noFill/>
                </a:ln>
                <a:solidFill>
                  <a:srgbClr val="23272F"/>
                </a:solidFill>
                <a:effectLst/>
                <a:latin typeface="Source Code Pro" panose="020B0509030403020204" pitchFamily="49" charset="0"/>
              </a:rPr>
              <a:t>useReducer</a:t>
            </a:r>
            <a:r>
              <a:rPr kumimoji="0" lang="en-US" altLang="en-US" b="0" i="0" u="none" strike="noStrike" cap="none" normalizeH="0" baseline="0" dirty="0">
                <a:ln>
                  <a:noFill/>
                </a:ln>
                <a:solidFill>
                  <a:srgbClr val="23272F"/>
                </a:solidFill>
                <a:effectLst/>
                <a:latin typeface="Optimistic Text"/>
              </a:rPr>
              <a:t> in three steps: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rgbClr val="23272F"/>
                </a:solidFill>
                <a:effectLst/>
                <a:latin typeface="Optimistic Text"/>
              </a:rPr>
              <a:t>Move</a:t>
            </a:r>
            <a:r>
              <a:rPr kumimoji="0" lang="en-US" altLang="en-US" b="0" i="0" u="none" strike="noStrike" cap="none" normalizeH="0" baseline="0" dirty="0">
                <a:ln>
                  <a:noFill/>
                </a:ln>
                <a:solidFill>
                  <a:srgbClr val="23272F"/>
                </a:solidFill>
                <a:effectLst/>
                <a:latin typeface="Optimistic Text"/>
              </a:rPr>
              <a:t> from setting state to dispatching actions.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rgbClr val="23272F"/>
                </a:solidFill>
                <a:effectLst/>
                <a:latin typeface="Optimistic Text"/>
              </a:rPr>
              <a:t>Write</a:t>
            </a:r>
            <a:r>
              <a:rPr kumimoji="0" lang="en-US" altLang="en-US" b="0" i="0" u="none" strike="noStrike" cap="none" normalizeH="0" baseline="0" dirty="0">
                <a:ln>
                  <a:noFill/>
                </a:ln>
                <a:solidFill>
                  <a:srgbClr val="23272F"/>
                </a:solidFill>
                <a:effectLst/>
                <a:latin typeface="Optimistic Text"/>
              </a:rPr>
              <a:t> a reducer function.</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rgbClr val="23272F"/>
                </a:solidFill>
                <a:effectLst/>
                <a:latin typeface="Optimistic Text"/>
              </a:rPr>
              <a:t>Use</a:t>
            </a:r>
            <a:r>
              <a:rPr kumimoji="0" lang="en-US" altLang="en-US" b="0" i="0" u="none" strike="noStrike" cap="none" normalizeH="0" baseline="0" dirty="0">
                <a:ln>
                  <a:noFill/>
                </a:ln>
                <a:solidFill>
                  <a:srgbClr val="23272F"/>
                </a:solidFill>
                <a:effectLst/>
                <a:latin typeface="Optimistic Text"/>
              </a:rPr>
              <a:t> the reducer from your component.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25899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74E66A-7FA3-99A0-F844-106F965709C0}"/>
              </a:ext>
            </a:extLst>
          </p:cNvPr>
          <p:cNvSpPr txBox="1"/>
          <p:nvPr/>
        </p:nvSpPr>
        <p:spPr>
          <a:xfrm>
            <a:off x="0" y="0"/>
            <a:ext cx="6096000" cy="369332"/>
          </a:xfrm>
          <a:prstGeom prst="rect">
            <a:avLst/>
          </a:prstGeom>
          <a:noFill/>
        </p:spPr>
        <p:txBody>
          <a:bodyPr wrap="square">
            <a:spAutoFit/>
          </a:bodyPr>
          <a:lstStyle/>
          <a:p>
            <a:pPr algn="l"/>
            <a:r>
              <a:rPr lang="en-US" b="1" i="0" dirty="0">
                <a:solidFill>
                  <a:srgbClr val="23272F"/>
                </a:solidFill>
                <a:effectLst/>
                <a:latin typeface="Optimistic Display"/>
              </a:rPr>
              <a:t>Step 1: Move from setting state to dispatching actions </a:t>
            </a:r>
          </a:p>
        </p:txBody>
      </p:sp>
      <p:sp>
        <p:nvSpPr>
          <p:cNvPr id="5" name="Rectangle 1">
            <a:extLst>
              <a:ext uri="{FF2B5EF4-FFF2-40B4-BE49-F238E27FC236}">
                <a16:creationId xmlns:a16="http://schemas.microsoft.com/office/drawing/2014/main" id="{6E09A07B-37A1-1138-A8D0-627C8DB00109}"/>
              </a:ext>
            </a:extLst>
          </p:cNvPr>
          <p:cNvSpPr>
            <a:spLocks noChangeArrowheads="1"/>
          </p:cNvSpPr>
          <p:nvPr/>
        </p:nvSpPr>
        <p:spPr bwMode="auto">
          <a:xfrm>
            <a:off x="59267" y="459159"/>
            <a:ext cx="6773333" cy="2062103"/>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3272F"/>
                </a:solidFill>
                <a:effectLst/>
                <a:latin typeface="Optimistic Text"/>
              </a:rPr>
              <a:t>Remove all the state setting logic. What you are left with are three event handlers: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err="1">
                <a:ln>
                  <a:noFill/>
                </a:ln>
                <a:solidFill>
                  <a:srgbClr val="23272F"/>
                </a:solidFill>
                <a:effectLst/>
                <a:latin typeface="Aptos Narrow" panose="020B0004020202020204" pitchFamily="34" charset="0"/>
              </a:rPr>
              <a:t>handleAddTask</a:t>
            </a:r>
            <a:r>
              <a:rPr kumimoji="0" lang="en-US" altLang="en-US" sz="1100" b="0" i="0" u="none" strike="noStrike" cap="none" normalizeH="0" baseline="0" dirty="0">
                <a:ln>
                  <a:noFill/>
                </a:ln>
                <a:solidFill>
                  <a:srgbClr val="23272F"/>
                </a:solidFill>
                <a:effectLst/>
                <a:latin typeface="Aptos Narrow" panose="020B0004020202020204" pitchFamily="34" charset="0"/>
              </a:rPr>
              <a:t>(text)</a:t>
            </a:r>
            <a:r>
              <a:rPr kumimoji="0" lang="en-US" altLang="en-US" sz="1600" b="0" i="0" u="none" strike="noStrike" cap="none" normalizeH="0" baseline="0" dirty="0">
                <a:ln>
                  <a:noFill/>
                </a:ln>
                <a:solidFill>
                  <a:srgbClr val="23272F"/>
                </a:solidFill>
                <a:effectLst/>
                <a:latin typeface="Aptos Narrow" panose="020B0004020202020204" pitchFamily="34" charset="0"/>
              </a:rPr>
              <a:t> is called when the user presses “</a:t>
            </a:r>
            <a:r>
              <a:rPr kumimoji="0" lang="en-US" altLang="en-US" sz="1600" b="1" i="0" u="none" strike="noStrike" cap="none" normalizeH="0" baseline="0" dirty="0">
                <a:ln>
                  <a:noFill/>
                </a:ln>
                <a:solidFill>
                  <a:srgbClr val="23272F"/>
                </a:solidFill>
                <a:effectLst/>
                <a:latin typeface="Aptos Narrow" panose="020B0004020202020204" pitchFamily="34" charset="0"/>
              </a:rPr>
              <a:t>Add</a:t>
            </a:r>
            <a:r>
              <a:rPr kumimoji="0" lang="en-US" altLang="en-US" sz="1600" b="0" i="0" u="none" strike="noStrike" cap="none" normalizeH="0" baseline="0" dirty="0">
                <a:ln>
                  <a:noFill/>
                </a:ln>
                <a:solidFill>
                  <a:srgbClr val="23272F"/>
                </a:solidFill>
                <a:effectLst/>
                <a:latin typeface="Aptos Narrow"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err="1">
                <a:ln>
                  <a:noFill/>
                </a:ln>
                <a:solidFill>
                  <a:srgbClr val="23272F"/>
                </a:solidFill>
                <a:effectLst/>
                <a:latin typeface="Aptos Narrow" panose="020B0004020202020204" pitchFamily="34" charset="0"/>
              </a:rPr>
              <a:t>handleChangeTask</a:t>
            </a:r>
            <a:r>
              <a:rPr kumimoji="0" lang="en-US" altLang="en-US" sz="1100" b="0" i="0" u="none" strike="noStrike" cap="none" normalizeH="0" baseline="0" dirty="0">
                <a:ln>
                  <a:noFill/>
                </a:ln>
                <a:solidFill>
                  <a:srgbClr val="23272F"/>
                </a:solidFill>
                <a:effectLst/>
                <a:latin typeface="Aptos Narrow" panose="020B0004020202020204" pitchFamily="34" charset="0"/>
              </a:rPr>
              <a:t>(task)</a:t>
            </a:r>
            <a:r>
              <a:rPr kumimoji="0" lang="en-US" altLang="en-US" sz="1600" b="0" i="0" u="none" strike="noStrike" cap="none" normalizeH="0" baseline="0" dirty="0">
                <a:ln>
                  <a:noFill/>
                </a:ln>
                <a:solidFill>
                  <a:srgbClr val="23272F"/>
                </a:solidFill>
                <a:effectLst/>
                <a:latin typeface="Aptos Narrow" panose="020B0004020202020204" pitchFamily="34" charset="0"/>
              </a:rPr>
              <a:t> is called when the user toggles a task or presses “</a:t>
            </a:r>
            <a:r>
              <a:rPr kumimoji="0" lang="en-US" altLang="en-US" sz="1600" b="1" i="0" u="none" strike="noStrike" cap="none" normalizeH="0" baseline="0" dirty="0">
                <a:ln>
                  <a:noFill/>
                </a:ln>
                <a:solidFill>
                  <a:srgbClr val="23272F"/>
                </a:solidFill>
                <a:effectLst/>
                <a:latin typeface="Aptos Narrow" panose="020B0004020202020204" pitchFamily="34" charset="0"/>
              </a:rPr>
              <a:t>Save</a:t>
            </a:r>
            <a:r>
              <a:rPr kumimoji="0" lang="en-US" altLang="en-US" sz="1600" b="0" i="0" u="none" strike="noStrike" cap="none" normalizeH="0" baseline="0" dirty="0">
                <a:ln>
                  <a:noFill/>
                </a:ln>
                <a:solidFill>
                  <a:srgbClr val="23272F"/>
                </a:solidFill>
                <a:effectLst/>
                <a:latin typeface="Aptos Narrow"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err="1">
                <a:ln>
                  <a:noFill/>
                </a:ln>
                <a:solidFill>
                  <a:srgbClr val="23272F"/>
                </a:solidFill>
                <a:effectLst/>
                <a:latin typeface="Aptos Narrow" panose="020B0004020202020204" pitchFamily="34" charset="0"/>
              </a:rPr>
              <a:t>handleDeleteTask</a:t>
            </a:r>
            <a:r>
              <a:rPr kumimoji="0" lang="en-US" altLang="en-US" sz="1100" b="0" i="0" u="none" strike="noStrike" cap="none" normalizeH="0" baseline="0" dirty="0">
                <a:ln>
                  <a:noFill/>
                </a:ln>
                <a:solidFill>
                  <a:srgbClr val="23272F"/>
                </a:solidFill>
                <a:effectLst/>
                <a:latin typeface="Aptos Narrow" panose="020B0004020202020204" pitchFamily="34" charset="0"/>
              </a:rPr>
              <a:t>(</a:t>
            </a:r>
            <a:r>
              <a:rPr kumimoji="0" lang="en-US" altLang="en-US" sz="1100" b="0" i="0" u="none" strike="noStrike" cap="none" normalizeH="0" baseline="0" dirty="0" err="1">
                <a:ln>
                  <a:noFill/>
                </a:ln>
                <a:solidFill>
                  <a:srgbClr val="23272F"/>
                </a:solidFill>
                <a:effectLst/>
                <a:latin typeface="Aptos Narrow" panose="020B0004020202020204" pitchFamily="34" charset="0"/>
              </a:rPr>
              <a:t>taskId</a:t>
            </a:r>
            <a:r>
              <a:rPr kumimoji="0" lang="en-US" altLang="en-US" sz="1100" b="0" i="0" u="none" strike="noStrike" cap="none" normalizeH="0" baseline="0" dirty="0">
                <a:ln>
                  <a:noFill/>
                </a:ln>
                <a:solidFill>
                  <a:srgbClr val="23272F"/>
                </a:solidFill>
                <a:effectLst/>
                <a:latin typeface="Aptos Narrow" panose="020B0004020202020204" pitchFamily="34" charset="0"/>
              </a:rPr>
              <a:t>)</a:t>
            </a:r>
            <a:r>
              <a:rPr kumimoji="0" lang="en-US" altLang="en-US" sz="1600" b="0" i="0" u="none" strike="noStrike" cap="none" normalizeH="0" baseline="0" dirty="0">
                <a:ln>
                  <a:noFill/>
                </a:ln>
                <a:solidFill>
                  <a:srgbClr val="23272F"/>
                </a:solidFill>
                <a:effectLst/>
                <a:latin typeface="Aptos Narrow" panose="020B0004020202020204" pitchFamily="34" charset="0"/>
              </a:rPr>
              <a:t> is called when the user presses “</a:t>
            </a:r>
            <a:r>
              <a:rPr kumimoji="0" lang="en-US" altLang="en-US" sz="1600" b="1" i="0" u="none" strike="noStrike" cap="none" normalizeH="0" baseline="0" dirty="0">
                <a:ln>
                  <a:noFill/>
                </a:ln>
                <a:solidFill>
                  <a:srgbClr val="23272F"/>
                </a:solidFill>
                <a:effectLst/>
                <a:latin typeface="Aptos Narrow" panose="020B0004020202020204" pitchFamily="34" charset="0"/>
              </a:rPr>
              <a:t>Delete</a:t>
            </a:r>
            <a:r>
              <a:rPr kumimoji="0" lang="en-US" altLang="en-US" sz="1600" b="0" i="0" u="none" strike="noStrike" cap="none" normalizeH="0" baseline="0" dirty="0">
                <a:ln>
                  <a:noFill/>
                </a:ln>
                <a:solidFill>
                  <a:srgbClr val="23272F"/>
                </a:solidFill>
                <a:effectLst/>
                <a:latin typeface="Optimistic Tex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rgbClr val="23272F"/>
              </a:solidFill>
              <a:effectLst/>
              <a:latin typeface="Optimistic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3272F"/>
                </a:solidFill>
                <a:effectLst/>
                <a:latin typeface="Optimistic Text"/>
              </a:rPr>
              <a:t>Managing state with reducers is slightly different from directly setting state. Instead of telling React “what to do” by setting state, you specify “what the user just did” by dispatching “actions” from your event handlers. (The state update logic will live elsewhere!) So instead of “setting </a:t>
            </a:r>
            <a:r>
              <a:rPr kumimoji="0" lang="en-US" altLang="en-US" sz="1000" b="0" i="0" u="none" strike="noStrike" cap="none" normalizeH="0" baseline="0" dirty="0">
                <a:ln>
                  <a:noFill/>
                </a:ln>
                <a:solidFill>
                  <a:srgbClr val="23272F"/>
                </a:solidFill>
                <a:effectLst/>
                <a:latin typeface="Source Code Pro" panose="020B0509030403020204" pitchFamily="49" charset="0"/>
              </a:rPr>
              <a:t>tasks</a:t>
            </a:r>
            <a:r>
              <a:rPr kumimoji="0" lang="en-US" altLang="en-US" sz="1200" b="0" i="0" u="none" strike="noStrike" cap="none" normalizeH="0" baseline="0" dirty="0">
                <a:ln>
                  <a:noFill/>
                </a:ln>
                <a:solidFill>
                  <a:srgbClr val="23272F"/>
                </a:solidFill>
                <a:effectLst/>
                <a:latin typeface="Optimistic Text"/>
              </a:rPr>
              <a:t>” via an event handler, you’re dispatching an “added/changed/deleted a task” action. This is more descriptive of the user’s intent.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C4E4150C-00DD-2180-B974-43457EE53D0B}"/>
              </a:ext>
            </a:extLst>
          </p:cNvPr>
          <p:cNvSpPr txBox="1"/>
          <p:nvPr/>
        </p:nvSpPr>
        <p:spPr>
          <a:xfrm>
            <a:off x="7340602" y="0"/>
            <a:ext cx="4656666" cy="590750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a:t>function </a:t>
            </a:r>
            <a:r>
              <a:rPr lang="en-IN" dirty="0" err="1"/>
              <a:t>handleAddTask</a:t>
            </a:r>
            <a:r>
              <a:rPr lang="en-IN" dirty="0"/>
              <a:t>(text) {</a:t>
            </a:r>
          </a:p>
          <a:p>
            <a:r>
              <a:rPr lang="en-IN" dirty="0"/>
              <a:t>  dispatch({</a:t>
            </a:r>
          </a:p>
          <a:p>
            <a:r>
              <a:rPr lang="en-IN" dirty="0"/>
              <a:t>    type: 'added',</a:t>
            </a:r>
          </a:p>
          <a:p>
            <a:r>
              <a:rPr lang="en-IN" dirty="0"/>
              <a:t>    id: </a:t>
            </a:r>
            <a:r>
              <a:rPr lang="en-IN" dirty="0" err="1"/>
              <a:t>nextId</a:t>
            </a:r>
            <a:r>
              <a:rPr lang="en-IN" dirty="0"/>
              <a:t>++,</a:t>
            </a:r>
          </a:p>
          <a:p>
            <a:r>
              <a:rPr lang="en-IN" dirty="0"/>
              <a:t>    text: text,</a:t>
            </a:r>
          </a:p>
          <a:p>
            <a:r>
              <a:rPr lang="en-IN" dirty="0"/>
              <a:t>  });</a:t>
            </a:r>
          </a:p>
          <a:p>
            <a:r>
              <a:rPr lang="en-IN" dirty="0"/>
              <a:t>}</a:t>
            </a:r>
          </a:p>
          <a:p>
            <a:endParaRPr lang="en-IN" dirty="0"/>
          </a:p>
          <a:p>
            <a:r>
              <a:rPr lang="en-IN" dirty="0"/>
              <a:t>function </a:t>
            </a:r>
            <a:r>
              <a:rPr lang="en-IN" dirty="0" err="1"/>
              <a:t>handleChangeTask</a:t>
            </a:r>
            <a:r>
              <a:rPr lang="en-IN" dirty="0"/>
              <a:t>(task) {</a:t>
            </a:r>
          </a:p>
          <a:p>
            <a:r>
              <a:rPr lang="en-IN" dirty="0"/>
              <a:t>  dispatch({</a:t>
            </a:r>
          </a:p>
          <a:p>
            <a:r>
              <a:rPr lang="en-IN" dirty="0"/>
              <a:t>    type: 'changed',</a:t>
            </a:r>
          </a:p>
          <a:p>
            <a:r>
              <a:rPr lang="en-IN" dirty="0"/>
              <a:t>    task: task,</a:t>
            </a:r>
          </a:p>
          <a:p>
            <a:r>
              <a:rPr lang="en-IN" dirty="0"/>
              <a:t>  });</a:t>
            </a:r>
          </a:p>
          <a:p>
            <a:r>
              <a:rPr lang="en-IN" dirty="0"/>
              <a:t>}</a:t>
            </a:r>
          </a:p>
          <a:p>
            <a:endParaRPr lang="en-IN" dirty="0"/>
          </a:p>
          <a:p>
            <a:r>
              <a:rPr lang="en-IN" dirty="0"/>
              <a:t>function </a:t>
            </a:r>
            <a:r>
              <a:rPr lang="en-IN" dirty="0" err="1"/>
              <a:t>handleDeleteTask</a:t>
            </a:r>
            <a:r>
              <a:rPr lang="en-IN" dirty="0"/>
              <a:t>(</a:t>
            </a:r>
            <a:r>
              <a:rPr lang="en-IN" dirty="0" err="1"/>
              <a:t>taskId</a:t>
            </a:r>
            <a:r>
              <a:rPr lang="en-IN" dirty="0"/>
              <a:t>) {</a:t>
            </a:r>
          </a:p>
          <a:p>
            <a:r>
              <a:rPr lang="en-IN" dirty="0"/>
              <a:t>  dispatch({</a:t>
            </a:r>
          </a:p>
          <a:p>
            <a:r>
              <a:rPr lang="en-IN" dirty="0"/>
              <a:t>    type: 'deleted',</a:t>
            </a:r>
          </a:p>
          <a:p>
            <a:r>
              <a:rPr lang="en-IN" dirty="0"/>
              <a:t>    id: </a:t>
            </a:r>
            <a:r>
              <a:rPr lang="en-IN" dirty="0" err="1"/>
              <a:t>taskId</a:t>
            </a:r>
            <a:r>
              <a:rPr lang="en-IN" dirty="0"/>
              <a:t>,</a:t>
            </a:r>
          </a:p>
          <a:p>
            <a:r>
              <a:rPr lang="en-IN" dirty="0"/>
              <a:t>  });</a:t>
            </a:r>
          </a:p>
          <a:p>
            <a:r>
              <a:rPr lang="en-IN" dirty="0"/>
              <a:t>}</a:t>
            </a:r>
          </a:p>
        </p:txBody>
      </p:sp>
      <p:sp>
        <p:nvSpPr>
          <p:cNvPr id="8" name="Rectangle 2">
            <a:extLst>
              <a:ext uri="{FF2B5EF4-FFF2-40B4-BE49-F238E27FC236}">
                <a16:creationId xmlns:a16="http://schemas.microsoft.com/office/drawing/2014/main" id="{1C18C2B1-A900-BC2C-C619-939C7A5BA75C}"/>
              </a:ext>
            </a:extLst>
          </p:cNvPr>
          <p:cNvSpPr>
            <a:spLocks noChangeArrowheads="1"/>
          </p:cNvSpPr>
          <p:nvPr/>
        </p:nvSpPr>
        <p:spPr bwMode="auto">
          <a:xfrm>
            <a:off x="194732" y="3195134"/>
            <a:ext cx="5706535" cy="492443"/>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3272F"/>
                </a:solidFill>
                <a:effectLst/>
                <a:latin typeface="Optimistic Text"/>
              </a:rPr>
              <a:t>The object you pass to </a:t>
            </a:r>
            <a:r>
              <a:rPr kumimoji="0" lang="en-US" altLang="en-US" sz="1100" b="1" i="0" u="none" strike="noStrike" cap="none" normalizeH="0" baseline="0" dirty="0">
                <a:ln>
                  <a:noFill/>
                </a:ln>
                <a:solidFill>
                  <a:schemeClr val="tx1"/>
                </a:solidFill>
                <a:effectLst/>
                <a:latin typeface="Source Code Pro" panose="020B0509030403020204" pitchFamily="49" charset="0"/>
              </a:rPr>
              <a:t>dispatch</a:t>
            </a:r>
            <a:r>
              <a:rPr kumimoji="0" lang="en-US" altLang="en-US" sz="1600" b="1" i="0" u="none" strike="noStrike" cap="none" normalizeH="0" baseline="0" dirty="0">
                <a:ln>
                  <a:noFill/>
                </a:ln>
                <a:solidFill>
                  <a:srgbClr val="23272F"/>
                </a:solidFill>
                <a:effectLst/>
                <a:latin typeface="Optimistic Text"/>
              </a:rPr>
              <a:t> is called an “action”: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rPr>
              <a:t> </a:t>
            </a: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
        <p:nvSpPr>
          <p:cNvPr id="11" name="Rectangle 5">
            <a:extLst>
              <a:ext uri="{FF2B5EF4-FFF2-40B4-BE49-F238E27FC236}">
                <a16:creationId xmlns:a16="http://schemas.microsoft.com/office/drawing/2014/main" id="{34A8AA4B-FDD8-3409-0F59-8C01C7DB3267}"/>
              </a:ext>
            </a:extLst>
          </p:cNvPr>
          <p:cNvSpPr>
            <a:spLocks noChangeArrowheads="1"/>
          </p:cNvSpPr>
          <p:nvPr/>
        </p:nvSpPr>
        <p:spPr bwMode="auto">
          <a:xfrm>
            <a:off x="211664" y="3974124"/>
            <a:ext cx="5215467" cy="10772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3272F"/>
                </a:solidFill>
                <a:effectLst/>
                <a:latin typeface="Optimistic Text"/>
              </a:rPr>
              <a:t>It is a regular JavaScript object. You decide what to put in it, but generally it should contain the minimal information about </a:t>
            </a:r>
            <a:r>
              <a:rPr kumimoji="0" lang="en-US" altLang="en-US" sz="1600" b="0" i="1" u="none" strike="noStrike" cap="none" normalizeH="0" baseline="0" dirty="0">
                <a:ln>
                  <a:noFill/>
                </a:ln>
                <a:solidFill>
                  <a:srgbClr val="23272F"/>
                </a:solidFill>
                <a:effectLst/>
                <a:latin typeface="Optimistic Text"/>
              </a:rPr>
              <a:t>what happened</a:t>
            </a:r>
            <a:r>
              <a:rPr kumimoji="0" lang="en-US" altLang="en-US" sz="1600" b="0" i="0" u="none" strike="noStrike" cap="none" normalizeH="0" baseline="0" dirty="0">
                <a:ln>
                  <a:noFill/>
                </a:ln>
                <a:solidFill>
                  <a:srgbClr val="23272F"/>
                </a:solidFill>
                <a:effectLst/>
                <a:latin typeface="Optimistic Text"/>
              </a:rPr>
              <a:t>. (You will add the </a:t>
            </a:r>
            <a:r>
              <a:rPr kumimoji="0" lang="en-US" altLang="en-US" sz="1100" b="0" i="0" u="none" strike="noStrike" cap="none" normalizeH="0" baseline="0" dirty="0">
                <a:ln>
                  <a:noFill/>
                </a:ln>
                <a:solidFill>
                  <a:schemeClr val="tx1"/>
                </a:solidFill>
                <a:effectLst/>
                <a:latin typeface="Source Code Pro" panose="020B0509030403020204" pitchFamily="49" charset="0"/>
              </a:rPr>
              <a:t>dispatch</a:t>
            </a:r>
            <a:r>
              <a:rPr kumimoji="0" lang="en-US" altLang="en-US" sz="1600" b="0" i="0" u="none" strike="noStrike" cap="none" normalizeH="0" baseline="0" dirty="0">
                <a:ln>
                  <a:noFill/>
                </a:ln>
                <a:solidFill>
                  <a:srgbClr val="23272F"/>
                </a:solidFill>
                <a:effectLst/>
                <a:latin typeface="Optimistic Text"/>
              </a:rPr>
              <a:t> function itself in a later step.)</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cxnSp>
        <p:nvCxnSpPr>
          <p:cNvPr id="13" name="Straight Arrow Connector 12">
            <a:extLst>
              <a:ext uri="{FF2B5EF4-FFF2-40B4-BE49-F238E27FC236}">
                <a16:creationId xmlns:a16="http://schemas.microsoft.com/office/drawing/2014/main" id="{25221C32-C3E9-2975-47B6-CDA095E2F808}"/>
              </a:ext>
            </a:extLst>
          </p:cNvPr>
          <p:cNvCxnSpPr/>
          <p:nvPr/>
        </p:nvCxnSpPr>
        <p:spPr>
          <a:xfrm flipV="1">
            <a:off x="5554133" y="753533"/>
            <a:ext cx="2065867" cy="2743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4383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7E4A1A-E10C-5C5A-DB23-2182A43DD61B}"/>
              </a:ext>
            </a:extLst>
          </p:cNvPr>
          <p:cNvSpPr txBox="1"/>
          <p:nvPr/>
        </p:nvSpPr>
        <p:spPr>
          <a:xfrm>
            <a:off x="84667" y="179399"/>
            <a:ext cx="4792133" cy="37093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t>Step 2: Write a reducer function</a:t>
            </a:r>
            <a:endParaRPr lang="en-IN" b="1" dirty="0"/>
          </a:p>
        </p:txBody>
      </p:sp>
      <p:sp>
        <p:nvSpPr>
          <p:cNvPr id="7" name="TextBox 6">
            <a:extLst>
              <a:ext uri="{FF2B5EF4-FFF2-40B4-BE49-F238E27FC236}">
                <a16:creationId xmlns:a16="http://schemas.microsoft.com/office/drawing/2014/main" id="{3AB083DB-E8DD-C772-3444-5A9DA150E2F7}"/>
              </a:ext>
            </a:extLst>
          </p:cNvPr>
          <p:cNvSpPr txBox="1"/>
          <p:nvPr/>
        </p:nvSpPr>
        <p:spPr>
          <a:xfrm>
            <a:off x="84667" y="893001"/>
            <a:ext cx="6096000" cy="923330"/>
          </a:xfrm>
          <a:prstGeom prst="rect">
            <a:avLst/>
          </a:prstGeom>
          <a:noFill/>
        </p:spPr>
        <p:txBody>
          <a:bodyPr wrap="square">
            <a:spAutoFit/>
          </a:bodyPr>
          <a:lstStyle/>
          <a:p>
            <a:r>
              <a:rPr lang="en-US" b="0" i="0" dirty="0">
                <a:solidFill>
                  <a:srgbClr val="23272F"/>
                </a:solidFill>
                <a:effectLst/>
                <a:latin typeface="Optimistic Text"/>
              </a:rPr>
              <a:t>A reducer function is where you will put your state logic. It takes two arguments, the current state and the action object, and it returns the next state:</a:t>
            </a:r>
            <a:endParaRPr lang="en-IN" dirty="0"/>
          </a:p>
        </p:txBody>
      </p:sp>
      <p:sp>
        <p:nvSpPr>
          <p:cNvPr id="8" name="Rectangle 1">
            <a:extLst>
              <a:ext uri="{FF2B5EF4-FFF2-40B4-BE49-F238E27FC236}">
                <a16:creationId xmlns:a16="http://schemas.microsoft.com/office/drawing/2014/main" id="{5CDFD894-6697-C595-56AD-C0E2B20B292B}"/>
              </a:ext>
            </a:extLst>
          </p:cNvPr>
          <p:cNvSpPr>
            <a:spLocks noChangeArrowheads="1"/>
          </p:cNvSpPr>
          <p:nvPr/>
        </p:nvSpPr>
        <p:spPr bwMode="auto">
          <a:xfrm>
            <a:off x="84667" y="2216708"/>
            <a:ext cx="6485466" cy="26237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React will set the state to what you return from the reducer.</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To move your state setting logic from your event handlers to a reducer function in this example, you will: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rgbClr val="23272F"/>
                </a:solidFill>
                <a:effectLst/>
                <a:latin typeface="Optimistic Text"/>
              </a:rPr>
              <a:t>Declare the current state (</a:t>
            </a:r>
            <a:r>
              <a:rPr kumimoji="0" lang="en-US" altLang="en-US" sz="1200" b="0" i="0" u="none" strike="noStrike" cap="none" normalizeH="0" baseline="0" dirty="0">
                <a:ln>
                  <a:noFill/>
                </a:ln>
                <a:solidFill>
                  <a:srgbClr val="23272F"/>
                </a:solidFill>
                <a:effectLst/>
                <a:latin typeface="Source Code Pro" panose="020B0509030403020204" pitchFamily="49" charset="0"/>
              </a:rPr>
              <a:t>tasks</a:t>
            </a:r>
            <a:r>
              <a:rPr kumimoji="0" lang="en-US" altLang="en-US" b="0" i="0" u="none" strike="noStrike" cap="none" normalizeH="0" baseline="0" dirty="0">
                <a:ln>
                  <a:noFill/>
                </a:ln>
                <a:solidFill>
                  <a:srgbClr val="23272F"/>
                </a:solidFill>
                <a:effectLst/>
                <a:latin typeface="Optimistic Text"/>
              </a:rPr>
              <a:t>) as the first argument.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rgbClr val="23272F"/>
                </a:solidFill>
                <a:effectLst/>
                <a:latin typeface="Optimistic Text"/>
              </a:rPr>
              <a:t>Declare the </a:t>
            </a:r>
            <a:r>
              <a:rPr kumimoji="0" lang="en-US" altLang="en-US" sz="1200" b="0" i="0" u="none" strike="noStrike" cap="none" normalizeH="0" baseline="0" dirty="0">
                <a:ln>
                  <a:noFill/>
                </a:ln>
                <a:solidFill>
                  <a:srgbClr val="23272F"/>
                </a:solidFill>
                <a:effectLst/>
                <a:latin typeface="Source Code Pro" panose="020B0509030403020204" pitchFamily="49" charset="0"/>
              </a:rPr>
              <a:t>action</a:t>
            </a:r>
            <a:r>
              <a:rPr kumimoji="0" lang="en-US" altLang="en-US" b="0" i="0" u="none" strike="noStrike" cap="none" normalizeH="0" baseline="0" dirty="0">
                <a:ln>
                  <a:noFill/>
                </a:ln>
                <a:solidFill>
                  <a:srgbClr val="23272F"/>
                </a:solidFill>
                <a:effectLst/>
                <a:latin typeface="Optimistic Text"/>
              </a:rPr>
              <a:t> object as the second argument.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0" i="0" u="none" strike="noStrike" cap="none" normalizeH="0" baseline="0" dirty="0">
                <a:ln>
                  <a:noFill/>
                </a:ln>
                <a:solidFill>
                  <a:srgbClr val="23272F"/>
                </a:solidFill>
                <a:effectLst/>
                <a:latin typeface="Optimistic Text"/>
              </a:rPr>
              <a:t>Return the </a:t>
            </a:r>
            <a:r>
              <a:rPr kumimoji="0" lang="en-US" altLang="en-US" b="0" i="1" u="none" strike="noStrike" cap="none" normalizeH="0" baseline="0" dirty="0">
                <a:ln>
                  <a:noFill/>
                </a:ln>
                <a:solidFill>
                  <a:srgbClr val="23272F"/>
                </a:solidFill>
                <a:effectLst/>
                <a:latin typeface="Optimistic Text"/>
              </a:rPr>
              <a:t>next</a:t>
            </a:r>
            <a:r>
              <a:rPr kumimoji="0" lang="en-US" altLang="en-US" b="0" i="0" u="none" strike="noStrike" cap="none" normalizeH="0" baseline="0" dirty="0">
                <a:ln>
                  <a:noFill/>
                </a:ln>
                <a:solidFill>
                  <a:srgbClr val="23272F"/>
                </a:solidFill>
                <a:effectLst/>
                <a:latin typeface="Optimistic Text"/>
              </a:rPr>
              <a:t> state from the reducer (which React will set the state to).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75179C58-96CA-754F-89AF-3FE1EFC31BD1}"/>
              </a:ext>
            </a:extLst>
          </p:cNvPr>
          <p:cNvSpPr txBox="1"/>
          <p:nvPr/>
        </p:nvSpPr>
        <p:spPr>
          <a:xfrm>
            <a:off x="5808133" y="0"/>
            <a:ext cx="6096000" cy="67403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00FF"/>
                </a:solidFill>
                <a:effectLst/>
                <a:latin typeface="Times New Roman" panose="02020603050405020304" pitchFamily="18" charset="0"/>
                <a:cs typeface="Times New Roman" panose="02020603050405020304" pitchFamily="18" charset="0"/>
              </a:rPr>
              <a:t>function</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795E26"/>
                </a:solidFill>
                <a:effectLst/>
                <a:latin typeface="Times New Roman" panose="02020603050405020304" pitchFamily="18" charset="0"/>
                <a:cs typeface="Times New Roman" panose="02020603050405020304" pitchFamily="18" charset="0"/>
              </a:rPr>
              <a:t>tasksReducer</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tasks</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action</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if</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action</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001080"/>
                </a:solidFill>
                <a:effectLst/>
                <a:latin typeface="Times New Roman" panose="02020603050405020304" pitchFamily="18" charset="0"/>
                <a:cs typeface="Times New Roman" panose="02020603050405020304" pitchFamily="18" charset="0"/>
              </a:rPr>
              <a:t>type</a:t>
            </a:r>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31515"/>
                </a:solidFill>
                <a:effectLst/>
                <a:latin typeface="Times New Roman" panose="02020603050405020304" pitchFamily="18" charset="0"/>
                <a:cs typeface="Times New Roman" panose="02020603050405020304" pitchFamily="18" charset="0"/>
              </a:rPr>
              <a:t>'added'</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return</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tasks</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id:</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action</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id</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text:</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action</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001080"/>
                </a:solidFill>
                <a:effectLst/>
                <a:latin typeface="Times New Roman" panose="02020603050405020304" pitchFamily="18" charset="0"/>
                <a:cs typeface="Times New Roman" panose="02020603050405020304" pitchFamily="18" charset="0"/>
              </a:rPr>
              <a:t>text</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done:</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00FF"/>
                </a:solidFill>
                <a:effectLst/>
                <a:latin typeface="Times New Roman" panose="02020603050405020304" pitchFamily="18" charset="0"/>
                <a:cs typeface="Times New Roman" panose="02020603050405020304" pitchFamily="18" charset="0"/>
              </a:rPr>
              <a:t>false</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F00DB"/>
                </a:solidFill>
                <a:effectLst/>
                <a:latin typeface="Times New Roman" panose="02020603050405020304" pitchFamily="18" charset="0"/>
                <a:cs typeface="Times New Roman" panose="02020603050405020304" pitchFamily="18" charset="0"/>
              </a:rPr>
              <a:t>else</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if</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action</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001080"/>
                </a:solidFill>
                <a:effectLst/>
                <a:latin typeface="Times New Roman" panose="02020603050405020304" pitchFamily="18" charset="0"/>
                <a:cs typeface="Times New Roman" panose="02020603050405020304" pitchFamily="18" charset="0"/>
              </a:rPr>
              <a:t>type</a:t>
            </a:r>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31515"/>
                </a:solidFill>
                <a:effectLst/>
                <a:latin typeface="Times New Roman" panose="02020603050405020304" pitchFamily="18" charset="0"/>
                <a:cs typeface="Times New Roman" panose="02020603050405020304" pitchFamily="18" charset="0"/>
              </a:rPr>
              <a:t>'changed'</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return</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tasks</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795E26"/>
                </a:solidFill>
                <a:effectLst/>
                <a:latin typeface="Times New Roman" panose="02020603050405020304" pitchFamily="18" charset="0"/>
                <a:cs typeface="Times New Roman" panose="02020603050405020304" pitchFamily="18" charset="0"/>
              </a:rPr>
              <a:t>map</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t</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00FF"/>
                </a:solidFill>
                <a:effectLst/>
                <a:latin typeface="Times New Roman" panose="02020603050405020304" pitchFamily="18" charset="0"/>
                <a:cs typeface="Times New Roman" panose="02020603050405020304" pitchFamily="18" charset="0"/>
              </a:rPr>
              <a:t>=&gt;</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if</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t</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id</a:t>
            </a:r>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001080"/>
                </a:solidFill>
                <a:effectLst/>
                <a:latin typeface="Times New Roman" panose="02020603050405020304" pitchFamily="18" charset="0"/>
                <a:cs typeface="Times New Roman" panose="02020603050405020304" pitchFamily="18" charset="0"/>
              </a:rPr>
              <a:t>action</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task</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id</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return</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action</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001080"/>
                </a:solidFill>
                <a:effectLst/>
                <a:latin typeface="Times New Roman" panose="02020603050405020304" pitchFamily="18" charset="0"/>
                <a:cs typeface="Times New Roman" panose="02020603050405020304" pitchFamily="18" charset="0"/>
              </a:rPr>
              <a:t>task</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F00DB"/>
                </a:solidFill>
                <a:effectLst/>
                <a:latin typeface="Times New Roman" panose="02020603050405020304" pitchFamily="18" charset="0"/>
                <a:cs typeface="Times New Roman" panose="02020603050405020304" pitchFamily="18" charset="0"/>
              </a:rPr>
              <a:t>else</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return</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t</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F00DB"/>
                </a:solidFill>
                <a:effectLst/>
                <a:latin typeface="Times New Roman" panose="02020603050405020304" pitchFamily="18" charset="0"/>
                <a:cs typeface="Times New Roman" panose="02020603050405020304" pitchFamily="18" charset="0"/>
              </a:rPr>
              <a:t>else</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if</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action</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001080"/>
                </a:solidFill>
                <a:effectLst/>
                <a:latin typeface="Times New Roman" panose="02020603050405020304" pitchFamily="18" charset="0"/>
                <a:cs typeface="Times New Roman" panose="02020603050405020304" pitchFamily="18" charset="0"/>
              </a:rPr>
              <a:t>type</a:t>
            </a:r>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31515"/>
                </a:solidFill>
                <a:effectLst/>
                <a:latin typeface="Times New Roman" panose="02020603050405020304" pitchFamily="18" charset="0"/>
                <a:cs typeface="Times New Roman" panose="02020603050405020304" pitchFamily="18" charset="0"/>
              </a:rPr>
              <a:t>'deleted'</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return</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err="1">
                <a:solidFill>
                  <a:srgbClr val="001080"/>
                </a:solidFill>
                <a:effectLst/>
                <a:latin typeface="Times New Roman" panose="02020603050405020304" pitchFamily="18" charset="0"/>
                <a:cs typeface="Times New Roman" panose="02020603050405020304" pitchFamily="18" charset="0"/>
              </a:rPr>
              <a:t>tasks</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795E26"/>
                </a:solidFill>
                <a:effectLst/>
                <a:latin typeface="Times New Roman" panose="02020603050405020304" pitchFamily="18" charset="0"/>
                <a:cs typeface="Times New Roman" panose="02020603050405020304" pitchFamily="18" charset="0"/>
              </a:rPr>
              <a:t>filter</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t</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00FF"/>
                </a:solidFill>
                <a:effectLst/>
                <a:latin typeface="Times New Roman" panose="02020603050405020304" pitchFamily="18" charset="0"/>
                <a:cs typeface="Times New Roman" panose="02020603050405020304" pitchFamily="18" charset="0"/>
              </a:rPr>
              <a:t>=&gt;</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001080"/>
                </a:solidFill>
                <a:effectLst/>
                <a:latin typeface="Times New Roman" panose="02020603050405020304" pitchFamily="18" charset="0"/>
                <a:cs typeface="Times New Roman" panose="02020603050405020304" pitchFamily="18" charset="0"/>
              </a:rPr>
              <a:t>t</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id</a:t>
            </a:r>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001080"/>
                </a:solidFill>
                <a:effectLst/>
                <a:latin typeface="Times New Roman" panose="02020603050405020304" pitchFamily="18" charset="0"/>
                <a:cs typeface="Times New Roman" panose="02020603050405020304" pitchFamily="18" charset="0"/>
              </a:rPr>
              <a:t>action</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001080"/>
                </a:solidFill>
                <a:effectLst/>
                <a:latin typeface="Times New Roman" panose="02020603050405020304" pitchFamily="18" charset="0"/>
                <a:cs typeface="Times New Roman" panose="02020603050405020304" pitchFamily="18" charset="0"/>
              </a:rPr>
              <a:t>id</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a:solidFill>
                  <a:srgbClr val="AF00DB"/>
                </a:solidFill>
                <a:effectLst/>
                <a:latin typeface="Times New Roman" panose="02020603050405020304" pitchFamily="18" charset="0"/>
                <a:cs typeface="Times New Roman" panose="02020603050405020304" pitchFamily="18" charset="0"/>
              </a:rPr>
              <a:t>else</a:t>
            </a:r>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AF00DB"/>
                </a:solidFill>
                <a:effectLst/>
                <a:latin typeface="Times New Roman" panose="02020603050405020304" pitchFamily="18" charset="0"/>
                <a:cs typeface="Times New Roman" panose="02020603050405020304" pitchFamily="18" charset="0"/>
              </a:rPr>
              <a:t>throw</a:t>
            </a:r>
            <a:r>
              <a:rPr lang="en-IN" b="0" dirty="0">
                <a:solidFill>
                  <a:srgbClr val="000000"/>
                </a:solidFill>
                <a:effectLst/>
                <a:latin typeface="Times New Roman" panose="02020603050405020304" pitchFamily="18" charset="0"/>
                <a:cs typeface="Times New Roman" panose="02020603050405020304" pitchFamily="18" charset="0"/>
              </a:rPr>
              <a:t> </a:t>
            </a:r>
            <a:r>
              <a:rPr lang="en-IN" b="0" dirty="0">
                <a:solidFill>
                  <a:srgbClr val="267F99"/>
                </a:solidFill>
                <a:effectLst/>
                <a:latin typeface="Times New Roman" panose="02020603050405020304" pitchFamily="18" charset="0"/>
                <a:cs typeface="Times New Roman" panose="02020603050405020304" pitchFamily="18" charset="0"/>
              </a:rPr>
              <a:t>Error</a:t>
            </a:r>
            <a:r>
              <a:rPr lang="en-IN" b="0" dirty="0">
                <a:solidFill>
                  <a:srgbClr val="000000"/>
                </a:solidFill>
                <a:effectLst/>
                <a:latin typeface="Times New Roman" panose="02020603050405020304" pitchFamily="18" charset="0"/>
                <a:cs typeface="Times New Roman" panose="02020603050405020304" pitchFamily="18" charset="0"/>
              </a:rPr>
              <a:t>(</a:t>
            </a:r>
            <a:r>
              <a:rPr lang="en-IN" b="0" dirty="0">
                <a:solidFill>
                  <a:srgbClr val="A31515"/>
                </a:solidFill>
                <a:effectLst/>
                <a:latin typeface="Times New Roman" panose="02020603050405020304" pitchFamily="18" charset="0"/>
                <a:cs typeface="Times New Roman" panose="02020603050405020304" pitchFamily="18" charset="0"/>
              </a:rPr>
              <a:t>'Unknown action: '</a:t>
            </a:r>
            <a:r>
              <a:rPr lang="en-IN" b="0" dirty="0">
                <a:solidFill>
                  <a:srgbClr val="000000"/>
                </a:solidFill>
                <a:effectLst/>
                <a:latin typeface="Times New Roman" panose="02020603050405020304" pitchFamily="18" charset="0"/>
                <a:cs typeface="Times New Roman" panose="02020603050405020304" pitchFamily="18" charset="0"/>
              </a:rPr>
              <a:t> + </a:t>
            </a:r>
            <a:r>
              <a:rPr lang="en-IN" b="0" dirty="0" err="1">
                <a:solidFill>
                  <a:srgbClr val="001080"/>
                </a:solidFill>
                <a:effectLst/>
                <a:latin typeface="Times New Roman" panose="02020603050405020304" pitchFamily="18" charset="0"/>
                <a:cs typeface="Times New Roman" panose="02020603050405020304" pitchFamily="18" charset="0"/>
              </a:rPr>
              <a:t>action</a:t>
            </a:r>
            <a:r>
              <a:rPr lang="en-IN" b="0" dirty="0" err="1">
                <a:solidFill>
                  <a:srgbClr val="000000"/>
                </a:solidFill>
                <a:effectLst/>
                <a:latin typeface="Times New Roman" panose="02020603050405020304" pitchFamily="18" charset="0"/>
                <a:cs typeface="Times New Roman" panose="02020603050405020304" pitchFamily="18" charset="0"/>
              </a:rPr>
              <a:t>.</a:t>
            </a:r>
            <a:r>
              <a:rPr lang="en-IN" b="0" dirty="0" err="1">
                <a:solidFill>
                  <a:srgbClr val="001080"/>
                </a:solidFill>
                <a:effectLst/>
                <a:latin typeface="Times New Roman" panose="02020603050405020304" pitchFamily="18" charset="0"/>
                <a:cs typeface="Times New Roman" panose="02020603050405020304" pitchFamily="18" charset="0"/>
              </a:rPr>
              <a:t>type</a:t>
            </a:r>
            <a:r>
              <a:rPr lang="en-IN" b="0" dirty="0">
                <a:solidFill>
                  <a:srgbClr val="000000"/>
                </a:solidFill>
                <a:effectLst/>
                <a:latin typeface="Times New Roman" panose="02020603050405020304" pitchFamily="18" charset="0"/>
                <a:cs typeface="Times New Roman" panose="02020603050405020304" pitchFamily="18" charset="0"/>
              </a:rPr>
              <a:t>);</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  }</a:t>
            </a:r>
            <a:endParaRPr lang="en-IN" b="0" dirty="0">
              <a:solidFill>
                <a:srgbClr val="3B3B3B"/>
              </a:solidFill>
              <a:effectLst/>
              <a:latin typeface="Times New Roman" panose="02020603050405020304" pitchFamily="18" charset="0"/>
              <a:cs typeface="Times New Roman" panose="02020603050405020304" pitchFamily="18" charset="0"/>
            </a:endParaRPr>
          </a:p>
          <a:p>
            <a:r>
              <a:rPr lang="en-IN" b="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D2BC540B-52BC-DC62-8701-4A53FEE2489C}"/>
              </a:ext>
            </a:extLst>
          </p:cNvPr>
          <p:cNvSpPr>
            <a:spLocks noChangeArrowheads="1"/>
          </p:cNvSpPr>
          <p:nvPr/>
        </p:nvSpPr>
        <p:spPr bwMode="auto">
          <a:xfrm>
            <a:off x="84667" y="4925698"/>
            <a:ext cx="4724400" cy="954107"/>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23272F"/>
                </a:solidFill>
                <a:effectLst/>
                <a:latin typeface="Optimistic Text"/>
              </a:rPr>
              <a:t>Because the reducer function takes state (</a:t>
            </a:r>
            <a:r>
              <a:rPr kumimoji="0" lang="en-US" altLang="en-US" sz="1050" b="0" i="0" u="none" strike="noStrike" cap="none" normalizeH="0" baseline="0">
                <a:ln>
                  <a:noFill/>
                </a:ln>
                <a:solidFill>
                  <a:schemeClr val="tx1"/>
                </a:solidFill>
                <a:effectLst/>
                <a:latin typeface="Source Code Pro" panose="020B0509030403020204" pitchFamily="49" charset="0"/>
              </a:rPr>
              <a:t>tasks</a:t>
            </a:r>
            <a:r>
              <a:rPr kumimoji="0" lang="en-US" altLang="en-US" sz="1400" b="0" i="0" u="none" strike="noStrike" cap="none" normalizeH="0" baseline="0">
                <a:ln>
                  <a:noFill/>
                </a:ln>
                <a:solidFill>
                  <a:srgbClr val="23272F"/>
                </a:solidFill>
                <a:effectLst/>
                <a:latin typeface="Optimistic Text"/>
              </a:rPr>
              <a:t>) as an argument, you can </a:t>
            </a:r>
            <a:r>
              <a:rPr kumimoji="0" lang="en-US" altLang="en-US" sz="1400" b="1" i="0" u="none" strike="noStrike" cap="none" normalizeH="0" baseline="0">
                <a:ln>
                  <a:noFill/>
                </a:ln>
                <a:solidFill>
                  <a:srgbClr val="23272F"/>
                </a:solidFill>
                <a:effectLst/>
                <a:latin typeface="Optimistic Text"/>
              </a:rPr>
              <a:t>declare it outside of your component.</a:t>
            </a:r>
            <a:r>
              <a:rPr kumimoji="0" lang="en-US" altLang="en-US" sz="1400" b="0" i="0" u="none" strike="noStrike" cap="none" normalizeH="0" baseline="0">
                <a:ln>
                  <a:noFill/>
                </a:ln>
                <a:solidFill>
                  <a:srgbClr val="23272F"/>
                </a:solidFill>
                <a:effectLst/>
                <a:latin typeface="Optimistic Text"/>
              </a:rPr>
              <a:t> This decreases the indentation level and can make your code easier to read.</a:t>
            </a:r>
            <a:r>
              <a:rPr kumimoji="0" lang="en-US" altLang="en-US" sz="900" b="0" i="0" u="none" strike="noStrike" cap="none" normalizeH="0" baseline="0">
                <a:ln>
                  <a:noFill/>
                </a:ln>
                <a:solidFill>
                  <a:schemeClr val="tx1"/>
                </a:solidFill>
                <a:effectLst/>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4963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8DF571B-E49D-BF60-A343-47A5B4912B66}"/>
              </a:ext>
            </a:extLst>
          </p:cNvPr>
          <p:cNvSpPr txBox="1"/>
          <p:nvPr/>
        </p:nvSpPr>
        <p:spPr>
          <a:xfrm>
            <a:off x="186266" y="88669"/>
            <a:ext cx="5909734"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r>
              <a:rPr lang="en-US" b="1" i="0" dirty="0">
                <a:solidFill>
                  <a:srgbClr val="23272F"/>
                </a:solidFill>
                <a:effectLst/>
                <a:latin typeface="Optimistic Display"/>
              </a:rPr>
              <a:t>Step 3: Use the reducer from your component </a:t>
            </a:r>
          </a:p>
        </p:txBody>
      </p:sp>
      <p:sp>
        <p:nvSpPr>
          <p:cNvPr id="6" name="Rectangle 1">
            <a:extLst>
              <a:ext uri="{FF2B5EF4-FFF2-40B4-BE49-F238E27FC236}">
                <a16:creationId xmlns:a16="http://schemas.microsoft.com/office/drawing/2014/main" id="{E5C17D74-BB1D-100C-6088-ECF26DAEAFB7}"/>
              </a:ext>
            </a:extLst>
          </p:cNvPr>
          <p:cNvSpPr>
            <a:spLocks noChangeArrowheads="1"/>
          </p:cNvSpPr>
          <p:nvPr/>
        </p:nvSpPr>
        <p:spPr bwMode="auto">
          <a:xfrm>
            <a:off x="186266" y="796515"/>
            <a:ext cx="7704668" cy="1123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Times New Roman" panose="02020603050405020304" pitchFamily="18" charset="0"/>
                <a:cs typeface="Times New Roman" panose="02020603050405020304" pitchFamily="18" charset="0"/>
              </a:rPr>
              <a:t>Finally, you need to hook up the </a:t>
            </a:r>
            <a:r>
              <a:rPr kumimoji="0" lang="en-US" altLang="en-US" sz="1200" b="0" i="0" u="none" strike="noStrike" cap="none" normalizeH="0" baseline="0" dirty="0" err="1">
                <a:ln>
                  <a:noFill/>
                </a:ln>
                <a:solidFill>
                  <a:srgbClr val="23272F"/>
                </a:solidFill>
                <a:effectLst/>
                <a:latin typeface="Times New Roman" panose="02020603050405020304" pitchFamily="18" charset="0"/>
                <a:cs typeface="Times New Roman" panose="02020603050405020304" pitchFamily="18" charset="0"/>
              </a:rPr>
              <a:t>tasksReducer</a:t>
            </a:r>
            <a:r>
              <a:rPr kumimoji="0" lang="en-US" altLang="en-US" b="0" i="0" u="none" strike="noStrike" cap="none" normalizeH="0" baseline="0" dirty="0">
                <a:ln>
                  <a:noFill/>
                </a:ln>
                <a:solidFill>
                  <a:srgbClr val="23272F"/>
                </a:solidFill>
                <a:effectLst/>
                <a:latin typeface="Times New Roman" panose="02020603050405020304" pitchFamily="18" charset="0"/>
                <a:cs typeface="Times New Roman" panose="02020603050405020304" pitchFamily="18" charset="0"/>
              </a:rPr>
              <a:t> to your component. Import the </a:t>
            </a:r>
            <a:r>
              <a:rPr kumimoji="0" lang="en-US" altLang="en-US" sz="1200" b="0" i="0" u="none" strike="noStrike" cap="none" normalizeH="0" baseline="0" dirty="0" err="1">
                <a:ln>
                  <a:noFill/>
                </a:ln>
                <a:solidFill>
                  <a:srgbClr val="23272F"/>
                </a:solidFill>
                <a:effectLst/>
                <a:latin typeface="Times New Roman" panose="02020603050405020304" pitchFamily="18" charset="0"/>
                <a:cs typeface="Times New Roman" panose="02020603050405020304" pitchFamily="18" charset="0"/>
              </a:rPr>
              <a:t>useReducer</a:t>
            </a:r>
            <a:r>
              <a:rPr kumimoji="0" lang="en-US" altLang="en-US" b="0" i="0" u="none" strike="noStrike" cap="none" normalizeH="0" baseline="0" dirty="0">
                <a:ln>
                  <a:noFill/>
                </a:ln>
                <a:solidFill>
                  <a:srgbClr val="23272F"/>
                </a:solidFill>
                <a:effectLst/>
                <a:latin typeface="Times New Roman" panose="02020603050405020304" pitchFamily="18" charset="0"/>
                <a:cs typeface="Times New Roman" panose="02020603050405020304" pitchFamily="18" charset="0"/>
              </a:rPr>
              <a:t> Hook from React: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50" dirty="0">
              <a:solidFill>
                <a:srgbClr val="23272F"/>
              </a:solidFill>
              <a:latin typeface="Times New Roman" panose="02020603050405020304" pitchFamily="18" charset="0"/>
              <a:cs typeface="Times New Roman" panose="02020603050405020304" pitchFamily="18" charset="0"/>
            </a:endParaRPr>
          </a:p>
          <a:p>
            <a:r>
              <a:rPr lang="en-IN" sz="1600" b="0" dirty="0">
                <a:solidFill>
                  <a:srgbClr val="AF00DB"/>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1080"/>
                </a:solidFill>
                <a:effectLst/>
                <a:latin typeface="Consolas" panose="020B0609020204030204" pitchFamily="49" charset="0"/>
              </a:rPr>
              <a:t>useReducer</a:t>
            </a:r>
            <a:r>
              <a:rPr lang="en-IN" sz="1600" b="0" dirty="0">
                <a:solidFill>
                  <a:srgbClr val="000000"/>
                </a:solidFill>
                <a:effectLst/>
                <a:latin typeface="Consolas" panose="020B0609020204030204" pitchFamily="49" charset="0"/>
              </a:rPr>
              <a:t> } </a:t>
            </a:r>
            <a:r>
              <a:rPr lang="en-IN" sz="1600" b="0" dirty="0">
                <a:solidFill>
                  <a:srgbClr val="AF00DB"/>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endParaRPr lang="en-IN" sz="1600" b="0" dirty="0">
              <a:solidFill>
                <a:srgbClr val="3B3B3B"/>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133BC9A-F250-586E-365F-02A2E22C01A5}"/>
              </a:ext>
            </a:extLst>
          </p:cNvPr>
          <p:cNvSpPr txBox="1"/>
          <p:nvPr/>
        </p:nvSpPr>
        <p:spPr>
          <a:xfrm>
            <a:off x="0" y="1919899"/>
            <a:ext cx="10854267" cy="4883388"/>
          </a:xfrm>
          <a:prstGeom prst="rect">
            <a:avLst/>
          </a:prstGeom>
          <a:noFill/>
        </p:spPr>
        <p:txBody>
          <a:bodyPr wrap="square">
            <a:spAutoFit/>
          </a:bodyPr>
          <a:lstStyle/>
          <a:p>
            <a:r>
              <a:rPr lang="en-US" dirty="0"/>
              <a:t>Then you can replace </a:t>
            </a:r>
            <a:r>
              <a:rPr lang="en-US" dirty="0" err="1"/>
              <a:t>useState</a:t>
            </a:r>
            <a:r>
              <a:rPr lang="en-US" dirty="0"/>
              <a:t>:</a:t>
            </a:r>
          </a:p>
          <a:p>
            <a:endParaRPr lang="en-US" dirty="0"/>
          </a:p>
          <a:p>
            <a:pPr>
              <a:lnSpc>
                <a:spcPts val="1425"/>
              </a:lnSpc>
            </a:pP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tasks</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setTasks</a:t>
            </a:r>
            <a:r>
              <a:rPr lang="en-US" b="0" dirty="0">
                <a:solidFill>
                  <a:srgbClr val="000000"/>
                </a:solidFill>
                <a:effectLst/>
                <a:latin typeface="Consolas" panose="020B0609020204030204" pitchFamily="49" charset="0"/>
              </a:rPr>
              <a:t>] = </a:t>
            </a:r>
            <a:r>
              <a:rPr lang="en-US" b="0" dirty="0" err="1">
                <a:solidFill>
                  <a:srgbClr val="795E26"/>
                </a:solidFill>
                <a:effectLst/>
                <a:latin typeface="Consolas" panose="020B0609020204030204" pitchFamily="49" charset="0"/>
              </a:rPr>
              <a:t>useState</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initialTasks</a:t>
            </a:r>
            <a:r>
              <a:rPr lang="en-US" b="0" dirty="0">
                <a:solidFill>
                  <a:srgbClr val="000000"/>
                </a:solidFill>
                <a:effectLst/>
                <a:latin typeface="Consolas" panose="020B0609020204030204" pitchFamily="49" charset="0"/>
              </a:rPr>
              <a:t>);</a:t>
            </a:r>
            <a:endParaRPr lang="en-US" b="0" dirty="0">
              <a:solidFill>
                <a:srgbClr val="3B3B3B"/>
              </a:solidFill>
              <a:effectLst/>
              <a:latin typeface="Consolas" panose="020B0609020204030204" pitchFamily="49" charset="0"/>
            </a:endParaRPr>
          </a:p>
          <a:p>
            <a:r>
              <a:rPr lang="en-US" dirty="0"/>
              <a:t>with </a:t>
            </a:r>
            <a:r>
              <a:rPr lang="en-US" dirty="0" err="1"/>
              <a:t>useReducer</a:t>
            </a:r>
            <a:r>
              <a:rPr lang="en-US" dirty="0"/>
              <a:t> like so:</a:t>
            </a:r>
          </a:p>
          <a:p>
            <a:endParaRPr lang="en-US" dirty="0"/>
          </a:p>
          <a:p>
            <a:pPr>
              <a:lnSpc>
                <a:spcPts val="1425"/>
              </a:lnSpc>
            </a:pP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tasks</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dispatch</a:t>
            </a:r>
            <a:r>
              <a:rPr lang="en-US" b="0" dirty="0">
                <a:solidFill>
                  <a:srgbClr val="000000"/>
                </a:solidFill>
                <a:effectLst/>
                <a:latin typeface="Consolas" panose="020B0609020204030204" pitchFamily="49" charset="0"/>
              </a:rPr>
              <a:t>] = </a:t>
            </a:r>
            <a:r>
              <a:rPr lang="en-US" b="0" dirty="0" err="1">
                <a:solidFill>
                  <a:srgbClr val="795E26"/>
                </a:solidFill>
                <a:effectLst/>
                <a:latin typeface="Consolas" panose="020B0609020204030204" pitchFamily="49" charset="0"/>
              </a:rPr>
              <a:t>useReducer</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tasksReducer</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initialTasks</a:t>
            </a:r>
            <a:r>
              <a:rPr lang="en-US" b="0" dirty="0">
                <a:solidFill>
                  <a:srgbClr val="000000"/>
                </a:solidFill>
                <a:effectLst/>
                <a:latin typeface="Consolas" panose="020B0609020204030204" pitchFamily="49" charset="0"/>
              </a:rPr>
              <a:t>);</a:t>
            </a:r>
            <a:endParaRPr lang="en-US" b="0" dirty="0">
              <a:solidFill>
                <a:srgbClr val="3B3B3B"/>
              </a:solidFill>
              <a:effectLst/>
              <a:latin typeface="Consolas" panose="020B0609020204030204" pitchFamily="49" charset="0"/>
            </a:endParaRPr>
          </a:p>
          <a:p>
            <a:endParaRPr lang="en-US" dirty="0"/>
          </a:p>
          <a:p>
            <a:r>
              <a:rPr lang="en-US" dirty="0"/>
              <a:t>The </a:t>
            </a:r>
            <a:r>
              <a:rPr lang="en-US" dirty="0" err="1"/>
              <a:t>useReducer</a:t>
            </a:r>
            <a:r>
              <a:rPr lang="en-US" dirty="0"/>
              <a:t> Hook is similar to </a:t>
            </a:r>
            <a:r>
              <a:rPr lang="en-US" dirty="0" err="1"/>
              <a:t>useState</a:t>
            </a:r>
            <a:r>
              <a:rPr lang="en-US" dirty="0"/>
              <a:t>—you must pass it an initial state and it returns a stateful value and a way to set state (in this case, the dispatch function). But it’s a little different.</a:t>
            </a:r>
          </a:p>
          <a:p>
            <a:endParaRPr lang="en-US" dirty="0"/>
          </a:p>
          <a:p>
            <a:r>
              <a:rPr lang="en-US" dirty="0"/>
              <a:t>The </a:t>
            </a:r>
            <a:r>
              <a:rPr lang="en-US" dirty="0" err="1"/>
              <a:t>useReducer</a:t>
            </a:r>
            <a:r>
              <a:rPr lang="en-US" dirty="0"/>
              <a:t> Hook takes two arguments:</a:t>
            </a:r>
          </a:p>
          <a:p>
            <a:endParaRPr lang="en-US" dirty="0"/>
          </a:p>
          <a:p>
            <a:r>
              <a:rPr lang="en-US" dirty="0"/>
              <a:t>A reducer function</a:t>
            </a:r>
          </a:p>
          <a:p>
            <a:r>
              <a:rPr lang="en-US" dirty="0"/>
              <a:t>An initial state</a:t>
            </a:r>
          </a:p>
          <a:p>
            <a:r>
              <a:rPr lang="en-US" dirty="0"/>
              <a:t>And it returns:</a:t>
            </a:r>
          </a:p>
          <a:p>
            <a:endParaRPr lang="en-US" dirty="0"/>
          </a:p>
          <a:p>
            <a:r>
              <a:rPr lang="en-US" dirty="0"/>
              <a:t>A stateful value</a:t>
            </a:r>
          </a:p>
          <a:p>
            <a:r>
              <a:rPr lang="en-US" dirty="0"/>
              <a:t>A dispatch function (to “dispatch” user actions to the reducer)</a:t>
            </a:r>
            <a:endParaRPr lang="en-IN" dirty="0"/>
          </a:p>
        </p:txBody>
      </p:sp>
    </p:spTree>
    <p:extLst>
      <p:ext uri="{BB962C8B-B14F-4D97-AF65-F5344CB8AC3E}">
        <p14:creationId xmlns:p14="http://schemas.microsoft.com/office/powerpoint/2010/main" val="142065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DBF1C6A-4C32-4D4A-8405-46D9A5C242F4}"/>
              </a:ext>
            </a:extLst>
          </p:cNvPr>
          <p:cNvSpPr txBox="1"/>
          <p:nvPr/>
        </p:nvSpPr>
        <p:spPr>
          <a:xfrm>
            <a:off x="0" y="0"/>
            <a:ext cx="6096000" cy="7109639"/>
          </a:xfrm>
          <a:prstGeom prst="rect">
            <a:avLst/>
          </a:prstGeom>
          <a:solidFill>
            <a:schemeClr val="tx1"/>
          </a:solidFill>
        </p:spPr>
        <p:txBody>
          <a:bodyPr wrap="square">
            <a:spAutoFit/>
          </a:bodyPr>
          <a:lstStyle/>
          <a:p>
            <a:r>
              <a:rPr lang="en-IN" sz="1200" b="0" dirty="0">
                <a:solidFill>
                  <a:srgbClr val="A390FF"/>
                </a:solidFill>
                <a:effectLst/>
                <a:latin typeface="Consolas" panose="020B0609020204030204" pitchFamily="49" charset="0"/>
              </a:rPr>
              <a:t>import</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err="1">
                <a:solidFill>
                  <a:srgbClr val="EBEBEB"/>
                </a:solidFill>
                <a:effectLst/>
                <a:latin typeface="Consolas" panose="020B0609020204030204" pitchFamily="49" charset="0"/>
              </a:rPr>
              <a:t>useReducer</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from</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FD084"/>
                </a:solidFill>
                <a:effectLst/>
                <a:latin typeface="Consolas" panose="020B0609020204030204" pitchFamily="49" charset="0"/>
              </a:rPr>
              <a:t>react</a:t>
            </a:r>
            <a:r>
              <a:rPr lang="en-IN" sz="1200" b="0" dirty="0">
                <a:solidFill>
                  <a:srgbClr val="B3E8B4"/>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r>
              <a:rPr lang="en-IN" sz="1200" b="0" dirty="0">
                <a:solidFill>
                  <a:srgbClr val="A390FF"/>
                </a:solidFill>
                <a:effectLst/>
                <a:latin typeface="Consolas" panose="020B0609020204030204" pitchFamily="49" charset="0"/>
              </a:rPr>
              <a:t>import</a:t>
            </a:r>
            <a:r>
              <a:rPr lang="en-IN" sz="1200" b="0" dirty="0">
                <a:solidFill>
                  <a:srgbClr val="BBBBBB"/>
                </a:solidFill>
                <a:effectLst/>
                <a:latin typeface="Consolas" panose="020B0609020204030204" pitchFamily="49" charset="0"/>
              </a:rPr>
              <a:t> </a:t>
            </a:r>
            <a:r>
              <a:rPr lang="en-IN" sz="1200" b="0" dirty="0" err="1">
                <a:solidFill>
                  <a:srgbClr val="EBEBEB"/>
                </a:solidFill>
                <a:effectLst/>
                <a:latin typeface="Consolas" panose="020B0609020204030204" pitchFamily="49" charset="0"/>
              </a:rPr>
              <a:t>AddTask</a:t>
            </a: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from</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FD084"/>
                </a:solidFill>
                <a:effectLst/>
                <a:latin typeface="Consolas" panose="020B0609020204030204" pitchFamily="49" charset="0"/>
              </a:rPr>
              <a:t>./AddTask.js</a:t>
            </a:r>
            <a:r>
              <a:rPr lang="en-IN" sz="1200" b="0" dirty="0">
                <a:solidFill>
                  <a:srgbClr val="B3E8B4"/>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r>
              <a:rPr lang="en-IN" sz="1200" b="0" dirty="0">
                <a:solidFill>
                  <a:srgbClr val="A390FF"/>
                </a:solidFill>
                <a:effectLst/>
                <a:latin typeface="Consolas" panose="020B0609020204030204" pitchFamily="49" charset="0"/>
              </a:rPr>
              <a:t>import</a:t>
            </a:r>
            <a:r>
              <a:rPr lang="en-IN" sz="1200" b="0" dirty="0">
                <a:solidFill>
                  <a:srgbClr val="BBBBBB"/>
                </a:solidFill>
                <a:effectLst/>
                <a:latin typeface="Consolas" panose="020B0609020204030204" pitchFamily="49" charset="0"/>
              </a:rPr>
              <a:t> </a:t>
            </a:r>
            <a:r>
              <a:rPr lang="en-IN" sz="1200" b="0" dirty="0" err="1">
                <a:solidFill>
                  <a:srgbClr val="EBEBEB"/>
                </a:solidFill>
                <a:effectLst/>
                <a:latin typeface="Consolas" panose="020B0609020204030204" pitchFamily="49" charset="0"/>
              </a:rPr>
              <a:t>TaskList</a:t>
            </a: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from</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FD084"/>
                </a:solidFill>
                <a:effectLst/>
                <a:latin typeface="Consolas" panose="020B0609020204030204" pitchFamily="49" charset="0"/>
              </a:rPr>
              <a:t>./TaskList.js</a:t>
            </a:r>
            <a:r>
              <a:rPr lang="en-IN" sz="1200" b="0" dirty="0">
                <a:solidFill>
                  <a:srgbClr val="B3E8B4"/>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br>
              <a:rPr lang="en-IN" sz="1200" b="0" dirty="0">
                <a:solidFill>
                  <a:srgbClr val="BBBBBB"/>
                </a:solidFill>
                <a:effectLst/>
                <a:latin typeface="Consolas" panose="020B0609020204030204" pitchFamily="49" charset="0"/>
              </a:rPr>
            </a:br>
            <a:r>
              <a:rPr lang="en-IN" sz="1200" b="0" dirty="0">
                <a:solidFill>
                  <a:srgbClr val="A390FF"/>
                </a:solidFill>
                <a:effectLst/>
                <a:latin typeface="Consolas" panose="020B0609020204030204" pitchFamily="49" charset="0"/>
              </a:rPr>
              <a:t>export</a:t>
            </a: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default</a:t>
            </a: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function</a:t>
            </a:r>
            <a:r>
              <a:rPr lang="en-IN" sz="1200" b="0" dirty="0">
                <a:solidFill>
                  <a:srgbClr val="BBBBBB"/>
                </a:solidFill>
                <a:effectLst/>
                <a:latin typeface="Consolas" panose="020B0609020204030204" pitchFamily="49" charset="0"/>
              </a:rPr>
              <a:t> </a:t>
            </a:r>
            <a:r>
              <a:rPr lang="en-IN" sz="1200" b="0" dirty="0" err="1">
                <a:solidFill>
                  <a:srgbClr val="CDF861"/>
                </a:solidFill>
                <a:effectLst/>
                <a:latin typeface="Consolas" panose="020B0609020204030204" pitchFamily="49" charset="0"/>
              </a:rPr>
              <a:t>TaskApp</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err="1">
                <a:solidFill>
                  <a:srgbClr val="A390FF"/>
                </a:solidFill>
                <a:effectLst/>
                <a:latin typeface="Consolas" panose="020B0609020204030204" pitchFamily="49" charset="0"/>
              </a:rPr>
              <a:t>const</a:t>
            </a:r>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tasks</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dispatch</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err="1">
                <a:solidFill>
                  <a:srgbClr val="CDF861"/>
                </a:solidFill>
                <a:effectLst/>
                <a:latin typeface="Consolas" panose="020B0609020204030204" pitchFamily="49" charset="0"/>
              </a:rPr>
              <a:t>useReducer</a:t>
            </a:r>
            <a:r>
              <a:rPr lang="en-IN" sz="1200" b="0" dirty="0">
                <a:solidFill>
                  <a:srgbClr val="86897A"/>
                </a:solidFill>
                <a:effectLst/>
                <a:latin typeface="Consolas" panose="020B0609020204030204" pitchFamily="49" charset="0"/>
              </a:rPr>
              <a:t>(</a:t>
            </a:r>
            <a:r>
              <a:rPr lang="en-IN" sz="1200" b="0" dirty="0" err="1">
                <a:solidFill>
                  <a:srgbClr val="CDF861"/>
                </a:solidFill>
                <a:effectLst/>
                <a:latin typeface="Consolas" panose="020B0609020204030204" pitchFamily="49" charset="0"/>
              </a:rPr>
              <a:t>tasksReducer</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err="1">
                <a:solidFill>
                  <a:srgbClr val="EBEBEB"/>
                </a:solidFill>
                <a:effectLst/>
                <a:latin typeface="Consolas" panose="020B0609020204030204" pitchFamily="49" charset="0"/>
              </a:rPr>
              <a:t>initialTasks</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br>
              <a:rPr lang="en-IN" sz="1200" b="0" dirty="0">
                <a:solidFill>
                  <a:srgbClr val="BBBBBB"/>
                </a:solidFill>
                <a:effectLst/>
                <a:latin typeface="Consolas" panose="020B0609020204030204" pitchFamily="49" charset="0"/>
              </a:rPr>
            </a:b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function</a:t>
            </a:r>
            <a:r>
              <a:rPr lang="en-IN" sz="1200" b="0" dirty="0">
                <a:solidFill>
                  <a:srgbClr val="BBBBBB"/>
                </a:solidFill>
                <a:effectLst/>
                <a:latin typeface="Consolas" panose="020B0609020204030204" pitchFamily="49" charset="0"/>
              </a:rPr>
              <a:t> </a:t>
            </a:r>
            <a:r>
              <a:rPr lang="en-IN" sz="1200" b="0" dirty="0" err="1">
                <a:solidFill>
                  <a:srgbClr val="CDF861"/>
                </a:solidFill>
                <a:effectLst/>
                <a:latin typeface="Consolas" panose="020B0609020204030204" pitchFamily="49" charset="0"/>
              </a:rPr>
              <a:t>handleAddTask</a:t>
            </a:r>
            <a:r>
              <a:rPr lang="en-IN" sz="1200" b="0" dirty="0">
                <a:solidFill>
                  <a:srgbClr val="86897A"/>
                </a:solidFill>
                <a:effectLst/>
                <a:latin typeface="Consolas" panose="020B0609020204030204" pitchFamily="49" charset="0"/>
              </a:rPr>
              <a:t>(</a:t>
            </a:r>
            <a:r>
              <a:rPr lang="en-IN" sz="1200" b="0" dirty="0">
                <a:solidFill>
                  <a:srgbClr val="EBEBEB"/>
                </a:solidFill>
                <a:effectLst/>
                <a:latin typeface="Consolas" panose="020B0609020204030204" pitchFamily="49" charset="0"/>
              </a:rPr>
              <a:t>text</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CDF861"/>
                </a:solidFill>
                <a:effectLst/>
                <a:latin typeface="Consolas" panose="020B0609020204030204" pitchFamily="49" charset="0"/>
              </a:rPr>
              <a:t>dispatch</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type</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FD084"/>
                </a:solidFill>
                <a:effectLst/>
                <a:latin typeface="Consolas" panose="020B0609020204030204" pitchFamily="49" charset="0"/>
              </a:rPr>
              <a:t>added</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id</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err="1">
                <a:solidFill>
                  <a:srgbClr val="EBEBEB"/>
                </a:solidFill>
                <a:effectLst/>
                <a:latin typeface="Consolas" panose="020B0609020204030204" pitchFamily="49" charset="0"/>
              </a:rPr>
              <a:t>nextId</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text</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text</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br>
              <a:rPr lang="en-IN" sz="1200" b="0" dirty="0">
                <a:solidFill>
                  <a:srgbClr val="BBBBBB"/>
                </a:solidFill>
                <a:effectLst/>
                <a:latin typeface="Consolas" panose="020B0609020204030204" pitchFamily="49" charset="0"/>
              </a:rPr>
            </a:b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function</a:t>
            </a:r>
            <a:r>
              <a:rPr lang="en-IN" sz="1200" b="0" dirty="0">
                <a:solidFill>
                  <a:srgbClr val="BBBBBB"/>
                </a:solidFill>
                <a:effectLst/>
                <a:latin typeface="Consolas" panose="020B0609020204030204" pitchFamily="49" charset="0"/>
              </a:rPr>
              <a:t> </a:t>
            </a:r>
            <a:r>
              <a:rPr lang="en-IN" sz="1200" b="0" dirty="0" err="1">
                <a:solidFill>
                  <a:srgbClr val="CDF861"/>
                </a:solidFill>
                <a:effectLst/>
                <a:latin typeface="Consolas" panose="020B0609020204030204" pitchFamily="49" charset="0"/>
              </a:rPr>
              <a:t>handleChangeTask</a:t>
            </a:r>
            <a:r>
              <a:rPr lang="en-IN" sz="1200" b="0" dirty="0">
                <a:solidFill>
                  <a:srgbClr val="86897A"/>
                </a:solidFill>
                <a:effectLst/>
                <a:latin typeface="Consolas" panose="020B0609020204030204" pitchFamily="49" charset="0"/>
              </a:rPr>
              <a:t>(</a:t>
            </a:r>
            <a:r>
              <a:rPr lang="en-IN" sz="1200" b="0" dirty="0">
                <a:solidFill>
                  <a:srgbClr val="EBEBEB"/>
                </a:solidFill>
                <a:effectLst/>
                <a:latin typeface="Consolas" panose="020B0609020204030204" pitchFamily="49" charset="0"/>
              </a:rPr>
              <a:t>task</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CDF861"/>
                </a:solidFill>
                <a:effectLst/>
                <a:latin typeface="Consolas" panose="020B0609020204030204" pitchFamily="49" charset="0"/>
              </a:rPr>
              <a:t>dispatch</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type</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FD084"/>
                </a:solidFill>
                <a:effectLst/>
                <a:latin typeface="Consolas" panose="020B0609020204030204" pitchFamily="49" charset="0"/>
              </a:rPr>
              <a:t>changed</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task</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task</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br>
              <a:rPr lang="en-IN" sz="1200" b="0" dirty="0">
                <a:solidFill>
                  <a:srgbClr val="BBBBBB"/>
                </a:solidFill>
                <a:effectLst/>
                <a:latin typeface="Consolas" panose="020B0609020204030204" pitchFamily="49" charset="0"/>
              </a:rPr>
            </a:br>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function</a:t>
            </a:r>
            <a:r>
              <a:rPr lang="en-IN" sz="1200" b="0" dirty="0">
                <a:solidFill>
                  <a:srgbClr val="BBBBBB"/>
                </a:solidFill>
                <a:effectLst/>
                <a:latin typeface="Consolas" panose="020B0609020204030204" pitchFamily="49" charset="0"/>
              </a:rPr>
              <a:t> </a:t>
            </a:r>
            <a:r>
              <a:rPr lang="en-IN" sz="1200" b="0" dirty="0" err="1">
                <a:solidFill>
                  <a:srgbClr val="CDF861"/>
                </a:solidFill>
                <a:effectLst/>
                <a:latin typeface="Consolas" panose="020B0609020204030204" pitchFamily="49" charset="0"/>
              </a:rPr>
              <a:t>handleDeleteTask</a:t>
            </a:r>
            <a:r>
              <a:rPr lang="en-IN" sz="1200" b="0" dirty="0">
                <a:solidFill>
                  <a:srgbClr val="86897A"/>
                </a:solidFill>
                <a:effectLst/>
                <a:latin typeface="Consolas" panose="020B0609020204030204" pitchFamily="49" charset="0"/>
              </a:rPr>
              <a:t>(</a:t>
            </a:r>
            <a:r>
              <a:rPr lang="en-IN" sz="1200" b="0" dirty="0" err="1">
                <a:solidFill>
                  <a:srgbClr val="EBEBEB"/>
                </a:solidFill>
                <a:effectLst/>
                <a:latin typeface="Consolas" panose="020B0609020204030204" pitchFamily="49" charset="0"/>
              </a:rPr>
              <a:t>taskId</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CDF861"/>
                </a:solidFill>
                <a:effectLst/>
                <a:latin typeface="Consolas" panose="020B0609020204030204" pitchFamily="49" charset="0"/>
              </a:rPr>
              <a:t>dispatch</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type</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a:solidFill>
                  <a:srgbClr val="B3E8B4"/>
                </a:solidFill>
                <a:effectLst/>
                <a:latin typeface="Consolas" panose="020B0609020204030204" pitchFamily="49" charset="0"/>
              </a:rPr>
              <a:t>'</a:t>
            </a:r>
            <a:r>
              <a:rPr lang="en-IN" sz="1200" b="0" dirty="0">
                <a:solidFill>
                  <a:srgbClr val="BFD084"/>
                </a:solidFill>
                <a:effectLst/>
                <a:latin typeface="Consolas" panose="020B0609020204030204" pitchFamily="49" charset="0"/>
              </a:rPr>
              <a:t>deleted</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EBEBEB"/>
                </a:solidFill>
                <a:effectLst/>
                <a:latin typeface="Consolas" panose="020B0609020204030204" pitchFamily="49" charset="0"/>
              </a:rPr>
              <a:t>id</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 </a:t>
            </a:r>
            <a:r>
              <a:rPr lang="en-IN" sz="1200" b="0" dirty="0" err="1">
                <a:solidFill>
                  <a:srgbClr val="EBEBEB"/>
                </a:solidFill>
                <a:effectLst/>
                <a:latin typeface="Consolas" panose="020B0609020204030204" pitchFamily="49" charset="0"/>
              </a:rPr>
              <a:t>taskId</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A390FF"/>
                </a:solidFill>
                <a:effectLst/>
                <a:latin typeface="Consolas" panose="020B0609020204030204" pitchFamily="49" charset="0"/>
              </a:rPr>
              <a:t>return</a:t>
            </a:r>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&lt;&gt;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a:solidFill>
                  <a:srgbClr val="86897A"/>
                </a:solidFill>
                <a:effectLst/>
                <a:latin typeface="Consolas" panose="020B0609020204030204" pitchFamily="49" charset="0"/>
              </a:rPr>
              <a:t>&lt;</a:t>
            </a:r>
            <a:r>
              <a:rPr lang="en-IN" sz="1200" b="0" dirty="0">
                <a:solidFill>
                  <a:srgbClr val="A390FF"/>
                </a:solidFill>
                <a:effectLst/>
                <a:latin typeface="Consolas" panose="020B0609020204030204" pitchFamily="49" charset="0"/>
              </a:rPr>
              <a:t>h1</a:t>
            </a:r>
            <a:r>
              <a:rPr lang="en-IN" sz="1200" b="0" dirty="0">
                <a:solidFill>
                  <a:srgbClr val="86897A"/>
                </a:solidFill>
                <a:effectLst/>
                <a:latin typeface="Consolas" panose="020B0609020204030204" pitchFamily="49" charset="0"/>
              </a:rPr>
              <a:t>&gt;</a:t>
            </a:r>
            <a:r>
              <a:rPr lang="en-IN" sz="1200" b="0" dirty="0">
                <a:solidFill>
                  <a:srgbClr val="F0F0F0"/>
                </a:solidFill>
                <a:effectLst/>
                <a:latin typeface="Consolas" panose="020B0609020204030204" pitchFamily="49" charset="0"/>
              </a:rPr>
              <a:t>Prague itinerary</a:t>
            </a:r>
            <a:r>
              <a:rPr lang="en-IN" sz="1200" b="0" dirty="0">
                <a:solidFill>
                  <a:srgbClr val="86897A"/>
                </a:solidFill>
                <a:effectLst/>
                <a:latin typeface="Consolas" panose="020B0609020204030204" pitchFamily="49" charset="0"/>
              </a:rPr>
              <a:t>&lt;/</a:t>
            </a:r>
            <a:r>
              <a:rPr lang="en-IN" sz="1200" b="0" dirty="0">
                <a:solidFill>
                  <a:srgbClr val="A390FF"/>
                </a:solidFill>
                <a:effectLst/>
                <a:latin typeface="Consolas" panose="020B0609020204030204" pitchFamily="49" charset="0"/>
              </a:rPr>
              <a:t>h1</a:t>
            </a:r>
            <a:r>
              <a:rPr lang="en-IN" sz="1200" b="0" dirty="0">
                <a:solidFill>
                  <a:srgbClr val="86897A"/>
                </a:solidFill>
                <a:effectLst/>
                <a:latin typeface="Consolas" panose="020B0609020204030204" pitchFamily="49" charset="0"/>
              </a:rPr>
              <a:t>&gt;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a:solidFill>
                  <a:srgbClr val="86897A"/>
                </a:solidFill>
                <a:effectLst/>
                <a:latin typeface="Consolas" panose="020B0609020204030204" pitchFamily="49" charset="0"/>
              </a:rPr>
              <a:t>&lt;</a:t>
            </a:r>
            <a:r>
              <a:rPr lang="en-IN" sz="1200" b="0" dirty="0" err="1">
                <a:solidFill>
                  <a:srgbClr val="A390FF"/>
                </a:solidFill>
                <a:effectLst/>
                <a:latin typeface="Consolas" panose="020B0609020204030204" pitchFamily="49" charset="0"/>
              </a:rPr>
              <a:t>AddTask</a:t>
            </a:r>
            <a:r>
              <a:rPr lang="en-IN" sz="1200" b="0" dirty="0">
                <a:solidFill>
                  <a:srgbClr val="F0F0F0"/>
                </a:solidFill>
                <a:effectLst/>
                <a:latin typeface="Consolas" panose="020B0609020204030204" pitchFamily="49" charset="0"/>
              </a:rPr>
              <a:t> </a:t>
            </a:r>
            <a:r>
              <a:rPr lang="en-IN" sz="1200" b="0" dirty="0" err="1">
                <a:solidFill>
                  <a:srgbClr val="CABEFF"/>
                </a:solidFill>
                <a:effectLst/>
                <a:latin typeface="Consolas" panose="020B0609020204030204" pitchFamily="49" charset="0"/>
              </a:rPr>
              <a:t>onAddTask</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r>
              <a:rPr lang="en-IN" sz="1200" b="0" dirty="0" err="1">
                <a:solidFill>
                  <a:srgbClr val="CDF861"/>
                </a:solidFill>
                <a:effectLst/>
                <a:latin typeface="Consolas" panose="020B0609020204030204" pitchFamily="49" charset="0"/>
              </a:rPr>
              <a:t>handleAddTask</a:t>
            </a:r>
            <a:r>
              <a:rPr lang="en-IN" sz="1200" b="0" dirty="0">
                <a:solidFill>
                  <a:srgbClr val="86897A"/>
                </a:solidFill>
                <a:effectLst/>
                <a:latin typeface="Consolas" panose="020B0609020204030204" pitchFamily="49" charset="0"/>
              </a:rPr>
              <a:t>}</a:t>
            </a:r>
            <a:r>
              <a:rPr lang="en-IN" sz="1200" b="0" dirty="0">
                <a:solidFill>
                  <a:srgbClr val="F0F0F0"/>
                </a:solidFill>
                <a:effectLst/>
                <a:latin typeface="Consolas" panose="020B0609020204030204" pitchFamily="49" charset="0"/>
              </a:rPr>
              <a:t> </a:t>
            </a:r>
            <a:r>
              <a:rPr lang="en-IN" sz="1200" b="0" dirty="0">
                <a:solidFill>
                  <a:srgbClr val="86897A"/>
                </a:solidFill>
                <a:effectLst/>
                <a:latin typeface="Consolas" panose="020B0609020204030204" pitchFamily="49" charset="0"/>
              </a:rPr>
              <a:t>/&gt;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a:solidFill>
                  <a:srgbClr val="86897A"/>
                </a:solidFill>
                <a:effectLst/>
                <a:latin typeface="Consolas" panose="020B0609020204030204" pitchFamily="49" charset="0"/>
              </a:rPr>
              <a:t>&lt;</a:t>
            </a:r>
            <a:r>
              <a:rPr lang="en-IN" sz="1200" b="0" dirty="0" err="1">
                <a:solidFill>
                  <a:srgbClr val="A390FF"/>
                </a:solidFill>
                <a:effectLst/>
                <a:latin typeface="Consolas" panose="020B0609020204030204" pitchFamily="49" charset="0"/>
              </a:rPr>
              <a:t>TaskList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a:solidFill>
                  <a:srgbClr val="CABEFF"/>
                </a:solidFill>
                <a:effectLst/>
                <a:latin typeface="Consolas" panose="020B0609020204030204" pitchFamily="49" charset="0"/>
              </a:rPr>
              <a:t>tasks</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r>
              <a:rPr lang="en-IN" sz="1200" b="0" dirty="0">
                <a:solidFill>
                  <a:srgbClr val="EBEBEB"/>
                </a:solidFill>
                <a:effectLst/>
                <a:latin typeface="Consolas" panose="020B0609020204030204" pitchFamily="49" charset="0"/>
              </a:rPr>
              <a:t>tasks</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err="1">
                <a:solidFill>
                  <a:srgbClr val="CABEFF"/>
                </a:solidFill>
                <a:effectLst/>
                <a:latin typeface="Consolas" panose="020B0609020204030204" pitchFamily="49" charset="0"/>
              </a:rPr>
              <a:t>onChangeTask</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r>
              <a:rPr lang="en-IN" sz="1200" b="0" dirty="0" err="1">
                <a:solidFill>
                  <a:srgbClr val="CDF861"/>
                </a:solidFill>
                <a:effectLst/>
                <a:latin typeface="Consolas" panose="020B0609020204030204" pitchFamily="49" charset="0"/>
              </a:rPr>
              <a:t>handleChangeTask</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err="1">
                <a:solidFill>
                  <a:srgbClr val="CABEFF"/>
                </a:solidFill>
                <a:effectLst/>
                <a:latin typeface="Consolas" panose="020B0609020204030204" pitchFamily="49" charset="0"/>
              </a:rPr>
              <a:t>onDeleteTask</a:t>
            </a:r>
            <a:r>
              <a:rPr lang="en-IN" sz="1200" b="0" dirty="0">
                <a:solidFill>
                  <a:srgbClr val="B3E8B4"/>
                </a:solidFill>
                <a:effectLst/>
                <a:latin typeface="Consolas" panose="020B0609020204030204" pitchFamily="49" charset="0"/>
              </a:rPr>
              <a:t>=</a:t>
            </a:r>
            <a:r>
              <a:rPr lang="en-IN" sz="1200" b="0" dirty="0">
                <a:solidFill>
                  <a:srgbClr val="86897A"/>
                </a:solidFill>
                <a:effectLst/>
                <a:latin typeface="Consolas" panose="020B0609020204030204" pitchFamily="49" charset="0"/>
              </a:rPr>
              <a:t>{</a:t>
            </a:r>
            <a:r>
              <a:rPr lang="en-IN" sz="1200" b="0" dirty="0" err="1">
                <a:solidFill>
                  <a:srgbClr val="CDF861"/>
                </a:solidFill>
                <a:effectLst/>
                <a:latin typeface="Consolas" panose="020B0609020204030204" pitchFamily="49" charset="0"/>
              </a:rPr>
              <a:t>handleDeleteTask</a:t>
            </a:r>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a:solidFill>
                  <a:srgbClr val="86897A"/>
                </a:solidFill>
                <a:effectLst/>
                <a:latin typeface="Consolas" panose="020B0609020204030204" pitchFamily="49" charset="0"/>
              </a:rPr>
              <a:t>/&gt;</a:t>
            </a:r>
            <a:endParaRPr lang="en-IN" sz="1200" b="0" dirty="0">
              <a:solidFill>
                <a:srgbClr val="BBBBBB"/>
              </a:solidFill>
              <a:effectLst/>
              <a:latin typeface="Consolas" panose="020B0609020204030204" pitchFamily="49" charset="0"/>
            </a:endParaRPr>
          </a:p>
          <a:p>
            <a:r>
              <a:rPr lang="en-IN" sz="1200" b="0" dirty="0">
                <a:solidFill>
                  <a:srgbClr val="F0F0F0"/>
                </a:solidFill>
                <a:effectLst/>
                <a:latin typeface="Consolas" panose="020B0609020204030204" pitchFamily="49" charset="0"/>
              </a:rPr>
              <a:t>    </a:t>
            </a:r>
            <a:r>
              <a:rPr lang="en-IN" sz="1200" b="0" dirty="0">
                <a:solidFill>
                  <a:srgbClr val="86897A"/>
                </a:solidFill>
                <a:effectLst/>
                <a:latin typeface="Consolas" panose="020B0609020204030204" pitchFamily="49" charset="0"/>
              </a:rPr>
              <a:t>&lt;/&gt;</a:t>
            </a:r>
            <a:endParaRPr lang="en-IN" sz="1200" b="0" dirty="0">
              <a:solidFill>
                <a:srgbClr val="BBBBBB"/>
              </a:solidFill>
              <a:effectLst/>
              <a:latin typeface="Consolas" panose="020B0609020204030204" pitchFamily="49" charset="0"/>
            </a:endParaRPr>
          </a:p>
          <a:p>
            <a:r>
              <a:rPr lang="en-IN" sz="1200" b="0" dirty="0">
                <a:solidFill>
                  <a:srgbClr val="BBBBBB"/>
                </a:solidFill>
                <a:effectLst/>
                <a:latin typeface="Consolas" panose="020B0609020204030204" pitchFamily="49" charset="0"/>
              </a:rPr>
              <a:t>  </a:t>
            </a:r>
            <a:r>
              <a:rPr lang="en-IN" sz="1200" b="0" dirty="0">
                <a:solidFill>
                  <a:srgbClr val="86897A"/>
                </a:solidFill>
                <a:effectLst/>
                <a:latin typeface="Consolas" panose="020B0609020204030204" pitchFamily="49" charset="0"/>
              </a:rPr>
              <a:t>)</a:t>
            </a:r>
            <a:r>
              <a:rPr lang="en-IN" sz="1200" b="0" dirty="0">
                <a:solidFill>
                  <a:srgbClr val="BBBBBB"/>
                </a:solidFill>
                <a:effectLst/>
                <a:latin typeface="Consolas" panose="020B0609020204030204" pitchFamily="49" charset="0"/>
              </a:rPr>
              <a:t>;</a:t>
            </a:r>
          </a:p>
          <a:p>
            <a:r>
              <a:rPr lang="en-IN" sz="1200" b="0" dirty="0">
                <a:solidFill>
                  <a:srgbClr val="86897A"/>
                </a:solidFill>
                <a:effectLst/>
                <a:latin typeface="Consolas" panose="020B0609020204030204" pitchFamily="49" charset="0"/>
              </a:rPr>
              <a:t>}</a:t>
            </a:r>
            <a:endParaRPr lang="en-IN" sz="1200" b="0" dirty="0">
              <a:solidFill>
                <a:srgbClr val="BBBBBB"/>
              </a:solidFill>
              <a:effectLst/>
              <a:latin typeface="Consolas" panose="020B0609020204030204" pitchFamily="49" charset="0"/>
            </a:endParaRPr>
          </a:p>
        </p:txBody>
      </p:sp>
      <p:sp>
        <p:nvSpPr>
          <p:cNvPr id="7" name="TextBox 6">
            <a:extLst>
              <a:ext uri="{FF2B5EF4-FFF2-40B4-BE49-F238E27FC236}">
                <a16:creationId xmlns:a16="http://schemas.microsoft.com/office/drawing/2014/main" id="{4D7E63C6-12CF-69B7-02A6-9C23F889BC2C}"/>
              </a:ext>
            </a:extLst>
          </p:cNvPr>
          <p:cNvSpPr txBox="1"/>
          <p:nvPr/>
        </p:nvSpPr>
        <p:spPr>
          <a:xfrm>
            <a:off x="6434665" y="151179"/>
            <a:ext cx="5596468" cy="6555641"/>
          </a:xfrm>
          <a:prstGeom prst="rect">
            <a:avLst/>
          </a:prstGeom>
          <a:solidFill>
            <a:schemeClr val="tx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function</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tasksReducer</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tasks</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switch</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case</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added</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tasks</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false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case</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changed</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tasks</a:t>
            </a:r>
            <a:r>
              <a:rPr kumimoji="0" lang="en-IN" sz="12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map</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if</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task</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else</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case</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deleted</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tasks</a:t>
            </a:r>
            <a:r>
              <a:rPr kumimoji="0" lang="en-IN" sz="12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CDF861"/>
                </a:solidFill>
                <a:effectLst/>
                <a:uLnTx/>
                <a:uFillTx/>
                <a:latin typeface="Consolas" panose="020B0609020204030204" pitchFamily="49" charset="0"/>
                <a:ea typeface="+mn-ea"/>
                <a:cs typeface="+mn-cs"/>
              </a:rPr>
              <a:t>filter</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default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throw</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Error</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Unknown action: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action</a:t>
            </a:r>
            <a:r>
              <a:rPr kumimoji="0" lang="en-IN" sz="1200" b="0" i="0" u="none" strike="noStrike" kern="1200" cap="none" spc="0" normalizeH="0" baseline="0" noProof="0" dirty="0" err="1">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A390FF"/>
                </a:solidFill>
                <a:effectLst/>
                <a:uLnTx/>
                <a:uFillTx/>
                <a:latin typeface="Consolas" panose="020B0609020204030204" pitchFamily="49" charset="0"/>
                <a:ea typeface="+mn-ea"/>
                <a:cs typeface="+mn-cs"/>
              </a:rPr>
              <a:t>let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nextId</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3</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err="1">
                <a:ln>
                  <a:noFill/>
                </a:ln>
                <a:solidFill>
                  <a:srgbClr val="A390FF"/>
                </a:solidFill>
                <a:effectLst/>
                <a:uLnTx/>
                <a:uFillTx/>
                <a:latin typeface="Consolas" panose="020B0609020204030204" pitchFamily="49" charset="0"/>
                <a:ea typeface="+mn-ea"/>
                <a:cs typeface="+mn-cs"/>
              </a:rPr>
              <a:t>const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EBEBEB"/>
                </a:solidFill>
                <a:effectLst/>
                <a:uLnTx/>
                <a:uFillTx/>
                <a:latin typeface="Consolas" panose="020B0609020204030204" pitchFamily="49" charset="0"/>
                <a:ea typeface="+mn-ea"/>
                <a:cs typeface="+mn-cs"/>
              </a:rPr>
              <a:t>initialTasks</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0</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Visit Kafka Museum</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true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1</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Watch a puppet show</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false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id</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2</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text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FD084"/>
                </a:solidFill>
                <a:effectLst/>
                <a:uLnTx/>
                <a:uFillTx/>
                <a:latin typeface="Consolas" panose="020B0609020204030204" pitchFamily="49" charset="0"/>
                <a:ea typeface="+mn-ea"/>
                <a:cs typeface="+mn-cs"/>
              </a:rPr>
              <a:t>Lennon Wall pic</a:t>
            </a:r>
            <a:r>
              <a:rPr kumimoji="0" lang="en-IN" sz="1200" b="0" i="0" u="none" strike="noStrike" kern="1200" cap="none" spc="0" normalizeH="0" baseline="0" noProof="0" dirty="0">
                <a:ln>
                  <a:noFill/>
                </a:ln>
                <a:solidFill>
                  <a:srgbClr val="B3E8B4"/>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EBEBEB"/>
                </a:solidFill>
                <a:effectLst/>
                <a:uLnTx/>
                <a:uFillTx/>
                <a:latin typeface="Consolas" panose="020B0609020204030204" pitchFamily="49" charset="0"/>
                <a:ea typeface="+mn-ea"/>
                <a:cs typeface="+mn-cs"/>
              </a:rPr>
              <a:t>done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AD9FB"/>
                </a:solidFill>
                <a:effectLst/>
                <a:uLnTx/>
                <a:uFillTx/>
                <a:latin typeface="Consolas" panose="020B0609020204030204" pitchFamily="49" charset="0"/>
                <a:ea typeface="+mn-ea"/>
                <a:cs typeface="+mn-cs"/>
              </a:rPr>
              <a:t>false</a:t>
            </a:r>
            <a:r>
              <a:rPr kumimoji="0" lang="en-IN" sz="1200" b="0" i="0" u="none" strike="noStrike" kern="1200" cap="none" spc="0" normalizeH="0" baseline="0" noProof="0" dirty="0">
                <a:ln>
                  <a:noFill/>
                </a:ln>
                <a:solidFill>
                  <a:srgbClr val="86897A"/>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BBBBBB"/>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1806815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20A3A1-9CA1-1D34-8E89-D03120D5F743}"/>
              </a:ext>
            </a:extLst>
          </p:cNvPr>
          <p:cNvSpPr txBox="1"/>
          <p:nvPr/>
        </p:nvSpPr>
        <p:spPr>
          <a:xfrm>
            <a:off x="626532" y="322577"/>
            <a:ext cx="10244667" cy="3970318"/>
          </a:xfrm>
          <a:prstGeom prst="rect">
            <a:avLst/>
          </a:prstGeom>
          <a:noFill/>
        </p:spPr>
        <p:txBody>
          <a:bodyPr wrap="square">
            <a:spAutoFit/>
          </a:bodyPr>
          <a:lstStyle/>
          <a:p>
            <a:r>
              <a:rPr lang="en-US" dirty="0"/>
              <a:t>Writing reducers well </a:t>
            </a:r>
          </a:p>
          <a:p>
            <a:r>
              <a:rPr lang="en-US" dirty="0"/>
              <a:t>Keep these two tips in mind when writing reducers:</a:t>
            </a:r>
          </a:p>
          <a:p>
            <a:endParaRPr lang="en-US" dirty="0"/>
          </a:p>
          <a:p>
            <a:r>
              <a:rPr lang="en-US" dirty="0"/>
              <a:t>Reducers must be pure. Similar to state updater functions, reducers run during rendering! (Actions are queued until the next render.) This means that reducers must be pure—same inputs always result in the same output. They should not send requests, schedule timeouts, or perform any side effects (operations that impact things outside the component). They should update objects and arrays without mutations.</a:t>
            </a:r>
          </a:p>
          <a:p>
            <a:endParaRPr lang="en-US" dirty="0"/>
          </a:p>
          <a:p>
            <a:endParaRPr lang="en-US"/>
          </a:p>
          <a:p>
            <a:r>
              <a:rPr lang="en-US"/>
              <a:t>Each </a:t>
            </a:r>
            <a:r>
              <a:rPr lang="en-US" dirty="0"/>
              <a:t>action describes a single user interaction, even if that leads to multiple changes in the data. For example, if a user presses “Reset” on a form with five fields managed by a reducer, it makes more sense to dispatch one </a:t>
            </a:r>
            <a:r>
              <a:rPr lang="en-US" dirty="0" err="1"/>
              <a:t>reset_form</a:t>
            </a:r>
            <a:r>
              <a:rPr lang="en-US" dirty="0"/>
              <a:t> action rather than five separate </a:t>
            </a:r>
            <a:r>
              <a:rPr lang="en-US" dirty="0" err="1"/>
              <a:t>set_field</a:t>
            </a:r>
            <a:r>
              <a:rPr lang="en-US" dirty="0"/>
              <a:t> actions. If you log every action in a reducer, that log should be clear enough for you to reconstruct what interactions or responses happened in what order. This helps with debugging!</a:t>
            </a:r>
            <a:endParaRPr lang="en-IN" dirty="0"/>
          </a:p>
        </p:txBody>
      </p:sp>
    </p:spTree>
    <p:extLst>
      <p:ext uri="{BB962C8B-B14F-4D97-AF65-F5344CB8AC3E}">
        <p14:creationId xmlns:p14="http://schemas.microsoft.com/office/powerpoint/2010/main" val="42063525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1771</Words>
  <Application>Microsoft Office PowerPoint</Application>
  <PresentationFormat>Widescreen</PresentationFormat>
  <Paragraphs>220</Paragraphs>
  <Slides>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vt:i4>
      </vt:variant>
    </vt:vector>
  </HeadingPairs>
  <TitlesOfParts>
    <vt:vector size="19" baseType="lpstr">
      <vt:lpstr>Aptos Narrow</vt:lpstr>
      <vt:lpstr>Arial</vt:lpstr>
      <vt:lpstr>Calibri</vt:lpstr>
      <vt:lpstr>Calibri Light</vt:lpstr>
      <vt:lpstr>Consolas</vt:lpstr>
      <vt:lpstr>Optimistic Display</vt:lpstr>
      <vt:lpstr>Optimistic Text</vt:lpstr>
      <vt:lpstr>Segoe UI</vt:lpstr>
      <vt:lpstr>Source Code Pro</vt:lpstr>
      <vt:lpstr>Times New Roman</vt:lpstr>
      <vt:lpstr>Office Theme</vt:lpstr>
      <vt:lpstr>ComExtracting State Logic into a Reducerponent Communication using Context</vt:lpstr>
      <vt:lpstr>Consolidate state logic with a reducer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Component Communication using Context</dc:title>
  <dc:creator>Ketki Acharya</dc:creator>
  <cp:lastModifiedBy>sriram mantri vidyanidhi infotech academy</cp:lastModifiedBy>
  <cp:revision>12</cp:revision>
  <dcterms:created xsi:type="dcterms:W3CDTF">2021-08-31T02:51:21Z</dcterms:created>
  <dcterms:modified xsi:type="dcterms:W3CDTF">2025-02-07T16:28:03Z</dcterms:modified>
</cp:coreProperties>
</file>