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C8900-518D-5819-5D9E-9F6C727652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616332-90D9-9522-CED6-A48E73D30C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02BFEC-6270-A91D-C2AC-B2D0E5A2D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25A7F-487F-4D13-AFAC-ED46C62CDEBE}" type="datetimeFigureOut">
              <a:rPr lang="en-IN" smtClean="0"/>
              <a:t>07-12-2024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55FCF5-1168-763E-7429-77532E57A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986B1A-6D2F-AC2F-0FF2-C68A51CE1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52E5A-4FF4-4F05-A233-582A9A2CF0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048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EAAF2-B9A2-2860-DE1A-CA5B69CD8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0EDD01-5EEB-7756-E209-B9B4F36532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32F6F5-CF17-C904-6D93-B2E23CF63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25A7F-487F-4D13-AFAC-ED46C62CDEBE}" type="datetimeFigureOut">
              <a:rPr lang="en-IN" smtClean="0"/>
              <a:t>07-12-2024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1F90FA-59F1-1BEA-9A47-BED5D820D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CB5586-AA49-6F70-E924-46F6062AE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52E5A-4FF4-4F05-A233-582A9A2CF0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26302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0D82C-7BFB-78A9-64A1-29B7BB319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8B1AA-B439-47AD-1FBF-37D94B49C0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4ADAA9-C01E-14B9-0235-2646AF66E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25A7F-487F-4D13-AFAC-ED46C62CDEBE}" type="datetimeFigureOut">
              <a:rPr lang="en-IN" smtClean="0"/>
              <a:t>07-12-2024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06A6F4-2ACD-9C29-9680-19647E9DC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B7D16D-BF5B-C20C-1CB8-BB59E814E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52E5A-4FF4-4F05-A233-582A9A2CF0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15101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43D81-9B60-CA6A-7C4D-70A4ABDA4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2CF16D-122A-55BB-31B4-1387323FD2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95F3D5-2669-E456-03D2-9C2BD5452A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A9F0D4-8B54-BF7B-B236-8240C3723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25A7F-487F-4D13-AFAC-ED46C62CDEBE}" type="datetimeFigureOut">
              <a:rPr lang="en-IN" smtClean="0"/>
              <a:t>07-12-2024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3CFDC0-D44F-C36E-4B9A-7E6F2F1DA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5153D8-5358-DE60-3806-4DED9F04E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52E5A-4FF4-4F05-A233-582A9A2CF0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12230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D1D19-5B0A-A411-6ACB-8286D0FD7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4EFE53-92F1-564B-A9E0-5CEF43DCDB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0874F8-8D81-C2F3-6FFE-8544E55FE6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9D2D6D-30FF-6ACF-3DA8-CAB377E64F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0F4701-DD82-AB7E-E6FE-3D01C4B644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DDF164-CDFC-95D0-C52E-7A6FBAC15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25A7F-487F-4D13-AFAC-ED46C62CDEBE}" type="datetimeFigureOut">
              <a:rPr lang="en-IN" smtClean="0"/>
              <a:t>07-12-2024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44ECF1-ACCA-34B0-822F-BECFF8174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F66CEC-ED6B-B5AA-1D76-0BF6FAEBA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52E5A-4FF4-4F05-A233-582A9A2CF0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24608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56D394-FA3D-FC56-6DC4-1F70719AE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EDC0A6-C94E-0F69-5854-7D54A0705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25A7F-487F-4D13-AFAC-ED46C62CDEBE}" type="datetimeFigureOut">
              <a:rPr lang="en-IN" smtClean="0"/>
              <a:t>07-12-2024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66A3E9-A7E7-B63D-993F-7B76A02AD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0275EE-8910-4CFF-5A50-9560BB523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52E5A-4FF4-4F05-A233-582A9A2CF0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65899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808890-8142-CFDE-531D-4920EE4A6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25A7F-487F-4D13-AFAC-ED46C62CDEBE}" type="datetimeFigureOut">
              <a:rPr lang="en-IN" smtClean="0"/>
              <a:t>07-12-2024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B9A4BB-E299-801F-D5BA-5552A8A45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783392-57EB-941C-9C2E-B8A14D36C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52E5A-4FF4-4F05-A233-582A9A2CF0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34759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3C3C1-7E75-9EB3-7EAD-EDB8C9E9E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69C86D-7E98-5408-834E-95FA90CB98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BFD5A7-4E85-4E21-875E-F4EC95DAAA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8BB604-43B9-27B5-4E33-2D9B6C93D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25A7F-487F-4D13-AFAC-ED46C62CDEBE}" type="datetimeFigureOut">
              <a:rPr lang="en-IN" smtClean="0"/>
              <a:t>07-12-2024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D6FFAA-52D4-4F4C-711B-BC31F1C8D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28BBBE-5C76-10C9-BF58-C5755E535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52E5A-4FF4-4F05-A233-582A9A2CF0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51179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80442-50E6-765B-8909-AC77DA8AD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BA6019-A737-5C04-0CC0-A57777103E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31D7C3-1FE1-851E-B0FB-C0766E0316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646C9E-B686-98AD-E1D6-BC986607F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25A7F-487F-4D13-AFAC-ED46C62CDEBE}" type="datetimeFigureOut">
              <a:rPr lang="en-IN" smtClean="0"/>
              <a:t>07-12-2024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063455-0450-DAEF-1BE1-F945B662F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455065-0AE7-1EBA-6320-392CC2FA5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52E5A-4FF4-4F05-A233-582A9A2CF0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5772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44394-CF1E-AB6C-7C1F-F786A9AE5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A8724F-C70F-7168-A288-AAE90B15B1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1E7D4D-3605-7EC2-E301-4B71F7F7A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25A7F-487F-4D13-AFAC-ED46C62CDEBE}" type="datetimeFigureOut">
              <a:rPr lang="en-IN" smtClean="0"/>
              <a:t>07-12-2024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E44EEF-34A3-D612-EE09-DE846BFCD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F0D2C7-4314-11AE-72ED-568CB6E5D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52E5A-4FF4-4F05-A233-582A9A2CF0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5034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456FC7-73F6-2C0B-51CC-35FC3E4300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BA9B86-AA6C-CD6F-FFA4-1A681EF6DD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615240-68A3-B855-9C9A-164AFFDA0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25A7F-487F-4D13-AFAC-ED46C62CDEBE}" type="datetimeFigureOut">
              <a:rPr lang="en-IN" smtClean="0"/>
              <a:t>07-12-2024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95493C-465D-8CBD-FE0B-40AEC167D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0EDAB1-E4CE-C34F-FBB3-67662ADB9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52E5A-4FF4-4F05-A233-582A9A2CF0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77955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F5CAEA-875A-76B2-F603-4949609F4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75F310-7966-68D2-C586-AAD277085F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BE7AB9-BFB3-5FF9-C205-AB1B2C2463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E25A7F-487F-4D13-AFAC-ED46C62CDEBE}" type="datetimeFigureOut">
              <a:rPr lang="en-IN" smtClean="0"/>
              <a:t>07-12-2024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1C0986-DB25-F0AD-AC4A-D139C99FFA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A8D3C9-58D8-B4D5-2DD1-676982E24A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652E5A-4FF4-4F05-A233-582A9A2CF0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11782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409AD43-E58A-61B4-5561-8A5BF7FA564F}"/>
              </a:ext>
            </a:extLst>
          </p:cNvPr>
          <p:cNvSpPr txBox="1"/>
          <p:nvPr/>
        </p:nvSpPr>
        <p:spPr>
          <a:xfrm>
            <a:off x="2969315" y="252656"/>
            <a:ext cx="6097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dirty="0">
                <a:solidFill>
                  <a:srgbClr val="171717"/>
                </a:solidFill>
                <a:effectLst/>
                <a:latin typeface="-apple-system"/>
              </a:rPr>
              <a:t>How do we import and export modules with </a:t>
            </a:r>
            <a:r>
              <a:rPr lang="en-US" b="1" i="0" dirty="0" err="1">
                <a:solidFill>
                  <a:srgbClr val="171717"/>
                </a:solidFill>
                <a:effectLst/>
                <a:latin typeface="-apple-system"/>
              </a:rPr>
              <a:t>CommonJS</a:t>
            </a:r>
            <a:r>
              <a:rPr lang="en-US" b="1" i="0" dirty="0">
                <a:solidFill>
                  <a:srgbClr val="171717"/>
                </a:solidFill>
                <a:effectLst/>
                <a:latin typeface="-apple-system"/>
              </a:rPr>
              <a:t>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061AB3-800F-B28E-D5FC-B3CA24D33784}"/>
              </a:ext>
            </a:extLst>
          </p:cNvPr>
          <p:cNvSpPr txBox="1"/>
          <p:nvPr/>
        </p:nvSpPr>
        <p:spPr>
          <a:xfrm>
            <a:off x="122996" y="801254"/>
            <a:ext cx="1179029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Two foundational concepts in </a:t>
            </a:r>
            <a:r>
              <a:rPr lang="en-US" dirty="0" err="1"/>
              <a:t>CommonJS</a:t>
            </a:r>
            <a:r>
              <a:rPr lang="en-US" dirty="0"/>
              <a:t> are </a:t>
            </a:r>
            <a:r>
              <a:rPr lang="en-US" dirty="0" err="1"/>
              <a:t>module.exports</a:t>
            </a:r>
            <a:r>
              <a:rPr lang="en-US" dirty="0"/>
              <a:t> and require. Simply put, </a:t>
            </a:r>
            <a:r>
              <a:rPr lang="en-US" dirty="0" err="1"/>
              <a:t>module.exports</a:t>
            </a:r>
            <a:r>
              <a:rPr lang="en-US" dirty="0"/>
              <a:t> allows us to export a module, and require is a resolving function that allows us to import an exported module from a specified file. 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4E949D-4C95-3C95-CE06-699A494CDD20}"/>
              </a:ext>
            </a:extLst>
          </p:cNvPr>
          <p:cNvSpPr txBox="1"/>
          <p:nvPr/>
        </p:nvSpPr>
        <p:spPr>
          <a:xfrm>
            <a:off x="103120" y="1602041"/>
            <a:ext cx="4624181" cy="120032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add(num1, num2) {</a:t>
            </a:r>
          </a:p>
          <a:p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num1 + num2;</a:t>
            </a:r>
          </a:p>
          <a:p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module.exports = add;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BD3839F-78FA-FBD3-7126-0E17AF6E2BFB}"/>
              </a:ext>
            </a:extLst>
          </p:cNvPr>
          <p:cNvSpPr txBox="1"/>
          <p:nvPr/>
        </p:nvSpPr>
        <p:spPr>
          <a:xfrm>
            <a:off x="0" y="3033562"/>
            <a:ext cx="6679096" cy="120032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calculateAddition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require(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"./calculate"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result =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calculateAddition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console.log(result);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AA68391-28A4-F868-BC41-07DB296D856E}"/>
              </a:ext>
            </a:extLst>
          </p:cNvPr>
          <p:cNvSpPr txBox="1"/>
          <p:nvPr/>
        </p:nvSpPr>
        <p:spPr>
          <a:xfrm>
            <a:off x="-49696" y="4643339"/>
            <a:ext cx="61225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Notice how when exporting via this method we </a:t>
            </a:r>
            <a:r>
              <a:rPr lang="en-US" dirty="0">
                <a:highlight>
                  <a:srgbClr val="FFFF00"/>
                </a:highlight>
              </a:rPr>
              <a:t>lose</a:t>
            </a:r>
            <a:r>
              <a:rPr lang="en-US" dirty="0"/>
              <a:t> the original exported function name </a:t>
            </a:r>
            <a:r>
              <a:rPr lang="en-US" dirty="0">
                <a:highlight>
                  <a:srgbClr val="FFFF00"/>
                </a:highlight>
              </a:rPr>
              <a:t>add</a:t>
            </a:r>
            <a:r>
              <a:rPr lang="en-US" dirty="0"/>
              <a:t> and instead, we pass a reference to the exported function to the variable </a:t>
            </a:r>
            <a:r>
              <a:rPr lang="en-US" dirty="0" err="1">
                <a:highlight>
                  <a:srgbClr val="FFFF00"/>
                </a:highlight>
              </a:rPr>
              <a:t>calculateAddition</a:t>
            </a:r>
            <a:endParaRPr lang="en-IN" dirty="0">
              <a:highlight>
                <a:srgbClr val="FFFF00"/>
              </a:highlight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512BDC5-816B-B22E-0226-B9E9CDC39661}"/>
              </a:ext>
            </a:extLst>
          </p:cNvPr>
          <p:cNvSpPr txBox="1"/>
          <p:nvPr/>
        </p:nvSpPr>
        <p:spPr>
          <a:xfrm>
            <a:off x="0" y="5760231"/>
            <a:ext cx="61225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If we didn't want to lose the function name we could instead assign an object literal containing the add function to </a:t>
            </a:r>
            <a:r>
              <a:rPr lang="en-US" dirty="0" err="1"/>
              <a:t>module.exports</a:t>
            </a:r>
            <a:endParaRPr lang="en-IN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24DB2C4-E1A7-D0C6-5862-CA4DEFEDA15F}"/>
              </a:ext>
            </a:extLst>
          </p:cNvPr>
          <p:cNvSpPr txBox="1"/>
          <p:nvPr/>
        </p:nvSpPr>
        <p:spPr>
          <a:xfrm>
            <a:off x="7456833" y="1726891"/>
            <a:ext cx="4112315" cy="36933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module.exports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{add};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0436AA0-ECC4-ABFE-C812-5A7DB9225EAE}"/>
              </a:ext>
            </a:extLst>
          </p:cNvPr>
          <p:cNvSpPr txBox="1"/>
          <p:nvPr/>
        </p:nvSpPr>
        <p:spPr>
          <a:xfrm>
            <a:off x="7456833" y="2523424"/>
            <a:ext cx="4456456" cy="36933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module.exports.add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add;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A9FE247-49A1-4A69-1611-37F0E4A09AA5}"/>
              </a:ext>
            </a:extLst>
          </p:cNvPr>
          <p:cNvSpPr txBox="1"/>
          <p:nvPr/>
        </p:nvSpPr>
        <p:spPr>
          <a:xfrm>
            <a:off x="8507896" y="2182976"/>
            <a:ext cx="6758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OR</a:t>
            </a:r>
            <a:endParaRPr lang="en-IN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EA0D1C1-A98E-B3AF-0A1B-6874257B4360}"/>
              </a:ext>
            </a:extLst>
          </p:cNvPr>
          <p:cNvSpPr txBox="1"/>
          <p:nvPr/>
        </p:nvSpPr>
        <p:spPr>
          <a:xfrm>
            <a:off x="7456831" y="3767622"/>
            <a:ext cx="4624181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e</a:t>
            </a: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xports.add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=add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9747A50-B555-9F78-1B50-3EA900CAA77A}"/>
              </a:ext>
            </a:extLst>
          </p:cNvPr>
          <p:cNvSpPr txBox="1"/>
          <p:nvPr/>
        </p:nvSpPr>
        <p:spPr>
          <a:xfrm>
            <a:off x="7151826" y="4205446"/>
            <a:ext cx="5234193" cy="861774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b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calculate = require(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"./calculate"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result = 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calculate.add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F69BDEF-2104-1362-39CD-51A6F03B372C}"/>
              </a:ext>
            </a:extLst>
          </p:cNvPr>
          <p:cNvSpPr txBox="1"/>
          <p:nvPr/>
        </p:nvSpPr>
        <p:spPr>
          <a:xfrm>
            <a:off x="7727052" y="2961248"/>
            <a:ext cx="39160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Instead of </a:t>
            </a:r>
            <a:r>
              <a:rPr lang="en-US" dirty="0" err="1"/>
              <a:t>module.exports</a:t>
            </a:r>
            <a:r>
              <a:rPr lang="en-US" dirty="0"/>
              <a:t> we could also use the alias exports</a:t>
            </a:r>
            <a:endParaRPr lang="en-IN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6666AD4-E7CC-16D3-FAF5-F58A25F4DE57}"/>
              </a:ext>
            </a:extLst>
          </p:cNvPr>
          <p:cNvSpPr txBox="1"/>
          <p:nvPr/>
        </p:nvSpPr>
        <p:spPr>
          <a:xfrm>
            <a:off x="7151826" y="3144157"/>
            <a:ext cx="6758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OR</a:t>
            </a:r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2EC0647-44AB-9C3D-8FB4-972DCB91CDEF}"/>
              </a:ext>
            </a:extLst>
          </p:cNvPr>
          <p:cNvSpPr txBox="1"/>
          <p:nvPr/>
        </p:nvSpPr>
        <p:spPr>
          <a:xfrm>
            <a:off x="7264400" y="5317067"/>
            <a:ext cx="39285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Let person={“</a:t>
            </a:r>
            <a:r>
              <a:rPr lang="en-IN" dirty="0" err="1"/>
              <a:t>nm”:”Vita</a:t>
            </a:r>
            <a:r>
              <a:rPr lang="en-IN" dirty="0"/>
              <a:t>”, “Id”:101}</a:t>
            </a:r>
          </a:p>
          <a:p>
            <a:endParaRPr lang="en-IN" dirty="0"/>
          </a:p>
          <a:p>
            <a:r>
              <a:rPr lang="en-IN" dirty="0" err="1"/>
              <a:t>Person.salary</a:t>
            </a:r>
            <a:r>
              <a:rPr lang="en-IN" dirty="0"/>
              <a:t>=50000</a:t>
            </a:r>
          </a:p>
        </p:txBody>
      </p:sp>
    </p:spTree>
    <p:extLst>
      <p:ext uri="{BB962C8B-B14F-4D97-AF65-F5344CB8AC3E}">
        <p14:creationId xmlns:p14="http://schemas.microsoft.com/office/powerpoint/2010/main" val="32655612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78CD042-F0AC-2345-959E-4C7031778138}"/>
              </a:ext>
            </a:extLst>
          </p:cNvPr>
          <p:cNvSpPr txBox="1"/>
          <p:nvPr/>
        </p:nvSpPr>
        <p:spPr>
          <a:xfrm>
            <a:off x="86968" y="0"/>
            <a:ext cx="6097656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add(num1, num2) {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num1 + num2;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someConstantValue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calculateObject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{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a: 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b: 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CalculationClass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calcSquareRoot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some code logic ...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module.exports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{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add,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someConstantValue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calculateObject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CalculationClass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F3ADE8-51C7-08FB-FA5D-562630EDF52F}"/>
              </a:ext>
            </a:extLst>
          </p:cNvPr>
          <p:cNvSpPr txBox="1"/>
          <p:nvPr/>
        </p:nvSpPr>
        <p:spPr>
          <a:xfrm>
            <a:off x="6845576" y="230401"/>
            <a:ext cx="497205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0" i="0" dirty="0">
                <a:solidFill>
                  <a:srgbClr val="171717"/>
                </a:solidFill>
                <a:effectLst/>
                <a:latin typeface="-apple-system"/>
              </a:rPr>
              <a:t>Anything that isn't explicitly exported remains only accessible in the file in which it was declared.</a:t>
            </a:r>
          </a:p>
          <a:p>
            <a:r>
              <a:rPr lang="en-US" sz="2800" b="0" i="0" dirty="0">
                <a:solidFill>
                  <a:srgbClr val="171717"/>
                </a:solidFill>
                <a:effectLst/>
                <a:latin typeface="-apple-system"/>
              </a:rPr>
              <a:t> This means it will be hidden from any other file importing it and allow us to encapsulate private logic and data, this is a common pattern in JavaScript and is known as the "</a:t>
            </a:r>
            <a:r>
              <a:rPr lang="en-US" sz="2800" b="0" i="1" dirty="0">
                <a:solidFill>
                  <a:srgbClr val="171717"/>
                </a:solidFill>
                <a:effectLst/>
                <a:latin typeface="-apple-system"/>
              </a:rPr>
              <a:t>revealing module pattern</a:t>
            </a:r>
            <a:r>
              <a:rPr lang="en-US" sz="2800" b="0" i="0" dirty="0">
                <a:solidFill>
                  <a:srgbClr val="171717"/>
                </a:solidFill>
                <a:effectLst/>
                <a:latin typeface="-apple-system"/>
              </a:rPr>
              <a:t>".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33370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97FE042-3605-040A-F7C2-8D6E6BD11C22}"/>
              </a:ext>
            </a:extLst>
          </p:cNvPr>
          <p:cNvSpPr txBox="1"/>
          <p:nvPr/>
        </p:nvSpPr>
        <p:spPr>
          <a:xfrm>
            <a:off x="1011306" y="409524"/>
            <a:ext cx="982234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Every JS file in a Node.js application is actually a module. </a:t>
            </a:r>
          </a:p>
          <a:p>
            <a:r>
              <a:rPr lang="en-US" dirty="0"/>
              <a:t>Before any code execution, Node.js will wrap all the code in each JS file inside a function wrapper. </a:t>
            </a:r>
          </a:p>
          <a:p>
            <a:endParaRPr lang="en-US" dirty="0"/>
          </a:p>
          <a:p>
            <a:r>
              <a:rPr lang="en-US" dirty="0"/>
              <a:t>This function wrapper ensures that all functions, classes, variables, and objects remain private unless explicitly stated otherwise. </a:t>
            </a:r>
          </a:p>
          <a:p>
            <a:endParaRPr lang="en-US" dirty="0"/>
          </a:p>
          <a:p>
            <a:r>
              <a:rPr lang="en-US" dirty="0"/>
              <a:t>The module parameter is simply an object that represents the current module and contains multiple properties including exports. </a:t>
            </a:r>
          </a:p>
          <a:p>
            <a:endParaRPr lang="en-US" dirty="0"/>
          </a:p>
          <a:p>
            <a:r>
              <a:rPr lang="en-US" dirty="0"/>
              <a:t>The default value of the key exports in module is simply an empty object {}.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6F6C66-DB81-E5E8-49ED-0DC52A31FBA0}"/>
              </a:ext>
            </a:extLst>
          </p:cNvPr>
          <p:cNvSpPr txBox="1"/>
          <p:nvPr/>
        </p:nvSpPr>
        <p:spPr>
          <a:xfrm>
            <a:off x="1259785" y="3586155"/>
            <a:ext cx="89973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171717"/>
                </a:solidFill>
                <a:effectLst/>
                <a:latin typeface="-apple-system"/>
              </a:rPr>
              <a:t>export values can either be appended to this object using the dot notation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8615DF-C5B7-CDBB-1C59-B9650CC42362}"/>
              </a:ext>
            </a:extLst>
          </p:cNvPr>
          <p:cNvSpPr txBox="1"/>
          <p:nvPr/>
        </p:nvSpPr>
        <p:spPr>
          <a:xfrm>
            <a:off x="1983685" y="5206522"/>
            <a:ext cx="4112315" cy="36933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module.exports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{add};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33C842-17F4-F847-9A22-44D66443EE1B}"/>
              </a:ext>
            </a:extLst>
          </p:cNvPr>
          <p:cNvSpPr txBox="1"/>
          <p:nvPr/>
        </p:nvSpPr>
        <p:spPr>
          <a:xfrm>
            <a:off x="1990311" y="4311286"/>
            <a:ext cx="4456456" cy="36933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module.exports.add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add;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2FA4CA-E785-EDAD-4E4E-5A41CBE49EE0}"/>
              </a:ext>
            </a:extLst>
          </p:cNvPr>
          <p:cNvSpPr txBox="1"/>
          <p:nvPr/>
        </p:nvSpPr>
        <p:spPr>
          <a:xfrm>
            <a:off x="3041375" y="4826784"/>
            <a:ext cx="6758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517745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A7A33B8-4698-84EE-BD6C-7FD03F763F9F}"/>
              </a:ext>
            </a:extLst>
          </p:cNvPr>
          <p:cNvSpPr txBox="1"/>
          <p:nvPr/>
        </p:nvSpPr>
        <p:spPr>
          <a:xfrm>
            <a:off x="365262" y="141167"/>
            <a:ext cx="10975285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So why can't we assign values directly to the exports parameter? Very simply this is because exports is a reference to the </a:t>
            </a:r>
            <a:r>
              <a:rPr lang="en-US" dirty="0" err="1"/>
              <a:t>module.exports</a:t>
            </a:r>
            <a:r>
              <a:rPr lang="en-US" dirty="0"/>
              <a:t> object. So we can append new properties to the </a:t>
            </a:r>
            <a:r>
              <a:rPr lang="en-US" dirty="0" err="1"/>
              <a:t>module.exports</a:t>
            </a:r>
            <a:r>
              <a:rPr lang="en-US" dirty="0"/>
              <a:t> object, for example using</a:t>
            </a:r>
          </a:p>
          <a:p>
            <a:endParaRPr lang="en-US" dirty="0"/>
          </a:p>
          <a:p>
            <a:r>
              <a:rPr lang="en-US" dirty="0" err="1"/>
              <a:t>exports.add</a:t>
            </a:r>
            <a:r>
              <a:rPr lang="en-US" dirty="0"/>
              <a:t> = add;</a:t>
            </a:r>
          </a:p>
          <a:p>
            <a:r>
              <a:rPr lang="en-US" dirty="0" err="1"/>
              <a:t>exports.sub</a:t>
            </a:r>
            <a:r>
              <a:rPr lang="en-US" dirty="0"/>
              <a:t> = sub;</a:t>
            </a:r>
          </a:p>
          <a:p>
            <a:endParaRPr lang="en-US" dirty="0"/>
          </a:p>
          <a:p>
            <a:r>
              <a:rPr lang="en-US" dirty="0"/>
              <a:t>However, as the exports </a:t>
            </a:r>
            <a:r>
              <a:rPr lang="en-US" dirty="0" err="1"/>
              <a:t>exports</a:t>
            </a:r>
            <a:r>
              <a:rPr lang="en-US" dirty="0"/>
              <a:t> parameter is simply a reference if we attempt to assign it a new object using</a:t>
            </a:r>
          </a:p>
          <a:p>
            <a:endParaRPr lang="en-US" dirty="0"/>
          </a:p>
          <a:p>
            <a:r>
              <a:rPr lang="en-US" dirty="0"/>
              <a:t>exports = add;</a:t>
            </a:r>
          </a:p>
          <a:p>
            <a:endParaRPr lang="en-US" dirty="0"/>
          </a:p>
          <a:p>
            <a:r>
              <a:rPr lang="en-US" dirty="0"/>
              <a:t>All we're doing is changing the reference of the object the exports parameters is pointing to rather than actually modifying the properties exported from the module.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FA43B3-4A20-C336-7F0E-04D890377FAD}"/>
              </a:ext>
            </a:extLst>
          </p:cNvPr>
          <p:cNvSpPr txBox="1"/>
          <p:nvPr/>
        </p:nvSpPr>
        <p:spPr>
          <a:xfrm>
            <a:off x="365262" y="3627857"/>
            <a:ext cx="609765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add(num1, num2)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num1 + num2;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replacing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module.exports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= add;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with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exports = add;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D2BEC5-03D3-A010-5A31-4A32C080C146}"/>
              </a:ext>
            </a:extLst>
          </p:cNvPr>
          <p:cNvSpPr txBox="1"/>
          <p:nvPr/>
        </p:nvSpPr>
        <p:spPr>
          <a:xfrm>
            <a:off x="5593245" y="4222260"/>
            <a:ext cx="609765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add = require(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"./calculate"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2.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result = add(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console.log(result);</a:t>
            </a:r>
          </a:p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result: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TypeError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: add is not a function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75247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7355803-5D04-D658-E4E4-26622ADD2135}"/>
              </a:ext>
            </a:extLst>
          </p:cNvPr>
          <p:cNvSpPr txBox="1"/>
          <p:nvPr/>
        </p:nvSpPr>
        <p:spPr>
          <a:xfrm>
            <a:off x="1627532" y="878821"/>
            <a:ext cx="2149338" cy="36933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module.exports</a:t>
            </a:r>
            <a:endParaRPr lang="en-IN" dirty="0"/>
          </a:p>
        </p:txBody>
      </p:sp>
      <p:sp>
        <p:nvSpPr>
          <p:cNvPr id="7" name="Left Brace 6">
            <a:extLst>
              <a:ext uri="{FF2B5EF4-FFF2-40B4-BE49-F238E27FC236}">
                <a16:creationId xmlns:a16="http://schemas.microsoft.com/office/drawing/2014/main" id="{DDCC9ECF-BF0D-9FA2-17EB-4B946C755516}"/>
              </a:ext>
            </a:extLst>
          </p:cNvPr>
          <p:cNvSpPr/>
          <p:nvPr/>
        </p:nvSpPr>
        <p:spPr>
          <a:xfrm>
            <a:off x="4909930" y="878821"/>
            <a:ext cx="387627" cy="741257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A08E2DBC-3DF8-78E0-D3D2-3F69C7354E95}"/>
              </a:ext>
            </a:extLst>
          </p:cNvPr>
          <p:cNvSpPr/>
          <p:nvPr/>
        </p:nvSpPr>
        <p:spPr>
          <a:xfrm rot="10800000">
            <a:off x="5981698" y="1615901"/>
            <a:ext cx="387627" cy="741257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D8F4ACA-7669-4750-B11A-75D2A592151F}"/>
              </a:ext>
            </a:extLst>
          </p:cNvPr>
          <p:cNvCxnSpPr/>
          <p:nvPr/>
        </p:nvCxnSpPr>
        <p:spPr>
          <a:xfrm>
            <a:off x="3498574" y="1248153"/>
            <a:ext cx="97403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D5D031C-B1B3-260D-BA9E-87D53B8E77E8}"/>
              </a:ext>
            </a:extLst>
          </p:cNvPr>
          <p:cNvSpPr txBox="1"/>
          <p:nvPr/>
        </p:nvSpPr>
        <p:spPr>
          <a:xfrm>
            <a:off x="2286000" y="2003526"/>
            <a:ext cx="1699591" cy="36933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exports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F478F03-D2AB-392E-B700-E3E91B79DD52}"/>
              </a:ext>
            </a:extLst>
          </p:cNvPr>
          <p:cNvSpPr txBox="1"/>
          <p:nvPr/>
        </p:nvSpPr>
        <p:spPr>
          <a:xfrm>
            <a:off x="569016" y="1540565"/>
            <a:ext cx="1575352" cy="369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Alias</a:t>
            </a:r>
            <a:endParaRPr lang="en-IN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F66B978-A8E8-F713-29A0-198127C15CCC}"/>
              </a:ext>
            </a:extLst>
          </p:cNvPr>
          <p:cNvCxnSpPr>
            <a:cxnSpLocks/>
          </p:cNvCxnSpPr>
          <p:nvPr/>
        </p:nvCxnSpPr>
        <p:spPr>
          <a:xfrm flipV="1">
            <a:off x="4140475" y="1725230"/>
            <a:ext cx="769455" cy="3619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905E3F8E-AA9F-79CE-5394-5A59BE73FC3A}"/>
              </a:ext>
            </a:extLst>
          </p:cNvPr>
          <p:cNvSpPr txBox="1"/>
          <p:nvPr/>
        </p:nvSpPr>
        <p:spPr>
          <a:xfrm>
            <a:off x="2445026" y="3250096"/>
            <a:ext cx="32799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exports.add</a:t>
            </a:r>
            <a:r>
              <a:rPr lang="en-US" dirty="0"/>
              <a:t> = add</a:t>
            </a:r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3E1CCD8-0416-44E2-27EE-3E4EFD4411C3}"/>
              </a:ext>
            </a:extLst>
          </p:cNvPr>
          <p:cNvSpPr txBox="1"/>
          <p:nvPr/>
        </p:nvSpPr>
        <p:spPr>
          <a:xfrm>
            <a:off x="5724939" y="1172817"/>
            <a:ext cx="594690" cy="3677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add</a:t>
            </a:r>
            <a:endParaRPr lang="en-IN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A767BB3-2E8D-4CF1-AD12-BD6402A119E3}"/>
              </a:ext>
            </a:extLst>
          </p:cNvPr>
          <p:cNvSpPr/>
          <p:nvPr/>
        </p:nvSpPr>
        <p:spPr>
          <a:xfrm>
            <a:off x="4432852" y="904461"/>
            <a:ext cx="3628318" cy="2533491"/>
          </a:xfrm>
          <a:custGeom>
            <a:avLst/>
            <a:gdLst>
              <a:gd name="connsiteX0" fmla="*/ 0 w 3628318"/>
              <a:gd name="connsiteY0" fmla="*/ 2405269 h 2533491"/>
              <a:gd name="connsiteX1" fmla="*/ 1659835 w 3628318"/>
              <a:gd name="connsiteY1" fmla="*/ 2514600 h 2533491"/>
              <a:gd name="connsiteX2" fmla="*/ 2146852 w 3628318"/>
              <a:gd name="connsiteY2" fmla="*/ 2385391 h 2533491"/>
              <a:gd name="connsiteX3" fmla="*/ 2315818 w 3628318"/>
              <a:gd name="connsiteY3" fmla="*/ 2305878 h 2533491"/>
              <a:gd name="connsiteX4" fmla="*/ 2494722 w 3628318"/>
              <a:gd name="connsiteY4" fmla="*/ 2236304 h 2533491"/>
              <a:gd name="connsiteX5" fmla="*/ 2792896 w 3628318"/>
              <a:gd name="connsiteY5" fmla="*/ 2097156 h 2533491"/>
              <a:gd name="connsiteX6" fmla="*/ 3210339 w 3628318"/>
              <a:gd name="connsiteY6" fmla="*/ 1789043 h 2533491"/>
              <a:gd name="connsiteX7" fmla="*/ 3409122 w 3628318"/>
              <a:gd name="connsiteY7" fmla="*/ 1530626 h 2533491"/>
              <a:gd name="connsiteX8" fmla="*/ 3588026 w 3628318"/>
              <a:gd name="connsiteY8" fmla="*/ 1093304 h 2533491"/>
              <a:gd name="connsiteX9" fmla="*/ 3627783 w 3628318"/>
              <a:gd name="connsiteY9" fmla="*/ 805069 h 2533491"/>
              <a:gd name="connsiteX10" fmla="*/ 3607905 w 3628318"/>
              <a:gd name="connsiteY10" fmla="*/ 576469 h 2533491"/>
              <a:gd name="connsiteX11" fmla="*/ 3379305 w 3628318"/>
              <a:gd name="connsiteY11" fmla="*/ 288235 h 2533491"/>
              <a:gd name="connsiteX12" fmla="*/ 3200400 w 3628318"/>
              <a:gd name="connsiteY12" fmla="*/ 178904 h 2533491"/>
              <a:gd name="connsiteX13" fmla="*/ 2773018 w 3628318"/>
              <a:gd name="connsiteY13" fmla="*/ 0 h 2533491"/>
              <a:gd name="connsiteX14" fmla="*/ 2365513 w 3628318"/>
              <a:gd name="connsiteY14" fmla="*/ 39756 h 2533491"/>
              <a:gd name="connsiteX15" fmla="*/ 2305878 w 3628318"/>
              <a:gd name="connsiteY15" fmla="*/ 59635 h 2533491"/>
              <a:gd name="connsiteX16" fmla="*/ 2226365 w 3628318"/>
              <a:gd name="connsiteY16" fmla="*/ 129209 h 2533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28318" h="2533491">
                <a:moveTo>
                  <a:pt x="0" y="2405269"/>
                </a:moveTo>
                <a:cubicBezTo>
                  <a:pt x="853232" y="2519034"/>
                  <a:pt x="843233" y="2561712"/>
                  <a:pt x="1659835" y="2514600"/>
                </a:cubicBezTo>
                <a:cubicBezTo>
                  <a:pt x="1832654" y="2504630"/>
                  <a:pt x="1989156" y="2450087"/>
                  <a:pt x="2146852" y="2385391"/>
                </a:cubicBezTo>
                <a:cubicBezTo>
                  <a:pt x="2204441" y="2361765"/>
                  <a:pt x="2258604" y="2330398"/>
                  <a:pt x="2315818" y="2305878"/>
                </a:cubicBezTo>
                <a:cubicBezTo>
                  <a:pt x="2374630" y="2280673"/>
                  <a:pt x="2436101" y="2261951"/>
                  <a:pt x="2494722" y="2236304"/>
                </a:cubicBezTo>
                <a:cubicBezTo>
                  <a:pt x="2595207" y="2192342"/>
                  <a:pt x="2695961" y="2148474"/>
                  <a:pt x="2792896" y="2097156"/>
                </a:cubicBezTo>
                <a:cubicBezTo>
                  <a:pt x="2936199" y="2021290"/>
                  <a:pt x="3100005" y="1907451"/>
                  <a:pt x="3210339" y="1789043"/>
                </a:cubicBezTo>
                <a:cubicBezTo>
                  <a:pt x="3284426" y="1709535"/>
                  <a:pt x="3349286" y="1621346"/>
                  <a:pt x="3409122" y="1530626"/>
                </a:cubicBezTo>
                <a:cubicBezTo>
                  <a:pt x="3522924" y="1358087"/>
                  <a:pt x="3528529" y="1288792"/>
                  <a:pt x="3588026" y="1093304"/>
                </a:cubicBezTo>
                <a:cubicBezTo>
                  <a:pt x="3601278" y="997226"/>
                  <a:pt x="3624055" y="901985"/>
                  <a:pt x="3627783" y="805069"/>
                </a:cubicBezTo>
                <a:cubicBezTo>
                  <a:pt x="3630723" y="728638"/>
                  <a:pt x="3621197" y="651793"/>
                  <a:pt x="3607905" y="576469"/>
                </a:cubicBezTo>
                <a:cubicBezTo>
                  <a:pt x="3585003" y="446690"/>
                  <a:pt x="3492349" y="357318"/>
                  <a:pt x="3379305" y="288235"/>
                </a:cubicBezTo>
                <a:cubicBezTo>
                  <a:pt x="3319670" y="251791"/>
                  <a:pt x="3263822" y="208266"/>
                  <a:pt x="3200400" y="178904"/>
                </a:cubicBezTo>
                <a:cubicBezTo>
                  <a:pt x="2556336" y="-119274"/>
                  <a:pt x="3008253" y="134420"/>
                  <a:pt x="2773018" y="0"/>
                </a:cubicBezTo>
                <a:cubicBezTo>
                  <a:pt x="2637183" y="13252"/>
                  <a:pt x="2500894" y="22473"/>
                  <a:pt x="2365513" y="39756"/>
                </a:cubicBezTo>
                <a:cubicBezTo>
                  <a:pt x="2344728" y="42409"/>
                  <a:pt x="2323723" y="48653"/>
                  <a:pt x="2305878" y="59635"/>
                </a:cubicBezTo>
                <a:cubicBezTo>
                  <a:pt x="2278715" y="76351"/>
                  <a:pt x="2250851" y="104723"/>
                  <a:pt x="2226365" y="129209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C394BD8C-89E9-A134-0533-E62986568147}"/>
              </a:ext>
            </a:extLst>
          </p:cNvPr>
          <p:cNvSpPr/>
          <p:nvPr/>
        </p:nvSpPr>
        <p:spPr>
          <a:xfrm rot="13953397">
            <a:off x="6482309" y="815009"/>
            <a:ext cx="500267" cy="496956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5AC0FD-05EE-47A6-DFA1-D7E4DAEAEDBE}"/>
              </a:ext>
            </a:extLst>
          </p:cNvPr>
          <p:cNvSpPr txBox="1"/>
          <p:nvPr/>
        </p:nvSpPr>
        <p:spPr>
          <a:xfrm>
            <a:off x="2445026" y="4253948"/>
            <a:ext cx="594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exporta</a:t>
            </a:r>
            <a:r>
              <a:rPr lang="en-US" dirty="0"/>
              <a:t>=Add</a:t>
            </a:r>
            <a:endParaRPr lang="en-IN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67D9E584-C246-DE53-545C-0A45AB19F55D}"/>
              </a:ext>
            </a:extLst>
          </p:cNvPr>
          <p:cNvCxnSpPr>
            <a:cxnSpLocks/>
          </p:cNvCxnSpPr>
          <p:nvPr/>
        </p:nvCxnSpPr>
        <p:spPr>
          <a:xfrm>
            <a:off x="3389243" y="2266122"/>
            <a:ext cx="198783" cy="20772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25718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</TotalTime>
  <Words>660</Words>
  <Application>Microsoft Office PowerPoint</Application>
  <PresentationFormat>Widescreen</PresentationFormat>
  <Paragraphs>83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-apple-system</vt:lpstr>
      <vt:lpstr>Arial</vt:lpstr>
      <vt:lpstr>Calibri</vt:lpstr>
      <vt:lpstr>Calibri Light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vidyanidhi school</dc:creator>
  <cp:lastModifiedBy>sriram mantri vidyanidhi infotech academy</cp:lastModifiedBy>
  <cp:revision>14</cp:revision>
  <dcterms:created xsi:type="dcterms:W3CDTF">2024-01-12T12:56:43Z</dcterms:created>
  <dcterms:modified xsi:type="dcterms:W3CDTF">2024-12-07T07:20:14Z</dcterms:modified>
</cp:coreProperties>
</file>