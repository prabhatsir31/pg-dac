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0" r:id="rId2"/>
    <p:sldId id="261" r:id="rId3"/>
    <p:sldId id="262" r:id="rId4"/>
    <p:sldId id="263" r:id="rId5"/>
    <p:sldId id="269" r:id="rId6"/>
    <p:sldId id="264" r:id="rId7"/>
    <p:sldId id="265" r:id="rId8"/>
    <p:sldId id="270" r:id="rId9"/>
    <p:sldId id="266" r:id="rId10"/>
    <p:sldId id="271" r:id="rId11"/>
    <p:sldId id="267" r:id="rId12"/>
    <p:sldId id="272" r:id="rId13"/>
    <p:sldId id="268"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8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13-01-2024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13-01-2024</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13-01-2024</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13-01-2024</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13-01-2024</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13-01-2024</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13-01-2024</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13-01-2024</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13-01-2024</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13-01-2024</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13-01-2024</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13-01-2024</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13-01-2024</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mongoosejs.com/docs/api.html#model_Model.findById" TargetMode="External"/><Relationship Id="rId13" Type="http://schemas.openxmlformats.org/officeDocument/2006/relationships/hyperlink" Target="https://mongoosejs.com/docs/api.html#model_Model.findOneAndDelete" TargetMode="External"/><Relationship Id="rId18" Type="http://schemas.openxmlformats.org/officeDocument/2006/relationships/hyperlink" Target="https://mongoosejs.com/docs/api.html#model_Model.updateMany" TargetMode="External"/><Relationship Id="rId3" Type="http://schemas.openxmlformats.org/officeDocument/2006/relationships/hyperlink" Target="https://en.wikipedia.org/wiki/Create,_read,_update_and_delete" TargetMode="External"/><Relationship Id="rId7" Type="http://schemas.openxmlformats.org/officeDocument/2006/relationships/hyperlink" Target="https://mongoosejs.com/docs/api.html#model_Model.find" TargetMode="External"/><Relationship Id="rId12" Type="http://schemas.openxmlformats.org/officeDocument/2006/relationships/hyperlink" Target="https://mongoosejs.com/docs/api.html#model_Model.findOne" TargetMode="External"/><Relationship Id="rId17" Type="http://schemas.openxmlformats.org/officeDocument/2006/relationships/hyperlink" Target="https://mongoosejs.com/docs/api.html#model_Model.replaceOne" TargetMode="External"/><Relationship Id="rId2" Type="http://schemas.openxmlformats.org/officeDocument/2006/relationships/hyperlink" Target="https://mongoosejs.com/docs/models.html" TargetMode="External"/><Relationship Id="rId16" Type="http://schemas.openxmlformats.org/officeDocument/2006/relationships/hyperlink" Target="https://mongoosejs.com/docs/api.html#model_Model.findOneAndUpdate" TargetMode="External"/><Relationship Id="rId1" Type="http://schemas.openxmlformats.org/officeDocument/2006/relationships/slideLayout" Target="../slideLayouts/slideLayout2.xml"/><Relationship Id="rId6" Type="http://schemas.openxmlformats.org/officeDocument/2006/relationships/hyperlink" Target="https://mongoosejs.com/docs/api.html#model_Model.deleteOne" TargetMode="External"/><Relationship Id="rId11" Type="http://schemas.openxmlformats.org/officeDocument/2006/relationships/hyperlink" Target="https://mongoosejs.com/docs/api.html#model_Model.findByIdAndUpdate" TargetMode="External"/><Relationship Id="rId5" Type="http://schemas.openxmlformats.org/officeDocument/2006/relationships/hyperlink" Target="https://mongoosejs.com/docs/api.html#model_Model.deleteMany" TargetMode="External"/><Relationship Id="rId15" Type="http://schemas.openxmlformats.org/officeDocument/2006/relationships/hyperlink" Target="https://mongoosejs.com/docs/api.html#model_Model.findOneAndReplace" TargetMode="External"/><Relationship Id="rId10" Type="http://schemas.openxmlformats.org/officeDocument/2006/relationships/hyperlink" Target="https://mongoosejs.com/docs/api.html#model_Model.findByIdAndRemove" TargetMode="External"/><Relationship Id="rId19" Type="http://schemas.openxmlformats.org/officeDocument/2006/relationships/hyperlink" Target="https://mongoosejs.com/docs/api.html#model_Model.updateOne" TargetMode="External"/><Relationship Id="rId4" Type="http://schemas.openxmlformats.org/officeDocument/2006/relationships/hyperlink" Target="http://mongoosejs.com/docs/api.html#Query" TargetMode="External"/><Relationship Id="rId9" Type="http://schemas.openxmlformats.org/officeDocument/2006/relationships/hyperlink" Target="https://mongoosejs.com/docs/api.html#model_Model.findByIdAndDelete" TargetMode="External"/><Relationship Id="rId14" Type="http://schemas.openxmlformats.org/officeDocument/2006/relationships/hyperlink" Target="https://mongoosejs.com/docs/api.html#model_Model.findOneAndRemove"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mongoosejs.com/" TargetMode="External"/><Relationship Id="rId2" Type="http://schemas.openxmlformats.org/officeDocument/2006/relationships/hyperlink" Target="http://expressjs.com/" TargetMode="External"/><Relationship Id="rId1" Type="http://schemas.openxmlformats.org/officeDocument/2006/relationships/slideLayout" Target="../slideLayouts/slideLayout2.xml"/><Relationship Id="rId4" Type="http://schemas.openxmlformats.org/officeDocument/2006/relationships/hyperlink" Target="https://www.npmjs.com/package/body-parser"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90859-04C9-4EE9-8253-038DD9F7C3F1}"/>
              </a:ext>
            </a:extLst>
          </p:cNvPr>
          <p:cNvSpPr>
            <a:spLocks noGrp="1"/>
          </p:cNvSpPr>
          <p:nvPr>
            <p:ph type="title"/>
          </p:nvPr>
        </p:nvSpPr>
        <p:spPr/>
        <p:txBody>
          <a:bodyPr/>
          <a:lstStyle/>
          <a:p>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ODM</a:t>
            </a:r>
            <a:endParaRPr lang="en-IN" dirty="0"/>
          </a:p>
        </p:txBody>
      </p:sp>
      <p:sp>
        <p:nvSpPr>
          <p:cNvPr id="3" name="Content Placeholder 2">
            <a:extLst>
              <a:ext uri="{FF2B5EF4-FFF2-40B4-BE49-F238E27FC236}">
                <a16:creationId xmlns:a16="http://schemas.microsoft.com/office/drawing/2014/main" id="{A18B90A3-7428-473A-B1B7-5951D38D4C45}"/>
              </a:ext>
            </a:extLst>
          </p:cNvPr>
          <p:cNvSpPr>
            <a:spLocks noGrp="1"/>
          </p:cNvSpPr>
          <p:nvPr>
            <p:ph idx="1"/>
          </p:nvPr>
        </p:nvSpPr>
        <p:spPr/>
        <p:txBody>
          <a:bodyPr/>
          <a:lstStyle/>
          <a:p>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is an Object Data Modeling (ODM) library for MongoDB and </a:t>
            </a:r>
            <a:r>
              <a:rPr lang="en-US" b="1" i="0" dirty="0">
                <a:solidFill>
                  <a:srgbClr val="202124"/>
                </a:solidFill>
                <a:effectLst/>
                <a:latin typeface="arial" panose="020B0604020202020204" pitchFamily="34" charset="0"/>
              </a:rPr>
              <a:t>Node</a:t>
            </a:r>
            <a:r>
              <a:rPr lang="en-US" b="0" i="0" dirty="0">
                <a:solidFill>
                  <a:srgbClr val="202124"/>
                </a:solidFill>
                <a:effectLst/>
                <a:latin typeface="arial" panose="020B0604020202020204" pitchFamily="34" charset="0"/>
              </a:rPr>
              <a:t>. </a:t>
            </a:r>
            <a:r>
              <a:rPr lang="en-US" b="1" i="0" dirty="0" err="1">
                <a:solidFill>
                  <a:srgbClr val="202124"/>
                </a:solidFill>
                <a:effectLst/>
                <a:latin typeface="arial" panose="020B0604020202020204" pitchFamily="34" charset="0"/>
              </a:rPr>
              <a:t>js</a:t>
            </a:r>
            <a:r>
              <a:rPr lang="en-US" b="0" i="0" dirty="0">
                <a:solidFill>
                  <a:srgbClr val="202124"/>
                </a:solidFill>
                <a:effectLst/>
                <a:latin typeface="arial" panose="020B0604020202020204" pitchFamily="34" charset="0"/>
              </a:rPr>
              <a:t>. It manages relationships between data, provides schema validation, and is used to translate between objects in code and the representation of those objects in MongoDB.</a:t>
            </a:r>
          </a:p>
          <a:p>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is a JavaScript library that allows you to define schemas with strongly typed data. Once a schema is defined, </a:t>
            </a:r>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lets you create a </a:t>
            </a:r>
            <a:r>
              <a:rPr lang="en-US" b="0" i="0" dirty="0">
                <a:solidFill>
                  <a:srgbClr val="202124"/>
                </a:solidFill>
                <a:effectLst/>
                <a:highlight>
                  <a:srgbClr val="FFFF00"/>
                </a:highlight>
                <a:latin typeface="arial" panose="020B0604020202020204" pitchFamily="34" charset="0"/>
              </a:rPr>
              <a:t>Model </a:t>
            </a:r>
            <a:r>
              <a:rPr lang="en-US" b="0" i="0" dirty="0">
                <a:solidFill>
                  <a:srgbClr val="202124"/>
                </a:solidFill>
                <a:effectLst/>
                <a:latin typeface="arial" panose="020B0604020202020204" pitchFamily="34" charset="0"/>
              </a:rPr>
              <a:t>based on a specific </a:t>
            </a:r>
            <a:r>
              <a:rPr lang="en-US" b="0" i="0" dirty="0">
                <a:solidFill>
                  <a:srgbClr val="202124"/>
                </a:solidFill>
                <a:effectLst/>
                <a:highlight>
                  <a:srgbClr val="FFFF00"/>
                </a:highlight>
                <a:latin typeface="arial" panose="020B0604020202020204" pitchFamily="34" charset="0"/>
              </a:rPr>
              <a:t>schema</a:t>
            </a:r>
            <a:r>
              <a:rPr lang="en-US" b="0" i="0" dirty="0">
                <a:solidFill>
                  <a:srgbClr val="202124"/>
                </a:solidFill>
                <a:effectLst/>
                <a:latin typeface="arial" panose="020B0604020202020204" pitchFamily="34" charset="0"/>
              </a:rPr>
              <a:t>. A </a:t>
            </a:r>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Model is then mapped to a MongoDB Document via the Model's schema definition</a:t>
            </a:r>
            <a:endParaRPr lang="en-IN" dirty="0"/>
          </a:p>
        </p:txBody>
      </p:sp>
    </p:spTree>
    <p:extLst>
      <p:ext uri="{BB962C8B-B14F-4D97-AF65-F5344CB8AC3E}">
        <p14:creationId xmlns:p14="http://schemas.microsoft.com/office/powerpoint/2010/main" val="421204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DAA1B09-6C35-46A2-BC0B-F1BF8B725F14}"/>
              </a:ext>
            </a:extLst>
          </p:cNvPr>
          <p:cNvSpPr>
            <a:spLocks noGrp="1" noChangeArrowheads="1"/>
          </p:cNvSpPr>
          <p:nvPr>
            <p:ph idx="1"/>
          </p:nvPr>
        </p:nvSpPr>
        <p:spPr bwMode="auto">
          <a:xfrm>
            <a:off x="285135" y="1769851"/>
            <a:ext cx="11697719" cy="3754874"/>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Open Sans"/>
              </a:rPr>
              <a:t>Mongoose </a:t>
            </a:r>
            <a:r>
              <a:rPr kumimoji="0" lang="en-US" altLang="en-US" sz="1400" b="0" i="0" u="none" strike="noStrike" cap="none" normalizeH="0" baseline="0" dirty="0">
                <a:ln>
                  <a:noFill/>
                </a:ln>
                <a:solidFill>
                  <a:srgbClr val="0971B2"/>
                </a:solidFill>
                <a:effectLst/>
                <a:latin typeface="Open Sans"/>
                <a:hlinkClick r:id="rId2"/>
              </a:rPr>
              <a:t>models</a:t>
            </a:r>
            <a:r>
              <a:rPr kumimoji="0" lang="en-US" altLang="en-US" sz="1400" b="0" i="0" u="none" strike="noStrike" cap="none" normalizeH="0" baseline="0" dirty="0">
                <a:ln>
                  <a:noFill/>
                </a:ln>
                <a:solidFill>
                  <a:srgbClr val="000000"/>
                </a:solidFill>
                <a:effectLst/>
                <a:latin typeface="Open Sans"/>
              </a:rPr>
              <a:t> provide several static helper functions for </a:t>
            </a:r>
            <a:r>
              <a:rPr kumimoji="0" lang="en-US" altLang="en-US" sz="1400" b="0" i="0" u="none" strike="noStrike" cap="none" normalizeH="0" baseline="0" dirty="0">
                <a:ln>
                  <a:noFill/>
                </a:ln>
                <a:solidFill>
                  <a:srgbClr val="0971B2"/>
                </a:solidFill>
                <a:effectLst/>
                <a:latin typeface="Open Sans"/>
                <a:hlinkClick r:id="rId3"/>
              </a:rPr>
              <a:t>CRUD operations</a:t>
            </a:r>
            <a:r>
              <a:rPr kumimoji="0" lang="en-US" altLang="en-US" sz="1400" b="0" i="0" u="none" strike="noStrike" cap="none" normalizeH="0" baseline="0" dirty="0">
                <a:ln>
                  <a:noFill/>
                </a:ln>
                <a:solidFill>
                  <a:srgbClr val="000000"/>
                </a:solidFill>
                <a:effectLst/>
                <a:latin typeface="Open Sans"/>
              </a:rPr>
              <a:t>. Each of these functions returns a </a:t>
            </a:r>
            <a:r>
              <a:rPr kumimoji="0" lang="en-US" altLang="en-US" sz="1400" b="0" i="0" u="none" strike="noStrike" cap="none" normalizeH="0" baseline="0" dirty="0">
                <a:ln>
                  <a:noFill/>
                </a:ln>
                <a:solidFill>
                  <a:srgbClr val="0971B2"/>
                </a:solidFill>
                <a:effectLst/>
                <a:latin typeface="Open Sans"/>
                <a:hlinkClick r:id="rId4"/>
              </a:rPr>
              <a:t>mongoose </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4"/>
              </a:rPr>
              <a:t>Query</a:t>
            </a:r>
            <a:r>
              <a:rPr kumimoji="0" lang="en-US" altLang="en-US" sz="1400" b="0" i="0" u="none" strike="noStrike" cap="none" normalizeH="0" baseline="0" dirty="0">
                <a:ln>
                  <a:noFill/>
                </a:ln>
                <a:solidFill>
                  <a:srgbClr val="0971B2"/>
                </a:solidFill>
                <a:effectLst/>
                <a:latin typeface="Open Sans"/>
                <a:hlinkClick r:id="rId4"/>
              </a:rPr>
              <a:t> object</a:t>
            </a:r>
            <a:r>
              <a:rPr kumimoji="0" lang="en-US" altLang="en-US" sz="1400" b="0" i="0" u="none" strike="noStrike" cap="none" normalizeH="0" baseline="0" dirty="0">
                <a:ln>
                  <a:noFill/>
                </a:ln>
                <a:solidFill>
                  <a:srgbClr val="000000"/>
                </a:solidFill>
                <a:effectLst/>
                <a:latin typeface="Open Sans"/>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5"/>
              </a:rPr>
              <a:t>Model.deleteMany</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5"/>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6"/>
              </a:rPr>
              <a:t>Model.deleteOne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6"/>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7"/>
              </a:rPr>
              <a:t>Model.find</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7"/>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8"/>
              </a:rPr>
              <a:t>Model.findById</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8"/>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9"/>
              </a:rPr>
              <a:t>Model.findByIdAndDelete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9"/>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0"/>
              </a:rPr>
              <a:t>Model.findByIdAndRemove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0"/>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1"/>
              </a:rPr>
              <a:t>Model.findByIdAndUpdate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1"/>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2"/>
              </a:rPr>
              <a:t>Model.findOne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2"/>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3"/>
              </a:rPr>
              <a:t>Model.findOneAndDelete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3"/>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4"/>
              </a:rPr>
              <a:t>Model.findOneAndRemove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4"/>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5"/>
              </a:rPr>
              <a:t>Model.findOneAndReplace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5"/>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6"/>
              </a:rPr>
              <a:t>Model.findOneAndUpdate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6"/>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7"/>
              </a:rPr>
              <a:t>Model.replaceOne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7"/>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8"/>
              </a:rPr>
              <a:t>Model.updateMany</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8"/>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9"/>
              </a:rPr>
              <a:t>Model.updateOne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9"/>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62805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891A03A-49D8-4EF8-8143-B2E241BBF3A1}"/>
              </a:ext>
            </a:extLst>
          </p:cNvPr>
          <p:cNvSpPr>
            <a:spLocks noGrp="1" noChangeArrowheads="1"/>
          </p:cNvSpPr>
          <p:nvPr>
            <p:ph idx="1"/>
          </p:nvPr>
        </p:nvSpPr>
        <p:spPr bwMode="auto">
          <a:xfrm>
            <a:off x="995844" y="56469"/>
            <a:ext cx="11046544" cy="17901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A3A3A"/>
                </a:solidFill>
                <a:effectLst/>
                <a:latin typeface="roboto"/>
              </a:rPr>
              <a:t>To start things off, let’s go ahead and create a fresh Node.js project with the appropriate dependencies. From the command line, execute the following: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effectLst/>
                <a:highlight>
                  <a:srgbClr val="FFFF00"/>
                </a:highlight>
                <a:latin typeface="Menlo"/>
              </a:rPr>
              <a:t>npm</a:t>
            </a:r>
            <a:r>
              <a:rPr kumimoji="0" lang="en-US" altLang="en-US" sz="1800" b="0" i="0" u="none" strike="noStrike" cap="none" normalizeH="0" baseline="0" dirty="0">
                <a:ln>
                  <a:noFill/>
                </a:ln>
                <a:effectLst/>
                <a:highlight>
                  <a:srgbClr val="FFFF00"/>
                </a:highlight>
                <a:latin typeface="Menlo"/>
              </a:rPr>
              <a:t> </a:t>
            </a:r>
            <a:r>
              <a:rPr kumimoji="0" lang="en-US" altLang="en-US" sz="1800" b="0" i="0" u="none" strike="noStrike" cap="none" normalizeH="0" baseline="0" dirty="0" err="1">
                <a:ln>
                  <a:noFill/>
                </a:ln>
                <a:effectLst/>
                <a:highlight>
                  <a:srgbClr val="FFFF00"/>
                </a:highlight>
                <a:latin typeface="Menlo"/>
              </a:rPr>
              <a:t>init</a:t>
            </a:r>
            <a:r>
              <a:rPr kumimoji="0" lang="en-US" altLang="en-US" sz="1800" b="0" i="0" u="none" strike="noStrike" cap="none" normalizeH="0" baseline="0" dirty="0">
                <a:ln>
                  <a:noFill/>
                </a:ln>
                <a:effectLst/>
                <a:highlight>
                  <a:srgbClr val="FFFF00"/>
                </a:highlight>
                <a:latin typeface="Menlo"/>
              </a:rPr>
              <a:t> -y </a:t>
            </a:r>
            <a:r>
              <a:rPr kumimoji="0" lang="en-US" altLang="en-US" sz="1800" b="0" i="0" u="none" strike="noStrike" cap="none" normalizeH="0" baseline="0" dirty="0" err="1">
                <a:ln>
                  <a:noFill/>
                </a:ln>
                <a:effectLst/>
                <a:highlight>
                  <a:srgbClr val="FFFF00"/>
                </a:highlight>
                <a:latin typeface="Menlo"/>
              </a:rPr>
              <a:t>npm</a:t>
            </a:r>
            <a:r>
              <a:rPr kumimoji="0" lang="en-US" altLang="en-US" sz="1800" b="0" i="0" u="none" strike="noStrike" cap="none" normalizeH="0" baseline="0" dirty="0">
                <a:ln>
                  <a:noFill/>
                </a:ln>
                <a:effectLst/>
                <a:highlight>
                  <a:srgbClr val="FFFF00"/>
                </a:highlight>
                <a:latin typeface="Menlo"/>
              </a:rPr>
              <a:t> install express body-parser mongoose --save </a:t>
            </a:r>
            <a:endParaRPr kumimoji="0" lang="en-US" altLang="en-US" sz="1800" b="0" i="0" u="none" strike="noStrike" cap="none" normalizeH="0" baseline="0" dirty="0">
              <a:ln>
                <a:noFill/>
              </a:ln>
              <a:effectLst/>
              <a:highlight>
                <a:srgbClr val="FFFF00"/>
              </a:highligh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A3A3A"/>
                </a:solidFill>
                <a:effectLst/>
                <a:latin typeface="roboto"/>
              </a:rPr>
              <a:t>The above commands will create a new </a:t>
            </a:r>
            <a:r>
              <a:rPr kumimoji="0" lang="en-US" altLang="en-US" sz="1800" b="1" i="0" u="none" strike="noStrike" cap="none" normalizeH="0" baseline="0" dirty="0" err="1">
                <a:ln>
                  <a:noFill/>
                </a:ln>
                <a:solidFill>
                  <a:srgbClr val="3A3A3A"/>
                </a:solidFill>
                <a:effectLst/>
                <a:latin typeface="roboto"/>
              </a:rPr>
              <a:t>package.json</a:t>
            </a:r>
            <a:r>
              <a:rPr kumimoji="0" lang="en-US" altLang="en-US" sz="1800" b="0" i="0" u="none" strike="noStrike" cap="none" normalizeH="0" baseline="0" dirty="0">
                <a:ln>
                  <a:noFill/>
                </a:ln>
                <a:solidFill>
                  <a:srgbClr val="3A3A3A"/>
                </a:solidFill>
                <a:effectLst/>
                <a:latin typeface="roboto"/>
              </a:rPr>
              <a:t> file and install </a:t>
            </a:r>
            <a:r>
              <a:rPr kumimoji="0" lang="en-US" altLang="en-US" sz="1800" b="0" i="0" u="none" strike="noStrike" cap="none" normalizeH="0" baseline="0" dirty="0">
                <a:ln>
                  <a:noFill/>
                </a:ln>
                <a:solidFill>
                  <a:srgbClr val="337AB7"/>
                </a:solidFill>
                <a:effectLst/>
                <a:latin typeface="roboto"/>
                <a:hlinkClick r:id="rId2"/>
              </a:rPr>
              <a:t>Express.js</a:t>
            </a:r>
            <a:r>
              <a:rPr kumimoji="0" lang="en-US" altLang="en-US" sz="1800" b="0" i="0" u="none" strike="noStrike" cap="none" normalizeH="0" baseline="0" dirty="0">
                <a:ln>
                  <a:noFill/>
                </a:ln>
                <a:solidFill>
                  <a:srgbClr val="3A3A3A"/>
                </a:solidFill>
                <a:effectLst/>
                <a:latin typeface="roboto"/>
              </a:rPr>
              <a:t>, </a:t>
            </a:r>
            <a:r>
              <a:rPr kumimoji="0" lang="en-US" altLang="en-US" sz="1800" b="0" i="0" u="none" strike="noStrike" cap="none" normalizeH="0" baseline="0" dirty="0">
                <a:ln>
                  <a:noFill/>
                </a:ln>
                <a:solidFill>
                  <a:srgbClr val="337AB7"/>
                </a:solidFill>
                <a:effectLst/>
                <a:latin typeface="roboto"/>
                <a:hlinkClick r:id="rId3"/>
              </a:rPr>
              <a:t>Mongoose</a:t>
            </a:r>
            <a:r>
              <a:rPr kumimoji="0" lang="en-US" altLang="en-US" sz="1800" b="0" i="0" u="none" strike="noStrike" cap="none" normalizeH="0" baseline="0" dirty="0">
                <a:ln>
                  <a:noFill/>
                </a:ln>
                <a:solidFill>
                  <a:srgbClr val="3A3A3A"/>
                </a:solidFill>
                <a:effectLst/>
                <a:latin typeface="roboto"/>
              </a:rPr>
              <a:t>, and a package that will allow us to pass JSON data around in our requests.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71B24782-24C3-4B54-BE3A-9504357FC6A5}"/>
              </a:ext>
            </a:extLst>
          </p:cNvPr>
          <p:cNvSpPr txBox="1"/>
          <p:nvPr/>
        </p:nvSpPr>
        <p:spPr>
          <a:xfrm>
            <a:off x="0" y="2123661"/>
            <a:ext cx="11530781" cy="646331"/>
          </a:xfrm>
          <a:prstGeom prst="rect">
            <a:avLst/>
          </a:prstGeom>
          <a:noFill/>
        </p:spPr>
        <p:txBody>
          <a:bodyPr wrap="square">
            <a:spAutoFit/>
          </a:bodyPr>
          <a:lstStyle/>
          <a:p>
            <a:r>
              <a:rPr lang="en-US" b="0" i="0" dirty="0">
                <a:solidFill>
                  <a:srgbClr val="3A3A3A"/>
                </a:solidFill>
                <a:effectLst/>
                <a:latin typeface="roboto"/>
              </a:rPr>
              <a:t>For simplicity, we’re going to keep all of our code within a single JavaScript file. Create an </a:t>
            </a:r>
            <a:r>
              <a:rPr lang="en-US" b="1" i="0" dirty="0">
                <a:solidFill>
                  <a:srgbClr val="3A3A3A"/>
                </a:solidFill>
                <a:effectLst/>
                <a:latin typeface="roboto"/>
              </a:rPr>
              <a:t>app.js</a:t>
            </a:r>
            <a:r>
              <a:rPr lang="en-US" b="0" i="0" dirty="0">
                <a:solidFill>
                  <a:srgbClr val="3A3A3A"/>
                </a:solidFill>
                <a:effectLst/>
                <a:latin typeface="roboto"/>
              </a:rPr>
              <a:t> file at the root of your project and include the following boilerplate code:</a:t>
            </a:r>
            <a:endParaRPr lang="en-IN" dirty="0"/>
          </a:p>
        </p:txBody>
      </p:sp>
      <p:sp>
        <p:nvSpPr>
          <p:cNvPr id="8" name="TextBox 7">
            <a:extLst>
              <a:ext uri="{FF2B5EF4-FFF2-40B4-BE49-F238E27FC236}">
                <a16:creationId xmlns:a16="http://schemas.microsoft.com/office/drawing/2014/main" id="{0776A5ED-B8C9-4AC5-B825-E782A733D815}"/>
              </a:ext>
            </a:extLst>
          </p:cNvPr>
          <p:cNvSpPr txBox="1"/>
          <p:nvPr/>
        </p:nvSpPr>
        <p:spPr>
          <a:xfrm>
            <a:off x="0" y="2993356"/>
            <a:ext cx="6135328" cy="34163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IN" b="0" i="0" dirty="0" err="1">
                <a:solidFill>
                  <a:srgbClr val="66D9EF"/>
                </a:solidFill>
                <a:effectLst/>
                <a:latin typeface="Menlo"/>
              </a:rPr>
              <a:t>const</a:t>
            </a:r>
            <a:r>
              <a:rPr lang="en-IN" b="0" i="0" dirty="0">
                <a:solidFill>
                  <a:srgbClr val="F8F8F2"/>
                </a:solidFill>
                <a:effectLst/>
                <a:latin typeface="Menlo"/>
              </a:rPr>
              <a:t> </a:t>
            </a:r>
            <a:r>
              <a:rPr lang="en-IN" b="0" i="0" dirty="0">
                <a:solidFill>
                  <a:srgbClr val="A6E22E"/>
                </a:solidFill>
                <a:effectLst/>
                <a:latin typeface="Menlo"/>
              </a:rPr>
              <a:t>Express</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require</a:t>
            </a:r>
            <a:r>
              <a:rPr lang="en-IN" b="0" i="0" dirty="0">
                <a:solidFill>
                  <a:srgbClr val="F8F8F2"/>
                </a:solidFill>
                <a:effectLst/>
                <a:latin typeface="Menlo"/>
              </a:rPr>
              <a:t>(</a:t>
            </a:r>
            <a:r>
              <a:rPr lang="en-IN" b="0" i="0" dirty="0">
                <a:solidFill>
                  <a:srgbClr val="E6DB74"/>
                </a:solidFill>
                <a:effectLst/>
                <a:latin typeface="Menlo"/>
              </a:rPr>
              <a:t>"express"</a:t>
            </a:r>
            <a:r>
              <a:rPr lang="en-IN" b="0" i="0" dirty="0">
                <a:solidFill>
                  <a:srgbClr val="F8F8F2"/>
                </a:solidFill>
                <a:effectLst/>
                <a:latin typeface="Menlo"/>
              </a:rPr>
              <a:t>);</a:t>
            </a:r>
          </a:p>
          <a:p>
            <a:r>
              <a:rPr lang="en-IN" b="0" i="0" dirty="0">
                <a:solidFill>
                  <a:srgbClr val="F8F8F2"/>
                </a:solidFill>
                <a:effectLst/>
                <a:latin typeface="Menlo"/>
              </a:rPr>
              <a:t> </a:t>
            </a:r>
            <a:r>
              <a:rPr lang="en-IN" b="0" i="0" dirty="0" err="1">
                <a:solidFill>
                  <a:srgbClr val="66D9EF"/>
                </a:solidFill>
                <a:effectLst/>
                <a:latin typeface="Menlo"/>
              </a:rPr>
              <a:t>const</a:t>
            </a:r>
            <a:r>
              <a:rPr lang="en-IN" b="0" i="0" dirty="0">
                <a:solidFill>
                  <a:srgbClr val="F8F8F2"/>
                </a:solidFill>
                <a:effectLst/>
                <a:latin typeface="Menlo"/>
              </a:rPr>
              <a:t> </a:t>
            </a:r>
            <a:r>
              <a:rPr lang="en-IN" b="0" i="0" dirty="0">
                <a:solidFill>
                  <a:srgbClr val="A6E22E"/>
                </a:solidFill>
                <a:effectLst/>
                <a:latin typeface="Menlo"/>
              </a:rPr>
              <a:t>Mongoose</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require</a:t>
            </a:r>
            <a:r>
              <a:rPr lang="en-IN" b="0" i="0" dirty="0">
                <a:solidFill>
                  <a:srgbClr val="F8F8F2"/>
                </a:solidFill>
                <a:effectLst/>
                <a:latin typeface="Menlo"/>
              </a:rPr>
              <a:t>(</a:t>
            </a:r>
            <a:r>
              <a:rPr lang="en-IN" b="0" i="0" dirty="0">
                <a:solidFill>
                  <a:srgbClr val="E6DB74"/>
                </a:solidFill>
                <a:effectLst/>
                <a:latin typeface="Menlo"/>
              </a:rPr>
              <a:t>"mongoose"</a:t>
            </a:r>
            <a:r>
              <a:rPr lang="en-IN" b="0" i="0" dirty="0">
                <a:solidFill>
                  <a:srgbClr val="F8F8F2"/>
                </a:solidFill>
                <a:effectLst/>
                <a:latin typeface="Menlo"/>
              </a:rPr>
              <a:t>); </a:t>
            </a:r>
          </a:p>
          <a:p>
            <a:r>
              <a:rPr lang="en-IN" b="0" i="0" dirty="0" err="1">
                <a:solidFill>
                  <a:srgbClr val="66D9EF"/>
                </a:solidFill>
                <a:effectLst/>
                <a:latin typeface="Menlo"/>
              </a:rPr>
              <a:t>const</a:t>
            </a:r>
            <a:r>
              <a:rPr lang="en-IN" b="0" i="0" dirty="0">
                <a:solidFill>
                  <a:srgbClr val="F8F8F2"/>
                </a:solidFill>
                <a:effectLst/>
                <a:latin typeface="Menlo"/>
              </a:rPr>
              <a:t> </a:t>
            </a:r>
            <a:r>
              <a:rPr lang="en-IN" b="0" i="0" dirty="0" err="1">
                <a:solidFill>
                  <a:srgbClr val="A6E22E"/>
                </a:solidFill>
                <a:effectLst/>
                <a:latin typeface="Menlo"/>
              </a:rPr>
              <a:t>BodyParser</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require</a:t>
            </a:r>
            <a:r>
              <a:rPr lang="en-IN" b="0" i="0" dirty="0">
                <a:solidFill>
                  <a:srgbClr val="F8F8F2"/>
                </a:solidFill>
                <a:effectLst/>
                <a:latin typeface="Menlo"/>
              </a:rPr>
              <a:t>(</a:t>
            </a:r>
            <a:r>
              <a:rPr lang="en-IN" b="0" i="0" dirty="0">
                <a:solidFill>
                  <a:srgbClr val="E6DB74"/>
                </a:solidFill>
                <a:effectLst/>
                <a:latin typeface="Menlo"/>
              </a:rPr>
              <a:t>"body-parser"</a:t>
            </a:r>
            <a:r>
              <a:rPr lang="en-IN" b="0" i="0" dirty="0">
                <a:solidFill>
                  <a:srgbClr val="F8F8F2"/>
                </a:solidFill>
                <a:effectLst/>
                <a:latin typeface="Menlo"/>
              </a:rPr>
              <a:t>); </a:t>
            </a:r>
          </a:p>
          <a:p>
            <a:r>
              <a:rPr lang="en-IN" b="0" i="0" dirty="0">
                <a:solidFill>
                  <a:srgbClr val="66D9EF"/>
                </a:solidFill>
                <a:effectLst/>
                <a:latin typeface="Menlo"/>
              </a:rPr>
              <a:t>var</a:t>
            </a:r>
            <a:r>
              <a:rPr lang="en-IN" b="0" i="0" dirty="0">
                <a:solidFill>
                  <a:srgbClr val="F8F8F2"/>
                </a:solidFill>
                <a:effectLst/>
                <a:latin typeface="Menlo"/>
              </a:rPr>
              <a:t> </a:t>
            </a:r>
            <a:r>
              <a:rPr lang="en-IN" b="0" i="0" dirty="0">
                <a:solidFill>
                  <a:srgbClr val="A6E22E"/>
                </a:solidFill>
                <a:effectLst/>
                <a:latin typeface="Menlo"/>
              </a:rPr>
              <a:t>app</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Express</a:t>
            </a:r>
            <a:r>
              <a:rPr lang="en-IN" b="0" i="0" dirty="0">
                <a:solidFill>
                  <a:srgbClr val="F8F8F2"/>
                </a:solidFill>
                <a:effectLst/>
                <a:latin typeface="Menlo"/>
              </a:rPr>
              <a:t>(); </a:t>
            </a:r>
          </a:p>
          <a:p>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use</a:t>
            </a:r>
            <a:r>
              <a:rPr lang="en-IN" b="0" i="0" dirty="0">
                <a:solidFill>
                  <a:srgbClr val="F8F8F2"/>
                </a:solidFill>
                <a:effectLst/>
                <a:latin typeface="Menlo"/>
              </a:rPr>
              <a:t>(</a:t>
            </a:r>
            <a:r>
              <a:rPr lang="en-IN" b="0" i="0" dirty="0" err="1">
                <a:solidFill>
                  <a:srgbClr val="A6E22E"/>
                </a:solidFill>
                <a:effectLst/>
                <a:latin typeface="Menlo"/>
              </a:rPr>
              <a:t>BodyParser</a:t>
            </a:r>
            <a:r>
              <a:rPr lang="en-IN" b="0" i="0" dirty="0" err="1">
                <a:solidFill>
                  <a:srgbClr val="F8F8F2"/>
                </a:solidFill>
                <a:effectLst/>
                <a:latin typeface="Menlo"/>
              </a:rPr>
              <a:t>.</a:t>
            </a:r>
            <a:r>
              <a:rPr lang="en-IN" b="0" i="0" dirty="0" err="1">
                <a:solidFill>
                  <a:srgbClr val="A6E22E"/>
                </a:solidFill>
                <a:effectLst/>
                <a:latin typeface="Menlo"/>
              </a:rPr>
              <a:t>json</a:t>
            </a:r>
            <a:r>
              <a:rPr lang="en-IN" b="0" i="0" dirty="0">
                <a:solidFill>
                  <a:srgbClr val="F8F8F2"/>
                </a:solidFill>
                <a:effectLst/>
                <a:latin typeface="Menlo"/>
              </a:rPr>
              <a:t>()); </a:t>
            </a:r>
          </a:p>
          <a:p>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use</a:t>
            </a:r>
            <a:r>
              <a:rPr lang="en-IN" b="0" i="0" dirty="0">
                <a:solidFill>
                  <a:srgbClr val="F8F8F2"/>
                </a:solidFill>
                <a:effectLst/>
                <a:latin typeface="Menlo"/>
              </a:rPr>
              <a:t>(</a:t>
            </a:r>
            <a:r>
              <a:rPr lang="en-IN" b="0" i="0" dirty="0" err="1">
                <a:solidFill>
                  <a:srgbClr val="A6E22E"/>
                </a:solidFill>
                <a:effectLst/>
                <a:latin typeface="Menlo"/>
              </a:rPr>
              <a:t>BodyParser</a:t>
            </a:r>
            <a:r>
              <a:rPr lang="en-IN" b="0" i="0" dirty="0" err="1">
                <a:solidFill>
                  <a:srgbClr val="F8F8F2"/>
                </a:solidFill>
                <a:effectLst/>
                <a:latin typeface="Menlo"/>
              </a:rPr>
              <a:t>.</a:t>
            </a:r>
            <a:r>
              <a:rPr lang="en-IN" b="0" i="0" dirty="0" err="1">
                <a:solidFill>
                  <a:srgbClr val="A6E22E"/>
                </a:solidFill>
                <a:effectLst/>
                <a:latin typeface="Menlo"/>
              </a:rPr>
              <a:t>urlencoded</a:t>
            </a:r>
            <a:r>
              <a:rPr lang="en-IN" b="0" i="0" dirty="0">
                <a:solidFill>
                  <a:srgbClr val="F8F8F2"/>
                </a:solidFill>
                <a:effectLst/>
                <a:latin typeface="Menlo"/>
              </a:rPr>
              <a:t>({ </a:t>
            </a:r>
            <a:r>
              <a:rPr lang="en-IN" b="0" i="0" dirty="0">
                <a:solidFill>
                  <a:srgbClr val="A6E22E"/>
                </a:solidFill>
                <a:effectLst/>
                <a:latin typeface="Menlo"/>
              </a:rPr>
              <a:t>extended</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66D9EF"/>
                </a:solidFill>
                <a:effectLst/>
                <a:latin typeface="Menlo"/>
              </a:rPr>
              <a:t>true</a:t>
            </a:r>
            <a:r>
              <a:rPr lang="en-IN" b="0" i="0" dirty="0">
                <a:solidFill>
                  <a:srgbClr val="F8F8F2"/>
                </a:solidFill>
                <a:effectLst/>
                <a:latin typeface="Menlo"/>
              </a:rPr>
              <a: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post</a:t>
            </a:r>
            <a:r>
              <a:rPr lang="en-IN" b="0" i="0" dirty="0">
                <a:solidFill>
                  <a:srgbClr val="F8F8F2"/>
                </a:solidFill>
                <a:effectLst/>
                <a:latin typeface="Menlo"/>
              </a:rPr>
              <a:t>(</a:t>
            </a:r>
            <a:r>
              <a:rPr lang="en-IN" b="0" i="0" dirty="0">
                <a:solidFill>
                  <a:srgbClr val="E6DB74"/>
                </a:solidFill>
                <a:effectLst/>
                <a:latin typeface="Menlo"/>
              </a:rPr>
              <a:t>"/person"</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get</a:t>
            </a:r>
            <a:r>
              <a:rPr lang="en-IN" b="0" i="0" dirty="0">
                <a:solidFill>
                  <a:srgbClr val="F8F8F2"/>
                </a:solidFill>
                <a:effectLst/>
                <a:latin typeface="Menlo"/>
              </a:rPr>
              <a:t>(</a:t>
            </a:r>
            <a:r>
              <a:rPr lang="en-IN" b="0" i="0" dirty="0">
                <a:solidFill>
                  <a:srgbClr val="E6DB74"/>
                </a:solidFill>
                <a:effectLst/>
                <a:latin typeface="Menlo"/>
              </a:rPr>
              <a:t>"/person"</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get</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put</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66D9EF"/>
                </a:solidFill>
                <a:effectLst/>
                <a:latin typeface="Menlo"/>
              </a:rPr>
              <a:t>delete</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listen</a:t>
            </a:r>
            <a:r>
              <a:rPr lang="en-IN" b="0" i="0" dirty="0">
                <a:solidFill>
                  <a:srgbClr val="F8F8F2"/>
                </a:solidFill>
                <a:effectLst/>
                <a:latin typeface="Menlo"/>
              </a:rPr>
              <a:t>(</a:t>
            </a:r>
            <a:r>
              <a:rPr lang="en-IN" b="0" i="0" dirty="0">
                <a:solidFill>
                  <a:srgbClr val="AE81FF"/>
                </a:solidFill>
                <a:effectLst/>
                <a:latin typeface="Menlo"/>
              </a:rPr>
              <a:t>3000</a:t>
            </a:r>
            <a:r>
              <a:rPr lang="en-IN" b="0" i="0" dirty="0">
                <a:solidFill>
                  <a:srgbClr val="F8F8F2"/>
                </a:solidFill>
                <a:effectLst/>
                <a:latin typeface="Menlo"/>
              </a:rPr>
              <a:t>, () =&gt; { </a:t>
            </a:r>
            <a:r>
              <a:rPr lang="en-IN" b="0" i="0" dirty="0">
                <a:solidFill>
                  <a:srgbClr val="A6E22E"/>
                </a:solidFill>
                <a:effectLst/>
                <a:latin typeface="Menlo"/>
              </a:rPr>
              <a:t>console</a:t>
            </a:r>
            <a:r>
              <a:rPr lang="en-IN" b="0" i="0" dirty="0">
                <a:solidFill>
                  <a:srgbClr val="F8F8F2"/>
                </a:solidFill>
                <a:effectLst/>
                <a:latin typeface="Menlo"/>
              </a:rPr>
              <a:t>.</a:t>
            </a:r>
            <a:r>
              <a:rPr lang="en-IN" b="0" i="0" dirty="0">
                <a:solidFill>
                  <a:srgbClr val="A6E22E"/>
                </a:solidFill>
                <a:effectLst/>
                <a:latin typeface="Menlo"/>
              </a:rPr>
              <a:t>log</a:t>
            </a:r>
            <a:r>
              <a:rPr lang="en-IN" b="0" i="0" dirty="0">
                <a:solidFill>
                  <a:srgbClr val="F8F8F2"/>
                </a:solidFill>
                <a:effectLst/>
                <a:latin typeface="Menlo"/>
              </a:rPr>
              <a:t>(</a:t>
            </a:r>
            <a:r>
              <a:rPr lang="en-IN" b="0" i="0" dirty="0">
                <a:solidFill>
                  <a:srgbClr val="E6DB74"/>
                </a:solidFill>
                <a:effectLst/>
                <a:latin typeface="Menlo"/>
              </a:rPr>
              <a:t>"Listening at :3000..."</a:t>
            </a:r>
            <a:r>
              <a:rPr lang="en-IN" b="0" i="0" dirty="0">
                <a:solidFill>
                  <a:srgbClr val="F8F8F2"/>
                </a:solidFill>
                <a:effectLst/>
                <a:latin typeface="Menlo"/>
              </a:rPr>
              <a:t>); });</a:t>
            </a:r>
            <a:endParaRPr lang="en-IN" dirty="0"/>
          </a:p>
        </p:txBody>
      </p:sp>
      <p:sp>
        <p:nvSpPr>
          <p:cNvPr id="10" name="TextBox 9">
            <a:extLst>
              <a:ext uri="{FF2B5EF4-FFF2-40B4-BE49-F238E27FC236}">
                <a16:creationId xmlns:a16="http://schemas.microsoft.com/office/drawing/2014/main" id="{9B9A24EE-F6F6-40A5-BC76-2750EBF15E15}"/>
              </a:ext>
            </a:extLst>
          </p:cNvPr>
          <p:cNvSpPr txBox="1"/>
          <p:nvPr/>
        </p:nvSpPr>
        <p:spPr>
          <a:xfrm>
            <a:off x="6258560" y="2499256"/>
            <a:ext cx="6131560" cy="424731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US" b="0" i="0" dirty="0">
                <a:solidFill>
                  <a:srgbClr val="3A3A3A"/>
                </a:solidFill>
                <a:effectLst/>
                <a:latin typeface="roboto"/>
              </a:rPr>
              <a:t>In the above code we are doing a few things.</a:t>
            </a:r>
          </a:p>
          <a:p>
            <a:pPr algn="l"/>
            <a:r>
              <a:rPr lang="en-US" b="0" i="0" dirty="0">
                <a:solidFill>
                  <a:srgbClr val="3A3A3A"/>
                </a:solidFill>
                <a:effectLst/>
                <a:latin typeface="roboto"/>
              </a:rPr>
              <a:t> First we are importing each of the dependencies that we had previously downloaded when creating our project.</a:t>
            </a:r>
          </a:p>
          <a:p>
            <a:pPr algn="l"/>
            <a:endParaRPr lang="en-US" dirty="0">
              <a:solidFill>
                <a:srgbClr val="3A3A3A"/>
              </a:solidFill>
              <a:latin typeface="roboto"/>
            </a:endParaRPr>
          </a:p>
          <a:p>
            <a:pPr algn="l"/>
            <a:r>
              <a:rPr lang="en-US" b="0" i="0" dirty="0">
                <a:solidFill>
                  <a:srgbClr val="3A3A3A"/>
                </a:solidFill>
                <a:effectLst/>
                <a:latin typeface="roboto"/>
              </a:rPr>
              <a:t>Next we are initializing Express Framework and configuring the </a:t>
            </a:r>
            <a:r>
              <a:rPr lang="en-US" b="0" i="0" u="none" strike="noStrike" dirty="0">
                <a:solidFill>
                  <a:srgbClr val="337AB7"/>
                </a:solidFill>
                <a:effectLst/>
                <a:latin typeface="roboto"/>
                <a:hlinkClick r:id="rId4"/>
              </a:rPr>
              <a:t>body-parser</a:t>
            </a:r>
            <a:r>
              <a:rPr lang="en-US" b="0" i="0" dirty="0">
                <a:solidFill>
                  <a:srgbClr val="3A3A3A"/>
                </a:solidFill>
                <a:effectLst/>
                <a:latin typeface="roboto"/>
              </a:rPr>
              <a:t> package so we can receive JSON data in our payloads.</a:t>
            </a:r>
          </a:p>
          <a:p>
            <a:pPr algn="l"/>
            <a:endParaRPr lang="en-US" b="0" i="0" dirty="0">
              <a:solidFill>
                <a:srgbClr val="3A3A3A"/>
              </a:solidFill>
              <a:effectLst/>
              <a:latin typeface="roboto"/>
            </a:endParaRPr>
          </a:p>
          <a:p>
            <a:pPr algn="l"/>
            <a:r>
              <a:rPr lang="en-US" b="0" i="0" dirty="0">
                <a:solidFill>
                  <a:srgbClr val="3A3A3A"/>
                </a:solidFill>
                <a:effectLst/>
                <a:latin typeface="roboto"/>
              </a:rPr>
              <a:t>The API we develop will be create, retrieve, update, and delete (CRUD) oriented hence the five endpoint functions that are prepared. We’ll be adding the MongoDB and Mongoose logic to each of these endpoint functions.</a:t>
            </a:r>
          </a:p>
          <a:p>
            <a:pPr algn="l"/>
            <a:endParaRPr lang="en-US" b="0" i="0" dirty="0">
              <a:solidFill>
                <a:srgbClr val="3A3A3A"/>
              </a:solidFill>
              <a:effectLst/>
              <a:latin typeface="roboto"/>
            </a:endParaRPr>
          </a:p>
          <a:p>
            <a:pPr algn="l"/>
            <a:r>
              <a:rPr lang="en-US" b="0" i="0" dirty="0">
                <a:solidFill>
                  <a:srgbClr val="3A3A3A"/>
                </a:solidFill>
                <a:effectLst/>
                <a:latin typeface="roboto"/>
              </a:rPr>
              <a:t>Finally, we are listening for requests to our application on port 3000.</a:t>
            </a:r>
          </a:p>
        </p:txBody>
      </p:sp>
    </p:spTree>
    <p:extLst>
      <p:ext uri="{BB962C8B-B14F-4D97-AF65-F5344CB8AC3E}">
        <p14:creationId xmlns:p14="http://schemas.microsoft.com/office/powerpoint/2010/main" val="469146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F84235-565C-2B7C-BDDD-62A0429F8E86}"/>
              </a:ext>
            </a:extLst>
          </p:cNvPr>
          <p:cNvPicPr>
            <a:picLocks noChangeAspect="1"/>
          </p:cNvPicPr>
          <p:nvPr/>
        </p:nvPicPr>
        <p:blipFill>
          <a:blip r:embed="rId2"/>
          <a:stretch>
            <a:fillRect/>
          </a:stretch>
        </p:blipFill>
        <p:spPr>
          <a:xfrm>
            <a:off x="1251961" y="382267"/>
            <a:ext cx="8535140" cy="5159187"/>
          </a:xfrm>
          <a:prstGeom prst="rect">
            <a:avLst/>
          </a:prstGeom>
        </p:spPr>
      </p:pic>
    </p:spTree>
    <p:extLst>
      <p:ext uri="{BB962C8B-B14F-4D97-AF65-F5344CB8AC3E}">
        <p14:creationId xmlns:p14="http://schemas.microsoft.com/office/powerpoint/2010/main" val="2715763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4588C8-866A-4E99-A3B3-87BDAE6820DB}"/>
              </a:ext>
            </a:extLst>
          </p:cNvPr>
          <p:cNvSpPr>
            <a:spLocks noGrp="1"/>
          </p:cNvSpPr>
          <p:nvPr>
            <p:ph idx="1"/>
          </p:nvPr>
        </p:nvSpPr>
        <p:spPr>
          <a:xfrm>
            <a:off x="436880" y="711200"/>
            <a:ext cx="10916920" cy="5465763"/>
          </a:xfrm>
        </p:spPr>
        <p:txBody>
          <a:bodyPr/>
          <a:lstStyle/>
          <a:p>
            <a:pPr algn="l"/>
            <a:r>
              <a:rPr lang="en-US" b="1" i="0" dirty="0">
                <a:solidFill>
                  <a:srgbClr val="DA4453"/>
                </a:solidFill>
                <a:effectLst/>
                <a:latin typeface="roboto"/>
              </a:rPr>
              <a:t>Interacting with MongoDB using the Mongoose ODM</a:t>
            </a:r>
          </a:p>
          <a:p>
            <a:pPr algn="l"/>
            <a:r>
              <a:rPr lang="en-US" b="0" i="0" dirty="0">
                <a:solidFill>
                  <a:srgbClr val="3A3A3A"/>
                </a:solidFill>
                <a:effectLst/>
                <a:latin typeface="roboto"/>
              </a:rPr>
              <a:t>With the foundation of our REST API in place, we can focus on the database logic. Within the project’s </a:t>
            </a:r>
            <a:r>
              <a:rPr lang="en-US" b="1" i="0" dirty="0">
                <a:solidFill>
                  <a:srgbClr val="3A3A3A"/>
                </a:solidFill>
                <a:effectLst/>
                <a:latin typeface="roboto"/>
              </a:rPr>
              <a:t>app.js</a:t>
            </a:r>
            <a:r>
              <a:rPr lang="en-US" b="0" i="0" dirty="0">
                <a:solidFill>
                  <a:srgbClr val="3A3A3A"/>
                </a:solidFill>
                <a:effectLst/>
                <a:latin typeface="roboto"/>
              </a:rPr>
              <a:t> file include the following near where you initialized Express Framework:</a:t>
            </a:r>
          </a:p>
          <a:p>
            <a:pPr marL="0" indent="0">
              <a:buNone/>
            </a:pPr>
            <a:r>
              <a:rPr lang="en-US" b="0" i="0" dirty="0" err="1">
                <a:solidFill>
                  <a:srgbClr val="A6E22E"/>
                </a:solidFill>
                <a:effectLst/>
                <a:highlight>
                  <a:srgbClr val="000000"/>
                </a:highlight>
                <a:latin typeface="Menlo"/>
              </a:rPr>
              <a:t>Mongoose</a:t>
            </a:r>
            <a:r>
              <a:rPr lang="en-US" b="0" i="0" dirty="0" err="1">
                <a:solidFill>
                  <a:srgbClr val="F8F8F2"/>
                </a:solidFill>
                <a:effectLst/>
                <a:highlight>
                  <a:srgbClr val="000000"/>
                </a:highlight>
                <a:latin typeface="Menlo"/>
              </a:rPr>
              <a:t>.</a:t>
            </a:r>
            <a:r>
              <a:rPr lang="en-US" b="0" i="0" dirty="0" err="1">
                <a:solidFill>
                  <a:srgbClr val="A6E22E"/>
                </a:solidFill>
                <a:effectLst/>
                <a:highlight>
                  <a:srgbClr val="000000"/>
                </a:highlight>
                <a:latin typeface="Menlo"/>
              </a:rPr>
              <a:t>connect</a:t>
            </a:r>
            <a:r>
              <a:rPr lang="en-US" b="0" i="0" dirty="0">
                <a:solidFill>
                  <a:srgbClr val="F8F8F2"/>
                </a:solidFill>
                <a:effectLst/>
                <a:highlight>
                  <a:srgbClr val="000000"/>
                </a:highlight>
                <a:latin typeface="Menlo"/>
              </a:rPr>
              <a:t>(</a:t>
            </a:r>
            <a:r>
              <a:rPr lang="en-US" b="0" i="0" dirty="0">
                <a:solidFill>
                  <a:srgbClr val="E6DB74"/>
                </a:solidFill>
                <a:effectLst/>
                <a:highlight>
                  <a:srgbClr val="000000"/>
                </a:highlight>
                <a:latin typeface="Menlo"/>
              </a:rPr>
              <a:t>"</a:t>
            </a:r>
            <a:r>
              <a:rPr lang="en-US" b="0" i="0" dirty="0" err="1">
                <a:solidFill>
                  <a:srgbClr val="E6DB74"/>
                </a:solidFill>
                <a:effectLst/>
                <a:highlight>
                  <a:srgbClr val="000000"/>
                </a:highlight>
                <a:latin typeface="Menlo"/>
              </a:rPr>
              <a:t>mongodb</a:t>
            </a:r>
            <a:r>
              <a:rPr lang="en-US" b="0" i="0" dirty="0">
                <a:solidFill>
                  <a:srgbClr val="E6DB74"/>
                </a:solidFill>
                <a:effectLst/>
                <a:highlight>
                  <a:srgbClr val="000000"/>
                </a:highlight>
                <a:latin typeface="Menlo"/>
              </a:rPr>
              <a:t>://localhost:27017/</a:t>
            </a:r>
            <a:r>
              <a:rPr lang="en-US" b="0" i="0" dirty="0" err="1">
                <a:solidFill>
                  <a:srgbClr val="E6DB74"/>
                </a:solidFill>
                <a:effectLst/>
                <a:highlight>
                  <a:srgbClr val="000000"/>
                </a:highlight>
                <a:latin typeface="Menlo"/>
              </a:rPr>
              <a:t>empdb</a:t>
            </a:r>
            <a:r>
              <a:rPr lang="en-US" b="0" i="0" dirty="0">
                <a:solidFill>
                  <a:srgbClr val="E6DB74"/>
                </a:solidFill>
                <a:effectLst/>
                <a:highlight>
                  <a:srgbClr val="000000"/>
                </a:highlight>
                <a:latin typeface="Menlo"/>
              </a:rPr>
              <a:t>"</a:t>
            </a:r>
            <a:r>
              <a:rPr lang="en-US" b="0" i="0" dirty="0">
                <a:solidFill>
                  <a:srgbClr val="F8F8F2"/>
                </a:solidFill>
                <a:effectLst/>
                <a:highlight>
                  <a:srgbClr val="000000"/>
                </a:highlight>
                <a:latin typeface="Menlo"/>
              </a:rPr>
              <a:t>);</a:t>
            </a:r>
          </a:p>
          <a:p>
            <a:pPr marL="0" indent="0">
              <a:buNone/>
            </a:pPr>
            <a:r>
              <a:rPr lang="en-US" dirty="0"/>
              <a:t>The above line will connect to our MongoDB instance running on localhost and it will either use or create a </a:t>
            </a:r>
            <a:r>
              <a:rPr lang="en-US" dirty="0" err="1"/>
              <a:t>empdb</a:t>
            </a:r>
            <a:r>
              <a:rPr lang="en-US" dirty="0"/>
              <a:t> database.</a:t>
            </a:r>
            <a:endParaRPr lang="en-IN" dirty="0"/>
          </a:p>
        </p:txBody>
      </p:sp>
      <p:sp>
        <p:nvSpPr>
          <p:cNvPr id="4" name="TextBox 3">
            <a:extLst>
              <a:ext uri="{FF2B5EF4-FFF2-40B4-BE49-F238E27FC236}">
                <a16:creationId xmlns:a16="http://schemas.microsoft.com/office/drawing/2014/main" id="{BAD44143-CAB2-E584-1F82-CAA4ED259630}"/>
              </a:ext>
            </a:extLst>
          </p:cNvPr>
          <p:cNvSpPr txBox="1"/>
          <p:nvPr/>
        </p:nvSpPr>
        <p:spPr>
          <a:xfrm>
            <a:off x="1488385" y="4527130"/>
            <a:ext cx="7049327"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dirty="0" err="1">
                <a:solidFill>
                  <a:srgbClr val="000000"/>
                </a:solidFill>
                <a:effectLst/>
                <a:latin typeface="Consolas" panose="020B0609020204030204" pitchFamily="49" charset="0"/>
              </a:rPr>
              <a:t>Mongoose.connect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mongodb</a:t>
            </a:r>
            <a:r>
              <a:rPr lang="en-US" b="0" dirty="0">
                <a:solidFill>
                  <a:srgbClr val="A31515"/>
                </a:solidFill>
                <a:effectLst/>
                <a:latin typeface="Consolas" panose="020B0609020204030204" pitchFamily="49" charset="0"/>
              </a:rPr>
              <a:t>://127.0.0.1:27017/</a:t>
            </a:r>
            <a:r>
              <a:rPr lang="en-US" b="0" dirty="0" err="1">
                <a:solidFill>
                  <a:srgbClr val="A31515"/>
                </a:solidFill>
                <a:effectLst/>
                <a:latin typeface="Consolas" panose="020B0609020204030204" pitchFamily="49" charset="0"/>
              </a:rPr>
              <a:t>mydb</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763831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A9FDA8-246F-421C-943C-020A9EC025F9}"/>
              </a:ext>
            </a:extLst>
          </p:cNvPr>
          <p:cNvSpPr>
            <a:spLocks noGrp="1"/>
          </p:cNvSpPr>
          <p:nvPr>
            <p:ph idx="1"/>
          </p:nvPr>
        </p:nvSpPr>
        <p:spPr>
          <a:xfrm>
            <a:off x="1031240" y="162560"/>
            <a:ext cx="5298440" cy="6522720"/>
          </a:xfrm>
        </p:spPr>
        <p:txBody>
          <a:bodyPr>
            <a:noAutofit/>
          </a:bodyPr>
          <a:lstStyle/>
          <a:p>
            <a:pPr marL="0" indent="0">
              <a:buNone/>
            </a:pPr>
            <a:r>
              <a:rPr lang="en-US" sz="1400" dirty="0"/>
              <a:t>After the connection information is in place, we can define our document models. This particular example will only have a single document model that looks like the following:</a:t>
            </a:r>
          </a:p>
          <a:p>
            <a:pPr marL="0" indent="0">
              <a:buNone/>
            </a:pPr>
            <a:r>
              <a:rPr lang="en-US" sz="1400" dirty="0"/>
              <a:t>const </a:t>
            </a:r>
            <a:r>
              <a:rPr lang="en-US" sz="1400" dirty="0" err="1"/>
              <a:t>PersonModel</a:t>
            </a:r>
            <a:r>
              <a:rPr lang="en-US" sz="1400" dirty="0"/>
              <a:t> = </a:t>
            </a:r>
            <a:r>
              <a:rPr lang="en-US" sz="1400" dirty="0" err="1"/>
              <a:t>Mongoose.model</a:t>
            </a:r>
            <a:r>
              <a:rPr lang="en-US" sz="1400" dirty="0"/>
              <a:t>(“person", {</a:t>
            </a:r>
          </a:p>
          <a:p>
            <a:pPr marL="0" indent="0">
              <a:buNone/>
            </a:pPr>
            <a:r>
              <a:rPr lang="en-US" sz="1400" dirty="0"/>
              <a:t>    </a:t>
            </a:r>
            <a:r>
              <a:rPr lang="en-US" sz="1400" dirty="0" err="1"/>
              <a:t>firstname</a:t>
            </a:r>
            <a:r>
              <a:rPr lang="en-US" sz="1400" dirty="0"/>
              <a:t>: String,</a:t>
            </a:r>
          </a:p>
          <a:p>
            <a:pPr marL="0" indent="0">
              <a:buNone/>
            </a:pPr>
            <a:r>
              <a:rPr lang="en-US" sz="1400" dirty="0"/>
              <a:t>    </a:t>
            </a:r>
            <a:r>
              <a:rPr lang="en-US" sz="1400" dirty="0" err="1"/>
              <a:t>lastname</a:t>
            </a:r>
            <a:r>
              <a:rPr lang="en-US" sz="1400" dirty="0"/>
              <a:t>: String</a:t>
            </a:r>
          </a:p>
          <a:p>
            <a:pPr marL="0" indent="0">
              <a:buNone/>
            </a:pPr>
            <a:r>
              <a:rPr lang="en-US" sz="1400" dirty="0"/>
              <a:t>});</a:t>
            </a:r>
          </a:p>
          <a:p>
            <a:pPr marL="0" indent="0">
              <a:buNone/>
            </a:pPr>
            <a:endParaRPr lang="en-US" sz="1400" dirty="0"/>
          </a:p>
          <a:p>
            <a:pPr marL="0" indent="0">
              <a:buNone/>
            </a:pPr>
            <a:r>
              <a:rPr lang="en-US" sz="1400" dirty="0"/>
              <a:t>Our model is person which will create a people collection within our database. Each document in our collection will have the </a:t>
            </a:r>
            <a:r>
              <a:rPr lang="en-US" sz="1400" dirty="0" err="1"/>
              <a:t>firstname</a:t>
            </a:r>
            <a:r>
              <a:rPr lang="en-US" sz="1400" dirty="0"/>
              <a:t> and </a:t>
            </a:r>
            <a:r>
              <a:rPr lang="en-US" sz="1400" dirty="0" err="1"/>
              <a:t>lastname</a:t>
            </a:r>
            <a:r>
              <a:rPr lang="en-US" sz="1400" dirty="0"/>
              <a:t> properties. The model can be significantly more complex than what we have here.</a:t>
            </a:r>
          </a:p>
          <a:p>
            <a:pPr marL="0" indent="0">
              <a:buNone/>
            </a:pPr>
            <a:endParaRPr lang="en-US" sz="1400" dirty="0"/>
          </a:p>
          <a:p>
            <a:pPr marL="0" indent="0">
              <a:buNone/>
            </a:pPr>
            <a:r>
              <a:rPr lang="en-US" sz="1400" dirty="0"/>
              <a:t>So let’s take a look at each of our endpoints, starting with the creation of data:</a:t>
            </a:r>
          </a:p>
          <a:p>
            <a:pPr marL="0" indent="0">
              <a:buNone/>
            </a:pPr>
            <a:r>
              <a:rPr lang="en-US" sz="1400" dirty="0" err="1"/>
              <a:t>app.</a:t>
            </a:r>
            <a:r>
              <a:rPr lang="en-US" sz="1800" dirty="0" err="1">
                <a:highlight>
                  <a:srgbClr val="FFFF00"/>
                </a:highlight>
              </a:rPr>
              <a:t>post</a:t>
            </a:r>
            <a:r>
              <a:rPr lang="en-US" sz="1400" dirty="0"/>
              <a:t>("/person", async (request, response) =&gt; {</a:t>
            </a:r>
          </a:p>
          <a:p>
            <a:pPr marL="0" indent="0">
              <a:buNone/>
            </a:pPr>
            <a:r>
              <a:rPr lang="en-US" sz="1400" dirty="0"/>
              <a:t>    try {        var person = new </a:t>
            </a:r>
            <a:r>
              <a:rPr lang="en-US" sz="1400" dirty="0" err="1"/>
              <a:t>PersonModel</a:t>
            </a:r>
            <a:r>
              <a:rPr lang="en-US" sz="1400" dirty="0"/>
              <a:t>(</a:t>
            </a:r>
            <a:r>
              <a:rPr lang="en-US" sz="1400" dirty="0" err="1"/>
              <a:t>request.body</a:t>
            </a:r>
            <a:r>
              <a:rPr lang="en-US" sz="1400" dirty="0"/>
              <a:t>);</a:t>
            </a:r>
          </a:p>
          <a:p>
            <a:pPr marL="0" indent="0">
              <a:buNone/>
            </a:pPr>
            <a:r>
              <a:rPr lang="en-US" sz="1400" dirty="0"/>
              <a:t>        var result = await </a:t>
            </a:r>
            <a:r>
              <a:rPr lang="en-US" sz="1400" dirty="0" err="1"/>
              <a:t>person.</a:t>
            </a:r>
            <a:r>
              <a:rPr lang="en-US" sz="1400" dirty="0" err="1">
                <a:highlight>
                  <a:srgbClr val="FFFF00"/>
                </a:highlight>
              </a:rPr>
              <a:t>save</a:t>
            </a:r>
            <a:r>
              <a:rPr lang="en-US" sz="1400" dirty="0">
                <a:highlight>
                  <a:srgbClr val="FFFF00"/>
                </a:highlight>
              </a:rPr>
              <a:t>();</a:t>
            </a:r>
          </a:p>
          <a:p>
            <a:pPr marL="0" indent="0">
              <a:buNone/>
            </a:pPr>
            <a:r>
              <a:rPr lang="en-US" sz="1400" dirty="0"/>
              <a:t>        </a:t>
            </a:r>
            <a:r>
              <a:rPr lang="en-US" sz="1400" dirty="0" err="1"/>
              <a:t>response.send</a:t>
            </a:r>
            <a:r>
              <a:rPr lang="en-US" sz="1400" dirty="0"/>
              <a:t>(result);</a:t>
            </a:r>
          </a:p>
          <a:p>
            <a:pPr marL="0" indent="0">
              <a:buNone/>
            </a:pPr>
            <a:r>
              <a:rPr lang="en-US" sz="1400" dirty="0"/>
              <a:t>    } catch (error) {</a:t>
            </a:r>
          </a:p>
          <a:p>
            <a:pPr marL="0" indent="0">
              <a:buNone/>
            </a:pPr>
            <a:r>
              <a:rPr lang="en-US" sz="1400" dirty="0"/>
              <a:t>        </a:t>
            </a:r>
            <a:r>
              <a:rPr lang="en-US" sz="1400" dirty="0" err="1"/>
              <a:t>response.status</a:t>
            </a:r>
            <a:r>
              <a:rPr lang="en-US" sz="1400" dirty="0"/>
              <a:t>(500).send(error);</a:t>
            </a:r>
          </a:p>
          <a:p>
            <a:pPr marL="0" indent="0">
              <a:buNone/>
            </a:pPr>
            <a:r>
              <a:rPr lang="en-US" sz="1400" dirty="0"/>
              <a:t>    }</a:t>
            </a:r>
          </a:p>
          <a:p>
            <a:pPr marL="0" indent="0">
              <a:buNone/>
            </a:pPr>
            <a:r>
              <a:rPr lang="en-US" sz="1400" dirty="0"/>
              <a:t>});</a:t>
            </a:r>
            <a:endParaRPr lang="en-IN" sz="1400" dirty="0"/>
          </a:p>
        </p:txBody>
      </p:sp>
      <p:sp>
        <p:nvSpPr>
          <p:cNvPr id="7" name="TextBox 6">
            <a:extLst>
              <a:ext uri="{FF2B5EF4-FFF2-40B4-BE49-F238E27FC236}">
                <a16:creationId xmlns:a16="http://schemas.microsoft.com/office/drawing/2014/main" id="{DFDED17A-8192-46F7-B2EF-88163A400F0B}"/>
              </a:ext>
            </a:extLst>
          </p:cNvPr>
          <p:cNvSpPr txBox="1"/>
          <p:nvPr/>
        </p:nvSpPr>
        <p:spPr>
          <a:xfrm>
            <a:off x="6235700" y="172720"/>
            <a:ext cx="5864860" cy="2031325"/>
          </a:xfrm>
          <a:prstGeom prst="rect">
            <a:avLst/>
          </a:prstGeom>
          <a:noFill/>
        </p:spPr>
        <p:txBody>
          <a:bodyPr wrap="square">
            <a:spAutoFit/>
          </a:bodyPr>
          <a:lstStyle/>
          <a:p>
            <a:r>
              <a:rPr lang="en-US" dirty="0"/>
              <a:t>When the client makes a POST request to our endpoint, we can use our </a:t>
            </a:r>
            <a:r>
              <a:rPr lang="en-US" dirty="0" err="1"/>
              <a:t>PersonModel</a:t>
            </a:r>
            <a:r>
              <a:rPr lang="en-US" dirty="0"/>
              <a:t> and the JSON payload provided to save into the database. Only the most basic of data validation is happening on our JSON payload and rather than using promises directly, we are using async and await, which in my opinion is a little cleaner. If the save is successful, we return the data back to the client facing application.</a:t>
            </a:r>
            <a:endParaRPr lang="en-IN" dirty="0"/>
          </a:p>
        </p:txBody>
      </p:sp>
      <p:sp>
        <p:nvSpPr>
          <p:cNvPr id="4" name="TextBox 3">
            <a:extLst>
              <a:ext uri="{FF2B5EF4-FFF2-40B4-BE49-F238E27FC236}">
                <a16:creationId xmlns:a16="http://schemas.microsoft.com/office/drawing/2014/main" id="{D792D8F8-8E31-3138-30D3-075BF6B29DBB}"/>
              </a:ext>
            </a:extLst>
          </p:cNvPr>
          <p:cNvSpPr txBox="1"/>
          <p:nvPr/>
        </p:nvSpPr>
        <p:spPr>
          <a:xfrm>
            <a:off x="6577221" y="3423920"/>
            <a:ext cx="4922353"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i="0" dirty="0">
                <a:solidFill>
                  <a:srgbClr val="273239"/>
                </a:solidFill>
                <a:effectLst/>
                <a:latin typeface="Nunito" pitchFamily="2" charset="0"/>
              </a:rPr>
              <a:t>The </a:t>
            </a:r>
            <a:r>
              <a:rPr lang="en-US" b="1" i="0" dirty="0">
                <a:solidFill>
                  <a:srgbClr val="273239"/>
                </a:solidFill>
                <a:effectLst/>
                <a:latin typeface="Nunito" pitchFamily="2" charset="0"/>
              </a:rPr>
              <a:t>save() function</a:t>
            </a:r>
            <a:r>
              <a:rPr lang="en-US" b="0" i="0" dirty="0">
                <a:solidFill>
                  <a:srgbClr val="273239"/>
                </a:solidFill>
                <a:effectLst/>
                <a:latin typeface="Nunito" pitchFamily="2" charset="0"/>
              </a:rPr>
              <a:t> is used to save the document to the database. Using this function, new documents can be added to the database.</a:t>
            </a:r>
            <a:endParaRPr lang="en-IN" dirty="0"/>
          </a:p>
        </p:txBody>
      </p:sp>
    </p:spTree>
    <p:extLst>
      <p:ext uri="{BB962C8B-B14F-4D97-AF65-F5344CB8AC3E}">
        <p14:creationId xmlns:p14="http://schemas.microsoft.com/office/powerpoint/2010/main" val="4102901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4425C7-4209-CF01-0956-FEBB0577B144}"/>
              </a:ext>
            </a:extLst>
          </p:cNvPr>
          <p:cNvPicPr>
            <a:picLocks noChangeAspect="1"/>
          </p:cNvPicPr>
          <p:nvPr/>
        </p:nvPicPr>
        <p:blipFill>
          <a:blip r:embed="rId2"/>
          <a:stretch>
            <a:fillRect/>
          </a:stretch>
        </p:blipFill>
        <p:spPr>
          <a:xfrm>
            <a:off x="1460198" y="255397"/>
            <a:ext cx="8237934" cy="4717189"/>
          </a:xfrm>
          <a:prstGeom prst="rect">
            <a:avLst/>
          </a:prstGeom>
        </p:spPr>
      </p:pic>
    </p:spTree>
    <p:extLst>
      <p:ext uri="{BB962C8B-B14F-4D97-AF65-F5344CB8AC3E}">
        <p14:creationId xmlns:p14="http://schemas.microsoft.com/office/powerpoint/2010/main" val="2605621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1133AC-7EEF-40BF-A41E-B504D0FA0069}"/>
              </a:ext>
            </a:extLst>
          </p:cNvPr>
          <p:cNvSpPr>
            <a:spLocks noGrp="1"/>
          </p:cNvSpPr>
          <p:nvPr>
            <p:ph idx="1"/>
          </p:nvPr>
        </p:nvSpPr>
        <p:spPr>
          <a:xfrm>
            <a:off x="203200" y="619761"/>
            <a:ext cx="11826240" cy="741680"/>
          </a:xfrm>
        </p:spPr>
        <p:txBody>
          <a:bodyPr>
            <a:normAutofit fontScale="92500" lnSpcReduction="10000"/>
          </a:bodyPr>
          <a:lstStyle/>
          <a:p>
            <a:pPr marL="0" indent="0">
              <a:buNone/>
            </a:pPr>
            <a:r>
              <a:rPr lang="en-US" b="0" i="0" dirty="0">
                <a:solidFill>
                  <a:srgbClr val="3A3A3A"/>
                </a:solidFill>
                <a:effectLst/>
                <a:latin typeface="roboto"/>
              </a:rPr>
              <a:t>On the other side of things, we can try to retrieve a single document based on its stored id value:</a:t>
            </a:r>
            <a:endParaRPr lang="en-IN" dirty="0"/>
          </a:p>
        </p:txBody>
      </p:sp>
      <p:sp>
        <p:nvSpPr>
          <p:cNvPr id="7" name="TextBox 6">
            <a:extLst>
              <a:ext uri="{FF2B5EF4-FFF2-40B4-BE49-F238E27FC236}">
                <a16:creationId xmlns:a16="http://schemas.microsoft.com/office/drawing/2014/main" id="{1B2682D4-B711-46DB-AF82-7F294D25DA6A}"/>
              </a:ext>
            </a:extLst>
          </p:cNvPr>
          <p:cNvSpPr txBox="1"/>
          <p:nvPr/>
        </p:nvSpPr>
        <p:spPr>
          <a:xfrm>
            <a:off x="0" y="2452931"/>
            <a:ext cx="6778487" cy="378565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IN" b="0" i="0" dirty="0" err="1">
                <a:solidFill>
                  <a:srgbClr val="A6E22E"/>
                </a:solidFill>
                <a:effectLst/>
                <a:latin typeface="Menlo"/>
              </a:rPr>
              <a:t>app</a:t>
            </a:r>
            <a:r>
              <a:rPr lang="en-IN" b="0" i="0" dirty="0" err="1">
                <a:solidFill>
                  <a:srgbClr val="F8F8F2"/>
                </a:solidFill>
                <a:effectLst/>
                <a:latin typeface="Menlo"/>
              </a:rPr>
              <a:t>.</a:t>
            </a:r>
            <a:r>
              <a:rPr lang="en-IN" sz="2400" b="1" i="0" dirty="0" err="1">
                <a:solidFill>
                  <a:srgbClr val="A6E22E"/>
                </a:solidFill>
                <a:effectLst/>
                <a:highlight>
                  <a:srgbClr val="800000"/>
                </a:highlight>
                <a:latin typeface="Menlo"/>
              </a:rPr>
              <a:t>get</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a:t>
            </a:r>
          </a:p>
          <a:p>
            <a:r>
              <a:rPr lang="en-IN" b="0" i="0" dirty="0">
                <a:solidFill>
                  <a:srgbClr val="F8F8F2"/>
                </a:solidFill>
                <a:effectLst/>
                <a:latin typeface="Menlo"/>
              </a:rPr>
              <a:t> </a:t>
            </a:r>
            <a:r>
              <a:rPr lang="en-IN" b="0" i="0" dirty="0">
                <a:solidFill>
                  <a:srgbClr val="66D9EF"/>
                </a:solidFill>
                <a:effectLst/>
                <a:latin typeface="Menlo"/>
              </a:rPr>
              <a:t>try</a:t>
            </a:r>
            <a:r>
              <a:rPr lang="en-IN" b="0" i="0" dirty="0">
                <a:solidFill>
                  <a:srgbClr val="F8F8F2"/>
                </a:solidFill>
                <a:effectLst/>
                <a:latin typeface="Menlo"/>
              </a:rPr>
              <a:t> {</a:t>
            </a:r>
          </a:p>
          <a:p>
            <a:endParaRPr lang="en-IN" dirty="0">
              <a:solidFill>
                <a:srgbClr val="F8F8F2"/>
              </a:solidFill>
              <a:latin typeface="Menlo"/>
            </a:endParaRPr>
          </a:p>
          <a:p>
            <a:r>
              <a:rPr lang="en-IN" b="0" i="0" dirty="0">
                <a:solidFill>
                  <a:srgbClr val="F8F8F2"/>
                </a:solidFill>
                <a:effectLst/>
                <a:latin typeface="Menlo"/>
              </a:rPr>
              <a:t> </a:t>
            </a:r>
            <a:r>
              <a:rPr lang="en-IN" b="0" i="0" dirty="0">
                <a:solidFill>
                  <a:srgbClr val="66D9EF"/>
                </a:solidFill>
                <a:effectLst/>
                <a:latin typeface="Menlo"/>
              </a:rPr>
              <a:t>var</a:t>
            </a:r>
            <a:r>
              <a:rPr lang="en-IN" b="0" i="0" dirty="0">
                <a:solidFill>
                  <a:srgbClr val="F8F8F2"/>
                </a:solidFill>
                <a:effectLst/>
                <a:latin typeface="Menlo"/>
              </a:rPr>
              <a:t> </a:t>
            </a:r>
            <a:r>
              <a:rPr lang="en-IN" b="0" i="0" dirty="0">
                <a:solidFill>
                  <a:srgbClr val="A6E22E"/>
                </a:solidFill>
                <a:effectLst/>
                <a:latin typeface="Menlo"/>
              </a:rPr>
              <a:t>person</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66D9EF"/>
                </a:solidFill>
                <a:effectLst/>
                <a:latin typeface="Menlo"/>
              </a:rPr>
              <a:t>await</a:t>
            </a:r>
            <a:r>
              <a:rPr lang="en-IN" b="0" i="0" dirty="0">
                <a:solidFill>
                  <a:srgbClr val="F8F8F2"/>
                </a:solidFill>
                <a:effectLst/>
                <a:latin typeface="Menlo"/>
              </a:rPr>
              <a:t> </a:t>
            </a:r>
            <a:r>
              <a:rPr lang="en-IN" b="0" i="0" dirty="0" err="1">
                <a:solidFill>
                  <a:srgbClr val="A6E22E"/>
                </a:solidFill>
                <a:effectLst/>
                <a:latin typeface="Menlo"/>
              </a:rPr>
              <a:t>PersonModel</a:t>
            </a:r>
            <a:r>
              <a:rPr lang="en-IN" b="0" i="0" dirty="0" err="1">
                <a:solidFill>
                  <a:srgbClr val="F8F8F2"/>
                </a:solidFill>
                <a:effectLst/>
                <a:latin typeface="Menlo"/>
              </a:rPr>
              <a:t>.</a:t>
            </a:r>
            <a:r>
              <a:rPr lang="en-IN" b="0" i="0" dirty="0" err="1">
                <a:solidFill>
                  <a:srgbClr val="A6E22E"/>
                </a:solidFill>
                <a:effectLst/>
                <a:latin typeface="Menlo"/>
              </a:rPr>
              <a:t>findById</a:t>
            </a:r>
            <a:r>
              <a:rPr lang="en-IN" b="0" i="0" dirty="0">
                <a:solidFill>
                  <a:srgbClr val="F8F8F2"/>
                </a:solidFill>
                <a:effectLst/>
                <a:latin typeface="Menlo"/>
              </a:rPr>
              <a:t>(</a:t>
            </a:r>
            <a:r>
              <a:rPr lang="en-IN" b="0" i="0" dirty="0">
                <a:solidFill>
                  <a:srgbClr val="A6E22E"/>
                </a:solidFill>
                <a:effectLst/>
                <a:latin typeface="Menlo"/>
              </a:rPr>
              <a:t>request</a:t>
            </a:r>
            <a:r>
              <a:rPr lang="en-IN" b="0" i="0" dirty="0">
                <a:solidFill>
                  <a:srgbClr val="F8F8F2"/>
                </a:solidFill>
                <a:effectLst/>
                <a:latin typeface="Menlo"/>
              </a:rPr>
              <a:t>.</a:t>
            </a:r>
            <a:r>
              <a:rPr lang="en-IN" b="0" i="0" dirty="0">
                <a:solidFill>
                  <a:srgbClr val="A6E22E"/>
                </a:solidFill>
                <a:effectLst/>
                <a:latin typeface="Menlo"/>
              </a:rPr>
              <a:t>params</a:t>
            </a:r>
            <a:r>
              <a:rPr lang="en-IN" b="0" i="0" dirty="0">
                <a:solidFill>
                  <a:srgbClr val="F8F8F2"/>
                </a:solidFill>
                <a:effectLst/>
                <a:latin typeface="Menlo"/>
              </a:rPr>
              <a:t>.</a:t>
            </a:r>
            <a:r>
              <a:rPr lang="en-IN" b="0" i="0" dirty="0">
                <a:solidFill>
                  <a:srgbClr val="A6E22E"/>
                </a:solidFill>
                <a:effectLst/>
                <a:latin typeface="Menlo"/>
              </a:rPr>
              <a:t>id</a:t>
            </a:r>
            <a:r>
              <a:rPr lang="en-IN" b="0" i="0" dirty="0">
                <a:solidFill>
                  <a:srgbClr val="F8F8F2"/>
                </a:solidFill>
                <a:effectLst/>
                <a:latin typeface="Menlo"/>
              </a:rPr>
              <a:t>).</a:t>
            </a:r>
            <a:r>
              <a:rPr lang="en-IN" b="0" i="0" dirty="0">
                <a:solidFill>
                  <a:srgbClr val="A6E22E"/>
                </a:solidFill>
                <a:effectLst/>
                <a:highlight>
                  <a:srgbClr val="FFFF00"/>
                </a:highlight>
                <a:latin typeface="Menlo"/>
              </a:rPr>
              <a:t>exec</a:t>
            </a:r>
            <a:r>
              <a:rPr lang="en-IN" b="0" i="0" dirty="0">
                <a:solidFill>
                  <a:srgbClr val="F8F8F2"/>
                </a:solidFill>
                <a:effectLst/>
                <a:latin typeface="Menlo"/>
              </a:rPr>
              <a:t>();</a:t>
            </a:r>
          </a:p>
          <a:p>
            <a:endParaRPr lang="en-IN" dirty="0">
              <a:solidFill>
                <a:srgbClr val="F8F8F2"/>
              </a:solidFill>
              <a:latin typeface="Menlo"/>
            </a:endParaRPr>
          </a:p>
          <a:p>
            <a:r>
              <a:rPr lang="en-IN" b="0" i="0" dirty="0">
                <a:solidFill>
                  <a:srgbClr val="F8F8F2"/>
                </a:solidFill>
                <a:effectLst/>
                <a:latin typeface="Menlo"/>
              </a:rPr>
              <a:t> </a:t>
            </a:r>
            <a:r>
              <a:rPr lang="en-IN" b="0" i="0" dirty="0" err="1">
                <a:solidFill>
                  <a:srgbClr val="A6E22E"/>
                </a:solidFill>
                <a:effectLst/>
                <a:latin typeface="Menlo"/>
              </a:rPr>
              <a:t>response</a:t>
            </a:r>
            <a:r>
              <a:rPr lang="en-IN" b="0" i="0" dirty="0" err="1">
                <a:solidFill>
                  <a:srgbClr val="F8F8F2"/>
                </a:solidFill>
                <a:effectLst/>
                <a:latin typeface="Menlo"/>
              </a:rPr>
              <a:t>.</a:t>
            </a:r>
            <a:r>
              <a:rPr lang="en-IN" b="0" i="0" dirty="0" err="1">
                <a:solidFill>
                  <a:srgbClr val="A6E22E"/>
                </a:solidFill>
                <a:effectLst/>
                <a:latin typeface="Menlo"/>
              </a:rPr>
              <a:t>send</a:t>
            </a:r>
            <a:r>
              <a:rPr lang="en-IN" b="0" i="0" dirty="0">
                <a:solidFill>
                  <a:srgbClr val="F8F8F2"/>
                </a:solidFill>
                <a:effectLst/>
                <a:latin typeface="Menlo"/>
              </a:rPr>
              <a:t>(</a:t>
            </a:r>
            <a:r>
              <a:rPr lang="en-IN" b="0" i="0" dirty="0">
                <a:solidFill>
                  <a:srgbClr val="A6E22E"/>
                </a:solidFill>
                <a:effectLst/>
                <a:latin typeface="Menlo"/>
              </a:rPr>
              <a:t>person</a:t>
            </a:r>
            <a:r>
              <a:rPr lang="en-IN" b="0" i="0" dirty="0">
                <a:solidFill>
                  <a:srgbClr val="F8F8F2"/>
                </a:solidFill>
                <a:effectLst/>
                <a:latin typeface="Menlo"/>
              </a:rPr>
              <a:t>); </a:t>
            </a:r>
          </a:p>
          <a:p>
            <a:r>
              <a:rPr lang="en-IN" b="0" i="0" dirty="0">
                <a:solidFill>
                  <a:srgbClr val="F8F8F2"/>
                </a:solidFill>
                <a:effectLst/>
                <a:latin typeface="Menlo"/>
              </a:rPr>
              <a:t>} </a:t>
            </a:r>
          </a:p>
          <a:p>
            <a:endParaRPr lang="en-IN" dirty="0">
              <a:solidFill>
                <a:srgbClr val="F8F8F2"/>
              </a:solidFill>
              <a:latin typeface="Menlo"/>
            </a:endParaRPr>
          </a:p>
          <a:p>
            <a:r>
              <a:rPr lang="en-IN" b="0" i="0" dirty="0">
                <a:solidFill>
                  <a:srgbClr val="66D9EF"/>
                </a:solidFill>
                <a:effectLst/>
                <a:latin typeface="Menlo"/>
              </a:rPr>
              <a:t>catch</a:t>
            </a:r>
            <a:r>
              <a:rPr lang="en-IN" b="0" i="0" dirty="0">
                <a:solidFill>
                  <a:srgbClr val="F8F8F2"/>
                </a:solidFill>
                <a:effectLst/>
                <a:latin typeface="Menlo"/>
              </a:rPr>
              <a:t> (</a:t>
            </a:r>
            <a:r>
              <a:rPr lang="en-IN" b="0" i="0" dirty="0">
                <a:solidFill>
                  <a:srgbClr val="A6E22E"/>
                </a:solidFill>
                <a:effectLst/>
                <a:latin typeface="Menlo"/>
              </a:rPr>
              <a:t>error</a:t>
            </a:r>
            <a:r>
              <a:rPr lang="en-IN" b="0" i="0" dirty="0">
                <a:solidFill>
                  <a:srgbClr val="F8F8F2"/>
                </a:solidFill>
                <a:effectLst/>
                <a:latin typeface="Menlo"/>
              </a:rPr>
              <a:t>) {</a:t>
            </a:r>
          </a:p>
          <a:p>
            <a:r>
              <a:rPr lang="en-IN" b="0" i="0" dirty="0">
                <a:solidFill>
                  <a:srgbClr val="F8F8F2"/>
                </a:solidFill>
                <a:effectLst/>
                <a:latin typeface="Menlo"/>
              </a:rPr>
              <a:t> </a:t>
            </a:r>
            <a:r>
              <a:rPr lang="en-IN" b="0" i="0" dirty="0" err="1">
                <a:solidFill>
                  <a:srgbClr val="A6E22E"/>
                </a:solidFill>
                <a:effectLst/>
                <a:latin typeface="Menlo"/>
              </a:rPr>
              <a:t>response</a:t>
            </a:r>
            <a:r>
              <a:rPr lang="en-IN" b="0" i="0" dirty="0" err="1">
                <a:solidFill>
                  <a:srgbClr val="F8F8F2"/>
                </a:solidFill>
                <a:effectLst/>
                <a:latin typeface="Menlo"/>
              </a:rPr>
              <a:t>.</a:t>
            </a:r>
            <a:r>
              <a:rPr lang="en-IN" b="0" i="0" dirty="0" err="1">
                <a:solidFill>
                  <a:srgbClr val="A6E22E"/>
                </a:solidFill>
                <a:effectLst/>
                <a:latin typeface="Menlo"/>
              </a:rPr>
              <a:t>status</a:t>
            </a:r>
            <a:r>
              <a:rPr lang="en-IN" b="0" i="0" dirty="0">
                <a:solidFill>
                  <a:srgbClr val="F8F8F2"/>
                </a:solidFill>
                <a:effectLst/>
                <a:latin typeface="Menlo"/>
              </a:rPr>
              <a:t>(</a:t>
            </a:r>
            <a:r>
              <a:rPr lang="en-IN" b="0" i="0" dirty="0">
                <a:solidFill>
                  <a:srgbClr val="AE81FF"/>
                </a:solidFill>
                <a:effectLst/>
                <a:latin typeface="Menlo"/>
              </a:rPr>
              <a:t>500</a:t>
            </a:r>
            <a:r>
              <a:rPr lang="en-IN" b="0" i="0" dirty="0">
                <a:solidFill>
                  <a:srgbClr val="F8F8F2"/>
                </a:solidFill>
                <a:effectLst/>
                <a:latin typeface="Menlo"/>
              </a:rPr>
              <a:t>).</a:t>
            </a:r>
            <a:r>
              <a:rPr lang="en-IN" b="0" i="0" dirty="0">
                <a:solidFill>
                  <a:srgbClr val="A6E22E"/>
                </a:solidFill>
                <a:effectLst/>
                <a:latin typeface="Menlo"/>
              </a:rPr>
              <a:t>send</a:t>
            </a:r>
            <a:r>
              <a:rPr lang="en-IN" b="0" i="0" dirty="0">
                <a:solidFill>
                  <a:srgbClr val="F8F8F2"/>
                </a:solidFill>
                <a:effectLst/>
                <a:latin typeface="Menlo"/>
              </a:rPr>
              <a:t>(</a:t>
            </a:r>
            <a:r>
              <a:rPr lang="en-IN" b="0" i="0" dirty="0">
                <a:solidFill>
                  <a:srgbClr val="A6E22E"/>
                </a:solidFill>
                <a:effectLst/>
                <a:latin typeface="Menlo"/>
              </a:rPr>
              <a:t>error</a:t>
            </a:r>
            <a:r>
              <a:rPr lang="en-IN" b="0" i="0" dirty="0">
                <a:solidFill>
                  <a:srgbClr val="F8F8F2"/>
                </a:solidFill>
                <a:effectLst/>
                <a:latin typeface="Menlo"/>
              </a:rPr>
              <a:t>); </a:t>
            </a:r>
          </a:p>
          <a:p>
            <a:r>
              <a:rPr lang="en-IN" b="0" i="0" dirty="0">
                <a:solidFill>
                  <a:srgbClr val="F8F8F2"/>
                </a:solidFill>
                <a:effectLst/>
                <a:latin typeface="Menlo"/>
              </a:rPr>
              <a:t>} </a:t>
            </a:r>
          </a:p>
          <a:p>
            <a:endParaRPr lang="en-IN" dirty="0">
              <a:solidFill>
                <a:srgbClr val="F8F8F2"/>
              </a:solidFill>
              <a:latin typeface="Menlo"/>
            </a:endParaRPr>
          </a:p>
          <a:p>
            <a:r>
              <a:rPr lang="en-IN" b="0" i="0" dirty="0">
                <a:solidFill>
                  <a:srgbClr val="F8F8F2"/>
                </a:solidFill>
                <a:effectLst/>
                <a:latin typeface="Menlo"/>
              </a:rPr>
              <a:t>});</a:t>
            </a:r>
            <a:endParaRPr lang="en-IN" dirty="0"/>
          </a:p>
        </p:txBody>
      </p:sp>
      <p:sp>
        <p:nvSpPr>
          <p:cNvPr id="11" name="TextBox 10">
            <a:extLst>
              <a:ext uri="{FF2B5EF4-FFF2-40B4-BE49-F238E27FC236}">
                <a16:creationId xmlns:a16="http://schemas.microsoft.com/office/drawing/2014/main" id="{CF5B6451-6774-4F4E-8238-D726CB07DA86}"/>
              </a:ext>
            </a:extLst>
          </p:cNvPr>
          <p:cNvSpPr txBox="1"/>
          <p:nvPr/>
        </p:nvSpPr>
        <p:spPr>
          <a:xfrm>
            <a:off x="6096000" y="1106336"/>
            <a:ext cx="6131560" cy="1200329"/>
          </a:xfrm>
          <a:prstGeom prst="rect">
            <a:avLst/>
          </a:prstGeom>
          <a:noFill/>
        </p:spPr>
        <p:txBody>
          <a:bodyPr wrap="square">
            <a:spAutoFit/>
          </a:bodyPr>
          <a:lstStyle/>
          <a:p>
            <a:r>
              <a:rPr lang="en-US" dirty="0"/>
              <a:t>Given an id value defined by the client facing application, we can call the </a:t>
            </a:r>
            <a:r>
              <a:rPr lang="en-US" dirty="0" err="1"/>
              <a:t>findById</a:t>
            </a:r>
            <a:r>
              <a:rPr lang="en-US" dirty="0"/>
              <a:t> function rather than the find function. This function will find a single document based on the associated id. When we have this data we will return it back to the user.</a:t>
            </a:r>
            <a:endParaRPr lang="en-IN" dirty="0"/>
          </a:p>
        </p:txBody>
      </p:sp>
      <p:sp>
        <p:nvSpPr>
          <p:cNvPr id="4" name="TextBox 3">
            <a:extLst>
              <a:ext uri="{FF2B5EF4-FFF2-40B4-BE49-F238E27FC236}">
                <a16:creationId xmlns:a16="http://schemas.microsoft.com/office/drawing/2014/main" id="{8255AC93-406E-5078-D52F-1FB583A204D5}"/>
              </a:ext>
            </a:extLst>
          </p:cNvPr>
          <p:cNvSpPr txBox="1"/>
          <p:nvPr/>
        </p:nvSpPr>
        <p:spPr>
          <a:xfrm>
            <a:off x="6778487" y="2164646"/>
            <a:ext cx="6152320" cy="4524315"/>
          </a:xfrm>
          <a:prstGeom prst="rect">
            <a:avLst/>
          </a:prstGeom>
          <a:noFill/>
        </p:spPr>
        <p:txBody>
          <a:bodyPr wrap="square">
            <a:spAutoFit/>
          </a:bodyPr>
          <a:lstStyle/>
          <a:p>
            <a:r>
              <a:rPr lang="en-US" dirty="0"/>
              <a:t>Basically when using mongoose, documents can be retrieved using helpers. Every model method that accepts query conditions can be executed by means of a callback or the exec method.</a:t>
            </a:r>
          </a:p>
          <a:p>
            <a:endParaRPr lang="en-US" dirty="0"/>
          </a:p>
          <a:p>
            <a:r>
              <a:rPr lang="en-US" dirty="0">
                <a:highlight>
                  <a:srgbClr val="FFFF00"/>
                </a:highlight>
              </a:rPr>
              <a:t>callback</a:t>
            </a:r>
            <a:r>
              <a:rPr lang="en-US" dirty="0"/>
              <a:t>:</a:t>
            </a:r>
          </a:p>
          <a:p>
            <a:r>
              <a:rPr lang="en-US" dirty="0" err="1"/>
              <a:t>User.findOne</a:t>
            </a:r>
            <a:r>
              <a:rPr lang="en-US" dirty="0"/>
              <a:t>({ name: '</a:t>
            </a:r>
            <a:r>
              <a:rPr lang="en-US" dirty="0" err="1"/>
              <a:t>daniel</a:t>
            </a:r>
            <a:r>
              <a:rPr lang="en-US" dirty="0"/>
              <a:t>' }, function (err, user) {</a:t>
            </a:r>
          </a:p>
          <a:p>
            <a:r>
              <a:rPr lang="en-US" dirty="0"/>
              <a:t>  //</a:t>
            </a:r>
          </a:p>
          <a:p>
            <a:r>
              <a:rPr lang="en-US" dirty="0"/>
              <a:t>});</a:t>
            </a:r>
          </a:p>
          <a:p>
            <a:r>
              <a:rPr lang="en-US" dirty="0">
                <a:highlight>
                  <a:srgbClr val="FFFF00"/>
                </a:highlight>
              </a:rPr>
              <a:t>exec:</a:t>
            </a:r>
          </a:p>
          <a:p>
            <a:r>
              <a:rPr lang="en-US" dirty="0"/>
              <a:t>User</a:t>
            </a:r>
          </a:p>
          <a:p>
            <a:r>
              <a:rPr lang="en-US" dirty="0"/>
              <a:t>  .</a:t>
            </a:r>
            <a:r>
              <a:rPr lang="en-US" dirty="0" err="1"/>
              <a:t>findOne</a:t>
            </a:r>
            <a:r>
              <a:rPr lang="en-US" dirty="0"/>
              <a:t>({ name: '</a:t>
            </a:r>
            <a:r>
              <a:rPr lang="en-US" dirty="0" err="1"/>
              <a:t>daniel</a:t>
            </a:r>
            <a:r>
              <a:rPr lang="en-US" dirty="0"/>
              <a:t>' })</a:t>
            </a:r>
          </a:p>
          <a:p>
            <a:r>
              <a:rPr lang="en-US" dirty="0"/>
              <a:t>  .exec(function (err, user) {</a:t>
            </a:r>
          </a:p>
          <a:p>
            <a:r>
              <a:rPr lang="en-US" dirty="0"/>
              <a:t>      //</a:t>
            </a:r>
          </a:p>
          <a:p>
            <a:r>
              <a:rPr lang="en-US" dirty="0"/>
              <a:t>  });</a:t>
            </a:r>
          </a:p>
          <a:p>
            <a:r>
              <a:rPr lang="en-US" dirty="0"/>
              <a:t>Therefore when you don't pass a callback you can build a query and eventually execute it.</a:t>
            </a:r>
          </a:p>
        </p:txBody>
      </p:sp>
    </p:spTree>
    <p:extLst>
      <p:ext uri="{BB962C8B-B14F-4D97-AF65-F5344CB8AC3E}">
        <p14:creationId xmlns:p14="http://schemas.microsoft.com/office/powerpoint/2010/main" val="1584156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3598DA-4416-316E-0145-4C54F38C9821}"/>
              </a:ext>
            </a:extLst>
          </p:cNvPr>
          <p:cNvPicPr>
            <a:picLocks noChangeAspect="1"/>
          </p:cNvPicPr>
          <p:nvPr/>
        </p:nvPicPr>
        <p:blipFill>
          <a:blip r:embed="rId2"/>
          <a:stretch>
            <a:fillRect/>
          </a:stretch>
        </p:blipFill>
        <p:spPr>
          <a:xfrm>
            <a:off x="1619386" y="696347"/>
            <a:ext cx="8337002" cy="5067739"/>
          </a:xfrm>
          <a:prstGeom prst="rect">
            <a:avLst/>
          </a:prstGeom>
        </p:spPr>
      </p:pic>
    </p:spTree>
    <p:extLst>
      <p:ext uri="{BB962C8B-B14F-4D97-AF65-F5344CB8AC3E}">
        <p14:creationId xmlns:p14="http://schemas.microsoft.com/office/powerpoint/2010/main" val="3758708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C4BFCF-07A5-48E6-ACA6-A9C67853A699}"/>
              </a:ext>
            </a:extLst>
          </p:cNvPr>
          <p:cNvSpPr>
            <a:spLocks noGrp="1"/>
          </p:cNvSpPr>
          <p:nvPr>
            <p:ph idx="1"/>
          </p:nvPr>
        </p:nvSpPr>
        <p:spPr>
          <a:xfrm>
            <a:off x="111760" y="883921"/>
            <a:ext cx="6888480" cy="4023360"/>
          </a:xfrm>
        </p:spPr>
        <p:style>
          <a:lnRef idx="2">
            <a:schemeClr val="dk1">
              <a:shade val="50000"/>
            </a:schemeClr>
          </a:lnRef>
          <a:fillRef idx="1">
            <a:schemeClr val="dk1"/>
          </a:fillRef>
          <a:effectRef idx="0">
            <a:schemeClr val="dk1"/>
          </a:effectRef>
          <a:fontRef idx="minor">
            <a:schemeClr val="lt1"/>
          </a:fontRef>
        </p:style>
        <p:txBody>
          <a:bodyPr>
            <a:normAutofit fontScale="92500" lnSpcReduction="20000"/>
          </a:bodyPr>
          <a:lstStyle/>
          <a:p>
            <a:pPr marL="0" indent="0">
              <a:buNone/>
            </a:pPr>
            <a:r>
              <a:rPr lang="en-IN" sz="2400" b="0" i="0" dirty="0" err="1">
                <a:solidFill>
                  <a:srgbClr val="A6E22E"/>
                </a:solidFill>
                <a:effectLst/>
                <a:latin typeface="Menlo"/>
              </a:rPr>
              <a:t>app</a:t>
            </a:r>
            <a:r>
              <a:rPr lang="en-IN" sz="2400" b="0" i="0" dirty="0" err="1">
                <a:solidFill>
                  <a:srgbClr val="F8F8F2"/>
                </a:solidFill>
                <a:effectLst/>
                <a:latin typeface="Menlo"/>
              </a:rPr>
              <a:t>.</a:t>
            </a:r>
            <a:r>
              <a:rPr lang="en-IN" sz="3000" b="0" i="0" dirty="0" err="1">
                <a:solidFill>
                  <a:srgbClr val="A6E22E"/>
                </a:solidFill>
                <a:effectLst/>
                <a:highlight>
                  <a:srgbClr val="FFFF00"/>
                </a:highlight>
                <a:latin typeface="Menlo"/>
              </a:rPr>
              <a:t>put</a:t>
            </a:r>
            <a:r>
              <a:rPr lang="en-IN" sz="2400" b="0" i="0" dirty="0">
                <a:solidFill>
                  <a:srgbClr val="F8F8F2"/>
                </a:solidFill>
                <a:effectLst/>
                <a:latin typeface="Menlo"/>
              </a:rPr>
              <a:t>(</a:t>
            </a:r>
            <a:r>
              <a:rPr lang="en-IN" sz="2400" b="0" i="0" dirty="0">
                <a:solidFill>
                  <a:srgbClr val="E6DB74"/>
                </a:solidFill>
                <a:effectLst/>
                <a:latin typeface="Menlo"/>
              </a:rPr>
              <a:t>"/person/:id"</a:t>
            </a:r>
            <a:r>
              <a:rPr lang="en-IN" sz="2400" b="0" i="0" dirty="0">
                <a:solidFill>
                  <a:srgbClr val="F8F8F2"/>
                </a:solidFill>
                <a:effectLst/>
                <a:latin typeface="Menlo"/>
              </a:rPr>
              <a:t>, </a:t>
            </a:r>
            <a:r>
              <a:rPr lang="en-IN" sz="2400" b="0" i="0" dirty="0">
                <a:solidFill>
                  <a:srgbClr val="66D9EF"/>
                </a:solidFill>
                <a:effectLst/>
                <a:latin typeface="Menlo"/>
              </a:rPr>
              <a:t>async</a:t>
            </a:r>
            <a:r>
              <a:rPr lang="en-IN" sz="2400" b="0" i="0" dirty="0">
                <a:solidFill>
                  <a:srgbClr val="F8F8F2"/>
                </a:solidFill>
                <a:effectLst/>
                <a:latin typeface="Menlo"/>
              </a:rPr>
              <a:t> (</a:t>
            </a:r>
            <a:r>
              <a:rPr lang="en-IN" sz="2400" b="0" i="0" dirty="0">
                <a:solidFill>
                  <a:srgbClr val="A6E22E"/>
                </a:solidFill>
                <a:effectLst/>
                <a:latin typeface="Menlo"/>
              </a:rPr>
              <a:t>request</a:t>
            </a:r>
            <a:r>
              <a:rPr lang="en-IN" sz="2400" b="0" i="0" dirty="0">
                <a:solidFill>
                  <a:srgbClr val="F8F8F2"/>
                </a:solidFill>
                <a:effectLst/>
                <a:latin typeface="Menlo"/>
              </a:rPr>
              <a:t>, </a:t>
            </a:r>
            <a:r>
              <a:rPr lang="en-IN" sz="2400" b="0" i="0" dirty="0">
                <a:solidFill>
                  <a:srgbClr val="A6E22E"/>
                </a:solidFill>
                <a:effectLst/>
                <a:latin typeface="Menlo"/>
              </a:rPr>
              <a:t>response</a:t>
            </a:r>
            <a:r>
              <a:rPr lang="en-IN" sz="2400" b="0" i="0" dirty="0">
                <a:solidFill>
                  <a:srgbClr val="F8F8F2"/>
                </a:solidFill>
                <a:effectLst/>
                <a:latin typeface="Menlo"/>
              </a:rPr>
              <a:t>) =&gt; { </a:t>
            </a:r>
          </a:p>
          <a:p>
            <a:pPr marL="0" indent="0">
              <a:buNone/>
            </a:pPr>
            <a:r>
              <a:rPr lang="en-IN" sz="2400" b="0" i="0" dirty="0">
                <a:solidFill>
                  <a:srgbClr val="66D9EF"/>
                </a:solidFill>
                <a:effectLst/>
                <a:latin typeface="Menlo"/>
              </a:rPr>
              <a:t>try</a:t>
            </a:r>
            <a:r>
              <a:rPr lang="en-IN" sz="2400" b="0" i="0" dirty="0">
                <a:solidFill>
                  <a:srgbClr val="F8F8F2"/>
                </a:solidFill>
                <a:effectLst/>
                <a:latin typeface="Menlo"/>
              </a:rPr>
              <a:t> { </a:t>
            </a:r>
          </a:p>
          <a:p>
            <a:pPr marL="0" indent="0">
              <a:buNone/>
            </a:pPr>
            <a:r>
              <a:rPr lang="en-IN" sz="2400" b="0" i="0" dirty="0">
                <a:solidFill>
                  <a:srgbClr val="66D9EF"/>
                </a:solidFill>
                <a:effectLst/>
                <a:latin typeface="Menlo"/>
              </a:rPr>
              <a:t>var</a:t>
            </a:r>
            <a:r>
              <a:rPr lang="en-IN" sz="2400" b="0" i="0" dirty="0">
                <a:solidFill>
                  <a:srgbClr val="F8F8F2"/>
                </a:solidFill>
                <a:effectLst/>
                <a:latin typeface="Menlo"/>
              </a:rPr>
              <a:t> </a:t>
            </a:r>
            <a:r>
              <a:rPr lang="en-IN" sz="2400" b="0" i="0" dirty="0">
                <a:solidFill>
                  <a:srgbClr val="A6E22E"/>
                </a:solidFill>
                <a:effectLst/>
                <a:latin typeface="Menlo"/>
              </a:rPr>
              <a:t>person</a:t>
            </a:r>
            <a:r>
              <a:rPr lang="en-IN" sz="2400" b="0" i="0" dirty="0">
                <a:solidFill>
                  <a:srgbClr val="F8F8F2"/>
                </a:solidFill>
                <a:effectLst/>
                <a:latin typeface="Menlo"/>
              </a:rPr>
              <a:t> </a:t>
            </a:r>
            <a:r>
              <a:rPr lang="en-IN" sz="2400" b="0" i="0" dirty="0">
                <a:solidFill>
                  <a:srgbClr val="F92672"/>
                </a:solidFill>
                <a:effectLst/>
                <a:latin typeface="Menlo"/>
              </a:rPr>
              <a:t>=</a:t>
            </a:r>
            <a:r>
              <a:rPr lang="en-IN" sz="2400" b="0" i="0" dirty="0">
                <a:solidFill>
                  <a:srgbClr val="F8F8F2"/>
                </a:solidFill>
                <a:effectLst/>
                <a:latin typeface="Menlo"/>
              </a:rPr>
              <a:t> </a:t>
            </a:r>
            <a:r>
              <a:rPr lang="en-IN" sz="2400" b="0" i="0" dirty="0">
                <a:solidFill>
                  <a:srgbClr val="66D9EF"/>
                </a:solidFill>
                <a:effectLst/>
                <a:latin typeface="Menlo"/>
              </a:rPr>
              <a:t>await</a:t>
            </a:r>
            <a:r>
              <a:rPr lang="en-IN" sz="2400" b="0" i="0" dirty="0">
                <a:solidFill>
                  <a:srgbClr val="F8F8F2"/>
                </a:solidFill>
                <a:effectLst/>
                <a:latin typeface="Menlo"/>
              </a:rPr>
              <a:t> </a:t>
            </a:r>
            <a:r>
              <a:rPr lang="en-IN" sz="2400" b="0" i="0" dirty="0" err="1">
                <a:solidFill>
                  <a:srgbClr val="A6E22E"/>
                </a:solidFill>
                <a:effectLst/>
                <a:latin typeface="Menlo"/>
              </a:rPr>
              <a:t>PersonModel</a:t>
            </a:r>
            <a:r>
              <a:rPr lang="en-IN" sz="2400" b="0" i="0" dirty="0" err="1">
                <a:solidFill>
                  <a:srgbClr val="F8F8F2"/>
                </a:solidFill>
                <a:effectLst/>
                <a:latin typeface="Menlo"/>
              </a:rPr>
              <a:t>.</a:t>
            </a:r>
            <a:r>
              <a:rPr lang="en-IN" sz="2400" b="0" i="0" dirty="0" err="1">
                <a:solidFill>
                  <a:srgbClr val="A6E22E"/>
                </a:solidFill>
                <a:effectLst/>
                <a:latin typeface="Menlo"/>
              </a:rPr>
              <a:t>findById</a:t>
            </a:r>
            <a:r>
              <a:rPr lang="en-IN" sz="2400" b="0" i="0" dirty="0">
                <a:solidFill>
                  <a:srgbClr val="F8F8F2"/>
                </a:solidFill>
                <a:effectLst/>
                <a:latin typeface="Menlo"/>
              </a:rPr>
              <a:t>(</a:t>
            </a:r>
            <a:r>
              <a:rPr lang="en-IN" sz="2400" b="0" i="0" dirty="0">
                <a:solidFill>
                  <a:srgbClr val="A6E22E"/>
                </a:solidFill>
                <a:effectLst/>
                <a:latin typeface="Menlo"/>
              </a:rPr>
              <a:t>request</a:t>
            </a:r>
            <a:r>
              <a:rPr lang="en-IN" sz="2400" b="0" i="0" dirty="0">
                <a:solidFill>
                  <a:srgbClr val="F8F8F2"/>
                </a:solidFill>
                <a:effectLst/>
                <a:latin typeface="Menlo"/>
              </a:rPr>
              <a:t>.</a:t>
            </a:r>
            <a:r>
              <a:rPr lang="en-IN" sz="2400" b="0" i="0" dirty="0">
                <a:solidFill>
                  <a:srgbClr val="A6E22E"/>
                </a:solidFill>
                <a:effectLst/>
                <a:latin typeface="Menlo"/>
              </a:rPr>
              <a:t>params</a:t>
            </a:r>
            <a:r>
              <a:rPr lang="en-IN" sz="2400" b="0" i="0" dirty="0">
                <a:solidFill>
                  <a:srgbClr val="F8F8F2"/>
                </a:solidFill>
                <a:effectLst/>
                <a:latin typeface="Menlo"/>
              </a:rPr>
              <a:t>.</a:t>
            </a:r>
            <a:r>
              <a:rPr lang="en-IN" sz="2400" b="0" i="0" dirty="0">
                <a:solidFill>
                  <a:srgbClr val="A6E22E"/>
                </a:solidFill>
                <a:effectLst/>
                <a:latin typeface="Menlo"/>
              </a:rPr>
              <a:t>id</a:t>
            </a:r>
            <a:r>
              <a:rPr lang="en-IN" sz="2400" b="0" i="0" dirty="0">
                <a:solidFill>
                  <a:srgbClr val="F8F8F2"/>
                </a:solidFill>
                <a:effectLst/>
                <a:latin typeface="Menlo"/>
              </a:rPr>
              <a:t>).</a:t>
            </a:r>
            <a:r>
              <a:rPr lang="en-IN" sz="2400" b="0" i="0" dirty="0">
                <a:solidFill>
                  <a:srgbClr val="A6E22E"/>
                </a:solidFill>
                <a:effectLst/>
                <a:latin typeface="Menlo"/>
              </a:rPr>
              <a:t>exec</a:t>
            </a:r>
            <a:r>
              <a:rPr lang="en-IN" sz="2400" b="0" i="0" dirty="0">
                <a:solidFill>
                  <a:srgbClr val="F8F8F2"/>
                </a:solidFill>
                <a:effectLst/>
                <a:latin typeface="Menlo"/>
              </a:rPr>
              <a:t>(); </a:t>
            </a:r>
            <a:r>
              <a:rPr lang="en-IN" sz="2400" b="0" i="0" dirty="0" err="1">
                <a:solidFill>
                  <a:srgbClr val="A6E22E"/>
                </a:solidFill>
                <a:effectLst/>
                <a:latin typeface="Menlo"/>
              </a:rPr>
              <a:t>person</a:t>
            </a:r>
            <a:r>
              <a:rPr lang="en-IN" sz="2400" b="0" i="0" dirty="0" err="1">
                <a:solidFill>
                  <a:srgbClr val="F8F8F2"/>
                </a:solidFill>
                <a:effectLst/>
                <a:latin typeface="Menlo"/>
              </a:rPr>
              <a:t>.</a:t>
            </a:r>
            <a:r>
              <a:rPr lang="en-IN" sz="2400" b="0" i="0" dirty="0" err="1">
                <a:solidFill>
                  <a:srgbClr val="A6E22E"/>
                </a:solidFill>
                <a:effectLst/>
                <a:latin typeface="Menlo"/>
              </a:rPr>
              <a:t>set</a:t>
            </a:r>
            <a:r>
              <a:rPr lang="en-IN" sz="2400" b="0" i="0" dirty="0">
                <a:solidFill>
                  <a:srgbClr val="F8F8F2"/>
                </a:solidFill>
                <a:effectLst/>
                <a:latin typeface="Menlo"/>
              </a:rPr>
              <a:t>(</a:t>
            </a:r>
            <a:r>
              <a:rPr lang="en-IN" sz="2400" b="0" i="0" dirty="0" err="1">
                <a:solidFill>
                  <a:srgbClr val="A6E22E"/>
                </a:solidFill>
                <a:effectLst/>
                <a:latin typeface="Menlo"/>
              </a:rPr>
              <a:t>request</a:t>
            </a:r>
            <a:r>
              <a:rPr lang="en-IN" sz="2400" b="0" i="0" dirty="0" err="1">
                <a:solidFill>
                  <a:srgbClr val="F8F8F2"/>
                </a:solidFill>
                <a:effectLst/>
                <a:latin typeface="Menlo"/>
              </a:rPr>
              <a:t>.</a:t>
            </a:r>
            <a:r>
              <a:rPr lang="en-IN" sz="2400" b="0" i="0" dirty="0" err="1">
                <a:solidFill>
                  <a:srgbClr val="A6E22E"/>
                </a:solidFill>
                <a:effectLst/>
                <a:latin typeface="Menlo"/>
              </a:rPr>
              <a:t>body</a:t>
            </a:r>
            <a:r>
              <a:rPr lang="en-IN" sz="2400" b="0" i="0" dirty="0">
                <a:solidFill>
                  <a:srgbClr val="F8F8F2"/>
                </a:solidFill>
                <a:effectLst/>
                <a:latin typeface="Menlo"/>
              </a:rPr>
              <a:t>); </a:t>
            </a:r>
          </a:p>
          <a:p>
            <a:pPr marL="0" indent="0">
              <a:buNone/>
            </a:pPr>
            <a:r>
              <a:rPr lang="en-IN" sz="2400" b="0" i="0" dirty="0">
                <a:solidFill>
                  <a:srgbClr val="66D9EF"/>
                </a:solidFill>
                <a:effectLst/>
                <a:latin typeface="Menlo"/>
              </a:rPr>
              <a:t>var</a:t>
            </a:r>
            <a:r>
              <a:rPr lang="en-IN" sz="2400" b="0" i="0" dirty="0">
                <a:solidFill>
                  <a:srgbClr val="F8F8F2"/>
                </a:solidFill>
                <a:effectLst/>
                <a:latin typeface="Menlo"/>
              </a:rPr>
              <a:t> </a:t>
            </a:r>
            <a:r>
              <a:rPr lang="en-IN" sz="2400" b="0" i="0" dirty="0">
                <a:solidFill>
                  <a:srgbClr val="A6E22E"/>
                </a:solidFill>
                <a:effectLst/>
                <a:latin typeface="Menlo"/>
              </a:rPr>
              <a:t>result</a:t>
            </a:r>
            <a:r>
              <a:rPr lang="en-IN" sz="2400" b="0" i="0" dirty="0">
                <a:solidFill>
                  <a:srgbClr val="F8F8F2"/>
                </a:solidFill>
                <a:effectLst/>
                <a:latin typeface="Menlo"/>
              </a:rPr>
              <a:t> </a:t>
            </a:r>
            <a:r>
              <a:rPr lang="en-IN" sz="2400" b="0" i="0" dirty="0">
                <a:solidFill>
                  <a:srgbClr val="F92672"/>
                </a:solidFill>
                <a:effectLst/>
                <a:latin typeface="Menlo"/>
              </a:rPr>
              <a:t>=</a:t>
            </a:r>
            <a:r>
              <a:rPr lang="en-IN" sz="2400" b="0" i="0" dirty="0">
                <a:solidFill>
                  <a:srgbClr val="F8F8F2"/>
                </a:solidFill>
                <a:effectLst/>
                <a:latin typeface="Menlo"/>
              </a:rPr>
              <a:t> </a:t>
            </a:r>
            <a:r>
              <a:rPr lang="en-IN" sz="2400" b="0" i="0" dirty="0">
                <a:solidFill>
                  <a:srgbClr val="66D9EF"/>
                </a:solidFill>
                <a:effectLst/>
                <a:latin typeface="Menlo"/>
              </a:rPr>
              <a:t>await</a:t>
            </a:r>
            <a:r>
              <a:rPr lang="en-IN" sz="2400" b="0" i="0" dirty="0">
                <a:solidFill>
                  <a:srgbClr val="F8F8F2"/>
                </a:solidFill>
                <a:effectLst/>
                <a:latin typeface="Menlo"/>
              </a:rPr>
              <a:t> </a:t>
            </a:r>
            <a:r>
              <a:rPr lang="en-IN" sz="2400" b="0" i="0" dirty="0" err="1">
                <a:solidFill>
                  <a:srgbClr val="A6E22E"/>
                </a:solidFill>
                <a:effectLst/>
                <a:latin typeface="Menlo"/>
              </a:rPr>
              <a:t>person</a:t>
            </a:r>
            <a:r>
              <a:rPr lang="en-IN" sz="2400" b="0" i="0" dirty="0" err="1">
                <a:solidFill>
                  <a:srgbClr val="F8F8F2"/>
                </a:solidFill>
                <a:effectLst/>
                <a:latin typeface="Menlo"/>
              </a:rPr>
              <a:t>.</a:t>
            </a:r>
            <a:r>
              <a:rPr lang="en-IN" sz="2400" b="0" i="0" dirty="0" err="1">
                <a:solidFill>
                  <a:srgbClr val="A6E22E"/>
                </a:solidFill>
                <a:effectLst/>
                <a:latin typeface="Menlo"/>
              </a:rPr>
              <a:t>save</a:t>
            </a:r>
            <a:r>
              <a:rPr lang="en-IN" sz="2400" b="0" i="0" dirty="0">
                <a:solidFill>
                  <a:srgbClr val="F8F8F2"/>
                </a:solidFill>
                <a:effectLst/>
                <a:latin typeface="Menlo"/>
              </a:rPr>
              <a:t>(); </a:t>
            </a:r>
          </a:p>
          <a:p>
            <a:pPr marL="0" indent="0">
              <a:buNone/>
            </a:pPr>
            <a:r>
              <a:rPr lang="en-IN" sz="2400" b="0" i="0" dirty="0" err="1">
                <a:solidFill>
                  <a:srgbClr val="A6E22E"/>
                </a:solidFill>
                <a:effectLst/>
                <a:latin typeface="Menlo"/>
              </a:rPr>
              <a:t>response</a:t>
            </a:r>
            <a:r>
              <a:rPr lang="en-IN" sz="2400" b="0" i="0" dirty="0" err="1">
                <a:solidFill>
                  <a:srgbClr val="F8F8F2"/>
                </a:solidFill>
                <a:effectLst/>
                <a:latin typeface="Menlo"/>
              </a:rPr>
              <a:t>.</a:t>
            </a:r>
            <a:r>
              <a:rPr lang="en-IN" sz="2400" b="0" i="0" dirty="0" err="1">
                <a:solidFill>
                  <a:srgbClr val="A6E22E"/>
                </a:solidFill>
                <a:effectLst/>
                <a:latin typeface="Menlo"/>
              </a:rPr>
              <a:t>send</a:t>
            </a:r>
            <a:r>
              <a:rPr lang="en-IN" sz="2400" b="0" i="0" dirty="0">
                <a:solidFill>
                  <a:srgbClr val="F8F8F2"/>
                </a:solidFill>
                <a:effectLst/>
                <a:latin typeface="Menlo"/>
              </a:rPr>
              <a:t>(</a:t>
            </a:r>
            <a:r>
              <a:rPr lang="en-IN" sz="2400" b="0" i="0" dirty="0">
                <a:solidFill>
                  <a:srgbClr val="A6E22E"/>
                </a:solidFill>
                <a:effectLst/>
                <a:latin typeface="Menlo"/>
              </a:rPr>
              <a:t>result</a:t>
            </a:r>
            <a:r>
              <a:rPr lang="en-IN" sz="2400" b="0" i="0" dirty="0">
                <a:solidFill>
                  <a:srgbClr val="F8F8F2"/>
                </a:solidFill>
                <a:effectLst/>
                <a:latin typeface="Menlo"/>
              </a:rPr>
              <a:t>); </a:t>
            </a:r>
          </a:p>
          <a:p>
            <a:pPr marL="0" indent="0">
              <a:buNone/>
            </a:pPr>
            <a:r>
              <a:rPr lang="en-IN" sz="2400" b="0" i="0" dirty="0">
                <a:solidFill>
                  <a:srgbClr val="F8F8F2"/>
                </a:solidFill>
                <a:effectLst/>
                <a:latin typeface="Menlo"/>
              </a:rPr>
              <a:t>} </a:t>
            </a:r>
          </a:p>
          <a:p>
            <a:pPr marL="0" indent="0">
              <a:buNone/>
            </a:pPr>
            <a:r>
              <a:rPr lang="en-IN" sz="2400" b="0" i="0" dirty="0">
                <a:solidFill>
                  <a:srgbClr val="66D9EF"/>
                </a:solidFill>
                <a:effectLst/>
                <a:latin typeface="Menlo"/>
              </a:rPr>
              <a:t>catch</a:t>
            </a:r>
            <a:r>
              <a:rPr lang="en-IN" sz="2400" b="0" i="0" dirty="0">
                <a:solidFill>
                  <a:srgbClr val="F8F8F2"/>
                </a:solidFill>
                <a:effectLst/>
                <a:latin typeface="Menlo"/>
              </a:rPr>
              <a:t> (</a:t>
            </a:r>
            <a:r>
              <a:rPr lang="en-IN" sz="2400" b="0" i="0" dirty="0">
                <a:solidFill>
                  <a:srgbClr val="A6E22E"/>
                </a:solidFill>
                <a:effectLst/>
                <a:latin typeface="Menlo"/>
              </a:rPr>
              <a:t>error</a:t>
            </a:r>
            <a:r>
              <a:rPr lang="en-IN" sz="2400" b="0" i="0" dirty="0">
                <a:solidFill>
                  <a:srgbClr val="F8F8F2"/>
                </a:solidFill>
                <a:effectLst/>
                <a:latin typeface="Menlo"/>
              </a:rPr>
              <a:t>) {</a:t>
            </a:r>
          </a:p>
          <a:p>
            <a:pPr marL="0" indent="0">
              <a:buNone/>
            </a:pPr>
            <a:r>
              <a:rPr lang="en-IN" sz="2400" b="0" i="0" dirty="0">
                <a:solidFill>
                  <a:srgbClr val="F8F8F2"/>
                </a:solidFill>
                <a:effectLst/>
                <a:latin typeface="Menlo"/>
              </a:rPr>
              <a:t> </a:t>
            </a:r>
            <a:r>
              <a:rPr lang="en-IN" sz="2400" b="0" i="0" dirty="0" err="1">
                <a:solidFill>
                  <a:srgbClr val="A6E22E"/>
                </a:solidFill>
                <a:effectLst/>
                <a:latin typeface="Menlo"/>
              </a:rPr>
              <a:t>response</a:t>
            </a:r>
            <a:r>
              <a:rPr lang="en-IN" sz="2400" b="0" i="0" dirty="0" err="1">
                <a:solidFill>
                  <a:srgbClr val="F8F8F2"/>
                </a:solidFill>
                <a:effectLst/>
                <a:latin typeface="Menlo"/>
              </a:rPr>
              <a:t>.</a:t>
            </a:r>
            <a:r>
              <a:rPr lang="en-IN" sz="2400" b="0" i="0" dirty="0" err="1">
                <a:solidFill>
                  <a:srgbClr val="A6E22E"/>
                </a:solidFill>
                <a:effectLst/>
                <a:latin typeface="Menlo"/>
              </a:rPr>
              <a:t>status</a:t>
            </a:r>
            <a:r>
              <a:rPr lang="en-IN" sz="2400" b="0" i="0" dirty="0">
                <a:solidFill>
                  <a:srgbClr val="F8F8F2"/>
                </a:solidFill>
                <a:effectLst/>
                <a:latin typeface="Menlo"/>
              </a:rPr>
              <a:t>(</a:t>
            </a:r>
            <a:r>
              <a:rPr lang="en-IN" sz="2400" b="0" i="0" dirty="0">
                <a:solidFill>
                  <a:srgbClr val="AE81FF"/>
                </a:solidFill>
                <a:effectLst/>
                <a:latin typeface="Menlo"/>
              </a:rPr>
              <a:t>500</a:t>
            </a:r>
            <a:r>
              <a:rPr lang="en-IN" sz="2400" b="0" i="0" dirty="0">
                <a:solidFill>
                  <a:srgbClr val="F8F8F2"/>
                </a:solidFill>
                <a:effectLst/>
                <a:latin typeface="Menlo"/>
              </a:rPr>
              <a:t>).</a:t>
            </a:r>
            <a:r>
              <a:rPr lang="en-IN" sz="2400" b="0" i="0" dirty="0">
                <a:solidFill>
                  <a:srgbClr val="A6E22E"/>
                </a:solidFill>
                <a:effectLst/>
                <a:latin typeface="Menlo"/>
              </a:rPr>
              <a:t>send</a:t>
            </a:r>
            <a:r>
              <a:rPr lang="en-IN" sz="2400" b="0" i="0" dirty="0">
                <a:solidFill>
                  <a:srgbClr val="F8F8F2"/>
                </a:solidFill>
                <a:effectLst/>
                <a:latin typeface="Menlo"/>
              </a:rPr>
              <a:t>(</a:t>
            </a:r>
            <a:r>
              <a:rPr lang="en-IN" sz="2400" b="0" i="0" dirty="0">
                <a:solidFill>
                  <a:srgbClr val="A6E22E"/>
                </a:solidFill>
                <a:effectLst/>
                <a:latin typeface="Menlo"/>
              </a:rPr>
              <a:t>error</a:t>
            </a:r>
            <a:r>
              <a:rPr lang="en-IN" sz="2400" b="0" i="0" dirty="0">
                <a:solidFill>
                  <a:srgbClr val="F8F8F2"/>
                </a:solidFill>
                <a:effectLst/>
                <a:latin typeface="Menlo"/>
              </a:rPr>
              <a:t>); } </a:t>
            </a:r>
          </a:p>
          <a:p>
            <a:pPr marL="0" indent="0">
              <a:buNone/>
            </a:pPr>
            <a:r>
              <a:rPr lang="en-IN" sz="2400" b="0" i="0" dirty="0">
                <a:solidFill>
                  <a:srgbClr val="F8F8F2"/>
                </a:solidFill>
                <a:effectLst/>
                <a:latin typeface="Menlo"/>
              </a:rPr>
              <a:t>});</a:t>
            </a:r>
            <a:endParaRPr lang="en-IN" sz="2400" dirty="0"/>
          </a:p>
        </p:txBody>
      </p:sp>
      <p:sp>
        <p:nvSpPr>
          <p:cNvPr id="5" name="TextBox 4">
            <a:extLst>
              <a:ext uri="{FF2B5EF4-FFF2-40B4-BE49-F238E27FC236}">
                <a16:creationId xmlns:a16="http://schemas.microsoft.com/office/drawing/2014/main" id="{5DCAEF7D-EBD1-4E28-B7DE-75BC05E9941F}"/>
              </a:ext>
            </a:extLst>
          </p:cNvPr>
          <p:cNvSpPr txBox="1"/>
          <p:nvPr/>
        </p:nvSpPr>
        <p:spPr>
          <a:xfrm>
            <a:off x="7190740" y="883921"/>
            <a:ext cx="4889500" cy="3416320"/>
          </a:xfrm>
          <a:prstGeom prst="rect">
            <a:avLst/>
          </a:prstGeom>
          <a:noFill/>
        </p:spPr>
        <p:txBody>
          <a:bodyPr wrap="square">
            <a:spAutoFit/>
          </a:bodyPr>
          <a:lstStyle/>
          <a:p>
            <a:r>
              <a:rPr lang="en-US" dirty="0"/>
              <a:t>When the client provides an id value, we can first find the document by the id. Once we’ve found the document, we can set the properties that were provided in the request payload. Again, basic validation is performed. For example, if a property is provided that doesn’t appear in our model, it will be stripped(removed ) out. In our model, none of the properties are required. This means whatever data appears in the payload, as long as it is valid, it will override what already exists. We can save any changes we made back to the database and return the data back to the client.</a:t>
            </a:r>
            <a:endParaRPr lang="en-IN" dirty="0"/>
          </a:p>
        </p:txBody>
      </p:sp>
    </p:spTree>
    <p:extLst>
      <p:ext uri="{BB962C8B-B14F-4D97-AF65-F5344CB8AC3E}">
        <p14:creationId xmlns:p14="http://schemas.microsoft.com/office/powerpoint/2010/main" val="1024406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1B3211-89D3-CC74-2B6F-F3FFE9D15446}"/>
              </a:ext>
            </a:extLst>
          </p:cNvPr>
          <p:cNvPicPr>
            <a:picLocks noChangeAspect="1"/>
          </p:cNvPicPr>
          <p:nvPr/>
        </p:nvPicPr>
        <p:blipFill>
          <a:blip r:embed="rId2"/>
          <a:stretch>
            <a:fillRect/>
          </a:stretch>
        </p:blipFill>
        <p:spPr>
          <a:xfrm>
            <a:off x="1674384" y="548268"/>
            <a:ext cx="8306520" cy="4747671"/>
          </a:xfrm>
          <a:prstGeom prst="rect">
            <a:avLst/>
          </a:prstGeom>
        </p:spPr>
      </p:pic>
    </p:spTree>
    <p:extLst>
      <p:ext uri="{BB962C8B-B14F-4D97-AF65-F5344CB8AC3E}">
        <p14:creationId xmlns:p14="http://schemas.microsoft.com/office/powerpoint/2010/main" val="2677994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2DF702-445C-4E8F-9A6A-A3D7D957B80B}"/>
              </a:ext>
            </a:extLst>
          </p:cNvPr>
          <p:cNvSpPr>
            <a:spLocks noGrp="1"/>
          </p:cNvSpPr>
          <p:nvPr>
            <p:ph idx="1"/>
          </p:nvPr>
        </p:nvSpPr>
        <p:spPr>
          <a:xfrm>
            <a:off x="84881" y="1148787"/>
            <a:ext cx="6404658" cy="4560426"/>
          </a:xfrm>
        </p:spPr>
        <p:style>
          <a:lnRef idx="2">
            <a:schemeClr val="dk1">
              <a:shade val="50000"/>
            </a:schemeClr>
          </a:lnRef>
          <a:fillRef idx="1">
            <a:schemeClr val="dk1"/>
          </a:fillRef>
          <a:effectRef idx="0">
            <a:schemeClr val="dk1"/>
          </a:effectRef>
          <a:fontRef idx="minor">
            <a:schemeClr val="lt1"/>
          </a:fontRef>
        </p:style>
        <p:txBody>
          <a:bodyPr>
            <a:normAutofit fontScale="92500"/>
          </a:bodyPr>
          <a:lstStyle/>
          <a:p>
            <a:pPr marL="0" indent="0">
              <a:buNone/>
            </a:pP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66D9EF"/>
                </a:solidFill>
                <a:effectLst/>
                <a:latin typeface="Menlo"/>
              </a:rPr>
              <a:t>delete</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a:t>
            </a:r>
          </a:p>
          <a:p>
            <a:pPr marL="0" indent="0">
              <a:buNone/>
            </a:pPr>
            <a:r>
              <a:rPr lang="en-IN" b="0" i="0" dirty="0">
                <a:solidFill>
                  <a:srgbClr val="F8F8F2"/>
                </a:solidFill>
                <a:effectLst/>
                <a:latin typeface="Menlo"/>
              </a:rPr>
              <a:t> </a:t>
            </a:r>
            <a:r>
              <a:rPr lang="en-IN" b="0" i="0" dirty="0">
                <a:solidFill>
                  <a:srgbClr val="66D9EF"/>
                </a:solidFill>
                <a:effectLst/>
                <a:latin typeface="Menlo"/>
              </a:rPr>
              <a:t>try</a:t>
            </a:r>
            <a:r>
              <a:rPr lang="en-IN" b="0" i="0" dirty="0">
                <a:solidFill>
                  <a:srgbClr val="F8F8F2"/>
                </a:solidFill>
                <a:effectLst/>
                <a:latin typeface="Menlo"/>
              </a:rPr>
              <a:t> {</a:t>
            </a:r>
          </a:p>
          <a:p>
            <a:pPr marL="0" indent="0">
              <a:buNone/>
            </a:pPr>
            <a:r>
              <a:rPr lang="en-IN" b="0" i="0" dirty="0">
                <a:solidFill>
                  <a:srgbClr val="F8F8F2"/>
                </a:solidFill>
                <a:effectLst/>
                <a:latin typeface="Menlo"/>
              </a:rPr>
              <a:t> </a:t>
            </a:r>
            <a:r>
              <a:rPr lang="en-IN" b="0" i="0" dirty="0">
                <a:solidFill>
                  <a:srgbClr val="66D9EF"/>
                </a:solidFill>
                <a:effectLst/>
                <a:latin typeface="Menlo"/>
              </a:rPr>
              <a:t>var</a:t>
            </a:r>
            <a:r>
              <a:rPr lang="en-IN" b="0" i="0" dirty="0">
                <a:solidFill>
                  <a:srgbClr val="F8F8F2"/>
                </a:solidFill>
                <a:effectLst/>
                <a:latin typeface="Menlo"/>
              </a:rPr>
              <a:t> </a:t>
            </a:r>
            <a:r>
              <a:rPr lang="en-IN" b="0" i="0" dirty="0">
                <a:solidFill>
                  <a:srgbClr val="A6E22E"/>
                </a:solidFill>
                <a:effectLst/>
                <a:latin typeface="Menlo"/>
              </a:rPr>
              <a:t>result</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66D9EF"/>
                </a:solidFill>
                <a:effectLst/>
                <a:latin typeface="Menlo"/>
              </a:rPr>
              <a:t>await</a:t>
            </a:r>
            <a:r>
              <a:rPr lang="en-IN" b="0" i="0" dirty="0">
                <a:solidFill>
                  <a:srgbClr val="F8F8F2"/>
                </a:solidFill>
                <a:effectLst/>
                <a:latin typeface="Menlo"/>
              </a:rPr>
              <a:t> </a:t>
            </a:r>
            <a:r>
              <a:rPr lang="en-IN" b="0" i="0" dirty="0" err="1">
                <a:solidFill>
                  <a:srgbClr val="A6E22E"/>
                </a:solidFill>
                <a:effectLst/>
                <a:latin typeface="Menlo"/>
              </a:rPr>
              <a:t>PersonModel</a:t>
            </a:r>
            <a:r>
              <a:rPr lang="en-IN" b="0" i="0" dirty="0" err="1">
                <a:solidFill>
                  <a:srgbClr val="F8F8F2"/>
                </a:solidFill>
                <a:effectLst/>
                <a:latin typeface="Menlo"/>
              </a:rPr>
              <a:t>.</a:t>
            </a:r>
            <a:r>
              <a:rPr lang="en-IN" b="0" i="0" dirty="0" err="1">
                <a:solidFill>
                  <a:srgbClr val="A6E22E"/>
                </a:solidFill>
                <a:effectLst/>
                <a:latin typeface="Menlo"/>
              </a:rPr>
              <a:t>deleteOne</a:t>
            </a:r>
            <a:r>
              <a:rPr lang="en-IN" b="0" i="0" dirty="0">
                <a:solidFill>
                  <a:srgbClr val="F8F8F2"/>
                </a:solidFill>
                <a:effectLst/>
                <a:latin typeface="Menlo"/>
              </a:rPr>
              <a:t>({ </a:t>
            </a:r>
            <a:r>
              <a:rPr lang="en-IN" b="0" i="0" dirty="0">
                <a:solidFill>
                  <a:srgbClr val="A6E22E"/>
                </a:solidFill>
                <a:effectLst/>
                <a:latin typeface="Menlo"/>
              </a:rPr>
              <a:t>_id</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a:t>
            </a:r>
            <a:r>
              <a:rPr lang="en-IN" b="0" i="0" dirty="0">
                <a:solidFill>
                  <a:srgbClr val="A6E22E"/>
                </a:solidFill>
                <a:effectLst/>
                <a:latin typeface="Menlo"/>
              </a:rPr>
              <a:t>params</a:t>
            </a:r>
            <a:r>
              <a:rPr lang="en-IN" b="0" i="0" dirty="0">
                <a:solidFill>
                  <a:srgbClr val="F8F8F2"/>
                </a:solidFill>
                <a:effectLst/>
                <a:latin typeface="Menlo"/>
              </a:rPr>
              <a:t>.</a:t>
            </a:r>
            <a:r>
              <a:rPr lang="en-IN" b="0" i="0" dirty="0">
                <a:solidFill>
                  <a:srgbClr val="A6E22E"/>
                </a:solidFill>
                <a:effectLst/>
                <a:latin typeface="Menlo"/>
              </a:rPr>
              <a:t>id</a:t>
            </a:r>
            <a:r>
              <a:rPr lang="en-IN" b="0" i="0" dirty="0">
                <a:solidFill>
                  <a:srgbClr val="F8F8F2"/>
                </a:solidFill>
                <a:effectLst/>
                <a:latin typeface="Menlo"/>
              </a:rPr>
              <a:t> }).</a:t>
            </a:r>
            <a:r>
              <a:rPr lang="en-IN" b="0" i="0" dirty="0">
                <a:solidFill>
                  <a:srgbClr val="A6E22E"/>
                </a:solidFill>
                <a:effectLst/>
                <a:latin typeface="Menlo"/>
              </a:rPr>
              <a:t>exec</a:t>
            </a:r>
            <a:r>
              <a:rPr lang="en-IN" b="0" i="0" dirty="0">
                <a:solidFill>
                  <a:srgbClr val="F8F8F2"/>
                </a:solidFill>
                <a:effectLst/>
                <a:latin typeface="Menlo"/>
              </a:rPr>
              <a:t>();</a:t>
            </a:r>
          </a:p>
          <a:p>
            <a:pPr marL="0" indent="0">
              <a:buNone/>
            </a:pPr>
            <a:r>
              <a:rPr lang="en-IN" b="0" i="0" dirty="0">
                <a:solidFill>
                  <a:srgbClr val="F8F8F2"/>
                </a:solidFill>
                <a:effectLst/>
                <a:latin typeface="Menlo"/>
              </a:rPr>
              <a:t> </a:t>
            </a:r>
            <a:r>
              <a:rPr lang="en-IN" b="0" i="0" dirty="0" err="1">
                <a:solidFill>
                  <a:srgbClr val="A6E22E"/>
                </a:solidFill>
                <a:effectLst/>
                <a:latin typeface="Menlo"/>
              </a:rPr>
              <a:t>response</a:t>
            </a:r>
            <a:r>
              <a:rPr lang="en-IN" b="0" i="0" dirty="0" err="1">
                <a:solidFill>
                  <a:srgbClr val="F8F8F2"/>
                </a:solidFill>
                <a:effectLst/>
                <a:latin typeface="Menlo"/>
              </a:rPr>
              <a:t>.</a:t>
            </a:r>
            <a:r>
              <a:rPr lang="en-IN" b="0" i="0" dirty="0" err="1">
                <a:solidFill>
                  <a:srgbClr val="A6E22E"/>
                </a:solidFill>
                <a:effectLst/>
                <a:latin typeface="Menlo"/>
              </a:rPr>
              <a:t>send</a:t>
            </a:r>
            <a:r>
              <a:rPr lang="en-IN" b="0" i="0" dirty="0">
                <a:solidFill>
                  <a:srgbClr val="F8F8F2"/>
                </a:solidFill>
                <a:effectLst/>
                <a:latin typeface="Menlo"/>
              </a:rPr>
              <a:t>(</a:t>
            </a:r>
            <a:r>
              <a:rPr lang="en-IN" b="0" i="0" dirty="0">
                <a:solidFill>
                  <a:srgbClr val="A6E22E"/>
                </a:solidFill>
                <a:effectLst/>
                <a:latin typeface="Menlo"/>
              </a:rPr>
              <a:t>result</a:t>
            </a:r>
            <a:r>
              <a:rPr lang="en-IN" b="0" i="0" dirty="0">
                <a:solidFill>
                  <a:srgbClr val="F8F8F2"/>
                </a:solidFill>
                <a:effectLst/>
                <a:latin typeface="Menlo"/>
              </a:rPr>
              <a:t>); </a:t>
            </a:r>
          </a:p>
          <a:p>
            <a:pPr marL="0" indent="0">
              <a:buNone/>
            </a:pPr>
            <a:r>
              <a:rPr lang="en-IN" b="0" i="0" dirty="0">
                <a:solidFill>
                  <a:srgbClr val="F8F8F2"/>
                </a:solidFill>
                <a:effectLst/>
                <a:latin typeface="Menlo"/>
              </a:rPr>
              <a:t>}</a:t>
            </a:r>
          </a:p>
          <a:p>
            <a:pPr marL="0" indent="0">
              <a:buNone/>
            </a:pPr>
            <a:r>
              <a:rPr lang="en-IN" b="0" i="0" dirty="0">
                <a:solidFill>
                  <a:srgbClr val="F8F8F2"/>
                </a:solidFill>
                <a:effectLst/>
                <a:latin typeface="Menlo"/>
              </a:rPr>
              <a:t> </a:t>
            </a:r>
            <a:r>
              <a:rPr lang="en-IN" b="0" i="0" dirty="0">
                <a:solidFill>
                  <a:srgbClr val="66D9EF"/>
                </a:solidFill>
                <a:effectLst/>
                <a:latin typeface="Menlo"/>
              </a:rPr>
              <a:t>catch</a:t>
            </a:r>
            <a:r>
              <a:rPr lang="en-IN" b="0" i="0" dirty="0">
                <a:solidFill>
                  <a:srgbClr val="F8F8F2"/>
                </a:solidFill>
                <a:effectLst/>
                <a:latin typeface="Menlo"/>
              </a:rPr>
              <a:t> (</a:t>
            </a:r>
            <a:r>
              <a:rPr lang="en-IN" b="0" i="0" dirty="0">
                <a:solidFill>
                  <a:srgbClr val="A6E22E"/>
                </a:solidFill>
                <a:effectLst/>
                <a:latin typeface="Menlo"/>
              </a:rPr>
              <a:t>error</a:t>
            </a:r>
            <a:r>
              <a:rPr lang="en-IN" b="0" i="0" dirty="0">
                <a:solidFill>
                  <a:srgbClr val="F8F8F2"/>
                </a:solidFill>
                <a:effectLst/>
                <a:latin typeface="Menlo"/>
              </a:rPr>
              <a:t>) { </a:t>
            </a:r>
            <a:r>
              <a:rPr lang="en-IN" b="0" i="0" dirty="0" err="1">
                <a:solidFill>
                  <a:srgbClr val="A6E22E"/>
                </a:solidFill>
                <a:effectLst/>
                <a:latin typeface="Menlo"/>
              </a:rPr>
              <a:t>response</a:t>
            </a:r>
            <a:r>
              <a:rPr lang="en-IN" b="0" i="0" dirty="0" err="1">
                <a:solidFill>
                  <a:srgbClr val="F8F8F2"/>
                </a:solidFill>
                <a:effectLst/>
                <a:latin typeface="Menlo"/>
              </a:rPr>
              <a:t>.</a:t>
            </a:r>
            <a:r>
              <a:rPr lang="en-IN" b="0" i="0" dirty="0" err="1">
                <a:solidFill>
                  <a:srgbClr val="A6E22E"/>
                </a:solidFill>
                <a:effectLst/>
                <a:latin typeface="Menlo"/>
              </a:rPr>
              <a:t>status</a:t>
            </a:r>
            <a:r>
              <a:rPr lang="en-IN" b="0" i="0" dirty="0">
                <a:solidFill>
                  <a:srgbClr val="F8F8F2"/>
                </a:solidFill>
                <a:effectLst/>
                <a:latin typeface="Menlo"/>
              </a:rPr>
              <a:t>(</a:t>
            </a:r>
            <a:r>
              <a:rPr lang="en-IN" b="0" i="0" dirty="0">
                <a:solidFill>
                  <a:srgbClr val="AE81FF"/>
                </a:solidFill>
                <a:effectLst/>
                <a:latin typeface="Menlo"/>
              </a:rPr>
              <a:t>500</a:t>
            </a:r>
            <a:r>
              <a:rPr lang="en-IN" b="0" i="0" dirty="0">
                <a:solidFill>
                  <a:srgbClr val="F8F8F2"/>
                </a:solidFill>
                <a:effectLst/>
                <a:latin typeface="Menlo"/>
              </a:rPr>
              <a:t>).</a:t>
            </a:r>
            <a:r>
              <a:rPr lang="en-IN" b="0" i="0" dirty="0">
                <a:solidFill>
                  <a:srgbClr val="A6E22E"/>
                </a:solidFill>
                <a:effectLst/>
                <a:latin typeface="Menlo"/>
              </a:rPr>
              <a:t>send</a:t>
            </a:r>
            <a:r>
              <a:rPr lang="en-IN" b="0" i="0" dirty="0">
                <a:solidFill>
                  <a:srgbClr val="F8F8F2"/>
                </a:solidFill>
                <a:effectLst/>
                <a:latin typeface="Menlo"/>
              </a:rPr>
              <a:t>(</a:t>
            </a:r>
            <a:r>
              <a:rPr lang="en-IN" b="0" i="0" dirty="0">
                <a:solidFill>
                  <a:srgbClr val="A6E22E"/>
                </a:solidFill>
                <a:effectLst/>
                <a:latin typeface="Menlo"/>
              </a:rPr>
              <a:t>error</a:t>
            </a:r>
            <a:r>
              <a:rPr lang="en-IN" b="0" i="0" dirty="0">
                <a:solidFill>
                  <a:srgbClr val="F8F8F2"/>
                </a:solidFill>
                <a:effectLst/>
                <a:latin typeface="Menlo"/>
              </a:rPr>
              <a:t>); }</a:t>
            </a:r>
          </a:p>
          <a:p>
            <a:pPr marL="0" indent="0">
              <a:buNone/>
            </a:pPr>
            <a:r>
              <a:rPr lang="en-IN" b="0" i="0" dirty="0">
                <a:solidFill>
                  <a:srgbClr val="F8F8F2"/>
                </a:solidFill>
                <a:effectLst/>
                <a:latin typeface="Menlo"/>
              </a:rPr>
              <a:t> });</a:t>
            </a:r>
            <a:endParaRPr lang="en-IN" dirty="0"/>
          </a:p>
        </p:txBody>
      </p:sp>
      <p:sp>
        <p:nvSpPr>
          <p:cNvPr id="5" name="TextBox 4">
            <a:extLst>
              <a:ext uri="{FF2B5EF4-FFF2-40B4-BE49-F238E27FC236}">
                <a16:creationId xmlns:a16="http://schemas.microsoft.com/office/drawing/2014/main" id="{95F3DB99-FD3B-4AEE-8520-944F2E48D8EB}"/>
              </a:ext>
            </a:extLst>
          </p:cNvPr>
          <p:cNvSpPr txBox="1"/>
          <p:nvPr/>
        </p:nvSpPr>
        <p:spPr>
          <a:xfrm>
            <a:off x="6489539" y="155084"/>
            <a:ext cx="5702461" cy="1200329"/>
          </a:xfrm>
          <a:prstGeom prst="rect">
            <a:avLst/>
          </a:prstGeom>
          <a:noFill/>
        </p:spPr>
        <p:txBody>
          <a:bodyPr wrap="square">
            <a:spAutoFit/>
          </a:bodyPr>
          <a:lstStyle/>
          <a:p>
            <a:r>
              <a:rPr lang="en-US" dirty="0"/>
              <a:t>Again, we are expecting an id to be provided from the client facing application. When we have an id, we can use it in the </a:t>
            </a:r>
            <a:r>
              <a:rPr lang="en-US" dirty="0" err="1"/>
              <a:t>deleteOne</a:t>
            </a:r>
            <a:r>
              <a:rPr lang="en-US" dirty="0"/>
              <a:t> function and the document will be removed from the database.</a:t>
            </a:r>
            <a:endParaRPr lang="en-IN" dirty="0"/>
          </a:p>
        </p:txBody>
      </p:sp>
    </p:spTree>
    <p:extLst>
      <p:ext uri="{BB962C8B-B14F-4D97-AF65-F5344CB8AC3E}">
        <p14:creationId xmlns:p14="http://schemas.microsoft.com/office/powerpoint/2010/main" val="1820059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98F33A-0CF9-4391-043E-0EDA23DC97FA}"/>
              </a:ext>
            </a:extLst>
          </p:cNvPr>
          <p:cNvPicPr>
            <a:picLocks noChangeAspect="1"/>
          </p:cNvPicPr>
          <p:nvPr/>
        </p:nvPicPr>
        <p:blipFill>
          <a:blip r:embed="rId2"/>
          <a:stretch>
            <a:fillRect/>
          </a:stretch>
        </p:blipFill>
        <p:spPr>
          <a:xfrm>
            <a:off x="1904637" y="1340939"/>
            <a:ext cx="8382726" cy="4176122"/>
          </a:xfrm>
          <a:prstGeom prst="rect">
            <a:avLst/>
          </a:prstGeom>
        </p:spPr>
      </p:pic>
    </p:spTree>
    <p:extLst>
      <p:ext uri="{BB962C8B-B14F-4D97-AF65-F5344CB8AC3E}">
        <p14:creationId xmlns:p14="http://schemas.microsoft.com/office/powerpoint/2010/main" val="1415230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4897</TotalTime>
  <Words>1472</Words>
  <Application>Microsoft Office PowerPoint</Application>
  <PresentationFormat>Widescreen</PresentationFormat>
  <Paragraphs>114</Paragraphs>
  <Slides>14</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Arial</vt:lpstr>
      <vt:lpstr>Arial</vt:lpstr>
      <vt:lpstr>Calibri</vt:lpstr>
      <vt:lpstr>Cambria</vt:lpstr>
      <vt:lpstr>Consolas</vt:lpstr>
      <vt:lpstr>Courier New</vt:lpstr>
      <vt:lpstr>Garamond</vt:lpstr>
      <vt:lpstr>Menlo</vt:lpstr>
      <vt:lpstr>Nunito</vt:lpstr>
      <vt:lpstr>Open Sans</vt:lpstr>
      <vt:lpstr>Roboto</vt:lpstr>
      <vt:lpstr>Office Theme</vt:lpstr>
      <vt:lpstr>PowerPoint Presentation</vt:lpstr>
      <vt:lpstr>Mongoose/ ODM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223</cp:revision>
  <dcterms:created xsi:type="dcterms:W3CDTF">2020-12-02T06:26:25Z</dcterms:created>
  <dcterms:modified xsi:type="dcterms:W3CDTF">2024-01-13T17:56:25Z</dcterms:modified>
</cp:coreProperties>
</file>