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0" r:id="rId2"/>
    <p:sldId id="261" r:id="rId3"/>
    <p:sldId id="262" r:id="rId4"/>
    <p:sldId id="263" r:id="rId5"/>
    <p:sldId id="264" r:id="rId6"/>
    <p:sldId id="265" r:id="rId7"/>
    <p:sldId id="26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10464-61E2-41E8-8205-52832A0119E0}" type="datetimeFigureOut">
              <a:rPr lang="en-IN" smtClean="0"/>
              <a:t>12-01-2024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A22B6C-E47F-4918-A49B-A69FD53B94FE}" type="slidenum">
              <a:rPr lang="en-IN" smtClean="0"/>
              <a:t>‹#›</a:t>
            </a:fld>
            <a:endParaRPr lang="en-IN"/>
          </a:p>
        </p:txBody>
      </p:sp>
    </p:spTree>
    <p:extLst>
      <p:ext uri="{BB962C8B-B14F-4D97-AF65-F5344CB8AC3E}">
        <p14:creationId xmlns:p14="http://schemas.microsoft.com/office/powerpoint/2010/main" val="2957400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8A22B6C-E47F-4918-A49B-A69FD53B94FE}" type="slidenum">
              <a:rPr lang="en-IN" smtClean="0"/>
              <a:t>3</a:t>
            </a:fld>
            <a:endParaRPr lang="en-IN"/>
          </a:p>
        </p:txBody>
      </p:sp>
    </p:spTree>
    <p:extLst>
      <p:ext uri="{BB962C8B-B14F-4D97-AF65-F5344CB8AC3E}">
        <p14:creationId xmlns:p14="http://schemas.microsoft.com/office/powerpoint/2010/main" val="2360006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E79AA-7DB2-4E22-9DB9-1DFD80A276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8E125A2-81D8-48D9-A4D4-762E76A112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E8F41CC-7373-4202-80E9-781D34420484}"/>
              </a:ext>
            </a:extLst>
          </p:cNvPr>
          <p:cNvSpPr>
            <a:spLocks noGrp="1"/>
          </p:cNvSpPr>
          <p:nvPr>
            <p:ph type="dt" sz="half" idx="10"/>
          </p:nvPr>
        </p:nvSpPr>
        <p:spPr/>
        <p:txBody>
          <a:bodyPr/>
          <a:lstStyle/>
          <a:p>
            <a:fld id="{CA71A9AD-BE8B-4CE7-90FD-75C1A9B9426F}" type="datetimeFigureOut">
              <a:rPr lang="en-IN" smtClean="0"/>
              <a:t>12-01-2024</a:t>
            </a:fld>
            <a:endParaRPr lang="en-IN"/>
          </a:p>
        </p:txBody>
      </p:sp>
      <p:sp>
        <p:nvSpPr>
          <p:cNvPr id="5" name="Footer Placeholder 4">
            <a:extLst>
              <a:ext uri="{FF2B5EF4-FFF2-40B4-BE49-F238E27FC236}">
                <a16:creationId xmlns:a16="http://schemas.microsoft.com/office/drawing/2014/main" id="{F174E508-A7D7-48F7-AA83-967A083BD5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A82D8E-5C7A-400C-87B1-F36EC0BEA9C5}"/>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1943412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68276-87E5-41E9-B38C-4C620DA2A6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985A2B-1D3C-4DF8-BF9A-B8879BBBF2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E61C5A-01FF-47D6-881A-F530B51D6AD5}"/>
              </a:ext>
            </a:extLst>
          </p:cNvPr>
          <p:cNvSpPr>
            <a:spLocks noGrp="1"/>
          </p:cNvSpPr>
          <p:nvPr>
            <p:ph type="dt" sz="half" idx="10"/>
          </p:nvPr>
        </p:nvSpPr>
        <p:spPr/>
        <p:txBody>
          <a:bodyPr/>
          <a:lstStyle/>
          <a:p>
            <a:fld id="{CA71A9AD-BE8B-4CE7-90FD-75C1A9B9426F}" type="datetimeFigureOut">
              <a:rPr lang="en-IN" smtClean="0"/>
              <a:t>12-01-2024</a:t>
            </a:fld>
            <a:endParaRPr lang="en-IN"/>
          </a:p>
        </p:txBody>
      </p:sp>
      <p:sp>
        <p:nvSpPr>
          <p:cNvPr id="5" name="Footer Placeholder 4">
            <a:extLst>
              <a:ext uri="{FF2B5EF4-FFF2-40B4-BE49-F238E27FC236}">
                <a16:creationId xmlns:a16="http://schemas.microsoft.com/office/drawing/2014/main" id="{3CC15029-464E-4C68-A311-1AB713E595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A2286F-B770-4CBC-9A20-E0B83E5EDD04}"/>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61101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9D722-374F-4E12-A5AA-B9666F37CB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182E163-600C-418A-ACBE-B44E13E8B4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19BAE46-3447-4D09-B3ED-F5401DDFB00A}"/>
              </a:ext>
            </a:extLst>
          </p:cNvPr>
          <p:cNvSpPr>
            <a:spLocks noGrp="1"/>
          </p:cNvSpPr>
          <p:nvPr>
            <p:ph type="dt" sz="half" idx="10"/>
          </p:nvPr>
        </p:nvSpPr>
        <p:spPr/>
        <p:txBody>
          <a:bodyPr/>
          <a:lstStyle/>
          <a:p>
            <a:fld id="{CA71A9AD-BE8B-4CE7-90FD-75C1A9B9426F}" type="datetimeFigureOut">
              <a:rPr lang="en-IN" smtClean="0"/>
              <a:t>12-01-2024</a:t>
            </a:fld>
            <a:endParaRPr lang="en-IN"/>
          </a:p>
        </p:txBody>
      </p:sp>
      <p:sp>
        <p:nvSpPr>
          <p:cNvPr id="5" name="Footer Placeholder 4">
            <a:extLst>
              <a:ext uri="{FF2B5EF4-FFF2-40B4-BE49-F238E27FC236}">
                <a16:creationId xmlns:a16="http://schemas.microsoft.com/office/drawing/2014/main" id="{F6491CE6-143A-463E-AECE-C349F97A6F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68D3F5-F204-43F2-B1E4-ACD84E7E387E}"/>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593320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2BE08-92E1-4B5D-9E99-A0C0AAC53A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7B5F4F-3C28-47D1-BED5-8ADA893405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0EC5FE2-F6BE-4D2A-BBDD-0E36DD31A5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F50E181-871A-49B5-AC2D-0DCC9E52625D}"/>
              </a:ext>
            </a:extLst>
          </p:cNvPr>
          <p:cNvSpPr>
            <a:spLocks noGrp="1"/>
          </p:cNvSpPr>
          <p:nvPr>
            <p:ph type="dt" sz="half" idx="10"/>
          </p:nvPr>
        </p:nvSpPr>
        <p:spPr/>
        <p:txBody>
          <a:bodyPr/>
          <a:lstStyle/>
          <a:p>
            <a:fld id="{CA71A9AD-BE8B-4CE7-90FD-75C1A9B9426F}" type="datetimeFigureOut">
              <a:rPr lang="en-IN" smtClean="0"/>
              <a:t>12-01-2024</a:t>
            </a:fld>
            <a:endParaRPr lang="en-IN"/>
          </a:p>
        </p:txBody>
      </p:sp>
      <p:sp>
        <p:nvSpPr>
          <p:cNvPr id="6" name="Footer Placeholder 5">
            <a:extLst>
              <a:ext uri="{FF2B5EF4-FFF2-40B4-BE49-F238E27FC236}">
                <a16:creationId xmlns:a16="http://schemas.microsoft.com/office/drawing/2014/main" id="{EEEB6C27-6DB1-43C1-A70C-BDBF5A5993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71FC8D-07E3-4653-8043-3619F6DC4EDC}"/>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2897164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C55E5-0A61-43AA-BC1C-939A3587774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4163860-A6E6-45DF-B060-6D50E3AC97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EDDF13-3E79-4BED-BDC6-89C59873D8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7D2395D-B0E7-460D-855C-BB680480BF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203D23-023E-4AC4-A344-8BDCFC3AAF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9CD23E0-3C96-48DB-8181-59697EA8CEB1}"/>
              </a:ext>
            </a:extLst>
          </p:cNvPr>
          <p:cNvSpPr>
            <a:spLocks noGrp="1"/>
          </p:cNvSpPr>
          <p:nvPr>
            <p:ph type="dt" sz="half" idx="10"/>
          </p:nvPr>
        </p:nvSpPr>
        <p:spPr/>
        <p:txBody>
          <a:bodyPr/>
          <a:lstStyle/>
          <a:p>
            <a:fld id="{CA71A9AD-BE8B-4CE7-90FD-75C1A9B9426F}" type="datetimeFigureOut">
              <a:rPr lang="en-IN" smtClean="0"/>
              <a:t>12-01-2024</a:t>
            </a:fld>
            <a:endParaRPr lang="en-IN"/>
          </a:p>
        </p:txBody>
      </p:sp>
      <p:sp>
        <p:nvSpPr>
          <p:cNvPr id="8" name="Footer Placeholder 7">
            <a:extLst>
              <a:ext uri="{FF2B5EF4-FFF2-40B4-BE49-F238E27FC236}">
                <a16:creationId xmlns:a16="http://schemas.microsoft.com/office/drawing/2014/main" id="{EF17CF6A-4942-4728-B7ED-A17A6EB457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E130C65-E289-4C45-97DA-C56A5975FF35}"/>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1939120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DFC42-11F8-45C6-9C26-8257048EDCB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5D5B2D-F22C-40CE-BA70-082496719C25}"/>
              </a:ext>
            </a:extLst>
          </p:cNvPr>
          <p:cNvSpPr>
            <a:spLocks noGrp="1"/>
          </p:cNvSpPr>
          <p:nvPr>
            <p:ph type="dt" sz="half" idx="10"/>
          </p:nvPr>
        </p:nvSpPr>
        <p:spPr/>
        <p:txBody>
          <a:bodyPr/>
          <a:lstStyle/>
          <a:p>
            <a:fld id="{CA71A9AD-BE8B-4CE7-90FD-75C1A9B9426F}" type="datetimeFigureOut">
              <a:rPr lang="en-IN" smtClean="0"/>
              <a:t>12-01-2024</a:t>
            </a:fld>
            <a:endParaRPr lang="en-IN"/>
          </a:p>
        </p:txBody>
      </p:sp>
      <p:sp>
        <p:nvSpPr>
          <p:cNvPr id="4" name="Footer Placeholder 3">
            <a:extLst>
              <a:ext uri="{FF2B5EF4-FFF2-40B4-BE49-F238E27FC236}">
                <a16:creationId xmlns:a16="http://schemas.microsoft.com/office/drawing/2014/main" id="{AD3EDC11-7751-41EF-8597-BEB295D907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0D11D39-4738-42E3-A87F-53C2E98273B2}"/>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2879382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B8C9DD-A4A0-4C5E-8B00-A44F65C4B23F}"/>
              </a:ext>
            </a:extLst>
          </p:cNvPr>
          <p:cNvSpPr>
            <a:spLocks noGrp="1"/>
          </p:cNvSpPr>
          <p:nvPr>
            <p:ph type="dt" sz="half" idx="10"/>
          </p:nvPr>
        </p:nvSpPr>
        <p:spPr/>
        <p:txBody>
          <a:bodyPr/>
          <a:lstStyle/>
          <a:p>
            <a:fld id="{CA71A9AD-BE8B-4CE7-90FD-75C1A9B9426F}" type="datetimeFigureOut">
              <a:rPr lang="en-IN" smtClean="0"/>
              <a:t>12-01-2024</a:t>
            </a:fld>
            <a:endParaRPr lang="en-IN"/>
          </a:p>
        </p:txBody>
      </p:sp>
      <p:sp>
        <p:nvSpPr>
          <p:cNvPr id="3" name="Footer Placeholder 2">
            <a:extLst>
              <a:ext uri="{FF2B5EF4-FFF2-40B4-BE49-F238E27FC236}">
                <a16:creationId xmlns:a16="http://schemas.microsoft.com/office/drawing/2014/main" id="{33A337FE-119A-4DB9-B6DE-0283F60BECF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88C703-1142-4EC7-B5B2-C4C2CD21680B}"/>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3924053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4D7FA-65E3-421A-B992-B629D3569E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63BB33E-87E7-4865-A99D-DD0A8B56DB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79C521-E7D8-436D-8CB1-FDF8CD052C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2EBEC6-0AE1-45B0-A83D-3875AE770466}"/>
              </a:ext>
            </a:extLst>
          </p:cNvPr>
          <p:cNvSpPr>
            <a:spLocks noGrp="1"/>
          </p:cNvSpPr>
          <p:nvPr>
            <p:ph type="dt" sz="half" idx="10"/>
          </p:nvPr>
        </p:nvSpPr>
        <p:spPr/>
        <p:txBody>
          <a:bodyPr/>
          <a:lstStyle/>
          <a:p>
            <a:fld id="{CA71A9AD-BE8B-4CE7-90FD-75C1A9B9426F}" type="datetimeFigureOut">
              <a:rPr lang="en-IN" smtClean="0"/>
              <a:t>12-01-2024</a:t>
            </a:fld>
            <a:endParaRPr lang="en-IN"/>
          </a:p>
        </p:txBody>
      </p:sp>
      <p:sp>
        <p:nvSpPr>
          <p:cNvPr id="6" name="Footer Placeholder 5">
            <a:extLst>
              <a:ext uri="{FF2B5EF4-FFF2-40B4-BE49-F238E27FC236}">
                <a16:creationId xmlns:a16="http://schemas.microsoft.com/office/drawing/2014/main" id="{3B7D5F76-6BDE-4A06-B8B8-F3F0A3A0F6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2EA2E6-F7B7-49D5-83CF-2B883C28EC36}"/>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802235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B3867-4B2E-495C-BEB2-97D4995B57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56FF83C-FA49-4FFC-BD34-43AA12EC39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FEE11CF-FF0E-457F-A636-CB699E2263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0FCB39-DCD5-4067-A6EE-EA86C9C786B8}"/>
              </a:ext>
            </a:extLst>
          </p:cNvPr>
          <p:cNvSpPr>
            <a:spLocks noGrp="1"/>
          </p:cNvSpPr>
          <p:nvPr>
            <p:ph type="dt" sz="half" idx="10"/>
          </p:nvPr>
        </p:nvSpPr>
        <p:spPr/>
        <p:txBody>
          <a:bodyPr/>
          <a:lstStyle/>
          <a:p>
            <a:fld id="{CA71A9AD-BE8B-4CE7-90FD-75C1A9B9426F}" type="datetimeFigureOut">
              <a:rPr lang="en-IN" smtClean="0"/>
              <a:t>12-01-2024</a:t>
            </a:fld>
            <a:endParaRPr lang="en-IN"/>
          </a:p>
        </p:txBody>
      </p:sp>
      <p:sp>
        <p:nvSpPr>
          <p:cNvPr id="6" name="Footer Placeholder 5">
            <a:extLst>
              <a:ext uri="{FF2B5EF4-FFF2-40B4-BE49-F238E27FC236}">
                <a16:creationId xmlns:a16="http://schemas.microsoft.com/office/drawing/2014/main" id="{D6A727EA-7636-40E0-8F79-9B521BE1D1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8E3A76-C622-4AD4-BD45-02B6AC90751B}"/>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2997567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51C6D-D331-4574-A295-DABD017E9C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CFD89B-8285-4DA7-93A8-EDA72D91CD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AB95E3-BA4F-48F1-AE90-05ED1BBA9F4B}"/>
              </a:ext>
            </a:extLst>
          </p:cNvPr>
          <p:cNvSpPr>
            <a:spLocks noGrp="1"/>
          </p:cNvSpPr>
          <p:nvPr>
            <p:ph type="dt" sz="half" idx="10"/>
          </p:nvPr>
        </p:nvSpPr>
        <p:spPr/>
        <p:txBody>
          <a:bodyPr/>
          <a:lstStyle/>
          <a:p>
            <a:fld id="{CA71A9AD-BE8B-4CE7-90FD-75C1A9B9426F}" type="datetimeFigureOut">
              <a:rPr lang="en-IN" smtClean="0"/>
              <a:t>12-01-2024</a:t>
            </a:fld>
            <a:endParaRPr lang="en-IN"/>
          </a:p>
        </p:txBody>
      </p:sp>
      <p:sp>
        <p:nvSpPr>
          <p:cNvPr id="5" name="Footer Placeholder 4">
            <a:extLst>
              <a:ext uri="{FF2B5EF4-FFF2-40B4-BE49-F238E27FC236}">
                <a16:creationId xmlns:a16="http://schemas.microsoft.com/office/drawing/2014/main" id="{6DCF4A06-8165-4D2D-A982-C4A9534A6A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295065-794D-4A01-9B48-DA734075B372}"/>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950678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E922A6-8E3F-49F0-B0B3-C4018BCF85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847A00-48AD-4CAC-8F30-08D650339C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DD60D0-1118-4969-A999-BC8DA18A6977}"/>
              </a:ext>
            </a:extLst>
          </p:cNvPr>
          <p:cNvSpPr>
            <a:spLocks noGrp="1"/>
          </p:cNvSpPr>
          <p:nvPr>
            <p:ph type="dt" sz="half" idx="10"/>
          </p:nvPr>
        </p:nvSpPr>
        <p:spPr/>
        <p:txBody>
          <a:bodyPr/>
          <a:lstStyle/>
          <a:p>
            <a:fld id="{CA71A9AD-BE8B-4CE7-90FD-75C1A9B9426F}" type="datetimeFigureOut">
              <a:rPr lang="en-IN" smtClean="0"/>
              <a:t>12-01-2024</a:t>
            </a:fld>
            <a:endParaRPr lang="en-IN"/>
          </a:p>
        </p:txBody>
      </p:sp>
      <p:sp>
        <p:nvSpPr>
          <p:cNvPr id="5" name="Footer Placeholder 4">
            <a:extLst>
              <a:ext uri="{FF2B5EF4-FFF2-40B4-BE49-F238E27FC236}">
                <a16:creationId xmlns:a16="http://schemas.microsoft.com/office/drawing/2014/main" id="{05357BD6-E0A6-4149-8DDB-4E8940E530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51E6E8-8992-45B4-AA42-AD0F304A7B2A}"/>
              </a:ext>
            </a:extLst>
          </p:cNvPr>
          <p:cNvSpPr>
            <a:spLocks noGrp="1"/>
          </p:cNvSpPr>
          <p:nvPr>
            <p:ph type="sldNum" sz="quarter" idx="12"/>
          </p:nvPr>
        </p:nvSpPr>
        <p:spPr/>
        <p:txBody>
          <a:bodyPr/>
          <a:lstStyle/>
          <a:p>
            <a:fld id="{04858F87-BE41-46BA-8F9D-59AE843C54F4}" type="slidenum">
              <a:rPr lang="en-IN" smtClean="0"/>
              <a:t>‹#›</a:t>
            </a:fld>
            <a:endParaRPr lang="en-IN"/>
          </a:p>
        </p:txBody>
      </p:sp>
    </p:spTree>
    <p:extLst>
      <p:ext uri="{BB962C8B-B14F-4D97-AF65-F5344CB8AC3E}">
        <p14:creationId xmlns:p14="http://schemas.microsoft.com/office/powerpoint/2010/main" val="4029560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5DA15A-4ED9-4487-A195-CE9601420C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889064-A8EF-4C32-8E87-C422ED5580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DA1D0C-B70F-4649-9CBC-EFF65B1949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71A9AD-BE8B-4CE7-90FD-75C1A9B9426F}" type="datetimeFigureOut">
              <a:rPr lang="en-IN" smtClean="0"/>
              <a:t>12-01-2024</a:t>
            </a:fld>
            <a:endParaRPr lang="en-IN"/>
          </a:p>
        </p:txBody>
      </p:sp>
      <p:sp>
        <p:nvSpPr>
          <p:cNvPr id="5" name="Footer Placeholder 4">
            <a:extLst>
              <a:ext uri="{FF2B5EF4-FFF2-40B4-BE49-F238E27FC236}">
                <a16:creationId xmlns:a16="http://schemas.microsoft.com/office/drawing/2014/main" id="{4E4F4856-151A-4CA2-ACA3-75BDA4C84B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890B48E-BB63-4E2B-97CE-02960B1C83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858F87-BE41-46BA-8F9D-59AE843C54F4}" type="slidenum">
              <a:rPr lang="en-IN" smtClean="0"/>
              <a:t>‹#›</a:t>
            </a:fld>
            <a:endParaRPr lang="en-IN"/>
          </a:p>
        </p:txBody>
      </p:sp>
      <p:pic>
        <p:nvPicPr>
          <p:cNvPr id="7" name="Picture 6">
            <a:extLst>
              <a:ext uri="{FF2B5EF4-FFF2-40B4-BE49-F238E27FC236}">
                <a16:creationId xmlns:a16="http://schemas.microsoft.com/office/drawing/2014/main" id="{FDFD8442-60F6-4727-BC60-400453F82635}"/>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1710D0AB-C3B8-479C-8CD1-51DCD8AC6C4B}"/>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963112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8E287-4371-4237-B06E-051B262EAB7E}"/>
              </a:ext>
            </a:extLst>
          </p:cNvPr>
          <p:cNvSpPr>
            <a:spLocks noGrp="1"/>
          </p:cNvSpPr>
          <p:nvPr>
            <p:ph type="title"/>
          </p:nvPr>
        </p:nvSpPr>
        <p:spPr>
          <a:xfrm>
            <a:off x="2694038" y="100422"/>
            <a:ext cx="6803923" cy="598436"/>
          </a:xfrm>
        </p:spPr>
        <p:txBody>
          <a:bodyPr>
            <a:normAutofit fontScale="90000"/>
          </a:bodyPr>
          <a:lstStyle/>
          <a:p>
            <a:r>
              <a:rPr lang="en-IN" b="0" i="0" dirty="0">
                <a:solidFill>
                  <a:srgbClr val="000000"/>
                </a:solidFill>
                <a:effectLst/>
                <a:latin typeface="Segoe UI" panose="020B0502040204020203" pitchFamily="34" charset="0"/>
              </a:rPr>
              <a:t>Events in Node.js</a:t>
            </a:r>
            <a:endParaRPr lang="en-IN" dirty="0"/>
          </a:p>
        </p:txBody>
      </p:sp>
      <p:sp>
        <p:nvSpPr>
          <p:cNvPr id="3" name="Content Placeholder 2">
            <a:extLst>
              <a:ext uri="{FF2B5EF4-FFF2-40B4-BE49-F238E27FC236}">
                <a16:creationId xmlns:a16="http://schemas.microsoft.com/office/drawing/2014/main" id="{7B7CAF28-CB81-489D-87D3-4FB4C926750A}"/>
              </a:ext>
            </a:extLst>
          </p:cNvPr>
          <p:cNvSpPr>
            <a:spLocks noGrp="1"/>
          </p:cNvSpPr>
          <p:nvPr>
            <p:ph idx="1"/>
          </p:nvPr>
        </p:nvSpPr>
        <p:spPr>
          <a:xfrm>
            <a:off x="975852" y="691299"/>
            <a:ext cx="10515600" cy="1150636"/>
          </a:xfrm>
        </p:spPr>
        <p:txBody>
          <a:bodyPr/>
          <a:lstStyle/>
          <a:p>
            <a:pPr marL="30480" marR="30480" algn="just">
              <a:lnSpc>
                <a:spcPts val="1800"/>
              </a:lnSpc>
              <a:spcAft>
                <a:spcPts val="1200"/>
              </a:spcAft>
            </a:pPr>
            <a:r>
              <a:rPr lang="en-US" sz="1200" dirty="0">
                <a:solidFill>
                  <a:srgbClr val="000000"/>
                </a:solidFill>
                <a:latin typeface="Verdana" panose="020B0604030504040204" pitchFamily="34" charset="0"/>
                <a:cs typeface="Times New Roman" panose="02020603050405020304" pitchFamily="18" charset="0"/>
              </a:rPr>
              <a:t>Every action on a computer is an event. Like when a connection is made or a file is opened.</a:t>
            </a:r>
          </a:p>
          <a:p>
            <a:pPr marL="30480" marR="30480" algn="just">
              <a:lnSpc>
                <a:spcPts val="1800"/>
              </a:lnSpc>
              <a:spcAft>
                <a:spcPts val="1200"/>
              </a:spcAft>
            </a:pPr>
            <a:r>
              <a:rPr lang="en-US" sz="1200" dirty="0">
                <a:solidFill>
                  <a:srgbClr val="000000"/>
                </a:solidFill>
                <a:latin typeface="Verdana" panose="020B0604030504040204" pitchFamily="34" charset="0"/>
                <a:cs typeface="Times New Roman" panose="02020603050405020304" pitchFamily="18" charset="0"/>
              </a:rPr>
              <a:t>Objects in Node.js can fire events, like the </a:t>
            </a:r>
            <a:r>
              <a:rPr lang="en-US" sz="1200" dirty="0" err="1">
                <a:solidFill>
                  <a:srgbClr val="000000"/>
                </a:solidFill>
                <a:latin typeface="Verdana" panose="020B0604030504040204" pitchFamily="34" charset="0"/>
                <a:cs typeface="Times New Roman" panose="02020603050405020304" pitchFamily="18" charset="0"/>
              </a:rPr>
              <a:t>readStream</a:t>
            </a:r>
            <a:r>
              <a:rPr lang="en-US" sz="1200" dirty="0">
                <a:solidFill>
                  <a:srgbClr val="000000"/>
                </a:solidFill>
                <a:latin typeface="Verdana" panose="020B0604030504040204" pitchFamily="34" charset="0"/>
                <a:cs typeface="Times New Roman" panose="02020603050405020304" pitchFamily="18" charset="0"/>
              </a:rPr>
              <a:t> object fires events when opening and closing a file:</a:t>
            </a:r>
          </a:p>
          <a:p>
            <a:endParaRPr lang="en-IN" sz="1200" dirty="0">
              <a:solidFill>
                <a:srgbClr val="000000"/>
              </a:solidFill>
              <a:latin typeface="Verdana" panose="020B060403050404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97A06F9-9C90-475B-B12F-ECE0501D8F33}"/>
              </a:ext>
            </a:extLst>
          </p:cNvPr>
          <p:cNvSpPr txBox="1"/>
          <p:nvPr/>
        </p:nvSpPr>
        <p:spPr>
          <a:xfrm>
            <a:off x="513735" y="1578213"/>
            <a:ext cx="10515600" cy="1150636"/>
          </a:xfrm>
          <a:prstGeom prst="rect">
            <a:avLst/>
          </a:prstGeom>
          <a:noFill/>
        </p:spPr>
        <p:txBody>
          <a:bodyPr wrap="square">
            <a:spAutoFit/>
          </a:bodyPr>
          <a:lstStyle/>
          <a:p>
            <a:pPr marL="30480" marR="30480" algn="just">
              <a:lnSpc>
                <a:spcPts val="1800"/>
              </a:lnSpc>
              <a:spcAft>
                <a:spcPts val="1200"/>
              </a:spcAft>
            </a:pP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Node.js uses events heavily and it is also one of the reasons why Node.js is pretty fast compared to other similar technologies. As soon as Node starts its server, it simply initiates its variables, </a:t>
            </a:r>
            <a:r>
              <a:rPr lang="en-IN" sz="12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delcares</a:t>
            </a: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functions and then simply waits for event to occur.</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In an event-driven application, there is generally a main loop that listens for events, and then triggers a </a:t>
            </a:r>
            <a:r>
              <a:rPr lang="en-IN" sz="12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callback</a:t>
            </a: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function when one of those events is detected.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descr="Event Loop">
            <a:extLst>
              <a:ext uri="{FF2B5EF4-FFF2-40B4-BE49-F238E27FC236}">
                <a16:creationId xmlns:a16="http://schemas.microsoft.com/office/drawing/2014/main" id="{A9E738AE-678E-4A3A-8FD4-7443E03FBE1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0" y="2656586"/>
            <a:ext cx="7315199" cy="1830112"/>
          </a:xfrm>
          <a:prstGeom prst="rect">
            <a:avLst/>
          </a:prstGeom>
          <a:noFill/>
          <a:ln>
            <a:noFill/>
          </a:ln>
        </p:spPr>
      </p:pic>
      <p:sp>
        <p:nvSpPr>
          <p:cNvPr id="8" name="TextBox 7">
            <a:extLst>
              <a:ext uri="{FF2B5EF4-FFF2-40B4-BE49-F238E27FC236}">
                <a16:creationId xmlns:a16="http://schemas.microsoft.com/office/drawing/2014/main" id="{1178DADF-EECC-43A7-B278-17B8D99919F6}"/>
              </a:ext>
            </a:extLst>
          </p:cNvPr>
          <p:cNvSpPr txBox="1"/>
          <p:nvPr/>
        </p:nvSpPr>
        <p:spPr>
          <a:xfrm>
            <a:off x="250723" y="4414434"/>
            <a:ext cx="6135328" cy="1920077"/>
          </a:xfrm>
          <a:prstGeom prst="rect">
            <a:avLst/>
          </a:prstGeom>
          <a:noFill/>
        </p:spPr>
        <p:txBody>
          <a:bodyPr wrap="square">
            <a:spAutoFit/>
          </a:bodyPr>
          <a:lstStyle/>
          <a:p>
            <a:pPr marL="30480" marR="30480" algn="just">
              <a:lnSpc>
                <a:spcPts val="1800"/>
              </a:lnSpc>
              <a:spcAft>
                <a:spcPts val="1200"/>
              </a:spcAft>
            </a:pP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While Events seems similar to what </a:t>
            </a:r>
            <a:r>
              <a:rPr lang="en-IN" sz="12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callbacks</a:t>
            </a: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are. The difference lies in the fact </a:t>
            </a:r>
            <a:r>
              <a:rPr lang="en-IN" sz="12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that </a:t>
            </a:r>
            <a:r>
              <a:rPr lang="en-IN" sz="1200" b="1"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callback</a:t>
            </a:r>
            <a:r>
              <a:rPr lang="en-IN" sz="12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functions are called when an asynchronous function returns its result where as event handling works on the observer pattern. The functions which listens to events acts as Observers.</a:t>
            </a: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Whenever an event gets fired, its listener function starts executing. Node.js has multiple in-built events available through </a:t>
            </a:r>
            <a:r>
              <a:rPr lang="en-IN" sz="12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events</a:t>
            </a: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module and </a:t>
            </a:r>
            <a:r>
              <a:rPr lang="en-IN" sz="1200" b="1"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EventEmitter</a:t>
            </a: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class which is used to bind events and event listeners as follows: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719728C0-8EAA-4216-A238-6EAF940ADE75}"/>
              </a:ext>
            </a:extLst>
          </p:cNvPr>
          <p:cNvSpPr txBox="1"/>
          <p:nvPr/>
        </p:nvSpPr>
        <p:spPr>
          <a:xfrm>
            <a:off x="7098891" y="2842714"/>
            <a:ext cx="5093109" cy="3323987"/>
          </a:xfrm>
          <a:prstGeom prst="rect">
            <a:avLst/>
          </a:prstGeom>
          <a:noFill/>
        </p:spPr>
        <p:txBody>
          <a:bodyPr wrap="square">
            <a:spAutoFit/>
          </a:bodyP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Import events module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events </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require</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'events'</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import {   } from./</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Create an </a:t>
            </a:r>
            <a:r>
              <a:rPr lang="en-IN" sz="1000" dirty="0" err="1">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0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object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new</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events</a:t>
            </a:r>
            <a:r>
              <a:rPr lang="en-IN" sz="10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err="1">
                <a:solidFill>
                  <a:srgbClr val="7F0055"/>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Following is the syntax to bind event handler with an event: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Bind event and even handler as follows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0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on</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eventName</a:t>
            </a:r>
            <a:r>
              <a:rPr lang="en-IN" sz="10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eventHandler</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p>
          <a:p>
            <a:pPr marL="30480" marR="30480" algn="just">
              <a:lnSpc>
                <a:spcPts val="1800"/>
              </a:lnSpc>
              <a:spcAft>
                <a:spcPts val="1200"/>
              </a:spcAft>
            </a:pPr>
            <a:r>
              <a:rPr lang="en-IN"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We can fire an event </a:t>
            </a:r>
            <a:r>
              <a:rPr lang="en-IN" sz="11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programatically</a:t>
            </a:r>
            <a:r>
              <a:rPr lang="en-IN" sz="1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as follows:</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9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Fire an event </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9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9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9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emit</a:t>
            </a:r>
            <a:r>
              <a:rPr lang="en-IN" sz="9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9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9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eventName</a:t>
            </a:r>
            <a:r>
              <a:rPr lang="en-IN" sz="9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9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5069683-EA7C-4650-A98A-08A15636332B}"/>
              </a:ext>
            </a:extLst>
          </p:cNvPr>
          <p:cNvSpPr txBox="1"/>
          <p:nvPr/>
        </p:nvSpPr>
        <p:spPr>
          <a:xfrm>
            <a:off x="10245212" y="2378590"/>
            <a:ext cx="1848465" cy="1754326"/>
          </a:xfrm>
          <a:prstGeom prst="rect">
            <a:avLst/>
          </a:prstGeom>
          <a:noFill/>
        </p:spPr>
        <p:txBody>
          <a:bodyPr wrap="square" rtlCol="0">
            <a:spAutoFit/>
          </a:bodyPr>
          <a:lstStyle/>
          <a:p>
            <a:r>
              <a:rPr lang="en-US" dirty="0"/>
              <a:t>events{</a:t>
            </a:r>
          </a:p>
          <a:p>
            <a:r>
              <a:rPr lang="en-US" dirty="0"/>
              <a:t>Class </a:t>
            </a:r>
            <a:r>
              <a:rPr lang="en-US" dirty="0" err="1"/>
              <a:t>EventEmitter</a:t>
            </a:r>
            <a:endParaRPr lang="en-US" dirty="0"/>
          </a:p>
          <a:p>
            <a:r>
              <a:rPr lang="en-US" dirty="0"/>
              <a:t>{</a:t>
            </a:r>
          </a:p>
          <a:p>
            <a:r>
              <a:rPr lang="en-US" dirty="0"/>
              <a:t>   }</a:t>
            </a:r>
          </a:p>
          <a:p>
            <a:r>
              <a:rPr lang="en-US" dirty="0"/>
              <a:t>}</a:t>
            </a:r>
            <a:endParaRPr lang="en-IN" dirty="0"/>
          </a:p>
        </p:txBody>
      </p:sp>
    </p:spTree>
    <p:extLst>
      <p:ext uri="{BB962C8B-B14F-4D97-AF65-F5344CB8AC3E}">
        <p14:creationId xmlns:p14="http://schemas.microsoft.com/office/powerpoint/2010/main" val="833883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6E188-8874-41AF-8663-3543E9BB245A}"/>
              </a:ext>
            </a:extLst>
          </p:cNvPr>
          <p:cNvSpPr>
            <a:spLocks noGrp="1"/>
          </p:cNvSpPr>
          <p:nvPr>
            <p:ph type="title"/>
          </p:nvPr>
        </p:nvSpPr>
        <p:spPr>
          <a:xfrm>
            <a:off x="1179871" y="43272"/>
            <a:ext cx="2979174" cy="637765"/>
          </a:xfrm>
        </p:spPr>
        <p:txBody>
          <a:bodyPr>
            <a:normAutofit fontScale="90000"/>
          </a:bodyPr>
          <a:lstStyle/>
          <a:p>
            <a:r>
              <a:rPr lang="en-IN" dirty="0"/>
              <a:t>Examples</a:t>
            </a:r>
          </a:p>
        </p:txBody>
      </p:sp>
      <p:sp>
        <p:nvSpPr>
          <p:cNvPr id="5" name="TextBox 4">
            <a:extLst>
              <a:ext uri="{FF2B5EF4-FFF2-40B4-BE49-F238E27FC236}">
                <a16:creationId xmlns:a16="http://schemas.microsoft.com/office/drawing/2014/main" id="{4F7C9534-4CE2-4497-95E8-6507FCF6FE44}"/>
              </a:ext>
            </a:extLst>
          </p:cNvPr>
          <p:cNvSpPr txBox="1"/>
          <p:nvPr/>
        </p:nvSpPr>
        <p:spPr>
          <a:xfrm>
            <a:off x="304800" y="754361"/>
            <a:ext cx="6361470" cy="5632311"/>
          </a:xfrm>
          <a:prstGeom prst="rect">
            <a:avLst/>
          </a:prstGeom>
          <a:noFill/>
        </p:spPr>
        <p:txBody>
          <a:bodyPr wrap="square">
            <a:spAutoFit/>
          </a:bodyP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events </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require</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'events'</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3600" dirty="0"/>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Create an </a:t>
            </a:r>
            <a:r>
              <a:rPr lang="en-IN" sz="1400" dirty="0" err="1">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object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new</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events</a:t>
            </a:r>
            <a:r>
              <a:rPr lang="en-IN" sz="14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7F0055"/>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Create an event handler as follows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connectHandler</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function</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connected</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b="1"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b="1"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console</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log</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'connection </a:t>
            </a:r>
            <a:r>
              <a:rPr lang="en-IN" sz="14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succesful</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Fire the </a:t>
            </a:r>
            <a:r>
              <a:rPr lang="en-IN" sz="1400" dirty="0" err="1">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data_received</a:t>
            </a: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event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emit</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data_received</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Bind the connection event with the handler</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on</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'connection'</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connectHandler</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Bind the </a:t>
            </a:r>
            <a:r>
              <a:rPr lang="en-IN" sz="1400" dirty="0" err="1">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data_received</a:t>
            </a: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event with the anonymous function</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on</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data_received</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function</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console</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log</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'data received </a:t>
            </a:r>
            <a:r>
              <a:rPr lang="en-IN" sz="14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succesfully</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4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Fire the connection event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4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emit</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'connection'</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console</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log</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4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"Program Ended."</a:t>
            </a:r>
            <a:r>
              <a:rPr lang="en-IN" sz="14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7" name="Straight Arrow Connector 6">
            <a:extLst>
              <a:ext uri="{FF2B5EF4-FFF2-40B4-BE49-F238E27FC236}">
                <a16:creationId xmlns:a16="http://schemas.microsoft.com/office/drawing/2014/main" id="{CB130FD5-BE26-45A5-96D7-BA606FF18041}"/>
              </a:ext>
            </a:extLst>
          </p:cNvPr>
          <p:cNvCxnSpPr/>
          <p:nvPr/>
        </p:nvCxnSpPr>
        <p:spPr>
          <a:xfrm flipH="1" flipV="1">
            <a:off x="1877961" y="2281084"/>
            <a:ext cx="2212258" cy="165181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4" name="Straight Arrow Connector 3">
            <a:extLst>
              <a:ext uri="{FF2B5EF4-FFF2-40B4-BE49-F238E27FC236}">
                <a16:creationId xmlns:a16="http://schemas.microsoft.com/office/drawing/2014/main" id="{46D6B8E5-3A45-4CDC-9C7B-82E6C906ECEF}"/>
              </a:ext>
            </a:extLst>
          </p:cNvPr>
          <p:cNvCxnSpPr/>
          <p:nvPr/>
        </p:nvCxnSpPr>
        <p:spPr>
          <a:xfrm>
            <a:off x="2989006" y="3264310"/>
            <a:ext cx="0" cy="14355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FFEAD1C7-B350-4172-B23A-9E3071725ABB}"/>
              </a:ext>
            </a:extLst>
          </p:cNvPr>
          <p:cNvSpPr/>
          <p:nvPr/>
        </p:nvSpPr>
        <p:spPr>
          <a:xfrm>
            <a:off x="5427406" y="2281084"/>
            <a:ext cx="2015613" cy="4522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connectHandler</a:t>
            </a:r>
            <a:endParaRPr lang="en-IN" dirty="0"/>
          </a:p>
        </p:txBody>
      </p:sp>
      <p:sp>
        <p:nvSpPr>
          <p:cNvPr id="6" name="Rectangle 5">
            <a:extLst>
              <a:ext uri="{FF2B5EF4-FFF2-40B4-BE49-F238E27FC236}">
                <a16:creationId xmlns:a16="http://schemas.microsoft.com/office/drawing/2014/main" id="{8890CF1E-6E5F-4200-A49D-398595F6651A}"/>
              </a:ext>
            </a:extLst>
          </p:cNvPr>
          <p:cNvSpPr/>
          <p:nvPr/>
        </p:nvSpPr>
        <p:spPr>
          <a:xfrm>
            <a:off x="8264012" y="570271"/>
            <a:ext cx="4006644" cy="31954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function connected() {</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   console.log('connection </a:t>
            </a:r>
            <a:r>
              <a:rPr lang="en-IN" sz="1800" dirty="0" err="1">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succesful</a:t>
            </a: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  </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   // Fire the </a:t>
            </a:r>
            <a:r>
              <a:rPr lang="en-IN" sz="1800" dirty="0" err="1">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data_received</a:t>
            </a: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 event </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tx1"/>
                </a:solidFill>
                <a:effectLst/>
                <a:highlight>
                  <a:srgbClr val="00FFFF"/>
                </a:highligh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chemeClr val="tx1"/>
                </a:solidFill>
                <a:effectLst/>
                <a:highlight>
                  <a:srgbClr val="00FFFF"/>
                </a:highlight>
                <a:latin typeface="Consolas" panose="020B0609020204030204" pitchFamily="49" charset="0"/>
                <a:ea typeface="Times New Roman" panose="02020603050405020304" pitchFamily="18" charset="0"/>
                <a:cs typeface="Consolas" panose="020B0609020204030204" pitchFamily="49" charset="0"/>
              </a:rPr>
              <a:t>eventEmitter.emit</a:t>
            </a:r>
            <a:r>
              <a:rPr lang="en-IN" sz="1800" dirty="0">
                <a:solidFill>
                  <a:schemeClr val="tx1"/>
                </a:solidFill>
                <a:effectLst/>
                <a:highlight>
                  <a:srgbClr val="00FFFF"/>
                </a:highlight>
                <a:latin typeface="Consolas" panose="020B0609020204030204" pitchFamily="49" charset="0"/>
                <a:ea typeface="Times New Roman" panose="02020603050405020304" pitchFamily="18" charset="0"/>
                <a:cs typeface="Consolas" panose="020B0609020204030204" pitchFamily="49" charset="0"/>
              </a:rPr>
              <a:t>('</a:t>
            </a:r>
            <a:r>
              <a:rPr lang="en-IN" sz="1800" dirty="0" err="1">
                <a:solidFill>
                  <a:schemeClr val="tx1"/>
                </a:solidFill>
                <a:effectLst/>
                <a:highlight>
                  <a:srgbClr val="00FFFF"/>
                </a:highlight>
                <a:latin typeface="Consolas" panose="020B0609020204030204" pitchFamily="49" charset="0"/>
                <a:ea typeface="Times New Roman" panose="02020603050405020304" pitchFamily="18" charset="0"/>
                <a:cs typeface="Consolas" panose="020B0609020204030204" pitchFamily="49" charset="0"/>
              </a:rPr>
              <a:t>data_received</a:t>
            </a:r>
            <a:r>
              <a:rPr lang="en-IN" sz="1800" dirty="0">
                <a:solidFill>
                  <a:schemeClr val="tx1"/>
                </a:solidFill>
                <a:effectLst/>
                <a:highlight>
                  <a:srgbClr val="00FFFF"/>
                </a:highlight>
                <a:latin typeface="Consolas" panose="020B0609020204030204" pitchFamily="49" charset="0"/>
                <a:ea typeface="Times New Roman" panose="02020603050405020304" pitchFamily="18" charset="0"/>
                <a:cs typeface="Consolas" panose="020B0609020204030204" pitchFamily="49" charset="0"/>
              </a:rPr>
              <a:t>');</a:t>
            </a:r>
            <a:endParaRPr lang="en-IN" sz="1800" dirty="0">
              <a:solidFill>
                <a:schemeClr val="tx1"/>
              </a:solidFill>
              <a:effectLst/>
              <a:highlight>
                <a:srgbClr val="00FFFF"/>
              </a:highligh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9" name="Straight Arrow Connector 8">
            <a:extLst>
              <a:ext uri="{FF2B5EF4-FFF2-40B4-BE49-F238E27FC236}">
                <a16:creationId xmlns:a16="http://schemas.microsoft.com/office/drawing/2014/main" id="{C71B58BD-8AAF-4EB9-B830-C8FB490BB3AC}"/>
              </a:ext>
            </a:extLst>
          </p:cNvPr>
          <p:cNvCxnSpPr>
            <a:cxnSpLocks/>
          </p:cNvCxnSpPr>
          <p:nvPr/>
        </p:nvCxnSpPr>
        <p:spPr>
          <a:xfrm flipV="1">
            <a:off x="7300450" y="2408903"/>
            <a:ext cx="811164" cy="786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0BFDFF4-CF02-4FC1-8E56-8F2E620CFC82}"/>
              </a:ext>
            </a:extLst>
          </p:cNvPr>
          <p:cNvSpPr txBox="1"/>
          <p:nvPr/>
        </p:nvSpPr>
        <p:spPr>
          <a:xfrm>
            <a:off x="6961238" y="4015570"/>
            <a:ext cx="3490449" cy="244521"/>
          </a:xfrm>
          <a:prstGeom prst="rect">
            <a:avLst/>
          </a:prstGeom>
          <a:noFill/>
        </p:spPr>
        <p:txBody>
          <a:bodyPr wrap="square">
            <a:spAutoFit/>
          </a:bodyP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0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on</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'connection'</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0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0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connectHandler</a:t>
            </a:r>
            <a:r>
              <a:rPr lang="en-IN" sz="10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7BDA070-EE1D-427E-8B1E-0D15D06BB074}"/>
              </a:ext>
            </a:extLst>
          </p:cNvPr>
          <p:cNvSpPr txBox="1"/>
          <p:nvPr/>
        </p:nvSpPr>
        <p:spPr>
          <a:xfrm>
            <a:off x="5624051" y="3106993"/>
            <a:ext cx="2005780"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connection</a:t>
            </a:r>
            <a:endParaRPr lang="en-IN" dirty="0"/>
          </a:p>
        </p:txBody>
      </p:sp>
      <p:cxnSp>
        <p:nvCxnSpPr>
          <p:cNvPr id="15" name="Straight Arrow Connector 14">
            <a:extLst>
              <a:ext uri="{FF2B5EF4-FFF2-40B4-BE49-F238E27FC236}">
                <a16:creationId xmlns:a16="http://schemas.microsoft.com/office/drawing/2014/main" id="{57A390BC-7979-442A-8A69-2274EB360E02}"/>
              </a:ext>
            </a:extLst>
          </p:cNvPr>
          <p:cNvCxnSpPr>
            <a:cxnSpLocks/>
          </p:cNvCxnSpPr>
          <p:nvPr/>
        </p:nvCxnSpPr>
        <p:spPr>
          <a:xfrm flipV="1">
            <a:off x="6961238" y="2842430"/>
            <a:ext cx="953730" cy="421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544CA8A-EC23-49D7-8B86-BBD68CF94046}"/>
              </a:ext>
            </a:extLst>
          </p:cNvPr>
          <p:cNvSpPr txBox="1"/>
          <p:nvPr/>
        </p:nvSpPr>
        <p:spPr>
          <a:xfrm>
            <a:off x="5958350" y="5042994"/>
            <a:ext cx="2153264"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data_received</a:t>
            </a:r>
            <a:endParaRPr lang="en-IN" dirty="0"/>
          </a:p>
        </p:txBody>
      </p:sp>
      <p:cxnSp>
        <p:nvCxnSpPr>
          <p:cNvPr id="20" name="Straight Arrow Connector 19">
            <a:extLst>
              <a:ext uri="{FF2B5EF4-FFF2-40B4-BE49-F238E27FC236}">
                <a16:creationId xmlns:a16="http://schemas.microsoft.com/office/drawing/2014/main" id="{E42FF2A2-7878-4EDC-AE9A-947EBCAAE47D}"/>
              </a:ext>
            </a:extLst>
          </p:cNvPr>
          <p:cNvCxnSpPr>
            <a:cxnSpLocks/>
          </p:cNvCxnSpPr>
          <p:nvPr/>
        </p:nvCxnSpPr>
        <p:spPr>
          <a:xfrm>
            <a:off x="7300450" y="4916129"/>
            <a:ext cx="1406012" cy="882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F8ACA41-869E-4728-9C21-FF3671339008}"/>
              </a:ext>
            </a:extLst>
          </p:cNvPr>
          <p:cNvSpPr/>
          <p:nvPr/>
        </p:nvSpPr>
        <p:spPr>
          <a:xfrm>
            <a:off x="8917858" y="4509907"/>
            <a:ext cx="3165987" cy="22153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function(){</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   console.log('data received </a:t>
            </a:r>
            <a:r>
              <a:rPr lang="en-IN" sz="1800" dirty="0" err="1">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succesfully</a:t>
            </a: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a:t>
            </a: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dirty="0">
              <a:solidFill>
                <a:schemeClr val="bg1"/>
              </a:solidFill>
              <a:latin typeface="Consolas" panose="020B0609020204030204" pitchFamily="49"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chemeClr val="bg1"/>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dirty="0">
              <a:solidFill>
                <a:schemeClr val="bg1"/>
              </a:solidFill>
            </a:endParaRPr>
          </a:p>
        </p:txBody>
      </p:sp>
      <p:sp>
        <p:nvSpPr>
          <p:cNvPr id="25" name="TextBox 24">
            <a:extLst>
              <a:ext uri="{FF2B5EF4-FFF2-40B4-BE49-F238E27FC236}">
                <a16:creationId xmlns:a16="http://schemas.microsoft.com/office/drawing/2014/main" id="{F3C96EC5-852C-48AF-9D84-3CC18CCC86FE}"/>
              </a:ext>
            </a:extLst>
          </p:cNvPr>
          <p:cNvSpPr txBox="1"/>
          <p:nvPr/>
        </p:nvSpPr>
        <p:spPr>
          <a:xfrm>
            <a:off x="4336026" y="6325824"/>
            <a:ext cx="4444179" cy="26834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8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emit</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'connection'</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Rectangle 27">
            <a:extLst>
              <a:ext uri="{FF2B5EF4-FFF2-40B4-BE49-F238E27FC236}">
                <a16:creationId xmlns:a16="http://schemas.microsoft.com/office/drawing/2014/main" id="{6B9AAD7A-3E8F-4F01-827B-628BDF95E8F6}"/>
              </a:ext>
            </a:extLst>
          </p:cNvPr>
          <p:cNvSpPr/>
          <p:nvPr/>
        </p:nvSpPr>
        <p:spPr>
          <a:xfrm>
            <a:off x="5048864" y="20120"/>
            <a:ext cx="757084" cy="6406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5</a:t>
            </a:r>
          </a:p>
        </p:txBody>
      </p:sp>
      <p:sp>
        <p:nvSpPr>
          <p:cNvPr id="29" name="TextBox 28">
            <a:extLst>
              <a:ext uri="{FF2B5EF4-FFF2-40B4-BE49-F238E27FC236}">
                <a16:creationId xmlns:a16="http://schemas.microsoft.com/office/drawing/2014/main" id="{AF31EB7F-8EC6-4CB3-8DDF-BF06D8DE900A}"/>
              </a:ext>
            </a:extLst>
          </p:cNvPr>
          <p:cNvSpPr txBox="1"/>
          <p:nvPr/>
        </p:nvSpPr>
        <p:spPr>
          <a:xfrm>
            <a:off x="4875571" y="569695"/>
            <a:ext cx="346586" cy="369332"/>
          </a:xfrm>
          <a:prstGeom prst="rect">
            <a:avLst/>
          </a:prstGeom>
          <a:noFill/>
        </p:spPr>
        <p:txBody>
          <a:bodyPr wrap="square" rtlCol="0">
            <a:spAutoFit/>
          </a:bodyPr>
          <a:lstStyle/>
          <a:p>
            <a:r>
              <a:rPr lang="en-IN" dirty="0"/>
              <a:t>a</a:t>
            </a:r>
          </a:p>
        </p:txBody>
      </p:sp>
      <p:sp>
        <p:nvSpPr>
          <p:cNvPr id="30" name="Rectangle 29">
            <a:extLst>
              <a:ext uri="{FF2B5EF4-FFF2-40B4-BE49-F238E27FC236}">
                <a16:creationId xmlns:a16="http://schemas.microsoft.com/office/drawing/2014/main" id="{C8CB4ADA-8312-4BAC-8490-F0F0F760A03D}"/>
              </a:ext>
            </a:extLst>
          </p:cNvPr>
          <p:cNvSpPr/>
          <p:nvPr/>
        </p:nvSpPr>
        <p:spPr>
          <a:xfrm>
            <a:off x="5222157" y="835741"/>
            <a:ext cx="2407674" cy="5318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 reference type data</a:t>
            </a:r>
          </a:p>
          <a:p>
            <a:pPr algn="ctr"/>
            <a:r>
              <a:rPr lang="en-IN" dirty="0"/>
              <a:t>Let </a:t>
            </a:r>
            <a:r>
              <a:rPr lang="en-IN" dirty="0" err="1"/>
              <a:t>ob</a:t>
            </a:r>
            <a:r>
              <a:rPr lang="en-IN" dirty="0"/>
              <a:t>=function(){}</a:t>
            </a:r>
          </a:p>
        </p:txBody>
      </p:sp>
      <p:sp>
        <p:nvSpPr>
          <p:cNvPr id="31" name="Rectangle 30">
            <a:extLst>
              <a:ext uri="{FF2B5EF4-FFF2-40B4-BE49-F238E27FC236}">
                <a16:creationId xmlns:a16="http://schemas.microsoft.com/office/drawing/2014/main" id="{9F263453-34EA-4751-89B1-47E238DD80F1}"/>
              </a:ext>
            </a:extLst>
          </p:cNvPr>
          <p:cNvSpPr/>
          <p:nvPr/>
        </p:nvSpPr>
        <p:spPr>
          <a:xfrm>
            <a:off x="5958350" y="1445674"/>
            <a:ext cx="560437" cy="4522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ob</a:t>
            </a:r>
            <a:endParaRPr lang="en-IN" dirty="0"/>
          </a:p>
        </p:txBody>
      </p:sp>
      <p:cxnSp>
        <p:nvCxnSpPr>
          <p:cNvPr id="33" name="Straight Arrow Connector 32">
            <a:extLst>
              <a:ext uri="{FF2B5EF4-FFF2-40B4-BE49-F238E27FC236}">
                <a16:creationId xmlns:a16="http://schemas.microsoft.com/office/drawing/2014/main" id="{95B5FFB8-7534-43EB-B09C-3AB567196DB8}"/>
              </a:ext>
            </a:extLst>
          </p:cNvPr>
          <p:cNvCxnSpPr>
            <a:cxnSpLocks/>
          </p:cNvCxnSpPr>
          <p:nvPr/>
        </p:nvCxnSpPr>
        <p:spPr>
          <a:xfrm flipV="1">
            <a:off x="6408173" y="1700981"/>
            <a:ext cx="459658" cy="893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98D400FB-8D1A-4404-B0DD-F75646E058EA}"/>
              </a:ext>
            </a:extLst>
          </p:cNvPr>
          <p:cNvSpPr/>
          <p:nvPr/>
        </p:nvSpPr>
        <p:spPr>
          <a:xfrm>
            <a:off x="6867831" y="1448083"/>
            <a:ext cx="1302775" cy="745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function(){}</a:t>
            </a:r>
          </a:p>
        </p:txBody>
      </p:sp>
      <p:sp>
        <p:nvSpPr>
          <p:cNvPr id="37" name="TextBox 36">
            <a:extLst>
              <a:ext uri="{FF2B5EF4-FFF2-40B4-BE49-F238E27FC236}">
                <a16:creationId xmlns:a16="http://schemas.microsoft.com/office/drawing/2014/main" id="{0F078512-91BA-415A-AFDB-BC7F3892BD8C}"/>
              </a:ext>
            </a:extLst>
          </p:cNvPr>
          <p:cNvSpPr txBox="1"/>
          <p:nvPr/>
        </p:nvSpPr>
        <p:spPr>
          <a:xfrm>
            <a:off x="6558115" y="58677"/>
            <a:ext cx="2625214" cy="369332"/>
          </a:xfrm>
          <a:prstGeom prst="rect">
            <a:avLst/>
          </a:prstGeom>
          <a:noFill/>
        </p:spPr>
        <p:txBody>
          <a:bodyPr wrap="square">
            <a:spAutoFit/>
          </a:bodyPr>
          <a:lstStyle/>
          <a:p>
            <a:r>
              <a:rPr lang="en-IN" dirty="0"/>
              <a:t>a=5 //value data</a:t>
            </a:r>
          </a:p>
        </p:txBody>
      </p:sp>
      <p:cxnSp>
        <p:nvCxnSpPr>
          <p:cNvPr id="13" name="Straight Arrow Connector 12">
            <a:extLst>
              <a:ext uri="{FF2B5EF4-FFF2-40B4-BE49-F238E27FC236}">
                <a16:creationId xmlns:a16="http://schemas.microsoft.com/office/drawing/2014/main" id="{697CB25D-8EDB-44AE-A7D3-6AEBFB2F26BC}"/>
              </a:ext>
            </a:extLst>
          </p:cNvPr>
          <p:cNvCxnSpPr/>
          <p:nvPr/>
        </p:nvCxnSpPr>
        <p:spPr>
          <a:xfrm>
            <a:off x="2517058" y="2281084"/>
            <a:ext cx="9144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2857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927E52-FD7F-4ECB-BEA3-AA67748EB5F6}"/>
              </a:ext>
            </a:extLst>
          </p:cNvPr>
          <p:cNvSpPr>
            <a:spLocks noGrp="1"/>
          </p:cNvSpPr>
          <p:nvPr>
            <p:ph idx="1"/>
          </p:nvPr>
        </p:nvSpPr>
        <p:spPr>
          <a:xfrm>
            <a:off x="629265" y="825910"/>
            <a:ext cx="10724535" cy="5351053"/>
          </a:xfrm>
        </p:spPr>
        <p:txBody>
          <a:bodyPr>
            <a:normAutofit/>
          </a:bodyPr>
          <a:lstStyle/>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Many objects in Node emit events for example a </a:t>
            </a:r>
            <a:r>
              <a:rPr lang="en-IN" sz="1800" b="1"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net.Server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emits an event each time a peer connects to it, a </a:t>
            </a:r>
            <a:r>
              <a:rPr lang="en-IN" sz="1800" b="1"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fs.readStream</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emits an event when the file is opened. All objects which emit events are instances of </a:t>
            </a:r>
            <a:r>
              <a:rPr lang="en-IN" sz="1800" b="1"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events.EventEmitter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R="30480">
              <a:lnSpc>
                <a:spcPct val="115000"/>
              </a:lnSpc>
              <a:spcBef>
                <a:spcPts val="240"/>
              </a:spcBef>
              <a:spcAft>
                <a:spcPts val="240"/>
              </a:spcAft>
            </a:pPr>
            <a:r>
              <a:rPr lang="en-IN" sz="1800" spc="-75" dirty="0" err="1">
                <a:solidFill>
                  <a:srgbClr val="121214"/>
                </a:solidFill>
                <a:effectLst/>
                <a:latin typeface="Verdana" panose="020B0604030504040204" pitchFamily="34" charset="0"/>
                <a:ea typeface="Times New Roman" panose="02020603050405020304" pitchFamily="18" charset="0"/>
                <a:cs typeface="Times New Roman" panose="02020603050405020304" pitchFamily="18" charset="0"/>
              </a:rPr>
              <a:t>EventEmitter</a:t>
            </a:r>
            <a:r>
              <a:rPr lang="en-IN" sz="1800" spc="-75" dirty="0">
                <a:solidFill>
                  <a:srgbClr val="121214"/>
                </a:solidFill>
                <a:effectLst/>
                <a:latin typeface="Verdana" panose="020B0604030504040204" pitchFamily="34" charset="0"/>
                <a:ea typeface="Times New Roman" panose="02020603050405020304" pitchFamily="18" charset="0"/>
                <a:cs typeface="Times New Roman" panose="02020603050405020304" pitchFamily="18" charset="0"/>
              </a:rPr>
              <a:t> Class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As we have seen in previous section,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EventEmitter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class lies in </a:t>
            </a:r>
            <a:r>
              <a:rPr lang="en-IN"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events</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module. It is accessibly via following syntax:</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Import events module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events </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require</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008800"/>
                </a:solidFill>
                <a:effectLst/>
                <a:latin typeface="Consolas" panose="020B0609020204030204" pitchFamily="49" charset="0"/>
                <a:ea typeface="Times New Roman" panose="02020603050405020304" pitchFamily="18" charset="0"/>
                <a:cs typeface="Consolas" panose="020B0609020204030204" pitchFamily="49" charset="0"/>
              </a:rPr>
              <a:t>'events'</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Create an </a:t>
            </a:r>
            <a:r>
              <a:rPr lang="en-IN" sz="1800" dirty="0" err="1">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800" dirty="0">
                <a:solidFill>
                  <a:srgbClr val="880000"/>
                </a:solidFill>
                <a:effectLst/>
                <a:latin typeface="Consolas" panose="020B0609020204030204" pitchFamily="49" charset="0"/>
                <a:ea typeface="Times New Roman" panose="02020603050405020304" pitchFamily="18" charset="0"/>
                <a:cs typeface="Consolas" panose="020B0609020204030204" pitchFamily="49" charset="0"/>
              </a:rPr>
              <a:t> object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var</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a:solidFill>
                  <a:srgbClr val="000088"/>
                </a:solidFill>
                <a:effectLst/>
                <a:latin typeface="Consolas" panose="020B0609020204030204" pitchFamily="49" charset="0"/>
                <a:ea typeface="Times New Roman" panose="02020603050405020304" pitchFamily="18" charset="0"/>
                <a:cs typeface="Consolas" panose="020B0609020204030204" pitchFamily="49" charset="0"/>
              </a:rPr>
              <a:t>new</a:t>
            </a:r>
            <a:r>
              <a:rPr lang="en-IN" sz="1800" dirty="0">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800" dirty="0" err="1">
                <a:solidFill>
                  <a:srgbClr val="313131"/>
                </a:solidFill>
                <a:effectLst/>
                <a:latin typeface="Consolas" panose="020B0609020204030204" pitchFamily="49" charset="0"/>
                <a:ea typeface="Times New Roman" panose="02020603050405020304" pitchFamily="18" charset="0"/>
                <a:cs typeface="Consolas" panose="020B0609020204030204" pitchFamily="49" charset="0"/>
              </a:rPr>
              <a:t>events</a:t>
            </a:r>
            <a:r>
              <a:rPr lang="en-IN" sz="1800" dirty="0" err="1">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r>
              <a:rPr lang="en-IN" sz="1800" dirty="0" err="1">
                <a:solidFill>
                  <a:srgbClr val="7F0055"/>
                </a:solidFill>
                <a:effectLst/>
                <a:latin typeface="Consolas" panose="020B0609020204030204" pitchFamily="49" charset="0"/>
                <a:ea typeface="Times New Roman" panose="02020603050405020304" pitchFamily="18" charset="0"/>
                <a:cs typeface="Consolas" panose="020B0609020204030204" pitchFamily="49" charset="0"/>
              </a:rPr>
              <a:t>EventEmitter</a:t>
            </a:r>
            <a:r>
              <a:rPr lang="en-IN" sz="1800" dirty="0">
                <a:solidFill>
                  <a:srgbClr val="6666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When an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EventEmitter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instance faces any error, it emits an 'error' event. When new listener is added,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newListener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event is fired and when a listener is removed, '</a:t>
            </a: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removeListener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event is fired.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0480" marR="30480" algn="just">
              <a:lnSpc>
                <a:spcPts val="1800"/>
              </a:lnSpc>
              <a:spcAft>
                <a:spcPts val="1200"/>
              </a:spcAft>
            </a:pPr>
            <a:r>
              <a:rPr lang="en-IN" sz="1800" dirty="0" err="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EventEmitter</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provides multiple properties like </a:t>
            </a:r>
            <a:r>
              <a:rPr lang="en-IN"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on</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and </a:t>
            </a:r>
            <a:r>
              <a:rPr lang="en-IN"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emit</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r>
              <a:rPr lang="en-IN"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on</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property is used to bind a function with the event and </a:t>
            </a:r>
            <a:r>
              <a:rPr lang="en-IN" sz="18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emit</a:t>
            </a:r>
            <a:r>
              <a:rPr lang="en-IN" sz="18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is used to fire an event.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40032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AEB132-59D1-4FDA-957F-4C2ED2577AF9}"/>
              </a:ext>
            </a:extLst>
          </p:cNvPr>
          <p:cNvSpPr>
            <a:spLocks noGrp="1"/>
          </p:cNvSpPr>
          <p:nvPr>
            <p:ph idx="1"/>
          </p:nvPr>
        </p:nvSpPr>
        <p:spPr>
          <a:xfrm>
            <a:off x="1" y="707923"/>
            <a:ext cx="5338916" cy="3323303"/>
          </a:xfrm>
        </p:spPr>
        <p:txBody>
          <a:bodyPr>
            <a:noAutofit/>
          </a:bodyPr>
          <a:lstStyle/>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events</a:t>
            </a:r>
            <a:r>
              <a:rPr lang="en-IN" sz="1200" b="0" dirty="0">
                <a:solidFill>
                  <a:srgbClr val="000000"/>
                </a:solidFill>
                <a:effectLst/>
                <a:latin typeface="Consolas" panose="020B0609020204030204" pitchFamily="49" charset="0"/>
              </a:rPr>
              <a:t> = </a:t>
            </a:r>
            <a:r>
              <a:rPr lang="en-IN" sz="1200" b="0" dirty="0">
                <a:solidFill>
                  <a:srgbClr val="795E26"/>
                </a:solidFill>
                <a:effectLst/>
                <a:latin typeface="Consolas" panose="020B0609020204030204" pitchFamily="49" charset="0"/>
              </a:rPr>
              <a:t>require</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'events'</a:t>
            </a:r>
            <a:r>
              <a:rPr lang="en-IN" sz="1200" b="0" dirty="0">
                <a:solidFill>
                  <a:srgbClr val="000000"/>
                </a:solidFill>
                <a:effectLst/>
                <a:latin typeface="Consolas" panose="020B0609020204030204" pitchFamily="49" charset="0"/>
              </a:rPr>
              <a:t>);</a:t>
            </a: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eventEmitter</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new</a:t>
            </a:r>
            <a:r>
              <a:rPr lang="en-IN" sz="1200" b="0" dirty="0">
                <a:solidFill>
                  <a:srgbClr val="000000"/>
                </a:solidFill>
                <a:effectLst/>
                <a:latin typeface="Consolas" panose="020B0609020204030204" pitchFamily="49" charset="0"/>
              </a:rPr>
              <a:t> </a:t>
            </a:r>
            <a:r>
              <a:rPr lang="en-IN" sz="1200" b="0" dirty="0" err="1">
                <a:solidFill>
                  <a:srgbClr val="001080"/>
                </a:solidFill>
                <a:effectLst/>
                <a:latin typeface="Consolas" panose="020B0609020204030204" pitchFamily="49" charset="0"/>
              </a:rPr>
              <a:t>events</a:t>
            </a:r>
            <a:r>
              <a:rPr lang="en-IN" sz="1200" b="0" dirty="0" err="1">
                <a:solidFill>
                  <a:srgbClr val="000000"/>
                </a:solidFill>
                <a:effectLst/>
                <a:latin typeface="Consolas" panose="020B0609020204030204" pitchFamily="49" charset="0"/>
              </a:rPr>
              <a:t>.</a:t>
            </a:r>
            <a:r>
              <a:rPr lang="en-IN" sz="1200" b="0" dirty="0" err="1">
                <a:solidFill>
                  <a:srgbClr val="267F99"/>
                </a:solidFill>
                <a:effectLst/>
                <a:latin typeface="Consolas" panose="020B0609020204030204" pitchFamily="49" charset="0"/>
              </a:rPr>
              <a:t>EventEmitter</a:t>
            </a:r>
            <a:r>
              <a:rPr lang="en-IN" sz="1200" b="0" dirty="0">
                <a:solidFill>
                  <a:srgbClr val="000000"/>
                </a:solidFill>
                <a:effectLst/>
                <a:latin typeface="Consolas" panose="020B0609020204030204" pitchFamily="49" charset="0"/>
              </a:rPr>
              <a:t>();</a:t>
            </a:r>
          </a:p>
          <a:p>
            <a:pPr marL="0" indent="0">
              <a:buNone/>
            </a:pPr>
            <a:br>
              <a:rPr lang="en-IN" sz="1200" b="0" dirty="0">
                <a:solidFill>
                  <a:srgbClr val="000000"/>
                </a:solidFill>
                <a:effectLst/>
                <a:latin typeface="Consolas" panose="020B0609020204030204" pitchFamily="49" charset="0"/>
              </a:rPr>
            </a:br>
            <a:r>
              <a:rPr lang="en-IN" sz="1200" b="0" dirty="0">
                <a:solidFill>
                  <a:srgbClr val="008000"/>
                </a:solidFill>
                <a:effectLst/>
                <a:latin typeface="Consolas" panose="020B0609020204030204" pitchFamily="49" charset="0"/>
              </a:rPr>
              <a:t>// listener #1</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listner1</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listner1</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'listner1 executed.'</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p>
          <a:p>
            <a:pPr marL="0" indent="0">
              <a:buNone/>
            </a:pPr>
            <a:r>
              <a:rPr lang="en-IN" sz="1200" b="0" dirty="0">
                <a:solidFill>
                  <a:srgbClr val="008000"/>
                </a:solidFill>
                <a:effectLst/>
                <a:latin typeface="Consolas" panose="020B0609020204030204" pitchFamily="49" charset="0"/>
              </a:rPr>
              <a:t>// listener #2</a:t>
            </a:r>
            <a:endParaRPr lang="en-IN" sz="1200" b="0" dirty="0">
              <a:solidFill>
                <a:srgbClr val="000000"/>
              </a:solidFill>
              <a:effectLst/>
              <a:latin typeface="Consolas" panose="020B0609020204030204" pitchFamily="49" charset="0"/>
            </a:endParaRPr>
          </a:p>
          <a:p>
            <a:pPr marL="0" indent="0">
              <a:buNone/>
            </a:pPr>
            <a:r>
              <a:rPr lang="en-IN" sz="1200" b="0" dirty="0">
                <a:solidFill>
                  <a:srgbClr val="0000FF"/>
                </a:solidFill>
                <a:effectLst/>
                <a:latin typeface="Consolas" panose="020B0609020204030204" pitchFamily="49" charset="0"/>
              </a:rPr>
              <a:t>var</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listner2</a:t>
            </a:r>
            <a:r>
              <a:rPr lang="en-IN" sz="1200" b="0" dirty="0">
                <a:solidFill>
                  <a:srgbClr val="000000"/>
                </a:solidFill>
                <a:effectLst/>
                <a:latin typeface="Consolas" panose="020B0609020204030204" pitchFamily="49" charset="0"/>
              </a:rPr>
              <a:t> = </a:t>
            </a:r>
            <a:r>
              <a:rPr lang="en-IN" sz="1200" b="0" dirty="0">
                <a:solidFill>
                  <a:srgbClr val="0000FF"/>
                </a:solidFill>
                <a:effectLst/>
                <a:latin typeface="Consolas" panose="020B0609020204030204" pitchFamily="49" charset="0"/>
              </a:rPr>
              <a:t>function</a:t>
            </a:r>
            <a:r>
              <a:rPr lang="en-IN" sz="1200" b="0" dirty="0">
                <a:solidFill>
                  <a:srgbClr val="000000"/>
                </a:solidFill>
                <a:effectLst/>
                <a:latin typeface="Consolas" panose="020B0609020204030204" pitchFamily="49" charset="0"/>
              </a:rPr>
              <a:t> </a:t>
            </a:r>
            <a:r>
              <a:rPr lang="en-IN" sz="1200" b="0" dirty="0">
                <a:solidFill>
                  <a:srgbClr val="795E26"/>
                </a:solidFill>
                <a:effectLst/>
                <a:latin typeface="Consolas" panose="020B0609020204030204" pitchFamily="49" charset="0"/>
              </a:rPr>
              <a:t>listner2</a:t>
            </a:r>
            <a:r>
              <a:rPr lang="en-IN" sz="1200" b="0" dirty="0">
                <a:solidFill>
                  <a:srgbClr val="000000"/>
                </a:solidFill>
                <a:effectLst/>
                <a:latin typeface="Consolas" panose="020B0609020204030204" pitchFamily="49" charset="0"/>
              </a:rPr>
              <a:t>() {</a:t>
            </a:r>
          </a:p>
          <a:p>
            <a:pPr marL="0" indent="0">
              <a:buNone/>
            </a:pPr>
            <a:r>
              <a:rPr lang="en-IN" sz="1200" b="0" dirty="0">
                <a:solidFill>
                  <a:srgbClr val="000000"/>
                </a:solidFill>
                <a:effectLst/>
                <a:latin typeface="Consolas" panose="020B0609020204030204" pitchFamily="49" charset="0"/>
              </a:rPr>
              <a:t>  </a:t>
            </a:r>
            <a:r>
              <a:rPr lang="en-IN" sz="1200" b="0" dirty="0">
                <a:solidFill>
                  <a:srgbClr val="001080"/>
                </a:solidFill>
                <a:effectLst/>
                <a:latin typeface="Consolas" panose="020B0609020204030204" pitchFamily="49" charset="0"/>
              </a:rPr>
              <a:t>console</a:t>
            </a:r>
            <a:r>
              <a:rPr lang="en-IN" sz="1200" b="0" dirty="0">
                <a:solidFill>
                  <a:srgbClr val="000000"/>
                </a:solidFill>
                <a:effectLst/>
                <a:latin typeface="Consolas" panose="020B0609020204030204" pitchFamily="49" charset="0"/>
              </a:rPr>
              <a:t>.</a:t>
            </a:r>
            <a:r>
              <a:rPr lang="en-IN" sz="1200" b="0" dirty="0">
                <a:solidFill>
                  <a:srgbClr val="795E26"/>
                </a:solidFill>
                <a:effectLst/>
                <a:latin typeface="Consolas" panose="020B0609020204030204" pitchFamily="49" charset="0"/>
              </a:rPr>
              <a:t>log</a:t>
            </a:r>
            <a:r>
              <a:rPr lang="en-IN" sz="1200" b="0" dirty="0">
                <a:solidFill>
                  <a:srgbClr val="000000"/>
                </a:solidFill>
                <a:effectLst/>
                <a:latin typeface="Consolas" panose="020B0609020204030204" pitchFamily="49" charset="0"/>
              </a:rPr>
              <a:t>(</a:t>
            </a:r>
            <a:r>
              <a:rPr lang="en-IN" sz="1200" b="0" dirty="0">
                <a:solidFill>
                  <a:srgbClr val="A31515"/>
                </a:solidFill>
                <a:effectLst/>
                <a:latin typeface="Consolas" panose="020B0609020204030204" pitchFamily="49" charset="0"/>
              </a:rPr>
              <a:t>'listner2 executed.'</a:t>
            </a:r>
            <a:r>
              <a:rPr lang="en-IN" sz="1200" b="0" dirty="0">
                <a:solidFill>
                  <a:srgbClr val="000000"/>
                </a:solidFill>
                <a:effectLst/>
                <a:latin typeface="Consolas" panose="020B0609020204030204" pitchFamily="49" charset="0"/>
              </a:rPr>
              <a:t>);</a:t>
            </a:r>
          </a:p>
          <a:p>
            <a:pPr marL="0" indent="0">
              <a:buNone/>
            </a:pPr>
            <a:r>
              <a:rPr lang="en-IN" sz="1200" b="0" dirty="0">
                <a:solidFill>
                  <a:srgbClr val="000000"/>
                </a:solidFill>
                <a:effectLst/>
                <a:latin typeface="Consolas" panose="020B0609020204030204" pitchFamily="49" charset="0"/>
              </a:rPr>
              <a:t>}</a:t>
            </a:r>
          </a:p>
          <a:p>
            <a:pPr marL="0" indent="0">
              <a:buNone/>
            </a:pPr>
            <a:br>
              <a:rPr lang="en-IN" sz="1200" b="0" dirty="0">
                <a:solidFill>
                  <a:srgbClr val="000000"/>
                </a:solidFill>
                <a:effectLst/>
                <a:latin typeface="Consolas" panose="020B0609020204030204" pitchFamily="49" charset="0"/>
              </a:rPr>
            </a:br>
            <a:endParaRPr lang="en-IN" sz="1200" b="0" dirty="0">
              <a:solidFill>
                <a:srgbClr val="000000"/>
              </a:solidFill>
              <a:effectLst/>
              <a:latin typeface="Consolas" panose="020B0609020204030204" pitchFamily="49" charset="0"/>
            </a:endParaRPr>
          </a:p>
          <a:p>
            <a:pPr marL="0" indent="0">
              <a:buNone/>
            </a:pPr>
            <a:endParaRPr lang="en-IN" sz="1200" dirty="0"/>
          </a:p>
        </p:txBody>
      </p:sp>
      <p:sp>
        <p:nvSpPr>
          <p:cNvPr id="5" name="TextBox 4">
            <a:extLst>
              <a:ext uri="{FF2B5EF4-FFF2-40B4-BE49-F238E27FC236}">
                <a16:creationId xmlns:a16="http://schemas.microsoft.com/office/drawing/2014/main" id="{90B5B65C-94AF-4DB4-B5A5-09367B3FF81E}"/>
              </a:ext>
            </a:extLst>
          </p:cNvPr>
          <p:cNvSpPr txBox="1"/>
          <p:nvPr/>
        </p:nvSpPr>
        <p:spPr>
          <a:xfrm>
            <a:off x="5761704" y="9832"/>
            <a:ext cx="6135328" cy="6488956"/>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Bind the connection event with the listner1 function</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eventEmitter</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addListener</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'connection'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listner1</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Bind the connection event with the listner2 function</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eventEmitter</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'connection'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listner2</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Fire the connection event </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eventEmitter</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emit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'connection'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Remove the binding of listner1 function</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eventEmitter</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removeListener</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'connection'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listner1</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"Listner1 will not listen now."</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b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 Fire the connection event </a:t>
            </a:r>
            <a:endPar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err="1">
                <a:ln>
                  <a:noFill/>
                </a:ln>
                <a:solidFill>
                  <a:srgbClr val="001080"/>
                </a:solidFill>
                <a:effectLst/>
                <a:uLnTx/>
                <a:uFillTx/>
                <a:latin typeface="Consolas" panose="020B0609020204030204" pitchFamily="49" charset="0"/>
                <a:ea typeface="+mn-ea"/>
                <a:cs typeface="+mn-cs"/>
              </a:rPr>
              <a:t>eventEmitter</a:t>
            </a:r>
            <a:r>
              <a:rPr kumimoji="0" lang="en-IN" sz="18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err="1">
                <a:ln>
                  <a:noFill/>
                </a:ln>
                <a:solidFill>
                  <a:srgbClr val="795E26"/>
                </a:solidFill>
                <a:effectLst/>
                <a:uLnTx/>
                <a:uFillTx/>
                <a:latin typeface="Consolas" panose="020B0609020204030204" pitchFamily="49" charset="0"/>
                <a:ea typeface="+mn-ea"/>
                <a:cs typeface="+mn-cs"/>
              </a:rPr>
              <a:t>emit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'connection'</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800" b="0" i="0" u="none" strike="noStrike" kern="1200" cap="none" spc="0" normalizeH="0" baseline="0" noProof="0" dirty="0">
                <a:ln>
                  <a:noFill/>
                </a:ln>
                <a:solidFill>
                  <a:srgbClr val="001080"/>
                </a:solidFill>
                <a:effectLst/>
                <a:uLnTx/>
                <a:uFillTx/>
                <a:latin typeface="Consolas" panose="020B0609020204030204" pitchFamily="49" charset="0"/>
                <a:ea typeface="+mn-ea"/>
                <a:cs typeface="+mn-cs"/>
              </a:rPr>
              <a:t>console</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795E26"/>
                </a:solidFill>
                <a:effectLst/>
                <a:uLnTx/>
                <a:uFillTx/>
                <a:latin typeface="Consolas" panose="020B0609020204030204" pitchFamily="49" charset="0"/>
                <a:ea typeface="+mn-ea"/>
                <a:cs typeface="+mn-cs"/>
              </a:rPr>
              <a:t>log</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"Program Ended."</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p:txBody>
      </p:sp>
      <p:graphicFrame>
        <p:nvGraphicFramePr>
          <p:cNvPr id="2" name="Table 3">
            <a:extLst>
              <a:ext uri="{FF2B5EF4-FFF2-40B4-BE49-F238E27FC236}">
                <a16:creationId xmlns:a16="http://schemas.microsoft.com/office/drawing/2014/main" id="{C6F95D8B-BA1E-49F7-9AA4-A3E7EAE311BC}"/>
              </a:ext>
            </a:extLst>
          </p:cNvPr>
          <p:cNvGraphicFramePr>
            <a:graphicFrameLocks noGrp="1"/>
          </p:cNvGraphicFramePr>
          <p:nvPr>
            <p:extLst>
              <p:ext uri="{D42A27DB-BD31-4B8C-83A1-F6EECF244321}">
                <p14:modId xmlns:p14="http://schemas.microsoft.com/office/powerpoint/2010/main" val="2427241060"/>
              </p:ext>
            </p:extLst>
          </p:nvPr>
        </p:nvGraphicFramePr>
        <p:xfrm>
          <a:off x="948814" y="5745858"/>
          <a:ext cx="3441290" cy="440541"/>
        </p:xfrm>
        <a:graphic>
          <a:graphicData uri="http://schemas.openxmlformats.org/drawingml/2006/table">
            <a:tbl>
              <a:tblPr firstRow="1" bandRow="1">
                <a:tableStyleId>{5C22544A-7EE6-4342-B048-85BDC9FD1C3A}</a:tableStyleId>
              </a:tblPr>
              <a:tblGrid>
                <a:gridCol w="1720645">
                  <a:extLst>
                    <a:ext uri="{9D8B030D-6E8A-4147-A177-3AD203B41FA5}">
                      <a16:colId xmlns:a16="http://schemas.microsoft.com/office/drawing/2014/main" val="1461183101"/>
                    </a:ext>
                  </a:extLst>
                </a:gridCol>
                <a:gridCol w="1720645">
                  <a:extLst>
                    <a:ext uri="{9D8B030D-6E8A-4147-A177-3AD203B41FA5}">
                      <a16:colId xmlns:a16="http://schemas.microsoft.com/office/drawing/2014/main" val="552304080"/>
                    </a:ext>
                  </a:extLst>
                </a:gridCol>
              </a:tblGrid>
              <a:tr h="440541">
                <a:tc>
                  <a:txBody>
                    <a:bodyPr/>
                    <a:lstStyle/>
                    <a:p>
                      <a:r>
                        <a:rPr lang="en-IN" dirty="0"/>
                        <a:t>0</a:t>
                      </a:r>
                    </a:p>
                  </a:txBody>
                  <a:tcPr/>
                </a:tc>
                <a:tc>
                  <a:txBody>
                    <a:bodyPr/>
                    <a:lstStyle/>
                    <a:p>
                      <a:r>
                        <a:rPr lang="en-IN" dirty="0"/>
                        <a:t>1</a:t>
                      </a:r>
                    </a:p>
                  </a:txBody>
                  <a:tcPr/>
                </a:tc>
                <a:extLst>
                  <a:ext uri="{0D108BD9-81ED-4DB2-BD59-A6C34878D82A}">
                    <a16:rowId xmlns:a16="http://schemas.microsoft.com/office/drawing/2014/main" val="3926846778"/>
                  </a:ext>
                </a:extLst>
              </a:tr>
            </a:tbl>
          </a:graphicData>
        </a:graphic>
      </p:graphicFrame>
      <p:sp>
        <p:nvSpPr>
          <p:cNvPr id="6" name="TextBox 5">
            <a:extLst>
              <a:ext uri="{FF2B5EF4-FFF2-40B4-BE49-F238E27FC236}">
                <a16:creationId xmlns:a16="http://schemas.microsoft.com/office/drawing/2014/main" id="{2BCFC1C2-2A2A-4955-901C-6D28073F14E7}"/>
              </a:ext>
            </a:extLst>
          </p:cNvPr>
          <p:cNvSpPr txBox="1"/>
          <p:nvPr/>
        </p:nvSpPr>
        <p:spPr>
          <a:xfrm>
            <a:off x="216310" y="6186399"/>
            <a:ext cx="1602658" cy="369332"/>
          </a:xfrm>
          <a:prstGeom prst="rect">
            <a:avLst/>
          </a:prstGeom>
          <a:noFill/>
        </p:spPr>
        <p:txBody>
          <a:bodyPr wrap="square">
            <a:spAutoFit/>
          </a:bodyPr>
          <a:lstStyle/>
          <a:p>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connection</a:t>
            </a:r>
            <a:endParaRPr lang="en-IN" dirty="0"/>
          </a:p>
        </p:txBody>
      </p:sp>
      <p:cxnSp>
        <p:nvCxnSpPr>
          <p:cNvPr id="8" name="Straight Arrow Connector 7">
            <a:extLst>
              <a:ext uri="{FF2B5EF4-FFF2-40B4-BE49-F238E27FC236}">
                <a16:creationId xmlns:a16="http://schemas.microsoft.com/office/drawing/2014/main" id="{5ECBD0BE-A5A7-47E5-8BB0-1CFC55CDB27D}"/>
              </a:ext>
            </a:extLst>
          </p:cNvPr>
          <p:cNvCxnSpPr/>
          <p:nvPr/>
        </p:nvCxnSpPr>
        <p:spPr>
          <a:xfrm flipV="1">
            <a:off x="1907458" y="5250426"/>
            <a:ext cx="0" cy="6390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3CAF79D-FF83-4669-B479-2C040FE19856}"/>
              </a:ext>
            </a:extLst>
          </p:cNvPr>
          <p:cNvCxnSpPr/>
          <p:nvPr/>
        </p:nvCxnSpPr>
        <p:spPr>
          <a:xfrm flipV="1">
            <a:off x="3161071" y="5327031"/>
            <a:ext cx="0" cy="6390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4AC8730-21DD-4358-8953-A6E510C1397D}"/>
              </a:ext>
            </a:extLst>
          </p:cNvPr>
          <p:cNvSpPr txBox="1"/>
          <p:nvPr/>
        </p:nvSpPr>
        <p:spPr>
          <a:xfrm>
            <a:off x="88490" y="4296319"/>
            <a:ext cx="2772697"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indent="0">
              <a:buNone/>
            </a:pP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listner1</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'listner1 executed.'</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p:txBody>
      </p:sp>
      <p:sp>
        <p:nvSpPr>
          <p:cNvPr id="13" name="TextBox 12">
            <a:extLst>
              <a:ext uri="{FF2B5EF4-FFF2-40B4-BE49-F238E27FC236}">
                <a16:creationId xmlns:a16="http://schemas.microsoft.com/office/drawing/2014/main" id="{0FE47D24-207B-4F9F-9A3D-9EA33D895CD5}"/>
              </a:ext>
            </a:extLst>
          </p:cNvPr>
          <p:cNvSpPr txBox="1"/>
          <p:nvPr/>
        </p:nvSpPr>
        <p:spPr>
          <a:xfrm>
            <a:off x="3052917" y="4296319"/>
            <a:ext cx="2497393"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indent="0">
              <a:buNone/>
            </a:pP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r>
              <a:rPr lang="en-IN" sz="1400" b="0" dirty="0">
                <a:solidFill>
                  <a:srgbClr val="795E26"/>
                </a:solidFill>
                <a:effectLst/>
                <a:latin typeface="Consolas" panose="020B0609020204030204" pitchFamily="49" charset="0"/>
              </a:rPr>
              <a:t>listner2</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console</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log</a:t>
            </a:r>
            <a:r>
              <a:rPr lang="en-IN" sz="1400" b="0">
                <a:solidFill>
                  <a:srgbClr val="000000"/>
                </a:solidFill>
                <a:effectLst/>
                <a:latin typeface="Consolas" panose="020B0609020204030204" pitchFamily="49" charset="0"/>
              </a:rPr>
              <a:t>(</a:t>
            </a:r>
            <a:r>
              <a:rPr lang="en-IN" sz="1400" b="0">
                <a:solidFill>
                  <a:srgbClr val="A31515"/>
                </a:solidFill>
                <a:effectLst/>
                <a:latin typeface="Consolas" panose="020B0609020204030204" pitchFamily="49" charset="0"/>
              </a:rPr>
              <a:t>'listner2 </a:t>
            </a:r>
            <a:r>
              <a:rPr lang="en-IN" sz="1400" b="0" dirty="0">
                <a:solidFill>
                  <a:srgbClr val="A31515"/>
                </a:solidFill>
                <a:effectLst/>
                <a:latin typeface="Consolas" panose="020B0609020204030204" pitchFamily="49" charset="0"/>
              </a:rPr>
              <a:t>executed.'</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p:txBody>
      </p:sp>
      <p:cxnSp>
        <p:nvCxnSpPr>
          <p:cNvPr id="15" name="Straight Connector 14">
            <a:extLst>
              <a:ext uri="{FF2B5EF4-FFF2-40B4-BE49-F238E27FC236}">
                <a16:creationId xmlns:a16="http://schemas.microsoft.com/office/drawing/2014/main" id="{0BD9A97D-BFD3-4360-BE3E-3BDE6C8F1435}"/>
              </a:ext>
            </a:extLst>
          </p:cNvPr>
          <p:cNvCxnSpPr/>
          <p:nvPr/>
        </p:nvCxnSpPr>
        <p:spPr>
          <a:xfrm>
            <a:off x="2458065" y="3854245"/>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4B7041F-35E3-4947-AE49-82E0FB0A0CB6}"/>
              </a:ext>
            </a:extLst>
          </p:cNvPr>
          <p:cNvCxnSpPr/>
          <p:nvPr/>
        </p:nvCxnSpPr>
        <p:spPr>
          <a:xfrm flipH="1">
            <a:off x="1622323" y="4031226"/>
            <a:ext cx="471948" cy="2339839"/>
          </a:xfrm>
          <a:prstGeom prst="line">
            <a:avLst/>
          </a:prstGeom>
        </p:spPr>
        <p:style>
          <a:lnRef idx="3">
            <a:schemeClr val="accent2"/>
          </a:lnRef>
          <a:fillRef idx="0">
            <a:schemeClr val="accent2"/>
          </a:fillRef>
          <a:effectRef idx="2">
            <a:schemeClr val="accent2"/>
          </a:effectRef>
          <a:fontRef idx="minor">
            <a:schemeClr val="tx1"/>
          </a:fontRef>
        </p:style>
      </p:cxnSp>
      <p:cxnSp>
        <p:nvCxnSpPr>
          <p:cNvPr id="19" name="Straight Arrow Connector 18">
            <a:extLst>
              <a:ext uri="{FF2B5EF4-FFF2-40B4-BE49-F238E27FC236}">
                <a16:creationId xmlns:a16="http://schemas.microsoft.com/office/drawing/2014/main" id="{ECA0167D-5442-48A3-9446-336E29D4C146}"/>
              </a:ext>
            </a:extLst>
          </p:cNvPr>
          <p:cNvCxnSpPr/>
          <p:nvPr/>
        </p:nvCxnSpPr>
        <p:spPr>
          <a:xfrm flipH="1">
            <a:off x="2190137" y="4198374"/>
            <a:ext cx="53610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9848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87A5566-7675-4959-86AB-FDBEF46A2F80}"/>
              </a:ext>
            </a:extLst>
          </p:cNvPr>
          <p:cNvGraphicFramePr>
            <a:graphicFrameLocks noGrp="1"/>
          </p:cNvGraphicFramePr>
          <p:nvPr>
            <p:extLst>
              <p:ext uri="{D42A27DB-BD31-4B8C-83A1-F6EECF244321}">
                <p14:modId xmlns:p14="http://schemas.microsoft.com/office/powerpoint/2010/main" val="3539277297"/>
              </p:ext>
            </p:extLst>
          </p:nvPr>
        </p:nvGraphicFramePr>
        <p:xfrm>
          <a:off x="393290" y="118573"/>
          <a:ext cx="11798710" cy="6620853"/>
        </p:xfrm>
        <a:graphic>
          <a:graphicData uri="http://schemas.openxmlformats.org/drawingml/2006/table">
            <a:tbl>
              <a:tblPr firstRow="1" firstCol="1" bandRow="1"/>
              <a:tblGrid>
                <a:gridCol w="648930">
                  <a:extLst>
                    <a:ext uri="{9D8B030D-6E8A-4147-A177-3AD203B41FA5}">
                      <a16:colId xmlns:a16="http://schemas.microsoft.com/office/drawing/2014/main" val="3504701292"/>
                    </a:ext>
                  </a:extLst>
                </a:gridCol>
                <a:gridCol w="11149780">
                  <a:extLst>
                    <a:ext uri="{9D8B030D-6E8A-4147-A177-3AD203B41FA5}">
                      <a16:colId xmlns:a16="http://schemas.microsoft.com/office/drawing/2014/main" val="2167704635"/>
                    </a:ext>
                  </a:extLst>
                </a:gridCol>
              </a:tblGrid>
              <a:tr h="219270">
                <a:tc>
                  <a:txBody>
                    <a:bodyPr/>
                    <a:lstStyle/>
                    <a:p>
                      <a:pPr>
                        <a:lnSpc>
                          <a:spcPts val="1650"/>
                        </a:lnSpc>
                        <a:spcBef>
                          <a:spcPts val="600"/>
                        </a:spcBef>
                        <a:spcAft>
                          <a:spcPts val="600"/>
                        </a:spcAft>
                      </a:pPr>
                      <a:r>
                        <a:rPr lang="en-IN" sz="1800" b="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S.N.</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tc>
                  <a:txBody>
                    <a:bodyPr/>
                    <a:lstStyle/>
                    <a:p>
                      <a:pPr>
                        <a:lnSpc>
                          <a:spcPts val="1650"/>
                        </a:lnSpc>
                        <a:spcBef>
                          <a:spcPts val="600"/>
                        </a:spcBef>
                        <a:spcAft>
                          <a:spcPts val="600"/>
                        </a:spcAft>
                      </a:pPr>
                      <a:r>
                        <a:rPr lang="en-IN" sz="1800" b="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method &amp; Description</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EEEEEE"/>
                    </a:solidFill>
                  </a:tcPr>
                </a:tc>
                <a:extLst>
                  <a:ext uri="{0D108BD9-81ED-4DB2-BD59-A6C34878D82A}">
                    <a16:rowId xmlns:a16="http://schemas.microsoft.com/office/drawing/2014/main" val="3927634197"/>
                  </a:ext>
                </a:extLst>
              </a:tr>
              <a:tr h="690333">
                <a:tc>
                  <a:txBody>
                    <a:bodyPr/>
                    <a:lstStyle/>
                    <a:p>
                      <a:pPr>
                        <a:lnSpc>
                          <a:spcPts val="1650"/>
                        </a:lnSpc>
                        <a:spcBef>
                          <a:spcPts val="600"/>
                        </a:spcBef>
                        <a:spcAft>
                          <a:spcPts val="600"/>
                        </a:spcAft>
                      </a:pP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1</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addListener(event, listener)</a:t>
                      </a:r>
                      <a:b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Adds a listener to the end of the listeners array for the specified event. No checks are made to see if the listener has already been added. Multiple calls passing the same combination of event and listener will result in the listener being added multiple times. Returns emitter, so calls can be chained.</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2919363940"/>
                  </a:ext>
                </a:extLst>
              </a:tr>
              <a:tr h="690333">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2</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on(event, listener)</a:t>
                      </a:r>
                      <a:b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Adds a listener to the end of the listeners array for the specified event. No checks are made to see if the listener has already been added. Multiple calls passing the same combination of event and listener will result in the listener being added multiple times. Returns emitter, so calls can be chained.</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1959835555"/>
                  </a:ext>
                </a:extLst>
              </a:tr>
              <a:tr h="690333">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3</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once(event, listener)</a:t>
                      </a:r>
                      <a:b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Adds a one time listener for the event. This listener is invoked only one time, after which it is removed. Returns emitter, so calls can be chained.</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3060439269"/>
                  </a:ext>
                </a:extLst>
              </a:tr>
              <a:tr h="925865">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4</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dirty="0" err="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removeListener</a:t>
                      </a:r>
                      <a:r>
                        <a:rPr lang="en-IN" sz="1800" b="1"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(event, listener)</a:t>
                      </a:r>
                      <a:b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Remove a listener from the listener array for the specified event. Caution: changes array indices in the listener array behind the listener. </a:t>
                      </a:r>
                      <a:r>
                        <a:rPr lang="en-IN" sz="1800" dirty="0" err="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removeListener</a:t>
                      </a: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 will remove, at most, one instance of a listener from the listener array. If any single listener has been added multiple times to the listener array for the specified event, then </a:t>
                      </a:r>
                      <a:r>
                        <a:rPr lang="en-IN" sz="1800" dirty="0" err="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removeListener</a:t>
                      </a: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 must be called multiple times to remove each instance. Returns emitter, so calls can be chained.</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882583001"/>
                  </a:ext>
                </a:extLst>
              </a:tr>
              <a:tr h="690333">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5</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dirty="0" err="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removeAllListeners</a:t>
                      </a:r>
                      <a:r>
                        <a:rPr lang="en-IN" sz="1800" b="1"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([event])</a:t>
                      </a:r>
                      <a:b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Removes all listeners, or those of the specified event. It's not a good idea to remove listeners that were added elsewhere in the code, especially when it's on an emitter that you didn't create (e.g. sockets or file streams). Returns emitter, so calls can be chained.</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503507393"/>
                  </a:ext>
                </a:extLst>
              </a:tr>
              <a:tr h="690333">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6</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dirty="0" err="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setMaxListeners</a:t>
                      </a:r>
                      <a:r>
                        <a:rPr lang="en-IN" sz="1800" b="1"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(n)</a:t>
                      </a:r>
                      <a:b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By default </a:t>
                      </a:r>
                      <a:r>
                        <a:rPr lang="en-IN" sz="1800" dirty="0" err="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EventEmitters</a:t>
                      </a: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 will print a warning if more than 10 listeners are added for a particular event. This is a useful default which helps finding memory leaks. Obviously not all Emitters should be limited to 10. This function allows that to be increased. Set to zero for unlimited.</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3794326774"/>
                  </a:ext>
                </a:extLst>
              </a:tr>
              <a:tr h="454802">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7</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listeners(event)</a:t>
                      </a:r>
                      <a:b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Returns an array of listeners for the specified event.</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1246691048"/>
                  </a:ext>
                </a:extLst>
              </a:tr>
              <a:tr h="454802">
                <a:tc>
                  <a:txBody>
                    <a:bodyPr/>
                    <a:lstStyle/>
                    <a:p>
                      <a:pPr>
                        <a:lnSpc>
                          <a:spcPts val="1650"/>
                        </a:lnSpc>
                        <a:spcBef>
                          <a:spcPts val="600"/>
                        </a:spcBef>
                        <a:spcAft>
                          <a:spcPts val="600"/>
                        </a:spcAft>
                      </a:pPr>
                      <a:r>
                        <a:rPr lang="en-IN" sz="180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8</a:t>
                      </a:r>
                      <a:endParaRPr lang="en-IN" sz="180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tc>
                  <a:txBody>
                    <a:bodyPr/>
                    <a:lstStyle/>
                    <a:p>
                      <a:pPr>
                        <a:lnSpc>
                          <a:spcPts val="1650"/>
                        </a:lnSpc>
                        <a:spcBef>
                          <a:spcPts val="600"/>
                        </a:spcBef>
                        <a:spcAft>
                          <a:spcPts val="600"/>
                        </a:spcAft>
                      </a:pPr>
                      <a:r>
                        <a:rPr lang="en-IN" sz="1800" b="1"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emit(event, [arg1], [arg2], [...])</a:t>
                      </a:r>
                      <a:b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br>
                      <a:r>
                        <a:rPr lang="en-IN" sz="1800" dirty="0">
                          <a:solidFill>
                            <a:srgbClr val="313131"/>
                          </a:solidFill>
                          <a:effectLst/>
                          <a:latin typeface="Garamond" panose="02020404030301010803" pitchFamily="18" charset="0"/>
                          <a:ea typeface="Times New Roman" panose="02020603050405020304" pitchFamily="18" charset="0"/>
                          <a:cs typeface="Times New Roman" panose="02020603050405020304" pitchFamily="18" charset="0"/>
                        </a:rPr>
                        <a:t>Execute each of the listeners in order with the supplied arguments. Returns true if event had listeners, false otherwise.</a:t>
                      </a:r>
                      <a:endParaRPr lang="en-IN" sz="1800" dirty="0">
                        <a:effectLst/>
                        <a:latin typeface="Garamond" panose="02020404030301010803" pitchFamily="18" charset="0"/>
                        <a:ea typeface="Calibri" panose="020F0502020204030204" pitchFamily="34" charset="0"/>
                        <a:cs typeface="Times New Roman" panose="02020603050405020304" pitchFamily="18" charset="0"/>
                      </a:endParaRPr>
                    </a:p>
                  </a:txBody>
                  <a:tcPr marL="14740" marR="14740" marT="14740" marB="14740" anchor="ctr">
                    <a:lnL w="12700" cap="flat" cmpd="sng" algn="ctr">
                      <a:solidFill>
                        <a:srgbClr val="D6D6D6"/>
                      </a:solidFill>
                      <a:prstDash val="solid"/>
                      <a:round/>
                      <a:headEnd type="none" w="med" len="med"/>
                      <a:tailEnd type="none" w="med" len="med"/>
                    </a:lnL>
                    <a:lnR w="12700" cap="flat" cmpd="sng" algn="ctr">
                      <a:solidFill>
                        <a:srgbClr val="D6D6D6"/>
                      </a:solidFill>
                      <a:prstDash val="solid"/>
                      <a:round/>
                      <a:headEnd type="none" w="med" len="med"/>
                      <a:tailEnd type="none" w="med" len="med"/>
                    </a:lnR>
                    <a:lnT w="12700" cap="flat" cmpd="sng" algn="ctr">
                      <a:solidFill>
                        <a:srgbClr val="D6D6D6"/>
                      </a:solidFill>
                      <a:prstDash val="solid"/>
                      <a:round/>
                      <a:headEnd type="none" w="med" len="med"/>
                      <a:tailEnd type="none" w="med" len="med"/>
                    </a:lnT>
                    <a:lnB w="12700" cap="flat" cmpd="sng" algn="ctr">
                      <a:solidFill>
                        <a:srgbClr val="D6D6D6"/>
                      </a:solidFill>
                      <a:prstDash val="solid"/>
                      <a:round/>
                      <a:headEnd type="none" w="med" len="med"/>
                      <a:tailEnd type="none" w="med" len="med"/>
                    </a:lnB>
                    <a:solidFill>
                      <a:srgbClr val="F7F7F7"/>
                    </a:solidFill>
                  </a:tcPr>
                </a:tc>
                <a:extLst>
                  <a:ext uri="{0D108BD9-81ED-4DB2-BD59-A6C34878D82A}">
                    <a16:rowId xmlns:a16="http://schemas.microsoft.com/office/drawing/2014/main" val="3584301397"/>
                  </a:ext>
                </a:extLst>
              </a:tr>
            </a:tbl>
          </a:graphicData>
        </a:graphic>
      </p:graphicFrame>
    </p:spTree>
    <p:extLst>
      <p:ext uri="{BB962C8B-B14F-4D97-AF65-F5344CB8AC3E}">
        <p14:creationId xmlns:p14="http://schemas.microsoft.com/office/powerpoint/2010/main" val="2156395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F8B8CA-A461-84FE-F0EA-7A61E1EB8104}"/>
              </a:ext>
            </a:extLst>
          </p:cNvPr>
          <p:cNvSpPr txBox="1"/>
          <p:nvPr/>
        </p:nvSpPr>
        <p:spPr>
          <a:xfrm>
            <a:off x="1416377" y="243512"/>
            <a:ext cx="6132136" cy="6370975"/>
          </a:xfrm>
          <a:prstGeom prst="rect">
            <a:avLst/>
          </a:prstGeom>
          <a:solidFill>
            <a:schemeClr val="tx1"/>
          </a:solidFill>
        </p:spPr>
        <p:txBody>
          <a:bodyPr wrap="square">
            <a:spAutoFit/>
          </a:bodyPr>
          <a:lstStyle/>
          <a:p>
            <a:r>
              <a:rPr lang="en-IN" sz="1200" b="0" dirty="0">
                <a:solidFill>
                  <a:srgbClr val="569CD6"/>
                </a:solidFill>
                <a:effectLst/>
                <a:latin typeface="Consolas" panose="020B0609020204030204" pitchFamily="49" charset="0"/>
              </a:rPr>
              <a:t>var</a:t>
            </a:r>
            <a:r>
              <a:rPr lang="en-IN" sz="1200" b="0" dirty="0">
                <a:solidFill>
                  <a:srgbClr val="D4D4D4"/>
                </a:solidFill>
                <a:effectLst/>
                <a:latin typeface="Consolas" panose="020B0609020204030204" pitchFamily="49" charset="0"/>
              </a:rPr>
              <a:t> </a:t>
            </a:r>
            <a:r>
              <a:rPr lang="en-IN" sz="1200" b="0" dirty="0">
                <a:solidFill>
                  <a:srgbClr val="4EC9B0"/>
                </a:solidFill>
                <a:effectLst/>
                <a:latin typeface="Consolas" panose="020B0609020204030204" pitchFamily="49" charset="0"/>
              </a:rPr>
              <a:t>events</a:t>
            </a:r>
            <a:r>
              <a:rPr lang="en-IN" sz="1200" b="0" dirty="0">
                <a:solidFill>
                  <a:srgbClr val="D4D4D4"/>
                </a:solidFill>
                <a:effectLst/>
                <a:latin typeface="Consolas" panose="020B0609020204030204" pitchFamily="49" charset="0"/>
              </a:rPr>
              <a:t> = </a:t>
            </a:r>
            <a:r>
              <a:rPr lang="en-IN" sz="1200" b="0" dirty="0">
                <a:solidFill>
                  <a:srgbClr val="DCDCAA"/>
                </a:solidFill>
                <a:effectLst/>
                <a:latin typeface="Consolas" panose="020B0609020204030204" pitchFamily="49" charset="0"/>
              </a:rPr>
              <a:t>require</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'events'</a:t>
            </a:r>
            <a:r>
              <a:rPr lang="en-IN" sz="1200" b="0" dirty="0">
                <a:solidFill>
                  <a:srgbClr val="D4D4D4"/>
                </a:solidFill>
                <a:effectLst/>
                <a:latin typeface="Consolas" panose="020B0609020204030204" pitchFamily="49" charset="0"/>
              </a:rPr>
              <a:t>);</a:t>
            </a:r>
          </a:p>
          <a:p>
            <a:r>
              <a:rPr lang="en-IN" sz="1200" b="0" dirty="0">
                <a:solidFill>
                  <a:srgbClr val="569CD6"/>
                </a:solidFill>
                <a:effectLst/>
                <a:latin typeface="Consolas" panose="020B0609020204030204" pitchFamily="49" charset="0"/>
              </a:rPr>
              <a:t>var</a:t>
            </a:r>
            <a:r>
              <a:rPr lang="en-IN" sz="1200" b="0" dirty="0">
                <a:solidFill>
                  <a:srgbClr val="D4D4D4"/>
                </a:solidFill>
                <a:effectLst/>
                <a:latin typeface="Consolas" panose="020B0609020204030204" pitchFamily="49" charset="0"/>
              </a:rPr>
              <a:t> </a:t>
            </a:r>
            <a:r>
              <a:rPr lang="en-IN" sz="1200" b="0" dirty="0" err="1">
                <a:solidFill>
                  <a:srgbClr val="9CDCFE"/>
                </a:solidFill>
                <a:effectLst/>
                <a:latin typeface="Consolas" panose="020B0609020204030204" pitchFamily="49" charset="0"/>
              </a:rPr>
              <a:t>eventEmitter</a:t>
            </a:r>
            <a:r>
              <a:rPr lang="en-IN" sz="1200" b="0" dirty="0">
                <a:solidFill>
                  <a:srgbClr val="D4D4D4"/>
                </a:solidFill>
                <a:effectLst/>
                <a:latin typeface="Consolas" panose="020B0609020204030204" pitchFamily="49" charset="0"/>
              </a:rPr>
              <a:t> = </a:t>
            </a:r>
            <a:r>
              <a:rPr lang="en-IN" sz="1200" b="0" dirty="0">
                <a:solidFill>
                  <a:srgbClr val="569CD6"/>
                </a:solidFill>
                <a:effectLst/>
                <a:latin typeface="Consolas" panose="020B0609020204030204" pitchFamily="49" charset="0"/>
              </a:rPr>
              <a:t>new</a:t>
            </a:r>
            <a:r>
              <a:rPr lang="en-IN" sz="1200" b="0" dirty="0">
                <a:solidFill>
                  <a:srgbClr val="D4D4D4"/>
                </a:solidFill>
                <a:effectLst/>
                <a:latin typeface="Consolas" panose="020B0609020204030204" pitchFamily="49" charset="0"/>
              </a:rPr>
              <a:t> </a:t>
            </a:r>
            <a:r>
              <a:rPr lang="en-IN" sz="1200" b="0" dirty="0" err="1">
                <a:solidFill>
                  <a:srgbClr val="4EC9B0"/>
                </a:solidFill>
                <a:effectLst/>
                <a:latin typeface="Consolas" panose="020B0609020204030204" pitchFamily="49" charset="0"/>
              </a:rPr>
              <a:t>events</a:t>
            </a:r>
            <a:r>
              <a:rPr lang="en-IN" sz="1200" b="0" dirty="0" err="1">
                <a:solidFill>
                  <a:srgbClr val="D4D4D4"/>
                </a:solidFill>
                <a:effectLst/>
                <a:latin typeface="Consolas" panose="020B0609020204030204" pitchFamily="49" charset="0"/>
              </a:rPr>
              <a:t>.</a:t>
            </a:r>
            <a:r>
              <a:rPr lang="en-IN" sz="1200" b="0" dirty="0" err="1">
                <a:solidFill>
                  <a:srgbClr val="4EC9B0"/>
                </a:solidFill>
                <a:effectLst/>
                <a:latin typeface="Consolas" panose="020B0609020204030204" pitchFamily="49" charset="0"/>
              </a:rPr>
              <a:t>EventEmitter</a:t>
            </a:r>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r>
              <a:rPr lang="en-IN" sz="1200" b="0" dirty="0">
                <a:solidFill>
                  <a:srgbClr val="6A9955"/>
                </a:solidFill>
                <a:effectLst/>
                <a:latin typeface="Consolas" panose="020B0609020204030204" pitchFamily="49" charset="0"/>
              </a:rPr>
              <a:t>// listener #1</a:t>
            </a:r>
            <a:endParaRPr lang="en-IN" sz="1200" b="0" dirty="0">
              <a:solidFill>
                <a:srgbClr val="D4D4D4"/>
              </a:solidFill>
              <a:effectLst/>
              <a:latin typeface="Consolas" panose="020B0609020204030204" pitchFamily="49" charset="0"/>
            </a:endParaRPr>
          </a:p>
          <a:p>
            <a:r>
              <a:rPr lang="en-IN" sz="1200" b="0" dirty="0">
                <a:solidFill>
                  <a:srgbClr val="569CD6"/>
                </a:solidFill>
                <a:effectLst/>
                <a:latin typeface="Consolas" panose="020B0609020204030204" pitchFamily="49" charset="0"/>
              </a:rPr>
              <a:t>var</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listner1</a:t>
            </a:r>
            <a:r>
              <a:rPr lang="en-IN" sz="1200" b="0" dirty="0">
                <a:solidFill>
                  <a:srgbClr val="D4D4D4"/>
                </a:solidFill>
                <a:effectLst/>
                <a:latin typeface="Consolas" panose="020B0609020204030204" pitchFamily="49" charset="0"/>
              </a:rPr>
              <a:t> = </a:t>
            </a:r>
            <a:r>
              <a:rPr lang="en-IN" sz="1200" b="0" dirty="0">
                <a:solidFill>
                  <a:srgbClr val="569CD6"/>
                </a:solidFill>
                <a:effectLst/>
                <a:latin typeface="Consolas" panose="020B0609020204030204" pitchFamily="49" charset="0"/>
              </a:rPr>
              <a:t>function</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listner1</a:t>
            </a:r>
            <a:r>
              <a:rPr lang="en-IN" sz="1200" b="0" dirty="0">
                <a:solidFill>
                  <a:srgbClr val="D4D4D4"/>
                </a:solidFill>
                <a:effectLst/>
                <a:latin typeface="Consolas" panose="020B0609020204030204" pitchFamily="49" charset="0"/>
              </a:rPr>
              <a:t>(</a:t>
            </a:r>
            <a:r>
              <a:rPr lang="en-IN" sz="1200" b="0" dirty="0">
                <a:solidFill>
                  <a:srgbClr val="9CDCFE"/>
                </a:solidFill>
                <a:effectLst/>
                <a:latin typeface="Consolas" panose="020B0609020204030204" pitchFamily="49" charset="0"/>
              </a:rPr>
              <a:t>n</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'listner1 executed.'</a:t>
            </a:r>
            <a:r>
              <a:rPr lang="en-IN" sz="1200" b="0" dirty="0">
                <a:solidFill>
                  <a:srgbClr val="D4D4D4"/>
                </a:solidFill>
                <a:effectLst/>
                <a:latin typeface="Consolas" panose="020B0609020204030204" pitchFamily="49" charset="0"/>
              </a:rPr>
              <a:t>+</a:t>
            </a:r>
            <a:r>
              <a:rPr lang="en-IN" sz="1200" b="0" dirty="0" err="1">
                <a:solidFill>
                  <a:srgbClr val="9CDCFE"/>
                </a:solidFill>
                <a:effectLst/>
                <a:latin typeface="Consolas" panose="020B0609020204030204" pitchFamily="49" charset="0"/>
              </a:rPr>
              <a:t>n</a:t>
            </a:r>
            <a:r>
              <a:rPr lang="en-IN" sz="1200" b="0" dirty="0" err="1">
                <a:solidFill>
                  <a:srgbClr val="D4D4D4"/>
                </a:solidFill>
                <a:effectLst/>
                <a:latin typeface="Consolas" panose="020B0609020204030204" pitchFamily="49" charset="0"/>
              </a:rPr>
              <a:t>+</a:t>
            </a:r>
            <a:r>
              <a:rPr lang="en-IN" sz="1200" b="0" dirty="0" err="1">
                <a:solidFill>
                  <a:srgbClr val="9CDCFE"/>
                </a:solidFill>
                <a:effectLst/>
                <a:latin typeface="Consolas" panose="020B0609020204030204" pitchFamily="49" charset="0"/>
              </a:rPr>
              <a:t>n</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r>
              <a:rPr lang="en-IN" sz="1200" b="0" dirty="0">
                <a:solidFill>
                  <a:srgbClr val="6A9955"/>
                </a:solidFill>
                <a:effectLst/>
                <a:latin typeface="Consolas" panose="020B0609020204030204" pitchFamily="49" charset="0"/>
              </a:rPr>
              <a:t>// listener #2</a:t>
            </a:r>
            <a:endParaRPr lang="en-IN" sz="1200" b="0" dirty="0">
              <a:solidFill>
                <a:srgbClr val="D4D4D4"/>
              </a:solidFill>
              <a:effectLst/>
              <a:latin typeface="Consolas" panose="020B0609020204030204" pitchFamily="49" charset="0"/>
            </a:endParaRPr>
          </a:p>
          <a:p>
            <a:r>
              <a:rPr lang="en-IN" sz="1200" b="0" dirty="0">
                <a:solidFill>
                  <a:srgbClr val="569CD6"/>
                </a:solidFill>
                <a:effectLst/>
                <a:latin typeface="Consolas" panose="020B0609020204030204" pitchFamily="49" charset="0"/>
              </a:rPr>
              <a:t>var</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listner2</a:t>
            </a:r>
            <a:r>
              <a:rPr lang="en-IN" sz="1200" b="0" dirty="0">
                <a:solidFill>
                  <a:srgbClr val="D4D4D4"/>
                </a:solidFill>
                <a:effectLst/>
                <a:latin typeface="Consolas" panose="020B0609020204030204" pitchFamily="49" charset="0"/>
              </a:rPr>
              <a:t> = </a:t>
            </a:r>
            <a:r>
              <a:rPr lang="en-IN" sz="1200" b="0" dirty="0">
                <a:solidFill>
                  <a:srgbClr val="569CD6"/>
                </a:solidFill>
                <a:effectLst/>
                <a:latin typeface="Consolas" panose="020B0609020204030204" pitchFamily="49" charset="0"/>
              </a:rPr>
              <a:t>function</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listner2</a:t>
            </a:r>
            <a:r>
              <a:rPr lang="en-IN" sz="1200" b="0" dirty="0">
                <a:solidFill>
                  <a:srgbClr val="D4D4D4"/>
                </a:solidFill>
                <a:effectLst/>
                <a:latin typeface="Consolas" panose="020B0609020204030204" pitchFamily="49" charset="0"/>
              </a:rPr>
              <a:t>(</a:t>
            </a:r>
            <a:r>
              <a:rPr lang="en-IN" sz="1200" b="0" dirty="0">
                <a:solidFill>
                  <a:srgbClr val="9CDCFE"/>
                </a:solidFill>
                <a:effectLst/>
                <a:latin typeface="Consolas" panose="020B0609020204030204" pitchFamily="49" charset="0"/>
              </a:rPr>
              <a:t>n</a:t>
            </a:r>
            <a:r>
              <a:rPr lang="en-IN" sz="1200" b="0" dirty="0">
                <a:solidFill>
                  <a:srgbClr val="D4D4D4"/>
                </a:solidFill>
                <a:effectLst/>
                <a:latin typeface="Consolas" panose="020B0609020204030204" pitchFamily="49" charset="0"/>
              </a:rPr>
              <a:t>) {</a:t>
            </a:r>
          </a:p>
          <a:p>
            <a:r>
              <a:rPr lang="en-IN" sz="1200" b="0" dirty="0">
                <a:solidFill>
                  <a:srgbClr val="D4D4D4"/>
                </a:solidFill>
                <a:effectLst/>
                <a:latin typeface="Consolas" panose="020B0609020204030204" pitchFamily="49" charset="0"/>
              </a:rPr>
              <a:t>  </a:t>
            </a:r>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'listner2 </a:t>
            </a:r>
            <a:r>
              <a:rPr lang="en-IN" sz="1200" b="0" dirty="0" err="1">
                <a:solidFill>
                  <a:srgbClr val="CE9178"/>
                </a:solidFill>
                <a:effectLst/>
                <a:latin typeface="Consolas" panose="020B0609020204030204" pitchFamily="49" charset="0"/>
              </a:rPr>
              <a:t>executed.'</a:t>
            </a:r>
            <a:r>
              <a:rPr lang="en-IN" sz="1200" b="0" dirty="0" err="1">
                <a:solidFill>
                  <a:srgbClr val="D4D4D4"/>
                </a:solidFill>
                <a:effectLst/>
                <a:latin typeface="Consolas" panose="020B0609020204030204" pitchFamily="49" charset="0"/>
              </a:rPr>
              <a:t>+</a:t>
            </a:r>
            <a:r>
              <a:rPr lang="en-IN" sz="1200" b="0" dirty="0" err="1">
                <a:solidFill>
                  <a:srgbClr val="9CDCFE"/>
                </a:solidFill>
                <a:effectLst/>
                <a:latin typeface="Consolas" panose="020B0609020204030204" pitchFamily="49" charset="0"/>
              </a:rPr>
              <a:t>n</a:t>
            </a:r>
            <a:r>
              <a:rPr lang="en-IN" sz="1200" b="0" dirty="0">
                <a:solidFill>
                  <a:srgbClr val="D4D4D4"/>
                </a:solidFill>
                <a:effectLst/>
                <a:latin typeface="Consolas" panose="020B0609020204030204" pitchFamily="49" charset="0"/>
              </a:rPr>
              <a:t>*</a:t>
            </a:r>
            <a:r>
              <a:rPr lang="en-IN" sz="1200" b="0" dirty="0">
                <a:solidFill>
                  <a:srgbClr val="9CDCFE"/>
                </a:solidFill>
                <a:effectLst/>
                <a:latin typeface="Consolas" panose="020B0609020204030204" pitchFamily="49" charset="0"/>
              </a:rPr>
              <a:t>n</a:t>
            </a:r>
            <a:r>
              <a:rPr lang="en-IN" sz="1200" b="0" dirty="0">
                <a:solidFill>
                  <a:srgbClr val="D4D4D4"/>
                </a:solidFill>
                <a:effectLst/>
                <a:latin typeface="Consolas" panose="020B0609020204030204" pitchFamily="49" charset="0"/>
              </a:rPr>
              <a:t>);</a:t>
            </a:r>
          </a:p>
          <a:p>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r>
              <a:rPr lang="en-IN" sz="1200" b="0" dirty="0">
                <a:solidFill>
                  <a:srgbClr val="6A9955"/>
                </a:solidFill>
                <a:effectLst/>
                <a:latin typeface="Consolas" panose="020B0609020204030204" pitchFamily="49" charset="0"/>
              </a:rPr>
              <a:t>// Bind the connection event with the listner1 function</a:t>
            </a:r>
            <a:endParaRPr lang="en-IN" sz="1200" b="0" dirty="0">
              <a:solidFill>
                <a:srgbClr val="D4D4D4"/>
              </a:solidFill>
              <a:effectLst/>
              <a:latin typeface="Consolas" panose="020B0609020204030204" pitchFamily="49" charset="0"/>
            </a:endParaRPr>
          </a:p>
          <a:p>
            <a:r>
              <a:rPr lang="en-IN" sz="1200" b="0" dirty="0" err="1">
                <a:solidFill>
                  <a:srgbClr val="9CDCFE"/>
                </a:solidFill>
                <a:effectLst/>
                <a:latin typeface="Consolas" panose="020B0609020204030204" pitchFamily="49" charset="0"/>
              </a:rPr>
              <a:t>eventEmitter</a:t>
            </a:r>
            <a:r>
              <a:rPr lang="en-IN" sz="1200" b="0" dirty="0" err="1">
                <a:solidFill>
                  <a:srgbClr val="D4D4D4"/>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addListener</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'connection'</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listner1</a:t>
            </a:r>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r>
              <a:rPr lang="en-IN" sz="1200" b="0" dirty="0">
                <a:solidFill>
                  <a:srgbClr val="6A9955"/>
                </a:solidFill>
                <a:effectLst/>
                <a:latin typeface="Consolas" panose="020B0609020204030204" pitchFamily="49" charset="0"/>
              </a:rPr>
              <a:t>// Bind the connection event with the listner2 function</a:t>
            </a:r>
            <a:endParaRPr lang="en-IN" sz="1200" b="0" dirty="0">
              <a:solidFill>
                <a:srgbClr val="D4D4D4"/>
              </a:solidFill>
              <a:effectLst/>
              <a:latin typeface="Consolas" panose="020B0609020204030204" pitchFamily="49" charset="0"/>
            </a:endParaRPr>
          </a:p>
          <a:p>
            <a:r>
              <a:rPr lang="en-IN" sz="1200" b="0" dirty="0" err="1">
                <a:solidFill>
                  <a:srgbClr val="9CDCFE"/>
                </a:solidFill>
                <a:effectLst/>
                <a:latin typeface="Consolas" panose="020B0609020204030204" pitchFamily="49" charset="0"/>
              </a:rPr>
              <a:t>eventEmitter</a:t>
            </a:r>
            <a:r>
              <a:rPr lang="en-IN" sz="1200" b="0" dirty="0" err="1">
                <a:solidFill>
                  <a:srgbClr val="D4D4D4"/>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on</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'connection'</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listner2</a:t>
            </a:r>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br>
              <a:rPr lang="en-IN" sz="1200" b="0" dirty="0">
                <a:solidFill>
                  <a:srgbClr val="D4D4D4"/>
                </a:solidFill>
                <a:effectLst/>
                <a:latin typeface="Consolas" panose="020B0609020204030204" pitchFamily="49" charset="0"/>
              </a:rPr>
            </a:br>
            <a:r>
              <a:rPr lang="en-IN" sz="1200" b="0" dirty="0">
                <a:solidFill>
                  <a:srgbClr val="6A9955"/>
                </a:solidFill>
                <a:effectLst/>
                <a:latin typeface="Consolas" panose="020B0609020204030204" pitchFamily="49" charset="0"/>
              </a:rPr>
              <a:t>// Fire the connection event </a:t>
            </a:r>
            <a:endParaRPr lang="en-IN" sz="1200" b="0" dirty="0">
              <a:solidFill>
                <a:srgbClr val="D4D4D4"/>
              </a:solidFill>
              <a:effectLst/>
              <a:latin typeface="Consolas" panose="020B0609020204030204" pitchFamily="49" charset="0"/>
            </a:endParaRPr>
          </a:p>
          <a:p>
            <a:r>
              <a:rPr lang="en-IN" sz="1200" b="0" dirty="0" err="1">
                <a:solidFill>
                  <a:srgbClr val="9CDCFE"/>
                </a:solidFill>
                <a:effectLst/>
                <a:latin typeface="Consolas" panose="020B0609020204030204" pitchFamily="49" charset="0"/>
              </a:rPr>
              <a:t>eventEmitter</a:t>
            </a:r>
            <a:r>
              <a:rPr lang="en-IN" sz="1200" b="0" dirty="0" err="1">
                <a:solidFill>
                  <a:srgbClr val="D4D4D4"/>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emit</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'connection'</a:t>
            </a:r>
            <a:r>
              <a:rPr lang="en-IN" sz="1200" b="0" dirty="0">
                <a:solidFill>
                  <a:srgbClr val="D4D4D4"/>
                </a:solidFill>
                <a:effectLst/>
                <a:latin typeface="Consolas" panose="020B0609020204030204" pitchFamily="49" charset="0"/>
              </a:rPr>
              <a:t>,</a:t>
            </a:r>
            <a:r>
              <a:rPr lang="en-IN" sz="1200" b="0" dirty="0">
                <a:solidFill>
                  <a:srgbClr val="B5CEA8"/>
                </a:solidFill>
                <a:effectLst/>
                <a:latin typeface="Consolas" panose="020B0609020204030204" pitchFamily="49" charset="0"/>
              </a:rPr>
              <a:t>5</a:t>
            </a:r>
            <a:r>
              <a:rPr lang="en-IN" sz="1200" b="0" dirty="0">
                <a:solidFill>
                  <a:srgbClr val="D4D4D4"/>
                </a:solidFill>
                <a:effectLst/>
                <a:latin typeface="Consolas" panose="020B0609020204030204" pitchFamily="49" charset="0"/>
              </a:rPr>
              <a:t>);</a:t>
            </a:r>
          </a:p>
          <a:p>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err="1">
                <a:solidFill>
                  <a:srgbClr val="9CDCFE"/>
                </a:solidFill>
                <a:effectLst/>
                <a:latin typeface="Consolas" panose="020B0609020204030204" pitchFamily="49" charset="0"/>
              </a:rPr>
              <a:t>eventEmitter</a:t>
            </a:r>
            <a:r>
              <a:rPr lang="en-IN" sz="1200" b="0" dirty="0" err="1">
                <a:solidFill>
                  <a:srgbClr val="D4D4D4"/>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listeners</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'connection'</a:t>
            </a:r>
            <a:r>
              <a:rPr lang="en-IN" sz="1200" b="0" dirty="0">
                <a:solidFill>
                  <a:srgbClr val="D4D4D4"/>
                </a:solidFill>
                <a:effectLst/>
                <a:latin typeface="Consolas" panose="020B0609020204030204" pitchFamily="49" charset="0"/>
              </a:rPr>
              <a:t>))</a:t>
            </a:r>
          </a:p>
          <a:p>
            <a:r>
              <a:rPr lang="en-IN" sz="1200" b="0" dirty="0">
                <a:solidFill>
                  <a:srgbClr val="6A9955"/>
                </a:solidFill>
                <a:effectLst/>
                <a:latin typeface="Consolas" panose="020B0609020204030204" pitchFamily="49" charset="0"/>
              </a:rPr>
              <a:t>// Remove the binding of listner1 function</a:t>
            </a:r>
            <a:endParaRPr lang="en-IN" sz="1200" b="0" dirty="0">
              <a:solidFill>
                <a:srgbClr val="D4D4D4"/>
              </a:solidFill>
              <a:effectLst/>
              <a:latin typeface="Consolas" panose="020B0609020204030204" pitchFamily="49" charset="0"/>
            </a:endParaRPr>
          </a:p>
          <a:p>
            <a:r>
              <a:rPr lang="en-IN" sz="1200" b="0" dirty="0" err="1">
                <a:solidFill>
                  <a:srgbClr val="9CDCFE"/>
                </a:solidFill>
                <a:effectLst/>
                <a:latin typeface="Consolas" panose="020B0609020204030204" pitchFamily="49" charset="0"/>
              </a:rPr>
              <a:t>eventEmitter</a:t>
            </a:r>
            <a:r>
              <a:rPr lang="en-IN" sz="1200" b="0" dirty="0" err="1">
                <a:solidFill>
                  <a:srgbClr val="D4D4D4"/>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removeListener</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'connection'</a:t>
            </a:r>
            <a:r>
              <a:rPr lang="en-IN" sz="1200" b="0" dirty="0">
                <a:solidFill>
                  <a:srgbClr val="D4D4D4"/>
                </a:solidFill>
                <a:effectLst/>
                <a:latin typeface="Consolas" panose="020B0609020204030204" pitchFamily="49" charset="0"/>
              </a:rPr>
              <a:t>, </a:t>
            </a:r>
            <a:r>
              <a:rPr lang="en-IN" sz="1200" b="0" dirty="0">
                <a:solidFill>
                  <a:srgbClr val="DCDCAA"/>
                </a:solidFill>
                <a:effectLst/>
                <a:latin typeface="Consolas" panose="020B0609020204030204" pitchFamily="49" charset="0"/>
              </a:rPr>
              <a:t>listner1</a:t>
            </a:r>
            <a:r>
              <a:rPr lang="en-IN" sz="1200" b="0" dirty="0">
                <a:solidFill>
                  <a:srgbClr val="D4D4D4"/>
                </a:solidFill>
                <a:effectLst/>
                <a:latin typeface="Consolas" panose="020B0609020204030204" pitchFamily="49" charset="0"/>
              </a:rPr>
              <a:t>);</a:t>
            </a:r>
          </a:p>
          <a:p>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"Listner1 will not listen now."</a:t>
            </a:r>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r>
              <a:rPr lang="en-IN" sz="1200" b="0" dirty="0">
                <a:solidFill>
                  <a:srgbClr val="6A9955"/>
                </a:solidFill>
                <a:effectLst/>
                <a:latin typeface="Consolas" panose="020B0609020204030204" pitchFamily="49" charset="0"/>
              </a:rPr>
              <a:t>// Fire the connection event </a:t>
            </a:r>
            <a:endParaRPr lang="en-IN" sz="1200" b="0" dirty="0">
              <a:solidFill>
                <a:srgbClr val="D4D4D4"/>
              </a:solidFill>
              <a:effectLst/>
              <a:latin typeface="Consolas" panose="020B0609020204030204" pitchFamily="49" charset="0"/>
            </a:endParaRPr>
          </a:p>
          <a:p>
            <a:r>
              <a:rPr lang="en-IN" sz="1200" b="0" dirty="0" err="1">
                <a:solidFill>
                  <a:srgbClr val="9CDCFE"/>
                </a:solidFill>
                <a:effectLst/>
                <a:latin typeface="Consolas" panose="020B0609020204030204" pitchFamily="49" charset="0"/>
              </a:rPr>
              <a:t>eventEmitter</a:t>
            </a:r>
            <a:r>
              <a:rPr lang="en-IN" sz="1200" b="0" dirty="0" err="1">
                <a:solidFill>
                  <a:srgbClr val="D4D4D4"/>
                </a:solidFill>
                <a:effectLst/>
                <a:latin typeface="Consolas" panose="020B0609020204030204" pitchFamily="49" charset="0"/>
              </a:rPr>
              <a:t>.</a:t>
            </a:r>
            <a:r>
              <a:rPr lang="en-IN" sz="1200" b="0" dirty="0" err="1">
                <a:solidFill>
                  <a:srgbClr val="DCDCAA"/>
                </a:solidFill>
                <a:effectLst/>
                <a:latin typeface="Consolas" panose="020B0609020204030204" pitchFamily="49" charset="0"/>
              </a:rPr>
              <a:t>emit</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'connection'</a:t>
            </a:r>
            <a:r>
              <a:rPr lang="en-IN" sz="1200" b="0" dirty="0">
                <a:solidFill>
                  <a:srgbClr val="D4D4D4"/>
                </a:solidFill>
                <a:effectLst/>
                <a:latin typeface="Consolas" panose="020B0609020204030204" pitchFamily="49" charset="0"/>
              </a:rPr>
              <a:t>,</a:t>
            </a:r>
            <a:r>
              <a:rPr lang="en-IN" sz="1200" b="0" dirty="0">
                <a:solidFill>
                  <a:srgbClr val="B5CEA8"/>
                </a:solidFill>
                <a:effectLst/>
                <a:latin typeface="Consolas" panose="020B0609020204030204" pitchFamily="49" charset="0"/>
              </a:rPr>
              <a:t>7</a:t>
            </a:r>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br>
              <a:rPr lang="en-IN" sz="1200" b="0" dirty="0">
                <a:solidFill>
                  <a:srgbClr val="D4D4D4"/>
                </a:solidFill>
                <a:effectLst/>
                <a:latin typeface="Consolas" panose="020B0609020204030204" pitchFamily="49" charset="0"/>
              </a:rPr>
            </a:br>
            <a:r>
              <a:rPr lang="en-IN" sz="1200" b="0" dirty="0">
                <a:solidFill>
                  <a:srgbClr val="9CDCFE"/>
                </a:solidFill>
                <a:effectLst/>
                <a:latin typeface="Consolas" panose="020B0609020204030204" pitchFamily="49" charset="0"/>
              </a:rPr>
              <a:t>console</a:t>
            </a:r>
            <a:r>
              <a:rPr lang="en-IN" sz="1200" b="0" dirty="0">
                <a:solidFill>
                  <a:srgbClr val="D4D4D4"/>
                </a:solidFill>
                <a:effectLst/>
                <a:latin typeface="Consolas" panose="020B0609020204030204" pitchFamily="49" charset="0"/>
              </a:rPr>
              <a:t>.</a:t>
            </a:r>
            <a:r>
              <a:rPr lang="en-IN" sz="1200" b="0" dirty="0">
                <a:solidFill>
                  <a:srgbClr val="DCDCAA"/>
                </a:solidFill>
                <a:effectLst/>
                <a:latin typeface="Consolas" panose="020B0609020204030204" pitchFamily="49" charset="0"/>
              </a:rPr>
              <a:t>log</a:t>
            </a:r>
            <a:r>
              <a:rPr lang="en-IN" sz="1200" b="0" dirty="0">
                <a:solidFill>
                  <a:srgbClr val="D4D4D4"/>
                </a:solidFill>
                <a:effectLst/>
                <a:latin typeface="Consolas" panose="020B0609020204030204" pitchFamily="49" charset="0"/>
              </a:rPr>
              <a:t>(</a:t>
            </a:r>
            <a:r>
              <a:rPr lang="en-IN" sz="1200" b="0" dirty="0">
                <a:solidFill>
                  <a:srgbClr val="CE9178"/>
                </a:solidFill>
                <a:effectLst/>
                <a:latin typeface="Consolas" panose="020B0609020204030204" pitchFamily="49" charset="0"/>
              </a:rPr>
              <a:t>"Program Ended."</a:t>
            </a:r>
            <a:r>
              <a:rPr lang="en-IN" sz="1200" b="0" dirty="0">
                <a:solidFill>
                  <a:srgbClr val="D4D4D4"/>
                </a:solidFill>
                <a:effectLst/>
                <a:latin typeface="Consolas" panose="020B0609020204030204" pitchFamily="49" charset="0"/>
              </a:rPr>
              <a:t>);</a:t>
            </a:r>
          </a:p>
          <a:p>
            <a:br>
              <a:rPr lang="en-IN" sz="1200" b="0" dirty="0">
                <a:solidFill>
                  <a:srgbClr val="D4D4D4"/>
                </a:solidFill>
                <a:effectLst/>
                <a:latin typeface="Consolas" panose="020B0609020204030204" pitchFamily="49" charset="0"/>
              </a:rPr>
            </a:br>
            <a:endParaRPr lang="en-IN" sz="12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473223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467</TotalTime>
  <Words>1509</Words>
  <Application>Microsoft Office PowerPoint</Application>
  <PresentationFormat>Widescreen</PresentationFormat>
  <Paragraphs>158</Paragraphs>
  <Slides>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Arial</vt:lpstr>
      <vt:lpstr>Calibri</vt:lpstr>
      <vt:lpstr>Calibri Light</vt:lpstr>
      <vt:lpstr>Cambria</vt:lpstr>
      <vt:lpstr>Consolas</vt:lpstr>
      <vt:lpstr>Garamond</vt:lpstr>
      <vt:lpstr>Segoe UI</vt:lpstr>
      <vt:lpstr>Verdana</vt:lpstr>
      <vt:lpstr>Office Theme</vt:lpstr>
      <vt:lpstr>PowerPoint Presentation</vt:lpstr>
      <vt:lpstr>Events in Node.js</vt:lpstr>
      <vt:lpstr>Examples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vidyanidhi school</cp:lastModifiedBy>
  <cp:revision>25</cp:revision>
  <dcterms:created xsi:type="dcterms:W3CDTF">2020-12-04T06:40:27Z</dcterms:created>
  <dcterms:modified xsi:type="dcterms:W3CDTF">2024-01-12T14:38:58Z</dcterms:modified>
</cp:coreProperties>
</file>