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61" r:id="rId3"/>
    <p:sldId id="262" r:id="rId4"/>
    <p:sldId id="263" r:id="rId5"/>
    <p:sldId id="264" r:id="rId6"/>
    <p:sldId id="265" r:id="rId7"/>
    <p:sldId id="266" r:id="rId8"/>
    <p:sldId id="267" r:id="rId9"/>
    <p:sldId id="268"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7" d="100"/>
          <a:sy n="77" d="100"/>
        </p:scale>
        <p:origin x="806"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C2D3F-7E40-4C8A-AAF1-FF8439D147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AD72839-F2DB-487E-86A4-AF07198372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B2AD9DF-D751-499A-B1F2-4658DB7F9AC8}"/>
              </a:ext>
            </a:extLst>
          </p:cNvPr>
          <p:cNvSpPr>
            <a:spLocks noGrp="1"/>
          </p:cNvSpPr>
          <p:nvPr>
            <p:ph type="dt" sz="half" idx="10"/>
          </p:nvPr>
        </p:nvSpPr>
        <p:spPr/>
        <p:txBody>
          <a:bodyPr/>
          <a:lstStyle/>
          <a:p>
            <a:fld id="{C004658C-45DA-453C-8046-7731F20C314D}" type="datetimeFigureOut">
              <a:rPr lang="en-IN" smtClean="0"/>
              <a:t>12-01-2024</a:t>
            </a:fld>
            <a:endParaRPr lang="en-IN"/>
          </a:p>
        </p:txBody>
      </p:sp>
      <p:sp>
        <p:nvSpPr>
          <p:cNvPr id="5" name="Footer Placeholder 4">
            <a:extLst>
              <a:ext uri="{FF2B5EF4-FFF2-40B4-BE49-F238E27FC236}">
                <a16:creationId xmlns:a16="http://schemas.microsoft.com/office/drawing/2014/main" id="{60810642-F60A-41B2-A559-6BCDA5E346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929564-8805-41F0-8FA2-B91878EFA10A}"/>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41955888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3649B-5440-4FBB-8D52-86560DB7B81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EAEFAAE-9D4B-488A-84DE-F9B7B40E0F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5B9E0D-CB4E-45BC-9342-2685552EA624}"/>
              </a:ext>
            </a:extLst>
          </p:cNvPr>
          <p:cNvSpPr>
            <a:spLocks noGrp="1"/>
          </p:cNvSpPr>
          <p:nvPr>
            <p:ph type="dt" sz="half" idx="10"/>
          </p:nvPr>
        </p:nvSpPr>
        <p:spPr/>
        <p:txBody>
          <a:bodyPr/>
          <a:lstStyle/>
          <a:p>
            <a:fld id="{C004658C-45DA-453C-8046-7731F20C314D}" type="datetimeFigureOut">
              <a:rPr lang="en-IN" smtClean="0"/>
              <a:t>12-01-2024</a:t>
            </a:fld>
            <a:endParaRPr lang="en-IN"/>
          </a:p>
        </p:txBody>
      </p:sp>
      <p:sp>
        <p:nvSpPr>
          <p:cNvPr id="5" name="Footer Placeholder 4">
            <a:extLst>
              <a:ext uri="{FF2B5EF4-FFF2-40B4-BE49-F238E27FC236}">
                <a16:creationId xmlns:a16="http://schemas.microsoft.com/office/drawing/2014/main" id="{11C1038D-F12D-477B-9032-BEE3CED009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6C8A08-E66A-4DC9-9A66-8A7AF89A46E3}"/>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4185493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AD09C-476B-4B3C-BFA4-8DA21A32FAB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C0C82DB-9B98-49CC-A555-BFCF47EEBAE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D0BFC01-B0A6-4A7B-B9F2-D6A9CDBE30CC}"/>
              </a:ext>
            </a:extLst>
          </p:cNvPr>
          <p:cNvSpPr>
            <a:spLocks noGrp="1"/>
          </p:cNvSpPr>
          <p:nvPr>
            <p:ph type="dt" sz="half" idx="10"/>
          </p:nvPr>
        </p:nvSpPr>
        <p:spPr/>
        <p:txBody>
          <a:bodyPr/>
          <a:lstStyle/>
          <a:p>
            <a:fld id="{C004658C-45DA-453C-8046-7731F20C314D}" type="datetimeFigureOut">
              <a:rPr lang="en-IN" smtClean="0"/>
              <a:t>12-01-2024</a:t>
            </a:fld>
            <a:endParaRPr lang="en-IN"/>
          </a:p>
        </p:txBody>
      </p:sp>
      <p:sp>
        <p:nvSpPr>
          <p:cNvPr id="5" name="Footer Placeholder 4">
            <a:extLst>
              <a:ext uri="{FF2B5EF4-FFF2-40B4-BE49-F238E27FC236}">
                <a16:creationId xmlns:a16="http://schemas.microsoft.com/office/drawing/2014/main" id="{6F09F5AC-0481-46E6-9DF4-FDF8C28F4B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F7C3B7-0110-4B1B-A36A-0C507C182655}"/>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41193620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4B1F9-EB81-48BC-9509-A46CE28835C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2154F5F-7B97-4AE1-8C8C-6DDE59931CF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44105FE-F84E-476C-AA3E-3ACEA51922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20B2D7D-8F2A-4542-809C-ABD2679AD799}"/>
              </a:ext>
            </a:extLst>
          </p:cNvPr>
          <p:cNvSpPr>
            <a:spLocks noGrp="1"/>
          </p:cNvSpPr>
          <p:nvPr>
            <p:ph type="dt" sz="half" idx="10"/>
          </p:nvPr>
        </p:nvSpPr>
        <p:spPr/>
        <p:txBody>
          <a:bodyPr/>
          <a:lstStyle/>
          <a:p>
            <a:fld id="{C004658C-45DA-453C-8046-7731F20C314D}" type="datetimeFigureOut">
              <a:rPr lang="en-IN" smtClean="0"/>
              <a:t>12-01-2024</a:t>
            </a:fld>
            <a:endParaRPr lang="en-IN"/>
          </a:p>
        </p:txBody>
      </p:sp>
      <p:sp>
        <p:nvSpPr>
          <p:cNvPr id="6" name="Footer Placeholder 5">
            <a:extLst>
              <a:ext uri="{FF2B5EF4-FFF2-40B4-BE49-F238E27FC236}">
                <a16:creationId xmlns:a16="http://schemas.microsoft.com/office/drawing/2014/main" id="{88496495-04D3-412A-B6A9-B0F377C6CA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1A832D1-4D1F-4A6D-AD92-C331278A9FC8}"/>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31673281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A267D-4932-46DB-ADD0-78843BAFB75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D570D7F-5AA1-4453-910D-9A76D79CB39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1533F1-277C-4E07-8AED-05200D4D267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14560CD-AE08-4482-8420-4C30736D03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309AE45-A8AB-4C40-A840-D78F56E608B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59FC0E6-84D8-4A50-BEBD-CF5D19AF413E}"/>
              </a:ext>
            </a:extLst>
          </p:cNvPr>
          <p:cNvSpPr>
            <a:spLocks noGrp="1"/>
          </p:cNvSpPr>
          <p:nvPr>
            <p:ph type="dt" sz="half" idx="10"/>
          </p:nvPr>
        </p:nvSpPr>
        <p:spPr/>
        <p:txBody>
          <a:bodyPr/>
          <a:lstStyle/>
          <a:p>
            <a:fld id="{C004658C-45DA-453C-8046-7731F20C314D}" type="datetimeFigureOut">
              <a:rPr lang="en-IN" smtClean="0"/>
              <a:t>12-01-2024</a:t>
            </a:fld>
            <a:endParaRPr lang="en-IN"/>
          </a:p>
        </p:txBody>
      </p:sp>
      <p:sp>
        <p:nvSpPr>
          <p:cNvPr id="8" name="Footer Placeholder 7">
            <a:extLst>
              <a:ext uri="{FF2B5EF4-FFF2-40B4-BE49-F238E27FC236}">
                <a16:creationId xmlns:a16="http://schemas.microsoft.com/office/drawing/2014/main" id="{CF24D531-1AFE-40F4-B407-A13D38E561B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EB9A13C-F3B2-4536-8721-FAB18E56E9A8}"/>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8427169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538B2-7E66-46D2-B90B-4ACCBC668D8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FD9BC10-AC2C-44C4-BB8A-96BF1948FFCE}"/>
              </a:ext>
            </a:extLst>
          </p:cNvPr>
          <p:cNvSpPr>
            <a:spLocks noGrp="1"/>
          </p:cNvSpPr>
          <p:nvPr>
            <p:ph type="dt" sz="half" idx="10"/>
          </p:nvPr>
        </p:nvSpPr>
        <p:spPr/>
        <p:txBody>
          <a:bodyPr/>
          <a:lstStyle/>
          <a:p>
            <a:fld id="{C004658C-45DA-453C-8046-7731F20C314D}" type="datetimeFigureOut">
              <a:rPr lang="en-IN" smtClean="0"/>
              <a:t>12-01-2024</a:t>
            </a:fld>
            <a:endParaRPr lang="en-IN"/>
          </a:p>
        </p:txBody>
      </p:sp>
      <p:sp>
        <p:nvSpPr>
          <p:cNvPr id="4" name="Footer Placeholder 3">
            <a:extLst>
              <a:ext uri="{FF2B5EF4-FFF2-40B4-BE49-F238E27FC236}">
                <a16:creationId xmlns:a16="http://schemas.microsoft.com/office/drawing/2014/main" id="{A643D4D6-9AA0-4487-83AA-68EA43B9E0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E705848-1F85-45FF-B0BC-4D0BA27CA85C}"/>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15974284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FD4D18-C07E-4A35-A2FD-AF3660E9E3B0}"/>
              </a:ext>
            </a:extLst>
          </p:cNvPr>
          <p:cNvSpPr>
            <a:spLocks noGrp="1"/>
          </p:cNvSpPr>
          <p:nvPr>
            <p:ph type="dt" sz="half" idx="10"/>
          </p:nvPr>
        </p:nvSpPr>
        <p:spPr/>
        <p:txBody>
          <a:bodyPr/>
          <a:lstStyle/>
          <a:p>
            <a:fld id="{C004658C-45DA-453C-8046-7731F20C314D}" type="datetimeFigureOut">
              <a:rPr lang="en-IN" smtClean="0"/>
              <a:t>12-01-2024</a:t>
            </a:fld>
            <a:endParaRPr lang="en-IN"/>
          </a:p>
        </p:txBody>
      </p:sp>
      <p:sp>
        <p:nvSpPr>
          <p:cNvPr id="3" name="Footer Placeholder 2">
            <a:extLst>
              <a:ext uri="{FF2B5EF4-FFF2-40B4-BE49-F238E27FC236}">
                <a16:creationId xmlns:a16="http://schemas.microsoft.com/office/drawing/2014/main" id="{3F3251B9-692D-4BE0-BAF1-99171EC3B1F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C3E1108-801C-468F-8B19-6B581BC1A969}"/>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15986334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C412B-48AF-409B-8357-2EE7CBBE4D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22EB46A-9741-43DE-A239-502DF85804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0B68FA1-3FBE-49C1-9108-F9557EE74D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EA8935-1423-43BE-B58A-36EE09057C89}"/>
              </a:ext>
            </a:extLst>
          </p:cNvPr>
          <p:cNvSpPr>
            <a:spLocks noGrp="1"/>
          </p:cNvSpPr>
          <p:nvPr>
            <p:ph type="dt" sz="half" idx="10"/>
          </p:nvPr>
        </p:nvSpPr>
        <p:spPr/>
        <p:txBody>
          <a:bodyPr/>
          <a:lstStyle/>
          <a:p>
            <a:fld id="{C004658C-45DA-453C-8046-7731F20C314D}" type="datetimeFigureOut">
              <a:rPr lang="en-IN" smtClean="0"/>
              <a:t>12-01-2024</a:t>
            </a:fld>
            <a:endParaRPr lang="en-IN"/>
          </a:p>
        </p:txBody>
      </p:sp>
      <p:sp>
        <p:nvSpPr>
          <p:cNvPr id="6" name="Footer Placeholder 5">
            <a:extLst>
              <a:ext uri="{FF2B5EF4-FFF2-40B4-BE49-F238E27FC236}">
                <a16:creationId xmlns:a16="http://schemas.microsoft.com/office/drawing/2014/main" id="{FFA87432-8FD6-48D6-A782-B5FD451E0CE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DAE8922-295E-443F-94AA-DE04B0771677}"/>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36246191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DF4CF-55BA-44B7-B5C1-6AABBEEA7D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19804C6-94F5-4D5B-8DFD-4C01987A5C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F494586-57E1-4731-AB5B-330E0EC4C5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67832B-C40F-4E1F-ABB3-BB36A394963E}"/>
              </a:ext>
            </a:extLst>
          </p:cNvPr>
          <p:cNvSpPr>
            <a:spLocks noGrp="1"/>
          </p:cNvSpPr>
          <p:nvPr>
            <p:ph type="dt" sz="half" idx="10"/>
          </p:nvPr>
        </p:nvSpPr>
        <p:spPr/>
        <p:txBody>
          <a:bodyPr/>
          <a:lstStyle/>
          <a:p>
            <a:fld id="{C004658C-45DA-453C-8046-7731F20C314D}" type="datetimeFigureOut">
              <a:rPr lang="en-IN" smtClean="0"/>
              <a:t>12-01-2024</a:t>
            </a:fld>
            <a:endParaRPr lang="en-IN"/>
          </a:p>
        </p:txBody>
      </p:sp>
      <p:sp>
        <p:nvSpPr>
          <p:cNvPr id="6" name="Footer Placeholder 5">
            <a:extLst>
              <a:ext uri="{FF2B5EF4-FFF2-40B4-BE49-F238E27FC236}">
                <a16:creationId xmlns:a16="http://schemas.microsoft.com/office/drawing/2014/main" id="{C88947CF-39CE-409F-BB68-7352DFD949F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1D2BF2E-806C-4B7F-9063-3F1E0C913519}"/>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1919512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52159-3716-4F83-81C9-5BD08B1F552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5DBA662-CCE1-41C4-BF91-B2CB5FC59C5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49D8A99-AD56-4CA5-B9A0-FEAF607E21B2}"/>
              </a:ext>
            </a:extLst>
          </p:cNvPr>
          <p:cNvSpPr>
            <a:spLocks noGrp="1"/>
          </p:cNvSpPr>
          <p:nvPr>
            <p:ph type="dt" sz="half" idx="10"/>
          </p:nvPr>
        </p:nvSpPr>
        <p:spPr/>
        <p:txBody>
          <a:bodyPr/>
          <a:lstStyle/>
          <a:p>
            <a:fld id="{C004658C-45DA-453C-8046-7731F20C314D}" type="datetimeFigureOut">
              <a:rPr lang="en-IN" smtClean="0"/>
              <a:t>12-01-2024</a:t>
            </a:fld>
            <a:endParaRPr lang="en-IN"/>
          </a:p>
        </p:txBody>
      </p:sp>
      <p:sp>
        <p:nvSpPr>
          <p:cNvPr id="5" name="Footer Placeholder 4">
            <a:extLst>
              <a:ext uri="{FF2B5EF4-FFF2-40B4-BE49-F238E27FC236}">
                <a16:creationId xmlns:a16="http://schemas.microsoft.com/office/drawing/2014/main" id="{25CD5B1E-135D-48A4-A7D1-D36BF6791B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D967079-262E-4207-A65E-7FEB6D46D3BD}"/>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19136196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1C3810-0CAF-41C0-8AEB-61F991B901C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43B3C37-946E-469E-BF32-9A3172EB956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261361-B290-45F7-89D0-EC2684F66A70}"/>
              </a:ext>
            </a:extLst>
          </p:cNvPr>
          <p:cNvSpPr>
            <a:spLocks noGrp="1"/>
          </p:cNvSpPr>
          <p:nvPr>
            <p:ph type="dt" sz="half" idx="10"/>
          </p:nvPr>
        </p:nvSpPr>
        <p:spPr/>
        <p:txBody>
          <a:bodyPr/>
          <a:lstStyle/>
          <a:p>
            <a:fld id="{C004658C-45DA-453C-8046-7731F20C314D}" type="datetimeFigureOut">
              <a:rPr lang="en-IN" smtClean="0"/>
              <a:t>12-01-2024</a:t>
            </a:fld>
            <a:endParaRPr lang="en-IN"/>
          </a:p>
        </p:txBody>
      </p:sp>
      <p:sp>
        <p:nvSpPr>
          <p:cNvPr id="5" name="Footer Placeholder 4">
            <a:extLst>
              <a:ext uri="{FF2B5EF4-FFF2-40B4-BE49-F238E27FC236}">
                <a16:creationId xmlns:a16="http://schemas.microsoft.com/office/drawing/2014/main" id="{68AB217D-811E-4E1E-8334-38008E6F17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FF01B6-3214-4BB6-9D55-08159A264AE1}"/>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19471917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B01FB5-9B19-4006-BF79-43AAE4B2BBF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71D79293-3335-415D-96FF-6F1528620B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05602B98-AB1D-47C8-BA11-5D17054C1E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04658C-45DA-453C-8046-7731F20C314D}" type="datetimeFigureOut">
              <a:rPr lang="en-IN" smtClean="0"/>
              <a:t>12-01-2024</a:t>
            </a:fld>
            <a:endParaRPr lang="en-IN"/>
          </a:p>
        </p:txBody>
      </p:sp>
      <p:sp>
        <p:nvSpPr>
          <p:cNvPr id="5" name="Footer Placeholder 4">
            <a:extLst>
              <a:ext uri="{FF2B5EF4-FFF2-40B4-BE49-F238E27FC236}">
                <a16:creationId xmlns:a16="http://schemas.microsoft.com/office/drawing/2014/main" id="{925A71B4-FC6F-40AF-BC00-01976BC4EC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241785E-8303-4660-BD55-D6594DE105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2BFB83-5A77-48BE-A920-3538D8F17072}" type="slidenum">
              <a:rPr lang="en-IN" smtClean="0"/>
              <a:t>‹#›</a:t>
            </a:fld>
            <a:endParaRPr lang="en-IN"/>
          </a:p>
        </p:txBody>
      </p:sp>
      <p:pic>
        <p:nvPicPr>
          <p:cNvPr id="7" name="Picture 6">
            <a:extLst>
              <a:ext uri="{FF2B5EF4-FFF2-40B4-BE49-F238E27FC236}">
                <a16:creationId xmlns:a16="http://schemas.microsoft.com/office/drawing/2014/main" id="{B4B2C9EE-F42D-45DD-BECE-E7B06F786BC8}"/>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200" y="-76200"/>
            <a:ext cx="1282699" cy="857534"/>
          </a:xfrm>
          <a:prstGeom prst="rect">
            <a:avLst/>
          </a:prstGeom>
        </p:spPr>
      </p:pic>
      <p:sp>
        <p:nvSpPr>
          <p:cNvPr id="8" name="Rectangle 7">
            <a:extLst>
              <a:ext uri="{FF2B5EF4-FFF2-40B4-BE49-F238E27FC236}">
                <a16:creationId xmlns:a16="http://schemas.microsoft.com/office/drawing/2014/main" id="{3D287664-7564-46A5-A87F-F1F1AB30D4BA}"/>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30662353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752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2057400" y="4038601"/>
            <a:ext cx="3276600" cy="1200329"/>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dirty="0"/>
              <a:t>9769201036</a:t>
            </a:r>
          </a:p>
          <a:p>
            <a:r>
              <a:rPr lang="en-IN" dirty="0"/>
              <a:t>ketkiacharya.net@gmail.com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0B89E-0CAC-4B3D-AAB4-67E772EC49D7}"/>
              </a:ext>
            </a:extLst>
          </p:cNvPr>
          <p:cNvSpPr>
            <a:spLocks noGrp="1"/>
          </p:cNvSpPr>
          <p:nvPr>
            <p:ph type="title"/>
          </p:nvPr>
        </p:nvSpPr>
        <p:spPr>
          <a:xfrm>
            <a:off x="1244600" y="-113406"/>
            <a:ext cx="9736666" cy="443875"/>
          </a:xfrm>
        </p:spPr>
        <p:txBody>
          <a:bodyPr>
            <a:noAutofit/>
          </a:bodyPr>
          <a:lstStyle/>
          <a:p>
            <a:r>
              <a:rPr lang="en-IN" sz="1600" dirty="0"/>
              <a:t>File System : </a:t>
            </a:r>
            <a:r>
              <a:rPr lang="en-US" sz="1600" b="1" i="0" dirty="0">
                <a:effectLst/>
                <a:latin typeface="Arial" panose="020B0604020202020204" pitchFamily="34" charset="0"/>
              </a:rPr>
              <a:t>Synchronous vs Asynchronous</a:t>
            </a:r>
            <a:endParaRPr lang="en-IN" sz="1600" dirty="0"/>
          </a:p>
        </p:txBody>
      </p:sp>
      <p:sp>
        <p:nvSpPr>
          <p:cNvPr id="3" name="Content Placeholder 2">
            <a:extLst>
              <a:ext uri="{FF2B5EF4-FFF2-40B4-BE49-F238E27FC236}">
                <a16:creationId xmlns:a16="http://schemas.microsoft.com/office/drawing/2014/main" id="{6C7DC52E-8721-42F7-8321-6FBDE16FE7D3}"/>
              </a:ext>
            </a:extLst>
          </p:cNvPr>
          <p:cNvSpPr>
            <a:spLocks noGrp="1"/>
          </p:cNvSpPr>
          <p:nvPr>
            <p:ph idx="1"/>
          </p:nvPr>
        </p:nvSpPr>
        <p:spPr>
          <a:xfrm>
            <a:off x="982133" y="237497"/>
            <a:ext cx="10895633" cy="1473200"/>
          </a:xfrm>
        </p:spPr>
        <p:txBody>
          <a:bodyPr>
            <a:normAutofit/>
          </a:bodyPr>
          <a:lstStyle/>
          <a:p>
            <a:r>
              <a:rPr lang="en-US" sz="1400" b="0" i="0" dirty="0">
                <a:solidFill>
                  <a:srgbClr val="000000"/>
                </a:solidFill>
                <a:effectLst/>
                <a:latin typeface="+mj-lt"/>
              </a:rPr>
              <a:t>The Node.js file system module </a:t>
            </a:r>
            <a:r>
              <a:rPr lang="en-US" sz="1400" b="0" i="0" dirty="0" err="1">
                <a:solidFill>
                  <a:srgbClr val="000000"/>
                </a:solidFill>
                <a:effectLst/>
                <a:latin typeface="+mj-lt"/>
              </a:rPr>
              <a:t>allo</a:t>
            </a:r>
            <a:r>
              <a:rPr lang="en-US" sz="1400" b="0" i="0" dirty="0">
                <a:solidFill>
                  <a:srgbClr val="000000"/>
                </a:solidFill>
                <a:effectLst/>
                <a:latin typeface="+mj-lt"/>
              </a:rPr>
              <a:t> </a:t>
            </a:r>
            <a:r>
              <a:rPr lang="en-US" sz="1400" b="0" i="0" dirty="0" err="1">
                <a:solidFill>
                  <a:srgbClr val="000000"/>
                </a:solidFill>
                <a:effectLst/>
                <a:latin typeface="+mj-lt"/>
              </a:rPr>
              <a:t>ws</a:t>
            </a:r>
            <a:r>
              <a:rPr lang="en-US" sz="1400" b="0" i="0" dirty="0">
                <a:solidFill>
                  <a:srgbClr val="000000"/>
                </a:solidFill>
                <a:effectLst/>
                <a:latin typeface="+mj-lt"/>
              </a:rPr>
              <a:t> you to work with the file system on your computer.==</a:t>
            </a:r>
            <a:r>
              <a:rPr lang="en-IN" sz="1050" b="0" i="0" dirty="0" err="1">
                <a:solidFill>
                  <a:srgbClr val="0000CD"/>
                </a:solidFill>
                <a:effectLst/>
                <a:latin typeface="Consolas" panose="020B0609020204030204" pitchFamily="49" charset="0"/>
              </a:rPr>
              <a:t>const</a:t>
            </a:r>
            <a:r>
              <a:rPr lang="en-IN" sz="1050" b="0" i="0" dirty="0">
                <a:solidFill>
                  <a:srgbClr val="000000"/>
                </a:solidFill>
                <a:effectLst/>
                <a:latin typeface="Consolas" panose="020B0609020204030204" pitchFamily="49" charset="0"/>
              </a:rPr>
              <a:t> fs = require(</a:t>
            </a:r>
            <a:r>
              <a:rPr lang="en-IN" sz="1050" b="0" i="0" dirty="0">
                <a:solidFill>
                  <a:srgbClr val="A52A2A"/>
                </a:solidFill>
                <a:effectLst/>
                <a:latin typeface="Consolas" panose="020B0609020204030204" pitchFamily="49" charset="0"/>
              </a:rPr>
              <a:t>'fs’</a:t>
            </a:r>
            <a:r>
              <a:rPr lang="en-IN" sz="1050" b="0" i="0" dirty="0">
                <a:solidFill>
                  <a:srgbClr val="000000"/>
                </a:solidFill>
                <a:effectLst/>
                <a:latin typeface="Consolas" panose="020B0609020204030204" pitchFamily="49" charset="0"/>
              </a:rPr>
              <a:t>);</a:t>
            </a:r>
          </a:p>
          <a:p>
            <a:pPr algn="just"/>
            <a:r>
              <a:rPr lang="en-US" sz="1050" b="0" i="0" dirty="0">
                <a:solidFill>
                  <a:srgbClr val="000000"/>
                </a:solidFill>
                <a:effectLst/>
                <a:latin typeface="Arial" panose="020B0604020202020204" pitchFamily="34" charset="0"/>
              </a:rPr>
              <a:t>Every method in the fs module has synchronous as well as asynchronous forms. Asynchronous methods take the last parameter as the completion function callback and the first parameter of the callback function as error. It is better to use an asynchronous method instead of a synchronous method, as the former never blocks a program during its execution, whereas the second one does.</a:t>
            </a:r>
          </a:p>
          <a:p>
            <a:pPr marL="0" indent="0" algn="l">
              <a:buNone/>
            </a:pPr>
            <a:r>
              <a:rPr lang="en-US" sz="1050" b="0" i="0" dirty="0">
                <a:solidFill>
                  <a:srgbClr val="000000"/>
                </a:solidFill>
                <a:effectLst/>
                <a:latin typeface="Verdana" panose="020B0604030504040204" pitchFamily="34" charset="0"/>
              </a:rPr>
              <a:t>Common use for the File System module:</a:t>
            </a:r>
          </a:p>
          <a:p>
            <a:pPr algn="l">
              <a:buFont typeface="Arial" panose="020B0604020202020204" pitchFamily="34" charset="0"/>
              <a:buChar char="•"/>
            </a:pPr>
            <a:r>
              <a:rPr lang="en-US" sz="1050" b="0" i="0" dirty="0">
                <a:solidFill>
                  <a:srgbClr val="000000"/>
                </a:solidFill>
                <a:effectLst/>
                <a:latin typeface="Verdana" panose="020B0604030504040204" pitchFamily="34" charset="0"/>
              </a:rPr>
              <a:t>Read files		Create files		Update files		Delete files		Rename files</a:t>
            </a:r>
          </a:p>
          <a:p>
            <a:endParaRPr lang="en-IN" sz="1400" dirty="0">
              <a:latin typeface="+mj-lt"/>
            </a:endParaRPr>
          </a:p>
        </p:txBody>
      </p:sp>
      <p:sp>
        <p:nvSpPr>
          <p:cNvPr id="4" name="Rectangle 1">
            <a:extLst>
              <a:ext uri="{FF2B5EF4-FFF2-40B4-BE49-F238E27FC236}">
                <a16:creationId xmlns:a16="http://schemas.microsoft.com/office/drawing/2014/main" id="{98242097-7C93-4614-83C9-D0C06A2A0A10}"/>
              </a:ext>
            </a:extLst>
          </p:cNvPr>
          <p:cNvSpPr>
            <a:spLocks noChangeArrowheads="1"/>
          </p:cNvSpPr>
          <p:nvPr/>
        </p:nvSpPr>
        <p:spPr bwMode="auto">
          <a:xfrm>
            <a:off x="270934" y="1777828"/>
            <a:ext cx="5909733" cy="261610"/>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Verdana" panose="020B0604030504040204" pitchFamily="34" charset="0"/>
              </a:rPr>
              <a:t>The </a:t>
            </a:r>
            <a:r>
              <a:rPr kumimoji="0" lang="en-US" altLang="en-US" sz="1100" b="0" i="0" u="none" strike="noStrike" cap="none" normalizeH="0" baseline="0" dirty="0" err="1">
                <a:ln>
                  <a:noFill/>
                </a:ln>
                <a:solidFill>
                  <a:srgbClr val="DC143C"/>
                </a:solidFill>
                <a:effectLst/>
                <a:latin typeface="Consolas" panose="020B0609020204030204" pitchFamily="49" charset="0"/>
              </a:rPr>
              <a:t>fs.readFile</a:t>
            </a:r>
            <a:r>
              <a:rPr kumimoji="0" lang="en-US" altLang="en-US" sz="1100" b="0" i="0" u="none" strike="noStrike" cap="none" normalizeH="0" baseline="0" dirty="0">
                <a:ln>
                  <a:noFill/>
                </a:ln>
                <a:solidFill>
                  <a:srgbClr val="DC143C"/>
                </a:solidFill>
                <a:effectLst/>
                <a:latin typeface="Consolas" panose="020B0609020204030204" pitchFamily="49" charset="0"/>
              </a:rPr>
              <a:t>()</a:t>
            </a:r>
            <a:r>
              <a:rPr kumimoji="0" lang="en-US" altLang="en-US" sz="1100" b="0" i="0" u="none" strike="noStrike" cap="none" normalizeH="0" baseline="0" dirty="0">
                <a:ln>
                  <a:noFill/>
                </a:ln>
                <a:solidFill>
                  <a:srgbClr val="000000"/>
                </a:solidFill>
                <a:effectLst/>
                <a:latin typeface="Verdana" panose="020B0604030504040204" pitchFamily="34" charset="0"/>
              </a:rPr>
              <a:t> method is used to read files on your computer.</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F4F6E915-6F4C-4B89-A58C-2C2D048B55FF}"/>
              </a:ext>
            </a:extLst>
          </p:cNvPr>
          <p:cNvPicPr>
            <a:picLocks noChangeAspect="1"/>
          </p:cNvPicPr>
          <p:nvPr/>
        </p:nvPicPr>
        <p:blipFill rotWithShape="1">
          <a:blip r:embed="rId2"/>
          <a:srcRect l="3611" t="19260" r="47084" b="41234"/>
          <a:stretch/>
        </p:blipFill>
        <p:spPr>
          <a:xfrm>
            <a:off x="6900334" y="1777828"/>
            <a:ext cx="5164665" cy="265006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TextBox 7">
            <a:extLst>
              <a:ext uri="{FF2B5EF4-FFF2-40B4-BE49-F238E27FC236}">
                <a16:creationId xmlns:a16="http://schemas.microsoft.com/office/drawing/2014/main" id="{0149CCFF-3E0D-447B-B3C4-4ACF876A491B}"/>
              </a:ext>
            </a:extLst>
          </p:cNvPr>
          <p:cNvSpPr txBox="1"/>
          <p:nvPr/>
        </p:nvSpPr>
        <p:spPr>
          <a:xfrm>
            <a:off x="127001" y="2106569"/>
            <a:ext cx="6447366" cy="175432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b="0" dirty="0">
                <a:solidFill>
                  <a:srgbClr val="800000"/>
                </a:solidFill>
                <a:effectLst/>
                <a:latin typeface="Consolas" panose="020B0609020204030204" pitchFamily="49" charset="0"/>
              </a:rPr>
              <a:t>&lt;html&gt; //demo1.html</a:t>
            </a:r>
            <a:endParaRPr lang="en-US" b="0" dirty="0">
              <a:solidFill>
                <a:srgbClr val="000000"/>
              </a:solidFill>
              <a:effectLst/>
              <a:latin typeface="Consolas" panose="020B0609020204030204" pitchFamily="49" charset="0"/>
            </a:endParaRPr>
          </a:p>
          <a:p>
            <a:r>
              <a:rPr lang="en-US" b="0" dirty="0">
                <a:solidFill>
                  <a:srgbClr val="800000"/>
                </a:solidFill>
                <a:effectLst/>
                <a:latin typeface="Consolas" panose="020B0609020204030204" pitchFamily="49" charset="0"/>
              </a:rPr>
              <a:t>&lt;body&gt;</a:t>
            </a:r>
            <a:endParaRPr lang="en-US" b="0" dirty="0">
              <a:solidFill>
                <a:srgbClr val="000000"/>
              </a:solidFill>
              <a:effectLst/>
              <a:latin typeface="Consolas" panose="020B0609020204030204" pitchFamily="49" charset="0"/>
            </a:endParaRPr>
          </a:p>
          <a:p>
            <a:r>
              <a:rPr lang="en-US" b="0" dirty="0">
                <a:solidFill>
                  <a:srgbClr val="800000"/>
                </a:solidFill>
                <a:effectLst/>
                <a:latin typeface="Consolas" panose="020B0609020204030204" pitchFamily="49" charset="0"/>
              </a:rPr>
              <a:t>&lt;h1&gt;</a:t>
            </a:r>
            <a:r>
              <a:rPr lang="en-US" b="0" dirty="0">
                <a:solidFill>
                  <a:srgbClr val="000000"/>
                </a:solidFill>
                <a:effectLst/>
                <a:latin typeface="Consolas" panose="020B0609020204030204" pitchFamily="49" charset="0"/>
              </a:rPr>
              <a:t>My Header</a:t>
            </a:r>
            <a:r>
              <a:rPr lang="en-US" b="0" dirty="0">
                <a:solidFill>
                  <a:srgbClr val="800000"/>
                </a:solidFill>
                <a:effectLst/>
                <a:latin typeface="Consolas" panose="020B0609020204030204" pitchFamily="49" charset="0"/>
              </a:rPr>
              <a:t>&lt;/h1&gt;</a:t>
            </a:r>
            <a:endParaRPr lang="en-US" b="0" dirty="0">
              <a:solidFill>
                <a:srgbClr val="000000"/>
              </a:solidFill>
              <a:effectLst/>
              <a:latin typeface="Consolas" panose="020B0609020204030204" pitchFamily="49" charset="0"/>
            </a:endParaRPr>
          </a:p>
          <a:p>
            <a:r>
              <a:rPr lang="en-US" b="0" dirty="0">
                <a:solidFill>
                  <a:srgbClr val="800000"/>
                </a:solidFill>
                <a:effectLst/>
                <a:latin typeface="Consolas" panose="020B0609020204030204" pitchFamily="49" charset="0"/>
              </a:rPr>
              <a:t>&lt;p&gt;</a:t>
            </a:r>
            <a:r>
              <a:rPr lang="en-US" b="0" dirty="0">
                <a:solidFill>
                  <a:srgbClr val="000000"/>
                </a:solidFill>
                <a:effectLst/>
                <a:latin typeface="Consolas" panose="020B0609020204030204" pitchFamily="49" charset="0"/>
              </a:rPr>
              <a:t>My paragraph.</a:t>
            </a:r>
            <a:r>
              <a:rPr lang="en-US" b="0" dirty="0">
                <a:solidFill>
                  <a:srgbClr val="800000"/>
                </a:solidFill>
                <a:effectLst/>
                <a:latin typeface="Consolas" panose="020B0609020204030204" pitchFamily="49" charset="0"/>
              </a:rPr>
              <a:t>&lt;/p&gt;</a:t>
            </a:r>
            <a:endParaRPr lang="en-US" b="0" dirty="0">
              <a:solidFill>
                <a:srgbClr val="000000"/>
              </a:solidFill>
              <a:effectLst/>
              <a:latin typeface="Consolas" panose="020B0609020204030204" pitchFamily="49" charset="0"/>
            </a:endParaRPr>
          </a:p>
          <a:p>
            <a:r>
              <a:rPr lang="en-US" b="0" dirty="0">
                <a:solidFill>
                  <a:srgbClr val="800000"/>
                </a:solidFill>
                <a:effectLst/>
                <a:latin typeface="Consolas" panose="020B0609020204030204" pitchFamily="49" charset="0"/>
              </a:rPr>
              <a:t>&lt;/body&gt;</a:t>
            </a:r>
            <a:endParaRPr lang="en-US" b="0" dirty="0">
              <a:solidFill>
                <a:srgbClr val="000000"/>
              </a:solidFill>
              <a:effectLst/>
              <a:latin typeface="Consolas" panose="020B0609020204030204" pitchFamily="49" charset="0"/>
            </a:endParaRPr>
          </a:p>
          <a:p>
            <a:r>
              <a:rPr lang="en-US" b="0" dirty="0">
                <a:solidFill>
                  <a:srgbClr val="800000"/>
                </a:solidFill>
                <a:effectLst/>
                <a:latin typeface="Consolas" panose="020B0609020204030204" pitchFamily="49" charset="0"/>
              </a:rPr>
              <a:t>&lt;/html&gt;</a:t>
            </a:r>
            <a:endParaRPr lang="en-US" b="0" dirty="0">
              <a:solidFill>
                <a:srgbClr val="000000"/>
              </a:solidFill>
              <a:effectLst/>
              <a:latin typeface="Consolas" panose="020B0609020204030204" pitchFamily="49" charset="0"/>
            </a:endParaRPr>
          </a:p>
        </p:txBody>
      </p:sp>
      <p:sp>
        <p:nvSpPr>
          <p:cNvPr id="10" name="TextBox 9">
            <a:extLst>
              <a:ext uri="{FF2B5EF4-FFF2-40B4-BE49-F238E27FC236}">
                <a16:creationId xmlns:a16="http://schemas.microsoft.com/office/drawing/2014/main" id="{BF36D793-2C59-4399-8F53-AD967F496D86}"/>
              </a:ext>
            </a:extLst>
          </p:cNvPr>
          <p:cNvSpPr txBox="1"/>
          <p:nvPr/>
        </p:nvSpPr>
        <p:spPr>
          <a:xfrm>
            <a:off x="127000" y="3972594"/>
            <a:ext cx="6773333" cy="286232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a:t>
            </a:r>
            <a:r>
              <a:rPr lang="en-IN" b="0" dirty="0">
                <a:solidFill>
                  <a:srgbClr val="0070C1"/>
                </a:solidFill>
                <a:effectLst/>
                <a:latin typeface="Consolas" panose="020B0609020204030204" pitchFamily="49" charset="0"/>
              </a:rPr>
              <a:t>http</a:t>
            </a:r>
            <a:r>
              <a:rPr lang="en-IN" b="0" dirty="0">
                <a:solidFill>
                  <a:srgbClr val="000000"/>
                </a:solidFill>
                <a:effectLst/>
                <a:latin typeface="Consolas" panose="020B0609020204030204" pitchFamily="49" charset="0"/>
              </a:rPr>
              <a:t> = </a:t>
            </a:r>
            <a:r>
              <a:rPr lang="en-IN" b="0" dirty="0">
                <a:solidFill>
                  <a:srgbClr val="795E26"/>
                </a:solidFill>
                <a:effectLst/>
                <a:latin typeface="Consolas" panose="020B0609020204030204" pitchFamily="49" charset="0"/>
              </a:rPr>
              <a:t>require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'http'</a:t>
            </a:r>
            <a:r>
              <a:rPr lang="en-IN" b="0" dirty="0">
                <a:solidFill>
                  <a:srgbClr val="000000"/>
                </a:solidFill>
                <a:effectLst/>
                <a:latin typeface="Consolas" panose="020B0609020204030204" pitchFamily="49" charset="0"/>
              </a:rPr>
              <a:t>); //readhtml.js</a:t>
            </a:r>
          </a:p>
          <a:p>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a:t>
            </a:r>
            <a:r>
              <a:rPr lang="en-IN" b="0" dirty="0">
                <a:solidFill>
                  <a:srgbClr val="0070C1"/>
                </a:solidFill>
                <a:effectLst/>
                <a:latin typeface="Consolas" panose="020B0609020204030204" pitchFamily="49" charset="0"/>
              </a:rPr>
              <a:t>fs</a:t>
            </a:r>
            <a:r>
              <a:rPr lang="en-IN" b="0" dirty="0">
                <a:solidFill>
                  <a:srgbClr val="000000"/>
                </a:solidFill>
                <a:effectLst/>
                <a:latin typeface="Consolas" panose="020B0609020204030204" pitchFamily="49" charset="0"/>
              </a:rPr>
              <a:t> = </a:t>
            </a:r>
            <a:r>
              <a:rPr lang="en-IN" b="0" dirty="0">
                <a:solidFill>
                  <a:srgbClr val="795E26"/>
                </a:solidFill>
                <a:effectLst/>
                <a:latin typeface="Consolas" panose="020B0609020204030204" pitchFamily="49" charset="0"/>
              </a:rPr>
              <a:t>require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'fs'</a:t>
            </a:r>
            <a:r>
              <a:rPr lang="en-IN" b="0" dirty="0">
                <a:solidFill>
                  <a:srgbClr val="000000"/>
                </a:solidFill>
                <a:effectLst/>
                <a:latin typeface="Consolas" panose="020B0609020204030204" pitchFamily="49" charset="0"/>
              </a:rPr>
              <a:t>);</a:t>
            </a:r>
          </a:p>
          <a:p>
            <a:r>
              <a:rPr lang="en-IN" b="0" dirty="0" err="1">
                <a:solidFill>
                  <a:srgbClr val="0070C1"/>
                </a:solidFill>
                <a:effectLst/>
                <a:latin typeface="Consolas" panose="020B0609020204030204" pitchFamily="49" charset="0"/>
              </a:rPr>
              <a:t>http</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createServer</a:t>
            </a:r>
            <a:r>
              <a:rPr lang="en-IN" b="0" dirty="0">
                <a:solidFill>
                  <a:srgbClr val="FF0000"/>
                </a:solidFill>
                <a:effectLst/>
                <a:latin typeface="Consolas" panose="020B0609020204030204" pitchFamily="49" charset="0"/>
              </a:rPr>
              <a:t>(</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req</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res</a:t>
            </a:r>
            <a:r>
              <a:rPr lang="en-IN" b="0" dirty="0">
                <a:solidFill>
                  <a:srgbClr val="000000"/>
                </a:solidFill>
                <a:effectLst/>
                <a:latin typeface="Consolas" panose="020B0609020204030204" pitchFamily="49" charset="0"/>
              </a:rPr>
              <a:t>) </a:t>
            </a:r>
            <a:r>
              <a:rPr lang="en-IN" b="0" dirty="0">
                <a:solidFill>
                  <a:schemeClr val="accent6">
                    <a:lumMod val="75000"/>
                  </a:schemeClr>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err="1">
                <a:solidFill>
                  <a:srgbClr val="0070C1"/>
                </a:solidFill>
                <a:effectLst/>
                <a:latin typeface="Consolas" panose="020B0609020204030204" pitchFamily="49" charset="0"/>
              </a:rPr>
              <a:t>fs</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readFile</a:t>
            </a:r>
            <a:r>
              <a:rPr lang="en-IN" b="0" dirty="0">
                <a:solidFill>
                  <a:srgbClr val="FFC000"/>
                </a:solidFill>
                <a:effectLst/>
                <a:latin typeface="Consolas" panose="020B0609020204030204" pitchFamily="49" charset="0"/>
              </a:rPr>
              <a:t>(</a:t>
            </a:r>
            <a:r>
              <a:rPr lang="en-IN" b="0" dirty="0">
                <a:solidFill>
                  <a:srgbClr val="A31515"/>
                </a:solidFill>
                <a:effectLst/>
                <a:latin typeface="Consolas" panose="020B0609020204030204" pitchFamily="49" charset="0"/>
              </a:rPr>
              <a:t>'demo1.html'</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err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data</a:t>
            </a:r>
            <a:r>
              <a:rPr lang="en-IN" b="0" dirty="0">
                <a:solidFill>
                  <a:srgbClr val="000000"/>
                </a:solidFill>
                <a:effectLst/>
                <a:latin typeface="Consolas" panose="020B0609020204030204" pitchFamily="49" charset="0"/>
              </a:rPr>
              <a:t>) </a:t>
            </a:r>
            <a:r>
              <a:rPr lang="en-IN" b="0" dirty="0">
                <a:solidFill>
                  <a:srgbClr val="00B0F0"/>
                </a:solidFill>
                <a:effectLst/>
                <a:latin typeface="Consolas" panose="020B0609020204030204" pitchFamily="49" charset="0"/>
              </a:rPr>
              <a:t>{</a:t>
            </a:r>
          </a:p>
          <a:p>
            <a:endParaRPr lang="en-IN" dirty="0">
              <a:solidFill>
                <a:srgbClr val="000000"/>
              </a:solidFill>
              <a:latin typeface="Consolas" panose="020B0609020204030204" pitchFamily="49" charset="0"/>
            </a:endParaRPr>
          </a:p>
          <a:p>
            <a:r>
              <a:rPr lang="en-IN" b="0" dirty="0" err="1">
                <a:solidFill>
                  <a:srgbClr val="001080"/>
                </a:solidFill>
                <a:effectLst/>
                <a:latin typeface="Consolas" panose="020B0609020204030204" pitchFamily="49" charset="0"/>
              </a:rPr>
              <a:t>res</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writeHead</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200</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'Content-Type' </a:t>
            </a:r>
            <a:r>
              <a:rPr lang="en-IN" b="0" dirty="0">
                <a:solidFill>
                  <a:srgbClr val="001080"/>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'text/html' </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res</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data</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res</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end</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B0F0"/>
                </a:solidFill>
                <a:effectLst/>
                <a:latin typeface="Consolas" panose="020B0609020204030204" pitchFamily="49" charset="0"/>
              </a:rPr>
              <a:t>}</a:t>
            </a:r>
            <a:r>
              <a:rPr lang="en-IN" b="0" dirty="0">
                <a:solidFill>
                  <a:srgbClr val="FFC000"/>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r>
              <a:rPr lang="en-IN" b="0" dirty="0">
                <a:solidFill>
                  <a:schemeClr val="accent6">
                    <a:lumMod val="75000"/>
                  </a:schemeClr>
                </a:solidFill>
                <a:effectLst/>
                <a:latin typeface="Consolas" panose="020B0609020204030204" pitchFamily="49" charset="0"/>
              </a:rPr>
              <a:t>}</a:t>
            </a:r>
            <a:r>
              <a:rPr lang="en-IN" b="0" dirty="0">
                <a:solidFill>
                  <a:srgbClr val="FF0000"/>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listen</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8080</a:t>
            </a:r>
            <a:r>
              <a:rPr lang="en-IN" b="0" dirty="0">
                <a:solidFill>
                  <a:srgbClr val="000000"/>
                </a:solidFill>
                <a:effectLst/>
                <a:latin typeface="Consolas" panose="020B0609020204030204" pitchFamily="49" charset="0"/>
              </a:rPr>
              <a:t>)</a:t>
            </a:r>
          </a:p>
        </p:txBody>
      </p:sp>
      <p:sp>
        <p:nvSpPr>
          <p:cNvPr id="12" name="TextBox 11">
            <a:extLst>
              <a:ext uri="{FF2B5EF4-FFF2-40B4-BE49-F238E27FC236}">
                <a16:creationId xmlns:a16="http://schemas.microsoft.com/office/drawing/2014/main" id="{2FDCF1C7-4D72-439B-B55E-1CED6801A4D6}"/>
              </a:ext>
            </a:extLst>
          </p:cNvPr>
          <p:cNvSpPr txBox="1"/>
          <p:nvPr/>
        </p:nvSpPr>
        <p:spPr>
          <a:xfrm>
            <a:off x="7307701" y="4640243"/>
            <a:ext cx="4884299" cy="64633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b="0" dirty="0" err="1">
                <a:solidFill>
                  <a:srgbClr val="0070C1"/>
                </a:solidFill>
                <a:effectLst/>
                <a:latin typeface="Consolas" panose="020B0609020204030204" pitchFamily="49" charset="0"/>
              </a:rPr>
              <a:t>fs</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readFileSync</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'input.txt'</a:t>
            </a:r>
            <a:r>
              <a:rPr lang="en-IN" b="0" dirty="0">
                <a:solidFill>
                  <a:srgbClr val="000000"/>
                </a:solidFill>
                <a:effectLst/>
                <a:latin typeface="Consolas" panose="020B0609020204030204" pitchFamily="49" charset="0"/>
              </a:rPr>
              <a:t>,...);</a:t>
            </a:r>
          </a:p>
          <a:p>
            <a:r>
              <a:rPr lang="en-IN" dirty="0">
                <a:solidFill>
                  <a:srgbClr val="000000"/>
                </a:solidFill>
                <a:latin typeface="Consolas" panose="020B0609020204030204" pitchFamily="49" charset="0"/>
              </a:rPr>
              <a:t>This method read file synchronously.</a:t>
            </a:r>
            <a:endParaRPr lang="en-IN" b="0" dirty="0">
              <a:solidFill>
                <a:srgbClr val="000000"/>
              </a:solidFill>
              <a:effectLst/>
              <a:latin typeface="Consolas" panose="020B0609020204030204" pitchFamily="49" charset="0"/>
            </a:endParaRPr>
          </a:p>
        </p:txBody>
      </p:sp>
      <p:sp>
        <p:nvSpPr>
          <p:cNvPr id="13" name="TextBox 12">
            <a:extLst>
              <a:ext uri="{FF2B5EF4-FFF2-40B4-BE49-F238E27FC236}">
                <a16:creationId xmlns:a16="http://schemas.microsoft.com/office/drawing/2014/main" id="{138F13EA-24A4-45B9-A0BA-C66EFE31B838}"/>
              </a:ext>
            </a:extLst>
          </p:cNvPr>
          <p:cNvSpPr txBox="1"/>
          <p:nvPr/>
        </p:nvSpPr>
        <p:spPr>
          <a:xfrm>
            <a:off x="6993467" y="5469467"/>
            <a:ext cx="4884299" cy="1200329"/>
          </a:xfrm>
          <a:prstGeom prst="rect">
            <a:avLst/>
          </a:prstGeom>
          <a:noFill/>
        </p:spPr>
        <p:txBody>
          <a:bodyPr wrap="square" rtlCol="0">
            <a:spAutoFit/>
          </a:bodyPr>
          <a:lstStyle/>
          <a:p>
            <a:r>
              <a:rPr lang="en-IN" dirty="0"/>
              <a:t>How to run: in command prompt</a:t>
            </a:r>
          </a:p>
          <a:p>
            <a:r>
              <a:rPr lang="en-IN" b="1" dirty="0"/>
              <a:t>node readhtml.js</a:t>
            </a:r>
          </a:p>
          <a:p>
            <a:r>
              <a:rPr lang="en-IN" dirty="0"/>
              <a:t>Then in browser</a:t>
            </a:r>
          </a:p>
          <a:p>
            <a:r>
              <a:rPr lang="en-IN" b="1" dirty="0"/>
              <a:t>http://localhost:8080</a:t>
            </a:r>
          </a:p>
        </p:txBody>
      </p:sp>
    </p:spTree>
    <p:extLst>
      <p:ext uri="{BB962C8B-B14F-4D97-AF65-F5344CB8AC3E}">
        <p14:creationId xmlns:p14="http://schemas.microsoft.com/office/powerpoint/2010/main" val="16389238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1EEE8-1ED9-427A-8F91-827182F6BCD9}"/>
              </a:ext>
            </a:extLst>
          </p:cNvPr>
          <p:cNvSpPr>
            <a:spLocks noGrp="1"/>
          </p:cNvSpPr>
          <p:nvPr>
            <p:ph type="title"/>
          </p:nvPr>
        </p:nvSpPr>
        <p:spPr>
          <a:xfrm>
            <a:off x="1158240" y="0"/>
            <a:ext cx="10064931" cy="444772"/>
          </a:xfrm>
        </p:spPr>
        <p:txBody>
          <a:bodyPr>
            <a:normAutofit fontScale="90000"/>
          </a:bodyPr>
          <a:lstStyle/>
          <a:p>
            <a:r>
              <a:rPr lang="en-IN" b="0" i="0" dirty="0">
                <a:effectLst/>
                <a:latin typeface="Arial" panose="020B0604020202020204" pitchFamily="34" charset="0"/>
              </a:rPr>
              <a:t>Open a File</a:t>
            </a:r>
            <a:endParaRPr lang="en-IN" dirty="0"/>
          </a:p>
        </p:txBody>
      </p:sp>
      <p:sp>
        <p:nvSpPr>
          <p:cNvPr id="4" name="Rectangle 1">
            <a:extLst>
              <a:ext uri="{FF2B5EF4-FFF2-40B4-BE49-F238E27FC236}">
                <a16:creationId xmlns:a16="http://schemas.microsoft.com/office/drawing/2014/main" id="{0A7D3BF4-D417-451C-B828-338F7F9B34E0}"/>
              </a:ext>
            </a:extLst>
          </p:cNvPr>
          <p:cNvSpPr>
            <a:spLocks noGrp="1" noChangeArrowheads="1"/>
          </p:cNvSpPr>
          <p:nvPr>
            <p:ph idx="1"/>
          </p:nvPr>
        </p:nvSpPr>
        <p:spPr bwMode="auto">
          <a:xfrm>
            <a:off x="374243" y="820833"/>
            <a:ext cx="3753621" cy="267737"/>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fs.open</a:t>
            </a:r>
            <a:r>
              <a:rPr kumimoji="0" lang="en-US" altLang="en-US" sz="11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(path, flags[, mode], callback)</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6D5983DA-43B9-4241-9E8F-3E9002D50CEE}"/>
              </a:ext>
            </a:extLst>
          </p:cNvPr>
          <p:cNvSpPr txBox="1"/>
          <p:nvPr/>
        </p:nvSpPr>
        <p:spPr>
          <a:xfrm>
            <a:off x="4127864" y="77538"/>
            <a:ext cx="7689893" cy="1569660"/>
          </a:xfrm>
          <a:prstGeom prst="rect">
            <a:avLst/>
          </a:prstGeom>
          <a:noFill/>
        </p:spPr>
        <p:txBody>
          <a:bodyPr wrap="square">
            <a:spAutoFit/>
          </a:bodyPr>
          <a:lstStyle/>
          <a:p>
            <a:pPr algn="just">
              <a:buFont typeface="Arial" panose="020B0604020202020204" pitchFamily="34" charset="0"/>
              <a:buChar char="•"/>
            </a:pPr>
            <a:r>
              <a:rPr lang="en-US" sz="1200" b="1" i="0" dirty="0">
                <a:solidFill>
                  <a:srgbClr val="000000"/>
                </a:solidFill>
                <a:effectLst/>
                <a:latin typeface="Arial" panose="020B0604020202020204" pitchFamily="34" charset="0"/>
              </a:rPr>
              <a:t>path</a:t>
            </a:r>
            <a:r>
              <a:rPr lang="en-US" sz="1200" b="0" i="0" dirty="0">
                <a:solidFill>
                  <a:srgbClr val="000000"/>
                </a:solidFill>
                <a:effectLst/>
                <a:latin typeface="Arial" panose="020B0604020202020204" pitchFamily="34" charset="0"/>
              </a:rPr>
              <a:t> − This is the string having file name including path.</a:t>
            </a:r>
          </a:p>
          <a:p>
            <a:pPr algn="just">
              <a:buFont typeface="Arial" panose="020B0604020202020204" pitchFamily="34" charset="0"/>
              <a:buChar char="•"/>
            </a:pPr>
            <a:endParaRPr lang="en-US" sz="1200" b="0" i="0" dirty="0">
              <a:solidFill>
                <a:srgbClr val="000000"/>
              </a:solidFill>
              <a:effectLst/>
              <a:latin typeface="Arial" panose="020B0604020202020204" pitchFamily="34" charset="0"/>
            </a:endParaRPr>
          </a:p>
          <a:p>
            <a:pPr algn="just">
              <a:buFont typeface="Arial" panose="020B0604020202020204" pitchFamily="34" charset="0"/>
              <a:buChar char="•"/>
            </a:pPr>
            <a:r>
              <a:rPr lang="en-US" sz="1200" b="1" i="0" dirty="0">
                <a:solidFill>
                  <a:srgbClr val="000000"/>
                </a:solidFill>
                <a:effectLst/>
                <a:latin typeface="Arial" panose="020B0604020202020204" pitchFamily="34" charset="0"/>
              </a:rPr>
              <a:t>flags</a:t>
            </a:r>
            <a:r>
              <a:rPr lang="en-US" sz="1200" b="0" i="0" dirty="0">
                <a:solidFill>
                  <a:srgbClr val="000000"/>
                </a:solidFill>
                <a:effectLst/>
                <a:latin typeface="Arial" panose="020B0604020202020204" pitchFamily="34" charset="0"/>
              </a:rPr>
              <a:t> − Flags indicate the behavior of the file to be opened. All possible values have been mentioned below.</a:t>
            </a:r>
          </a:p>
          <a:p>
            <a:pPr algn="just">
              <a:buFont typeface="Arial" panose="020B0604020202020204" pitchFamily="34" charset="0"/>
              <a:buChar char="•"/>
            </a:pPr>
            <a:endParaRPr lang="en-US" sz="1200" b="0" i="0" dirty="0">
              <a:solidFill>
                <a:srgbClr val="000000"/>
              </a:solidFill>
              <a:effectLst/>
              <a:latin typeface="Arial" panose="020B0604020202020204" pitchFamily="34" charset="0"/>
            </a:endParaRPr>
          </a:p>
          <a:p>
            <a:pPr algn="just">
              <a:buFont typeface="Arial" panose="020B0604020202020204" pitchFamily="34" charset="0"/>
              <a:buChar char="•"/>
            </a:pPr>
            <a:r>
              <a:rPr lang="en-US" sz="1200" b="1" i="0" dirty="0">
                <a:solidFill>
                  <a:srgbClr val="000000"/>
                </a:solidFill>
                <a:effectLst/>
                <a:latin typeface="Arial" panose="020B0604020202020204" pitchFamily="34" charset="0"/>
              </a:rPr>
              <a:t>mode</a:t>
            </a:r>
            <a:r>
              <a:rPr lang="en-US" sz="1200" b="0" i="0" dirty="0">
                <a:solidFill>
                  <a:srgbClr val="000000"/>
                </a:solidFill>
                <a:effectLst/>
                <a:latin typeface="Arial" panose="020B0604020202020204" pitchFamily="34" charset="0"/>
              </a:rPr>
              <a:t> − It sets the file mode (permission and sticky bits), but only if the file was created. It defaults to 0666, readable and writeable.</a:t>
            </a:r>
          </a:p>
          <a:p>
            <a:pPr algn="just">
              <a:buFont typeface="Arial" panose="020B0604020202020204" pitchFamily="34" charset="0"/>
              <a:buChar char="•"/>
            </a:pPr>
            <a:endParaRPr lang="en-US" sz="1200" b="0" i="0" dirty="0">
              <a:solidFill>
                <a:srgbClr val="000000"/>
              </a:solidFill>
              <a:effectLst/>
              <a:latin typeface="Arial" panose="020B0604020202020204" pitchFamily="34" charset="0"/>
            </a:endParaRPr>
          </a:p>
          <a:p>
            <a:pPr algn="just">
              <a:buFont typeface="Arial" panose="020B0604020202020204" pitchFamily="34" charset="0"/>
              <a:buChar char="•"/>
            </a:pPr>
            <a:r>
              <a:rPr lang="en-US" sz="1200" b="1" i="0" dirty="0">
                <a:solidFill>
                  <a:srgbClr val="000000"/>
                </a:solidFill>
                <a:effectLst/>
                <a:latin typeface="Arial" panose="020B0604020202020204" pitchFamily="34" charset="0"/>
              </a:rPr>
              <a:t>callback</a:t>
            </a:r>
            <a:r>
              <a:rPr lang="en-US" sz="1200" b="0" i="0" dirty="0">
                <a:solidFill>
                  <a:srgbClr val="000000"/>
                </a:solidFill>
                <a:effectLst/>
                <a:latin typeface="Arial" panose="020B0604020202020204" pitchFamily="34" charset="0"/>
              </a:rPr>
              <a:t> − This is the callback function which gets two arguments (err, </a:t>
            </a:r>
            <a:r>
              <a:rPr lang="en-US" sz="1200" b="0" i="0" dirty="0" err="1">
                <a:solidFill>
                  <a:srgbClr val="000000"/>
                </a:solidFill>
                <a:effectLst/>
                <a:latin typeface="Arial" panose="020B0604020202020204" pitchFamily="34" charset="0"/>
              </a:rPr>
              <a:t>fd</a:t>
            </a:r>
            <a:r>
              <a:rPr lang="en-US" sz="1200" b="0" i="0" dirty="0">
                <a:solidFill>
                  <a:srgbClr val="000000"/>
                </a:solidFill>
                <a:effectLst/>
                <a:latin typeface="Arial" panose="020B0604020202020204" pitchFamily="34" charset="0"/>
              </a:rPr>
              <a:t>).</a:t>
            </a:r>
          </a:p>
        </p:txBody>
      </p:sp>
      <p:graphicFrame>
        <p:nvGraphicFramePr>
          <p:cNvPr id="7" name="Table 6">
            <a:extLst>
              <a:ext uri="{FF2B5EF4-FFF2-40B4-BE49-F238E27FC236}">
                <a16:creationId xmlns:a16="http://schemas.microsoft.com/office/drawing/2014/main" id="{84FE9359-C392-48B2-9227-7E4E82B801D8}"/>
              </a:ext>
            </a:extLst>
          </p:cNvPr>
          <p:cNvGraphicFramePr>
            <a:graphicFrameLocks noGrp="1"/>
          </p:cNvGraphicFramePr>
          <p:nvPr>
            <p:extLst>
              <p:ext uri="{D42A27DB-BD31-4B8C-83A1-F6EECF244321}">
                <p14:modId xmlns:p14="http://schemas.microsoft.com/office/powerpoint/2010/main" val="3761108703"/>
              </p:ext>
            </p:extLst>
          </p:nvPr>
        </p:nvGraphicFramePr>
        <p:xfrm>
          <a:off x="220005" y="1421802"/>
          <a:ext cx="10282532" cy="5270957"/>
        </p:xfrm>
        <a:graphic>
          <a:graphicData uri="http://schemas.openxmlformats.org/drawingml/2006/table">
            <a:tbl>
              <a:tblPr/>
              <a:tblGrid>
                <a:gridCol w="872926">
                  <a:extLst>
                    <a:ext uri="{9D8B030D-6E8A-4147-A177-3AD203B41FA5}">
                      <a16:colId xmlns:a16="http://schemas.microsoft.com/office/drawing/2014/main" val="3182689359"/>
                    </a:ext>
                  </a:extLst>
                </a:gridCol>
                <a:gridCol w="9409606">
                  <a:extLst>
                    <a:ext uri="{9D8B030D-6E8A-4147-A177-3AD203B41FA5}">
                      <a16:colId xmlns:a16="http://schemas.microsoft.com/office/drawing/2014/main" val="1229611212"/>
                    </a:ext>
                  </a:extLst>
                </a:gridCol>
              </a:tblGrid>
              <a:tr h="127799">
                <a:tc>
                  <a:txBody>
                    <a:bodyPr/>
                    <a:lstStyle/>
                    <a:p>
                      <a:pPr algn="ctr" fontAlgn="t"/>
                      <a:r>
                        <a:rPr lang="en-IN" sz="1200">
                          <a:effectLst/>
                        </a:rPr>
                        <a:t>Sr.No.</a:t>
                      </a:r>
                    </a:p>
                  </a:txBody>
                  <a:tcPr marL="17981" marR="17981" marT="17981" marB="1798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EEEEE"/>
                    </a:solidFill>
                  </a:tcPr>
                </a:tc>
                <a:tc>
                  <a:txBody>
                    <a:bodyPr/>
                    <a:lstStyle/>
                    <a:p>
                      <a:pPr algn="ctr" fontAlgn="t"/>
                      <a:r>
                        <a:rPr lang="en-IN" sz="1200">
                          <a:effectLst/>
                        </a:rPr>
                        <a:t>Flag &amp; Description</a:t>
                      </a:r>
                    </a:p>
                  </a:txBody>
                  <a:tcPr marL="17981" marR="17981" marT="17981" marB="1798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2139978747"/>
                  </a:ext>
                </a:extLst>
              </a:tr>
              <a:tr h="393228">
                <a:tc>
                  <a:txBody>
                    <a:bodyPr/>
                    <a:lstStyle/>
                    <a:p>
                      <a:pPr fontAlgn="t"/>
                      <a:r>
                        <a:rPr lang="en-IN" sz="1200">
                          <a:effectLst/>
                        </a:rPr>
                        <a:t>1</a:t>
                      </a:r>
                    </a:p>
                  </a:txBody>
                  <a:tcPr marL="17981" marR="17981" marT="17981" marB="1798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just" fontAlgn="t"/>
                      <a:r>
                        <a:rPr lang="en-US" sz="1200" b="1" dirty="0">
                          <a:solidFill>
                            <a:srgbClr val="000000"/>
                          </a:solidFill>
                          <a:effectLst/>
                        </a:rPr>
                        <a:t>r </a:t>
                      </a:r>
                      <a:endParaRPr lang="en-US" sz="1200" dirty="0">
                        <a:solidFill>
                          <a:srgbClr val="000000"/>
                        </a:solidFill>
                        <a:effectLst/>
                      </a:endParaRPr>
                    </a:p>
                    <a:p>
                      <a:pPr algn="just" fontAlgn="t"/>
                      <a:r>
                        <a:rPr lang="en-US" sz="1200" dirty="0">
                          <a:solidFill>
                            <a:srgbClr val="000000"/>
                          </a:solidFill>
                          <a:effectLst/>
                        </a:rPr>
                        <a:t>Open file for reading. An exception occurs if the file does not exist.</a:t>
                      </a:r>
                    </a:p>
                  </a:txBody>
                  <a:tcPr marL="17981" marR="17981" marT="17981" marB="1798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21888268"/>
                  </a:ext>
                </a:extLst>
              </a:tr>
              <a:tr h="393228">
                <a:tc>
                  <a:txBody>
                    <a:bodyPr/>
                    <a:lstStyle/>
                    <a:p>
                      <a:pPr fontAlgn="t"/>
                      <a:r>
                        <a:rPr lang="en-IN" sz="1200">
                          <a:effectLst/>
                        </a:rPr>
                        <a:t>2</a:t>
                      </a:r>
                    </a:p>
                  </a:txBody>
                  <a:tcPr marL="17981" marR="17981" marT="17981" marB="1798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just" fontAlgn="t"/>
                      <a:r>
                        <a:rPr lang="en-US" sz="1200" b="1" dirty="0">
                          <a:solidFill>
                            <a:srgbClr val="000000"/>
                          </a:solidFill>
                          <a:effectLst/>
                        </a:rPr>
                        <a:t>r+</a:t>
                      </a:r>
                      <a:endParaRPr lang="en-US" sz="1200" dirty="0">
                        <a:solidFill>
                          <a:srgbClr val="000000"/>
                        </a:solidFill>
                        <a:effectLst/>
                      </a:endParaRPr>
                    </a:p>
                    <a:p>
                      <a:pPr algn="just" fontAlgn="t"/>
                      <a:r>
                        <a:rPr lang="en-US" sz="1200" dirty="0">
                          <a:solidFill>
                            <a:srgbClr val="000000"/>
                          </a:solidFill>
                          <a:effectLst/>
                        </a:rPr>
                        <a:t>Open file for reading and writing. An exception occurs if the file does not exist.</a:t>
                      </a:r>
                    </a:p>
                  </a:txBody>
                  <a:tcPr marL="17981" marR="17981" marT="17981" marB="1798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478293022"/>
                  </a:ext>
                </a:extLst>
              </a:tr>
              <a:tr h="304751">
                <a:tc>
                  <a:txBody>
                    <a:bodyPr/>
                    <a:lstStyle/>
                    <a:p>
                      <a:pPr fontAlgn="t"/>
                      <a:r>
                        <a:rPr lang="en-IN" sz="1200">
                          <a:effectLst/>
                        </a:rPr>
                        <a:t>3</a:t>
                      </a:r>
                    </a:p>
                  </a:txBody>
                  <a:tcPr marL="17981" marR="17981" marT="17981" marB="1798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just" fontAlgn="t"/>
                      <a:r>
                        <a:rPr lang="en-US" sz="1200" b="1" dirty="0" err="1">
                          <a:solidFill>
                            <a:srgbClr val="000000"/>
                          </a:solidFill>
                          <a:effectLst/>
                        </a:rPr>
                        <a:t>rs</a:t>
                      </a:r>
                      <a:endParaRPr lang="en-US" sz="1200" dirty="0">
                        <a:solidFill>
                          <a:srgbClr val="000000"/>
                        </a:solidFill>
                        <a:effectLst/>
                      </a:endParaRPr>
                    </a:p>
                    <a:p>
                      <a:pPr algn="just" fontAlgn="t"/>
                      <a:r>
                        <a:rPr lang="en-US" sz="1200" dirty="0">
                          <a:solidFill>
                            <a:srgbClr val="000000"/>
                          </a:solidFill>
                          <a:effectLst/>
                        </a:rPr>
                        <a:t>Open file for reading in synchronous mode.</a:t>
                      </a:r>
                    </a:p>
                  </a:txBody>
                  <a:tcPr marL="17981" marR="17981" marT="17981" marB="1798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350422842"/>
                  </a:ext>
                </a:extLst>
              </a:tr>
              <a:tr h="570180">
                <a:tc>
                  <a:txBody>
                    <a:bodyPr/>
                    <a:lstStyle/>
                    <a:p>
                      <a:pPr fontAlgn="t"/>
                      <a:r>
                        <a:rPr lang="en-IN" sz="1200">
                          <a:effectLst/>
                        </a:rPr>
                        <a:t>4</a:t>
                      </a:r>
                    </a:p>
                  </a:txBody>
                  <a:tcPr marL="17981" marR="17981" marT="17981" marB="1798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just" fontAlgn="t"/>
                      <a:r>
                        <a:rPr lang="en-US" sz="1200" b="1" dirty="0" err="1">
                          <a:solidFill>
                            <a:srgbClr val="000000"/>
                          </a:solidFill>
                          <a:effectLst/>
                        </a:rPr>
                        <a:t>rs</a:t>
                      </a:r>
                      <a:r>
                        <a:rPr lang="en-US" sz="1200" b="1" dirty="0">
                          <a:solidFill>
                            <a:srgbClr val="000000"/>
                          </a:solidFill>
                          <a:effectLst/>
                        </a:rPr>
                        <a:t>+</a:t>
                      </a:r>
                      <a:endParaRPr lang="en-US" sz="1200" dirty="0">
                        <a:solidFill>
                          <a:srgbClr val="000000"/>
                        </a:solidFill>
                        <a:effectLst/>
                      </a:endParaRPr>
                    </a:p>
                    <a:p>
                      <a:pPr algn="just" fontAlgn="t"/>
                      <a:r>
                        <a:rPr lang="en-US" sz="1200" dirty="0">
                          <a:solidFill>
                            <a:srgbClr val="000000"/>
                          </a:solidFill>
                          <a:effectLst/>
                        </a:rPr>
                        <a:t>Open file for reading and writing, asking the OS to open it synchronously. See notes for '</a:t>
                      </a:r>
                      <a:r>
                        <a:rPr lang="en-US" sz="1200" dirty="0" err="1">
                          <a:solidFill>
                            <a:srgbClr val="000000"/>
                          </a:solidFill>
                          <a:effectLst/>
                        </a:rPr>
                        <a:t>rs</a:t>
                      </a:r>
                      <a:r>
                        <a:rPr lang="en-US" sz="1200" dirty="0">
                          <a:solidFill>
                            <a:srgbClr val="000000"/>
                          </a:solidFill>
                          <a:effectLst/>
                        </a:rPr>
                        <a:t>' about using this with caution.</a:t>
                      </a:r>
                    </a:p>
                  </a:txBody>
                  <a:tcPr marL="17981" marR="17981" marT="17981" marB="1798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396227192"/>
                  </a:ext>
                </a:extLst>
              </a:tr>
              <a:tr h="481704">
                <a:tc>
                  <a:txBody>
                    <a:bodyPr/>
                    <a:lstStyle/>
                    <a:p>
                      <a:pPr fontAlgn="t"/>
                      <a:r>
                        <a:rPr lang="en-IN" sz="1200">
                          <a:effectLst/>
                        </a:rPr>
                        <a:t>5</a:t>
                      </a:r>
                    </a:p>
                  </a:txBody>
                  <a:tcPr marL="17981" marR="17981" marT="17981" marB="1798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just" fontAlgn="t"/>
                      <a:r>
                        <a:rPr lang="en-US" sz="1200" b="1">
                          <a:solidFill>
                            <a:srgbClr val="000000"/>
                          </a:solidFill>
                          <a:effectLst/>
                        </a:rPr>
                        <a:t>w</a:t>
                      </a:r>
                      <a:endParaRPr lang="en-US" sz="1200">
                        <a:solidFill>
                          <a:srgbClr val="000000"/>
                        </a:solidFill>
                        <a:effectLst/>
                      </a:endParaRPr>
                    </a:p>
                    <a:p>
                      <a:pPr algn="just" fontAlgn="t"/>
                      <a:r>
                        <a:rPr lang="en-US" sz="1200">
                          <a:solidFill>
                            <a:srgbClr val="000000"/>
                          </a:solidFill>
                          <a:effectLst/>
                        </a:rPr>
                        <a:t>Open file for writing. The file is created (if it does not exist) or truncated (if it exists).</a:t>
                      </a:r>
                    </a:p>
                  </a:txBody>
                  <a:tcPr marL="17981" marR="17981" marT="17981" marB="1798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001353699"/>
                  </a:ext>
                </a:extLst>
              </a:tr>
              <a:tr h="304751">
                <a:tc>
                  <a:txBody>
                    <a:bodyPr/>
                    <a:lstStyle/>
                    <a:p>
                      <a:pPr fontAlgn="t"/>
                      <a:r>
                        <a:rPr lang="en-IN" sz="1200">
                          <a:effectLst/>
                        </a:rPr>
                        <a:t>6</a:t>
                      </a:r>
                    </a:p>
                  </a:txBody>
                  <a:tcPr marL="17981" marR="17981" marT="17981" marB="1798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just" fontAlgn="t"/>
                      <a:r>
                        <a:rPr lang="en-US" sz="1200" b="1">
                          <a:solidFill>
                            <a:srgbClr val="000000"/>
                          </a:solidFill>
                          <a:effectLst/>
                        </a:rPr>
                        <a:t>wx</a:t>
                      </a:r>
                      <a:endParaRPr lang="en-US" sz="1200">
                        <a:solidFill>
                          <a:srgbClr val="000000"/>
                        </a:solidFill>
                        <a:effectLst/>
                      </a:endParaRPr>
                    </a:p>
                    <a:p>
                      <a:pPr algn="just" fontAlgn="t"/>
                      <a:r>
                        <a:rPr lang="en-US" sz="1200">
                          <a:solidFill>
                            <a:srgbClr val="000000"/>
                          </a:solidFill>
                          <a:effectLst/>
                        </a:rPr>
                        <a:t>Like 'w' but fails if the path exists.</a:t>
                      </a:r>
                    </a:p>
                  </a:txBody>
                  <a:tcPr marL="17981" marR="17981" marT="17981" marB="1798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4009555196"/>
                  </a:ext>
                </a:extLst>
              </a:tr>
              <a:tr h="481704">
                <a:tc>
                  <a:txBody>
                    <a:bodyPr/>
                    <a:lstStyle/>
                    <a:p>
                      <a:pPr fontAlgn="t"/>
                      <a:r>
                        <a:rPr lang="en-IN" sz="1200">
                          <a:effectLst/>
                        </a:rPr>
                        <a:t>7</a:t>
                      </a:r>
                    </a:p>
                  </a:txBody>
                  <a:tcPr marL="17981" marR="17981" marT="17981" marB="1798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just" fontAlgn="t"/>
                      <a:r>
                        <a:rPr lang="en-US" sz="1200" b="1">
                          <a:solidFill>
                            <a:srgbClr val="000000"/>
                          </a:solidFill>
                          <a:effectLst/>
                        </a:rPr>
                        <a:t>w+</a:t>
                      </a:r>
                      <a:endParaRPr lang="en-US" sz="1200">
                        <a:solidFill>
                          <a:srgbClr val="000000"/>
                        </a:solidFill>
                        <a:effectLst/>
                      </a:endParaRPr>
                    </a:p>
                    <a:p>
                      <a:pPr algn="just" fontAlgn="t"/>
                      <a:r>
                        <a:rPr lang="en-US" sz="1200">
                          <a:solidFill>
                            <a:srgbClr val="000000"/>
                          </a:solidFill>
                          <a:effectLst/>
                        </a:rPr>
                        <a:t>Open file for reading and writing. The file is created (if it does not exist) or truncated (if it exists).</a:t>
                      </a:r>
                    </a:p>
                  </a:txBody>
                  <a:tcPr marL="17981" marR="17981" marT="17981" marB="1798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974035843"/>
                  </a:ext>
                </a:extLst>
              </a:tr>
              <a:tr h="304751">
                <a:tc>
                  <a:txBody>
                    <a:bodyPr/>
                    <a:lstStyle/>
                    <a:p>
                      <a:pPr fontAlgn="t"/>
                      <a:r>
                        <a:rPr lang="en-IN" sz="1200">
                          <a:effectLst/>
                        </a:rPr>
                        <a:t>8</a:t>
                      </a:r>
                    </a:p>
                  </a:txBody>
                  <a:tcPr marL="17981" marR="17981" marT="17981" marB="1798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just" fontAlgn="t"/>
                      <a:r>
                        <a:rPr lang="en-US" sz="1200" b="1">
                          <a:solidFill>
                            <a:srgbClr val="000000"/>
                          </a:solidFill>
                          <a:effectLst/>
                        </a:rPr>
                        <a:t>wx+</a:t>
                      </a:r>
                      <a:endParaRPr lang="en-US" sz="1200">
                        <a:solidFill>
                          <a:srgbClr val="000000"/>
                        </a:solidFill>
                        <a:effectLst/>
                      </a:endParaRPr>
                    </a:p>
                    <a:p>
                      <a:pPr algn="just" fontAlgn="t"/>
                      <a:r>
                        <a:rPr lang="en-US" sz="1200">
                          <a:solidFill>
                            <a:srgbClr val="000000"/>
                          </a:solidFill>
                          <a:effectLst/>
                        </a:rPr>
                        <a:t>Like 'w+' but fails if path exists.</a:t>
                      </a:r>
                    </a:p>
                  </a:txBody>
                  <a:tcPr marL="17981" marR="17981" marT="17981" marB="1798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293170567"/>
                  </a:ext>
                </a:extLst>
              </a:tr>
              <a:tr h="393228">
                <a:tc>
                  <a:txBody>
                    <a:bodyPr/>
                    <a:lstStyle/>
                    <a:p>
                      <a:pPr fontAlgn="t"/>
                      <a:r>
                        <a:rPr lang="en-IN" sz="1200">
                          <a:effectLst/>
                        </a:rPr>
                        <a:t>9</a:t>
                      </a:r>
                    </a:p>
                  </a:txBody>
                  <a:tcPr marL="17981" marR="17981" marT="17981" marB="1798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just" fontAlgn="t"/>
                      <a:r>
                        <a:rPr lang="en-US" sz="1200" b="1">
                          <a:solidFill>
                            <a:srgbClr val="000000"/>
                          </a:solidFill>
                          <a:effectLst/>
                        </a:rPr>
                        <a:t>a</a:t>
                      </a:r>
                      <a:endParaRPr lang="en-US" sz="1200">
                        <a:solidFill>
                          <a:srgbClr val="000000"/>
                        </a:solidFill>
                        <a:effectLst/>
                      </a:endParaRPr>
                    </a:p>
                    <a:p>
                      <a:pPr algn="just" fontAlgn="t"/>
                      <a:r>
                        <a:rPr lang="en-US" sz="1200">
                          <a:solidFill>
                            <a:srgbClr val="000000"/>
                          </a:solidFill>
                          <a:effectLst/>
                        </a:rPr>
                        <a:t>Open file for appending. The file is created if it does not exist.</a:t>
                      </a:r>
                    </a:p>
                  </a:txBody>
                  <a:tcPr marL="17981" marR="17981" marT="17981" marB="1798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551076385"/>
                  </a:ext>
                </a:extLst>
              </a:tr>
              <a:tr h="304751">
                <a:tc>
                  <a:txBody>
                    <a:bodyPr/>
                    <a:lstStyle/>
                    <a:p>
                      <a:pPr fontAlgn="t"/>
                      <a:r>
                        <a:rPr lang="en-IN" sz="1200">
                          <a:effectLst/>
                        </a:rPr>
                        <a:t>10</a:t>
                      </a:r>
                    </a:p>
                  </a:txBody>
                  <a:tcPr marL="17981" marR="17981" marT="17981" marB="1798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just" fontAlgn="t"/>
                      <a:r>
                        <a:rPr lang="en-US" sz="1200" b="1" dirty="0">
                          <a:solidFill>
                            <a:srgbClr val="000000"/>
                          </a:solidFill>
                          <a:effectLst/>
                        </a:rPr>
                        <a:t>ax</a:t>
                      </a:r>
                      <a:endParaRPr lang="en-US" sz="1200" dirty="0">
                        <a:solidFill>
                          <a:srgbClr val="000000"/>
                        </a:solidFill>
                        <a:effectLst/>
                      </a:endParaRPr>
                    </a:p>
                    <a:p>
                      <a:pPr algn="just" fontAlgn="t"/>
                      <a:r>
                        <a:rPr lang="en-US" sz="1200" dirty="0">
                          <a:solidFill>
                            <a:srgbClr val="000000"/>
                          </a:solidFill>
                          <a:effectLst/>
                        </a:rPr>
                        <a:t>Like 'a' but fails if the path exists.</a:t>
                      </a:r>
                    </a:p>
                  </a:txBody>
                  <a:tcPr marL="17981" marR="17981" marT="17981" marB="1798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746890498"/>
                  </a:ext>
                </a:extLst>
              </a:tr>
              <a:tr h="393228">
                <a:tc>
                  <a:txBody>
                    <a:bodyPr/>
                    <a:lstStyle/>
                    <a:p>
                      <a:pPr fontAlgn="t"/>
                      <a:r>
                        <a:rPr lang="en-IN" sz="1200">
                          <a:effectLst/>
                        </a:rPr>
                        <a:t>11</a:t>
                      </a:r>
                    </a:p>
                  </a:txBody>
                  <a:tcPr marL="17981" marR="17981" marT="17981" marB="1798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just" fontAlgn="t"/>
                      <a:r>
                        <a:rPr lang="en-US" sz="1200" b="1">
                          <a:solidFill>
                            <a:srgbClr val="000000"/>
                          </a:solidFill>
                          <a:effectLst/>
                        </a:rPr>
                        <a:t>a+</a:t>
                      </a:r>
                      <a:endParaRPr lang="en-US" sz="1200">
                        <a:solidFill>
                          <a:srgbClr val="000000"/>
                        </a:solidFill>
                        <a:effectLst/>
                      </a:endParaRPr>
                    </a:p>
                    <a:p>
                      <a:pPr algn="just" fontAlgn="t"/>
                      <a:r>
                        <a:rPr lang="en-US" sz="1200">
                          <a:solidFill>
                            <a:srgbClr val="000000"/>
                          </a:solidFill>
                          <a:effectLst/>
                        </a:rPr>
                        <a:t>Open file for reading and appending. The file is created if it does not exist.</a:t>
                      </a:r>
                    </a:p>
                  </a:txBody>
                  <a:tcPr marL="17981" marR="17981" marT="17981" marB="1798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361800781"/>
                  </a:ext>
                </a:extLst>
              </a:tr>
              <a:tr h="304751">
                <a:tc>
                  <a:txBody>
                    <a:bodyPr/>
                    <a:lstStyle/>
                    <a:p>
                      <a:pPr fontAlgn="t"/>
                      <a:r>
                        <a:rPr lang="en-IN" sz="1200">
                          <a:effectLst/>
                        </a:rPr>
                        <a:t>12</a:t>
                      </a:r>
                    </a:p>
                  </a:txBody>
                  <a:tcPr marL="17981" marR="17981" marT="17981" marB="1798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just" fontAlgn="t"/>
                      <a:r>
                        <a:rPr lang="en-US" sz="1200" b="1" dirty="0">
                          <a:solidFill>
                            <a:srgbClr val="000000"/>
                          </a:solidFill>
                          <a:effectLst/>
                        </a:rPr>
                        <a:t>ax+       </a:t>
                      </a:r>
                      <a:r>
                        <a:rPr lang="en-US" sz="1200" dirty="0">
                          <a:solidFill>
                            <a:srgbClr val="000000"/>
                          </a:solidFill>
                          <a:effectLst/>
                        </a:rPr>
                        <a:t>Like 'a+' but fails if the </a:t>
                      </a:r>
                      <a:r>
                        <a:rPr lang="en-US" sz="1200" dirty="0" err="1">
                          <a:solidFill>
                            <a:srgbClr val="000000"/>
                          </a:solidFill>
                          <a:effectLst/>
                        </a:rPr>
                        <a:t>the</a:t>
                      </a:r>
                      <a:r>
                        <a:rPr lang="en-US" sz="1200" dirty="0">
                          <a:solidFill>
                            <a:srgbClr val="000000"/>
                          </a:solidFill>
                          <a:effectLst/>
                        </a:rPr>
                        <a:t> path exists.</a:t>
                      </a:r>
                    </a:p>
                  </a:txBody>
                  <a:tcPr marL="17981" marR="17981" marT="17981" marB="1798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4149147569"/>
                  </a:ext>
                </a:extLst>
              </a:tr>
            </a:tbl>
          </a:graphicData>
        </a:graphic>
      </p:graphicFrame>
    </p:spTree>
    <p:extLst>
      <p:ext uri="{BB962C8B-B14F-4D97-AF65-F5344CB8AC3E}">
        <p14:creationId xmlns:p14="http://schemas.microsoft.com/office/powerpoint/2010/main" val="20658698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FA5213AA-97E9-4B55-A17A-A53C41CC1583}"/>
              </a:ext>
            </a:extLst>
          </p:cNvPr>
          <p:cNvSpPr>
            <a:spLocks noGrp="1" noChangeArrowheads="1"/>
          </p:cNvSpPr>
          <p:nvPr>
            <p:ph type="title"/>
          </p:nvPr>
        </p:nvSpPr>
        <p:spPr bwMode="auto">
          <a:xfrm>
            <a:off x="1062446" y="73001"/>
            <a:ext cx="10291354" cy="1046440"/>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Verdana" panose="020B0604030504040204" pitchFamily="34" charset="0"/>
              </a:rPr>
              <a:t>The File System module has methods for creating new files:</a:t>
            </a:r>
            <a:endParaRPr kumimoji="0" lang="en-US" altLang="en-US"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a:ln>
                  <a:noFill/>
                </a:ln>
                <a:solidFill>
                  <a:srgbClr val="DC143C"/>
                </a:solidFill>
                <a:effectLst/>
                <a:latin typeface="Consolas" panose="020B0609020204030204" pitchFamily="49" charset="0"/>
              </a:rPr>
              <a:t>fs.appendFile()</a:t>
            </a:r>
            <a:endParaRPr kumimoji="0" lang="en-US" altLang="en-US" sz="1100" b="0" i="0" u="none" strike="noStrike" cap="none" normalizeH="0" baseline="0">
              <a:ln>
                <a:noFill/>
              </a:ln>
              <a:solidFill>
                <a:srgbClr val="000000"/>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a:ln>
                  <a:noFill/>
                </a:ln>
                <a:solidFill>
                  <a:srgbClr val="DC143C"/>
                </a:solidFill>
                <a:effectLst/>
                <a:latin typeface="Consolas" panose="020B0609020204030204" pitchFamily="49" charset="0"/>
              </a:rPr>
              <a:t>fs.open()</a:t>
            </a:r>
            <a:endParaRPr kumimoji="0" lang="en-US" altLang="en-US" sz="1100" b="0" i="0" u="none" strike="noStrike" cap="none" normalizeH="0" baseline="0">
              <a:ln>
                <a:noFill/>
              </a:ln>
              <a:solidFill>
                <a:srgbClr val="000000"/>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a:ln>
                  <a:noFill/>
                </a:ln>
                <a:solidFill>
                  <a:srgbClr val="DC143C"/>
                </a:solidFill>
                <a:effectLst/>
                <a:latin typeface="Consolas" panose="020B0609020204030204" pitchFamily="49" charset="0"/>
              </a:rPr>
              <a:t>fs.writeFile()</a:t>
            </a:r>
            <a:endParaRPr kumimoji="0" lang="en-US" altLang="en-US" sz="1100" b="0" i="0" u="none" strike="noStrike" cap="none" normalizeH="0" baseline="0">
              <a:ln>
                <a:noFill/>
              </a:ln>
              <a:solidFill>
                <a:srgbClr val="000000"/>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DB53329B-BE8A-4896-BBCF-5016942F6C7B}"/>
              </a:ext>
            </a:extLst>
          </p:cNvPr>
          <p:cNvSpPr>
            <a:spLocks noGrp="1" noChangeArrowheads="1"/>
          </p:cNvSpPr>
          <p:nvPr>
            <p:ph idx="1"/>
          </p:nvPr>
        </p:nvSpPr>
        <p:spPr bwMode="auto">
          <a:xfrm>
            <a:off x="1" y="1188894"/>
            <a:ext cx="4953000" cy="430887"/>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Verdana" panose="020B0604030504040204" pitchFamily="34" charset="0"/>
              </a:rPr>
              <a:t>The </a:t>
            </a:r>
            <a:r>
              <a:rPr kumimoji="0" lang="en-US" altLang="en-US" sz="1100" b="0" i="0" u="none" strike="noStrike" cap="none" normalizeH="0" baseline="0" dirty="0" err="1">
                <a:ln>
                  <a:noFill/>
                </a:ln>
                <a:solidFill>
                  <a:srgbClr val="DC143C"/>
                </a:solidFill>
                <a:effectLst/>
                <a:latin typeface="Consolas" panose="020B0609020204030204" pitchFamily="49" charset="0"/>
              </a:rPr>
              <a:t>fs.appendFile</a:t>
            </a:r>
            <a:r>
              <a:rPr kumimoji="0" lang="en-US" altLang="en-US" sz="1100" b="0" i="0" u="none" strike="noStrike" cap="none" normalizeH="0" baseline="0" dirty="0">
                <a:ln>
                  <a:noFill/>
                </a:ln>
                <a:solidFill>
                  <a:srgbClr val="DC143C"/>
                </a:solidFill>
                <a:effectLst/>
                <a:latin typeface="Consolas" panose="020B0609020204030204" pitchFamily="49" charset="0"/>
              </a:rPr>
              <a:t>()</a:t>
            </a:r>
            <a:r>
              <a:rPr kumimoji="0" lang="en-US" altLang="en-US" sz="1100" b="0" i="0" u="none" strike="noStrike" cap="none" normalizeH="0" baseline="0" dirty="0">
                <a:ln>
                  <a:noFill/>
                </a:ln>
                <a:solidFill>
                  <a:srgbClr val="000000"/>
                </a:solidFill>
                <a:effectLst/>
                <a:latin typeface="Verdana" panose="020B0604030504040204" pitchFamily="34" charset="0"/>
              </a:rPr>
              <a:t> method appends specified content to a file. If the file does not exist, the file will be created:</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F664DB53-AE66-4B2F-BE96-060259097B3E}"/>
              </a:ext>
            </a:extLst>
          </p:cNvPr>
          <p:cNvSpPr txBox="1"/>
          <p:nvPr/>
        </p:nvSpPr>
        <p:spPr>
          <a:xfrm>
            <a:off x="0" y="1762708"/>
            <a:ext cx="4056017" cy="3693319"/>
          </a:xfrm>
          <a:prstGeom prst="rect">
            <a:avLst/>
          </a:prstGeom>
          <a:noFill/>
        </p:spPr>
        <p:txBody>
          <a:bodyPr wrap="square">
            <a:spAutoFit/>
          </a:bodyPr>
          <a:lstStyle/>
          <a:p>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a:t>
            </a:r>
            <a:r>
              <a:rPr lang="en-IN" b="0" dirty="0">
                <a:solidFill>
                  <a:srgbClr val="0070C1"/>
                </a:solidFill>
                <a:effectLst/>
                <a:latin typeface="Consolas" panose="020B0609020204030204" pitchFamily="49" charset="0"/>
              </a:rPr>
              <a:t>fs</a:t>
            </a:r>
            <a:r>
              <a:rPr lang="en-IN" b="0" dirty="0">
                <a:solidFill>
                  <a:srgbClr val="000000"/>
                </a:solidFill>
                <a:effectLst/>
                <a:latin typeface="Consolas" panose="020B0609020204030204" pitchFamily="49" charset="0"/>
              </a:rPr>
              <a:t> = </a:t>
            </a:r>
            <a:r>
              <a:rPr lang="en-IN" b="0" dirty="0">
                <a:solidFill>
                  <a:srgbClr val="795E26"/>
                </a:solidFill>
                <a:effectLst/>
                <a:latin typeface="Consolas" panose="020B0609020204030204" pitchFamily="49" charset="0"/>
              </a:rPr>
              <a:t>require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'fs'</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8000"/>
                </a:solidFill>
                <a:effectLst/>
                <a:latin typeface="Consolas" panose="020B0609020204030204" pitchFamily="49" charset="0"/>
              </a:rPr>
              <a:t>//create a file named mynewfile1.txt:</a:t>
            </a:r>
            <a:endParaRPr lang="en-IN" b="0" dirty="0">
              <a:solidFill>
                <a:srgbClr val="000000"/>
              </a:solidFill>
              <a:effectLst/>
              <a:latin typeface="Consolas" panose="020B0609020204030204" pitchFamily="49" charset="0"/>
            </a:endParaRPr>
          </a:p>
          <a:p>
            <a:r>
              <a:rPr lang="en-IN" b="0" dirty="0" err="1">
                <a:solidFill>
                  <a:srgbClr val="0070C1"/>
                </a:solidFill>
                <a:effectLst/>
                <a:latin typeface="Consolas" panose="020B0609020204030204" pitchFamily="49" charset="0"/>
              </a:rPr>
              <a:t>fs</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appendFile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'newfile1.txt'</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'Hello content!'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err</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if</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err</a:t>
            </a: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throw</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err</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'Saved!'</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//The above code will create a //file </a:t>
            </a:r>
            <a:r>
              <a:rPr lang="en-IN" b="0" dirty="0">
                <a:solidFill>
                  <a:srgbClr val="A31515"/>
                </a:solidFill>
                <a:effectLst/>
                <a:latin typeface="Consolas" panose="020B0609020204030204" pitchFamily="49" charset="0"/>
              </a:rPr>
              <a:t>'newfile1.txt’ </a:t>
            </a:r>
            <a:br>
              <a:rPr lang="en-IN" b="0" dirty="0">
                <a:solidFill>
                  <a:srgbClr val="000000"/>
                </a:solidFill>
                <a:effectLst/>
                <a:latin typeface="Consolas" panose="020B0609020204030204" pitchFamily="49" charset="0"/>
              </a:rPr>
            </a:br>
            <a:endParaRPr lang="en-IN" b="0" dirty="0">
              <a:solidFill>
                <a:srgbClr val="000000"/>
              </a:solidFill>
              <a:effectLst/>
              <a:latin typeface="Consolas" panose="020B0609020204030204" pitchFamily="49" charset="0"/>
            </a:endParaRPr>
          </a:p>
        </p:txBody>
      </p:sp>
      <p:sp>
        <p:nvSpPr>
          <p:cNvPr id="8" name="Rectangle 3">
            <a:extLst>
              <a:ext uri="{FF2B5EF4-FFF2-40B4-BE49-F238E27FC236}">
                <a16:creationId xmlns:a16="http://schemas.microsoft.com/office/drawing/2014/main" id="{0F4B7343-C75E-450E-B4A7-AF8CF6E913A7}"/>
              </a:ext>
            </a:extLst>
          </p:cNvPr>
          <p:cNvSpPr>
            <a:spLocks noChangeArrowheads="1"/>
          </p:cNvSpPr>
          <p:nvPr/>
        </p:nvSpPr>
        <p:spPr bwMode="auto">
          <a:xfrm>
            <a:off x="5521597" y="1188894"/>
            <a:ext cx="6670767" cy="616226"/>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Verdana" panose="020B0604030504040204" pitchFamily="34" charset="0"/>
              </a:rPr>
              <a:t>The </a:t>
            </a:r>
            <a:r>
              <a:rPr kumimoji="0" lang="en-US" altLang="en-US" sz="1100" b="0" i="0" u="none" strike="noStrike" cap="none" normalizeH="0" baseline="0" dirty="0" err="1">
                <a:ln>
                  <a:noFill/>
                </a:ln>
                <a:solidFill>
                  <a:srgbClr val="DC143C"/>
                </a:solidFill>
                <a:effectLst/>
                <a:latin typeface="Consolas" panose="020B0609020204030204" pitchFamily="49" charset="0"/>
              </a:rPr>
              <a:t>fs.open</a:t>
            </a:r>
            <a:r>
              <a:rPr kumimoji="0" lang="en-US" altLang="en-US" sz="1100" b="0" i="0" u="none" strike="noStrike" cap="none" normalizeH="0" baseline="0" dirty="0">
                <a:ln>
                  <a:noFill/>
                </a:ln>
                <a:solidFill>
                  <a:srgbClr val="DC143C"/>
                </a:solidFill>
                <a:effectLst/>
                <a:latin typeface="Consolas" panose="020B0609020204030204" pitchFamily="49" charset="0"/>
              </a:rPr>
              <a:t>()</a:t>
            </a:r>
            <a:r>
              <a:rPr kumimoji="0" lang="en-US" altLang="en-US" sz="1100" b="0" i="0" u="none" strike="noStrike" cap="none" normalizeH="0" baseline="0" dirty="0">
                <a:ln>
                  <a:noFill/>
                </a:ln>
                <a:solidFill>
                  <a:srgbClr val="000000"/>
                </a:solidFill>
                <a:effectLst/>
                <a:latin typeface="Verdana" panose="020B0604030504040204" pitchFamily="34" charset="0"/>
              </a:rPr>
              <a:t> method takes a "flag" as the second argument, if the flag is "w" for "writing", the specified file is opened for writing. If the file does not exist, an empty file is created:</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57E4CBC0-C2A0-4232-908B-EA325A03EC7B}"/>
              </a:ext>
            </a:extLst>
          </p:cNvPr>
          <p:cNvSpPr txBox="1"/>
          <p:nvPr/>
        </p:nvSpPr>
        <p:spPr>
          <a:xfrm>
            <a:off x="5712822" y="1855042"/>
            <a:ext cx="6270171" cy="2031325"/>
          </a:xfrm>
          <a:prstGeom prst="rect">
            <a:avLst/>
          </a:prstGeom>
          <a:noFill/>
        </p:spPr>
        <p:txBody>
          <a:bodyPr wrap="square">
            <a:spAutoFit/>
          </a:bodyPr>
          <a:lstStyle/>
          <a:p>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a:t>
            </a:r>
            <a:r>
              <a:rPr lang="en-IN" b="0" dirty="0">
                <a:solidFill>
                  <a:srgbClr val="0070C1"/>
                </a:solidFill>
                <a:effectLst/>
                <a:latin typeface="Consolas" panose="020B0609020204030204" pitchFamily="49" charset="0"/>
              </a:rPr>
              <a:t>fs</a:t>
            </a:r>
            <a:r>
              <a:rPr lang="en-IN" b="0" dirty="0">
                <a:solidFill>
                  <a:srgbClr val="000000"/>
                </a:solidFill>
                <a:effectLst/>
                <a:latin typeface="Consolas" panose="020B0609020204030204" pitchFamily="49" charset="0"/>
              </a:rPr>
              <a:t> = </a:t>
            </a:r>
            <a:r>
              <a:rPr lang="en-IN" b="0" dirty="0">
                <a:solidFill>
                  <a:srgbClr val="795E26"/>
                </a:solidFill>
                <a:effectLst/>
                <a:latin typeface="Consolas" panose="020B0609020204030204" pitchFamily="49" charset="0"/>
              </a:rPr>
              <a:t>require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'fs'</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err="1">
                <a:solidFill>
                  <a:srgbClr val="0070C1"/>
                </a:solidFill>
                <a:effectLst/>
                <a:latin typeface="Consolas" panose="020B0609020204030204" pitchFamily="49" charset="0"/>
              </a:rPr>
              <a:t>fs</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open</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'newfile2.txt'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'w'</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err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file</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if</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err</a:t>
            </a: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throw</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err</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'Saved!'</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3276767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7107A-B931-452F-B8F0-24D805622936}"/>
              </a:ext>
            </a:extLst>
          </p:cNvPr>
          <p:cNvSpPr>
            <a:spLocks noGrp="1"/>
          </p:cNvSpPr>
          <p:nvPr>
            <p:ph type="title"/>
          </p:nvPr>
        </p:nvSpPr>
        <p:spPr>
          <a:xfrm>
            <a:off x="1938868" y="0"/>
            <a:ext cx="1803399" cy="315912"/>
          </a:xfrm>
        </p:spPr>
        <p:txBody>
          <a:bodyPr>
            <a:noAutofit/>
          </a:bodyPr>
          <a:lstStyle/>
          <a:p>
            <a:r>
              <a:rPr lang="en-IN" sz="1800" b="0" i="0" dirty="0">
                <a:effectLst/>
                <a:latin typeface="Arial" panose="020B0604020202020204" pitchFamily="34" charset="0"/>
              </a:rPr>
              <a:t>Writing a File</a:t>
            </a:r>
            <a:endParaRPr lang="en-IN" sz="1800" dirty="0"/>
          </a:p>
        </p:txBody>
      </p:sp>
      <p:sp>
        <p:nvSpPr>
          <p:cNvPr id="3" name="Content Placeholder 2">
            <a:extLst>
              <a:ext uri="{FF2B5EF4-FFF2-40B4-BE49-F238E27FC236}">
                <a16:creationId xmlns:a16="http://schemas.microsoft.com/office/drawing/2014/main" id="{06ED64B0-3822-4F73-830F-65E777871A8C}"/>
              </a:ext>
            </a:extLst>
          </p:cNvPr>
          <p:cNvSpPr>
            <a:spLocks noGrp="1"/>
          </p:cNvSpPr>
          <p:nvPr>
            <p:ph idx="1"/>
          </p:nvPr>
        </p:nvSpPr>
        <p:spPr>
          <a:xfrm>
            <a:off x="965199" y="296742"/>
            <a:ext cx="11523134" cy="858309"/>
          </a:xfrm>
        </p:spPr>
        <p:txBody>
          <a:bodyPr>
            <a:normAutofit/>
          </a:bodyPr>
          <a:lstStyle/>
          <a:p>
            <a:r>
              <a:rPr kumimoji="0" lang="en-US" altLang="en-US" sz="1700" b="0" i="0" u="none" strike="noStrike" cap="none" normalizeH="0" baseline="0" dirty="0">
                <a:ln>
                  <a:noFill/>
                </a:ln>
                <a:solidFill>
                  <a:srgbClr val="000000"/>
                </a:solidFill>
                <a:effectLst/>
                <a:latin typeface="Verdana" panose="020B0604030504040204" pitchFamily="34" charset="0"/>
              </a:rPr>
              <a:t>The </a:t>
            </a:r>
            <a:r>
              <a:rPr kumimoji="0" lang="en-US" altLang="en-US" sz="1700" b="0" i="0" u="none" strike="noStrike" cap="none" normalizeH="0" baseline="0" dirty="0" err="1">
                <a:ln>
                  <a:noFill/>
                </a:ln>
                <a:solidFill>
                  <a:srgbClr val="DC143C"/>
                </a:solidFill>
                <a:effectLst/>
                <a:latin typeface="Consolas" panose="020B0609020204030204" pitchFamily="49" charset="0"/>
              </a:rPr>
              <a:t>fs.writeFile</a:t>
            </a:r>
            <a:r>
              <a:rPr kumimoji="0" lang="en-US" altLang="en-US" sz="1700" b="0" i="0" u="none" strike="noStrike" cap="none" normalizeH="0" baseline="0" dirty="0">
                <a:ln>
                  <a:noFill/>
                </a:ln>
                <a:solidFill>
                  <a:srgbClr val="DC143C"/>
                </a:solidFill>
                <a:effectLst/>
                <a:latin typeface="Consolas" panose="020B0609020204030204" pitchFamily="49" charset="0"/>
              </a:rPr>
              <a:t>()</a:t>
            </a:r>
            <a:r>
              <a:rPr kumimoji="0" lang="en-US" altLang="en-US" sz="1700" b="0" i="0" u="none" strike="noStrike" cap="none" normalizeH="0" baseline="0" dirty="0">
                <a:ln>
                  <a:noFill/>
                </a:ln>
                <a:solidFill>
                  <a:srgbClr val="000000"/>
                </a:solidFill>
                <a:effectLst/>
                <a:latin typeface="Verdana" panose="020B0604030504040204" pitchFamily="34" charset="0"/>
              </a:rPr>
              <a:t> method replaces the specified file and content if it exists. If the file does not exist, a new file, containing the specified content, will be created:</a:t>
            </a:r>
            <a:r>
              <a:rPr kumimoji="0" lang="en-US" altLang="en-US" sz="1700" b="0" i="0" u="none" strike="noStrike" cap="none" normalizeH="0" baseline="0" dirty="0">
                <a:ln>
                  <a:noFill/>
                </a:ln>
                <a:solidFill>
                  <a:schemeClr val="tx1"/>
                </a:solidFill>
                <a:effectLst/>
              </a:rPr>
              <a:t> It </a:t>
            </a:r>
            <a:r>
              <a:rPr lang="en-US" sz="1700" b="0" i="0" dirty="0">
                <a:solidFill>
                  <a:srgbClr val="000000"/>
                </a:solidFill>
                <a:effectLst/>
                <a:latin typeface="Verdana" panose="020B0604030504040204" pitchFamily="34" charset="0"/>
              </a:rPr>
              <a:t>replaces the specified file and content:</a:t>
            </a:r>
          </a:p>
          <a:p>
            <a:endParaRPr kumimoji="0" lang="en-US" altLang="en-US" sz="1700" b="0" i="0" u="none" strike="noStrike" cap="none" normalizeH="0" baseline="0" dirty="0">
              <a:ln>
                <a:noFill/>
              </a:ln>
              <a:solidFill>
                <a:schemeClr val="tx1"/>
              </a:solidFill>
              <a:effectLst/>
              <a:latin typeface="Arial" panose="020B0604020202020204" pitchFamily="34" charset="0"/>
            </a:endParaRPr>
          </a:p>
          <a:p>
            <a:endParaRPr lang="en-IN" dirty="0"/>
          </a:p>
        </p:txBody>
      </p:sp>
      <p:sp>
        <p:nvSpPr>
          <p:cNvPr id="4" name="TextBox 3">
            <a:extLst>
              <a:ext uri="{FF2B5EF4-FFF2-40B4-BE49-F238E27FC236}">
                <a16:creationId xmlns:a16="http://schemas.microsoft.com/office/drawing/2014/main" id="{F7FBFE7F-067C-4A53-90EF-E7FB82AB2C67}"/>
              </a:ext>
            </a:extLst>
          </p:cNvPr>
          <p:cNvSpPr txBox="1"/>
          <p:nvPr/>
        </p:nvSpPr>
        <p:spPr>
          <a:xfrm>
            <a:off x="397933" y="2265494"/>
            <a:ext cx="8097138" cy="1754326"/>
          </a:xfrm>
          <a:prstGeom prst="rect">
            <a:avLst/>
          </a:prstGeom>
          <a:noFill/>
        </p:spPr>
        <p:txBody>
          <a:bodyPr wrap="square">
            <a:spAutoFit/>
          </a:bodyPr>
          <a:lstStyle/>
          <a:p>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a:t>
            </a:r>
            <a:r>
              <a:rPr lang="en-IN" b="0" dirty="0">
                <a:solidFill>
                  <a:srgbClr val="0070C1"/>
                </a:solidFill>
                <a:effectLst/>
                <a:latin typeface="Consolas" panose="020B0609020204030204" pitchFamily="49" charset="0"/>
              </a:rPr>
              <a:t>fs</a:t>
            </a:r>
            <a:r>
              <a:rPr lang="en-IN" b="0" dirty="0">
                <a:solidFill>
                  <a:srgbClr val="000000"/>
                </a:solidFill>
                <a:effectLst/>
                <a:latin typeface="Consolas" panose="020B0609020204030204" pitchFamily="49" charset="0"/>
              </a:rPr>
              <a:t> = </a:t>
            </a:r>
            <a:r>
              <a:rPr lang="en-IN" b="0" dirty="0">
                <a:solidFill>
                  <a:srgbClr val="795E26"/>
                </a:solidFill>
                <a:effectLst/>
                <a:latin typeface="Consolas" panose="020B0609020204030204" pitchFamily="49" charset="0"/>
              </a:rPr>
              <a:t>require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'fs'</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err="1">
                <a:solidFill>
                  <a:srgbClr val="0070C1"/>
                </a:solidFill>
                <a:effectLst/>
                <a:latin typeface="Consolas" panose="020B0609020204030204" pitchFamily="49" charset="0"/>
              </a:rPr>
              <a:t>fs</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writeFile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'newfile3.txt'</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'Hello content!'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err</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if</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err</a:t>
            </a: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throw</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err</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'Saved!'</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a:t>
            </a:r>
          </a:p>
        </p:txBody>
      </p:sp>
      <p:sp>
        <p:nvSpPr>
          <p:cNvPr id="5" name="Rectangle 1">
            <a:extLst>
              <a:ext uri="{FF2B5EF4-FFF2-40B4-BE49-F238E27FC236}">
                <a16:creationId xmlns:a16="http://schemas.microsoft.com/office/drawing/2014/main" id="{2286C66E-2353-4C69-A93A-F0619F1EC9F8}"/>
              </a:ext>
            </a:extLst>
          </p:cNvPr>
          <p:cNvSpPr>
            <a:spLocks noChangeArrowheads="1"/>
          </p:cNvSpPr>
          <p:nvPr/>
        </p:nvSpPr>
        <p:spPr bwMode="auto">
          <a:xfrm>
            <a:off x="313266" y="1230985"/>
            <a:ext cx="4419601" cy="259148"/>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fs.writeFile</a:t>
            </a:r>
            <a:r>
              <a:rPr kumimoji="0" lang="en-US" altLang="en-US" sz="11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(filename, data[, options], callback)</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928DA81C-AB22-46E5-8248-BA863332E149}"/>
              </a:ext>
            </a:extLst>
          </p:cNvPr>
          <p:cNvSpPr txBox="1"/>
          <p:nvPr/>
        </p:nvSpPr>
        <p:spPr>
          <a:xfrm>
            <a:off x="4859866" y="843677"/>
            <a:ext cx="7230534" cy="2031325"/>
          </a:xfrm>
          <a:prstGeom prst="rect">
            <a:avLst/>
          </a:prstGeom>
          <a:noFill/>
        </p:spPr>
        <p:txBody>
          <a:bodyPr wrap="square">
            <a:spAutoFit/>
          </a:bodyPr>
          <a:lstStyle/>
          <a:p>
            <a:pPr algn="just">
              <a:buFont typeface="Arial" panose="020B0604020202020204" pitchFamily="34" charset="0"/>
              <a:buChar char="•"/>
            </a:pPr>
            <a:r>
              <a:rPr lang="en-US" b="1" i="0" dirty="0">
                <a:solidFill>
                  <a:srgbClr val="000000"/>
                </a:solidFill>
                <a:effectLst/>
                <a:latin typeface="Arial" panose="020B0604020202020204" pitchFamily="34" charset="0"/>
              </a:rPr>
              <a:t>path</a:t>
            </a:r>
            <a:r>
              <a:rPr lang="en-US" b="0" i="0" dirty="0">
                <a:solidFill>
                  <a:srgbClr val="000000"/>
                </a:solidFill>
                <a:effectLst/>
                <a:latin typeface="Arial" panose="020B0604020202020204" pitchFamily="34" charset="0"/>
              </a:rPr>
              <a:t> − This is the string having the file name including path.</a:t>
            </a:r>
          </a:p>
          <a:p>
            <a:pPr algn="just">
              <a:buFont typeface="Arial" panose="020B0604020202020204" pitchFamily="34" charset="0"/>
              <a:buChar char="•"/>
            </a:pPr>
            <a:r>
              <a:rPr lang="en-US" b="1" i="0" dirty="0">
                <a:solidFill>
                  <a:srgbClr val="000000"/>
                </a:solidFill>
                <a:effectLst/>
                <a:latin typeface="Arial" panose="020B0604020202020204" pitchFamily="34" charset="0"/>
              </a:rPr>
              <a:t>data</a:t>
            </a:r>
            <a:r>
              <a:rPr lang="en-US" b="0" i="0" dirty="0">
                <a:solidFill>
                  <a:srgbClr val="000000"/>
                </a:solidFill>
                <a:effectLst/>
                <a:latin typeface="Arial" panose="020B0604020202020204" pitchFamily="34" charset="0"/>
              </a:rPr>
              <a:t> − This is the String or Buffer to be written into the file.</a:t>
            </a:r>
          </a:p>
          <a:p>
            <a:pPr algn="just">
              <a:buFont typeface="Arial" panose="020B0604020202020204" pitchFamily="34" charset="0"/>
              <a:buChar char="•"/>
            </a:pPr>
            <a:r>
              <a:rPr lang="en-US" b="1" i="0" dirty="0">
                <a:solidFill>
                  <a:srgbClr val="000000"/>
                </a:solidFill>
                <a:effectLst/>
                <a:latin typeface="Arial" panose="020B0604020202020204" pitchFamily="34" charset="0"/>
              </a:rPr>
              <a:t>options</a:t>
            </a:r>
            <a:r>
              <a:rPr lang="en-US" b="0" i="0" dirty="0">
                <a:solidFill>
                  <a:srgbClr val="000000"/>
                </a:solidFill>
                <a:effectLst/>
                <a:latin typeface="Arial" panose="020B0604020202020204" pitchFamily="34" charset="0"/>
              </a:rPr>
              <a:t> − The third parameter is an object which will hold {encoding, mode, flag}. By default. encoding is utf8, mode is octal value 0666. and flag is 'w'</a:t>
            </a:r>
          </a:p>
          <a:p>
            <a:pPr algn="just">
              <a:buFont typeface="Arial" panose="020B0604020202020204" pitchFamily="34" charset="0"/>
              <a:buChar char="•"/>
            </a:pPr>
            <a:r>
              <a:rPr lang="en-US" b="1" i="0" dirty="0">
                <a:solidFill>
                  <a:srgbClr val="000000"/>
                </a:solidFill>
                <a:effectLst/>
                <a:latin typeface="Arial" panose="020B0604020202020204" pitchFamily="34" charset="0"/>
              </a:rPr>
              <a:t>callback</a:t>
            </a:r>
            <a:r>
              <a:rPr lang="en-US" b="0" i="0" dirty="0">
                <a:solidFill>
                  <a:srgbClr val="000000"/>
                </a:solidFill>
                <a:effectLst/>
                <a:latin typeface="Arial" panose="020B0604020202020204" pitchFamily="34" charset="0"/>
              </a:rPr>
              <a:t> − This is the callback function which gets a single parameter err that returns an error in case of any writing error.</a:t>
            </a:r>
          </a:p>
        </p:txBody>
      </p:sp>
      <p:sp>
        <p:nvSpPr>
          <p:cNvPr id="8" name="TextBox 7">
            <a:extLst>
              <a:ext uri="{FF2B5EF4-FFF2-40B4-BE49-F238E27FC236}">
                <a16:creationId xmlns:a16="http://schemas.microsoft.com/office/drawing/2014/main" id="{1F0EDB1A-F91E-4503-8E73-6500816D7437}"/>
              </a:ext>
            </a:extLst>
          </p:cNvPr>
          <p:cNvSpPr txBox="1"/>
          <p:nvPr/>
        </p:nvSpPr>
        <p:spPr>
          <a:xfrm>
            <a:off x="702732" y="4365131"/>
            <a:ext cx="10828867" cy="2215991"/>
          </a:xfrm>
          <a:prstGeom prst="rect">
            <a:avLst/>
          </a:prstGeom>
          <a:noFill/>
        </p:spPr>
        <p:txBody>
          <a:bodyPr wrap="square" rtlCol="0">
            <a:spAutoFit/>
          </a:bodyPr>
          <a:lstStyle/>
          <a:p>
            <a:r>
              <a:rPr lang="en-IN" dirty="0"/>
              <a:t>In ES6 instead of require we use</a:t>
            </a:r>
            <a:r>
              <a:rPr lang="en-IN" b="1" dirty="0"/>
              <a:t> import</a:t>
            </a:r>
          </a:p>
          <a:p>
            <a:r>
              <a:rPr lang="en-US" sz="1600" b="0" i="0" dirty="0">
                <a:solidFill>
                  <a:srgbClr val="202124"/>
                </a:solidFill>
                <a:effectLst/>
                <a:latin typeface="arial" panose="020B0604020202020204" pitchFamily="34" charset="0"/>
              </a:rPr>
              <a:t>You can also use </a:t>
            </a:r>
            <a:r>
              <a:rPr lang="en-US" sz="1600" b="1" i="0" dirty="0" err="1">
                <a:solidFill>
                  <a:srgbClr val="202124"/>
                </a:solidFill>
                <a:effectLst/>
                <a:latin typeface="arial" panose="020B0604020202020204" pitchFamily="34" charset="0"/>
              </a:rPr>
              <a:t>npm</a:t>
            </a:r>
            <a:r>
              <a:rPr lang="en-US" sz="1600" b="0" i="0" dirty="0">
                <a:solidFill>
                  <a:srgbClr val="202124"/>
                </a:solidFill>
                <a:effectLst/>
                <a:latin typeface="arial" panose="020B0604020202020204" pitchFamily="34" charset="0"/>
              </a:rPr>
              <a:t> package called </a:t>
            </a:r>
            <a:r>
              <a:rPr lang="en-US" sz="1600" b="0" i="0" dirty="0" err="1">
                <a:solidFill>
                  <a:srgbClr val="202124"/>
                </a:solidFill>
                <a:effectLst/>
                <a:latin typeface="arial" panose="020B0604020202020204" pitchFamily="34" charset="0"/>
              </a:rPr>
              <a:t>esm</a:t>
            </a:r>
            <a:r>
              <a:rPr lang="en-US" sz="1600" b="0" i="0" dirty="0">
                <a:solidFill>
                  <a:srgbClr val="202124"/>
                </a:solidFill>
                <a:effectLst/>
                <a:latin typeface="arial" panose="020B0604020202020204" pitchFamily="34" charset="0"/>
              </a:rPr>
              <a:t> which allows you to use </a:t>
            </a:r>
          </a:p>
          <a:p>
            <a:r>
              <a:rPr lang="en-US" sz="1600" b="1" i="0" dirty="0">
                <a:solidFill>
                  <a:srgbClr val="202124"/>
                </a:solidFill>
                <a:effectLst/>
                <a:latin typeface="arial" panose="020B0604020202020204" pitchFamily="34" charset="0"/>
              </a:rPr>
              <a:t>ES6 modules</a:t>
            </a:r>
            <a:r>
              <a:rPr lang="en-US" sz="1600" b="0" i="0" dirty="0">
                <a:solidFill>
                  <a:srgbClr val="202124"/>
                </a:solidFill>
                <a:effectLst/>
                <a:latin typeface="arial" panose="020B0604020202020204" pitchFamily="34" charset="0"/>
              </a:rPr>
              <a:t> in </a:t>
            </a:r>
            <a:r>
              <a:rPr lang="en-US" sz="1600" b="1" i="0" dirty="0">
                <a:solidFill>
                  <a:srgbClr val="202124"/>
                </a:solidFill>
                <a:effectLst/>
                <a:latin typeface="arial" panose="020B0604020202020204" pitchFamily="34" charset="0"/>
              </a:rPr>
              <a:t>Node</a:t>
            </a:r>
            <a:r>
              <a:rPr lang="en-US" sz="1600" b="0" i="0" dirty="0">
                <a:solidFill>
                  <a:srgbClr val="202124"/>
                </a:solidFill>
                <a:effectLst/>
                <a:latin typeface="arial" panose="020B0604020202020204" pitchFamily="34" charset="0"/>
              </a:rPr>
              <a:t>. </a:t>
            </a:r>
            <a:r>
              <a:rPr lang="en-US" sz="1600" b="0" i="0" dirty="0" err="1">
                <a:solidFill>
                  <a:srgbClr val="202124"/>
                </a:solidFill>
                <a:effectLst/>
                <a:latin typeface="arial" panose="020B0604020202020204" pitchFamily="34" charset="0"/>
              </a:rPr>
              <a:t>js</a:t>
            </a:r>
            <a:r>
              <a:rPr lang="en-US" sz="1600" b="0" i="0" dirty="0">
                <a:solidFill>
                  <a:srgbClr val="202124"/>
                </a:solidFill>
                <a:effectLst/>
                <a:latin typeface="arial" panose="020B0604020202020204" pitchFamily="34" charset="0"/>
              </a:rPr>
              <a:t>.</a:t>
            </a:r>
          </a:p>
          <a:p>
            <a:r>
              <a:rPr lang="en-US" sz="1600" b="0" i="0" dirty="0">
                <a:solidFill>
                  <a:srgbClr val="202124"/>
                </a:solidFill>
                <a:effectLst/>
                <a:latin typeface="arial" panose="020B0604020202020204" pitchFamily="34" charset="0"/>
              </a:rPr>
              <a:t> It needs no configuration. With </a:t>
            </a:r>
            <a:r>
              <a:rPr lang="en-US" sz="1600" b="0" i="0" dirty="0" err="1">
                <a:solidFill>
                  <a:srgbClr val="202124"/>
                </a:solidFill>
                <a:effectLst/>
                <a:latin typeface="arial" panose="020B0604020202020204" pitchFamily="34" charset="0"/>
              </a:rPr>
              <a:t>esm</a:t>
            </a:r>
            <a:r>
              <a:rPr lang="en-US" sz="1600" b="0" i="0" dirty="0">
                <a:solidFill>
                  <a:srgbClr val="202124"/>
                </a:solidFill>
                <a:effectLst/>
                <a:latin typeface="arial" panose="020B0604020202020204" pitchFamily="34" charset="0"/>
              </a:rPr>
              <a:t> you will be able to use export/</a:t>
            </a:r>
            <a:r>
              <a:rPr lang="en-US" sz="1600" b="1" i="0" dirty="0">
                <a:solidFill>
                  <a:srgbClr val="202124"/>
                </a:solidFill>
                <a:effectLst/>
                <a:latin typeface="arial" panose="020B0604020202020204" pitchFamily="34" charset="0"/>
              </a:rPr>
              <a:t>import</a:t>
            </a:r>
            <a:r>
              <a:rPr lang="en-US" sz="1600" b="0" i="0" dirty="0">
                <a:solidFill>
                  <a:srgbClr val="202124"/>
                </a:solidFill>
                <a:effectLst/>
                <a:latin typeface="arial" panose="020B0604020202020204" pitchFamily="34" charset="0"/>
              </a:rPr>
              <a:t> in your JavaScript files.</a:t>
            </a:r>
          </a:p>
          <a:p>
            <a:r>
              <a:rPr lang="en-US" dirty="0">
                <a:solidFill>
                  <a:srgbClr val="202124"/>
                </a:solidFill>
                <a:latin typeface="arial" panose="020B0604020202020204" pitchFamily="34" charset="0"/>
              </a:rPr>
              <a:t>On command prompt :</a:t>
            </a:r>
          </a:p>
          <a:p>
            <a:r>
              <a:rPr lang="en-US" dirty="0" err="1">
                <a:solidFill>
                  <a:srgbClr val="202124"/>
                </a:solidFill>
                <a:latin typeface="arial" panose="020B0604020202020204" pitchFamily="34" charset="0"/>
              </a:rPr>
              <a:t>npm</a:t>
            </a:r>
            <a:r>
              <a:rPr lang="en-US" dirty="0">
                <a:solidFill>
                  <a:srgbClr val="202124"/>
                </a:solidFill>
                <a:latin typeface="arial" panose="020B0604020202020204" pitchFamily="34" charset="0"/>
              </a:rPr>
              <a:t> install -g </a:t>
            </a:r>
            <a:r>
              <a:rPr lang="en-US" dirty="0" err="1">
                <a:solidFill>
                  <a:srgbClr val="202124"/>
                </a:solidFill>
                <a:latin typeface="arial" panose="020B0604020202020204" pitchFamily="34" charset="0"/>
              </a:rPr>
              <a:t>esm</a:t>
            </a:r>
            <a:endParaRPr lang="en-US" dirty="0">
              <a:solidFill>
                <a:srgbClr val="202124"/>
              </a:solidFill>
              <a:latin typeface="arial" panose="020B0604020202020204" pitchFamily="34" charset="0"/>
            </a:endParaRPr>
          </a:p>
          <a:p>
            <a:r>
              <a:rPr lang="en-US" dirty="0">
                <a:solidFill>
                  <a:srgbClr val="202124"/>
                </a:solidFill>
                <a:latin typeface="arial" panose="020B0604020202020204" pitchFamily="34" charset="0"/>
              </a:rPr>
              <a:t>Also run code with following command</a:t>
            </a:r>
          </a:p>
          <a:p>
            <a:r>
              <a:rPr kumimoji="0" lang="en-US" altLang="en-US" b="0" i="0" u="none" strike="noStrike" cap="none" normalizeH="0" baseline="0" dirty="0">
                <a:ln>
                  <a:noFill/>
                </a:ln>
                <a:solidFill>
                  <a:schemeClr val="tx1"/>
                </a:solidFill>
                <a:effectLst/>
                <a:latin typeface="inherit"/>
              </a:rPr>
              <a:t>node --experimental-modules </a:t>
            </a:r>
            <a:r>
              <a:rPr kumimoji="0" lang="en-US" altLang="en-US" b="0" i="0" u="none" strike="noStrike" cap="none" normalizeH="0" baseline="0" dirty="0" err="1">
                <a:ln>
                  <a:noFill/>
                </a:ln>
                <a:solidFill>
                  <a:schemeClr val="tx1"/>
                </a:solidFill>
                <a:effectLst/>
                <a:latin typeface="inherit"/>
              </a:rPr>
              <a:t>filename.mjs</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ie</a:t>
            </a:r>
            <a:r>
              <a:rPr kumimoji="0" lang="en-US" altLang="en-US" b="0" i="0" u="none" strike="noStrike" cap="none" normalizeH="0" baseline="0" dirty="0">
                <a:ln>
                  <a:noFill/>
                </a:ln>
                <a:solidFill>
                  <a:schemeClr val="tx1"/>
                </a:solidFill>
                <a:effectLst/>
              </a:rPr>
              <a:t>. your file </a:t>
            </a:r>
            <a:r>
              <a:rPr kumimoji="0" lang="en-US" altLang="en-US" b="0" i="0" u="none" strike="noStrike" cap="none" normalizeH="0" baseline="0" dirty="0" err="1">
                <a:ln>
                  <a:noFill/>
                </a:ln>
                <a:solidFill>
                  <a:schemeClr val="tx1"/>
                </a:solidFill>
                <a:effectLst/>
              </a:rPr>
              <a:t>extention</a:t>
            </a:r>
            <a:r>
              <a:rPr kumimoji="0" lang="en-US" altLang="en-US" b="0" i="0" u="none" strike="noStrike" cap="none" normalizeH="0" baseline="0" dirty="0">
                <a:ln>
                  <a:noFill/>
                </a:ln>
                <a:solidFill>
                  <a:schemeClr val="tx1"/>
                </a:solidFill>
                <a:effectLst/>
              </a:rPr>
              <a:t> will be now .</a:t>
            </a:r>
            <a:r>
              <a:rPr kumimoji="0" lang="en-US" altLang="en-US" b="0" i="0" u="none" strike="noStrike" cap="none" normalizeH="0" baseline="0" dirty="0" err="1">
                <a:ln>
                  <a:noFill/>
                </a:ln>
                <a:solidFill>
                  <a:schemeClr val="tx1"/>
                </a:solidFill>
                <a:effectLst/>
              </a:rPr>
              <a:t>mjs</a:t>
            </a:r>
            <a:r>
              <a:rPr kumimoji="0" lang="en-US" altLang="en-US" b="0" i="0" u="none" strike="noStrike" cap="none" normalizeH="0" baseline="0" dirty="0">
                <a:ln>
                  <a:noFill/>
                </a:ln>
                <a:solidFill>
                  <a:schemeClr val="tx1"/>
                </a:solidFill>
                <a:effectLst/>
              </a:rPr>
              <a:t>]</a:t>
            </a:r>
            <a:endParaRPr lang="en-IN" b="1" dirty="0"/>
          </a:p>
        </p:txBody>
      </p:sp>
      <p:sp>
        <p:nvSpPr>
          <p:cNvPr id="9" name="Rectangle 2">
            <a:extLst>
              <a:ext uri="{FF2B5EF4-FFF2-40B4-BE49-F238E27FC236}">
                <a16:creationId xmlns:a16="http://schemas.microsoft.com/office/drawing/2014/main" id="{37AFA736-FDA6-47B1-BB21-B2C084F70ABF}"/>
              </a:ext>
            </a:extLst>
          </p:cNvPr>
          <p:cNvSpPr>
            <a:spLocks noChangeArrowheads="1"/>
          </p:cNvSpPr>
          <p:nvPr/>
        </p:nvSpPr>
        <p:spPr bwMode="auto">
          <a:xfrm>
            <a:off x="4859866" y="6083572"/>
            <a:ext cx="63669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B8819041-4FFF-4CA8-AAB0-1765A491D543}"/>
              </a:ext>
            </a:extLst>
          </p:cNvPr>
          <p:cNvSpPr txBox="1"/>
          <p:nvPr/>
        </p:nvSpPr>
        <p:spPr>
          <a:xfrm>
            <a:off x="8436075" y="2833474"/>
            <a:ext cx="3864077" cy="2308324"/>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pPr marL="0" indent="0">
              <a:buNone/>
            </a:pPr>
            <a:r>
              <a:rPr lang="en-IN" dirty="0"/>
              <a:t>import { </a:t>
            </a:r>
            <a:r>
              <a:rPr lang="en-IN" dirty="0" err="1"/>
              <a:t>writeFile</a:t>
            </a:r>
            <a:r>
              <a:rPr lang="en-IN" dirty="0"/>
              <a:t> } from 'fs';</a:t>
            </a:r>
          </a:p>
          <a:p>
            <a:pPr marL="0" indent="0">
              <a:buNone/>
            </a:pPr>
            <a:endParaRPr lang="en-IN" dirty="0"/>
          </a:p>
          <a:p>
            <a:pPr marL="0" indent="0">
              <a:buNone/>
            </a:pPr>
            <a:r>
              <a:rPr lang="en-IN" dirty="0" err="1"/>
              <a:t>writeFile</a:t>
            </a:r>
            <a:r>
              <a:rPr lang="en-IN" dirty="0"/>
              <a:t>('mynewfile3.txt', 'Hello content!', function (err) {</a:t>
            </a:r>
          </a:p>
          <a:p>
            <a:pPr marL="0" indent="0">
              <a:buNone/>
            </a:pPr>
            <a:r>
              <a:rPr lang="en-IN" dirty="0"/>
              <a:t>  if (err) throw err;</a:t>
            </a:r>
          </a:p>
          <a:p>
            <a:pPr marL="0" indent="0">
              <a:buNone/>
            </a:pPr>
            <a:r>
              <a:rPr lang="en-IN" dirty="0"/>
              <a:t>  console.log('Saved!');</a:t>
            </a:r>
          </a:p>
          <a:p>
            <a:pPr marL="0" indent="0">
              <a:buNone/>
            </a:pPr>
            <a:r>
              <a:rPr lang="en-IN" dirty="0"/>
              <a:t>});</a:t>
            </a:r>
          </a:p>
          <a:p>
            <a:pPr marL="0" indent="0">
              <a:buNone/>
            </a:pPr>
            <a:r>
              <a:rPr lang="en-IN" dirty="0" err="1"/>
              <a:t>Writefile.</a:t>
            </a:r>
            <a:r>
              <a:rPr lang="en-IN" b="1" dirty="0" err="1"/>
              <a:t>mjs</a:t>
            </a:r>
            <a:endParaRPr lang="en-IN" b="1" dirty="0"/>
          </a:p>
        </p:txBody>
      </p:sp>
      <p:cxnSp>
        <p:nvCxnSpPr>
          <p:cNvPr id="11" name="Straight Arrow Connector 10">
            <a:extLst>
              <a:ext uri="{FF2B5EF4-FFF2-40B4-BE49-F238E27FC236}">
                <a16:creationId xmlns:a16="http://schemas.microsoft.com/office/drawing/2014/main" id="{E390C05E-F296-4963-9E44-5AC648F1D54C}"/>
              </a:ext>
            </a:extLst>
          </p:cNvPr>
          <p:cNvCxnSpPr/>
          <p:nvPr/>
        </p:nvCxnSpPr>
        <p:spPr>
          <a:xfrm flipV="1">
            <a:off x="7502013" y="3564816"/>
            <a:ext cx="1877961" cy="10286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750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AC1E1E-A33F-40BE-A08B-20865B60142A}"/>
              </a:ext>
            </a:extLst>
          </p:cNvPr>
          <p:cNvSpPr>
            <a:spLocks noGrp="1"/>
          </p:cNvSpPr>
          <p:nvPr>
            <p:ph idx="1"/>
          </p:nvPr>
        </p:nvSpPr>
        <p:spPr>
          <a:xfrm>
            <a:off x="708025" y="845069"/>
            <a:ext cx="11269133" cy="2057136"/>
          </a:xfrm>
        </p:spPr>
        <p:txBody>
          <a:bodyPr>
            <a:normAutofit fontScale="55000" lnSpcReduction="20000"/>
          </a:bodyPr>
          <a:lstStyle/>
          <a:p>
            <a:pPr algn="just">
              <a:buFont typeface="Arial" panose="020B0604020202020204" pitchFamily="34" charset="0"/>
              <a:buChar char="•"/>
            </a:pPr>
            <a:r>
              <a:rPr lang="en-US" b="1" i="0" dirty="0" err="1">
                <a:solidFill>
                  <a:srgbClr val="000000"/>
                </a:solidFill>
                <a:effectLst/>
                <a:latin typeface="+mj-lt"/>
              </a:rPr>
              <a:t>fd</a:t>
            </a:r>
            <a:r>
              <a:rPr lang="en-US" b="0" i="0" dirty="0">
                <a:solidFill>
                  <a:srgbClr val="000000"/>
                </a:solidFill>
                <a:effectLst/>
                <a:latin typeface="+mj-lt"/>
              </a:rPr>
              <a:t> − This is the file descriptor returned by </a:t>
            </a:r>
            <a:r>
              <a:rPr lang="en-US" b="0" i="0" dirty="0" err="1">
                <a:solidFill>
                  <a:srgbClr val="000000"/>
                </a:solidFill>
                <a:effectLst/>
                <a:latin typeface="+mj-lt"/>
              </a:rPr>
              <a:t>fs.open</a:t>
            </a:r>
            <a:r>
              <a:rPr lang="en-US" b="0" i="0" dirty="0">
                <a:solidFill>
                  <a:srgbClr val="000000"/>
                </a:solidFill>
                <a:effectLst/>
                <a:latin typeface="+mj-lt"/>
              </a:rPr>
              <a:t>().</a:t>
            </a:r>
          </a:p>
          <a:p>
            <a:pPr algn="just">
              <a:buFont typeface="Arial" panose="020B0604020202020204" pitchFamily="34" charset="0"/>
              <a:buChar char="•"/>
            </a:pPr>
            <a:r>
              <a:rPr lang="en-US" b="1" i="0" dirty="0">
                <a:solidFill>
                  <a:srgbClr val="000000"/>
                </a:solidFill>
                <a:effectLst/>
                <a:latin typeface="+mj-lt"/>
              </a:rPr>
              <a:t>buffer</a:t>
            </a:r>
            <a:r>
              <a:rPr lang="en-US" b="0" i="0" dirty="0">
                <a:solidFill>
                  <a:srgbClr val="000000"/>
                </a:solidFill>
                <a:effectLst/>
                <a:latin typeface="+mj-lt"/>
              </a:rPr>
              <a:t> − This is the buffer that the data will be written to.</a:t>
            </a:r>
          </a:p>
          <a:p>
            <a:pPr algn="just">
              <a:buFont typeface="Arial" panose="020B0604020202020204" pitchFamily="34" charset="0"/>
              <a:buChar char="•"/>
            </a:pPr>
            <a:r>
              <a:rPr lang="en-US" b="1" i="0" dirty="0">
                <a:solidFill>
                  <a:srgbClr val="000000"/>
                </a:solidFill>
                <a:effectLst/>
                <a:latin typeface="+mj-lt"/>
              </a:rPr>
              <a:t>offset</a:t>
            </a:r>
            <a:r>
              <a:rPr lang="en-US" b="0" i="0" dirty="0">
                <a:solidFill>
                  <a:srgbClr val="000000"/>
                </a:solidFill>
                <a:effectLst/>
                <a:latin typeface="+mj-lt"/>
              </a:rPr>
              <a:t> − This is the offset in the buffer to start writing at.</a:t>
            </a:r>
          </a:p>
          <a:p>
            <a:pPr algn="just">
              <a:buFont typeface="Arial" panose="020B0604020202020204" pitchFamily="34" charset="0"/>
              <a:buChar char="•"/>
            </a:pPr>
            <a:r>
              <a:rPr lang="en-US" b="1" i="0" dirty="0">
                <a:solidFill>
                  <a:srgbClr val="000000"/>
                </a:solidFill>
                <a:effectLst/>
                <a:latin typeface="+mj-lt"/>
              </a:rPr>
              <a:t>length</a:t>
            </a:r>
            <a:r>
              <a:rPr lang="en-US" b="0" i="0" dirty="0">
                <a:solidFill>
                  <a:srgbClr val="000000"/>
                </a:solidFill>
                <a:effectLst/>
                <a:latin typeface="+mj-lt"/>
              </a:rPr>
              <a:t> − This is an integer specifying the number of bytes to read.</a:t>
            </a:r>
          </a:p>
          <a:p>
            <a:pPr algn="just">
              <a:buFont typeface="Arial" panose="020B0604020202020204" pitchFamily="34" charset="0"/>
              <a:buChar char="•"/>
            </a:pPr>
            <a:r>
              <a:rPr lang="en-US" b="1" i="0" dirty="0">
                <a:solidFill>
                  <a:srgbClr val="000000"/>
                </a:solidFill>
                <a:effectLst/>
                <a:latin typeface="+mj-lt"/>
              </a:rPr>
              <a:t>position</a:t>
            </a:r>
            <a:r>
              <a:rPr lang="en-US" b="0" i="0" dirty="0">
                <a:solidFill>
                  <a:srgbClr val="000000"/>
                </a:solidFill>
                <a:effectLst/>
                <a:latin typeface="+mj-lt"/>
              </a:rPr>
              <a:t> − This is an integer specifying where to begin reading from in the file. If position is null, data will be read from the current file position.</a:t>
            </a:r>
          </a:p>
          <a:p>
            <a:pPr algn="just">
              <a:buFont typeface="Arial" panose="020B0604020202020204" pitchFamily="34" charset="0"/>
              <a:buChar char="•"/>
            </a:pPr>
            <a:r>
              <a:rPr lang="en-US" b="1" i="0" dirty="0">
                <a:solidFill>
                  <a:srgbClr val="000000"/>
                </a:solidFill>
                <a:effectLst/>
                <a:latin typeface="+mj-lt"/>
              </a:rPr>
              <a:t>callback</a:t>
            </a:r>
            <a:r>
              <a:rPr lang="en-US" b="0" i="0" dirty="0">
                <a:solidFill>
                  <a:srgbClr val="000000"/>
                </a:solidFill>
                <a:effectLst/>
                <a:latin typeface="+mj-lt"/>
              </a:rPr>
              <a:t> − This is the callback function which gets the three arguments, (err, </a:t>
            </a:r>
            <a:r>
              <a:rPr lang="en-US" b="0" i="0" dirty="0" err="1">
                <a:solidFill>
                  <a:srgbClr val="000000"/>
                </a:solidFill>
                <a:effectLst/>
                <a:latin typeface="+mj-lt"/>
              </a:rPr>
              <a:t>bytesRead</a:t>
            </a:r>
            <a:r>
              <a:rPr lang="en-US" b="0" i="0" dirty="0">
                <a:solidFill>
                  <a:srgbClr val="000000"/>
                </a:solidFill>
                <a:effectLst/>
                <a:latin typeface="+mj-lt"/>
              </a:rPr>
              <a:t>, buffer).</a:t>
            </a:r>
          </a:p>
          <a:p>
            <a:endParaRPr lang="en-IN" dirty="0">
              <a:latin typeface="+mj-lt"/>
            </a:endParaRPr>
          </a:p>
        </p:txBody>
      </p:sp>
      <p:sp>
        <p:nvSpPr>
          <p:cNvPr id="4" name="Rectangle 1">
            <a:extLst>
              <a:ext uri="{FF2B5EF4-FFF2-40B4-BE49-F238E27FC236}">
                <a16:creationId xmlns:a16="http://schemas.microsoft.com/office/drawing/2014/main" id="{93CCCEE4-2278-4593-96AA-24F2221F1F20}"/>
              </a:ext>
            </a:extLst>
          </p:cNvPr>
          <p:cNvSpPr>
            <a:spLocks noGrp="1" noChangeArrowheads="1"/>
          </p:cNvSpPr>
          <p:nvPr>
            <p:ph type="title"/>
          </p:nvPr>
        </p:nvSpPr>
        <p:spPr bwMode="auto">
          <a:xfrm>
            <a:off x="3326872" y="45423"/>
            <a:ext cx="5359929" cy="53860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fs.read</a:t>
            </a:r>
            <a:r>
              <a:rPr kumimoji="0" lang="en-US" altLang="en-US" sz="11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r>
              <a:rPr kumimoji="0" lang="en-US" altLang="en-US" sz="1100" b="0"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fd</a:t>
            </a:r>
            <a:r>
              <a:rPr kumimoji="0" lang="en-US" altLang="en-US" sz="11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buffer, offset, length, position, callback)</a:t>
            </a:r>
            <a:r>
              <a:rPr kumimoji="0" lang="en-US" altLang="en-US" sz="800" b="0" i="0" u="none" strike="noStrike" cap="none" normalizeH="0" baseline="0" dirty="0">
                <a:ln>
                  <a:noFill/>
                </a:ln>
                <a:solidFill>
                  <a:schemeClr val="tx1"/>
                </a:solidFill>
                <a:effectLst/>
              </a:rPr>
              <a:t> </a:t>
            </a:r>
            <a:br>
              <a:rPr kumimoji="0" lang="en-US" altLang="en-US" sz="800" b="0" i="0" u="none" strike="noStrike" cap="none" normalizeH="0" baseline="0" dirty="0">
                <a:ln>
                  <a:noFill/>
                </a:ln>
                <a:solidFill>
                  <a:schemeClr val="tx1"/>
                </a:solidFill>
                <a:effectLst/>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F53B2F04-0925-486D-B523-38118BE79D9F}"/>
              </a:ext>
            </a:extLst>
          </p:cNvPr>
          <p:cNvSpPr txBox="1"/>
          <p:nvPr/>
        </p:nvSpPr>
        <p:spPr>
          <a:xfrm>
            <a:off x="1701801" y="76200"/>
            <a:ext cx="1549400" cy="369332"/>
          </a:xfrm>
          <a:prstGeom prst="rect">
            <a:avLst/>
          </a:prstGeom>
          <a:noFill/>
        </p:spPr>
        <p:txBody>
          <a:bodyPr wrap="square" rtlCol="0">
            <a:spAutoFit/>
          </a:bodyPr>
          <a:lstStyle/>
          <a:p>
            <a:r>
              <a:rPr lang="en-IN" dirty="0"/>
              <a:t>Read File</a:t>
            </a:r>
          </a:p>
        </p:txBody>
      </p:sp>
      <p:sp>
        <p:nvSpPr>
          <p:cNvPr id="6" name="Rectangle 2">
            <a:extLst>
              <a:ext uri="{FF2B5EF4-FFF2-40B4-BE49-F238E27FC236}">
                <a16:creationId xmlns:a16="http://schemas.microsoft.com/office/drawing/2014/main" id="{EFB0A09B-34FD-4360-BC97-AA864CEFDA4F}"/>
              </a:ext>
            </a:extLst>
          </p:cNvPr>
          <p:cNvSpPr>
            <a:spLocks noChangeArrowheads="1"/>
          </p:cNvSpPr>
          <p:nvPr/>
        </p:nvSpPr>
        <p:spPr bwMode="auto">
          <a:xfrm>
            <a:off x="4610099" y="3045188"/>
            <a:ext cx="3661834" cy="384721"/>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fs.close</a:t>
            </a:r>
            <a:r>
              <a:rPr kumimoji="0" lang="en-US" altLang="en-US" sz="11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a:t>
            </a:r>
            <a:r>
              <a:rPr kumimoji="0" lang="en-US" altLang="en-US" sz="1100" b="0" i="0" u="none" strike="noStrike" cap="none" normalizeH="0" baseline="0" dirty="0" err="1">
                <a:ln>
                  <a:noFill/>
                </a:ln>
                <a:solidFill>
                  <a:schemeClr val="tx1"/>
                </a:solidFill>
                <a:effectLst/>
                <a:latin typeface="Courier New" panose="02070309020205020404" pitchFamily="49" charset="0"/>
                <a:cs typeface="Courier New" panose="02070309020205020404" pitchFamily="49" charset="0"/>
              </a:rPr>
              <a:t>fd</a:t>
            </a:r>
            <a:r>
              <a:rPr kumimoji="0" lang="en-US" altLang="en-US" sz="1100" b="0"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callback)</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2C9096A4-F859-4F05-9899-7283A71114A7}"/>
              </a:ext>
            </a:extLst>
          </p:cNvPr>
          <p:cNvSpPr txBox="1"/>
          <p:nvPr/>
        </p:nvSpPr>
        <p:spPr>
          <a:xfrm>
            <a:off x="1608667" y="2955776"/>
            <a:ext cx="1549400" cy="369332"/>
          </a:xfrm>
          <a:prstGeom prst="rect">
            <a:avLst/>
          </a:prstGeom>
          <a:noFill/>
        </p:spPr>
        <p:txBody>
          <a:bodyPr wrap="square" rtlCol="0">
            <a:spAutoFit/>
          </a:bodyPr>
          <a:lstStyle/>
          <a:p>
            <a:r>
              <a:rPr lang="en-IN" dirty="0"/>
              <a:t>Close File</a:t>
            </a:r>
          </a:p>
        </p:txBody>
      </p:sp>
      <p:sp>
        <p:nvSpPr>
          <p:cNvPr id="9" name="TextBox 8">
            <a:extLst>
              <a:ext uri="{FF2B5EF4-FFF2-40B4-BE49-F238E27FC236}">
                <a16:creationId xmlns:a16="http://schemas.microsoft.com/office/drawing/2014/main" id="{2DCAF944-13EA-49C2-989B-A130B41200B0}"/>
              </a:ext>
            </a:extLst>
          </p:cNvPr>
          <p:cNvSpPr txBox="1"/>
          <p:nvPr/>
        </p:nvSpPr>
        <p:spPr>
          <a:xfrm>
            <a:off x="738717" y="3590297"/>
            <a:ext cx="11207750" cy="923330"/>
          </a:xfrm>
          <a:prstGeom prst="rect">
            <a:avLst/>
          </a:prstGeom>
          <a:noFill/>
        </p:spPr>
        <p:txBody>
          <a:bodyPr wrap="square">
            <a:spAutoFit/>
          </a:bodyPr>
          <a:lstStyle/>
          <a:p>
            <a:pPr algn="just">
              <a:buFont typeface="Arial" panose="020B0604020202020204" pitchFamily="34" charset="0"/>
              <a:buChar char="•"/>
            </a:pPr>
            <a:r>
              <a:rPr lang="en-US" b="1" i="0" dirty="0" err="1">
                <a:solidFill>
                  <a:srgbClr val="000000"/>
                </a:solidFill>
                <a:effectLst/>
                <a:latin typeface="+mj-lt"/>
              </a:rPr>
              <a:t>fd</a:t>
            </a:r>
            <a:r>
              <a:rPr lang="en-US" b="0" i="0" dirty="0">
                <a:solidFill>
                  <a:srgbClr val="000000"/>
                </a:solidFill>
                <a:effectLst/>
                <a:latin typeface="+mj-lt"/>
              </a:rPr>
              <a:t> − This is the file descriptor returned by file </a:t>
            </a:r>
            <a:r>
              <a:rPr lang="en-US" b="0" i="0" dirty="0" err="1">
                <a:solidFill>
                  <a:srgbClr val="000000"/>
                </a:solidFill>
                <a:effectLst/>
                <a:latin typeface="+mj-lt"/>
              </a:rPr>
              <a:t>fs.open</a:t>
            </a:r>
            <a:r>
              <a:rPr lang="en-US" b="0" i="0" dirty="0">
                <a:solidFill>
                  <a:srgbClr val="000000"/>
                </a:solidFill>
                <a:effectLst/>
                <a:latin typeface="+mj-lt"/>
              </a:rPr>
              <a:t>() method.</a:t>
            </a:r>
          </a:p>
          <a:p>
            <a:pPr algn="just">
              <a:buFont typeface="Arial" panose="020B0604020202020204" pitchFamily="34" charset="0"/>
              <a:buChar char="•"/>
            </a:pPr>
            <a:r>
              <a:rPr lang="en-US" b="1" i="0" dirty="0">
                <a:solidFill>
                  <a:srgbClr val="000000"/>
                </a:solidFill>
                <a:effectLst/>
                <a:latin typeface="+mj-lt"/>
              </a:rPr>
              <a:t>callback</a:t>
            </a:r>
            <a:r>
              <a:rPr lang="en-US" b="0" i="0" dirty="0">
                <a:solidFill>
                  <a:srgbClr val="000000"/>
                </a:solidFill>
                <a:effectLst/>
                <a:latin typeface="+mj-lt"/>
              </a:rPr>
              <a:t> − This is the callback function No arguments other than a possible exception are given to the completion callback.</a:t>
            </a:r>
          </a:p>
        </p:txBody>
      </p:sp>
    </p:spTree>
    <p:extLst>
      <p:ext uri="{BB962C8B-B14F-4D97-AF65-F5344CB8AC3E}">
        <p14:creationId xmlns:p14="http://schemas.microsoft.com/office/powerpoint/2010/main" val="26586057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4C4B9-C030-473C-96AE-206B51C3BBD3}"/>
              </a:ext>
            </a:extLst>
          </p:cNvPr>
          <p:cNvSpPr>
            <a:spLocks noGrp="1"/>
          </p:cNvSpPr>
          <p:nvPr>
            <p:ph type="title"/>
          </p:nvPr>
        </p:nvSpPr>
        <p:spPr>
          <a:xfrm>
            <a:off x="1210733" y="187326"/>
            <a:ext cx="10033000" cy="617008"/>
          </a:xfrm>
        </p:spPr>
        <p:txBody>
          <a:bodyPr>
            <a:normAutofit fontScale="90000"/>
          </a:bodyPr>
          <a:lstStyle/>
          <a:p>
            <a:r>
              <a:rPr lang="en-IN" dirty="0"/>
              <a:t>Write and then read</a:t>
            </a:r>
          </a:p>
        </p:txBody>
      </p:sp>
      <p:sp>
        <p:nvSpPr>
          <p:cNvPr id="3" name="Content Placeholder 2">
            <a:extLst>
              <a:ext uri="{FF2B5EF4-FFF2-40B4-BE49-F238E27FC236}">
                <a16:creationId xmlns:a16="http://schemas.microsoft.com/office/drawing/2014/main" id="{A3D0CBDA-F1D6-4F07-A9DE-A753D7F531B4}"/>
              </a:ext>
            </a:extLst>
          </p:cNvPr>
          <p:cNvSpPr>
            <a:spLocks noGrp="1"/>
          </p:cNvSpPr>
          <p:nvPr>
            <p:ph idx="1"/>
          </p:nvPr>
        </p:nvSpPr>
        <p:spPr>
          <a:xfrm>
            <a:off x="279400" y="804334"/>
            <a:ext cx="10557933" cy="4805363"/>
          </a:xfrm>
        </p:spPr>
        <p:txBody>
          <a:bodyPr>
            <a:normAutofit fontScale="62500" lnSpcReduction="20000"/>
          </a:bodyPr>
          <a:lstStyle/>
          <a:p>
            <a:pPr marL="0" indent="0">
              <a:buNone/>
            </a:pPr>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fs</a:t>
            </a:r>
            <a:r>
              <a:rPr lang="en-IN" b="0" dirty="0">
                <a:solidFill>
                  <a:srgbClr val="000000"/>
                </a:solidFill>
                <a:effectLst/>
                <a:latin typeface="Consolas" panose="020B0609020204030204" pitchFamily="49" charset="0"/>
              </a:rPr>
              <a:t> = </a:t>
            </a:r>
            <a:r>
              <a:rPr lang="en-IN" b="0" dirty="0">
                <a:solidFill>
                  <a:srgbClr val="795E26"/>
                </a:solidFill>
                <a:effectLst/>
                <a:latin typeface="Consolas" panose="020B0609020204030204" pitchFamily="49" charset="0"/>
              </a:rPr>
              <a:t>require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"fs"</a:t>
            </a:r>
            <a:r>
              <a:rPr lang="en-IN" b="0" dirty="0">
                <a:solidFill>
                  <a:srgbClr val="000000"/>
                </a:solidFill>
                <a:effectLst/>
                <a:latin typeface="Consolas" panose="020B0609020204030204" pitchFamily="49" charset="0"/>
              </a:rPr>
              <a:t>);</a:t>
            </a:r>
          </a:p>
          <a:p>
            <a:pPr marL="0" indent="0">
              <a:buNone/>
            </a:pPr>
            <a:br>
              <a:rPr lang="en-IN" b="0" dirty="0">
                <a:solidFill>
                  <a:srgbClr val="000000"/>
                </a:solidFill>
                <a:effectLst/>
                <a:latin typeface="Consolas" panose="020B0609020204030204" pitchFamily="49" charset="0"/>
              </a:rPr>
            </a:b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"Going to write into existing file"</a:t>
            </a:r>
            <a:r>
              <a:rPr lang="en-IN" b="0" dirty="0">
                <a:solidFill>
                  <a:srgbClr val="000000"/>
                </a:solidFill>
                <a:effectLst/>
                <a:latin typeface="Consolas" panose="020B0609020204030204" pitchFamily="49" charset="0"/>
              </a:rPr>
              <a:t>);</a:t>
            </a:r>
          </a:p>
          <a:p>
            <a:pPr marL="0" indent="0">
              <a:buNone/>
            </a:pPr>
            <a:r>
              <a:rPr lang="en-IN" b="0" dirty="0" err="1">
                <a:solidFill>
                  <a:srgbClr val="001080"/>
                </a:solidFill>
                <a:effectLst/>
                <a:latin typeface="Consolas" panose="020B0609020204030204" pitchFamily="49" charset="0"/>
              </a:rPr>
              <a:t>fs</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writeFile</a:t>
            </a:r>
            <a:r>
              <a:rPr lang="en-IN" b="0" dirty="0">
                <a:solidFill>
                  <a:srgbClr val="FF0000"/>
                </a:solidFill>
                <a:effectLst/>
                <a:latin typeface="Consolas" panose="020B0609020204030204" pitchFamily="49" charset="0"/>
              </a:rPr>
              <a:t>(</a:t>
            </a:r>
            <a:r>
              <a:rPr lang="en-IN" b="0" dirty="0">
                <a:solidFill>
                  <a:srgbClr val="A31515"/>
                </a:solidFill>
                <a:effectLst/>
                <a:latin typeface="Consolas" panose="020B0609020204030204" pitchFamily="49" charset="0"/>
              </a:rPr>
              <a:t>'input.txt'</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'Simply Easy Learning!'</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err</a:t>
            </a:r>
            <a:r>
              <a:rPr lang="en-IN" b="0" dirty="0">
                <a:solidFill>
                  <a:srgbClr val="000000"/>
                </a:solidFill>
                <a:effectLst/>
                <a:latin typeface="Consolas" panose="020B0609020204030204" pitchFamily="49" charset="0"/>
              </a:rPr>
              <a:t>) </a:t>
            </a:r>
            <a:r>
              <a:rPr lang="en-IN" b="0" dirty="0">
                <a:solidFill>
                  <a:srgbClr val="FFC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if</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err</a:t>
            </a: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console</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error</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err</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     </a:t>
            </a:r>
          </a:p>
          <a:p>
            <a:pPr marL="0" indent="0">
              <a:buNone/>
            </a:pP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fs</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readFile</a:t>
            </a:r>
            <a:r>
              <a:rPr lang="en-IN" b="0" dirty="0">
                <a:solidFill>
                  <a:srgbClr val="00B050"/>
                </a:solidFill>
                <a:effectLst/>
                <a:latin typeface="Consolas" panose="020B0609020204030204" pitchFamily="49" charset="0"/>
              </a:rPr>
              <a:t>(</a:t>
            </a:r>
            <a:r>
              <a:rPr lang="en-IN" b="0" dirty="0">
                <a:solidFill>
                  <a:srgbClr val="A31515"/>
                </a:solidFill>
                <a:effectLst/>
                <a:latin typeface="Consolas" panose="020B0609020204030204" pitchFamily="49" charset="0"/>
              </a:rPr>
              <a:t>'input.txt'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err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data</a:t>
            </a: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if</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err</a:t>
            </a: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console</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error</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err</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"Asynchronous read: "</a:t>
            </a:r>
            <a:r>
              <a:rPr lang="en-IN" b="0" dirty="0">
                <a:solidFill>
                  <a:srgbClr val="000000"/>
                </a:solidFill>
                <a:effectLst/>
                <a:latin typeface="Consolas" panose="020B0609020204030204" pitchFamily="49" charset="0"/>
              </a:rPr>
              <a:t> + </a:t>
            </a:r>
            <a:r>
              <a:rPr lang="en-IN" b="0" dirty="0" err="1">
                <a:solidFill>
                  <a:srgbClr val="001080"/>
                </a:solidFill>
                <a:effectLst/>
                <a:latin typeface="Consolas" panose="020B0609020204030204" pitchFamily="49" charset="0"/>
              </a:rPr>
              <a:t>data</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toString</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r>
              <a:rPr lang="en-IN" b="0" dirty="0">
                <a:solidFill>
                  <a:srgbClr val="00B050"/>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pPr marL="0" indent="0">
              <a:buNone/>
            </a:pPr>
            <a:r>
              <a:rPr lang="en-IN" b="0" dirty="0">
                <a:solidFill>
                  <a:srgbClr val="FFC000"/>
                </a:solidFill>
                <a:effectLst/>
                <a:latin typeface="Consolas" panose="020B0609020204030204" pitchFamily="49" charset="0"/>
              </a:rPr>
              <a:t>}</a:t>
            </a:r>
            <a:r>
              <a:rPr lang="en-IN" b="0" dirty="0">
                <a:solidFill>
                  <a:srgbClr val="FF0000"/>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pPr marL="0" indent="0">
              <a:buNone/>
            </a:pPr>
            <a:endParaRPr lang="en-IN" dirty="0"/>
          </a:p>
        </p:txBody>
      </p:sp>
    </p:spTree>
    <p:extLst>
      <p:ext uri="{BB962C8B-B14F-4D97-AF65-F5344CB8AC3E}">
        <p14:creationId xmlns:p14="http://schemas.microsoft.com/office/powerpoint/2010/main" val="26986574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2A6F9-ECAF-4015-9409-4F7F0C72D067}"/>
              </a:ext>
            </a:extLst>
          </p:cNvPr>
          <p:cNvSpPr>
            <a:spLocks noGrp="1"/>
          </p:cNvSpPr>
          <p:nvPr>
            <p:ph type="title"/>
          </p:nvPr>
        </p:nvSpPr>
        <p:spPr>
          <a:xfrm>
            <a:off x="2273300" y="-75141"/>
            <a:ext cx="10066867" cy="633942"/>
          </a:xfrm>
        </p:spPr>
        <p:txBody>
          <a:bodyPr>
            <a:normAutofit fontScale="90000"/>
          </a:bodyPr>
          <a:lstStyle/>
          <a:p>
            <a:r>
              <a:rPr lang="en-IN" dirty="0"/>
              <a:t>Open Read close</a:t>
            </a:r>
          </a:p>
        </p:txBody>
      </p:sp>
      <p:sp>
        <p:nvSpPr>
          <p:cNvPr id="3" name="Content Placeholder 2">
            <a:extLst>
              <a:ext uri="{FF2B5EF4-FFF2-40B4-BE49-F238E27FC236}">
                <a16:creationId xmlns:a16="http://schemas.microsoft.com/office/drawing/2014/main" id="{B146A51C-C119-4BB7-B307-EF7569FE7A9C}"/>
              </a:ext>
            </a:extLst>
          </p:cNvPr>
          <p:cNvSpPr>
            <a:spLocks noGrp="1"/>
          </p:cNvSpPr>
          <p:nvPr>
            <p:ph idx="1"/>
          </p:nvPr>
        </p:nvSpPr>
        <p:spPr>
          <a:xfrm>
            <a:off x="279401" y="626534"/>
            <a:ext cx="11023600" cy="6001806"/>
          </a:xfrm>
        </p:spPr>
        <p:txBody>
          <a:bodyPr>
            <a:noAutofit/>
          </a:bodyPr>
          <a:lstStyle/>
          <a:p>
            <a:pPr marL="0" indent="0">
              <a:buNone/>
            </a:pPr>
            <a:r>
              <a:rPr lang="en-IN" sz="1200" b="0" dirty="0">
                <a:solidFill>
                  <a:srgbClr val="0000FF"/>
                </a:solidFill>
                <a:effectLst/>
                <a:latin typeface="Consolas" panose="020B0609020204030204" pitchFamily="49" charset="0"/>
              </a:rPr>
              <a:t>var</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fs</a:t>
            </a:r>
            <a:r>
              <a:rPr lang="en-IN" sz="1200" b="0" dirty="0">
                <a:solidFill>
                  <a:srgbClr val="000000"/>
                </a:solidFill>
                <a:effectLst/>
                <a:latin typeface="Consolas" panose="020B0609020204030204" pitchFamily="49" charset="0"/>
              </a:rPr>
              <a:t> = </a:t>
            </a:r>
            <a:r>
              <a:rPr lang="en-IN" sz="1200" b="0" dirty="0">
                <a:solidFill>
                  <a:srgbClr val="795E26"/>
                </a:solidFill>
                <a:effectLst/>
                <a:latin typeface="Consolas" panose="020B0609020204030204" pitchFamily="49" charset="0"/>
              </a:rPr>
              <a:t>require</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"fs"</a:t>
            </a:r>
            <a:r>
              <a:rPr lang="en-IN" sz="1200" b="0" dirty="0">
                <a:solidFill>
                  <a:srgbClr val="000000"/>
                </a:solidFill>
                <a:effectLst/>
                <a:latin typeface="Consolas" panose="020B0609020204030204" pitchFamily="49" charset="0"/>
              </a:rPr>
              <a:t>);</a:t>
            </a:r>
          </a:p>
          <a:p>
            <a:pPr marL="0" indent="0">
              <a:buNone/>
            </a:pPr>
            <a:r>
              <a:rPr lang="en-IN" sz="1200" b="0" dirty="0">
                <a:solidFill>
                  <a:srgbClr val="0000FF"/>
                </a:solidFill>
                <a:effectLst/>
                <a:latin typeface="Consolas" panose="020B0609020204030204" pitchFamily="49" charset="0"/>
              </a:rPr>
              <a:t>var</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buf</a:t>
            </a:r>
            <a:r>
              <a:rPr lang="en-IN" sz="1200" b="0" dirty="0">
                <a:solidFill>
                  <a:srgbClr val="000000"/>
                </a:solidFill>
                <a:effectLst/>
                <a:latin typeface="Consolas" panose="020B0609020204030204" pitchFamily="49" charset="0"/>
              </a:rPr>
              <a:t> = </a:t>
            </a:r>
            <a:r>
              <a:rPr lang="en-IN" sz="1200" b="0" dirty="0" err="1">
                <a:solidFill>
                  <a:srgbClr val="267F99"/>
                </a:solidFill>
                <a:effectLst/>
                <a:latin typeface="Consolas" panose="020B0609020204030204" pitchFamily="49" charset="0"/>
              </a:rPr>
              <a:t>Buffer</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alloc</a:t>
            </a:r>
            <a:r>
              <a:rPr lang="en-IN" sz="1200" b="0" dirty="0">
                <a:solidFill>
                  <a:srgbClr val="000000"/>
                </a:solidFill>
                <a:effectLst/>
                <a:latin typeface="Consolas" panose="020B0609020204030204" pitchFamily="49" charset="0"/>
              </a:rPr>
              <a:t>(</a:t>
            </a:r>
            <a:r>
              <a:rPr lang="en-IN" sz="1200" b="0" dirty="0">
                <a:solidFill>
                  <a:srgbClr val="098658"/>
                </a:solidFill>
                <a:effectLst/>
                <a:latin typeface="Consolas" panose="020B0609020204030204" pitchFamily="49" charset="0"/>
              </a:rPr>
              <a:t>10024</a:t>
            </a:r>
            <a:r>
              <a:rPr lang="en-IN" sz="1200" b="0" dirty="0">
                <a:solidFill>
                  <a:srgbClr val="000000"/>
                </a:solidFill>
                <a:effectLst/>
                <a:latin typeface="Consolas" panose="020B0609020204030204" pitchFamily="49" charset="0"/>
              </a:rPr>
              <a:t>);</a:t>
            </a:r>
          </a:p>
          <a:p>
            <a:pPr marL="0" indent="0">
              <a:buNone/>
            </a:pPr>
            <a:br>
              <a:rPr lang="en-IN" sz="1200" b="0" dirty="0">
                <a:solidFill>
                  <a:srgbClr val="000000"/>
                </a:solidFill>
                <a:effectLst/>
                <a:latin typeface="Consolas" panose="020B0609020204030204" pitchFamily="49" charset="0"/>
              </a:rPr>
            </a:br>
            <a:r>
              <a:rPr lang="en-IN" sz="1200" b="0" dirty="0">
                <a:solidFill>
                  <a:srgbClr val="001080"/>
                </a:solidFill>
                <a:effectLst/>
                <a:latin typeface="Consolas" panose="020B0609020204030204" pitchFamily="49" charset="0"/>
              </a:rPr>
              <a:t>console</a:t>
            </a:r>
            <a:r>
              <a:rPr lang="en-IN" sz="1200" b="0" dirty="0">
                <a:solidFill>
                  <a:srgbClr val="000000"/>
                </a:solidFill>
                <a:effectLst/>
                <a:latin typeface="Consolas" panose="020B0609020204030204" pitchFamily="49" charset="0"/>
              </a:rPr>
              <a:t>.</a:t>
            </a:r>
            <a:r>
              <a:rPr lang="en-IN" sz="1200" b="0" dirty="0">
                <a:solidFill>
                  <a:srgbClr val="795E26"/>
                </a:solidFill>
                <a:effectLst/>
                <a:latin typeface="Consolas" panose="020B0609020204030204" pitchFamily="49" charset="0"/>
              </a:rPr>
              <a:t>log</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"Going to open an existing file"</a:t>
            </a:r>
            <a:r>
              <a:rPr lang="en-IN" sz="1200" b="0" dirty="0">
                <a:solidFill>
                  <a:srgbClr val="000000"/>
                </a:solidFill>
                <a:effectLst/>
                <a:latin typeface="Consolas" panose="020B0609020204030204" pitchFamily="49" charset="0"/>
              </a:rPr>
              <a:t>);</a:t>
            </a:r>
          </a:p>
          <a:p>
            <a:pPr marL="0" indent="0">
              <a:buNone/>
            </a:pPr>
            <a:r>
              <a:rPr lang="en-IN" sz="1200" b="0" dirty="0" err="1">
                <a:solidFill>
                  <a:srgbClr val="001080"/>
                </a:solidFill>
                <a:effectLst/>
                <a:latin typeface="Consolas" panose="020B0609020204030204" pitchFamily="49" charset="0"/>
              </a:rPr>
              <a:t>fs</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open</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'input.txt'</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'r+'</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function</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err</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fd</a:t>
            </a: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if</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err</a:t>
            </a:r>
            <a:r>
              <a:rPr lang="en-IN" sz="1200" b="0" dirty="0">
                <a:solidFill>
                  <a:srgbClr val="000000"/>
                </a:solidFill>
                <a:effectLst/>
                <a:latin typeface="Consolas" panose="020B0609020204030204" pitchFamily="49" charset="0"/>
              </a:rPr>
              <a:t>) {      </a:t>
            </a:r>
          </a:p>
          <a:p>
            <a:pPr marL="0" indent="0">
              <a:buNone/>
            </a:pPr>
            <a:r>
              <a:rPr lang="en-IN" sz="1200" dirty="0">
                <a:solidFill>
                  <a:srgbClr val="000000"/>
                </a:solidFill>
                <a:latin typeface="Consolas" panose="020B0609020204030204" pitchFamily="49" charset="0"/>
              </a:rPr>
              <a:t>        </a:t>
            </a: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return</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console</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error</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err</a:t>
            </a:r>
            <a:r>
              <a:rPr lang="en-IN" sz="1200" b="0" dirty="0">
                <a:solidFill>
                  <a:srgbClr val="000000"/>
                </a:solidFill>
                <a:effectLst/>
                <a:latin typeface="Consolas" panose="020B0609020204030204" pitchFamily="49" charset="0"/>
              </a:rPr>
              <a:t>);</a:t>
            </a:r>
          </a:p>
          <a:p>
            <a:pPr marL="0" indent="0">
              <a:buNone/>
            </a:pP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fs</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read</a:t>
            </a:r>
            <a:r>
              <a:rPr lang="en-IN" sz="1200" b="0" dirty="0">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fd</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buf</a:t>
            </a:r>
            <a:r>
              <a:rPr lang="en-IN" sz="1200" b="0" dirty="0">
                <a:solidFill>
                  <a:srgbClr val="000000"/>
                </a:solidFill>
                <a:effectLst/>
                <a:latin typeface="Consolas" panose="020B0609020204030204" pitchFamily="49" charset="0"/>
              </a:rPr>
              <a:t>, </a:t>
            </a:r>
            <a:r>
              <a:rPr lang="en-IN" sz="1200" b="0" dirty="0">
                <a:solidFill>
                  <a:srgbClr val="098658"/>
                </a:solidFill>
                <a:effectLst/>
                <a:latin typeface="Consolas" panose="020B0609020204030204" pitchFamily="49" charset="0"/>
              </a:rPr>
              <a:t>0</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buf</a:t>
            </a:r>
            <a:r>
              <a:rPr lang="en-IN" sz="1200" b="0" dirty="0" err="1">
                <a:solidFill>
                  <a:srgbClr val="000000"/>
                </a:solidFill>
                <a:effectLst/>
                <a:latin typeface="Consolas" panose="020B0609020204030204" pitchFamily="49" charset="0"/>
              </a:rPr>
              <a:t>.</a:t>
            </a:r>
            <a:r>
              <a:rPr lang="en-IN" sz="1200" b="0" dirty="0" err="1">
                <a:solidFill>
                  <a:srgbClr val="0070C1"/>
                </a:solidFill>
                <a:effectLst/>
                <a:latin typeface="Consolas" panose="020B0609020204030204" pitchFamily="49" charset="0"/>
              </a:rPr>
              <a:t>length</a:t>
            </a:r>
            <a:r>
              <a:rPr lang="en-IN" sz="1200" b="0" dirty="0">
                <a:solidFill>
                  <a:srgbClr val="000000"/>
                </a:solidFill>
                <a:effectLst/>
                <a:latin typeface="Consolas" panose="020B0609020204030204" pitchFamily="49" charset="0"/>
              </a:rPr>
              <a:t>, </a:t>
            </a:r>
            <a:r>
              <a:rPr lang="en-IN" sz="1200" b="0" dirty="0">
                <a:solidFill>
                  <a:srgbClr val="098658"/>
                </a:solidFill>
                <a:effectLst/>
                <a:latin typeface="Consolas" panose="020B0609020204030204" pitchFamily="49" charset="0"/>
              </a:rPr>
              <a:t>0</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function</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err</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bytes</a:t>
            </a: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if</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err</a:t>
            </a:r>
            <a:r>
              <a:rPr lang="en-IN" sz="1200" b="0" dirty="0">
                <a:solidFill>
                  <a:srgbClr val="000000"/>
                </a:solidFill>
                <a:effectLst/>
                <a:latin typeface="Consolas" panose="020B0609020204030204" pitchFamily="49" charset="0"/>
              </a:rPr>
              <a:t>) {     </a:t>
            </a:r>
          </a:p>
          <a:p>
            <a:pPr marL="0" indent="0">
              <a:buNone/>
            </a:pPr>
            <a:r>
              <a:rPr lang="en-IN" sz="1200" dirty="0">
                <a:solidFill>
                  <a:srgbClr val="000000"/>
                </a:solidFill>
                <a:latin typeface="Consolas" panose="020B0609020204030204" pitchFamily="49" charset="0"/>
              </a:rPr>
              <a:t>     </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console</a:t>
            </a:r>
            <a:r>
              <a:rPr lang="en-IN" sz="1200" b="0" dirty="0">
                <a:solidFill>
                  <a:srgbClr val="000000"/>
                </a:solidFill>
                <a:effectLst/>
                <a:latin typeface="Consolas" panose="020B0609020204030204" pitchFamily="49" charset="0"/>
              </a:rPr>
              <a:t>.</a:t>
            </a:r>
            <a:r>
              <a:rPr lang="en-IN" sz="1200" b="0" dirty="0">
                <a:solidFill>
                  <a:srgbClr val="795E26"/>
                </a:solidFill>
                <a:effectLst/>
                <a:latin typeface="Consolas" panose="020B0609020204030204" pitchFamily="49" charset="0"/>
              </a:rPr>
              <a:t>log</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err</a:t>
            </a:r>
            <a:r>
              <a:rPr lang="en-IN" sz="1200" b="0" dirty="0">
                <a:solidFill>
                  <a:srgbClr val="000000"/>
                </a:solidFill>
                <a:effectLst/>
                <a:latin typeface="Consolas" panose="020B0609020204030204" pitchFamily="49" charset="0"/>
              </a:rPr>
              <a:t>);</a:t>
            </a:r>
          </a:p>
          <a:p>
            <a:pPr marL="0" indent="0">
              <a:buNone/>
            </a:pP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      </a:t>
            </a:r>
            <a:r>
              <a:rPr lang="en-IN" sz="1200" b="0" dirty="0">
                <a:solidFill>
                  <a:srgbClr val="008000"/>
                </a:solidFill>
                <a:effectLst/>
                <a:latin typeface="Consolas" panose="020B0609020204030204" pitchFamily="49" charset="0"/>
              </a:rPr>
              <a:t>// Print only read bytes to avoid junk.</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if</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bytes</a:t>
            </a:r>
            <a:r>
              <a:rPr lang="en-IN" sz="1200" b="0" dirty="0">
                <a:solidFill>
                  <a:srgbClr val="000000"/>
                </a:solidFill>
                <a:effectLst/>
                <a:latin typeface="Consolas" panose="020B0609020204030204" pitchFamily="49" charset="0"/>
              </a:rPr>
              <a:t> &gt; </a:t>
            </a:r>
            <a:r>
              <a:rPr lang="en-IN" sz="1200" b="0" dirty="0">
                <a:solidFill>
                  <a:srgbClr val="098658"/>
                </a:solidFill>
                <a:effectLst/>
                <a:latin typeface="Consolas" panose="020B0609020204030204" pitchFamily="49" charset="0"/>
              </a:rPr>
              <a:t>0</a:t>
            </a: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console</a:t>
            </a:r>
            <a:r>
              <a:rPr lang="en-IN" sz="1200" b="0" dirty="0">
                <a:solidFill>
                  <a:srgbClr val="000000"/>
                </a:solidFill>
                <a:effectLst/>
                <a:latin typeface="Consolas" panose="020B0609020204030204" pitchFamily="49" charset="0"/>
              </a:rPr>
              <a:t>.</a:t>
            </a:r>
            <a:r>
              <a:rPr lang="en-IN" sz="1200" b="0" dirty="0">
                <a:solidFill>
                  <a:srgbClr val="795E26"/>
                </a:solidFill>
                <a:effectLst/>
                <a:latin typeface="Consolas" panose="020B0609020204030204" pitchFamily="49" charset="0"/>
              </a:rPr>
              <a:t>log</a:t>
            </a:r>
            <a:r>
              <a:rPr lang="en-IN" sz="1200" b="0" dirty="0">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buf</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slice</a:t>
            </a:r>
            <a:r>
              <a:rPr lang="en-IN" sz="1200" b="0" dirty="0">
                <a:solidFill>
                  <a:srgbClr val="000000"/>
                </a:solidFill>
                <a:effectLst/>
                <a:latin typeface="Consolas" panose="020B0609020204030204" pitchFamily="49" charset="0"/>
              </a:rPr>
              <a:t>(</a:t>
            </a:r>
            <a:r>
              <a:rPr lang="en-IN" sz="1200" b="0" dirty="0">
                <a:solidFill>
                  <a:srgbClr val="098658"/>
                </a:solidFill>
                <a:effectLst/>
                <a:latin typeface="Consolas" panose="020B0609020204030204" pitchFamily="49" charset="0"/>
              </a:rPr>
              <a:t>0</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bytes</a:t>
            </a:r>
            <a:r>
              <a:rPr lang="en-IN" sz="1200" b="0" dirty="0">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toString</a:t>
            </a:r>
            <a:r>
              <a:rPr lang="en-IN" sz="1200" b="0" dirty="0">
                <a:solidFill>
                  <a:srgbClr val="000000"/>
                </a:solidFill>
                <a:effectLst/>
                <a:latin typeface="Consolas" panose="020B0609020204030204" pitchFamily="49" charset="0"/>
              </a:rPr>
              <a:t>());</a:t>
            </a:r>
          </a:p>
          <a:p>
            <a:pPr marL="0" indent="0">
              <a:buNone/>
            </a:pP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      </a:t>
            </a:r>
            <a:r>
              <a:rPr lang="en-IN" sz="1200" b="0" dirty="0">
                <a:solidFill>
                  <a:srgbClr val="008000"/>
                </a:solidFill>
                <a:effectLst/>
                <a:latin typeface="Consolas" panose="020B0609020204030204" pitchFamily="49" charset="0"/>
              </a:rPr>
              <a:t>// Close the opened file.</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fs</a:t>
            </a:r>
            <a:r>
              <a:rPr lang="en-IN" sz="1200" b="0" dirty="0" err="1">
                <a:solidFill>
                  <a:srgbClr val="000000"/>
                </a:solidFill>
                <a:effectLst/>
                <a:latin typeface="Consolas" panose="020B0609020204030204" pitchFamily="49" charset="0"/>
              </a:rPr>
              <a:t>.</a:t>
            </a:r>
            <a:r>
              <a:rPr lang="en-IN" sz="1200" b="0" dirty="0" err="1">
                <a:solidFill>
                  <a:srgbClr val="795E26"/>
                </a:solidFill>
                <a:effectLst/>
                <a:latin typeface="Consolas" panose="020B0609020204030204" pitchFamily="49" charset="0"/>
              </a:rPr>
              <a:t>close</a:t>
            </a:r>
            <a:r>
              <a:rPr lang="en-IN" sz="1200" b="0" dirty="0">
                <a:solidFill>
                  <a:srgbClr val="000000"/>
                </a:solidFill>
                <a:effectLst/>
                <a:latin typeface="Consolas" panose="020B0609020204030204" pitchFamily="49" charset="0"/>
              </a:rPr>
              <a:t>(</a:t>
            </a:r>
            <a:r>
              <a:rPr lang="en-IN" sz="1200" b="0" dirty="0" err="1">
                <a:solidFill>
                  <a:srgbClr val="001080"/>
                </a:solidFill>
                <a:effectLst/>
                <a:latin typeface="Consolas" panose="020B0609020204030204" pitchFamily="49" charset="0"/>
              </a:rPr>
              <a:t>fd</a:t>
            </a:r>
            <a:r>
              <a:rPr lang="en-IN" sz="1200" b="0" dirty="0">
                <a:solidFill>
                  <a:srgbClr val="000000"/>
                </a:solidFill>
                <a:effectLst/>
                <a:latin typeface="Consolas" panose="020B0609020204030204" pitchFamily="49" charset="0"/>
              </a:rPr>
              <a:t>, </a:t>
            </a:r>
            <a:r>
              <a:rPr lang="en-IN" sz="1200" b="0" dirty="0">
                <a:solidFill>
                  <a:srgbClr val="0000FF"/>
                </a:solidFill>
                <a:effectLst/>
                <a:latin typeface="Consolas" panose="020B0609020204030204" pitchFamily="49" charset="0"/>
              </a:rPr>
              <a:t>function</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err</a:t>
            </a: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if</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err</a:t>
            </a:r>
            <a:r>
              <a:rPr lang="en-IN" sz="1200" b="0" dirty="0">
                <a:solidFill>
                  <a:srgbClr val="000000"/>
                </a:solidFill>
                <a:effectLst/>
                <a:latin typeface="Consolas" panose="020B0609020204030204" pitchFamily="49" charset="0"/>
              </a:rPr>
              <a:t>) {             </a:t>
            </a:r>
            <a:r>
              <a:rPr lang="en-IN" sz="1200" b="0" dirty="0">
                <a:solidFill>
                  <a:srgbClr val="001080"/>
                </a:solidFill>
                <a:effectLst/>
                <a:latin typeface="Consolas" panose="020B0609020204030204" pitchFamily="49" charset="0"/>
              </a:rPr>
              <a:t>console</a:t>
            </a:r>
            <a:r>
              <a:rPr lang="en-IN" sz="1200" b="0" dirty="0">
                <a:solidFill>
                  <a:srgbClr val="000000"/>
                </a:solidFill>
                <a:effectLst/>
                <a:latin typeface="Consolas" panose="020B0609020204030204" pitchFamily="49" charset="0"/>
              </a:rPr>
              <a:t>.</a:t>
            </a:r>
            <a:r>
              <a:rPr lang="en-IN" sz="1200" b="0" dirty="0">
                <a:solidFill>
                  <a:srgbClr val="795E26"/>
                </a:solidFill>
                <a:effectLst/>
                <a:latin typeface="Consolas" panose="020B0609020204030204" pitchFamily="49" charset="0"/>
              </a:rPr>
              <a:t>log</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err</a:t>
            </a:r>
            <a:r>
              <a:rPr lang="en-IN" sz="1200" b="0" dirty="0">
                <a:solidFill>
                  <a:srgbClr val="000000"/>
                </a:solidFill>
                <a:effectLst/>
                <a:latin typeface="Consolas" panose="020B0609020204030204" pitchFamily="49" charset="0"/>
              </a:rPr>
              <a:t>);</a:t>
            </a:r>
          </a:p>
          <a:p>
            <a:pPr marL="0" indent="0">
              <a:buNone/>
            </a:pPr>
            <a:r>
              <a:rPr lang="en-IN" sz="1200" b="0" dirty="0">
                <a:solidFill>
                  <a:srgbClr val="000000"/>
                </a:solidFill>
                <a:effectLst/>
                <a:latin typeface="Consolas" panose="020B0609020204030204" pitchFamily="49" charset="0"/>
              </a:rPr>
              <a:t>           } </a:t>
            </a:r>
          </a:p>
          <a:p>
            <a:pPr marL="0" indent="0">
              <a:buNone/>
            </a:pP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console</a:t>
            </a:r>
            <a:r>
              <a:rPr lang="en-IN" sz="1200" b="0" dirty="0">
                <a:solidFill>
                  <a:srgbClr val="000000"/>
                </a:solidFill>
                <a:effectLst/>
                <a:latin typeface="Consolas" panose="020B0609020204030204" pitchFamily="49" charset="0"/>
              </a:rPr>
              <a:t>.</a:t>
            </a:r>
            <a:r>
              <a:rPr lang="en-IN" sz="1200" b="0" dirty="0">
                <a:solidFill>
                  <a:srgbClr val="795E26"/>
                </a:solidFill>
                <a:effectLst/>
                <a:latin typeface="Consolas" panose="020B0609020204030204" pitchFamily="49" charset="0"/>
              </a:rPr>
              <a:t>log</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"File closed successfully."</a:t>
            </a:r>
            <a:r>
              <a:rPr lang="en-IN" sz="1200" b="0" dirty="0">
                <a:solidFill>
                  <a:srgbClr val="000000"/>
                </a:solidFill>
                <a:effectLst/>
                <a:latin typeface="Consolas" panose="020B0609020204030204" pitchFamily="49" charset="0"/>
              </a:rPr>
              <a:t>);</a:t>
            </a:r>
          </a:p>
          <a:p>
            <a:pPr marL="0" indent="0">
              <a:buNone/>
            </a:pP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a:t>
            </a:r>
          </a:p>
          <a:p>
            <a:pPr marL="0" indent="0">
              <a:buNone/>
            </a:pPr>
            <a:endParaRPr lang="en-IN" sz="1200" dirty="0"/>
          </a:p>
        </p:txBody>
      </p:sp>
      <p:sp>
        <p:nvSpPr>
          <p:cNvPr id="4" name="Content Placeholder 2">
            <a:extLst>
              <a:ext uri="{FF2B5EF4-FFF2-40B4-BE49-F238E27FC236}">
                <a16:creationId xmlns:a16="http://schemas.microsoft.com/office/drawing/2014/main" id="{D9C580E3-12E3-4C8A-8494-4D94312613D8}"/>
              </a:ext>
            </a:extLst>
          </p:cNvPr>
          <p:cNvSpPr txBox="1">
            <a:spLocks/>
          </p:cNvSpPr>
          <p:nvPr/>
        </p:nvSpPr>
        <p:spPr>
          <a:xfrm>
            <a:off x="5299689" y="558801"/>
            <a:ext cx="6223717" cy="2583931"/>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b="1">
                <a:solidFill>
                  <a:srgbClr val="000000"/>
                </a:solidFill>
                <a:latin typeface="+mj-lt"/>
              </a:rPr>
              <a:t>fd</a:t>
            </a:r>
            <a:r>
              <a:rPr lang="en-US">
                <a:solidFill>
                  <a:srgbClr val="000000"/>
                </a:solidFill>
                <a:latin typeface="+mj-lt"/>
              </a:rPr>
              <a:t> − This is the file descriptor returned by fs.open().</a:t>
            </a:r>
          </a:p>
          <a:p>
            <a:pPr algn="just"/>
            <a:r>
              <a:rPr lang="en-US" b="1">
                <a:solidFill>
                  <a:srgbClr val="000000"/>
                </a:solidFill>
                <a:latin typeface="+mj-lt"/>
              </a:rPr>
              <a:t>buffer</a:t>
            </a:r>
            <a:r>
              <a:rPr lang="en-US">
                <a:solidFill>
                  <a:srgbClr val="000000"/>
                </a:solidFill>
                <a:latin typeface="+mj-lt"/>
              </a:rPr>
              <a:t> − This is the buffer that the data will be written to.</a:t>
            </a:r>
          </a:p>
          <a:p>
            <a:pPr algn="just"/>
            <a:r>
              <a:rPr lang="en-US" b="1">
                <a:solidFill>
                  <a:srgbClr val="000000"/>
                </a:solidFill>
                <a:latin typeface="+mj-lt"/>
              </a:rPr>
              <a:t>offset</a:t>
            </a:r>
            <a:r>
              <a:rPr lang="en-US">
                <a:solidFill>
                  <a:srgbClr val="000000"/>
                </a:solidFill>
                <a:latin typeface="+mj-lt"/>
              </a:rPr>
              <a:t> − This is the offset in the buffer to start writing at.</a:t>
            </a:r>
          </a:p>
          <a:p>
            <a:pPr algn="just"/>
            <a:r>
              <a:rPr lang="en-US" b="1">
                <a:solidFill>
                  <a:srgbClr val="000000"/>
                </a:solidFill>
                <a:latin typeface="+mj-lt"/>
              </a:rPr>
              <a:t>length</a:t>
            </a:r>
            <a:r>
              <a:rPr lang="en-US">
                <a:solidFill>
                  <a:srgbClr val="000000"/>
                </a:solidFill>
                <a:latin typeface="+mj-lt"/>
              </a:rPr>
              <a:t> − This is an integer specifying the number of bytes to read.</a:t>
            </a:r>
          </a:p>
          <a:p>
            <a:pPr algn="just"/>
            <a:r>
              <a:rPr lang="en-US" b="1">
                <a:solidFill>
                  <a:srgbClr val="000000"/>
                </a:solidFill>
                <a:latin typeface="+mj-lt"/>
              </a:rPr>
              <a:t>position</a:t>
            </a:r>
            <a:r>
              <a:rPr lang="en-US">
                <a:solidFill>
                  <a:srgbClr val="000000"/>
                </a:solidFill>
                <a:latin typeface="+mj-lt"/>
              </a:rPr>
              <a:t> − This is an integer specifying where to begin reading from in the file. If position is null, data will be read from the current file position.</a:t>
            </a:r>
          </a:p>
          <a:p>
            <a:pPr algn="just"/>
            <a:r>
              <a:rPr lang="en-US" b="1">
                <a:solidFill>
                  <a:srgbClr val="000000"/>
                </a:solidFill>
                <a:latin typeface="+mj-lt"/>
              </a:rPr>
              <a:t>callback</a:t>
            </a:r>
            <a:r>
              <a:rPr lang="en-US">
                <a:solidFill>
                  <a:srgbClr val="000000"/>
                </a:solidFill>
                <a:latin typeface="+mj-lt"/>
              </a:rPr>
              <a:t> − This is the callback function which gets the three arguments, (err, bytesRead, buffer).</a:t>
            </a:r>
          </a:p>
          <a:p>
            <a:endParaRPr lang="en-IN" dirty="0">
              <a:latin typeface="+mj-lt"/>
            </a:endParaRPr>
          </a:p>
        </p:txBody>
      </p:sp>
    </p:spTree>
    <p:extLst>
      <p:ext uri="{BB962C8B-B14F-4D97-AF65-F5344CB8AC3E}">
        <p14:creationId xmlns:p14="http://schemas.microsoft.com/office/powerpoint/2010/main" val="19870081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33732-85C8-4D94-AE78-261CE5E2CC17}"/>
              </a:ext>
            </a:extLst>
          </p:cNvPr>
          <p:cNvSpPr>
            <a:spLocks noGrp="1"/>
          </p:cNvSpPr>
          <p:nvPr>
            <p:ph type="title"/>
          </p:nvPr>
        </p:nvSpPr>
        <p:spPr>
          <a:xfrm>
            <a:off x="1126066" y="13229"/>
            <a:ext cx="9939867" cy="667808"/>
          </a:xfrm>
        </p:spPr>
        <p:txBody>
          <a:bodyPr>
            <a:normAutofit fontScale="90000"/>
          </a:bodyPr>
          <a:lstStyle/>
          <a:p>
            <a:r>
              <a:rPr lang="en-IN" dirty="0"/>
              <a:t>Delete file</a:t>
            </a:r>
          </a:p>
        </p:txBody>
      </p:sp>
      <p:sp>
        <p:nvSpPr>
          <p:cNvPr id="4" name="Rectangle 1">
            <a:extLst>
              <a:ext uri="{FF2B5EF4-FFF2-40B4-BE49-F238E27FC236}">
                <a16:creationId xmlns:a16="http://schemas.microsoft.com/office/drawing/2014/main" id="{0B644F42-6EDF-4AD4-A6AD-C12197C95486}"/>
              </a:ext>
            </a:extLst>
          </p:cNvPr>
          <p:cNvSpPr>
            <a:spLocks noGrp="1" noChangeArrowheads="1"/>
          </p:cNvSpPr>
          <p:nvPr>
            <p:ph idx="1"/>
          </p:nvPr>
        </p:nvSpPr>
        <p:spPr bwMode="auto">
          <a:xfrm>
            <a:off x="261938" y="696547"/>
            <a:ext cx="2608262" cy="261610"/>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fs.unlink(path, callback)</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AD8FC8C5-E089-45B5-B369-EB133464D66E}"/>
              </a:ext>
            </a:extLst>
          </p:cNvPr>
          <p:cNvSpPr txBox="1"/>
          <p:nvPr/>
        </p:nvSpPr>
        <p:spPr>
          <a:xfrm>
            <a:off x="3160183" y="534368"/>
            <a:ext cx="8972549" cy="523220"/>
          </a:xfrm>
          <a:prstGeom prst="rect">
            <a:avLst/>
          </a:prstGeom>
          <a:noFill/>
        </p:spPr>
        <p:txBody>
          <a:bodyPr wrap="square">
            <a:spAutoFit/>
          </a:bodyPr>
          <a:lstStyle/>
          <a:p>
            <a:pPr algn="just">
              <a:buFont typeface="Arial" panose="020B0604020202020204" pitchFamily="34" charset="0"/>
              <a:buChar char="•"/>
            </a:pPr>
            <a:r>
              <a:rPr lang="en-US" sz="1400" b="1" i="0" dirty="0">
                <a:solidFill>
                  <a:srgbClr val="000000"/>
                </a:solidFill>
                <a:effectLst/>
                <a:latin typeface="+mj-lt"/>
              </a:rPr>
              <a:t>path</a:t>
            </a:r>
            <a:r>
              <a:rPr lang="en-US" sz="1400" b="0" i="0" dirty="0">
                <a:solidFill>
                  <a:srgbClr val="000000"/>
                </a:solidFill>
                <a:effectLst/>
                <a:latin typeface="+mj-lt"/>
              </a:rPr>
              <a:t> − This is the file name including path.</a:t>
            </a:r>
          </a:p>
          <a:p>
            <a:pPr algn="just">
              <a:buFont typeface="Arial" panose="020B0604020202020204" pitchFamily="34" charset="0"/>
              <a:buChar char="•"/>
            </a:pPr>
            <a:r>
              <a:rPr lang="en-US" sz="1400" b="1" i="0" dirty="0">
                <a:solidFill>
                  <a:srgbClr val="000000"/>
                </a:solidFill>
                <a:effectLst/>
                <a:latin typeface="+mj-lt"/>
              </a:rPr>
              <a:t>callback</a:t>
            </a:r>
            <a:r>
              <a:rPr lang="en-US" sz="1400" b="0" i="0" dirty="0">
                <a:solidFill>
                  <a:srgbClr val="000000"/>
                </a:solidFill>
                <a:effectLst/>
                <a:latin typeface="+mj-lt"/>
              </a:rPr>
              <a:t> − This is the callback function No arguments other than a possible exception are given to the completion callback.</a:t>
            </a:r>
          </a:p>
        </p:txBody>
      </p:sp>
      <p:sp>
        <p:nvSpPr>
          <p:cNvPr id="8" name="TextBox 7">
            <a:extLst>
              <a:ext uri="{FF2B5EF4-FFF2-40B4-BE49-F238E27FC236}">
                <a16:creationId xmlns:a16="http://schemas.microsoft.com/office/drawing/2014/main" id="{32AF717F-187B-4429-94B9-7FA036A98C46}"/>
              </a:ext>
            </a:extLst>
          </p:cNvPr>
          <p:cNvSpPr txBox="1"/>
          <p:nvPr/>
        </p:nvSpPr>
        <p:spPr>
          <a:xfrm>
            <a:off x="687916" y="1578727"/>
            <a:ext cx="9658350" cy="2585323"/>
          </a:xfrm>
          <a:prstGeom prst="rect">
            <a:avLst/>
          </a:prstGeom>
          <a:noFill/>
        </p:spPr>
        <p:txBody>
          <a:bodyPr wrap="square">
            <a:spAutoFit/>
          </a:bodyPr>
          <a:lstStyle/>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fs</a:t>
            </a:r>
            <a:r>
              <a:rPr lang="en-IN" b="0" dirty="0">
                <a:solidFill>
                  <a:srgbClr val="000000"/>
                </a:solidFill>
                <a:effectLst/>
                <a:latin typeface="Consolas" panose="020B0609020204030204" pitchFamily="49" charset="0"/>
              </a:rPr>
              <a:t> = </a:t>
            </a:r>
            <a:r>
              <a:rPr lang="en-IN" b="0" dirty="0">
                <a:solidFill>
                  <a:srgbClr val="795E26"/>
                </a:solidFill>
                <a:effectLst/>
                <a:latin typeface="Consolas" panose="020B0609020204030204" pitchFamily="49" charset="0"/>
              </a:rPr>
              <a:t>require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"fs"</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"Going to delete an existing file"</a:t>
            </a:r>
            <a:r>
              <a:rPr lang="en-IN" b="0" dirty="0">
                <a:solidFill>
                  <a:srgbClr val="000000"/>
                </a:solidFill>
                <a:effectLst/>
                <a:latin typeface="Consolas" panose="020B0609020204030204" pitchFamily="49" charset="0"/>
              </a:rPr>
              <a:t>);</a:t>
            </a:r>
          </a:p>
          <a:p>
            <a:r>
              <a:rPr lang="en-IN" b="0" dirty="0" err="1">
                <a:solidFill>
                  <a:srgbClr val="001080"/>
                </a:solidFill>
                <a:effectLst/>
                <a:latin typeface="Consolas" panose="020B0609020204030204" pitchFamily="49" charset="0"/>
              </a:rPr>
              <a:t>fs</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unlink</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'input.txt'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err</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if</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err</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console</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error</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err</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"File deleted successfully!"</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228816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1258</TotalTime>
  <Words>1815</Words>
  <Application>Microsoft Office PowerPoint</Application>
  <PresentationFormat>Widescreen</PresentationFormat>
  <Paragraphs>195</Paragraphs>
  <Slides>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Arial</vt:lpstr>
      <vt:lpstr>Arial</vt:lpstr>
      <vt:lpstr>Cambria</vt:lpstr>
      <vt:lpstr>Consolas</vt:lpstr>
      <vt:lpstr>Courier New</vt:lpstr>
      <vt:lpstr>Garamond</vt:lpstr>
      <vt:lpstr>inherit</vt:lpstr>
      <vt:lpstr>Verdana</vt:lpstr>
      <vt:lpstr>Office Theme</vt:lpstr>
      <vt:lpstr>PowerPoint Presentation</vt:lpstr>
      <vt:lpstr>File System : Synchronous vs Asynchronous</vt:lpstr>
      <vt:lpstr>Open a File</vt:lpstr>
      <vt:lpstr>The File System module has methods for creating new files: fs.appendFile() fs.open() fs.writeFile() </vt:lpstr>
      <vt:lpstr>Writing a File</vt:lpstr>
      <vt:lpstr>fs.read(fd, buffer, offset, length, position, callback)  </vt:lpstr>
      <vt:lpstr>Write and then read</vt:lpstr>
      <vt:lpstr>Open Read close</vt:lpstr>
      <vt:lpstr>Delete file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vidyanidhi school</cp:lastModifiedBy>
  <cp:revision>71</cp:revision>
  <dcterms:created xsi:type="dcterms:W3CDTF">2020-12-02T14:02:37Z</dcterms:created>
  <dcterms:modified xsi:type="dcterms:W3CDTF">2024-01-12T15:33:21Z</dcterms:modified>
</cp:coreProperties>
</file>