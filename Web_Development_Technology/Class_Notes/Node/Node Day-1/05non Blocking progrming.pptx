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682" y="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0E79AA-7DB2-4E22-9DB9-1DFD80A276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8E125A2-81D8-48D9-A4D4-762E76A11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5E8F41CC-7373-4202-80E9-781D34420484}"/>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F174E508-A7D7-48F7-AA83-967A083BD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6A82D8E-5C7A-400C-87B1-F36EC0BEA9C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4341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868276-87E5-41E9-B38C-4C620DA2A6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A985A2B-1D3C-4DF8-BF9A-B8879BBBF2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D3E61C5A-01FF-47D6-881A-F530B51D6AD5}"/>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3CC15029-464E-4C68-A311-1AB713E59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52A2286F-B770-4CBC-9A20-E0B83E5EDD04}"/>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61101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19D722-374F-4E12-A5AA-B9666F37CB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B182E163-600C-418A-ACBE-B44E13E8B4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19BAE46-3447-4D09-B3ED-F5401DDFB00A}"/>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F6491CE6-143A-463E-AECE-C349F97A6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D68D3F5-F204-43F2-B1E4-ACD84E7E387E}"/>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593320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C2BE08-92E1-4B5D-9E99-A0C0AAC53A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67B5F4F-3C28-47D1-BED5-8ADA893405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10EC5FE2-F6BE-4D2A-BBDD-0E36DD31A5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F50E181-871A-49B5-AC2D-0DCC9E52625D}"/>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6" name="Footer Placeholder 5">
            <a:extLst>
              <a:ext uri="{FF2B5EF4-FFF2-40B4-BE49-F238E27FC236}">
                <a16:creationId xmlns:a16="http://schemas.microsoft.com/office/drawing/2014/main" xmlns="" id="{EEEB6C27-6DB1-43C1-A70C-BDBF5A5993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E71FC8D-07E3-4653-8043-3619F6DC4EDC}"/>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9716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C55E5-0A61-43AA-BC1C-939A358777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4163860-A6E6-45DF-B060-6D50E3AC9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AEDDF13-3E79-4BED-BDC6-89C59873D8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7D2395D-B0E7-460D-855C-BB680480BF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0203D23-023E-4AC4-A344-8BDCFC3AA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69CD23E0-3C96-48DB-8181-59697EA8CEB1}"/>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8" name="Footer Placeholder 7">
            <a:extLst>
              <a:ext uri="{FF2B5EF4-FFF2-40B4-BE49-F238E27FC236}">
                <a16:creationId xmlns:a16="http://schemas.microsoft.com/office/drawing/2014/main" xmlns="" id="{EF17CF6A-4942-4728-B7ED-A17A6EB457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DE130C65-E289-4C45-97DA-C56A5975FF3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3912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0DFC42-11F8-45C6-9C26-8257048EDC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D85D5B2D-F22C-40CE-BA70-082496719C25}"/>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4" name="Footer Placeholder 3">
            <a:extLst>
              <a:ext uri="{FF2B5EF4-FFF2-40B4-BE49-F238E27FC236}">
                <a16:creationId xmlns:a16="http://schemas.microsoft.com/office/drawing/2014/main" xmlns="" id="{AD3EDC11-7751-41EF-8597-BEB295D90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20D11D39-4738-42E3-A87F-53C2E98273B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7938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C6B8C9DD-A4A0-4C5E-8B00-A44F65C4B23F}"/>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3" name="Footer Placeholder 2">
            <a:extLst>
              <a:ext uri="{FF2B5EF4-FFF2-40B4-BE49-F238E27FC236}">
                <a16:creationId xmlns:a16="http://schemas.microsoft.com/office/drawing/2014/main" xmlns="" id="{33A337FE-119A-4DB9-B6DE-0283F60BEC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1788C703-1142-4EC7-B5B2-C4C2CD21680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392405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D4D7FA-65E3-421A-B992-B629D3569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63BB33E-87E7-4865-A99D-DD0A8B56D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779C521-E7D8-436D-8CB1-FDF8CD052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82EBEC6-0AE1-45B0-A83D-3875AE770466}"/>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6" name="Footer Placeholder 5">
            <a:extLst>
              <a:ext uri="{FF2B5EF4-FFF2-40B4-BE49-F238E27FC236}">
                <a16:creationId xmlns:a16="http://schemas.microsoft.com/office/drawing/2014/main" xmlns="" id="{3B7D5F76-6BDE-4A06-B8B8-F3F0A3A0F6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8A2EA2E6-F7B7-49D5-83CF-2B883C28EC36}"/>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80223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BB3867-4B2E-495C-BEB2-97D4995B57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56FF83C-FA49-4FFC-BD34-43AA12EC39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8FEE11CF-FF0E-457F-A636-CB699E226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70FCB39-DCD5-4067-A6EE-EA86C9C786B8}"/>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6" name="Footer Placeholder 5">
            <a:extLst>
              <a:ext uri="{FF2B5EF4-FFF2-40B4-BE49-F238E27FC236}">
                <a16:creationId xmlns:a16="http://schemas.microsoft.com/office/drawing/2014/main" xmlns="" id="{D6A727EA-7636-40E0-8F79-9B521BE1D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28E3A76-C622-4AD4-BD45-02B6AC90751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9975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451C6D-D331-4574-A295-DABD017E9C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4ACFD89B-8285-4DA7-93A8-EDA72D91C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AAB95E3-BA4F-48F1-AE90-05ED1BBA9F4B}"/>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6DCF4A06-8165-4D2D-A982-C4A9534A6A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E295065-794D-4A01-9B48-DA734075B37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95067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49E922A6-8E3F-49F0-B0B3-C4018BCF85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1847A00-48AD-4CAC-8F30-08D650339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CDD60D0-1118-4969-A999-BC8DA18A6977}"/>
              </a:ext>
            </a:extLst>
          </p:cNvPr>
          <p:cNvSpPr>
            <a:spLocks noGrp="1"/>
          </p:cNvSpPr>
          <p:nvPr>
            <p:ph type="dt" sz="half" idx="10"/>
          </p:nvPr>
        </p:nvSpPr>
        <p:spPr/>
        <p:txBody>
          <a:body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05357BD6-E0A6-4149-8DDB-4E8940E53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751E6E8-8992-45B4-AA42-AD0F304A7B2A}"/>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402956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95DA15A-4ED9-4487-A195-CE9601420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A1889064-A8EF-4C32-8E87-C422ED5580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DDA1D0C-B70F-4649-9CBC-EFF65B194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1A9AD-BE8B-4CE7-90FD-75C1A9B9426F}" type="datetimeFigureOut">
              <a:rPr lang="en-IN" smtClean="0"/>
              <a:t>14-06-2024</a:t>
            </a:fld>
            <a:endParaRPr lang="en-IN"/>
          </a:p>
        </p:txBody>
      </p:sp>
      <p:sp>
        <p:nvSpPr>
          <p:cNvPr id="5" name="Footer Placeholder 4">
            <a:extLst>
              <a:ext uri="{FF2B5EF4-FFF2-40B4-BE49-F238E27FC236}">
                <a16:creationId xmlns:a16="http://schemas.microsoft.com/office/drawing/2014/main" xmlns="" id="{4E4F4856-151A-4CA2-ACA3-75BDA4C84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6890B48E-BB63-4E2B-97CE-02960B1C8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858F87-BE41-46BA-8F9D-59AE843C54F4}" type="slidenum">
              <a:rPr lang="en-IN" smtClean="0"/>
              <a:t>‹#›</a:t>
            </a:fld>
            <a:endParaRPr lang="en-IN"/>
          </a:p>
        </p:txBody>
      </p:sp>
      <p:pic>
        <p:nvPicPr>
          <p:cNvPr id="7" name="Picture 6">
            <a:extLst>
              <a:ext uri="{FF2B5EF4-FFF2-40B4-BE49-F238E27FC236}">
                <a16:creationId xmlns:a16="http://schemas.microsoft.com/office/drawing/2014/main" xmlns="" id="{FDFD8442-60F6-4727-BC60-400453F8263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xmlns="" id="{1710D0AB-C3B8-479C-8CD1-51DCD8AC6C4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963112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887AAB-CD8E-4059-8FDA-18293A877F84}"/>
              </a:ext>
            </a:extLst>
          </p:cNvPr>
          <p:cNvSpPr>
            <a:spLocks noGrp="1"/>
          </p:cNvSpPr>
          <p:nvPr>
            <p:ph type="title"/>
          </p:nvPr>
        </p:nvSpPr>
        <p:spPr>
          <a:xfrm>
            <a:off x="3935361" y="180923"/>
            <a:ext cx="3782961" cy="500114"/>
          </a:xfrm>
        </p:spPr>
        <p:txBody>
          <a:bodyPr/>
          <a:lstStyle/>
          <a:p>
            <a:r>
              <a:rPr lang="en-IN" sz="1800" spc="-75" dirty="0">
                <a:solidFill>
                  <a:srgbClr val="121214"/>
                </a:solidFill>
                <a:effectLst/>
                <a:latin typeface="Times New Roman" panose="02020603050405020304" pitchFamily="18" charset="0"/>
                <a:ea typeface="Times New Roman" panose="02020603050405020304" pitchFamily="18" charset="0"/>
                <a:cs typeface="Times New Roman" panose="02020603050405020304" pitchFamily="18" charset="0"/>
              </a:rPr>
              <a:t>What is </a:t>
            </a:r>
            <a:r>
              <a:rPr lang="en-IN" sz="1800" spc="-75" dirty="0" err="1">
                <a:solidFill>
                  <a:srgbClr val="121214"/>
                </a:solidFill>
                <a:effectLst/>
                <a:latin typeface="Times New Roman" panose="02020603050405020304" pitchFamily="18" charset="0"/>
                <a:ea typeface="Times New Roman" panose="02020603050405020304" pitchFamily="18" charset="0"/>
                <a:cs typeface="Times New Roman" panose="02020603050405020304" pitchFamily="18" charset="0"/>
              </a:rPr>
              <a:t>Callback</a:t>
            </a:r>
            <a:r>
              <a:rPr lang="en-IN" sz="1800" spc="-75" dirty="0">
                <a:solidFill>
                  <a:srgbClr val="121214"/>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p>
        </p:txBody>
      </p:sp>
      <p:sp>
        <p:nvSpPr>
          <p:cNvPr id="3" name="Content Placeholder 2">
            <a:extLst>
              <a:ext uri="{FF2B5EF4-FFF2-40B4-BE49-F238E27FC236}">
                <a16:creationId xmlns:a16="http://schemas.microsoft.com/office/drawing/2014/main" xmlns="" id="{57FF2A5D-4F83-46D3-ACB7-29846D474088}"/>
              </a:ext>
            </a:extLst>
          </p:cNvPr>
          <p:cNvSpPr>
            <a:spLocks noGrp="1"/>
          </p:cNvSpPr>
          <p:nvPr>
            <p:ph idx="1"/>
          </p:nvPr>
        </p:nvSpPr>
        <p:spPr>
          <a:xfrm>
            <a:off x="415413" y="950554"/>
            <a:ext cx="10515600" cy="4351338"/>
          </a:xfrm>
        </p:spPr>
        <p:txBody>
          <a:bodyPr/>
          <a:lstStyle/>
          <a:p>
            <a:pPr marL="30480" marR="30480" algn="just">
              <a:lnSpc>
                <a:spcPts val="1800"/>
              </a:lnSpc>
              <a:spcAft>
                <a:spcPts val="1200"/>
              </a:spcAft>
            </a:pP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an asynchronous equivalent for a function. A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function is called at the completion of a given task. Node makes heavy use of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callbacks</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All APIs of Node are written is such a way that they supports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callbacks</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 example, a function to read a file may start reading file and return the control to execution environment immediately so that next instruction can be executed. Once file I/O is complete, it will call the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function while passing the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callback</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function, the content of the file as parameter. So there is no blocking or wait for File I/O. This makes Node.js highly scalable, as it can process high number of request without waiting for any function to return result.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40817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0FF15A-525E-49FE-B000-A5F8997FE187}"/>
              </a:ext>
            </a:extLst>
          </p:cNvPr>
          <p:cNvSpPr>
            <a:spLocks noGrp="1"/>
          </p:cNvSpPr>
          <p:nvPr>
            <p:ph type="title"/>
          </p:nvPr>
        </p:nvSpPr>
        <p:spPr>
          <a:xfrm>
            <a:off x="2841522" y="148816"/>
            <a:ext cx="7686368" cy="677094"/>
          </a:xfrm>
        </p:spPr>
        <p:txBody>
          <a:bodyPr/>
          <a:lstStyle/>
          <a:p>
            <a:r>
              <a:rPr lang="en-IN" sz="1800" spc="-75" dirty="0">
                <a:solidFill>
                  <a:srgbClr val="121214"/>
                </a:solidFill>
                <a:effectLst/>
                <a:latin typeface="Times New Roman" panose="02020603050405020304" pitchFamily="18" charset="0"/>
                <a:ea typeface="Times New Roman" panose="02020603050405020304" pitchFamily="18" charset="0"/>
                <a:cs typeface="Times New Roman" panose="02020603050405020304" pitchFamily="18" charset="0"/>
              </a:rPr>
              <a:t>Blocking Code Example</a:t>
            </a:r>
            <a:endParaRPr lang="en-IN" dirty="0"/>
          </a:p>
        </p:txBody>
      </p:sp>
      <p:sp>
        <p:nvSpPr>
          <p:cNvPr id="3" name="Content Placeholder 2">
            <a:extLst>
              <a:ext uri="{FF2B5EF4-FFF2-40B4-BE49-F238E27FC236}">
                <a16:creationId xmlns:a16="http://schemas.microsoft.com/office/drawing/2014/main" xmlns="" id="{1A4526E6-6FDB-49A2-8364-BFC65A065429}"/>
              </a:ext>
            </a:extLst>
          </p:cNvPr>
          <p:cNvSpPr>
            <a:spLocks noGrp="1"/>
          </p:cNvSpPr>
          <p:nvPr>
            <p:ph idx="1"/>
          </p:nvPr>
        </p:nvSpPr>
        <p:spPr>
          <a:xfrm>
            <a:off x="235974" y="825911"/>
            <a:ext cx="11117826" cy="2694038"/>
          </a:xfrm>
        </p:spPr>
        <p:txBody>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Create a text file named input.txt having following content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CDAC is giving self learning content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to teach the world in simple and easy way!!!!!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 hope you are enjoying the node modules.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Happy coding...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Create a </a:t>
            </a:r>
            <a:r>
              <a:rPr lang="en-IN" sz="2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js</a:t>
            </a:r>
            <a:r>
              <a:rPr lang="en-IN"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file named main.js which has the following code: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xmlns="" id="{FA830434-75CB-41C6-9432-ECB8E10D1F64}"/>
              </a:ext>
            </a:extLst>
          </p:cNvPr>
          <p:cNvSpPr txBox="1"/>
          <p:nvPr/>
        </p:nvSpPr>
        <p:spPr>
          <a:xfrm>
            <a:off x="235974" y="3604897"/>
            <a:ext cx="6135328" cy="1550746"/>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effectLst/>
                <a:latin typeface="Consolas" panose="020B0609020204030204" pitchFamily="49" charset="0"/>
                <a:ea typeface="Times New Roman" panose="02020603050405020304" pitchFamily="18" charset="0"/>
                <a:cs typeface="Consolas" panose="020B0609020204030204" pitchFamily="49" charset="0"/>
              </a:rPr>
              <a:t> fs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"fs"</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effectLst/>
                <a:latin typeface="Consolas" panose="020B0609020204030204" pitchFamily="49" charset="0"/>
                <a:ea typeface="Times New Roman" panose="02020603050405020304" pitchFamily="18" charset="0"/>
                <a:cs typeface="Consolas" panose="020B0609020204030204" pitchFamily="49" charset="0"/>
              </a:rPr>
              <a:t> data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fs</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readFileSync</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'input.txt'</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console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log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data</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toString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console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log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"Program Ended"</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xmlns="" id="{74D4B784-8B37-406D-98DD-3F01B206EA83}"/>
              </a:ext>
            </a:extLst>
          </p:cNvPr>
          <p:cNvSpPr txBox="1"/>
          <p:nvPr/>
        </p:nvSpPr>
        <p:spPr>
          <a:xfrm>
            <a:off x="403123" y="5497160"/>
            <a:ext cx="6135328" cy="632866"/>
          </a:xfrm>
          <a:prstGeom prst="rect">
            <a:avLst/>
          </a:prstGeom>
          <a:noFill/>
        </p:spPr>
        <p:txBody>
          <a:bodyPr wrap="square">
            <a:spAutoFit/>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Now run the main.js to see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node main</a:t>
            </a:r>
            <a:r>
              <a:rPr lang="en-IN" sz="1200" dirty="0">
                <a:solidFill>
                  <a:srgbClr val="6666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0000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js</a:t>
            </a:r>
            <a:endParaRPr lang="en-IN" sz="16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xmlns="" id="{9944CBB7-E76C-4BDA-9CDE-1DF02744B077}"/>
              </a:ext>
            </a:extLst>
          </p:cNvPr>
          <p:cNvSpPr txBox="1"/>
          <p:nvPr/>
        </p:nvSpPr>
        <p:spPr>
          <a:xfrm>
            <a:off x="7973962" y="3399975"/>
            <a:ext cx="3185651" cy="3248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Verify the Output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xmlns="" id="{C8F501C5-DE2C-4F81-A6C9-B0C5C3E04A49}"/>
              </a:ext>
            </a:extLst>
          </p:cNvPr>
          <p:cNvSpPr txBox="1"/>
          <p:nvPr/>
        </p:nvSpPr>
        <p:spPr>
          <a:xfrm>
            <a:off x="6096000" y="4382822"/>
            <a:ext cx="6135328" cy="138441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CDAC is giving self learning content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to teach the world in simple and easy way!!!!!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 hope you are enjoying the node modules.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Happy coding...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Program Ended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8941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66F964-CB38-47A2-8819-7D4FDE4097DF}"/>
              </a:ext>
            </a:extLst>
          </p:cNvPr>
          <p:cNvSpPr>
            <a:spLocks noGrp="1"/>
          </p:cNvSpPr>
          <p:nvPr>
            <p:ph type="title"/>
          </p:nvPr>
        </p:nvSpPr>
        <p:spPr>
          <a:xfrm>
            <a:off x="3355258" y="129151"/>
            <a:ext cx="4618703" cy="421456"/>
          </a:xfrm>
        </p:spPr>
        <p:txBody>
          <a:bodyPr/>
          <a:lstStyle/>
          <a:p>
            <a:r>
              <a:rPr lang="en-IN" sz="1800" spc="-75" dirty="0">
                <a:solidFill>
                  <a:srgbClr val="121214"/>
                </a:solidFill>
                <a:effectLst/>
                <a:latin typeface="Times New Roman" panose="02020603050405020304" pitchFamily="18" charset="0"/>
                <a:ea typeface="Times New Roman" panose="02020603050405020304" pitchFamily="18" charset="0"/>
                <a:cs typeface="Times New Roman" panose="02020603050405020304" pitchFamily="18" charset="0"/>
              </a:rPr>
              <a:t>Non-Blocking Code Example</a:t>
            </a:r>
            <a:endParaRPr lang="en-IN" dirty="0"/>
          </a:p>
        </p:txBody>
      </p:sp>
      <p:sp>
        <p:nvSpPr>
          <p:cNvPr id="3" name="Content Placeholder 2">
            <a:extLst>
              <a:ext uri="{FF2B5EF4-FFF2-40B4-BE49-F238E27FC236}">
                <a16:creationId xmlns:a16="http://schemas.microsoft.com/office/drawing/2014/main" xmlns="" id="{29EFD0EB-6AFB-4A3A-9D3D-C34B14CD32CD}"/>
              </a:ext>
            </a:extLst>
          </p:cNvPr>
          <p:cNvSpPr>
            <a:spLocks noGrp="1"/>
          </p:cNvSpPr>
          <p:nvPr>
            <p:ph idx="1"/>
          </p:nvPr>
        </p:nvSpPr>
        <p:spPr>
          <a:xfrm>
            <a:off x="442452" y="747252"/>
            <a:ext cx="10911348" cy="2172929"/>
          </a:xfrm>
        </p:spPr>
        <p:txBody>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Create a text file named input.txt having following content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CDAC is giving self learning content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to teach the world in simple and easy way!!!!!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 hope you are enjoying the node modules.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ts val="1200"/>
              </a:lnSpc>
              <a:spcAft>
                <a:spcPts val="750"/>
              </a:spcAft>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Happy coding...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xmlns="" id="{B642526B-4012-4AF5-A817-AABF77010612}"/>
              </a:ext>
            </a:extLst>
          </p:cNvPr>
          <p:cNvSpPr txBox="1"/>
          <p:nvPr/>
        </p:nvSpPr>
        <p:spPr>
          <a:xfrm>
            <a:off x="287594" y="3116826"/>
            <a:ext cx="6135328" cy="2063706"/>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effectLst/>
                <a:latin typeface="Consolas" panose="020B0609020204030204" pitchFamily="49" charset="0"/>
                <a:ea typeface="Times New Roman" panose="02020603050405020304" pitchFamily="18" charset="0"/>
                <a:cs typeface="Consolas" panose="020B0609020204030204" pitchFamily="49" charset="0"/>
              </a:rPr>
              <a:t> fs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"fs"</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effectLst/>
                <a:latin typeface="Consolas" panose="020B0609020204030204" pitchFamily="49" charset="0"/>
                <a:ea typeface="Times New Roman" panose="02020603050405020304" pitchFamily="18" charset="0"/>
                <a:cs typeface="Consolas" panose="020B0609020204030204" pitchFamily="49" charset="0"/>
              </a:rPr>
              <a:t>fs</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readFile</a:t>
            </a:r>
            <a:r>
              <a:rPr lang="en-IN" sz="18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'input.txt'</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err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data</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B05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if</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err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return</a:t>
            </a: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console</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error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err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console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log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data</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effectLst/>
                <a:latin typeface="Consolas" panose="020B0609020204030204" pitchFamily="49" charset="0"/>
                <a:ea typeface="Times New Roman" panose="02020603050405020304" pitchFamily="18" charset="0"/>
                <a:cs typeface="Consolas" panose="020B0609020204030204" pitchFamily="49" charset="0"/>
              </a:rPr>
              <a:t>toString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B05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effectLst/>
                <a:latin typeface="Consolas" panose="020B0609020204030204" pitchFamily="49" charset="0"/>
                <a:ea typeface="Times New Roman" panose="02020603050405020304" pitchFamily="18" charset="0"/>
                <a:cs typeface="Consolas" panose="020B0609020204030204" pitchFamily="49" charset="0"/>
              </a:rPr>
              <a:t>console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effectLst/>
                <a:latin typeface="Consolas" panose="020B0609020204030204" pitchFamily="49" charset="0"/>
                <a:ea typeface="Times New Roman" panose="02020603050405020304" pitchFamily="18" charset="0"/>
                <a:cs typeface="Consolas" panose="020B0609020204030204" pitchFamily="49" charset="0"/>
              </a:rPr>
              <a:t>log</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"Program Ended"</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xmlns="" id="{D6A2D09F-DF6F-46CD-A7E2-6EFCCB7B5AAB}"/>
              </a:ext>
            </a:extLst>
          </p:cNvPr>
          <p:cNvSpPr txBox="1"/>
          <p:nvPr/>
        </p:nvSpPr>
        <p:spPr>
          <a:xfrm>
            <a:off x="560439" y="5377177"/>
            <a:ext cx="6135328" cy="632866"/>
          </a:xfrm>
          <a:prstGeom prst="rect">
            <a:avLst/>
          </a:prstGeom>
          <a:noFill/>
        </p:spPr>
        <p:txBody>
          <a:bodyPr wrap="square">
            <a:spAutoFit/>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Now run the main.js to see the result: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 node main</a:t>
            </a:r>
            <a:r>
              <a:rPr lang="en-IN" sz="1200" dirty="0">
                <a:solidFill>
                  <a:srgbClr val="6666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a:t>
            </a:r>
            <a:r>
              <a:rPr lang="en-IN" sz="1200" dirty="0">
                <a:solidFill>
                  <a:srgbClr val="000000"/>
                </a:solidFill>
                <a:effectLst/>
                <a:highlight>
                  <a:srgbClr val="C0C0C0"/>
                </a:highlight>
                <a:latin typeface="Consolas" panose="020B0609020204030204" pitchFamily="49" charset="0"/>
                <a:ea typeface="Times New Roman" panose="02020603050405020304" pitchFamily="18" charset="0"/>
                <a:cs typeface="Consolas" panose="020B0609020204030204" pitchFamily="49" charset="0"/>
              </a:rPr>
              <a:t>js</a:t>
            </a:r>
            <a:endParaRPr lang="en-IN" sz="16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xmlns="" id="{E074ABAB-1AC1-40CA-8593-BB98593A9C00}"/>
              </a:ext>
            </a:extLst>
          </p:cNvPr>
          <p:cNvSpPr txBox="1"/>
          <p:nvPr/>
        </p:nvSpPr>
        <p:spPr>
          <a:xfrm>
            <a:off x="5769078" y="4361905"/>
            <a:ext cx="6135328" cy="183390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30480" marR="30480" algn="just">
              <a:lnSpc>
                <a:spcPts val="1800"/>
              </a:lnSpc>
              <a:spcAft>
                <a:spcPts val="1200"/>
              </a:spcAft>
            </a:pPr>
            <a:r>
              <a:rPr lang="en-IN" sz="2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Verify the Output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600" b="1"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Program Ended</a:t>
            </a: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CDAC is giving self learning content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to teach the world in simple and easy way!!!!!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I hope you are enjoying the node modules.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Happy coding...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p:cNvSpPr txBox="1"/>
          <p:nvPr/>
        </p:nvSpPr>
        <p:spPr>
          <a:xfrm>
            <a:off x="7134225" y="209550"/>
            <a:ext cx="4770181" cy="3970318"/>
          </a:xfrm>
          <a:prstGeom prst="rect">
            <a:avLst/>
          </a:prstGeom>
          <a:noFill/>
        </p:spPr>
        <p:txBody>
          <a:bodyPr wrap="square" rtlCol="0">
            <a:spAutoFit/>
          </a:bodyPr>
          <a:lstStyle/>
          <a:p>
            <a:r>
              <a:rPr lang="en-US" dirty="0" smtClean="0"/>
              <a:t>Function </a:t>
            </a:r>
            <a:r>
              <a:rPr lang="en-US" dirty="0" err="1" smtClean="0"/>
              <a:t>readFile</a:t>
            </a:r>
            <a:r>
              <a:rPr lang="en-US" dirty="0" smtClean="0"/>
              <a:t>(</a:t>
            </a:r>
            <a:r>
              <a:rPr lang="en-US" dirty="0" err="1" smtClean="0"/>
              <a:t>afile</a:t>
            </a:r>
            <a:r>
              <a:rPr lang="en-US" dirty="0" smtClean="0"/>
              <a:t>, callback)</a:t>
            </a:r>
          </a:p>
          <a:p>
            <a:r>
              <a:rPr lang="en-US" dirty="0" smtClean="0"/>
              <a:t>{</a:t>
            </a:r>
          </a:p>
          <a:p>
            <a:r>
              <a:rPr lang="en-US" dirty="0" smtClean="0"/>
              <a:t>   </a:t>
            </a:r>
            <a:r>
              <a:rPr lang="en-US" dirty="0" err="1" smtClean="0"/>
              <a:t>mfile</a:t>
            </a:r>
            <a:r>
              <a:rPr lang="en-US" dirty="0" smtClean="0"/>
              <a:t>=</a:t>
            </a:r>
            <a:r>
              <a:rPr lang="en-US" dirty="0" err="1" smtClean="0"/>
              <a:t>afile</a:t>
            </a:r>
            <a:r>
              <a:rPr lang="en-US" dirty="0" smtClean="0"/>
              <a:t>;</a:t>
            </a:r>
          </a:p>
          <a:p>
            <a:r>
              <a:rPr lang="en-US" dirty="0" smtClean="0"/>
              <a:t>Callback(</a:t>
            </a:r>
            <a:r>
              <a:rPr lang="en-US" dirty="0" err="1" smtClean="0"/>
              <a:t>err,data</a:t>
            </a:r>
            <a:r>
              <a:rPr lang="en-US" dirty="0" smtClean="0"/>
              <a:t>)</a:t>
            </a:r>
          </a:p>
          <a:p>
            <a:endParaRPr lang="en-US" dirty="0"/>
          </a:p>
          <a:p>
            <a:r>
              <a:rPr lang="en-US" dirty="0" smtClean="0"/>
              <a:t>   while(</a:t>
            </a:r>
            <a:r>
              <a:rPr lang="en-US" dirty="0" err="1" smtClean="0"/>
              <a:t>mfile</a:t>
            </a:r>
            <a:r>
              <a:rPr lang="en-US" dirty="0" smtClean="0"/>
              <a:t>!=EOF)</a:t>
            </a:r>
          </a:p>
          <a:p>
            <a:r>
              <a:rPr lang="en-US" dirty="0" smtClean="0"/>
              <a:t>{</a:t>
            </a:r>
          </a:p>
          <a:p>
            <a:r>
              <a:rPr lang="en-US" dirty="0"/>
              <a:t> </a:t>
            </a:r>
            <a:r>
              <a:rPr lang="en-US" dirty="0" smtClean="0"/>
              <a:t> data-=….</a:t>
            </a:r>
          </a:p>
          <a:p>
            <a:endParaRPr lang="en-US" dirty="0"/>
          </a:p>
          <a:p>
            <a:r>
              <a:rPr lang="en-US" dirty="0" smtClean="0"/>
              <a:t>}</a:t>
            </a:r>
            <a:endParaRPr lang="en-US" dirty="0"/>
          </a:p>
          <a:p>
            <a:endParaRPr lang="en-US" dirty="0" smtClean="0"/>
          </a:p>
          <a:p>
            <a:r>
              <a:rPr lang="en-US" dirty="0" smtClean="0"/>
              <a:t>}</a:t>
            </a:r>
          </a:p>
          <a:p>
            <a:endParaRPr lang="en-US" dirty="0"/>
          </a:p>
          <a:p>
            <a:endParaRPr lang="en-IN" dirty="0"/>
          </a:p>
        </p:txBody>
      </p:sp>
    </p:spTree>
    <p:extLst>
      <p:ext uri="{BB962C8B-B14F-4D97-AF65-F5344CB8AC3E}">
        <p14:creationId xmlns:p14="http://schemas.microsoft.com/office/powerpoint/2010/main" val="7977257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9B24A0B-DB33-4C41-91AC-B939422CDF65}"/>
              </a:ext>
            </a:extLst>
          </p:cNvPr>
          <p:cNvSpPr>
            <a:spLocks noGrp="1"/>
          </p:cNvSpPr>
          <p:nvPr>
            <p:ph idx="1"/>
          </p:nvPr>
        </p:nvSpPr>
        <p:spPr>
          <a:xfrm>
            <a:off x="474406" y="891561"/>
            <a:ext cx="10515600" cy="4351338"/>
          </a:xfrm>
        </p:spPr>
        <p:txBody>
          <a:bodyPr>
            <a:normAutofit fontScale="70000" lnSpcReduction="20000"/>
          </a:bodyPr>
          <a:lstStyle/>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These two examples explain the concept of blocking and non-blocking calls. First example shows that program blocks until it reads the file and then only it proceeds to end the program where as in second example, program does not wait for file reading but it just proceeded to print "Program Ended" and same time program without blocking continues reading the file.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Thus, a blocking program executes very much in sequence and from programming point of view its easier to implement the logic but non-blocking programs does not execute in sequence, so in case a program needs to use any data to be processed, it should be kept with-in the same block to make it sequential execution.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dirty="0"/>
              <a:t>function go()</a:t>
            </a:r>
          </a:p>
          <a:p>
            <a:pPr marL="0" indent="0">
              <a:buNone/>
            </a:pPr>
            <a:r>
              <a:rPr lang="en-IN" dirty="0"/>
              <a:t>{</a:t>
            </a:r>
          </a:p>
          <a:p>
            <a:pPr marL="0" indent="0">
              <a:buNone/>
            </a:pPr>
            <a:endParaRPr lang="en-IN" dirty="0"/>
          </a:p>
          <a:p>
            <a:pPr marL="0" indent="0">
              <a:buNone/>
            </a:pPr>
            <a:r>
              <a:rPr lang="en-IN" dirty="0"/>
              <a:t>console.log(“execute after 500 </a:t>
            </a:r>
            <a:r>
              <a:rPr lang="en-IN" dirty="0" err="1"/>
              <a:t>mili</a:t>
            </a:r>
            <a:r>
              <a:rPr lang="en-IN" dirty="0"/>
              <a:t>”)</a:t>
            </a:r>
          </a:p>
          <a:p>
            <a:pPr marL="0" indent="0">
              <a:buNone/>
            </a:pPr>
            <a:r>
              <a:rPr lang="en-IN" dirty="0"/>
              <a:t>}</a:t>
            </a:r>
          </a:p>
          <a:p>
            <a:pPr marL="0" indent="0">
              <a:buNone/>
            </a:pPr>
            <a:r>
              <a:rPr lang="en-IN" dirty="0" err="1"/>
              <a:t>setTimeOut</a:t>
            </a:r>
            <a:r>
              <a:rPr lang="en-IN" dirty="0"/>
              <a:t>(go,500);</a:t>
            </a:r>
          </a:p>
          <a:p>
            <a:pPr marL="0" indent="0">
              <a:buNone/>
            </a:pPr>
            <a:r>
              <a:rPr lang="en-IN" dirty="0"/>
              <a:t>console.log(“hi”);</a:t>
            </a:r>
          </a:p>
          <a:p>
            <a:endParaRPr lang="en-IN" dirty="0"/>
          </a:p>
          <a:p>
            <a:endParaRPr lang="en-IN" dirty="0"/>
          </a:p>
          <a:p>
            <a:endParaRPr lang="en-IN" dirty="0"/>
          </a:p>
        </p:txBody>
      </p:sp>
    </p:spTree>
    <p:extLst>
      <p:ext uri="{BB962C8B-B14F-4D97-AF65-F5344CB8AC3E}">
        <p14:creationId xmlns:p14="http://schemas.microsoft.com/office/powerpoint/2010/main" val="153665144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514</Words>
  <Application>Microsoft Office PowerPoint</Application>
  <PresentationFormat>Widescreen</PresentationFormat>
  <Paragraphs>74</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Cambria</vt:lpstr>
      <vt:lpstr>Consolas</vt:lpstr>
      <vt:lpstr>Times New Roman</vt:lpstr>
      <vt:lpstr>Office Theme</vt:lpstr>
      <vt:lpstr>PowerPoint Presentation</vt:lpstr>
      <vt:lpstr>What is Callback?</vt:lpstr>
      <vt:lpstr>Blocking Code Example</vt:lpstr>
      <vt:lpstr>Non-Blocking Code Example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User</cp:lastModifiedBy>
  <cp:revision>11</cp:revision>
  <dcterms:created xsi:type="dcterms:W3CDTF">2020-12-04T06:40:27Z</dcterms:created>
  <dcterms:modified xsi:type="dcterms:W3CDTF">2024-06-14T05:38:03Z</dcterms:modified>
</cp:coreProperties>
</file>