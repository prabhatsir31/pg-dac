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 id="269" r:id="rId8"/>
    <p:sldId id="266"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B31D8-3B89-4650-9AE6-D8E77F8A038A}"/>
              </a:ext>
            </a:extLst>
          </p:cNvPr>
          <p:cNvSpPr>
            <a:spLocks noGrp="1"/>
          </p:cNvSpPr>
          <p:nvPr>
            <p:ph type="title"/>
          </p:nvPr>
        </p:nvSpPr>
        <p:spPr>
          <a:xfrm>
            <a:off x="2123766" y="129151"/>
            <a:ext cx="8708923" cy="460785"/>
          </a:xfrm>
        </p:spPr>
        <p:txBody>
          <a:bodyPr/>
          <a:lstStyle/>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 Package Manager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B4210823-F1A3-4ABB-B7AF-03B1A68FBE24}"/>
              </a:ext>
            </a:extLst>
          </p:cNvPr>
          <p:cNvSpPr>
            <a:spLocks noGrp="1"/>
          </p:cNvSpPr>
          <p:nvPr>
            <p:ph idx="1"/>
          </p:nvPr>
        </p:nvSpPr>
        <p:spPr>
          <a:xfrm>
            <a:off x="629265" y="845574"/>
            <a:ext cx="10724535" cy="5331389"/>
          </a:xfrm>
        </p:spPr>
        <p:txBody>
          <a:bodyPr/>
          <a:lstStyle/>
          <a:p>
            <a:pPr marR="30480" algn="just">
              <a:lnSpc>
                <a:spcPts val="1800"/>
              </a:lnSpc>
              <a:spcAft>
                <a:spcPts val="1200"/>
              </a:spcAft>
              <a:buSzPts val="1000"/>
              <a:buFont typeface="Wingdings" panose="05000000000000000000" pitchFamily="2" charset="2"/>
              <a:buChar char="§"/>
              <a:tabLst>
                <a:tab pos="457200" algn="l"/>
              </a:tabLst>
            </a:pPr>
            <a:r>
              <a:rPr lang="en-IN"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Online repositories for node.js packages/modules which are searchable on </a:t>
            </a:r>
            <a:r>
              <a:rPr lang="en-IN" sz="1600" u="sng" dirty="0">
                <a:solidFill>
                  <a:srgbClr val="313131"/>
                </a:solidFill>
                <a:effectLst/>
                <a:latin typeface="Verdana" panose="020B0604030504040204" pitchFamily="34" charset="0"/>
                <a:ea typeface="Times New Roman" panose="02020603050405020304" pitchFamily="18" charset="0"/>
                <a:cs typeface="Times New Roman" panose="02020603050405020304" pitchFamily="18" charset="0"/>
              </a:rPr>
              <a:t>search.nodejs.org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30480" algn="just">
              <a:lnSpc>
                <a:spcPts val="1800"/>
              </a:lnSpc>
              <a:spcAft>
                <a:spcPts val="1200"/>
              </a:spcAft>
              <a:buSzPts val="1000"/>
              <a:buFont typeface="Wingdings" panose="05000000000000000000" pitchFamily="2" charset="2"/>
              <a:buChar char="§"/>
              <a:tabLst>
                <a:tab pos="457200" algn="l"/>
              </a:tabLst>
            </a:pPr>
            <a:r>
              <a:rPr lang="en-IN"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Command line utility to install Node.js packages, do version management and dependency management of Node.js packages.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30480" algn="just">
              <a:lnSpc>
                <a:spcPts val="1800"/>
              </a:lnSpc>
              <a:spcAft>
                <a:spcPts val="1200"/>
              </a:spcAft>
              <a:buFont typeface="Wingdings" panose="05000000000000000000" pitchFamily="2" charset="2"/>
              <a:buChar char="§"/>
            </a:pPr>
            <a:r>
              <a:rPr lang="en-IN" sz="16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comes bundled with Node.js installable after v0.6.3 version. To verify the same, open console and type following command and see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--version</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2.7.1</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833160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0F25-2C65-42AA-8786-BAFE1701D0D0}"/>
              </a:ext>
            </a:extLst>
          </p:cNvPr>
          <p:cNvSpPr>
            <a:spLocks noGrp="1"/>
          </p:cNvSpPr>
          <p:nvPr>
            <p:ph type="title"/>
          </p:nvPr>
        </p:nvSpPr>
        <p:spPr>
          <a:xfrm>
            <a:off x="1759974" y="365126"/>
            <a:ext cx="9593826" cy="315912"/>
          </a:xfrm>
        </p:spPr>
        <p:txBody>
          <a:bodyPr>
            <a:normAutofit fontScale="90000"/>
          </a:bodyPr>
          <a:lstStyle/>
          <a:p>
            <a:r>
              <a:rPr lang="en-IN" sz="44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Installing Modules using </a:t>
            </a:r>
            <a:r>
              <a:rPr lang="en-IN" sz="4400" spc="-75" dirty="0" err="1">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npm</a:t>
            </a:r>
            <a:endParaRPr lang="en-IN" dirty="0"/>
          </a:p>
        </p:txBody>
      </p:sp>
      <p:sp>
        <p:nvSpPr>
          <p:cNvPr id="3" name="Content Placeholder 2">
            <a:extLst>
              <a:ext uri="{FF2B5EF4-FFF2-40B4-BE49-F238E27FC236}">
                <a16:creationId xmlns:a16="http://schemas.microsoft.com/office/drawing/2014/main" id="{3467742F-5DCF-4149-BFE9-B410628CCFC2}"/>
              </a:ext>
            </a:extLst>
          </p:cNvPr>
          <p:cNvSpPr>
            <a:spLocks noGrp="1"/>
          </p:cNvSpPr>
          <p:nvPr>
            <p:ph idx="1"/>
          </p:nvPr>
        </p:nvSpPr>
        <p:spPr>
          <a:xfrm>
            <a:off x="285135" y="1278193"/>
            <a:ext cx="11068665" cy="5360886"/>
          </a:xfrm>
        </p:spPr>
        <p:txBody>
          <a:bodyPr>
            <a:normAutofit/>
          </a:bodyPr>
          <a:lstStyle/>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There is a simple syntax to install any Node.js module: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install &lt;Module Name&gt;</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For example, following is the command to install a famous Node.js web framework module called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express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install express</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Now you can use this module in your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js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file as following: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express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'express'</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603376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32F0-D677-4292-A4F2-6D57152721F9}"/>
              </a:ext>
            </a:extLst>
          </p:cNvPr>
          <p:cNvSpPr>
            <a:spLocks noGrp="1"/>
          </p:cNvSpPr>
          <p:nvPr>
            <p:ph type="title"/>
          </p:nvPr>
        </p:nvSpPr>
        <p:spPr>
          <a:xfrm>
            <a:off x="2477728" y="365126"/>
            <a:ext cx="8876071" cy="529610"/>
          </a:xfrm>
        </p:spPr>
        <p:txBody>
          <a:bodyPr/>
          <a:lstStyle/>
          <a:p>
            <a:r>
              <a:rPr lang="en-IN" sz="18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Global vs Local installation</a:t>
            </a:r>
            <a:endParaRPr lang="en-IN" dirty="0"/>
          </a:p>
        </p:txBody>
      </p:sp>
      <p:sp>
        <p:nvSpPr>
          <p:cNvPr id="3" name="Content Placeholder 2">
            <a:extLst>
              <a:ext uri="{FF2B5EF4-FFF2-40B4-BE49-F238E27FC236}">
                <a16:creationId xmlns:a16="http://schemas.microsoft.com/office/drawing/2014/main" id="{7D5B0FE9-6081-4FAF-9564-6B73110C0FE8}"/>
              </a:ext>
            </a:extLst>
          </p:cNvPr>
          <p:cNvSpPr>
            <a:spLocks noGrp="1"/>
          </p:cNvSpPr>
          <p:nvPr>
            <p:ph idx="1"/>
          </p:nvPr>
        </p:nvSpPr>
        <p:spPr>
          <a:xfrm>
            <a:off x="484239" y="970219"/>
            <a:ext cx="10515600" cy="4351338"/>
          </a:xfrm>
        </p:spPr>
        <p:txBody>
          <a:bodyPr>
            <a:normAutofit/>
          </a:bodyPr>
          <a:lstStyle/>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By default,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installs any dependency in the local mode. </a:t>
            </a:r>
          </a:p>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Here local mode refers to the package installation in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node_modules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directory lying in the folder where Node application is present. </a:t>
            </a:r>
          </a:p>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Locally deployed packages are accessible via require() method. </a:t>
            </a:r>
          </a:p>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For example when we installed express module, it created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node_modules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directory in the current directory where it installed express module</a:t>
            </a:r>
          </a:p>
          <a:p>
            <a:pPr marL="0" indent="0">
              <a:buNone/>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ls </a:t>
            </a:r>
            <a:r>
              <a:rPr lang="en-IN" sz="1800" dirty="0">
                <a:solidFill>
                  <a:srgbClr val="6666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l</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Alternatively you can use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ls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command to list down all the locally installed modules.</a:t>
            </a:r>
          </a:p>
          <a:p>
            <a:endParaRPr lang="en-IN" sz="1800" dirty="0">
              <a:solidFill>
                <a:srgbClr val="000000"/>
              </a:solidFill>
              <a:latin typeface="Verdana" panose="020B060403050404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You can use following command to check all the modules installed globally: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ls -g</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2633054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058F-DCC6-4852-A595-367104DA85DD}"/>
              </a:ext>
            </a:extLst>
          </p:cNvPr>
          <p:cNvSpPr>
            <a:spLocks noGrp="1"/>
          </p:cNvSpPr>
          <p:nvPr>
            <p:ph type="title"/>
          </p:nvPr>
        </p:nvSpPr>
        <p:spPr>
          <a:xfrm>
            <a:off x="1651818" y="23607"/>
            <a:ext cx="9328355" cy="657430"/>
          </a:xfrm>
        </p:spPr>
        <p:txBody>
          <a:bodyPr/>
          <a:lstStyle/>
          <a:p>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Globally installed packages/dependencies are stored in system directory</a:t>
            </a:r>
            <a:endParaRPr lang="en-IN" dirty="0"/>
          </a:p>
        </p:txBody>
      </p:sp>
      <p:sp>
        <p:nvSpPr>
          <p:cNvPr id="3" name="Content Placeholder 2">
            <a:extLst>
              <a:ext uri="{FF2B5EF4-FFF2-40B4-BE49-F238E27FC236}">
                <a16:creationId xmlns:a16="http://schemas.microsoft.com/office/drawing/2014/main" id="{FD9FF5D4-9C84-4139-A399-B25A3C065948}"/>
              </a:ext>
            </a:extLst>
          </p:cNvPr>
          <p:cNvSpPr>
            <a:spLocks noGrp="1"/>
          </p:cNvSpPr>
          <p:nvPr>
            <p:ph idx="1"/>
          </p:nvPr>
        </p:nvSpPr>
        <p:spPr>
          <a:xfrm>
            <a:off x="550606" y="983226"/>
            <a:ext cx="10803194" cy="5193737"/>
          </a:xfrm>
        </p:spPr>
        <p:txBody>
          <a:bodyPr>
            <a:normAutofit lnSpcReduction="10000"/>
          </a:bodyPr>
          <a:lstStyle/>
          <a:p>
            <a:r>
              <a:rPr lang="en-US" dirty="0"/>
              <a:t>Such dependencies can be used in CLI (Command Line Interface) function of any node.js but can not be imported using require() in Node application directly. Now Let's try installing express module using global installation.</a:t>
            </a:r>
          </a:p>
          <a:p>
            <a:pPr marL="0" indent="0">
              <a:buNone/>
            </a:pPr>
            <a:r>
              <a:rPr lang="en-US" dirty="0">
                <a:highlight>
                  <a:srgbClr val="C0C0C0"/>
                </a:highlight>
              </a:rPr>
              <a:t>$ </a:t>
            </a:r>
            <a:r>
              <a:rPr lang="en-US" dirty="0" err="1">
                <a:highlight>
                  <a:srgbClr val="C0C0C0"/>
                </a:highlight>
              </a:rPr>
              <a:t>npm</a:t>
            </a:r>
            <a:r>
              <a:rPr lang="en-US" dirty="0">
                <a:highlight>
                  <a:srgbClr val="C0C0C0"/>
                </a:highlight>
              </a:rPr>
              <a:t> install express -g</a:t>
            </a:r>
          </a:p>
          <a:p>
            <a:r>
              <a:rPr lang="en-US" dirty="0"/>
              <a:t>This will produce similar result but module will be installed globally. Here first line tells about the module version and its location where it is getting installed. </a:t>
            </a:r>
          </a:p>
          <a:p>
            <a:r>
              <a:rPr lang="en-US" dirty="0"/>
              <a:t>You can see something like this</a:t>
            </a:r>
          </a:p>
          <a:p>
            <a:pPr marL="0" indent="0">
              <a:buNone/>
            </a:pPr>
            <a:r>
              <a:rPr lang="en-US" dirty="0">
                <a:highlight>
                  <a:srgbClr val="C0C0C0"/>
                </a:highlight>
              </a:rPr>
              <a:t>express@4.12.2 /</a:t>
            </a:r>
            <a:r>
              <a:rPr lang="en-US" dirty="0" err="1">
                <a:highlight>
                  <a:srgbClr val="C0C0C0"/>
                </a:highlight>
              </a:rPr>
              <a:t>usr</a:t>
            </a:r>
            <a:r>
              <a:rPr lang="en-US" dirty="0">
                <a:highlight>
                  <a:srgbClr val="C0C0C0"/>
                </a:highlight>
              </a:rPr>
              <a:t>/lib/</a:t>
            </a:r>
            <a:r>
              <a:rPr lang="en-US" dirty="0" err="1">
                <a:highlight>
                  <a:srgbClr val="C0C0C0"/>
                </a:highlight>
              </a:rPr>
              <a:t>node_modules</a:t>
            </a:r>
            <a:r>
              <a:rPr lang="en-US" dirty="0">
                <a:highlight>
                  <a:srgbClr val="C0C0C0"/>
                </a:highlight>
              </a:rPr>
              <a:t>/express</a:t>
            </a:r>
          </a:p>
          <a:p>
            <a:pPr>
              <a:lnSpc>
                <a:spcPts val="165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merge-descriptors@1.0.0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utils-merge@1.0.0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cookie-signature@1.0.6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highlight>
                <a:srgbClr val="C0C0C0"/>
              </a:highlight>
            </a:endParaRPr>
          </a:p>
          <a:p>
            <a:endParaRPr lang="en-IN" dirty="0"/>
          </a:p>
        </p:txBody>
      </p:sp>
      <p:sp>
        <p:nvSpPr>
          <p:cNvPr id="4" name="TextBox 3">
            <a:extLst>
              <a:ext uri="{FF2B5EF4-FFF2-40B4-BE49-F238E27FC236}">
                <a16:creationId xmlns:a16="http://schemas.microsoft.com/office/drawing/2014/main" id="{65A4E417-B2EF-48C2-8970-51709256485B}"/>
              </a:ext>
            </a:extLst>
          </p:cNvPr>
          <p:cNvSpPr txBox="1"/>
          <p:nvPr/>
        </p:nvSpPr>
        <p:spPr>
          <a:xfrm>
            <a:off x="8426245" y="5024284"/>
            <a:ext cx="3559278" cy="1668598"/>
          </a:xfrm>
          <a:prstGeom prst="rect">
            <a:avLst/>
          </a:prstGeom>
          <a:ln w="57150"/>
        </p:spPr>
        <p:style>
          <a:lnRef idx="2">
            <a:schemeClr val="accent4"/>
          </a:lnRef>
          <a:fillRef idx="1">
            <a:schemeClr val="lt1"/>
          </a:fillRef>
          <a:effectRef idx="0">
            <a:schemeClr val="accent4"/>
          </a:effectRef>
          <a:fontRef idx="minor">
            <a:schemeClr val="dk1"/>
          </a:fontRef>
        </p:style>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Calibri" panose="020F0502020204030204" pitchFamily="34" charset="0"/>
              <a:cs typeface="Times New Roman" panose="02020603050405020304" pitchFamily="18" charset="0"/>
            </a:endParaRPr>
          </a:p>
          <a:p>
            <a:pPr marL="30480" marR="30480" lvl="0" indent="-228600" algn="just" defTabSz="914400" rtl="0" eaLnBrk="1" fontAlgn="auto" latinLnBrk="0" hangingPunct="1">
              <a:lnSpc>
                <a:spcPts val="1800"/>
              </a:lnSpc>
              <a:spcBef>
                <a:spcPts val="1000"/>
              </a:spcBef>
              <a:spcAft>
                <a:spcPts val="120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You can use following command to check all the modules installed globally:</a:t>
            </a:r>
            <a:endPar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10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800" b="0" i="0" u="none" strike="noStrike" kern="1200" cap="none" spc="0" normalizeH="0" baseline="0" noProof="0" dirty="0">
                <a:ln>
                  <a:noFill/>
                </a:ln>
                <a:solidFill>
                  <a:srgbClr val="313131"/>
                </a:solidFill>
                <a:effectLst/>
                <a:highlight>
                  <a:srgbClr val="C0C0C0"/>
                </a:highlight>
                <a:uLnTx/>
                <a:uFillTx/>
                <a:latin typeface="Consolas" panose="020B0609020204030204" pitchFamily="49" charset="0"/>
                <a:ea typeface="Times New Roman" panose="02020603050405020304" pitchFamily="18" charset="0"/>
                <a:cs typeface="Consolas" panose="020B0609020204030204" pitchFamily="49" charset="0"/>
              </a:rPr>
              <a:t>$ </a:t>
            </a:r>
            <a:r>
              <a:rPr kumimoji="0" lang="en-IN" sz="1800" b="0" i="0" u="none" strike="noStrike" kern="1200" cap="none" spc="0" normalizeH="0" baseline="0" noProof="0" dirty="0" err="1">
                <a:ln>
                  <a:noFill/>
                </a:ln>
                <a:solidFill>
                  <a:srgbClr val="313131"/>
                </a:solidFill>
                <a:effectLst/>
                <a:highlight>
                  <a:srgbClr val="C0C0C0"/>
                </a:highlight>
                <a:uLnTx/>
                <a:uFillTx/>
                <a:latin typeface="Consolas" panose="020B0609020204030204" pitchFamily="49" charset="0"/>
                <a:ea typeface="Times New Roman" panose="02020603050405020304" pitchFamily="18" charset="0"/>
                <a:cs typeface="Consolas" panose="020B0609020204030204" pitchFamily="49" charset="0"/>
              </a:rPr>
              <a:t>npm</a:t>
            </a:r>
            <a:r>
              <a:rPr kumimoji="0" lang="en-IN" sz="1800" b="0" i="0" u="none" strike="noStrike" kern="1200" cap="none" spc="0" normalizeH="0" baseline="0" noProof="0" dirty="0">
                <a:ln>
                  <a:noFill/>
                </a:ln>
                <a:solidFill>
                  <a:srgbClr val="313131"/>
                </a:solidFill>
                <a:effectLst/>
                <a:highlight>
                  <a:srgbClr val="C0C0C0"/>
                </a:highlight>
                <a:uLnTx/>
                <a:uFillTx/>
                <a:latin typeface="Consolas" panose="020B0609020204030204" pitchFamily="49" charset="0"/>
                <a:ea typeface="Times New Roman" panose="02020603050405020304" pitchFamily="18" charset="0"/>
                <a:cs typeface="Consolas" panose="020B0609020204030204" pitchFamily="49" charset="0"/>
              </a:rPr>
              <a:t> ls -g</a:t>
            </a:r>
            <a:endParaRPr kumimoji="0" lang="en-IN" sz="1800" b="0" i="0" u="none" strike="noStrike" kern="1200" cap="none" spc="0" normalizeH="0" baseline="0" noProof="0" dirty="0">
              <a:ln>
                <a:noFill/>
              </a:ln>
              <a:solidFill>
                <a:prstClr val="black"/>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9272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52B20-4184-40FC-87DE-413FA02C8068}"/>
              </a:ext>
            </a:extLst>
          </p:cNvPr>
          <p:cNvSpPr>
            <a:spLocks noGrp="1"/>
          </p:cNvSpPr>
          <p:nvPr>
            <p:ph idx="1"/>
          </p:nvPr>
        </p:nvSpPr>
        <p:spPr>
          <a:xfrm>
            <a:off x="462116" y="776748"/>
            <a:ext cx="10891684" cy="1406013"/>
          </a:xfrm>
        </p:spPr>
        <p:txBody>
          <a:bodyPr/>
          <a:lstStyle/>
          <a:p>
            <a:r>
              <a:rPr lang="en-US" dirty="0" err="1"/>
              <a:t>package.json</a:t>
            </a:r>
            <a:r>
              <a:rPr lang="en-US" dirty="0"/>
              <a:t> is present in the root directory of any Node application/module and is used to define the properties of a package. Let's open </a:t>
            </a:r>
            <a:r>
              <a:rPr lang="en-US" dirty="0" err="1"/>
              <a:t>package.json</a:t>
            </a:r>
            <a:r>
              <a:rPr lang="en-US" dirty="0"/>
              <a:t> of express package present in </a:t>
            </a:r>
            <a:r>
              <a:rPr lang="en-US" dirty="0" err="1"/>
              <a:t>node_modules</a:t>
            </a:r>
            <a:r>
              <a:rPr lang="en-US" dirty="0"/>
              <a:t>/express/</a:t>
            </a:r>
            <a:endParaRPr lang="en-IN" dirty="0"/>
          </a:p>
        </p:txBody>
      </p:sp>
      <p:pic>
        <p:nvPicPr>
          <p:cNvPr id="5" name="Picture 4">
            <a:extLst>
              <a:ext uri="{FF2B5EF4-FFF2-40B4-BE49-F238E27FC236}">
                <a16:creationId xmlns:a16="http://schemas.microsoft.com/office/drawing/2014/main" id="{80338BA6-4B46-41BA-B187-B705B3D6606C}"/>
              </a:ext>
            </a:extLst>
          </p:cNvPr>
          <p:cNvPicPr>
            <a:picLocks noChangeAspect="1"/>
          </p:cNvPicPr>
          <p:nvPr/>
        </p:nvPicPr>
        <p:blipFill>
          <a:blip r:embed="rId2"/>
          <a:stretch>
            <a:fillRect/>
          </a:stretch>
        </p:blipFill>
        <p:spPr>
          <a:xfrm>
            <a:off x="2935912" y="151933"/>
            <a:ext cx="5730240" cy="379476"/>
          </a:xfrm>
          <a:prstGeom prst="rect">
            <a:avLst/>
          </a:prstGeom>
        </p:spPr>
      </p:pic>
      <p:sp>
        <p:nvSpPr>
          <p:cNvPr id="9" name="TextBox 8">
            <a:extLst>
              <a:ext uri="{FF2B5EF4-FFF2-40B4-BE49-F238E27FC236}">
                <a16:creationId xmlns:a16="http://schemas.microsoft.com/office/drawing/2014/main" id="{B870C7E7-60C5-422F-A0D4-53BA7C6125BD}"/>
              </a:ext>
            </a:extLst>
          </p:cNvPr>
          <p:cNvSpPr txBox="1"/>
          <p:nvPr/>
        </p:nvSpPr>
        <p:spPr>
          <a:xfrm>
            <a:off x="344129" y="2172461"/>
            <a:ext cx="6135328" cy="400110"/>
          </a:xfrm>
          <a:prstGeom prst="rect">
            <a:avLst/>
          </a:prstGeom>
          <a:noFill/>
        </p:spPr>
        <p:txBody>
          <a:bodyPr wrap="square">
            <a:spAutoFit/>
          </a:bodyPr>
          <a:lstStyle/>
          <a:p>
            <a:r>
              <a:rPr lang="en-IN" sz="2000" b="1" dirty="0"/>
              <a:t>Attributes of </a:t>
            </a:r>
            <a:r>
              <a:rPr lang="en-IN" sz="2000" b="1" dirty="0" err="1"/>
              <a:t>Package.json</a:t>
            </a:r>
            <a:endParaRPr lang="en-IN" sz="2000" b="1" dirty="0"/>
          </a:p>
        </p:txBody>
      </p:sp>
      <p:sp>
        <p:nvSpPr>
          <p:cNvPr id="11" name="TextBox 10">
            <a:extLst>
              <a:ext uri="{FF2B5EF4-FFF2-40B4-BE49-F238E27FC236}">
                <a16:creationId xmlns:a16="http://schemas.microsoft.com/office/drawing/2014/main" id="{25900CAA-B33B-4E14-BA6E-744DD8A2CD6D}"/>
              </a:ext>
            </a:extLst>
          </p:cNvPr>
          <p:cNvSpPr txBox="1"/>
          <p:nvPr/>
        </p:nvSpPr>
        <p:spPr>
          <a:xfrm>
            <a:off x="344128" y="2750769"/>
            <a:ext cx="11847871" cy="3139321"/>
          </a:xfrm>
          <a:prstGeom prst="rect">
            <a:avLst/>
          </a:prstGeom>
          <a:noFill/>
        </p:spPr>
        <p:txBody>
          <a:bodyPr wrap="square">
            <a:spAutoFit/>
          </a:bodyPr>
          <a:lstStyle/>
          <a:p>
            <a:pPr>
              <a:tabLst>
                <a:tab pos="265113" algn="l"/>
              </a:tabLst>
            </a:pPr>
            <a:r>
              <a:rPr lang="en-US" dirty="0"/>
              <a:t>•	</a:t>
            </a:r>
            <a:r>
              <a:rPr lang="en-US" b="1" dirty="0"/>
              <a:t>name</a:t>
            </a:r>
            <a:r>
              <a:rPr lang="en-US" dirty="0"/>
              <a:t> - name of the package</a:t>
            </a:r>
          </a:p>
          <a:p>
            <a:pPr>
              <a:tabLst>
                <a:tab pos="265113" algn="l"/>
              </a:tabLst>
            </a:pPr>
            <a:r>
              <a:rPr lang="en-US" dirty="0"/>
              <a:t>•	</a:t>
            </a:r>
            <a:r>
              <a:rPr lang="en-US" b="1" dirty="0"/>
              <a:t>version </a:t>
            </a:r>
            <a:r>
              <a:rPr lang="en-US" dirty="0"/>
              <a:t>- version of the package</a:t>
            </a:r>
          </a:p>
          <a:p>
            <a:pPr>
              <a:tabLst>
                <a:tab pos="265113" algn="l"/>
              </a:tabLst>
            </a:pPr>
            <a:r>
              <a:rPr lang="en-US" dirty="0"/>
              <a:t>•	</a:t>
            </a:r>
            <a:r>
              <a:rPr lang="en-US" b="1" dirty="0"/>
              <a:t>description </a:t>
            </a:r>
            <a:r>
              <a:rPr lang="en-US" dirty="0"/>
              <a:t>- description of the package</a:t>
            </a:r>
          </a:p>
          <a:p>
            <a:pPr>
              <a:tabLst>
                <a:tab pos="265113" algn="l"/>
              </a:tabLst>
            </a:pPr>
            <a:r>
              <a:rPr lang="en-US" dirty="0"/>
              <a:t>•	</a:t>
            </a:r>
            <a:r>
              <a:rPr lang="en-US" b="1" dirty="0"/>
              <a:t>homepage</a:t>
            </a:r>
            <a:r>
              <a:rPr lang="en-US" dirty="0"/>
              <a:t> - homepage of the package</a:t>
            </a:r>
          </a:p>
          <a:p>
            <a:pPr>
              <a:tabLst>
                <a:tab pos="265113" algn="l"/>
              </a:tabLst>
            </a:pPr>
            <a:r>
              <a:rPr lang="en-US" dirty="0"/>
              <a:t>•	</a:t>
            </a:r>
            <a:r>
              <a:rPr lang="en-US" b="1" dirty="0"/>
              <a:t>author </a:t>
            </a:r>
            <a:r>
              <a:rPr lang="en-US" dirty="0"/>
              <a:t>- author of the package</a:t>
            </a:r>
          </a:p>
          <a:p>
            <a:pPr>
              <a:tabLst>
                <a:tab pos="265113" algn="l"/>
              </a:tabLst>
            </a:pPr>
            <a:r>
              <a:rPr lang="en-US" dirty="0"/>
              <a:t>•	</a:t>
            </a:r>
            <a:r>
              <a:rPr lang="en-US" b="1" dirty="0"/>
              <a:t>contributors</a:t>
            </a:r>
            <a:r>
              <a:rPr lang="en-US" dirty="0"/>
              <a:t> - name of the contributors to the package</a:t>
            </a:r>
          </a:p>
          <a:p>
            <a:pPr>
              <a:tabLst>
                <a:tab pos="265113" algn="l"/>
              </a:tabLst>
            </a:pPr>
            <a:r>
              <a:rPr lang="en-US" dirty="0"/>
              <a:t>•	</a:t>
            </a:r>
            <a:r>
              <a:rPr lang="en-US" b="1" dirty="0"/>
              <a:t>dependencies -</a:t>
            </a:r>
            <a:r>
              <a:rPr lang="en-US" dirty="0"/>
              <a:t> list of dependencies. </a:t>
            </a:r>
            <a:r>
              <a:rPr lang="en-US" dirty="0" err="1"/>
              <a:t>npm</a:t>
            </a:r>
            <a:r>
              <a:rPr lang="en-US" dirty="0"/>
              <a:t> automatically installs all the dependencies mentioned here in the </a:t>
            </a:r>
            <a:r>
              <a:rPr lang="en-US" dirty="0" err="1"/>
              <a:t>node_module</a:t>
            </a:r>
            <a:r>
              <a:rPr lang="en-US" dirty="0"/>
              <a:t> folder of the package.</a:t>
            </a:r>
          </a:p>
          <a:p>
            <a:pPr>
              <a:tabLst>
                <a:tab pos="265113" algn="l"/>
              </a:tabLst>
            </a:pPr>
            <a:r>
              <a:rPr lang="en-US" dirty="0"/>
              <a:t>•	</a:t>
            </a:r>
            <a:r>
              <a:rPr lang="en-US" b="1" dirty="0"/>
              <a:t>repository</a:t>
            </a:r>
            <a:r>
              <a:rPr lang="en-US" dirty="0"/>
              <a:t> - repository type and </a:t>
            </a:r>
            <a:r>
              <a:rPr lang="en-US" dirty="0" err="1"/>
              <a:t>url</a:t>
            </a:r>
            <a:r>
              <a:rPr lang="en-US" dirty="0"/>
              <a:t> of the package</a:t>
            </a:r>
          </a:p>
          <a:p>
            <a:pPr>
              <a:tabLst>
                <a:tab pos="265113" algn="l"/>
              </a:tabLst>
            </a:pPr>
            <a:r>
              <a:rPr lang="en-US" dirty="0"/>
              <a:t>•	</a:t>
            </a:r>
            <a:r>
              <a:rPr lang="en-US" b="1" dirty="0"/>
              <a:t>main</a:t>
            </a:r>
            <a:r>
              <a:rPr lang="en-US" dirty="0"/>
              <a:t> - entry point of the package</a:t>
            </a:r>
          </a:p>
          <a:p>
            <a:pPr>
              <a:tabLst>
                <a:tab pos="265113" algn="l"/>
              </a:tabLst>
            </a:pPr>
            <a:r>
              <a:rPr lang="en-US" dirty="0"/>
              <a:t>•	</a:t>
            </a:r>
            <a:r>
              <a:rPr lang="en-US" b="1" dirty="0"/>
              <a:t>keywords</a:t>
            </a:r>
            <a:r>
              <a:rPr lang="en-US" dirty="0"/>
              <a:t> - keywords</a:t>
            </a:r>
          </a:p>
        </p:txBody>
      </p:sp>
    </p:spTree>
    <p:extLst>
      <p:ext uri="{BB962C8B-B14F-4D97-AF65-F5344CB8AC3E}">
        <p14:creationId xmlns:p14="http://schemas.microsoft.com/office/powerpoint/2010/main" val="1779114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CF4E7BE-A192-490B-7CAE-2E163633E903}"/>
              </a:ext>
            </a:extLst>
          </p:cNvPr>
          <p:cNvGraphicFramePr>
            <a:graphicFrameLocks noGrp="1"/>
          </p:cNvGraphicFramePr>
          <p:nvPr>
            <p:extLst>
              <p:ext uri="{D42A27DB-BD31-4B8C-83A1-F6EECF244321}">
                <p14:modId xmlns:p14="http://schemas.microsoft.com/office/powerpoint/2010/main" val="4279626938"/>
              </p:ext>
            </p:extLst>
          </p:nvPr>
        </p:nvGraphicFramePr>
        <p:xfrm>
          <a:off x="1117600" y="107245"/>
          <a:ext cx="10845800" cy="6634488"/>
        </p:xfrm>
        <a:graphic>
          <a:graphicData uri="http://schemas.openxmlformats.org/drawingml/2006/table">
            <a:tbl>
              <a:tblPr/>
              <a:tblGrid>
                <a:gridCol w="5422900">
                  <a:extLst>
                    <a:ext uri="{9D8B030D-6E8A-4147-A177-3AD203B41FA5}">
                      <a16:colId xmlns:a16="http://schemas.microsoft.com/office/drawing/2014/main" val="1059592838"/>
                    </a:ext>
                  </a:extLst>
                </a:gridCol>
                <a:gridCol w="5422900">
                  <a:extLst>
                    <a:ext uri="{9D8B030D-6E8A-4147-A177-3AD203B41FA5}">
                      <a16:colId xmlns:a16="http://schemas.microsoft.com/office/drawing/2014/main" val="2277348172"/>
                    </a:ext>
                  </a:extLst>
                </a:gridCol>
              </a:tblGrid>
              <a:tr h="621749">
                <a:tc>
                  <a:txBody>
                    <a:bodyPr/>
                    <a:lstStyle/>
                    <a:p>
                      <a:pPr algn="ctr" rtl="0" fontAlgn="base">
                        <a:spcAft>
                          <a:spcPts val="750"/>
                        </a:spcAft>
                      </a:pPr>
                      <a:r>
                        <a:rPr lang="en-IN" sz="2400" b="1">
                          <a:effectLst/>
                        </a:rPr>
                        <a:t>package.json</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pPr>
                      <a:r>
                        <a:rPr lang="en-IN" sz="2400" b="1" dirty="0" err="1">
                          <a:effectLst/>
                        </a:rPr>
                        <a:t>package.lock.json</a:t>
                      </a:r>
                      <a:endParaRPr lang="en-IN" sz="2400" b="1" dirty="0">
                        <a:effectLst/>
                      </a:endParaRP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9301084"/>
                  </a:ext>
                </a:extLst>
              </a:tr>
              <a:tr h="1133673">
                <a:tc>
                  <a:txBody>
                    <a:bodyPr/>
                    <a:lstStyle/>
                    <a:p>
                      <a:pPr algn="ctr" fontAlgn="ctr"/>
                      <a:r>
                        <a:rPr lang="en-US" sz="2000" b="0" dirty="0">
                          <a:effectLst/>
                        </a:rPr>
                        <a:t>It contains basic information about the project.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It describes the exact tree that was generated to allow subsequent installs to have the identical tree.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78803472"/>
                  </a:ext>
                </a:extLst>
              </a:tr>
              <a:tr h="1831541">
                <a:tc>
                  <a:txBody>
                    <a:bodyPr/>
                    <a:lstStyle/>
                    <a:p>
                      <a:pPr algn="ctr" fontAlgn="ctr"/>
                      <a:r>
                        <a:rPr lang="en-US" sz="2000" b="0" dirty="0">
                          <a:effectLst/>
                        </a:rPr>
                        <a:t>It is mandatory for every project.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It is automatically generated for those operations where </a:t>
                      </a:r>
                      <a:r>
                        <a:rPr lang="en-US" sz="2000" b="0" dirty="0" err="1">
                          <a:effectLst/>
                        </a:rPr>
                        <a:t>npm</a:t>
                      </a:r>
                      <a:r>
                        <a:rPr lang="en-US" sz="2000" b="0" dirty="0">
                          <a:effectLst/>
                        </a:rPr>
                        <a:t> modifies either </a:t>
                      </a:r>
                      <a:r>
                        <a:rPr lang="en-US" sz="2000" b="0" dirty="0" err="1">
                          <a:effectLst/>
                        </a:rPr>
                        <a:t>node_modules</a:t>
                      </a:r>
                      <a:r>
                        <a:rPr lang="en-US" sz="2000" b="0" dirty="0">
                          <a:effectLst/>
                        </a:rPr>
                        <a:t> tree or </a:t>
                      </a:r>
                      <a:r>
                        <a:rPr lang="en-US" sz="2000" b="0" dirty="0" err="1">
                          <a:effectLst/>
                        </a:rPr>
                        <a:t>package.json</a:t>
                      </a:r>
                      <a:r>
                        <a:rPr lang="en-US" sz="2000" b="0" dirty="0">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83552321"/>
                  </a:ext>
                </a:extLst>
              </a:tr>
              <a:tr h="1247727">
                <a:tc>
                  <a:txBody>
                    <a:bodyPr/>
                    <a:lstStyle/>
                    <a:p>
                      <a:pPr algn="ctr" fontAlgn="ctr"/>
                      <a:r>
                        <a:rPr lang="en-US" sz="2000" b="0">
                          <a:effectLst/>
                        </a:rPr>
                        <a:t>It records important metadata about the project.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a:effectLst/>
                        </a:rPr>
                        <a:t>It allows future devs to install the same dependencies in the project.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1387458"/>
                  </a:ext>
                </a:extLst>
              </a:tr>
              <a:tr h="1799798">
                <a:tc>
                  <a:txBody>
                    <a:bodyPr/>
                    <a:lstStyle/>
                    <a:p>
                      <a:pPr algn="ctr" fontAlgn="ctr"/>
                      <a:r>
                        <a:rPr lang="en-US" sz="2000" b="0">
                          <a:effectLst/>
                        </a:rPr>
                        <a:t>It contains information such as name, description, author, script, and dependencies.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It contains the name, dependencies, and locked version of the project. </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19575552"/>
                  </a:ext>
                </a:extLst>
              </a:tr>
            </a:tbl>
          </a:graphicData>
        </a:graphic>
      </p:graphicFrame>
    </p:spTree>
    <p:extLst>
      <p:ext uri="{BB962C8B-B14F-4D97-AF65-F5344CB8AC3E}">
        <p14:creationId xmlns:p14="http://schemas.microsoft.com/office/powerpoint/2010/main" val="2814929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B037-184E-46C9-999A-F5A13AF8F328}"/>
              </a:ext>
            </a:extLst>
          </p:cNvPr>
          <p:cNvSpPr>
            <a:spLocks noGrp="1"/>
          </p:cNvSpPr>
          <p:nvPr>
            <p:ph type="title"/>
          </p:nvPr>
        </p:nvSpPr>
        <p:spPr>
          <a:xfrm>
            <a:off x="2163096" y="365126"/>
            <a:ext cx="9190703" cy="315912"/>
          </a:xfrm>
        </p:spPr>
        <p:txBody>
          <a:bodyPr>
            <a:noAutofit/>
          </a:bodyPr>
          <a:lstStyle/>
          <a:p>
            <a:pPr algn="ctr"/>
            <a:r>
              <a:rPr lang="en-IN" sz="1800" b="1" dirty="0">
                <a:latin typeface="+mn-lt"/>
                <a:ea typeface="+mn-ea"/>
                <a:cs typeface="+mn-cs"/>
              </a:rPr>
              <a:t>Uninstalling a module</a:t>
            </a:r>
          </a:p>
        </p:txBody>
      </p:sp>
      <p:sp>
        <p:nvSpPr>
          <p:cNvPr id="3" name="Content Placeholder 2">
            <a:extLst>
              <a:ext uri="{FF2B5EF4-FFF2-40B4-BE49-F238E27FC236}">
                <a16:creationId xmlns:a16="http://schemas.microsoft.com/office/drawing/2014/main" id="{0ADECC8F-2269-48A9-B5A9-EC6FB92BA633}"/>
              </a:ext>
            </a:extLst>
          </p:cNvPr>
          <p:cNvSpPr>
            <a:spLocks noGrp="1"/>
          </p:cNvSpPr>
          <p:nvPr>
            <p:ph idx="1"/>
          </p:nvPr>
        </p:nvSpPr>
        <p:spPr>
          <a:xfrm>
            <a:off x="471948" y="816077"/>
            <a:ext cx="10881852" cy="5360886"/>
          </a:xfrm>
        </p:spPr>
        <p:txBody>
          <a:bodyPr>
            <a:normAutofit fontScale="92500" lnSpcReduction="10000"/>
          </a:bodyPr>
          <a:lstStyle/>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Use following command to uninstall a Node.js module.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uninstall express</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Once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uninstall the package, you can verify by looking at the content of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node_modules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directory or type the following command: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ls</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0" marR="30480" indent="0" algn="ctr">
              <a:lnSpc>
                <a:spcPct val="115000"/>
              </a:lnSpc>
              <a:spcBef>
                <a:spcPts val="240"/>
              </a:spcBef>
              <a:spcAft>
                <a:spcPts val="240"/>
              </a:spcAft>
              <a:buNone/>
            </a:pPr>
            <a:r>
              <a:rPr lang="en-IN" sz="2000" b="1" spc="-75" dirty="0">
                <a:solidFill>
                  <a:srgbClr val="121214"/>
                </a:solidFill>
                <a:effectLst/>
                <a:latin typeface="+mj-lt"/>
                <a:ea typeface="Times New Roman" panose="02020603050405020304" pitchFamily="18" charset="0"/>
                <a:cs typeface="Times New Roman" panose="02020603050405020304" pitchFamily="18" charset="0"/>
              </a:rPr>
              <a:t>Updating a module</a:t>
            </a: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Update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package.json</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and change the version of the dependency which to be updated and run the following command.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update express</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0" marR="30480" indent="0">
              <a:lnSpc>
                <a:spcPct val="115000"/>
              </a:lnSpc>
              <a:spcBef>
                <a:spcPts val="240"/>
              </a:spcBef>
              <a:spcAft>
                <a:spcPts val="240"/>
              </a:spcAft>
              <a:buNone/>
            </a:pPr>
            <a:endParaRPr lang="en-IN" sz="2000" b="1" dirty="0">
              <a:effectLst/>
              <a:latin typeface="+mj-lt"/>
              <a:ea typeface="Calibri" panose="020F0502020204030204" pitchFamily="34" charset="0"/>
              <a:cs typeface="Times New Roman" panose="02020603050405020304" pitchFamily="18" charset="0"/>
            </a:endParaRPr>
          </a:p>
          <a:p>
            <a:pPr marL="0" marR="30480" indent="0" algn="ctr">
              <a:lnSpc>
                <a:spcPct val="115000"/>
              </a:lnSpc>
              <a:spcBef>
                <a:spcPts val="240"/>
              </a:spcBef>
              <a:spcAft>
                <a:spcPts val="240"/>
              </a:spcAft>
              <a:buNone/>
            </a:pPr>
            <a:r>
              <a:rPr lang="en-IN" sz="17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Search a module</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Search package name using </a:t>
            </a:r>
            <a:r>
              <a:rPr lang="en-IN" sz="17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6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6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search express</a:t>
            </a:r>
            <a:endParaRPr lang="en-IN" sz="24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8254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BFF5-3002-4678-9E5E-C8029694247F}"/>
              </a:ext>
            </a:extLst>
          </p:cNvPr>
          <p:cNvSpPr>
            <a:spLocks noGrp="1"/>
          </p:cNvSpPr>
          <p:nvPr>
            <p:ph type="title"/>
          </p:nvPr>
        </p:nvSpPr>
        <p:spPr>
          <a:xfrm>
            <a:off x="3392128" y="158648"/>
            <a:ext cx="7597877" cy="315912"/>
          </a:xfrm>
        </p:spPr>
        <p:txBody>
          <a:bodyPr>
            <a:normAutofit fontScale="90000"/>
          </a:bodyPr>
          <a:lstStyle/>
          <a:p>
            <a:r>
              <a:rPr lang="en-IN" sz="18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Create a module</a:t>
            </a:r>
            <a:endParaRPr lang="en-IN" dirty="0"/>
          </a:p>
        </p:txBody>
      </p:sp>
      <p:sp>
        <p:nvSpPr>
          <p:cNvPr id="3" name="Content Placeholder 2">
            <a:extLst>
              <a:ext uri="{FF2B5EF4-FFF2-40B4-BE49-F238E27FC236}">
                <a16:creationId xmlns:a16="http://schemas.microsoft.com/office/drawing/2014/main" id="{7B188E33-0886-4538-AFB0-15265A181C78}"/>
              </a:ext>
            </a:extLst>
          </p:cNvPr>
          <p:cNvSpPr>
            <a:spLocks noGrp="1"/>
          </p:cNvSpPr>
          <p:nvPr>
            <p:ph idx="1"/>
          </p:nvPr>
        </p:nvSpPr>
        <p:spPr>
          <a:xfrm>
            <a:off x="474404" y="891560"/>
            <a:ext cx="11166989" cy="5807792"/>
          </a:xfrm>
        </p:spPr>
        <p:txBody>
          <a:bodyPr>
            <a:normAutofit fontScale="62500" lnSpcReduction="20000"/>
          </a:bodyPr>
          <a:lstStyle/>
          <a:p>
            <a:r>
              <a:rPr lang="en-US" dirty="0"/>
              <a:t>Creation of module requires </a:t>
            </a:r>
            <a:r>
              <a:rPr lang="en-US" dirty="0" err="1"/>
              <a:t>package.json</a:t>
            </a:r>
            <a:r>
              <a:rPr lang="en-US" dirty="0"/>
              <a:t> to be generated. Let's generate </a:t>
            </a:r>
            <a:r>
              <a:rPr lang="en-US" dirty="0" err="1"/>
              <a:t>package.json</a:t>
            </a:r>
            <a:r>
              <a:rPr lang="en-US" dirty="0"/>
              <a:t> using </a:t>
            </a:r>
            <a:r>
              <a:rPr lang="en-US" dirty="0" err="1"/>
              <a:t>npm</a:t>
            </a:r>
            <a:r>
              <a:rPr lang="en-US" dirty="0"/>
              <a:t>, which will generate basic skeleton of the </a:t>
            </a:r>
            <a:r>
              <a:rPr lang="en-US" dirty="0" err="1"/>
              <a:t>package.json</a:t>
            </a:r>
            <a:r>
              <a:rPr lang="en-US" dirty="0"/>
              <a:t>.</a:t>
            </a:r>
          </a:p>
          <a:p>
            <a:pPr marL="0" indent="0">
              <a:buNone/>
            </a:pPr>
            <a:r>
              <a:rPr lang="en-US" dirty="0">
                <a:highlight>
                  <a:srgbClr val="C0C0C0"/>
                </a:highlight>
              </a:rPr>
              <a:t>$ </a:t>
            </a:r>
            <a:r>
              <a:rPr lang="en-US" dirty="0" err="1">
                <a:highlight>
                  <a:srgbClr val="C0C0C0"/>
                </a:highlight>
              </a:rPr>
              <a:t>npm</a:t>
            </a:r>
            <a:r>
              <a:rPr lang="en-US" dirty="0">
                <a:highlight>
                  <a:srgbClr val="C0C0C0"/>
                </a:highlight>
              </a:rPr>
              <a:t> </a:t>
            </a:r>
            <a:r>
              <a:rPr lang="en-US" dirty="0" err="1">
                <a:highlight>
                  <a:srgbClr val="C0C0C0"/>
                </a:highlight>
              </a:rPr>
              <a:t>init</a:t>
            </a:r>
            <a:endParaRPr lang="en-US" dirty="0">
              <a:highlight>
                <a:srgbClr val="C0C0C0"/>
              </a:highlight>
            </a:endParaRPr>
          </a:p>
          <a:p>
            <a:pPr marL="0" indent="0">
              <a:buNone/>
            </a:pPr>
            <a:endParaRPr lang="en-US" dirty="0">
              <a:highlight>
                <a:srgbClr val="C0C0C0"/>
              </a:highlight>
            </a:endParaRPr>
          </a:p>
          <a:p>
            <a:r>
              <a:rPr lang="en-US" dirty="0"/>
              <a:t>This utility will walk you through creating a </a:t>
            </a:r>
            <a:r>
              <a:rPr lang="en-US" dirty="0" err="1"/>
              <a:t>package.json</a:t>
            </a:r>
            <a:r>
              <a:rPr lang="en-US" dirty="0"/>
              <a:t> file.</a:t>
            </a:r>
          </a:p>
          <a:p>
            <a:r>
              <a:rPr lang="en-US" dirty="0"/>
              <a:t>It only covers the most common items, and tries to guess sane defaults.</a:t>
            </a:r>
          </a:p>
          <a:p>
            <a:r>
              <a:rPr lang="en-US" dirty="0"/>
              <a:t>See '</a:t>
            </a:r>
            <a:r>
              <a:rPr lang="en-US" dirty="0" err="1"/>
              <a:t>npm</a:t>
            </a:r>
            <a:r>
              <a:rPr lang="en-US" dirty="0"/>
              <a:t> help json' for definitive documentation on these fields and exactly what they do.</a:t>
            </a:r>
          </a:p>
          <a:p>
            <a:endParaRPr lang="en-US" dirty="0"/>
          </a:p>
          <a:p>
            <a:r>
              <a:rPr lang="en-US" dirty="0"/>
              <a:t>Use '</a:t>
            </a:r>
            <a:r>
              <a:rPr lang="en-US" dirty="0" err="1"/>
              <a:t>npm</a:t>
            </a:r>
            <a:r>
              <a:rPr lang="en-US" dirty="0"/>
              <a:t> install &lt;pkg&gt; --save' afterwards to install a package and save it as a dependency in the </a:t>
            </a:r>
            <a:r>
              <a:rPr lang="en-US" dirty="0" err="1"/>
              <a:t>package.json</a:t>
            </a:r>
            <a:r>
              <a:rPr lang="en-US" dirty="0"/>
              <a:t> file.</a:t>
            </a:r>
          </a:p>
          <a:p>
            <a:endParaRPr lang="en-US" dirty="0"/>
          </a:p>
          <a:p>
            <a:r>
              <a:rPr lang="en-US" dirty="0"/>
              <a:t>Press ^C at any time to quit.</a:t>
            </a:r>
          </a:p>
          <a:p>
            <a:r>
              <a:rPr lang="en-US" dirty="0"/>
              <a:t>name: (webmaster)</a:t>
            </a:r>
          </a:p>
          <a:p>
            <a:r>
              <a:rPr lang="en-US" dirty="0"/>
              <a:t>You will need to provide all the required information about your module. </a:t>
            </a:r>
            <a:r>
              <a:rPr lang="en-US" dirty="0" err="1"/>
              <a:t>YOu</a:t>
            </a:r>
            <a:r>
              <a:rPr lang="en-US" dirty="0"/>
              <a:t> can take help from the above mentioned </a:t>
            </a:r>
            <a:r>
              <a:rPr lang="en-US" dirty="0" err="1"/>
              <a:t>package.json</a:t>
            </a:r>
            <a:r>
              <a:rPr lang="en-US" dirty="0"/>
              <a:t> file to understand the meanings of various information demanded. Once </a:t>
            </a:r>
            <a:r>
              <a:rPr lang="en-US" dirty="0" err="1"/>
              <a:t>package.json</a:t>
            </a:r>
            <a:r>
              <a:rPr lang="en-US" dirty="0"/>
              <a:t> is generated. Use the following command to register yourself with </a:t>
            </a:r>
            <a:r>
              <a:rPr lang="en-US" dirty="0" err="1"/>
              <a:t>npm</a:t>
            </a:r>
            <a:r>
              <a:rPr lang="en-US" dirty="0"/>
              <a:t> repository site using a valid email address.</a:t>
            </a:r>
          </a:p>
          <a:p>
            <a:pPr marL="0" indent="0">
              <a:buNone/>
            </a:pPr>
            <a:r>
              <a:rPr lang="en-US" dirty="0">
                <a:highlight>
                  <a:srgbClr val="C0C0C0"/>
                </a:highlight>
              </a:rPr>
              <a:t>$ </a:t>
            </a:r>
            <a:r>
              <a:rPr lang="en-US" dirty="0" err="1">
                <a:highlight>
                  <a:srgbClr val="C0C0C0"/>
                </a:highlight>
              </a:rPr>
              <a:t>npm</a:t>
            </a:r>
            <a:r>
              <a:rPr lang="en-US" dirty="0">
                <a:highlight>
                  <a:srgbClr val="C0C0C0"/>
                </a:highlight>
              </a:rPr>
              <a:t> </a:t>
            </a:r>
            <a:r>
              <a:rPr lang="en-US" dirty="0" err="1">
                <a:highlight>
                  <a:srgbClr val="C0C0C0"/>
                </a:highlight>
              </a:rPr>
              <a:t>adduser</a:t>
            </a:r>
            <a:endParaRPr lang="en-US" dirty="0">
              <a:highlight>
                <a:srgbClr val="C0C0C0"/>
              </a:highlight>
            </a:endParaRPr>
          </a:p>
          <a:p>
            <a:r>
              <a:rPr lang="en-US" dirty="0"/>
              <a:t>Username: </a:t>
            </a:r>
            <a:r>
              <a:rPr lang="en-US" dirty="0" err="1"/>
              <a:t>mcmohd</a:t>
            </a:r>
            <a:endParaRPr lang="en-US" dirty="0"/>
          </a:p>
          <a:p>
            <a:r>
              <a:rPr lang="en-US" dirty="0"/>
              <a:t>Password:</a:t>
            </a:r>
          </a:p>
          <a:p>
            <a:r>
              <a:rPr lang="en-US" dirty="0"/>
              <a:t>Email: (this IS public) mcmohd@gmail.com</a:t>
            </a:r>
          </a:p>
          <a:p>
            <a:endParaRPr lang="en-IN" dirty="0"/>
          </a:p>
        </p:txBody>
      </p:sp>
    </p:spTree>
    <p:extLst>
      <p:ext uri="{BB962C8B-B14F-4D97-AF65-F5344CB8AC3E}">
        <p14:creationId xmlns:p14="http://schemas.microsoft.com/office/powerpoint/2010/main" val="2914749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ACE38-E9DF-4AC0-9CA4-265AA2FA098A}"/>
              </a:ext>
            </a:extLst>
          </p:cNvPr>
          <p:cNvSpPr>
            <a:spLocks noGrp="1"/>
          </p:cNvSpPr>
          <p:nvPr>
            <p:ph type="title"/>
          </p:nvPr>
        </p:nvSpPr>
        <p:spPr>
          <a:xfrm>
            <a:off x="2576052" y="365125"/>
            <a:ext cx="8777748" cy="863907"/>
          </a:xfrm>
        </p:spPr>
        <p:txBody>
          <a:bodyPr/>
          <a:lstStyle/>
          <a:p>
            <a:r>
              <a:rPr lang="en-IN" sz="44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publish your module:</a:t>
            </a:r>
            <a:endParaRPr lang="en-IN" dirty="0"/>
          </a:p>
        </p:txBody>
      </p:sp>
      <p:sp>
        <p:nvSpPr>
          <p:cNvPr id="3" name="Content Placeholder 2">
            <a:extLst>
              <a:ext uri="{FF2B5EF4-FFF2-40B4-BE49-F238E27FC236}">
                <a16:creationId xmlns:a16="http://schemas.microsoft.com/office/drawing/2014/main" id="{BC97C677-0536-4EDC-A59B-8B7B8C801819}"/>
              </a:ext>
            </a:extLst>
          </p:cNvPr>
          <p:cNvSpPr>
            <a:spLocks noGrp="1"/>
          </p:cNvSpPr>
          <p:nvPr>
            <p:ph idx="1"/>
          </p:nvPr>
        </p:nvSpPr>
        <p:spPr/>
        <p:txBody>
          <a:bodyPr/>
          <a:lstStyle/>
          <a:p>
            <a:pPr marL="0" indent="0">
              <a:lnSpc>
                <a:spcPts val="165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npm</a:t>
            </a:r>
            <a:r>
              <a:rPr lang="en-IN" sz="1800" dirty="0">
                <a:solidFill>
                  <a:srgbClr val="313131"/>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publish</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If everything is fine with your module, then it will be published in the repository and will be accessible to install using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npm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like any other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other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Node.js module.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55716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1501</TotalTime>
  <Words>1014</Words>
  <Application>Microsoft Office PowerPoint</Application>
  <PresentationFormat>Widescreen</PresentationFormat>
  <Paragraphs>95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Cambria</vt:lpstr>
      <vt:lpstr>Consolas</vt:lpstr>
      <vt:lpstr>Garamond</vt:lpstr>
      <vt:lpstr>Verdana</vt:lpstr>
      <vt:lpstr>Wingdings</vt:lpstr>
      <vt:lpstr>Office Theme</vt:lpstr>
      <vt:lpstr>PowerPoint Presentation</vt:lpstr>
      <vt:lpstr>Node Package Manager (npm) </vt:lpstr>
      <vt:lpstr>Installing Modules using npm</vt:lpstr>
      <vt:lpstr>Global vs Local installation</vt:lpstr>
      <vt:lpstr>Globally installed packages/dependencies are stored in system directory</vt:lpstr>
      <vt:lpstr>PowerPoint Presentation</vt:lpstr>
      <vt:lpstr>PowerPoint Presentation</vt:lpstr>
      <vt:lpstr>Uninstalling a module</vt:lpstr>
      <vt:lpstr>Create a module</vt:lpstr>
      <vt:lpstr>publish your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108</cp:revision>
  <dcterms:created xsi:type="dcterms:W3CDTF">2020-12-02T14:02:37Z</dcterms:created>
  <dcterms:modified xsi:type="dcterms:W3CDTF">2024-12-07T12:34:14Z</dcterms:modified>
</cp:coreProperties>
</file>