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notesMasterIdLst>
    <p:notesMasterId r:id="rId18"/>
  </p:notesMasterIdLst>
  <p:sldIdLst>
    <p:sldId id="260" r:id="rId3"/>
    <p:sldId id="268" r:id="rId4"/>
    <p:sldId id="262" r:id="rId5"/>
    <p:sldId id="263" r:id="rId6"/>
    <p:sldId id="264" r:id="rId7"/>
    <p:sldId id="265" r:id="rId8"/>
    <p:sldId id="266" r:id="rId9"/>
    <p:sldId id="269" r:id="rId10"/>
    <p:sldId id="270" r:id="rId11"/>
    <p:sldId id="271" r:id="rId12"/>
    <p:sldId id="272" r:id="rId13"/>
    <p:sldId id="273" r:id="rId14"/>
    <p:sldId id="275" r:id="rId15"/>
    <p:sldId id="276" r:id="rId16"/>
    <p:sldId id="267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0" d="100"/>
          <a:sy n="90" d="100"/>
        </p:scale>
        <p:origin x="370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1" Type="http://schemas.openxmlformats.org/officeDocument/2006/relationships/theme" Target="theme/them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10" Type="http://schemas.openxmlformats.org/officeDocument/2006/relationships/slide" Target="slides/slide8.xml"/><Relationship Id="rId19" Type="http://schemas.openxmlformats.org/officeDocument/2006/relationships/presProps" Target="pres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67A60B6-87EC-4A59-91A6-D5D7C75D956E}" type="datetimeFigureOut">
              <a:rPr lang="en-IN" smtClean="0"/>
              <a:t>03-12-2024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3030A48-8A20-4A13-9F7F-9924091882C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313799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030A48-8A20-4A13-9F7F-9924091882C6}" type="slidenum">
              <a:rPr lang="en-IN" smtClean="0"/>
              <a:t>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8707728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269875-A9BA-4FEF-920E-4C22F85217A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4B7B814-8E5E-4786-A782-E24833624CA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AA5E4E-8582-4B31-8617-14CBB193ED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B0FDB9-8E1A-4075-B100-3186540F4228}" type="datetimeFigureOut">
              <a:rPr lang="en-IN" smtClean="0"/>
              <a:t>03-12-2024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C4D1BD-2509-4FA4-AA14-87874273DA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AA1064-57B6-4800-8A02-CD288A6D3D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DBC3EB-76E3-4D95-B949-998AB2567A6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051646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F4DA26-6291-4D2B-8978-F93514DF0A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A13C22-838A-44B1-81D3-9E211FEF05A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7AA663-5137-4937-8100-DB7D3B00C8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B0FDB9-8E1A-4075-B100-3186540F4228}" type="datetimeFigureOut">
              <a:rPr lang="en-IN" smtClean="0"/>
              <a:t>03-12-2024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DC0661-8587-448A-9B04-E94F206313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056B56-4C9F-4BAE-9DC4-4EC0CB4396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DBC3EB-76E3-4D95-B949-998AB2567A6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611679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74E9E4-BB58-4C34-A713-5C7FED4641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8C6DCC1-0042-4D16-8A40-07D1598A600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C9608D7-A0AC-4F7F-9B2A-7E2BC2BCF3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B0FDB9-8E1A-4075-B100-3186540F4228}" type="datetimeFigureOut">
              <a:rPr lang="en-IN" smtClean="0"/>
              <a:t>03-12-2024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7F6913-6AAC-424F-94E8-7967A5A06D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D0ECAC-D76A-4651-BD2D-47FA7FDE87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DBC3EB-76E3-4D95-B949-998AB2567A6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672242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404B3B-6866-44C5-95A8-265479B674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A90E14-26F7-4927-A965-637C61EF0A2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51966B2-1C21-40EC-AEB4-E6DF4D4CC55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48D7BC0-6651-4CE9-BF89-B67C6D952B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B0FDB9-8E1A-4075-B100-3186540F4228}" type="datetimeFigureOut">
              <a:rPr lang="en-IN" smtClean="0"/>
              <a:t>03-12-2024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0C814CD-3BDE-475B-B2CE-F8785CAE82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A2A8915-DC5F-40A7-87F8-4991A692EA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DBC3EB-76E3-4D95-B949-998AB2567A6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717188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2F9CE4-EDF2-4731-8314-40A65010B6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CF80861-B423-43F6-9C0B-C057550FF5F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9EB849D-1629-4141-B0DA-74DAC98229B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ABE2D5F-2402-43C2-982E-042CB8E310E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AD5E2B4-51AA-4C0E-98D0-D89C08C382E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B7F2DCC-82EF-468C-A9BD-A30BB42201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B0FDB9-8E1A-4075-B100-3186540F4228}" type="datetimeFigureOut">
              <a:rPr lang="en-IN" smtClean="0"/>
              <a:t>03-12-2024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64869D6-01B3-445D-B02D-3DAA99E799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941305C-3FE6-4DE2-AFA9-63E378D455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DBC3EB-76E3-4D95-B949-998AB2567A6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423847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2D828D-056B-484E-B46C-1913881D65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D48094D-3045-427E-AC8D-F81BFE5599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B0FDB9-8E1A-4075-B100-3186540F4228}" type="datetimeFigureOut">
              <a:rPr lang="en-IN" smtClean="0"/>
              <a:t>03-12-2024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97DD406-C044-4A88-A803-79A5F6B84C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48B2901-976F-482D-AE8B-41B5E7EB16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DBC3EB-76E3-4D95-B949-998AB2567A6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853546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623FAE6-F69D-4630-A4D3-46E3DD971B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B0FDB9-8E1A-4075-B100-3186540F4228}" type="datetimeFigureOut">
              <a:rPr lang="en-IN" smtClean="0"/>
              <a:t>03-12-2024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176A903-527D-416B-A653-12F4EA2FFB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1890FF6-2BA1-486B-9877-3C312C4888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DBC3EB-76E3-4D95-B949-998AB2567A6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82894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07C3EF-6A71-4940-AD16-8EAD5B2D62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A1DD74-1CE7-4DE8-8609-CB87E8CFD6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ECABA8D-6FA0-473A-A0DF-7F3F767FFAD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0C43AEE-30C0-41A9-B398-66CC3058D1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B0FDB9-8E1A-4075-B100-3186540F4228}" type="datetimeFigureOut">
              <a:rPr lang="en-IN" smtClean="0"/>
              <a:t>03-12-2024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20B8C12-85BE-4075-8059-73A3994655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ACF5DF8-58D9-4B96-A949-09747A8BAE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DBC3EB-76E3-4D95-B949-998AB2567A6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846730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C76579-818E-4976-A82D-F552B17632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316A0D9-1F47-44BF-A9FF-36FE018B5EE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D987E5F-8F10-464E-A03D-F7B5DD4649B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CC63D88-923E-4462-B853-43E7AA367E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B0FDB9-8E1A-4075-B100-3186540F4228}" type="datetimeFigureOut">
              <a:rPr lang="en-IN" smtClean="0"/>
              <a:t>03-12-2024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802F551-E142-4576-BE4B-C24ADDBF5C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99E0A25-4D04-4F0F-B57E-539F0029D9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DBC3EB-76E3-4D95-B949-998AB2567A6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00962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B0D829-AF1E-40CC-AA8B-1614C04FA2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DC13EA5-94DB-490C-9FE7-D17609AA337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CDDA9E-D2CC-47EE-9DDE-0F4657D3E0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B0FDB9-8E1A-4075-B100-3186540F4228}" type="datetimeFigureOut">
              <a:rPr lang="en-IN" smtClean="0"/>
              <a:t>03-12-2024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B34E4E-C739-4E42-AED6-8247868A76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FAF632-88D5-40D9-ACDA-F145AC59A5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DBC3EB-76E3-4D95-B949-998AB2567A6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441964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4242E2B-190D-469C-BC26-97FFEE159A5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99435C4-1632-4F15-9DF3-1D3E00CFD4E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47A6B3-D7C6-4E14-8562-56C5A43ED5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B0FDB9-8E1A-4075-B100-3186540F4228}" type="datetimeFigureOut">
              <a:rPr lang="en-IN" smtClean="0"/>
              <a:t>03-12-2024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B6DC34-0156-4A3B-AEE7-7A48BE575F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3704AD-9F7D-4B3D-B616-33C35F5744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DBC3EB-76E3-4D95-B949-998AB2567A6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5642890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C8F274-4539-49A0-87A3-8A92926FC48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913C69C-C15D-488F-8E9B-26F0B1525A2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5146E9-5B29-4689-B98F-C7A175B116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FE7E06-79CA-4948-8009-C5BAAA988AD0}" type="datetimeFigureOut">
              <a:rPr lang="en-IN" smtClean="0"/>
              <a:t>03-12-2024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DD42DB-8643-44D3-B820-E974547989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91B433-8249-456C-AB7B-51A5A281DB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941A85-03DF-41F8-80EC-AFB96AE601B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3986287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E4E34C-EBDD-49B8-AE4A-F0DF046D36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ED6A62-373F-446D-BFBD-A2306CF231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1599FF-4428-40EF-AA95-511B46F701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FE7E06-79CA-4948-8009-C5BAAA988AD0}" type="datetimeFigureOut">
              <a:rPr lang="en-IN" smtClean="0"/>
              <a:t>03-12-2024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965240-55B7-47C4-A3A8-5BB8E54DF6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EA2475-74E2-4E41-8886-F3660D2A97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941A85-03DF-41F8-80EC-AFB96AE601B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715517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B6E01C-29F8-490B-8FCF-5A1BA68330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E42801F-0138-406C-AAEC-1F17FAEE393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19E173-E83D-48DF-9FEC-A692B1FDE1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FE7E06-79CA-4948-8009-C5BAAA988AD0}" type="datetimeFigureOut">
              <a:rPr lang="en-IN" smtClean="0"/>
              <a:t>03-12-2024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D9C63D-2389-42AA-9B07-EB7E73B18D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9BFC83-08F9-4A8D-AD10-8340F22DCE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941A85-03DF-41F8-80EC-AFB96AE601B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1209559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6D2DE2-51FD-4F10-9681-13C9340515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A61EAF-F639-4B21-897F-73E828D6951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625640D-430D-41E6-B518-D24AE86B106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209ED6F-D3D2-4301-8236-17897DB66F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FE7E06-79CA-4948-8009-C5BAAA988AD0}" type="datetimeFigureOut">
              <a:rPr lang="en-IN" smtClean="0"/>
              <a:t>03-12-2024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2F62381-5FAE-4B7D-8D9C-CB218975A3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2FCB351-5329-49A8-B8D2-E48C310019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941A85-03DF-41F8-80EC-AFB96AE601B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4914755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690C04-E375-40C5-B7BA-A9919778CA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A37561B-10E8-4E49-8165-C7B1F2B478B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AD2C891-3169-4C58-B8C1-F5731E89BA3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FD0839A-777F-4B21-87B0-4C4D42E3B3E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64C1FAA-AE14-43CB-869B-A8AF2C6646A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125958C-7EC9-44EF-BB36-03DEE3EF9D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FE7E06-79CA-4948-8009-C5BAAA988AD0}" type="datetimeFigureOut">
              <a:rPr lang="en-IN" smtClean="0"/>
              <a:t>03-12-2024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7C8A2B2-25CB-4912-80F5-71B3F4A4BA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2B76D43-02E0-4EC5-AA63-8C56325BF1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941A85-03DF-41F8-80EC-AFB96AE601B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6531130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B17326-CF1B-499C-8B9F-5F1927E690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EE45BAB-CAA8-4AC3-BDDF-7C436DC538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FE7E06-79CA-4948-8009-C5BAAA988AD0}" type="datetimeFigureOut">
              <a:rPr lang="en-IN" smtClean="0"/>
              <a:t>03-12-2024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32CF544-61DD-4F09-B6D7-67A699300B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B958294-3C1C-4F63-9C5E-DD1D6E7036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941A85-03DF-41F8-80EC-AFB96AE601B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1601304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D136457-3425-4CFA-92CF-2A286F2D4A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FE7E06-79CA-4948-8009-C5BAAA988AD0}" type="datetimeFigureOut">
              <a:rPr lang="en-IN" smtClean="0"/>
              <a:t>03-12-2024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597BCE3-C3D5-41D4-AEBA-25E6B29B7C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B758923-2415-409F-8349-E9FEC2B05A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941A85-03DF-41F8-80EC-AFB96AE601B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3983437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3790AE-383D-495A-B54E-66E7D72675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A4A5F1-07C2-42DD-8DE3-D03AC50EB9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8F7D3AA-403A-49AE-8E4E-15D16E277E0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FB0DD28-F5CB-46D6-BE31-32DE3E3401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FE7E06-79CA-4948-8009-C5BAAA988AD0}" type="datetimeFigureOut">
              <a:rPr lang="en-IN" smtClean="0"/>
              <a:t>03-12-2024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5FCB876-6E1E-4D5C-BBA6-66671E252A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91C78CA-ABFB-40DE-8344-B588BDDB87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941A85-03DF-41F8-80EC-AFB96AE601B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0149639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9846F7-2CFF-4127-A0E4-9CA20E67E9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D74EB2A-A292-4128-97D8-BFA093C8CD0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DEF6526-000C-4C84-B2FA-76461329894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5B93E7C-181E-45B4-8CCF-DFE2E5F655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FE7E06-79CA-4948-8009-C5BAAA988AD0}" type="datetimeFigureOut">
              <a:rPr lang="en-IN" smtClean="0"/>
              <a:t>03-12-2024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B7FF50B-C3A8-4E4A-9384-79959A130B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A79BFE2-92B0-48A4-98B5-55F485BB9A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941A85-03DF-41F8-80EC-AFB96AE601B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7563867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95E366-8D52-42B6-8DC8-74EB1D390F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C5F1B5B-E156-45F3-B38C-3ACEEB57883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AF018B-EF2B-43AD-AF6E-37ED5B5420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FE7E06-79CA-4948-8009-C5BAAA988AD0}" type="datetimeFigureOut">
              <a:rPr lang="en-IN" smtClean="0"/>
              <a:t>03-12-2024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CE5020-33BC-438D-AE2B-A8FAFACD4E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1DBF86-A9FC-4622-9940-C27B234622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941A85-03DF-41F8-80EC-AFB96AE601B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1601394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39AC017-584B-41B4-ABC6-FC854AA8850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7EE36F7-2936-4623-A08C-EE2C114AB43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A2B394-CC83-49C3-A330-2997DE017B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FE7E06-79CA-4948-8009-C5BAAA988AD0}" type="datetimeFigureOut">
              <a:rPr lang="en-IN" smtClean="0"/>
              <a:t>03-12-2024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10327C-31C9-42F2-9AAB-D6410B88E6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D2D46E-8457-4CA5-B3A4-4A02D8756E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941A85-03DF-41F8-80EC-AFB96AE601B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61314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5A60A4F-4527-41DF-8948-4E6D3EB59F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CA26F26-5539-47C1-AFFF-512008E412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0343F1A-3A55-420B-98D8-F38BD8298BA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B0FDB9-8E1A-4075-B100-3186540F4228}" type="datetimeFigureOut">
              <a:rPr lang="en-IN" smtClean="0"/>
              <a:t>03-12-2024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7C541F-2A41-4FFA-B28A-697CB88FAF8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850932-B360-451F-AC0E-CBA54D9D01D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3DBC3EB-76E3-4D95-B949-998AB2567A6D}" type="slidenum">
              <a:rPr lang="en-IN" smtClean="0"/>
              <a:t>‹#›</a:t>
            </a:fld>
            <a:endParaRPr lang="en-IN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EC06054-F4D6-463D-B988-0441229AFFE5}"/>
              </a:ext>
            </a:extLst>
          </p:cNvPr>
          <p:cNvPicPr>
            <a:picLocks noChangeAspect="1"/>
          </p:cNvPicPr>
          <p:nvPr userDrawn="1"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76200" y="-76200"/>
            <a:ext cx="1282699" cy="857534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52C55DDA-2F67-497D-805E-5136A8321681}"/>
              </a:ext>
            </a:extLst>
          </p:cNvPr>
          <p:cNvSpPr/>
          <p:nvPr userDrawn="1"/>
        </p:nvSpPr>
        <p:spPr>
          <a:xfrm>
            <a:off x="228600" y="6593087"/>
            <a:ext cx="851535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1400" b="1" dirty="0">
                <a:solidFill>
                  <a:prstClr val="black"/>
                </a:solidFill>
                <a:latin typeface="Cambria" panose="02040503050406030204" pitchFamily="18" charset="0"/>
              </a:rPr>
              <a:t>USM’s </a:t>
            </a:r>
            <a:r>
              <a:rPr lang="en-US" sz="1400" b="1" dirty="0" err="1">
                <a:solidFill>
                  <a:prstClr val="black"/>
                </a:solidFill>
                <a:latin typeface="Cambria" panose="02040503050406030204" pitchFamily="18" charset="0"/>
              </a:rPr>
              <a:t>Shriram</a:t>
            </a:r>
            <a:r>
              <a:rPr lang="en-US" sz="1400" b="1" dirty="0">
                <a:solidFill>
                  <a:prstClr val="black"/>
                </a:solidFill>
                <a:latin typeface="Cambria" panose="02040503050406030204" pitchFamily="18" charset="0"/>
              </a:rPr>
              <a:t> </a:t>
            </a:r>
            <a:r>
              <a:rPr lang="en-US" sz="1400" b="1" dirty="0" err="1">
                <a:solidFill>
                  <a:prstClr val="black"/>
                </a:solidFill>
                <a:latin typeface="Cambria" panose="02040503050406030204" pitchFamily="18" charset="0"/>
              </a:rPr>
              <a:t>Mantri</a:t>
            </a:r>
            <a:r>
              <a:rPr lang="en-US" sz="1400" b="1" dirty="0">
                <a:solidFill>
                  <a:prstClr val="black"/>
                </a:solidFill>
                <a:latin typeface="Cambria" panose="02040503050406030204" pitchFamily="18" charset="0"/>
              </a:rPr>
              <a:t> </a:t>
            </a:r>
            <a:r>
              <a:rPr lang="en-US" sz="1400" b="1" dirty="0" err="1">
                <a:solidFill>
                  <a:prstClr val="black"/>
                </a:solidFill>
                <a:latin typeface="Cambria" panose="02040503050406030204" pitchFamily="18" charset="0"/>
              </a:rPr>
              <a:t>Vidyanidhi</a:t>
            </a:r>
            <a:r>
              <a:rPr lang="en-US" sz="1400" b="1" dirty="0">
                <a:solidFill>
                  <a:prstClr val="black"/>
                </a:solidFill>
                <a:latin typeface="Cambria" panose="02040503050406030204" pitchFamily="18" charset="0"/>
              </a:rPr>
              <a:t> Info Tech Academy </a:t>
            </a:r>
            <a:endParaRPr lang="en-IN" sz="1400" dirty="0">
              <a:solidFill>
                <a:prstClr val="black"/>
              </a:solidFill>
              <a:latin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433416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6622E19-BB47-4253-8B0A-2302E95EC3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12880FA-FD6E-43D3-B07B-D84D7AFB85D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B2360E-FCC2-4F98-9AA1-CF50B2B059C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6FE7E06-79CA-4948-8009-C5BAAA988AD0}" type="datetimeFigureOut">
              <a:rPr lang="en-IN" smtClean="0"/>
              <a:t>03-12-2024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45772D-BFA1-42C1-928A-9198778526B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D8C82B-5DF4-4847-9FF4-5F8A632B92A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F941A85-03DF-41F8-80EC-AFB96AE601B6}" type="slidenum">
              <a:rPr lang="en-IN" smtClean="0"/>
              <a:t>‹#›</a:t>
            </a:fld>
            <a:endParaRPr lang="en-IN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775C86D-6AD8-4D5A-97D6-4F8037C90BDA}"/>
              </a:ext>
            </a:extLst>
          </p:cNvPr>
          <p:cNvPicPr>
            <a:picLocks noChangeAspect="1"/>
          </p:cNvPicPr>
          <p:nvPr userDrawn="1"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76199" y="-76200"/>
            <a:ext cx="1249218" cy="835151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D0B7BB87-21E0-4FE6-8CF1-87F129F0BC20}"/>
              </a:ext>
            </a:extLst>
          </p:cNvPr>
          <p:cNvSpPr/>
          <p:nvPr userDrawn="1"/>
        </p:nvSpPr>
        <p:spPr>
          <a:xfrm>
            <a:off x="1173019" y="6550223"/>
            <a:ext cx="8293082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1400" b="1" dirty="0">
                <a:solidFill>
                  <a:prstClr val="black"/>
                </a:solidFill>
                <a:latin typeface="Cambria" panose="02040503050406030204" pitchFamily="18" charset="0"/>
              </a:rPr>
              <a:t>USM’s </a:t>
            </a:r>
            <a:r>
              <a:rPr lang="en-US" sz="1400" b="1" dirty="0" err="1">
                <a:solidFill>
                  <a:prstClr val="black"/>
                </a:solidFill>
                <a:latin typeface="Cambria" panose="02040503050406030204" pitchFamily="18" charset="0"/>
              </a:rPr>
              <a:t>Shriram</a:t>
            </a:r>
            <a:r>
              <a:rPr lang="en-US" sz="1400" b="1" dirty="0">
                <a:solidFill>
                  <a:prstClr val="black"/>
                </a:solidFill>
                <a:latin typeface="Cambria" panose="02040503050406030204" pitchFamily="18" charset="0"/>
              </a:rPr>
              <a:t> </a:t>
            </a:r>
            <a:r>
              <a:rPr lang="en-US" sz="1400" b="1" dirty="0" err="1">
                <a:solidFill>
                  <a:prstClr val="black"/>
                </a:solidFill>
                <a:latin typeface="Cambria" panose="02040503050406030204" pitchFamily="18" charset="0"/>
              </a:rPr>
              <a:t>Mantri</a:t>
            </a:r>
            <a:r>
              <a:rPr lang="en-US" sz="1400" b="1" dirty="0">
                <a:solidFill>
                  <a:prstClr val="black"/>
                </a:solidFill>
                <a:latin typeface="Cambria" panose="02040503050406030204" pitchFamily="18" charset="0"/>
              </a:rPr>
              <a:t> </a:t>
            </a:r>
            <a:r>
              <a:rPr lang="en-US" sz="1400" b="1" dirty="0" err="1">
                <a:solidFill>
                  <a:prstClr val="black"/>
                </a:solidFill>
                <a:latin typeface="Cambria" panose="02040503050406030204" pitchFamily="18" charset="0"/>
              </a:rPr>
              <a:t>Vidyanidhi</a:t>
            </a:r>
            <a:r>
              <a:rPr lang="en-US" sz="1400" b="1" dirty="0">
                <a:solidFill>
                  <a:prstClr val="black"/>
                </a:solidFill>
                <a:latin typeface="Cambria" panose="02040503050406030204" pitchFamily="18" charset="0"/>
              </a:rPr>
              <a:t> Info Tech Academy </a:t>
            </a:r>
            <a:endParaRPr lang="en-IN" sz="1400" dirty="0">
              <a:solidFill>
                <a:prstClr val="black"/>
              </a:solidFill>
              <a:latin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226575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://www.vidyanidhi.com/" TargetMode="Externa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DFEADA-E901-4302-A497-05D33C2B29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52600" y="152400"/>
            <a:ext cx="8458200" cy="6705600"/>
          </a:xfrm>
        </p:spPr>
        <p:txBody>
          <a:bodyPr/>
          <a:lstStyle/>
          <a:p>
            <a:pPr marL="0" indent="0" algn="ctr">
              <a:buNone/>
            </a:pPr>
            <a:r>
              <a:rPr lang="en-IN" dirty="0">
                <a:hlinkClick r:id="rId2"/>
              </a:rPr>
              <a:t>http://www.vidyanidhi.com/</a:t>
            </a:r>
            <a:endParaRPr lang="en-IN" dirty="0"/>
          </a:p>
          <a:p>
            <a:pPr marL="0" indent="0" algn="ctr">
              <a:buNone/>
            </a:pPr>
            <a:r>
              <a:rPr lang="en-IN" dirty="0"/>
              <a:t>ketkiacharya.net@gmail.com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8DE8A8E-ED85-4B70-916D-ED56E0E40BBC}"/>
              </a:ext>
            </a:extLst>
          </p:cNvPr>
          <p:cNvSpPr txBox="1"/>
          <p:nvPr/>
        </p:nvSpPr>
        <p:spPr>
          <a:xfrm>
            <a:off x="2057400" y="4038601"/>
            <a:ext cx="32766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err="1"/>
              <a:t>Ketki</a:t>
            </a:r>
            <a:r>
              <a:rPr lang="en-IN" dirty="0"/>
              <a:t> Acharya</a:t>
            </a:r>
          </a:p>
          <a:p>
            <a:r>
              <a:rPr lang="en-IN" dirty="0"/>
              <a:t>From: SM VITA ATC of CDAC</a:t>
            </a:r>
          </a:p>
          <a:p>
            <a:r>
              <a:rPr lang="en-IN" dirty="0"/>
              <a:t>9769201036</a:t>
            </a:r>
          </a:p>
          <a:p>
            <a:r>
              <a:rPr lang="en-IN" dirty="0"/>
              <a:t>ketkiacharya.net@gmail.com</a:t>
            </a:r>
          </a:p>
        </p:txBody>
      </p:sp>
    </p:spTree>
    <p:extLst>
      <p:ext uri="{BB962C8B-B14F-4D97-AF65-F5344CB8AC3E}">
        <p14:creationId xmlns:p14="http://schemas.microsoft.com/office/powerpoint/2010/main" val="33035979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839867-F99B-4CFA-8C5A-E068FD0FB4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13932" y="365126"/>
            <a:ext cx="9939867" cy="456142"/>
          </a:xfrm>
        </p:spPr>
        <p:txBody>
          <a:bodyPr>
            <a:normAutofit fontScale="90000"/>
          </a:bodyPr>
          <a:lstStyle/>
          <a:p>
            <a:r>
              <a:rPr lang="en-IN" dirty="0"/>
              <a:t>Window class has many methods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0659DA-5A22-4FF2-9440-E723A20985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1067" y="1134533"/>
            <a:ext cx="5960533" cy="5042430"/>
          </a:xfrm>
        </p:spPr>
        <p:txBody>
          <a:bodyPr/>
          <a:lstStyle/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Lets discuss some of it</a:t>
            </a:r>
          </a:p>
          <a:p>
            <a:pPr marL="0" indent="0">
              <a:buNone/>
            </a:pPr>
            <a:r>
              <a:rPr lang="en-IN" dirty="0"/>
              <a:t>Open, close, alert, prompt, confirm</a:t>
            </a:r>
          </a:p>
          <a:p>
            <a:pPr marL="0" indent="0">
              <a:buNone/>
            </a:pPr>
            <a:r>
              <a:rPr lang="en-IN" dirty="0" err="1"/>
              <a:t>isNaN</a:t>
            </a:r>
            <a:r>
              <a:rPr lang="en-IN" dirty="0"/>
              <a:t>, </a:t>
            </a:r>
            <a:r>
              <a:rPr lang="en-IN" dirty="0" err="1"/>
              <a:t>isFinite,eval</a:t>
            </a:r>
            <a:endParaRPr lang="en-IN" dirty="0"/>
          </a:p>
          <a:p>
            <a:pPr marL="0" indent="0">
              <a:buNone/>
            </a:pPr>
            <a:r>
              <a:rPr lang="en-IN" dirty="0" err="1"/>
              <a:t>setInterval</a:t>
            </a:r>
            <a:r>
              <a:rPr lang="en-IN" dirty="0"/>
              <a:t>, </a:t>
            </a:r>
            <a:r>
              <a:rPr lang="en-IN" dirty="0" err="1"/>
              <a:t>clearInterval</a:t>
            </a:r>
            <a:endParaRPr lang="en-IN" dirty="0"/>
          </a:p>
          <a:p>
            <a:pPr marL="0" indent="0">
              <a:buNone/>
            </a:pPr>
            <a:r>
              <a:rPr lang="en-IN" dirty="0" err="1"/>
              <a:t>setTimeOut</a:t>
            </a:r>
            <a:r>
              <a:rPr lang="en-IN" dirty="0"/>
              <a:t>, </a:t>
            </a:r>
            <a:r>
              <a:rPr lang="en-IN" dirty="0" err="1"/>
              <a:t>clearTimeOut</a:t>
            </a:r>
            <a:endParaRPr lang="en-IN" dirty="0"/>
          </a:p>
          <a:p>
            <a:pPr marL="0" indent="0">
              <a:buNone/>
            </a:pPr>
            <a:r>
              <a:rPr lang="en-IN" dirty="0"/>
              <a:t>Location is getter/setter</a:t>
            </a:r>
          </a:p>
        </p:txBody>
      </p:sp>
    </p:spTree>
    <p:extLst>
      <p:ext uri="{BB962C8B-B14F-4D97-AF65-F5344CB8AC3E}">
        <p14:creationId xmlns:p14="http://schemas.microsoft.com/office/powerpoint/2010/main" val="28195166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48B1CF-EB16-4B1C-91A2-B40D769F81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40220" y="0"/>
            <a:ext cx="10008476" cy="759482"/>
          </a:xfrm>
        </p:spPr>
        <p:txBody>
          <a:bodyPr/>
          <a:lstStyle/>
          <a:p>
            <a:r>
              <a:rPr lang="en-IN" dirty="0"/>
              <a:t>Open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15080C-6B33-44A6-9178-5ACEA2CEDA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476" y="759482"/>
            <a:ext cx="6067097" cy="4351338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b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I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function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callme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pPr marL="0" indent="0">
              <a:buNone/>
            </a:pP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 marL="0" indent="0">
              <a:buNone/>
            </a:pPr>
            <a:b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IN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window</a:t>
            </a:r>
            <a:r>
              <a:rPr lang="en-IN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open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'p.html'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 marL="0" indent="0">
              <a:buNone/>
            </a:pPr>
            <a:b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 marL="0" indent="0">
              <a:buNone/>
            </a:pPr>
            <a:b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I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function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tool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pPr marL="0" indent="0">
              <a:buNone/>
            </a:pP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 marL="0" indent="0">
              <a:buNone/>
            </a:pPr>
            <a:b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IN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window</a:t>
            </a:r>
            <a:r>
              <a:rPr lang="en-IN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open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IN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p.html'</a:t>
            </a:r>
            <a:r>
              <a:rPr lang="en-IN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IN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'_blank'</a:t>
            </a:r>
            <a:r>
              <a:rPr lang="en-IN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IN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'height</a:t>
            </a:r>
            <a:r>
              <a:rPr lang="en-IN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=200,width=200'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 marL="0" indent="0">
              <a:buNone/>
            </a:pP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 marL="0" indent="0">
              <a:buNone/>
            </a:pPr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029C898-71DA-4600-843E-3AEBD952C77B}"/>
              </a:ext>
            </a:extLst>
          </p:cNvPr>
          <p:cNvSpPr txBox="1"/>
          <p:nvPr/>
        </p:nvSpPr>
        <p:spPr>
          <a:xfrm>
            <a:off x="231228" y="5110820"/>
            <a:ext cx="984819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Open will open new file in current window by default.</a:t>
            </a:r>
          </a:p>
          <a:p>
            <a:r>
              <a:rPr lang="en-IN" dirty="0"/>
              <a:t>If you add second parameter _blank then it will open  file in a new tab</a:t>
            </a:r>
          </a:p>
        </p:txBody>
      </p:sp>
    </p:spTree>
    <p:extLst>
      <p:ext uri="{BB962C8B-B14F-4D97-AF65-F5344CB8AC3E}">
        <p14:creationId xmlns:p14="http://schemas.microsoft.com/office/powerpoint/2010/main" val="17071270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83770FB8-157C-4E08-BDFF-0F63BF0BF09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235201847"/>
              </p:ext>
            </p:extLst>
          </p:nvPr>
        </p:nvGraphicFramePr>
        <p:xfrm>
          <a:off x="1426246" y="991961"/>
          <a:ext cx="8690578" cy="406146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8690578">
                  <a:extLst>
                    <a:ext uri="{9D8B030D-6E8A-4147-A177-3AD203B41FA5}">
                      <a16:colId xmlns:a16="http://schemas.microsoft.com/office/drawing/2014/main" val="85081058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2000" dirty="0" err="1">
                          <a:effectLst/>
                        </a:rPr>
                        <a:t>window.open</a:t>
                      </a:r>
                      <a:r>
                        <a:rPr lang="en-US" sz="2000" dirty="0">
                          <a:effectLst/>
                        </a:rPr>
                        <a:t>(</a:t>
                      </a:r>
                      <a:r>
                        <a:rPr lang="en-US" sz="2000" dirty="0" err="1">
                          <a:effectLst/>
                        </a:rPr>
                        <a:t>URL,name,specs</a:t>
                      </a:r>
                      <a:r>
                        <a:rPr lang="en-US" sz="2000" dirty="0">
                          <a:effectLst/>
                        </a:rPr>
                        <a:t>) </a:t>
                      </a:r>
                      <a:endParaRPr lang="en-IN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1487" marR="31487" marT="38100" marB="38100" anchor="ctr"/>
                </a:tc>
                <a:extLst>
                  <a:ext uri="{0D108BD9-81ED-4DB2-BD59-A6C34878D82A}">
                    <a16:rowId xmlns:a16="http://schemas.microsoft.com/office/drawing/2014/main" val="4228543274"/>
                  </a:ext>
                </a:extLst>
              </a:tr>
            </a:tbl>
          </a:graphicData>
        </a:graphic>
      </p:graphicFrame>
      <p:sp>
        <p:nvSpPr>
          <p:cNvPr id="5" name="Rectangle 1">
            <a:extLst>
              <a:ext uri="{FF2B5EF4-FFF2-40B4-BE49-F238E27FC236}">
                <a16:creationId xmlns:a16="http://schemas.microsoft.com/office/drawing/2014/main" id="{0219FE9B-3B6F-4F2E-9274-B8ED4CB2B7C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1221658" y="223832"/>
            <a:ext cx="10390239" cy="61555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3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Definition and Usage</a:t>
            </a:r>
            <a:endParaRPr kumimoji="0" lang="en-US" altLang="en-US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The open() method is used to open a new browser window. </a:t>
            </a:r>
            <a:endParaRPr kumimoji="0" lang="en-US" altLang="en-US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3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Syntax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E3D4A3BD-5B59-4634-93EC-925EB5E2DE96}"/>
              </a:ext>
            </a:extLst>
          </p:cNvPr>
          <p:cNvGraphicFramePr>
            <a:graphicFrameLocks noGrp="1"/>
          </p:cNvGraphicFramePr>
          <p:nvPr/>
        </p:nvGraphicFramePr>
        <p:xfrm>
          <a:off x="838200" y="2011422"/>
          <a:ext cx="10515600" cy="3979743"/>
        </p:xfrm>
        <a:graphic>
          <a:graphicData uri="http://schemas.openxmlformats.org/drawingml/2006/table">
            <a:tbl>
              <a:tblPr firstRow="1" firstCol="1" bandRow="1"/>
              <a:tblGrid>
                <a:gridCol w="2103120">
                  <a:extLst>
                    <a:ext uri="{9D8B030D-6E8A-4147-A177-3AD203B41FA5}">
                      <a16:colId xmlns:a16="http://schemas.microsoft.com/office/drawing/2014/main" val="3366808867"/>
                    </a:ext>
                  </a:extLst>
                </a:gridCol>
                <a:gridCol w="8412480">
                  <a:extLst>
                    <a:ext uri="{9D8B030D-6E8A-4147-A177-3AD203B41FA5}">
                      <a16:colId xmlns:a16="http://schemas.microsoft.com/office/drawing/2014/main" val="355808660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850" b="1">
                          <a:solidFill>
                            <a:srgbClr val="000000"/>
                          </a:solidFill>
                          <a:effectLst/>
                          <a:highlight>
                            <a:srgbClr val="FFFF00"/>
                          </a:highlight>
                          <a:latin typeface="Verdana" panose="020B060403050404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Parameter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8575" marR="28575" marT="28575" marB="28575">
                    <a:lnL w="12700" cap="flat" cmpd="sng" algn="ctr">
                      <a:solidFill>
                        <a:srgbClr val="C3C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850" b="1">
                          <a:solidFill>
                            <a:srgbClr val="000000"/>
                          </a:solidFill>
                          <a:effectLst/>
                          <a:highlight>
                            <a:srgbClr val="FFFF00"/>
                          </a:highlight>
                          <a:latin typeface="Verdana" panose="020B060403050404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Description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8575" marR="28575" marT="28575" marB="28575">
                    <a:lnL w="12700" cap="flat" cmpd="sng" algn="ctr">
                      <a:solidFill>
                        <a:srgbClr val="C3C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3058866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85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URL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8575" marR="28575" marT="28575" marB="28575">
                    <a:lnL w="12700" cap="flat" cmpd="sng" algn="ctr">
                      <a:solidFill>
                        <a:srgbClr val="C3C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85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Optional. Specifies the URL of the page to open. If no URL is specified, a new window with about:blank is opened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8575" marR="28575" marT="28575" marB="28575">
                    <a:lnL w="12700" cap="flat" cmpd="sng" algn="ctr">
                      <a:solidFill>
                        <a:srgbClr val="C3C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6797259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85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name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8575" marR="28575" marT="28575" marB="28575">
                    <a:lnL w="12700" cap="flat" cmpd="sng" algn="ctr">
                      <a:solidFill>
                        <a:srgbClr val="C3C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85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Optional. Specifies the target attribute or the name of the window. The following values are supported: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  <a:p>
                      <a:pPr marL="342900" lvl="0" indent="-342900">
                        <a:lnSpc>
                          <a:spcPct val="115000"/>
                        </a:lnSpc>
                        <a:spcAft>
                          <a:spcPts val="1000"/>
                        </a:spcAft>
                        <a:buSzPts val="1000"/>
                        <a:buFont typeface="Symbol" panose="05050102010706020507" pitchFamily="18" charset="2"/>
                        <a:buChar char=""/>
                        <a:tabLst>
                          <a:tab pos="457200" algn="l"/>
                        </a:tabLst>
                      </a:pPr>
                      <a:r>
                        <a:rPr lang="en-US" sz="85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_blank - URL is loaded into a new window. This is default </a:t>
                      </a:r>
                      <a:endParaRPr lang="en-IN" sz="11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  <a:p>
                      <a:pPr marL="342900" lvl="0" indent="-342900">
                        <a:lnSpc>
                          <a:spcPct val="115000"/>
                        </a:lnSpc>
                        <a:spcAft>
                          <a:spcPts val="1000"/>
                        </a:spcAft>
                        <a:buSzPts val="1000"/>
                        <a:buFont typeface="Symbol" panose="05050102010706020507" pitchFamily="18" charset="2"/>
                        <a:buChar char=""/>
                        <a:tabLst>
                          <a:tab pos="457200" algn="l"/>
                        </a:tabLst>
                      </a:pPr>
                      <a:r>
                        <a:rPr lang="en-US" sz="85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_self - URL replaces the current page </a:t>
                      </a:r>
                      <a:endParaRPr lang="en-IN" sz="11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  <a:p>
                      <a:pPr marL="342900" lvl="0" indent="-342900">
                        <a:lnSpc>
                          <a:spcPct val="115000"/>
                        </a:lnSpc>
                        <a:spcAft>
                          <a:spcPts val="1000"/>
                        </a:spcAft>
                        <a:buSzPts val="1000"/>
                        <a:buFont typeface="Symbol" panose="05050102010706020507" pitchFamily="18" charset="2"/>
                        <a:buChar char=""/>
                        <a:tabLst>
                          <a:tab pos="457200" algn="l"/>
                        </a:tabLst>
                      </a:pPr>
                      <a:r>
                        <a:rPr lang="en-US" sz="850" i="1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name</a:t>
                      </a:r>
                      <a:r>
                        <a:rPr lang="en-US" sz="85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- The name of the window </a:t>
                      </a:r>
                      <a:endParaRPr lang="en-IN" sz="11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8575" marR="28575" marT="28575" marB="28575">
                    <a:lnL w="12700" cap="flat" cmpd="sng" algn="ctr">
                      <a:solidFill>
                        <a:srgbClr val="C3C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695966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85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specs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8575" marR="28575" marT="28575" marB="28575">
                    <a:lnL w="12700" cap="flat" cmpd="sng" algn="ctr">
                      <a:solidFill>
                        <a:srgbClr val="C3C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85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Optional. A comma-separated list of items. The following values are supported: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8575" marR="28575" marT="28575" marB="28575">
                    <a:lnL w="12700" cap="flat" cmpd="sng" algn="ctr">
                      <a:solidFill>
                        <a:srgbClr val="C3C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9056324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85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fullscreen=yes|no|1|0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8575" marR="28575" marT="28575" marB="28575">
                    <a:lnL w="12700" cap="flat" cmpd="sng" algn="ctr">
                      <a:solidFill>
                        <a:srgbClr val="C3C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85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Whether or not to display the browser in full-screen mode. Default is no. A window in full-screen mode must also be in theater mode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8575" marR="28575" marT="28575" marB="28575">
                    <a:lnL w="12700" cap="flat" cmpd="sng" algn="ctr">
                      <a:solidFill>
                        <a:srgbClr val="C3C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6897602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85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height=pixels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8575" marR="28575" marT="28575" marB="28575">
                    <a:lnL w="12700" cap="flat" cmpd="sng" algn="ctr">
                      <a:solidFill>
                        <a:srgbClr val="C3C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85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The height of the window. Min. value is 100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8575" marR="28575" marT="28575" marB="28575">
                    <a:lnL w="12700" cap="flat" cmpd="sng" algn="ctr">
                      <a:solidFill>
                        <a:srgbClr val="C3C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7615372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85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left=pixels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8575" marR="28575" marT="28575" marB="28575">
                    <a:lnL w="12700" cap="flat" cmpd="sng" algn="ctr">
                      <a:solidFill>
                        <a:srgbClr val="C3C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85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The left position of the window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8575" marR="28575" marT="28575" marB="28575">
                    <a:lnL w="12700" cap="flat" cmpd="sng" algn="ctr">
                      <a:solidFill>
                        <a:srgbClr val="C3C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0231546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85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menubar=yes|no|1|0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8575" marR="28575" marT="28575" marB="28575">
                    <a:lnL w="12700" cap="flat" cmpd="sng" algn="ctr">
                      <a:solidFill>
                        <a:srgbClr val="C3C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85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Whether or not to display the menu bar. Default is yes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8575" marR="28575" marT="28575" marB="28575">
                    <a:lnL w="12700" cap="flat" cmpd="sng" algn="ctr">
                      <a:solidFill>
                        <a:srgbClr val="C3C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0286666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85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resizable=yes|no|1|0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8575" marR="28575" marT="28575" marB="28575">
                    <a:lnL w="12700" cap="flat" cmpd="sng" algn="ctr">
                      <a:solidFill>
                        <a:srgbClr val="C3C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85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Whether or not the window is resizable. Default is yes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8575" marR="28575" marT="28575" marB="28575">
                    <a:lnL w="12700" cap="flat" cmpd="sng" algn="ctr">
                      <a:solidFill>
                        <a:srgbClr val="C3C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2533186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85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scrollbars=yes|no|1|0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8575" marR="28575" marT="28575" marB="28575">
                    <a:lnL w="12700" cap="flat" cmpd="sng" algn="ctr">
                      <a:solidFill>
                        <a:srgbClr val="C3C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85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Whether or not to display scroll bars. Default is yes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8575" marR="28575" marT="28575" marB="28575">
                    <a:lnL w="12700" cap="flat" cmpd="sng" algn="ctr">
                      <a:solidFill>
                        <a:srgbClr val="C3C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9346445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85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status=yes|no|1|0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8575" marR="28575" marT="28575" marB="28575">
                    <a:lnL w="12700" cap="flat" cmpd="sng" algn="ctr">
                      <a:solidFill>
                        <a:srgbClr val="C3C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85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Whether or not to add a status bar. Default is yes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8575" marR="28575" marT="28575" marB="28575">
                    <a:lnL w="12700" cap="flat" cmpd="sng" algn="ctr">
                      <a:solidFill>
                        <a:srgbClr val="C3C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2436863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85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titlebar=yes|no|1|0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8575" marR="28575" marT="28575" marB="28575">
                    <a:lnL w="12700" cap="flat" cmpd="sng" algn="ctr">
                      <a:solidFill>
                        <a:srgbClr val="C3C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85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Whether or not to display the title bar. Ignored unless the calling application is an HTML Application or a trusted dialog box. Default is yes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8575" marR="28575" marT="28575" marB="28575">
                    <a:lnL w="12700" cap="flat" cmpd="sng" algn="ctr">
                      <a:solidFill>
                        <a:srgbClr val="C3C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518757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85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toolbar=yes|no|1|0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8575" marR="28575" marT="28575" marB="28575">
                    <a:lnL w="12700" cap="flat" cmpd="sng" algn="ctr">
                      <a:solidFill>
                        <a:srgbClr val="C3C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85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Whether or not to display the browser toolbar. Default is yes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8575" marR="28575" marT="28575" marB="28575">
                    <a:lnL w="12700" cap="flat" cmpd="sng" algn="ctr">
                      <a:solidFill>
                        <a:srgbClr val="C3C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4932068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85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top=pixels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8575" marR="28575" marT="28575" marB="28575">
                    <a:lnL w="12700" cap="flat" cmpd="sng" algn="ctr">
                      <a:solidFill>
                        <a:srgbClr val="C3C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85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The top position of the window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8575" marR="28575" marT="28575" marB="28575">
                    <a:lnL w="12700" cap="flat" cmpd="sng" algn="ctr">
                      <a:solidFill>
                        <a:srgbClr val="C3C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5429389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85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width=pixels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8575" marR="28575" marT="28575" marB="28575">
                    <a:lnL w="12700" cap="flat" cmpd="sng" algn="ctr">
                      <a:solidFill>
                        <a:srgbClr val="C3C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85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The width of the window. Min. value is 100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8575" marR="28575" marT="28575" marB="28575">
                    <a:lnL w="12700" cap="flat" cmpd="sng" algn="ctr">
                      <a:solidFill>
                        <a:srgbClr val="C3C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72334981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 lang="en-IN" sz="100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8575" marR="28575" marT="28575" marB="28575">
                    <a:lnL w="12700" cap="flat" cmpd="sng" algn="ctr">
                      <a:solidFill>
                        <a:srgbClr val="C3C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IN" sz="1000" dirty="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8575" marR="28575" marT="28575" marB="28575">
                    <a:lnL w="12700" cap="flat" cmpd="sng" algn="ctr">
                      <a:solidFill>
                        <a:srgbClr val="C3C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3723702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6736950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21D2B6-2F08-47F3-8524-2BECADA7BD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1883" y="72768"/>
            <a:ext cx="9928123" cy="608269"/>
          </a:xfrm>
        </p:spPr>
        <p:txBody>
          <a:bodyPr>
            <a:normAutofit fontScale="90000"/>
          </a:bodyPr>
          <a:lstStyle/>
          <a:p>
            <a:r>
              <a:rPr lang="en-IN" dirty="0"/>
              <a:t>Prompt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FE5DA6-13A4-4E21-8678-7EFF2DC017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5806" y="570270"/>
            <a:ext cx="7482349" cy="6076335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&lt;html&gt;</a:t>
            </a:r>
            <a:endParaRPr 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&lt;head&gt;&lt;title&gt;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template</a:t>
            </a:r>
            <a:r>
              <a:rPr lang="en-US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&lt;/title&gt;</a:t>
            </a:r>
            <a:endParaRPr 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&lt;script&gt;</a:t>
            </a:r>
            <a:endParaRPr 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var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no1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window.</a:t>
            </a:r>
            <a:r>
              <a:rPr lang="en-US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prompt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"enter number"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5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 marL="0" indent="0">
              <a:buNone/>
            </a:pP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var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b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parseInt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no1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 marL="0" indent="0">
              <a:buNone/>
            </a:pP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var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no2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prompt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pPr marL="0" indent="0">
              <a:buNone/>
            </a:pPr>
            <a:r>
              <a:rPr lang="en-US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document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write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no1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+</a:t>
            </a:r>
            <a:r>
              <a:rPr lang="en-US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no2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  <a:r>
              <a:rPr 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//string +(</a:t>
            </a:r>
            <a:r>
              <a:rPr lang="en-US" sz="1400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concat</a:t>
            </a:r>
            <a:r>
              <a:rPr 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)number</a:t>
            </a:r>
            <a:endParaRPr 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document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write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"&lt;</a:t>
            </a:r>
            <a:r>
              <a:rPr lang="en-US" sz="14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br</a:t>
            </a:r>
            <a:r>
              <a:rPr lang="en-US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/&gt;"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 marL="0" indent="0">
              <a:buNone/>
            </a:pPr>
            <a:r>
              <a:rPr lang="en-US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document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write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no1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US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no2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  <a:r>
              <a:rPr 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//no1.valueOf() get called</a:t>
            </a:r>
            <a:endParaRPr 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document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write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"&lt;</a:t>
            </a:r>
            <a:r>
              <a:rPr lang="en-US" sz="14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br</a:t>
            </a:r>
            <a:r>
              <a:rPr lang="en-US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/&gt;"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 marL="0" indent="0">
              <a:buNone/>
            </a:pPr>
            <a:r>
              <a:rPr lang="en-US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document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write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typeof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no1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));</a:t>
            </a:r>
            <a:r>
              <a:rPr 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//string</a:t>
            </a:r>
            <a:endParaRPr 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pno1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parseInt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no1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 marL="0" indent="0">
              <a:buNone/>
            </a:pPr>
            <a:r>
              <a:rPr lang="en-US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pno2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parseInt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no2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 marL="0" indent="0">
              <a:buNone/>
            </a:pP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var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ans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pno1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+</a:t>
            </a:r>
            <a:r>
              <a:rPr lang="en-US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pno2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buNone/>
            </a:pPr>
            <a:r>
              <a:rPr lang="en-US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document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write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ans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 marL="0" indent="0">
              <a:buNone/>
            </a:pPr>
            <a:r>
              <a:rPr lang="en-US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document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write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"&lt;</a:t>
            </a:r>
            <a:r>
              <a:rPr lang="en-US" sz="14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br</a:t>
            </a:r>
            <a:r>
              <a:rPr lang="en-US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/&gt;"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 marL="0" indent="0">
              <a:buNone/>
            </a:pPr>
            <a:r>
              <a:rPr lang="en-US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document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write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no1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US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no2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 marL="0" indent="0">
              <a:buNone/>
            </a:pPr>
            <a:r>
              <a:rPr lang="en-US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&lt;/script&gt;&lt;/head&gt;&lt;body&gt;</a:t>
            </a:r>
            <a:endParaRPr 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prompt("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sometext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","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defaultvalue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");</a:t>
            </a:r>
          </a:p>
          <a:p>
            <a:pPr marL="0" indent="0">
              <a:buNone/>
            </a:pPr>
            <a:r>
              <a:rPr lang="en-US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&lt;/body&gt;&lt;/html&gt;</a:t>
            </a:r>
            <a:endParaRPr 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b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b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endParaRPr 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en-IN" sz="14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DF320A7-D6E4-61DA-CC64-75ED19A02F78}"/>
              </a:ext>
            </a:extLst>
          </p:cNvPr>
          <p:cNvSpPr txBox="1"/>
          <p:nvPr/>
        </p:nvSpPr>
        <p:spPr>
          <a:xfrm>
            <a:off x="6363093" y="681037"/>
            <a:ext cx="5241303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Accept 2 number and print sum in h1 tag</a:t>
            </a:r>
          </a:p>
          <a:p>
            <a:r>
              <a:rPr lang="en-US" dirty="0"/>
              <a:t>Accept 2 number and print product of two number</a:t>
            </a:r>
          </a:p>
          <a:p>
            <a:r>
              <a:rPr lang="en-US" dirty="0"/>
              <a:t>Use + to convert string to number</a:t>
            </a:r>
          </a:p>
          <a:p>
            <a:endParaRPr lang="en-US" dirty="0"/>
          </a:p>
          <a:p>
            <a:r>
              <a:rPr lang="en-US" dirty="0"/>
              <a:t>Testcase when you use </a:t>
            </a:r>
            <a:r>
              <a:rPr lang="en-US" dirty="0" err="1"/>
              <a:t>patseInt</a:t>
            </a:r>
            <a:endParaRPr lang="en-US" dirty="0"/>
          </a:p>
          <a:p>
            <a:pPr marL="342900" indent="-342900">
              <a:buAutoNum type="arabicPeriod"/>
            </a:pPr>
            <a:r>
              <a:rPr lang="en-US" dirty="0"/>
              <a:t>5</a:t>
            </a:r>
          </a:p>
          <a:p>
            <a:pPr marL="342900" indent="-342900">
              <a:buAutoNum type="arabicPeriod"/>
            </a:pPr>
            <a:r>
              <a:rPr lang="en-US" dirty="0"/>
              <a:t>6</a:t>
            </a:r>
          </a:p>
          <a:p>
            <a:pPr marL="342900" indent="-342900">
              <a:buAutoNum type="arabicPeriod"/>
            </a:pPr>
            <a:r>
              <a:rPr lang="en-US" dirty="0" err="1"/>
              <a:t>Tescase</a:t>
            </a:r>
            <a:r>
              <a:rPr lang="en-US" dirty="0"/>
              <a:t> a  5.5   6  </a:t>
            </a:r>
          </a:p>
          <a:p>
            <a:pPr marL="342900" indent="-342900">
              <a:buAutoNum type="arabicPeriod"/>
            </a:pPr>
            <a:endParaRPr lang="en-US" dirty="0"/>
          </a:p>
          <a:p>
            <a:pPr marL="342900" indent="-342900">
              <a:buAutoNum type="arabicPeriod"/>
            </a:pPr>
            <a:r>
              <a:rPr lang="en-US" dirty="0" err="1"/>
              <a:t>Tescase</a:t>
            </a:r>
            <a:r>
              <a:rPr lang="en-US" dirty="0"/>
              <a:t> 2</a:t>
            </a:r>
          </a:p>
          <a:p>
            <a:pPr marL="342900" indent="-342900">
              <a:buAutoNum type="arabicPeriod"/>
            </a:pPr>
            <a:r>
              <a:rPr lang="en-US" dirty="0"/>
              <a:t>When you use + as conversion</a:t>
            </a:r>
          </a:p>
          <a:p>
            <a:r>
              <a:rPr lang="en-US" dirty="0"/>
              <a:t>5.5</a:t>
            </a:r>
          </a:p>
          <a:p>
            <a:r>
              <a:rPr lang="en-US" dirty="0"/>
              <a:t>6.7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2276983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D0BA29-45BF-4081-B27C-B934AC85E4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0710" y="70157"/>
            <a:ext cx="10223090" cy="460785"/>
          </a:xfrm>
        </p:spPr>
        <p:txBody>
          <a:bodyPr>
            <a:normAutofit fontScale="90000"/>
          </a:bodyPr>
          <a:lstStyle/>
          <a:p>
            <a:r>
              <a:rPr lang="en-IN" dirty="0"/>
              <a:t>alert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DDF045-A6D5-45F0-96A8-7D15DCA61F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4968" y="698090"/>
            <a:ext cx="5083277" cy="547887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8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&lt;html&gt;</a:t>
            </a:r>
            <a:endParaRPr lang="en-US" sz="18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8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&lt;head&gt;&lt;title&gt;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template</a:t>
            </a:r>
            <a:r>
              <a:rPr lang="en-US" sz="18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&lt;/title&gt;</a:t>
            </a:r>
            <a:endParaRPr lang="en-US" sz="18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8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&lt;script&gt;</a:t>
            </a:r>
            <a:endParaRPr lang="en-US" sz="18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8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alert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8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"hello  &lt;</a:t>
            </a:r>
            <a:r>
              <a:rPr lang="en-US" sz="18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br</a:t>
            </a:r>
            <a:r>
              <a:rPr lang="en-US" sz="18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/&gt; world"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 marL="0" indent="0">
              <a:buNone/>
            </a:pPr>
            <a:r>
              <a:rPr lang="en-US" sz="18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alert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8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"hello </a:t>
            </a:r>
            <a:r>
              <a:rPr lang="en-US" sz="1800" b="0" dirty="0">
                <a:solidFill>
                  <a:srgbClr val="EE0000"/>
                </a:solidFill>
                <a:effectLst/>
                <a:latin typeface="Consolas" panose="020B0609020204030204" pitchFamily="49" charset="0"/>
              </a:rPr>
              <a:t>\n</a:t>
            </a:r>
            <a:r>
              <a:rPr lang="en-US" sz="18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 world"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 marL="0" indent="0">
              <a:buNone/>
            </a:pPr>
            <a:r>
              <a:rPr lang="en-US" sz="18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&lt;/script&gt;</a:t>
            </a:r>
            <a:endParaRPr lang="en-US" sz="18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8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&lt;/head&gt;</a:t>
            </a:r>
            <a:endParaRPr lang="en-US" sz="18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8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&lt;body&gt;</a:t>
            </a:r>
            <a:endParaRPr lang="en-US" sz="18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8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&lt;/body&gt;</a:t>
            </a:r>
            <a:endParaRPr lang="en-US" sz="18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8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&lt;/html&gt;</a:t>
            </a:r>
            <a:endParaRPr lang="en-US" sz="18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en-IN" sz="1800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C199108C-6364-4B1B-9A49-7284FCE33E50}"/>
              </a:ext>
            </a:extLst>
          </p:cNvPr>
          <p:cNvSpPr txBox="1">
            <a:spLocks/>
          </p:cNvSpPr>
          <p:nvPr/>
        </p:nvSpPr>
        <p:spPr>
          <a:xfrm>
            <a:off x="6096000" y="689563"/>
            <a:ext cx="5083277" cy="54788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1800" dirty="0">
                <a:solidFill>
                  <a:srgbClr val="800000"/>
                </a:solidFill>
                <a:latin typeface="Consolas" panose="020B0609020204030204" pitchFamily="49" charset="0"/>
              </a:rPr>
              <a:t>&lt;html&gt;</a:t>
            </a:r>
            <a:endParaRPr lang="en-US" sz="1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800" dirty="0">
                <a:solidFill>
                  <a:srgbClr val="800000"/>
                </a:solidFill>
                <a:latin typeface="Consolas" panose="020B0609020204030204" pitchFamily="49" charset="0"/>
              </a:rPr>
              <a:t>&lt;head&gt;&lt;title&gt;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template</a:t>
            </a:r>
            <a:r>
              <a:rPr lang="en-US" sz="1800" dirty="0">
                <a:solidFill>
                  <a:srgbClr val="800000"/>
                </a:solidFill>
                <a:latin typeface="Consolas" panose="020B0609020204030204" pitchFamily="49" charset="0"/>
              </a:rPr>
              <a:t>&lt;/title&gt;</a:t>
            </a:r>
            <a:endParaRPr lang="en-US" sz="1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800" dirty="0">
                <a:solidFill>
                  <a:srgbClr val="800000"/>
                </a:solidFill>
                <a:latin typeface="Consolas" panose="020B0609020204030204" pitchFamily="49" charset="0"/>
              </a:rPr>
              <a:t>&lt;script&gt;</a:t>
            </a:r>
            <a:endParaRPr lang="en-US" sz="1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alert=function(a)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document.write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(a);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alert(“hello”)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800" dirty="0">
                <a:solidFill>
                  <a:srgbClr val="800000"/>
                </a:solidFill>
                <a:latin typeface="Consolas" panose="020B0609020204030204" pitchFamily="49" charset="0"/>
              </a:rPr>
              <a:t>&lt;/script&gt;</a:t>
            </a:r>
            <a:endParaRPr lang="en-US" sz="1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800" dirty="0">
                <a:solidFill>
                  <a:srgbClr val="800000"/>
                </a:solidFill>
                <a:latin typeface="Consolas" panose="020B0609020204030204" pitchFamily="49" charset="0"/>
              </a:rPr>
              <a:t>&lt;/head&gt;</a:t>
            </a:r>
            <a:endParaRPr lang="en-US" sz="1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800" dirty="0">
                <a:solidFill>
                  <a:srgbClr val="800000"/>
                </a:solidFill>
                <a:latin typeface="Consolas" panose="020B0609020204030204" pitchFamily="49" charset="0"/>
              </a:rPr>
              <a:t>&lt;body&gt;</a:t>
            </a:r>
            <a:endParaRPr lang="en-US" sz="1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800" dirty="0">
                <a:solidFill>
                  <a:srgbClr val="800000"/>
                </a:solidFill>
                <a:latin typeface="Consolas" panose="020B0609020204030204" pitchFamily="49" charset="0"/>
              </a:rPr>
              <a:t>&lt;/body&gt;</a:t>
            </a:r>
            <a:endParaRPr lang="en-US" sz="1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800" dirty="0">
                <a:solidFill>
                  <a:srgbClr val="800000"/>
                </a:solidFill>
                <a:latin typeface="Consolas" panose="020B0609020204030204" pitchFamily="49" charset="0"/>
              </a:rPr>
              <a:t>&lt;/html&gt;</a:t>
            </a:r>
            <a:endParaRPr lang="en-US" sz="1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IN" sz="1800" dirty="0"/>
          </a:p>
        </p:txBody>
      </p:sp>
    </p:spTree>
    <p:extLst>
      <p:ext uri="{BB962C8B-B14F-4D97-AF65-F5344CB8AC3E}">
        <p14:creationId xmlns:p14="http://schemas.microsoft.com/office/powerpoint/2010/main" val="330111605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289EED-5E00-4474-A978-A62602B4AC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78194" y="365125"/>
            <a:ext cx="10075606" cy="480449"/>
          </a:xfrm>
        </p:spPr>
        <p:txBody>
          <a:bodyPr>
            <a:normAutofit fontScale="90000"/>
          </a:bodyPr>
          <a:lstStyle/>
          <a:p>
            <a:r>
              <a:rPr lang="en-IN" dirty="0"/>
              <a:t>Confirm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084358-B78F-4484-A1C5-890932339B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639097"/>
            <a:ext cx="5751871" cy="553786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&lt;html&gt;</a:t>
            </a: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&lt;head&gt;&lt;title&gt;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template</a:t>
            </a:r>
            <a:r>
              <a:rPr lang="en-US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&lt;/title&gt;</a:t>
            </a: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&lt;script&gt;</a:t>
            </a: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6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confirm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"do you want to continue"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 marL="0" indent="0">
              <a:buNone/>
            </a:pPr>
            <a:r>
              <a:rPr lang="en-US" sz="16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alert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 marL="0" indent="0">
              <a:buNone/>
            </a:pPr>
            <a:r>
              <a:rPr lang="en-US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&lt;/script&gt;</a:t>
            </a: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&lt;/head&gt;</a:t>
            </a: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&lt;body&gt;</a:t>
            </a: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&lt;/body&gt;</a:t>
            </a: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&lt;/html&gt;</a:t>
            </a: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en-IN" sz="16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5FC9E71-FB0B-4859-AB65-5CEF71BA1DF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4435" t="1" r="28387" b="38494"/>
          <a:stretch/>
        </p:blipFill>
        <p:spPr>
          <a:xfrm>
            <a:off x="5378246" y="0"/>
            <a:ext cx="6489290" cy="475881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B079E72-ABB7-454A-9A50-BADF057797EB}"/>
              </a:ext>
            </a:extLst>
          </p:cNvPr>
          <p:cNvSpPr txBox="1"/>
          <p:nvPr/>
        </p:nvSpPr>
        <p:spPr>
          <a:xfrm>
            <a:off x="1041400" y="5317067"/>
            <a:ext cx="875453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If user click on ok it will return true</a:t>
            </a:r>
          </a:p>
          <a:p>
            <a:r>
              <a:rPr lang="en-IN" dirty="0"/>
              <a:t>If you click on cancel it will return false</a:t>
            </a:r>
          </a:p>
        </p:txBody>
      </p:sp>
    </p:spTree>
    <p:extLst>
      <p:ext uri="{BB962C8B-B14F-4D97-AF65-F5344CB8AC3E}">
        <p14:creationId xmlns:p14="http://schemas.microsoft.com/office/powerpoint/2010/main" val="242962980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D424E6-C536-487E-A86E-DA6671EB55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49400" y="365126"/>
            <a:ext cx="9804400" cy="786342"/>
          </a:xfrm>
        </p:spPr>
        <p:txBody>
          <a:bodyPr/>
          <a:lstStyle/>
          <a:p>
            <a:r>
              <a:rPr lang="en-IN" dirty="0"/>
              <a:t>Location: To redirect user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D6891A-1337-4B83-AD85-EE761471C2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7134" y="1227667"/>
            <a:ext cx="10608734" cy="4949296"/>
          </a:xfrm>
        </p:spPr>
        <p:txBody>
          <a:bodyPr>
            <a:normAutofit fontScale="47500" lnSpcReduction="20000"/>
          </a:bodyPr>
          <a:lstStyle/>
          <a:p>
            <a:pPr marL="0" indent="0">
              <a:buNone/>
            </a:pPr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&lt;html&gt;</a:t>
            </a:r>
            <a:endParaRPr lang="en-IN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&lt;head&gt;</a:t>
            </a:r>
            <a:endParaRPr lang="en-IN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&lt;script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b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type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"text/</a:t>
            </a:r>
            <a:r>
              <a:rPr lang="en-IN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javascript</a:t>
            </a:r>
            <a:r>
              <a:rPr lang="en-I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IN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function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newLocation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pPr marL="0" indent="0">
              <a:buNone/>
            </a:pP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 </a:t>
            </a:r>
          </a:p>
          <a:p>
            <a:pPr marL="0" indent="0">
              <a:buNone/>
            </a:pPr>
            <a:r>
              <a:rPr lang="en-IN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window</a:t>
            </a:r>
            <a:r>
              <a:rPr lang="en-IN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location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"p.html"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buNone/>
            </a:pP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 marL="0" indent="0">
              <a:buNone/>
            </a:pPr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&lt;/script&gt;</a:t>
            </a:r>
            <a:endParaRPr lang="en-IN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&lt;/head&gt;</a:t>
            </a:r>
            <a:endParaRPr lang="en-IN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&lt;body&gt;</a:t>
            </a:r>
            <a:endParaRPr lang="en-IN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&lt;input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b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type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"button"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b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id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IN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btn</a:t>
            </a:r>
            <a:r>
              <a:rPr lang="en-I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b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value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"Change URL"</a:t>
            </a:r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IN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&lt;script&gt;</a:t>
            </a:r>
            <a:endParaRPr lang="en-IN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document</a:t>
            </a:r>
            <a:r>
              <a:rPr lang="en-IN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getElementById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IN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btn</a:t>
            </a:r>
            <a:r>
              <a:rPr lang="en-IN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).</a:t>
            </a:r>
            <a:r>
              <a:rPr lang="en-IN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addEventListener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"click"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IN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newLocation</a:t>
            </a:r>
            <a:r>
              <a:rPr lang="en-IN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IN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false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 marL="0" indent="0">
              <a:buNone/>
            </a:pPr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&lt;/script&gt;</a:t>
            </a:r>
            <a:endParaRPr lang="en-IN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&lt;/body&gt;</a:t>
            </a:r>
            <a:endParaRPr lang="en-IN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b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&lt;/html&gt;</a:t>
            </a:r>
            <a:endParaRPr lang="en-IN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b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endParaRPr lang="en-IN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4478374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19379A-39D0-4B67-8EF1-1FA157F584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3733" y="365126"/>
            <a:ext cx="4580468" cy="786342"/>
          </a:xfrm>
        </p:spPr>
        <p:txBody>
          <a:bodyPr>
            <a:normAutofit fontScale="90000"/>
          </a:bodyPr>
          <a:lstStyle/>
          <a:p>
            <a:r>
              <a:rPr lang="en-IN" dirty="0" err="1"/>
              <a:t>resizeBy-moveBy</a:t>
            </a:r>
            <a:br>
              <a:rPr lang="en-IN" dirty="0"/>
            </a:br>
            <a:r>
              <a:rPr lang="en-IN" dirty="0">
                <a:highlight>
                  <a:srgbClr val="FF0000"/>
                </a:highlight>
              </a:rPr>
              <a:t>works only in IE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79024F-E0F5-46B0-9532-886A6F94CA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0867" y="1253331"/>
            <a:ext cx="6426200" cy="4351338"/>
          </a:xfrm>
        </p:spPr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&lt;html&gt;</a:t>
            </a:r>
            <a:endParaRPr lang="en-IN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&lt;head&gt;</a:t>
            </a:r>
            <a:endParaRPr lang="en-IN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&lt;script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b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type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"text/</a:t>
            </a:r>
            <a:r>
              <a:rPr lang="en-IN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javascript</a:t>
            </a:r>
            <a:r>
              <a:rPr lang="en-I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IN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function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resizeWindow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pPr marL="0" indent="0">
              <a:buNone/>
            </a:pP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{  </a:t>
            </a:r>
            <a:r>
              <a:rPr lang="en-IN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window</a:t>
            </a:r>
            <a:r>
              <a:rPr lang="en-IN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resizeBy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50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IN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50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  }</a:t>
            </a:r>
          </a:p>
          <a:p>
            <a:pPr marL="0" indent="0">
              <a:buNone/>
            </a:pPr>
            <a:r>
              <a:rPr lang="en-IN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window</a:t>
            </a:r>
            <a:r>
              <a:rPr lang="en-IN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moveBy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50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IN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50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 marL="0" indent="0">
              <a:buNone/>
            </a:pPr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&lt;/script&gt;</a:t>
            </a:r>
            <a:endParaRPr lang="en-IN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&lt;/head&gt;</a:t>
            </a:r>
            <a:endParaRPr lang="en-IN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&lt;body&gt;</a:t>
            </a:r>
            <a:endParaRPr lang="en-IN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&lt;input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b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type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"button"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b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onclick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IN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resizeWindow</a:t>
            </a:r>
            <a:r>
              <a:rPr lang="en-I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()"</a:t>
            </a:r>
            <a:endParaRPr lang="en-IN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b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value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"Resize window"</a:t>
            </a:r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IN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b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&lt;/body&gt;</a:t>
            </a:r>
            <a:endParaRPr lang="en-IN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&lt;/html&gt;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</a:p>
          <a:p>
            <a:pPr marL="0" indent="0">
              <a:buNone/>
            </a:pPr>
            <a:endParaRPr lang="en-IN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1A692C0B-3203-44C5-A7B9-A50DFD99E2DE}"/>
              </a:ext>
            </a:extLst>
          </p:cNvPr>
          <p:cNvSpPr txBox="1">
            <a:spLocks/>
          </p:cNvSpPr>
          <p:nvPr/>
        </p:nvSpPr>
        <p:spPr>
          <a:xfrm>
            <a:off x="5791200" y="365126"/>
            <a:ext cx="4580468" cy="78634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700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dirty="0" err="1"/>
              <a:t>resizeTo-moveTo</a:t>
            </a:r>
            <a:endParaRPr lang="en-IN" dirty="0"/>
          </a:p>
          <a:p>
            <a:r>
              <a:rPr lang="en-IN" dirty="0">
                <a:highlight>
                  <a:srgbClr val="FF0000"/>
                </a:highlight>
              </a:rPr>
              <a:t>Works only in IE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ED79A9E-5B4D-46CA-8628-D3BBB41E4310}"/>
              </a:ext>
            </a:extLst>
          </p:cNvPr>
          <p:cNvSpPr txBox="1"/>
          <p:nvPr/>
        </p:nvSpPr>
        <p:spPr>
          <a:xfrm>
            <a:off x="5994400" y="1253331"/>
            <a:ext cx="6265333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err="1"/>
              <a:t>resizeTo-moveTo</a:t>
            </a:r>
            <a:r>
              <a:rPr lang="en-IN" dirty="0"/>
              <a:t> will work only one time as it is set to some value</a:t>
            </a:r>
          </a:p>
          <a:p>
            <a:endParaRPr lang="en-IN" dirty="0"/>
          </a:p>
          <a:p>
            <a:r>
              <a:rPr lang="en-IN" dirty="0" err="1"/>
              <a:t>resizeBy-moveBy</a:t>
            </a:r>
            <a:r>
              <a:rPr lang="en-IN" dirty="0"/>
              <a:t> is relative to current value so it will keep increasing by some value compare to previous value</a:t>
            </a:r>
          </a:p>
          <a:p>
            <a:endParaRPr lang="en-IN" dirty="0"/>
          </a:p>
          <a:p>
            <a:r>
              <a:rPr lang="en-IN" dirty="0"/>
              <a:t>Works </a:t>
            </a:r>
            <a:r>
              <a:rPr lang="en-IN"/>
              <a:t>only in IE</a:t>
            </a:r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5604526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4628A8-40E9-46C5-805A-4835CD0C33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1666" y="365125"/>
            <a:ext cx="9872133" cy="752475"/>
          </a:xfrm>
        </p:spPr>
        <p:txBody>
          <a:bodyPr/>
          <a:lstStyle/>
          <a:p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7866B8-841A-40A2-9A82-DF32EF4890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6467" y="1236133"/>
            <a:ext cx="10837333" cy="4940830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b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 </a:t>
            </a:r>
            <a:r>
              <a:rPr lang="en-US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setInterval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"alert('hi')"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1000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 </a:t>
            </a:r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//keep </a:t>
            </a:r>
            <a:r>
              <a:rPr lang="en-US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executeing</a:t>
            </a:r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 after 1000 millisecond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</a:t>
            </a:r>
            <a:r>
              <a:rPr lang="en-US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clearInterval</a:t>
            </a:r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(t)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b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b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IN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t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setTimeout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"alert('hi')"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IN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6000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 </a:t>
            </a:r>
            <a:r>
              <a:rPr lang="en-IN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</a:t>
            </a:r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execute one time after 60000 </a:t>
            </a:r>
            <a:r>
              <a:rPr lang="en-IN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millisecond</a:t>
            </a:r>
            <a:endParaRPr lang="en-IN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alert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t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 marL="0" indent="0">
              <a:buNone/>
            </a:pPr>
            <a:r>
              <a:rPr lang="en-IN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</a:t>
            </a:r>
            <a:r>
              <a:rPr lang="en-IN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clearTimeout</a:t>
            </a:r>
            <a:r>
              <a:rPr lang="en-IN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(t);</a:t>
            </a:r>
            <a:endParaRPr lang="en-IN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5966518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BEA69A-FF10-481A-A4E8-14F3BF210D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02266" y="124354"/>
            <a:ext cx="10100733" cy="574675"/>
          </a:xfrm>
        </p:spPr>
        <p:txBody>
          <a:bodyPr>
            <a:normAutofit fontScale="90000"/>
          </a:bodyPr>
          <a:lstStyle/>
          <a:p>
            <a:r>
              <a:rPr lang="en-IN" dirty="0"/>
              <a:t>Eval=Evaluate </a:t>
            </a:r>
            <a:r>
              <a:rPr lang="en-IN" dirty="0" err="1"/>
              <a:t>expresstion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46072D-83FF-478B-A01A-64E4DAD8CD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1068" y="1049867"/>
            <a:ext cx="7577666" cy="5127096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&lt;html&gt; //CSRF XSS</a:t>
            </a:r>
            <a:endParaRPr lang="en-IN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&lt;head&gt;&lt;title&gt;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template</a:t>
            </a:r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&lt;/title&gt;</a:t>
            </a:r>
            <a:endParaRPr lang="en-IN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&lt;script&gt;</a:t>
            </a:r>
            <a:endParaRPr lang="en-IN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"5+2-3"</a:t>
            </a:r>
            <a:endParaRPr lang="en-IN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document</a:t>
            </a:r>
            <a:r>
              <a:rPr lang="en-IN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write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 marL="0" indent="0">
              <a:buNone/>
            </a:pPr>
            <a:r>
              <a:rPr lang="en-IN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document</a:t>
            </a:r>
            <a:r>
              <a:rPr lang="en-IN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write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"&lt;</a:t>
            </a:r>
            <a:r>
              <a:rPr lang="en-IN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br</a:t>
            </a:r>
            <a:r>
              <a:rPr lang="en-IN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&gt;"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+</a:t>
            </a:r>
            <a:r>
              <a:rPr lang="en-IN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eval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))//4</a:t>
            </a:r>
          </a:p>
          <a:p>
            <a:pPr marL="0" indent="0">
              <a:buNone/>
            </a:pPr>
            <a:r>
              <a:rPr lang="en-IN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document</a:t>
            </a:r>
            <a:r>
              <a:rPr lang="en-IN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write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"&lt;</a:t>
            </a:r>
            <a:r>
              <a:rPr lang="en-IN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br</a:t>
            </a:r>
            <a:r>
              <a:rPr lang="en-IN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&gt;"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+</a:t>
            </a:r>
            <a:r>
              <a:rPr lang="en-IN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eval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"5+2-3*6/2"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))</a:t>
            </a:r>
          </a:p>
          <a:p>
            <a:pPr marL="0" indent="0">
              <a:buNone/>
            </a:pPr>
            <a:r>
              <a:rPr lang="en-IN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document</a:t>
            </a:r>
            <a:r>
              <a:rPr lang="en-IN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write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"&lt;</a:t>
            </a:r>
            <a:r>
              <a:rPr lang="en-IN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br</a:t>
            </a:r>
            <a:r>
              <a:rPr lang="en-IN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&gt;"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+</a:t>
            </a:r>
            <a:r>
              <a:rPr lang="en-IN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eval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"55+6"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))</a:t>
            </a:r>
          </a:p>
          <a:p>
            <a:pPr marL="0" indent="0">
              <a:buNone/>
            </a:pPr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&lt;/script&gt;</a:t>
            </a:r>
            <a:endParaRPr lang="en-IN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&lt;/head&gt;</a:t>
            </a:r>
            <a:endParaRPr lang="en-IN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&lt;body&gt;</a:t>
            </a:r>
            <a:endParaRPr lang="en-IN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&lt;/body&gt;</a:t>
            </a:r>
            <a:endParaRPr lang="en-IN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&lt;/html&gt;</a:t>
            </a:r>
            <a:endParaRPr lang="en-IN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en-IN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5699848-6B49-4F12-8715-357BC0315830}"/>
              </a:ext>
            </a:extLst>
          </p:cNvPr>
          <p:cNvSpPr/>
          <p:nvPr/>
        </p:nvSpPr>
        <p:spPr>
          <a:xfrm>
            <a:off x="8377084" y="1"/>
            <a:ext cx="2998839" cy="168131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5+2-3*6/2</a:t>
            </a:r>
          </a:p>
          <a:p>
            <a:pPr algn="ctr"/>
            <a:r>
              <a:rPr lang="en-IN" dirty="0"/>
              <a:t>5+2-18/2</a:t>
            </a:r>
          </a:p>
          <a:p>
            <a:pPr algn="ctr"/>
            <a:r>
              <a:rPr lang="en-IN" dirty="0"/>
              <a:t>5+2-9</a:t>
            </a:r>
          </a:p>
          <a:p>
            <a:pPr algn="ctr"/>
            <a:r>
              <a:rPr lang="en-IN" dirty="0"/>
              <a:t>7-9</a:t>
            </a:r>
          </a:p>
          <a:p>
            <a:pPr algn="ctr"/>
            <a:r>
              <a:rPr lang="en-IN" dirty="0"/>
              <a:t>-2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566604F-44AF-FD27-1C65-C402588BE21A}"/>
              </a:ext>
            </a:extLst>
          </p:cNvPr>
          <p:cNvSpPr txBox="1"/>
          <p:nvPr/>
        </p:nvSpPr>
        <p:spPr>
          <a:xfrm>
            <a:off x="7964130" y="2127098"/>
            <a:ext cx="3991896" cy="48013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&lt;!</a:t>
            </a:r>
            <a:r>
              <a:rPr lang="en-IN" dirty="0" err="1"/>
              <a:t>doctypehtml</a:t>
            </a:r>
            <a:r>
              <a:rPr lang="en-IN" dirty="0"/>
              <a:t>&gt;</a:t>
            </a:r>
          </a:p>
          <a:p>
            <a:r>
              <a:rPr lang="en-IN" dirty="0"/>
              <a:t>&lt;html&gt;&lt;head&gt;&lt;script&gt;</a:t>
            </a:r>
          </a:p>
          <a:p>
            <a:r>
              <a:rPr lang="en-IN" dirty="0"/>
              <a:t>var </a:t>
            </a:r>
            <a:r>
              <a:rPr lang="en-IN" dirty="0" err="1"/>
              <a:t>i</a:t>
            </a:r>
            <a:r>
              <a:rPr lang="en-IN" dirty="0"/>
              <a:t>;</a:t>
            </a:r>
          </a:p>
          <a:p>
            <a:r>
              <a:rPr lang="en-IN" dirty="0"/>
              <a:t>var no1=prompt("enter no1","5");</a:t>
            </a:r>
          </a:p>
          <a:p>
            <a:r>
              <a:rPr lang="en-IN" dirty="0"/>
              <a:t>var no2=prompt("enter no2","5");</a:t>
            </a:r>
          </a:p>
          <a:p>
            <a:r>
              <a:rPr lang="en-IN" dirty="0"/>
              <a:t>var no3=prompt("enter no3","5");</a:t>
            </a:r>
          </a:p>
          <a:p>
            <a:r>
              <a:rPr lang="en-IN" dirty="0"/>
              <a:t>var no4=prompt("enter no4","5");</a:t>
            </a:r>
          </a:p>
          <a:p>
            <a:r>
              <a:rPr lang="en-IN" dirty="0"/>
              <a:t>var no5=prompt("enter no5","5");</a:t>
            </a:r>
          </a:p>
          <a:p>
            <a:r>
              <a:rPr lang="en-IN" dirty="0"/>
              <a:t>for(</a:t>
            </a:r>
            <a:r>
              <a:rPr lang="en-IN" dirty="0" err="1"/>
              <a:t>i</a:t>
            </a:r>
            <a:r>
              <a:rPr lang="en-IN" dirty="0"/>
              <a:t>=1;i&lt;=5;i++)</a:t>
            </a:r>
          </a:p>
          <a:p>
            <a:r>
              <a:rPr lang="en-IN" dirty="0"/>
              <a:t>{</a:t>
            </a:r>
            <a:r>
              <a:rPr lang="en-IN" dirty="0" err="1"/>
              <a:t>document.write</a:t>
            </a:r>
            <a:r>
              <a:rPr lang="en-IN" dirty="0"/>
              <a:t>("no"+</a:t>
            </a:r>
            <a:r>
              <a:rPr lang="en-IN" dirty="0" err="1"/>
              <a:t>i</a:t>
            </a:r>
            <a:r>
              <a:rPr lang="en-IN" dirty="0"/>
              <a:t>);</a:t>
            </a:r>
          </a:p>
          <a:p>
            <a:r>
              <a:rPr lang="en-IN" dirty="0"/>
              <a:t> </a:t>
            </a:r>
            <a:r>
              <a:rPr lang="en-IN" dirty="0" err="1"/>
              <a:t>document.write</a:t>
            </a:r>
            <a:r>
              <a:rPr lang="en-IN" dirty="0"/>
              <a:t>(eval("no"+</a:t>
            </a:r>
            <a:r>
              <a:rPr lang="en-IN" dirty="0" err="1"/>
              <a:t>i</a:t>
            </a:r>
            <a:r>
              <a:rPr lang="en-IN" dirty="0"/>
              <a:t>));</a:t>
            </a:r>
          </a:p>
          <a:p>
            <a:r>
              <a:rPr lang="en-IN" dirty="0"/>
              <a:t>//</a:t>
            </a:r>
            <a:r>
              <a:rPr lang="en-IN" dirty="0" err="1"/>
              <a:t>document.write</a:t>
            </a:r>
            <a:r>
              <a:rPr lang="en-IN" dirty="0"/>
              <a:t>("&lt;hr/&gt;");</a:t>
            </a:r>
          </a:p>
          <a:p>
            <a:r>
              <a:rPr lang="en-IN" dirty="0" err="1"/>
              <a:t>document.write</a:t>
            </a:r>
            <a:r>
              <a:rPr lang="en-IN" dirty="0"/>
              <a:t>("&lt;/</a:t>
            </a:r>
            <a:r>
              <a:rPr lang="en-IN" dirty="0" err="1"/>
              <a:t>br</a:t>
            </a:r>
            <a:r>
              <a:rPr lang="en-IN" dirty="0"/>
              <a:t>&gt;");</a:t>
            </a:r>
          </a:p>
          <a:p>
            <a:r>
              <a:rPr lang="en-IN" dirty="0"/>
              <a:t>}</a:t>
            </a:r>
          </a:p>
          <a:p>
            <a:r>
              <a:rPr lang="en-IN" dirty="0"/>
              <a:t>&lt;/script&gt;</a:t>
            </a:r>
          </a:p>
          <a:p>
            <a:r>
              <a:rPr lang="en-IN" dirty="0"/>
              <a:t>&lt;/head&gt;</a:t>
            </a:r>
          </a:p>
          <a:p>
            <a:r>
              <a:rPr lang="en-IN" dirty="0"/>
              <a:t>&lt;/html&gt;</a:t>
            </a:r>
          </a:p>
        </p:txBody>
      </p:sp>
    </p:spTree>
    <p:extLst>
      <p:ext uri="{BB962C8B-B14F-4D97-AF65-F5344CB8AC3E}">
        <p14:creationId xmlns:p14="http://schemas.microsoft.com/office/powerpoint/2010/main" val="163738567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989F19-63E7-4FBF-910D-C7E97C6C1A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1781" y="796413"/>
            <a:ext cx="10872019" cy="5380550"/>
          </a:xfrm>
        </p:spPr>
        <p:txBody>
          <a:bodyPr>
            <a:normAutofit fontScale="92500" lnSpcReduction="20000"/>
          </a:bodyPr>
          <a:lstStyle/>
          <a:p>
            <a:endParaRPr lang="en-US" dirty="0"/>
          </a:p>
          <a:p>
            <a:pPr marL="0" indent="0">
              <a:buNone/>
            </a:pPr>
            <a:r>
              <a:rPr lang="en-US" b="1" dirty="0" err="1"/>
              <a:t>win.scrollBy</a:t>
            </a:r>
            <a:r>
              <a:rPr lang="en-US" b="1" dirty="0"/>
              <a:t>(</a:t>
            </a:r>
            <a:r>
              <a:rPr lang="en-US" b="1" dirty="0" err="1"/>
              <a:t>x,y</a:t>
            </a:r>
            <a:r>
              <a:rPr lang="en-US" b="1" dirty="0"/>
              <a:t>)</a:t>
            </a:r>
          </a:p>
          <a:p>
            <a:r>
              <a:rPr lang="en-US" dirty="0"/>
              <a:t>    Scroll the window x pixels right and y down relative the current scroll. Negative values are allowed.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b="1" dirty="0" err="1"/>
              <a:t>win.scrollTo</a:t>
            </a:r>
            <a:r>
              <a:rPr lang="en-US" b="1" dirty="0"/>
              <a:t>(</a:t>
            </a:r>
            <a:r>
              <a:rPr lang="en-US" b="1" dirty="0" err="1"/>
              <a:t>x,y</a:t>
            </a:r>
            <a:r>
              <a:rPr lang="en-US" b="1" dirty="0"/>
              <a:t>)</a:t>
            </a:r>
          </a:p>
          <a:p>
            <a:r>
              <a:rPr lang="en-US" dirty="0"/>
              <a:t>    Scroll the window to the given coordinates (</a:t>
            </a:r>
            <a:r>
              <a:rPr lang="en-US" dirty="0" err="1"/>
              <a:t>x,y</a:t>
            </a:r>
            <a:r>
              <a:rPr lang="en-US" dirty="0"/>
              <a:t>).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b="1" dirty="0" err="1"/>
              <a:t>elem.scrollIntoView</a:t>
            </a:r>
            <a:r>
              <a:rPr lang="en-US" b="1" dirty="0"/>
              <a:t>(top = true)</a:t>
            </a:r>
          </a:p>
          <a:p>
            <a:r>
              <a:rPr lang="en-US" dirty="0"/>
              <a:t>    Scroll the window to make </a:t>
            </a:r>
            <a:r>
              <a:rPr lang="en-US" dirty="0" err="1"/>
              <a:t>elem</a:t>
            </a:r>
            <a:r>
              <a:rPr lang="en-US" dirty="0"/>
              <a:t> show up at the top (the default) or at the bottom for </a:t>
            </a:r>
            <a:r>
              <a:rPr lang="en-US" dirty="0" err="1"/>
              <a:t>elem.scrollIntoView</a:t>
            </a:r>
            <a:r>
              <a:rPr lang="en-US" dirty="0"/>
              <a:t>(</a:t>
            </a:r>
            <a:r>
              <a:rPr lang="en-US"/>
              <a:t>false).</a:t>
            </a:r>
          </a:p>
          <a:p>
            <a:endParaRPr lang="en-US" dirty="0"/>
          </a:p>
          <a:p>
            <a:r>
              <a:rPr lang="en-US" dirty="0"/>
              <a:t>There’s also </a:t>
            </a:r>
            <a:r>
              <a:rPr lang="en-US" dirty="0" err="1"/>
              <a:t>window.onscroll</a:t>
            </a:r>
            <a:r>
              <a:rPr lang="en-US" dirty="0"/>
              <a:t> event.</a:t>
            </a:r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D80994F-C264-48A0-B028-8D5DA6D88B7C}"/>
              </a:ext>
            </a:extLst>
          </p:cNvPr>
          <p:cNvSpPr txBox="1"/>
          <p:nvPr/>
        </p:nvSpPr>
        <p:spPr>
          <a:xfrm>
            <a:off x="3028336" y="0"/>
            <a:ext cx="6135328" cy="4801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Scrolling a window</a:t>
            </a:r>
          </a:p>
        </p:txBody>
      </p:sp>
    </p:spTree>
    <p:extLst>
      <p:ext uri="{BB962C8B-B14F-4D97-AF65-F5344CB8AC3E}">
        <p14:creationId xmlns:p14="http://schemas.microsoft.com/office/powerpoint/2010/main" val="308536506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>
            <a:extLst>
              <a:ext uri="{FF2B5EF4-FFF2-40B4-BE49-F238E27FC236}">
                <a16:creationId xmlns:a16="http://schemas.microsoft.com/office/drawing/2014/main" id="{F713410E-F294-4CA4-A932-69C5DA9318F9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04879" y="874008"/>
            <a:ext cx="11833121" cy="60016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 bmk="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Regular elements can be scrolled by changing </a:t>
            </a:r>
            <a:r>
              <a:rPr kumimoji="0" lang="en-US" altLang="en-US" sz="1800" b="1" i="0" u="none" strike="noStrike" cap="none" normalizeH="0" baseline="0" dirty="0" err="1" bmk="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scrollTop</a:t>
            </a:r>
            <a:r>
              <a:rPr kumimoji="0" lang="en-US" altLang="en-US" sz="1800" b="1" i="0" u="none" strike="noStrike" cap="none" normalizeH="0" baseline="0" dirty="0" bmk="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/</a:t>
            </a:r>
            <a:r>
              <a:rPr kumimoji="0" lang="en-US" altLang="en-US" sz="1800" b="1" i="0" u="none" strike="noStrike" cap="none" normalizeH="0" baseline="0" dirty="0" err="1" bmk="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scrollLeft</a:t>
            </a:r>
            <a:r>
              <a:rPr kumimoji="0" lang="en-US" altLang="en-US" sz="1400" b="1" i="0" u="none" strike="noStrike" cap="none" normalizeH="0" baseline="0" dirty="0" bmk="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  <a:endParaRPr kumimoji="0" lang="en-US" altLang="en-US" sz="4000" b="1" i="0" u="none" strike="noStrike" cap="none" normalizeH="0" baseline="0" dirty="0" bmk="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 bmk="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We can do the same for the page using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 bmk="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1" u="none" strike="noStrike" cap="none" normalizeH="0" baseline="0" dirty="0" err="1" bmk="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document.documentElement.scrollTop</a:t>
            </a:r>
            <a:r>
              <a:rPr kumimoji="0" lang="en-US" altLang="en-US" sz="1800" b="0" i="1" u="none" strike="noStrike" cap="none" normalizeH="0" baseline="0" dirty="0" bmk="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/</a:t>
            </a:r>
            <a:r>
              <a:rPr kumimoji="0" lang="en-US" altLang="en-US" sz="1800" b="0" i="1" u="none" strike="noStrike" cap="none" normalizeH="0" baseline="0" dirty="0" err="1" bmk="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scrollLeft</a:t>
            </a:r>
            <a:r>
              <a:rPr kumimoji="0" lang="en-US" altLang="en-US" sz="1800" b="0" i="1" u="none" strike="noStrike" cap="none" normalizeH="0" baseline="0" dirty="0" bmk="">
                <a:ln>
                  <a:noFill/>
                </a:ln>
                <a:solidFill>
                  <a:schemeClr val="tx1"/>
                </a:solidFill>
                <a:effectLst/>
              </a:rPr>
              <a:t> (except Safari, where </a:t>
            </a:r>
            <a:r>
              <a:rPr kumimoji="0" lang="en-US" altLang="en-US" sz="1800" b="0" i="1" u="none" strike="noStrike" cap="none" normalizeH="0" baseline="0" dirty="0" err="1" bmk="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document.body.scrollTop</a:t>
            </a:r>
            <a:r>
              <a:rPr kumimoji="0" lang="en-US" altLang="en-US" sz="1800" b="0" i="1" u="none" strike="noStrike" cap="none" normalizeH="0" baseline="0" dirty="0" bmk="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/Left</a:t>
            </a:r>
            <a:r>
              <a:rPr kumimoji="0" lang="en-US" altLang="en-US" sz="1800" b="0" i="1" u="none" strike="noStrike" cap="none" normalizeH="0" baseline="0" dirty="0" bmk="">
                <a:ln>
                  <a:noFill/>
                </a:ln>
                <a:solidFill>
                  <a:schemeClr val="tx1"/>
                </a:solidFill>
                <a:effectLst/>
              </a:rPr>
              <a:t> should be used instead).</a:t>
            </a:r>
            <a:endParaRPr kumimoji="0" lang="en-US" altLang="en-US" sz="1800" b="0" i="1" u="none" strike="noStrike" cap="none" normalizeH="0" baseline="0" dirty="0" bmk="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 bmk="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Alternatively, there’s a simpler, universal solution: special methods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 bmk="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bmk="">
                <a:ln>
                  <a:noFill/>
                </a:ln>
                <a:solidFill>
                  <a:schemeClr val="accent1"/>
                </a:solidFill>
                <a:effectLst/>
                <a:latin typeface="Arial" panose="020B0604020202020204" pitchFamily="34" charset="0"/>
              </a:rPr>
              <a:t>window.scrollBy(</a:t>
            </a:r>
            <a:r>
              <a:rPr kumimoji="0" lang="en-US" altLang="en-US" sz="1800" b="0" i="0" u="none" strike="noStrike" cap="none" normalizeH="0" baseline="0" dirty="0" err="1" bmk="">
                <a:ln>
                  <a:noFill/>
                </a:ln>
                <a:solidFill>
                  <a:schemeClr val="accent1"/>
                </a:solidFill>
                <a:effectLst/>
                <a:latin typeface="Arial" panose="020B0604020202020204" pitchFamily="34" charset="0"/>
              </a:rPr>
              <a:t>x,y</a:t>
            </a:r>
            <a:r>
              <a:rPr kumimoji="0" lang="en-US" altLang="en-US" sz="1800" b="0" i="0" u="none" strike="noStrike" cap="none" normalizeH="0" baseline="0" dirty="0" bmk="">
                <a:ln>
                  <a:noFill/>
                </a:ln>
                <a:solidFill>
                  <a:schemeClr val="accent1"/>
                </a:solidFill>
                <a:effectLst/>
                <a:latin typeface="Arial" panose="020B0604020202020204" pitchFamily="34" charset="0"/>
              </a:rPr>
              <a:t>)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 bmk="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And</a:t>
            </a:r>
            <a:endParaRPr kumimoji="0" lang="en-US" altLang="en-US" sz="1800" b="0" i="0" u="none" strike="noStrike" cap="none" normalizeH="0" baseline="0" dirty="0" bmk="">
              <a:ln>
                <a:noFill/>
              </a:ln>
              <a:solidFill>
                <a:schemeClr val="accent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 bmk="">
                <a:ln>
                  <a:noFill/>
                </a:ln>
                <a:solidFill>
                  <a:schemeClr val="accent1"/>
                </a:solidFill>
                <a:effectLst/>
                <a:latin typeface="Arial" panose="020B0604020202020204" pitchFamily="34" charset="0"/>
              </a:rPr>
              <a:t> window.scrollTo(pageX,pageY).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 bmk="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bmk="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method </a:t>
            </a:r>
            <a:r>
              <a:rPr kumimoji="0" lang="en-US" altLang="en-US" sz="1800" b="1" i="0" u="none" strike="noStrike" cap="none" normalizeH="0" baseline="0" dirty="0" err="1" bmk="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scrollBy</a:t>
            </a:r>
            <a:r>
              <a:rPr kumimoji="0" lang="en-US" altLang="en-US" sz="1800" b="1" i="0" u="none" strike="noStrike" cap="none" normalizeH="0" baseline="0" dirty="0" bmk="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(</a:t>
            </a:r>
            <a:r>
              <a:rPr kumimoji="0" lang="en-US" altLang="en-US" sz="1800" b="1" i="0" u="none" strike="noStrike" cap="none" normalizeH="0" baseline="0" dirty="0" err="1" bmk="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x,y</a:t>
            </a:r>
            <a:r>
              <a:rPr kumimoji="0" lang="en-US" altLang="en-US" sz="1800" b="1" i="0" u="none" strike="noStrike" cap="none" normalizeH="0" baseline="0" dirty="0" bmk="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)</a:t>
            </a:r>
            <a:r>
              <a:rPr kumimoji="0" lang="en-US" altLang="en-US" sz="1400" b="1" i="0" u="none" strike="noStrike" cap="none" normalizeH="0" baseline="0" dirty="0" bmk="">
                <a:ln>
                  <a:noFill/>
                </a:ln>
                <a:solidFill>
                  <a:schemeClr val="tx1"/>
                </a:solidFill>
                <a:effectLst/>
              </a:rPr>
              <a:t> scrolls the page </a:t>
            </a:r>
            <a:r>
              <a:rPr kumimoji="0" lang="en-US" altLang="en-US" sz="1800" b="0" i="1" u="none" strike="noStrike" cap="none" normalizeH="0" baseline="0" dirty="0" bmk="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relative to its current position</a:t>
            </a:r>
            <a:r>
              <a:rPr kumimoji="0" lang="en-US" altLang="en-US" sz="1800" b="0" i="0" u="none" strike="noStrike" cap="none" normalizeH="0" baseline="0" dirty="0" bmk="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bmk="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For instance</a:t>
            </a:r>
            <a:r>
              <a:rPr kumimoji="0" lang="en-US" altLang="en-US" sz="2400" b="0" i="0" u="none" strike="noStrike" cap="none" normalizeH="0" baseline="0" dirty="0" bmk="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en-US" altLang="en-US" sz="1800" b="1" i="0" u="none" strike="noStrike" cap="none" normalizeH="0" baseline="0" dirty="0" err="1" bmk="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scrollBy</a:t>
            </a:r>
            <a:r>
              <a:rPr kumimoji="0" lang="en-US" altLang="en-US" sz="1800" b="1" i="0" u="none" strike="noStrike" cap="none" normalizeH="0" baseline="0" dirty="0" bmk="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(0,10)</a:t>
            </a:r>
            <a:r>
              <a:rPr kumimoji="0" lang="en-US" altLang="en-US" sz="1800" b="1" i="0" u="none" strike="noStrike" cap="none" normalizeH="0" baseline="0" dirty="0" bmk="">
                <a:ln>
                  <a:noFill/>
                </a:ln>
                <a:solidFill>
                  <a:schemeClr val="tx1"/>
                </a:solidFill>
                <a:effectLst/>
              </a:rPr>
              <a:t> scrolls the page </a:t>
            </a:r>
            <a:r>
              <a:rPr kumimoji="0" lang="en-US" altLang="en-US" sz="1800" b="1" i="0" u="none" strike="noStrike" cap="none" normalizeH="0" baseline="0" dirty="0" bmk="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10px</a:t>
            </a:r>
            <a:r>
              <a:rPr kumimoji="0" lang="en-US" altLang="en-US" sz="1800" b="1" i="0" u="none" strike="noStrike" cap="none" normalizeH="0" baseline="0" dirty="0" bmk="">
                <a:ln>
                  <a:noFill/>
                </a:ln>
                <a:solidFill>
                  <a:schemeClr val="tx1"/>
                </a:solidFill>
                <a:effectLst/>
              </a:rPr>
              <a:t> down.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 bmk="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kumimoji="0" lang="en-US" altLang="en-US" sz="1800" b="1" i="0" u="none" strike="noStrike" cap="none" normalizeH="0" baseline="0" dirty="0" bmk="">
                <a:ln>
                  <a:noFill/>
                </a:ln>
                <a:solidFill>
                  <a:schemeClr val="accent1"/>
                </a:solidFill>
                <a:effectLst/>
                <a:latin typeface="Arial" panose="020B0604020202020204" pitchFamily="34" charset="0"/>
              </a:rPr>
              <a:t>&lt;button onclick="window.scrollBy(0,10)"&gt;window.scrollBy(0,10)&lt;/button&gt;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 bmk="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bmk="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method </a:t>
            </a:r>
            <a:r>
              <a:rPr kumimoji="0" lang="en-US" altLang="en-US" sz="1800" b="0" i="0" u="none" strike="noStrike" cap="none" normalizeH="0" baseline="0" dirty="0" bmk="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scrollTo(pageX,pageY)</a:t>
            </a:r>
            <a:r>
              <a:rPr kumimoji="0" lang="en-US" altLang="en-US" sz="1800" b="0" i="0" u="none" strike="noStrike" cap="none" normalizeH="0" baseline="0" dirty="0" bmk="">
                <a:ln>
                  <a:noFill/>
                </a:ln>
                <a:solidFill>
                  <a:schemeClr val="tx1"/>
                </a:solidFill>
                <a:effectLst/>
              </a:rPr>
              <a:t> scrolls the page </a:t>
            </a:r>
            <a:r>
              <a:rPr kumimoji="0" lang="en-US" altLang="en-US" sz="1800" b="0" i="1" u="none" strike="noStrike" cap="none" normalizeH="0" baseline="0" dirty="0" bmk="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 absolute coordinates</a:t>
            </a:r>
            <a:r>
              <a:rPr kumimoji="0" lang="en-US" altLang="en-US" sz="1800" b="0" i="0" u="none" strike="noStrike" cap="none" normalizeH="0" baseline="0" dirty="0" bmk="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1" i="0" u="none" strike="noStrike" cap="none" normalizeH="0" baseline="0" dirty="0" bmk="">
                <a:ln>
                  <a:noFill/>
                </a:ln>
                <a:solidFill>
                  <a:schemeClr val="accent1"/>
                </a:solidFill>
                <a:effectLst/>
                <a:latin typeface="Arial" panose="020B0604020202020204" pitchFamily="34" charset="0"/>
              </a:rPr>
              <a:t>&lt;button onclick="window.scrollTo(0,0)"&gt;window.scrollTo(0,0)&lt;/button&gt;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 bmk="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bmk="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so that the top-left corner of the visible part has coordinates </a:t>
            </a:r>
            <a:r>
              <a:rPr kumimoji="0" lang="en-US" altLang="en-US" sz="1800" b="0" i="0" u="none" strike="noStrike" cap="none" normalizeH="0" baseline="0" dirty="0" bmk="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(</a:t>
            </a:r>
            <a:r>
              <a:rPr kumimoji="0" lang="en-US" altLang="en-US" sz="1800" b="0" i="0" u="none" strike="noStrike" cap="none" normalizeH="0" baseline="0" dirty="0" err="1" bmk="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pageX</a:t>
            </a:r>
            <a:r>
              <a:rPr kumimoji="0" lang="en-US" altLang="en-US" sz="1800" b="0" i="0" u="none" strike="noStrike" cap="none" normalizeH="0" baseline="0" dirty="0" bmk="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, </a:t>
            </a:r>
            <a:r>
              <a:rPr kumimoji="0" lang="en-US" altLang="en-US" sz="1800" b="0" i="0" u="none" strike="noStrike" cap="none" normalizeH="0" baseline="0" dirty="0" err="1" bmk="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pageY</a:t>
            </a:r>
            <a:r>
              <a:rPr kumimoji="0" lang="en-US" altLang="en-US" sz="1800" b="0" i="0" u="none" strike="noStrike" cap="none" normalizeH="0" baseline="0" dirty="0" bmk="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)</a:t>
            </a:r>
            <a:r>
              <a:rPr kumimoji="0" lang="en-US" altLang="en-US" sz="1800" b="0" i="0" u="none" strike="noStrike" cap="none" normalizeH="0" baseline="0" dirty="0" bmk="">
                <a:ln>
                  <a:noFill/>
                </a:ln>
                <a:solidFill>
                  <a:schemeClr val="tx1"/>
                </a:solidFill>
                <a:effectLst/>
              </a:rPr>
              <a:t> relative to the document’s top-left corner.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bmk="">
                <a:ln>
                  <a:noFill/>
                </a:ln>
                <a:solidFill>
                  <a:schemeClr val="tx1"/>
                </a:solidFill>
                <a:effectLst/>
              </a:rPr>
              <a:t>It’s like setting </a:t>
            </a:r>
            <a:r>
              <a:rPr kumimoji="0" lang="en-US" altLang="en-US" sz="1800" b="0" i="0" u="none" strike="noStrike" cap="none" normalizeH="0" baseline="0" dirty="0" err="1" bmk="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scrollLeft</a:t>
            </a:r>
            <a:r>
              <a:rPr kumimoji="0" lang="en-US" altLang="en-US" sz="1800" b="0" i="0" u="none" strike="noStrike" cap="none" normalizeH="0" baseline="0" dirty="0" bmk="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/</a:t>
            </a:r>
            <a:r>
              <a:rPr kumimoji="0" lang="en-US" altLang="en-US" sz="1800" b="0" i="0" u="none" strike="noStrike" cap="none" normalizeH="0" baseline="0" dirty="0" err="1" bmk="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scrollTop</a:t>
            </a:r>
            <a:r>
              <a:rPr kumimoji="0" lang="en-US" altLang="en-US" sz="1800" b="0" i="0" u="none" strike="noStrike" cap="none" normalizeH="0" baseline="0" dirty="0" bmk="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 bmk="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361DCEF-4874-418D-BB88-690612AE2236}"/>
              </a:ext>
            </a:extLst>
          </p:cNvPr>
          <p:cNvSpPr txBox="1"/>
          <p:nvPr/>
        </p:nvSpPr>
        <p:spPr>
          <a:xfrm>
            <a:off x="2597498" y="0"/>
            <a:ext cx="84707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S</a:t>
            </a:r>
            <a:r>
              <a:rPr kumimoji="0" lang="en-US" altLang="en-US" sz="1800" b="1" i="0" u="none" strike="noStrike" kern="1200" cap="none" spc="0" normalizeH="0" baseline="0" noProof="0" dirty="0" bmk="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crolling: scrollTo, </a:t>
            </a:r>
            <a:r>
              <a:rPr kumimoji="0" lang="en-US" altLang="en-US" sz="1800" b="1" i="0" u="none" strike="noStrike" kern="1200" cap="none" spc="0" normalizeH="0" baseline="0" noProof="0" dirty="0" err="1" bmk="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scrollBy</a:t>
            </a:r>
            <a:r>
              <a:rPr kumimoji="0" lang="en-US" altLang="en-US" sz="1800" b="1" i="0" u="none" strike="noStrike" kern="1200" cap="none" spc="0" normalizeH="0" baseline="0" noProof="0" dirty="0" bmk="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, scrollIntoView</a:t>
            </a:r>
            <a:endParaRPr kumimoji="0" lang="en-IN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3E5A059-496C-464B-B342-3CD0A6C2CF4C}"/>
              </a:ext>
            </a:extLst>
          </p:cNvPr>
          <p:cNvSpPr txBox="1"/>
          <p:nvPr/>
        </p:nvSpPr>
        <p:spPr>
          <a:xfrm>
            <a:off x="1123742" y="369332"/>
            <a:ext cx="8470760" cy="8002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000" b="1" i="0" u="none" strike="noStrike" kern="1200" cap="none" spc="0" normalizeH="0" baseline="0" noProof="0" dirty="0" bmk="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Important:</a:t>
            </a:r>
            <a:endParaRPr kumimoji="0" lang="en-US" altLang="en-US" sz="2400" b="1" i="0" u="none" strike="noStrike" kern="1200" cap="none" spc="0" normalizeH="0" baseline="0" noProof="0" dirty="0" bmk="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1200" cap="none" spc="0" normalizeH="0" baseline="0" noProof="0" dirty="0" bmk="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To scroll the page with JavaScript, its DOM must be fully built.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1200" cap="none" spc="0" normalizeH="0" baseline="0" noProof="0" dirty="0" bmk="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For instance, if we try to scroll the page with a script in </a:t>
            </a:r>
            <a:r>
              <a:rPr kumimoji="0" lang="en-US" altLang="en-US" sz="1000" b="0" i="0" u="none" strike="noStrike" kern="1200" cap="none" spc="0" normalizeH="0" baseline="0" noProof="0" dirty="0" bmk="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Unicode MS"/>
                <a:ea typeface="+mn-ea"/>
                <a:cs typeface="+mn-cs"/>
              </a:rPr>
              <a:t>&lt;head&gt;</a:t>
            </a:r>
            <a:r>
              <a:rPr kumimoji="0" lang="en-US" altLang="en-US" sz="800" b="0" i="0" u="none" strike="noStrike" kern="1200" cap="none" spc="0" normalizeH="0" baseline="0" noProof="0" dirty="0" bmk="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, it won’t work.</a:t>
            </a:r>
            <a:endParaRPr kumimoji="0" lang="en-US" altLang="en-US" sz="1800" b="0" i="0" u="none" strike="noStrike" kern="1200" cap="none" spc="0" normalizeH="0" baseline="0" noProof="0" dirty="0" bmk="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2967673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70CCD9-5939-46D4-8218-2F6FF4105B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8323" y="698090"/>
            <a:ext cx="11196484" cy="5606692"/>
          </a:xfrm>
        </p:spPr>
        <p:txBody>
          <a:bodyPr>
            <a:norm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1200" cap="none" spc="0" normalizeH="0" baseline="0" noProof="0" dirty="0" bmk="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To scroll to the very beginning, we can use </a:t>
            </a:r>
            <a:r>
              <a:rPr kumimoji="0" lang="en-US" altLang="en-US" sz="1900" b="0" i="1" u="none" strike="noStrike" kern="1200" cap="none" spc="0" normalizeH="0" baseline="0" noProof="0" dirty="0" bmk="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Unicode MS"/>
                <a:ea typeface="+mn-ea"/>
                <a:cs typeface="+mn-cs"/>
              </a:rPr>
              <a:t>scrollTo(0,0)</a:t>
            </a:r>
            <a:r>
              <a:rPr kumimoji="0" lang="en-US" altLang="en-US" sz="1900" b="0" i="1" u="none" strike="noStrike" kern="1200" cap="none" spc="0" normalizeH="0" baseline="0" noProof="0" dirty="0" bmk="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.</a:t>
            </a:r>
            <a:endParaRPr kumimoji="0" lang="en-US" altLang="en-US" sz="1900" b="0" i="1" u="none" strike="noStrike" kern="1200" cap="none" spc="0" normalizeH="0" baseline="0" noProof="0" dirty="0" bmk="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1200" cap="none" spc="0" normalizeH="0" baseline="0" noProof="0" dirty="0" bmk="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These methods work for all browsers the same way.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200" b="1" i="0" u="none" strike="noStrike" kern="1200" cap="none" spc="0" normalizeH="0" baseline="0" noProof="0" dirty="0" bmk="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200" b="1" i="0" u="none" strike="noStrike" kern="1200" cap="none" spc="0" normalizeH="0" baseline="0" noProof="0" dirty="0" bmk="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200" b="1" i="0" u="none" strike="noStrike" kern="1200" cap="none" spc="0" normalizeH="0" baseline="0" noProof="0" dirty="0" bmk="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scrollIntoView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200" b="1" i="0" u="none" strike="noStrike" kern="1200" cap="none" spc="0" normalizeH="0" baseline="0" noProof="0" dirty="0" bmk="">
              <a:ln>
                <a:noFill/>
              </a:ln>
              <a:solidFill>
                <a:schemeClr val="accent1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1200" cap="none" spc="0" normalizeH="0" baseline="0" noProof="0" dirty="0" bmk="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For completeness, let’s cover one more method</a:t>
            </a:r>
            <a:r>
              <a:rPr kumimoji="0" lang="en-US" altLang="en-US" sz="1800" b="0" i="0" u="none" strike="noStrike" kern="1200" cap="none" spc="0" normalizeH="0" baseline="0" noProof="0" dirty="0" bmk="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: </a:t>
            </a:r>
            <a:r>
              <a:rPr kumimoji="0" lang="en-US" altLang="en-US" sz="1800" b="0" i="0" u="none" strike="noStrike" kern="1200" cap="none" spc="0" normalizeH="0" baseline="0" noProof="0" dirty="0" bmk="">
                <a:ln>
                  <a:noFill/>
                </a:ln>
                <a:solidFill>
                  <a:srgbClr val="0563C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elem.scrollIntoView</a:t>
            </a:r>
            <a:r>
              <a:rPr kumimoji="0" lang="en-US" altLang="en-US" sz="1800" b="0" i="0" u="none" strike="noStrike" kern="1200" cap="none" spc="0" normalizeH="0" baseline="0" noProof="0" dirty="0" bmk="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(top</a:t>
            </a:r>
            <a:r>
              <a:rPr kumimoji="0" lang="en-US" altLang="en-US" sz="1800" b="0" i="0" u="none" strike="noStrike" kern="1200" cap="none" spc="0" normalizeH="0" baseline="0" noProof="0" dirty="0" bmk="">
                <a:ln>
                  <a:noFill/>
                </a:ln>
                <a:solidFill>
                  <a:srgbClr val="0563C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)</a:t>
            </a:r>
            <a:r>
              <a:rPr kumimoji="0" lang="en-US" altLang="en-US" sz="1800" b="0" i="0" u="none" strike="noStrike" kern="1200" cap="none" spc="0" normalizeH="0" baseline="0" noProof="0" dirty="0" bmk="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800" b="0" i="0" u="none" strike="noStrike" kern="1200" cap="none" spc="0" normalizeH="0" baseline="0" noProof="0" dirty="0" bmk="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1200" cap="none" spc="0" normalizeH="0" baseline="0" noProof="0" dirty="0" bmk="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The call to </a:t>
            </a:r>
            <a:r>
              <a:rPr kumimoji="0" lang="en-US" altLang="en-US" sz="1800" b="0" i="0" u="none" strike="noStrike" kern="1200" cap="none" spc="0" normalizeH="0" baseline="0" noProof="0" dirty="0" bmk="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Unicode MS"/>
                <a:ea typeface="+mn-ea"/>
                <a:cs typeface="+mn-cs"/>
              </a:rPr>
              <a:t>elem.scrollIntoView(top)</a:t>
            </a:r>
            <a:r>
              <a:rPr kumimoji="0" lang="en-US" altLang="en-US" sz="1800" b="0" i="0" u="none" strike="noStrike" kern="1200" cap="none" spc="0" normalizeH="0" baseline="0" noProof="0" dirty="0" bmk="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scrolls the page to make </a:t>
            </a:r>
            <a:r>
              <a:rPr kumimoji="0" lang="en-US" altLang="en-US" sz="1800" b="0" i="0" u="none" strike="noStrike" kern="1200" cap="none" spc="0" normalizeH="0" baseline="0" noProof="0" dirty="0" err="1" bmk="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Unicode MS"/>
                <a:ea typeface="+mn-ea"/>
                <a:cs typeface="+mn-cs"/>
              </a:rPr>
              <a:t>elem</a:t>
            </a:r>
            <a:r>
              <a:rPr kumimoji="0" lang="en-US" altLang="en-US" sz="1800" b="0" i="0" u="none" strike="noStrike" kern="1200" cap="none" spc="0" normalizeH="0" baseline="0" noProof="0" dirty="0" bmk="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visible. It has one argument:</a:t>
            </a:r>
            <a:endParaRPr kumimoji="0" lang="en-US" altLang="en-US" sz="1800" b="0" i="0" u="none" strike="noStrike" kern="1200" cap="none" spc="0" normalizeH="0" baseline="0" noProof="0" dirty="0" bmk="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r>
              <a:rPr kumimoji="0" lang="en-US" altLang="en-US" sz="1800" b="0" i="0" u="none" strike="noStrike" kern="1200" cap="none" spc="0" normalizeH="0" baseline="0" noProof="0" dirty="0" bmk="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If </a:t>
            </a:r>
            <a:r>
              <a:rPr kumimoji="0" lang="en-US" altLang="en-US" sz="1800" b="0" i="0" u="none" strike="noStrike" kern="1200" cap="none" spc="0" normalizeH="0" baseline="0" noProof="0" dirty="0" bmk="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Unicode MS"/>
                <a:ea typeface="+mn-ea"/>
                <a:cs typeface="+mn-cs"/>
              </a:rPr>
              <a:t>top=true</a:t>
            </a:r>
            <a:r>
              <a:rPr kumimoji="0" lang="en-US" altLang="en-US" sz="1800" b="0" i="0" u="none" strike="noStrike" kern="1200" cap="none" spc="0" normalizeH="0" baseline="0" noProof="0" dirty="0" bmk="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(that’s the default), then the page will be scrolled to make </a:t>
            </a:r>
            <a:r>
              <a:rPr kumimoji="0" lang="en-US" altLang="en-US" sz="1800" b="0" i="0" u="none" strike="noStrike" kern="1200" cap="none" spc="0" normalizeH="0" baseline="0" noProof="0" dirty="0" err="1" bmk="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Unicode MS"/>
                <a:ea typeface="+mn-ea"/>
                <a:cs typeface="+mn-cs"/>
              </a:rPr>
              <a:t>elem</a:t>
            </a:r>
            <a:r>
              <a:rPr kumimoji="0" lang="en-US" altLang="en-US" sz="1800" b="0" i="0" u="none" strike="noStrike" kern="1200" cap="none" spc="0" normalizeH="0" baseline="0" noProof="0" dirty="0" bmk="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appear on the top of the window.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endParaRPr lang="en-US" altLang="en-US" sz="1800" dirty="0" bmk="">
              <a:solidFill>
                <a:prstClr val="black"/>
              </a:solidFill>
              <a:latin typeface="Calibri" panose="020F0502020204030204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r>
              <a:rPr kumimoji="0" lang="en-US" altLang="en-US" sz="1800" b="0" i="0" u="none" strike="noStrike" kern="1200" cap="none" spc="0" normalizeH="0" baseline="0" noProof="0" dirty="0" bmk="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The upper edge of the element will be aligned with the window top.</a:t>
            </a:r>
            <a:r>
              <a:rPr kumimoji="0" lang="en-US" altLang="en-US" sz="1800" b="0" i="0" u="none" strike="noStrike" kern="1200" cap="none" spc="0" normalizeH="0" baseline="0" noProof="0" dirty="0" bmk="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endParaRPr kumimoji="0" lang="en-US" altLang="en-US" sz="1800" b="0" i="0" u="none" strike="noStrike" kern="1200" cap="none" spc="0" normalizeH="0" baseline="0" noProof="0" dirty="0" bmk="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r>
              <a:rPr kumimoji="0" lang="en-US" altLang="en-US" sz="1800" b="0" i="0" u="none" strike="noStrike" kern="1200" cap="none" spc="0" normalizeH="0" baseline="0" noProof="0" dirty="0" bmk="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If </a:t>
            </a:r>
            <a:r>
              <a:rPr kumimoji="0" lang="en-US" altLang="en-US" sz="1800" b="0" i="0" u="none" strike="noStrike" kern="1200" cap="none" spc="0" normalizeH="0" baseline="0" noProof="0" dirty="0" bmk="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Unicode MS"/>
                <a:ea typeface="+mn-ea"/>
                <a:cs typeface="+mn-cs"/>
              </a:rPr>
              <a:t>top=false</a:t>
            </a:r>
            <a:r>
              <a:rPr kumimoji="0" lang="en-US" altLang="en-US" sz="1800" b="0" i="0" u="none" strike="noStrike" kern="1200" cap="none" spc="0" normalizeH="0" baseline="0" noProof="0" dirty="0" bmk="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, then the page scrolls to make </a:t>
            </a:r>
            <a:r>
              <a:rPr kumimoji="0" lang="en-US" altLang="en-US" sz="1800" b="0" i="0" u="none" strike="noStrike" kern="1200" cap="none" spc="0" normalizeH="0" baseline="0" noProof="0" dirty="0" err="1" bmk="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Unicode MS"/>
                <a:ea typeface="+mn-ea"/>
                <a:cs typeface="+mn-cs"/>
              </a:rPr>
              <a:t>elem</a:t>
            </a:r>
            <a:r>
              <a:rPr kumimoji="0" lang="en-US" altLang="en-US" sz="1800" b="0" i="0" u="none" strike="noStrike" kern="1200" cap="none" spc="0" normalizeH="0" baseline="0" noProof="0" dirty="0" bmk="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appear at the bottom. The bottom edge of the element will be aligned with the window bottom.</a:t>
            </a:r>
            <a:r>
              <a:rPr kumimoji="0" lang="en-US" altLang="en-US" sz="1800" b="0" i="0" u="none" strike="noStrike" kern="1200" cap="none" spc="0" normalizeH="0" baseline="0" noProof="0" dirty="0" bmk="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endParaRPr kumimoji="0" lang="en-US" altLang="en-US" sz="1800" b="0" i="0" u="none" strike="noStrike" kern="1200" cap="none" spc="0" normalizeH="0" baseline="0" noProof="0" dirty="0" bmk="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1200" cap="none" spc="0" normalizeH="0" baseline="0" noProof="0" dirty="0" bmk="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The button below scrolls the page to position itself at the window top: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1" i="0" u="none" strike="noStrike" kern="1200" cap="none" spc="0" normalizeH="0" baseline="0" noProof="0" dirty="0" bmk="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&lt;button onclick="</a:t>
            </a:r>
            <a:r>
              <a:rPr kumimoji="0" lang="en-US" altLang="en-US" sz="1800" b="1" i="0" u="none" strike="noStrike" kern="1200" cap="none" spc="0" normalizeH="0" baseline="0" noProof="0" dirty="0" err="1" bmk="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this.scrollIntoView</a:t>
            </a:r>
            <a:r>
              <a:rPr kumimoji="0" lang="en-US" altLang="en-US" sz="1800" b="1" i="0" u="none" strike="noStrike" kern="1200" cap="none" spc="0" normalizeH="0" baseline="0" noProof="0" dirty="0" bmk="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()"&gt;</a:t>
            </a:r>
            <a:r>
              <a:rPr kumimoji="0" lang="en-US" altLang="en-US" sz="1800" b="1" i="0" u="none" strike="noStrike" kern="1200" cap="none" spc="0" normalizeH="0" baseline="0" noProof="0" dirty="0" err="1" bmk="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this.scrollIntoView</a:t>
            </a:r>
            <a:r>
              <a:rPr kumimoji="0" lang="en-US" altLang="en-US" sz="1800" b="1" i="0" u="none" strike="noStrike" kern="1200" cap="none" spc="0" normalizeH="0" baseline="0" noProof="0" dirty="0" bmk="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()&lt;/button&gt;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800" b="1" i="0" u="none" strike="noStrike" kern="1200" cap="none" spc="0" normalizeH="0" baseline="0" noProof="0" dirty="0" bmk="">
              <a:ln>
                <a:noFill/>
              </a:ln>
              <a:solidFill>
                <a:schemeClr val="accent1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1200" cap="none" spc="0" normalizeH="0" baseline="0" noProof="0" dirty="0" bmk="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And this button scrolls the page to position itself at the bottom: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1" i="1" u="none" strike="noStrike" kern="1200" cap="none" spc="0" normalizeH="0" baseline="0" noProof="0" dirty="0" bmk="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&lt;button onclick="</a:t>
            </a:r>
            <a:r>
              <a:rPr kumimoji="0" lang="en-US" altLang="en-US" sz="1800" b="1" i="1" u="none" strike="noStrike" kern="1200" cap="none" spc="0" normalizeH="0" baseline="0" noProof="0" dirty="0" err="1" bmk="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this.scrollIntoView</a:t>
            </a:r>
            <a:r>
              <a:rPr kumimoji="0" lang="en-US" altLang="en-US" sz="1800" b="1" i="1" u="none" strike="noStrike" kern="1200" cap="none" spc="0" normalizeH="0" baseline="0" noProof="0" dirty="0" bmk="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(false)"&gt;</a:t>
            </a:r>
            <a:r>
              <a:rPr kumimoji="0" lang="en-US" altLang="en-US" sz="1800" b="1" i="1" u="none" strike="noStrike" kern="1200" cap="none" spc="0" normalizeH="0" baseline="0" noProof="0" dirty="0" err="1" bmk="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this.scrollIntoView</a:t>
            </a:r>
            <a:r>
              <a:rPr kumimoji="0" lang="en-US" altLang="en-US" sz="1800" b="1" i="1" u="none" strike="noStrike" kern="1200" cap="none" spc="0" normalizeH="0" baseline="0" noProof="0" dirty="0" bmk="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(false)&lt;/button&gt;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altLang="en-US" sz="1800" dirty="0" bmk="">
              <a:solidFill>
                <a:prstClr val="black"/>
              </a:solidFill>
              <a:latin typeface="Arial" panose="020B0604020202020204" pitchFamily="34" charset="0"/>
            </a:endParaRP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9367512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1E7AA5-DFDF-45D3-B6EB-EA6B71187C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1781" y="727587"/>
            <a:ext cx="10872019" cy="5449376"/>
          </a:xfrm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400" b="0" i="0" u="none" strike="noStrike" kern="1200" cap="none" spc="0" normalizeH="0" baseline="0" noProof="0" dirty="0" bmk="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Sometimes we need to make the document “</a:t>
            </a:r>
            <a:r>
              <a:rPr kumimoji="0" lang="en-US" alt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highlight>
                  <a:srgbClr val="FFFF00"/>
                </a:highlight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unscrollabl</a:t>
            </a:r>
            <a:r>
              <a:rPr kumimoji="0" lang="en-US" alt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e</a:t>
            </a:r>
            <a:r>
              <a:rPr kumimoji="0" lang="en-US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”. For instance, when we need to cover the page with a large message requiring immediate attention, and we want the visitor to interact with that message, not with the document.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To make the document </a:t>
            </a:r>
            <a:r>
              <a:rPr kumimoji="0" lang="en-US" alt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unscrollable</a:t>
            </a:r>
            <a:r>
              <a:rPr kumimoji="0" lang="en-US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, it’s enough to set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400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Arial Unicode MS"/>
                <a:ea typeface="+mn-ea"/>
                <a:cs typeface="+mn-cs"/>
              </a:rPr>
              <a:t>document.body.style.overflow</a:t>
            </a:r>
            <a:r>
              <a:rPr kumimoji="0" lang="en-US" altLang="en-US" sz="14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Unicode MS"/>
                <a:ea typeface="+mn-ea"/>
                <a:cs typeface="+mn-cs"/>
              </a:rPr>
              <a:t> = "hidden"</a:t>
            </a:r>
            <a:r>
              <a:rPr kumimoji="0" lang="en-US" altLang="en-US" sz="14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400" b="1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&lt;button onclick="</a:t>
            </a:r>
            <a:r>
              <a:rPr kumimoji="0" lang="en-US" altLang="en-US" sz="1400" b="1" i="0" u="none" strike="noStrike" kern="1200" cap="none" spc="0" normalizeH="0" baseline="0" noProof="0" dirty="0" err="1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document.body.style.overflow</a:t>
            </a:r>
            <a:r>
              <a:rPr kumimoji="0" lang="en-US" altLang="en-US" sz="1400" b="1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= 'hidden'"&gt;</a:t>
            </a:r>
            <a:r>
              <a:rPr kumimoji="0" lang="en-US" altLang="en-US" sz="1400" b="1" i="0" u="none" strike="noStrike" kern="1200" cap="none" spc="0" normalizeH="0" baseline="0" noProof="0" dirty="0" err="1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document.body.style.overflow</a:t>
            </a:r>
            <a:r>
              <a:rPr kumimoji="0" lang="en-US" altLang="en-US" sz="1400" b="1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= ‘hidden’&lt;/button&gt;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altLang="en-US" sz="1400" dirty="0">
              <a:solidFill>
                <a:prstClr val="black"/>
              </a:solidFill>
              <a:latin typeface="Calibri" panose="020F0502020204030204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The page will “</a:t>
            </a:r>
            <a:r>
              <a:rPr kumimoji="0" lang="en-US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FFFF00"/>
                </a:highlight>
                <a:uLnTx/>
                <a:uFillTx/>
                <a:latin typeface="Calibri" panose="020F0502020204030204"/>
                <a:ea typeface="+mn-ea"/>
                <a:cs typeface="+mn-cs"/>
              </a:rPr>
              <a:t>freeze” at its current scroll position.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/>
            </a:pPr>
            <a:r>
              <a:rPr kumimoji="0" lang="en-US" alt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Unicode MS"/>
                <a:ea typeface="+mn-ea"/>
                <a:cs typeface="+mn-cs"/>
              </a:rPr>
              <a:t>document.body.style.overflow</a:t>
            </a:r>
            <a:r>
              <a:rPr kumimoji="0" lang="en-US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Unicode MS"/>
                <a:ea typeface="+mn-ea"/>
                <a:cs typeface="+mn-cs"/>
              </a:rPr>
              <a:t> = “ "</a:t>
            </a:r>
            <a:r>
              <a:rPr kumimoji="0" lang="en-US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. 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/>
            </a:pPr>
            <a:r>
              <a:rPr kumimoji="0" lang="en-US" altLang="en-US" sz="1400" b="1" i="1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&lt;button onclick="</a:t>
            </a:r>
            <a:r>
              <a:rPr kumimoji="0" lang="en-US" altLang="en-US" sz="1400" b="1" i="1" u="none" strike="noStrike" kern="1200" cap="none" spc="0" normalizeH="0" baseline="0" noProof="0" dirty="0" err="1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document.body.style.overflow</a:t>
            </a:r>
            <a:r>
              <a:rPr kumimoji="0" lang="en-US" altLang="en-US" sz="1400" b="1" i="1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= ''"&gt;</a:t>
            </a:r>
            <a:r>
              <a:rPr kumimoji="0" lang="en-US" altLang="en-US" sz="1400" b="1" i="1" u="none" strike="noStrike" kern="1200" cap="none" spc="0" normalizeH="0" baseline="0" noProof="0" dirty="0" err="1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document.body.style.overflow</a:t>
            </a:r>
            <a:r>
              <a:rPr kumimoji="0" lang="en-US" altLang="en-US" sz="1400" b="1" i="1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= ‘’&lt;/button&gt;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The first button freezes the scroll, while the second one releases it.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We can use the same technique to freeze the scroll for other elements, not just for </a:t>
            </a:r>
            <a:r>
              <a:rPr kumimoji="0" lang="en-US" alt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Unicode MS"/>
                <a:ea typeface="+mn-ea"/>
                <a:cs typeface="+mn-cs"/>
              </a:rPr>
              <a:t>document.body</a:t>
            </a:r>
            <a:r>
              <a:rPr kumimoji="0" lang="en-US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The drawback of the method is that </a:t>
            </a:r>
            <a:r>
              <a:rPr kumimoji="0" lang="en-US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FFFF00"/>
                </a:highlight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the scrollbar disappears</a:t>
            </a:r>
            <a:r>
              <a:rPr kumimoji="0" lang="en-US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. If it occupied some space, then that space is now free and the content “jumps” to fill it.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That looks a bit odd, but can be worked around if we compare </a:t>
            </a:r>
            <a:r>
              <a:rPr kumimoji="0" lang="en-US" alt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Unicode MS"/>
                <a:ea typeface="+mn-ea"/>
                <a:cs typeface="+mn-cs"/>
              </a:rPr>
              <a:t>clientWidth</a:t>
            </a:r>
            <a:r>
              <a:rPr kumimoji="0" lang="en-US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before and after the freeze.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altLang="en-US" sz="1400" dirty="0">
              <a:solidFill>
                <a:prstClr val="black"/>
              </a:solidFill>
              <a:latin typeface="Calibri" panose="020F0502020204030204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If it increased (the scrollbar disappeared), then add </a:t>
            </a:r>
            <a:r>
              <a:rPr kumimoji="0" lang="en-US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Unicode MS"/>
                <a:ea typeface="+mn-ea"/>
                <a:cs typeface="+mn-cs"/>
              </a:rPr>
              <a:t>padding</a:t>
            </a:r>
            <a:r>
              <a:rPr kumimoji="0" lang="en-US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to </a:t>
            </a:r>
            <a:r>
              <a:rPr kumimoji="0" lang="en-US" alt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Unicode MS"/>
                <a:ea typeface="+mn-ea"/>
                <a:cs typeface="+mn-cs"/>
              </a:rPr>
              <a:t>document.body</a:t>
            </a:r>
            <a:r>
              <a:rPr kumimoji="0" lang="en-US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in place of the scrollbar to keep the content width the same.</a:t>
            </a:r>
            <a:endParaRPr kumimoji="0" lang="en-US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  <a:p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3AEE9EB-8FD6-43DD-913A-EB8CEBF6EDE9}"/>
              </a:ext>
            </a:extLst>
          </p:cNvPr>
          <p:cNvSpPr txBox="1"/>
          <p:nvPr/>
        </p:nvSpPr>
        <p:spPr>
          <a:xfrm>
            <a:off x="3185652" y="110302"/>
            <a:ext cx="613532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1" i="0" u="none" strike="noStrike" kern="1200" cap="none" spc="0" normalizeH="0" baseline="0" noProof="0" dirty="0" bmk="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Forbid the scrolling</a:t>
            </a:r>
            <a:endParaRPr kumimoji="0" lang="en-US" altLang="en-US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7349965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1063</TotalTime>
  <Words>2033</Words>
  <Application>Microsoft Office PowerPoint</Application>
  <PresentationFormat>Widescreen</PresentationFormat>
  <Paragraphs>295</Paragraphs>
  <Slides>15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15</vt:i4>
      </vt:variant>
    </vt:vector>
  </HeadingPairs>
  <TitlesOfParts>
    <vt:vector size="25" baseType="lpstr">
      <vt:lpstr>Arial</vt:lpstr>
      <vt:lpstr>Arial Unicode MS</vt:lpstr>
      <vt:lpstr>Calibri</vt:lpstr>
      <vt:lpstr>Calibri Light</vt:lpstr>
      <vt:lpstr>Cambria</vt:lpstr>
      <vt:lpstr>Consolas</vt:lpstr>
      <vt:lpstr>Symbol</vt:lpstr>
      <vt:lpstr>Verdana</vt:lpstr>
      <vt:lpstr>Office Theme</vt:lpstr>
      <vt:lpstr>1_Office Theme</vt:lpstr>
      <vt:lpstr>PowerPoint Presentation</vt:lpstr>
      <vt:lpstr>Window class has many methods</vt:lpstr>
      <vt:lpstr>Open</vt:lpstr>
      <vt:lpstr>Definition and Usage The open() method is used to open a new browser window.  Syntax</vt:lpstr>
      <vt:lpstr>Prompt</vt:lpstr>
      <vt:lpstr>alert</vt:lpstr>
      <vt:lpstr>Confirm</vt:lpstr>
      <vt:lpstr>Location: To redirect user </vt:lpstr>
      <vt:lpstr>resizeBy-moveBy works only in IE</vt:lpstr>
      <vt:lpstr>PowerPoint Presentation</vt:lpstr>
      <vt:lpstr>Eval=Evaluate expresstion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Sriram Mantri vidyanidhi infotech academy</dc:creator>
  <cp:lastModifiedBy>sriram mantri vidyanidhi infotech academy</cp:lastModifiedBy>
  <cp:revision>86</cp:revision>
  <dcterms:created xsi:type="dcterms:W3CDTF">2020-09-09T03:29:17Z</dcterms:created>
  <dcterms:modified xsi:type="dcterms:W3CDTF">2024-12-03T10:37:20Z</dcterms:modified>
</cp:coreProperties>
</file>