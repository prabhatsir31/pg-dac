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65" r:id="rId2"/>
    <p:sldId id="256" r:id="rId3"/>
    <p:sldId id="266" r:id="rId4"/>
    <p:sldId id="267" r:id="rId5"/>
    <p:sldId id="268" r:id="rId6"/>
    <p:sldId id="269" r:id="rId7"/>
    <p:sldId id="270" r:id="rId8"/>
    <p:sldId id="289" r:id="rId9"/>
    <p:sldId id="272" r:id="rId10"/>
    <p:sldId id="271" r:id="rId11"/>
    <p:sldId id="277" r:id="rId12"/>
    <p:sldId id="273" r:id="rId13"/>
    <p:sldId id="285" r:id="rId14"/>
    <p:sldId id="274" r:id="rId15"/>
    <p:sldId id="287" r:id="rId16"/>
    <p:sldId id="275" r:id="rId17"/>
    <p:sldId id="276" r:id="rId18"/>
    <p:sldId id="278" r:id="rId19"/>
    <p:sldId id="288" r:id="rId20"/>
    <p:sldId id="279" r:id="rId21"/>
    <p:sldId id="280" r:id="rId22"/>
    <p:sldId id="286" r:id="rId23"/>
    <p:sldId id="281" r:id="rId24"/>
    <p:sldId id="282" r:id="rId25"/>
    <p:sldId id="283" r:id="rId26"/>
    <p:sldId id="284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5DDCB-A7DC-4798-B66E-F7B51266475B}" type="datetimeFigureOut">
              <a:rPr lang="en-IN" smtClean="0"/>
              <a:t>03-12-2024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59152B-5330-4193-B90B-FF91E3E417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148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59152B-5330-4193-B90B-FF91E3E4178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353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59152B-5330-4193-B90B-FF91E3E4178A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173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196C4-5FE2-4F01-A9A3-936D12BF1827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196C4-5FE2-4F01-A9A3-936D12BF1827}" type="datetimeFigureOut">
              <a:rPr lang="en-US" smtClean="0"/>
              <a:pPr/>
              <a:t>12/3/2024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661656-4792-4163-8C25-F75BA33EB9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4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1543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dirty="0" err="1"/>
              <a:t>Ketki</a:t>
            </a:r>
            <a:r>
              <a:rPr lang="en-IN" sz="1350" dirty="0"/>
              <a:t> Acharya</a:t>
            </a:r>
          </a:p>
          <a:p>
            <a:r>
              <a:rPr lang="en-IN" sz="1350" dirty="0"/>
              <a:t>From: SM VITA ATC of CDAC</a:t>
            </a:r>
          </a:p>
          <a:p>
            <a:r>
              <a:rPr lang="en-IN" sz="1350" dirty="0"/>
              <a:t>9769201036</a:t>
            </a:r>
          </a:p>
          <a:p>
            <a:r>
              <a:rPr lang="en-IN" sz="1350" dirty="0"/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3303597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Document Object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68D99-5F74-4EE2-9162-3E7DFB67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8467"/>
            <a:ext cx="7391400" cy="465667"/>
          </a:xfrm>
        </p:spPr>
        <p:txBody>
          <a:bodyPr>
            <a:noAutofit/>
          </a:bodyPr>
          <a:lstStyle/>
          <a:p>
            <a:r>
              <a:rPr lang="en-IN" sz="2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returns Object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9F02D-5317-4081-846A-D6E423F8C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465667"/>
            <a:ext cx="8763000" cy="36575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);//Object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ParagraphElement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nodeName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//name of node here is p tag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childNodes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nodeValue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//1st child ka data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childNodes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nodeName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)//#text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childNodes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nodeType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)//3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}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//entire data between tag P tag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5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onmouseOver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5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</a:t>
            </a:r>
            <a:r>
              <a:rPr lang="en-US" sz="15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Welcome</a:t>
            </a:r>
            <a:r>
              <a:rPr lang="en-US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&lt;b&gt;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to world of</a:t>
            </a:r>
            <a:r>
              <a:rPr lang="en-US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&lt;/b&gt;</a:t>
            </a:r>
            <a:r>
              <a:rPr lang="en-US" sz="15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Dom</a:t>
            </a:r>
            <a:r>
              <a:rPr lang="en-US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5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            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childNodes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[1].</a:t>
            </a:r>
            <a:r>
              <a:rPr lang="en-IN" sz="14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childNodes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[0].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nodeValue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</a:t>
            </a:r>
            <a:endParaRPr lang="en-US" sz="15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E73181-BBD1-4B3B-8EE3-1D8A51DCCAA0}"/>
              </a:ext>
            </a:extLst>
          </p:cNvPr>
          <p:cNvSpPr/>
          <p:nvPr/>
        </p:nvSpPr>
        <p:spPr>
          <a:xfrm>
            <a:off x="914400" y="3810000"/>
            <a:ext cx="457200" cy="313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DD45CD-02D0-47B8-B9A1-32BF6EE3F3C7}"/>
              </a:ext>
            </a:extLst>
          </p:cNvPr>
          <p:cNvCxnSpPr/>
          <p:nvPr/>
        </p:nvCxnSpPr>
        <p:spPr>
          <a:xfrm>
            <a:off x="1143000" y="4131733"/>
            <a:ext cx="0" cy="1735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27D7264-0118-4E1E-B132-65FB7C9BADC7}"/>
              </a:ext>
            </a:extLst>
          </p:cNvPr>
          <p:cNvSpPr/>
          <p:nvPr/>
        </p:nvSpPr>
        <p:spPr>
          <a:xfrm>
            <a:off x="1676409" y="4191008"/>
            <a:ext cx="1007509" cy="457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CB2776-DB4E-4E2D-9CF6-097642346F5A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1159932" y="4419604"/>
            <a:ext cx="5164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60B9154-872D-4387-9919-B18291126117}"/>
              </a:ext>
            </a:extLst>
          </p:cNvPr>
          <p:cNvSpPr/>
          <p:nvPr/>
        </p:nvSpPr>
        <p:spPr>
          <a:xfrm>
            <a:off x="736604" y="4305829"/>
            <a:ext cx="380998" cy="3047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0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9BD1AF8-864C-4341-BFB7-D78D01F75479}"/>
              </a:ext>
            </a:extLst>
          </p:cNvPr>
          <p:cNvCxnSpPr>
            <a:cxnSpLocks/>
          </p:cNvCxnSpPr>
          <p:nvPr/>
        </p:nvCxnSpPr>
        <p:spPr>
          <a:xfrm flipV="1">
            <a:off x="2819400" y="4449233"/>
            <a:ext cx="3048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28F9F2E9-967B-4150-8640-2155B1BA416A}"/>
              </a:ext>
            </a:extLst>
          </p:cNvPr>
          <p:cNvSpPr/>
          <p:nvPr/>
        </p:nvSpPr>
        <p:spPr>
          <a:xfrm>
            <a:off x="3141131" y="4191007"/>
            <a:ext cx="1507067" cy="5333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nodeValue</a:t>
            </a:r>
            <a:endParaRPr lang="en-IN" dirty="0"/>
          </a:p>
          <a:p>
            <a:pPr algn="ctr"/>
            <a:r>
              <a:rPr lang="en-IN" dirty="0"/>
              <a:t>[welcome]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8ADA8C-E524-4089-82F8-A9364A1109A2}"/>
              </a:ext>
            </a:extLst>
          </p:cNvPr>
          <p:cNvSpPr/>
          <p:nvPr/>
        </p:nvSpPr>
        <p:spPr>
          <a:xfrm>
            <a:off x="723901" y="4865156"/>
            <a:ext cx="380998" cy="3047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DBB9029-9E71-48AF-8C7F-5C8E0EB57F3A}"/>
              </a:ext>
            </a:extLst>
          </p:cNvPr>
          <p:cNvCxnSpPr/>
          <p:nvPr/>
        </p:nvCxnSpPr>
        <p:spPr>
          <a:xfrm>
            <a:off x="1159932" y="4999565"/>
            <a:ext cx="5164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6CA6E331-F0CB-49E3-9DD9-05371ACB9CAE}"/>
              </a:ext>
            </a:extLst>
          </p:cNvPr>
          <p:cNvSpPr/>
          <p:nvPr/>
        </p:nvSpPr>
        <p:spPr>
          <a:xfrm>
            <a:off x="1710264" y="4770969"/>
            <a:ext cx="685795" cy="457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&lt;b&gt;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706BEA2-5064-42B7-B655-807B1CAEE100}"/>
              </a:ext>
            </a:extLst>
          </p:cNvPr>
          <p:cNvCxnSpPr>
            <a:stCxn id="26" idx="2"/>
          </p:cNvCxnSpPr>
          <p:nvPr/>
        </p:nvCxnSpPr>
        <p:spPr>
          <a:xfrm flipH="1">
            <a:off x="2053161" y="5228161"/>
            <a:ext cx="1" cy="3344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FC9F2BC-2006-4B55-AC01-892F3A770B14}"/>
              </a:ext>
            </a:extLst>
          </p:cNvPr>
          <p:cNvCxnSpPr/>
          <p:nvPr/>
        </p:nvCxnSpPr>
        <p:spPr>
          <a:xfrm>
            <a:off x="2053161" y="5562600"/>
            <a:ext cx="8424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243A73C-749B-4E61-9DD9-1465568F8528}"/>
              </a:ext>
            </a:extLst>
          </p:cNvPr>
          <p:cNvSpPr/>
          <p:nvPr/>
        </p:nvSpPr>
        <p:spPr>
          <a:xfrm>
            <a:off x="2819400" y="5334004"/>
            <a:ext cx="1007509" cy="457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#text[3]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4CA20A9-A1B0-4794-B968-039D5921AC9F}"/>
              </a:ext>
            </a:extLst>
          </p:cNvPr>
          <p:cNvCxnSpPr>
            <a:cxnSpLocks/>
          </p:cNvCxnSpPr>
          <p:nvPr/>
        </p:nvCxnSpPr>
        <p:spPr>
          <a:xfrm flipV="1">
            <a:off x="3869269" y="5554131"/>
            <a:ext cx="3048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F538798A-F36B-4F32-8C74-C329BF2EF826}"/>
              </a:ext>
            </a:extLst>
          </p:cNvPr>
          <p:cNvSpPr/>
          <p:nvPr/>
        </p:nvSpPr>
        <p:spPr>
          <a:xfrm>
            <a:off x="4191000" y="5295905"/>
            <a:ext cx="1507067" cy="5333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nodeValue</a:t>
            </a:r>
            <a:endParaRPr lang="en-IN" dirty="0"/>
          </a:p>
          <a:p>
            <a:pPr algn="ctr"/>
            <a:r>
              <a:rPr lang="en-IN" dirty="0"/>
              <a:t>[to world of]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7953850-8A04-4425-B775-021D1AC33D1E}"/>
              </a:ext>
            </a:extLst>
          </p:cNvPr>
          <p:cNvSpPr/>
          <p:nvPr/>
        </p:nvSpPr>
        <p:spPr>
          <a:xfrm>
            <a:off x="719640" y="5736160"/>
            <a:ext cx="380998" cy="30479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D2695D2-9697-4297-81FB-49896F8A9F90}"/>
              </a:ext>
            </a:extLst>
          </p:cNvPr>
          <p:cNvCxnSpPr>
            <a:cxnSpLocks/>
          </p:cNvCxnSpPr>
          <p:nvPr/>
        </p:nvCxnSpPr>
        <p:spPr>
          <a:xfrm>
            <a:off x="1159932" y="5867400"/>
            <a:ext cx="3640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09AF889-6B48-4A7D-99E7-4CC7FBB5BE5C}"/>
              </a:ext>
            </a:extLst>
          </p:cNvPr>
          <p:cNvSpPr/>
          <p:nvPr/>
        </p:nvSpPr>
        <p:spPr>
          <a:xfrm>
            <a:off x="1562101" y="5767915"/>
            <a:ext cx="1007509" cy="4571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#text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E40DB50-786F-4462-8BB9-F44BFB9D0C96}"/>
              </a:ext>
            </a:extLst>
          </p:cNvPr>
          <p:cNvCxnSpPr>
            <a:cxnSpLocks/>
          </p:cNvCxnSpPr>
          <p:nvPr/>
        </p:nvCxnSpPr>
        <p:spPr>
          <a:xfrm flipV="1">
            <a:off x="2573869" y="6193369"/>
            <a:ext cx="3048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6546E81-2BC1-400F-8030-44796B7FF9A1}"/>
              </a:ext>
            </a:extLst>
          </p:cNvPr>
          <p:cNvSpPr/>
          <p:nvPr/>
        </p:nvSpPr>
        <p:spPr>
          <a:xfrm>
            <a:off x="2895600" y="5935143"/>
            <a:ext cx="1507067" cy="5333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/>
              <a:t>nodeValue</a:t>
            </a:r>
            <a:endParaRPr lang="en-IN" dirty="0"/>
          </a:p>
          <a:p>
            <a:pPr algn="ctr"/>
            <a:r>
              <a:rPr lang="en-IN" dirty="0"/>
              <a:t>[DOM]</a:t>
            </a:r>
          </a:p>
        </p:txBody>
      </p:sp>
    </p:spTree>
    <p:extLst>
      <p:ext uri="{BB962C8B-B14F-4D97-AF65-F5344CB8AC3E}">
        <p14:creationId xmlns:p14="http://schemas.microsoft.com/office/powerpoint/2010/main" val="2541803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010C8-0124-44BE-A50B-5A8251E9C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6201"/>
            <a:ext cx="6096000" cy="4419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&lt;html&gt;&lt;head&gt;&lt;/head&gt;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"cp"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"copy"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</a:p>
          <a:p>
            <a:pPr marL="0" indent="0">
              <a:buNone/>
            </a:pP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FC8223-EA1C-460B-A4EE-0BADBD65F272}"/>
              </a:ext>
            </a:extLst>
          </p:cNvPr>
          <p:cNvSpPr/>
          <p:nvPr/>
        </p:nvSpPr>
        <p:spPr>
          <a:xfrm>
            <a:off x="1295400" y="4495801"/>
            <a:ext cx="457200" cy="380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x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5F44CEF-1AD7-4934-9A0A-08C5E9A7D166}"/>
              </a:ext>
            </a:extLst>
          </p:cNvPr>
          <p:cNvCxnSpPr>
            <a:stCxn id="4" idx="3"/>
          </p:cNvCxnSpPr>
          <p:nvPr/>
        </p:nvCxnSpPr>
        <p:spPr>
          <a:xfrm flipV="1">
            <a:off x="1752600" y="4648200"/>
            <a:ext cx="838200" cy="38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30B7B5A-5A00-4FB0-8449-4FAF3E5BD0B4}"/>
              </a:ext>
            </a:extLst>
          </p:cNvPr>
          <p:cNvSpPr txBox="1"/>
          <p:nvPr/>
        </p:nvSpPr>
        <p:spPr>
          <a:xfrm>
            <a:off x="2590800" y="4463534"/>
            <a:ext cx="4584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"cp"</a:t>
            </a: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A0BF32-E5F2-49A2-937E-616C9E065368}"/>
              </a:ext>
            </a:extLst>
          </p:cNvPr>
          <p:cNvSpPr/>
          <p:nvPr/>
        </p:nvSpPr>
        <p:spPr>
          <a:xfrm>
            <a:off x="1371600" y="5257800"/>
            <a:ext cx="457200" cy="380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76B2DE-08F4-4272-AC1C-22BF9A0AC6BE}"/>
              </a:ext>
            </a:extLst>
          </p:cNvPr>
          <p:cNvSpPr txBox="1"/>
          <p:nvPr/>
        </p:nvSpPr>
        <p:spPr>
          <a:xfrm>
            <a:off x="2667000" y="5257800"/>
            <a:ext cx="4584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 &lt;/p&gt;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A01F09-55B1-4CEB-9346-E9596B412ED4}"/>
              </a:ext>
            </a:extLst>
          </p:cNvPr>
          <p:cNvCxnSpPr/>
          <p:nvPr/>
        </p:nvCxnSpPr>
        <p:spPr>
          <a:xfrm flipV="1">
            <a:off x="1892300" y="5442466"/>
            <a:ext cx="838200" cy="381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E29EC0-8B4D-4690-8B8F-8217B4EF5753}"/>
              </a:ext>
            </a:extLst>
          </p:cNvPr>
          <p:cNvCxnSpPr/>
          <p:nvPr/>
        </p:nvCxnSpPr>
        <p:spPr>
          <a:xfrm flipH="1">
            <a:off x="4191000" y="4686300"/>
            <a:ext cx="152400" cy="723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F85AFBE-97EF-EC25-BEA0-AA99305A626B}"/>
              </a:ext>
            </a:extLst>
          </p:cNvPr>
          <p:cNvSpPr txBox="1"/>
          <p:nvPr/>
        </p:nvSpPr>
        <p:spPr>
          <a:xfrm>
            <a:off x="6108700" y="344269"/>
            <a:ext cx="228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div tag and type your name</a:t>
            </a:r>
          </a:p>
          <a:p>
            <a:r>
              <a:rPr lang="en-US" dirty="0"/>
              <a:t>On mouse over copy your name in to h1 tag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8D48FC-F744-C84C-4307-E3B3F00F790B}"/>
              </a:ext>
            </a:extLst>
          </p:cNvPr>
          <p:cNvSpPr txBox="1"/>
          <p:nvPr/>
        </p:nvSpPr>
        <p:spPr>
          <a:xfrm>
            <a:off x="5181600" y="2286001"/>
            <a:ext cx="381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&lt;p id=“pp”&gt; hello&lt;b&gt;bye&lt;/b&gt;&lt;/p&gt;</a:t>
            </a:r>
          </a:p>
          <a:p>
            <a:endParaRPr lang="en-US" dirty="0"/>
          </a:p>
          <a:p>
            <a:r>
              <a:rPr lang="en-US" dirty="0"/>
              <a:t>Using DOM and  read “bye” value and display in div tag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1653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30F21-C996-46AC-942E-0D83EB7E4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597932"/>
            <a:ext cx="6324600" cy="35052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ByTagName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  //$(‘p’)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)}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clickme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Welcome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to world of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Dom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</a:p>
          <a:p>
            <a:pPr marL="0" indent="0">
              <a:buNone/>
            </a:pPr>
            <a:r>
              <a:rPr lang="en-IN" sz="3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2nd p</a:t>
            </a:r>
            <a:r>
              <a:rPr lang="en-IN" sz="3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3rd p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9A83FB-8163-499F-828A-0C2B29D67183}"/>
              </a:ext>
            </a:extLst>
          </p:cNvPr>
          <p:cNvSpPr txBox="1"/>
          <p:nvPr/>
        </p:nvSpPr>
        <p:spPr>
          <a:xfrm>
            <a:off x="1371600" y="228600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getElementsByTagName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returns array of Object p</a:t>
            </a:r>
            <a:endParaRPr lang="en-IN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7AD626C-6125-418A-9CCB-BC62F71C1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953287"/>
              </p:ext>
            </p:extLst>
          </p:nvPr>
        </p:nvGraphicFramePr>
        <p:xfrm>
          <a:off x="685800" y="4103132"/>
          <a:ext cx="8153400" cy="1497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3632">
                  <a:extLst>
                    <a:ext uri="{9D8B030D-6E8A-4147-A177-3AD203B41FA5}">
                      <a16:colId xmlns:a16="http://schemas.microsoft.com/office/drawing/2014/main" val="2051419330"/>
                    </a:ext>
                  </a:extLst>
                </a:gridCol>
                <a:gridCol w="2182368">
                  <a:extLst>
                    <a:ext uri="{9D8B030D-6E8A-4147-A177-3AD203B41FA5}">
                      <a16:colId xmlns:a16="http://schemas.microsoft.com/office/drawing/2014/main" val="83481775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4112312702"/>
                    </a:ext>
                  </a:extLst>
                </a:gridCol>
              </a:tblGrid>
              <a:tr h="583168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676675"/>
                  </a:ext>
                </a:extLst>
              </a:tr>
              <a:tr h="5831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&lt;p&gt;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Welcome</a:t>
                      </a:r>
                      <a:r>
                        <a:rPr lang="en-IN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&lt;b&gt;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to world of</a:t>
                      </a:r>
                      <a:r>
                        <a:rPr lang="en-IN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&lt;/b&gt;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Dom</a:t>
                      </a:r>
                      <a:r>
                        <a:rPr lang="en-IN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&lt;/p&gt;</a:t>
                      </a:r>
                      <a:endParaRPr lang="en-IN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&lt;p&gt;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2nd p</a:t>
                      </a:r>
                      <a:r>
                        <a:rPr lang="en-IN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&lt;/p&gt;</a:t>
                      </a:r>
                      <a:endParaRPr lang="en-IN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&lt;p&gt;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3rd p</a:t>
                      </a:r>
                      <a:r>
                        <a:rPr lang="en-IN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&lt;/p&gt;</a:t>
                      </a:r>
                      <a:endParaRPr lang="en-IN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5112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1D5DE19-F8D2-4783-96F9-37594C9857BA}"/>
              </a:ext>
            </a:extLst>
          </p:cNvPr>
          <p:cNvSpPr/>
          <p:nvPr/>
        </p:nvSpPr>
        <p:spPr>
          <a:xfrm>
            <a:off x="9832" y="6034564"/>
            <a:ext cx="990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640B425-4C66-421F-B3EF-6816062798BD}"/>
              </a:ext>
            </a:extLst>
          </p:cNvPr>
          <p:cNvCxnSpPr/>
          <p:nvPr/>
        </p:nvCxnSpPr>
        <p:spPr>
          <a:xfrm flipV="1">
            <a:off x="1066800" y="5600700"/>
            <a:ext cx="30480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87EA451F-5629-5771-46BE-4CA5AFB0371F}"/>
              </a:ext>
            </a:extLst>
          </p:cNvPr>
          <p:cNvSpPr txBox="1"/>
          <p:nvPr/>
        </p:nvSpPr>
        <p:spPr>
          <a:xfrm>
            <a:off x="6629400" y="914400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 5 p tag and display in div tag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6296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4EDEB-D0C7-4028-8095-DEEED3A9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Be careful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CC1C7-C081-4554-9651-528DCBAB8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731838"/>
            <a:ext cx="5486400" cy="5394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&lt;html&gt;&lt;head&gt;&lt;/head&gt;&lt;body&gt;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getElementsByTagName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l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"&lt;/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br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Welcome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to world of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Dom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2nd p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3rd p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3B92D-798A-4992-B4E5-CDE49292385E}"/>
              </a:ext>
            </a:extLst>
          </p:cNvPr>
          <p:cNvSpPr txBox="1"/>
          <p:nvPr/>
        </p:nvSpPr>
        <p:spPr>
          <a:xfrm>
            <a:off x="6019800" y="914400"/>
            <a:ext cx="2743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Order of execution is top to bottom</a:t>
            </a:r>
          </a:p>
        </p:txBody>
      </p:sp>
    </p:spTree>
    <p:extLst>
      <p:ext uri="{BB962C8B-B14F-4D97-AF65-F5344CB8AC3E}">
        <p14:creationId xmlns:p14="http://schemas.microsoft.com/office/powerpoint/2010/main" val="1135318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24664-37FF-4A6E-BDA9-D8A2EBB96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638"/>
            <a:ext cx="7848600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Read Value of </a:t>
            </a:r>
            <a:r>
              <a:rPr lang="en-IN" dirty="0" err="1"/>
              <a:t>TextBox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34D3E-9A1A-4FA0-A4EA-F443EFC4B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31838"/>
            <a:ext cx="8153400" cy="539432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readtext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"nm1"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"nm2"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//alert(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("pp").value);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//alert(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("pp").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childNodes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[0].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nodeValue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"pp"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frm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"nm1"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"read"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readtext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</a:t>
            </a:r>
            <a:r>
              <a:rPr lang="en-IN" dirty="0">
                <a:solidFill>
                  <a:srgbClr val="0000FF"/>
                </a:solidFill>
                <a:latin typeface="Consolas" panose="020B0609020204030204" pitchFamily="49" charset="0"/>
              </a:rPr>
              <a:t>”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"nm2"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96616-1D2F-1FA5-D85D-A2A8BC3D65DF}"/>
              </a:ext>
            </a:extLst>
          </p:cNvPr>
          <p:cNvSpPr txBox="1"/>
          <p:nvPr/>
        </p:nvSpPr>
        <p:spPr>
          <a:xfrm>
            <a:off x="4419600" y="4800600"/>
            <a:ext cx="4267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2 </a:t>
            </a:r>
            <a:r>
              <a:rPr lang="en-US" dirty="0" err="1"/>
              <a:t>textarea</a:t>
            </a:r>
            <a:r>
              <a:rPr lang="en-US" dirty="0"/>
              <a:t> and one checkbox</a:t>
            </a:r>
          </a:p>
          <a:p>
            <a:r>
              <a:rPr lang="en-US" dirty="0"/>
              <a:t>Onclick of check box it should copy address from one text area to another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2781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304800"/>
            <a:ext cx="8458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Q1. create 2 textbox and create a button on click do sum of two value entered by user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Q2. Create a div tag with some </a:t>
            </a:r>
            <a:r>
              <a:rPr lang="en-US" dirty="0" err="1"/>
              <a:t>css</a:t>
            </a:r>
            <a:r>
              <a:rPr lang="en-US" dirty="0"/>
              <a:t> formatting and type 5 line in it.</a:t>
            </a:r>
          </a:p>
          <a:p>
            <a:r>
              <a:rPr lang="en-US" dirty="0"/>
              <a:t> on mouse over copy this data in p tag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Q3. Create your resume using HTML </a:t>
            </a:r>
          </a:p>
          <a:p>
            <a:endParaRPr lang="en-US" dirty="0"/>
          </a:p>
          <a:p>
            <a:r>
              <a:rPr lang="en-US" dirty="0"/>
              <a:t>Q4. Create 2 text box and button </a:t>
            </a:r>
          </a:p>
          <a:p>
            <a:pPr marL="342900" indent="-342900">
              <a:buAutoNum type="arabicPeriod"/>
            </a:pPr>
            <a:r>
              <a:rPr lang="en-US" dirty="0"/>
              <a:t>Enter password ---------</a:t>
            </a:r>
          </a:p>
          <a:p>
            <a:pPr marL="342900" indent="-342900">
              <a:buAutoNum type="arabicPeriod"/>
            </a:pPr>
            <a:r>
              <a:rPr lang="en-US" dirty="0"/>
              <a:t>Reenter password----------</a:t>
            </a:r>
          </a:p>
          <a:p>
            <a:pPr marL="342900" indent="-342900">
              <a:buAutoNum type="arabicPeriod"/>
            </a:pPr>
            <a:r>
              <a:rPr lang="en-US" dirty="0"/>
              <a:t>If both value not same give error message in span tag in red color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09800" y="2057400"/>
            <a:ext cx="2895600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This Web Module</a:t>
            </a:r>
          </a:p>
          <a:p>
            <a:r>
              <a:rPr lang="en-US" dirty="0"/>
              <a:t>Learning DOM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4362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35B8C-CD6C-43D9-8A07-AD8A1FC2C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76200"/>
            <a:ext cx="7772400" cy="457199"/>
          </a:xfrm>
        </p:spPr>
        <p:txBody>
          <a:bodyPr>
            <a:normAutofit fontScale="90000"/>
          </a:bodyPr>
          <a:lstStyle/>
          <a:p>
            <a:r>
              <a:rPr lang="en-IN" sz="4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97C69B0-5F35-466C-98F9-7D9403257E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7083221"/>
              </p:ext>
            </p:extLst>
          </p:nvPr>
        </p:nvGraphicFramePr>
        <p:xfrm>
          <a:off x="228600" y="533399"/>
          <a:ext cx="8763000" cy="25908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000">
                  <a:extLst>
                    <a:ext uri="{9D8B030D-6E8A-4147-A177-3AD203B41FA5}">
                      <a16:colId xmlns:a16="http://schemas.microsoft.com/office/drawing/2014/main" val="2683322474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27577075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578657269"/>
                    </a:ext>
                  </a:extLst>
                </a:gridCol>
              </a:tblGrid>
              <a:tr h="610872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236163"/>
                  </a:ext>
                </a:extLst>
              </a:tr>
              <a:tr h="197992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800" b="0" dirty="0" err="1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mystyle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{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8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width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500px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8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height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50px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800" b="0" dirty="0" err="1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anotherClass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background-</a:t>
                      </a:r>
                      <a:r>
                        <a:rPr lang="en-IN" sz="14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color</a:t>
                      </a: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400" b="0" dirty="0">
                          <a:solidFill>
                            <a:srgbClr val="0451A5"/>
                          </a:solidFill>
                          <a:effectLst/>
                          <a:latin typeface="Consolas" panose="020B0609020204030204" pitchFamily="49" charset="0"/>
                        </a:rPr>
                        <a:t>bisque</a:t>
                      </a: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800" b="0" dirty="0" err="1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myClass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{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</a:t>
                      </a:r>
                      <a:r>
                        <a:rPr lang="en-IN" sz="18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text-align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800" b="0" dirty="0" err="1">
                          <a:solidFill>
                            <a:srgbClr val="0451A5"/>
                          </a:solidFill>
                          <a:effectLst/>
                          <a:latin typeface="Consolas" panose="020B0609020204030204" pitchFamily="49" charset="0"/>
                        </a:rPr>
                        <a:t>center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8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font-size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25px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8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color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800" b="0" dirty="0">
                          <a:solidFill>
                            <a:srgbClr val="0451A5"/>
                          </a:solidFill>
                          <a:effectLst/>
                          <a:latin typeface="Consolas" panose="020B0609020204030204" pitchFamily="49" charset="0"/>
                        </a:rPr>
                        <a:t>black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IN" sz="18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margin-bottom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10px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1421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30CDDCB7-7CFD-43BE-B615-3384C23C0EDA}"/>
              </a:ext>
            </a:extLst>
          </p:cNvPr>
          <p:cNvSpPr/>
          <p:nvPr/>
        </p:nvSpPr>
        <p:spPr>
          <a:xfrm>
            <a:off x="228600" y="3581400"/>
            <a:ext cx="6096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x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0A9B9DB-9D74-4A26-B9F8-5007F958E698}"/>
              </a:ext>
            </a:extLst>
          </p:cNvPr>
          <p:cNvCxnSpPr>
            <a:stCxn id="7" idx="3"/>
          </p:cNvCxnSpPr>
          <p:nvPr/>
        </p:nvCxnSpPr>
        <p:spPr>
          <a:xfrm flipV="1">
            <a:off x="838200" y="3276600"/>
            <a:ext cx="83820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9B2BC8F-DA50-4078-A98D-4351FA1978D8}"/>
              </a:ext>
            </a:extLst>
          </p:cNvPr>
          <p:cNvSpPr txBox="1"/>
          <p:nvPr/>
        </p:nvSpPr>
        <p:spPr>
          <a:xfrm>
            <a:off x="1981200" y="3867834"/>
            <a:ext cx="6934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8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04D85B-AB18-4062-ABC2-BF37D68A7436}"/>
              </a:ext>
            </a:extLst>
          </p:cNvPr>
          <p:cNvSpPr txBox="1"/>
          <p:nvPr/>
        </p:nvSpPr>
        <p:spPr>
          <a:xfrm>
            <a:off x="1143000" y="4519135"/>
            <a:ext cx="8305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am a DIV element with multiple classes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730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81E19-4080-4A3B-A062-B4A467414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0"/>
            <a:ext cx="5791200" cy="7162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&lt;html&gt;&lt;head&gt;&lt;style&gt;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500px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50px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background-</a:t>
            </a:r>
            <a:r>
              <a:rPr lang="en-IN" sz="105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05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bisque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text-align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050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25px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05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margin-bottom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10px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&lt;/style&gt;&lt;/head&gt;&lt;body&gt;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Click the button to display the class names of the div element.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am a DIV element with multiple classes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Try it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&lt;p&gt;&lt;strong&gt;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Note: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&lt;/strong&gt;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The </a:t>
            </a:r>
            <a:r>
              <a:rPr lang="en-IN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property is not  supported in Internet Explorer 9 and earlier versions.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&gt;&lt;/p&gt;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05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</a:t>
            </a:r>
            <a:r>
              <a:rPr lang="en-IN" sz="105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05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 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05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0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05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05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  </a:t>
            </a: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b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05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  &lt;/html&gt;</a:t>
            </a: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05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13B11A2-F99E-440B-BDD4-95FF209FE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4200" y="0"/>
            <a:ext cx="6172200" cy="457199"/>
          </a:xfrm>
        </p:spPr>
        <p:txBody>
          <a:bodyPr>
            <a:normAutofit fontScale="90000"/>
          </a:bodyPr>
          <a:lstStyle/>
          <a:p>
            <a:r>
              <a:rPr lang="en-IN" sz="4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DF0AB6-4290-4528-94C1-EEA26509F250}"/>
              </a:ext>
            </a:extLst>
          </p:cNvPr>
          <p:cNvSpPr txBox="1"/>
          <p:nvPr/>
        </p:nvSpPr>
        <p:spPr>
          <a:xfrm>
            <a:off x="5791200" y="1066800"/>
            <a:ext cx="312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You can dynamically read </a:t>
            </a:r>
            <a:r>
              <a:rPr lang="en-IN" dirty="0" err="1"/>
              <a:t>css</a:t>
            </a:r>
            <a:r>
              <a:rPr lang="en-IN" dirty="0"/>
              <a:t> class using </a:t>
            </a:r>
            <a:r>
              <a:rPr lang="en-IN" dirty="0" err="1"/>
              <a:t>classList</a:t>
            </a:r>
            <a:r>
              <a:rPr lang="en-IN" dirty="0"/>
              <a:t> property of a object[Tag]</a:t>
            </a:r>
          </a:p>
        </p:txBody>
      </p:sp>
    </p:spTree>
    <p:extLst>
      <p:ext uri="{BB962C8B-B14F-4D97-AF65-F5344CB8AC3E}">
        <p14:creationId xmlns:p14="http://schemas.microsoft.com/office/powerpoint/2010/main" val="1980903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66970-743E-4D6B-B243-208D1D139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8001000" cy="334962"/>
          </a:xfrm>
        </p:spPr>
        <p:txBody>
          <a:bodyPr>
            <a:noAutofit/>
          </a:bodyPr>
          <a:lstStyle/>
          <a:p>
            <a:r>
              <a:rPr lang="en-IN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getElementsByClassName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"example"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A9794-5810-42F9-9FCA-3C45DC807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368829"/>
            <a:ext cx="5334000" cy="6324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&lt;ul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"example"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"child"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Coffee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"child"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Tea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&lt;/ul&gt;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&lt;ul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"example"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"child"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bun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"child"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ice-cream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&lt;/ul&gt;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Click the button to change the text of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the first list item (index 0).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Try it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&lt;p&gt;&lt;strong&gt;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Note: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&lt;/strong&gt;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The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getElementsByClassName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method is not supported in Internet Explorer 8 and earlier versions.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getElementsByClassName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"example"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getElementsByClassName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"child"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)[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"Milk"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959CF9B-3A33-47CC-B6A8-F203054289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623463"/>
              </p:ext>
            </p:extLst>
          </p:nvPr>
        </p:nvGraphicFramePr>
        <p:xfrm>
          <a:off x="4495800" y="685800"/>
          <a:ext cx="4495800" cy="199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3950">
                  <a:extLst>
                    <a:ext uri="{9D8B030D-6E8A-4147-A177-3AD203B41FA5}">
                      <a16:colId xmlns:a16="http://schemas.microsoft.com/office/drawing/2014/main" val="3675672100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1802332552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1570530923"/>
                    </a:ext>
                  </a:extLst>
                </a:gridCol>
                <a:gridCol w="1123950">
                  <a:extLst>
                    <a:ext uri="{9D8B030D-6E8A-4147-A177-3AD203B41FA5}">
                      <a16:colId xmlns:a16="http://schemas.microsoft.com/office/drawing/2014/main" val="2155611032"/>
                    </a:ext>
                  </a:extLst>
                </a:gridCol>
              </a:tblGrid>
              <a:tr h="330200">
                <a:tc gridSpan="2"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35052"/>
                  </a:ext>
                </a:extLst>
              </a:tr>
              <a:tr h="330200">
                <a:tc gridSpan="2">
                  <a:txBody>
                    <a:bodyPr/>
                    <a:lstStyle/>
                    <a:p>
                      <a:r>
                        <a:rPr lang="en-IN" sz="1200" dirty="0"/>
                        <a:t>Example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&lt;ul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IN" sz="11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IN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IN" sz="11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"example"</a:t>
                      </a:r>
                      <a:r>
                        <a:rPr lang="en-IN" sz="11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endParaRPr lang="en-IN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IN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rPr lang="en-IN" sz="1200" dirty="0"/>
                        <a:t>Example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&lt;ul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IN" sz="12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class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IN" sz="12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"example"</a:t>
                      </a:r>
                      <a:r>
                        <a:rPr lang="en-IN" sz="12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&gt;</a:t>
                      </a:r>
                      <a:endParaRPr lang="en-IN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41287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4750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IN" dirty="0"/>
                        <a:t>child</a:t>
                      </a:r>
                    </a:p>
                    <a:p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Coffee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Child</a:t>
                      </a:r>
                    </a:p>
                    <a:p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Tea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Child</a:t>
                      </a:r>
                    </a:p>
                    <a:p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bun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Child</a:t>
                      </a:r>
                    </a:p>
                    <a:p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ice-cream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0855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2704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CD273-A367-4B42-8A20-DCAB7B0AF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4638"/>
            <a:ext cx="7620000" cy="457199"/>
          </a:xfrm>
        </p:spPr>
        <p:txBody>
          <a:bodyPr>
            <a:noAutofit/>
          </a:bodyPr>
          <a:lstStyle/>
          <a:p>
            <a:r>
              <a:rPr lang="en-IN" sz="18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 allow you to add 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css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class to a tag</a:t>
            </a:r>
            <a:b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1058A-C227-4258-9D12-D83058509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609600"/>
            <a:ext cx="6324600" cy="342899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am a DIV element with multiple classes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Try it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&lt;p id="demo"&gt;&lt;/p&gt;</a:t>
            </a:r>
            <a:b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IN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 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906B4-FA24-402F-B382-51B79A370149}"/>
              </a:ext>
            </a:extLst>
          </p:cNvPr>
          <p:cNvSpPr txBox="1"/>
          <p:nvPr/>
        </p:nvSpPr>
        <p:spPr>
          <a:xfrm>
            <a:off x="186267" y="4184605"/>
            <a:ext cx="7162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1" i="1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800" b="0" i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am a DIV element with multiple classes</a:t>
            </a:r>
          </a:p>
          <a:p>
            <a:pPr marL="0" indent="0">
              <a:buNone/>
            </a:pPr>
            <a:r>
              <a:rPr lang="en-US" sz="18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3D07C3-9EAA-4452-8095-9686EA6D4D3F}"/>
              </a:ext>
            </a:extLst>
          </p:cNvPr>
          <p:cNvSpPr txBox="1"/>
          <p:nvPr/>
        </p:nvSpPr>
        <p:spPr>
          <a:xfrm>
            <a:off x="152400" y="3815273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After function call it will add CSS class to div tag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3F63858B-608E-4575-8BAB-6E44D346C4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4308149"/>
              </p:ext>
            </p:extLst>
          </p:nvPr>
        </p:nvGraphicFramePr>
        <p:xfrm>
          <a:off x="990600" y="4876800"/>
          <a:ext cx="4191000" cy="1798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683322474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578657269"/>
                    </a:ext>
                  </a:extLst>
                </a:gridCol>
              </a:tblGrid>
              <a:tr h="424092">
                <a:tc>
                  <a:txBody>
                    <a:bodyPr/>
                    <a:lstStyle/>
                    <a:p>
                      <a:r>
                        <a:rPr lang="en-IN" sz="12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236163"/>
                  </a:ext>
                </a:extLst>
              </a:tr>
              <a:tr h="137454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200" b="0" dirty="0" err="1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mystyle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{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2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width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2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500px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2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height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2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50px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200" b="0" dirty="0" err="1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myClass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{ 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IN" sz="12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text-align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200" b="0" dirty="0" err="1">
                          <a:solidFill>
                            <a:srgbClr val="0451A5"/>
                          </a:solidFill>
                          <a:effectLst/>
                          <a:latin typeface="Consolas" panose="020B0609020204030204" pitchFamily="49" charset="0"/>
                        </a:rPr>
                        <a:t>center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2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font-size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2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25px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  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</a:t>
                      </a:r>
                      <a:r>
                        <a:rPr lang="en-IN" sz="12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color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200" b="0" dirty="0">
                          <a:solidFill>
                            <a:srgbClr val="0451A5"/>
                          </a:solidFill>
                          <a:effectLst/>
                          <a:latin typeface="Consolas" panose="020B0609020204030204" pitchFamily="49" charset="0"/>
                        </a:rPr>
                        <a:t>black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IN" sz="12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margin-bottom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2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10px</a:t>
                      </a: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en-IN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14218"/>
                  </a:ext>
                </a:extLst>
              </a:tr>
            </a:tbl>
          </a:graphicData>
        </a:graphic>
      </p:graphicFrame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46173C0F-483F-4855-A1E8-4009491B7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367618"/>
              </p:ext>
            </p:extLst>
          </p:nvPr>
        </p:nvGraphicFramePr>
        <p:xfrm>
          <a:off x="5562600" y="4889182"/>
          <a:ext cx="3048000" cy="1313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01326769"/>
                    </a:ext>
                  </a:extLst>
                </a:gridCol>
              </a:tblGrid>
              <a:tr h="368618"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43574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4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400" b="0" dirty="0" err="1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anotherClass</a:t>
                      </a: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{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background-</a:t>
                      </a:r>
                      <a:r>
                        <a:rPr lang="en-IN" sz="14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color</a:t>
                      </a: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400" b="0" dirty="0">
                          <a:solidFill>
                            <a:srgbClr val="0451A5"/>
                          </a:solidFill>
                          <a:effectLst/>
                          <a:latin typeface="Consolas" panose="020B0609020204030204" pitchFamily="49" charset="0"/>
                        </a:rPr>
                        <a:t>bisque</a:t>
                      </a: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978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228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7720C-92A0-4177-81A2-D8D68464E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Better way of writing code</a:t>
            </a:r>
            <a:br>
              <a:rPr lang="en-IN" dirty="0"/>
            </a:br>
            <a:r>
              <a:rPr lang="en-IN" dirty="0"/>
              <a:t>kidnap only one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D099F-C2FF-4147-9EAE-1189A79CE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divobj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divobj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 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divobj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369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BCF7A-315A-467B-A691-5B0BEBA11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7467600" cy="334962"/>
          </a:xfrm>
        </p:spPr>
        <p:txBody>
          <a:bodyPr>
            <a:normAutofit fontScale="90000"/>
          </a:bodyPr>
          <a:lstStyle/>
          <a:p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Remove CSS class Dynamically</a:t>
            </a: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8580C-8340-46B3-B8B1-98911EEF4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592393"/>
            <a:ext cx="7391400" cy="1541208"/>
          </a:xfrm>
        </p:spPr>
        <p:txBody>
          <a:bodyPr/>
          <a:lstStyle/>
          <a:p>
            <a:pPr marL="0" indent="0">
              <a:buNone/>
            </a:pPr>
            <a:r>
              <a:rPr lang="en-US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am a DIV element with multiple classes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2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en-IN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D335096-56B8-4360-80FE-D28C2AA5B86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6454808"/>
              </p:ext>
            </p:extLst>
          </p:nvPr>
        </p:nvGraphicFramePr>
        <p:xfrm>
          <a:off x="190500" y="4267199"/>
          <a:ext cx="6057900" cy="1894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8950">
                  <a:extLst>
                    <a:ext uri="{9D8B030D-6E8A-4147-A177-3AD203B41FA5}">
                      <a16:colId xmlns:a16="http://schemas.microsoft.com/office/drawing/2014/main" val="2683322474"/>
                    </a:ext>
                  </a:extLst>
                </a:gridCol>
                <a:gridCol w="3028950">
                  <a:extLst>
                    <a:ext uri="{9D8B030D-6E8A-4147-A177-3AD203B41FA5}">
                      <a16:colId xmlns:a16="http://schemas.microsoft.com/office/drawing/2014/main" val="327577075"/>
                    </a:ext>
                  </a:extLst>
                </a:gridCol>
              </a:tblGrid>
              <a:tr h="431204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236163"/>
                  </a:ext>
                </a:extLst>
              </a:tr>
              <a:tr h="13975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800" b="0" dirty="0" err="1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mystyle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{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8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width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500px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IN" sz="18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height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50px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800" b="0" dirty="0" err="1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anotherClass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400" b="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background-</a:t>
                      </a:r>
                      <a:r>
                        <a:rPr lang="en-IN" sz="1400" b="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</a:rPr>
                        <a:t>color</a:t>
                      </a: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 </a:t>
                      </a:r>
                      <a:r>
                        <a:rPr lang="en-IN" sz="1400" b="0" dirty="0">
                          <a:solidFill>
                            <a:srgbClr val="0451A5"/>
                          </a:solidFill>
                          <a:effectLst/>
                          <a:latin typeface="Consolas" panose="020B0609020204030204" pitchFamily="49" charset="0"/>
                        </a:rPr>
                        <a:t>bisque</a:t>
                      </a: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214218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32E0ACA-909C-436B-9500-E60C45751C74}"/>
              </a:ext>
            </a:extLst>
          </p:cNvPr>
          <p:cNvCxnSpPr/>
          <p:nvPr/>
        </p:nvCxnSpPr>
        <p:spPr>
          <a:xfrm>
            <a:off x="3581400" y="4038600"/>
            <a:ext cx="2133600" cy="190500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008F5A-DF3F-4829-9662-235A6B6D1ACE}"/>
              </a:ext>
            </a:extLst>
          </p:cNvPr>
          <p:cNvCxnSpPr/>
          <p:nvPr/>
        </p:nvCxnSpPr>
        <p:spPr>
          <a:xfrm flipH="1">
            <a:off x="4114800" y="4049356"/>
            <a:ext cx="762000" cy="2076807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2C8F9C9-E402-452E-9BD2-6BBB69B11472}"/>
              </a:ext>
            </a:extLst>
          </p:cNvPr>
          <p:cNvSpPr txBox="1"/>
          <p:nvPr/>
        </p:nvSpPr>
        <p:spPr>
          <a:xfrm>
            <a:off x="304800" y="1917681"/>
            <a:ext cx="85344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remove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}</a:t>
            </a: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909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07961-FC02-4E64-9188-9FADE6DB4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62AD4-5CE4-430E-A3B1-1F323B68A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1600200"/>
            <a:ext cx="8991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replace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myClass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F8D66E-2734-2151-D152-EADF69C2EE5B}"/>
              </a:ext>
            </a:extLst>
          </p:cNvPr>
          <p:cNvSpPr txBox="1"/>
          <p:nvPr/>
        </p:nvSpPr>
        <p:spPr>
          <a:xfrm>
            <a:off x="533400" y="2667000"/>
            <a:ext cx="6629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3 radio button  with following value</a:t>
            </a:r>
          </a:p>
          <a:p>
            <a:pPr marL="342900" indent="-342900">
              <a:buAutoNum type="arabicPeriod"/>
            </a:pPr>
            <a:r>
              <a:rPr lang="en-US" dirty="0"/>
              <a:t>Red</a:t>
            </a:r>
          </a:p>
          <a:p>
            <a:pPr marL="342900" indent="-342900">
              <a:buAutoNum type="arabicPeriod"/>
            </a:pPr>
            <a:r>
              <a:rPr lang="en-US" dirty="0"/>
              <a:t>2. green</a:t>
            </a:r>
          </a:p>
          <a:p>
            <a:pPr marL="342900" indent="-342900">
              <a:buAutoNum type="arabicPeriod"/>
            </a:pPr>
            <a:r>
              <a:rPr lang="en-US" dirty="0"/>
              <a:t>3. blue</a:t>
            </a:r>
          </a:p>
          <a:p>
            <a:pPr marL="342900" indent="-342900">
              <a:buAutoNum type="arabicPeriod"/>
            </a:pPr>
            <a:r>
              <a:rPr lang="en-US" dirty="0"/>
              <a:t>On click of radio button change the text  color of a paragraph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45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8178-F892-4A0C-97B9-01A435709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79437"/>
          </a:xfrm>
        </p:spPr>
        <p:txBody>
          <a:bodyPr>
            <a:normAutofit fontScale="90000"/>
          </a:bodyPr>
          <a:lstStyle/>
          <a:p>
            <a:r>
              <a:rPr lang="en-IN" sz="3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contains</a:t>
            </a:r>
            <a:r>
              <a:rPr lang="en-IN" sz="3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3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31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3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3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Return </a:t>
            </a:r>
            <a:r>
              <a:rPr lang="en-IN" sz="3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boolean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53DA9-6062-4F1A-87C1-C94A2283A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685800"/>
            <a:ext cx="8382000" cy="5714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am a DIV element with multiple classes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&lt;p id="demo"&gt;&lt;/p&gt;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contains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US" sz="1600" dirty="0">
              <a:solidFill>
                <a:srgbClr val="8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If CSS class is there in a tag it will return true else false</a:t>
            </a:r>
          </a:p>
          <a:p>
            <a:pPr marL="0" indent="0"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obj=</a:t>
            </a:r>
            <a:r>
              <a:rPr lang="en-US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it returns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Div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 object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arr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=  obj.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 array of </a:t>
            </a:r>
            <a:r>
              <a:rPr lang="en-US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css</a:t>
            </a:r>
            <a:r>
              <a:rPr lang="en-US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 class</a:t>
            </a:r>
          </a:p>
          <a:p>
            <a:r>
              <a:rPr lang="en-US" sz="1600" dirty="0">
                <a:solidFill>
                  <a:srgbClr val="0070C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    b=    </a:t>
            </a:r>
            <a:r>
              <a:rPr lang="en-US" sz="1600" dirty="0" err="1">
                <a:solidFill>
                  <a:srgbClr val="0070C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arr.contains</a:t>
            </a:r>
            <a:r>
              <a:rPr lang="en-US" sz="1600" dirty="0">
                <a:solidFill>
                  <a:srgbClr val="0070C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(‘’)true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98642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FC6A2-94DB-4B07-8562-91EDCE45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7543800" cy="381000"/>
          </a:xfrm>
        </p:spPr>
        <p:txBody>
          <a:bodyPr>
            <a:noAutofit/>
          </a:bodyPr>
          <a:lstStyle/>
          <a:p>
            <a:r>
              <a:rPr lang="en-I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toggle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2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2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return </a:t>
            </a:r>
            <a:r>
              <a:rPr lang="en-IN" sz="2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boolen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6B079-42AC-4B05-8B0B-D40A5A493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42" y="344735"/>
            <a:ext cx="8460658" cy="22897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mystyle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 am a DIV element with multiple classes</a:t>
            </a:r>
          </a:p>
          <a:p>
            <a:pPr marL="0" indent="0">
              <a:buNone/>
            </a:pPr>
            <a:r>
              <a:rPr lang="en-US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toggle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    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4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CF364-CEC3-43BD-A6A8-246509F58462}"/>
              </a:ext>
            </a:extLst>
          </p:cNvPr>
          <p:cNvSpPr txBox="1"/>
          <p:nvPr/>
        </p:nvSpPr>
        <p:spPr>
          <a:xfrm>
            <a:off x="149942" y="2379010"/>
            <a:ext cx="777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Toggle return Boolean if CSS class is there it will call remove method to remove </a:t>
            </a:r>
            <a:r>
              <a:rPr lang="en-IN" dirty="0" err="1"/>
              <a:t>css</a:t>
            </a:r>
            <a:r>
              <a:rPr lang="en-IN" dirty="0"/>
              <a:t> class and if it return false it will call add method add </a:t>
            </a:r>
            <a:r>
              <a:rPr lang="en-IN" dirty="0" err="1"/>
              <a:t>css</a:t>
            </a:r>
            <a:r>
              <a:rPr lang="en-IN" dirty="0"/>
              <a:t> class.</a:t>
            </a:r>
          </a:p>
          <a:p>
            <a:endParaRPr lang="en-IN" dirty="0"/>
          </a:p>
          <a:p>
            <a:r>
              <a:rPr lang="en-IN" dirty="0"/>
              <a:t>Note </a:t>
            </a:r>
            <a:r>
              <a:rPr lang="en-IN" dirty="0" err="1"/>
              <a:t>internaly</a:t>
            </a:r>
            <a:r>
              <a:rPr lang="en-IN" dirty="0"/>
              <a:t> it is calling </a:t>
            </a:r>
            <a:r>
              <a:rPr lang="en-I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contains method.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594999-CB8F-454D-A535-A5E0E349C5DA}"/>
              </a:ext>
            </a:extLst>
          </p:cNvPr>
          <p:cNvSpPr txBox="1"/>
          <p:nvPr/>
        </p:nvSpPr>
        <p:spPr>
          <a:xfrm>
            <a:off x="0" y="3579339"/>
            <a:ext cx="8610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myFunctiontoggle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contains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if(x==true)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{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classList.remove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(“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”);</a:t>
            </a:r>
          </a:p>
          <a:p>
            <a:pPr marL="0" indent="0">
              <a:buNone/>
            </a:pPr>
            <a:r>
              <a:rPr lang="en-IN" sz="1600" dirty="0">
                <a:solidFill>
                  <a:srgbClr val="0070C1"/>
                </a:solidFill>
                <a:latin typeface="Consolas" panose="020B0609020204030204" pitchFamily="49" charset="0"/>
              </a:rPr>
              <a:t>X=false;</a:t>
            </a:r>
            <a:endParaRPr lang="en-IN" sz="1600" b="0" dirty="0">
              <a:solidFill>
                <a:srgbClr val="0070C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0070C1"/>
                </a:solidFill>
                <a:latin typeface="Consolas" panose="020B0609020204030204" pitchFamily="49" charset="0"/>
              </a:rPr>
              <a:t>return false;</a:t>
            </a:r>
            <a:endParaRPr lang="en-IN" sz="1600" b="0" dirty="0">
              <a:solidFill>
                <a:srgbClr val="0070C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dirty="0">
                <a:solidFill>
                  <a:srgbClr val="0070C1"/>
                </a:solidFill>
                <a:latin typeface="Consolas" panose="020B0609020204030204" pitchFamily="49" charset="0"/>
              </a:rPr>
              <a:t>}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else 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classList.add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(“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anotherClass</a:t>
            </a:r>
            <a:r>
              <a:rPr lang="en-IN" sz="1600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”)</a:t>
            </a:r>
          </a:p>
          <a:p>
            <a:r>
              <a:rPr lang="en-IN" sz="1600" dirty="0">
                <a:solidFill>
                  <a:srgbClr val="0070C1"/>
                </a:solidFill>
                <a:latin typeface="Consolas" panose="020B0609020204030204" pitchFamily="49" charset="0"/>
              </a:rPr>
              <a:t>X=true</a:t>
            </a:r>
            <a:endParaRPr lang="en-IN" sz="1600" b="0" dirty="0">
              <a:solidFill>
                <a:srgbClr val="0070C1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return true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"demo"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152890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D7E16-CBEA-49B8-94DB-5B68763EE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304800"/>
          </a:xfrm>
        </p:spPr>
        <p:txBody>
          <a:bodyPr>
            <a:normAutofit fontScale="90000"/>
          </a:bodyPr>
          <a:lstStyle/>
          <a:p>
            <a:r>
              <a:rPr lang="en-IN" sz="1600" dirty="0" err="1"/>
              <a:t>querySelectorAll</a:t>
            </a:r>
            <a:r>
              <a:rPr lang="en-IN" sz="1600" dirty="0"/>
              <a:t>("p")/</a:t>
            </a:r>
            <a:r>
              <a:rPr lang="en-IN" sz="1600" dirty="0" err="1"/>
              <a:t>querySelector</a:t>
            </a:r>
            <a:r>
              <a:rPr lang="en-IN" sz="1600" dirty="0"/>
              <a:t>("p")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93DC7-88F8-42FD-8AB8-FEEE57075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457200"/>
            <a:ext cx="4038600" cy="63246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&lt;html&gt;&lt;head&gt;&lt;style&gt;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#myDIV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border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1px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solid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 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5px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&lt;/style&gt;&lt;/head&gt;&lt;body&gt;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 is a p element in div.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 is also a p element in div.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Click the button to add a background 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to the first p element (index 0) in div.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querySelectorAll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</a:p>
          <a:p>
            <a:pPr marL="0" indent="0">
              <a:buNone/>
            </a:pP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querySelectorAll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backgroundColor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IN" sz="12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backgroundColor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2A4217-7021-4008-9ECC-415EFD79AA3E}"/>
              </a:ext>
            </a:extLst>
          </p:cNvPr>
          <p:cNvSpPr txBox="1"/>
          <p:nvPr/>
        </p:nvSpPr>
        <p:spPr>
          <a:xfrm>
            <a:off x="4495799" y="381001"/>
            <a:ext cx="447886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 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myDIV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FB12F1-D653-4898-91CE-149AA2F22DD3}"/>
              </a:ext>
            </a:extLst>
          </p:cNvPr>
          <p:cNvSpPr txBox="1"/>
          <p:nvPr/>
        </p:nvSpPr>
        <p:spPr>
          <a:xfrm>
            <a:off x="4800600" y="2819400"/>
            <a:ext cx="4191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 err="1"/>
              <a:t>querySelectorAll</a:t>
            </a:r>
            <a:r>
              <a:rPr lang="en-IN" sz="1800" dirty="0"/>
              <a:t>("p") : will select all p tag </a:t>
            </a:r>
          </a:p>
          <a:p>
            <a:endParaRPr lang="en-IN" dirty="0"/>
          </a:p>
          <a:p>
            <a:endParaRPr lang="en-IN" sz="1800" dirty="0"/>
          </a:p>
          <a:p>
            <a:r>
              <a:rPr lang="en-IN" sz="1800" dirty="0" err="1"/>
              <a:t>querySelector</a:t>
            </a:r>
            <a:r>
              <a:rPr lang="en-IN" sz="1800" dirty="0"/>
              <a:t>("p"): will select only 1</a:t>
            </a:r>
            <a:r>
              <a:rPr lang="en-IN" sz="1800" baseline="30000" dirty="0"/>
              <a:t>st</a:t>
            </a:r>
            <a:r>
              <a:rPr lang="en-IN" sz="1800" dirty="0"/>
              <a:t> p tag from the collection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D1408A-80BF-451E-878A-723AA41DAC6C}"/>
              </a:ext>
            </a:extLst>
          </p:cNvPr>
          <p:cNvSpPr txBox="1"/>
          <p:nvPr/>
        </p:nvSpPr>
        <p:spPr>
          <a:xfrm>
            <a:off x="1447800" y="5573004"/>
            <a:ext cx="7848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Note: The </a:t>
            </a:r>
            <a:r>
              <a:rPr lang="en-US" dirty="0" err="1"/>
              <a:t>querySelector</a:t>
            </a:r>
            <a:r>
              <a:rPr lang="en-US" dirty="0"/>
              <a:t>() method only returns the first element that matches the specified selectors. To return all the matches, use the </a:t>
            </a:r>
            <a:r>
              <a:rPr lang="en-US" dirty="0" err="1"/>
              <a:t>querySelectorAll</a:t>
            </a:r>
            <a:r>
              <a:rPr lang="en-US" dirty="0"/>
              <a:t>() method instead.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597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1FEE6D2C-527D-4E64-96B9-A49C9823D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838200"/>
            <a:ext cx="7086600" cy="3077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1B1B1B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DB000E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5A38"/>
                </a:solidFill>
                <a:effectLst/>
                <a:latin typeface="Consolas" panose="020B0609020204030204" pitchFamily="49" charset="0"/>
              </a:rPr>
              <a:t>'#</a:t>
            </a:r>
            <a:r>
              <a:rPr kumimoji="0" lang="en-US" altLang="en-US" sz="1000" b="0" i="0" u="none" strike="noStrike" cap="none" normalizeH="0" baseline="0" dirty="0" err="1">
                <a:ln>
                  <a:noFill/>
                </a:ln>
                <a:solidFill>
                  <a:srgbClr val="005A38"/>
                </a:solidFill>
                <a:effectLst/>
                <a:latin typeface="Consolas" panose="020B0609020204030204" pitchFamily="49" charset="0"/>
              </a:rPr>
              <a:t>foobar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5A3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6CEC0A0-DD10-4540-A540-257065B66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24000"/>
            <a:ext cx="5867400" cy="3077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5282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1B1B1B"/>
                </a:solidFill>
                <a:effectLst/>
                <a:latin typeface="Consolas" panose="020B0609020204030204" pitchFamily="49" charset="0"/>
              </a:rPr>
              <a:t> el = document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DB000E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5A38"/>
                </a:solidFill>
                <a:effectLst/>
                <a:latin typeface="Consolas" panose="020B0609020204030204" pitchFamily="49" charset="0"/>
              </a:rPr>
              <a:t>".myclass"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44FE8A8-A97D-4FB6-9FC7-5C88AEC73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2209800"/>
            <a:ext cx="7086600" cy="3077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5282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1B1B1B"/>
                </a:solidFill>
                <a:effectLst/>
                <a:latin typeface="Consolas" panose="020B0609020204030204" pitchFamily="49" charset="0"/>
              </a:rPr>
              <a:t> el = document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DB000E"/>
                </a:solidFill>
                <a:effectLst/>
                <a:latin typeface="Consolas" panose="020B0609020204030204" pitchFamily="49" charset="0"/>
              </a:rPr>
              <a:t>querySelector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5A38"/>
                </a:solidFill>
                <a:effectLst/>
                <a:latin typeface="Consolas" panose="020B0609020204030204" pitchFamily="49" charset="0"/>
              </a:rPr>
              <a:t>"div.user-panel.main input[name='login']"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6D6D6D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en-US" altLang="en-US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8DEE3-160F-42C4-ABA2-91A2A005A94D}"/>
              </a:ext>
            </a:extLst>
          </p:cNvPr>
          <p:cNvSpPr txBox="1"/>
          <p:nvPr/>
        </p:nvSpPr>
        <p:spPr>
          <a:xfrm>
            <a:off x="609600" y="2998839"/>
            <a:ext cx="48768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H1 span  [Space]</a:t>
            </a:r>
          </a:p>
          <a:p>
            <a:r>
              <a:rPr lang="en-IN" dirty="0"/>
              <a:t>&gt; Direct child</a:t>
            </a:r>
          </a:p>
          <a:p>
            <a:endParaRPr lang="en-IN" dirty="0"/>
          </a:p>
          <a:p>
            <a:r>
              <a:rPr lang="en-IN" dirty="0"/>
              <a:t>+</a:t>
            </a:r>
          </a:p>
          <a:p>
            <a:r>
              <a:rPr lang="en-IN" dirty="0"/>
              <a:t>~</a:t>
            </a:r>
          </a:p>
          <a:p>
            <a:endParaRPr lang="en-IN" dirty="0"/>
          </a:p>
          <a:p>
            <a:r>
              <a:rPr lang="en-IN" dirty="0"/>
              <a:t>*</a:t>
            </a:r>
          </a:p>
          <a:p>
            <a:r>
              <a:rPr lang="en-IN" dirty="0"/>
              <a:t>[ ] attribute</a:t>
            </a:r>
          </a:p>
          <a:p>
            <a:r>
              <a:rPr lang="en-IN" dirty="0"/>
              <a:t>!</a:t>
            </a:r>
          </a:p>
          <a:p>
            <a:r>
              <a:rPr lang="en-IN" dirty="0"/>
              <a:t>$</a:t>
            </a:r>
          </a:p>
          <a:p>
            <a:r>
              <a:rPr lang="en-IN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4132791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76ED2-EFFE-4951-B681-86516A9F3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76200"/>
            <a:ext cx="7848600" cy="411162"/>
          </a:xfrm>
        </p:spPr>
        <p:txBody>
          <a:bodyPr>
            <a:normAutofit fontScale="90000"/>
          </a:bodyPr>
          <a:lstStyle/>
          <a:p>
            <a:r>
              <a:rPr lang="en-IN" dirty="0"/>
              <a:t>Getter setter for Attribute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65ECF-C3A6-408E-B931-6694B8188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37419"/>
            <a:ext cx="8293100" cy="31011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CD3131"/>
                </a:solidFill>
                <a:effectLst/>
                <a:latin typeface="Consolas" panose="020B0609020204030204" pitchFamily="49" charset="0"/>
              </a:rPr>
              <a:t>align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center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"pp"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hello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"dd"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&gt;&lt;/div&gt;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"pp"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setAttribute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align"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"left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</a:p>
          <a:p>
            <a:pPr marL="0" indent="0">
              <a:buNone/>
            </a:pPr>
            <a:b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"dd"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"pp"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getAttribute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"align"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 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18290-4B97-4EAF-A5CA-681831D20153}"/>
              </a:ext>
            </a:extLst>
          </p:cNvPr>
          <p:cNvSpPr txBox="1"/>
          <p:nvPr/>
        </p:nvSpPr>
        <p:spPr>
          <a:xfrm>
            <a:off x="533400" y="4038601"/>
            <a:ext cx="815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setAttribute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align"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8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"left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===Set value for attribute align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5C824A-E46F-4F27-9EB7-B06B442D4A53}"/>
              </a:ext>
            </a:extLst>
          </p:cNvPr>
          <p:cNvSpPr txBox="1"/>
          <p:nvPr/>
        </p:nvSpPr>
        <p:spPr>
          <a:xfrm>
            <a:off x="533400" y="5105400"/>
            <a:ext cx="762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getAttribute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"align"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 ===get-Read value for attribute align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84894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1814D-DB09-41E0-AF20-3816D11D0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0"/>
            <a:ext cx="7467600" cy="457200"/>
          </a:xfrm>
        </p:spPr>
        <p:txBody>
          <a:bodyPr>
            <a:noAutofit/>
          </a:bodyPr>
          <a:lstStyle/>
          <a:p>
            <a:r>
              <a:rPr lang="en-IN" sz="2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sz="2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() simply delay the job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9D53D-DAC4-4EB1-B398-A19DC02A8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838200"/>
            <a:ext cx="5943600" cy="5287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"text/</a:t>
            </a:r>
            <a:r>
              <a:rPr lang="en-IN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javascript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 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timedCount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'txt'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timedCount</a:t>
            </a:r>
            <a:r>
              <a:rPr lang="en-IN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stopCount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{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clearTimeout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2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}</a:t>
            </a: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"Start count!"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timedCount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"txt"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"Stop count!"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2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2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stopCount</a:t>
            </a:r>
            <a:r>
              <a:rPr lang="en-IN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&lt;/form&gt;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r>
              <a:rPr lang="en-IN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827803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58B43-6184-42DE-927A-DECA83AE1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74638"/>
            <a:ext cx="7924800" cy="457199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setTimeout</a:t>
            </a:r>
            <a:r>
              <a:rPr lang="en-IN" dirty="0"/>
              <a:t> batter 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F86D72-5139-449E-845B-F7D902C83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1995"/>
            <a:ext cx="5105400" cy="24614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0" i="0" dirty="0"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sayHi</a:t>
            </a:r>
            <a:r>
              <a:rPr lang="en-IN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N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alert</a:t>
            </a:r>
            <a:r>
              <a:rPr lang="en-IN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i="0" dirty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'Hello'</a:t>
            </a:r>
            <a:r>
              <a:rPr lang="en-IN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endParaRPr lang="en-IN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sayHi</a:t>
            </a:r>
            <a:r>
              <a:rPr lang="en-IN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600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sz="1600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sz="1600" dirty="0" err="1">
                <a:solidFill>
                  <a:srgbClr val="999999"/>
                </a:solidFill>
                <a:latin typeface="Consolas" panose="020B0609020204030204" pitchFamily="49" charset="0"/>
              </a:rPr>
              <a:t>document.write</a:t>
            </a:r>
            <a:r>
              <a:rPr lang="en-IN" sz="1600" dirty="0">
                <a:solidFill>
                  <a:srgbClr val="999999"/>
                </a:solidFill>
                <a:latin typeface="Consolas" panose="020B0609020204030204" pitchFamily="49" charset="0"/>
              </a:rPr>
              <a:t>(“non blocking </a:t>
            </a:r>
            <a:r>
              <a:rPr lang="en-IN" sz="1600" dirty="0" err="1">
                <a:solidFill>
                  <a:srgbClr val="999999"/>
                </a:solidFill>
                <a:latin typeface="Consolas" panose="020B0609020204030204" pitchFamily="49" charset="0"/>
              </a:rPr>
              <a:t>programing</a:t>
            </a:r>
            <a:r>
              <a:rPr lang="en-IN" sz="1600" dirty="0">
                <a:solidFill>
                  <a:srgbClr val="999999"/>
                </a:solidFill>
                <a:latin typeface="Consolas" panose="020B0609020204030204" pitchFamily="49" charset="0"/>
              </a:rPr>
              <a:t>”);</a:t>
            </a:r>
          </a:p>
          <a:p>
            <a:pPr marL="0" indent="0">
              <a:buNone/>
            </a:pPr>
            <a:endParaRPr lang="en-IN" sz="1600" b="0" i="0" dirty="0">
              <a:solidFill>
                <a:srgbClr val="999999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dirty="0" err="1">
                <a:solidFill>
                  <a:srgbClr val="999999"/>
                </a:solidFill>
                <a:latin typeface="Consolas" panose="020B0609020204030204" pitchFamily="49" charset="0"/>
              </a:rPr>
              <a:t>document.write</a:t>
            </a:r>
            <a:r>
              <a:rPr lang="en-IN" sz="1600" dirty="0">
                <a:solidFill>
                  <a:srgbClr val="999999"/>
                </a:solidFill>
                <a:latin typeface="Consolas" panose="020B0609020204030204" pitchFamily="49" charset="0"/>
              </a:rPr>
              <a:t>(“bye”);</a:t>
            </a:r>
          </a:p>
          <a:p>
            <a:pPr marL="0" indent="0">
              <a:buNone/>
            </a:pPr>
            <a:endParaRPr lang="en-IN" sz="1600" b="0" i="0" dirty="0">
              <a:solidFill>
                <a:srgbClr val="999999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A4D1FD-2DED-4385-AD0D-246AABB655FD}"/>
              </a:ext>
            </a:extLst>
          </p:cNvPr>
          <p:cNvSpPr txBox="1"/>
          <p:nvPr/>
        </p:nvSpPr>
        <p:spPr>
          <a:xfrm>
            <a:off x="0" y="510540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dirty="0" err="1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(()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i="0" dirty="0"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alert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i="0" dirty="0"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'Hello'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lang="en-IN" b="0" i="0" dirty="0">
                <a:solidFill>
                  <a:srgbClr val="33333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b="0" i="0" dirty="0"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A101D8-8665-42C2-B192-0E01CB5F6FA2}"/>
              </a:ext>
            </a:extLst>
          </p:cNvPr>
          <p:cNvSpPr txBox="1"/>
          <p:nvPr/>
        </p:nvSpPr>
        <p:spPr>
          <a:xfrm>
            <a:off x="4572000" y="838200"/>
            <a:ext cx="4724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a=1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document.write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(“Hello 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st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”);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document.write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(“Hello call”);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}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8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tp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document.write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(“Hello </a:t>
            </a:r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tp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”);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IN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call();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0000"/>
                </a:solidFill>
                <a:latin typeface="Consolas" panose="020B0609020204030204" pitchFamily="49" charset="0"/>
              </a:rPr>
              <a:t>t</a:t>
            </a:r>
            <a:r>
              <a:rPr lang="en-IN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IN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document.write</a:t>
            </a:r>
            <a:r>
              <a:rPr lang="en-IN" dirty="0">
                <a:solidFill>
                  <a:srgbClr val="001080"/>
                </a:solidFill>
                <a:latin typeface="Consolas" panose="020B0609020204030204" pitchFamily="49" charset="0"/>
              </a:rPr>
              <a:t>(“bye”);</a:t>
            </a: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8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078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24FC0-6BB0-410C-BFC9-2F226780A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685800"/>
          </a:xfrm>
        </p:spPr>
        <p:txBody>
          <a:bodyPr>
            <a:noAutofit/>
          </a:bodyPr>
          <a:lstStyle/>
          <a:p>
            <a:r>
              <a:rPr lang="en-IN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setInterval</a:t>
            </a:r>
            <a:r>
              <a:rPr lang="en-IN" sz="2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() will call itself so </a:t>
            </a:r>
            <a:r>
              <a:rPr lang="en-IN" sz="2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becarefull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FE5C3-DD45-4782-A929-93E7D2198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33400"/>
            <a:ext cx="3962400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&lt;!DOCTYPE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html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&gt;&lt;head&gt;&lt;script&gt;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1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setInterval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"call()"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sz="11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1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1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(“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nm”)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++;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tp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"hi"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clearInterval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1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b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"textbox"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id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"nm"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"hi"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"start"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1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tp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1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1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1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"stop"</a:t>
            </a: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1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sz="11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1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B3CA82-BB16-412D-A847-9934C09DF490}"/>
              </a:ext>
            </a:extLst>
          </p:cNvPr>
          <p:cNvSpPr txBox="1">
            <a:spLocks/>
          </p:cNvSpPr>
          <p:nvPr/>
        </p:nvSpPr>
        <p:spPr>
          <a:xfrm>
            <a:off x="4648200" y="571500"/>
            <a:ext cx="3962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TRY THIS!!!!!!!!!!!!!!</a:t>
            </a: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&lt;!DOCTYPE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html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&gt;&lt;head&gt;&lt;script&gt;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001080"/>
                </a:solidFill>
                <a:latin typeface="Consolas" panose="020B0609020204030204" pitchFamily="49" charset="0"/>
              </a:rPr>
              <a:t>a=1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var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>
              <a:buFont typeface="Arial" pitchFamily="34" charset="0"/>
              <a:buNone/>
            </a:pPr>
            <a:b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795E26"/>
                </a:solidFill>
                <a:latin typeface="Consolas" panose="020B0609020204030204" pitchFamily="49" charset="0"/>
              </a:rPr>
              <a:t>call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Arial" pitchFamily="34" charset="0"/>
              <a:buNone/>
            </a:pPr>
            <a:r>
              <a:rPr lang="en-IN" sz="1100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</a:t>
            </a:r>
            <a:r>
              <a:rPr lang="en-IN" sz="11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sz="1100" dirty="0" err="1">
                <a:solidFill>
                  <a:srgbClr val="795E26"/>
                </a:solidFill>
                <a:latin typeface="Consolas" panose="020B0609020204030204" pitchFamily="49" charset="0"/>
              </a:rPr>
              <a:t>getElementById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(“</a:t>
            </a:r>
            <a:r>
              <a:rPr lang="en-IN" sz="1100" dirty="0">
                <a:solidFill>
                  <a:srgbClr val="001080"/>
                </a:solidFill>
                <a:latin typeface="Consolas" panose="020B0609020204030204" pitchFamily="49" charset="0"/>
              </a:rPr>
              <a:t>nm”)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sz="1100" dirty="0">
                <a:solidFill>
                  <a:srgbClr val="001080"/>
                </a:solidFill>
                <a:latin typeface="Consolas" panose="020B0609020204030204" pitchFamily="49" charset="0"/>
              </a:rPr>
              <a:t>value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1080"/>
                </a:solidFill>
                <a:latin typeface="Consolas" panose="020B0609020204030204" pitchFamily="49" charset="0"/>
              </a:rPr>
              <a:t>a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marL="0" indent="0">
              <a:buNone/>
            </a:pP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 err="1">
                <a:solidFill>
                  <a:srgbClr val="795E26"/>
                </a:solidFill>
                <a:latin typeface="Consolas" panose="020B0609020204030204" pitchFamily="49" charset="0"/>
              </a:rPr>
              <a:t>setInterval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"call()"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IN" sz="1100" dirty="0">
                <a:solidFill>
                  <a:srgbClr val="098658"/>
                </a:solidFill>
                <a:latin typeface="Consolas" panose="020B0609020204030204" pitchFamily="49" charset="0"/>
              </a:rPr>
              <a:t>1000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itchFamily="34" charset="0"/>
              <a:buNone/>
            </a:pP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 err="1">
                <a:solidFill>
                  <a:srgbClr val="795E26"/>
                </a:solidFill>
                <a:latin typeface="Consolas" panose="020B0609020204030204" pitchFamily="49" charset="0"/>
              </a:rPr>
              <a:t>tp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795E26"/>
                </a:solidFill>
                <a:latin typeface="Consolas" panose="020B0609020204030204" pitchFamily="49" charset="0"/>
              </a:rPr>
              <a:t>alert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A31515"/>
                </a:solidFill>
                <a:latin typeface="Consolas" panose="020B0609020204030204" pitchFamily="49" charset="0"/>
              </a:rPr>
              <a:t>"hi"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Arial" pitchFamily="34" charset="0"/>
              <a:buNone/>
            </a:pPr>
            <a:b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100" dirty="0" err="1">
                <a:solidFill>
                  <a:srgbClr val="795E26"/>
                </a:solidFill>
                <a:latin typeface="Consolas" panose="020B0609020204030204" pitchFamily="49" charset="0"/>
              </a:rPr>
              <a:t>clearInterval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100" dirty="0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Font typeface="Arial" pitchFamily="34" charset="0"/>
              <a:buNone/>
            </a:pPr>
            <a:b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&lt;/script&gt;&lt;/head&gt;&lt;body&gt;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&lt;input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"textbox"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"nm"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"hi"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&lt;input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"button"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"start"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onclick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“call()"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&lt;input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type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"button"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onclick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"</a:t>
            </a:r>
            <a:r>
              <a:rPr lang="en-IN" sz="1100" dirty="0" err="1">
                <a:solidFill>
                  <a:srgbClr val="795E26"/>
                </a:solidFill>
                <a:latin typeface="Consolas" panose="020B0609020204030204" pitchFamily="49" charset="0"/>
              </a:rPr>
              <a:t>tp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()"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IN" sz="1100" dirty="0">
                <a:solidFill>
                  <a:srgbClr val="FF0000"/>
                </a:solidFill>
                <a:latin typeface="Consolas" panose="020B0609020204030204" pitchFamily="49" charset="0"/>
              </a:rPr>
              <a:t>value</a:t>
            </a:r>
            <a:r>
              <a:rPr lang="en-IN" sz="11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100" dirty="0">
                <a:solidFill>
                  <a:srgbClr val="0000FF"/>
                </a:solidFill>
                <a:latin typeface="Consolas" panose="020B0609020204030204" pitchFamily="49" charset="0"/>
              </a:rPr>
              <a:t>"stop"</a:t>
            </a: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&lt;/body&gt;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IN" sz="1100" dirty="0">
                <a:solidFill>
                  <a:srgbClr val="800000"/>
                </a:solidFill>
                <a:latin typeface="Consolas" panose="020B0609020204030204" pitchFamily="49" charset="0"/>
              </a:rPr>
              <a:t>&lt;/html&gt;</a:t>
            </a:r>
            <a:endParaRPr lang="en-IN" sz="1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Font typeface="Arial" pitchFamily="34" charset="0"/>
              <a:buNone/>
            </a:pPr>
            <a:endParaRPr lang="en-IN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416CE6-019F-43F1-8A70-916C9AD11B9F}"/>
              </a:ext>
            </a:extLst>
          </p:cNvPr>
          <p:cNvSpPr txBox="1"/>
          <p:nvPr/>
        </p:nvSpPr>
        <p:spPr>
          <a:xfrm>
            <a:off x="838200" y="4953000"/>
            <a:ext cx="815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 err="1">
                <a:solidFill>
                  <a:srgbClr val="795E26"/>
                </a:solidFill>
                <a:latin typeface="Consolas" panose="020B0609020204030204" pitchFamily="49" charset="0"/>
              </a:rPr>
              <a:t>setInterval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800" dirty="0">
                <a:solidFill>
                  <a:srgbClr val="A31515"/>
                </a:solidFill>
                <a:latin typeface="Consolas" panose="020B0609020204030204" pitchFamily="49" charset="0"/>
              </a:rPr>
              <a:t>"call()"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IN" sz="1800" dirty="0">
                <a:solidFill>
                  <a:srgbClr val="098658"/>
                </a:solidFill>
                <a:latin typeface="Consolas" panose="020B0609020204030204" pitchFamily="49" charset="0"/>
              </a:rPr>
              <a:t>1000</a:t>
            </a:r>
            <a:r>
              <a:rPr lang="en-IN" sz="1800" dirty="0">
                <a:solidFill>
                  <a:srgbClr val="000000"/>
                </a:solidFill>
                <a:latin typeface="Consolas" panose="020B0609020204030204" pitchFamily="49" charset="0"/>
              </a:rPr>
              <a:t>); it will increase number faster </a:t>
            </a:r>
            <a:endParaRPr lang="en-I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70F21A2-9C5A-46CC-86E6-6D530E66E234}"/>
              </a:ext>
            </a:extLst>
          </p:cNvPr>
          <p:cNvGrpSpPr/>
          <p:nvPr/>
        </p:nvGrpSpPr>
        <p:grpSpPr>
          <a:xfrm>
            <a:off x="685800" y="5187573"/>
            <a:ext cx="4305299" cy="856951"/>
            <a:chOff x="2362199" y="5334000"/>
            <a:chExt cx="2628901" cy="577334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031363D-0BFF-4116-A8AC-A2127387E02E}"/>
                </a:ext>
              </a:extLst>
            </p:cNvPr>
            <p:cNvCxnSpPr/>
            <p:nvPr/>
          </p:nvCxnSpPr>
          <p:spPr>
            <a:xfrm flipH="1">
              <a:off x="2895600" y="5334000"/>
              <a:ext cx="6858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4070092-16C4-4AB9-87D2-C589BB229459}"/>
                </a:ext>
              </a:extLst>
            </p:cNvPr>
            <p:cNvSpPr/>
            <p:nvPr/>
          </p:nvSpPr>
          <p:spPr>
            <a:xfrm>
              <a:off x="2362199" y="5454134"/>
              <a:ext cx="854202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call()</a:t>
              </a:r>
            </a:p>
            <a:p>
              <a:pPr algn="ctr"/>
              <a:r>
                <a:rPr lang="en-US" dirty="0" err="1"/>
                <a:t>setInterval</a:t>
              </a:r>
              <a:r>
                <a:rPr lang="en-US" dirty="0"/>
                <a:t>()</a:t>
              </a:r>
              <a:endParaRPr lang="en-IN" dirty="0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4989458-DB87-4360-ABD0-02D390FAE504}"/>
                </a:ext>
              </a:extLst>
            </p:cNvPr>
            <p:cNvCxnSpPr/>
            <p:nvPr/>
          </p:nvCxnSpPr>
          <p:spPr>
            <a:xfrm>
              <a:off x="3581400" y="5334000"/>
              <a:ext cx="685800" cy="2402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B599DE9-879C-4DDC-AA26-779A7CD36973}"/>
                </a:ext>
              </a:extLst>
            </p:cNvPr>
            <p:cNvSpPr/>
            <p:nvPr/>
          </p:nvSpPr>
          <p:spPr>
            <a:xfrm>
              <a:off x="4305300" y="5417027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/>
                <a:t>Call()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20235CA-46B7-43F0-A23E-2A1FB4346D2C}"/>
              </a:ext>
            </a:extLst>
          </p:cNvPr>
          <p:cNvGrpSpPr/>
          <p:nvPr/>
        </p:nvGrpSpPr>
        <p:grpSpPr>
          <a:xfrm>
            <a:off x="381000" y="6066647"/>
            <a:ext cx="2406435" cy="640265"/>
            <a:chOff x="2040663" y="5334000"/>
            <a:chExt cx="2950437" cy="577334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AA3F1D4-29BC-4F5B-BFF1-F46EEBF0A762}"/>
                </a:ext>
              </a:extLst>
            </p:cNvPr>
            <p:cNvCxnSpPr/>
            <p:nvPr/>
          </p:nvCxnSpPr>
          <p:spPr>
            <a:xfrm flipH="1">
              <a:off x="2895600" y="5334000"/>
              <a:ext cx="6858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09C7E09-2A07-4CD1-99E5-C749A4FCE749}"/>
                </a:ext>
              </a:extLst>
            </p:cNvPr>
            <p:cNvSpPr/>
            <p:nvPr/>
          </p:nvSpPr>
          <p:spPr>
            <a:xfrm>
              <a:off x="2040663" y="5454134"/>
              <a:ext cx="854938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call()</a:t>
              </a:r>
            </a:p>
            <a:p>
              <a:pPr algn="ctr"/>
              <a:r>
                <a:rPr lang="en-US" sz="600" dirty="0" err="1"/>
                <a:t>setInterval</a:t>
              </a:r>
              <a:r>
                <a:rPr lang="en-US" sz="600" dirty="0"/>
                <a:t>()</a:t>
              </a:r>
              <a:endParaRPr lang="en-IN" sz="600" dirty="0"/>
            </a:p>
            <a:p>
              <a:pPr algn="ctr"/>
              <a:endParaRPr lang="en-IN" sz="600" dirty="0"/>
            </a:p>
          </p:txBody>
        </p: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0F11B90-6134-48A1-96E3-3E9DAB0A5B37}"/>
                </a:ext>
              </a:extLst>
            </p:cNvPr>
            <p:cNvCxnSpPr/>
            <p:nvPr/>
          </p:nvCxnSpPr>
          <p:spPr>
            <a:xfrm>
              <a:off x="3581400" y="5334000"/>
              <a:ext cx="685800" cy="2402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6C0B78DA-36BF-4A30-A024-84B1120C7901}"/>
                </a:ext>
              </a:extLst>
            </p:cNvPr>
            <p:cNvSpPr/>
            <p:nvPr/>
          </p:nvSpPr>
          <p:spPr>
            <a:xfrm>
              <a:off x="4305300" y="5417027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D012FA3-D6CD-4098-A85F-C4892800A7BD}"/>
              </a:ext>
            </a:extLst>
          </p:cNvPr>
          <p:cNvGrpSpPr/>
          <p:nvPr/>
        </p:nvGrpSpPr>
        <p:grpSpPr>
          <a:xfrm>
            <a:off x="3881437" y="5918025"/>
            <a:ext cx="1666875" cy="616143"/>
            <a:chOff x="2362200" y="5334000"/>
            <a:chExt cx="2628900" cy="577334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45C1D0-BD91-437B-AF1F-7E32DBD77228}"/>
                </a:ext>
              </a:extLst>
            </p:cNvPr>
            <p:cNvCxnSpPr/>
            <p:nvPr/>
          </p:nvCxnSpPr>
          <p:spPr>
            <a:xfrm flipH="1">
              <a:off x="2895600" y="5334000"/>
              <a:ext cx="685800" cy="1524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A230E74-0846-4D12-9C4A-F65960ADC4A1}"/>
                </a:ext>
              </a:extLst>
            </p:cNvPr>
            <p:cNvSpPr/>
            <p:nvPr/>
          </p:nvSpPr>
          <p:spPr>
            <a:xfrm>
              <a:off x="2362200" y="5454134"/>
              <a:ext cx="5334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C908BC9-EF4D-46E9-A6CC-24BF7771A630}"/>
                </a:ext>
              </a:extLst>
            </p:cNvPr>
            <p:cNvCxnSpPr/>
            <p:nvPr/>
          </p:nvCxnSpPr>
          <p:spPr>
            <a:xfrm>
              <a:off x="3581400" y="5334000"/>
              <a:ext cx="685800" cy="2402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F7A44D-6C57-4232-8725-40A110D720AC}"/>
                </a:ext>
              </a:extLst>
            </p:cNvPr>
            <p:cNvSpPr/>
            <p:nvPr/>
          </p:nvSpPr>
          <p:spPr>
            <a:xfrm>
              <a:off x="4305300" y="5417027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970745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24503-3BA9-4C21-A0D3-0661FCB32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400"/>
            <a:ext cx="8001000" cy="609600"/>
          </a:xfrm>
        </p:spPr>
        <p:txBody>
          <a:bodyPr>
            <a:normAutofit fontScale="90000"/>
          </a:bodyPr>
          <a:lstStyle/>
          <a:p>
            <a:r>
              <a:rPr lang="en-IN" dirty="0"/>
              <a:t>Changing Style dynamically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75F9E-EAAB-4EFE-9863-DE94F6D07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62000"/>
            <a:ext cx="8991600" cy="53641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"yellow"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"black"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style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background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"pink"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onmouseover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onmouseout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change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welcome to world of style and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1014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5576-EF23-4963-95A8-D35CF1A43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638"/>
            <a:ext cx="7848600" cy="457199"/>
          </a:xfrm>
        </p:spPr>
        <p:txBody>
          <a:bodyPr>
            <a:normAutofit fontScale="90000"/>
          </a:bodyPr>
          <a:lstStyle/>
          <a:p>
            <a:r>
              <a:rPr lang="en-IN" dirty="0"/>
              <a:t>Setting class: </a:t>
            </a:r>
            <a:r>
              <a:rPr lang="en-IN" dirty="0" err="1"/>
              <a:t>clasName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69DBE-36ED-436F-A521-B381FF6B70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&lt;html&gt;&lt;head&gt;&lt;style&gt;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background-color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yellow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font-size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red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.cc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 err="1">
                <a:solidFill>
                  <a:srgbClr val="0451A5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&lt;/style&gt;&lt;script&gt;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ob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"cl"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onmouseOver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"pr"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"cc"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welcome to world of style and 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dom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&lt;/html&gt;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7557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EF35D-CA12-4658-88EA-E0457907D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0"/>
            <a:ext cx="7924800" cy="533400"/>
          </a:xfrm>
        </p:spPr>
        <p:txBody>
          <a:bodyPr>
            <a:normAutofit fontScale="90000"/>
          </a:bodyPr>
          <a:lstStyle/>
          <a:p>
            <a:r>
              <a:rPr lang="en-IN" dirty="0"/>
              <a:t>All images are stored as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9C640-BFE6-4926-8DB6-8D8C3D6BF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" y="914400"/>
            <a:ext cx="5257800" cy="521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&lt;html&gt;&lt;head&gt;&lt;script&gt;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images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mg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"b.bmp"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</a:t>
            </a:r>
            <a:r>
              <a:rPr lang="en-IN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document.images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[0].</a:t>
            </a:r>
            <a:r>
              <a:rPr lang="en-IN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="b.bmp";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getElementById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"b.bmp"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backimg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document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mg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sz="16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"a.bmp"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&lt;/script&gt;&lt;/head&gt;&lt;body&gt;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"a.bmp"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"mg"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“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onmouseover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callme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()“</a:t>
            </a:r>
          </a:p>
          <a:p>
            <a:pPr marL="0" indent="0">
              <a:buNone/>
            </a:pP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onmouseout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IN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backimg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()"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"p.bmp"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img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src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"x.bmp"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&lt;/body&gt;&lt;/html&gt;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16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55298FA-31E8-4721-81C9-943E14654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643221"/>
              </p:ext>
            </p:extLst>
          </p:nvPr>
        </p:nvGraphicFramePr>
        <p:xfrm>
          <a:off x="5181600" y="1303867"/>
          <a:ext cx="3478530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930">
                  <a:extLst>
                    <a:ext uri="{9D8B030D-6E8A-4147-A177-3AD203B41FA5}">
                      <a16:colId xmlns:a16="http://schemas.microsoft.com/office/drawing/2014/main" val="353876058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793747979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175279755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57835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lang="en-IN"/>
                        <a:t>a.</a:t>
                      </a:r>
                      <a:r>
                        <a:rPr lang="en-IN" dirty="0"/>
                        <a:t>bmp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p.bmp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X.bmp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84282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4BA35742-D2E8-4EF0-9E65-2E6052BD7173}"/>
              </a:ext>
            </a:extLst>
          </p:cNvPr>
          <p:cNvSpPr/>
          <p:nvPr/>
        </p:nvSpPr>
        <p:spPr>
          <a:xfrm>
            <a:off x="4191000" y="478367"/>
            <a:ext cx="10668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Images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2575794-76F6-472E-BE93-E1671B61ABFC}"/>
              </a:ext>
            </a:extLst>
          </p:cNvPr>
          <p:cNvCxnSpPr>
            <a:cxnSpLocks/>
          </p:cNvCxnSpPr>
          <p:nvPr/>
        </p:nvCxnSpPr>
        <p:spPr>
          <a:xfrm>
            <a:off x="4953000" y="901700"/>
            <a:ext cx="30480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716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2448</TotalTime>
  <Words>3398</Words>
  <Application>Microsoft Office PowerPoint</Application>
  <PresentationFormat>On-screen Show (4:3)</PresentationFormat>
  <Paragraphs>575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Consolas</vt:lpstr>
      <vt:lpstr>Office Theme</vt:lpstr>
      <vt:lpstr>PowerPoint Presentation</vt:lpstr>
      <vt:lpstr>DOM</vt:lpstr>
      <vt:lpstr>getElementById("pr") returns Object</vt:lpstr>
      <vt:lpstr>PowerPoint Presentation</vt:lpstr>
      <vt:lpstr>PowerPoint Presentation</vt:lpstr>
      <vt:lpstr>Be careful</vt:lpstr>
      <vt:lpstr>Read Value of TextBox</vt:lpstr>
      <vt:lpstr>PowerPoint Presentation</vt:lpstr>
      <vt:lpstr>classList</vt:lpstr>
      <vt:lpstr>classList</vt:lpstr>
      <vt:lpstr>getElementsByClassName("example");</vt:lpstr>
      <vt:lpstr>classList.add("anotherClass"): allow you to add css class to a tag </vt:lpstr>
      <vt:lpstr>Better way of writing code kidnap only one time</vt:lpstr>
      <vt:lpstr>classList.remove("anotherClass") : Remove CSS class Dynamically </vt:lpstr>
      <vt:lpstr>PowerPoint Presentation</vt:lpstr>
      <vt:lpstr>contains("anotherClass") : Return boolean</vt:lpstr>
      <vt:lpstr>toggle("anotherClass") return boolen</vt:lpstr>
      <vt:lpstr>querySelectorAll("p")/querySelector("p")</vt:lpstr>
      <vt:lpstr>PowerPoint Presentation</vt:lpstr>
      <vt:lpstr>Getter setter for Attribute</vt:lpstr>
      <vt:lpstr>setTimeout() simply delay the job</vt:lpstr>
      <vt:lpstr>setTimeout batter way</vt:lpstr>
      <vt:lpstr>setInterval() will call itself so becarefull</vt:lpstr>
      <vt:lpstr>Changing Style dynamically </vt:lpstr>
      <vt:lpstr>Setting class: clasName</vt:lpstr>
      <vt:lpstr>All images are stored as Array</vt:lpstr>
    </vt:vector>
  </TitlesOfParts>
  <Company>vita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DOM</dc:title>
  <dc:creator>ketki</dc:creator>
  <cp:lastModifiedBy>sriram mantri vidyanidhi infotech academy</cp:lastModifiedBy>
  <cp:revision>107</cp:revision>
  <dcterms:created xsi:type="dcterms:W3CDTF">2009-08-31T03:28:29Z</dcterms:created>
  <dcterms:modified xsi:type="dcterms:W3CDTF">2024-12-03T06:58:13Z</dcterms:modified>
</cp:coreProperties>
</file>