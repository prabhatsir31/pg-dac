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67" r:id="rId4"/>
    <p:sldId id="268" r:id="rId5"/>
    <p:sldId id="26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E2B1E-781B-4CE2-8835-C3081E1FC7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265EC-3EAF-4B75-9417-7001AA620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0FBA0-E423-4E7C-9E93-715A5DC4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A5050-0F62-4F23-820B-4B9031A871B9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EDDB0-F858-4426-B6B2-649D5EEA4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B0829-7264-41F7-A5BE-344BA32BA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36CE2-AECB-4049-BBCE-7BE32C937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079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6E359-0CB9-4FE2-A311-9C052DCBF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06E7E-65A5-4563-B411-55C0C6168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03B7C-DD9C-4144-A666-FE0C0B9DD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A5050-0F62-4F23-820B-4B9031A871B9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2FEA5-4719-4791-AEAE-F93B0526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187A5-DD45-4492-B834-85D3702B9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36CE2-AECB-4049-BBCE-7BE32C937E4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770B91-2E81-4A13-8210-39B7D05855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2119"/>
            <a:ext cx="1282699" cy="85753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F83BF7E-ECA1-4DDA-9D3A-52D82AAD85F3}"/>
              </a:ext>
            </a:extLst>
          </p:cNvPr>
          <p:cNvSpPr/>
          <p:nvPr userDrawn="1"/>
        </p:nvSpPr>
        <p:spPr>
          <a:xfrm>
            <a:off x="304800" y="6587168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589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681E8-4E80-47F6-A4B9-04155F991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171DE-AAD1-4B56-8767-04DED9EA6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A80E5-1F41-46F4-BADC-0978196F5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A5050-0F62-4F23-820B-4B9031A871B9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F3BD0-0B3C-429F-805C-494443A7C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B62A8-4C80-4202-A3E5-DD90F1AF3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36CE2-AECB-4049-BBCE-7BE32C937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751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BCC43-9392-4387-99F2-A231112D9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A54EA-59DE-4B85-A3BD-DF868756E7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627907-7DD8-457A-B131-8FE4307D3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1B34F-E7CB-4896-AE4D-27ABB365D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A5050-0F62-4F23-820B-4B9031A871B9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FDFA4-D9FA-4F49-83C0-DD759728F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1AF31-9658-443E-A7B1-344CEBAEE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36CE2-AECB-4049-BBCE-7BE32C937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656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FBC4C-86A2-4E8E-A65A-E0AAB5F9C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62D82-9101-4F33-BB4E-FF1A66B01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0E066A-E6D9-410B-8A68-1FBDB6C79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4DB1D5-97EB-4AFA-95BA-066E78CF8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19C5F4-FE63-426B-B49D-B6AFBD3C89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597B9E-36AE-45F9-A4F4-904FFFAE6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A5050-0F62-4F23-820B-4B9031A871B9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6E0F0A-146B-4373-B9D3-92DF944B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2F7648-1494-4191-8E4E-2656567CA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36CE2-AECB-4049-BBCE-7BE32C937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2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8E0EA-7E7F-49D3-B19F-4A3D1A7BB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83A052-B846-4F20-BA18-4FBCEC1E0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A5050-0F62-4F23-820B-4B9031A871B9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BDBC7C-9C4C-4647-926B-0681BB8BB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697C2A-2DF1-4C87-AC1E-51454D73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36CE2-AECB-4049-BBCE-7BE32C937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97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D13FFF-FE7A-4EFB-BE18-B70B0C195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A5050-0F62-4F23-820B-4B9031A871B9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400215-9B3B-42CF-B530-E191AE927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DB02F-AA6B-4F03-9BF2-F0161E69D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36CE2-AECB-4049-BBCE-7BE32C937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405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176C6-0BC5-415E-9693-6D1314631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9B1A8-7291-4045-8CF0-986ED8936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17E060-2F95-465F-9EF4-67B141EEB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7B82E-247A-451F-BB9B-5471A6F93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A5050-0F62-4F23-820B-4B9031A871B9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9C44AE-DF80-4787-9D19-5E0359811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EF6C6D-84DB-4997-98F0-3CC002D82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36CE2-AECB-4049-BBCE-7BE32C937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786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917A5-40A3-4CDA-8EEF-635B4DD85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2CC924-79AC-4DDB-BB1B-740195343B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986C4D-2C5D-426E-98C9-A58DFF12B8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854A62-2761-4E7B-A102-8157BB00B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A5050-0F62-4F23-820B-4B9031A871B9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A765C-8B67-4CBF-AFFE-9C6DB47E5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82220-1311-42BF-A2A3-0A7AB93FC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36CE2-AECB-4049-BBCE-7BE32C937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34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2ACBF-C610-454A-B31B-F45AA6854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D64F1A-A6E7-47E3-AAB3-A0EC4316A9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CD3A7-17C4-485B-A3EC-2D41B24C0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A5050-0F62-4F23-820B-4B9031A871B9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7D68E-3EFD-4351-BD15-BCFCA92FD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8242A-33C6-478F-92DB-41AA7D2E3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36CE2-AECB-4049-BBCE-7BE32C937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830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768174-9F13-4774-A94F-C4EE4B64B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DDF81C-1AAF-4821-BE81-9A69A03F56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DFEB9-77D8-45F7-AF0E-F03CB55DA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A5050-0F62-4F23-820B-4B9031A871B9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92241-0183-4142-8497-B9BCC861D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88687-EA23-4449-B7DC-825B935BC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36CE2-AECB-4049-BBCE-7BE32C937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88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D6F14E-BCF6-4FE7-A07D-93ECE747C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68DEE-98B0-4A9D-942C-7669CE5133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46864-F6E8-4E1F-9DB6-94CF3316AA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A5050-0F62-4F23-820B-4B9031A871B9}" type="datetimeFigureOut">
              <a:rPr lang="en-IN" smtClean="0"/>
              <a:t>09-01-2024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EA0B2-DF03-4C42-93FA-69FA81B73F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B22A5-460E-4AF0-8E42-00BE207BB1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836CE2-AECB-4049-BBCE-7BE32C937E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293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8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3067050" y="3886201"/>
            <a:ext cx="2457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 dirty="0"/>
              <a:t>9769201036</a:t>
            </a:r>
          </a:p>
          <a:p>
            <a:r>
              <a:rPr lang="en-IN" sz="1350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F7553-E1C1-4F58-B99A-BA6717411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533" y="4762"/>
            <a:ext cx="3251200" cy="676275"/>
          </a:xfrm>
        </p:spPr>
        <p:txBody>
          <a:bodyPr>
            <a:normAutofit fontScale="90000"/>
          </a:bodyPr>
          <a:lstStyle/>
          <a:p>
            <a:r>
              <a:rPr lang="en-IN" dirty="0"/>
              <a:t>Event object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400F5A-DB01-4E95-A57D-32B5C60851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6631679"/>
              </p:ext>
            </p:extLst>
          </p:nvPr>
        </p:nvGraphicFramePr>
        <p:xfrm>
          <a:off x="326644" y="959696"/>
          <a:ext cx="7754112" cy="396240"/>
        </p:xfrm>
        <a:graphic>
          <a:graphicData uri="http://schemas.openxmlformats.org/drawingml/2006/table">
            <a:tbl>
              <a:tblPr/>
              <a:tblGrid>
                <a:gridCol w="3877056">
                  <a:extLst>
                    <a:ext uri="{9D8B030D-6E8A-4147-A177-3AD203B41FA5}">
                      <a16:colId xmlns:a16="http://schemas.microsoft.com/office/drawing/2014/main" val="248647764"/>
                    </a:ext>
                  </a:extLst>
                </a:gridCol>
                <a:gridCol w="3877056">
                  <a:extLst>
                    <a:ext uri="{9D8B030D-6E8A-4147-A177-3AD203B41FA5}">
                      <a16:colId xmlns:a16="http://schemas.microsoft.com/office/drawing/2014/main" val="27983961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Event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The parent of all event objects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75445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438839C-91BA-407F-B4ED-87F4E24FC93F}"/>
              </a:ext>
            </a:extLst>
          </p:cNvPr>
          <p:cNvSpPr txBox="1"/>
          <p:nvPr/>
        </p:nvSpPr>
        <p:spPr>
          <a:xfrm>
            <a:off x="389466" y="1725643"/>
            <a:ext cx="969433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800000"/>
                </a:solidFill>
                <a:effectLst/>
                <a:latin typeface="Garamond" panose="02020404030301010803" pitchFamily="18" charset="0"/>
              </a:rPr>
              <a:t>html&gt;&lt;head&gt;&lt;script</a:t>
            </a:r>
            <a:r>
              <a:rPr lang="en-IN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Garamond" panose="02020404030301010803" pitchFamily="18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Garamond" panose="02020404030301010803" pitchFamily="18" charset="0"/>
              </a:rPr>
              <a:t>"text/</a:t>
            </a:r>
            <a:r>
              <a:rPr lang="en-IN" b="0" dirty="0" err="1">
                <a:solidFill>
                  <a:srgbClr val="0000FF"/>
                </a:solidFill>
                <a:effectLst/>
                <a:latin typeface="Garamond" panose="02020404030301010803" pitchFamily="18" charset="0"/>
              </a:rPr>
              <a:t>javascript</a:t>
            </a:r>
            <a:r>
              <a:rPr lang="en-IN" b="0" dirty="0">
                <a:solidFill>
                  <a:srgbClr val="0000FF"/>
                </a:solidFill>
                <a:effectLst/>
                <a:latin typeface="Garamond" panose="02020404030301010803" pitchFamily="18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Garamond" panose="02020404030301010803" pitchFamily="18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Garamond" panose="02020404030301010803" pitchFamily="18" charset="0"/>
            </a:endParaRPr>
          </a:p>
          <a:p>
            <a:r>
              <a:rPr lang="en-IN" b="0" dirty="0">
                <a:solidFill>
                  <a:srgbClr val="0000FF"/>
                </a:solidFill>
                <a:effectLst/>
                <a:latin typeface="Garamond" panose="02020404030301010803" pitchFamily="18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 </a:t>
            </a:r>
            <a:r>
              <a:rPr lang="en-IN" b="0" dirty="0" err="1">
                <a:solidFill>
                  <a:srgbClr val="795E26"/>
                </a:solidFill>
                <a:effectLst/>
                <a:latin typeface="Garamond" panose="02020404030301010803" pitchFamily="18" charset="0"/>
              </a:rPr>
              <a:t>whichType</a:t>
            </a:r>
            <a:r>
              <a:rPr lang="en-IN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()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{	</a:t>
            </a:r>
            <a:r>
              <a:rPr lang="en-IN" b="0" dirty="0">
                <a:solidFill>
                  <a:srgbClr val="795E26"/>
                </a:solidFill>
                <a:effectLst/>
                <a:latin typeface="Garamond" panose="02020404030301010803" pitchFamily="18" charset="0"/>
              </a:rPr>
              <a:t>alert</a:t>
            </a:r>
            <a:r>
              <a:rPr lang="en-IN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Garamond" panose="02020404030301010803" pitchFamily="18" charset="0"/>
              </a:rPr>
              <a:t>event</a:t>
            </a:r>
            <a:r>
              <a:rPr lang="en-IN" b="0" dirty="0" err="1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.</a:t>
            </a:r>
            <a:r>
              <a:rPr lang="en-IN" b="0" dirty="0" err="1">
                <a:solidFill>
                  <a:srgbClr val="0070C1"/>
                </a:solidFill>
                <a:effectLst/>
                <a:latin typeface="Garamond" panose="02020404030301010803" pitchFamily="18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)</a:t>
            </a:r>
          </a:p>
          <a:p>
            <a:r>
              <a:rPr lang="en-IN" dirty="0">
                <a:solidFill>
                  <a:srgbClr val="001080"/>
                </a:solidFill>
                <a:latin typeface="Garamond" panose="02020404030301010803" pitchFamily="18" charset="0"/>
              </a:rPr>
              <a:t>	</a:t>
            </a:r>
            <a:r>
              <a:rPr lang="en-IN" b="0" dirty="0">
                <a:solidFill>
                  <a:srgbClr val="001080"/>
                </a:solidFill>
                <a:effectLst/>
                <a:latin typeface="Garamond" panose="02020404030301010803" pitchFamily="18" charset="0"/>
              </a:rPr>
              <a:t>console</a:t>
            </a:r>
            <a:r>
              <a:rPr lang="en-IN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Garamond" panose="02020404030301010803" pitchFamily="18" charset="0"/>
              </a:rPr>
              <a:t>log</a:t>
            </a:r>
            <a:r>
              <a:rPr lang="en-IN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Garamond" panose="02020404030301010803" pitchFamily="18" charset="0"/>
              </a:rPr>
              <a:t>event</a:t>
            </a:r>
            <a:r>
              <a:rPr lang="en-IN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}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Garamond" panose="02020404030301010803" pitchFamily="18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Garamond" panose="02020404030301010803" pitchFamily="18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Garamond" panose="02020404030301010803" pitchFamily="18" charset="0"/>
              </a:rPr>
              <a:t>&lt;/head&gt;</a:t>
            </a:r>
            <a:endParaRPr lang="en-IN" b="0" dirty="0">
              <a:solidFill>
                <a:srgbClr val="000000"/>
              </a:solidFill>
              <a:effectLst/>
              <a:latin typeface="Garamond" panose="02020404030301010803" pitchFamily="18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Garamond" panose="02020404030301010803" pitchFamily="18" charset="0"/>
              </a:rPr>
              <a:t>&lt;body</a:t>
            </a:r>
            <a:r>
              <a:rPr lang="en-IN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 </a:t>
            </a:r>
            <a:r>
              <a:rPr lang="en-IN" b="0" dirty="0" err="1">
                <a:solidFill>
                  <a:srgbClr val="FF0000"/>
                </a:solidFill>
                <a:effectLst/>
                <a:latin typeface="Garamond" panose="02020404030301010803" pitchFamily="18" charset="0"/>
              </a:rPr>
              <a:t>onkeydown</a:t>
            </a:r>
            <a:r>
              <a:rPr lang="en-IN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Garamond" panose="02020404030301010803" pitchFamily="18" charset="0"/>
              </a:rPr>
              <a:t>"</a:t>
            </a:r>
            <a:r>
              <a:rPr lang="en-IN" b="0" dirty="0" err="1">
                <a:solidFill>
                  <a:srgbClr val="795E26"/>
                </a:solidFill>
                <a:effectLst/>
                <a:latin typeface="Garamond" panose="02020404030301010803" pitchFamily="18" charset="0"/>
              </a:rPr>
              <a:t>whichType</a:t>
            </a:r>
            <a:r>
              <a:rPr lang="en-IN" b="0" dirty="0">
                <a:solidFill>
                  <a:srgbClr val="0000FF"/>
                </a:solidFill>
                <a:effectLst/>
                <a:latin typeface="Garamond" panose="02020404030301010803" pitchFamily="18" charset="0"/>
              </a:rPr>
              <a:t>()"</a:t>
            </a:r>
            <a:r>
              <a:rPr lang="en-IN" b="0" dirty="0">
                <a:solidFill>
                  <a:srgbClr val="800000"/>
                </a:solidFill>
                <a:effectLst/>
                <a:latin typeface="Garamond" panose="02020404030301010803" pitchFamily="18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Garamond" panose="02020404030301010803" pitchFamily="18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Garamond" panose="02020404030301010803" pitchFamily="18" charset="0"/>
              </a:rPr>
              <a:t>&lt;p&gt;</a:t>
            </a:r>
            <a:endParaRPr lang="en-IN" b="0" dirty="0">
              <a:solidFill>
                <a:srgbClr val="000000"/>
              </a:solidFill>
              <a:effectLst/>
              <a:latin typeface="Garamond" panose="02020404030301010803" pitchFamily="18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press any key. An alert box will alert which type of event occurred.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Garamond" panose="02020404030301010803" pitchFamily="18" charset="0"/>
              </a:rPr>
              <a:t>&lt;/p&gt;</a:t>
            </a:r>
            <a:endParaRPr lang="en-IN" b="0" dirty="0">
              <a:solidFill>
                <a:srgbClr val="000000"/>
              </a:solidFill>
              <a:effectLst/>
              <a:latin typeface="Garamond" panose="02020404030301010803" pitchFamily="18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Garamond" panose="02020404030301010803" pitchFamily="18" charset="0"/>
              </a:rPr>
              <a:t>&lt;/body&gt;</a:t>
            </a:r>
            <a:endParaRPr lang="en-IN" b="0" dirty="0">
              <a:solidFill>
                <a:srgbClr val="000000"/>
              </a:solidFill>
              <a:effectLst/>
              <a:latin typeface="Garamond" panose="02020404030301010803" pitchFamily="18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Garamond" panose="02020404030301010803" pitchFamily="18" charset="0"/>
              </a:rPr>
              <a:t>&lt;/html&gt;</a:t>
            </a:r>
            <a:endParaRPr lang="en-IN" b="0" dirty="0">
              <a:solidFill>
                <a:srgbClr val="000000"/>
              </a:solidFill>
              <a:effectLst/>
              <a:latin typeface="Garamond" panose="02020404030301010803" pitchFamily="18" charset="0"/>
            </a:endParaRP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742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53E43-E324-4B7F-B611-3DCEF09C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0" y="365126"/>
            <a:ext cx="9956800" cy="315912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screenX</a:t>
            </a:r>
            <a:r>
              <a:rPr lang="en-IN" dirty="0"/>
              <a:t>- </a:t>
            </a:r>
            <a:r>
              <a:rPr lang="en-IN" dirty="0" err="1"/>
              <a:t>clientX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5B6CC-BCA0-463A-B871-8AA292591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266" y="750357"/>
            <a:ext cx="4834467" cy="56165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&lt;head&gt;&lt;script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coordinates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screenX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screenY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"X="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 Y="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clientX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clientY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"X 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coords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 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 Y 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coords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 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onmousedown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coordinates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Click somewhere in the document. An alert box will alert    the x and y coordinates of the cursor, relative to the  screen.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189035-7B7D-4270-9D1B-E406A0D2CDE9}"/>
              </a:ext>
            </a:extLst>
          </p:cNvPr>
          <p:cNvSpPr txBox="1"/>
          <p:nvPr/>
        </p:nvSpPr>
        <p:spPr>
          <a:xfrm>
            <a:off x="6106582" y="553555"/>
            <a:ext cx="39962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screenX</a:t>
            </a:r>
            <a:r>
              <a:rPr lang="en-IN" dirty="0"/>
              <a:t> means within your desktop screen it will return x, y coordinates</a:t>
            </a:r>
          </a:p>
          <a:p>
            <a:endParaRPr lang="en-IN" dirty="0"/>
          </a:p>
          <a:p>
            <a:r>
              <a:rPr lang="en-IN" dirty="0"/>
              <a:t>client means within a browser . It will </a:t>
            </a:r>
            <a:r>
              <a:rPr lang="en-IN" dirty="0" err="1"/>
              <a:t>resturn</a:t>
            </a:r>
            <a:r>
              <a:rPr lang="en-IN" dirty="0"/>
              <a:t> </a:t>
            </a:r>
            <a:r>
              <a:rPr lang="en-IN" dirty="0" err="1"/>
              <a:t>x,y</a:t>
            </a:r>
            <a:r>
              <a:rPr lang="en-IN" dirty="0"/>
              <a:t> coordinates of browser</a:t>
            </a:r>
          </a:p>
          <a:p>
            <a:r>
              <a:rPr lang="en-IN" dirty="0" err="1"/>
              <a:t>client,Y</a:t>
            </a:r>
            <a:r>
              <a:rPr lang="en-IN" dirty="0"/>
              <a:t>=0,0</a:t>
            </a:r>
          </a:p>
          <a:p>
            <a:r>
              <a:rPr lang="en-IN" dirty="0" err="1"/>
              <a:t>screenX,Y</a:t>
            </a:r>
            <a:r>
              <a:rPr lang="en-IN" dirty="0"/>
              <a:t>=10,10</a:t>
            </a:r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723B01-B6DC-4F31-BB9D-16A199FC50FD}"/>
              </a:ext>
            </a:extLst>
          </p:cNvPr>
          <p:cNvSpPr/>
          <p:nvPr/>
        </p:nvSpPr>
        <p:spPr>
          <a:xfrm>
            <a:off x="6764867" y="3064258"/>
            <a:ext cx="4131733" cy="31672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AA38EB-DD41-4053-893C-B1BA5575FBB8}"/>
              </a:ext>
            </a:extLst>
          </p:cNvPr>
          <p:cNvSpPr/>
          <p:nvPr/>
        </p:nvSpPr>
        <p:spPr>
          <a:xfrm>
            <a:off x="7628467" y="3429000"/>
            <a:ext cx="2463800" cy="26500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A88D0BE-85C3-4811-84F9-C4010B175BA4}"/>
              </a:ext>
            </a:extLst>
          </p:cNvPr>
          <p:cNvCxnSpPr/>
          <p:nvPr/>
        </p:nvCxnSpPr>
        <p:spPr>
          <a:xfrm flipV="1">
            <a:off x="9931400" y="2396067"/>
            <a:ext cx="474133" cy="804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57FC600-B16B-405D-9059-9D0989F4D7C0}"/>
              </a:ext>
            </a:extLst>
          </p:cNvPr>
          <p:cNvSpPr txBox="1"/>
          <p:nvPr/>
        </p:nvSpPr>
        <p:spPr>
          <a:xfrm>
            <a:off x="10168466" y="1928502"/>
            <a:ext cx="139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screen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AE1E1D0-398C-4BB7-8E50-335A734E5B60}"/>
              </a:ext>
            </a:extLst>
          </p:cNvPr>
          <p:cNvCxnSpPr>
            <a:cxnSpLocks/>
          </p:cNvCxnSpPr>
          <p:nvPr/>
        </p:nvCxnSpPr>
        <p:spPr>
          <a:xfrm flipV="1">
            <a:off x="9812867" y="2649729"/>
            <a:ext cx="1401233" cy="11010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4BB41DB-5554-41CD-891E-F423AE2DA910}"/>
              </a:ext>
            </a:extLst>
          </p:cNvPr>
          <p:cNvSpPr txBox="1"/>
          <p:nvPr/>
        </p:nvSpPr>
        <p:spPr>
          <a:xfrm>
            <a:off x="11142133" y="2392865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browser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72BE14D-8624-439D-A3F6-21F549E2FBBB}"/>
              </a:ext>
            </a:extLst>
          </p:cNvPr>
          <p:cNvCxnSpPr/>
          <p:nvPr/>
        </p:nvCxnSpPr>
        <p:spPr>
          <a:xfrm>
            <a:off x="7645398" y="3429000"/>
            <a:ext cx="0" cy="321733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3663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9A79E-6BD7-4F24-B93A-03B57CBD5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2400" y="76201"/>
            <a:ext cx="8661399" cy="457200"/>
          </a:xfrm>
        </p:spPr>
        <p:txBody>
          <a:bodyPr>
            <a:normAutofit fontScale="90000"/>
          </a:bodyPr>
          <a:lstStyle/>
          <a:p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currentTarget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FFE83-76B8-4D3A-9176-15CFA10B6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667" y="880533"/>
            <a:ext cx="5418666" cy="529643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Garamond" panose="02020404030301010803" pitchFamily="18" charset="0"/>
              </a:rPr>
              <a:t>&lt;!DOCTYPE</a:t>
            </a:r>
            <a:r>
              <a:rPr lang="en-US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 </a:t>
            </a:r>
            <a:r>
              <a:rPr lang="en-US" b="0" dirty="0">
                <a:solidFill>
                  <a:srgbClr val="FF0000"/>
                </a:solidFill>
                <a:effectLst/>
                <a:latin typeface="Garamond" panose="02020404030301010803" pitchFamily="18" charset="0"/>
              </a:rPr>
              <a:t>html</a:t>
            </a:r>
            <a:r>
              <a:rPr lang="en-US" b="0" dirty="0">
                <a:solidFill>
                  <a:srgbClr val="800000"/>
                </a:solidFill>
                <a:effectLst/>
                <a:latin typeface="Garamond" panose="02020404030301010803" pitchFamily="18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Garamond" panose="02020404030301010803" pitchFamily="18" charset="0"/>
              </a:rPr>
              <a:t>&lt;html&gt;</a:t>
            </a:r>
            <a:endParaRPr lang="en-US" b="0" dirty="0">
              <a:solidFill>
                <a:srgbClr val="000000"/>
              </a:solidFill>
              <a:effectLst/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Garamond" panose="02020404030301010803" pitchFamily="18" charset="0"/>
              </a:rPr>
              <a:t>&lt;body</a:t>
            </a:r>
            <a:r>
              <a:rPr lang="en-US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 </a:t>
            </a:r>
            <a:r>
              <a:rPr lang="en-US" b="0" dirty="0">
                <a:solidFill>
                  <a:srgbClr val="FF0000"/>
                </a:solidFill>
                <a:effectLst/>
                <a:latin typeface="Garamond" panose="02020404030301010803" pitchFamily="18" charset="0"/>
              </a:rPr>
              <a:t>onclick</a:t>
            </a:r>
            <a:r>
              <a:rPr lang="en-US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=</a:t>
            </a:r>
            <a:r>
              <a:rPr lang="en-US" b="0" dirty="0">
                <a:solidFill>
                  <a:srgbClr val="0000FF"/>
                </a:solidFill>
                <a:effectLst/>
                <a:latin typeface="Garamond" panose="02020404030301010803" pitchFamily="18" charset="0"/>
              </a:rPr>
              <a:t>"</a:t>
            </a:r>
            <a:r>
              <a:rPr lang="en-US" b="0" dirty="0" err="1">
                <a:solidFill>
                  <a:srgbClr val="795E26"/>
                </a:solidFill>
                <a:effectLst/>
                <a:latin typeface="Garamond" panose="02020404030301010803" pitchFamily="18" charset="0"/>
              </a:rPr>
              <a:t>myFunction</a:t>
            </a:r>
            <a:r>
              <a:rPr lang="en-US" b="0" dirty="0">
                <a:solidFill>
                  <a:srgbClr val="0000FF"/>
                </a:solidFill>
                <a:effectLst/>
                <a:latin typeface="Garamond" panose="02020404030301010803" pitchFamily="18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Garamond" panose="02020404030301010803" pitchFamily="18" charset="0"/>
              </a:rPr>
              <a:t>event</a:t>
            </a:r>
            <a:r>
              <a:rPr lang="en-US" b="0" dirty="0">
                <a:solidFill>
                  <a:srgbClr val="0000FF"/>
                </a:solidFill>
                <a:effectLst/>
                <a:latin typeface="Garamond" panose="02020404030301010803" pitchFamily="18" charset="0"/>
              </a:rPr>
              <a:t>)"</a:t>
            </a:r>
            <a:r>
              <a:rPr lang="en-US" b="0" dirty="0">
                <a:solidFill>
                  <a:srgbClr val="800000"/>
                </a:solidFill>
                <a:effectLst/>
                <a:latin typeface="Garamond" panose="02020404030301010803" pitchFamily="18" charset="0"/>
              </a:rPr>
              <a:t>&gt;</a:t>
            </a:r>
            <a:endParaRPr lang="en-US" b="0" dirty="0">
              <a:solidFill>
                <a:srgbClr val="000000"/>
              </a:solidFill>
              <a:effectLst/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Garamond" panose="02020404030301010803" pitchFamily="18" charset="0"/>
              </a:rPr>
              <a:t>&lt;p&gt;</a:t>
            </a:r>
            <a:r>
              <a:rPr lang="en-US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Click on a paragraph. An alert box will alert the element whose </a:t>
            </a:r>
            <a:r>
              <a:rPr lang="en-US" b="0" dirty="0" err="1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eventlistener</a:t>
            </a:r>
            <a:r>
              <a:rPr lang="en-US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 triggered the event.</a:t>
            </a:r>
            <a:r>
              <a:rPr lang="en-US" b="0" dirty="0">
                <a:solidFill>
                  <a:srgbClr val="800000"/>
                </a:solidFill>
                <a:effectLst/>
                <a:latin typeface="Garamond" panose="02020404030301010803" pitchFamily="18" charset="0"/>
              </a:rPr>
              <a:t>&lt;/p&gt;</a:t>
            </a:r>
            <a:endParaRPr lang="en-US" b="0" dirty="0">
              <a:solidFill>
                <a:srgbClr val="000000"/>
              </a:solidFill>
              <a:effectLst/>
              <a:latin typeface="Garamond" panose="02020404030301010803" pitchFamily="18" charset="0"/>
            </a:endParaRPr>
          </a:p>
          <a:p>
            <a:pPr marL="0" indent="0">
              <a:buNone/>
            </a:pPr>
            <a:endParaRPr lang="en-US" b="0" dirty="0">
              <a:solidFill>
                <a:srgbClr val="800000"/>
              </a:solidFill>
              <a:effectLst/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Garamond" panose="02020404030301010803" pitchFamily="18" charset="0"/>
              </a:rPr>
              <a:t>&lt;p&gt;&lt;strong&gt;</a:t>
            </a:r>
            <a:r>
              <a:rPr lang="en-US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Note:</a:t>
            </a:r>
            <a:r>
              <a:rPr lang="en-US" b="0" dirty="0">
                <a:solidFill>
                  <a:srgbClr val="800000"/>
                </a:solidFill>
                <a:effectLst/>
                <a:latin typeface="Garamond" panose="02020404030301010803" pitchFamily="18" charset="0"/>
              </a:rPr>
              <a:t>&lt;/strong&gt;</a:t>
            </a:r>
            <a:r>
              <a:rPr lang="en-US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 The </a:t>
            </a:r>
            <a:r>
              <a:rPr lang="en-US" b="0" dirty="0" err="1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currentTarget</a:t>
            </a:r>
            <a:r>
              <a:rPr lang="en-US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 property does not necessarily return the element that was clicked on, but the element whose </a:t>
            </a:r>
            <a:r>
              <a:rPr lang="en-US" b="0" dirty="0" err="1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eventlistener</a:t>
            </a:r>
            <a:r>
              <a:rPr lang="en-US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 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triggered the event.</a:t>
            </a:r>
            <a:r>
              <a:rPr lang="en-US" b="0" dirty="0">
                <a:solidFill>
                  <a:srgbClr val="800000"/>
                </a:solidFill>
                <a:effectLst/>
                <a:latin typeface="Garamond" panose="02020404030301010803" pitchFamily="18" charset="0"/>
              </a:rPr>
              <a:t>&lt;/p&gt;</a:t>
            </a:r>
            <a:endParaRPr lang="en-US" b="0" dirty="0">
              <a:solidFill>
                <a:srgbClr val="000000"/>
              </a:solidFill>
              <a:effectLst/>
              <a:latin typeface="Garamond" panose="02020404030301010803" pitchFamily="18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</a:br>
            <a:r>
              <a:rPr lang="en-US" b="0" dirty="0">
                <a:solidFill>
                  <a:srgbClr val="800000"/>
                </a:solidFill>
                <a:effectLst/>
                <a:latin typeface="Garamond" panose="02020404030301010803" pitchFamily="18" charset="0"/>
              </a:rPr>
              <a:t>&lt;script&gt;</a:t>
            </a:r>
            <a:endParaRPr lang="en-US" b="0" dirty="0">
              <a:solidFill>
                <a:srgbClr val="000000"/>
              </a:solidFill>
              <a:effectLst/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Garamond" panose="02020404030301010803" pitchFamily="18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 </a:t>
            </a:r>
            <a:r>
              <a:rPr lang="en-US" b="0" dirty="0" err="1">
                <a:solidFill>
                  <a:srgbClr val="795E26"/>
                </a:solidFill>
                <a:effectLst/>
                <a:latin typeface="Garamond" panose="02020404030301010803" pitchFamily="18" charset="0"/>
              </a:rPr>
              <a:t>myFunction</a:t>
            </a:r>
            <a:r>
              <a:rPr lang="en-US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Garamond" panose="02020404030301010803" pitchFamily="18" charset="0"/>
              </a:rPr>
              <a:t>event</a:t>
            </a:r>
            <a:r>
              <a:rPr lang="en-US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 { 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    </a:t>
            </a:r>
            <a:r>
              <a:rPr lang="en-US" b="0" dirty="0">
                <a:solidFill>
                  <a:srgbClr val="795E26"/>
                </a:solidFill>
                <a:effectLst/>
                <a:latin typeface="Garamond" panose="02020404030301010803" pitchFamily="18" charset="0"/>
              </a:rPr>
              <a:t>alert</a:t>
            </a:r>
            <a:r>
              <a:rPr lang="en-US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Garamond" panose="02020404030301010803" pitchFamily="18" charset="0"/>
              </a:rPr>
              <a:t>event</a:t>
            </a:r>
            <a:r>
              <a:rPr lang="en-US" b="0" dirty="0" err="1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Garamond" panose="02020404030301010803" pitchFamily="18" charset="0"/>
              </a:rPr>
              <a:t>currentTarget</a:t>
            </a:r>
            <a:r>
              <a:rPr lang="en-US" b="0" dirty="0" err="1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Garamond" panose="02020404030301010803" pitchFamily="18" charset="0"/>
              </a:rPr>
              <a:t>nodeName</a:t>
            </a:r>
            <a:r>
              <a:rPr lang="en-US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}</a:t>
            </a:r>
          </a:p>
          <a:p>
            <a:pPr marL="0" indent="0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Garamond" panose="02020404030301010803" pitchFamily="18" charset="0"/>
              </a:rPr>
              <a:t>&lt;/script&gt;</a:t>
            </a:r>
            <a:endParaRPr lang="en-US" b="0" dirty="0">
              <a:solidFill>
                <a:srgbClr val="000000"/>
              </a:solidFill>
              <a:effectLst/>
              <a:latin typeface="Garamond" panose="02020404030301010803" pitchFamily="18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</a:br>
            <a:r>
              <a:rPr lang="en-US" b="0" dirty="0">
                <a:solidFill>
                  <a:srgbClr val="800000"/>
                </a:solidFill>
                <a:effectLst/>
                <a:latin typeface="Garamond" panose="02020404030301010803" pitchFamily="18" charset="0"/>
              </a:rPr>
              <a:t>&lt;/body&gt;</a:t>
            </a:r>
            <a:endParaRPr lang="en-US" b="0" dirty="0">
              <a:solidFill>
                <a:srgbClr val="000000"/>
              </a:solidFill>
              <a:effectLst/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Garamond" panose="02020404030301010803" pitchFamily="18" charset="0"/>
              </a:rPr>
              <a:t>&lt;/html&gt;</a:t>
            </a:r>
            <a:endParaRPr lang="en-US" b="0" dirty="0">
              <a:solidFill>
                <a:srgbClr val="000000"/>
              </a:solidFill>
              <a:effectLst/>
              <a:latin typeface="Garamond" panose="02020404030301010803" pitchFamily="18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B4931C-FDB4-4F31-AE5D-A9C6C8A78FEE}"/>
              </a:ext>
            </a:extLst>
          </p:cNvPr>
          <p:cNvSpPr txBox="1"/>
          <p:nvPr/>
        </p:nvSpPr>
        <p:spPr>
          <a:xfrm>
            <a:off x="5842000" y="533400"/>
            <a:ext cx="6350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Click on a paragraph. An alert box will alert the element whose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eventlistener</a:t>
            </a:r>
            <a:r>
              <a:rPr lang="en-US" sz="1400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 triggered the event.[in our example it is body tag]</a:t>
            </a:r>
          </a:p>
          <a:p>
            <a:endParaRPr lang="en-US" sz="1400" b="0" dirty="0">
              <a:solidFill>
                <a:srgbClr val="000000"/>
              </a:solidFill>
              <a:effectLst/>
              <a:latin typeface="Garamond" panose="02020404030301010803" pitchFamily="18" charset="0"/>
            </a:endParaRPr>
          </a:p>
          <a:p>
            <a:r>
              <a:rPr lang="en-US" sz="1400" b="0" dirty="0" err="1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Note:The</a:t>
            </a:r>
            <a:r>
              <a:rPr lang="en-US" sz="1400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currentTarget</a:t>
            </a:r>
            <a:r>
              <a:rPr lang="en-US" sz="1400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 property does not necessarily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return the element that was clicked on, but the element whose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eventlistener</a:t>
            </a:r>
            <a:r>
              <a:rPr lang="en-US" sz="1400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 triggered the event.</a:t>
            </a:r>
          </a:p>
          <a:p>
            <a:endParaRPr lang="en-US" sz="1400" b="0" dirty="0">
              <a:solidFill>
                <a:srgbClr val="000000"/>
              </a:solidFill>
              <a:effectLst/>
              <a:latin typeface="Garamond" panose="02020404030301010803" pitchFamily="18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The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currentTarget</a:t>
            </a:r>
            <a:r>
              <a:rPr lang="en-US" sz="1400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 event property returns the element whose 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event listeners triggered the event.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This is particularly useful during capturing and bubbling.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The 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currentTarget</a:t>
            </a:r>
            <a:r>
              <a:rPr lang="en-US" sz="1400" b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 property always refers to the element whose event listener triggered the event, opposed to  the target property, which returns the element that triggered the event.</a:t>
            </a:r>
          </a:p>
          <a:p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700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56C93-F437-4CAD-836A-8A6B3F810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0867" y="136526"/>
            <a:ext cx="9922933" cy="633942"/>
          </a:xfrm>
        </p:spPr>
        <p:txBody>
          <a:bodyPr>
            <a:normAutofit fontScale="90000"/>
          </a:bodyPr>
          <a:lstStyle/>
          <a:p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5522D-03F4-4D8C-96EC-EA03D7E5F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566" y="770468"/>
            <a:ext cx="11590867" cy="360150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Click on any elements in this document to find out which element triggered the onclick event.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 is a heading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 is a button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"Triggered by a 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nodeName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 element"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&lt;/script&gt;&lt;/body&gt;&lt;/html&gt;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14D4AA-2E11-40C6-91D4-4F16A9140917}"/>
              </a:ext>
            </a:extLst>
          </p:cNvPr>
          <p:cNvSpPr txBox="1"/>
          <p:nvPr/>
        </p:nvSpPr>
        <p:spPr>
          <a:xfrm>
            <a:off x="474133" y="4371977"/>
            <a:ext cx="79840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Event.target</a:t>
            </a:r>
            <a:r>
              <a:rPr lang="en-IN" dirty="0"/>
              <a:t> display t 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which element triggered the onclick event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If you click on p tag  it will print</a:t>
            </a:r>
          </a:p>
          <a:p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Triggered by a "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 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 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 element</a:t>
            </a:r>
          </a:p>
          <a:p>
            <a:endParaRPr lang="en-IN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endParaRPr lang="en-IN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If you click on button</a:t>
            </a:r>
          </a:p>
          <a:p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Triggered by a "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 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 element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8CFA15-523A-9A57-A307-E24DBEF8F74E}"/>
              </a:ext>
            </a:extLst>
          </p:cNvPr>
          <p:cNvSpPr txBox="1"/>
          <p:nvPr/>
        </p:nvSpPr>
        <p:spPr>
          <a:xfrm>
            <a:off x="8179904" y="4790661"/>
            <a:ext cx="2971800" cy="172940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883DDC-8EDB-CEC4-11EF-FA90A53300AC}"/>
              </a:ext>
            </a:extLst>
          </p:cNvPr>
          <p:cNvSpPr/>
          <p:nvPr/>
        </p:nvSpPr>
        <p:spPr>
          <a:xfrm>
            <a:off x="8631767" y="5854148"/>
            <a:ext cx="1282147" cy="606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Button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8BF096-0248-D359-14A2-26120713DC68}"/>
              </a:ext>
            </a:extLst>
          </p:cNvPr>
          <p:cNvSpPr txBox="1"/>
          <p:nvPr/>
        </p:nvSpPr>
        <p:spPr>
          <a:xfrm>
            <a:off x="8458200" y="5188226"/>
            <a:ext cx="2097157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H1------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6389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649</Words>
  <Application>Microsoft Office PowerPoint</Application>
  <PresentationFormat>Widescreen</PresentationFormat>
  <Paragraphs>98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Cambria</vt:lpstr>
      <vt:lpstr>Consolas</vt:lpstr>
      <vt:lpstr>Garamond</vt:lpstr>
      <vt:lpstr>Office Theme</vt:lpstr>
      <vt:lpstr>PowerPoint Presentation</vt:lpstr>
      <vt:lpstr>Event object</vt:lpstr>
      <vt:lpstr>screenX- clientX</vt:lpstr>
      <vt:lpstr>event.currentTarget</vt:lpstr>
      <vt:lpstr>event.Target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vidyanidhi school</cp:lastModifiedBy>
  <cp:revision>15</cp:revision>
  <dcterms:created xsi:type="dcterms:W3CDTF">2020-12-02T07:38:04Z</dcterms:created>
  <dcterms:modified xsi:type="dcterms:W3CDTF">2024-01-09T06:33:19Z</dcterms:modified>
</cp:coreProperties>
</file>