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61" r:id="rId3"/>
    <p:sldId id="262" r:id="rId4"/>
    <p:sldId id="307" r:id="rId5"/>
    <p:sldId id="263" r:id="rId6"/>
    <p:sldId id="308" r:id="rId7"/>
    <p:sldId id="309" r:id="rId8"/>
    <p:sldId id="31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8" r:id="rId17"/>
    <p:sldId id="317" r:id="rId18"/>
    <p:sldId id="32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50FC8-C577-4D23-8330-E4D6F73BFAE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E74D3-C4F8-4E12-B68B-D9D56912A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E74D3-C4F8-4E12-B68B-D9D56912A4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13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E74D3-C4F8-4E12-B68B-D9D56912A47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0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D0BDA-E760-449D-91B9-873A68AF1315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B50B-647F-4F93-84DE-331695EF2A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1906F-7124-4D8F-9534-D569D0082FD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0703A1-F382-446D-A20D-C9CC30487B15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E546-8727-4837-AA69-5EB22E05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Entire page is array of data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824849-5E04-48D3-8C9F-C4D2074F2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1873" b="44894"/>
          <a:stretch/>
        </p:blipFill>
        <p:spPr>
          <a:xfrm>
            <a:off x="33867" y="25400"/>
            <a:ext cx="9166579" cy="502919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C5D7DD-9B8C-4780-AB98-AAD1C21EA05B}"/>
              </a:ext>
            </a:extLst>
          </p:cNvPr>
          <p:cNvSpPr/>
          <p:nvPr/>
        </p:nvSpPr>
        <p:spPr>
          <a:xfrm>
            <a:off x="5105400" y="15240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Forms-[0]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8D9D2-3BBD-4955-880B-6397EF2DC738}"/>
              </a:ext>
            </a:extLst>
          </p:cNvPr>
          <p:cNvSpPr/>
          <p:nvPr/>
        </p:nvSpPr>
        <p:spPr>
          <a:xfrm>
            <a:off x="5334000" y="2523068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Forms-[1]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6EECAF-8F4B-4F77-BC73-A9D2B8522D92}"/>
              </a:ext>
            </a:extLst>
          </p:cNvPr>
          <p:cNvSpPr/>
          <p:nvPr/>
        </p:nvSpPr>
        <p:spPr>
          <a:xfrm>
            <a:off x="914400" y="1363132"/>
            <a:ext cx="161995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Elements[0]  </a:t>
            </a:r>
            <a:r>
              <a:rPr lang="en-US" dirty="0" err="1"/>
              <a:t>radiobutton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92F32-6AA0-48F6-917F-35DBA56A6CD6}"/>
              </a:ext>
            </a:extLst>
          </p:cNvPr>
          <p:cNvSpPr/>
          <p:nvPr/>
        </p:nvSpPr>
        <p:spPr>
          <a:xfrm>
            <a:off x="1447800" y="1904999"/>
            <a:ext cx="161995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Elements[1]  </a:t>
            </a:r>
            <a:r>
              <a:rPr lang="en-US" dirty="0" err="1"/>
              <a:t>radiobutton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5DF07-D5EA-4DC4-8FB7-CF2C18694A9B}"/>
              </a:ext>
            </a:extLst>
          </p:cNvPr>
          <p:cNvSpPr/>
          <p:nvPr/>
        </p:nvSpPr>
        <p:spPr>
          <a:xfrm>
            <a:off x="3196169" y="1752601"/>
            <a:ext cx="1619954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Elements[2]  </a:t>
            </a:r>
          </a:p>
          <a:p>
            <a:pPr algn="ctr"/>
            <a:r>
              <a:rPr lang="en-US" dirty="0"/>
              <a:t>button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A05FD5-DE97-459B-8A40-BB8E06BB0C0C}"/>
              </a:ext>
            </a:extLst>
          </p:cNvPr>
          <p:cNvSpPr/>
          <p:nvPr/>
        </p:nvSpPr>
        <p:spPr>
          <a:xfrm>
            <a:off x="1371600" y="2751664"/>
            <a:ext cx="161995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Elements[0]  </a:t>
            </a:r>
            <a:r>
              <a:rPr lang="en-US" dirty="0" err="1"/>
              <a:t>radiobutton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05145-6C91-4698-93C2-F7823E18D04A}"/>
              </a:ext>
            </a:extLst>
          </p:cNvPr>
          <p:cNvSpPr/>
          <p:nvPr/>
        </p:nvSpPr>
        <p:spPr>
          <a:xfrm>
            <a:off x="1464733" y="3369730"/>
            <a:ext cx="161995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Elements[1]  </a:t>
            </a:r>
            <a:r>
              <a:rPr lang="en-US" dirty="0" err="1"/>
              <a:t>radiobutton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739DCA-625F-4E69-BF42-DE2B94A4102A}"/>
              </a:ext>
            </a:extLst>
          </p:cNvPr>
          <p:cNvSpPr/>
          <p:nvPr/>
        </p:nvSpPr>
        <p:spPr>
          <a:xfrm>
            <a:off x="3276600" y="3242730"/>
            <a:ext cx="1619954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Elements[2]  </a:t>
            </a:r>
          </a:p>
          <a:p>
            <a:pPr algn="ctr"/>
            <a:r>
              <a:rPr lang="en-US" dirty="0"/>
              <a:t>button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2D1E1-70E2-4FF3-8373-B0E2F39F3030}"/>
              </a:ext>
            </a:extLst>
          </p:cNvPr>
          <p:cNvSpPr/>
          <p:nvPr/>
        </p:nvSpPr>
        <p:spPr>
          <a:xfrm>
            <a:off x="762000" y="5257800"/>
            <a:ext cx="8153400" cy="1190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data in page are in form of Array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90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214D2-D76D-427A-B2D2-B6F99B64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10067"/>
            <a:ext cx="6248400" cy="24807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69352-39D7-4C86-847D-783CF3DC76F7}"/>
              </a:ext>
            </a:extLst>
          </p:cNvPr>
          <p:cNvSpPr txBox="1"/>
          <p:nvPr/>
        </p:nvSpPr>
        <p:spPr>
          <a:xfrm>
            <a:off x="50799" y="2590800"/>
            <a:ext cx="90085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&lt;legend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Forms[0]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&lt;/legend&gt;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"better"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better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"best"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best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call2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&lt;legend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Forms[1]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&lt;/legend&gt;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"Form[1]"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"mm"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yes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"second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call2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50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E7F8079-3524-4CD1-999E-0DAADF990D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82600" y="584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Programming the Web</a:t>
            </a:r>
            <a:br>
              <a:rPr lang="en-US" altLang="en-US"/>
            </a:br>
            <a:r>
              <a:rPr lang="en-US" altLang="en-US" sz="2800"/>
              <a:t>DHTML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9AFE341-AE36-43CA-8C5F-12A9F53C8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DHTML Document Object Model (DOM)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276DB96C-88A0-4A2C-B73C-6DBBF82BE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14600"/>
            <a:ext cx="7924800" cy="381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20C2E180-05E9-4014-B205-A1987DA5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3079750"/>
            <a:ext cx="7781925" cy="31035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73D2B714-9488-47E1-A998-CD4EB9E60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784600"/>
            <a:ext cx="7499350" cy="2257425"/>
          </a:xfrm>
          <a:prstGeom prst="rect">
            <a:avLst/>
          </a:prstGeom>
          <a:gradFill rotWithShape="1">
            <a:gsLst>
              <a:gs pos="0">
                <a:srgbClr val="99C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B035CF9B-7705-41EB-86D0-B976D08F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4572000"/>
            <a:ext cx="6438900" cy="1411288"/>
          </a:xfrm>
          <a:prstGeom prst="rect">
            <a:avLst/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8" name="Rectangle 8">
            <a:extLst>
              <a:ext uri="{FF2B5EF4-FFF2-40B4-BE49-F238E27FC236}">
                <a16:creationId xmlns:a16="http://schemas.microsoft.com/office/drawing/2014/main" id="{7444D76C-E476-4470-9FE5-2FF219CD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02175"/>
            <a:ext cx="1131888" cy="917575"/>
          </a:xfrm>
          <a:prstGeom prst="rect">
            <a:avLst/>
          </a:prstGeom>
          <a:gradFill rotWithShape="1">
            <a:gsLst>
              <a:gs pos="0">
                <a:srgbClr val="9966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9" name="Rectangle 9">
            <a:extLst>
              <a:ext uri="{FF2B5EF4-FFF2-40B4-BE49-F238E27FC236}">
                <a16:creationId xmlns:a16="http://schemas.microsoft.com/office/drawing/2014/main" id="{2BE265A6-AB72-43C8-A3D8-C57257B6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2655888"/>
            <a:ext cx="1203325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window</a:t>
            </a:r>
          </a:p>
        </p:txBody>
      </p:sp>
      <p:sp>
        <p:nvSpPr>
          <p:cNvPr id="76810" name="Rectangle 10">
            <a:extLst>
              <a:ext uri="{FF2B5EF4-FFF2-40B4-BE49-F238E27FC236}">
                <a16:creationId xmlns:a16="http://schemas.microsoft.com/office/drawing/2014/main" id="{7C0D361D-6E09-4448-834A-A0BB207D8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history</a:t>
            </a:r>
          </a:p>
        </p:txBody>
      </p:sp>
      <p:sp>
        <p:nvSpPr>
          <p:cNvPr id="76811" name="Rectangle 11">
            <a:extLst>
              <a:ext uri="{FF2B5EF4-FFF2-40B4-BE49-F238E27FC236}">
                <a16:creationId xmlns:a16="http://schemas.microsoft.com/office/drawing/2014/main" id="{5EBD156C-9A28-42EA-858C-972E3E426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document</a:t>
            </a:r>
          </a:p>
        </p:txBody>
      </p:sp>
      <p:sp>
        <p:nvSpPr>
          <p:cNvPr id="76812" name="Rectangle 12">
            <a:extLst>
              <a:ext uri="{FF2B5EF4-FFF2-40B4-BE49-F238E27FC236}">
                <a16:creationId xmlns:a16="http://schemas.microsoft.com/office/drawing/2014/main" id="{91D38088-5BF1-4DA0-8702-566A574E3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38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location</a:t>
            </a:r>
          </a:p>
        </p:txBody>
      </p:sp>
      <p:sp>
        <p:nvSpPr>
          <p:cNvPr id="76813" name="Rectangle 13">
            <a:extLst>
              <a:ext uri="{FF2B5EF4-FFF2-40B4-BE49-F238E27FC236}">
                <a16:creationId xmlns:a16="http://schemas.microsoft.com/office/drawing/2014/main" id="{1A3E9575-899A-4D03-A503-CA0D4FC5A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screen</a:t>
            </a:r>
          </a:p>
        </p:txBody>
      </p:sp>
      <p:sp>
        <p:nvSpPr>
          <p:cNvPr id="76814" name="Rectangle 14">
            <a:extLst>
              <a:ext uri="{FF2B5EF4-FFF2-40B4-BE49-F238E27FC236}">
                <a16:creationId xmlns:a16="http://schemas.microsoft.com/office/drawing/2014/main" id="{12B2296C-7F76-4748-A945-026C2968F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all</a:t>
            </a:r>
          </a:p>
        </p:txBody>
      </p:sp>
      <p:sp>
        <p:nvSpPr>
          <p:cNvPr id="76815" name="Rectangle 15">
            <a:extLst>
              <a:ext uri="{FF2B5EF4-FFF2-40B4-BE49-F238E27FC236}">
                <a16:creationId xmlns:a16="http://schemas.microsoft.com/office/drawing/2014/main" id="{16A5ABA0-CF16-4917-9907-B7DCBBAA5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location</a:t>
            </a:r>
          </a:p>
        </p:txBody>
      </p:sp>
      <p:sp>
        <p:nvSpPr>
          <p:cNvPr id="76816" name="Rectangle 16">
            <a:extLst>
              <a:ext uri="{FF2B5EF4-FFF2-40B4-BE49-F238E27FC236}">
                <a16:creationId xmlns:a16="http://schemas.microsoft.com/office/drawing/2014/main" id="{129F0112-E969-4642-9C56-474248847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children</a:t>
            </a:r>
          </a:p>
        </p:txBody>
      </p:sp>
      <p:sp>
        <p:nvSpPr>
          <p:cNvPr id="76817" name="Rectangle 17">
            <a:extLst>
              <a:ext uri="{FF2B5EF4-FFF2-40B4-BE49-F238E27FC236}">
                <a16:creationId xmlns:a16="http://schemas.microsoft.com/office/drawing/2014/main" id="{6848E6EF-4CAD-4CCA-96E3-8DCF23106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38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selection</a:t>
            </a:r>
          </a:p>
        </p:txBody>
      </p:sp>
      <p:sp>
        <p:nvSpPr>
          <p:cNvPr id="76818" name="Rectangle 18">
            <a:extLst>
              <a:ext uri="{FF2B5EF4-FFF2-40B4-BE49-F238E27FC236}">
                <a16:creationId xmlns:a16="http://schemas.microsoft.com/office/drawing/2014/main" id="{4383CF94-32FF-443D-B3AE-4EE43E775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forms</a:t>
            </a:r>
          </a:p>
        </p:txBody>
      </p:sp>
      <p:sp>
        <p:nvSpPr>
          <p:cNvPr id="76819" name="Rectangle 19">
            <a:extLst>
              <a:ext uri="{FF2B5EF4-FFF2-40B4-BE49-F238E27FC236}">
                <a16:creationId xmlns:a16="http://schemas.microsoft.com/office/drawing/2014/main" id="{9AF773EE-5F7A-4C7D-AA57-3DC5FB183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body</a:t>
            </a:r>
          </a:p>
        </p:txBody>
      </p:sp>
      <p:sp>
        <p:nvSpPr>
          <p:cNvPr id="76820" name="Rectangle 20">
            <a:extLst>
              <a:ext uri="{FF2B5EF4-FFF2-40B4-BE49-F238E27FC236}">
                <a16:creationId xmlns:a16="http://schemas.microsoft.com/office/drawing/2014/main" id="{D92D7E78-33F6-4674-A7FE-FF160EEC9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225" y="406717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links</a:t>
            </a:r>
          </a:p>
        </p:txBody>
      </p:sp>
      <p:sp>
        <p:nvSpPr>
          <p:cNvPr id="76821" name="Rectangle 21">
            <a:extLst>
              <a:ext uri="{FF2B5EF4-FFF2-40B4-BE49-F238E27FC236}">
                <a16:creationId xmlns:a16="http://schemas.microsoft.com/office/drawing/2014/main" id="{16310E9F-8CE7-4C4C-90A5-A156F3D4F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477202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text</a:t>
            </a:r>
          </a:p>
        </p:txBody>
      </p:sp>
      <p:sp>
        <p:nvSpPr>
          <p:cNvPr id="76822" name="Rectangle 22">
            <a:extLst>
              <a:ext uri="{FF2B5EF4-FFF2-40B4-BE49-F238E27FC236}">
                <a16:creationId xmlns:a16="http://schemas.microsoft.com/office/drawing/2014/main" id="{9F4F4BF0-210E-4D7E-8A30-73CC3EFC9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477202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button</a:t>
            </a:r>
          </a:p>
        </p:txBody>
      </p:sp>
      <p:sp>
        <p:nvSpPr>
          <p:cNvPr id="76823" name="Rectangle 23">
            <a:extLst>
              <a:ext uri="{FF2B5EF4-FFF2-40B4-BE49-F238E27FC236}">
                <a16:creationId xmlns:a16="http://schemas.microsoft.com/office/drawing/2014/main" id="{857F1EE3-9D85-4F95-B4C5-665E83D68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77202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radio</a:t>
            </a:r>
          </a:p>
        </p:txBody>
      </p:sp>
      <p:sp>
        <p:nvSpPr>
          <p:cNvPr id="76824" name="Rectangle 24">
            <a:extLst>
              <a:ext uri="{FF2B5EF4-FFF2-40B4-BE49-F238E27FC236}">
                <a16:creationId xmlns:a16="http://schemas.microsoft.com/office/drawing/2014/main" id="{AC5047D1-703C-4665-97FC-B8A933BF1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477202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textarea</a:t>
            </a:r>
          </a:p>
        </p:txBody>
      </p:sp>
      <p:sp>
        <p:nvSpPr>
          <p:cNvPr id="76825" name="Rectangle 25">
            <a:extLst>
              <a:ext uri="{FF2B5EF4-FFF2-40B4-BE49-F238E27FC236}">
                <a16:creationId xmlns:a16="http://schemas.microsoft.com/office/drawing/2014/main" id="{D6E0FB30-9FD9-4AED-B302-628548BF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4772025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select</a:t>
            </a:r>
          </a:p>
        </p:txBody>
      </p:sp>
      <p:sp>
        <p:nvSpPr>
          <p:cNvPr id="76826" name="Rectangle 26">
            <a:extLst>
              <a:ext uri="{FF2B5EF4-FFF2-40B4-BE49-F238E27FC236}">
                <a16:creationId xmlns:a16="http://schemas.microsoft.com/office/drawing/2014/main" id="{FAE0FF61-7FCA-44F2-A864-CCA6F1BB4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638" y="5124450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password</a:t>
            </a:r>
          </a:p>
        </p:txBody>
      </p:sp>
      <p:sp>
        <p:nvSpPr>
          <p:cNvPr id="76827" name="Rectangle 27">
            <a:extLst>
              <a:ext uri="{FF2B5EF4-FFF2-40B4-BE49-F238E27FC236}">
                <a16:creationId xmlns:a16="http://schemas.microsoft.com/office/drawing/2014/main" id="{853116E3-D0D9-4CD8-A8A4-050C4F7BC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5478463"/>
            <a:ext cx="990600" cy="280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file</a:t>
            </a:r>
          </a:p>
        </p:txBody>
      </p:sp>
      <p:sp>
        <p:nvSpPr>
          <p:cNvPr id="76828" name="Rectangle 28">
            <a:extLst>
              <a:ext uri="{FF2B5EF4-FFF2-40B4-BE49-F238E27FC236}">
                <a16:creationId xmlns:a16="http://schemas.microsoft.com/office/drawing/2014/main" id="{C9ADD449-0F62-46B4-A913-F46E1D3EE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24450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checkbox</a:t>
            </a:r>
          </a:p>
        </p:txBody>
      </p:sp>
      <p:sp>
        <p:nvSpPr>
          <p:cNvPr id="76829" name="Rectangle 29">
            <a:extLst>
              <a:ext uri="{FF2B5EF4-FFF2-40B4-BE49-F238E27FC236}">
                <a16:creationId xmlns:a16="http://schemas.microsoft.com/office/drawing/2014/main" id="{61C20AD5-B355-4C57-9FDD-90730F080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5124450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submit</a:t>
            </a:r>
          </a:p>
        </p:txBody>
      </p:sp>
      <p:sp>
        <p:nvSpPr>
          <p:cNvPr id="76830" name="Rectangle 30">
            <a:extLst>
              <a:ext uri="{FF2B5EF4-FFF2-40B4-BE49-F238E27FC236}">
                <a16:creationId xmlns:a16="http://schemas.microsoft.com/office/drawing/2014/main" id="{3FC537B1-B57B-4E49-A52C-DCF50B786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5478463"/>
            <a:ext cx="990600" cy="280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reset</a:t>
            </a:r>
          </a:p>
        </p:txBody>
      </p:sp>
      <p:sp>
        <p:nvSpPr>
          <p:cNvPr id="76831" name="Rectangle 31">
            <a:extLst>
              <a:ext uri="{FF2B5EF4-FFF2-40B4-BE49-F238E27FC236}">
                <a16:creationId xmlns:a16="http://schemas.microsoft.com/office/drawing/2014/main" id="{5AE5DB9D-6297-4F86-8F29-0BD3F0CE3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5265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option</a:t>
            </a:r>
          </a:p>
        </p:txBody>
      </p:sp>
      <p:sp>
        <p:nvSpPr>
          <p:cNvPr id="76832" name="Line 32">
            <a:extLst>
              <a:ext uri="{FF2B5EF4-FFF2-40B4-BE49-F238E27FC236}">
                <a16:creationId xmlns:a16="http://schemas.microsoft.com/office/drawing/2014/main" id="{B80BF7F8-4643-4757-93DF-F3D5EAA04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063" y="4630738"/>
            <a:ext cx="5095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3" name="Line 33">
            <a:extLst>
              <a:ext uri="{FF2B5EF4-FFF2-40B4-BE49-F238E27FC236}">
                <a16:creationId xmlns:a16="http://schemas.microsoft.com/office/drawing/2014/main" id="{425F7901-E583-415E-A7C6-926676086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063" y="46307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4" name="Line 34">
            <a:extLst>
              <a:ext uri="{FF2B5EF4-FFF2-40B4-BE49-F238E27FC236}">
                <a16:creationId xmlns:a16="http://schemas.microsoft.com/office/drawing/2014/main" id="{6D403EC9-4B0B-42D8-A71C-B97E800738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4630738"/>
            <a:ext cx="0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5" name="Line 35">
            <a:extLst>
              <a:ext uri="{FF2B5EF4-FFF2-40B4-BE49-F238E27FC236}">
                <a16:creationId xmlns:a16="http://schemas.microsoft.com/office/drawing/2014/main" id="{CBD9B5F9-77A6-45E6-803F-6DC4673B1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2088" y="4630738"/>
            <a:ext cx="0" cy="847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6" name="Line 36">
            <a:extLst>
              <a:ext uri="{FF2B5EF4-FFF2-40B4-BE49-F238E27FC236}">
                <a16:creationId xmlns:a16="http://schemas.microsoft.com/office/drawing/2014/main" id="{1AAF284F-33BA-4009-9BBE-34BBA736BE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8675" y="46307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7" name="Line 37">
            <a:extLst>
              <a:ext uri="{FF2B5EF4-FFF2-40B4-BE49-F238E27FC236}">
                <a16:creationId xmlns:a16="http://schemas.microsoft.com/office/drawing/2014/main" id="{1A8A2AAC-2029-4987-A0E3-ABAF957DAA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5413" y="4630738"/>
            <a:ext cx="0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8" name="Line 38">
            <a:extLst>
              <a:ext uri="{FF2B5EF4-FFF2-40B4-BE49-F238E27FC236}">
                <a16:creationId xmlns:a16="http://schemas.microsoft.com/office/drawing/2014/main" id="{2D2EE278-4D79-4004-BC07-F6BE4CAA9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6307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39" name="Line 39">
            <a:extLst>
              <a:ext uri="{FF2B5EF4-FFF2-40B4-BE49-F238E27FC236}">
                <a16:creationId xmlns:a16="http://schemas.microsoft.com/office/drawing/2014/main" id="{85D1BD7C-FE27-47BE-9F4E-6478AA0A5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8738" y="4630738"/>
            <a:ext cx="0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0" name="Line 40">
            <a:extLst>
              <a:ext uri="{FF2B5EF4-FFF2-40B4-BE49-F238E27FC236}">
                <a16:creationId xmlns:a16="http://schemas.microsoft.com/office/drawing/2014/main" id="{5C13F1C6-C285-4F31-BB05-A7C620C8A1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0025" y="4630738"/>
            <a:ext cx="0" cy="847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1" name="Line 41">
            <a:extLst>
              <a:ext uri="{FF2B5EF4-FFF2-40B4-BE49-F238E27FC236}">
                <a16:creationId xmlns:a16="http://schemas.microsoft.com/office/drawing/2014/main" id="{68AC24C1-77D3-48D3-81EE-2236F1AF54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6613" y="46307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2" name="Line 42">
            <a:extLst>
              <a:ext uri="{FF2B5EF4-FFF2-40B4-BE49-F238E27FC236}">
                <a16:creationId xmlns:a16="http://schemas.microsoft.com/office/drawing/2014/main" id="{A74EEDD1-57C7-4D3C-A699-562860AFC9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9938" y="46307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3" name="Line 43">
            <a:extLst>
              <a:ext uri="{FF2B5EF4-FFF2-40B4-BE49-F238E27FC236}">
                <a16:creationId xmlns:a16="http://schemas.microsoft.com/office/drawing/2014/main" id="{BE747C6B-BC67-4459-B82D-434EE3583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5054600"/>
            <a:ext cx="0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4" name="Line 44">
            <a:extLst>
              <a:ext uri="{FF2B5EF4-FFF2-40B4-BE49-F238E27FC236}">
                <a16:creationId xmlns:a16="http://schemas.microsoft.com/office/drawing/2014/main" id="{612EE68E-8ACD-448F-B56D-A027DBFC3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349750"/>
            <a:ext cx="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5" name="Line 45">
            <a:extLst>
              <a:ext uri="{FF2B5EF4-FFF2-40B4-BE49-F238E27FC236}">
                <a16:creationId xmlns:a16="http://schemas.microsoft.com/office/drawing/2014/main" id="{314F698A-F4EC-4387-862A-1C7B85E4F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938463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6" name="Line 46">
            <a:extLst>
              <a:ext uri="{FF2B5EF4-FFF2-40B4-BE49-F238E27FC236}">
                <a16:creationId xmlns:a16="http://schemas.microsoft.com/office/drawing/2014/main" id="{245CAA4E-EE85-4008-AAF6-11651BF41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643313"/>
            <a:ext cx="0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7" name="Line 47">
            <a:extLst>
              <a:ext uri="{FF2B5EF4-FFF2-40B4-BE49-F238E27FC236}">
                <a16:creationId xmlns:a16="http://schemas.microsoft.com/office/drawing/2014/main" id="{84F991DF-FF6F-4FF1-BF56-5D714E348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3219450"/>
            <a:ext cx="6297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8" name="Line 48">
            <a:extLst>
              <a:ext uri="{FF2B5EF4-FFF2-40B4-BE49-F238E27FC236}">
                <a16:creationId xmlns:a16="http://schemas.microsoft.com/office/drawing/2014/main" id="{EA33DB87-E0FE-4135-8E38-63F9BBE5C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49" name="Line 49">
            <a:extLst>
              <a:ext uri="{FF2B5EF4-FFF2-40B4-BE49-F238E27FC236}">
                <a16:creationId xmlns:a16="http://schemas.microsoft.com/office/drawing/2014/main" id="{5D751063-E40D-4EF4-90E3-77C9B52B5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0" name="Line 50">
            <a:extLst>
              <a:ext uri="{FF2B5EF4-FFF2-40B4-BE49-F238E27FC236}">
                <a16:creationId xmlns:a16="http://schemas.microsoft.com/office/drawing/2014/main" id="{EE19A393-AC7B-4D39-9AAE-EEC64BDB5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5088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1" name="Line 51">
            <a:extLst>
              <a:ext uri="{FF2B5EF4-FFF2-40B4-BE49-F238E27FC236}">
                <a16:creationId xmlns:a16="http://schemas.microsoft.com/office/drawing/2014/main" id="{16F80B8F-84B4-4590-ABA2-471576A6B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3925888"/>
            <a:ext cx="6369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2" name="Line 52">
            <a:extLst>
              <a:ext uri="{FF2B5EF4-FFF2-40B4-BE49-F238E27FC236}">
                <a16:creationId xmlns:a16="http://schemas.microsoft.com/office/drawing/2014/main" id="{D8AE7A98-E0C0-457B-A75F-0BB440C3C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3" name="Line 53">
            <a:extLst>
              <a:ext uri="{FF2B5EF4-FFF2-40B4-BE49-F238E27FC236}">
                <a16:creationId xmlns:a16="http://schemas.microsoft.com/office/drawing/2014/main" id="{C480D61E-55CE-4106-8CBB-DFCB26EC1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4" name="Line 54">
            <a:extLst>
              <a:ext uri="{FF2B5EF4-FFF2-40B4-BE49-F238E27FC236}">
                <a16:creationId xmlns:a16="http://schemas.microsoft.com/office/drawing/2014/main" id="{A058E76B-4BF6-496F-B076-B7952EC8D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9963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5" name="Line 55">
            <a:extLst>
              <a:ext uri="{FF2B5EF4-FFF2-40B4-BE49-F238E27FC236}">
                <a16:creationId xmlns:a16="http://schemas.microsoft.com/office/drawing/2014/main" id="{7C9BF2B1-CB58-478C-B120-102B644FE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6" name="Line 56">
            <a:extLst>
              <a:ext uri="{FF2B5EF4-FFF2-40B4-BE49-F238E27FC236}">
                <a16:creationId xmlns:a16="http://schemas.microsoft.com/office/drawing/2014/main" id="{368ADAB5-ECB1-4D22-97AE-F6D20EC48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4488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7" name="Line 57">
            <a:extLst>
              <a:ext uri="{FF2B5EF4-FFF2-40B4-BE49-F238E27FC236}">
                <a16:creationId xmlns:a16="http://schemas.microsoft.com/office/drawing/2014/main" id="{B00EF6AF-8894-43AC-B875-A1D49F7B5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525" y="392588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58" name="Rectangle 58">
            <a:extLst>
              <a:ext uri="{FF2B5EF4-FFF2-40B4-BE49-F238E27FC236}">
                <a16:creationId xmlns:a16="http://schemas.microsoft.com/office/drawing/2014/main" id="{269A7BB8-F951-4285-9E23-CFD6C9AAF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 dirty="0">
                <a:latin typeface="Arial" panose="020B0604020202020204" pitchFamily="34" charset="0"/>
              </a:rPr>
              <a:t>navigator</a:t>
            </a:r>
          </a:p>
        </p:txBody>
      </p:sp>
      <p:sp>
        <p:nvSpPr>
          <p:cNvPr id="76859" name="Line 59">
            <a:extLst>
              <a:ext uri="{FF2B5EF4-FFF2-40B4-BE49-F238E27FC236}">
                <a16:creationId xmlns:a16="http://schemas.microsoft.com/office/drawing/2014/main" id="{A62BED89-2FCB-4548-924D-65D9D6382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9363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60" name="Rectangle 60">
            <a:extLst>
              <a:ext uri="{FF2B5EF4-FFF2-40B4-BE49-F238E27FC236}">
                <a16:creationId xmlns:a16="http://schemas.microsoft.com/office/drawing/2014/main" id="{8E35F1A0-D7B5-44DC-B4A0-E86FC90D0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225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frames</a:t>
            </a:r>
          </a:p>
        </p:txBody>
      </p:sp>
      <p:sp>
        <p:nvSpPr>
          <p:cNvPr id="76861" name="Line 61">
            <a:extLst>
              <a:ext uri="{FF2B5EF4-FFF2-40B4-BE49-F238E27FC236}">
                <a16:creationId xmlns:a16="http://schemas.microsoft.com/office/drawing/2014/main" id="{2DBF13D3-5832-44BB-888D-D7C1637E0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4488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6862" name="Rectangle 62">
            <a:extLst>
              <a:ext uri="{FF2B5EF4-FFF2-40B4-BE49-F238E27FC236}">
                <a16:creationId xmlns:a16="http://schemas.microsoft.com/office/drawing/2014/main" id="{7208A2E7-455F-4CCC-B6EF-99DD568B2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3360738"/>
            <a:ext cx="99060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en-US" sz="1400" b="1">
                <a:latin typeface="Arial" panose="020B0604020202020204" pitchFamily="34" charset="0"/>
              </a:rPr>
              <a:t>event</a:t>
            </a:r>
          </a:p>
        </p:txBody>
      </p:sp>
      <p:sp>
        <p:nvSpPr>
          <p:cNvPr id="76863" name="Line 63">
            <a:extLst>
              <a:ext uri="{FF2B5EF4-FFF2-40B4-BE49-F238E27FC236}">
                <a16:creationId xmlns:a16="http://schemas.microsoft.com/office/drawing/2014/main" id="{5A9497B5-A531-4757-8AC5-BA713F532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3219450"/>
            <a:ext cx="0" cy="14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23AE-B61D-40D3-9B22-FA1EC3A1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"/>
            <a:ext cx="7620000" cy="228600"/>
          </a:xfrm>
        </p:spPr>
        <p:txBody>
          <a:bodyPr>
            <a:normAutofit fontScale="90000"/>
          </a:bodyPr>
          <a:lstStyle/>
          <a:p>
            <a:r>
              <a:rPr lang="en-US" dirty="0"/>
              <a:t>Java script DOM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7E19-6482-4968-A409-1F12EFA2E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57201"/>
            <a:ext cx="8382000" cy="41909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"a.html"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true"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"t1"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"copy"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copied 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"t2"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 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0E8D9-A15F-4BE2-A365-DFDD27F80EB8}"/>
              </a:ext>
            </a:extLst>
          </p:cNvPr>
          <p:cNvSpPr txBox="1"/>
          <p:nvPr/>
        </p:nvSpPr>
        <p:spPr>
          <a:xfrm>
            <a:off x="228600" y="48006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access text box with name t1?</a:t>
            </a:r>
          </a:p>
          <a:p>
            <a:r>
              <a:rPr lang="en-US"/>
              <a:t>Observe form </a:t>
            </a:r>
            <a:r>
              <a:rPr lang="en-US" dirty="0"/>
              <a:t>also has name so we will be using</a:t>
            </a:r>
          </a:p>
          <a:p>
            <a:r>
              <a:rPr lang="en-US" dirty="0"/>
              <a:t> let obj=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dirty="0"/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 </a:t>
            </a:r>
            <a:r>
              <a:rPr lang="en-US" dirty="0"/>
              <a:t>with this line you will get textbox object.</a:t>
            </a:r>
          </a:p>
          <a:p>
            <a:r>
              <a:rPr lang="en-US" dirty="0"/>
              <a:t>To get value of text box just use obj.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46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BFDB-6C58-4A06-AF50-EEB93AA8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0"/>
            <a:ext cx="7848600" cy="457199"/>
          </a:xfrm>
        </p:spPr>
        <p:txBody>
          <a:bodyPr>
            <a:normAutofit/>
          </a:bodyPr>
          <a:lstStyle/>
          <a:p>
            <a:r>
              <a:rPr lang="en-IN" sz="1800" dirty="0"/>
              <a:t>How to pass form in a function :</a:t>
            </a:r>
            <a:r>
              <a:rPr lang="en-IN" sz="1800" dirty="0" err="1"/>
              <a:t>this.form</a:t>
            </a:r>
            <a:r>
              <a:rPr lang="en-IN" sz="18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1F88-9EDE-4FEF-BAF1-16C1D1C73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04801"/>
            <a:ext cx="6705600" cy="51816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let data=“”;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{  data=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data+a.elements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=data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"good"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good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"better"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better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"best"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best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this.</a:t>
            </a:r>
            <a:r>
              <a:rPr lang="en-IN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/>
              <a:t>`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B4DAA-7D13-4255-AD8F-4AB21F58CA4A}"/>
              </a:ext>
            </a:extLst>
          </p:cNvPr>
          <p:cNvSpPr/>
          <p:nvPr/>
        </p:nvSpPr>
        <p:spPr>
          <a:xfrm>
            <a:off x="5486400" y="1066800"/>
            <a:ext cx="990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0868D-3757-40D1-870E-7D6FBF9E4567}"/>
              </a:ext>
            </a:extLst>
          </p:cNvPr>
          <p:cNvSpPr/>
          <p:nvPr/>
        </p:nvSpPr>
        <p:spPr>
          <a:xfrm>
            <a:off x="5181600" y="2455607"/>
            <a:ext cx="1524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this.form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A4E8D6-A0DA-4734-B394-6A826D2A3F37}"/>
              </a:ext>
            </a:extLst>
          </p:cNvPr>
          <p:cNvCxnSpPr/>
          <p:nvPr/>
        </p:nvCxnSpPr>
        <p:spPr>
          <a:xfrm flipV="1">
            <a:off x="6781800" y="2455607"/>
            <a:ext cx="6858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5A653BF-629C-437C-8C09-2D30A065379B}"/>
              </a:ext>
            </a:extLst>
          </p:cNvPr>
          <p:cNvSpPr/>
          <p:nvPr/>
        </p:nvSpPr>
        <p:spPr>
          <a:xfrm>
            <a:off x="7620000" y="838200"/>
            <a:ext cx="1600200" cy="2531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form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A4FA05-F874-4279-8067-9CCE1DEF28DA}"/>
              </a:ext>
            </a:extLst>
          </p:cNvPr>
          <p:cNvCxnSpPr>
            <a:cxnSpLocks/>
          </p:cNvCxnSpPr>
          <p:nvPr/>
        </p:nvCxnSpPr>
        <p:spPr>
          <a:xfrm>
            <a:off x="6356555" y="1495732"/>
            <a:ext cx="1111045" cy="33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64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2B3AE2-6C13-42A6-9ADD-AACFFFCE360A}"/>
              </a:ext>
            </a:extLst>
          </p:cNvPr>
          <p:cNvSpPr/>
          <p:nvPr/>
        </p:nvSpPr>
        <p:spPr>
          <a:xfrm>
            <a:off x="3369736" y="2434166"/>
            <a:ext cx="4021664" cy="766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40090-305C-4AC6-8733-3305E040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0"/>
            <a:ext cx="8001000" cy="563562"/>
          </a:xfrm>
        </p:spPr>
        <p:txBody>
          <a:bodyPr>
            <a:noAutofit/>
          </a:bodyPr>
          <a:lstStyle/>
          <a:p>
            <a:r>
              <a:rPr lang="en-IN" sz="2400" dirty="0"/>
              <a:t>How to read value of radio button and checked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F8CE-23D9-421E-A661-2C3261A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63562"/>
            <a:ext cx="4267200" cy="46482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readradio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yes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readradio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D7020E-9AE8-4995-A77E-F301EA55AF28}"/>
              </a:ext>
            </a:extLst>
          </p:cNvPr>
          <p:cNvSpPr/>
          <p:nvPr/>
        </p:nvSpPr>
        <p:spPr>
          <a:xfrm>
            <a:off x="4572000" y="762000"/>
            <a:ext cx="762000" cy="563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pobj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96751-7628-4945-98C6-91C2BDBC245D}"/>
              </a:ext>
            </a:extLst>
          </p:cNvPr>
          <p:cNvCxnSpPr>
            <a:stCxn id="4" idx="3"/>
          </p:cNvCxnSpPr>
          <p:nvPr/>
        </p:nvCxnSpPr>
        <p:spPr>
          <a:xfrm>
            <a:off x="5334000" y="1043781"/>
            <a:ext cx="685800" cy="40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85E8B5B-35C8-49E7-952A-205A40D7D316}"/>
              </a:ext>
            </a:extLst>
          </p:cNvPr>
          <p:cNvSpPr txBox="1"/>
          <p:nvPr/>
        </p:nvSpPr>
        <p:spPr>
          <a:xfrm>
            <a:off x="4991100" y="1515533"/>
            <a:ext cx="35814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 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9079E-FD28-4356-8C1F-316EED223FD1}"/>
              </a:ext>
            </a:extLst>
          </p:cNvPr>
          <p:cNvSpPr txBox="1"/>
          <p:nvPr/>
        </p:nvSpPr>
        <p:spPr>
          <a:xfrm>
            <a:off x="381000" y="519959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checked)</a:t>
            </a:r>
          </a:p>
          <a:p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Checked </a:t>
            </a:r>
            <a:r>
              <a:rPr lang="en-IN" dirty="0">
                <a:latin typeface="Consolas" panose="020B0609020204030204" pitchFamily="49" charset="0"/>
              </a:rPr>
              <a:t>keyword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Boolean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value</a:t>
            </a:r>
          </a:p>
          <a:p>
            <a:r>
              <a:rPr lang="en-IN" dirty="0">
                <a:latin typeface="Consolas" panose="020B0609020204030204" pitchFamily="49" charset="0"/>
              </a:rPr>
              <a:t>If radio button is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checked</a:t>
            </a:r>
            <a:r>
              <a:rPr lang="en-IN" dirty="0">
                <a:latin typeface="Consolas" panose="020B0609020204030204" pitchFamily="49" charset="0"/>
              </a:rPr>
              <a:t> then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IN" dirty="0">
                <a:latin typeface="Consolas" panose="020B0609020204030204" pitchFamily="49" charset="0"/>
              </a:rPr>
              <a:t> else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false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FEF32-830B-49F8-978C-7BE6458FF062}"/>
              </a:ext>
            </a:extLst>
          </p:cNvPr>
          <p:cNvSpPr txBox="1"/>
          <p:nvPr/>
        </p:nvSpPr>
        <p:spPr>
          <a:xfrm>
            <a:off x="3369736" y="2652170"/>
            <a:ext cx="3395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document.frm.rd</a:t>
            </a:r>
            <a:r>
              <a:rPr lang="en-IN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[0].value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2FC86-3CA3-4322-AD9B-B66894D36B5F}"/>
              </a:ext>
            </a:extLst>
          </p:cNvPr>
          <p:cNvSpPr txBox="1"/>
          <p:nvPr/>
        </p:nvSpPr>
        <p:spPr>
          <a:xfrm>
            <a:off x="5050365" y="3352800"/>
            <a:ext cx="3200400" cy="922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238333-6FCF-4508-9162-78A5EBFBCB67}"/>
              </a:ext>
            </a:extLst>
          </p:cNvPr>
          <p:cNvCxnSpPr>
            <a:cxnSpLocks/>
          </p:cNvCxnSpPr>
          <p:nvPr/>
        </p:nvCxnSpPr>
        <p:spPr>
          <a:xfrm>
            <a:off x="6248400" y="3501465"/>
            <a:ext cx="609600" cy="625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098B76-A0B1-410C-BDF5-43D77E3B16FC}"/>
              </a:ext>
            </a:extLst>
          </p:cNvPr>
          <p:cNvCxnSpPr/>
          <p:nvPr/>
        </p:nvCxnSpPr>
        <p:spPr>
          <a:xfrm flipV="1">
            <a:off x="6400800" y="1846781"/>
            <a:ext cx="152400" cy="626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3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8BE19-1B12-4455-ADE6-E11A41D2091A}"/>
              </a:ext>
            </a:extLst>
          </p:cNvPr>
          <p:cNvSpPr/>
          <p:nvPr/>
        </p:nvSpPr>
        <p:spPr>
          <a:xfrm>
            <a:off x="381000" y="1524000"/>
            <a:ext cx="1447800" cy="4132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FB1A44-53EE-4F7D-9109-1E0A8992566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828800" y="1676401"/>
            <a:ext cx="685800" cy="5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B08957D-64E6-46A9-84D1-552E1FDFB28A}"/>
              </a:ext>
            </a:extLst>
          </p:cNvPr>
          <p:cNvSpPr/>
          <p:nvPr/>
        </p:nvSpPr>
        <p:spPr>
          <a:xfrm>
            <a:off x="2667000" y="990600"/>
            <a:ext cx="1828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49A43-509D-4DE7-9B6D-BAFDED9774E1}"/>
              </a:ext>
            </a:extLst>
          </p:cNvPr>
          <p:cNvSpPr txBox="1"/>
          <p:nvPr/>
        </p:nvSpPr>
        <p:spPr>
          <a:xfrm>
            <a:off x="2514600" y="533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Document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A91219-500F-46E2-8DD3-7665900518E5}"/>
              </a:ext>
            </a:extLst>
          </p:cNvPr>
          <p:cNvSpPr/>
          <p:nvPr/>
        </p:nvSpPr>
        <p:spPr>
          <a:xfrm>
            <a:off x="3200400" y="1359932"/>
            <a:ext cx="6858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frm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5CB9C8-6C64-45F4-A6B5-F871F5F1DF41}"/>
              </a:ext>
            </a:extLst>
          </p:cNvPr>
          <p:cNvCxnSpPr/>
          <p:nvPr/>
        </p:nvCxnSpPr>
        <p:spPr>
          <a:xfrm flipV="1">
            <a:off x="3886200" y="1359932"/>
            <a:ext cx="1143000" cy="16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5FEEA6A-3834-4C6A-8560-04F66BE866BF}"/>
              </a:ext>
            </a:extLst>
          </p:cNvPr>
          <p:cNvSpPr/>
          <p:nvPr/>
        </p:nvSpPr>
        <p:spPr>
          <a:xfrm>
            <a:off x="5105400" y="902732"/>
            <a:ext cx="1524000" cy="1002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7F615-6700-437B-BD18-0D9F6B99DE47}"/>
              </a:ext>
            </a:extLst>
          </p:cNvPr>
          <p:cNvSpPr txBox="1"/>
          <p:nvPr/>
        </p:nvSpPr>
        <p:spPr>
          <a:xfrm>
            <a:off x="5029200" y="5011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Form</a:t>
            </a:r>
            <a:endParaRPr lang="en-IN" dirty="0"/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AC06A3C9-EF0B-4B5A-A0D0-9AAB25112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77749"/>
              </p:ext>
            </p:extLst>
          </p:nvPr>
        </p:nvGraphicFramePr>
        <p:xfrm>
          <a:off x="5257800" y="1190195"/>
          <a:ext cx="1337188" cy="365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8594">
                  <a:extLst>
                    <a:ext uri="{9D8B030D-6E8A-4147-A177-3AD203B41FA5}">
                      <a16:colId xmlns:a16="http://schemas.microsoft.com/office/drawing/2014/main" val="1478405548"/>
                    </a:ext>
                  </a:extLst>
                </a:gridCol>
                <a:gridCol w="668594">
                  <a:extLst>
                    <a:ext uri="{9D8B030D-6E8A-4147-A177-3AD203B41FA5}">
                      <a16:colId xmlns:a16="http://schemas.microsoft.com/office/drawing/2014/main" val="4256861504"/>
                    </a:ext>
                  </a:extLst>
                </a:gridCol>
              </a:tblGrid>
              <a:tr h="29321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646567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42C57F-B2F1-469E-969C-6AFC012EF2B9}"/>
              </a:ext>
            </a:extLst>
          </p:cNvPr>
          <p:cNvCxnSpPr>
            <a:cxnSpLocks/>
          </p:cNvCxnSpPr>
          <p:nvPr/>
        </p:nvCxnSpPr>
        <p:spPr>
          <a:xfrm>
            <a:off x="5562600" y="1524000"/>
            <a:ext cx="3810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9B2A324-AF2F-48D9-B010-32AAB4BBAB54}"/>
              </a:ext>
            </a:extLst>
          </p:cNvPr>
          <p:cNvSpPr/>
          <p:nvPr/>
        </p:nvSpPr>
        <p:spPr>
          <a:xfrm>
            <a:off x="6151308" y="2306598"/>
            <a:ext cx="1371600" cy="1002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11775B-1ED5-4B4F-8F86-9BC52C01B1EA}"/>
              </a:ext>
            </a:extLst>
          </p:cNvPr>
          <p:cNvSpPr txBox="1"/>
          <p:nvPr/>
        </p:nvSpPr>
        <p:spPr>
          <a:xfrm>
            <a:off x="6092312" y="193726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</a:t>
            </a:r>
            <a:r>
              <a:rPr lang="en-US" dirty="0" err="1"/>
              <a:t>InputElemnt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C0418A-6E2A-4A6C-828A-4D0F2E1E1784}"/>
              </a:ext>
            </a:extLst>
          </p:cNvPr>
          <p:cNvSpPr/>
          <p:nvPr/>
        </p:nvSpPr>
        <p:spPr>
          <a:xfrm>
            <a:off x="7725696" y="2633465"/>
            <a:ext cx="1265903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true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42DEC-7FEA-4443-B26B-701D77863A3A}"/>
              </a:ext>
            </a:extLst>
          </p:cNvPr>
          <p:cNvSpPr txBox="1"/>
          <p:nvPr/>
        </p:nvSpPr>
        <p:spPr>
          <a:xfrm>
            <a:off x="7747820" y="2311974"/>
            <a:ext cx="103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9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1B8B-FC9E-431C-BDF7-1751EEE8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0"/>
            <a:ext cx="2667000" cy="457200"/>
          </a:xfrm>
        </p:spPr>
        <p:txBody>
          <a:bodyPr>
            <a:normAutofit fontScale="90000"/>
          </a:bodyPr>
          <a:lstStyle/>
          <a:p>
            <a:r>
              <a:rPr lang="en-IN" sz="1600" dirty="0"/>
              <a:t>How to read value of check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BB12-5111-4CD4-81FE-CE24AA6E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5029200" cy="5668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	&lt;html&gt;&lt;head&gt;&lt;script&gt;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readchk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"dance"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dance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"music"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music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"sports"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readchk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7F003-0D8A-4803-A72B-A9DA2269449C}"/>
              </a:ext>
            </a:extLst>
          </p:cNvPr>
          <p:cNvSpPr txBox="1"/>
          <p:nvPr/>
        </p:nvSpPr>
        <p:spPr>
          <a:xfrm>
            <a:off x="0" y="5505271"/>
            <a:ext cx="487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Checked </a:t>
            </a:r>
            <a:r>
              <a:rPr lang="en-IN" dirty="0">
                <a:latin typeface="Consolas" panose="020B0609020204030204" pitchFamily="49" charset="0"/>
              </a:rPr>
              <a:t>keyword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Boolean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value</a:t>
            </a:r>
          </a:p>
          <a:p>
            <a:r>
              <a:rPr lang="en-IN" dirty="0">
                <a:latin typeface="Consolas" panose="020B0609020204030204" pitchFamily="49" charset="0"/>
              </a:rPr>
              <a:t>If checkbox  is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checked</a:t>
            </a:r>
            <a:r>
              <a:rPr lang="en-IN" dirty="0">
                <a:latin typeface="Consolas" panose="020B0609020204030204" pitchFamily="49" charset="0"/>
              </a:rPr>
              <a:t> then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IN" dirty="0">
                <a:latin typeface="Consolas" panose="020B0609020204030204" pitchFamily="49" charset="0"/>
              </a:rPr>
              <a:t> else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false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10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1C1B-F246-4C5D-B8F8-9C914CA72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0"/>
            <a:ext cx="6553200" cy="457200"/>
          </a:xfrm>
        </p:spPr>
        <p:txBody>
          <a:bodyPr>
            <a:normAutofit/>
          </a:bodyPr>
          <a:lstStyle/>
          <a:p>
            <a:r>
              <a:rPr lang="en-IN" sz="1800" dirty="0"/>
              <a:t>How to read selected value of dropdown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2E27C-0F5C-40F7-87E5-BF9D68A7F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400" y="474133"/>
            <a:ext cx="50292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readradio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   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&lt;/head&gt;&lt;body&gt;&lt;p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 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readradio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dance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music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readradio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4D5DE-AE45-432F-BEF6-E10EA8A41C30}"/>
              </a:ext>
            </a:extLst>
          </p:cNvPr>
          <p:cNvSpPr txBox="1"/>
          <p:nvPr/>
        </p:nvSpPr>
        <p:spPr>
          <a:xfrm>
            <a:off x="4419600" y="457200"/>
            <a:ext cx="487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(document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sl[0]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selected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Checked </a:t>
            </a:r>
            <a:r>
              <a:rPr lang="en-IN" dirty="0">
                <a:latin typeface="Consolas" panose="020B0609020204030204" pitchFamily="49" charset="0"/>
              </a:rPr>
              <a:t>keyword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Boolean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value</a:t>
            </a:r>
          </a:p>
          <a:p>
            <a:r>
              <a:rPr lang="en-IN" dirty="0">
                <a:latin typeface="Consolas" panose="020B0609020204030204" pitchFamily="49" charset="0"/>
              </a:rPr>
              <a:t>If option  is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selected</a:t>
            </a:r>
            <a:r>
              <a:rPr lang="en-IN" dirty="0">
                <a:latin typeface="Consolas" panose="020B0609020204030204" pitchFamily="49" charset="0"/>
              </a:rPr>
              <a:t> then return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true</a:t>
            </a:r>
            <a:r>
              <a:rPr lang="en-IN" dirty="0">
                <a:latin typeface="Consolas" panose="020B0609020204030204" pitchFamily="49" charset="0"/>
              </a:rPr>
              <a:t> else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false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177CB-A5C6-48C5-9417-948541CEDD16}"/>
              </a:ext>
            </a:extLst>
          </p:cNvPr>
          <p:cNvSpPr txBox="1"/>
          <p:nvPr/>
        </p:nvSpPr>
        <p:spPr>
          <a:xfrm>
            <a:off x="4876800" y="1776653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selectedIndex</a:t>
            </a:r>
            <a:endParaRPr lang="en-IN" sz="18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This keyword will return the 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index</a:t>
            </a:r>
            <a:r>
              <a:rPr lang="en-IN" dirty="0">
                <a:latin typeface="Consolas" panose="020B0609020204030204" pitchFamily="49" charset="0"/>
              </a:rPr>
              <a:t> of selected option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CCE370-F901-40CD-ACEC-93734BCB6342}"/>
              </a:ext>
            </a:extLst>
          </p:cNvPr>
          <p:cNvSpPr/>
          <p:nvPr/>
        </p:nvSpPr>
        <p:spPr>
          <a:xfrm>
            <a:off x="5245099" y="3109162"/>
            <a:ext cx="1371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text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6D4D1-C33C-4E22-9911-76BF7CC37599}"/>
              </a:ext>
            </a:extLst>
          </p:cNvPr>
          <p:cNvSpPr txBox="1"/>
          <p:nvPr/>
        </p:nvSpPr>
        <p:spPr>
          <a:xfrm>
            <a:off x="5003800" y="3748838"/>
            <a:ext cx="4665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&lt;option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dance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&lt;/option&gt;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89B213-00D5-499E-BFC3-9A6D49DE8518}"/>
              </a:ext>
            </a:extLst>
          </p:cNvPr>
          <p:cNvCxnSpPr/>
          <p:nvPr/>
        </p:nvCxnSpPr>
        <p:spPr>
          <a:xfrm>
            <a:off x="6705600" y="3633612"/>
            <a:ext cx="914400" cy="17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9050A-1386-43BC-A53A-385B58CEFBAC}"/>
              </a:ext>
            </a:extLst>
          </p:cNvPr>
          <p:cNvSpPr/>
          <p:nvPr/>
        </p:nvSpPr>
        <p:spPr>
          <a:xfrm>
            <a:off x="5715000" y="4495800"/>
            <a:ext cx="1219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EF5F0F-154A-4EF0-9286-1464206CE622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324600" y="4023562"/>
            <a:ext cx="533400" cy="472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16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C6F1-ED44-4B44-8671-E09A5F2E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76200"/>
            <a:ext cx="73914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Create a dynamic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75A14-58E7-4793-9730-B954A489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533399"/>
            <a:ext cx="41148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'form’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'text'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maxlength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"t1"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"radio"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"radio"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"nm"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"nm"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newText1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createTextNode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newText2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createTextNode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newText1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newText2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'select'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'option'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'option'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"India"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"USA"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C0C95-ADB3-433C-B90D-C619E7758989}"/>
              </a:ext>
            </a:extLst>
          </p:cNvPr>
          <p:cNvSpPr txBox="1"/>
          <p:nvPr/>
        </p:nvSpPr>
        <p:spPr>
          <a:xfrm>
            <a:off x="5257800" y="609600"/>
            <a:ext cx="3987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f.appendChild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(c1);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'dd'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'dd'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DD5A6-4394-43C1-BDDD-B513ED7D3667}"/>
              </a:ext>
            </a:extLst>
          </p:cNvPr>
          <p:cNvSpPr txBox="1"/>
          <p:nvPr/>
        </p:nvSpPr>
        <p:spPr>
          <a:xfrm>
            <a:off x="4267200" y="3681988"/>
            <a:ext cx="462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&lt;form name="</a:t>
            </a:r>
            <a:r>
              <a:rPr lang="en-IN" dirty="0" err="1"/>
              <a:t>frm</a:t>
            </a:r>
            <a:r>
              <a:rPr lang="en-IN" dirty="0"/>
              <a:t>"&gt;</a:t>
            </a:r>
          </a:p>
          <a:p>
            <a:r>
              <a:rPr lang="en-IN" dirty="0"/>
              <a:t>&lt;input type="text" name="t1"&gt;</a:t>
            </a:r>
          </a:p>
          <a:p>
            <a:r>
              <a:rPr lang="en-IN" dirty="0"/>
              <a:t>&lt;input type="radio" name="nm"&gt;</a:t>
            </a:r>
          </a:p>
          <a:p>
            <a:r>
              <a:rPr lang="en-IN" dirty="0"/>
              <a:t>&lt;label&gt;yes&lt;/label&gt;</a:t>
            </a:r>
          </a:p>
          <a:p>
            <a:r>
              <a:rPr lang="en-IN" dirty="0"/>
              <a:t>&lt;input type="radio" name="nm"&gt;</a:t>
            </a:r>
          </a:p>
          <a:p>
            <a:r>
              <a:rPr lang="en-IN" dirty="0"/>
              <a:t>&lt;label&gt;No&lt;/label&gt;</a:t>
            </a:r>
          </a:p>
          <a:p>
            <a:r>
              <a:rPr lang="en-IN" dirty="0"/>
              <a:t>&lt;select&gt;</a:t>
            </a:r>
          </a:p>
          <a:p>
            <a:r>
              <a:rPr lang="en-IN" dirty="0"/>
              <a:t>&lt;option&gt;India&lt;/option&gt;</a:t>
            </a:r>
          </a:p>
          <a:p>
            <a:r>
              <a:rPr lang="en-IN" dirty="0"/>
              <a:t>&lt;option&gt;USA&lt;/option&gt;</a:t>
            </a:r>
          </a:p>
          <a:p>
            <a:r>
              <a:rPr lang="en-IN" dirty="0"/>
              <a:t>&lt;/select&gt;</a:t>
            </a:r>
          </a:p>
          <a:p>
            <a:r>
              <a:rPr lang="en-IN" dirty="0"/>
              <a:t>&lt;/form&gt;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BC2832-9721-41F5-A5F0-4F37AFC6D41A}"/>
              </a:ext>
            </a:extLst>
          </p:cNvPr>
          <p:cNvCxnSpPr/>
          <p:nvPr/>
        </p:nvCxnSpPr>
        <p:spPr>
          <a:xfrm>
            <a:off x="2971800" y="1219200"/>
            <a:ext cx="1714500" cy="251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439C64-7214-406E-9C25-924490A000BE}"/>
              </a:ext>
            </a:extLst>
          </p:cNvPr>
          <p:cNvCxnSpPr>
            <a:cxnSpLocks/>
          </p:cNvCxnSpPr>
          <p:nvPr/>
        </p:nvCxnSpPr>
        <p:spPr>
          <a:xfrm>
            <a:off x="1295400" y="1447800"/>
            <a:ext cx="4495800" cy="2362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333D14-A162-4178-82C7-673F02BD7182}"/>
              </a:ext>
            </a:extLst>
          </p:cNvPr>
          <p:cNvCxnSpPr>
            <a:cxnSpLocks/>
          </p:cNvCxnSpPr>
          <p:nvPr/>
        </p:nvCxnSpPr>
        <p:spPr>
          <a:xfrm>
            <a:off x="1181100" y="1905000"/>
            <a:ext cx="4572000" cy="220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905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1E4A-8888-485B-980B-E1F0FC1C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0"/>
            <a:ext cx="7391400" cy="457199"/>
          </a:xfrm>
        </p:spPr>
        <p:txBody>
          <a:bodyPr>
            <a:normAutofit/>
          </a:bodyPr>
          <a:lstStyle/>
          <a:p>
            <a:r>
              <a:rPr lang="en-IN" sz="2000" b="0" dirty="0">
                <a:effectLst/>
                <a:latin typeface="Consolas" panose="020B0609020204030204" pitchFamily="49" charset="0"/>
              </a:rPr>
              <a:t>Form level event </a:t>
            </a:r>
            <a:r>
              <a:rPr lang="en-IN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en-IN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IN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AC670-9C6C-4608-A7A4-F2C4B8928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06398"/>
            <a:ext cx="48006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&lt;style&gt;.err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//textbox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//value of textbox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//required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{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 can not be blank"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focus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{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"minimum 8 character required and can not exceed 15"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9E18F-D18C-4CF6-BC95-183A8F9D2786}"/>
              </a:ext>
            </a:extLst>
          </p:cNvPr>
          <p:cNvSpPr txBox="1"/>
          <p:nvPr/>
        </p:nvSpPr>
        <p:spPr>
          <a:xfrm>
            <a:off x="4953000" y="533400"/>
            <a:ext cx="3962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setcur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//autofocus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focus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setcur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"blur.html"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B3518-1511-4ED1-B4E4-0070FE4BA0C8}"/>
              </a:ext>
            </a:extLst>
          </p:cNvPr>
          <p:cNvSpPr txBox="1"/>
          <p:nvPr/>
        </p:nvSpPr>
        <p:spPr>
          <a:xfrm>
            <a:off x="2692400" y="4549884"/>
            <a:ext cx="6324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 above example check function return false if password  is blank or password is &lt; 8 character or &gt;16 character.</a:t>
            </a:r>
          </a:p>
          <a:p>
            <a:endParaRPr lang="en-IN" sz="1400" dirty="0"/>
          </a:p>
          <a:p>
            <a:r>
              <a:rPr lang="en-IN" sz="1400" dirty="0"/>
              <a:t>It also print appropriate message in span tag.</a:t>
            </a:r>
          </a:p>
          <a:p>
            <a:endParaRPr lang="en-IN" sz="1400" dirty="0"/>
          </a:p>
          <a:p>
            <a:r>
              <a:rPr lang="en-IN" sz="1400" dirty="0"/>
              <a:t>By default </a:t>
            </a:r>
            <a:r>
              <a:rPr lang="en-IN" sz="1400" dirty="0" err="1"/>
              <a:t>onsubmit</a:t>
            </a:r>
            <a:r>
              <a:rPr lang="en-IN" sz="1400" dirty="0"/>
              <a:t> event has return value true and it is form level event , get fires when you click on submit button</a:t>
            </a:r>
          </a:p>
          <a:p>
            <a:endParaRPr lang="en-IN" sz="1400" dirty="0"/>
          </a:p>
          <a:p>
            <a:r>
              <a:rPr lang="en-IN" sz="1400" dirty="0"/>
              <a:t>So if function not returning any value for valid data then it will read as true and control will go to blur.html page</a:t>
            </a:r>
          </a:p>
        </p:txBody>
      </p:sp>
    </p:spTree>
    <p:extLst>
      <p:ext uri="{BB962C8B-B14F-4D97-AF65-F5344CB8AC3E}">
        <p14:creationId xmlns:p14="http://schemas.microsoft.com/office/powerpoint/2010/main" val="1865125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487A-BCD0-4F15-A308-AE5B8E23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7620000" cy="457199"/>
          </a:xfrm>
        </p:spPr>
        <p:txBody>
          <a:bodyPr>
            <a:normAutofit/>
          </a:bodyPr>
          <a:lstStyle/>
          <a:p>
            <a:r>
              <a:rPr lang="en-IN" sz="1200" dirty="0"/>
              <a:t>How to make Dum button intelligent: Dynamically submitting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D91C3-D561-4C47-A7EA-9F97E8D0D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457200"/>
            <a:ext cx="4191000" cy="56689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&lt;style&gt;.err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//required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{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 can not be blank"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focus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{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 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"minimum 8 character required and can not exceed 15"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9E8AF-776C-4291-BCE3-EA0C9DAEABEE}"/>
              </a:ext>
            </a:extLst>
          </p:cNvPr>
          <p:cNvSpPr txBox="1"/>
          <p:nvPr/>
        </p:nvSpPr>
        <p:spPr>
          <a:xfrm>
            <a:off x="4191000" y="457199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n-IN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//dynamically firing event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setcur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//autofocus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focus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setcur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"blur.html"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&gt;&lt;span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dum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151642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D873-1398-491A-B59F-9DA71BBE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93BF-6407-45E7-A8FF-DDA808FF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31838"/>
            <a:ext cx="8610600" cy="53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/>
              <a:t>Q1. Create three textbox and two radio button [+ ,*] On click of radio button result of operation should be displayed in third text box give basic validation.</a:t>
            </a:r>
          </a:p>
          <a:p>
            <a:pPr marL="0" indent="0">
              <a:buNone/>
            </a:pPr>
            <a:r>
              <a:rPr lang="en-IN" sz="1200" dirty="0"/>
              <a:t>Q2. create 3 check box displaying book name and price, as per selection of user,  display total amount of book purchased in a disabled text box.</a:t>
            </a:r>
          </a:p>
          <a:p>
            <a:pPr marL="0" indent="0">
              <a:buNone/>
            </a:pPr>
            <a:r>
              <a:rPr lang="en-IN" sz="1200" dirty="0"/>
              <a:t>Q3. create  a dropdown list displaying  state on change of it  display selected state in a textbox.</a:t>
            </a:r>
          </a:p>
          <a:p>
            <a:pPr marL="0" indent="0">
              <a:buNone/>
            </a:pPr>
            <a:r>
              <a:rPr lang="en-IN" sz="1200" dirty="0"/>
              <a:t>Q4. create 3 textbox and a dropdown list displaying mathematical operation. On click of button it should display result in 3</a:t>
            </a:r>
            <a:r>
              <a:rPr lang="en-IN" sz="1200" baseline="30000" dirty="0"/>
              <a:t>rd</a:t>
            </a:r>
            <a:r>
              <a:rPr lang="en-IN" sz="1200" dirty="0"/>
              <a:t> text box</a:t>
            </a:r>
          </a:p>
          <a:p>
            <a:pPr marL="0" indent="0">
              <a:buNone/>
            </a:pPr>
            <a:r>
              <a:rPr lang="en-IN" sz="1200" dirty="0"/>
              <a:t>Q5. 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Using JavaScript Create banner, include 4 images. Images should rotate after time gap of 1 second.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/>
              <a:t>Q6. 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a web page for entering all personal details Information should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containName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Date of Birth (use select drop down list), Gender, Address, Ps. No. , batch No. and Date of Joining (use select drop down list) 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Validate this form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Q7. Display digital clock</a:t>
            </a:r>
          </a:p>
          <a:p>
            <a:pPr marL="0" indent="0">
              <a:buNone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b="1" dirty="0"/>
              <a:t>Refer folder student data for more examples and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3124200"/>
            <a:ext cx="403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{“</a:t>
            </a:r>
            <a:r>
              <a:rPr lang="en-US" dirty="0" err="1"/>
              <a:t>Gujrat</a:t>
            </a:r>
            <a:r>
              <a:rPr lang="en-US" dirty="0"/>
              <a:t>”:”</a:t>
            </a:r>
            <a:r>
              <a:rPr lang="en-US" dirty="0" err="1"/>
              <a:t>Ahamdabad</a:t>
            </a:r>
            <a:r>
              <a:rPr lang="en-US" dirty="0"/>
              <a:t>”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07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75BF56-9B1B-4B4B-9A9A-E138BE7F4282}"/>
              </a:ext>
            </a:extLst>
          </p:cNvPr>
          <p:cNvSpPr txBox="1"/>
          <p:nvPr/>
        </p:nvSpPr>
        <p:spPr>
          <a:xfrm>
            <a:off x="228600" y="762000"/>
            <a:ext cx="381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dotask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"n1"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"n2"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"n3"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//+before string convert string to number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+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+  +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77CC8-BAF2-4C1C-97DD-B79C02B0707E}"/>
              </a:ext>
            </a:extLst>
          </p:cNvPr>
          <p:cNvSpPr txBox="1"/>
          <p:nvPr/>
        </p:nvSpPr>
        <p:spPr>
          <a:xfrm>
            <a:off x="4038600" y="1066800"/>
            <a:ext cx="5181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validate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//let n1=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("n1")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 field can not be blank"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"only number value allowed"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D74F1-D66B-4553-97F0-602BDC6499A2}"/>
              </a:ext>
            </a:extLst>
          </p:cNvPr>
          <p:cNvSpPr txBox="1"/>
          <p:nvPr/>
        </p:nvSpPr>
        <p:spPr>
          <a:xfrm>
            <a:off x="533400" y="762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Answer Q1.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4544A-E037-4CF3-971C-DCACDB86FE9B}"/>
              </a:ext>
            </a:extLst>
          </p:cNvPr>
          <p:cNvSpPr txBox="1"/>
          <p:nvPr/>
        </p:nvSpPr>
        <p:spPr>
          <a:xfrm>
            <a:off x="25400" y="3919478"/>
            <a:ext cx="873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"n1"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validate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(this,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'err1'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/&gt;&lt;span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"err1"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IN" sz="1200" dirty="0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"n2"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validate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(this,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'err2'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/&gt;&lt;span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"err2"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&gt;&lt;/span&gt;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"r1"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dotask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"r1"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dotask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"n3"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01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2942-2513-46C4-BA85-C0613433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isNaN</a:t>
            </a:r>
            <a:r>
              <a:rPr lang="en-IN" dirty="0"/>
              <a:t>() return </a:t>
            </a:r>
            <a:r>
              <a:rPr lang="en-IN" dirty="0" err="1"/>
              <a:t>boolean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E000-423E-4276-A757-B5C5BEA50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"56 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ket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is not a no  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);//true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 5 is not a no.  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);//false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 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takenn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as string is not a no  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)//false</a:t>
            </a:r>
          </a:p>
          <a:p>
            <a:pPr marL="0" indent="0">
              <a:buNone/>
            </a:pP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)//false</a:t>
            </a:r>
          </a:p>
          <a:p>
            <a:pPr marL="0" indent="0">
              <a:buNone/>
            </a:pPr>
            <a:endParaRPr lang="en-US" sz="20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isNaN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(“5”)==check entered data is number or not?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Even if number is in “” it will call </a:t>
            </a:r>
            <a:r>
              <a:rPr lang="en-US" sz="2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valueOf</a:t>
            </a: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27125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E8AE3-6075-43F5-9369-02026BED5A3B}"/>
              </a:ext>
            </a:extLst>
          </p:cNvPr>
          <p:cNvSpPr txBox="1"/>
          <p:nvPr/>
        </p:nvSpPr>
        <p:spPr>
          <a:xfrm>
            <a:off x="914400" y="1524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Answer Q2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45AC0-558C-4FFB-94B5-8D7B93460EC3}"/>
              </a:ext>
            </a:extLst>
          </p:cNvPr>
          <p:cNvSpPr txBox="1"/>
          <p:nvPr/>
        </p:nvSpPr>
        <p:spPr>
          <a:xfrm>
            <a:off x="228600" y="504799"/>
            <a:ext cx="861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 +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 +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 +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C2125-AC72-4E98-8550-3D0EF8EFFE3A}"/>
              </a:ext>
            </a:extLst>
          </p:cNvPr>
          <p:cNvSpPr txBox="1"/>
          <p:nvPr/>
        </p:nvSpPr>
        <p:spPr>
          <a:xfrm>
            <a:off x="228600" y="3719520"/>
            <a:ext cx="8534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"250"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 250/-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"750"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c#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750/-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"550"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JavaScript 550/-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dosum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31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10600" cy="57912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Name:</a:t>
            </a:r>
            <a:r>
              <a:rPr lang="en-US" dirty="0">
                <a:sym typeface="Wingdings" panose="05000000000000000000" pitchFamily="2" charset="2"/>
              </a:rPr>
              <a:t>minimum 5 max 15 </a:t>
            </a:r>
            <a:r>
              <a:rPr lang="en-US" dirty="0" err="1">
                <a:sym typeface="Wingdings" panose="05000000000000000000" pitchFamily="2" charset="2"/>
              </a:rPr>
              <a:t>chaeacter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Password:</a:t>
            </a:r>
            <a:r>
              <a:rPr lang="en-US" dirty="0">
                <a:sym typeface="Wingdings" panose="05000000000000000000" pitchFamily="2" charset="2"/>
              </a:rPr>
              <a:t> [char number and symbol]min 8 max 15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Email:</a:t>
            </a:r>
            <a:r>
              <a:rPr lang="en-US" dirty="0">
                <a:sym typeface="Wingdings" panose="05000000000000000000" pitchFamily="2" charset="2"/>
              </a:rPr>
              <a:t>@  after . Minimum 2 or max 3 character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Address:</a:t>
            </a:r>
            <a:r>
              <a:rPr lang="en-US" dirty="0">
                <a:sym typeface="Wingdings" panose="05000000000000000000" pitchFamily="2" charset="2"/>
              </a:rPr>
              <a:t>min 10 max 35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DOB: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calannder</a:t>
            </a:r>
            <a:r>
              <a:rPr lang="en-US" dirty="0">
                <a:sym typeface="Wingdings" panose="05000000000000000000" pitchFamily="2" charset="2"/>
              </a:rPr>
              <a:t> 18 and max 80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Mobile:</a:t>
            </a:r>
            <a:r>
              <a:rPr lang="en-US" dirty="0">
                <a:sym typeface="Wingdings" panose="05000000000000000000" pitchFamily="2" charset="2"/>
              </a:rPr>
              <a:t>10 digit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Education</a:t>
            </a:r>
            <a:r>
              <a:rPr lang="en-US" dirty="0">
                <a:sym typeface="Wingdings" panose="05000000000000000000" pitchFamily="2" charset="2"/>
              </a:rPr>
              <a:t> drop down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Gender:   Male   Female  radio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Submit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Give basic validation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56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2583</TotalTime>
  <Words>3322</Words>
  <Application>Microsoft Office PowerPoint</Application>
  <PresentationFormat>On-screen Show (4:3)</PresentationFormat>
  <Paragraphs>481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Times New Roman</vt:lpstr>
      <vt:lpstr>Wingdings</vt:lpstr>
      <vt:lpstr>Office Theme</vt:lpstr>
      <vt:lpstr>PowerPoint Presentation</vt:lpstr>
      <vt:lpstr>Entire page is array of data</vt:lpstr>
      <vt:lpstr>PowerPoint Presentation</vt:lpstr>
      <vt:lpstr>Programming the Web DHTML</vt:lpstr>
      <vt:lpstr>Java script DOM</vt:lpstr>
      <vt:lpstr>How to pass form in a function :this.form </vt:lpstr>
      <vt:lpstr>How to read value of radio button and checked keyword</vt:lpstr>
      <vt:lpstr>PowerPoint Presentation</vt:lpstr>
      <vt:lpstr>How to read value of check box</vt:lpstr>
      <vt:lpstr>How to read selected value of dropdown</vt:lpstr>
      <vt:lpstr>Create a dynamic form</vt:lpstr>
      <vt:lpstr>Form level event  onsubmit="return check()"</vt:lpstr>
      <vt:lpstr>How to make Dum button intelligent: Dynamically submitting form</vt:lpstr>
      <vt:lpstr>Task</vt:lpstr>
      <vt:lpstr>PowerPoint Presentation</vt:lpstr>
      <vt:lpstr>isNaN() return boolean</vt:lpstr>
      <vt:lpstr>PowerPoint Presentation</vt:lpstr>
      <vt:lpstr>PowerPoint Presentation</vt:lpstr>
    </vt:vector>
  </TitlesOfParts>
  <Company>lntinfotech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Dinesh M</dc:creator>
  <cp:lastModifiedBy>sriram mantri vidyanidhi infotech academy</cp:lastModifiedBy>
  <cp:revision>106</cp:revision>
  <dcterms:created xsi:type="dcterms:W3CDTF">2009-01-03T14:45:05Z</dcterms:created>
  <dcterms:modified xsi:type="dcterms:W3CDTF">2025-05-01T17:15:08Z</dcterms:modified>
</cp:coreProperties>
</file>