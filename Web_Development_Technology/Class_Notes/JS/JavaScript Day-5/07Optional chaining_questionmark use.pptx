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6">
  <p:sldMasterIdLst>
    <p:sldMasterId id="2147483648" r:id="rId1"/>
  </p:sldMasterIdLst>
  <p:notesMasterIdLst>
    <p:notesMasterId r:id="rId20"/>
  </p:notesMasterIdLst>
  <p:sldIdLst>
    <p:sldId id="260" r:id="rId2"/>
    <p:sldId id="273" r:id="rId3"/>
    <p:sldId id="274" r:id="rId4"/>
    <p:sldId id="275" r:id="rId5"/>
    <p:sldId id="276" r:id="rId6"/>
    <p:sldId id="277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2A5F55-251C-4F81-9AC1-F0A080185D9D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B6A38-92D1-48EF-BF3B-AEEE6CB462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372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F274-4539-49A0-87A3-8A92926FC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3C69C-C15D-488F-8E9B-26F0B1525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146E9-5B29-4689-B98F-C7A175B11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D42DB-8643-44D3-B820-E9745479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1B433-8249-456C-AB7B-51A5A281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843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E34C-EBDD-49B8-AE4A-F0DF046D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D6A62-373F-446D-BFBD-A2306CF23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599FF-4428-40EF-AA95-511B46F70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65240-55B7-47C4-A3A8-5BB8E54D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A2475-74E2-4E41-8886-F3660D2A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991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6E01C-29F8-490B-8FCF-5A1BA6833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2801F-0138-406C-AAEC-1F17FAEE3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9E173-E83D-48DF-9FEC-A692B1FDE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9C63D-2389-42AA-9B07-EB7E73B1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BFC83-08F9-4A8D-AD10-8340F22D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050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2DE2-51FD-4F10-9681-13C934051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61EAF-F639-4B21-897F-73E828D69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5640D-430D-41E6-B518-D24AE86B1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9ED6F-D3D2-4301-8236-17897DB66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62381-5FAE-4B7D-8D9C-CB218975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CB351-5329-49A8-B8D2-E48C3100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971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0C04-E375-40C5-B7BA-A9919778C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561B-10E8-4E49-8165-C7B1F2B47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2C891-3169-4C58-B8C1-F5731E89B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D0839A-777F-4B21-87B0-4C4D42E3B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C1FAA-AE14-43CB-869B-A8AF2C664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25958C-7EC9-44EF-BB36-03DEE3EF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C8A2B2-25CB-4912-80F5-71B3F4A4B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B76D43-02E0-4EC5-AA63-8C56325B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372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7326-CF1B-499C-8B9F-5F1927E6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E45BAB-CAA8-4AC3-BDDF-7C436DC5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CF544-61DD-4F09-B6D7-67A69930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58294-3C1C-4F63-9C5E-DD1D6E70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02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136457-3425-4CFA-92CF-2A286F2D4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97BCE3-C3D5-41D4-AEBA-25E6B29B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58923-2415-409F-8349-E9FEC2B05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376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90AE-383D-495A-B54E-66E7D726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4A5F1-07C2-42DD-8DE3-D03AC50EB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7D3AA-403A-49AE-8E4E-15D16E277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0DD28-F5CB-46D6-BE31-32DE3E340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CB876-6E1E-4D5C-BBA6-66671E25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C78CA-ABFB-40DE-8344-B588BDDB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277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46F7-2CFF-4127-A0E4-9CA20E67E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74EB2A-A292-4128-97D8-BFA093C8C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EF6526-000C-4C84-B2FA-764613298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93E7C-181E-45B4-8CCF-DFE2E5F6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FF50B-C3A8-4E4A-9384-79959A13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9BFE2-92B0-48A4-98B5-55F485BB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47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E366-8D52-42B6-8DC8-74EB1D39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5F1B5B-E156-45F3-B38C-3ACEEB578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F018B-EF2B-43AD-AF6E-37ED5B54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E5020-33BC-438D-AE2B-A8FAFACD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DBF86-A9FC-4622-9940-C27B2346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000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AC017-584B-41B4-ABC6-FC854AA88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E36F7-2936-4623-A08C-EE2C114AB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2B394-CC83-49C3-A330-2997DE017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0327C-31C9-42F2-9AAB-D6410B88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2D46E-8457-4CA5-B3A4-4A02D875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9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622E19-BB47-4253-8B0A-2302E95E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880FA-FD6E-43D3-B07B-D84D7AFB8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2360E-FCC2-4F98-9AA1-CF50B2B05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E7E06-79CA-4948-8009-C5BAAA988AD0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5772D-BFA1-42C1-928A-919877852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8C82B-5DF4-4847-9FF4-5F8A632B9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75C86D-6AD8-4D5A-97D6-4F8037C90BD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99" y="-76200"/>
            <a:ext cx="1249218" cy="8351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0B7BB87-21E0-4FE6-8CF1-87F129F0BC20}"/>
              </a:ext>
            </a:extLst>
          </p:cNvPr>
          <p:cNvSpPr/>
          <p:nvPr userDrawn="1"/>
        </p:nvSpPr>
        <p:spPr>
          <a:xfrm>
            <a:off x="1173019" y="6550223"/>
            <a:ext cx="82930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56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8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3067050" y="3886201"/>
            <a:ext cx="245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 dirty="0"/>
              <a:t>9769201036</a:t>
            </a:r>
          </a:p>
          <a:p>
            <a:r>
              <a:rPr lang="en-IN" sz="1350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62976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9C718B-D747-B505-D9DE-D0F12E85CE16}"/>
              </a:ext>
            </a:extLst>
          </p:cNvPr>
          <p:cNvSpPr txBox="1"/>
          <p:nvPr/>
        </p:nvSpPr>
        <p:spPr>
          <a:xfrm>
            <a:off x="1388993" y="90900"/>
            <a:ext cx="52006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user has no address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alert(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user.address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00F434-18B0-08A1-A26F-04C8AEF35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97" y="1598614"/>
            <a:ext cx="10337913" cy="10532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CFD995-6FB1-923C-0456-AA5F12ADB357}"/>
              </a:ext>
            </a:extLst>
          </p:cNvPr>
          <p:cNvSpPr txBox="1"/>
          <p:nvPr/>
        </p:nvSpPr>
        <p:spPr>
          <a:xfrm>
            <a:off x="1345923" y="3290007"/>
            <a:ext cx="567110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user has no address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alert(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user?.address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//undefine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"Flow will go ahead"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00E458-5F02-B9AE-C74D-ED6FD219BF80}"/>
              </a:ext>
            </a:extLst>
          </p:cNvPr>
          <p:cNvSpPr txBox="1"/>
          <p:nvPr/>
        </p:nvSpPr>
        <p:spPr>
          <a:xfrm>
            <a:off x="1200150" y="5259386"/>
            <a:ext cx="61374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O/P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undefine</a:t>
            </a:r>
          </a:p>
          <a:p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Flow will go ahead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65CEC0-40EA-3B39-0A5A-77D8504CD0D0}"/>
              </a:ext>
            </a:extLst>
          </p:cNvPr>
          <p:cNvSpPr txBox="1"/>
          <p:nvPr/>
        </p:nvSpPr>
        <p:spPr>
          <a:xfrm>
            <a:off x="7017026" y="90900"/>
            <a:ext cx="378598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Application crash</a:t>
            </a:r>
            <a:r>
              <a:rPr lang="en-US" dirty="0"/>
              <a:t>……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83DA20-DB04-2B5A-BD13-B78D02685C1B}"/>
              </a:ext>
            </a:extLst>
          </p:cNvPr>
          <p:cNvSpPr txBox="1"/>
          <p:nvPr/>
        </p:nvSpPr>
        <p:spPr>
          <a:xfrm>
            <a:off x="7337562" y="3974926"/>
            <a:ext cx="3785981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Application can </a:t>
            </a:r>
            <a:r>
              <a:rPr lang="en-US" dirty="0">
                <a:highlight>
                  <a:srgbClr val="FFFF00"/>
                </a:highlight>
              </a:rPr>
              <a:t>run</a:t>
            </a:r>
            <a:r>
              <a:rPr lang="en-US" dirty="0"/>
              <a:t> after giving </a:t>
            </a:r>
            <a:r>
              <a:rPr lang="en-US" dirty="0">
                <a:highlight>
                  <a:srgbClr val="FFFF00"/>
                </a:highlight>
              </a:rPr>
              <a:t>Undefined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86288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32B749-9BD4-6022-6CEB-32418C20B10B}"/>
              </a:ext>
            </a:extLst>
          </p:cNvPr>
          <p:cNvSpPr txBox="1"/>
          <p:nvPr/>
        </p:nvSpPr>
        <p:spPr>
          <a:xfrm>
            <a:off x="1548020" y="245958"/>
            <a:ext cx="48627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alert(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user.address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5B92A9-335E-7B04-29AC-8B7CAD66D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67" y="1803580"/>
            <a:ext cx="8748518" cy="9449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2ADEFC-869D-FFE7-7F2D-7AEC14E901E8}"/>
              </a:ext>
            </a:extLst>
          </p:cNvPr>
          <p:cNvSpPr txBox="1"/>
          <p:nvPr/>
        </p:nvSpPr>
        <p:spPr>
          <a:xfrm>
            <a:off x="7017026" y="90900"/>
            <a:ext cx="378598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Application crash</a:t>
            </a:r>
            <a:r>
              <a:rPr lang="en-US" dirty="0"/>
              <a:t>……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07EF24-1F31-997E-0049-515DC03A6AB1}"/>
              </a:ext>
            </a:extLst>
          </p:cNvPr>
          <p:cNvSpPr txBox="1"/>
          <p:nvPr/>
        </p:nvSpPr>
        <p:spPr>
          <a:xfrm>
            <a:off x="910674" y="3559427"/>
            <a:ext cx="61374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alert(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user?.address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"flow will go ahead"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5EFD4D-B108-73AC-A0AA-CDD595E68ADF}"/>
              </a:ext>
            </a:extLst>
          </p:cNvPr>
          <p:cNvSpPr txBox="1"/>
          <p:nvPr/>
        </p:nvSpPr>
        <p:spPr>
          <a:xfrm>
            <a:off x="7337562" y="3974926"/>
            <a:ext cx="3785981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Application can </a:t>
            </a:r>
            <a:r>
              <a:rPr lang="en-US" dirty="0">
                <a:highlight>
                  <a:srgbClr val="FFFF00"/>
                </a:highlight>
              </a:rPr>
              <a:t>run</a:t>
            </a:r>
            <a:r>
              <a:rPr lang="en-US" dirty="0"/>
              <a:t> after giving </a:t>
            </a:r>
            <a:r>
              <a:rPr lang="en-US" dirty="0">
                <a:highlight>
                  <a:srgbClr val="FFFF00"/>
                </a:highlight>
              </a:rPr>
              <a:t>Undefined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D53E3A-8A46-7CC8-8A2E-6C57071BB29F}"/>
              </a:ext>
            </a:extLst>
          </p:cNvPr>
          <p:cNvSpPr txBox="1"/>
          <p:nvPr/>
        </p:nvSpPr>
        <p:spPr>
          <a:xfrm>
            <a:off x="1061002" y="5289204"/>
            <a:ext cx="61374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O/P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undefine</a:t>
            </a:r>
          </a:p>
          <a:p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Flow will go ahead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2145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42362B-7BBB-0B2F-73DC-6C38C1E50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516" y="2154594"/>
            <a:ext cx="8893311" cy="9983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07EF09-83CD-A3F8-6FA8-EAE0E09B2F9D}"/>
              </a:ext>
            </a:extLst>
          </p:cNvPr>
          <p:cNvSpPr txBox="1"/>
          <p:nvPr/>
        </p:nvSpPr>
        <p:spPr>
          <a:xfrm>
            <a:off x="1766681" y="723038"/>
            <a:ext cx="61374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alert(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user?.address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98A1AD-2203-9955-E3B5-1DC755918E79}"/>
              </a:ext>
            </a:extLst>
          </p:cNvPr>
          <p:cNvSpPr txBox="1"/>
          <p:nvPr/>
        </p:nvSpPr>
        <p:spPr>
          <a:xfrm>
            <a:off x="7364895" y="223184"/>
            <a:ext cx="378598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Application crash</a:t>
            </a:r>
            <a:r>
              <a:rPr lang="en-US" dirty="0"/>
              <a:t>……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03DE70-0C4D-21A3-28C4-B6749C79C419}"/>
              </a:ext>
            </a:extLst>
          </p:cNvPr>
          <p:cNvSpPr txBox="1"/>
          <p:nvPr/>
        </p:nvSpPr>
        <p:spPr>
          <a:xfrm>
            <a:off x="1053547" y="3705100"/>
            <a:ext cx="82594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>
                <a:highlight>
                  <a:srgbClr val="FFFF00"/>
                </a:highlight>
              </a:rPr>
              <a:t>variable</a:t>
            </a:r>
            <a:r>
              <a:rPr lang="en-US" dirty="0"/>
              <a:t> before ?. must </a:t>
            </a:r>
            <a:r>
              <a:rPr lang="en-US" dirty="0">
                <a:highlight>
                  <a:srgbClr val="FFFF00"/>
                </a:highlight>
              </a:rPr>
              <a:t>be declared</a:t>
            </a:r>
          </a:p>
          <a:p>
            <a:r>
              <a:rPr lang="en-US" dirty="0"/>
              <a:t>If there’s no variable user at all, then </a:t>
            </a:r>
            <a:r>
              <a:rPr lang="en-US" dirty="0" err="1"/>
              <a:t>user?.anything</a:t>
            </a:r>
            <a:r>
              <a:rPr lang="en-US" dirty="0"/>
              <a:t> triggers an error:</a:t>
            </a:r>
          </a:p>
        </p:txBody>
      </p:sp>
    </p:spTree>
    <p:extLst>
      <p:ext uri="{BB962C8B-B14F-4D97-AF65-F5344CB8AC3E}">
        <p14:creationId xmlns:p14="http://schemas.microsoft.com/office/powerpoint/2010/main" val="44832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279806-3E28-8C03-C067-F90EE518FAF3}"/>
              </a:ext>
            </a:extLst>
          </p:cNvPr>
          <p:cNvSpPr txBox="1"/>
          <p:nvPr/>
        </p:nvSpPr>
        <p:spPr>
          <a:xfrm>
            <a:off x="1796499" y="652815"/>
            <a:ext cx="61374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alert(user?.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address.street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"flow will go ahead"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246AF0-69BF-D90E-EEEA-B9EC21080689}"/>
              </a:ext>
            </a:extLst>
          </p:cNvPr>
          <p:cNvSpPr txBox="1"/>
          <p:nvPr/>
        </p:nvSpPr>
        <p:spPr>
          <a:xfrm>
            <a:off x="8073059" y="967264"/>
            <a:ext cx="3785981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Application can </a:t>
            </a:r>
            <a:r>
              <a:rPr lang="en-US" dirty="0">
                <a:highlight>
                  <a:srgbClr val="FFFF00"/>
                </a:highlight>
              </a:rPr>
              <a:t>run</a:t>
            </a:r>
            <a:r>
              <a:rPr lang="en-US" dirty="0"/>
              <a:t> after giving </a:t>
            </a:r>
            <a:r>
              <a:rPr lang="en-US" dirty="0">
                <a:highlight>
                  <a:srgbClr val="FFFF00"/>
                </a:highlight>
              </a:rPr>
              <a:t>Undefined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8A3268-43F3-95D6-7D1F-270F848E93F1}"/>
              </a:ext>
            </a:extLst>
          </p:cNvPr>
          <p:cNvSpPr txBox="1"/>
          <p:nvPr/>
        </p:nvSpPr>
        <p:spPr>
          <a:xfrm>
            <a:off x="1796499" y="2281542"/>
            <a:ext cx="61374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O/P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undefine</a:t>
            </a:r>
          </a:p>
          <a:p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Flow will go ahead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FDE114-0090-ABA1-195D-40AAD2E43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330" y="5619218"/>
            <a:ext cx="8756139" cy="8077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9F979E6-01A2-16D0-E289-E85468E55162}"/>
              </a:ext>
            </a:extLst>
          </p:cNvPr>
          <p:cNvSpPr txBox="1"/>
          <p:nvPr/>
        </p:nvSpPr>
        <p:spPr>
          <a:xfrm>
            <a:off x="1935647" y="3930128"/>
            <a:ext cx="61374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user={};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alert(user?.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address.street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192ECE-7C38-BE58-AAA6-437372344E8C}"/>
              </a:ext>
            </a:extLst>
          </p:cNvPr>
          <p:cNvSpPr txBox="1"/>
          <p:nvPr/>
        </p:nvSpPr>
        <p:spPr>
          <a:xfrm>
            <a:off x="7305260" y="4361407"/>
            <a:ext cx="378598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Application crash</a:t>
            </a:r>
            <a:r>
              <a:rPr lang="en-US" dirty="0"/>
              <a:t>……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87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1285E4-5CEA-CDBE-FFEB-006DC38A92C2}"/>
              </a:ext>
            </a:extLst>
          </p:cNvPr>
          <p:cNvSpPr txBox="1"/>
          <p:nvPr/>
        </p:nvSpPr>
        <p:spPr>
          <a:xfrm>
            <a:off x="1746803" y="370916"/>
            <a:ext cx="61374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alert(user?.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address.street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"Flow will go ahead"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D48C73-DB96-0F9F-DC95-C0E3D3CCEAA4}"/>
              </a:ext>
            </a:extLst>
          </p:cNvPr>
          <p:cNvSpPr txBox="1"/>
          <p:nvPr/>
        </p:nvSpPr>
        <p:spPr>
          <a:xfrm>
            <a:off x="7595980" y="370916"/>
            <a:ext cx="3785981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Application can </a:t>
            </a:r>
            <a:r>
              <a:rPr lang="en-US" dirty="0">
                <a:highlight>
                  <a:srgbClr val="FFFF00"/>
                </a:highlight>
              </a:rPr>
              <a:t>run</a:t>
            </a:r>
            <a:r>
              <a:rPr lang="en-US" dirty="0"/>
              <a:t> after giving </a:t>
            </a:r>
            <a:r>
              <a:rPr lang="en-US" dirty="0">
                <a:highlight>
                  <a:srgbClr val="FFFF00"/>
                </a:highlight>
              </a:rPr>
              <a:t>Undefined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BACC44-50E7-A094-A0EF-7B3962CA2E0A}"/>
              </a:ext>
            </a:extLst>
          </p:cNvPr>
          <p:cNvSpPr txBox="1"/>
          <p:nvPr/>
        </p:nvSpPr>
        <p:spPr>
          <a:xfrm>
            <a:off x="1746803" y="2416495"/>
            <a:ext cx="61374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user={};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alert(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user.address?.street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"Flow will go ahead"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1E3C24-2938-FD8C-34A0-11600C81F00D}"/>
              </a:ext>
            </a:extLst>
          </p:cNvPr>
          <p:cNvSpPr txBox="1"/>
          <p:nvPr/>
        </p:nvSpPr>
        <p:spPr>
          <a:xfrm>
            <a:off x="7808014" y="2718994"/>
            <a:ext cx="3785981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Application can </a:t>
            </a:r>
            <a:r>
              <a:rPr lang="en-US" dirty="0">
                <a:highlight>
                  <a:srgbClr val="FFFF00"/>
                </a:highlight>
              </a:rPr>
              <a:t>run</a:t>
            </a:r>
            <a:r>
              <a:rPr lang="en-US" dirty="0"/>
              <a:t> after giving </a:t>
            </a:r>
            <a:r>
              <a:rPr lang="en-US" dirty="0">
                <a:highlight>
                  <a:srgbClr val="FFFF00"/>
                </a:highlight>
              </a:rPr>
              <a:t>Undefined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124F12-E873-14B0-6AED-68BA2547259A}"/>
              </a:ext>
            </a:extLst>
          </p:cNvPr>
          <p:cNvSpPr txBox="1"/>
          <p:nvPr/>
        </p:nvSpPr>
        <p:spPr>
          <a:xfrm>
            <a:off x="494471" y="4196322"/>
            <a:ext cx="114026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The optional chaining ?. stops the evaluation if the value before ?. is undefined or null and returns undefined.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Further in this article, for brevity, we’ll be saying that something “exists” if it’s not null and not undefined.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In other words, </a:t>
            </a:r>
            <a:r>
              <a:rPr lang="en-US" sz="1800" dirty="0" err="1"/>
              <a:t>value?.prop</a:t>
            </a:r>
            <a:r>
              <a:rPr lang="en-US" sz="1800" dirty="0"/>
              <a:t>:          works as </a:t>
            </a:r>
            <a:r>
              <a:rPr lang="en-US" sz="1800" dirty="0" err="1"/>
              <a:t>value.prop</a:t>
            </a:r>
            <a:r>
              <a:rPr lang="en-US" sz="1800" dirty="0"/>
              <a:t>, if value exists,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otherwise (when value is undefined/null) it returns undefined.</a:t>
            </a:r>
          </a:p>
        </p:txBody>
      </p:sp>
    </p:spTree>
    <p:extLst>
      <p:ext uri="{BB962C8B-B14F-4D97-AF65-F5344CB8AC3E}">
        <p14:creationId xmlns:p14="http://schemas.microsoft.com/office/powerpoint/2010/main" val="2673460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402ED-AF6A-4180-8D01-C2A420EA1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533" y="1"/>
            <a:ext cx="4965293" cy="36379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Optional chaining '?.'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92408-6A82-45F2-830B-7A86524A8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6343" y="19668"/>
            <a:ext cx="6231194" cy="344128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The “non-existing property” problem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B25B35-D263-4D79-96B0-9D31DB021991}"/>
              </a:ext>
            </a:extLst>
          </p:cNvPr>
          <p:cNvSpPr txBox="1"/>
          <p:nvPr/>
        </p:nvSpPr>
        <p:spPr>
          <a:xfrm>
            <a:off x="127820" y="530942"/>
            <a:ext cx="11906864" cy="6105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As an example, let’s say we have user objects that hold the information about our users.</a:t>
            </a:r>
          </a:p>
          <a:p>
            <a:r>
              <a:rPr lang="en-US" dirty="0"/>
              <a:t>Most of our users have addresses in </a:t>
            </a:r>
            <a:r>
              <a:rPr lang="en-US" dirty="0" err="1"/>
              <a:t>user.address</a:t>
            </a:r>
            <a:r>
              <a:rPr lang="en-US" dirty="0"/>
              <a:t> property, with the street </a:t>
            </a:r>
            <a:r>
              <a:rPr lang="en-US" dirty="0" err="1"/>
              <a:t>user.address.street</a:t>
            </a:r>
            <a:r>
              <a:rPr lang="en-US" dirty="0"/>
              <a:t>, but some did not provide them.</a:t>
            </a:r>
          </a:p>
          <a:p>
            <a:r>
              <a:rPr lang="en-US" dirty="0"/>
              <a:t>In such case, when we attempt to get </a:t>
            </a:r>
            <a:r>
              <a:rPr lang="en-US" dirty="0" err="1"/>
              <a:t>user.address.street</a:t>
            </a:r>
            <a:r>
              <a:rPr lang="en-US" dirty="0"/>
              <a:t>, and the user happens to be without an address, we get an error:</a:t>
            </a:r>
          </a:p>
          <a:p>
            <a:endParaRPr lang="en-US" dirty="0"/>
          </a:p>
          <a:p>
            <a:r>
              <a:rPr lang="en-US" dirty="0"/>
              <a:t>let user = {}; // a user without "address" property</a:t>
            </a:r>
          </a:p>
          <a:p>
            <a:endParaRPr lang="en-US" dirty="0"/>
          </a:p>
          <a:p>
            <a:r>
              <a:rPr lang="en-US" dirty="0"/>
              <a:t>alert(</a:t>
            </a:r>
            <a:r>
              <a:rPr lang="en-US" dirty="0" err="1"/>
              <a:t>user.address.street</a:t>
            </a:r>
            <a:r>
              <a:rPr lang="en-US" dirty="0"/>
              <a:t>); // Error!</a:t>
            </a:r>
          </a:p>
          <a:p>
            <a:endParaRPr lang="en-US" dirty="0"/>
          </a:p>
          <a:p>
            <a:r>
              <a:rPr lang="en-US" dirty="0"/>
              <a:t>That’s the expected result. JavaScript works like this. As </a:t>
            </a:r>
            <a:r>
              <a:rPr lang="en-US" dirty="0" err="1"/>
              <a:t>user.address</a:t>
            </a:r>
            <a:r>
              <a:rPr lang="en-US" dirty="0"/>
              <a:t> is undefined, an attempt to get </a:t>
            </a:r>
            <a:r>
              <a:rPr lang="en-US" dirty="0" err="1"/>
              <a:t>user.address.street</a:t>
            </a:r>
            <a:r>
              <a:rPr lang="en-US" dirty="0"/>
              <a:t> fails with an error.</a:t>
            </a:r>
          </a:p>
          <a:p>
            <a:endParaRPr lang="en-US" dirty="0"/>
          </a:p>
          <a:p>
            <a:r>
              <a:rPr lang="en-US" dirty="0"/>
              <a:t>In many practical cases we’d prefer to get undefined instead of an error here (meaning “no street”).</a:t>
            </a:r>
          </a:p>
          <a:p>
            <a:r>
              <a:rPr lang="en-US" dirty="0"/>
              <a:t>…And another example. In the web development, we can get an object that corresponds to a web page element using a special method call, such as </a:t>
            </a:r>
            <a:r>
              <a:rPr lang="en-US" dirty="0" err="1"/>
              <a:t>document.querySelector</a:t>
            </a:r>
            <a:r>
              <a:rPr lang="en-US" dirty="0"/>
              <a:t>('.</a:t>
            </a:r>
            <a:r>
              <a:rPr lang="en-US" dirty="0" err="1"/>
              <a:t>elem</a:t>
            </a:r>
            <a:r>
              <a:rPr lang="en-US" dirty="0"/>
              <a:t>'), and it returns null when there’s no such element.</a:t>
            </a:r>
          </a:p>
          <a:p>
            <a:endParaRPr lang="en-US" dirty="0"/>
          </a:p>
          <a:p>
            <a:r>
              <a:rPr lang="en-US" dirty="0"/>
              <a:t>// </a:t>
            </a:r>
            <a:r>
              <a:rPr lang="en-US" dirty="0" err="1"/>
              <a:t>document.querySelector</a:t>
            </a:r>
            <a:r>
              <a:rPr lang="en-US" dirty="0"/>
              <a:t>('.</a:t>
            </a:r>
            <a:r>
              <a:rPr lang="en-US" dirty="0" err="1"/>
              <a:t>elem</a:t>
            </a:r>
            <a:r>
              <a:rPr lang="en-US" dirty="0"/>
              <a:t>') is null if there's no element</a:t>
            </a:r>
          </a:p>
          <a:p>
            <a:r>
              <a:rPr lang="en-US" dirty="0"/>
              <a:t>let html = </a:t>
            </a:r>
            <a:r>
              <a:rPr lang="en-US" dirty="0" err="1"/>
              <a:t>document.querySelector</a:t>
            </a:r>
            <a:r>
              <a:rPr lang="en-US" dirty="0"/>
              <a:t>('.</a:t>
            </a:r>
            <a:r>
              <a:rPr lang="en-US" dirty="0" err="1"/>
              <a:t>elem</a:t>
            </a:r>
            <a:r>
              <a:rPr lang="en-US" dirty="0"/>
              <a:t>').</a:t>
            </a:r>
            <a:r>
              <a:rPr lang="en-US" dirty="0" err="1"/>
              <a:t>innerHTML</a:t>
            </a:r>
            <a:r>
              <a:rPr lang="en-US" dirty="0"/>
              <a:t>; // error if it's null</a:t>
            </a:r>
          </a:p>
          <a:p>
            <a:endParaRPr lang="en-US" dirty="0"/>
          </a:p>
          <a:p>
            <a:r>
              <a:rPr lang="en-US" dirty="0"/>
              <a:t>Once again, if the element doesn’t exist, we’ll get an error accessing .</a:t>
            </a:r>
            <a:r>
              <a:rPr lang="en-US" dirty="0" err="1"/>
              <a:t>innerHTML</a:t>
            </a:r>
            <a:r>
              <a:rPr lang="en-US" dirty="0"/>
              <a:t> of null. And in some cases, when the absence of the element is normal, we’d like to avoid the error and just accept html = null as the result.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710F20-B607-425B-9D5D-C46CEFFD6A54}"/>
              </a:ext>
            </a:extLst>
          </p:cNvPr>
          <p:cNvSpPr/>
          <p:nvPr/>
        </p:nvSpPr>
        <p:spPr>
          <a:xfrm>
            <a:off x="5417574" y="1917290"/>
            <a:ext cx="599768" cy="49161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D0F1FA-9226-40FC-83AF-51840F27429A}"/>
              </a:ext>
            </a:extLst>
          </p:cNvPr>
          <p:cNvSpPr/>
          <p:nvPr/>
        </p:nvSpPr>
        <p:spPr>
          <a:xfrm>
            <a:off x="6272982" y="1671484"/>
            <a:ext cx="1248696" cy="9930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address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0D2313-B249-46C5-AC93-F9063C394A5A}"/>
              </a:ext>
            </a:extLst>
          </p:cNvPr>
          <p:cNvSpPr/>
          <p:nvPr/>
        </p:nvSpPr>
        <p:spPr>
          <a:xfrm>
            <a:off x="6784258" y="2310581"/>
            <a:ext cx="491613" cy="35396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2F6FC1D-3E76-4DB5-9B0C-A60F6D127AB7}"/>
              </a:ext>
            </a:extLst>
          </p:cNvPr>
          <p:cNvCxnSpPr/>
          <p:nvPr/>
        </p:nvCxnSpPr>
        <p:spPr>
          <a:xfrm flipV="1">
            <a:off x="7098890" y="2310581"/>
            <a:ext cx="953729" cy="235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59F95DA-9E89-49EA-B2AD-BCBCDA362026}"/>
              </a:ext>
            </a:extLst>
          </p:cNvPr>
          <p:cNvSpPr/>
          <p:nvPr/>
        </p:nvSpPr>
        <p:spPr>
          <a:xfrm>
            <a:off x="8347586" y="1917290"/>
            <a:ext cx="1091382" cy="7472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street</a:t>
            </a:r>
          </a:p>
        </p:txBody>
      </p:sp>
    </p:spTree>
    <p:extLst>
      <p:ext uri="{BB962C8B-B14F-4D97-AF65-F5344CB8AC3E}">
        <p14:creationId xmlns:p14="http://schemas.microsoft.com/office/powerpoint/2010/main" val="580992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4E579-2976-4A57-9BFB-13B413A3B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98321"/>
            <a:ext cx="11110453" cy="66269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How can we do this?</a:t>
            </a:r>
          </a:p>
          <a:p>
            <a:pPr marL="0" indent="0">
              <a:buNone/>
            </a:pPr>
            <a:r>
              <a:rPr lang="en-US" sz="1800" dirty="0"/>
              <a:t>The obvious solution would be to check the value using if or the conditional operator ?, before accessing its property, like this: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let user = {};</a:t>
            </a:r>
          </a:p>
          <a:p>
            <a:pPr marL="0" indent="0">
              <a:buNone/>
            </a:pPr>
            <a:r>
              <a:rPr lang="en-US" sz="1800" dirty="0"/>
              <a:t>alert(</a:t>
            </a:r>
            <a:r>
              <a:rPr lang="en-US" sz="1800" dirty="0" err="1"/>
              <a:t>user.address</a:t>
            </a:r>
            <a:r>
              <a:rPr lang="en-US" sz="1800" dirty="0"/>
              <a:t> ? </a:t>
            </a:r>
            <a:r>
              <a:rPr lang="en-US" sz="1800" dirty="0" err="1"/>
              <a:t>user.address.street</a:t>
            </a:r>
            <a:r>
              <a:rPr lang="en-US" sz="1800" dirty="0"/>
              <a:t> : undefined);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It works, there’s no error… But it’s quite in elegant. As you can see, the "</a:t>
            </a:r>
            <a:r>
              <a:rPr lang="en-US" sz="1800" dirty="0" err="1"/>
              <a:t>user.address</a:t>
            </a:r>
            <a:r>
              <a:rPr lang="en-US" sz="1800" dirty="0"/>
              <a:t>" appears twice in the code. For more deeply nested properties, that becomes a problem as more repetitions are required.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E.g. let’s try getting user.address.street.name.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We need to check both </a:t>
            </a:r>
            <a:r>
              <a:rPr lang="en-US" sz="1800" dirty="0" err="1"/>
              <a:t>user.address</a:t>
            </a:r>
            <a:r>
              <a:rPr lang="en-US" sz="1800" dirty="0"/>
              <a:t> and </a:t>
            </a:r>
            <a:r>
              <a:rPr lang="en-US" sz="1800" dirty="0" err="1"/>
              <a:t>user.address.street</a:t>
            </a:r>
            <a:r>
              <a:rPr lang="en-US" sz="1800" dirty="0"/>
              <a:t>:</a:t>
            </a:r>
          </a:p>
          <a:p>
            <a:pPr marL="0" indent="0">
              <a:buNone/>
            </a:pPr>
            <a:r>
              <a:rPr lang="en-US" sz="1800" dirty="0"/>
              <a:t>let user = {}; // user has no address</a:t>
            </a:r>
          </a:p>
          <a:p>
            <a:pPr marL="0" indent="0">
              <a:buNone/>
            </a:pPr>
            <a:r>
              <a:rPr lang="en-US" sz="1800" dirty="0"/>
              <a:t>alert(</a:t>
            </a:r>
            <a:r>
              <a:rPr lang="en-US" sz="1800" dirty="0" err="1"/>
              <a:t>user.address</a:t>
            </a:r>
            <a:r>
              <a:rPr lang="en-US" sz="1800" dirty="0"/>
              <a:t> ?</a:t>
            </a:r>
            <a:r>
              <a:rPr lang="en-US" sz="1800" dirty="0">
                <a:solidFill>
                  <a:srgbClr val="FF0000"/>
                </a:solidFill>
              </a:rPr>
              <a:t>(</a:t>
            </a:r>
            <a:r>
              <a:rPr lang="en-US" sz="1800" dirty="0" err="1"/>
              <a:t>user.address.street</a:t>
            </a:r>
            <a:r>
              <a:rPr lang="en-US" sz="1800" dirty="0"/>
              <a:t> ? user.address.street.name : null </a:t>
            </a:r>
            <a:r>
              <a:rPr lang="en-US" sz="1800" dirty="0">
                <a:solidFill>
                  <a:srgbClr val="FF0000"/>
                </a:solidFill>
              </a:rPr>
              <a:t>)</a:t>
            </a:r>
            <a:r>
              <a:rPr lang="en-US" sz="1800" dirty="0"/>
              <a:t>: null);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That’s just awful, one may even have problems understanding such code.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69A3E3-B925-497D-A84E-3D1B2D05CEEC}"/>
              </a:ext>
            </a:extLst>
          </p:cNvPr>
          <p:cNvSpPr/>
          <p:nvPr/>
        </p:nvSpPr>
        <p:spPr>
          <a:xfrm>
            <a:off x="6971071" y="1514168"/>
            <a:ext cx="648929" cy="4916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CC68704-AF6E-4D9C-B271-4254384EBF37}"/>
              </a:ext>
            </a:extLst>
          </p:cNvPr>
          <p:cNvCxnSpPr/>
          <p:nvPr/>
        </p:nvCxnSpPr>
        <p:spPr>
          <a:xfrm flipV="1">
            <a:off x="7728155" y="1661652"/>
            <a:ext cx="412955" cy="117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E3BF814-FF9E-4AE0-B90C-A41A0D3A6225}"/>
              </a:ext>
            </a:extLst>
          </p:cNvPr>
          <p:cNvSpPr/>
          <p:nvPr/>
        </p:nvSpPr>
        <p:spPr>
          <a:xfrm>
            <a:off x="8377084" y="1012723"/>
            <a:ext cx="1347019" cy="12388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address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CABB92-0F51-4F40-B207-FF31CC644BBD}"/>
              </a:ext>
            </a:extLst>
          </p:cNvPr>
          <p:cNvSpPr/>
          <p:nvPr/>
        </p:nvSpPr>
        <p:spPr>
          <a:xfrm>
            <a:off x="8819535" y="1779639"/>
            <a:ext cx="314633" cy="314632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628D45-20BB-4A3B-B26A-66A904A35312}"/>
              </a:ext>
            </a:extLst>
          </p:cNvPr>
          <p:cNvCxnSpPr>
            <a:stCxn id="7" idx="3"/>
          </p:cNvCxnSpPr>
          <p:nvPr/>
        </p:nvCxnSpPr>
        <p:spPr>
          <a:xfrm flipV="1">
            <a:off x="9134168" y="1514168"/>
            <a:ext cx="1061884" cy="422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C1B3381-44BB-4562-B835-45538D336213}"/>
              </a:ext>
            </a:extLst>
          </p:cNvPr>
          <p:cNvSpPr/>
          <p:nvPr/>
        </p:nvSpPr>
        <p:spPr>
          <a:xfrm>
            <a:off x="10343536" y="1061884"/>
            <a:ext cx="1347019" cy="10323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street</a:t>
            </a:r>
          </a:p>
        </p:txBody>
      </p:sp>
    </p:spTree>
    <p:extLst>
      <p:ext uri="{BB962C8B-B14F-4D97-AF65-F5344CB8AC3E}">
        <p14:creationId xmlns:p14="http://schemas.microsoft.com/office/powerpoint/2010/main" val="3620621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4BA27-F8F8-4A9A-BA5B-69BBF17A7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7342" y="0"/>
            <a:ext cx="5132439" cy="44112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Optional chaining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410EC-104A-415B-A1AF-05CA4E961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813" y="599768"/>
            <a:ext cx="11533239" cy="59780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The optional chaining ?. stops the evaluation if the value before ?. is undefined or null and returns undefined.</a:t>
            </a:r>
          </a:p>
          <a:p>
            <a:pPr marL="0" indent="0">
              <a:buNone/>
            </a:pPr>
            <a:r>
              <a:rPr lang="en-US" sz="1600" dirty="0"/>
              <a:t>Further in this article, for brevity, we’ll be saying that something “exists” if it’s not null and not undefined.</a:t>
            </a:r>
          </a:p>
          <a:p>
            <a:pPr marL="0" indent="0">
              <a:buNone/>
            </a:pPr>
            <a:r>
              <a:rPr lang="en-US" sz="1600" dirty="0"/>
              <a:t>In other words, </a:t>
            </a:r>
            <a:r>
              <a:rPr lang="en-US" sz="1600" dirty="0" err="1"/>
              <a:t>value?.prop</a:t>
            </a:r>
            <a:r>
              <a:rPr lang="en-US" sz="1600" dirty="0"/>
              <a:t>:          works as </a:t>
            </a:r>
            <a:r>
              <a:rPr lang="en-US" sz="1600" dirty="0" err="1"/>
              <a:t>value.prop</a:t>
            </a:r>
            <a:r>
              <a:rPr lang="en-US" sz="1600" dirty="0"/>
              <a:t>, if value exists,</a:t>
            </a:r>
          </a:p>
          <a:p>
            <a:pPr marL="0" indent="0">
              <a:buNone/>
            </a:pPr>
            <a:r>
              <a:rPr lang="en-US" sz="1600" dirty="0"/>
              <a:t>    otherwise (when value is undefined/null) it returns undefined.</a:t>
            </a:r>
          </a:p>
          <a:p>
            <a:pPr marL="0" indent="0">
              <a:buNone/>
            </a:pPr>
            <a:r>
              <a:rPr lang="en-US" sz="1600" dirty="0"/>
              <a:t>Here’s the safe way to access </a:t>
            </a:r>
            <a:r>
              <a:rPr lang="en-US" sz="1600" dirty="0" err="1"/>
              <a:t>user.address.street</a:t>
            </a:r>
            <a:r>
              <a:rPr lang="en-US" sz="1600" dirty="0"/>
              <a:t> using ?.: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{}; 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user has no address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?.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?.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street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); 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undefined (no error)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/>
              <a:t>The code is short and clean, there’s no duplication at all.</a:t>
            </a:r>
          </a:p>
          <a:p>
            <a:pPr marL="0" indent="0">
              <a:buNone/>
            </a:pPr>
            <a:r>
              <a:rPr lang="en-US" sz="1600" dirty="0"/>
              <a:t>Reading the address with </a:t>
            </a:r>
            <a:r>
              <a:rPr lang="en-US" sz="1600" dirty="0" err="1"/>
              <a:t>user?.address</a:t>
            </a:r>
            <a:r>
              <a:rPr lang="en-US" sz="1600" dirty="0"/>
              <a:t> works even if user object doesn’t exist:</a:t>
            </a: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); 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undefined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street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); 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undefined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/>
              <a:t>Please note</a:t>
            </a:r>
            <a:r>
              <a:rPr lang="en-US" sz="1600" dirty="0"/>
              <a:t>: the ?. syntax makes optional the value before it, but not any further.</a:t>
            </a:r>
          </a:p>
          <a:p>
            <a:pPr marL="0" indent="0">
              <a:buNone/>
            </a:pPr>
            <a:r>
              <a:rPr lang="en-US" sz="1600" dirty="0"/>
              <a:t>E.g. in user?.address.street.name the ?. allows user to safely be null/undefined (and returns undefined in that case), but that’s only for user. Further properties are accessed in a regular way. If we want some of them to be optional, then we’ll need to replace more . with ?..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581304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2DAF5-18CC-4A6F-85FD-A83DEB56D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55" y="1012723"/>
            <a:ext cx="10940845" cy="5164240"/>
          </a:xfrm>
        </p:spPr>
        <p:txBody>
          <a:bodyPr>
            <a:normAutofit/>
          </a:bodyPr>
          <a:lstStyle/>
          <a:p>
            <a:r>
              <a:rPr lang="en-US" dirty="0"/>
              <a:t>The variable before ?. must be declared</a:t>
            </a:r>
          </a:p>
          <a:p>
            <a:r>
              <a:rPr lang="en-US" dirty="0"/>
              <a:t>If there’s no variable user at all, then </a:t>
            </a:r>
            <a:r>
              <a:rPr lang="en-US" dirty="0" err="1"/>
              <a:t>user?.anything</a:t>
            </a:r>
            <a:r>
              <a:rPr lang="en-US" dirty="0"/>
              <a:t> triggers an error:</a:t>
            </a:r>
          </a:p>
          <a:p>
            <a:r>
              <a:rPr lang="en-US" dirty="0"/>
              <a:t>// </a:t>
            </a:r>
            <a:r>
              <a:rPr lang="en-US" dirty="0" err="1"/>
              <a:t>ReferenceError</a:t>
            </a:r>
            <a:r>
              <a:rPr lang="en-US" dirty="0"/>
              <a:t>: user is not defined</a:t>
            </a:r>
          </a:p>
          <a:p>
            <a:r>
              <a:rPr lang="en-US" dirty="0" err="1"/>
              <a:t>user?.address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The variable must be declared (e.g. let/const/var user or as a function parameter). The optional chaining works only for declared variables.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8536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B9445-33F3-467D-A6D1-D5483ABA7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394" y="98322"/>
            <a:ext cx="10380406" cy="698090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400" b="1" dirty="0"/>
              <a:t>Short-circuiting</a:t>
            </a:r>
          </a:p>
          <a:p>
            <a:pPr marL="0" indent="0">
              <a:buNone/>
            </a:pPr>
            <a:r>
              <a:rPr lang="en-US" sz="1400" dirty="0"/>
              <a:t>As it was said before, the ?. immediately stops (“short-circuits”) the evaluation if the left part doesn’t exist.</a:t>
            </a:r>
          </a:p>
          <a:p>
            <a:pPr marL="0" indent="0">
              <a:buNone/>
            </a:pPr>
            <a:r>
              <a:rPr lang="en-US" sz="1400" dirty="0"/>
              <a:t>So, if there are any further function calls or side effects, they don’t occur.</a:t>
            </a:r>
          </a:p>
          <a:p>
            <a:pPr marL="0" indent="0">
              <a:buNone/>
            </a:pPr>
            <a:r>
              <a:rPr lang="en-US" sz="1400" dirty="0"/>
              <a:t>For instance:</a:t>
            </a:r>
          </a:p>
          <a:p>
            <a:pPr marL="0" indent="0"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?.</a:t>
            </a:r>
            <a:r>
              <a:rPr lang="en-US" sz="10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sayHi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++); 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no "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sayHi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", so the execution doesn't reach x++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0, value not incremented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n-US" sz="1400" b="1" dirty="0"/>
              <a:t>Other variants: ?.(), ?.[]</a:t>
            </a:r>
          </a:p>
          <a:p>
            <a:pPr marL="0" indent="0">
              <a:buNone/>
            </a:pPr>
            <a:r>
              <a:rPr lang="en-US" sz="1400" dirty="0"/>
              <a:t>The optional chaining ?. is not an operator, but a special syntax construct, that also works with functions and square brackets.</a:t>
            </a:r>
          </a:p>
          <a:p>
            <a:pPr marL="0" indent="0">
              <a:buNone/>
            </a:pPr>
            <a:r>
              <a:rPr lang="en-US" sz="1400" dirty="0"/>
              <a:t>For example, ?.() is used to call a function that may not exist.</a:t>
            </a:r>
          </a:p>
          <a:p>
            <a:pPr marL="0" indent="0">
              <a:buNone/>
            </a:pPr>
            <a:r>
              <a:rPr lang="en-US" sz="1400" dirty="0"/>
              <a:t>In the code below, some of our users have admin method, and some don’t: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userAdmin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{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admin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 am admin"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};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userGuest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{};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userAdmin</a:t>
            </a:r>
            <a:r>
              <a:rPr lang="en-IN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admin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?.(); </a:t>
            </a:r>
            <a:r>
              <a:rPr lang="en-IN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I am admin</a:t>
            </a:r>
            <a:endParaRPr lang="en-I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userGuest</a:t>
            </a:r>
            <a:r>
              <a:rPr lang="en-IN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admin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?.(); </a:t>
            </a:r>
            <a:r>
              <a:rPr lang="en-IN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nothing (no such method)</a:t>
            </a:r>
            <a:endParaRPr lang="en-I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/>
              <a:t>Here, in both lines we first use the dot (user1.admin) to get admin property, because the user object must exist, so it’s safe read from it.</a:t>
            </a:r>
          </a:p>
          <a:p>
            <a:pPr marL="0" indent="0">
              <a:buNone/>
            </a:pP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5662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2D39B-00E8-4474-A953-B3FA3B2DC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890" y="100780"/>
            <a:ext cx="10350909" cy="66564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The ?.[] syntax also works, if we’d like to use brackets [] to access properties instead of dot .. Similar to previous cases, it allows to safely read a property from an object that may not exist.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"John"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?.[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 ); 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John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?.[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 ); 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undefined</a:t>
            </a: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/>
              <a:t>Also we can use ?. with delete:</a:t>
            </a:r>
          </a:p>
          <a:p>
            <a:pPr marL="0" indent="0">
              <a:buNone/>
            </a:pPr>
            <a:r>
              <a:rPr lang="en-US" sz="1800" dirty="0"/>
              <a:t>delete user?.name; // delete user.name if user exists</a:t>
            </a:r>
          </a:p>
          <a:p>
            <a:pPr marL="0" indent="0">
              <a:buNone/>
            </a:pPr>
            <a:r>
              <a:rPr lang="en-US" sz="1800" dirty="0"/>
              <a:t>We can use ?. for safe reading and deleting, but not writing</a:t>
            </a:r>
          </a:p>
          <a:p>
            <a:pPr marL="0" indent="0">
              <a:buNone/>
            </a:pPr>
            <a:r>
              <a:rPr lang="en-US" sz="1800" dirty="0"/>
              <a:t>The optional chaining ?. has no use at the left side of an assignment.</a:t>
            </a:r>
          </a:p>
          <a:p>
            <a:pPr marL="0" indent="0">
              <a:buNone/>
            </a:pPr>
            <a:r>
              <a:rPr lang="en-US" sz="1800" dirty="0"/>
              <a:t>For example: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?.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Error, doesn't work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because it evaluates to undefined = "John"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/>
              <a:t>It’s just not that smart.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560441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6C2A7-A86A-4283-8EC2-BBBB9851F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876" y="137652"/>
            <a:ext cx="10232923" cy="603931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optional chaining ?. syntax has three forms: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obj?.prop</a:t>
            </a:r>
            <a:r>
              <a:rPr lang="en-US" dirty="0"/>
              <a:t> – returns </a:t>
            </a:r>
            <a:r>
              <a:rPr lang="en-US" dirty="0" err="1"/>
              <a:t>obj.prop</a:t>
            </a:r>
            <a:r>
              <a:rPr lang="en-US" dirty="0"/>
              <a:t> if obj exists, otherwise undefined.</a:t>
            </a:r>
          </a:p>
          <a:p>
            <a:pPr marL="0" indent="0">
              <a:buNone/>
            </a:pPr>
            <a:r>
              <a:rPr lang="en-US" dirty="0"/>
              <a:t>    obj?.[prop] – returns obj[prop] if obj exists, otherwise undefined.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obj.method</a:t>
            </a:r>
            <a:r>
              <a:rPr lang="en-US" dirty="0"/>
              <a:t>?.() – calls </a:t>
            </a:r>
            <a:r>
              <a:rPr lang="en-US" dirty="0" err="1"/>
              <a:t>obj.method</a:t>
            </a:r>
            <a:r>
              <a:rPr lang="en-US" dirty="0"/>
              <a:t>() if </a:t>
            </a:r>
            <a:r>
              <a:rPr lang="en-US" dirty="0" err="1"/>
              <a:t>obj.method</a:t>
            </a:r>
            <a:r>
              <a:rPr lang="en-US" dirty="0"/>
              <a:t> exists, otherwise returns undefined.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As we can see, all of them are straightforward and simple to use. The ?. checks the left part for null/undefined and allows the evaluation to proceed if it’s not so.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0226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44A45-D8C3-4004-9576-05BBFEAA7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517" y="103239"/>
            <a:ext cx="9918290" cy="421456"/>
          </a:xfrm>
        </p:spPr>
        <p:txBody>
          <a:bodyPr>
            <a:noAutofit/>
          </a:bodyPr>
          <a:lstStyle/>
          <a:p>
            <a:r>
              <a:rPr lang="en-US" sz="1800" b="1" dirty="0"/>
              <a:t>The </a:t>
            </a:r>
            <a:r>
              <a:rPr lang="en-US" sz="1800" b="1" dirty="0" err="1"/>
              <a:t>nullish</a:t>
            </a:r>
            <a:r>
              <a:rPr lang="en-US" sz="1800" b="1" dirty="0"/>
              <a:t> coalescing operator is written as two question marks ??.</a:t>
            </a:r>
            <a:br>
              <a:rPr lang="en-US" sz="1800" b="1" dirty="0"/>
            </a:br>
            <a:endParaRPr lang="en-IN" sz="1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DAA20-B2CB-4080-A761-A94366AE2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045" y="698090"/>
            <a:ext cx="11493910" cy="57715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The result of a ?? b is:</a:t>
            </a:r>
          </a:p>
          <a:p>
            <a:pPr marL="0" indent="0">
              <a:buNone/>
            </a:pPr>
            <a:r>
              <a:rPr lang="en-US" sz="1800" dirty="0"/>
              <a:t>    if a is defined, then a,</a:t>
            </a:r>
          </a:p>
          <a:p>
            <a:pPr marL="0" indent="0">
              <a:buNone/>
            </a:pPr>
            <a:r>
              <a:rPr lang="en-US" sz="1800" dirty="0"/>
              <a:t>    if a isn’t defined, then b.</a:t>
            </a:r>
          </a:p>
          <a:p>
            <a:pPr marL="0" indent="0">
              <a:buNone/>
            </a:pPr>
            <a:r>
              <a:rPr lang="en-US" sz="1800" dirty="0"/>
              <a:t>In other words, ?? returns the first argument if it’s not null/undefined. Otherwise, the second one.</a:t>
            </a:r>
          </a:p>
          <a:p>
            <a:pPr marL="0" indent="0">
              <a:buNone/>
            </a:pPr>
            <a:r>
              <a:rPr lang="en-US" sz="1800" dirty="0"/>
              <a:t>The </a:t>
            </a:r>
            <a:r>
              <a:rPr lang="en-US" sz="1800" dirty="0" err="1"/>
              <a:t>nullish</a:t>
            </a:r>
            <a:r>
              <a:rPr lang="en-US" sz="1800" dirty="0"/>
              <a:t> coalescing operator isn’t anything completely new. It’s just a nice syntax to get the first “defined” value of the two.</a:t>
            </a:r>
          </a:p>
          <a:p>
            <a:pPr marL="0" indent="0">
              <a:buNone/>
            </a:pPr>
            <a:r>
              <a:rPr lang="en-US" sz="1800" dirty="0"/>
              <a:t>We can rewrite result = a ?? b using the operators that we already know, like this: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result = (a !== null &amp;&amp; a !== undefined) ? a : b;</a:t>
            </a:r>
          </a:p>
          <a:p>
            <a:pPr marL="0" indent="0">
              <a:buNone/>
            </a:pPr>
            <a:r>
              <a:rPr lang="en-US" sz="1800" dirty="0"/>
              <a:t>The common use case for ?? is to provide a default value for a potentially undefined variable.</a:t>
            </a:r>
          </a:p>
          <a:p>
            <a:pPr marL="0" indent="0">
              <a:buNone/>
            </a:pPr>
            <a:r>
              <a:rPr lang="en-US" sz="1800" dirty="0"/>
              <a:t>For example, here we show Anonymous if user isn’t defined:</a:t>
            </a:r>
          </a:p>
          <a:p>
            <a:pPr marL="0" indent="0">
              <a:buNone/>
            </a:pPr>
            <a:r>
              <a:rPr lang="en-US" sz="1800" dirty="0"/>
              <a:t>let user;</a:t>
            </a:r>
          </a:p>
          <a:p>
            <a:pPr marL="0" indent="0">
              <a:buNone/>
            </a:pPr>
            <a:r>
              <a:rPr lang="en-US" sz="1800" dirty="0"/>
              <a:t>alert(user ?? "Anonymous"); // Anonymous</a:t>
            </a:r>
          </a:p>
          <a:p>
            <a:pPr marL="0" indent="0">
              <a:buNone/>
            </a:pPr>
            <a:r>
              <a:rPr lang="en-US" sz="1800" dirty="0"/>
              <a:t>Of course, if user had any value except null/undefined, then we would see it instead:</a:t>
            </a:r>
          </a:p>
          <a:p>
            <a:pPr marL="0" indent="0">
              <a:buNone/>
            </a:pPr>
            <a:r>
              <a:rPr lang="en-US" sz="1800" dirty="0"/>
              <a:t>let user = "John";</a:t>
            </a:r>
          </a:p>
          <a:p>
            <a:pPr marL="0" indent="0">
              <a:buNone/>
            </a:pPr>
            <a:r>
              <a:rPr lang="en-US" sz="1800" dirty="0"/>
              <a:t>alert(user ?? "Anonymous"); // John</a:t>
            </a:r>
            <a:endParaRPr lang="en-IN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E15C36-341E-43A1-93A5-60586B2B1D94}"/>
              </a:ext>
            </a:extLst>
          </p:cNvPr>
          <p:cNvSpPr txBox="1"/>
          <p:nvPr/>
        </p:nvSpPr>
        <p:spPr>
          <a:xfrm>
            <a:off x="9232490" y="2762865"/>
            <a:ext cx="2536721" cy="397031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function add(</a:t>
            </a:r>
            <a:r>
              <a:rPr lang="en-IN" dirty="0" err="1"/>
              <a:t>a,b</a:t>
            </a:r>
            <a:r>
              <a:rPr lang="en-IN" dirty="0"/>
              <a:t>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b=b||1;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  let r=</a:t>
            </a:r>
            <a:r>
              <a:rPr lang="en-IN" dirty="0" err="1"/>
              <a:t>a+b</a:t>
            </a:r>
            <a:r>
              <a:rPr lang="en-IN" dirty="0"/>
              <a:t>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function add(</a:t>
            </a:r>
            <a:r>
              <a:rPr lang="en-IN" dirty="0" err="1"/>
              <a:t>a,b</a:t>
            </a:r>
            <a:r>
              <a:rPr lang="en-IN" dirty="0"/>
              <a:t>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b=b??1;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  let r=</a:t>
            </a:r>
            <a:r>
              <a:rPr lang="en-IN" dirty="0" err="1"/>
              <a:t>a+b</a:t>
            </a:r>
            <a:r>
              <a:rPr lang="en-IN" dirty="0"/>
              <a:t>;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858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3457C-970F-4F85-9D66-19504EF7F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6181" y="62936"/>
            <a:ext cx="9839632" cy="618101"/>
          </a:xfrm>
        </p:spPr>
        <p:txBody>
          <a:bodyPr>
            <a:normAutofit/>
          </a:bodyPr>
          <a:lstStyle/>
          <a:p>
            <a:r>
              <a:rPr lang="en-IN" sz="3600" b="1" dirty="0"/>
              <a:t>Comparison with ||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2EF50-3BFE-44BF-A56F-20926B461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6" y="681037"/>
            <a:ext cx="5742039" cy="54959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The OR || operator can be used in the same way</a:t>
            </a:r>
          </a:p>
          <a:p>
            <a:pPr marL="0" indent="0">
              <a:buNone/>
            </a:pPr>
            <a:r>
              <a:rPr lang="en-US" sz="1600" dirty="0"/>
              <a:t>For example, in the code above we could replace ?? with || and still get the same result: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nickName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Supercoder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shows the first truthy value: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|| 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|| 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nickName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|| 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"Anonymous"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</a:t>
            </a:r>
            <a:r>
              <a:rPr lang="en-IN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Supercoder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The OR || operator exists since the beginning of JavaScript, so developers were using it for such purposes for a long time.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On the other hand, the </a:t>
            </a:r>
            <a:r>
              <a:rPr lang="en-US" sz="1600" dirty="0" err="1"/>
              <a:t>nullish</a:t>
            </a:r>
            <a:r>
              <a:rPr lang="en-US" sz="1600" dirty="0"/>
              <a:t> coalescing operator ?? was added to JavaScript only recently, and the reason for that was that people weren’t quite happy with ||.</a:t>
            </a: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3C1502-016B-4CAB-B7D9-060CCEA87161}"/>
              </a:ext>
            </a:extLst>
          </p:cNvPr>
          <p:cNvSpPr txBox="1"/>
          <p:nvPr/>
        </p:nvSpPr>
        <p:spPr>
          <a:xfrm>
            <a:off x="5899356" y="62936"/>
            <a:ext cx="613532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important difference between them is that:</a:t>
            </a:r>
          </a:p>
          <a:p>
            <a:r>
              <a:rPr lang="en-US" dirty="0"/>
              <a:t>    || returns the first truthy value.</a:t>
            </a:r>
          </a:p>
          <a:p>
            <a:r>
              <a:rPr lang="en-US" dirty="0"/>
              <a:t>    ?? returns the first defined value.</a:t>
            </a:r>
          </a:p>
          <a:p>
            <a:endParaRPr lang="en-US" dirty="0"/>
          </a:p>
          <a:p>
            <a:r>
              <a:rPr lang="en-US" dirty="0"/>
              <a:t>In other words, || doesn’t distinguish between false, 0, an empty string "" and null/undefined. They are all the same – </a:t>
            </a:r>
            <a:r>
              <a:rPr lang="en-US" dirty="0" err="1"/>
              <a:t>falsy</a:t>
            </a:r>
            <a:r>
              <a:rPr lang="en-US" dirty="0"/>
              <a:t> values. If any of these is the first argument of ||, then we’ll get the second argument as the result.</a:t>
            </a:r>
          </a:p>
          <a:p>
            <a:r>
              <a:rPr lang="en-US" dirty="0"/>
              <a:t>In practice though, we may want to u</a:t>
            </a:r>
          </a:p>
          <a:p>
            <a:endParaRPr lang="en-US" dirty="0"/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|| 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100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?? 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  <a:p>
            <a:r>
              <a:rPr lang="en-US" dirty="0"/>
              <a:t>    The height || 100 checks height for being a </a:t>
            </a:r>
            <a:r>
              <a:rPr lang="en-US" dirty="0" err="1"/>
              <a:t>falsy</a:t>
            </a:r>
            <a:r>
              <a:rPr lang="en-US" dirty="0"/>
              <a:t> value, and it really is.</a:t>
            </a:r>
          </a:p>
          <a:p>
            <a:r>
              <a:rPr lang="en-US" dirty="0"/>
              <a:t>        so the result is the second argument, 100.</a:t>
            </a:r>
          </a:p>
          <a:p>
            <a:r>
              <a:rPr lang="en-US" dirty="0"/>
              <a:t>    The height ?? 100 checks height for being null/undefined, and it’s not,</a:t>
            </a:r>
          </a:p>
          <a:p>
            <a:r>
              <a:rPr lang="en-US" dirty="0"/>
              <a:t>        so the result is height “as is”, that is 0.</a:t>
            </a:r>
          </a:p>
          <a:p>
            <a:endParaRPr lang="en-US" dirty="0"/>
          </a:p>
          <a:p>
            <a:r>
              <a:rPr lang="en-US" dirty="0"/>
              <a:t>If the zero height is a valid value, that shouldn’t be replaced with the default, then ?? does just the right thing.</a:t>
            </a:r>
          </a:p>
        </p:txBody>
      </p:sp>
    </p:spTree>
    <p:extLst>
      <p:ext uri="{BB962C8B-B14F-4D97-AF65-F5344CB8AC3E}">
        <p14:creationId xmlns:p14="http://schemas.microsoft.com/office/powerpoint/2010/main" val="784259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EADC2-AB90-45C7-A8DE-9773A0F01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219" y="89822"/>
            <a:ext cx="8364794" cy="500114"/>
          </a:xfrm>
        </p:spPr>
        <p:txBody>
          <a:bodyPr>
            <a:normAutofit fontScale="90000"/>
          </a:bodyPr>
          <a:lstStyle/>
          <a:p>
            <a:r>
              <a:rPr lang="en-US" dirty="0"/>
              <a:t>Precedence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EAF9F-E134-45B1-AB5B-E7D8D3625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9" y="589936"/>
            <a:ext cx="11248102" cy="60665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The precedence of the ?? operator is rather low: 5 in the MDN table. So ?? is evaluated before = and ?, but after most other operations, such as +, *.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So if we’d like to choose a value with ?? in an expression with other operators, consider adding parentheses: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important: use parentheses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??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* 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??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5000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Otherwise, if we omit parentheses, then as * has the higher precedence than ??, it would execute first, leading to incorrect results.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without parentheses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?? 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 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?? 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...works the same as this (probably not what we want):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?? (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 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?? 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490760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70F29-703B-4345-8B46-566036B88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3" y="698090"/>
            <a:ext cx="10950677" cy="5478873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b="1" dirty="0"/>
              <a:t>Using ?? with &amp;&amp; or ||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Due to safety reasons, JavaScript forbids using ?? together with &amp;&amp; and || operators, unless the precedence is explicitly specified with parentheses.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code below triggers a syntax error:</a:t>
            </a:r>
          </a:p>
          <a:p>
            <a:pPr marL="0" indent="0">
              <a:buNone/>
            </a:pPr>
            <a:endParaRPr lang="en-US" dirty="0"/>
          </a:p>
          <a:p>
            <a:r>
              <a:rPr lang="da-DK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da-DK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da-DK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&amp;&amp; </a:t>
            </a:r>
            <a:r>
              <a:rPr lang="da-DK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?? </a:t>
            </a:r>
            <a:r>
              <a:rPr lang="da-DK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da-DK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Syntax error</a:t>
            </a:r>
            <a:endParaRPr lang="da-DK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da-DK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/>
              <a:t>The limitation is surely debatable, but it was added to the language specification with the purpose to avoid programming mistakes, when people start to switch to ?? from ||.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 explicit parentheses to work around it: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&amp;&amp; 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?? 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Works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030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AE89B-DD21-4484-BE91-61D1F0FB9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44" y="365126"/>
            <a:ext cx="8109155" cy="56894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Summary??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16B2B-C154-484D-8241-B588D55D8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465" y="1189703"/>
            <a:ext cx="11029335" cy="4987260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r>
              <a:rPr lang="en-US" dirty="0"/>
              <a:t>    The </a:t>
            </a:r>
            <a:r>
              <a:rPr lang="en-US" dirty="0" err="1"/>
              <a:t>nullish</a:t>
            </a:r>
            <a:r>
              <a:rPr lang="en-US" dirty="0"/>
              <a:t> coalescing operator ?? provides a short way to choose the first “defined” value from a list.</a:t>
            </a:r>
          </a:p>
          <a:p>
            <a:endParaRPr lang="en-US" dirty="0"/>
          </a:p>
          <a:p>
            <a:r>
              <a:rPr lang="en-US" dirty="0"/>
              <a:t>    It’s used to assign default values to variables:</a:t>
            </a:r>
          </a:p>
          <a:p>
            <a:endParaRPr lang="en-US" dirty="0"/>
          </a:p>
          <a:p>
            <a:r>
              <a:rPr lang="en-US" dirty="0"/>
              <a:t>// set height=100, if height is null or undefined</a:t>
            </a:r>
          </a:p>
          <a:p>
            <a:r>
              <a:rPr lang="en-US" dirty="0"/>
              <a:t>height = height ?? 10;</a:t>
            </a:r>
          </a:p>
          <a:p>
            <a:endParaRPr lang="en-US" dirty="0"/>
          </a:p>
          <a:p>
            <a:r>
              <a:rPr lang="en-US" dirty="0"/>
              <a:t>The operator ?? has a very low precedence, only a bit higher than ? and =, so consider adding parentheses when using it in an expression.</a:t>
            </a:r>
          </a:p>
          <a:p>
            <a:endParaRPr lang="en-US" dirty="0"/>
          </a:p>
          <a:p>
            <a:r>
              <a:rPr lang="en-US" dirty="0"/>
              <a:t>It’s forbidden to use it with || or &amp;&amp; without explicit parentheses.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0071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1308</TotalTime>
  <Words>2629</Words>
  <Application>Microsoft Office PowerPoint</Application>
  <PresentationFormat>Widescreen</PresentationFormat>
  <Paragraphs>284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Optional chaining '?.'</vt:lpstr>
      <vt:lpstr>PowerPoint Presentation</vt:lpstr>
      <vt:lpstr>Optional chaining</vt:lpstr>
      <vt:lpstr>PowerPoint Presentation</vt:lpstr>
      <vt:lpstr>PowerPoint Presentation</vt:lpstr>
      <vt:lpstr>PowerPoint Presentation</vt:lpstr>
      <vt:lpstr>PowerPoint Presentation</vt:lpstr>
      <vt:lpstr>The nullish coalescing operator is written as two question marks ??. </vt:lpstr>
      <vt:lpstr>Comparison with ||</vt:lpstr>
      <vt:lpstr>Precedence</vt:lpstr>
      <vt:lpstr>PowerPoint Presentation</vt:lpstr>
      <vt:lpstr>Summary??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vidyanidhi school</cp:lastModifiedBy>
  <cp:revision>151</cp:revision>
  <dcterms:created xsi:type="dcterms:W3CDTF">2020-12-02T06:26:25Z</dcterms:created>
  <dcterms:modified xsi:type="dcterms:W3CDTF">2024-01-11T14:22:26Z</dcterms:modified>
</cp:coreProperties>
</file>