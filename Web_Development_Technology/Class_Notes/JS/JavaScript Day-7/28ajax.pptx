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70" r:id="rId2"/>
    <p:sldId id="256" r:id="rId3"/>
    <p:sldId id="257" r:id="rId4"/>
    <p:sldId id="258" r:id="rId5"/>
    <p:sldId id="259" r:id="rId6"/>
    <p:sldId id="272" r:id="rId7"/>
    <p:sldId id="260" r:id="rId8"/>
    <p:sldId id="261" r:id="rId9"/>
    <p:sldId id="262" r:id="rId10"/>
    <p:sldId id="263" r:id="rId11"/>
    <p:sldId id="264" r:id="rId12"/>
    <p:sldId id="265" r:id="rId13"/>
    <p:sldId id="271" r:id="rId14"/>
    <p:sldId id="273" r:id="rId15"/>
    <p:sldId id="276" r:id="rId16"/>
    <p:sldId id="274" r:id="rId17"/>
    <p:sldId id="275" r:id="rId18"/>
    <p:sldId id="283" r:id="rId19"/>
    <p:sldId id="277" r:id="rId20"/>
    <p:sldId id="284" r:id="rId21"/>
    <p:sldId id="285" r:id="rId22"/>
    <p:sldId id="278" r:id="rId23"/>
    <p:sldId id="279" r:id="rId24"/>
    <p:sldId id="280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93B376-9D7A-45D9-B354-89ACF5C3CE14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9CD047-3F0D-48DF-9E26-9278EE91C2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8631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9CD047-3F0D-48DF-9E26-9278EE91C2B7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1382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D3D7-E568-4BBE-BB82-49499F6751F5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90EC-AD87-4008-9DD0-FAD338C986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D3D7-E568-4BBE-BB82-49499F6751F5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90EC-AD87-4008-9DD0-FAD338C986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D3D7-E568-4BBE-BB82-49499F6751F5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90EC-AD87-4008-9DD0-FAD338C986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D3D7-E568-4BBE-BB82-49499F6751F5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90EC-AD87-4008-9DD0-FAD338C986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D3D7-E568-4BBE-BB82-49499F6751F5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90EC-AD87-4008-9DD0-FAD338C986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D3D7-E568-4BBE-BB82-49499F6751F5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90EC-AD87-4008-9DD0-FAD338C986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D3D7-E568-4BBE-BB82-49499F6751F5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90EC-AD87-4008-9DD0-FAD338C986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D3D7-E568-4BBE-BB82-49499F6751F5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90EC-AD87-4008-9DD0-FAD338C986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D3D7-E568-4BBE-BB82-49499F6751F5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90EC-AD87-4008-9DD0-FAD338C986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D3D7-E568-4BBE-BB82-49499F6751F5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90EC-AD87-4008-9DD0-FAD338C986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D3D7-E568-4BBE-BB82-49499F6751F5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90EC-AD87-4008-9DD0-FAD338C986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EDD3D7-E568-4BBE-BB82-49499F6751F5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B890EC-AD87-4008-9DD0-FAD338C9862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FEADA-E901-4302-A497-05D33C2B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304800"/>
            <a:ext cx="8458200" cy="6324600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hlinkClick r:id="rId2"/>
              </a:rPr>
              <a:t>http://www.vidyanidhi.com/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ketkiacharya.net@gmail.com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DE8A8E-ED85-4B70-916D-ED56E0E40BBC}"/>
              </a:ext>
            </a:extLst>
          </p:cNvPr>
          <p:cNvSpPr txBox="1"/>
          <p:nvPr/>
        </p:nvSpPr>
        <p:spPr>
          <a:xfrm>
            <a:off x="762000" y="4724400"/>
            <a:ext cx="4419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Ketki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Acharya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From: SM VITA ATC of CDAC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9769201036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ketkiacharya.net@gmail.com</a:t>
            </a:r>
          </a:p>
        </p:txBody>
      </p:sp>
    </p:spTree>
    <p:extLst>
      <p:ext uri="{BB962C8B-B14F-4D97-AF65-F5344CB8AC3E}">
        <p14:creationId xmlns:p14="http://schemas.microsoft.com/office/powerpoint/2010/main" val="629767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AJAX stands for Asynchronous JavaScript And XML.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 a new programming language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AJAX is not a new programming language, but a technique for creating better, faster, and more interactive web applications.</a:t>
            </a:r>
          </a:p>
          <a:p>
            <a:r>
              <a:rPr lang="en-US" dirty="0"/>
              <a:t>With AJAX, your JavaScript can communicate directly with the server, using the JavaScript </a:t>
            </a:r>
            <a:r>
              <a:rPr lang="en-US" b="1" dirty="0" err="1"/>
              <a:t>XMLHttpRequest</a:t>
            </a:r>
            <a:r>
              <a:rPr lang="en-US" dirty="0"/>
              <a:t> object. With this object, your JavaScript can trade data with a web server, without reloading the page.</a:t>
            </a:r>
          </a:p>
          <a:p>
            <a:r>
              <a:rPr lang="en-US" dirty="0"/>
              <a:t>AJAX uses asynchronous data transfer (HTTP requests) between the browser and the web server, allowing web pages to request small bits of information from the server instead of whole pages.</a:t>
            </a:r>
          </a:p>
          <a:p>
            <a:r>
              <a:rPr lang="en-US" dirty="0"/>
              <a:t>The AJAX technique makes Internet applications smaller, faster and more user-friendly.</a:t>
            </a:r>
          </a:p>
          <a:p>
            <a:r>
              <a:rPr lang="en-US" dirty="0"/>
              <a:t>  AJAX is a browser technology independent of web server software.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AJAX is based on the following web standards:</a:t>
            </a:r>
          </a:p>
          <a:p>
            <a:pPr lvl="0"/>
            <a:r>
              <a:rPr lang="en-US" b="1" dirty="0"/>
              <a:t>JavaScript</a:t>
            </a:r>
            <a:r>
              <a:rPr lang="en-US" dirty="0"/>
              <a:t> </a:t>
            </a:r>
          </a:p>
          <a:p>
            <a:pPr lvl="0"/>
            <a:r>
              <a:rPr lang="en-US" b="1" dirty="0"/>
              <a:t>XML</a:t>
            </a:r>
            <a:r>
              <a:rPr lang="en-US" dirty="0"/>
              <a:t> </a:t>
            </a:r>
          </a:p>
          <a:p>
            <a:pPr lvl="0"/>
            <a:r>
              <a:rPr lang="en-US" b="1" dirty="0"/>
              <a:t>HTML</a:t>
            </a:r>
            <a:r>
              <a:rPr lang="en-US" dirty="0"/>
              <a:t> </a:t>
            </a:r>
          </a:p>
          <a:p>
            <a:pPr lvl="0"/>
            <a:r>
              <a:rPr lang="en-US" b="1" dirty="0"/>
              <a:t>CSS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8077200" cy="487362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AJAX Uses HTTP Requests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8229600" cy="5211763"/>
          </a:xfrm>
        </p:spPr>
        <p:txBody>
          <a:bodyPr>
            <a:normAutofit/>
          </a:bodyPr>
          <a:lstStyle/>
          <a:p>
            <a:r>
              <a:rPr lang="en-US" sz="1800" dirty="0"/>
              <a:t>In traditional JavaScript coding, if you want to get any information from a database or a file on the server, or send user information to a server, you will have to make an HTML form and GET or POST data to the server. The user will have to click the "Submit" button to send/get the information, wait for the server to respond, then a new page will load with the results.</a:t>
            </a:r>
          </a:p>
          <a:p>
            <a:endParaRPr lang="en-US" sz="1800" dirty="0"/>
          </a:p>
          <a:p>
            <a:r>
              <a:rPr lang="en-US" sz="1800" dirty="0"/>
              <a:t>Because the server returns a new page each time the user submits input, traditional web applications can run slowly and tend to be less user-friendly.</a:t>
            </a:r>
          </a:p>
          <a:p>
            <a:endParaRPr lang="en-US" sz="1800" dirty="0"/>
          </a:p>
          <a:p>
            <a:r>
              <a:rPr lang="en-US" sz="1800" dirty="0"/>
              <a:t>With AJAX, your JavaScript communicates directly with the server, through the JavaScript </a:t>
            </a:r>
            <a:r>
              <a:rPr lang="en-US" sz="1800" b="1" dirty="0" err="1"/>
              <a:t>XMLHttpRequest</a:t>
            </a:r>
            <a:r>
              <a:rPr lang="en-US" sz="1800" dirty="0"/>
              <a:t> object</a:t>
            </a:r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With an HTTP request, a web page can make a request to, and get a response from a web server - without reloading the page. The user will stay on the same page, and he or she will not notice that scripts request pages, or send data to a server in the background.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36C07-62E2-4EB8-8F0A-FD7A1FD8B7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52401"/>
            <a:ext cx="8229600" cy="1600200"/>
          </a:xfrm>
        </p:spPr>
        <p:txBody>
          <a:bodyPr>
            <a:normAutofit/>
          </a:bodyPr>
          <a:lstStyle/>
          <a:p>
            <a:r>
              <a:rPr lang="en-US" sz="2000" dirty="0"/>
              <a:t>AJAX allows web pages to be updated asynchronously by exchanging data with a web server behind the scenes. This means that it is possible to update parts of a web page, without reloading the whole page.</a:t>
            </a:r>
            <a:endParaRPr lang="en-IN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4AD7DF-12EC-4880-9F85-C72081736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504950"/>
            <a:ext cx="5419725" cy="3086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42E733-231F-496C-B9BB-D04EF760EAB3}"/>
              </a:ext>
            </a:extLst>
          </p:cNvPr>
          <p:cNvSpPr txBox="1"/>
          <p:nvPr/>
        </p:nvSpPr>
        <p:spPr>
          <a:xfrm>
            <a:off x="266700" y="4521610"/>
            <a:ext cx="86106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    1. An event occurs in a web page (the page is loaded, a button is clicked)</a:t>
            </a:r>
          </a:p>
          <a:p>
            <a:r>
              <a:rPr lang="en-US" dirty="0"/>
              <a:t>    2. An </a:t>
            </a:r>
            <a:r>
              <a:rPr lang="en-US" dirty="0" err="1"/>
              <a:t>XMLHttpRequest</a:t>
            </a:r>
            <a:r>
              <a:rPr lang="en-US" dirty="0"/>
              <a:t> object is created by JavaScript</a:t>
            </a:r>
          </a:p>
          <a:p>
            <a:r>
              <a:rPr lang="en-US" dirty="0"/>
              <a:t>    3. The </a:t>
            </a:r>
            <a:r>
              <a:rPr lang="en-US" dirty="0" err="1"/>
              <a:t>XMLHttpRequest</a:t>
            </a:r>
            <a:r>
              <a:rPr lang="en-US" dirty="0"/>
              <a:t> object sends a request to a web server</a:t>
            </a:r>
          </a:p>
          <a:p>
            <a:r>
              <a:rPr lang="en-US" dirty="0"/>
              <a:t>    4. The server processes the request</a:t>
            </a:r>
          </a:p>
          <a:p>
            <a:r>
              <a:rPr lang="en-US" dirty="0"/>
              <a:t>    5. The server sends a response back to the web page</a:t>
            </a:r>
          </a:p>
          <a:p>
            <a:r>
              <a:rPr lang="en-US" dirty="0"/>
              <a:t>    6. The response is read by JavaScript</a:t>
            </a:r>
          </a:p>
          <a:p>
            <a:r>
              <a:rPr lang="en-US" dirty="0"/>
              <a:t>    7. Proper action (like page update) is performed by JavaScript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A580E9-E2E9-43B3-8D39-2D496972EFB7}"/>
              </a:ext>
            </a:extLst>
          </p:cNvPr>
          <p:cNvSpPr/>
          <p:nvPr/>
        </p:nvSpPr>
        <p:spPr>
          <a:xfrm>
            <a:off x="2209800" y="1447800"/>
            <a:ext cx="2209800" cy="3048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Sending part of data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7923AB-D662-4FBC-ABF8-5EFD7345D261}"/>
              </a:ext>
            </a:extLst>
          </p:cNvPr>
          <p:cNvSpPr/>
          <p:nvPr/>
        </p:nvSpPr>
        <p:spPr>
          <a:xfrm>
            <a:off x="2057401" y="3235427"/>
            <a:ext cx="3962400" cy="3048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Receiving data not page.[JSON or XML]</a:t>
            </a:r>
          </a:p>
        </p:txBody>
      </p:sp>
    </p:spTree>
    <p:extLst>
      <p:ext uri="{BB962C8B-B14F-4D97-AF65-F5344CB8AC3E}">
        <p14:creationId xmlns:p14="http://schemas.microsoft.com/office/powerpoint/2010/main" val="118274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keystone of AJAX is the </a:t>
            </a:r>
            <a:r>
              <a:rPr lang="en-US" dirty="0" err="1"/>
              <a:t>XMLHttpRequest</a:t>
            </a:r>
            <a:r>
              <a:rPr lang="en-US" dirty="0"/>
              <a:t> object.</a:t>
            </a:r>
          </a:p>
          <a:p>
            <a:r>
              <a:rPr lang="en-US" dirty="0"/>
              <a:t>Different browsers use different methods to create the </a:t>
            </a:r>
            <a:r>
              <a:rPr lang="en-US" dirty="0" err="1"/>
              <a:t>XMLHttpRequest</a:t>
            </a:r>
            <a:r>
              <a:rPr lang="en-US" dirty="0"/>
              <a:t> object.</a:t>
            </a:r>
          </a:p>
          <a:p>
            <a:r>
              <a:rPr lang="en-US" dirty="0"/>
              <a:t>Internet Explorer uses an </a:t>
            </a:r>
            <a:r>
              <a:rPr lang="en-US" b="1" dirty="0" err="1"/>
              <a:t>ActiveXObject</a:t>
            </a:r>
            <a:r>
              <a:rPr lang="en-US" dirty="0"/>
              <a:t>, while other browsers uses the built-in JavaScript object called </a:t>
            </a:r>
            <a:r>
              <a:rPr lang="en-US" b="1" dirty="0" err="1"/>
              <a:t>XMLHttpRequest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b="1" dirty="0"/>
              <a:t>The </a:t>
            </a:r>
            <a:r>
              <a:rPr lang="en-US" b="1" dirty="0" err="1"/>
              <a:t>onreadystatechange</a:t>
            </a:r>
            <a:r>
              <a:rPr lang="en-US" b="1" dirty="0"/>
              <a:t>  is event</a:t>
            </a:r>
          </a:p>
          <a:p>
            <a:r>
              <a:rPr lang="en-US" b="1" dirty="0"/>
              <a:t>The </a:t>
            </a:r>
            <a:r>
              <a:rPr lang="en-US" b="1" dirty="0" err="1"/>
              <a:t>readyState</a:t>
            </a:r>
            <a:r>
              <a:rPr lang="en-US" b="1" dirty="0"/>
              <a:t> Property</a:t>
            </a:r>
          </a:p>
          <a:p>
            <a:r>
              <a:rPr lang="en-US" dirty="0"/>
              <a:t>The </a:t>
            </a:r>
            <a:r>
              <a:rPr lang="en-US" dirty="0" err="1"/>
              <a:t>readyState</a:t>
            </a:r>
            <a:r>
              <a:rPr lang="en-US" dirty="0"/>
              <a:t> </a:t>
            </a:r>
            <a:r>
              <a:rPr lang="en-US" b="1" dirty="0"/>
              <a:t>property holds the status of the server's response</a:t>
            </a:r>
            <a:r>
              <a:rPr lang="en-US" dirty="0"/>
              <a:t>. Each time the </a:t>
            </a:r>
            <a:r>
              <a:rPr lang="en-US" dirty="0" err="1"/>
              <a:t>readyState</a:t>
            </a:r>
            <a:r>
              <a:rPr lang="en-US" dirty="0"/>
              <a:t> changes, the </a:t>
            </a:r>
            <a:r>
              <a:rPr lang="en-US" dirty="0" err="1"/>
              <a:t>onreadystatechange</a:t>
            </a:r>
            <a:r>
              <a:rPr lang="en-US" dirty="0"/>
              <a:t> function will be executed.</a:t>
            </a:r>
          </a:p>
          <a:p>
            <a:r>
              <a:rPr lang="en-US" dirty="0"/>
              <a:t>Here are the possible values for the </a:t>
            </a:r>
            <a:r>
              <a:rPr lang="en-US" dirty="0" err="1"/>
              <a:t>readyState</a:t>
            </a:r>
            <a:r>
              <a:rPr lang="en-US" dirty="0"/>
              <a:t> property:</a:t>
            </a:r>
          </a:p>
          <a:p>
            <a:r>
              <a:rPr lang="en-US" b="1" dirty="0"/>
              <a:t>State</a:t>
            </a:r>
            <a:endParaRPr lang="en-US" dirty="0"/>
          </a:p>
          <a:p>
            <a:r>
              <a:rPr lang="en-US" b="1" dirty="0"/>
              <a:t>Description</a:t>
            </a:r>
            <a:endParaRPr lang="en-US" dirty="0"/>
          </a:p>
          <a:p>
            <a:r>
              <a:rPr lang="en-US" dirty="0"/>
              <a:t>0 (uninitialized)</a:t>
            </a:r>
          </a:p>
          <a:p>
            <a:r>
              <a:rPr lang="en-US" dirty="0"/>
              <a:t>The request is not initialized</a:t>
            </a:r>
          </a:p>
          <a:p>
            <a:r>
              <a:rPr lang="en-US" dirty="0"/>
              <a:t>1(loading)</a:t>
            </a:r>
          </a:p>
          <a:p>
            <a:r>
              <a:rPr lang="en-US" dirty="0"/>
              <a:t>The request has been set up</a:t>
            </a:r>
          </a:p>
          <a:p>
            <a:r>
              <a:rPr lang="en-US" dirty="0"/>
              <a:t>2(loaded)</a:t>
            </a:r>
          </a:p>
          <a:p>
            <a:r>
              <a:rPr lang="en-US" dirty="0"/>
              <a:t>The request has been sent</a:t>
            </a:r>
          </a:p>
          <a:p>
            <a:r>
              <a:rPr lang="en-US" dirty="0"/>
              <a:t>3(interactive)</a:t>
            </a:r>
          </a:p>
          <a:p>
            <a:r>
              <a:rPr lang="en-US" dirty="0"/>
              <a:t>The request is in process</a:t>
            </a:r>
          </a:p>
          <a:p>
            <a:r>
              <a:rPr lang="en-US" dirty="0"/>
              <a:t>4(complete)</a:t>
            </a:r>
          </a:p>
          <a:p>
            <a:r>
              <a:rPr lang="en-US" dirty="0"/>
              <a:t>The request is complete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8272BD-765B-4387-9832-43986E4329F5}"/>
              </a:ext>
            </a:extLst>
          </p:cNvPr>
          <p:cNvSpPr txBox="1"/>
          <p:nvPr/>
        </p:nvSpPr>
        <p:spPr>
          <a:xfrm>
            <a:off x="685800" y="439449"/>
            <a:ext cx="838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</a:t>
            </a: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onreadystatechange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is event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responseText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The </a:t>
            </a:r>
            <a:r>
              <a:rPr lang="en-US" b="1" dirty="0" err="1"/>
              <a:t>responseText</a:t>
            </a:r>
            <a:r>
              <a:rPr lang="en-US" b="1" dirty="0"/>
              <a:t> Property</a:t>
            </a:r>
          </a:p>
          <a:p>
            <a:r>
              <a:rPr lang="en-US" dirty="0"/>
              <a:t>The data sent back from the server can be retrieved with the </a:t>
            </a:r>
            <a:r>
              <a:rPr lang="en-US" dirty="0" err="1"/>
              <a:t>responseText</a:t>
            </a:r>
            <a:r>
              <a:rPr lang="en-US" dirty="0"/>
              <a:t> property.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-25400"/>
            <a:ext cx="8229600" cy="1143000"/>
          </a:xfrm>
        </p:spPr>
        <p:txBody>
          <a:bodyPr/>
          <a:lstStyle/>
          <a:p>
            <a:r>
              <a:rPr lang="en-US" dirty="0"/>
              <a:t>Open/send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66018"/>
            <a:ext cx="8229600" cy="4525963"/>
          </a:xfrm>
        </p:spPr>
        <p:txBody>
          <a:bodyPr>
            <a:normAutofit fontScale="92500" lnSpcReduction="20000"/>
          </a:bodyPr>
          <a:lstStyle/>
          <a:p>
            <a:r>
              <a:rPr lang="en-US" sz="2600" dirty="0"/>
              <a:t>To send off a request to the server, we use the open() method and the send() method.</a:t>
            </a:r>
          </a:p>
          <a:p>
            <a:endParaRPr lang="en-US" sz="2600" dirty="0"/>
          </a:p>
          <a:p>
            <a:r>
              <a:rPr lang="en-US" sz="2600" dirty="0"/>
              <a:t>The open() method takes three arguments.</a:t>
            </a:r>
          </a:p>
          <a:p>
            <a:r>
              <a:rPr lang="en-US" sz="2600" dirty="0"/>
              <a:t> The </a:t>
            </a:r>
            <a:r>
              <a:rPr lang="en-US" sz="2600" b="1" dirty="0"/>
              <a:t>first</a:t>
            </a:r>
            <a:r>
              <a:rPr lang="en-US" sz="2600" dirty="0"/>
              <a:t> argument defines which method to use when sending the request (GET or POST). </a:t>
            </a:r>
          </a:p>
          <a:p>
            <a:r>
              <a:rPr lang="en-US" sz="2600" dirty="0"/>
              <a:t>The </a:t>
            </a:r>
            <a:r>
              <a:rPr lang="en-US" sz="2600" b="1" dirty="0"/>
              <a:t>second</a:t>
            </a:r>
            <a:r>
              <a:rPr lang="en-US" sz="2600" dirty="0"/>
              <a:t> argument specifies the URL of the server-side script. </a:t>
            </a:r>
          </a:p>
          <a:p>
            <a:r>
              <a:rPr lang="en-US" sz="2600" b="1" dirty="0"/>
              <a:t>The third </a:t>
            </a:r>
            <a:r>
              <a:rPr lang="en-US" sz="2600" dirty="0"/>
              <a:t>argument specifies that the request should be handled</a:t>
            </a:r>
            <a:r>
              <a:rPr lang="en-US" sz="2600" b="1" dirty="0"/>
              <a:t> asynchronously</a:t>
            </a:r>
            <a:r>
              <a:rPr lang="en-US" sz="2600" dirty="0"/>
              <a:t>.(default is true)</a:t>
            </a:r>
          </a:p>
          <a:p>
            <a:endParaRPr lang="en-US" sz="2600" dirty="0"/>
          </a:p>
          <a:p>
            <a:r>
              <a:rPr lang="en-US" sz="2600" dirty="0"/>
              <a:t> The send() method sends the request off to the server. 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381000"/>
            <a:ext cx="8610600" cy="5745163"/>
          </a:xfrm>
        </p:spPr>
        <p:txBody>
          <a:bodyPr>
            <a:normAutofit/>
          </a:bodyPr>
          <a:lstStyle/>
          <a:p>
            <a:r>
              <a:rPr lang="en-US" sz="2800" dirty="0" err="1"/>
              <a:t>xmlHTTPRequestobj.open</a:t>
            </a:r>
            <a:r>
              <a:rPr lang="en-US" sz="2800" dirty="0"/>
              <a:t>()</a:t>
            </a:r>
          </a:p>
          <a:p>
            <a:pPr>
              <a:buNone/>
            </a:pPr>
            <a:r>
              <a:rPr lang="en-US" sz="2400" dirty="0"/>
              <a:t>This method  simply keep the </a:t>
            </a:r>
            <a:r>
              <a:rPr lang="en-US" sz="2400" dirty="0" err="1"/>
              <a:t>configaration</a:t>
            </a:r>
            <a:r>
              <a:rPr lang="en-US" sz="2400" dirty="0"/>
              <a:t> ready to communicate to server(it does not connect the object to the server)</a:t>
            </a:r>
          </a:p>
          <a:p>
            <a:pPr>
              <a:buNone/>
            </a:pPr>
            <a:endParaRPr lang="en-US" sz="2400" dirty="0"/>
          </a:p>
          <a:p>
            <a:r>
              <a:rPr lang="en-US" sz="2800" dirty="0" err="1"/>
              <a:t>xmlHTTPRequestobj.send</a:t>
            </a:r>
            <a:r>
              <a:rPr lang="en-US" sz="2800" dirty="0"/>
              <a:t>()</a:t>
            </a:r>
          </a:p>
          <a:p>
            <a:pPr>
              <a:buNone/>
            </a:pPr>
            <a:r>
              <a:rPr lang="en-US" sz="2400" dirty="0"/>
              <a:t>This method connect to server and start download the data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800" dirty="0" err="1"/>
              <a:t>xmlHTTPRequestobj.onreadystatechange</a:t>
            </a:r>
            <a:r>
              <a:rPr lang="en-US" sz="2800" dirty="0"/>
              <a:t> property</a:t>
            </a:r>
          </a:p>
          <a:p>
            <a:pPr>
              <a:buNone/>
            </a:pPr>
            <a:r>
              <a:rPr lang="en-US" sz="2400" dirty="0"/>
              <a:t> is basically event which fired when server start downloading the data.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667" y="1676400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xmlHTTPRequestobj.send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sz="2400" dirty="0"/>
              <a:t>This method take two argument key(</a:t>
            </a:r>
            <a:r>
              <a:rPr lang="en-US" sz="2400" dirty="0" err="1"/>
              <a:t>ie.string</a:t>
            </a:r>
            <a:r>
              <a:rPr lang="en-US" sz="2400" dirty="0"/>
              <a:t>)</a:t>
            </a:r>
          </a:p>
          <a:p>
            <a:pPr>
              <a:buNone/>
            </a:pPr>
            <a:r>
              <a:rPr lang="en-US" sz="2400" dirty="0"/>
              <a:t>and value which you want to send to server through post method.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800" dirty="0"/>
              <a:t>When you send data to server through post you have to add one more method</a:t>
            </a:r>
          </a:p>
          <a:p>
            <a:pPr>
              <a:buNone/>
            </a:pPr>
            <a:r>
              <a:rPr lang="en-US" sz="2400" dirty="0" err="1"/>
              <a:t>xmlHTTPRequestobj.setRequestHeader</a:t>
            </a:r>
            <a:r>
              <a:rPr lang="en-US" sz="2400" dirty="0"/>
              <a:t>(‘Content-Type’, ‘application/x-www-form-</a:t>
            </a:r>
            <a:r>
              <a:rPr lang="en-US" sz="2400" dirty="0" err="1"/>
              <a:t>urlencoded</a:t>
            </a:r>
            <a:r>
              <a:rPr lang="en-US" sz="2400" dirty="0"/>
              <a:t>’)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16F479E-510B-4308-89EB-59CD68F4BFC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548481"/>
          <a:ext cx="8229600" cy="5486400"/>
        </p:xfrm>
        <a:graphic>
          <a:graphicData uri="http://schemas.openxmlformats.org/drawingml/2006/table">
            <a:tbl>
              <a:tblPr/>
              <a:tblGrid>
                <a:gridCol w="2880360">
                  <a:extLst>
                    <a:ext uri="{9D8B030D-6E8A-4147-A177-3AD203B41FA5}">
                      <a16:colId xmlns:a16="http://schemas.microsoft.com/office/drawing/2014/main" val="1666083972"/>
                    </a:ext>
                  </a:extLst>
                </a:gridCol>
                <a:gridCol w="5349240">
                  <a:extLst>
                    <a:ext uri="{9D8B030D-6E8A-4147-A177-3AD203B41FA5}">
                      <a16:colId xmlns:a16="http://schemas.microsoft.com/office/drawing/2014/main" val="36834981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7721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new XMLHttpRequest()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Creates a new XMLHttpRequest object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80993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abort()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Cancels the current request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31375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getAllResponseHeaders()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Returns header information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36390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getResponseHeader()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Returns specific header information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2253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open(</a:t>
                      </a:r>
                      <a:r>
                        <a:rPr lang="en-IN" i="1"/>
                        <a:t>method, url, async, user, psw</a:t>
                      </a:r>
                      <a:r>
                        <a:rPr lang="en-IN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Specifies the request</a:t>
                      </a:r>
                      <a:br>
                        <a:rPr lang="en-US" dirty="0"/>
                      </a:br>
                      <a:br>
                        <a:rPr lang="en-US" dirty="0"/>
                      </a:br>
                      <a:r>
                        <a:rPr lang="en-US" i="1" dirty="0"/>
                        <a:t>method</a:t>
                      </a:r>
                      <a:r>
                        <a:rPr lang="en-US" dirty="0"/>
                        <a:t>: the request type GET or POST</a:t>
                      </a:r>
                      <a:br>
                        <a:rPr lang="en-US" dirty="0"/>
                      </a:br>
                      <a:r>
                        <a:rPr lang="en-US" i="1" dirty="0"/>
                        <a:t>url</a:t>
                      </a:r>
                      <a:r>
                        <a:rPr lang="en-US" dirty="0"/>
                        <a:t>: the file location</a:t>
                      </a:r>
                      <a:br>
                        <a:rPr lang="en-US" dirty="0"/>
                      </a:br>
                      <a:r>
                        <a:rPr lang="en-US" i="1" dirty="0"/>
                        <a:t>async</a:t>
                      </a:r>
                      <a:r>
                        <a:rPr lang="en-US" dirty="0"/>
                        <a:t>: true (asynchronous) or false (synchronous)</a:t>
                      </a:r>
                      <a:br>
                        <a:rPr lang="en-US" dirty="0"/>
                      </a:br>
                      <a:r>
                        <a:rPr lang="en-US" i="1" dirty="0"/>
                        <a:t>user</a:t>
                      </a:r>
                      <a:r>
                        <a:rPr lang="en-US" dirty="0"/>
                        <a:t>: optional user name</a:t>
                      </a:r>
                      <a:br>
                        <a:rPr lang="en-US" dirty="0"/>
                      </a:br>
                      <a:r>
                        <a:rPr lang="en-US" i="1" dirty="0" err="1"/>
                        <a:t>psw</a:t>
                      </a:r>
                      <a:r>
                        <a:rPr lang="en-US" dirty="0"/>
                        <a:t>: optional password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7748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send()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Sends the request to the server</a:t>
                      </a:r>
                      <a:br>
                        <a:rPr lang="en-US"/>
                      </a:br>
                      <a:r>
                        <a:rPr lang="en-US"/>
                        <a:t>Used for GET requests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0920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send(</a:t>
                      </a:r>
                      <a:r>
                        <a:rPr lang="en-IN" i="1"/>
                        <a:t>string</a:t>
                      </a:r>
                      <a:r>
                        <a:rPr lang="en-IN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Sends the request to the server.</a:t>
                      </a:r>
                      <a:br>
                        <a:rPr lang="en-US"/>
                      </a:br>
                      <a:r>
                        <a:rPr lang="en-US"/>
                        <a:t>Used for POST requests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83972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setRequestHeader()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Adds a label/value pair to the header to be sent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1898705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12771408-C1F7-4D91-8AC3-710795F57E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4214" y="-63785"/>
            <a:ext cx="301557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XMLHttpRequest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Object Methods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37212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829A28D-674E-4B01-A7EB-0B312DF6E0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9102198"/>
              </p:ext>
            </p:extLst>
          </p:nvPr>
        </p:nvGraphicFramePr>
        <p:xfrm>
          <a:off x="457200" y="563721"/>
          <a:ext cx="8229600" cy="5303520"/>
        </p:xfrm>
        <a:graphic>
          <a:graphicData uri="http://schemas.openxmlformats.org/drawingml/2006/table">
            <a:tbl>
              <a:tblPr/>
              <a:tblGrid>
                <a:gridCol w="2880360">
                  <a:extLst>
                    <a:ext uri="{9D8B030D-6E8A-4147-A177-3AD203B41FA5}">
                      <a16:colId xmlns:a16="http://schemas.microsoft.com/office/drawing/2014/main" val="436741920"/>
                    </a:ext>
                  </a:extLst>
                </a:gridCol>
                <a:gridCol w="5349240">
                  <a:extLst>
                    <a:ext uri="{9D8B030D-6E8A-4147-A177-3AD203B41FA5}">
                      <a16:colId xmlns:a16="http://schemas.microsoft.com/office/drawing/2014/main" val="6372507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Property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4077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onreadystatechange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Defines a function to be called when the readyState property changes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93627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readyState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Holds the status of the XMLHttpRequest.</a:t>
                      </a:r>
                      <a:br>
                        <a:rPr lang="en-US"/>
                      </a:br>
                      <a:r>
                        <a:rPr lang="en-US"/>
                        <a:t>0: request not initialized </a:t>
                      </a:r>
                      <a:br>
                        <a:rPr lang="en-US"/>
                      </a:br>
                      <a:r>
                        <a:rPr lang="en-US"/>
                        <a:t>1: server connection established</a:t>
                      </a:r>
                      <a:br>
                        <a:rPr lang="en-US"/>
                      </a:br>
                      <a:r>
                        <a:rPr lang="en-US"/>
                        <a:t>2: request received </a:t>
                      </a:r>
                      <a:br>
                        <a:rPr lang="en-US"/>
                      </a:br>
                      <a:r>
                        <a:rPr lang="en-US"/>
                        <a:t>3: processing request </a:t>
                      </a:r>
                      <a:br>
                        <a:rPr lang="en-US"/>
                      </a:br>
                      <a:r>
                        <a:rPr lang="en-US"/>
                        <a:t>4: request finished and response is ready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2876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responseText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Returns the response data as a string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28288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responseXML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Returns the response data as XML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1230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status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Returns the status-number of a request</a:t>
                      </a:r>
                      <a:br>
                        <a:rPr lang="en-US" dirty="0"/>
                      </a:br>
                      <a:r>
                        <a:rPr lang="en-US" dirty="0"/>
                        <a:t>200: "OK"</a:t>
                      </a:r>
                      <a:br>
                        <a:rPr lang="en-US" dirty="0"/>
                      </a:br>
                      <a:r>
                        <a:rPr lang="en-US" dirty="0"/>
                        <a:t>403: "Forbidden"</a:t>
                      </a:r>
                      <a:br>
                        <a:rPr lang="en-US" dirty="0"/>
                      </a:br>
                      <a:r>
                        <a:rPr lang="en-US" dirty="0"/>
                        <a:t>404: "Not Found"</a:t>
                      </a:r>
                      <a:br>
                        <a:rPr lang="en-US" dirty="0"/>
                      </a:b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66329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statusText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Returns the status-text (e.g. "OK" or "Not Found")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5613702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9A878CF4-0719-4ABE-9649-F164D87489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1302" y="90103"/>
            <a:ext cx="274947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XMLHttpRequest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Object Properties</a:t>
            </a:r>
          </a:p>
        </p:txBody>
      </p:sp>
    </p:spTree>
    <p:extLst>
      <p:ext uri="{BB962C8B-B14F-4D97-AF65-F5344CB8AC3E}">
        <p14:creationId xmlns:p14="http://schemas.microsoft.com/office/powerpoint/2010/main" val="26912961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0598B-2F24-4518-A736-405C2752B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800" y="0"/>
            <a:ext cx="3276600" cy="457199"/>
          </a:xfrm>
        </p:spPr>
        <p:txBody>
          <a:bodyPr>
            <a:noAutofit/>
          </a:bodyPr>
          <a:lstStyle/>
          <a:p>
            <a:r>
              <a:rPr lang="en-IN" sz="1400" dirty="0"/>
              <a:t>Basic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3AF1E-DD3A-4E52-ADBA-941961D4D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0"/>
            <a:ext cx="6400800" cy="6858000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&lt;!DOCTYPE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html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&gt;&lt;html&gt;&lt;body&gt;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&lt;h2&gt;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 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XMLHttpRequest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Object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&lt;/h2&gt;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&lt;h3&gt;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 console type 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location.protocol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and if you run through server it will print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br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"http:" else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br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File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&lt;/h3&gt;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&lt;button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type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"button"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onclick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loadDoc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()"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Request data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&lt;/button&gt;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&lt;p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id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"demo"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&gt;&lt;/p&gt;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&lt;script&gt;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function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loadDoc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 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var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fd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""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var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xhttp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=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new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XMLHttpRequest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xhttp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onreadystatechange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=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function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 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(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this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70C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readyState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==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4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&amp;&amp; 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this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70C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status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==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200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 {   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document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getElementById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"demo"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).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innerHTML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=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this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70C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responseText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};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xhttp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open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"GET"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ejson.json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true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xhttp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send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&lt;/script&gt;&lt;/body&gt;&lt;/html&gt;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b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14878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6FBCD-18D7-41A4-A086-108C0C0E0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0" y="0"/>
            <a:ext cx="2971800" cy="427037"/>
          </a:xfrm>
        </p:spPr>
        <p:txBody>
          <a:bodyPr>
            <a:noAutofit/>
          </a:bodyPr>
          <a:lstStyle/>
          <a:p>
            <a:r>
              <a:rPr lang="en-IN" sz="2400" dirty="0"/>
              <a:t>Demo 1 </a:t>
            </a:r>
            <a:r>
              <a:rPr lang="en-IN" sz="2400" dirty="0" err="1"/>
              <a:t>readjson</a:t>
            </a: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31603-18BD-4BFE-B89F-3BE660219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0"/>
            <a:ext cx="4572000" cy="7010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&lt;!DOCTYPE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&gt;&lt;html&gt;&lt;body&gt;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&lt;h2&gt;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The 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XMLHttpRequest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Object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&lt;/h2&gt;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&lt;h3&gt;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 console type 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location.protocol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and if you run through server it will print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"http:" else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&lt;/h3&gt;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loadDoc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Request data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"demo"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&gt;&lt;/p&gt;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loadDoc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xhttp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XMLHttpRequest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xhttp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onreadystatechange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readyState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== </a:t>
            </a:r>
            <a:r>
              <a:rPr lang="en-I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&amp;&amp; 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== </a:t>
            </a:r>
            <a:r>
              <a:rPr lang="en-I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    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parse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responseText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code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of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{		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 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 {	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]+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/&gt;"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}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"&lt;hr/&gt;"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}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"demo"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fd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}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};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xhttp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"GET"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ejson.json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xhttp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send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&lt;/script&gt;&lt;/body&gt;&lt;/html&gt;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CC500E-6419-4EC6-BCC1-C4C70E6C935D}"/>
              </a:ext>
            </a:extLst>
          </p:cNvPr>
          <p:cNvSpPr txBox="1"/>
          <p:nvPr/>
        </p:nvSpPr>
        <p:spPr>
          <a:xfrm>
            <a:off x="4724400" y="685800"/>
            <a:ext cx="4572000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[{		"code": "emp101",</a:t>
            </a:r>
          </a:p>
          <a:p>
            <a:r>
              <a:rPr lang="en-IN" sz="1400" dirty="0"/>
              <a:t>		"name": "Tom",</a:t>
            </a:r>
          </a:p>
          <a:p>
            <a:r>
              <a:rPr lang="en-IN" sz="1400" dirty="0"/>
              <a:t>		"gender": "Male",</a:t>
            </a:r>
          </a:p>
          <a:p>
            <a:r>
              <a:rPr lang="en-IN" sz="1400" dirty="0"/>
              <a:t>		"</a:t>
            </a:r>
            <a:r>
              <a:rPr lang="en-IN" sz="1400" dirty="0" err="1"/>
              <a:t>annualSalary</a:t>
            </a:r>
            <a:r>
              <a:rPr lang="en-IN" sz="1400" dirty="0"/>
              <a:t>": "5500",</a:t>
            </a:r>
          </a:p>
          <a:p>
            <a:r>
              <a:rPr lang="en-IN" sz="1400" dirty="0"/>
              <a:t>		"</a:t>
            </a:r>
            <a:r>
              <a:rPr lang="en-IN" sz="1400" dirty="0" err="1"/>
              <a:t>dateOfBirth</a:t>
            </a:r>
            <a:r>
              <a:rPr lang="en-IN" sz="1400" dirty="0"/>
              <a:t>": "6/25/1988"</a:t>
            </a:r>
          </a:p>
          <a:p>
            <a:r>
              <a:rPr lang="en-IN" sz="1400" dirty="0"/>
              <a:t>	},</a:t>
            </a:r>
          </a:p>
          <a:p>
            <a:r>
              <a:rPr lang="en-IN" sz="1400" dirty="0"/>
              <a:t>	{	"code": "emp102",</a:t>
            </a:r>
          </a:p>
          <a:p>
            <a:r>
              <a:rPr lang="en-IN" sz="1400" dirty="0"/>
              <a:t>		"name": "Alex",</a:t>
            </a:r>
          </a:p>
          <a:p>
            <a:r>
              <a:rPr lang="en-IN" sz="1400" dirty="0"/>
              <a:t>		"gender": "Male",</a:t>
            </a:r>
          </a:p>
          <a:p>
            <a:r>
              <a:rPr lang="en-IN" sz="1400" dirty="0"/>
              <a:t>		"</a:t>
            </a:r>
            <a:r>
              <a:rPr lang="en-IN" sz="1400" dirty="0" err="1"/>
              <a:t>annualSalary</a:t>
            </a:r>
            <a:r>
              <a:rPr lang="en-IN" sz="1400" dirty="0"/>
              <a:t>": "5700.95",</a:t>
            </a:r>
          </a:p>
          <a:p>
            <a:r>
              <a:rPr lang="en-IN" sz="1400" dirty="0"/>
              <a:t>		"</a:t>
            </a:r>
            <a:r>
              <a:rPr lang="en-IN" sz="1400" dirty="0" err="1"/>
              <a:t>dateOfBirth</a:t>
            </a:r>
            <a:r>
              <a:rPr lang="en-IN" sz="1400" dirty="0"/>
              <a:t>": "9/6/1982 "</a:t>
            </a:r>
          </a:p>
          <a:p>
            <a:r>
              <a:rPr lang="en-IN" sz="1400" dirty="0"/>
              <a:t>	},</a:t>
            </a:r>
          </a:p>
          <a:p>
            <a:r>
              <a:rPr lang="en-IN" sz="1400" dirty="0"/>
              <a:t>	{	"code": "emp10",</a:t>
            </a:r>
          </a:p>
          <a:p>
            <a:r>
              <a:rPr lang="en-IN" sz="1400" dirty="0"/>
              <a:t>		"name": "Mike",</a:t>
            </a:r>
          </a:p>
          <a:p>
            <a:r>
              <a:rPr lang="en-IN" sz="1400" dirty="0"/>
              <a:t>		"gender": "Male",</a:t>
            </a:r>
          </a:p>
          <a:p>
            <a:r>
              <a:rPr lang="en-IN" sz="1400" dirty="0"/>
              <a:t>		"</a:t>
            </a:r>
            <a:r>
              <a:rPr lang="en-IN" sz="1400" dirty="0" err="1"/>
              <a:t>annualSalary</a:t>
            </a:r>
            <a:r>
              <a:rPr lang="en-IN" sz="1400" dirty="0"/>
              <a:t>": "5900",</a:t>
            </a:r>
          </a:p>
          <a:p>
            <a:r>
              <a:rPr lang="en-IN" sz="1400" dirty="0"/>
              <a:t>		"</a:t>
            </a:r>
            <a:r>
              <a:rPr lang="en-IN" sz="1400" dirty="0" err="1"/>
              <a:t>dateOfBirth</a:t>
            </a:r>
            <a:r>
              <a:rPr lang="en-IN" sz="1400" dirty="0"/>
              <a:t>": "12/8/1979"</a:t>
            </a:r>
          </a:p>
          <a:p>
            <a:r>
              <a:rPr lang="en-IN" sz="1400" dirty="0"/>
              <a:t>	},</a:t>
            </a:r>
          </a:p>
          <a:p>
            <a:r>
              <a:rPr lang="en-IN" sz="1400" dirty="0"/>
              <a:t>	{	"code": "emp104",</a:t>
            </a:r>
          </a:p>
          <a:p>
            <a:r>
              <a:rPr lang="en-IN" sz="1400" dirty="0"/>
              <a:t>		"name": "Mary",</a:t>
            </a:r>
          </a:p>
          <a:p>
            <a:r>
              <a:rPr lang="en-IN" sz="1400" dirty="0"/>
              <a:t>		"gender": "Female",</a:t>
            </a:r>
          </a:p>
          <a:p>
            <a:r>
              <a:rPr lang="en-IN" sz="1400" dirty="0"/>
              <a:t>		</a:t>
            </a:r>
            <a:r>
              <a:rPr lang="en-IN" sz="1400" dirty="0" err="1"/>
              <a:t>annualSalary</a:t>
            </a:r>
            <a:r>
              <a:rPr lang="en-IN" sz="1400" dirty="0"/>
              <a:t>": "6500.826",</a:t>
            </a:r>
          </a:p>
          <a:p>
            <a:r>
              <a:rPr lang="en-IN" sz="1400" dirty="0"/>
              <a:t>	   	    "</a:t>
            </a:r>
            <a:r>
              <a:rPr lang="en-IN" sz="1400" dirty="0" err="1"/>
              <a:t>dateOfBirth</a:t>
            </a:r>
            <a:r>
              <a:rPr lang="en-IN" sz="1400" dirty="0"/>
              <a:t>": "10/14/1980"</a:t>
            </a:r>
          </a:p>
          <a:p>
            <a:r>
              <a:rPr lang="en-IN" sz="1400" dirty="0"/>
              <a:t>	}</a:t>
            </a:r>
          </a:p>
          <a:p>
            <a:r>
              <a:rPr lang="en-IN" sz="1400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2098174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16BBE-8064-4A96-89FA-4014B6D7A3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457200"/>
            <a:ext cx="8382000" cy="5668963"/>
          </a:xfrm>
        </p:spPr>
        <p:txBody>
          <a:bodyPr/>
          <a:lstStyle/>
          <a:p>
            <a:r>
              <a:rPr lang="en-US" dirty="0"/>
              <a:t>However, always use POST requests when: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cached file is not an option (update a file or database on the server).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Sending a large amount of data to the server (POST has no size limitations).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Sending user input (which can contain unknown characters), POST is more robust and secure than GET.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64386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1C9AE-EAC4-4115-BBDD-2F279CEAE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39" y="63910"/>
            <a:ext cx="5486400" cy="6781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&lt;!</a:t>
            </a:r>
            <a:r>
              <a:rPr lang="en-I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DOCTYPE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&lt;body&gt;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&lt;h2&gt;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The 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XMLHttpRequest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Object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&lt;/h2&gt;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"demo"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&gt;&lt;/p&gt;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&lt;form name=‘</a:t>
            </a:r>
            <a:r>
              <a:rPr lang="en-IN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frm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’&gt;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&lt;/label&gt;&lt;input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fnm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&lt;/label&gt;&lt;input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"ag"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loadDoc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Send Form data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&lt;/form&gt;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function 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loadDoc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querySelector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'form'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</a:t>
            </a:r>
            <a:r>
              <a:rPr lang="en-IN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={</a:t>
            </a:r>
            <a:endParaRPr lang="en-IN" sz="9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IN" sz="9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en-IN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endParaRPr lang="en-IN" sz="9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"email"</a:t>
            </a:r>
            <a:r>
              <a:rPr lang="en-IN" sz="9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en-IN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IN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endParaRPr lang="en-IN" sz="9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"department"</a:t>
            </a:r>
            <a:r>
              <a:rPr lang="en-IN" sz="9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en-IN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department</a:t>
            </a:r>
            <a:r>
              <a:rPr lang="en-IN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endParaRPr lang="en-IN" sz="9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N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};</a:t>
            </a:r>
            <a:endParaRPr lang="en-IN" sz="9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jdata</a:t>
            </a:r>
            <a:r>
              <a:rPr lang="en-IN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9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JSON</a:t>
            </a:r>
            <a:r>
              <a:rPr lang="en-IN" sz="9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IN" sz="9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stringify</a:t>
            </a:r>
            <a:r>
              <a:rPr lang="en-IN" sz="9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IN" sz="9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data</a:t>
            </a:r>
            <a:r>
              <a:rPr lang="en-IN" sz="9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  <a:endParaRPr lang="en-IN" sz="900" b="0" dirty="0">
              <a:solidFill>
                <a:srgbClr val="3B3B3B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xhttp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XMLHttpRequest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xhttp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onreadystatechange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readyState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== </a:t>
            </a:r>
            <a:r>
              <a:rPr lang="en-I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&amp;&amp; 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== </a:t>
            </a:r>
            <a:r>
              <a:rPr lang="en-I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"demo"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"Data inserted"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}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};     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xhttp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"POST"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ejson.php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,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xhttp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setRequestHeader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'Content-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Type'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'application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/x-www-form-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urlencoded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 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xhttp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send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jdata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</a:p>
          <a:p>
            <a:pPr marL="0" indent="0">
              <a:buNone/>
            </a:pPr>
            <a:endParaRPr lang="en-IN" sz="1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FE788D-A59E-7896-E883-7CBC4AB386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05" r="17340"/>
          <a:stretch/>
        </p:blipFill>
        <p:spPr>
          <a:xfrm>
            <a:off x="5078361" y="63910"/>
            <a:ext cx="4038600" cy="24515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6392612-8213-543A-8D82-B8DB8E7E0336}"/>
              </a:ext>
            </a:extLst>
          </p:cNvPr>
          <p:cNvSpPr txBox="1"/>
          <p:nvPr/>
        </p:nvSpPr>
        <p:spPr>
          <a:xfrm>
            <a:off x="4800600" y="2590800"/>
            <a:ext cx="4343400" cy="260712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FormData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pair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of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entries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pair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}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OR</a:t>
            </a:r>
          </a:p>
          <a:p>
            <a:pPr>
              <a:lnSpc>
                <a:spcPts val="1425"/>
              </a:lnSpc>
              <a:buNone/>
            </a:pPr>
            <a:endParaRPr lang="en-I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of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c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onsole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', 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}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295E85E0-8AD6-E816-29DC-DF1239E1704E}"/>
              </a:ext>
            </a:extLst>
          </p:cNvPr>
          <p:cNvSpPr/>
          <p:nvPr/>
        </p:nvSpPr>
        <p:spPr>
          <a:xfrm>
            <a:off x="4470149" y="1091466"/>
            <a:ext cx="694518" cy="1956534"/>
          </a:xfrm>
          <a:custGeom>
            <a:avLst/>
            <a:gdLst>
              <a:gd name="connsiteX0" fmla="*/ 516718 w 694518"/>
              <a:gd name="connsiteY0" fmla="*/ 1956534 h 1956534"/>
              <a:gd name="connsiteX1" fmla="*/ 423584 w 694518"/>
              <a:gd name="connsiteY1" fmla="*/ 1931134 h 1956534"/>
              <a:gd name="connsiteX2" fmla="*/ 338918 w 694518"/>
              <a:gd name="connsiteY2" fmla="*/ 1829534 h 1956534"/>
              <a:gd name="connsiteX3" fmla="*/ 220384 w 694518"/>
              <a:gd name="connsiteY3" fmla="*/ 1668667 h 1956534"/>
              <a:gd name="connsiteX4" fmla="*/ 118784 w 694518"/>
              <a:gd name="connsiteY4" fmla="*/ 1457001 h 1956534"/>
              <a:gd name="connsiteX5" fmla="*/ 84918 w 694518"/>
              <a:gd name="connsiteY5" fmla="*/ 1321534 h 1956534"/>
              <a:gd name="connsiteX6" fmla="*/ 8718 w 694518"/>
              <a:gd name="connsiteY6" fmla="*/ 999801 h 1956534"/>
              <a:gd name="connsiteX7" fmla="*/ 25651 w 694518"/>
              <a:gd name="connsiteY7" fmla="*/ 568001 h 1956534"/>
              <a:gd name="connsiteX8" fmla="*/ 34118 w 694518"/>
              <a:gd name="connsiteY8" fmla="*/ 491801 h 1956534"/>
              <a:gd name="connsiteX9" fmla="*/ 118784 w 694518"/>
              <a:gd name="connsiteY9" fmla="*/ 288601 h 1956534"/>
              <a:gd name="connsiteX10" fmla="*/ 152651 w 694518"/>
              <a:gd name="connsiteY10" fmla="*/ 237801 h 1956534"/>
              <a:gd name="connsiteX11" fmla="*/ 305051 w 694518"/>
              <a:gd name="connsiteY11" fmla="*/ 102334 h 1956534"/>
              <a:gd name="connsiteX12" fmla="*/ 415118 w 694518"/>
              <a:gd name="connsiteY12" fmla="*/ 68467 h 1956534"/>
              <a:gd name="connsiteX13" fmla="*/ 525184 w 694518"/>
              <a:gd name="connsiteY13" fmla="*/ 34601 h 1956534"/>
              <a:gd name="connsiteX14" fmla="*/ 584451 w 694518"/>
              <a:gd name="connsiteY14" fmla="*/ 9201 h 1956534"/>
              <a:gd name="connsiteX15" fmla="*/ 694518 w 694518"/>
              <a:gd name="connsiteY15" fmla="*/ 734 h 1956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94518" h="1956534">
                <a:moveTo>
                  <a:pt x="516718" y="1956534"/>
                </a:moveTo>
                <a:cubicBezTo>
                  <a:pt x="485673" y="1948067"/>
                  <a:pt x="449769" y="1949837"/>
                  <a:pt x="423584" y="1931134"/>
                </a:cubicBezTo>
                <a:cubicBezTo>
                  <a:pt x="387711" y="1905510"/>
                  <a:pt x="365905" y="1864393"/>
                  <a:pt x="338918" y="1829534"/>
                </a:cubicBezTo>
                <a:cubicBezTo>
                  <a:pt x="298143" y="1776866"/>
                  <a:pt x="257331" y="1724087"/>
                  <a:pt x="220384" y="1668667"/>
                </a:cubicBezTo>
                <a:cubicBezTo>
                  <a:pt x="188529" y="1620885"/>
                  <a:pt x="135461" y="1507033"/>
                  <a:pt x="118784" y="1457001"/>
                </a:cubicBezTo>
                <a:cubicBezTo>
                  <a:pt x="104065" y="1412844"/>
                  <a:pt x="97062" y="1366467"/>
                  <a:pt x="84918" y="1321534"/>
                </a:cubicBezTo>
                <a:cubicBezTo>
                  <a:pt x="14205" y="1059895"/>
                  <a:pt x="49990" y="1233675"/>
                  <a:pt x="8718" y="999801"/>
                </a:cubicBezTo>
                <a:cubicBezTo>
                  <a:pt x="-5095" y="764988"/>
                  <a:pt x="-4596" y="893154"/>
                  <a:pt x="25651" y="568001"/>
                </a:cubicBezTo>
                <a:cubicBezTo>
                  <a:pt x="28018" y="542555"/>
                  <a:pt x="27227" y="516411"/>
                  <a:pt x="34118" y="491801"/>
                </a:cubicBezTo>
                <a:cubicBezTo>
                  <a:pt x="49607" y="436483"/>
                  <a:pt x="86472" y="345147"/>
                  <a:pt x="118784" y="288601"/>
                </a:cubicBezTo>
                <a:cubicBezTo>
                  <a:pt x="128881" y="270931"/>
                  <a:pt x="139322" y="253180"/>
                  <a:pt x="152651" y="237801"/>
                </a:cubicBezTo>
                <a:cubicBezTo>
                  <a:pt x="189100" y="195745"/>
                  <a:pt x="256489" y="132685"/>
                  <a:pt x="305051" y="102334"/>
                </a:cubicBezTo>
                <a:cubicBezTo>
                  <a:pt x="363395" y="65869"/>
                  <a:pt x="356457" y="83904"/>
                  <a:pt x="415118" y="68467"/>
                </a:cubicBezTo>
                <a:cubicBezTo>
                  <a:pt x="452240" y="58698"/>
                  <a:pt x="489902" y="49722"/>
                  <a:pt x="525184" y="34601"/>
                </a:cubicBezTo>
                <a:cubicBezTo>
                  <a:pt x="544940" y="26134"/>
                  <a:pt x="564060" y="15998"/>
                  <a:pt x="584451" y="9201"/>
                </a:cubicBezTo>
                <a:cubicBezTo>
                  <a:pt x="623136" y="-3694"/>
                  <a:pt x="652853" y="734"/>
                  <a:pt x="694518" y="734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C6055A89-035F-EDF2-267F-587A77433281}"/>
              </a:ext>
            </a:extLst>
          </p:cNvPr>
          <p:cNvSpPr/>
          <p:nvPr/>
        </p:nvSpPr>
        <p:spPr>
          <a:xfrm rot="3725183">
            <a:off x="4800600" y="943014"/>
            <a:ext cx="609600" cy="428586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2D69098-EA27-CAFD-36FE-970432D88B45}"/>
              </a:ext>
            </a:extLst>
          </p:cNvPr>
          <p:cNvSpPr/>
          <p:nvPr/>
        </p:nvSpPr>
        <p:spPr>
          <a:xfrm>
            <a:off x="7848600" y="1777046"/>
            <a:ext cx="1354810" cy="2651021"/>
          </a:xfrm>
          <a:custGeom>
            <a:avLst/>
            <a:gdLst>
              <a:gd name="connsiteX0" fmla="*/ 279400 w 1354810"/>
              <a:gd name="connsiteY0" fmla="*/ 2651021 h 2651021"/>
              <a:gd name="connsiteX1" fmla="*/ 389467 w 1354810"/>
              <a:gd name="connsiteY1" fmla="*/ 2591754 h 2651021"/>
              <a:gd name="connsiteX2" fmla="*/ 516467 w 1354810"/>
              <a:gd name="connsiteY2" fmla="*/ 2540954 h 2651021"/>
              <a:gd name="connsiteX3" fmla="*/ 575733 w 1354810"/>
              <a:gd name="connsiteY3" fmla="*/ 2524021 h 2651021"/>
              <a:gd name="connsiteX4" fmla="*/ 609600 w 1354810"/>
              <a:gd name="connsiteY4" fmla="*/ 2498621 h 2651021"/>
              <a:gd name="connsiteX5" fmla="*/ 711200 w 1354810"/>
              <a:gd name="connsiteY5" fmla="*/ 2430887 h 2651021"/>
              <a:gd name="connsiteX6" fmla="*/ 829733 w 1354810"/>
              <a:gd name="connsiteY6" fmla="*/ 2337754 h 2651021"/>
              <a:gd name="connsiteX7" fmla="*/ 956733 w 1354810"/>
              <a:gd name="connsiteY7" fmla="*/ 2202287 h 2651021"/>
              <a:gd name="connsiteX8" fmla="*/ 1092200 w 1354810"/>
              <a:gd name="connsiteY8" fmla="*/ 2007554 h 2651021"/>
              <a:gd name="connsiteX9" fmla="*/ 1168400 w 1354810"/>
              <a:gd name="connsiteY9" fmla="*/ 1855154 h 2651021"/>
              <a:gd name="connsiteX10" fmla="*/ 1270000 w 1354810"/>
              <a:gd name="connsiteY10" fmla="*/ 1524954 h 2651021"/>
              <a:gd name="connsiteX11" fmla="*/ 1303867 w 1354810"/>
              <a:gd name="connsiteY11" fmla="*/ 1372554 h 2651021"/>
              <a:gd name="connsiteX12" fmla="*/ 1346200 w 1354810"/>
              <a:gd name="connsiteY12" fmla="*/ 1050821 h 2651021"/>
              <a:gd name="connsiteX13" fmla="*/ 1337733 w 1354810"/>
              <a:gd name="connsiteY13" fmla="*/ 517421 h 2651021"/>
              <a:gd name="connsiteX14" fmla="*/ 1219200 w 1354810"/>
              <a:gd name="connsiteY14" fmla="*/ 356554 h 2651021"/>
              <a:gd name="connsiteX15" fmla="*/ 1109133 w 1354810"/>
              <a:gd name="connsiteY15" fmla="*/ 280354 h 2651021"/>
              <a:gd name="connsiteX16" fmla="*/ 1049867 w 1354810"/>
              <a:gd name="connsiteY16" fmla="*/ 229554 h 2651021"/>
              <a:gd name="connsiteX17" fmla="*/ 677333 w 1354810"/>
              <a:gd name="connsiteY17" fmla="*/ 111021 h 2651021"/>
              <a:gd name="connsiteX18" fmla="*/ 541867 w 1354810"/>
              <a:gd name="connsiteY18" fmla="*/ 68687 h 2651021"/>
              <a:gd name="connsiteX19" fmla="*/ 397933 w 1354810"/>
              <a:gd name="connsiteY19" fmla="*/ 51754 h 2651021"/>
              <a:gd name="connsiteX20" fmla="*/ 279400 w 1354810"/>
              <a:gd name="connsiteY20" fmla="*/ 34821 h 2651021"/>
              <a:gd name="connsiteX21" fmla="*/ 177800 w 1354810"/>
              <a:gd name="connsiteY21" fmla="*/ 9421 h 2651021"/>
              <a:gd name="connsiteX22" fmla="*/ 135467 w 1354810"/>
              <a:gd name="connsiteY22" fmla="*/ 954 h 2651021"/>
              <a:gd name="connsiteX23" fmla="*/ 0 w 1354810"/>
              <a:gd name="connsiteY23" fmla="*/ 954 h 2651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354810" h="2651021">
                <a:moveTo>
                  <a:pt x="279400" y="2651021"/>
                </a:moveTo>
                <a:cubicBezTo>
                  <a:pt x="325177" y="2624863"/>
                  <a:pt x="343217" y="2613100"/>
                  <a:pt x="389467" y="2591754"/>
                </a:cubicBezTo>
                <a:cubicBezTo>
                  <a:pt x="424510" y="2575580"/>
                  <a:pt x="480650" y="2552893"/>
                  <a:pt x="516467" y="2540954"/>
                </a:cubicBezTo>
                <a:cubicBezTo>
                  <a:pt x="535959" y="2534457"/>
                  <a:pt x="555978" y="2529665"/>
                  <a:pt x="575733" y="2524021"/>
                </a:cubicBezTo>
                <a:cubicBezTo>
                  <a:pt x="587022" y="2515554"/>
                  <a:pt x="597972" y="2506615"/>
                  <a:pt x="609600" y="2498621"/>
                </a:cubicBezTo>
                <a:cubicBezTo>
                  <a:pt x="643141" y="2475562"/>
                  <a:pt x="678337" y="2454902"/>
                  <a:pt x="711200" y="2430887"/>
                </a:cubicBezTo>
                <a:cubicBezTo>
                  <a:pt x="751770" y="2401240"/>
                  <a:pt x="791816" y="2370726"/>
                  <a:pt x="829733" y="2337754"/>
                </a:cubicBezTo>
                <a:cubicBezTo>
                  <a:pt x="871999" y="2301001"/>
                  <a:pt x="920463" y="2246927"/>
                  <a:pt x="956733" y="2202287"/>
                </a:cubicBezTo>
                <a:cubicBezTo>
                  <a:pt x="1009939" y="2136803"/>
                  <a:pt x="1049542" y="2083391"/>
                  <a:pt x="1092200" y="2007554"/>
                </a:cubicBezTo>
                <a:cubicBezTo>
                  <a:pt x="1120045" y="1958052"/>
                  <a:pt x="1148765" y="1908448"/>
                  <a:pt x="1168400" y="1855154"/>
                </a:cubicBezTo>
                <a:cubicBezTo>
                  <a:pt x="1208211" y="1747095"/>
                  <a:pt x="1245018" y="1637371"/>
                  <a:pt x="1270000" y="1524954"/>
                </a:cubicBezTo>
                <a:cubicBezTo>
                  <a:pt x="1281289" y="1474154"/>
                  <a:pt x="1295610" y="1423934"/>
                  <a:pt x="1303867" y="1372554"/>
                </a:cubicBezTo>
                <a:cubicBezTo>
                  <a:pt x="1321031" y="1265756"/>
                  <a:pt x="1346200" y="1050821"/>
                  <a:pt x="1346200" y="1050821"/>
                </a:cubicBezTo>
                <a:cubicBezTo>
                  <a:pt x="1351623" y="882715"/>
                  <a:pt x="1366290" y="684683"/>
                  <a:pt x="1337733" y="517421"/>
                </a:cubicBezTo>
                <a:cubicBezTo>
                  <a:pt x="1329964" y="471918"/>
                  <a:pt x="1245576" y="379333"/>
                  <a:pt x="1219200" y="356554"/>
                </a:cubicBezTo>
                <a:cubicBezTo>
                  <a:pt x="1185428" y="327387"/>
                  <a:pt x="1144832" y="307128"/>
                  <a:pt x="1109133" y="280354"/>
                </a:cubicBezTo>
                <a:cubicBezTo>
                  <a:pt x="1088317" y="264742"/>
                  <a:pt x="1073382" y="240693"/>
                  <a:pt x="1049867" y="229554"/>
                </a:cubicBezTo>
                <a:cubicBezTo>
                  <a:pt x="833210" y="126927"/>
                  <a:pt x="848301" y="137323"/>
                  <a:pt x="677333" y="111021"/>
                </a:cubicBezTo>
                <a:cubicBezTo>
                  <a:pt x="632178" y="96910"/>
                  <a:pt x="588146" y="78504"/>
                  <a:pt x="541867" y="68687"/>
                </a:cubicBezTo>
                <a:cubicBezTo>
                  <a:pt x="494610" y="58663"/>
                  <a:pt x="445845" y="57936"/>
                  <a:pt x="397933" y="51754"/>
                </a:cubicBezTo>
                <a:cubicBezTo>
                  <a:pt x="358349" y="46646"/>
                  <a:pt x="318594" y="42358"/>
                  <a:pt x="279400" y="34821"/>
                </a:cubicBezTo>
                <a:cubicBezTo>
                  <a:pt x="245119" y="28229"/>
                  <a:pt x="211781" y="17417"/>
                  <a:pt x="177800" y="9421"/>
                </a:cubicBezTo>
                <a:cubicBezTo>
                  <a:pt x="163792" y="6125"/>
                  <a:pt x="149841" y="1639"/>
                  <a:pt x="135467" y="954"/>
                </a:cubicBezTo>
                <a:cubicBezTo>
                  <a:pt x="90362" y="-1194"/>
                  <a:pt x="45156" y="954"/>
                  <a:pt x="0" y="954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80C5F063-5A4B-039F-F648-F206064ABDC9}"/>
              </a:ext>
            </a:extLst>
          </p:cNvPr>
          <p:cNvSpPr/>
          <p:nvPr/>
        </p:nvSpPr>
        <p:spPr>
          <a:xfrm rot="16200000">
            <a:off x="7596082" y="1526964"/>
            <a:ext cx="685800" cy="454236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92D013-5CDF-71C7-22CA-533A3F4A1A5C}"/>
              </a:ext>
            </a:extLst>
          </p:cNvPr>
          <p:cNvSpPr txBox="1"/>
          <p:nvPr/>
        </p:nvSpPr>
        <p:spPr>
          <a:xfrm>
            <a:off x="5513440" y="5273304"/>
            <a:ext cx="3603522" cy="13388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jsondata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{}</a:t>
            </a:r>
            <a:endParaRPr lang="en-IN" sz="105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IN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of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endParaRPr lang="en-IN" sz="105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jsondata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]= </a:t>
            </a:r>
            <a:r>
              <a:rPr lang="en-IN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           </a:t>
            </a:r>
            <a:endParaRPr lang="en-IN" sz="105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}</a:t>
            </a:r>
            <a:endParaRPr lang="en-IN" sz="105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5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jsondata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 </a:t>
            </a:r>
            <a:endParaRPr lang="en-IN" sz="105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jdata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IN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5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stringify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jsondata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sz="105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5347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1C9AE-EAC4-4115-BBDD-2F279CEAE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39" y="63910"/>
            <a:ext cx="5486400" cy="6781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&lt;!</a:t>
            </a:r>
            <a:r>
              <a:rPr lang="en-I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DOCTYPE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&lt;body&gt;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&lt;h2&gt;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The 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XMLHttpRequest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Object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&lt;/h2&gt;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"demo"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&gt;&lt;/p&gt;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&lt;form&gt;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&lt;/label&gt;&lt;input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fnm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&lt;/label&gt;&lt;input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"ag"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loadDoc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Send Form data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&lt;/form&gt;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function 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loadDoc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querySelector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'form'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URLSearchParams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FormData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toString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xhttp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XMLHttpRequest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xhttp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onreadystatechange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readyState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== </a:t>
            </a:r>
            <a:r>
              <a:rPr lang="en-I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&amp;&amp; 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== </a:t>
            </a:r>
            <a:r>
              <a:rPr lang="en-I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"demo"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"Data inserted"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}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};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</a:t>
            </a:r>
          </a:p>
          <a:p>
            <a:pPr marL="0" indent="0">
              <a:buNone/>
            </a:pP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xhttp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"POST"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ejson.php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,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xhttp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setRequestHeader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'Content-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Type'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'application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/x-www-form-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urlencoded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 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xhttp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send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</a:p>
          <a:p>
            <a:pPr marL="0" indent="0">
              <a:buNone/>
            </a:pPr>
            <a:endParaRPr lang="en-IN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765A5C-85C6-46AA-890B-0B5285330360}"/>
              </a:ext>
            </a:extLst>
          </p:cNvPr>
          <p:cNvSpPr txBox="1"/>
          <p:nvPr/>
        </p:nvSpPr>
        <p:spPr>
          <a:xfrm>
            <a:off x="4800600" y="0"/>
            <a:ext cx="3962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dirty="0" err="1"/>
              <a:t>URLSearchParams</a:t>
            </a:r>
            <a:r>
              <a:rPr lang="en-US" dirty="0"/>
              <a:t> interface defines utility methods to work with the query string of a URL.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E62C49-0A0B-41C4-83A6-140CC74885E4}"/>
              </a:ext>
            </a:extLst>
          </p:cNvPr>
          <p:cNvSpPr txBox="1"/>
          <p:nvPr/>
        </p:nvSpPr>
        <p:spPr>
          <a:xfrm>
            <a:off x="5513439" y="909578"/>
            <a:ext cx="3393494" cy="258532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/>
              <a:t>Try:  var </a:t>
            </a:r>
            <a:r>
              <a:rPr lang="en-IN" dirty="0" err="1"/>
              <a:t>paramsString</a:t>
            </a:r>
            <a:r>
              <a:rPr lang="en-IN" dirty="0"/>
              <a:t> = "q=</a:t>
            </a:r>
            <a:r>
              <a:rPr lang="en-IN" dirty="0" err="1"/>
              <a:t>URLUtils.searchParams&amp;topic</a:t>
            </a:r>
            <a:r>
              <a:rPr lang="en-IN" dirty="0"/>
              <a:t>=</a:t>
            </a:r>
            <a:r>
              <a:rPr lang="en-IN" dirty="0" err="1"/>
              <a:t>api</a:t>
            </a:r>
            <a:r>
              <a:rPr lang="en-IN" dirty="0"/>
              <a:t>";</a:t>
            </a:r>
          </a:p>
          <a:p>
            <a:r>
              <a:rPr lang="en-IN" dirty="0"/>
              <a:t>var </a:t>
            </a:r>
            <a:r>
              <a:rPr lang="en-IN" dirty="0" err="1"/>
              <a:t>searchParams</a:t>
            </a:r>
            <a:r>
              <a:rPr lang="en-IN" dirty="0"/>
              <a:t> = new </a:t>
            </a:r>
            <a:r>
              <a:rPr lang="en-IN" dirty="0" err="1"/>
              <a:t>URLSearchParams</a:t>
            </a:r>
            <a:r>
              <a:rPr lang="en-IN" dirty="0"/>
              <a:t>(</a:t>
            </a:r>
            <a:r>
              <a:rPr lang="en-IN" dirty="0" err="1"/>
              <a:t>paramsString</a:t>
            </a:r>
            <a:r>
              <a:rPr lang="en-IN" dirty="0"/>
              <a:t>);</a:t>
            </a:r>
          </a:p>
          <a:p>
            <a:r>
              <a:rPr lang="en-IN" dirty="0"/>
              <a:t>//Iterate the search parameters.</a:t>
            </a:r>
          </a:p>
          <a:p>
            <a:r>
              <a:rPr lang="en-IN" dirty="0"/>
              <a:t>for (let p of </a:t>
            </a:r>
            <a:r>
              <a:rPr lang="en-IN" dirty="0" err="1"/>
              <a:t>searchParams</a:t>
            </a:r>
            <a:r>
              <a:rPr lang="en-IN" dirty="0"/>
              <a:t>) {</a:t>
            </a:r>
          </a:p>
          <a:p>
            <a:r>
              <a:rPr lang="en-IN" dirty="0"/>
              <a:t>  console.log(p);</a:t>
            </a:r>
          </a:p>
          <a:p>
            <a:r>
              <a:rPr lang="en-IN" dirty="0"/>
              <a:t>}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483F015-82F5-3DE4-55EF-276CCA9E872D}"/>
              </a:ext>
            </a:extLst>
          </p:cNvPr>
          <p:cNvCxnSpPr>
            <a:cxnSpLocks/>
          </p:cNvCxnSpPr>
          <p:nvPr/>
        </p:nvCxnSpPr>
        <p:spPr>
          <a:xfrm>
            <a:off x="3733800" y="3200400"/>
            <a:ext cx="1905000" cy="1143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4BCFFFB-734A-71F4-D9E8-73F225F93E81}"/>
              </a:ext>
            </a:extLst>
          </p:cNvPr>
          <p:cNvSpPr txBox="1"/>
          <p:nvPr/>
        </p:nvSpPr>
        <p:spPr>
          <a:xfrm>
            <a:off x="5825066" y="3601816"/>
            <a:ext cx="2895600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In PHP when we get data from form we read data</a:t>
            </a:r>
          </a:p>
          <a:p>
            <a:r>
              <a:rPr lang="en-IN" dirty="0"/>
              <a:t>	POST[‘</a:t>
            </a:r>
            <a:r>
              <a:rPr lang="en-IN" dirty="0" err="1"/>
              <a:t>fnm</a:t>
            </a:r>
            <a:r>
              <a:rPr lang="en-IN" dirty="0"/>
              <a:t>’]</a:t>
            </a:r>
          </a:p>
          <a:p>
            <a:r>
              <a:rPr lang="en-IN" dirty="0"/>
              <a:t>	POST[‘ag’]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288F0B-8A03-3C1C-84C6-6DD2F9A17C9D}"/>
              </a:ext>
            </a:extLst>
          </p:cNvPr>
          <p:cNvSpPr txBox="1"/>
          <p:nvPr/>
        </p:nvSpPr>
        <p:spPr>
          <a:xfrm>
            <a:off x="5410200" y="4979002"/>
            <a:ext cx="4207114" cy="123110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[</a:t>
            </a:r>
            <a:r>
              <a:rPr lang="en-IN" sz="1400" dirty="0" err="1"/>
              <a:t>HttpPost</a:t>
            </a:r>
            <a:r>
              <a:rPr lang="en-IN" sz="1400" dirty="0"/>
              <a:t>("submit")]</a:t>
            </a:r>
          </a:p>
          <a:p>
            <a:r>
              <a:rPr lang="en-IN" sz="1400" dirty="0"/>
              <a:t>public </a:t>
            </a:r>
            <a:r>
              <a:rPr lang="en-IN" sz="1400" dirty="0" err="1"/>
              <a:t>IActionResult</a:t>
            </a:r>
            <a:r>
              <a:rPr lang="en-IN" sz="1400" dirty="0"/>
              <a:t> Submit([</a:t>
            </a:r>
            <a:r>
              <a:rPr lang="en-IN" sz="1400" dirty="0" err="1">
                <a:highlight>
                  <a:srgbClr val="FFFF00"/>
                </a:highlight>
              </a:rPr>
              <a:t>FromForm</a:t>
            </a:r>
            <a:r>
              <a:rPr lang="en-IN" sz="1400" dirty="0"/>
              <a:t>] </a:t>
            </a:r>
            <a:r>
              <a:rPr lang="en-IN" sz="1400" dirty="0" err="1"/>
              <a:t>PersonForm</a:t>
            </a:r>
            <a:r>
              <a:rPr lang="en-IN" sz="1400" dirty="0"/>
              <a:t> form)</a:t>
            </a:r>
          </a:p>
          <a:p>
            <a:r>
              <a:rPr lang="en-IN" sz="1400" dirty="0"/>
              <a:t>{    return Ok(form);</a:t>
            </a:r>
          </a:p>
          <a:p>
            <a:r>
              <a:rPr lang="en-IN" sz="1400" dirty="0"/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C6B832-D1CD-AE81-3FAE-AD6BEF6EA9D0}"/>
              </a:ext>
            </a:extLst>
          </p:cNvPr>
          <p:cNvSpPr txBox="1"/>
          <p:nvPr/>
        </p:nvSpPr>
        <p:spPr>
          <a:xfrm>
            <a:off x="5808133" y="6420832"/>
            <a:ext cx="3166534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In REST API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291864D-FE79-A93F-A9F7-930D99188F3A}"/>
              </a:ext>
            </a:extLst>
          </p:cNvPr>
          <p:cNvCxnSpPr/>
          <p:nvPr/>
        </p:nvCxnSpPr>
        <p:spPr>
          <a:xfrm flipH="1" flipV="1">
            <a:off x="7696200" y="5948422"/>
            <a:ext cx="76200" cy="6809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6DF4A96C-F500-3408-727E-28C15159E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1405" y="6384932"/>
            <a:ext cx="3624790" cy="342824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8D81DC0-6CF5-D321-DFDC-4699CCFCB29E}"/>
              </a:ext>
            </a:extLst>
          </p:cNvPr>
          <p:cNvCxnSpPr/>
          <p:nvPr/>
        </p:nvCxnSpPr>
        <p:spPr>
          <a:xfrm>
            <a:off x="2904358" y="3200400"/>
            <a:ext cx="1439042" cy="31560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11275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6A54B17B-9F28-CFFF-3562-47DE11BA01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" y="-187375"/>
            <a:ext cx="9067800" cy="7232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form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This is a reference to a DOM element representing an HTML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&lt;form&gt;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(e.g.,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document.querySelector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("form")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new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FormData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(form)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Creates a new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FormData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object from the form.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Collects all the input fields and their values (only those with a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name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attribute and that are not disabled).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new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URLSearchParams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(...)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Takes the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FormData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converts it into a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URLSearchParams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object.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object can serialize the data into a URL-encoded string.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toString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Converts the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URLSearchParams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object into a URL-encoded query string (e.g.,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name=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John&amp;age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=30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Given this HTML form: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lvl="6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&lt;html&gt;</a:t>
            </a:r>
          </a:p>
          <a:p>
            <a:pPr lvl="6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&lt;form id="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myForm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"&gt; </a:t>
            </a:r>
          </a:p>
          <a:p>
            <a:pPr lvl="6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&lt;input name="name" value="Alice"&gt; </a:t>
            </a:r>
          </a:p>
          <a:p>
            <a:pPr lvl="6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&lt;input name="age" value="25"&gt; &lt;/form&gt;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this JavaScript: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Js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sym typeface="Wingdings" panose="05000000000000000000" pitchFamily="2" charset="2"/>
              </a:rPr>
              <a:t>		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const form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document.getElementById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("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myForm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		const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queryString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new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URLSearchParams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(new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FormData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(form)).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toString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(); 		console.log(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queryString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);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ini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name=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Alice&amp;age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=25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It's commonly used to send form data in a GET request or manually serialize data for AJAX.</a:t>
            </a:r>
          </a:p>
        </p:txBody>
      </p:sp>
    </p:spTree>
    <p:extLst>
      <p:ext uri="{BB962C8B-B14F-4D97-AF65-F5344CB8AC3E}">
        <p14:creationId xmlns:p14="http://schemas.microsoft.com/office/powerpoint/2010/main" val="26427328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75D22C3-1912-9B76-D01B-9027694E58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3090104"/>
              </p:ext>
            </p:extLst>
          </p:nvPr>
        </p:nvGraphicFramePr>
        <p:xfrm>
          <a:off x="152400" y="1600200"/>
          <a:ext cx="8763000" cy="3360261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3236560658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3451937732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855194661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4075640824"/>
                    </a:ext>
                  </a:extLst>
                </a:gridCol>
              </a:tblGrid>
              <a:tr h="395325">
                <a:tc>
                  <a:txBody>
                    <a:bodyPr/>
                    <a:lstStyle/>
                    <a:p>
                      <a:r>
                        <a:rPr lang="en-IN" b="1" dirty="0"/>
                        <a:t>Content-Type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Usage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What it Sends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Typical Use Case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857201"/>
                  </a:ext>
                </a:extLst>
              </a:tr>
              <a:tr h="988312">
                <a:tc>
                  <a:txBody>
                    <a:bodyPr/>
                    <a:lstStyle/>
                    <a:p>
                      <a:r>
                        <a:rPr lang="en-IN" dirty="0"/>
                        <a:t>application/x-www-form-</a:t>
                      </a:r>
                      <a:r>
                        <a:rPr lang="en-IN" dirty="0" err="1"/>
                        <a:t>urlencoded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Default form submission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URL-encoded key-value pairs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Simple form submissions (login, search)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301025"/>
                  </a:ext>
                </a:extLst>
              </a:tr>
              <a:tr h="988312">
                <a:tc>
                  <a:txBody>
                    <a:bodyPr/>
                    <a:lstStyle/>
                    <a:p>
                      <a:r>
                        <a:rPr lang="en-IN" dirty="0"/>
                        <a:t>multipart/form-data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Form submission with file uploads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Multiple parts (text and files)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Uploading files (images, documents)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0341822"/>
                  </a:ext>
                </a:extLst>
              </a:tr>
              <a:tr h="988312">
                <a:tc>
                  <a:txBody>
                    <a:bodyPr/>
                    <a:lstStyle/>
                    <a:p>
                      <a:r>
                        <a:rPr lang="en-IN" dirty="0"/>
                        <a:t>application/</a:t>
                      </a:r>
                      <a:r>
                        <a:rPr lang="en-IN" dirty="0" err="1"/>
                        <a:t>json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API calls, modern web apps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JSON (objects, arrays)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REST API communication, complex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852934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F6AD3C56-DAC3-C271-DCC2-DD5DE2416D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685800"/>
            <a:ext cx="7010400" cy="338554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Differences in Form Data Handling</a:t>
            </a:r>
          </a:p>
        </p:txBody>
      </p:sp>
    </p:spTree>
    <p:extLst>
      <p:ext uri="{BB962C8B-B14F-4D97-AF65-F5344CB8AC3E}">
        <p14:creationId xmlns:p14="http://schemas.microsoft.com/office/powerpoint/2010/main" val="23181453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535C5-DDE0-484C-A938-58D48CF82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Using a Callback Function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35D6F-D23F-4246-9B6E-8CCFC00C4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 callback function is a function passed as a parameter to another function.</a:t>
            </a:r>
          </a:p>
          <a:p>
            <a:endParaRPr lang="en-US" dirty="0"/>
          </a:p>
          <a:p>
            <a:r>
              <a:rPr lang="en-US" dirty="0"/>
              <a:t>If you have more than one AJAX task in a website, you should create one function for executing the </a:t>
            </a:r>
            <a:r>
              <a:rPr lang="en-US" dirty="0" err="1"/>
              <a:t>XMLHttpRequest</a:t>
            </a:r>
            <a:r>
              <a:rPr lang="en-US" dirty="0"/>
              <a:t> object, and one callback function for each AJAX task.</a:t>
            </a:r>
          </a:p>
          <a:p>
            <a:endParaRPr lang="en-US" dirty="0"/>
          </a:p>
          <a:p>
            <a:r>
              <a:rPr lang="en-US" dirty="0"/>
              <a:t>The function call should contain the URL and what function to call when the response is ready.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07105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9C43B-56CB-43E7-8173-BCF05DFA3F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24520"/>
            <a:ext cx="8839201" cy="5745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&lt;!DOCTYPE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&lt;html&gt;&lt;body&gt;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"demo"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&gt;&lt;/div&gt;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"dd"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&gt;&lt;/div&gt;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&lt;h1&gt;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demo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&lt;/h1&gt;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loadDoc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'ajax_info.txt'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myFunction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)"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 ajax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loadDoc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read_data.txt'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go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)"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read_data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loadDoc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cFunction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xhttp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xhttp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XMLHttpRequest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xhttp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onreadystatechange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readyState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I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I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buNone/>
            </a:pP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cFunction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xhttp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"GET"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xhttp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send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4527CE-DC54-4093-901F-D87055E642F3}"/>
              </a:ext>
            </a:extLst>
          </p:cNvPr>
          <p:cNvSpPr txBox="1"/>
          <p:nvPr/>
        </p:nvSpPr>
        <p:spPr>
          <a:xfrm>
            <a:off x="4038600" y="3962400"/>
            <a:ext cx="50292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myFunction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xhttp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"demo"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</a:p>
          <a:p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xhttp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responseText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go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xhttp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"dd"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</a:p>
          <a:p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xhttp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responseText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&lt;/script&gt;&lt;/body&gt;&lt;/html&gt;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4733026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Differenece</a:t>
            </a:r>
            <a:r>
              <a:rPr lang="en-US" dirty="0"/>
              <a:t> between AJAX fetch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https://stackoverflow.com/questions/38332701/fetch-vs-ajaxcall</a:t>
            </a:r>
          </a:p>
        </p:txBody>
      </p:sp>
    </p:spTree>
    <p:extLst>
      <p:ext uri="{BB962C8B-B14F-4D97-AF65-F5344CB8AC3E}">
        <p14:creationId xmlns:p14="http://schemas.microsoft.com/office/powerpoint/2010/main" val="2594432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1019</TotalTime>
  <Words>2973</Words>
  <Application>Microsoft Office PowerPoint</Application>
  <PresentationFormat>On-screen Show (4:3)</PresentationFormat>
  <Paragraphs>383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Arial Unicode MS</vt:lpstr>
      <vt:lpstr>Calibri</vt:lpstr>
      <vt:lpstr>Consolas</vt:lpstr>
      <vt:lpstr>Office Theme</vt:lpstr>
      <vt:lpstr>PowerPoint Presentation</vt:lpstr>
      <vt:lpstr>AJAX stands for Asynchronous JavaScript And XML. </vt:lpstr>
      <vt:lpstr>Not a new programming language</vt:lpstr>
      <vt:lpstr>PowerPoint Presentation</vt:lpstr>
      <vt:lpstr> AJAX Uses HTTP Requests </vt:lpstr>
      <vt:lpstr>PowerPoint Presentation</vt:lpstr>
      <vt:lpstr>PowerPoint Presentation</vt:lpstr>
      <vt:lpstr>PowerPoint Presentation</vt:lpstr>
      <vt:lpstr>responseText</vt:lpstr>
      <vt:lpstr>Open/send</vt:lpstr>
      <vt:lpstr>PowerPoint Presentation</vt:lpstr>
      <vt:lpstr>PowerPoint Presentation</vt:lpstr>
      <vt:lpstr>PowerPoint Presentation</vt:lpstr>
      <vt:lpstr>PowerPoint Presentation</vt:lpstr>
      <vt:lpstr>Basic example</vt:lpstr>
      <vt:lpstr>Demo 1 readjson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Using a Callback Function</vt:lpstr>
      <vt:lpstr>PowerPoint Presentation</vt:lpstr>
      <vt:lpstr>Differenece between AJAX fetch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ketki</dc:creator>
  <cp:lastModifiedBy>sriram mantri vidyanidhi infotech academy</cp:lastModifiedBy>
  <cp:revision>49</cp:revision>
  <dcterms:created xsi:type="dcterms:W3CDTF">2012-03-01T00:53:04Z</dcterms:created>
  <dcterms:modified xsi:type="dcterms:W3CDTF">2025-05-03T18:00:29Z</dcterms:modified>
</cp:coreProperties>
</file>