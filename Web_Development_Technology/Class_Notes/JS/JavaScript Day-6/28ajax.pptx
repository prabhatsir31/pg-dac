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59" r:id="rId6"/>
    <p:sldId id="272" r:id="rId7"/>
    <p:sldId id="260" r:id="rId8"/>
    <p:sldId id="261" r:id="rId9"/>
    <p:sldId id="262" r:id="rId10"/>
    <p:sldId id="263" r:id="rId11"/>
    <p:sldId id="264" r:id="rId12"/>
    <p:sldId id="265" r:id="rId13"/>
    <p:sldId id="271" r:id="rId14"/>
    <p:sldId id="273" r:id="rId15"/>
    <p:sldId id="276" r:id="rId16"/>
    <p:sldId id="274" r:id="rId17"/>
    <p:sldId id="275" r:id="rId18"/>
    <p:sldId id="277" r:id="rId19"/>
    <p:sldId id="278" r:id="rId20"/>
    <p:sldId id="279" r:id="rId21"/>
    <p:sldId id="280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45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DD3D7-E568-4BBE-BB82-49499F6751F5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EDD3D7-E568-4BBE-BB82-49499F6751F5}" type="datetimeFigureOut">
              <a:rPr lang="en-US" smtClean="0"/>
              <a:pPr/>
              <a:t>3/28/2024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B890EC-AD87-4008-9DD0-FAD338C9862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04800"/>
            <a:ext cx="8458200" cy="63246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8DE8A8E-ED85-4B70-916D-ED56E0E40BBC}"/>
              </a:ext>
            </a:extLst>
          </p:cNvPr>
          <p:cNvSpPr txBox="1"/>
          <p:nvPr/>
        </p:nvSpPr>
        <p:spPr>
          <a:xfrm>
            <a:off x="762000" y="4724400"/>
            <a:ext cx="4419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Ketki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Acharya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From: SM VITA ATC of CDAC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9769201036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AJAX stands for Asynchronous JavaScript And XML.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a new programming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AJAX is not a new programming language, but a technique for creating better, faster, and more interactive web applications.</a:t>
            </a:r>
          </a:p>
          <a:p>
            <a:r>
              <a:rPr lang="en-US" dirty="0"/>
              <a:t>With AJAX, your JavaScript can communicate directly with the server, using the JavaScript </a:t>
            </a:r>
            <a:r>
              <a:rPr lang="en-US" b="1" dirty="0" err="1"/>
              <a:t>XMLHttpRequest</a:t>
            </a:r>
            <a:r>
              <a:rPr lang="en-US" dirty="0"/>
              <a:t> object. With this object, your JavaScript can trade data with a web server, without reloading the page.</a:t>
            </a:r>
          </a:p>
          <a:p>
            <a:r>
              <a:rPr lang="en-US" dirty="0"/>
              <a:t>AJAX uses asynchronous data transfer (HTTP requests) between the browser and the web server, allowing web pages to request small bits of information from the server instead of whole pages.</a:t>
            </a:r>
          </a:p>
          <a:p>
            <a:r>
              <a:rPr lang="en-US" dirty="0"/>
              <a:t>The AJAX technique makes Internet applications smaller, faster and more user-friendly.</a:t>
            </a:r>
          </a:p>
          <a:p>
            <a:r>
              <a:rPr lang="en-US" dirty="0"/>
              <a:t>  AJAX is a browser technology independent of web server software.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AJAX is based on the following web standards:</a:t>
            </a:r>
          </a:p>
          <a:p>
            <a:pPr lvl="0"/>
            <a:r>
              <a:rPr lang="en-US" b="1" dirty="0"/>
              <a:t>JavaScript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XML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HTML</a:t>
            </a:r>
            <a:r>
              <a:rPr lang="en-US" dirty="0"/>
              <a:t> </a:t>
            </a:r>
          </a:p>
          <a:p>
            <a:pPr lvl="0"/>
            <a:r>
              <a:rPr lang="en-US" b="1" dirty="0"/>
              <a:t>CSS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AJAX Uses HTTP Requests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In traditional JavaScript coding, if you want to get any information from a database or a file on the server, or send user information to a server, you will have to make an HTML form and GET or POST data to the server. The user will have to click the "Submit" button to send/get the information, wait for the server to respond, then a new page will load with the results.</a:t>
            </a:r>
          </a:p>
          <a:p>
            <a:r>
              <a:rPr lang="en-US" dirty="0"/>
              <a:t>Because the server returns a new page each time the user submits input, traditional web applications can run slowly and tend to be less user-friendly.</a:t>
            </a:r>
          </a:p>
          <a:p>
            <a:r>
              <a:rPr lang="en-US" dirty="0"/>
              <a:t>With AJAX, your JavaScript communicates directly with the server, through the JavaScript </a:t>
            </a:r>
            <a:r>
              <a:rPr lang="en-US" b="1" dirty="0" err="1"/>
              <a:t>XMLHttpRequest</a:t>
            </a:r>
            <a:r>
              <a:rPr lang="en-US" dirty="0"/>
              <a:t> object</a:t>
            </a:r>
          </a:p>
          <a:p>
            <a:r>
              <a:rPr lang="en-US" dirty="0"/>
              <a:t>With an HTTP request, a web page can make a request to, and get a response from a web server - without reloading the page. The user will stay on the same page, and he or she will not notice that scripts request pages, or send data to a server in the background.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6A36C07-62E2-4EB8-8F0A-FD7A1FD8B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2401"/>
            <a:ext cx="8229600" cy="1600200"/>
          </a:xfrm>
        </p:spPr>
        <p:txBody>
          <a:bodyPr>
            <a:normAutofit/>
          </a:bodyPr>
          <a:lstStyle/>
          <a:p>
            <a:r>
              <a:rPr lang="en-US" sz="2000" dirty="0"/>
              <a:t>AJAX allows web pages to be updated asynchronously by exchanging data with a web server behind the scenes. This means that it is possible to update parts of a web page, without reloading the whole page.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F4AD7DF-12EC-4880-9F85-C72081736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04950"/>
            <a:ext cx="5419725" cy="3086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842E733-231F-496C-B9BB-D04EF760EAB3}"/>
              </a:ext>
            </a:extLst>
          </p:cNvPr>
          <p:cNvSpPr txBox="1"/>
          <p:nvPr/>
        </p:nvSpPr>
        <p:spPr>
          <a:xfrm>
            <a:off x="266700" y="4521610"/>
            <a:ext cx="8610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   1. An event occurs in a web page (the page is loaded, a button is clicked)</a:t>
            </a:r>
          </a:p>
          <a:p>
            <a:r>
              <a:rPr lang="en-US" dirty="0"/>
              <a:t>    2. An </a:t>
            </a:r>
            <a:r>
              <a:rPr lang="en-US" dirty="0" err="1"/>
              <a:t>XMLHttpRequest</a:t>
            </a:r>
            <a:r>
              <a:rPr lang="en-US" dirty="0"/>
              <a:t> object is created by JavaScript</a:t>
            </a:r>
          </a:p>
          <a:p>
            <a:r>
              <a:rPr lang="en-US" dirty="0"/>
              <a:t>    3. The </a:t>
            </a:r>
            <a:r>
              <a:rPr lang="en-US" dirty="0" err="1"/>
              <a:t>XMLHttpRequest</a:t>
            </a:r>
            <a:r>
              <a:rPr lang="en-US" dirty="0"/>
              <a:t> object sends a request to a web server</a:t>
            </a:r>
          </a:p>
          <a:p>
            <a:r>
              <a:rPr lang="en-US" dirty="0"/>
              <a:t>    4. The server processes the request</a:t>
            </a:r>
          </a:p>
          <a:p>
            <a:r>
              <a:rPr lang="en-US" dirty="0"/>
              <a:t>    5. The server sends a response back to the web page</a:t>
            </a:r>
          </a:p>
          <a:p>
            <a:r>
              <a:rPr lang="en-US" dirty="0"/>
              <a:t>    6. The response is read by JavaScript</a:t>
            </a:r>
          </a:p>
          <a:p>
            <a:r>
              <a:rPr lang="en-US" dirty="0"/>
              <a:t>    7. Proper action (like page update) is performed by JavaScript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44A580E9-E2E9-43B3-8D39-2D496972EFB7}"/>
              </a:ext>
            </a:extLst>
          </p:cNvPr>
          <p:cNvSpPr/>
          <p:nvPr/>
        </p:nvSpPr>
        <p:spPr>
          <a:xfrm>
            <a:off x="2209800" y="1447800"/>
            <a:ext cx="2209800" cy="3048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Sending part of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D7923AB-D662-4FBC-ABF8-5EFD7345D261}"/>
              </a:ext>
            </a:extLst>
          </p:cNvPr>
          <p:cNvSpPr/>
          <p:nvPr/>
        </p:nvSpPr>
        <p:spPr>
          <a:xfrm>
            <a:off x="2057401" y="3235427"/>
            <a:ext cx="3962400" cy="30480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Receiving data not page.[JSON or XML]</a:t>
            </a:r>
          </a:p>
        </p:txBody>
      </p:sp>
    </p:spTree>
    <p:extLst>
      <p:ext uri="{BB962C8B-B14F-4D97-AF65-F5344CB8AC3E}">
        <p14:creationId xmlns:p14="http://schemas.microsoft.com/office/powerpoint/2010/main" val="118274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keystone of AJAX is the </a:t>
            </a:r>
            <a:r>
              <a:rPr lang="en-US" dirty="0" err="1"/>
              <a:t>XMLHttpRequest</a:t>
            </a:r>
            <a:r>
              <a:rPr lang="en-US" dirty="0"/>
              <a:t> object.</a:t>
            </a:r>
          </a:p>
          <a:p>
            <a:r>
              <a:rPr lang="en-US" dirty="0"/>
              <a:t>Different browsers use different methods to create the </a:t>
            </a:r>
            <a:r>
              <a:rPr lang="en-US" dirty="0" err="1"/>
              <a:t>XMLHttpRequest</a:t>
            </a:r>
            <a:r>
              <a:rPr lang="en-US" dirty="0"/>
              <a:t> object.</a:t>
            </a:r>
          </a:p>
          <a:p>
            <a:r>
              <a:rPr lang="en-US" dirty="0"/>
              <a:t>Internet Explorer uses an </a:t>
            </a:r>
            <a:r>
              <a:rPr lang="en-US" b="1" dirty="0" err="1"/>
              <a:t>ActiveXObject</a:t>
            </a:r>
            <a:r>
              <a:rPr lang="en-US" dirty="0"/>
              <a:t>, while other browsers uses the built-in JavaScript object called </a:t>
            </a:r>
            <a:r>
              <a:rPr lang="en-US" b="1" dirty="0" err="1"/>
              <a:t>XMLHttpRequest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The </a:t>
            </a:r>
            <a:r>
              <a:rPr lang="en-US" b="1" dirty="0" err="1"/>
              <a:t>onreadystatechange</a:t>
            </a:r>
            <a:r>
              <a:rPr lang="en-US" b="1" dirty="0"/>
              <a:t>  is event</a:t>
            </a:r>
          </a:p>
          <a:p>
            <a:r>
              <a:rPr lang="en-US" b="1" dirty="0"/>
              <a:t>The </a:t>
            </a:r>
            <a:r>
              <a:rPr lang="en-US" b="1" dirty="0" err="1"/>
              <a:t>readyState</a:t>
            </a:r>
            <a:r>
              <a:rPr lang="en-US" b="1" dirty="0"/>
              <a:t> Property</a:t>
            </a:r>
          </a:p>
          <a:p>
            <a:r>
              <a:rPr lang="en-US" dirty="0"/>
              <a:t>The </a:t>
            </a:r>
            <a:r>
              <a:rPr lang="en-US" dirty="0" err="1"/>
              <a:t>readyState</a:t>
            </a:r>
            <a:r>
              <a:rPr lang="en-US" dirty="0"/>
              <a:t> </a:t>
            </a:r>
            <a:r>
              <a:rPr lang="en-US" b="1" dirty="0"/>
              <a:t>property holds the status of the server's response</a:t>
            </a:r>
            <a:r>
              <a:rPr lang="en-US" dirty="0"/>
              <a:t>. Each time the </a:t>
            </a:r>
            <a:r>
              <a:rPr lang="en-US" dirty="0" err="1"/>
              <a:t>readyState</a:t>
            </a:r>
            <a:r>
              <a:rPr lang="en-US" dirty="0"/>
              <a:t> changes, the </a:t>
            </a:r>
            <a:r>
              <a:rPr lang="en-US" dirty="0" err="1"/>
              <a:t>onreadystatechange</a:t>
            </a:r>
            <a:r>
              <a:rPr lang="en-US" dirty="0"/>
              <a:t> function will be executed.</a:t>
            </a:r>
          </a:p>
          <a:p>
            <a:r>
              <a:rPr lang="en-US" dirty="0"/>
              <a:t>Here are the possible values for the </a:t>
            </a:r>
            <a:r>
              <a:rPr lang="en-US" dirty="0" err="1"/>
              <a:t>readyState</a:t>
            </a:r>
            <a:r>
              <a:rPr lang="en-US" dirty="0"/>
              <a:t> property:</a:t>
            </a:r>
          </a:p>
          <a:p>
            <a:r>
              <a:rPr lang="en-US" b="1" dirty="0"/>
              <a:t>State</a:t>
            </a:r>
            <a:endParaRPr lang="en-US" dirty="0"/>
          </a:p>
          <a:p>
            <a:r>
              <a:rPr lang="en-US" b="1" dirty="0"/>
              <a:t>Description</a:t>
            </a:r>
            <a:endParaRPr lang="en-US" dirty="0"/>
          </a:p>
          <a:p>
            <a:r>
              <a:rPr lang="en-US" dirty="0"/>
              <a:t>0 (uninitialized)</a:t>
            </a:r>
          </a:p>
          <a:p>
            <a:r>
              <a:rPr lang="en-US" dirty="0"/>
              <a:t>The request is not initialized</a:t>
            </a:r>
          </a:p>
          <a:p>
            <a:r>
              <a:rPr lang="en-US" dirty="0"/>
              <a:t>1(loading)</a:t>
            </a:r>
          </a:p>
          <a:p>
            <a:r>
              <a:rPr lang="en-US" dirty="0"/>
              <a:t>The request has been set up</a:t>
            </a:r>
          </a:p>
          <a:p>
            <a:r>
              <a:rPr lang="en-US" dirty="0"/>
              <a:t>2(loaded)</a:t>
            </a:r>
          </a:p>
          <a:p>
            <a:r>
              <a:rPr lang="en-US" dirty="0"/>
              <a:t>The request has been sent</a:t>
            </a:r>
          </a:p>
          <a:p>
            <a:r>
              <a:rPr lang="en-US" dirty="0"/>
              <a:t>3(interactive)</a:t>
            </a:r>
          </a:p>
          <a:p>
            <a:r>
              <a:rPr lang="en-US" dirty="0"/>
              <a:t>The request is in process</a:t>
            </a:r>
          </a:p>
          <a:p>
            <a:r>
              <a:rPr lang="en-US" dirty="0"/>
              <a:t>4(complete)</a:t>
            </a:r>
          </a:p>
          <a:p>
            <a:r>
              <a:rPr lang="en-US" dirty="0"/>
              <a:t>The request is complete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98272BD-765B-4387-9832-43986E4329F5}"/>
              </a:ext>
            </a:extLst>
          </p:cNvPr>
          <p:cNvSpPr txBox="1"/>
          <p:nvPr/>
        </p:nvSpPr>
        <p:spPr>
          <a:xfrm>
            <a:off x="685800" y="439449"/>
            <a:ext cx="838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onreadystatechange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is event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responseText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</a:t>
            </a:r>
            <a:r>
              <a:rPr lang="en-US" b="1" dirty="0" err="1"/>
              <a:t>responseText</a:t>
            </a:r>
            <a:r>
              <a:rPr lang="en-US" b="1" dirty="0"/>
              <a:t> Property</a:t>
            </a:r>
          </a:p>
          <a:p>
            <a:r>
              <a:rPr lang="en-US" dirty="0"/>
              <a:t>The data sent back from the server can be retrieved with the </a:t>
            </a:r>
            <a:r>
              <a:rPr lang="en-US" dirty="0" err="1"/>
              <a:t>responseText</a:t>
            </a:r>
            <a:r>
              <a:rPr lang="en-US" dirty="0"/>
              <a:t> property.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Open/send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To send off a request to the server, we use the open() method and the send() method.</a:t>
            </a:r>
          </a:p>
          <a:p>
            <a:r>
              <a:rPr lang="en-US" dirty="0"/>
              <a:t>The open() method takes three arguments. The first argument defines which method to use when sending the request (GET or POST). The second argument specifies the URL of the server-side script. </a:t>
            </a:r>
            <a:r>
              <a:rPr lang="en-US" b="1" dirty="0"/>
              <a:t>The third argument specifies that the request should be handled asynchronously</a:t>
            </a:r>
            <a:r>
              <a:rPr lang="en-US" dirty="0"/>
              <a:t>.(default is true)</a:t>
            </a:r>
          </a:p>
          <a:p>
            <a:r>
              <a:rPr lang="en-US" dirty="0"/>
              <a:t> The send() method sends the request off to the server. 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xmlHTTPRequestobj.open</a:t>
            </a:r>
            <a:r>
              <a:rPr lang="en-US" dirty="0"/>
              <a:t>()</a:t>
            </a:r>
          </a:p>
          <a:p>
            <a:pPr>
              <a:buNone/>
            </a:pPr>
            <a:r>
              <a:rPr lang="en-US" dirty="0"/>
              <a:t>This method  simply keep the </a:t>
            </a:r>
            <a:r>
              <a:rPr lang="en-US" dirty="0" err="1"/>
              <a:t>configaration</a:t>
            </a:r>
            <a:r>
              <a:rPr lang="en-US" dirty="0"/>
              <a:t> ready to communicate to server(it does not connect the object to the server)</a:t>
            </a:r>
          </a:p>
          <a:p>
            <a:r>
              <a:rPr lang="en-US" dirty="0" err="1"/>
              <a:t>xmlHTTPRequestobj.send</a:t>
            </a:r>
            <a:r>
              <a:rPr lang="en-US" dirty="0"/>
              <a:t>()</a:t>
            </a:r>
          </a:p>
          <a:p>
            <a:pPr>
              <a:buNone/>
            </a:pPr>
            <a:r>
              <a:rPr lang="en-US" dirty="0"/>
              <a:t>This method connect to server and start download the data</a:t>
            </a:r>
          </a:p>
          <a:p>
            <a:pPr>
              <a:buNone/>
            </a:pPr>
            <a:r>
              <a:rPr lang="en-US" dirty="0" err="1"/>
              <a:t>xmlHTTPRequestobj.onreadystatechange</a:t>
            </a:r>
            <a:r>
              <a:rPr lang="en-US" dirty="0"/>
              <a:t> property is </a:t>
            </a:r>
            <a:r>
              <a:rPr lang="en-US" dirty="0" err="1"/>
              <a:t>basicaly</a:t>
            </a:r>
            <a:r>
              <a:rPr lang="en-US" dirty="0"/>
              <a:t> event which fired when server start downloading the data.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xmlHTTPRequestobj.send</a:t>
            </a:r>
            <a:r>
              <a:rPr lang="en-US" dirty="0"/>
              <a:t>();</a:t>
            </a:r>
          </a:p>
          <a:p>
            <a:r>
              <a:rPr lang="en-US" dirty="0"/>
              <a:t>This method take two argument key(</a:t>
            </a:r>
            <a:r>
              <a:rPr lang="en-US" dirty="0" err="1"/>
              <a:t>ie.string</a:t>
            </a:r>
            <a:r>
              <a:rPr lang="en-US" dirty="0"/>
              <a:t>)</a:t>
            </a:r>
          </a:p>
          <a:p>
            <a:pPr>
              <a:buNone/>
            </a:pPr>
            <a:r>
              <a:rPr lang="en-US" dirty="0"/>
              <a:t>And value which you want to send to server through post method.</a:t>
            </a:r>
          </a:p>
          <a:p>
            <a:pPr>
              <a:buNone/>
            </a:pPr>
            <a:r>
              <a:rPr lang="en-US" dirty="0"/>
              <a:t>When you send data to server through post you have to add one more method</a:t>
            </a:r>
          </a:p>
          <a:p>
            <a:pPr>
              <a:buNone/>
            </a:pPr>
            <a:r>
              <a:rPr lang="en-US" dirty="0" err="1"/>
              <a:t>xmlHTTPRequestobj.setRequestHeader</a:t>
            </a:r>
            <a:r>
              <a:rPr lang="en-US" dirty="0"/>
              <a:t>(‘Content-Type’, ‘application/x-www-form-</a:t>
            </a:r>
            <a:r>
              <a:rPr lang="en-US" dirty="0" err="1"/>
              <a:t>urlencoded</a:t>
            </a:r>
            <a:r>
              <a:rPr lang="en-US"/>
              <a:t>’)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516F479E-510B-4308-89EB-59CD68F4BFC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548481"/>
          <a:ext cx="8229600" cy="548640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xmlns="" val="1666083972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xmlns="" val="36834981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87721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new XMLHttpRequest()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Creates a new XMLHttpRequest object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118099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abort()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Cancels the current request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163137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getAllResponseHeaders()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Returns header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893639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getResponseHeader()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Returns specific header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012253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open(</a:t>
                      </a:r>
                      <a:r>
                        <a:rPr lang="en-IN" i="1"/>
                        <a:t>method, url, async, user, psw</a:t>
                      </a:r>
                      <a:r>
                        <a:rPr lang="en-IN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Specifies the request</a:t>
                      </a:r>
                      <a:br>
                        <a:rPr lang="en-US" dirty="0"/>
                      </a:br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r>
                        <a:rPr lang="en-US" i="1" dirty="0"/>
                        <a:t>method</a:t>
                      </a:r>
                      <a:r>
                        <a:rPr lang="en-US" dirty="0"/>
                        <a:t>: the request type GET or POST</a:t>
                      </a:r>
                      <a:br>
                        <a:rPr lang="en-US" dirty="0"/>
                      </a:br>
                      <a:r>
                        <a:rPr lang="en-US" i="1" dirty="0"/>
                        <a:t>url</a:t>
                      </a:r>
                      <a:r>
                        <a:rPr lang="en-US" dirty="0"/>
                        <a:t>: the file location</a:t>
                      </a:r>
                      <a:br>
                        <a:rPr lang="en-US" dirty="0"/>
                      </a:br>
                      <a:r>
                        <a:rPr lang="en-US" i="1" dirty="0"/>
                        <a:t>async</a:t>
                      </a:r>
                      <a:r>
                        <a:rPr lang="en-US" dirty="0"/>
                        <a:t>: true (asynchronous) or false (synchronous)</a:t>
                      </a:r>
                      <a:br>
                        <a:rPr lang="en-US" dirty="0"/>
                      </a:br>
                      <a:r>
                        <a:rPr lang="en-US" i="1" dirty="0"/>
                        <a:t>user</a:t>
                      </a:r>
                      <a:r>
                        <a:rPr lang="en-US" dirty="0"/>
                        <a:t>: optional user name</a:t>
                      </a:r>
                      <a:br>
                        <a:rPr lang="en-US" dirty="0"/>
                      </a:br>
                      <a:r>
                        <a:rPr lang="en-US" i="1" dirty="0" err="1"/>
                        <a:t>psw</a:t>
                      </a:r>
                      <a:r>
                        <a:rPr lang="en-US" dirty="0"/>
                        <a:t>: optional password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187748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send()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Sends the request to the server</a:t>
                      </a:r>
                      <a:br>
                        <a:rPr lang="en-US"/>
                      </a:br>
                      <a:r>
                        <a:rPr lang="en-US"/>
                        <a:t>Used for GET requests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50920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send(</a:t>
                      </a:r>
                      <a:r>
                        <a:rPr lang="en-IN" i="1"/>
                        <a:t>string</a:t>
                      </a:r>
                      <a:r>
                        <a:rPr lang="en-IN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Sends the request to the server.</a:t>
                      </a:r>
                      <a:br>
                        <a:rPr lang="en-US"/>
                      </a:br>
                      <a:r>
                        <a:rPr lang="en-US"/>
                        <a:t>Used for POST requests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78397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setRequestHeader()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Adds a label/value pair to the header to be 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88189870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12771408-C1F7-4D91-8AC3-710795F57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4214" y="-63785"/>
            <a:ext cx="301557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XMLHttpRequest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Object Methods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721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7829A28D-674E-4B01-A7EB-0B312DF6E0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9102198"/>
              </p:ext>
            </p:extLst>
          </p:nvPr>
        </p:nvGraphicFramePr>
        <p:xfrm>
          <a:off x="457200" y="563721"/>
          <a:ext cx="8229600" cy="530352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xmlns="" val="43674192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xmlns="" val="637250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Property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effectLst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234077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onreadystatechange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Defines a function to be called when the readyState property changes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889362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readyState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Holds the status of the XMLHttpRequest.</a:t>
                      </a:r>
                      <a:br>
                        <a:rPr lang="en-US"/>
                      </a:br>
                      <a:r>
                        <a:rPr lang="en-US"/>
                        <a:t>0: request not initialized </a:t>
                      </a:r>
                      <a:br>
                        <a:rPr lang="en-US"/>
                      </a:br>
                      <a:r>
                        <a:rPr lang="en-US"/>
                        <a:t>1: server connection established</a:t>
                      </a:r>
                      <a:br>
                        <a:rPr lang="en-US"/>
                      </a:br>
                      <a:r>
                        <a:rPr lang="en-US"/>
                        <a:t>2: request received </a:t>
                      </a:r>
                      <a:br>
                        <a:rPr lang="en-US"/>
                      </a:br>
                      <a:r>
                        <a:rPr lang="en-US"/>
                        <a:t>3: processing request </a:t>
                      </a:r>
                      <a:br>
                        <a:rPr lang="en-US"/>
                      </a:br>
                      <a:r>
                        <a:rPr lang="en-US"/>
                        <a:t>4: request finished and response is ready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282876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responseText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Returns the response data as a 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5728288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responseXML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Returns the response data as XML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171230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status-number of a request</a:t>
                      </a:r>
                      <a:br>
                        <a:rPr lang="en-US" dirty="0"/>
                      </a:br>
                      <a:r>
                        <a:rPr lang="en-US" dirty="0"/>
                        <a:t>200: "OK"</a:t>
                      </a:r>
                      <a:br>
                        <a:rPr lang="en-US" dirty="0"/>
                      </a:br>
                      <a:r>
                        <a:rPr lang="en-US" dirty="0"/>
                        <a:t>403: "Forbidden"</a:t>
                      </a:r>
                      <a:br>
                        <a:rPr lang="en-US" dirty="0"/>
                      </a:br>
                      <a:r>
                        <a:rPr lang="en-US" dirty="0"/>
                        <a:t>404: "Not Found"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796632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statusText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Returns the status-text (e.g. "OK" or "Not Found")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4561370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9A878CF4-0719-4ABE-9649-F164D8748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1302" y="90103"/>
            <a:ext cx="274947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XMLHttpRequest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Object Properties</a:t>
            </a:r>
          </a:p>
        </p:txBody>
      </p:sp>
    </p:spTree>
    <p:extLst>
      <p:ext uri="{BB962C8B-B14F-4D97-AF65-F5344CB8AC3E}">
        <p14:creationId xmlns:p14="http://schemas.microsoft.com/office/powerpoint/2010/main" val="2691296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40598B-2F24-4518-A736-405C2752B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0" y="0"/>
            <a:ext cx="3276600" cy="457199"/>
          </a:xfrm>
        </p:spPr>
        <p:txBody>
          <a:bodyPr>
            <a:noAutofit/>
          </a:bodyPr>
          <a:lstStyle/>
          <a:p>
            <a:r>
              <a:rPr lang="en-IN" sz="1400" dirty="0"/>
              <a:t>Basic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23AF1E-DD3A-4E52-ADBA-941961D4D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0"/>
            <a:ext cx="6400800" cy="685800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&lt;!DOCTYPE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html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&gt;&lt;html&gt;&lt;body&gt;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&lt;h2&gt;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The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XMLHttpRequest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Object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&lt;/h2&gt;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&lt;h3&gt;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 console type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location.protocol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and if you run through server it will print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"http:" else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br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File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&lt;/h3&gt;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&lt;button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"button"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loadDoc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Request data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&lt;/button&gt;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&lt;p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"demo"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&gt;&lt;/p&gt;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&lt;script&gt;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loadDoc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 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var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xhttp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new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67F99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XMLHttpRequest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xhttp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onreadystatechange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 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F00DB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(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readyState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==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4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&amp;&amp;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status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==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200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 {   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  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document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getElementById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"demo"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innerHTML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=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this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70C1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responseText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  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};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xhttp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open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"GET"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ejson.json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 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true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 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108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xhttp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.</a:t>
            </a:r>
            <a:r>
              <a:rPr kumimoji="0" lang="en-I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795E26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send</a:t>
            </a: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&lt;/script&gt;&lt;/body&gt;&lt;/html&gt;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/>
            </a:r>
            <a:b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1487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66FBCD-18D7-41A4-A086-108C0C0E0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0" y="0"/>
            <a:ext cx="2971800" cy="427037"/>
          </a:xfrm>
        </p:spPr>
        <p:txBody>
          <a:bodyPr>
            <a:noAutofit/>
          </a:bodyPr>
          <a:lstStyle/>
          <a:p>
            <a:r>
              <a:rPr lang="en-IN" sz="2400" dirty="0"/>
              <a:t>Demo 1 </a:t>
            </a:r>
            <a:r>
              <a:rPr lang="en-IN" sz="2400" dirty="0" err="1"/>
              <a:t>readjson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9E31603-18BD-4BFE-B89F-3BE660219E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0"/>
            <a:ext cx="4572000" cy="7010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&gt;&lt;html&gt;&lt;body&gt;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XMLHttpRequest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Object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&lt;h3&gt;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 console type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location.protocol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and if you run through server it will print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"http:" else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&lt;/h3&gt;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 data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XMLHttpRequest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onreadystatechange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readyState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&amp;&amp; 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  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responseText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code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of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{		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  {	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]+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/&gt;"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"&lt;hr/&gt;"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fd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"GET"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ejson.json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&lt;/script&gt;&lt;/body&gt;&lt;/html&gt;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B8CC500E-6419-4EC6-BCC1-C4C70E6C935D}"/>
              </a:ext>
            </a:extLst>
          </p:cNvPr>
          <p:cNvSpPr txBox="1"/>
          <p:nvPr/>
        </p:nvSpPr>
        <p:spPr>
          <a:xfrm>
            <a:off x="4724400" y="685800"/>
            <a:ext cx="45720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[{		"code": "emp101",</a:t>
            </a:r>
          </a:p>
          <a:p>
            <a:r>
              <a:rPr lang="en-IN" sz="1400" dirty="0"/>
              <a:t>		"name": "Tom",</a:t>
            </a:r>
          </a:p>
          <a:p>
            <a:r>
              <a:rPr lang="en-IN" sz="1400" dirty="0"/>
              <a:t>		"gender": "Male",</a:t>
            </a:r>
          </a:p>
          <a:p>
            <a:r>
              <a:rPr lang="en-IN" sz="1400" dirty="0"/>
              <a:t>		"</a:t>
            </a:r>
            <a:r>
              <a:rPr lang="en-IN" sz="1400" dirty="0" err="1"/>
              <a:t>annualSalary</a:t>
            </a:r>
            <a:r>
              <a:rPr lang="en-IN" sz="1400" dirty="0"/>
              <a:t>": "5500",</a:t>
            </a:r>
          </a:p>
          <a:p>
            <a:r>
              <a:rPr lang="en-IN" sz="1400" dirty="0"/>
              <a:t>		"</a:t>
            </a:r>
            <a:r>
              <a:rPr lang="en-IN" sz="1400" dirty="0" err="1"/>
              <a:t>dateOfBirth</a:t>
            </a:r>
            <a:r>
              <a:rPr lang="en-IN" sz="1400" dirty="0"/>
              <a:t>": "6/25/1988"</a:t>
            </a:r>
          </a:p>
          <a:p>
            <a:r>
              <a:rPr lang="en-IN" sz="1400" dirty="0"/>
              <a:t>	},</a:t>
            </a:r>
          </a:p>
          <a:p>
            <a:r>
              <a:rPr lang="en-IN" sz="1400" dirty="0"/>
              <a:t>	{	"code": "emp102",</a:t>
            </a:r>
          </a:p>
          <a:p>
            <a:r>
              <a:rPr lang="en-IN" sz="1400" dirty="0"/>
              <a:t>		"name": "Alex",</a:t>
            </a:r>
          </a:p>
          <a:p>
            <a:r>
              <a:rPr lang="en-IN" sz="1400" dirty="0"/>
              <a:t>		"gender": "Male",</a:t>
            </a:r>
          </a:p>
          <a:p>
            <a:r>
              <a:rPr lang="en-IN" sz="1400" dirty="0"/>
              <a:t>		"</a:t>
            </a:r>
            <a:r>
              <a:rPr lang="en-IN" sz="1400" dirty="0" err="1"/>
              <a:t>annualSalary</a:t>
            </a:r>
            <a:r>
              <a:rPr lang="en-IN" sz="1400" dirty="0"/>
              <a:t>": "5700.95",</a:t>
            </a:r>
          </a:p>
          <a:p>
            <a:r>
              <a:rPr lang="en-IN" sz="1400" dirty="0"/>
              <a:t>		"</a:t>
            </a:r>
            <a:r>
              <a:rPr lang="en-IN" sz="1400" dirty="0" err="1"/>
              <a:t>dateOfBirth</a:t>
            </a:r>
            <a:r>
              <a:rPr lang="en-IN" sz="1400" dirty="0"/>
              <a:t>": "9/6/1982 "</a:t>
            </a:r>
          </a:p>
          <a:p>
            <a:r>
              <a:rPr lang="en-IN" sz="1400" dirty="0"/>
              <a:t>	},</a:t>
            </a:r>
          </a:p>
          <a:p>
            <a:r>
              <a:rPr lang="en-IN" sz="1400" dirty="0"/>
              <a:t>	{	"code": "emp10",</a:t>
            </a:r>
          </a:p>
          <a:p>
            <a:r>
              <a:rPr lang="en-IN" sz="1400" dirty="0"/>
              <a:t>		"name": "Mike",</a:t>
            </a:r>
          </a:p>
          <a:p>
            <a:r>
              <a:rPr lang="en-IN" sz="1400" dirty="0"/>
              <a:t>		"gender": "Male",</a:t>
            </a:r>
          </a:p>
          <a:p>
            <a:r>
              <a:rPr lang="en-IN" sz="1400" dirty="0"/>
              <a:t>		"</a:t>
            </a:r>
            <a:r>
              <a:rPr lang="en-IN" sz="1400" dirty="0" err="1"/>
              <a:t>annualSalary</a:t>
            </a:r>
            <a:r>
              <a:rPr lang="en-IN" sz="1400" dirty="0"/>
              <a:t>": "5900",</a:t>
            </a:r>
          </a:p>
          <a:p>
            <a:r>
              <a:rPr lang="en-IN" sz="1400" dirty="0"/>
              <a:t>		"</a:t>
            </a:r>
            <a:r>
              <a:rPr lang="en-IN" sz="1400" dirty="0" err="1"/>
              <a:t>dateOfBirth</a:t>
            </a:r>
            <a:r>
              <a:rPr lang="en-IN" sz="1400" dirty="0"/>
              <a:t>": "12/8/1979"</a:t>
            </a:r>
          </a:p>
          <a:p>
            <a:r>
              <a:rPr lang="en-IN" sz="1400" dirty="0"/>
              <a:t>	},</a:t>
            </a:r>
          </a:p>
          <a:p>
            <a:r>
              <a:rPr lang="en-IN" sz="1400" dirty="0"/>
              <a:t>	{	"code": "emp104",</a:t>
            </a:r>
          </a:p>
          <a:p>
            <a:r>
              <a:rPr lang="en-IN" sz="1400" dirty="0"/>
              <a:t>		"name": "Mary",</a:t>
            </a:r>
          </a:p>
          <a:p>
            <a:r>
              <a:rPr lang="en-IN" sz="1400" dirty="0"/>
              <a:t>		"gender": "Female",</a:t>
            </a:r>
          </a:p>
          <a:p>
            <a:r>
              <a:rPr lang="en-IN" sz="1400" dirty="0"/>
              <a:t>		</a:t>
            </a:r>
            <a:r>
              <a:rPr lang="en-IN" sz="1400" dirty="0" err="1"/>
              <a:t>annualSalary</a:t>
            </a:r>
            <a:r>
              <a:rPr lang="en-IN" sz="1400" dirty="0"/>
              <a:t>": "6500.826",</a:t>
            </a:r>
          </a:p>
          <a:p>
            <a:r>
              <a:rPr lang="en-IN" sz="1400" dirty="0"/>
              <a:t>	   	    "</a:t>
            </a:r>
            <a:r>
              <a:rPr lang="en-IN" sz="1400" dirty="0" err="1"/>
              <a:t>dateOfBirth</a:t>
            </a:r>
            <a:r>
              <a:rPr lang="en-IN" sz="1400" dirty="0"/>
              <a:t>": "10/14/1980"</a:t>
            </a:r>
          </a:p>
          <a:p>
            <a:r>
              <a:rPr lang="en-IN" sz="1400" dirty="0"/>
              <a:t>	}</a:t>
            </a:r>
          </a:p>
          <a:p>
            <a:r>
              <a:rPr lang="en-IN" sz="140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209817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5116BBE-8064-4A96-89FA-4014B6D7A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5668963"/>
          </a:xfrm>
        </p:spPr>
        <p:txBody>
          <a:bodyPr/>
          <a:lstStyle/>
          <a:p>
            <a:r>
              <a:rPr lang="en-US" dirty="0"/>
              <a:t>However, always use POST requests when: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cached file is not an option (update a file or database on the server).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Sending a large amount of data to the server (POST has no size limitations).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Sending user input (which can contain unknown characters), POST is more robust and secure than GET.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6438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461C9AE-EAC4-4115-BBDD-2F279CEAE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39" y="63910"/>
            <a:ext cx="5486400" cy="6781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&lt;!</a:t>
            </a:r>
            <a:r>
              <a:rPr lang="en-IN" sz="12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XMLHttpRequest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Object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fnm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&lt;label&gt;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&lt;/label&gt;&lt;input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"ag"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Send Form data 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function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'form'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URLSearchParams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FormData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toString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XMLHttpRequest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onreadystatechange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(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readyState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&amp;&amp; 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==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"Data inserted"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ejson.php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,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setRequestHeader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'Content-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Type'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'application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/x-www-form-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urlencoded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0F765A5C-85C6-46AA-890B-0B5285330360}"/>
              </a:ext>
            </a:extLst>
          </p:cNvPr>
          <p:cNvSpPr txBox="1"/>
          <p:nvPr/>
        </p:nvSpPr>
        <p:spPr>
          <a:xfrm>
            <a:off x="5176684" y="88491"/>
            <a:ext cx="3962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URLSearchParams</a:t>
            </a:r>
            <a:r>
              <a:rPr lang="en-US" dirty="0"/>
              <a:t> interface defines utility methods to work with the query string of a URL.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9E62C49-0A0B-41C4-83A6-140CC74885E4}"/>
              </a:ext>
            </a:extLst>
          </p:cNvPr>
          <p:cNvSpPr txBox="1"/>
          <p:nvPr/>
        </p:nvSpPr>
        <p:spPr>
          <a:xfrm>
            <a:off x="5715000" y="1066443"/>
            <a:ext cx="3276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Try:</a:t>
            </a:r>
          </a:p>
          <a:p>
            <a:r>
              <a:rPr lang="en-IN" dirty="0"/>
              <a:t>var </a:t>
            </a:r>
            <a:r>
              <a:rPr lang="en-IN" dirty="0" err="1"/>
              <a:t>paramsString</a:t>
            </a:r>
            <a:r>
              <a:rPr lang="en-IN" dirty="0"/>
              <a:t> = "q=</a:t>
            </a:r>
            <a:r>
              <a:rPr lang="en-IN" dirty="0" err="1"/>
              <a:t>URLUtils.searchParams&amp;topic</a:t>
            </a:r>
            <a:r>
              <a:rPr lang="en-IN" dirty="0"/>
              <a:t>=</a:t>
            </a:r>
            <a:r>
              <a:rPr lang="en-IN" dirty="0" err="1"/>
              <a:t>api</a:t>
            </a:r>
            <a:r>
              <a:rPr lang="en-IN" dirty="0"/>
              <a:t>";</a:t>
            </a:r>
          </a:p>
          <a:p>
            <a:r>
              <a:rPr lang="en-IN" dirty="0"/>
              <a:t>var </a:t>
            </a:r>
            <a:r>
              <a:rPr lang="en-IN" dirty="0" err="1"/>
              <a:t>searchParams</a:t>
            </a:r>
            <a:r>
              <a:rPr lang="en-IN" dirty="0"/>
              <a:t> = new </a:t>
            </a:r>
            <a:r>
              <a:rPr lang="en-IN" dirty="0" err="1"/>
              <a:t>URLSearchParams</a:t>
            </a:r>
            <a:r>
              <a:rPr lang="en-IN" dirty="0"/>
              <a:t>(</a:t>
            </a:r>
            <a:r>
              <a:rPr lang="en-IN" dirty="0" err="1"/>
              <a:t>paramsString</a:t>
            </a:r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//Iterate the search parameters.</a:t>
            </a:r>
          </a:p>
          <a:p>
            <a:r>
              <a:rPr lang="en-IN" dirty="0"/>
              <a:t>for (let p of </a:t>
            </a:r>
            <a:r>
              <a:rPr lang="en-IN" dirty="0" err="1"/>
              <a:t>searchParams</a:t>
            </a:r>
            <a:r>
              <a:rPr lang="en-IN" dirty="0"/>
              <a:t>) {</a:t>
            </a:r>
          </a:p>
          <a:p>
            <a:r>
              <a:rPr lang="en-IN" dirty="0"/>
              <a:t>  console.log(p);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41127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1535C5-DDE0-484C-A938-58D48CF82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a Callback Function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B635D6F-D23F-4246-9B6E-8CCFC00C4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callback function is a function passed as a parameter to another function.</a:t>
            </a:r>
          </a:p>
          <a:p>
            <a:endParaRPr lang="en-US" dirty="0"/>
          </a:p>
          <a:p>
            <a:r>
              <a:rPr lang="en-US" dirty="0"/>
              <a:t>If you have more than one AJAX task in a website, you should create one function for executing the </a:t>
            </a:r>
            <a:r>
              <a:rPr lang="en-US" dirty="0" err="1"/>
              <a:t>XMLHttpRequest</a:t>
            </a:r>
            <a:r>
              <a:rPr lang="en-US" dirty="0"/>
              <a:t> object, and one callback function for each AJAX task.</a:t>
            </a:r>
          </a:p>
          <a:p>
            <a:endParaRPr lang="en-US" dirty="0"/>
          </a:p>
          <a:p>
            <a:r>
              <a:rPr lang="en-US" dirty="0"/>
              <a:t>The function call should contain the URL and what function to call when the response is ready.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0710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D89C43B-56CB-43E7-8173-BCF05DFA3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24520"/>
            <a:ext cx="8839201" cy="57451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&lt;html&gt;&lt;body&gt;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&gt;&lt;/div&gt;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"dd"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&gt;&lt;/div&gt;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demo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'ajax_info.txt'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 ajax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read_data.txt'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)"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read_data</a:t>
            </a: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loadDoc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XMLHttpRequest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onreadystatechange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readyState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"GET"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44527CE-DC54-4093-901F-D87055E642F3}"/>
              </a:ext>
            </a:extLst>
          </p:cNvPr>
          <p:cNvSpPr txBox="1"/>
          <p:nvPr/>
        </p:nvSpPr>
        <p:spPr>
          <a:xfrm>
            <a:off x="4038600" y="3962400"/>
            <a:ext cx="50292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</a:p>
          <a:p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responseText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"dd"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</a:p>
          <a:p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xhttp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responseText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&lt;/script&gt;&lt;/body&gt;&lt;/html&gt;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473302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Differenece</a:t>
            </a:r>
            <a:r>
              <a:rPr lang="en-US" dirty="0" smtClean="0"/>
              <a:t> between AJAX fetch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https://stackoverflow.com/questions/38332701/fetch-vs-ajaxcall</a:t>
            </a:r>
          </a:p>
        </p:txBody>
      </p:sp>
    </p:spTree>
    <p:extLst>
      <p:ext uri="{BB962C8B-B14F-4D97-AF65-F5344CB8AC3E}">
        <p14:creationId xmlns:p14="http://schemas.microsoft.com/office/powerpoint/2010/main" val="2594432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</TotalTime>
  <Words>1125</Words>
  <Application>Microsoft Office PowerPoint</Application>
  <PresentationFormat>On-screen Show (4:3)</PresentationFormat>
  <Paragraphs>267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AJAX stands for Asynchronous JavaScript And XML. </vt:lpstr>
      <vt:lpstr>Not a new programming language</vt:lpstr>
      <vt:lpstr>PowerPoint Presentation</vt:lpstr>
      <vt:lpstr>AJAX Uses HTTP Requests </vt:lpstr>
      <vt:lpstr>PowerPoint Presentation</vt:lpstr>
      <vt:lpstr>PowerPoint Presentation</vt:lpstr>
      <vt:lpstr>PowerPoint Presentation</vt:lpstr>
      <vt:lpstr>responseText</vt:lpstr>
      <vt:lpstr>Open/send</vt:lpstr>
      <vt:lpstr>PowerPoint Presentation</vt:lpstr>
      <vt:lpstr>PowerPoint Presentation</vt:lpstr>
      <vt:lpstr>PowerPoint Presentation</vt:lpstr>
      <vt:lpstr>PowerPoint Presentation</vt:lpstr>
      <vt:lpstr>Basic example</vt:lpstr>
      <vt:lpstr>Demo 1 readjson</vt:lpstr>
      <vt:lpstr>PowerPoint Presentation</vt:lpstr>
      <vt:lpstr>PowerPoint Presentation</vt:lpstr>
      <vt:lpstr>Using a Callback Function</vt:lpstr>
      <vt:lpstr>PowerPoint Presentation</vt:lpstr>
      <vt:lpstr>Differenece between AJAX fetch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ketki</dc:creator>
  <cp:lastModifiedBy>User</cp:lastModifiedBy>
  <cp:revision>32</cp:revision>
  <dcterms:created xsi:type="dcterms:W3CDTF">2012-03-01T00:53:04Z</dcterms:created>
  <dcterms:modified xsi:type="dcterms:W3CDTF">2024-03-28T09:56:22Z</dcterms:modified>
</cp:coreProperties>
</file>