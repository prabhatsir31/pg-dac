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48" r:id="rId1"/>
  </p:sldMasterIdLst>
  <p:notesMasterIdLst>
    <p:notesMasterId r:id="rId14"/>
  </p:notesMasterIdLst>
  <p:sldIdLst>
    <p:sldId id="260" r:id="rId2"/>
    <p:sldId id="261" r:id="rId3"/>
    <p:sldId id="262" r:id="rId4"/>
    <p:sldId id="269" r:id="rId5"/>
    <p:sldId id="263" r:id="rId6"/>
    <p:sldId id="264" r:id="rId7"/>
    <p:sldId id="265" r:id="rId8"/>
    <p:sldId id="266" r:id="rId9"/>
    <p:sldId id="267" r:id="rId10"/>
    <p:sldId id="270" r:id="rId11"/>
    <p:sldId id="268" r:id="rId12"/>
    <p:sldId id="271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68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2A5F55-251C-4F81-9AC1-F0A080185D9D}" type="datetimeFigureOut">
              <a:rPr lang="en-IN" smtClean="0"/>
              <a:t>12-06-2024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EB6A38-92D1-48EF-BF3B-AEEE6CB462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5372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FC8F274-4539-49A0-87A3-8A92926FC4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D913C69C-C15D-488F-8E9B-26F0B1525A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EF5146E9-5B29-4689-B98F-C7A175B11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12-06-2024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4BDD42DB-8643-44D3-B820-E97454798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9691B433-8249-456C-AB7B-51A5A281D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78436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CE4E34C-EBDD-49B8-AE4A-F0DF046D3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8BED6A62-373F-446D-BFBD-A2306CF231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6F1599FF-4428-40EF-AA95-511B46F70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12-06-2024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2B965240-55B7-47C4-A3A8-5BB8E54DF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F0EA2475-74E2-4E41-8886-F3660D2A9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29919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EB6E01C-29F8-490B-8FCF-5A1BA6833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1E42801F-0138-406C-AAEC-1F17FAEE3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4119E173-E83D-48DF-9FEC-A692B1FDE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12-06-2024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2D9C63D-2389-42AA-9B07-EB7E73B18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A39BFC83-08F9-4A8D-AD10-8340F22DC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4050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96D2DE2-51FD-4F10-9681-13C934051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B5A61EAF-F639-4B21-897F-73E828D695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8625640D-430D-41E6-B518-D24AE86B10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7209ED6F-D3D2-4301-8236-17897DB66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12-06-2024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32F62381-5FAE-4B7D-8D9C-CB218975A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72FCB351-5329-49A8-B8D2-E48C31001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39710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7690C04-E375-40C5-B7BA-A9919778C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6A37561B-10E8-4E49-8165-C7B1F2B478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AAD2C891-3169-4C58-B8C1-F5731E89BA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1FD0839A-777F-4B21-87B0-4C4D42E3B3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F64C1FAA-AE14-43CB-869B-A8AF2C6646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9125958C-7EC9-44EF-BB36-03DEE3EF9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12-06-2024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B7C8A2B2-25CB-4912-80F5-71B3F4A4B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12B76D43-02E0-4EC5-AA63-8C56325BF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43728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FB17326-CF1B-499C-8B9F-5F1927E69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BEE45BAB-CAA8-4AC3-BDDF-7C436DC53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12-06-2024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332CF544-61DD-4F09-B6D7-67A699300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AB958294-3C1C-4F63-9C5E-DD1D6E703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802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BD136457-3425-4CFA-92CF-2A286F2D4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12-06-2024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9597BCE3-C3D5-41D4-AEBA-25E6B29B7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DB758923-2415-409F-8349-E9FEC2B05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8376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53790AE-383D-495A-B54E-66E7D7267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9A4A5F1-07C2-42DD-8DE3-D03AC50EB9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88F7D3AA-403A-49AE-8E4E-15D16E277E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9FB0DD28-F5CB-46D6-BE31-32DE3E340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12-06-2024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05FCB876-6E1E-4D5C-BBA6-66671E252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C91C78CA-ABFB-40DE-8344-B588BDDB8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02778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B9846F7-2CFF-4127-A0E4-9CA20E67E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5D74EB2A-A292-4128-97D8-BFA093C8CD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5DEF6526-000C-4C84-B2FA-7646132989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55B93E7C-181E-45B4-8CCF-DFE2E5F65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12-06-2024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2B7FF50B-C3A8-4E4A-9384-79959A130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1A79BFE2-92B0-48A4-98B5-55F485BB9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8479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495E366-8D52-42B6-8DC8-74EB1D390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FC5F1B5B-E156-45F3-B38C-3ACEEB5788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CCAF018B-EF2B-43AD-AF6E-37ED5B542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12-06-2024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A4CE5020-33BC-438D-AE2B-A8FAFACD4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7E1DBF86-A9FC-4622-9940-C27B23462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00004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739AC017-584B-41B4-ABC6-FC854AA885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27EE36F7-2936-4623-A08C-EE2C114AB4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8A2B394-CC83-49C3-A330-2997DE017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12-06-2024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5410327C-31C9-42F2-9AAB-D6410B88E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A5D2D46E-8457-4CA5-B3A4-4A02D8756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55916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76622E19-BB47-4253-8B0A-2302E95EC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312880FA-FD6E-43D3-B07B-D84D7AFB85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3BB2360E-FCC2-4F98-9AA1-CF50B2B059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FE7E06-79CA-4948-8009-C5BAAA988AD0}" type="datetimeFigureOut">
              <a:rPr lang="en-IN" smtClean="0"/>
              <a:t>12-06-2024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4345772D-BFA1-42C1-928A-9198778526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9DD8C82B-5DF4-4847-9FF4-5F8A632B92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F775C86D-6AD8-4D5A-97D6-4F8037C90BDA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6199" y="-76200"/>
            <a:ext cx="1249218" cy="83515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D0B7BB87-21E0-4FE6-8CF1-87F129F0BC20}"/>
              </a:ext>
            </a:extLst>
          </p:cNvPr>
          <p:cNvSpPr/>
          <p:nvPr userDrawn="1"/>
        </p:nvSpPr>
        <p:spPr>
          <a:xfrm>
            <a:off x="1173019" y="6550223"/>
            <a:ext cx="829308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USM’s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Shriram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Mantri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Vidyanidhi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Info Tech Academy </a:t>
            </a:r>
            <a:endParaRPr lang="en-IN" sz="1400" dirty="0">
              <a:solidFill>
                <a:prstClr val="black"/>
              </a:solidFill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2567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vidyanidhi.com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://127.0.0.1:5500/ex_2/await.html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DDFEADA-E901-4302-A497-05D33C2B2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38450" y="971550"/>
            <a:ext cx="6343650" cy="5029200"/>
          </a:xfrm>
        </p:spPr>
        <p:txBody>
          <a:bodyPr/>
          <a:lstStyle/>
          <a:p>
            <a:pPr marL="0" indent="0" algn="ctr">
              <a:buNone/>
            </a:pPr>
            <a:r>
              <a:rPr lang="en-IN" dirty="0">
                <a:hlinkClick r:id="rId2"/>
              </a:rPr>
              <a:t>http://www.vidyanidhi.com/</a:t>
            </a:r>
            <a:endParaRPr lang="en-IN" dirty="0"/>
          </a:p>
          <a:p>
            <a:pPr marL="0" indent="0" algn="ctr">
              <a:buNone/>
            </a:pPr>
            <a:r>
              <a:rPr lang="en-IN" dirty="0"/>
              <a:t>ketkiacharya.net@gmail.com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E8DE8A8E-ED85-4B70-916D-ED56E0E40BBC}"/>
              </a:ext>
            </a:extLst>
          </p:cNvPr>
          <p:cNvSpPr txBox="1"/>
          <p:nvPr/>
        </p:nvSpPr>
        <p:spPr>
          <a:xfrm>
            <a:off x="3067050" y="3886201"/>
            <a:ext cx="24574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50" dirty="0" err="1"/>
              <a:t>Ketki</a:t>
            </a:r>
            <a:r>
              <a:rPr lang="en-IN" sz="1350" dirty="0"/>
              <a:t> Acharya</a:t>
            </a:r>
          </a:p>
          <a:p>
            <a:r>
              <a:rPr lang="en-IN" sz="1350" dirty="0"/>
              <a:t>From: SM VITA ATC of CDAC</a:t>
            </a:r>
          </a:p>
          <a:p>
            <a:r>
              <a:rPr lang="en-IN" sz="1350" dirty="0"/>
              <a:t>9769201036</a:t>
            </a:r>
          </a:p>
          <a:p>
            <a:r>
              <a:rPr lang="en-IN" sz="1350" dirty="0"/>
              <a:t>ketkiacharya.net@gmail.com</a:t>
            </a:r>
          </a:p>
        </p:txBody>
      </p:sp>
    </p:spTree>
    <p:extLst>
      <p:ext uri="{BB962C8B-B14F-4D97-AF65-F5344CB8AC3E}">
        <p14:creationId xmlns:p14="http://schemas.microsoft.com/office/powerpoint/2010/main" val="629767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977BF22-BACC-4646-B71E-6053EA7AE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6665" y="188145"/>
            <a:ext cx="2160639" cy="657430"/>
          </a:xfrm>
        </p:spPr>
        <p:txBody>
          <a:bodyPr>
            <a:normAutofit fontScale="90000"/>
          </a:bodyPr>
          <a:lstStyle/>
          <a:p>
            <a:r>
              <a:rPr lang="en-IN" dirty="0"/>
              <a:t>Fetch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F2CF94A-DAAB-4B8B-B0EA-D09F6D4EB0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819" y="727587"/>
            <a:ext cx="11225981" cy="5449376"/>
          </a:xfrm>
        </p:spPr>
        <p:txBody>
          <a:bodyPr>
            <a:normAutofit fontScale="55000" lnSpcReduction="20000"/>
          </a:bodyPr>
          <a:lstStyle/>
          <a:p>
            <a:r>
              <a:rPr lang="en-US" dirty="0"/>
              <a:t>JavaScript can send network requests to the server and load new information whenever it’s needed.</a:t>
            </a:r>
          </a:p>
          <a:p>
            <a:endParaRPr lang="en-US" dirty="0"/>
          </a:p>
          <a:p>
            <a:r>
              <a:rPr lang="en-US" dirty="0"/>
              <a:t>For example, we can use a network request to:</a:t>
            </a:r>
          </a:p>
          <a:p>
            <a:endParaRPr lang="en-US" dirty="0"/>
          </a:p>
          <a:p>
            <a:r>
              <a:rPr lang="en-US" dirty="0"/>
              <a:t>    Submit an order,</a:t>
            </a:r>
          </a:p>
          <a:p>
            <a:r>
              <a:rPr lang="en-US" dirty="0"/>
              <a:t>    Load user information,</a:t>
            </a:r>
          </a:p>
          <a:p>
            <a:r>
              <a:rPr lang="en-US" dirty="0"/>
              <a:t>    Receive latest updates from the server,</a:t>
            </a:r>
          </a:p>
          <a:p>
            <a:r>
              <a:rPr lang="en-US" dirty="0"/>
              <a:t>    …etc.</a:t>
            </a:r>
          </a:p>
          <a:p>
            <a:endParaRPr lang="en-US" dirty="0"/>
          </a:p>
          <a:p>
            <a:r>
              <a:rPr lang="en-US" dirty="0"/>
              <a:t>…And all of that without reloading the page!</a:t>
            </a:r>
          </a:p>
          <a:p>
            <a:endParaRPr lang="en-US" dirty="0"/>
          </a:p>
          <a:p>
            <a:r>
              <a:rPr lang="en-US" dirty="0"/>
              <a:t>There’s an umbrella term “AJAX” (abbreviated Asynchronous JavaScript And XML) for network requests from JavaScript. We don’t have to use XML though: the term comes from old times, that’s why that word is there. You may have heard that term already.</a:t>
            </a:r>
          </a:p>
          <a:p>
            <a:endParaRPr lang="en-US" dirty="0"/>
          </a:p>
          <a:p>
            <a:r>
              <a:rPr lang="en-US" dirty="0"/>
              <a:t>There are multiple ways to send a network request and get information from the server.</a:t>
            </a:r>
          </a:p>
          <a:p>
            <a:endParaRPr lang="en-US" dirty="0"/>
          </a:p>
          <a:p>
            <a:r>
              <a:rPr lang="en-US" dirty="0"/>
              <a:t>The fetch() method is modern and versatile, so we’ll start with it. It’s not supported by old browsers (can be </a:t>
            </a:r>
            <a:r>
              <a:rPr lang="en-US" dirty="0" err="1"/>
              <a:t>polyfilled</a:t>
            </a:r>
            <a:r>
              <a:rPr lang="en-US" dirty="0"/>
              <a:t>), but very well supported among the modern ones.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3014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C6EBCDC-24F6-48F8-BE35-3DFE2EA8FD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89" y="137652"/>
            <a:ext cx="11002296" cy="648929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 dirty="0"/>
              <a:t>		The basic syntax is:</a:t>
            </a:r>
          </a:p>
          <a:p>
            <a:pPr marL="0" indent="0">
              <a:buNone/>
            </a:pPr>
            <a:r>
              <a:rPr lang="en-US" sz="1400" b="1" dirty="0"/>
              <a:t>		let promise = fetch(</a:t>
            </a:r>
            <a:r>
              <a:rPr lang="en-US" sz="1400" b="1" dirty="0" err="1"/>
              <a:t>url</a:t>
            </a:r>
            <a:r>
              <a:rPr lang="en-US" sz="1400" b="1" dirty="0"/>
              <a:t>, [options])</a:t>
            </a:r>
          </a:p>
          <a:p>
            <a:pPr marL="0" indent="0">
              <a:buNone/>
            </a:pPr>
            <a:r>
              <a:rPr lang="en-US" sz="1400" i="1" dirty="0"/>
              <a:t>    </a:t>
            </a:r>
            <a:r>
              <a:rPr lang="en-US" sz="1400" b="1" i="1" dirty="0" err="1"/>
              <a:t>url</a:t>
            </a:r>
            <a:r>
              <a:rPr lang="en-US" sz="1400" i="1" dirty="0"/>
              <a:t> </a:t>
            </a:r>
            <a:r>
              <a:rPr lang="en-US" sz="1400" dirty="0"/>
              <a:t>– the URL to access.</a:t>
            </a:r>
          </a:p>
          <a:p>
            <a:pPr marL="0" indent="0">
              <a:buNone/>
            </a:pPr>
            <a:r>
              <a:rPr lang="en-US" sz="1400" b="1" i="1" dirty="0"/>
              <a:t>    options </a:t>
            </a:r>
            <a:r>
              <a:rPr lang="en-US" sz="1400" dirty="0"/>
              <a:t>– optional parameters: method, headers etc.</a:t>
            </a:r>
          </a:p>
          <a:p>
            <a:pPr marL="0" indent="0">
              <a:buNone/>
            </a:pPr>
            <a:r>
              <a:rPr lang="en-US" sz="1400" dirty="0"/>
              <a:t>Without options, this is a simple GET request, downloading the contents of the </a:t>
            </a:r>
            <a:r>
              <a:rPr lang="en-US" sz="1400" dirty="0" err="1"/>
              <a:t>url</a:t>
            </a:r>
            <a:r>
              <a:rPr lang="en-US" sz="1400" dirty="0"/>
              <a:t>.</a:t>
            </a:r>
          </a:p>
          <a:p>
            <a:pPr marL="0" indent="0">
              <a:buNone/>
            </a:pPr>
            <a:r>
              <a:rPr lang="en-US" sz="1400" dirty="0"/>
              <a:t>The browser starts the request right away and </a:t>
            </a:r>
            <a:r>
              <a:rPr lang="en-US" sz="1400" dirty="0">
                <a:highlight>
                  <a:srgbClr val="FFFF00"/>
                </a:highlight>
              </a:rPr>
              <a:t>returns a promise </a:t>
            </a:r>
            <a:r>
              <a:rPr lang="en-US" sz="1400" dirty="0"/>
              <a:t>that the calling code should use to get the result.</a:t>
            </a:r>
          </a:p>
          <a:p>
            <a:pPr marL="0" indent="0">
              <a:buNone/>
            </a:pPr>
            <a:r>
              <a:rPr lang="en-US" sz="1400" b="1" dirty="0"/>
              <a:t>Getting a response is usually a two-stage process</a:t>
            </a:r>
            <a:r>
              <a:rPr lang="en-US" sz="1400" dirty="0"/>
              <a:t>.</a:t>
            </a:r>
          </a:p>
          <a:p>
            <a:pPr marL="0" indent="0">
              <a:buNone/>
            </a:pPr>
            <a:r>
              <a:rPr lang="en-US" sz="1400" b="1" dirty="0"/>
              <a:t>First, the promise, returned by fetch, resolves with an object of the built-in Response class as soon as the server responds with headers.</a:t>
            </a:r>
          </a:p>
          <a:p>
            <a:pPr marL="0" indent="0">
              <a:buNone/>
            </a:pPr>
            <a:r>
              <a:rPr lang="en-US" sz="1400" dirty="0"/>
              <a:t>At this stage we can check HTTP status, to see whether it is successful or not, check headers, but don’t have the body yet.</a:t>
            </a:r>
          </a:p>
          <a:p>
            <a:pPr marL="0" indent="0">
              <a:buNone/>
            </a:pPr>
            <a:r>
              <a:rPr lang="en-US" sz="1400" b="1" dirty="0"/>
              <a:t>The promise rejects </a:t>
            </a:r>
            <a:r>
              <a:rPr lang="en-US" sz="1400" dirty="0"/>
              <a:t>if the fetch was unable to make HTTP-request, e.g. network problems, or there’s no such site. Abnormal HTTP-statuses, such as 404 or 500 do not cause an error.</a:t>
            </a:r>
          </a:p>
          <a:p>
            <a:pPr marL="0" indent="0">
              <a:buNone/>
            </a:pPr>
            <a:r>
              <a:rPr lang="en-US" sz="1400" b="1" dirty="0"/>
              <a:t>We can see HTTP-status in response properties:</a:t>
            </a:r>
          </a:p>
          <a:p>
            <a:pPr marL="0" indent="0">
              <a:buNone/>
            </a:pPr>
            <a:r>
              <a:rPr lang="en-US" sz="1400" b="1" dirty="0"/>
              <a:t>    status </a:t>
            </a:r>
            <a:r>
              <a:rPr lang="en-US" sz="1400" dirty="0"/>
              <a:t>– HTTP status code, e.g. 200.</a:t>
            </a:r>
          </a:p>
          <a:p>
            <a:pPr marL="0" indent="0">
              <a:buNone/>
            </a:pPr>
            <a:r>
              <a:rPr lang="en-US" sz="1400" b="1" dirty="0"/>
              <a:t>    ok </a:t>
            </a:r>
            <a:r>
              <a:rPr lang="en-US" sz="1400" dirty="0"/>
              <a:t>– </a:t>
            </a:r>
            <a:r>
              <a:rPr lang="en-US" sz="1400" dirty="0" err="1"/>
              <a:t>boolean</a:t>
            </a:r>
            <a:r>
              <a:rPr lang="en-US" sz="1400" dirty="0"/>
              <a:t>, true if the HTTP status code is 200-299.</a:t>
            </a:r>
          </a:p>
          <a:p>
            <a:pPr marL="0" indent="0">
              <a:buNone/>
            </a:pP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example: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fetch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ok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{ </a:t>
            </a:r>
            <a:r>
              <a:rPr lang="en-IN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 if HTTP-status is 200-299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 get the response body (the method explained below)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json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json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} </a:t>
            </a:r>
            <a:r>
              <a:rPr lang="en-I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{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"HTTP-Error: 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+ 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status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4026724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="" xmlns:a16="http://schemas.microsoft.com/office/drawing/2014/main" id="{0CDAC8A0-B12F-4571-A56C-C78087F957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6043" y="384174"/>
            <a:ext cx="11412667" cy="5937967"/>
          </a:xfrm>
        </p:spPr>
      </p:pic>
    </p:spTree>
    <p:extLst>
      <p:ext uri="{BB962C8B-B14F-4D97-AF65-F5344CB8AC3E}">
        <p14:creationId xmlns:p14="http://schemas.microsoft.com/office/powerpoint/2010/main" val="3048269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B42AD50D-8248-430E-9C9B-A643FAA5D5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309" y="109460"/>
            <a:ext cx="11700388" cy="6497817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sz="2900" b="1" dirty="0"/>
              <a:t>	Second, to get the response body, we need to use an additional method call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Response provides multiple promise-based methods to access the body in various formats: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response.text</a:t>
            </a:r>
            <a:r>
              <a:rPr lang="en-US" dirty="0"/>
              <a:t>() – read the response and return as text,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response.json</a:t>
            </a:r>
            <a:r>
              <a:rPr lang="en-US" dirty="0"/>
              <a:t>() – parse the response as JSON,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response.formData</a:t>
            </a:r>
            <a:r>
              <a:rPr lang="en-US" dirty="0"/>
              <a:t>() – return the response as </a:t>
            </a:r>
            <a:r>
              <a:rPr lang="en-US" dirty="0" err="1"/>
              <a:t>FormData</a:t>
            </a:r>
            <a:r>
              <a:rPr lang="en-US" dirty="0"/>
              <a:t> object (explained in the next chapter),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response.blob</a:t>
            </a:r>
            <a:r>
              <a:rPr lang="en-US" dirty="0"/>
              <a:t>() – return the response as Blob (binary data with type),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response.arrayBuffer</a:t>
            </a:r>
            <a:r>
              <a:rPr lang="en-US" dirty="0"/>
              <a:t>() – return the response as </a:t>
            </a:r>
            <a:r>
              <a:rPr lang="en-US" dirty="0" err="1"/>
              <a:t>ArrayBuffer</a:t>
            </a:r>
            <a:r>
              <a:rPr lang="en-US" dirty="0"/>
              <a:t> (low-level representation of binary data),</a:t>
            </a:r>
          </a:p>
          <a:p>
            <a:pPr marL="0" indent="0">
              <a:buNone/>
            </a:pPr>
            <a:r>
              <a:rPr lang="en-US" dirty="0"/>
              <a:t>    additionally, </a:t>
            </a:r>
            <a:r>
              <a:rPr lang="en-US" dirty="0" err="1"/>
              <a:t>response.body</a:t>
            </a:r>
            <a:r>
              <a:rPr lang="en-US" dirty="0"/>
              <a:t> is a </a:t>
            </a:r>
            <a:r>
              <a:rPr lang="en-US" dirty="0" err="1"/>
              <a:t>ReadableStream</a:t>
            </a:r>
            <a:r>
              <a:rPr lang="en-US" dirty="0"/>
              <a:t> object, it allows you to read the body chunk-by-chunk, we’ll see an example later.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'https://api/data'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fetch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commits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json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 </a:t>
            </a:r>
            <a:r>
              <a:rPr lang="en-I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 read response body and parse as JSON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commits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For instance, let’s get a JSON-object with latest commits from GitHub: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effectLst/>
                <a:latin typeface="Consolas" panose="020B0609020204030204" pitchFamily="49" charset="0"/>
              </a:rPr>
              <a:t>Or, the same without await, using pure promises syntax: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fetch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ejson.json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.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then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json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.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then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commits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commits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author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login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211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9070DE9-0411-4791-BF5C-258AF55B4A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424" y="832566"/>
            <a:ext cx="11284975" cy="55682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effectLst/>
                <a:latin typeface="Consolas" panose="020B0609020204030204" pitchFamily="49" charset="0"/>
              </a:rPr>
              <a:t> To get the response text, await 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response.text</a:t>
            </a:r>
            <a:r>
              <a:rPr lang="en-IN" b="0" dirty="0">
                <a:effectLst/>
                <a:latin typeface="Consolas" panose="020B0609020204030204" pitchFamily="49" charset="0"/>
              </a:rPr>
              <a:t>() instead of .json():</a:t>
            </a:r>
          </a:p>
          <a:p>
            <a:pPr marL="0" indent="0">
              <a:buNone/>
            </a:pPr>
            <a:r>
              <a:rPr lang="en-IN" sz="1300" b="0" dirty="0">
                <a:effectLst/>
                <a:latin typeface="Consolas" panose="020B0609020204030204" pitchFamily="49" charset="0"/>
              </a:rPr>
              <a:t/>
            </a:r>
            <a:br>
              <a:rPr lang="en-IN" sz="1300" b="0" dirty="0">
                <a:effectLst/>
                <a:latin typeface="Consolas" panose="020B0609020204030204" pitchFamily="49" charset="0"/>
              </a:rPr>
            </a:br>
            <a:r>
              <a:rPr lang="en-IN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3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IN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sz="13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en-IN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3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fetch</a:t>
            </a:r>
            <a:r>
              <a:rPr lang="en-IN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3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'https://api.github.com/repos/</a:t>
            </a:r>
            <a:r>
              <a:rPr lang="en-IN" sz="13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javascript</a:t>
            </a:r>
            <a:r>
              <a:rPr lang="en-IN" sz="13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-tutorial/en.javascript.info/commits'</a:t>
            </a:r>
            <a:r>
              <a:rPr lang="en-IN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3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IN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sz="13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en-IN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3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IN" sz="13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3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IN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 </a:t>
            </a:r>
            <a:r>
              <a:rPr lang="en-IN" sz="13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 read response body as text</a:t>
            </a:r>
            <a:endParaRPr lang="en-IN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3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IN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3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IN" sz="13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3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slice</a:t>
            </a:r>
            <a:r>
              <a:rPr lang="en-IN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3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IN" sz="13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80</a:t>
            </a:r>
            <a:r>
              <a:rPr lang="en-IN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+ </a:t>
            </a:r>
            <a:r>
              <a:rPr lang="en-IN" sz="13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'...’</a:t>
            </a:r>
            <a:r>
              <a:rPr lang="en-IN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endParaRPr lang="en-IN" sz="13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effectLst/>
                <a:latin typeface="Consolas" panose="020B0609020204030204" pitchFamily="49" charset="0"/>
              </a:rPr>
              <a:t>We can choose only one body-reading method.</a:t>
            </a:r>
          </a:p>
          <a:p>
            <a:pPr marL="0" indent="0">
              <a:buNone/>
            </a:pPr>
            <a:r>
              <a:rPr lang="en-US" sz="1600" b="0" dirty="0">
                <a:effectLst/>
                <a:latin typeface="Consolas" panose="020B0609020204030204" pitchFamily="49" charset="0"/>
              </a:rPr>
              <a:t/>
            </a:r>
            <a:br>
              <a:rPr lang="en-US" sz="1600" b="0" dirty="0"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effectLst/>
                <a:latin typeface="Consolas" panose="020B0609020204030204" pitchFamily="49" charset="0"/>
              </a:rPr>
              <a:t>  If we’ve already got the response with </a:t>
            </a:r>
            <a:r>
              <a:rPr lang="en-US" sz="1600" b="0" dirty="0" err="1">
                <a:effectLst/>
                <a:latin typeface="Consolas" panose="020B0609020204030204" pitchFamily="49" charset="0"/>
              </a:rPr>
              <a:t>response.text</a:t>
            </a:r>
            <a:r>
              <a:rPr lang="en-US" sz="1600" b="0" dirty="0">
                <a:effectLst/>
                <a:latin typeface="Consolas" panose="020B0609020204030204" pitchFamily="49" charset="0"/>
              </a:rPr>
              <a:t>(), then </a:t>
            </a:r>
            <a:r>
              <a:rPr lang="en-US" sz="1600" b="0" dirty="0" err="1">
                <a:effectLst/>
                <a:latin typeface="Consolas" panose="020B0609020204030204" pitchFamily="49" charset="0"/>
              </a:rPr>
              <a:t>response.json</a:t>
            </a:r>
            <a:r>
              <a:rPr lang="en-US" sz="1600" b="0" dirty="0">
                <a:effectLst/>
                <a:latin typeface="Consolas" panose="020B0609020204030204" pitchFamily="49" charset="0"/>
              </a:rPr>
              <a:t>() won’t work, as the body content has already been processed.</a:t>
            </a:r>
            <a:endParaRPr lang="en-US" sz="1200" b="0" dirty="0"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 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 response body consumed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parsed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json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 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 fails (already consumed)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3886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7D189CB-5154-4BB1-97BC-BBF3A2E0B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675374" cy="667262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Response headers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80B6ED70-7DA9-469C-8701-7D30F4DE95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651" y="924232"/>
            <a:ext cx="11729883" cy="5252731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The response headers are available in a Map-like headers object in </a:t>
            </a:r>
            <a:r>
              <a:rPr lang="en-US" dirty="0" err="1"/>
              <a:t>response.headers</a:t>
            </a:r>
            <a:r>
              <a:rPr lang="en-US" dirty="0"/>
              <a:t>.</a:t>
            </a:r>
          </a:p>
          <a:p>
            <a:r>
              <a:rPr lang="en-US" dirty="0"/>
              <a:t>It’s not exactly a Map, but it has similar methods to get individual headers by name or iterate over them:</a:t>
            </a:r>
          </a:p>
          <a:p>
            <a:endParaRPr lang="en-US" dirty="0"/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fetch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ejson.json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 get one header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headers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'Content-Type'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 </a:t>
            </a:r>
            <a:r>
              <a:rPr lang="en-I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 application/json; charset=utf-8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 iterate over all headers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[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 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of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headers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{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30366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D64D974-E96C-4783-AE91-D9D33047D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5341" y="70158"/>
            <a:ext cx="5397911" cy="460784"/>
          </a:xfrm>
        </p:spPr>
        <p:txBody>
          <a:bodyPr>
            <a:normAutofit fontScale="90000"/>
          </a:bodyPr>
          <a:lstStyle/>
          <a:p>
            <a:r>
              <a:rPr lang="en-IN" dirty="0"/>
              <a:t>Request headers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79EA324-6C5D-4B3C-B31F-76B40045AA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310" y="786581"/>
            <a:ext cx="11137490" cy="5390382"/>
          </a:xfrm>
        </p:spPr>
        <p:txBody>
          <a:bodyPr/>
          <a:lstStyle/>
          <a:p>
            <a:pPr marL="0" indent="0"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To set a request header in fetch, we can use the headers option. It has an object with outgoing headers, like this: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fetch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protectedUrl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{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headers: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{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Authentication: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'secret'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}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});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9272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812BC707-2F6D-4B53-B4AC-CCF093C05A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1212" y="108155"/>
            <a:ext cx="10618840" cy="6567948"/>
          </a:xfrm>
        </p:spPr>
        <p:txBody>
          <a:bodyPr>
            <a:normAutofit fontScale="47500" lnSpcReduction="20000"/>
          </a:bodyPr>
          <a:lstStyle/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b="0" dirty="0">
                <a:effectLst/>
                <a:latin typeface="Consolas" panose="020B0609020204030204" pitchFamily="49" charset="0"/>
              </a:rPr>
              <a:t>…But there’s a list of forbidden HTTP headers that we can’t set: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Accept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Charset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Accept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Encoding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Access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Control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Headers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Access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Control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Method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Connection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Content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Length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Cookie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Cookie2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Date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DNT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Expect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Host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Keep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Alive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Origin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Referer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TE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Trailer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Transfer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Encoding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Upgrade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Via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Proxy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-*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-*</a:t>
            </a:r>
          </a:p>
          <a:p>
            <a:r>
              <a:rPr lang="en-US" b="0" dirty="0">
                <a:effectLst/>
                <a:latin typeface="Consolas" panose="020B0609020204030204" pitchFamily="49" charset="0"/>
              </a:rPr>
              <a:t/>
            </a:r>
            <a:br>
              <a:rPr lang="en-US" b="0" dirty="0">
                <a:effectLst/>
                <a:latin typeface="Consolas" panose="020B0609020204030204" pitchFamily="49" charset="0"/>
              </a:rPr>
            </a:br>
            <a:r>
              <a:rPr lang="en-US" b="0" dirty="0">
                <a:effectLst/>
                <a:latin typeface="Consolas" panose="020B0609020204030204" pitchFamily="49" charset="0"/>
              </a:rPr>
              <a:t>These headers ensure proper and safe HTTP, so they are controlled exclusively by the browser.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5034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992ED7BA-972A-4193-A938-D48B0EFEAC91}"/>
              </a:ext>
            </a:extLst>
          </p:cNvPr>
          <p:cNvSpPr txBox="1"/>
          <p:nvPr/>
        </p:nvSpPr>
        <p:spPr>
          <a:xfrm>
            <a:off x="216311" y="811039"/>
            <a:ext cx="6538450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&lt;p id="p"&gt;&lt;/p&gt;</a:t>
            </a:r>
          </a:p>
          <a:p>
            <a:r>
              <a:rPr lang="en-IN" dirty="0"/>
              <a:t>&lt;script&gt;</a:t>
            </a:r>
          </a:p>
          <a:p>
            <a:r>
              <a:rPr lang="en-IN" dirty="0"/>
              <a:t>async function </a:t>
            </a:r>
            <a:r>
              <a:rPr lang="en-IN" dirty="0" err="1"/>
              <a:t>getdata</a:t>
            </a:r>
            <a:r>
              <a:rPr lang="en-IN" dirty="0"/>
              <a:t>()</a:t>
            </a:r>
          </a:p>
          <a:p>
            <a:r>
              <a:rPr lang="en-IN" dirty="0"/>
              <a:t>{</a:t>
            </a:r>
          </a:p>
          <a:p>
            <a:r>
              <a:rPr lang="en-IN" dirty="0"/>
              <a:t>res= await fetch('</a:t>
            </a:r>
            <a:r>
              <a:rPr lang="en-IN" dirty="0" err="1"/>
              <a:t>ejson.json</a:t>
            </a:r>
            <a:r>
              <a:rPr lang="en-IN" dirty="0"/>
              <a:t>');</a:t>
            </a:r>
          </a:p>
          <a:p>
            <a:r>
              <a:rPr lang="en-IN" dirty="0"/>
              <a:t>data=await </a:t>
            </a:r>
            <a:r>
              <a:rPr lang="en-IN" dirty="0" err="1"/>
              <a:t>res.json</a:t>
            </a:r>
            <a:r>
              <a:rPr lang="en-IN" dirty="0"/>
              <a:t>()</a:t>
            </a:r>
          </a:p>
          <a:p>
            <a:r>
              <a:rPr lang="en-IN" dirty="0"/>
              <a:t>let </a:t>
            </a:r>
            <a:r>
              <a:rPr lang="en-IN" dirty="0" err="1"/>
              <a:t>fd</a:t>
            </a:r>
            <a:r>
              <a:rPr lang="en-IN" dirty="0"/>
              <a:t>="";</a:t>
            </a:r>
          </a:p>
          <a:p>
            <a:r>
              <a:rPr lang="en-IN" dirty="0"/>
              <a:t>	  for(let x of data)</a:t>
            </a:r>
          </a:p>
          <a:p>
            <a:r>
              <a:rPr lang="en-IN" dirty="0"/>
              <a:t>	  {console.log(x)</a:t>
            </a:r>
          </a:p>
          <a:p>
            <a:r>
              <a:rPr lang="en-IN" dirty="0"/>
              <a:t>	      for(let b in x)</a:t>
            </a:r>
          </a:p>
          <a:p>
            <a:r>
              <a:rPr lang="en-IN" dirty="0"/>
              <a:t>		  {console.log(x[b])</a:t>
            </a:r>
          </a:p>
          <a:p>
            <a:r>
              <a:rPr lang="en-IN" dirty="0"/>
              <a:t>		</a:t>
            </a:r>
            <a:r>
              <a:rPr lang="en-IN" dirty="0" err="1"/>
              <a:t>fd</a:t>
            </a:r>
            <a:r>
              <a:rPr lang="en-IN" dirty="0"/>
              <a:t>+=x[b]+"&lt;</a:t>
            </a:r>
            <a:r>
              <a:rPr lang="en-IN" dirty="0" err="1"/>
              <a:t>br</a:t>
            </a:r>
            <a:r>
              <a:rPr lang="en-IN" dirty="0"/>
              <a:t>/&gt;"</a:t>
            </a:r>
          </a:p>
          <a:p>
            <a:r>
              <a:rPr lang="en-IN" dirty="0"/>
              <a:t>	      }</a:t>
            </a:r>
          </a:p>
          <a:p>
            <a:r>
              <a:rPr lang="en-IN" dirty="0"/>
              <a:t>	  </a:t>
            </a:r>
            <a:r>
              <a:rPr lang="en-IN" dirty="0" err="1"/>
              <a:t>fd</a:t>
            </a:r>
            <a:r>
              <a:rPr lang="en-IN" dirty="0"/>
              <a:t>+="&lt;hr/&gt;";</a:t>
            </a:r>
          </a:p>
          <a:p>
            <a:r>
              <a:rPr lang="en-IN" dirty="0"/>
              <a:t>	  }</a:t>
            </a:r>
          </a:p>
          <a:p>
            <a:r>
              <a:rPr lang="en-IN" dirty="0" err="1"/>
              <a:t>document.getElementById</a:t>
            </a:r>
            <a:r>
              <a:rPr lang="en-IN" dirty="0"/>
              <a:t>('p').</a:t>
            </a:r>
            <a:r>
              <a:rPr lang="en-IN" dirty="0" err="1"/>
              <a:t>innerHTML</a:t>
            </a:r>
            <a:r>
              <a:rPr lang="en-IN" dirty="0"/>
              <a:t>=</a:t>
            </a:r>
            <a:r>
              <a:rPr lang="en-IN" dirty="0" err="1"/>
              <a:t>fd</a:t>
            </a:r>
            <a:r>
              <a:rPr lang="en-IN" dirty="0"/>
              <a:t>;</a:t>
            </a:r>
          </a:p>
          <a:p>
            <a:r>
              <a:rPr lang="en-IN" dirty="0"/>
              <a:t>}</a:t>
            </a:r>
          </a:p>
          <a:p>
            <a:r>
              <a:rPr lang="en-IN" dirty="0" err="1"/>
              <a:t>getdata</a:t>
            </a:r>
            <a:r>
              <a:rPr lang="en-IN" dirty="0"/>
              <a:t>();</a:t>
            </a:r>
          </a:p>
          <a:p>
            <a:r>
              <a:rPr lang="en-IN" dirty="0"/>
              <a:t>&lt;/script&gt;</a:t>
            </a:r>
          </a:p>
          <a:p>
            <a:endParaRPr lang="en-IN" dirty="0"/>
          </a:p>
          <a:p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68107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9E5747F-ACCE-423B-A34F-0A5C54103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1147" y="0"/>
            <a:ext cx="9397181" cy="816077"/>
          </a:xfrm>
        </p:spPr>
        <p:txBody>
          <a:bodyPr>
            <a:normAutofit/>
          </a:bodyPr>
          <a:lstStyle/>
          <a:p>
            <a:r>
              <a:rPr lang="en-IN" b="1" dirty="0"/>
              <a:t>POST requests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BEF9C0D7-6D0B-478F-8A0A-EA61FB6D1B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90" y="816076"/>
            <a:ext cx="6538452" cy="604192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/>
              <a:t>To make a POST request, or a request with another method, we need to use fetch options:</a:t>
            </a:r>
          </a:p>
          <a:p>
            <a:pPr marL="0" indent="0">
              <a:buNone/>
            </a:pPr>
            <a:r>
              <a:rPr lang="en-US" sz="1800" dirty="0"/>
              <a:t>    method – HTTP-method, e.g. POST,</a:t>
            </a:r>
          </a:p>
          <a:p>
            <a:pPr marL="0" indent="0">
              <a:buNone/>
            </a:pPr>
            <a:r>
              <a:rPr lang="en-US" sz="1800" dirty="0"/>
              <a:t>    body – the request body, one of:</a:t>
            </a:r>
          </a:p>
          <a:p>
            <a:r>
              <a:rPr lang="en-US" sz="1800" dirty="0"/>
              <a:t>        a string (e.g. JSON-encoded),</a:t>
            </a:r>
          </a:p>
          <a:p>
            <a:r>
              <a:rPr lang="en-US" sz="1800" dirty="0"/>
              <a:t>        </a:t>
            </a:r>
            <a:r>
              <a:rPr lang="en-US" sz="1800" dirty="0" err="1"/>
              <a:t>FormData</a:t>
            </a:r>
            <a:r>
              <a:rPr lang="en-US" sz="1800" dirty="0"/>
              <a:t> object, to submit the data as form/multipart,</a:t>
            </a:r>
          </a:p>
          <a:p>
            <a:r>
              <a:rPr lang="en-US" sz="1800" dirty="0"/>
              <a:t>        Blob/</a:t>
            </a:r>
            <a:r>
              <a:rPr lang="en-US" sz="1800" dirty="0" err="1"/>
              <a:t>BufferSource</a:t>
            </a:r>
            <a:r>
              <a:rPr lang="en-US" sz="1800" dirty="0"/>
              <a:t> to send binary data,</a:t>
            </a:r>
          </a:p>
          <a:p>
            <a:r>
              <a:rPr lang="en-US" sz="1800" dirty="0"/>
              <a:t>        </a:t>
            </a:r>
            <a:r>
              <a:rPr lang="en-US" sz="1800" dirty="0" err="1"/>
              <a:t>URLSearchParams</a:t>
            </a:r>
            <a:r>
              <a:rPr lang="en-US" sz="1800" dirty="0"/>
              <a:t>, to submit the data in x-www-form-</a:t>
            </a:r>
            <a:r>
              <a:rPr lang="en-US" sz="1800" dirty="0" err="1"/>
              <a:t>urlencoded</a:t>
            </a:r>
            <a:r>
              <a:rPr lang="en-US" sz="1800" dirty="0"/>
              <a:t> encoding, rarely used.</a:t>
            </a:r>
          </a:p>
          <a:p>
            <a:pPr marL="0" indent="0">
              <a:buNone/>
            </a:pPr>
            <a:r>
              <a:rPr lang="en-US" sz="1800" b="1" dirty="0"/>
              <a:t>The JSON format is used most of the time.</a:t>
            </a:r>
          </a:p>
          <a:p>
            <a:pPr marL="0" indent="0">
              <a:buNone/>
            </a:pPr>
            <a:r>
              <a:rPr lang="en-US" sz="1800" dirty="0"/>
              <a:t>For example, this code submits user object as JSON: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Please note, if the request body is a string, then Content-Type header is set to text/</a:t>
            </a:r>
            <a:r>
              <a:rPr lang="en-US" sz="1800" dirty="0" err="1"/>
              <a:t>plain;charset</a:t>
            </a:r>
            <a:r>
              <a:rPr lang="en-US" sz="1800" dirty="0"/>
              <a:t>=UTF-8 by default.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But, as we’re going to send JSON, we use headers option to send application/json instead, the correct Content-Type for JSON-encoded data.</a:t>
            </a:r>
            <a:endParaRPr lang="en-IN" sz="1800" dirty="0"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974227B6-9E2A-432F-AD0D-8512263EC293}"/>
              </a:ext>
            </a:extLst>
          </p:cNvPr>
          <p:cNvSpPr txBox="1"/>
          <p:nvPr/>
        </p:nvSpPr>
        <p:spPr>
          <a:xfrm>
            <a:off x="6389737" y="0"/>
            <a:ext cx="5802263" cy="4985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{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name: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'John'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surname: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'Smith'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};</a:t>
            </a:r>
          </a:p>
          <a:p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fetch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‘http://localhost:5500/</a:t>
            </a:r>
            <a:r>
              <a:rPr lang="en-I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api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/product'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IN" sz="2400" b="1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method: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'POST'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headers: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{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'Content-Type'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'application/</a:t>
            </a:r>
            <a:r>
              <a:rPr lang="en-I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json;charset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=utf-8'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},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body: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JSON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stringify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24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json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</a:p>
        </p:txBody>
      </p:sp>
    </p:spTree>
    <p:extLst>
      <p:ext uri="{BB962C8B-B14F-4D97-AF65-F5344CB8AC3E}">
        <p14:creationId xmlns:p14="http://schemas.microsoft.com/office/powerpoint/2010/main" val="2968133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725" y="1349375"/>
            <a:ext cx="4610100" cy="3413125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marL="0" indent="0">
              <a:buNone/>
            </a:pPr>
            <a:r>
              <a:rPr lang="en-US" dirty="0" err="1" smtClean="0"/>
              <a:t>Browser</a:t>
            </a:r>
            <a:r>
              <a:rPr lang="en-US" dirty="0" err="1" smtClean="0">
                <a:sym typeface="Wingdings" panose="05000000000000000000" pitchFamily="2" charset="2"/>
              </a:rPr>
              <a:t>Client</a:t>
            </a:r>
            <a:endParaRPr lang="en-US" dirty="0" smtClean="0"/>
          </a:p>
          <a:p>
            <a:pPr marL="0" indent="0">
              <a:buNone/>
            </a:pPr>
            <a:r>
              <a:rPr lang="en-IN" dirty="0">
                <a:hlinkClick r:id="rId2"/>
              </a:rPr>
              <a:t>127.0.0.1:5500/ex_2/await.html</a:t>
            </a:r>
            <a:endParaRPr lang="en-IN" dirty="0"/>
          </a:p>
        </p:txBody>
      </p:sp>
      <p:sp>
        <p:nvSpPr>
          <p:cNvPr id="4" name="Oval 3"/>
          <p:cNvSpPr/>
          <p:nvPr/>
        </p:nvSpPr>
        <p:spPr>
          <a:xfrm>
            <a:off x="4600575" y="133350"/>
            <a:ext cx="1219200" cy="10477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JS Engine</a:t>
            </a:r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5419724" y="1438401"/>
            <a:ext cx="2343151" cy="203132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Live Server:</a:t>
            </a:r>
          </a:p>
          <a:p>
            <a:r>
              <a:rPr lang="en-US" dirty="0" smtClean="0"/>
              <a:t>Locate the file and return .html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endParaRPr lang="en-IN" dirty="0"/>
          </a:p>
        </p:txBody>
      </p:sp>
      <p:sp>
        <p:nvSpPr>
          <p:cNvPr id="6" name="Freeform 5"/>
          <p:cNvSpPr/>
          <p:nvPr/>
        </p:nvSpPr>
        <p:spPr>
          <a:xfrm>
            <a:off x="6048375" y="561974"/>
            <a:ext cx="2305050" cy="2162175"/>
          </a:xfrm>
          <a:custGeom>
            <a:avLst/>
            <a:gdLst>
              <a:gd name="connsiteX0" fmla="*/ 276225 w 2133600"/>
              <a:gd name="connsiteY0" fmla="*/ 2000250 h 2209800"/>
              <a:gd name="connsiteX1" fmla="*/ 476250 w 2133600"/>
              <a:gd name="connsiteY1" fmla="*/ 2038350 h 2209800"/>
              <a:gd name="connsiteX2" fmla="*/ 571500 w 2133600"/>
              <a:gd name="connsiteY2" fmla="*/ 2076450 h 2209800"/>
              <a:gd name="connsiteX3" fmla="*/ 685800 w 2133600"/>
              <a:gd name="connsiteY3" fmla="*/ 2105025 h 2209800"/>
              <a:gd name="connsiteX4" fmla="*/ 800100 w 2133600"/>
              <a:gd name="connsiteY4" fmla="*/ 2143125 h 2209800"/>
              <a:gd name="connsiteX5" fmla="*/ 933450 w 2133600"/>
              <a:gd name="connsiteY5" fmla="*/ 2162175 h 2209800"/>
              <a:gd name="connsiteX6" fmla="*/ 1114425 w 2133600"/>
              <a:gd name="connsiteY6" fmla="*/ 2190750 h 2209800"/>
              <a:gd name="connsiteX7" fmla="*/ 1247775 w 2133600"/>
              <a:gd name="connsiteY7" fmla="*/ 2209800 h 2209800"/>
              <a:gd name="connsiteX8" fmla="*/ 1562100 w 2133600"/>
              <a:gd name="connsiteY8" fmla="*/ 2200275 h 2209800"/>
              <a:gd name="connsiteX9" fmla="*/ 1695450 w 2133600"/>
              <a:gd name="connsiteY9" fmla="*/ 2152650 h 2209800"/>
              <a:gd name="connsiteX10" fmla="*/ 1743075 w 2133600"/>
              <a:gd name="connsiteY10" fmla="*/ 2133600 h 2209800"/>
              <a:gd name="connsiteX11" fmla="*/ 1800225 w 2133600"/>
              <a:gd name="connsiteY11" fmla="*/ 2114550 h 2209800"/>
              <a:gd name="connsiteX12" fmla="*/ 1828800 w 2133600"/>
              <a:gd name="connsiteY12" fmla="*/ 2095500 h 2209800"/>
              <a:gd name="connsiteX13" fmla="*/ 1905000 w 2133600"/>
              <a:gd name="connsiteY13" fmla="*/ 2038350 h 2209800"/>
              <a:gd name="connsiteX14" fmla="*/ 1962150 w 2133600"/>
              <a:gd name="connsiteY14" fmla="*/ 2000250 h 2209800"/>
              <a:gd name="connsiteX15" fmla="*/ 2085975 w 2133600"/>
              <a:gd name="connsiteY15" fmla="*/ 1790700 h 2209800"/>
              <a:gd name="connsiteX16" fmla="*/ 2105025 w 2133600"/>
              <a:gd name="connsiteY16" fmla="*/ 1752600 h 2209800"/>
              <a:gd name="connsiteX17" fmla="*/ 2114550 w 2133600"/>
              <a:gd name="connsiteY17" fmla="*/ 1714500 h 2209800"/>
              <a:gd name="connsiteX18" fmla="*/ 2133600 w 2133600"/>
              <a:gd name="connsiteY18" fmla="*/ 1552575 h 2209800"/>
              <a:gd name="connsiteX19" fmla="*/ 2095500 w 2133600"/>
              <a:gd name="connsiteY19" fmla="*/ 1057275 h 2209800"/>
              <a:gd name="connsiteX20" fmla="*/ 2085975 w 2133600"/>
              <a:gd name="connsiteY20" fmla="*/ 981075 h 2209800"/>
              <a:gd name="connsiteX21" fmla="*/ 2047875 w 2133600"/>
              <a:gd name="connsiteY21" fmla="*/ 904875 h 2209800"/>
              <a:gd name="connsiteX22" fmla="*/ 1981200 w 2133600"/>
              <a:gd name="connsiteY22" fmla="*/ 771525 h 2209800"/>
              <a:gd name="connsiteX23" fmla="*/ 1933575 w 2133600"/>
              <a:gd name="connsiteY23" fmla="*/ 676275 h 2209800"/>
              <a:gd name="connsiteX24" fmla="*/ 1895475 w 2133600"/>
              <a:gd name="connsiteY24" fmla="*/ 600075 h 2209800"/>
              <a:gd name="connsiteX25" fmla="*/ 1819275 w 2133600"/>
              <a:gd name="connsiteY25" fmla="*/ 504825 h 2209800"/>
              <a:gd name="connsiteX26" fmla="*/ 1762125 w 2133600"/>
              <a:gd name="connsiteY26" fmla="*/ 428625 h 2209800"/>
              <a:gd name="connsiteX27" fmla="*/ 1714500 w 2133600"/>
              <a:gd name="connsiteY27" fmla="*/ 390525 h 2209800"/>
              <a:gd name="connsiteX28" fmla="*/ 1647825 w 2133600"/>
              <a:gd name="connsiteY28" fmla="*/ 323850 h 2209800"/>
              <a:gd name="connsiteX29" fmla="*/ 1571625 w 2133600"/>
              <a:gd name="connsiteY29" fmla="*/ 266700 h 2209800"/>
              <a:gd name="connsiteX30" fmla="*/ 1543050 w 2133600"/>
              <a:gd name="connsiteY30" fmla="*/ 247650 h 2209800"/>
              <a:gd name="connsiteX31" fmla="*/ 1504950 w 2133600"/>
              <a:gd name="connsiteY31" fmla="*/ 238125 h 2209800"/>
              <a:gd name="connsiteX32" fmla="*/ 1447800 w 2133600"/>
              <a:gd name="connsiteY32" fmla="*/ 219075 h 2209800"/>
              <a:gd name="connsiteX33" fmla="*/ 1400175 w 2133600"/>
              <a:gd name="connsiteY33" fmla="*/ 180975 h 2209800"/>
              <a:gd name="connsiteX34" fmla="*/ 1362075 w 2133600"/>
              <a:gd name="connsiteY34" fmla="*/ 171450 h 2209800"/>
              <a:gd name="connsiteX35" fmla="*/ 1323975 w 2133600"/>
              <a:gd name="connsiteY35" fmla="*/ 152400 h 2209800"/>
              <a:gd name="connsiteX36" fmla="*/ 1295400 w 2133600"/>
              <a:gd name="connsiteY36" fmla="*/ 133350 h 2209800"/>
              <a:gd name="connsiteX37" fmla="*/ 1257300 w 2133600"/>
              <a:gd name="connsiteY37" fmla="*/ 123825 h 2209800"/>
              <a:gd name="connsiteX38" fmla="*/ 1228725 w 2133600"/>
              <a:gd name="connsiteY38" fmla="*/ 114300 h 2209800"/>
              <a:gd name="connsiteX39" fmla="*/ 1190625 w 2133600"/>
              <a:gd name="connsiteY39" fmla="*/ 95250 h 2209800"/>
              <a:gd name="connsiteX40" fmla="*/ 1152525 w 2133600"/>
              <a:gd name="connsiteY40" fmla="*/ 85725 h 2209800"/>
              <a:gd name="connsiteX41" fmla="*/ 981075 w 2133600"/>
              <a:gd name="connsiteY41" fmla="*/ 57150 h 2209800"/>
              <a:gd name="connsiteX42" fmla="*/ 819150 w 2133600"/>
              <a:gd name="connsiteY42" fmla="*/ 38100 h 2209800"/>
              <a:gd name="connsiteX43" fmla="*/ 647700 w 2133600"/>
              <a:gd name="connsiteY43" fmla="*/ 9525 h 2209800"/>
              <a:gd name="connsiteX44" fmla="*/ 571500 w 2133600"/>
              <a:gd name="connsiteY44" fmla="*/ 0 h 2209800"/>
              <a:gd name="connsiteX45" fmla="*/ 0 w 2133600"/>
              <a:gd name="connsiteY45" fmla="*/ 9525 h 2209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2133600" h="2209800">
                <a:moveTo>
                  <a:pt x="276225" y="2000250"/>
                </a:moveTo>
                <a:cubicBezTo>
                  <a:pt x="339495" y="2009984"/>
                  <a:pt x="413725" y="2017508"/>
                  <a:pt x="476250" y="2038350"/>
                </a:cubicBezTo>
                <a:cubicBezTo>
                  <a:pt x="508691" y="2049164"/>
                  <a:pt x="538914" y="2066082"/>
                  <a:pt x="571500" y="2076450"/>
                </a:cubicBezTo>
                <a:cubicBezTo>
                  <a:pt x="608924" y="2088358"/>
                  <a:pt x="648098" y="2094029"/>
                  <a:pt x="685800" y="2105025"/>
                </a:cubicBezTo>
                <a:cubicBezTo>
                  <a:pt x="724354" y="2116270"/>
                  <a:pt x="760968" y="2134094"/>
                  <a:pt x="800100" y="2143125"/>
                </a:cubicBezTo>
                <a:cubicBezTo>
                  <a:pt x="843851" y="2153221"/>
                  <a:pt x="889273" y="2154143"/>
                  <a:pt x="933450" y="2162175"/>
                </a:cubicBezTo>
                <a:cubicBezTo>
                  <a:pt x="1211212" y="2212677"/>
                  <a:pt x="759165" y="2148119"/>
                  <a:pt x="1114425" y="2190750"/>
                </a:cubicBezTo>
                <a:cubicBezTo>
                  <a:pt x="1159006" y="2196100"/>
                  <a:pt x="1247775" y="2209800"/>
                  <a:pt x="1247775" y="2209800"/>
                </a:cubicBezTo>
                <a:cubicBezTo>
                  <a:pt x="1352550" y="2206625"/>
                  <a:pt x="1458121" y="2213549"/>
                  <a:pt x="1562100" y="2200275"/>
                </a:cubicBezTo>
                <a:cubicBezTo>
                  <a:pt x="1608920" y="2194298"/>
                  <a:pt x="1651626" y="2170180"/>
                  <a:pt x="1695450" y="2152650"/>
                </a:cubicBezTo>
                <a:cubicBezTo>
                  <a:pt x="1711325" y="2146300"/>
                  <a:pt x="1727007" y="2139443"/>
                  <a:pt x="1743075" y="2133600"/>
                </a:cubicBezTo>
                <a:cubicBezTo>
                  <a:pt x="1761946" y="2126738"/>
                  <a:pt x="1781875" y="2122705"/>
                  <a:pt x="1800225" y="2114550"/>
                </a:cubicBezTo>
                <a:cubicBezTo>
                  <a:pt x="1810686" y="2109901"/>
                  <a:pt x="1819542" y="2102233"/>
                  <a:pt x="1828800" y="2095500"/>
                </a:cubicBezTo>
                <a:cubicBezTo>
                  <a:pt x="1854477" y="2076826"/>
                  <a:pt x="1878582" y="2055962"/>
                  <a:pt x="1905000" y="2038350"/>
                </a:cubicBezTo>
                <a:lnTo>
                  <a:pt x="1962150" y="2000250"/>
                </a:lnTo>
                <a:cubicBezTo>
                  <a:pt x="2058041" y="1856414"/>
                  <a:pt x="2017872" y="1926906"/>
                  <a:pt x="2085975" y="1790700"/>
                </a:cubicBezTo>
                <a:cubicBezTo>
                  <a:pt x="2092325" y="1778000"/>
                  <a:pt x="2101581" y="1766375"/>
                  <a:pt x="2105025" y="1752600"/>
                </a:cubicBezTo>
                <a:cubicBezTo>
                  <a:pt x="2108200" y="1739900"/>
                  <a:pt x="2112208" y="1727380"/>
                  <a:pt x="2114550" y="1714500"/>
                </a:cubicBezTo>
                <a:cubicBezTo>
                  <a:pt x="2123908" y="1663029"/>
                  <a:pt x="2128491" y="1603661"/>
                  <a:pt x="2133600" y="1552575"/>
                </a:cubicBezTo>
                <a:cubicBezTo>
                  <a:pt x="2120900" y="1387475"/>
                  <a:pt x="2109251" y="1222291"/>
                  <a:pt x="2095500" y="1057275"/>
                </a:cubicBezTo>
                <a:cubicBezTo>
                  <a:pt x="2093374" y="1031766"/>
                  <a:pt x="2093610" y="1005507"/>
                  <a:pt x="2085975" y="981075"/>
                </a:cubicBezTo>
                <a:cubicBezTo>
                  <a:pt x="2077505" y="953970"/>
                  <a:pt x="2059884" y="930609"/>
                  <a:pt x="2047875" y="904875"/>
                </a:cubicBezTo>
                <a:cubicBezTo>
                  <a:pt x="1954343" y="704450"/>
                  <a:pt x="2089387" y="975878"/>
                  <a:pt x="1981200" y="771525"/>
                </a:cubicBezTo>
                <a:cubicBezTo>
                  <a:pt x="1964591" y="740153"/>
                  <a:pt x="1949450" y="708025"/>
                  <a:pt x="1933575" y="676275"/>
                </a:cubicBezTo>
                <a:cubicBezTo>
                  <a:pt x="1920875" y="650875"/>
                  <a:pt x="1913215" y="622250"/>
                  <a:pt x="1895475" y="600075"/>
                </a:cubicBezTo>
                <a:cubicBezTo>
                  <a:pt x="1870075" y="568325"/>
                  <a:pt x="1841829" y="538656"/>
                  <a:pt x="1819275" y="504825"/>
                </a:cubicBezTo>
                <a:cubicBezTo>
                  <a:pt x="1801688" y="478445"/>
                  <a:pt x="1784751" y="451251"/>
                  <a:pt x="1762125" y="428625"/>
                </a:cubicBezTo>
                <a:cubicBezTo>
                  <a:pt x="1747750" y="414250"/>
                  <a:pt x="1728100" y="405636"/>
                  <a:pt x="1714500" y="390525"/>
                </a:cubicBezTo>
                <a:cubicBezTo>
                  <a:pt x="1648996" y="317743"/>
                  <a:pt x="1707695" y="343807"/>
                  <a:pt x="1647825" y="323850"/>
                </a:cubicBezTo>
                <a:cubicBezTo>
                  <a:pt x="1588266" y="264291"/>
                  <a:pt x="1634817" y="302810"/>
                  <a:pt x="1571625" y="266700"/>
                </a:cubicBezTo>
                <a:cubicBezTo>
                  <a:pt x="1561686" y="261020"/>
                  <a:pt x="1553572" y="252159"/>
                  <a:pt x="1543050" y="247650"/>
                </a:cubicBezTo>
                <a:cubicBezTo>
                  <a:pt x="1531018" y="242493"/>
                  <a:pt x="1517489" y="241887"/>
                  <a:pt x="1504950" y="238125"/>
                </a:cubicBezTo>
                <a:cubicBezTo>
                  <a:pt x="1485716" y="232355"/>
                  <a:pt x="1466850" y="225425"/>
                  <a:pt x="1447800" y="219075"/>
                </a:cubicBezTo>
                <a:cubicBezTo>
                  <a:pt x="1431925" y="206375"/>
                  <a:pt x="1417947" y="190848"/>
                  <a:pt x="1400175" y="180975"/>
                </a:cubicBezTo>
                <a:cubicBezTo>
                  <a:pt x="1388732" y="174618"/>
                  <a:pt x="1374332" y="176047"/>
                  <a:pt x="1362075" y="171450"/>
                </a:cubicBezTo>
                <a:cubicBezTo>
                  <a:pt x="1348780" y="166464"/>
                  <a:pt x="1336303" y="159445"/>
                  <a:pt x="1323975" y="152400"/>
                </a:cubicBezTo>
                <a:cubicBezTo>
                  <a:pt x="1314036" y="146720"/>
                  <a:pt x="1305922" y="137859"/>
                  <a:pt x="1295400" y="133350"/>
                </a:cubicBezTo>
                <a:cubicBezTo>
                  <a:pt x="1283368" y="128193"/>
                  <a:pt x="1269887" y="127421"/>
                  <a:pt x="1257300" y="123825"/>
                </a:cubicBezTo>
                <a:cubicBezTo>
                  <a:pt x="1247646" y="121067"/>
                  <a:pt x="1237953" y="118255"/>
                  <a:pt x="1228725" y="114300"/>
                </a:cubicBezTo>
                <a:cubicBezTo>
                  <a:pt x="1215674" y="108707"/>
                  <a:pt x="1203920" y="100236"/>
                  <a:pt x="1190625" y="95250"/>
                </a:cubicBezTo>
                <a:cubicBezTo>
                  <a:pt x="1178368" y="90653"/>
                  <a:pt x="1165405" y="88067"/>
                  <a:pt x="1152525" y="85725"/>
                </a:cubicBezTo>
                <a:cubicBezTo>
                  <a:pt x="1095521" y="75361"/>
                  <a:pt x="1037888" y="68513"/>
                  <a:pt x="981075" y="57150"/>
                </a:cubicBezTo>
                <a:cubicBezTo>
                  <a:pt x="889684" y="38872"/>
                  <a:pt x="964405" y="51934"/>
                  <a:pt x="819150" y="38100"/>
                </a:cubicBezTo>
                <a:cubicBezTo>
                  <a:pt x="663820" y="23307"/>
                  <a:pt x="802738" y="36885"/>
                  <a:pt x="647700" y="9525"/>
                </a:cubicBezTo>
                <a:cubicBezTo>
                  <a:pt x="622492" y="5077"/>
                  <a:pt x="596900" y="3175"/>
                  <a:pt x="571500" y="0"/>
                </a:cubicBezTo>
                <a:lnTo>
                  <a:pt x="0" y="9525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ight Triangle 6"/>
          <p:cNvSpPr/>
          <p:nvPr/>
        </p:nvSpPr>
        <p:spPr>
          <a:xfrm rot="3131465">
            <a:off x="5871751" y="465597"/>
            <a:ext cx="381000" cy="390525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/>
          <p:cNvSpPr txBox="1"/>
          <p:nvPr/>
        </p:nvSpPr>
        <p:spPr>
          <a:xfrm>
            <a:off x="5419724" y="47291"/>
            <a:ext cx="492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 fetch("https://localhost:7081/</a:t>
            </a:r>
            <a:r>
              <a:rPr lang="en-IN" dirty="0" err="1"/>
              <a:t>api</a:t>
            </a:r>
            <a:r>
              <a:rPr lang="en-IN" dirty="0"/>
              <a:t>/Employee");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39150" y="1589087"/>
            <a:ext cx="3248025" cy="175432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 err="1" smtClean="0"/>
              <a:t>Kerteral</a:t>
            </a:r>
            <a:r>
              <a:rPr lang="en-US" dirty="0" smtClean="0"/>
              <a:t> server</a:t>
            </a:r>
          </a:p>
          <a:p>
            <a:r>
              <a:rPr lang="en-US" dirty="0" smtClean="0"/>
              <a:t>Locate file  </a:t>
            </a:r>
            <a:r>
              <a:rPr lang="en-IN" dirty="0" err="1" smtClean="0"/>
              <a:t>api</a:t>
            </a:r>
            <a:r>
              <a:rPr lang="en-IN" dirty="0" smtClean="0"/>
              <a:t>/Employee load in memory</a:t>
            </a:r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IN" dirty="0"/>
          </a:p>
        </p:txBody>
      </p:sp>
      <p:sp>
        <p:nvSpPr>
          <p:cNvPr id="10" name="Oval 9"/>
          <p:cNvSpPr/>
          <p:nvPr/>
        </p:nvSpPr>
        <p:spPr>
          <a:xfrm>
            <a:off x="10229851" y="238125"/>
            <a:ext cx="1962150" cy="111125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ASP </a:t>
            </a:r>
            <a:r>
              <a:rPr lang="en-US" dirty="0" err="1" smtClean="0"/>
              <a:t>CoreEngine</a:t>
            </a:r>
            <a:endParaRPr lang="en-IN" dirty="0"/>
          </a:p>
        </p:txBody>
      </p:sp>
      <p:sp>
        <p:nvSpPr>
          <p:cNvPr id="11" name="TextBox 10"/>
          <p:cNvSpPr txBox="1"/>
          <p:nvPr/>
        </p:nvSpPr>
        <p:spPr>
          <a:xfrm>
            <a:off x="6333303" y="3727027"/>
            <a:ext cx="5353871" cy="313932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err="1" smtClean="0"/>
              <a:t>Controller</a:t>
            </a:r>
            <a:r>
              <a:rPr lang="en-US" dirty="0" err="1" smtClean="0">
                <a:sym typeface="Wingdings" panose="05000000000000000000" pitchFamily="2" charset="2"/>
              </a:rPr>
              <a:t>servicerepositorydatabase</a:t>
            </a:r>
            <a:endParaRPr lang="en-US" dirty="0" smtClean="0"/>
          </a:p>
          <a:p>
            <a:r>
              <a:rPr lang="en-US" dirty="0" smtClean="0"/>
              <a:t>Get()</a:t>
            </a:r>
          </a:p>
          <a:p>
            <a:r>
              <a:rPr lang="en-US" dirty="0" smtClean="0"/>
              <a:t>{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}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 err="1" smtClean="0"/>
              <a:t>Databser</a:t>
            </a:r>
            <a:r>
              <a:rPr lang="en-US" dirty="0" err="1" smtClean="0">
                <a:sym typeface="Wingdings" panose="05000000000000000000" pitchFamily="2" charset="2"/>
              </a:rPr>
              <a:t>repositoryservicecontrollerreturn</a:t>
            </a:r>
            <a:r>
              <a:rPr lang="en-US" dirty="0" smtClean="0">
                <a:sym typeface="Wingdings" panose="05000000000000000000" pitchFamily="2" charset="2"/>
              </a:rPr>
              <a:t> </a:t>
            </a:r>
            <a:r>
              <a:rPr lang="en-US" dirty="0" err="1" smtClean="0">
                <a:sym typeface="Wingdings" panose="05000000000000000000" pitchFamily="2" charset="2"/>
              </a:rPr>
              <a:t>json</a:t>
            </a:r>
            <a:endParaRPr lang="en-US" dirty="0" smtClean="0"/>
          </a:p>
        </p:txBody>
      </p:sp>
      <p:sp>
        <p:nvSpPr>
          <p:cNvPr id="12" name="Flowchart: Magnetic Disk 11"/>
          <p:cNvSpPr/>
          <p:nvPr/>
        </p:nvSpPr>
        <p:spPr>
          <a:xfrm>
            <a:off x="11420475" y="3977059"/>
            <a:ext cx="1371600" cy="121406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10696575" y="4067175"/>
            <a:ext cx="666750" cy="3429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5314950" y="1390650"/>
            <a:ext cx="1114425" cy="5248275"/>
          </a:xfrm>
          <a:custGeom>
            <a:avLst/>
            <a:gdLst>
              <a:gd name="connsiteX0" fmla="*/ 1114425 w 1114425"/>
              <a:gd name="connsiteY0" fmla="*/ 5248275 h 5248275"/>
              <a:gd name="connsiteX1" fmla="*/ 1057275 w 1114425"/>
              <a:gd name="connsiteY1" fmla="*/ 5191125 h 5248275"/>
              <a:gd name="connsiteX2" fmla="*/ 1009650 w 1114425"/>
              <a:gd name="connsiteY2" fmla="*/ 5172075 h 5248275"/>
              <a:gd name="connsiteX3" fmla="*/ 933450 w 1114425"/>
              <a:gd name="connsiteY3" fmla="*/ 5133975 h 5248275"/>
              <a:gd name="connsiteX4" fmla="*/ 866775 w 1114425"/>
              <a:gd name="connsiteY4" fmla="*/ 5076825 h 5248275"/>
              <a:gd name="connsiteX5" fmla="*/ 838200 w 1114425"/>
              <a:gd name="connsiteY5" fmla="*/ 5057775 h 5248275"/>
              <a:gd name="connsiteX6" fmla="*/ 809625 w 1114425"/>
              <a:gd name="connsiteY6" fmla="*/ 5029200 h 5248275"/>
              <a:gd name="connsiteX7" fmla="*/ 752475 w 1114425"/>
              <a:gd name="connsiteY7" fmla="*/ 4991100 h 5248275"/>
              <a:gd name="connsiteX8" fmla="*/ 685800 w 1114425"/>
              <a:gd name="connsiteY8" fmla="*/ 4895850 h 5248275"/>
              <a:gd name="connsiteX9" fmla="*/ 647700 w 1114425"/>
              <a:gd name="connsiteY9" fmla="*/ 4857750 h 5248275"/>
              <a:gd name="connsiteX10" fmla="*/ 609600 w 1114425"/>
              <a:gd name="connsiteY10" fmla="*/ 4800600 h 5248275"/>
              <a:gd name="connsiteX11" fmla="*/ 571500 w 1114425"/>
              <a:gd name="connsiteY11" fmla="*/ 4762500 h 5248275"/>
              <a:gd name="connsiteX12" fmla="*/ 523875 w 1114425"/>
              <a:gd name="connsiteY12" fmla="*/ 4667250 h 5248275"/>
              <a:gd name="connsiteX13" fmla="*/ 485775 w 1114425"/>
              <a:gd name="connsiteY13" fmla="*/ 4610100 h 5248275"/>
              <a:gd name="connsiteX14" fmla="*/ 466725 w 1114425"/>
              <a:gd name="connsiteY14" fmla="*/ 4552950 h 5248275"/>
              <a:gd name="connsiteX15" fmla="*/ 419100 w 1114425"/>
              <a:gd name="connsiteY15" fmla="*/ 4410075 h 5248275"/>
              <a:gd name="connsiteX16" fmla="*/ 390525 w 1114425"/>
              <a:gd name="connsiteY16" fmla="*/ 4324350 h 5248275"/>
              <a:gd name="connsiteX17" fmla="*/ 381000 w 1114425"/>
              <a:gd name="connsiteY17" fmla="*/ 4276725 h 5248275"/>
              <a:gd name="connsiteX18" fmla="*/ 352425 w 1114425"/>
              <a:gd name="connsiteY18" fmla="*/ 4191000 h 5248275"/>
              <a:gd name="connsiteX19" fmla="*/ 333375 w 1114425"/>
              <a:gd name="connsiteY19" fmla="*/ 4124325 h 5248275"/>
              <a:gd name="connsiteX20" fmla="*/ 314325 w 1114425"/>
              <a:gd name="connsiteY20" fmla="*/ 4038600 h 5248275"/>
              <a:gd name="connsiteX21" fmla="*/ 276225 w 1114425"/>
              <a:gd name="connsiteY21" fmla="*/ 3952875 h 5248275"/>
              <a:gd name="connsiteX22" fmla="*/ 247650 w 1114425"/>
              <a:gd name="connsiteY22" fmla="*/ 3724275 h 5248275"/>
              <a:gd name="connsiteX23" fmla="*/ 238125 w 1114425"/>
              <a:gd name="connsiteY23" fmla="*/ 3657600 h 5248275"/>
              <a:gd name="connsiteX24" fmla="*/ 219075 w 1114425"/>
              <a:gd name="connsiteY24" fmla="*/ 3609975 h 5248275"/>
              <a:gd name="connsiteX25" fmla="*/ 190500 w 1114425"/>
              <a:gd name="connsiteY25" fmla="*/ 3524250 h 5248275"/>
              <a:gd name="connsiteX26" fmla="*/ 180975 w 1114425"/>
              <a:gd name="connsiteY26" fmla="*/ 3429000 h 5248275"/>
              <a:gd name="connsiteX27" fmla="*/ 161925 w 1114425"/>
              <a:gd name="connsiteY27" fmla="*/ 3352800 h 5248275"/>
              <a:gd name="connsiteX28" fmla="*/ 152400 w 1114425"/>
              <a:gd name="connsiteY28" fmla="*/ 3286125 h 5248275"/>
              <a:gd name="connsiteX29" fmla="*/ 123825 w 1114425"/>
              <a:gd name="connsiteY29" fmla="*/ 3143250 h 5248275"/>
              <a:gd name="connsiteX30" fmla="*/ 104775 w 1114425"/>
              <a:gd name="connsiteY30" fmla="*/ 2971800 h 5248275"/>
              <a:gd name="connsiteX31" fmla="*/ 95250 w 1114425"/>
              <a:gd name="connsiteY31" fmla="*/ 1333500 h 5248275"/>
              <a:gd name="connsiteX32" fmla="*/ 76200 w 1114425"/>
              <a:gd name="connsiteY32" fmla="*/ 1028700 h 5248275"/>
              <a:gd name="connsiteX33" fmla="*/ 47625 w 1114425"/>
              <a:gd name="connsiteY33" fmla="*/ 923925 h 5248275"/>
              <a:gd name="connsiteX34" fmla="*/ 28575 w 1114425"/>
              <a:gd name="connsiteY34" fmla="*/ 790575 h 5248275"/>
              <a:gd name="connsiteX35" fmla="*/ 19050 w 1114425"/>
              <a:gd name="connsiteY35" fmla="*/ 676275 h 5248275"/>
              <a:gd name="connsiteX36" fmla="*/ 0 w 1114425"/>
              <a:gd name="connsiteY36" fmla="*/ 523875 h 5248275"/>
              <a:gd name="connsiteX37" fmla="*/ 0 w 1114425"/>
              <a:gd name="connsiteY37" fmla="*/ 0 h 5248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114425" h="5248275">
                <a:moveTo>
                  <a:pt x="1114425" y="5248275"/>
                </a:moveTo>
                <a:cubicBezTo>
                  <a:pt x="1095375" y="5229225"/>
                  <a:pt x="1079063" y="5206971"/>
                  <a:pt x="1057275" y="5191125"/>
                </a:cubicBezTo>
                <a:cubicBezTo>
                  <a:pt x="1043447" y="5181069"/>
                  <a:pt x="1025174" y="5179240"/>
                  <a:pt x="1009650" y="5172075"/>
                </a:cubicBezTo>
                <a:cubicBezTo>
                  <a:pt x="983866" y="5160175"/>
                  <a:pt x="957980" y="5148284"/>
                  <a:pt x="933450" y="5133975"/>
                </a:cubicBezTo>
                <a:cubicBezTo>
                  <a:pt x="885888" y="5106230"/>
                  <a:pt x="905460" y="5109063"/>
                  <a:pt x="866775" y="5076825"/>
                </a:cubicBezTo>
                <a:cubicBezTo>
                  <a:pt x="857981" y="5069496"/>
                  <a:pt x="846994" y="5065104"/>
                  <a:pt x="838200" y="5057775"/>
                </a:cubicBezTo>
                <a:cubicBezTo>
                  <a:pt x="827852" y="5049151"/>
                  <a:pt x="820258" y="5037470"/>
                  <a:pt x="809625" y="5029200"/>
                </a:cubicBezTo>
                <a:cubicBezTo>
                  <a:pt x="791553" y="5015144"/>
                  <a:pt x="752475" y="4991100"/>
                  <a:pt x="752475" y="4991100"/>
                </a:cubicBezTo>
                <a:cubicBezTo>
                  <a:pt x="723877" y="4943437"/>
                  <a:pt x="724004" y="4938829"/>
                  <a:pt x="685800" y="4895850"/>
                </a:cubicBezTo>
                <a:cubicBezTo>
                  <a:pt x="673868" y="4882426"/>
                  <a:pt x="658920" y="4871775"/>
                  <a:pt x="647700" y="4857750"/>
                </a:cubicBezTo>
                <a:cubicBezTo>
                  <a:pt x="633397" y="4839872"/>
                  <a:pt x="623903" y="4818478"/>
                  <a:pt x="609600" y="4800600"/>
                </a:cubicBezTo>
                <a:cubicBezTo>
                  <a:pt x="598380" y="4786575"/>
                  <a:pt x="581212" y="4777608"/>
                  <a:pt x="571500" y="4762500"/>
                </a:cubicBezTo>
                <a:cubicBezTo>
                  <a:pt x="552304" y="4732640"/>
                  <a:pt x="543566" y="4696786"/>
                  <a:pt x="523875" y="4667250"/>
                </a:cubicBezTo>
                <a:cubicBezTo>
                  <a:pt x="511175" y="4648200"/>
                  <a:pt x="496014" y="4630578"/>
                  <a:pt x="485775" y="4610100"/>
                </a:cubicBezTo>
                <a:cubicBezTo>
                  <a:pt x="476795" y="4592139"/>
                  <a:pt x="473776" y="4571752"/>
                  <a:pt x="466725" y="4552950"/>
                </a:cubicBezTo>
                <a:cubicBezTo>
                  <a:pt x="412538" y="4408452"/>
                  <a:pt x="460510" y="4542587"/>
                  <a:pt x="419100" y="4410075"/>
                </a:cubicBezTo>
                <a:cubicBezTo>
                  <a:pt x="410116" y="4381325"/>
                  <a:pt x="398800" y="4353312"/>
                  <a:pt x="390525" y="4324350"/>
                </a:cubicBezTo>
                <a:cubicBezTo>
                  <a:pt x="386077" y="4308784"/>
                  <a:pt x="385448" y="4292291"/>
                  <a:pt x="381000" y="4276725"/>
                </a:cubicBezTo>
                <a:cubicBezTo>
                  <a:pt x="372725" y="4247763"/>
                  <a:pt x="361409" y="4219750"/>
                  <a:pt x="352425" y="4191000"/>
                </a:cubicBezTo>
                <a:cubicBezTo>
                  <a:pt x="345531" y="4168938"/>
                  <a:pt x="338981" y="4146749"/>
                  <a:pt x="333375" y="4124325"/>
                </a:cubicBezTo>
                <a:cubicBezTo>
                  <a:pt x="326275" y="4095927"/>
                  <a:pt x="323582" y="4066370"/>
                  <a:pt x="314325" y="4038600"/>
                </a:cubicBezTo>
                <a:cubicBezTo>
                  <a:pt x="304437" y="4008935"/>
                  <a:pt x="288925" y="3981450"/>
                  <a:pt x="276225" y="3952875"/>
                </a:cubicBezTo>
                <a:cubicBezTo>
                  <a:pt x="261333" y="3744392"/>
                  <a:pt x="277663" y="3894347"/>
                  <a:pt x="247650" y="3724275"/>
                </a:cubicBezTo>
                <a:cubicBezTo>
                  <a:pt x="243748" y="3702166"/>
                  <a:pt x="243570" y="3679380"/>
                  <a:pt x="238125" y="3657600"/>
                </a:cubicBezTo>
                <a:cubicBezTo>
                  <a:pt x="233978" y="3641013"/>
                  <a:pt x="224826" y="3626077"/>
                  <a:pt x="219075" y="3609975"/>
                </a:cubicBezTo>
                <a:cubicBezTo>
                  <a:pt x="208944" y="3581609"/>
                  <a:pt x="200025" y="3552825"/>
                  <a:pt x="190500" y="3524250"/>
                </a:cubicBezTo>
                <a:cubicBezTo>
                  <a:pt x="187325" y="3492500"/>
                  <a:pt x="186221" y="3460474"/>
                  <a:pt x="180975" y="3429000"/>
                </a:cubicBezTo>
                <a:cubicBezTo>
                  <a:pt x="176671" y="3403175"/>
                  <a:pt x="167060" y="3378473"/>
                  <a:pt x="161925" y="3352800"/>
                </a:cubicBezTo>
                <a:cubicBezTo>
                  <a:pt x="157522" y="3330785"/>
                  <a:pt x="156416" y="3308214"/>
                  <a:pt x="152400" y="3286125"/>
                </a:cubicBezTo>
                <a:cubicBezTo>
                  <a:pt x="143712" y="3238340"/>
                  <a:pt x="129188" y="3191521"/>
                  <a:pt x="123825" y="3143250"/>
                </a:cubicBezTo>
                <a:lnTo>
                  <a:pt x="104775" y="2971800"/>
                </a:lnTo>
                <a:cubicBezTo>
                  <a:pt x="101600" y="2425700"/>
                  <a:pt x="100880" y="1879580"/>
                  <a:pt x="95250" y="1333500"/>
                </a:cubicBezTo>
                <a:cubicBezTo>
                  <a:pt x="95094" y="1318322"/>
                  <a:pt x="87746" y="1090279"/>
                  <a:pt x="76200" y="1028700"/>
                </a:cubicBezTo>
                <a:cubicBezTo>
                  <a:pt x="45270" y="863739"/>
                  <a:pt x="66539" y="1065778"/>
                  <a:pt x="47625" y="923925"/>
                </a:cubicBezTo>
                <a:cubicBezTo>
                  <a:pt x="29063" y="784713"/>
                  <a:pt x="49012" y="872323"/>
                  <a:pt x="28575" y="790575"/>
                </a:cubicBezTo>
                <a:cubicBezTo>
                  <a:pt x="25400" y="752475"/>
                  <a:pt x="23123" y="714289"/>
                  <a:pt x="19050" y="676275"/>
                </a:cubicBezTo>
                <a:cubicBezTo>
                  <a:pt x="13596" y="625371"/>
                  <a:pt x="0" y="575070"/>
                  <a:pt x="0" y="523875"/>
                </a:cubicBezTo>
                <a:lnTo>
                  <a:pt x="0" y="0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Isosceles Triangle 15"/>
          <p:cNvSpPr/>
          <p:nvPr/>
        </p:nvSpPr>
        <p:spPr>
          <a:xfrm>
            <a:off x="4943474" y="1181100"/>
            <a:ext cx="762001" cy="333375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8" name="Straight Arrow Connector 17"/>
          <p:cNvCxnSpPr/>
          <p:nvPr/>
        </p:nvCxnSpPr>
        <p:spPr>
          <a:xfrm flipH="1">
            <a:off x="3400425" y="1181100"/>
            <a:ext cx="1543049" cy="21623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48615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1451</TotalTime>
  <Words>442</Words>
  <Application>Microsoft Office PowerPoint</Application>
  <PresentationFormat>Widescreen</PresentationFormat>
  <Paragraphs>186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Calibri Light</vt:lpstr>
      <vt:lpstr>Cambria</vt:lpstr>
      <vt:lpstr>Consolas</vt:lpstr>
      <vt:lpstr>Wingdings</vt:lpstr>
      <vt:lpstr>Office Theme</vt:lpstr>
      <vt:lpstr>PowerPoint Presentation</vt:lpstr>
      <vt:lpstr>Fetch</vt:lpstr>
      <vt:lpstr>PowerPoint Presentation</vt:lpstr>
      <vt:lpstr>PowerPoint Presentation</vt:lpstr>
      <vt:lpstr>PowerPoint Presentation</vt:lpstr>
      <vt:lpstr>PowerPoint Presentation</vt:lpstr>
      <vt:lpstr>Response headers</vt:lpstr>
      <vt:lpstr>Request headers</vt:lpstr>
      <vt:lpstr>PowerPoint Presentation</vt:lpstr>
      <vt:lpstr>PowerPoint Presentation</vt:lpstr>
      <vt:lpstr>POST requests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Sriram Mantri vidyanidhi infotech academy</dc:creator>
  <cp:lastModifiedBy>User</cp:lastModifiedBy>
  <cp:revision>128</cp:revision>
  <dcterms:created xsi:type="dcterms:W3CDTF">2020-12-02T06:26:25Z</dcterms:created>
  <dcterms:modified xsi:type="dcterms:W3CDTF">2024-06-12T07:39:51Z</dcterms:modified>
</cp:coreProperties>
</file>