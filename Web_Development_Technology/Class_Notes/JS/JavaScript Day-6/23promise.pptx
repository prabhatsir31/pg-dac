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0" r:id="rId2"/>
    <p:sldId id="261" r:id="rId3"/>
    <p:sldId id="262" r:id="rId4"/>
    <p:sldId id="263" r:id="rId5"/>
    <p:sldId id="276" r:id="rId6"/>
    <p:sldId id="264" r:id="rId7"/>
    <p:sldId id="265" r:id="rId8"/>
    <p:sldId id="266" r:id="rId9"/>
    <p:sldId id="267" r:id="rId10"/>
    <p:sldId id="268" r:id="rId11"/>
    <p:sldId id="269" r:id="rId12"/>
    <p:sldId id="270" r:id="rId13"/>
    <p:sldId id="271" r:id="rId14"/>
    <p:sldId id="272" r:id="rId15"/>
    <p:sldId id="273" r:id="rId16"/>
    <p:sldId id="275"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B6A38-92D1-48EF-BF3B-AEEE6CB462B3}" type="slidenum">
              <a:rPr lang="en-IN" smtClean="0"/>
              <a:t>1</a:t>
            </a:fld>
            <a:endParaRPr lang="en-IN"/>
          </a:p>
        </p:txBody>
      </p:sp>
    </p:spTree>
    <p:extLst>
      <p:ext uri="{BB962C8B-B14F-4D97-AF65-F5344CB8AC3E}">
        <p14:creationId xmlns:p14="http://schemas.microsoft.com/office/powerpoint/2010/main" val="3662667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06-12-2024</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06-12-2024</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vidyanidhi.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3"/>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4BFC0-DE1C-4287-AA3C-87457F522380}"/>
              </a:ext>
            </a:extLst>
          </p:cNvPr>
          <p:cNvSpPr>
            <a:spLocks noGrp="1"/>
          </p:cNvSpPr>
          <p:nvPr>
            <p:ph idx="1"/>
          </p:nvPr>
        </p:nvSpPr>
        <p:spPr>
          <a:xfrm>
            <a:off x="412954" y="707922"/>
            <a:ext cx="10881852" cy="5636189"/>
          </a:xfrm>
        </p:spPr>
        <p:txBody>
          <a:bodyPr>
            <a:normAutofit fontScale="70000" lnSpcReduction="20000"/>
          </a:bodyPr>
          <a:lstStyle/>
          <a:p>
            <a:r>
              <a:rPr lang="en-US" dirty="0"/>
              <a:t>Imagine that you’re a top singer, and fans ask day and night for your upcoming ...</a:t>
            </a:r>
          </a:p>
          <a:p>
            <a:endParaRPr lang="en-US" dirty="0"/>
          </a:p>
          <a:p>
            <a:r>
              <a:rPr lang="en-US" dirty="0"/>
              <a:t>To get some relief, you promise to send it to them when it’s published. You give your fans a list. They can fill in their email addresses, so that when the song becomes available, all subscribed parties instantly receive it. And even if something goes very wrong, say, a fire in the studio, so that you can’t publish the song, they will still be notified.</a:t>
            </a:r>
          </a:p>
          <a:p>
            <a:endParaRPr lang="en-US" dirty="0"/>
          </a:p>
          <a:p>
            <a:r>
              <a:rPr lang="en-US" dirty="0"/>
              <a:t>Everyone is happy: you, because the people don’t crowd you anymore, and fans, because they won’t miss the single.</a:t>
            </a:r>
          </a:p>
          <a:p>
            <a:endParaRPr lang="en-US" dirty="0"/>
          </a:p>
          <a:p>
            <a:r>
              <a:rPr lang="en-US" dirty="0"/>
              <a:t>This is a real-life analogy for things we often have in programming:</a:t>
            </a:r>
          </a:p>
          <a:p>
            <a:endParaRPr lang="en-US" dirty="0"/>
          </a:p>
          <a:p>
            <a:r>
              <a:rPr lang="en-US" dirty="0"/>
              <a:t>    A “producing code” that does something and takes time. For instance, some code that loads the data over a network. That’s a “singer”.</a:t>
            </a:r>
          </a:p>
          <a:p>
            <a:r>
              <a:rPr lang="en-US" dirty="0"/>
              <a:t>    A “consuming code” that wants the result of the “producing code” once it’s ready. Many functions may need that result. These are the “fans”.</a:t>
            </a:r>
          </a:p>
          <a:p>
            <a:r>
              <a:rPr lang="en-US" dirty="0"/>
              <a:t>    A promise is a special JavaScript object that links the “producing code” and the “consuming code” together. In terms of our analogy: this is the “subscription list”. The “producing code” takes whatever time it needs to produce the promised result, and the “promise” makes that result available to all of the subscribed code when it’s ready.</a:t>
            </a:r>
          </a:p>
          <a:p>
            <a:endParaRPr lang="en-IN" dirty="0"/>
          </a:p>
        </p:txBody>
      </p:sp>
      <p:sp>
        <p:nvSpPr>
          <p:cNvPr id="5" name="TextBox 4">
            <a:extLst>
              <a:ext uri="{FF2B5EF4-FFF2-40B4-BE49-F238E27FC236}">
                <a16:creationId xmlns:a16="http://schemas.microsoft.com/office/drawing/2014/main" id="{98F888BB-1460-409B-A5FD-5505F19562F7}"/>
              </a:ext>
            </a:extLst>
          </p:cNvPr>
          <p:cNvSpPr txBox="1"/>
          <p:nvPr/>
        </p:nvSpPr>
        <p:spPr>
          <a:xfrm>
            <a:off x="3136491" y="144557"/>
            <a:ext cx="2251586" cy="461665"/>
          </a:xfrm>
          <a:prstGeom prst="rect">
            <a:avLst/>
          </a:prstGeom>
          <a:noFill/>
        </p:spPr>
        <p:txBody>
          <a:bodyPr wrap="square">
            <a:spAutoFit/>
          </a:bodyPr>
          <a:lstStyle/>
          <a:p>
            <a:r>
              <a:rPr lang="en-IN" sz="2400" b="1" dirty="0"/>
              <a:t>Promise</a:t>
            </a:r>
          </a:p>
        </p:txBody>
      </p:sp>
    </p:spTree>
    <p:extLst>
      <p:ext uri="{BB962C8B-B14F-4D97-AF65-F5344CB8AC3E}">
        <p14:creationId xmlns:p14="http://schemas.microsoft.com/office/powerpoint/2010/main" val="388744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282A9-3FE0-4E51-9532-EE2D68D7AE2B}"/>
              </a:ext>
            </a:extLst>
          </p:cNvPr>
          <p:cNvSpPr>
            <a:spLocks noGrp="1"/>
          </p:cNvSpPr>
          <p:nvPr>
            <p:ph type="title"/>
          </p:nvPr>
        </p:nvSpPr>
        <p:spPr>
          <a:xfrm>
            <a:off x="1494502" y="365126"/>
            <a:ext cx="9859297" cy="315912"/>
          </a:xfrm>
        </p:spPr>
        <p:txBody>
          <a:bodyPr>
            <a:normAutofit fontScale="90000"/>
          </a:bodyPr>
          <a:lstStyle/>
          <a:p>
            <a:r>
              <a:rPr lang="en-US" dirty="0"/>
              <a:t>The constructor syntax for a promise object is:</a:t>
            </a:r>
            <a:endParaRPr lang="en-IN" dirty="0"/>
          </a:p>
        </p:txBody>
      </p:sp>
      <p:sp>
        <p:nvSpPr>
          <p:cNvPr id="3" name="Content Placeholder 2">
            <a:extLst>
              <a:ext uri="{FF2B5EF4-FFF2-40B4-BE49-F238E27FC236}">
                <a16:creationId xmlns:a16="http://schemas.microsoft.com/office/drawing/2014/main" id="{33F4FC3A-C66F-4E8E-A36F-D51DB52597F1}"/>
              </a:ext>
            </a:extLst>
          </p:cNvPr>
          <p:cNvSpPr>
            <a:spLocks noGrp="1"/>
          </p:cNvSpPr>
          <p:nvPr>
            <p:ph idx="1"/>
          </p:nvPr>
        </p:nvSpPr>
        <p:spPr>
          <a:xfrm>
            <a:off x="442451" y="806246"/>
            <a:ext cx="10164097" cy="3234813"/>
          </a:xfrm>
        </p:spPr>
        <p:txBody>
          <a:bodyPr>
            <a:normAutofit lnSpcReduction="10000"/>
          </a:bodyPr>
          <a:lstStyle/>
          <a:p>
            <a:pPr marL="0" indent="0">
              <a:buNone/>
            </a:pP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promise</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new</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Promise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resolve</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reject</a:t>
            </a:r>
            <a:r>
              <a:rPr lang="en-US" sz="1600" b="0" dirty="0">
                <a:solidFill>
                  <a:srgbClr val="000000"/>
                </a:solidFill>
                <a:effectLst/>
                <a:latin typeface="Consolas" panose="020B0609020204030204" pitchFamily="49" charset="0"/>
              </a:rPr>
              <a:t>) {</a:t>
            </a:r>
          </a:p>
          <a:p>
            <a:pPr marL="0" indent="0">
              <a:buNone/>
            </a:pP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executor (the producing code, "singer")</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a:t>
            </a:r>
          </a:p>
          <a:p>
            <a:r>
              <a:rPr lang="en-US" sz="2000" dirty="0"/>
              <a:t>The function passed to new Promise is called the executor. When new Promise is created, the executor runs automatically. It contains the producing code which should eventually produce the result. In terms of the analogy above: the executor is the “singer”.</a:t>
            </a:r>
          </a:p>
          <a:p>
            <a:r>
              <a:rPr lang="en-US" sz="2000" dirty="0"/>
              <a:t>Its arguments resolve and reject are callbacks provided by JavaScript itself. Our code is only inside the executor.</a:t>
            </a:r>
          </a:p>
          <a:p>
            <a:r>
              <a:rPr lang="en-US" sz="2000" dirty="0"/>
              <a:t>When the executor obtains the result, be it soon or late, doesn’t matter, it should call one of these callbacks:</a:t>
            </a:r>
            <a:endParaRPr lang="en-IN" sz="2000" dirty="0"/>
          </a:p>
        </p:txBody>
      </p:sp>
      <p:sp>
        <p:nvSpPr>
          <p:cNvPr id="6" name="Rectangle 3">
            <a:extLst>
              <a:ext uri="{FF2B5EF4-FFF2-40B4-BE49-F238E27FC236}">
                <a16:creationId xmlns:a16="http://schemas.microsoft.com/office/drawing/2014/main" id="{94AD5997-419B-4FE4-9213-49503A4A7CE6}"/>
              </a:ext>
            </a:extLst>
          </p:cNvPr>
          <p:cNvSpPr>
            <a:spLocks noChangeArrowheads="1"/>
          </p:cNvSpPr>
          <p:nvPr/>
        </p:nvSpPr>
        <p:spPr bwMode="auto">
          <a:xfrm>
            <a:off x="108665" y="3817608"/>
            <a:ext cx="1124513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Arial Unicode MS"/>
              </a:rPr>
              <a:t>resolve(value)</a:t>
            </a:r>
            <a:r>
              <a:rPr kumimoji="0" lang="en-US" altLang="en-US" sz="1400" b="0" i="0" u="none" strike="noStrike" cap="none" normalizeH="0" baseline="0" dirty="0">
                <a:ln>
                  <a:noFill/>
                </a:ln>
                <a:effectLst/>
              </a:rPr>
              <a:t> — if the job finished successfully, with result </a:t>
            </a:r>
            <a:r>
              <a:rPr kumimoji="0" lang="en-US" altLang="en-US" sz="1400" b="0" i="0" u="none" strike="noStrike" cap="none" normalizeH="0" baseline="0" dirty="0">
                <a:ln>
                  <a:noFill/>
                </a:ln>
                <a:effectLst/>
                <a:latin typeface="Arial Unicode MS"/>
              </a:rPr>
              <a:t>value</a:t>
            </a:r>
            <a:r>
              <a:rPr kumimoji="0" lang="en-US" altLang="en-US" sz="1400" b="0" i="0" u="none" strike="noStrike" cap="none" normalizeH="0" baseline="0" dirty="0">
                <a:ln>
                  <a:noFill/>
                </a:ln>
                <a:effectLst/>
              </a:rPr>
              <a:t>.</a:t>
            </a:r>
            <a:r>
              <a:rPr kumimoji="0" lang="en-US" altLang="en-US" sz="1400" b="0" i="0" u="none" strike="noStrike" cap="none" normalizeH="0" baseline="0" dirty="0">
                <a:ln>
                  <a:noFill/>
                </a:ln>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Arial Unicode MS"/>
              </a:rPr>
              <a:t>reject(error)</a:t>
            </a:r>
            <a:r>
              <a:rPr kumimoji="0" lang="en-US" altLang="en-US" sz="1400" b="0" i="0" u="none" strike="noStrike" cap="none" normalizeH="0" baseline="0" dirty="0">
                <a:ln>
                  <a:noFill/>
                </a:ln>
                <a:effectLst/>
              </a:rPr>
              <a:t> — if an error occurred, </a:t>
            </a:r>
            <a:r>
              <a:rPr kumimoji="0" lang="en-US" altLang="en-US" sz="1400" b="0" i="0" u="none" strike="noStrike" cap="none" normalizeH="0" baseline="0" dirty="0">
                <a:ln>
                  <a:noFill/>
                </a:ln>
                <a:effectLst/>
                <a:latin typeface="Arial Unicode MS"/>
              </a:rPr>
              <a:t>error</a:t>
            </a:r>
            <a:r>
              <a:rPr kumimoji="0" lang="en-US" altLang="en-US" sz="1400" b="0" i="0" u="none" strike="noStrike" cap="none" normalizeH="0" baseline="0" dirty="0">
                <a:ln>
                  <a:noFill/>
                </a:ln>
                <a:effectLst/>
              </a:rPr>
              <a:t> is the error object.</a:t>
            </a:r>
            <a:r>
              <a:rPr kumimoji="0" lang="en-US" altLang="en-US" sz="1400" b="0" i="0" u="none" strike="noStrike" cap="none" normalizeH="0" baseline="0" dirty="0">
                <a:ln>
                  <a:noFill/>
                </a:ln>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Arial" panose="020B0604020202020204" pitchFamily="34" charset="0"/>
              </a:rPr>
              <a:t>So to summarize: the executor runs automatically and attempts to perform a job. When it is finished with the attempt it calls </a:t>
            </a:r>
            <a:r>
              <a:rPr kumimoji="0" lang="en-US" altLang="en-US" sz="1400" b="0" i="0" u="none" strike="noStrike" cap="none" normalizeH="0" baseline="0" dirty="0">
                <a:ln>
                  <a:noFill/>
                </a:ln>
                <a:effectLst/>
                <a:latin typeface="Arial Unicode MS"/>
              </a:rPr>
              <a:t>resolve</a:t>
            </a:r>
            <a:r>
              <a:rPr kumimoji="0" lang="en-US" altLang="en-US" sz="1400" b="0" i="0" u="none" strike="noStrike" cap="none" normalizeH="0" baseline="0" dirty="0">
                <a:ln>
                  <a:noFill/>
                </a:ln>
                <a:effectLst/>
              </a:rPr>
              <a:t> if it was successful or </a:t>
            </a:r>
            <a:r>
              <a:rPr kumimoji="0" lang="en-US" altLang="en-US" sz="1400" b="0" i="0" u="none" strike="noStrike" cap="none" normalizeH="0" baseline="0" dirty="0">
                <a:ln>
                  <a:noFill/>
                </a:ln>
                <a:effectLst/>
                <a:latin typeface="Arial Unicode MS"/>
              </a:rPr>
              <a:t>reject</a:t>
            </a:r>
            <a:r>
              <a:rPr kumimoji="0" lang="en-US" altLang="en-US" sz="1400" b="0" i="0" u="none" strike="noStrike" cap="none" normalizeH="0" baseline="0" dirty="0">
                <a:ln>
                  <a:noFill/>
                </a:ln>
                <a:effectLst/>
              </a:rPr>
              <a:t> if there was an error.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Arial" panose="020B0604020202020204" pitchFamily="34" charset="0"/>
              </a:rPr>
              <a:t>The </a:t>
            </a:r>
            <a:r>
              <a:rPr kumimoji="0" lang="en-US" altLang="en-US" sz="1400" b="0" i="0" u="none" strike="noStrike" cap="none" normalizeH="0" baseline="0" dirty="0">
                <a:ln>
                  <a:noFill/>
                </a:ln>
                <a:effectLst/>
                <a:latin typeface="Arial Unicode MS"/>
              </a:rPr>
              <a:t>promise</a:t>
            </a:r>
            <a:r>
              <a:rPr kumimoji="0" lang="en-US" altLang="en-US" sz="1400" b="0" i="0" u="none" strike="noStrike" cap="none" normalizeH="0" baseline="0" dirty="0">
                <a:ln>
                  <a:noFill/>
                </a:ln>
                <a:effectLst/>
              </a:rPr>
              <a:t> object returned by the </a:t>
            </a:r>
            <a:r>
              <a:rPr kumimoji="0" lang="en-US" altLang="en-US" sz="1400" b="0" i="0" u="none" strike="noStrike" cap="none" normalizeH="0" baseline="0" dirty="0">
                <a:ln>
                  <a:noFill/>
                </a:ln>
                <a:effectLst/>
                <a:latin typeface="Arial Unicode MS"/>
              </a:rPr>
              <a:t>new Promise</a:t>
            </a:r>
            <a:r>
              <a:rPr kumimoji="0" lang="en-US" altLang="en-US" sz="1400" b="0" i="0" u="none" strike="noStrike" cap="none" normalizeH="0" baseline="0" dirty="0">
                <a:ln>
                  <a:noFill/>
                </a:ln>
                <a:effectLst/>
              </a:rPr>
              <a:t> constructor has these internal properties: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Arial Unicode MS"/>
              </a:rPr>
              <a:t>state</a:t>
            </a:r>
            <a:r>
              <a:rPr kumimoji="0" lang="en-US" altLang="en-US" sz="1400" b="0" i="0" u="none" strike="noStrike" cap="none" normalizeH="0" baseline="0" dirty="0">
                <a:ln>
                  <a:noFill/>
                </a:ln>
                <a:effectLst/>
              </a:rPr>
              <a:t> — initially </a:t>
            </a:r>
            <a:r>
              <a:rPr kumimoji="0" lang="en-US" altLang="en-US" sz="1400" b="0" i="0" u="none" strike="noStrike" cap="none" normalizeH="0" baseline="0" dirty="0">
                <a:ln>
                  <a:noFill/>
                </a:ln>
                <a:effectLst/>
                <a:latin typeface="Arial Unicode MS"/>
              </a:rPr>
              <a:t>"pending"</a:t>
            </a:r>
            <a:r>
              <a:rPr kumimoji="0" lang="en-US" altLang="en-US" sz="1400" b="0" i="0" u="none" strike="noStrike" cap="none" normalizeH="0" baseline="0" dirty="0">
                <a:ln>
                  <a:noFill/>
                </a:ln>
                <a:effectLst/>
              </a:rPr>
              <a:t>, then changes to either </a:t>
            </a:r>
            <a:r>
              <a:rPr kumimoji="0" lang="en-US" altLang="en-US" sz="1400" b="0" i="0" u="none" strike="noStrike" cap="none" normalizeH="0" baseline="0" dirty="0">
                <a:ln>
                  <a:noFill/>
                </a:ln>
                <a:effectLst/>
                <a:latin typeface="Arial Unicode MS"/>
              </a:rPr>
              <a:t>"fulfilled"</a:t>
            </a:r>
            <a:r>
              <a:rPr kumimoji="0" lang="en-US" altLang="en-US" sz="1400" b="0" i="0" u="none" strike="noStrike" cap="none" normalizeH="0" baseline="0" dirty="0">
                <a:ln>
                  <a:noFill/>
                </a:ln>
                <a:effectLst/>
              </a:rPr>
              <a:t> when </a:t>
            </a:r>
            <a:r>
              <a:rPr kumimoji="0" lang="en-US" altLang="en-US" sz="1400" b="0" i="0" u="none" strike="noStrike" cap="none" normalizeH="0" baseline="0" dirty="0">
                <a:ln>
                  <a:noFill/>
                </a:ln>
                <a:effectLst/>
                <a:latin typeface="Arial Unicode MS"/>
              </a:rPr>
              <a:t>resolve</a:t>
            </a:r>
            <a:r>
              <a:rPr kumimoji="0" lang="en-US" altLang="en-US" sz="1400" b="0" i="0" u="none" strike="noStrike" cap="none" normalizeH="0" baseline="0" dirty="0">
                <a:ln>
                  <a:noFill/>
                </a:ln>
                <a:effectLst/>
              </a:rPr>
              <a:t> is called or </a:t>
            </a:r>
            <a:r>
              <a:rPr kumimoji="0" lang="en-US" altLang="en-US" sz="1400" b="0" i="0" u="none" strike="noStrike" cap="none" normalizeH="0" baseline="0" dirty="0">
                <a:ln>
                  <a:noFill/>
                </a:ln>
                <a:effectLst/>
                <a:latin typeface="Arial Unicode MS"/>
              </a:rPr>
              <a:t>"rejected"</a:t>
            </a:r>
            <a:r>
              <a:rPr kumimoji="0" lang="en-US" altLang="en-US" sz="1400" b="0" i="0" u="none" strike="noStrike" cap="none" normalizeH="0" baseline="0" dirty="0">
                <a:ln>
                  <a:noFill/>
                </a:ln>
                <a:effectLst/>
              </a:rPr>
              <a:t> when </a:t>
            </a:r>
            <a:r>
              <a:rPr kumimoji="0" lang="en-US" altLang="en-US" sz="1400" b="0" i="0" u="none" strike="noStrike" cap="none" normalizeH="0" baseline="0" dirty="0">
                <a:ln>
                  <a:noFill/>
                </a:ln>
                <a:effectLst/>
                <a:latin typeface="Arial Unicode MS"/>
              </a:rPr>
              <a:t>reject</a:t>
            </a:r>
            <a:r>
              <a:rPr kumimoji="0" lang="en-US" altLang="en-US" sz="1400" b="0" i="0" u="none" strike="noStrike" cap="none" normalizeH="0" baseline="0" dirty="0">
                <a:ln>
                  <a:noFill/>
                </a:ln>
                <a:effectLst/>
              </a:rPr>
              <a:t> is called.</a:t>
            </a:r>
            <a:r>
              <a:rPr kumimoji="0" lang="en-US" altLang="en-US" sz="1400" b="0" i="0" u="none" strike="noStrike" cap="none" normalizeH="0" baseline="0" dirty="0">
                <a:ln>
                  <a:noFill/>
                </a:ln>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Arial Unicode MS"/>
              </a:rPr>
              <a:t>result</a:t>
            </a:r>
            <a:r>
              <a:rPr kumimoji="0" lang="en-US" altLang="en-US" sz="1400" b="0" i="0" u="none" strike="noStrike" cap="none" normalizeH="0" baseline="0" dirty="0">
                <a:ln>
                  <a:noFill/>
                </a:ln>
                <a:effectLst/>
              </a:rPr>
              <a:t> — initially </a:t>
            </a:r>
            <a:r>
              <a:rPr kumimoji="0" lang="en-US" altLang="en-US" sz="1400" b="0" i="0" u="none" strike="noStrike" cap="none" normalizeH="0" baseline="0" dirty="0">
                <a:ln>
                  <a:noFill/>
                </a:ln>
                <a:effectLst/>
                <a:latin typeface="Arial Unicode MS"/>
              </a:rPr>
              <a:t>undefined</a:t>
            </a:r>
            <a:r>
              <a:rPr kumimoji="0" lang="en-US" altLang="en-US" sz="1400" b="0" i="0" u="none" strike="noStrike" cap="none" normalizeH="0" baseline="0" dirty="0">
                <a:ln>
                  <a:noFill/>
                </a:ln>
                <a:effectLst/>
              </a:rPr>
              <a:t>, then changes to </a:t>
            </a:r>
            <a:r>
              <a:rPr kumimoji="0" lang="en-US" altLang="en-US" sz="1400" b="0" i="0" u="none" strike="noStrike" cap="none" normalizeH="0" baseline="0" dirty="0">
                <a:ln>
                  <a:noFill/>
                </a:ln>
                <a:effectLst/>
                <a:latin typeface="Arial Unicode MS"/>
              </a:rPr>
              <a:t>value</a:t>
            </a:r>
            <a:r>
              <a:rPr kumimoji="0" lang="en-US" altLang="en-US" sz="1400" b="0" i="0" u="none" strike="noStrike" cap="none" normalizeH="0" baseline="0" dirty="0">
                <a:ln>
                  <a:noFill/>
                </a:ln>
                <a:effectLst/>
              </a:rPr>
              <a:t> when </a:t>
            </a:r>
            <a:r>
              <a:rPr kumimoji="0" lang="en-US" altLang="en-US" sz="1400" b="0" i="0" u="none" strike="noStrike" cap="none" normalizeH="0" baseline="0" dirty="0">
                <a:ln>
                  <a:noFill/>
                </a:ln>
                <a:effectLst/>
                <a:latin typeface="Arial Unicode MS"/>
              </a:rPr>
              <a:t>resolve(value)</a:t>
            </a:r>
            <a:r>
              <a:rPr kumimoji="0" lang="en-US" altLang="en-US" sz="1400" b="0" i="0" u="none" strike="noStrike" cap="none" normalizeH="0" baseline="0" dirty="0">
                <a:ln>
                  <a:noFill/>
                </a:ln>
                <a:effectLst/>
              </a:rPr>
              <a:t> called or </a:t>
            </a:r>
            <a:r>
              <a:rPr kumimoji="0" lang="en-US" altLang="en-US" sz="1400" b="0" i="0" u="none" strike="noStrike" cap="none" normalizeH="0" baseline="0" dirty="0">
                <a:ln>
                  <a:noFill/>
                </a:ln>
                <a:effectLst/>
                <a:latin typeface="Arial Unicode MS"/>
              </a:rPr>
              <a:t>error</a:t>
            </a:r>
            <a:r>
              <a:rPr kumimoji="0" lang="en-US" altLang="en-US" sz="1400" b="0" i="0" u="none" strike="noStrike" cap="none" normalizeH="0" baseline="0" dirty="0">
                <a:ln>
                  <a:noFill/>
                </a:ln>
                <a:effectLst/>
              </a:rPr>
              <a:t> when </a:t>
            </a:r>
            <a:r>
              <a:rPr kumimoji="0" lang="en-US" altLang="en-US" sz="1400" b="0" i="0" u="none" strike="noStrike" cap="none" normalizeH="0" baseline="0" dirty="0">
                <a:ln>
                  <a:noFill/>
                </a:ln>
                <a:effectLst/>
                <a:latin typeface="Arial Unicode MS"/>
              </a:rPr>
              <a:t>reject(error)</a:t>
            </a:r>
            <a:r>
              <a:rPr kumimoji="0" lang="en-US" altLang="en-US" sz="1400" b="0" i="0" u="none" strike="noStrike" cap="none" normalizeH="0" baseline="0" dirty="0">
                <a:ln>
                  <a:noFill/>
                </a:ln>
                <a:effectLst/>
              </a:rPr>
              <a:t> is called.</a:t>
            </a:r>
            <a:r>
              <a:rPr kumimoji="0" lang="en-US" altLang="en-US" sz="1400" b="0" i="0" u="none" strike="noStrike" cap="none" normalizeH="0" baseline="0" dirty="0">
                <a:ln>
                  <a:noFill/>
                </a:ln>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290790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C382A7-F053-41F3-ABF0-042876AE231D}"/>
              </a:ext>
            </a:extLst>
          </p:cNvPr>
          <p:cNvSpPr>
            <a:spLocks noGrp="1"/>
          </p:cNvSpPr>
          <p:nvPr>
            <p:ph idx="1"/>
          </p:nvPr>
        </p:nvSpPr>
        <p:spPr>
          <a:xfrm>
            <a:off x="1582994" y="87903"/>
            <a:ext cx="10609006" cy="688845"/>
          </a:xfrm>
        </p:spPr>
        <p:txBody>
          <a:bodyPr/>
          <a:lstStyle/>
          <a:p>
            <a:r>
              <a:rPr lang="en-US" dirty="0"/>
              <a:t>So the executor eventually moves promise to one of these states:</a:t>
            </a:r>
            <a:endParaRPr lang="en-IN" dirty="0"/>
          </a:p>
        </p:txBody>
      </p:sp>
      <p:pic>
        <p:nvPicPr>
          <p:cNvPr id="6" name="Picture 5">
            <a:extLst>
              <a:ext uri="{FF2B5EF4-FFF2-40B4-BE49-F238E27FC236}">
                <a16:creationId xmlns:a16="http://schemas.microsoft.com/office/drawing/2014/main" id="{5BAA6D7A-A879-40E2-951E-C965D7CC1942}"/>
              </a:ext>
            </a:extLst>
          </p:cNvPr>
          <p:cNvPicPr>
            <a:picLocks noChangeAspect="1"/>
          </p:cNvPicPr>
          <p:nvPr/>
        </p:nvPicPr>
        <p:blipFill rotWithShape="1">
          <a:blip r:embed="rId2"/>
          <a:srcRect l="30836" t="44712" r="6632" b="5905"/>
          <a:stretch/>
        </p:blipFill>
        <p:spPr>
          <a:xfrm>
            <a:off x="1415522" y="432325"/>
            <a:ext cx="7295103" cy="3240593"/>
          </a:xfrm>
          <a:prstGeom prst="rect">
            <a:avLst/>
          </a:prstGeom>
        </p:spPr>
      </p:pic>
      <p:sp>
        <p:nvSpPr>
          <p:cNvPr id="7" name="Rectangle 2">
            <a:extLst>
              <a:ext uri="{FF2B5EF4-FFF2-40B4-BE49-F238E27FC236}">
                <a16:creationId xmlns:a16="http://schemas.microsoft.com/office/drawing/2014/main" id="{D413F4F9-C3D2-4CDA-A0B8-7ACE6A0431AA}"/>
              </a:ext>
            </a:extLst>
          </p:cNvPr>
          <p:cNvSpPr>
            <a:spLocks noChangeArrowheads="1"/>
          </p:cNvSpPr>
          <p:nvPr/>
        </p:nvSpPr>
        <p:spPr bwMode="auto">
          <a:xfrm>
            <a:off x="255640" y="3555504"/>
            <a:ext cx="112775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Here’s an example of a promise constructor and a simple executor function with “producing code” that takes time (via </a:t>
            </a:r>
            <a:r>
              <a:rPr kumimoji="0" lang="en-US" altLang="en-US" sz="1600" b="0" i="0" u="none" strike="noStrike" cap="none" normalizeH="0" baseline="0" dirty="0" err="1">
                <a:ln>
                  <a:noFill/>
                </a:ln>
                <a:solidFill>
                  <a:schemeClr val="tx1"/>
                </a:solidFill>
                <a:effectLst/>
                <a:latin typeface="Arial Unicode MS"/>
              </a:rPr>
              <a:t>setTimeout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6EEA8391-936A-4547-9D3F-0F11F51B48E2}"/>
              </a:ext>
            </a:extLst>
          </p:cNvPr>
          <p:cNvSpPr txBox="1"/>
          <p:nvPr/>
        </p:nvSpPr>
        <p:spPr>
          <a:xfrm>
            <a:off x="422625" y="4430580"/>
            <a:ext cx="11346749"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promise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Promise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reject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the function is executed automatically when the promise is constructed</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after 1 second signal that the job is done with the result "done"</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"done"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018253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2530A7-4657-49ED-B9D1-49A977567AA9}"/>
              </a:ext>
            </a:extLst>
          </p:cNvPr>
          <p:cNvSpPr/>
          <p:nvPr/>
        </p:nvSpPr>
        <p:spPr>
          <a:xfrm>
            <a:off x="2162908" y="1705708"/>
            <a:ext cx="1248507" cy="1143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promise</a:t>
            </a:r>
          </a:p>
        </p:txBody>
      </p:sp>
      <p:cxnSp>
        <p:nvCxnSpPr>
          <p:cNvPr id="6" name="Straight Arrow Connector 5">
            <a:extLst>
              <a:ext uri="{FF2B5EF4-FFF2-40B4-BE49-F238E27FC236}">
                <a16:creationId xmlns:a16="http://schemas.microsoft.com/office/drawing/2014/main" id="{5C72445A-5492-4D3C-BC20-2ECA90CE6464}"/>
              </a:ext>
            </a:extLst>
          </p:cNvPr>
          <p:cNvCxnSpPr/>
          <p:nvPr/>
        </p:nvCxnSpPr>
        <p:spPr>
          <a:xfrm flipV="1">
            <a:off x="3604846" y="2110154"/>
            <a:ext cx="1143000" cy="422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8744C21-2B3E-4441-B160-F0ED8C663CC3}"/>
              </a:ext>
            </a:extLst>
          </p:cNvPr>
          <p:cNvSpPr/>
          <p:nvPr/>
        </p:nvSpPr>
        <p:spPr>
          <a:xfrm>
            <a:off x="4818184" y="1169377"/>
            <a:ext cx="2708031" cy="24090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a:t>
            </a:r>
          </a:p>
          <a:p>
            <a:pPr algn="ctr"/>
            <a:r>
              <a:rPr lang="en-IN" dirty="0"/>
              <a:t>Resolve:</a:t>
            </a:r>
          </a:p>
          <a:p>
            <a:pPr algn="ctr"/>
            <a:r>
              <a:rPr lang="en-IN" dirty="0"/>
              <a:t>Reject:</a:t>
            </a:r>
          </a:p>
          <a:p>
            <a:pPr algn="ctr"/>
            <a:r>
              <a:rPr lang="en-IN" dirty="0"/>
              <a:t>Then:</a:t>
            </a:r>
          </a:p>
          <a:p>
            <a:pPr algn="ctr"/>
            <a:r>
              <a:rPr lang="en-US" dirty="0"/>
              <a:t>Catch:</a:t>
            </a:r>
          </a:p>
          <a:p>
            <a:pPr algn="ctr"/>
            <a:r>
              <a:rPr lang="en-US" dirty="0"/>
              <a:t>Finally:</a:t>
            </a:r>
            <a:endParaRPr lang="en-IN" dirty="0"/>
          </a:p>
        </p:txBody>
      </p:sp>
      <p:sp>
        <p:nvSpPr>
          <p:cNvPr id="8" name="TextBox 7">
            <a:extLst>
              <a:ext uri="{FF2B5EF4-FFF2-40B4-BE49-F238E27FC236}">
                <a16:creationId xmlns:a16="http://schemas.microsoft.com/office/drawing/2014/main" id="{DC5BE5F9-C3FB-4A64-B2FB-DBE09D8FAABA}"/>
              </a:ext>
            </a:extLst>
          </p:cNvPr>
          <p:cNvSpPr txBox="1"/>
          <p:nvPr/>
        </p:nvSpPr>
        <p:spPr>
          <a:xfrm>
            <a:off x="5310554" y="738554"/>
            <a:ext cx="1433737" cy="369332"/>
          </a:xfrm>
          <a:prstGeom prst="rect">
            <a:avLst/>
          </a:prstGeom>
          <a:noFill/>
        </p:spPr>
        <p:txBody>
          <a:bodyPr wrap="square" rtlCol="0">
            <a:spAutoFit/>
          </a:bodyPr>
          <a:lstStyle/>
          <a:p>
            <a:r>
              <a:rPr lang="en-IN" dirty="0"/>
              <a:t>Promise</a:t>
            </a:r>
          </a:p>
        </p:txBody>
      </p:sp>
      <p:sp>
        <p:nvSpPr>
          <p:cNvPr id="9" name="Rectangle 8">
            <a:extLst>
              <a:ext uri="{FF2B5EF4-FFF2-40B4-BE49-F238E27FC236}">
                <a16:creationId xmlns:a16="http://schemas.microsoft.com/office/drawing/2014/main" id="{0B293E7B-2748-4240-9405-B4A70FEDB374}"/>
              </a:ext>
            </a:extLst>
          </p:cNvPr>
          <p:cNvSpPr/>
          <p:nvPr/>
        </p:nvSpPr>
        <p:spPr>
          <a:xfrm>
            <a:off x="8003458" y="368520"/>
            <a:ext cx="3151617" cy="13371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function (</a:t>
            </a:r>
            <a:r>
              <a:rPr lang="en-IN" dirty="0" err="1"/>
              <a:t>resolve,reject</a:t>
            </a:r>
            <a:r>
              <a:rPr lang="en-IN" dirty="0"/>
              <a:t>){</a:t>
            </a:r>
          </a:p>
          <a:p>
            <a:pPr algn="ctr"/>
            <a:endParaRPr lang="en-IN" dirty="0"/>
          </a:p>
          <a:p>
            <a:pPr algn="ctr"/>
            <a:r>
              <a:rPr lang="en-IN" dirty="0"/>
              <a:t>() =&gt; resolve("done")</a:t>
            </a:r>
          </a:p>
          <a:p>
            <a:pPr algn="ctr"/>
            <a:r>
              <a:rPr lang="en-IN" dirty="0"/>
              <a:t>}</a:t>
            </a:r>
          </a:p>
        </p:txBody>
      </p:sp>
      <p:sp>
        <p:nvSpPr>
          <p:cNvPr id="10" name="Content Placeholder 9">
            <a:extLst>
              <a:ext uri="{FF2B5EF4-FFF2-40B4-BE49-F238E27FC236}">
                <a16:creationId xmlns:a16="http://schemas.microsoft.com/office/drawing/2014/main" id="{3758B9C5-6EF5-4CFC-865C-BCC1A06FA9EB}"/>
              </a:ext>
            </a:extLst>
          </p:cNvPr>
          <p:cNvSpPr>
            <a:spLocks noGrp="1"/>
          </p:cNvSpPr>
          <p:nvPr>
            <p:ph idx="1"/>
          </p:nvPr>
        </p:nvSpPr>
        <p:spPr>
          <a:xfrm>
            <a:off x="8091948" y="2242891"/>
            <a:ext cx="3421625" cy="12585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noAutofit/>
          </a:bodyPr>
          <a:lstStyle/>
          <a:p>
            <a:pPr marL="0" indent="0" algn="ctr">
              <a:buNone/>
            </a:pPr>
            <a:r>
              <a:rPr lang="en-IN" sz="1800" dirty="0"/>
              <a:t>function ( data){</a:t>
            </a:r>
          </a:p>
          <a:p>
            <a:pPr marL="0" indent="0" algn="ctr">
              <a:buNone/>
            </a:pPr>
            <a:r>
              <a:rPr lang="en-IN" sz="1800" dirty="0"/>
              <a:t>data</a:t>
            </a:r>
          </a:p>
          <a:p>
            <a:pPr marL="0" indent="0" algn="ctr">
              <a:buNone/>
            </a:pPr>
            <a:r>
              <a:rPr lang="en-IN" sz="1800" dirty="0"/>
              <a:t>}</a:t>
            </a:r>
          </a:p>
        </p:txBody>
      </p:sp>
      <p:cxnSp>
        <p:nvCxnSpPr>
          <p:cNvPr id="12" name="Straight Arrow Connector 11">
            <a:extLst>
              <a:ext uri="{FF2B5EF4-FFF2-40B4-BE49-F238E27FC236}">
                <a16:creationId xmlns:a16="http://schemas.microsoft.com/office/drawing/2014/main" id="{2424C0B7-4401-4DB3-BE25-E564F249EBB1}"/>
              </a:ext>
            </a:extLst>
          </p:cNvPr>
          <p:cNvCxnSpPr>
            <a:cxnSpLocks/>
          </p:cNvCxnSpPr>
          <p:nvPr/>
        </p:nvCxnSpPr>
        <p:spPr>
          <a:xfrm>
            <a:off x="6635409" y="2056739"/>
            <a:ext cx="1456539" cy="29565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6337A232-A168-4D57-A7FD-0BD480D72A11}"/>
              </a:ext>
            </a:extLst>
          </p:cNvPr>
          <p:cNvCxnSpPr>
            <a:cxnSpLocks/>
          </p:cNvCxnSpPr>
          <p:nvPr/>
        </p:nvCxnSpPr>
        <p:spPr>
          <a:xfrm>
            <a:off x="6414036" y="2320278"/>
            <a:ext cx="1741822" cy="189535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7299CA4A-0774-483C-B484-3AB3E91028D5}"/>
              </a:ext>
            </a:extLst>
          </p:cNvPr>
          <p:cNvCxnSpPr>
            <a:cxnSpLocks/>
          </p:cNvCxnSpPr>
          <p:nvPr/>
        </p:nvCxnSpPr>
        <p:spPr>
          <a:xfrm>
            <a:off x="6484374" y="2541644"/>
            <a:ext cx="1519084" cy="294683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Content Placeholder 9">
            <a:extLst>
              <a:ext uri="{FF2B5EF4-FFF2-40B4-BE49-F238E27FC236}">
                <a16:creationId xmlns:a16="http://schemas.microsoft.com/office/drawing/2014/main" id="{47CFDA2D-376F-4B65-B78E-E8C7EB328223}"/>
              </a:ext>
            </a:extLst>
          </p:cNvPr>
          <p:cNvSpPr txBox="1">
            <a:spLocks/>
          </p:cNvSpPr>
          <p:nvPr/>
        </p:nvSpPr>
        <p:spPr>
          <a:xfrm>
            <a:off x="8003458" y="4078499"/>
            <a:ext cx="3421625" cy="12585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n-IN" sz="1800" dirty="0"/>
              <a:t>function ( err){</a:t>
            </a:r>
          </a:p>
          <a:p>
            <a:pPr marL="0" indent="0" algn="ctr">
              <a:buFont typeface="Arial" panose="020B0604020202020204" pitchFamily="34" charset="0"/>
              <a:buNone/>
            </a:pPr>
            <a:r>
              <a:rPr lang="en-IN" sz="1800" dirty="0"/>
              <a:t>Err</a:t>
            </a:r>
          </a:p>
          <a:p>
            <a:pPr marL="0" indent="0" algn="ctr">
              <a:buFont typeface="Arial" panose="020B0604020202020204" pitchFamily="34" charset="0"/>
              <a:buNone/>
            </a:pPr>
            <a:r>
              <a:rPr lang="en-IN" sz="1800" dirty="0"/>
              <a:t>}</a:t>
            </a:r>
          </a:p>
        </p:txBody>
      </p:sp>
      <p:sp>
        <p:nvSpPr>
          <p:cNvPr id="3" name="Rectangle 2">
            <a:extLst>
              <a:ext uri="{FF2B5EF4-FFF2-40B4-BE49-F238E27FC236}">
                <a16:creationId xmlns:a16="http://schemas.microsoft.com/office/drawing/2014/main" id="{6E56C2B0-31C3-4538-8F9A-E5E68D1C2B85}"/>
              </a:ext>
            </a:extLst>
          </p:cNvPr>
          <p:cNvSpPr/>
          <p:nvPr/>
        </p:nvSpPr>
        <p:spPr>
          <a:xfrm>
            <a:off x="7865806" y="5488481"/>
            <a:ext cx="3805084" cy="12585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function ( </a:t>
            </a:r>
            <a:r>
              <a:rPr lang="en-IN" dirty="0" err="1"/>
              <a:t>callback</a:t>
            </a:r>
            <a:r>
              <a:rPr lang="en-IN" dirty="0"/>
              <a:t>){</a:t>
            </a:r>
          </a:p>
          <a:p>
            <a:pPr algn="ctr"/>
            <a:endParaRPr lang="en-IN" dirty="0"/>
          </a:p>
          <a:p>
            <a:pPr algn="ctr"/>
            <a:r>
              <a:rPr lang="en-IN" dirty="0" err="1"/>
              <a:t>Callback</a:t>
            </a:r>
            <a:r>
              <a:rPr lang="en-IN" dirty="0"/>
              <a:t>()</a:t>
            </a:r>
          </a:p>
          <a:p>
            <a:pPr algn="ctr"/>
            <a:r>
              <a:rPr lang="en-IN" dirty="0"/>
              <a:t>}</a:t>
            </a:r>
          </a:p>
        </p:txBody>
      </p:sp>
      <p:sp>
        <p:nvSpPr>
          <p:cNvPr id="11" name="Rectangle 10">
            <a:extLst>
              <a:ext uri="{FF2B5EF4-FFF2-40B4-BE49-F238E27FC236}">
                <a16:creationId xmlns:a16="http://schemas.microsoft.com/office/drawing/2014/main" id="{E859DEB5-E750-4E2B-8CAF-8DEE9BD4525C}"/>
              </a:ext>
            </a:extLst>
          </p:cNvPr>
          <p:cNvSpPr/>
          <p:nvPr/>
        </p:nvSpPr>
        <p:spPr>
          <a:xfrm>
            <a:off x="4326195" y="4933815"/>
            <a:ext cx="2418096" cy="12585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result=&gt;alert(result)</a:t>
            </a:r>
          </a:p>
        </p:txBody>
      </p:sp>
      <p:cxnSp>
        <p:nvCxnSpPr>
          <p:cNvPr id="20" name="Straight Arrow Connector 19">
            <a:extLst>
              <a:ext uri="{FF2B5EF4-FFF2-40B4-BE49-F238E27FC236}">
                <a16:creationId xmlns:a16="http://schemas.microsoft.com/office/drawing/2014/main" id="{ED363A8E-04F1-454B-9EF1-ED53BE2F65D3}"/>
              </a:ext>
            </a:extLst>
          </p:cNvPr>
          <p:cNvCxnSpPr/>
          <p:nvPr/>
        </p:nvCxnSpPr>
        <p:spPr>
          <a:xfrm flipH="1" flipV="1">
            <a:off x="6833419" y="5619135"/>
            <a:ext cx="2371654" cy="573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E5EEC52-8C58-4495-A98E-2E323FDAB97E}"/>
              </a:ext>
            </a:extLst>
          </p:cNvPr>
          <p:cNvCxnSpPr/>
          <p:nvPr/>
        </p:nvCxnSpPr>
        <p:spPr>
          <a:xfrm flipH="1">
            <a:off x="4747846" y="2961495"/>
            <a:ext cx="4809109" cy="2508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17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E9D0E-FBA5-44BB-92DE-7D976F09E9DB}"/>
              </a:ext>
            </a:extLst>
          </p:cNvPr>
          <p:cNvSpPr>
            <a:spLocks noGrp="1"/>
          </p:cNvSpPr>
          <p:nvPr>
            <p:ph idx="1"/>
          </p:nvPr>
        </p:nvSpPr>
        <p:spPr>
          <a:xfrm>
            <a:off x="609600" y="678426"/>
            <a:ext cx="10744200" cy="5498537"/>
          </a:xfrm>
        </p:spPr>
        <p:txBody>
          <a:bodyPr>
            <a:normAutofit/>
          </a:bodyPr>
          <a:lstStyle/>
          <a:p>
            <a:r>
              <a:rPr lang="en-US" sz="1600" dirty="0"/>
              <a:t>We can see two things by running the code above:</a:t>
            </a:r>
          </a:p>
          <a:p>
            <a:r>
              <a:rPr lang="en-US" sz="1600" dirty="0"/>
              <a:t> The executor is called automatically and immediately (by new Promise).</a:t>
            </a:r>
          </a:p>
          <a:p>
            <a:r>
              <a:rPr lang="en-US" sz="1600" dirty="0"/>
              <a:t>    The executor receives two arguments: resolve and reject. These functions are pre-defined by the JavaScript engine, so we don’t need to create them. We should only call one of them when ready.</a:t>
            </a:r>
          </a:p>
          <a:p>
            <a:r>
              <a:rPr lang="en-US" sz="1600" dirty="0"/>
              <a:t>    After one second of “processing” the executor calls resolve("done") to produce the result. This changes the state of the promise object:</a:t>
            </a:r>
            <a:endParaRPr lang="en-IN" sz="1600" dirty="0"/>
          </a:p>
        </p:txBody>
      </p:sp>
      <p:pic>
        <p:nvPicPr>
          <p:cNvPr id="6" name="Picture 5">
            <a:extLst>
              <a:ext uri="{FF2B5EF4-FFF2-40B4-BE49-F238E27FC236}">
                <a16:creationId xmlns:a16="http://schemas.microsoft.com/office/drawing/2014/main" id="{2FF5EB9B-3029-4440-930C-E52D754287AC}"/>
              </a:ext>
            </a:extLst>
          </p:cNvPr>
          <p:cNvPicPr>
            <a:picLocks noChangeAspect="1"/>
          </p:cNvPicPr>
          <p:nvPr/>
        </p:nvPicPr>
        <p:blipFill rotWithShape="1">
          <a:blip r:embed="rId2"/>
          <a:srcRect l="32984" t="27240" r="12742" b="50000"/>
          <a:stretch/>
        </p:blipFill>
        <p:spPr>
          <a:xfrm>
            <a:off x="334298" y="2487562"/>
            <a:ext cx="6617109" cy="1560872"/>
          </a:xfrm>
          <a:prstGeom prst="rect">
            <a:avLst/>
          </a:prstGeom>
        </p:spPr>
      </p:pic>
      <p:sp>
        <p:nvSpPr>
          <p:cNvPr id="8" name="TextBox 7">
            <a:extLst>
              <a:ext uri="{FF2B5EF4-FFF2-40B4-BE49-F238E27FC236}">
                <a16:creationId xmlns:a16="http://schemas.microsoft.com/office/drawing/2014/main" id="{75CC0544-27EC-43C7-AA5E-D40446646329}"/>
              </a:ext>
            </a:extLst>
          </p:cNvPr>
          <p:cNvSpPr txBox="1"/>
          <p:nvPr/>
        </p:nvSpPr>
        <p:spPr>
          <a:xfrm>
            <a:off x="334297" y="4466367"/>
            <a:ext cx="10294373" cy="369332"/>
          </a:xfrm>
          <a:prstGeom prst="rect">
            <a:avLst/>
          </a:prstGeom>
          <a:noFill/>
        </p:spPr>
        <p:txBody>
          <a:bodyPr wrap="square">
            <a:spAutoFit/>
          </a:bodyPr>
          <a:lstStyle/>
          <a:p>
            <a:r>
              <a:rPr lang="en-US" dirty="0"/>
              <a:t>That was an example of a successful job completion, a “fulfilled promise”.</a:t>
            </a:r>
            <a:endParaRPr lang="en-IN" dirty="0"/>
          </a:p>
        </p:txBody>
      </p:sp>
    </p:spTree>
    <p:extLst>
      <p:ext uri="{BB962C8B-B14F-4D97-AF65-F5344CB8AC3E}">
        <p14:creationId xmlns:p14="http://schemas.microsoft.com/office/powerpoint/2010/main" val="3115372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907E7-55E6-4A77-85A5-3114D6D41663}"/>
              </a:ext>
            </a:extLst>
          </p:cNvPr>
          <p:cNvSpPr>
            <a:spLocks noGrp="1"/>
          </p:cNvSpPr>
          <p:nvPr>
            <p:ph type="title"/>
          </p:nvPr>
        </p:nvSpPr>
        <p:spPr>
          <a:xfrm>
            <a:off x="1415844" y="109487"/>
            <a:ext cx="9849465" cy="315912"/>
          </a:xfrm>
        </p:spPr>
        <p:txBody>
          <a:bodyPr>
            <a:noAutofit/>
          </a:bodyPr>
          <a:lstStyle/>
          <a:p>
            <a:r>
              <a:rPr lang="en-US" sz="2000" dirty="0"/>
              <a:t>And now an example of the executor rejecting the promise with an error:</a:t>
            </a:r>
            <a:endParaRPr lang="en-IN" sz="2000" dirty="0"/>
          </a:p>
        </p:txBody>
      </p:sp>
      <p:sp>
        <p:nvSpPr>
          <p:cNvPr id="3" name="Content Placeholder 2">
            <a:extLst>
              <a:ext uri="{FF2B5EF4-FFF2-40B4-BE49-F238E27FC236}">
                <a16:creationId xmlns:a16="http://schemas.microsoft.com/office/drawing/2014/main" id="{911D4160-1818-45DC-87B2-E13DB5A7A99C}"/>
              </a:ext>
            </a:extLst>
          </p:cNvPr>
          <p:cNvSpPr>
            <a:spLocks noGrp="1"/>
          </p:cNvSpPr>
          <p:nvPr>
            <p:ph idx="1"/>
          </p:nvPr>
        </p:nvSpPr>
        <p:spPr>
          <a:xfrm>
            <a:off x="513735" y="822734"/>
            <a:ext cx="10515600" cy="4351338"/>
          </a:xfrm>
        </p:spPr>
        <p:txBody>
          <a:bodyPr/>
          <a:lstStyle/>
          <a:p>
            <a:pPr marL="0" indent="0">
              <a:buNone/>
            </a:pPr>
            <a:r>
              <a:rPr lang="en-US" sz="1800" b="0" dirty="0">
                <a:solidFill>
                  <a:srgbClr val="0000FF"/>
                </a:solidFill>
                <a:effectLst/>
                <a:latin typeface="Consolas" panose="020B0609020204030204" pitchFamily="49" charset="0"/>
              </a:rPr>
              <a:t>let</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promise</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a:t>
            </a:r>
            <a:r>
              <a:rPr lang="en-US" sz="1800" b="0" dirty="0">
                <a:solidFill>
                  <a:srgbClr val="267F99"/>
                </a:solidFill>
                <a:effectLst/>
                <a:latin typeface="Consolas" panose="020B0609020204030204" pitchFamily="49" charset="0"/>
              </a:rPr>
              <a:t>Promise</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resolve</a:t>
            </a: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reject</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8000"/>
                </a:solidFill>
                <a:effectLst/>
                <a:latin typeface="Consolas" panose="020B0609020204030204" pitchFamily="49" charset="0"/>
              </a:rPr>
              <a:t>// after 1 second signal that the job is finished with an error</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setTimeout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r>
              <a:rPr lang="en-US" sz="1800" b="0" dirty="0">
                <a:solidFill>
                  <a:srgbClr val="795E26"/>
                </a:solidFill>
                <a:effectLst/>
                <a:latin typeface="Consolas" panose="020B0609020204030204" pitchFamily="49" charset="0"/>
              </a:rPr>
              <a:t>reject</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a:t>
            </a:r>
            <a:r>
              <a:rPr lang="en-US" sz="1800" b="0" dirty="0">
                <a:solidFill>
                  <a:srgbClr val="267F99"/>
                </a:solidFill>
                <a:effectLst/>
                <a:latin typeface="Consolas" panose="020B0609020204030204" pitchFamily="49" charset="0"/>
              </a:rPr>
              <a:t>Error</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"Whoops!"</a:t>
            </a:r>
            <a:r>
              <a:rPr lang="en-US" sz="1800" b="0" dirty="0">
                <a:solidFill>
                  <a:srgbClr val="000000"/>
                </a:solidFill>
                <a:effectLst/>
                <a:latin typeface="Consolas" panose="020B0609020204030204" pitchFamily="49" charset="0"/>
              </a:rPr>
              <a:t>)), </a:t>
            </a:r>
            <a:r>
              <a:rPr lang="en-US" sz="1800" b="0" dirty="0">
                <a:solidFill>
                  <a:srgbClr val="098658"/>
                </a:solidFill>
                <a:effectLst/>
                <a:latin typeface="Consolas" panose="020B0609020204030204" pitchFamily="49" charset="0"/>
              </a:rPr>
              <a:t>1000</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a:t>
            </a:r>
          </a:p>
          <a:p>
            <a:r>
              <a:rPr lang="en-US" dirty="0"/>
              <a:t>The call to reject(...) moves the promise object to "rejected" state:</a:t>
            </a:r>
            <a:endParaRPr lang="en-IN" dirty="0"/>
          </a:p>
        </p:txBody>
      </p:sp>
      <p:sp>
        <p:nvSpPr>
          <p:cNvPr id="5" name="TextBox 4">
            <a:extLst>
              <a:ext uri="{FF2B5EF4-FFF2-40B4-BE49-F238E27FC236}">
                <a16:creationId xmlns:a16="http://schemas.microsoft.com/office/drawing/2014/main" id="{1BA2DDF7-053F-40BD-9E9E-DDFD1C8B9119}"/>
              </a:ext>
            </a:extLst>
          </p:cNvPr>
          <p:cNvSpPr txBox="1"/>
          <p:nvPr/>
        </p:nvSpPr>
        <p:spPr>
          <a:xfrm>
            <a:off x="513734" y="4694244"/>
            <a:ext cx="11461955" cy="1200329"/>
          </a:xfrm>
          <a:prstGeom prst="rect">
            <a:avLst/>
          </a:prstGeom>
          <a:noFill/>
        </p:spPr>
        <p:txBody>
          <a:bodyPr wrap="square">
            <a:spAutoFit/>
          </a:bodyPr>
          <a:lstStyle/>
          <a:p>
            <a:r>
              <a:rPr lang="en-US" dirty="0"/>
              <a:t>To summarize, the executor should perform a job (usually something that takes time) and then call resolve or reject to change the state of the corresponding promise object.</a:t>
            </a:r>
          </a:p>
          <a:p>
            <a:endParaRPr lang="en-US" dirty="0"/>
          </a:p>
          <a:p>
            <a:r>
              <a:rPr lang="en-US" dirty="0"/>
              <a:t>A promise that is either resolved or rejected is called “settled”, as opposed to an initially “pending” promise.</a:t>
            </a:r>
            <a:endParaRPr lang="en-IN" dirty="0"/>
          </a:p>
        </p:txBody>
      </p:sp>
      <p:pic>
        <p:nvPicPr>
          <p:cNvPr id="7" name="Picture 6">
            <a:extLst>
              <a:ext uri="{FF2B5EF4-FFF2-40B4-BE49-F238E27FC236}">
                <a16:creationId xmlns:a16="http://schemas.microsoft.com/office/drawing/2014/main" id="{33677EC6-495C-4BD4-BE87-DC7972B32BF5}"/>
              </a:ext>
            </a:extLst>
          </p:cNvPr>
          <p:cNvPicPr>
            <a:picLocks noChangeAspect="1"/>
          </p:cNvPicPr>
          <p:nvPr/>
        </p:nvPicPr>
        <p:blipFill rotWithShape="1">
          <a:blip r:embed="rId2"/>
          <a:srcRect l="28307" t="38420" r="7601" b="39642"/>
          <a:stretch/>
        </p:blipFill>
        <p:spPr>
          <a:xfrm>
            <a:off x="1533832" y="3126658"/>
            <a:ext cx="7814186" cy="1504464"/>
          </a:xfrm>
          <a:prstGeom prst="rect">
            <a:avLst/>
          </a:prstGeom>
        </p:spPr>
      </p:pic>
    </p:spTree>
    <p:extLst>
      <p:ext uri="{BB962C8B-B14F-4D97-AF65-F5344CB8AC3E}">
        <p14:creationId xmlns:p14="http://schemas.microsoft.com/office/powerpoint/2010/main" val="2220747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589CE-EA12-4943-B1C9-9788AE33680E}"/>
              </a:ext>
            </a:extLst>
          </p:cNvPr>
          <p:cNvSpPr txBox="1"/>
          <p:nvPr/>
        </p:nvSpPr>
        <p:spPr>
          <a:xfrm>
            <a:off x="88491" y="990600"/>
            <a:ext cx="6233651" cy="507831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US" dirty="0"/>
          </a:p>
          <a:p>
            <a:r>
              <a:rPr lang="en-US" dirty="0"/>
              <a:t>The executor should call only one resolve or one reject. Any state change is final.</a:t>
            </a:r>
          </a:p>
          <a:p>
            <a:endParaRPr lang="en-US" dirty="0"/>
          </a:p>
          <a:p>
            <a:r>
              <a:rPr lang="en-US" dirty="0"/>
              <a:t>All further calls of resolve and reject are ignored:</a:t>
            </a:r>
          </a:p>
          <a:p>
            <a:pPr marL="342900" indent="-342900">
              <a:buFont typeface="+mj-lt"/>
              <a:buAutoNum type="arabicPeriod"/>
            </a:pPr>
            <a:endParaRPr lang="en-US" dirty="0"/>
          </a:p>
          <a:p>
            <a:pPr marL="342900" indent="-342900">
              <a:buFont typeface="+mj-lt"/>
              <a:buAutoNum type="arabicPeriod"/>
            </a:pPr>
            <a:r>
              <a:rPr lang="en-US" dirty="0"/>
              <a:t>let promise = new Promise(function(resolve, reject) {</a:t>
            </a:r>
          </a:p>
          <a:p>
            <a:pPr marL="342900" indent="-342900">
              <a:buFont typeface="+mj-lt"/>
              <a:buAutoNum type="arabicPeriod"/>
            </a:pPr>
            <a:r>
              <a:rPr lang="en-US" dirty="0">
                <a:highlight>
                  <a:srgbClr val="FFFF00"/>
                </a:highlight>
              </a:rPr>
              <a:t>  resolve("done");</a:t>
            </a:r>
          </a:p>
          <a:p>
            <a:pPr marL="342900" indent="-342900">
              <a:buFont typeface="+mj-lt"/>
              <a:buAutoNum type="arabicPeriod"/>
            </a:pPr>
            <a:endParaRPr lang="en-US" dirty="0"/>
          </a:p>
          <a:p>
            <a:pPr marL="342900" indent="-342900">
              <a:buFont typeface="+mj-lt"/>
              <a:buAutoNum type="arabicPeriod"/>
            </a:pPr>
            <a:r>
              <a:rPr lang="en-US" dirty="0"/>
              <a:t>  reject(new Error("…")); // ignored</a:t>
            </a:r>
          </a:p>
          <a:p>
            <a:pPr marL="342900" indent="-342900">
              <a:buFont typeface="+mj-lt"/>
              <a:buAutoNum type="arabicPeriod"/>
            </a:pPr>
            <a:r>
              <a:rPr lang="en-US" dirty="0"/>
              <a:t>  </a:t>
            </a:r>
            <a:r>
              <a:rPr lang="en-US" dirty="0" err="1"/>
              <a:t>setTimeout</a:t>
            </a:r>
            <a:r>
              <a:rPr lang="en-US" dirty="0"/>
              <a:t>(() =&gt; resolve("…")); // ignored</a:t>
            </a:r>
          </a:p>
          <a:p>
            <a:pPr marL="342900" indent="-342900">
              <a:buFont typeface="+mj-lt"/>
              <a:buAutoNum type="arabicPeriod"/>
            </a:pPr>
            <a:r>
              <a:rPr lang="en-US" dirty="0"/>
              <a:t>});</a:t>
            </a:r>
          </a:p>
          <a:p>
            <a:endParaRPr lang="en-US" dirty="0"/>
          </a:p>
          <a:p>
            <a:r>
              <a:rPr lang="en-US" dirty="0"/>
              <a:t>The idea is that a job done by the executor may have only one result or an error.</a:t>
            </a:r>
          </a:p>
          <a:p>
            <a:endParaRPr lang="en-US" dirty="0"/>
          </a:p>
          <a:p>
            <a:r>
              <a:rPr lang="en-US" dirty="0"/>
              <a:t>Also, resolve/reject expect only one argument (or none) and will ignore additional arguments.</a:t>
            </a:r>
            <a:endParaRPr lang="en-IN" dirty="0"/>
          </a:p>
        </p:txBody>
      </p:sp>
      <p:sp>
        <p:nvSpPr>
          <p:cNvPr id="7" name="TextBox 6">
            <a:extLst>
              <a:ext uri="{FF2B5EF4-FFF2-40B4-BE49-F238E27FC236}">
                <a16:creationId xmlns:a16="http://schemas.microsoft.com/office/drawing/2014/main" id="{7ABA72D3-AB34-4E80-ADC8-7156A370F2A8}"/>
              </a:ext>
            </a:extLst>
          </p:cNvPr>
          <p:cNvSpPr txBox="1"/>
          <p:nvPr/>
        </p:nvSpPr>
        <p:spPr>
          <a:xfrm>
            <a:off x="6784257" y="1418925"/>
            <a:ext cx="4935794"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US" dirty="0"/>
          </a:p>
          <a:p>
            <a:r>
              <a:rPr lang="en-US" dirty="0"/>
              <a:t>Reject with </a:t>
            </a:r>
            <a:r>
              <a:rPr lang="en-US" dirty="0">
                <a:highlight>
                  <a:srgbClr val="FFFF00"/>
                </a:highlight>
              </a:rPr>
              <a:t>Error </a:t>
            </a:r>
            <a:r>
              <a:rPr lang="en-US" dirty="0"/>
              <a:t>objects</a:t>
            </a:r>
          </a:p>
          <a:p>
            <a:endParaRPr lang="en-US" dirty="0"/>
          </a:p>
          <a:p>
            <a:r>
              <a:rPr lang="en-US" dirty="0"/>
              <a:t>In case something goes wrong, the executor should call </a:t>
            </a:r>
            <a:r>
              <a:rPr lang="en-US" dirty="0">
                <a:highlight>
                  <a:srgbClr val="FFFF00"/>
                </a:highlight>
              </a:rPr>
              <a:t>reject</a:t>
            </a:r>
            <a:r>
              <a:rPr lang="en-US" dirty="0"/>
              <a:t>. That can be done with any type of argument (just like </a:t>
            </a:r>
            <a:r>
              <a:rPr lang="en-US" dirty="0">
                <a:highlight>
                  <a:srgbClr val="FFFF00"/>
                </a:highlight>
              </a:rPr>
              <a:t>resolve</a:t>
            </a:r>
            <a:r>
              <a:rPr lang="en-US" dirty="0"/>
              <a:t>). But it is recommended to use Error objects (or objects that inherit from </a:t>
            </a:r>
            <a:r>
              <a:rPr lang="en-US" dirty="0">
                <a:highlight>
                  <a:srgbClr val="FFFF00"/>
                </a:highlight>
              </a:rPr>
              <a:t>Error</a:t>
            </a:r>
            <a:r>
              <a:rPr lang="en-US" dirty="0"/>
              <a:t>). The reasoning for that will soon become apparent.</a:t>
            </a:r>
          </a:p>
        </p:txBody>
      </p:sp>
      <p:sp>
        <p:nvSpPr>
          <p:cNvPr id="9" name="TextBox 8">
            <a:extLst>
              <a:ext uri="{FF2B5EF4-FFF2-40B4-BE49-F238E27FC236}">
                <a16:creationId xmlns:a16="http://schemas.microsoft.com/office/drawing/2014/main" id="{7773E3D6-A68E-4B5E-B4B0-6A16FDB92579}"/>
              </a:ext>
            </a:extLst>
          </p:cNvPr>
          <p:cNvSpPr txBox="1"/>
          <p:nvPr/>
        </p:nvSpPr>
        <p:spPr>
          <a:xfrm>
            <a:off x="3116826" y="188960"/>
            <a:ext cx="613532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There can be only a single result or an error</a:t>
            </a:r>
          </a:p>
        </p:txBody>
      </p:sp>
    </p:spTree>
    <p:extLst>
      <p:ext uri="{BB962C8B-B14F-4D97-AF65-F5344CB8AC3E}">
        <p14:creationId xmlns:p14="http://schemas.microsoft.com/office/powerpoint/2010/main" val="3400134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0917D-59FC-41BA-8AB4-6BBFCAC398E7}"/>
              </a:ext>
            </a:extLst>
          </p:cNvPr>
          <p:cNvSpPr>
            <a:spLocks noGrp="1"/>
          </p:cNvSpPr>
          <p:nvPr>
            <p:ph idx="1"/>
          </p:nvPr>
        </p:nvSpPr>
        <p:spPr>
          <a:xfrm>
            <a:off x="216310" y="717755"/>
            <a:ext cx="6617109" cy="5459208"/>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r>
              <a:rPr lang="en-US" dirty="0"/>
              <a:t>Immediately calling resolve/reject</a:t>
            </a:r>
          </a:p>
          <a:p>
            <a:r>
              <a:rPr lang="en-US" dirty="0"/>
              <a:t>In practice, an executor usually does something asynchronously and calls resolve/reject after some time, but it doesn’t have to. We also can call resolve or reject immediately, like this:</a:t>
            </a:r>
          </a:p>
          <a:p>
            <a:r>
              <a:rPr lang="en-US" dirty="0"/>
              <a:t>let promise = new Promise(function(resolve, reject) {</a:t>
            </a:r>
          </a:p>
          <a:p>
            <a:r>
              <a:rPr lang="en-US" dirty="0"/>
              <a:t>  // not taking our time to do the job</a:t>
            </a:r>
          </a:p>
          <a:p>
            <a:r>
              <a:rPr lang="en-US" dirty="0"/>
              <a:t>  resolve(123); // immediately give the result: 123</a:t>
            </a:r>
          </a:p>
          <a:p>
            <a:r>
              <a:rPr lang="en-US" dirty="0"/>
              <a:t>});</a:t>
            </a:r>
          </a:p>
          <a:p>
            <a:endParaRPr lang="en-US" dirty="0"/>
          </a:p>
          <a:p>
            <a:r>
              <a:rPr lang="en-US" dirty="0"/>
              <a:t>For instance, this might happen when we start to do a job but then see that everything has already been completed and cached.</a:t>
            </a:r>
          </a:p>
          <a:p>
            <a:endParaRPr lang="en-US" dirty="0"/>
          </a:p>
          <a:p>
            <a:r>
              <a:rPr lang="en-US" dirty="0"/>
              <a:t>That’s fine. We immediately have a resolved promise.</a:t>
            </a:r>
            <a:endParaRPr lang="en-IN" dirty="0"/>
          </a:p>
        </p:txBody>
      </p:sp>
      <p:sp>
        <p:nvSpPr>
          <p:cNvPr id="6" name="TextBox 5">
            <a:extLst>
              <a:ext uri="{FF2B5EF4-FFF2-40B4-BE49-F238E27FC236}">
                <a16:creationId xmlns:a16="http://schemas.microsoft.com/office/drawing/2014/main" id="{BEB520D8-CE5D-4A1C-B47C-6B045D13D45F}"/>
              </a:ext>
            </a:extLst>
          </p:cNvPr>
          <p:cNvSpPr txBox="1"/>
          <p:nvPr/>
        </p:nvSpPr>
        <p:spPr>
          <a:xfrm>
            <a:off x="6971071" y="1305598"/>
            <a:ext cx="4837471"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state and result are internal</a:t>
            </a:r>
          </a:p>
          <a:p>
            <a:endParaRPr lang="en-US" dirty="0"/>
          </a:p>
          <a:p>
            <a:r>
              <a:rPr lang="en-US" dirty="0"/>
              <a:t>The properties state and result of the Promise object are internal. We can’t directly access them. We can use the methods .then/.catch/.finally for that. They are described below.</a:t>
            </a:r>
          </a:p>
        </p:txBody>
      </p:sp>
    </p:spTree>
    <p:extLst>
      <p:ext uri="{BB962C8B-B14F-4D97-AF65-F5344CB8AC3E}">
        <p14:creationId xmlns:p14="http://schemas.microsoft.com/office/powerpoint/2010/main" val="3765078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753674-B486-4C98-A0F4-F6F175E15FEF}"/>
              </a:ext>
            </a:extLst>
          </p:cNvPr>
          <p:cNvSpPr>
            <a:spLocks noGrp="1"/>
          </p:cNvSpPr>
          <p:nvPr>
            <p:ph idx="1"/>
          </p:nvPr>
        </p:nvSpPr>
        <p:spPr>
          <a:xfrm>
            <a:off x="1337186" y="1"/>
            <a:ext cx="10510685" cy="1632154"/>
          </a:xfrm>
        </p:spPr>
        <p:txBody>
          <a:bodyPr>
            <a:normAutofit fontScale="92500" lnSpcReduction="20000"/>
          </a:bodyPr>
          <a:lstStyle/>
          <a:p>
            <a:r>
              <a:rPr lang="en-US" dirty="0"/>
              <a:t>Consumers: then, catch, finally</a:t>
            </a:r>
          </a:p>
          <a:p>
            <a:r>
              <a:rPr lang="en-US" dirty="0"/>
              <a:t>A Promise object serves as a link between the executor (the “producing code” or “singer”) and the consuming functions (the “fans”), which will receive the result or error. Consuming functions can be registered (subscribed) using methods .then, .catch and .finally.</a:t>
            </a:r>
            <a:endParaRPr lang="en-IN" dirty="0"/>
          </a:p>
        </p:txBody>
      </p:sp>
      <p:sp>
        <p:nvSpPr>
          <p:cNvPr id="5" name="TextBox 4">
            <a:extLst>
              <a:ext uri="{FF2B5EF4-FFF2-40B4-BE49-F238E27FC236}">
                <a16:creationId xmlns:a16="http://schemas.microsoft.com/office/drawing/2014/main" id="{05FA311C-46F7-426F-AC89-93DDFA2E89DD}"/>
              </a:ext>
            </a:extLst>
          </p:cNvPr>
          <p:cNvSpPr txBox="1"/>
          <p:nvPr/>
        </p:nvSpPr>
        <p:spPr>
          <a:xfrm>
            <a:off x="206478" y="1632155"/>
            <a:ext cx="5545393" cy="5078313"/>
          </a:xfrm>
          <a:prstGeom prst="rect">
            <a:avLst/>
          </a:prstGeom>
          <a:noFill/>
        </p:spPr>
        <p:txBody>
          <a:bodyPr wrap="square">
            <a:spAutoFit/>
          </a:bodyPr>
          <a:lstStyle/>
          <a:p>
            <a:r>
              <a:rPr lang="en-US" dirty="0">
                <a:solidFill>
                  <a:schemeClr val="accent1"/>
                </a:solidFill>
              </a:rPr>
              <a:t>then</a:t>
            </a:r>
          </a:p>
          <a:p>
            <a:r>
              <a:rPr lang="en-US" dirty="0"/>
              <a:t>The most important, fundamental one is .then.</a:t>
            </a:r>
          </a:p>
          <a:p>
            <a:r>
              <a:rPr lang="en-US" b="0" dirty="0">
                <a:solidFill>
                  <a:srgbClr val="001080"/>
                </a:solidFill>
                <a:effectLst/>
                <a:latin typeface="Consolas" panose="020B0609020204030204" pitchFamily="49" charset="0"/>
              </a:rPr>
              <a:t>The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syntax</a:t>
            </a:r>
            <a:r>
              <a:rPr lang="en-US" b="0" dirty="0">
                <a:solidFill>
                  <a:srgbClr val="000000"/>
                </a:solidFill>
                <a:effectLst/>
                <a:latin typeface="Consolas" panose="020B0609020204030204" pitchFamily="49" charset="0"/>
              </a:rPr>
              <a:t> is:</a:t>
            </a:r>
          </a:p>
          <a:p>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 </a:t>
            </a:r>
            <a:r>
              <a:rPr lang="en-US" b="0" dirty="0">
                <a:solidFill>
                  <a:srgbClr val="008000"/>
                </a:solidFill>
                <a:effectLst/>
                <a:latin typeface="Consolas" panose="020B0609020204030204" pitchFamily="49" charset="0"/>
              </a:rPr>
              <a:t>/*handle a successful result */</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error</a:t>
            </a:r>
            <a:r>
              <a:rPr lang="en-US" b="0" dirty="0">
                <a:solidFill>
                  <a:srgbClr val="000000"/>
                </a:solidFill>
                <a:effectLst/>
                <a:latin typeface="Consolas" panose="020B0609020204030204" pitchFamily="49" charset="0"/>
              </a:rPr>
              <a:t>) { </a:t>
            </a:r>
            <a:r>
              <a:rPr lang="en-US" b="0" dirty="0">
                <a:solidFill>
                  <a:srgbClr val="008000"/>
                </a:solidFill>
                <a:effectLst/>
                <a:latin typeface="Consolas" panose="020B0609020204030204" pitchFamily="49" charset="0"/>
              </a:rPr>
              <a:t>/*handle an error */</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effectLst/>
                <a:latin typeface="Consolas" panose="020B0609020204030204" pitchFamily="49" charset="0"/>
              </a:rPr>
              <a:t>The first argument of .then is a function that runs when the promise is resolved, and receives the result.</a:t>
            </a:r>
          </a:p>
          <a:p>
            <a:br>
              <a:rPr lang="en-US" b="0" dirty="0">
                <a:effectLst/>
                <a:latin typeface="Consolas" panose="020B0609020204030204" pitchFamily="49" charset="0"/>
              </a:rPr>
            </a:br>
            <a:r>
              <a:rPr lang="en-US" b="0" dirty="0">
                <a:effectLst/>
                <a:latin typeface="Consolas" panose="020B0609020204030204" pitchFamily="49" charset="0"/>
              </a:rPr>
              <a:t>The second argument of .then is a function that runs when the promise is rejected, and receives the error.</a:t>
            </a:r>
          </a:p>
          <a:p>
            <a:endParaRPr lang="en-US" dirty="0"/>
          </a:p>
        </p:txBody>
      </p:sp>
      <p:sp>
        <p:nvSpPr>
          <p:cNvPr id="7" name="TextBox 6">
            <a:extLst>
              <a:ext uri="{FF2B5EF4-FFF2-40B4-BE49-F238E27FC236}">
                <a16:creationId xmlns:a16="http://schemas.microsoft.com/office/drawing/2014/main" id="{39D4DB96-1C58-4F61-BB26-64D7ECBD1652}"/>
              </a:ext>
            </a:extLst>
          </p:cNvPr>
          <p:cNvSpPr txBox="1"/>
          <p:nvPr/>
        </p:nvSpPr>
        <p:spPr>
          <a:xfrm>
            <a:off x="5978014" y="1700981"/>
            <a:ext cx="6135328" cy="4524315"/>
          </a:xfrm>
          <a:prstGeom prst="rect">
            <a:avLst/>
          </a:prstGeom>
          <a:noFill/>
        </p:spPr>
        <p:txBody>
          <a:bodyPr wrap="square">
            <a:spAutoFit/>
          </a:bodyPr>
          <a:lstStyle/>
          <a:p>
            <a:r>
              <a:rPr lang="en-US" b="0" dirty="0">
                <a:effectLst/>
                <a:latin typeface="Consolas" panose="020B0609020204030204" pitchFamily="49" charset="0"/>
              </a:rPr>
              <a:t>For instance, here’s a reaction to a successfully resolved promise:</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promise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Promise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reject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"done!"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resolve runs the first function in .then</a:t>
            </a:r>
            <a:endParaRPr lang="en-US" b="0" dirty="0">
              <a:solidFill>
                <a:srgbClr val="000000"/>
              </a:solidFill>
              <a:effectLst/>
              <a:latin typeface="Consolas" panose="020B0609020204030204" pitchFamily="49" charset="0"/>
            </a:endParaRPr>
          </a:p>
          <a:p>
            <a:r>
              <a:rPr lang="en-US" b="0" dirty="0" err="1">
                <a:solidFill>
                  <a:srgbClr val="001080"/>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shows "done!" after 1 second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error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error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doesn't run</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effectLst/>
                <a:latin typeface="Consolas" panose="020B0609020204030204" pitchFamily="49" charset="0"/>
              </a:rPr>
              <a:t>The first function was executed.</a:t>
            </a:r>
          </a:p>
        </p:txBody>
      </p:sp>
    </p:spTree>
    <p:extLst>
      <p:ext uri="{BB962C8B-B14F-4D97-AF65-F5344CB8AC3E}">
        <p14:creationId xmlns:p14="http://schemas.microsoft.com/office/powerpoint/2010/main" val="396757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BD70D-B714-4B35-B32B-CBB5A8E90D46}"/>
              </a:ext>
            </a:extLst>
          </p:cNvPr>
          <p:cNvSpPr>
            <a:spLocks noGrp="1"/>
          </p:cNvSpPr>
          <p:nvPr>
            <p:ph idx="1"/>
          </p:nvPr>
        </p:nvSpPr>
        <p:spPr>
          <a:xfrm>
            <a:off x="550606" y="963561"/>
            <a:ext cx="10803194" cy="5213402"/>
          </a:xfrm>
        </p:spPr>
        <p:txBody>
          <a:bodyPr>
            <a:normAutofit fontScale="47500" lnSpcReduction="20000"/>
          </a:bodyPr>
          <a:lstStyle/>
          <a:p>
            <a:pPr marL="0" indent="0">
              <a:buNone/>
            </a:pPr>
            <a:br>
              <a:rPr lang="en-US" b="0" dirty="0">
                <a:solidFill>
                  <a:srgbClr val="000000"/>
                </a:solidFill>
                <a:effectLst/>
                <a:latin typeface="Consolas" panose="020B0609020204030204" pitchFamily="49" charset="0"/>
              </a:rPr>
            </a:br>
            <a:br>
              <a:rPr lang="en-US" b="0" dirty="0">
                <a:solidFill>
                  <a:srgbClr val="000000"/>
                </a:solidFill>
                <a:effectLst/>
                <a:latin typeface="Consolas" panose="020B0609020204030204" pitchFamily="49" charset="0"/>
              </a:rPr>
            </a:br>
            <a:r>
              <a:rPr lang="en-US" b="0" dirty="0">
                <a:effectLst/>
                <a:latin typeface="Consolas" panose="020B0609020204030204" pitchFamily="49" charset="0"/>
              </a:rPr>
              <a:t>And in the case of a rejection, the second one:</a:t>
            </a:r>
          </a:p>
          <a:p>
            <a:pPr marL="0" indent="0">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promise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Promise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reject</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reject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Error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"Whoops!"</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reject runs the second function in .then</a:t>
            </a:r>
            <a:endParaRPr lang="en-US" b="0" dirty="0">
              <a:solidFill>
                <a:srgbClr val="000000"/>
              </a:solidFill>
              <a:effectLst/>
              <a:latin typeface="Consolas" panose="020B0609020204030204" pitchFamily="49" charset="0"/>
            </a:endParaRPr>
          </a:p>
          <a:p>
            <a:pPr marL="0" indent="0">
              <a:buNone/>
            </a:pPr>
            <a:r>
              <a:rPr lang="en-US" b="0" dirty="0" err="1">
                <a:solidFill>
                  <a:srgbClr val="001080"/>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doesn't run</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error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error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shows "Error: Whoops!" after 1 second</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effectLst/>
                <a:latin typeface="Consolas" panose="020B0609020204030204" pitchFamily="49" charset="0"/>
              </a:rPr>
              <a:t>If we’re interested only in successful completions, then we can provide only one function argument to .then</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promise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Promise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"done!"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shows "done!" after 1 second</a:t>
            </a:r>
            <a:endParaRPr lang="en-US"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3914704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61985-AEDE-49DA-A629-2C11DDB56E8A}"/>
              </a:ext>
            </a:extLst>
          </p:cNvPr>
          <p:cNvSpPr>
            <a:spLocks noGrp="1"/>
          </p:cNvSpPr>
          <p:nvPr>
            <p:ph idx="1"/>
          </p:nvPr>
        </p:nvSpPr>
        <p:spPr>
          <a:xfrm>
            <a:off x="439686" y="-130892"/>
            <a:ext cx="9952089" cy="5488705"/>
          </a:xfrm>
        </p:spPr>
        <p:txBody>
          <a:bodyPr>
            <a:normAutofit fontScale="77500" lnSpcReduction="20000"/>
          </a:bodyPr>
          <a:lstStyle/>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catch</a:t>
            </a:r>
            <a:endParaRPr lang="en-US" b="0" dirty="0">
              <a:solidFill>
                <a:srgbClr val="000000"/>
              </a:solidFill>
              <a:effectLst/>
              <a:latin typeface="Consolas" panose="020B0609020204030204" pitchFamily="49" charset="0"/>
            </a:endParaRPr>
          </a:p>
          <a:p>
            <a:pPr marL="0" indent="0">
              <a:buNone/>
            </a:pPr>
            <a:br>
              <a:rPr lang="en-US" b="0" dirty="0">
                <a:effectLst/>
                <a:latin typeface="Consolas" panose="020B0609020204030204" pitchFamily="49" charset="0"/>
              </a:rPr>
            </a:br>
            <a:r>
              <a:rPr lang="en-US" b="0" dirty="0">
                <a:effectLst/>
                <a:latin typeface="Consolas" panose="020B0609020204030204" pitchFamily="49" charset="0"/>
              </a:rPr>
              <a:t>If we’re interested only in errors, then we can use null as the first argument: </a:t>
            </a:r>
          </a:p>
          <a:p>
            <a:pPr marL="0" indent="0">
              <a:buNone/>
            </a:pPr>
            <a:r>
              <a:rPr lang="en-US" b="0" dirty="0">
                <a:effectLst/>
                <a:latin typeface="Consolas" panose="020B0609020204030204" pitchFamily="49" charset="0"/>
              </a:rPr>
              <a:t>.then(null, </a:t>
            </a:r>
            <a:r>
              <a:rPr lang="en-US" b="0" dirty="0" err="1">
                <a:effectLst/>
                <a:latin typeface="Consolas" panose="020B0609020204030204" pitchFamily="49" charset="0"/>
              </a:rPr>
              <a:t>errorHandlingFunction</a:t>
            </a:r>
            <a:r>
              <a:rPr lang="en-US" b="0" dirty="0">
                <a:effectLst/>
                <a:latin typeface="Consolas" panose="020B0609020204030204" pitchFamily="49" charset="0"/>
              </a:rPr>
              <a:t>). Or we can use</a:t>
            </a:r>
          </a:p>
          <a:p>
            <a:pPr marL="0" indent="0">
              <a:buNone/>
            </a:pPr>
            <a:r>
              <a:rPr lang="en-US" b="0" dirty="0">
                <a:effectLst/>
                <a:latin typeface="Consolas" panose="020B0609020204030204" pitchFamily="49" charset="0"/>
              </a:rPr>
              <a:t> .catch(</a:t>
            </a:r>
            <a:r>
              <a:rPr lang="en-US" b="0" dirty="0" err="1">
                <a:effectLst/>
                <a:latin typeface="Consolas" panose="020B0609020204030204" pitchFamily="49" charset="0"/>
              </a:rPr>
              <a:t>errorHandlingFunction</a:t>
            </a:r>
            <a:r>
              <a:rPr lang="en-US" b="0" dirty="0">
                <a:effectLst/>
                <a:latin typeface="Consolas" panose="020B0609020204030204" pitchFamily="49" charset="0"/>
              </a:rPr>
              <a:t>), which is exactly the same:</a:t>
            </a:r>
          </a:p>
          <a:p>
            <a:pPr marL="0" indent="0">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promise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Promise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reject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reject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Error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"Whoops!"</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.catch(f) is the same as </a:t>
            </a:r>
            <a:r>
              <a:rPr lang="en-US" b="0" dirty="0" err="1">
                <a:solidFill>
                  <a:srgbClr val="008000"/>
                </a:solidFill>
                <a:effectLst/>
                <a:latin typeface="Consolas" panose="020B0609020204030204" pitchFamily="49" charset="0"/>
              </a:rPr>
              <a:t>promise.then</a:t>
            </a:r>
            <a:r>
              <a:rPr lang="en-US" b="0" dirty="0">
                <a:solidFill>
                  <a:srgbClr val="008000"/>
                </a:solidFill>
                <a:effectLst/>
                <a:latin typeface="Consolas" panose="020B0609020204030204" pitchFamily="49" charset="0"/>
              </a:rPr>
              <a:t>(null, f)</a:t>
            </a:r>
            <a:endParaRPr lang="en-US" b="0" dirty="0">
              <a:solidFill>
                <a:srgbClr val="000000"/>
              </a:solidFill>
              <a:effectLst/>
              <a:latin typeface="Consolas" panose="020B0609020204030204" pitchFamily="49" charset="0"/>
            </a:endParaRPr>
          </a:p>
          <a:p>
            <a:pPr marL="0" indent="0">
              <a:buNone/>
            </a:pPr>
            <a:r>
              <a:rPr lang="en-US" b="0" dirty="0" err="1">
                <a:solidFill>
                  <a:srgbClr val="001080"/>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catch</a:t>
            </a:r>
            <a:r>
              <a:rPr lang="en-US" b="0" dirty="0">
                <a:solidFill>
                  <a:srgbClr val="000000"/>
                </a:solidFill>
                <a:effectLst/>
                <a:latin typeface="Consolas" panose="020B0609020204030204" pitchFamily="49" charset="0"/>
              </a:rPr>
              <a:t>((data)=&gt;</a:t>
            </a:r>
            <a:r>
              <a:rPr lang="en-US" b="0" dirty="0">
                <a:solidFill>
                  <a:srgbClr val="795E26"/>
                </a:solidFill>
                <a:effectLst/>
                <a:latin typeface="Consolas" panose="020B0609020204030204" pitchFamily="49" charset="0"/>
              </a:rPr>
              <a:t>alert(data)</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shows "Error: Whoops!" after 1 second</a:t>
            </a:r>
            <a:endParaRPr lang="en-US" b="0" dirty="0">
              <a:solidFill>
                <a:srgbClr val="000000"/>
              </a:solidFill>
              <a:effectLst/>
              <a:latin typeface="Consolas" panose="020B0609020204030204" pitchFamily="49" charset="0"/>
            </a:endParaRPr>
          </a:p>
          <a:p>
            <a:pPr marL="0" indent="0">
              <a:buNone/>
            </a:pPr>
            <a:br>
              <a:rPr lang="en-US" b="0" dirty="0">
                <a:effectLst/>
                <a:latin typeface="Consolas" panose="020B0609020204030204" pitchFamily="49" charset="0"/>
              </a:rPr>
            </a:br>
            <a:r>
              <a:rPr lang="en-US" b="0" dirty="0">
                <a:effectLst/>
                <a:latin typeface="Consolas" panose="020B0609020204030204" pitchFamily="49" charset="0"/>
              </a:rPr>
              <a:t>The call .catch(f) is a complete analog of .then(null, f), it’s just a shorthand.</a:t>
            </a:r>
          </a:p>
          <a:p>
            <a:endParaRPr lang="en-IN" dirty="0"/>
          </a:p>
        </p:txBody>
      </p:sp>
      <p:sp>
        <p:nvSpPr>
          <p:cNvPr id="2" name="TextBox 1"/>
          <p:cNvSpPr txBox="1"/>
          <p:nvPr/>
        </p:nvSpPr>
        <p:spPr>
          <a:xfrm>
            <a:off x="10163175" y="1438275"/>
            <a:ext cx="2028825" cy="2585323"/>
          </a:xfrm>
          <a:prstGeom prst="rect">
            <a:avLst/>
          </a:prstGeom>
          <a:noFill/>
        </p:spPr>
        <p:txBody>
          <a:bodyPr wrap="square" rtlCol="0">
            <a:spAutoFit/>
          </a:bodyPr>
          <a:lstStyle/>
          <a:p>
            <a:r>
              <a:rPr lang="en-US" dirty="0"/>
              <a:t>Promise( </a:t>
            </a:r>
            <a:r>
              <a:rPr lang="en-US" dirty="0" err="1"/>
              <a:t>r,rej</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577059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03748-0C7B-44E8-9215-E38181509634}"/>
              </a:ext>
            </a:extLst>
          </p:cNvPr>
          <p:cNvSpPr>
            <a:spLocks noGrp="1"/>
          </p:cNvSpPr>
          <p:nvPr>
            <p:ph idx="1"/>
          </p:nvPr>
        </p:nvSpPr>
        <p:spPr>
          <a:xfrm>
            <a:off x="245806" y="688258"/>
            <a:ext cx="11838039" cy="5958348"/>
          </a:xfrm>
        </p:spPr>
        <p:txBody>
          <a:bodyPr>
            <a:noAutofit/>
          </a:bodyPr>
          <a:lstStyle/>
          <a:p>
            <a:pPr marL="0" indent="0">
              <a:buNone/>
            </a:pPr>
            <a:r>
              <a:rPr lang="en-US" sz="1400" b="0" dirty="0">
                <a:effectLst/>
                <a:latin typeface="Consolas" panose="020B0609020204030204" pitchFamily="49" charset="0"/>
              </a:rPr>
              <a:t>Just like there’s a finally clause in a regular try {...} catch {...}, there’s finally in promises.</a:t>
            </a:r>
          </a:p>
          <a:p>
            <a:pPr marL="0" indent="0">
              <a:buNone/>
            </a:pPr>
            <a:r>
              <a:rPr lang="en-US" sz="1400" b="0" dirty="0">
                <a:effectLst/>
                <a:latin typeface="Consolas" panose="020B0609020204030204" pitchFamily="49" charset="0"/>
              </a:rPr>
              <a:t>The call .finally(f) is similar to .then(f, f) in the sense that f always runs when the promise is settled: be it resolve or reject.</a:t>
            </a:r>
          </a:p>
          <a:p>
            <a:pPr marL="0" indent="0">
              <a:buNone/>
            </a:pPr>
            <a:r>
              <a:rPr lang="en-US" sz="1400" b="0" dirty="0">
                <a:effectLst/>
                <a:latin typeface="Consolas" panose="020B0609020204030204" pitchFamily="49" charset="0"/>
              </a:rPr>
              <a:t>finally is a good handler for performing cleanup, e.g. stopping our loading indicators, as they are not needed anymore, no matter what the outcome is.</a:t>
            </a:r>
          </a:p>
          <a:p>
            <a:pPr marL="0" indent="0">
              <a:buNone/>
            </a:pPr>
            <a:br>
              <a:rPr lang="en-US" sz="1400" b="0" dirty="0">
                <a:effectLst/>
                <a:latin typeface="Consolas" panose="020B0609020204030204" pitchFamily="49" charset="0"/>
              </a:rPr>
            </a:br>
            <a:r>
              <a:rPr lang="en-US" sz="1400" b="0" dirty="0">
                <a:effectLst/>
                <a:latin typeface="Consolas" panose="020B0609020204030204" pitchFamily="49" charset="0"/>
              </a:rPr>
              <a:t>Like this:</a:t>
            </a:r>
          </a:p>
          <a:p>
            <a:pPr marL="0" indent="0">
              <a:buNone/>
            </a:pPr>
            <a:r>
              <a:rPr lang="en-US" sz="1400" b="0" dirty="0">
                <a:solidFill>
                  <a:srgbClr val="0000FF"/>
                </a:solidFill>
                <a:effectLst/>
                <a:latin typeface="Consolas" panose="020B0609020204030204" pitchFamily="49" charset="0"/>
              </a:rPr>
              <a:t>new</a:t>
            </a:r>
            <a:r>
              <a:rPr lang="en-US" sz="1400" b="0" dirty="0">
                <a:solidFill>
                  <a:srgbClr val="000000"/>
                </a:solidFill>
                <a:effectLst/>
                <a:latin typeface="Consolas" panose="020B0609020204030204" pitchFamily="49" charset="0"/>
              </a:rPr>
              <a:t> </a:t>
            </a:r>
            <a:r>
              <a:rPr lang="en-US" sz="1400" b="0" dirty="0">
                <a:solidFill>
                  <a:srgbClr val="267F99"/>
                </a:solidFill>
                <a:effectLst/>
                <a:latin typeface="Consolas" panose="020B0609020204030204" pitchFamily="49" charset="0"/>
              </a:rPr>
              <a:t>Promise</a:t>
            </a:r>
            <a:r>
              <a:rPr lang="en-US" sz="1400" b="0" dirty="0">
                <a:solidFill>
                  <a:srgbClr val="000000"/>
                </a:solidFill>
                <a:effectLst/>
                <a:latin typeface="Consolas" panose="020B0609020204030204" pitchFamily="49" charset="0"/>
              </a:rPr>
              <a:t>((</a:t>
            </a:r>
            <a:r>
              <a:rPr lang="en-US" sz="1400" b="0" dirty="0">
                <a:solidFill>
                  <a:srgbClr val="795E26"/>
                </a:solidFill>
                <a:effectLst/>
                <a:latin typeface="Consolas" panose="020B0609020204030204" pitchFamily="49" charset="0"/>
              </a:rPr>
              <a:t>resolve</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reject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  </a:t>
            </a:r>
            <a:r>
              <a:rPr lang="en-US" sz="1400" b="0" dirty="0">
                <a:solidFill>
                  <a:srgbClr val="008000"/>
                </a:solidFill>
                <a:effectLst/>
                <a:latin typeface="Consolas" panose="020B0609020204030204" pitchFamily="49" charset="0"/>
              </a:rPr>
              <a:t>/* do something that takes time, and then call resolve/reject */</a:t>
            </a:r>
            <a:endParaRPr lang="en-US" sz="1400" b="0" dirty="0">
              <a:solidFill>
                <a:srgbClr val="000000"/>
              </a:solidFill>
              <a:effectLst/>
              <a:latin typeface="Consolas" panose="020B0609020204030204" pitchFamily="49" charset="0"/>
            </a:endParaRPr>
          </a:p>
          <a:p>
            <a:pPr marL="0" indent="0">
              <a:buNone/>
            </a:pPr>
            <a:r>
              <a:rPr lang="en-US" sz="1400" b="0" dirty="0">
                <a:solidFill>
                  <a:srgbClr val="000000"/>
                </a:solidFill>
                <a:effectLst/>
                <a:latin typeface="Consolas" panose="020B0609020204030204" pitchFamily="49" charset="0"/>
              </a:rPr>
              <a:t>})</a:t>
            </a:r>
          </a:p>
          <a:p>
            <a:pPr marL="0" indent="0">
              <a:buNone/>
            </a:pP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runs when the promise is settled, doesn't matter successfully or not</a:t>
            </a:r>
            <a:endParaRPr lang="en-US" sz="1400" b="0" dirty="0">
              <a:solidFill>
                <a:srgbClr val="000000"/>
              </a:solidFill>
              <a:effectLst/>
              <a:latin typeface="Consolas" panose="020B0609020204030204" pitchFamily="49" charset="0"/>
            </a:endParaRPr>
          </a:p>
          <a:p>
            <a:pPr marL="0" indent="0">
              <a:buNone/>
            </a:pP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finally</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stop</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loading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indicator</a:t>
            </a:r>
            <a:r>
              <a:rPr lang="en-US" sz="1400" b="0" dirty="0">
                <a:solidFill>
                  <a:srgbClr val="000000"/>
                </a:solidFill>
                <a:effectLst/>
                <a:latin typeface="Consolas" panose="020B0609020204030204" pitchFamily="49" charset="0"/>
              </a:rPr>
              <a:t>)</a:t>
            </a:r>
          </a:p>
          <a:p>
            <a:pPr marL="0" indent="0">
              <a:buNone/>
            </a:pP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so the loading indicator is always stopped before we process the result/error</a:t>
            </a:r>
            <a:endParaRPr lang="en-US" sz="1400" b="0" dirty="0">
              <a:solidFill>
                <a:srgbClr val="000000"/>
              </a:solidFill>
              <a:effectLst/>
              <a:latin typeface="Consolas" panose="020B0609020204030204" pitchFamily="49" charset="0"/>
            </a:endParaRPr>
          </a:p>
          <a:p>
            <a:pPr marL="0" indent="0">
              <a:buNone/>
            </a:pP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then</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show</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err</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show</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error</a:t>
            </a:r>
            <a:r>
              <a:rPr lang="en-US" sz="1400" b="0" dirty="0">
                <a:solidFill>
                  <a:srgbClr val="000000"/>
                </a:solidFill>
                <a:effectLst/>
                <a:latin typeface="Consolas" panose="020B0609020204030204" pitchFamily="49" charset="0"/>
              </a:rPr>
              <a:t>)</a:t>
            </a:r>
          </a:p>
          <a:p>
            <a:pPr marL="0" indent="0">
              <a:buNone/>
            </a:pPr>
            <a:r>
              <a:rPr lang="en-US" sz="1400" b="0" dirty="0">
                <a:effectLst/>
                <a:latin typeface="Consolas" panose="020B0609020204030204" pitchFamily="49" charset="0"/>
              </a:rPr>
              <a:t>That said, finally(f) isn’t exactly an alias of then(</a:t>
            </a:r>
            <a:r>
              <a:rPr lang="en-US" sz="1400" b="0" dirty="0" err="1">
                <a:effectLst/>
                <a:latin typeface="Consolas" panose="020B0609020204030204" pitchFamily="49" charset="0"/>
              </a:rPr>
              <a:t>f,f</a:t>
            </a:r>
            <a:r>
              <a:rPr lang="en-US" sz="1400" b="0" dirty="0">
                <a:effectLst/>
                <a:latin typeface="Consolas" panose="020B0609020204030204" pitchFamily="49" charset="0"/>
              </a:rPr>
              <a:t>) though. There are few subtle differences:</a:t>
            </a:r>
            <a:br>
              <a:rPr lang="en-US" sz="1400" b="0" dirty="0">
                <a:effectLst/>
                <a:latin typeface="Consolas" panose="020B0609020204030204" pitchFamily="49" charset="0"/>
              </a:rPr>
            </a:br>
            <a:r>
              <a:rPr lang="en-US" sz="1400" b="0" dirty="0">
                <a:effectLst/>
                <a:latin typeface="Consolas" panose="020B0609020204030204" pitchFamily="49" charset="0"/>
              </a:rPr>
              <a:t>A finally handler has no arguments. In finally we don’t know whether the promise is successful or not. That’s all right, as our task is usually to perform “general” finalizing procedures.</a:t>
            </a:r>
          </a:p>
          <a:p>
            <a:pPr marL="0" indent="0">
              <a:buNone/>
            </a:pPr>
            <a:r>
              <a:rPr lang="en-US" sz="1400" b="0" dirty="0">
                <a:effectLst/>
                <a:latin typeface="Consolas" panose="020B0609020204030204" pitchFamily="49" charset="0"/>
              </a:rPr>
              <a:t>    A finally handler passes through results and errors to the next handler.</a:t>
            </a:r>
            <a:br>
              <a:rPr lang="en-US" sz="1400" b="0" dirty="0">
                <a:effectLst/>
                <a:latin typeface="Consolas" panose="020B0609020204030204" pitchFamily="49" charset="0"/>
              </a:rPr>
            </a:br>
            <a:r>
              <a:rPr lang="en-US" sz="1400" b="0" dirty="0">
                <a:effectLst/>
                <a:latin typeface="Consolas" panose="020B0609020204030204" pitchFamily="49" charset="0"/>
              </a:rPr>
              <a:t>    For instance, here the result is passed through finally to then:</a:t>
            </a:r>
          </a:p>
          <a:p>
            <a:pPr marL="0" indent="0">
              <a:buNone/>
            </a:pPr>
            <a:br>
              <a:rPr lang="en-US" sz="1400" b="0" dirty="0">
                <a:solidFill>
                  <a:srgbClr val="000000"/>
                </a:solidFill>
                <a:effectLst/>
                <a:latin typeface="Consolas" panose="020B0609020204030204" pitchFamily="49" charset="0"/>
              </a:rPr>
            </a:br>
            <a:r>
              <a:rPr lang="en-US" sz="1400" b="0" dirty="0">
                <a:solidFill>
                  <a:srgbClr val="0000FF"/>
                </a:solidFill>
                <a:effectLst/>
                <a:latin typeface="Consolas" panose="020B0609020204030204" pitchFamily="49" charset="0"/>
              </a:rPr>
              <a:t>new</a:t>
            </a:r>
            <a:r>
              <a:rPr lang="en-US" sz="1400" b="0" dirty="0">
                <a:solidFill>
                  <a:srgbClr val="000000"/>
                </a:solidFill>
                <a:effectLst/>
                <a:latin typeface="Consolas" panose="020B0609020204030204" pitchFamily="49" charset="0"/>
              </a:rPr>
              <a:t> </a:t>
            </a:r>
            <a:r>
              <a:rPr lang="en-US" sz="1400" b="0" dirty="0">
                <a:solidFill>
                  <a:srgbClr val="267F99"/>
                </a:solidFill>
                <a:effectLst/>
                <a:latin typeface="Consolas" panose="020B0609020204030204" pitchFamily="49" charset="0"/>
              </a:rPr>
              <a:t>Promise</a:t>
            </a:r>
            <a:r>
              <a:rPr lang="en-US" sz="1400" b="0" dirty="0">
                <a:solidFill>
                  <a:srgbClr val="000000"/>
                </a:solidFill>
                <a:effectLst/>
                <a:latin typeface="Consolas" panose="020B0609020204030204" pitchFamily="49" charset="0"/>
              </a:rPr>
              <a:t>((</a:t>
            </a:r>
            <a:r>
              <a:rPr lang="en-US" sz="1400" b="0" dirty="0">
                <a:solidFill>
                  <a:srgbClr val="795E26"/>
                </a:solidFill>
                <a:effectLst/>
                <a:latin typeface="Consolas" panose="020B0609020204030204" pitchFamily="49" charset="0"/>
              </a:rPr>
              <a:t>resolve</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reject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  </a:t>
            </a:r>
            <a:r>
              <a:rPr lang="en-US" sz="1400" b="0" dirty="0" err="1">
                <a:solidFill>
                  <a:srgbClr val="795E26"/>
                </a:solidFill>
                <a:effectLst/>
                <a:latin typeface="Consolas" panose="020B0609020204030204" pitchFamily="49" charset="0"/>
              </a:rPr>
              <a:t>setTimeout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resolve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2000</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finally</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alert</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"Promise ready"</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then</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alert</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&lt;-- .then handles the result</a:t>
            </a:r>
            <a:endParaRPr lang="en-US" sz="1400" b="0" dirty="0">
              <a:solidFill>
                <a:srgbClr val="000000"/>
              </a:solidFill>
              <a:effectLst/>
              <a:latin typeface="Consolas" panose="020B0609020204030204" pitchFamily="49" charset="0"/>
            </a:endParaRPr>
          </a:p>
          <a:p>
            <a:pPr marL="0" indent="0">
              <a:buNone/>
            </a:pPr>
            <a:br>
              <a:rPr lang="en-US" sz="1400" b="0" dirty="0">
                <a:solidFill>
                  <a:srgbClr val="000000"/>
                </a:solidFill>
                <a:effectLst/>
                <a:latin typeface="Consolas" panose="020B0609020204030204" pitchFamily="49" charset="0"/>
              </a:rPr>
            </a:br>
            <a:endParaRPr lang="en-IN" sz="1400" dirty="0"/>
          </a:p>
        </p:txBody>
      </p:sp>
      <p:sp>
        <p:nvSpPr>
          <p:cNvPr id="5" name="TextBox 4">
            <a:extLst>
              <a:ext uri="{FF2B5EF4-FFF2-40B4-BE49-F238E27FC236}">
                <a16:creationId xmlns:a16="http://schemas.microsoft.com/office/drawing/2014/main" id="{E73C6105-DDF7-4BD5-B447-DA15B6727DDF}"/>
              </a:ext>
            </a:extLst>
          </p:cNvPr>
          <p:cNvSpPr txBox="1"/>
          <p:nvPr/>
        </p:nvSpPr>
        <p:spPr>
          <a:xfrm>
            <a:off x="2732139" y="0"/>
            <a:ext cx="2832919" cy="480131"/>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finally</a:t>
            </a:r>
            <a:endParaRPr kumimoji="0" lang="en-US" sz="2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102807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1E55D1-72AE-4B5F-A03D-0D210BA1E1B1}"/>
              </a:ext>
            </a:extLst>
          </p:cNvPr>
          <p:cNvSpPr>
            <a:spLocks noGrp="1"/>
          </p:cNvSpPr>
          <p:nvPr>
            <p:ph idx="1"/>
          </p:nvPr>
        </p:nvSpPr>
        <p:spPr>
          <a:xfrm>
            <a:off x="471948" y="707923"/>
            <a:ext cx="10881852" cy="5469040"/>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And here there’s an error in the promise, passed through finally to catch: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Promise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resolve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reject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finally</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"Promise ready"</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catch</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&lt;-- .catch handles the error object</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That’s very convenient, because finally is not meant to process a promise result. So it passes it through.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We’ll talk more about promise chaining and result-passing between handlers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We can attach handlers to settled promises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If a promise is pending, .then/catch/finally handlers wait for it. Otherwise, if a promise has already settled, they just run: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the promise becomes resolved immediately upon creation</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promise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Promise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resolve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resolve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"done!"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b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promise</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then</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done! (shows up right now)</a:t>
            </a:r>
            <a:endPar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Note that this makes promises more powerful than the real life “subscription list” scenario. If the singer has already released their song and then a person signs up on the subscription list, they probably won’t receive that song. Subscriptions in real life must be done prior to the event.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Promises are more flexible. We can add handlers any time: if the result is already there, they just execute.</a:t>
            </a:r>
          </a:p>
          <a:p>
            <a:endParaRPr lang="en-IN" dirty="0"/>
          </a:p>
        </p:txBody>
      </p:sp>
    </p:spTree>
    <p:extLst>
      <p:ext uri="{BB962C8B-B14F-4D97-AF65-F5344CB8AC3E}">
        <p14:creationId xmlns:p14="http://schemas.microsoft.com/office/powerpoint/2010/main" val="3781086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00A0A77-9FBD-446E-86FB-B32BAED72597}"/>
              </a:ext>
            </a:extLst>
          </p:cNvPr>
          <p:cNvGraphicFramePr>
            <a:graphicFrameLocks noGrp="1"/>
          </p:cNvGraphicFramePr>
          <p:nvPr>
            <p:ph idx="1"/>
            <p:extLst>
              <p:ext uri="{D42A27DB-BD31-4B8C-83A1-F6EECF244321}">
                <p14:modId xmlns:p14="http://schemas.microsoft.com/office/powerpoint/2010/main" val="2562818289"/>
              </p:ext>
            </p:extLst>
          </p:nvPr>
        </p:nvGraphicFramePr>
        <p:xfrm>
          <a:off x="599937" y="743778"/>
          <a:ext cx="10515600" cy="2194560"/>
        </p:xfrm>
        <a:graphic>
          <a:graphicData uri="http://schemas.openxmlformats.org/drawingml/2006/table">
            <a:tbl>
              <a:tblPr/>
              <a:tblGrid>
                <a:gridCol w="5257800">
                  <a:extLst>
                    <a:ext uri="{9D8B030D-6E8A-4147-A177-3AD203B41FA5}">
                      <a16:colId xmlns:a16="http://schemas.microsoft.com/office/drawing/2014/main" val="703828179"/>
                    </a:ext>
                  </a:extLst>
                </a:gridCol>
                <a:gridCol w="5257800">
                  <a:extLst>
                    <a:ext uri="{9D8B030D-6E8A-4147-A177-3AD203B41FA5}">
                      <a16:colId xmlns:a16="http://schemas.microsoft.com/office/drawing/2014/main" val="1842955597"/>
                    </a:ext>
                  </a:extLst>
                </a:gridCol>
              </a:tblGrid>
              <a:tr h="0">
                <a:tc>
                  <a:txBody>
                    <a:bodyPr/>
                    <a:lstStyle/>
                    <a:p>
                      <a:r>
                        <a:rPr lang="en-IN" b="1" dirty="0"/>
                        <a:t>Promises</a:t>
                      </a:r>
                    </a:p>
                  </a:txBody>
                  <a:tcPr anchor="ctr">
                    <a:lnL>
                      <a:noFill/>
                    </a:lnL>
                    <a:lnR>
                      <a:noFill/>
                    </a:lnR>
                    <a:lnT>
                      <a:noFill/>
                    </a:lnT>
                    <a:lnB>
                      <a:noFill/>
                    </a:lnB>
                  </a:tcPr>
                </a:tc>
                <a:tc>
                  <a:txBody>
                    <a:bodyPr/>
                    <a:lstStyle/>
                    <a:p>
                      <a:r>
                        <a:rPr lang="en-IN" b="1" dirty="0" err="1"/>
                        <a:t>Callbacks</a:t>
                      </a:r>
                      <a:endParaRPr lang="en-IN" b="1" dirty="0"/>
                    </a:p>
                  </a:txBody>
                  <a:tcPr anchor="ctr">
                    <a:lnL>
                      <a:noFill/>
                    </a:lnL>
                    <a:lnR>
                      <a:noFill/>
                    </a:lnR>
                    <a:lnT>
                      <a:noFill/>
                    </a:lnT>
                    <a:lnB>
                      <a:noFill/>
                    </a:lnB>
                  </a:tcPr>
                </a:tc>
                <a:extLst>
                  <a:ext uri="{0D108BD9-81ED-4DB2-BD59-A6C34878D82A}">
                    <a16:rowId xmlns:a16="http://schemas.microsoft.com/office/drawing/2014/main" val="3977802509"/>
                  </a:ext>
                </a:extLst>
              </a:tr>
              <a:tr h="0">
                <a:tc>
                  <a:txBody>
                    <a:bodyPr/>
                    <a:lstStyle/>
                    <a:p>
                      <a:r>
                        <a:rPr lang="en-US"/>
                        <a:t>Promises allow us to do things in the natural order. First, we run loadScript(script), and .then we write what to do with the result.</a:t>
                      </a:r>
                    </a:p>
                  </a:txBody>
                  <a:tcPr anchor="ctr">
                    <a:lnL>
                      <a:noFill/>
                    </a:lnL>
                    <a:lnR>
                      <a:noFill/>
                    </a:lnR>
                    <a:lnT>
                      <a:noFill/>
                    </a:lnT>
                    <a:lnB>
                      <a:noFill/>
                    </a:lnB>
                  </a:tcPr>
                </a:tc>
                <a:tc>
                  <a:txBody>
                    <a:bodyPr/>
                    <a:lstStyle/>
                    <a:p>
                      <a:r>
                        <a:rPr lang="en-US" dirty="0"/>
                        <a:t>We must have a callback function at our disposal , In other words, we must know what to do with the result</a:t>
                      </a:r>
                    </a:p>
                  </a:txBody>
                  <a:tcPr anchor="ctr">
                    <a:lnL>
                      <a:noFill/>
                    </a:lnL>
                    <a:lnR>
                      <a:noFill/>
                    </a:lnR>
                    <a:lnT>
                      <a:noFill/>
                    </a:lnT>
                    <a:lnB>
                      <a:noFill/>
                    </a:lnB>
                  </a:tcPr>
                </a:tc>
                <a:extLst>
                  <a:ext uri="{0D108BD9-81ED-4DB2-BD59-A6C34878D82A}">
                    <a16:rowId xmlns:a16="http://schemas.microsoft.com/office/drawing/2014/main" val="2521316912"/>
                  </a:ext>
                </a:extLst>
              </a:tr>
              <a:tr h="0">
                <a:tc>
                  <a:txBody>
                    <a:bodyPr/>
                    <a:lstStyle/>
                    <a:p>
                      <a:r>
                        <a:rPr lang="en-US" dirty="0"/>
                        <a:t>We can call .then on a Promise as many times as we want. Each time, we’re adding a new “fan”, a new subscribing function, to the “subscription list”. </a:t>
                      </a:r>
                    </a:p>
                  </a:txBody>
                  <a:tcPr anchor="ctr">
                    <a:lnL>
                      <a:noFill/>
                    </a:lnL>
                    <a:lnR>
                      <a:noFill/>
                    </a:lnR>
                    <a:lnT>
                      <a:noFill/>
                    </a:lnT>
                    <a:lnB>
                      <a:noFill/>
                    </a:lnB>
                  </a:tcPr>
                </a:tc>
                <a:tc>
                  <a:txBody>
                    <a:bodyPr/>
                    <a:lstStyle/>
                    <a:p>
                      <a:r>
                        <a:rPr lang="en-US" dirty="0"/>
                        <a:t>There can be only one callback.</a:t>
                      </a:r>
                    </a:p>
                  </a:txBody>
                  <a:tcPr anchor="ctr">
                    <a:lnL>
                      <a:noFill/>
                    </a:lnL>
                    <a:lnR>
                      <a:noFill/>
                    </a:lnR>
                    <a:lnT>
                      <a:noFill/>
                    </a:lnT>
                    <a:lnB>
                      <a:noFill/>
                    </a:lnB>
                  </a:tcPr>
                </a:tc>
                <a:extLst>
                  <a:ext uri="{0D108BD9-81ED-4DB2-BD59-A6C34878D82A}">
                    <a16:rowId xmlns:a16="http://schemas.microsoft.com/office/drawing/2014/main" val="1916095005"/>
                  </a:ext>
                </a:extLst>
              </a:tr>
            </a:tbl>
          </a:graphicData>
        </a:graphic>
      </p:graphicFrame>
      <p:sp>
        <p:nvSpPr>
          <p:cNvPr id="5" name="TextBox 4">
            <a:extLst>
              <a:ext uri="{FF2B5EF4-FFF2-40B4-BE49-F238E27FC236}">
                <a16:creationId xmlns:a16="http://schemas.microsoft.com/office/drawing/2014/main" id="{E560CF3D-DAE1-D75A-C839-967AE49E93C3}"/>
              </a:ext>
            </a:extLst>
          </p:cNvPr>
          <p:cNvSpPr txBox="1"/>
          <p:nvPr/>
        </p:nvSpPr>
        <p:spPr>
          <a:xfrm>
            <a:off x="599936" y="3163558"/>
            <a:ext cx="10849113" cy="29495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Promise</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resolve</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reject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finally</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"Promise ready"</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dirty="0">
                <a:solidFill>
                  <a:srgbClr val="000000"/>
                </a:solidFill>
                <a:latin typeface="Consolas" panose="020B0609020204030204" pitchFamily="49" charset="0"/>
              </a:rPr>
              <a:t>	.</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then(</a:t>
            </a:r>
            <a:r>
              <a:rPr kumimoji="0" lang="en-US" sz="2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US" sz="2400" dirty="0">
                <a:solidFill>
                  <a:srgbClr val="001080"/>
                </a:solidFill>
                <a:latin typeface="Consolas" panose="020B0609020204030204" pitchFamily="49" charset="0"/>
              </a:rPr>
              <a:t>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),err=&gt; alert(err))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dirty="0">
                <a:solidFill>
                  <a:srgbClr val="000000"/>
                </a:solidFill>
                <a:latin typeface="Consolas" panose="020B0609020204030204" pitchFamily="49" charset="0"/>
              </a:rPr>
              <a:t>        .then(</a:t>
            </a:r>
            <a:r>
              <a:rPr kumimoji="0" lang="en-US" sz="2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US" sz="2400" dirty="0">
                <a:solidFill>
                  <a:srgbClr val="001080"/>
                </a:solidFill>
                <a:latin typeface="Consolas" panose="020B0609020204030204" pitchFamily="49" charset="0"/>
              </a:rPr>
              <a:t>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US" sz="2400" dirty="0">
                <a:solidFill>
                  <a:srgbClr val="000000"/>
                </a:solidFill>
                <a:latin typeface="Consolas" panose="020B0609020204030204" pitchFamily="49" charset="0"/>
              </a:rPr>
              <a: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dirty="0">
                <a:solidFill>
                  <a:srgbClr val="000000"/>
                </a:solidFill>
                <a:latin typeface="Consolas" panose="020B0609020204030204" pitchFamily="49" charset="0"/>
              </a:rPr>
              <a:t>	</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catch</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&lt;-- .catch </a:t>
            </a:r>
            <a:endParaRPr lang="en-IN" sz="3600" dirty="0"/>
          </a:p>
        </p:txBody>
      </p:sp>
    </p:spTree>
    <p:extLst>
      <p:ext uri="{BB962C8B-B14F-4D97-AF65-F5344CB8AC3E}">
        <p14:creationId xmlns:p14="http://schemas.microsoft.com/office/powerpoint/2010/main" val="2513483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867DA-049F-4505-BF7F-63C725B7E34B}"/>
              </a:ext>
            </a:extLst>
          </p:cNvPr>
          <p:cNvSpPr>
            <a:spLocks noGrp="1"/>
          </p:cNvSpPr>
          <p:nvPr>
            <p:ph idx="1"/>
          </p:nvPr>
        </p:nvSpPr>
        <p:spPr>
          <a:xfrm>
            <a:off x="176982" y="698090"/>
            <a:ext cx="5771536" cy="6159910"/>
          </a:xfrm>
        </p:spPr>
        <p:txBody>
          <a:bodyPr>
            <a:noAutofit/>
          </a:bodyPr>
          <a:lstStyle/>
          <a:p>
            <a:pPr marL="0" indent="0">
              <a:buNone/>
            </a:pPr>
            <a:r>
              <a:rPr lang="en-IN" sz="1800" b="1" dirty="0">
                <a:solidFill>
                  <a:srgbClr val="000000"/>
                </a:solidFill>
                <a:effectLst/>
                <a:latin typeface="Consolas" panose="020B0609020204030204" pitchFamily="49" charset="0"/>
              </a:rPr>
              <a:t>Call back</a:t>
            </a:r>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&lt;!</a:t>
            </a:r>
            <a:r>
              <a:rPr lang="en-IN" sz="1800" b="0" dirty="0">
                <a:solidFill>
                  <a:srgbClr val="0070C1"/>
                </a:solidFill>
                <a:effectLst/>
                <a:latin typeface="Consolas" panose="020B0609020204030204" pitchFamily="49" charset="0"/>
              </a:rPr>
              <a:t>DOCTYPE</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html</a:t>
            </a:r>
            <a:r>
              <a:rPr lang="en-IN" sz="1800" b="0" dirty="0">
                <a:solidFill>
                  <a:srgbClr val="000000"/>
                </a:solidFill>
                <a:effectLst/>
                <a:latin typeface="Consolas" panose="020B0609020204030204" pitchFamily="49" charset="0"/>
              </a:rPr>
              <a:t>&gt;</a:t>
            </a:r>
            <a:r>
              <a:rPr lang="en-IN" sz="1800" b="0" dirty="0">
                <a:solidFill>
                  <a:srgbClr val="800000"/>
                </a:solidFill>
                <a:effectLst/>
                <a:latin typeface="Consolas" panose="020B0609020204030204" pitchFamily="49" charset="0"/>
              </a:rPr>
              <a:t>&lt;html&gt;&lt;body&gt;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&lt;h2&gt;</a:t>
            </a:r>
            <a:r>
              <a:rPr lang="en-IN" sz="1800" b="0" dirty="0">
                <a:solidFill>
                  <a:srgbClr val="000000"/>
                </a:solidFill>
                <a:effectLst/>
                <a:latin typeface="Consolas" panose="020B0609020204030204" pitchFamily="49" charset="0"/>
              </a:rPr>
              <a:t>JavaScript </a:t>
            </a:r>
            <a:r>
              <a:rPr lang="en-IN" sz="1800" b="0" dirty="0" err="1">
                <a:solidFill>
                  <a:srgbClr val="000000"/>
                </a:solidFill>
                <a:effectLst/>
                <a:latin typeface="Consolas" panose="020B0609020204030204" pitchFamily="49" charset="0"/>
              </a:rPr>
              <a:t>SetTimeout</a:t>
            </a:r>
            <a:r>
              <a:rPr lang="en-IN" sz="1800" b="0" dirty="0">
                <a:solidFill>
                  <a:srgbClr val="000000"/>
                </a:solidFill>
                <a:effectLst/>
                <a:latin typeface="Consolas" panose="020B0609020204030204" pitchFamily="49" charset="0"/>
              </a:rPr>
              <a:t>()</a:t>
            </a:r>
            <a:r>
              <a:rPr lang="en-IN" sz="1800" b="0" dirty="0">
                <a:solidFill>
                  <a:srgbClr val="800000"/>
                </a:solidFill>
                <a:effectLst/>
                <a:latin typeface="Consolas" panose="020B0609020204030204" pitchFamily="49" charset="0"/>
              </a:rPr>
              <a:t>&lt;/h2&gt;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Wait 3 seconds (3000 milliseconds) for this page to change.</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&lt;h1</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id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"demo"</a:t>
            </a:r>
            <a:r>
              <a:rPr lang="en-IN" sz="1800" b="0" dirty="0">
                <a:solidFill>
                  <a:srgbClr val="800000"/>
                </a:solidFill>
                <a:effectLst/>
                <a:latin typeface="Consolas" panose="020B0609020204030204" pitchFamily="49" charset="0"/>
              </a:rPr>
              <a:t>&gt;&lt;/h1&gt;&lt;script&gt;</a:t>
            </a:r>
            <a:endParaRPr lang="en-IN" sz="1800" b="0" dirty="0">
              <a:solidFill>
                <a:srgbClr val="000000"/>
              </a:solidFill>
              <a:effectLst/>
              <a:latin typeface="Consolas" panose="020B0609020204030204" pitchFamily="49" charset="0"/>
            </a:endParaRPr>
          </a:p>
          <a:p>
            <a:pPr marL="0" indent="0">
              <a:buNone/>
            </a:pPr>
            <a:r>
              <a:rPr lang="en-IN" sz="1800" b="0" dirty="0" err="1">
                <a:solidFill>
                  <a:srgbClr val="000000"/>
                </a:solidFill>
                <a:effectLst/>
                <a:latin typeface="Consolas" panose="020B0609020204030204" pitchFamily="49" charset="0"/>
              </a:rPr>
              <a:t>setTimeout</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function() </a:t>
            </a:r>
          </a:p>
          <a:p>
            <a:pPr marL="0" indent="0">
              <a:buNone/>
            </a:pPr>
            <a:r>
              <a:rPr lang="en-IN" sz="1800" dirty="0">
                <a:solidFill>
                  <a:srgbClr val="000000"/>
                </a:solidFill>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r>
              <a:rPr lang="en-IN" sz="1800" b="0" dirty="0" err="1">
                <a:solidFill>
                  <a:srgbClr val="795E26"/>
                </a:solidFill>
                <a:effectLst/>
                <a:latin typeface="Consolas" panose="020B0609020204030204" pitchFamily="49" charset="0"/>
              </a:rPr>
              <a:t>myFunction</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"I love JS !!!"</a:t>
            </a:r>
            <a:r>
              <a:rPr lang="en-IN" sz="1800" b="0" dirty="0">
                <a:solidFill>
                  <a:srgbClr val="000000"/>
                </a:solidFill>
                <a:effectLst/>
                <a:latin typeface="Consolas" panose="020B0609020204030204" pitchFamily="49" charset="0"/>
              </a:rPr>
              <a:t>); </a:t>
            </a:r>
          </a:p>
          <a:p>
            <a:pPr marL="0" indent="0">
              <a:buNone/>
            </a:pPr>
            <a:r>
              <a:rPr lang="en-IN" sz="1800" b="0" dirty="0">
                <a:solidFill>
                  <a:srgbClr val="0000FF"/>
                </a:solidFill>
                <a:effectLst/>
                <a:latin typeface="Consolas" panose="020B0609020204030204" pitchFamily="49" charset="0"/>
              </a:rPr>
              <a:t>           }</a:t>
            </a:r>
            <a:r>
              <a:rPr lang="en-IN" sz="1800" b="0" dirty="0">
                <a:solidFill>
                  <a:srgbClr val="000000"/>
                </a:solidFill>
                <a:effectLst/>
                <a:latin typeface="Consolas" panose="020B0609020204030204" pitchFamily="49" charset="0"/>
              </a:rPr>
              <a:t>, 3000</a:t>
            </a:r>
          </a:p>
          <a:p>
            <a:pPr marL="0" indent="0">
              <a:buNone/>
            </a:pPr>
            <a:r>
              <a:rPr lang="en-IN" sz="1800" dirty="0">
                <a:solidFill>
                  <a:srgbClr val="000000"/>
                </a:solidFill>
                <a:latin typeface="Consolas" panose="020B0609020204030204" pitchFamily="49" charset="0"/>
              </a:rPr>
              <a:t>         </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function </a:t>
            </a:r>
            <a:r>
              <a:rPr lang="en-IN" sz="1800" b="0" dirty="0" err="1">
                <a:solidFill>
                  <a:srgbClr val="000000"/>
                </a:solidFill>
                <a:effectLst/>
                <a:latin typeface="Consolas" panose="020B0609020204030204" pitchFamily="49" charset="0"/>
              </a:rPr>
              <a:t>myFunction</a:t>
            </a:r>
            <a:r>
              <a:rPr lang="en-IN" sz="1800" b="0" dirty="0">
                <a:solidFill>
                  <a:srgbClr val="000000"/>
                </a:solidFill>
                <a:effectLst/>
                <a:latin typeface="Consolas" panose="020B0609020204030204" pitchFamily="49" charset="0"/>
              </a:rPr>
              <a:t>(value) </a:t>
            </a:r>
            <a:r>
              <a:rPr lang="en-IN" sz="1800" b="0" dirty="0">
                <a:solidFill>
                  <a:srgbClr val="0000FF"/>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getElementById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"demo"</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innerHTML</a:t>
            </a:r>
            <a:r>
              <a:rPr lang="en-IN" sz="1800" b="0" dirty="0">
                <a:solidFill>
                  <a:srgbClr val="000000"/>
                </a:solidFill>
                <a:effectLst/>
                <a:latin typeface="Consolas" panose="020B0609020204030204" pitchFamily="49" charset="0"/>
              </a:rPr>
              <a:t> = </a:t>
            </a:r>
            <a:r>
              <a:rPr lang="en-IN" sz="1800" b="0" dirty="0">
                <a:solidFill>
                  <a:srgbClr val="001080"/>
                </a:solidFill>
                <a:effectLst/>
                <a:latin typeface="Consolas" panose="020B0609020204030204" pitchFamily="49" charset="0"/>
              </a:rPr>
              <a:t>value</a:t>
            </a:r>
            <a:r>
              <a:rPr lang="en-IN" sz="1800" b="0" dirty="0">
                <a:solidFill>
                  <a:srgbClr val="000000"/>
                </a:solidFill>
                <a:effectLst/>
                <a:latin typeface="Consolas" panose="020B0609020204030204" pitchFamily="49" charset="0"/>
              </a:rPr>
              <a:t>;</a:t>
            </a:r>
          </a:p>
          <a:p>
            <a:pPr marL="0" indent="0">
              <a:buNone/>
            </a:pPr>
            <a:r>
              <a:rPr lang="en-IN" sz="1800" b="0" dirty="0">
                <a:solidFill>
                  <a:srgbClr val="0000FF"/>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&lt;/script&gt;&lt;body&gt;&lt;/html&gt;</a:t>
            </a:r>
            <a:endParaRPr lang="en-IN" sz="1800"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0A2918E7-5C22-42A0-86EC-423D9695A401}"/>
              </a:ext>
            </a:extLst>
          </p:cNvPr>
          <p:cNvSpPr txBox="1"/>
          <p:nvPr/>
        </p:nvSpPr>
        <p:spPr>
          <a:xfrm>
            <a:off x="5948517" y="0"/>
            <a:ext cx="6135328" cy="6463308"/>
          </a:xfrm>
          <a:prstGeom prst="rect">
            <a:avLst/>
          </a:prstGeom>
          <a:noFill/>
        </p:spPr>
        <p:txBody>
          <a:bodyPr wrap="square">
            <a:spAutoFit/>
          </a:bodyPr>
          <a:lstStyle/>
          <a:p>
            <a:r>
              <a:rPr lang="en-IN" b="1" dirty="0">
                <a:solidFill>
                  <a:srgbClr val="000000"/>
                </a:solidFill>
                <a:latin typeface="Consolas" panose="020B0609020204030204" pitchFamily="49" charset="0"/>
              </a:rPr>
              <a:t>Promise</a:t>
            </a:r>
            <a:endParaRPr lang="en-IN" b="1"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&lt;!</a:t>
            </a:r>
            <a:r>
              <a:rPr lang="en-IN" b="0" dirty="0">
                <a:solidFill>
                  <a:srgbClr val="0070C1"/>
                </a:solidFill>
                <a:effectLst/>
                <a:latin typeface="Consolas" panose="020B0609020204030204" pitchFamily="49" charset="0"/>
              </a:rPr>
              <a:t>DOCTYPE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html</a:t>
            </a:r>
            <a:r>
              <a:rPr lang="en-IN" b="0" dirty="0">
                <a:solidFill>
                  <a:srgbClr val="000000"/>
                </a:solidFill>
                <a:effectLst/>
                <a:latin typeface="Consolas" panose="020B0609020204030204" pitchFamily="49" charset="0"/>
              </a:rPr>
              <a:t>&gt;</a:t>
            </a:r>
          </a:p>
          <a:p>
            <a:r>
              <a:rPr lang="en-IN" b="0" dirty="0">
                <a:solidFill>
                  <a:srgbClr val="800000"/>
                </a:solidFill>
                <a:effectLst/>
                <a:latin typeface="Consolas" panose="020B0609020204030204" pitchFamily="49" charset="0"/>
              </a:rPr>
              <a:t>&lt;html&gt;&lt;body&gt;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&lt;h2&gt;</a:t>
            </a:r>
            <a:r>
              <a:rPr lang="en-IN" b="0" dirty="0">
                <a:solidFill>
                  <a:srgbClr val="000000"/>
                </a:solidFill>
                <a:effectLst/>
                <a:latin typeface="Consolas" panose="020B0609020204030204" pitchFamily="49" charset="0"/>
              </a:rPr>
              <a:t>JavaScript Promise</a:t>
            </a:r>
            <a:r>
              <a:rPr lang="en-IN" b="0" dirty="0">
                <a:solidFill>
                  <a:srgbClr val="800000"/>
                </a:solidFill>
                <a:effectLst/>
                <a:latin typeface="Consolas" panose="020B0609020204030204" pitchFamily="49" charset="0"/>
              </a:rPr>
              <a:t>&lt;/h2&gt;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Wait 3 seconds (3000 milliseconds) for this page to change.</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&lt;h1</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"demo"</a:t>
            </a:r>
            <a:r>
              <a:rPr lang="en-IN" b="0" dirty="0">
                <a:solidFill>
                  <a:srgbClr val="800000"/>
                </a:solidFill>
                <a:effectLst/>
                <a:latin typeface="Consolas" panose="020B0609020204030204" pitchFamily="49" charset="0"/>
              </a:rPr>
              <a:t>&gt;&lt;/h1&gt;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let </a:t>
            </a:r>
            <a:r>
              <a:rPr lang="en-IN" b="0" dirty="0" err="1">
                <a:solidFill>
                  <a:srgbClr val="000000"/>
                </a:solidFill>
                <a:effectLst/>
                <a:latin typeface="Consolas" panose="020B0609020204030204" pitchFamily="49" charset="0"/>
              </a:rPr>
              <a:t>myPromise</a:t>
            </a:r>
            <a:r>
              <a:rPr lang="en-IN" b="0" dirty="0">
                <a:solidFill>
                  <a:srgbClr val="000000"/>
                </a:solidFill>
                <a:effectLst/>
                <a:latin typeface="Consolas" panose="020B0609020204030204" pitchFamily="49" charset="0"/>
              </a:rPr>
              <a:t> = new Promise(function(</a:t>
            </a:r>
            <a:r>
              <a:rPr lang="en-IN" b="0" dirty="0" err="1">
                <a:solidFill>
                  <a:srgbClr val="000000"/>
                </a:solidFill>
                <a:effectLst/>
                <a:latin typeface="Consolas" panose="020B0609020204030204" pitchFamily="49" charset="0"/>
              </a:rPr>
              <a:t>myResolve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myReject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setTimeout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myResolve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"I love </a:t>
            </a:r>
            <a:r>
              <a:rPr lang="en-IN" dirty="0">
                <a:solidFill>
                  <a:srgbClr val="A31515"/>
                </a:solidFill>
                <a:latin typeface="Consolas" panose="020B0609020204030204" pitchFamily="49" charset="0"/>
              </a:rPr>
              <a:t>JS</a:t>
            </a:r>
            <a:r>
              <a:rPr lang="en-IN" b="0" dirty="0">
                <a:solidFill>
                  <a:srgbClr val="A31515"/>
                </a:solidFill>
                <a:effectLst/>
                <a:latin typeface="Consolas" panose="020B0609020204030204" pitchFamily="49" charset="0"/>
              </a:rPr>
              <a:t> !!"</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3000</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00"/>
                </a:solidFill>
                <a:effectLst/>
                <a:latin typeface="Consolas" panose="020B0609020204030204" pitchFamily="49" charset="0"/>
              </a:rPr>
              <a:t>myPromise.then</a:t>
            </a:r>
            <a:r>
              <a:rPr lang="en-IN" b="0">
                <a:solidFill>
                  <a:srgbClr val="000000"/>
                </a:solidFill>
                <a:effectLst/>
                <a:latin typeface="Consolas" panose="020B0609020204030204" pitchFamily="49" charset="0"/>
              </a:rPr>
              <a:t>( (value)=&gt; </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"demo"</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innerHTML</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&lt;/script&gt;&lt;/body&gt;&lt;/html&gt;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5973C93A-F123-4E17-BECD-180901533144}"/>
              </a:ext>
            </a:extLst>
          </p:cNvPr>
          <p:cNvCxnSpPr/>
          <p:nvPr/>
        </p:nvCxnSpPr>
        <p:spPr>
          <a:xfrm>
            <a:off x="2605548" y="3736258"/>
            <a:ext cx="176981" cy="10717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28635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1E1F1A-25DE-4101-9EEA-639D6F6C496B}"/>
              </a:ext>
            </a:extLst>
          </p:cNvPr>
          <p:cNvSpPr>
            <a:spLocks noGrp="1"/>
          </p:cNvSpPr>
          <p:nvPr>
            <p:ph idx="1"/>
          </p:nvPr>
        </p:nvSpPr>
        <p:spPr>
          <a:xfrm>
            <a:off x="1" y="261207"/>
            <a:ext cx="5486399" cy="6596793"/>
          </a:xfrm>
        </p:spPr>
        <p:style>
          <a:lnRef idx="2">
            <a:schemeClr val="accent6"/>
          </a:lnRef>
          <a:fillRef idx="1">
            <a:schemeClr val="lt1"/>
          </a:fillRef>
          <a:effectRef idx="0">
            <a:schemeClr val="accent6"/>
          </a:effectRef>
          <a:fontRef idx="minor">
            <a:schemeClr val="dk1"/>
          </a:fontRef>
        </p:style>
        <p:txBody>
          <a:bodyPr>
            <a:noAutofit/>
          </a:bodyPr>
          <a:lstStyle/>
          <a:p>
            <a:pPr marL="0" indent="0">
              <a:buNone/>
            </a:pPr>
            <a:r>
              <a:rPr lang="en-IN" sz="1400" b="0" dirty="0">
                <a:solidFill>
                  <a:srgbClr val="000000"/>
                </a:solidFill>
                <a:effectLst/>
                <a:latin typeface="Consolas" panose="020B0609020204030204" pitchFamily="49" charset="0"/>
              </a:rPr>
              <a:t>		&lt;!</a:t>
            </a:r>
            <a:r>
              <a:rPr lang="en-IN" sz="1400" b="0" dirty="0">
                <a:solidFill>
                  <a:srgbClr val="0070C1"/>
                </a:solidFill>
                <a:effectLst/>
                <a:latin typeface="Consolas" panose="020B0609020204030204" pitchFamily="49" charset="0"/>
              </a:rPr>
              <a:t>DOCTYPE</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html</a:t>
            </a:r>
            <a:r>
              <a:rPr lang="en-IN" sz="1400" b="0" dirty="0">
                <a:solidFill>
                  <a:srgbClr val="000000"/>
                </a:solidFill>
                <a:effectLst/>
                <a:latin typeface="Consolas" panose="020B0609020204030204" pitchFamily="49" charset="0"/>
              </a:rPr>
              <a:t>&gt;</a:t>
            </a:r>
            <a:r>
              <a:rPr lang="en-IN" sz="1400" b="0" dirty="0">
                <a:solidFill>
                  <a:srgbClr val="800000"/>
                </a:solidFill>
                <a:effectLst/>
                <a:latin typeface="Consolas" panose="020B0609020204030204" pitchFamily="49" charset="0"/>
              </a:rPr>
              <a:t>&lt;html&gt;&lt;body&gt;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&lt;h2&gt;</a:t>
            </a:r>
            <a:r>
              <a:rPr lang="en-IN" sz="1400" b="0" dirty="0">
                <a:solidFill>
                  <a:srgbClr val="000000"/>
                </a:solidFill>
                <a:effectLst/>
                <a:latin typeface="Consolas" panose="020B0609020204030204" pitchFamily="49" charset="0"/>
              </a:rPr>
              <a:t>JavaScript </a:t>
            </a:r>
            <a:r>
              <a:rPr lang="en-IN" sz="1400" b="0" dirty="0" err="1">
                <a:solidFill>
                  <a:srgbClr val="000000"/>
                </a:solidFill>
                <a:effectLst/>
                <a:latin typeface="Consolas" panose="020B0609020204030204" pitchFamily="49" charset="0"/>
              </a:rPr>
              <a:t>Callbacks</a:t>
            </a:r>
            <a:r>
              <a:rPr lang="en-IN" sz="1400" b="0" dirty="0">
                <a:solidFill>
                  <a:srgbClr val="800000"/>
                </a:solidFill>
                <a:effectLst/>
                <a:latin typeface="Consolas" panose="020B0609020204030204" pitchFamily="49" charset="0"/>
              </a:rPr>
              <a:t>&lt;/h2&gt;&lt;p</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"demo"</a:t>
            </a:r>
            <a:r>
              <a:rPr lang="en-IN" sz="1400" b="0" dirty="0">
                <a:solidFill>
                  <a:srgbClr val="800000"/>
                </a:solidFill>
                <a:effectLst/>
                <a:latin typeface="Consolas" panose="020B0609020204030204" pitchFamily="49" charset="0"/>
              </a:rPr>
              <a:t>&gt;&lt;/p&gt;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function </a:t>
            </a:r>
            <a:r>
              <a:rPr lang="en-IN" sz="1400" b="0" dirty="0" err="1">
                <a:solidFill>
                  <a:srgbClr val="000000"/>
                </a:solidFill>
                <a:effectLst/>
                <a:latin typeface="Consolas" panose="020B0609020204030204" pitchFamily="49" charset="0"/>
              </a:rPr>
              <a:t>myDisplayer</a:t>
            </a:r>
            <a:r>
              <a:rPr lang="en-IN" sz="1400" b="0" dirty="0">
                <a:solidFill>
                  <a:srgbClr val="000000"/>
                </a:solidFill>
                <a:effectLst/>
                <a:latin typeface="Consolas" panose="020B0609020204030204" pitchFamily="49" charset="0"/>
              </a:rPr>
              <a:t>(some) </a:t>
            </a:r>
            <a:r>
              <a:rPr lang="en-IN" sz="1400" b="0" dirty="0">
                <a:solidFill>
                  <a:srgbClr val="0000FF"/>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getElementById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"demo"</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innerHTML</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some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function </a:t>
            </a:r>
            <a:r>
              <a:rPr lang="en-IN" sz="1400" b="0" dirty="0" err="1">
                <a:solidFill>
                  <a:srgbClr val="000000"/>
                </a:solidFill>
                <a:effectLst/>
                <a:latin typeface="Consolas" panose="020B0609020204030204" pitchFamily="49" charset="0"/>
              </a:rPr>
              <a:t>getFile</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myCallback</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XMLHttpRequest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open</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"mycar.html"</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onload</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status</a:t>
            </a:r>
            <a:r>
              <a:rPr lang="en-IN" sz="1400" b="0" dirty="0">
                <a:solidFill>
                  <a:srgbClr val="000000"/>
                </a:solidFill>
                <a:effectLst/>
                <a:latin typeface="Consolas" panose="020B0609020204030204" pitchFamily="49" charset="0"/>
              </a:rPr>
              <a:t> == </a:t>
            </a:r>
            <a:r>
              <a:rPr lang="en-IN" sz="1400" b="0" dirty="0">
                <a:solidFill>
                  <a:srgbClr val="098658"/>
                </a:solidFill>
                <a:effectLst/>
                <a:latin typeface="Consolas" panose="020B0609020204030204" pitchFamily="49" charset="0"/>
              </a:rPr>
              <a:t>200</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myCallback</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responseText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else</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myCallback</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"Error: "</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status</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a:t>
            </a:r>
          </a:p>
          <a:p>
            <a:pPr marL="0" indent="0">
              <a:buNone/>
            </a:pPr>
            <a:r>
              <a:rPr lang="en-IN" sz="1400" b="0" dirty="0" err="1">
                <a:solidFill>
                  <a:srgbClr val="000000"/>
                </a:solidFill>
                <a:effectLst/>
                <a:latin typeface="Consolas" panose="020B0609020204030204" pitchFamily="49" charset="0"/>
              </a:rPr>
              <a:t>getFile</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myDisplayer</a:t>
            </a:r>
            <a:r>
              <a:rPr lang="en-IN" sz="1400" b="0" dirty="0">
                <a:solidFill>
                  <a:srgbClr val="000000"/>
                </a:solidFill>
                <a:effectLst/>
                <a:latin typeface="Consolas" panose="020B0609020204030204" pitchFamily="49" charset="0"/>
              </a:rPr>
              <a:t>); </a:t>
            </a:r>
          </a:p>
          <a:p>
            <a:pPr marL="0" indent="0">
              <a:buNone/>
            </a:pPr>
            <a:r>
              <a:rPr lang="en-IN" sz="1400" b="0" dirty="0">
                <a:solidFill>
                  <a:srgbClr val="800000"/>
                </a:solidFill>
                <a:effectLst/>
                <a:latin typeface="Consolas" panose="020B0609020204030204" pitchFamily="49" charset="0"/>
              </a:rPr>
              <a:t>&lt;/script&gt;&lt;/body&gt;&lt;/html&gt;</a:t>
            </a:r>
            <a:endParaRPr lang="en-IN" sz="1400" b="0" dirty="0">
              <a:solidFill>
                <a:srgbClr val="000000"/>
              </a:solidFill>
              <a:effectLst/>
              <a:latin typeface="Consolas" panose="020B0609020204030204" pitchFamily="49" charset="0"/>
            </a:endParaRPr>
          </a:p>
          <a:p>
            <a:pPr marL="0" indent="0">
              <a:buNone/>
            </a:pPr>
            <a:br>
              <a:rPr lang="en-IN" sz="1400" b="0" dirty="0">
                <a:solidFill>
                  <a:srgbClr val="000000"/>
                </a:solidFill>
                <a:effectLst/>
                <a:latin typeface="Consolas" panose="020B0609020204030204" pitchFamily="49" charset="0"/>
              </a:rPr>
            </a:br>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a:p>
            <a:pPr marL="0" indent="0">
              <a:lnSpc>
                <a:spcPct val="120000"/>
              </a:lnSpc>
              <a:spcBef>
                <a:spcPts val="0"/>
              </a:spcBef>
              <a:buNone/>
            </a:pPr>
            <a:endParaRPr lang="en-IN" sz="1400" dirty="0"/>
          </a:p>
        </p:txBody>
      </p:sp>
      <p:sp>
        <p:nvSpPr>
          <p:cNvPr id="4" name="TextBox 3">
            <a:extLst>
              <a:ext uri="{FF2B5EF4-FFF2-40B4-BE49-F238E27FC236}">
                <a16:creationId xmlns:a16="http://schemas.microsoft.com/office/drawing/2014/main" id="{599AC8F8-513D-4A69-BCF1-DBFB84AD14F1}"/>
              </a:ext>
            </a:extLst>
          </p:cNvPr>
          <p:cNvSpPr txBox="1"/>
          <p:nvPr/>
        </p:nvSpPr>
        <p:spPr>
          <a:xfrm>
            <a:off x="1386349" y="-136702"/>
            <a:ext cx="3215148"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b="1" dirty="0"/>
              <a:t>Call back</a:t>
            </a:r>
          </a:p>
        </p:txBody>
      </p:sp>
      <p:sp>
        <p:nvSpPr>
          <p:cNvPr id="6" name="TextBox 5">
            <a:extLst>
              <a:ext uri="{FF2B5EF4-FFF2-40B4-BE49-F238E27FC236}">
                <a16:creationId xmlns:a16="http://schemas.microsoft.com/office/drawing/2014/main" id="{0C33FE81-7EA0-45A2-8E5F-99587F59C915}"/>
              </a:ext>
            </a:extLst>
          </p:cNvPr>
          <p:cNvSpPr txBox="1"/>
          <p:nvPr/>
        </p:nvSpPr>
        <p:spPr>
          <a:xfrm>
            <a:off x="5486400" y="289784"/>
            <a:ext cx="6833418" cy="646330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b="0" dirty="0">
                <a:solidFill>
                  <a:srgbClr val="000000"/>
                </a:solidFill>
                <a:effectLst/>
                <a:latin typeface="Consolas" panose="020B0609020204030204" pitchFamily="49" charset="0"/>
              </a:rPr>
              <a:t>&lt;!</a:t>
            </a:r>
            <a:r>
              <a:rPr lang="en-IN" b="0" dirty="0">
                <a:solidFill>
                  <a:srgbClr val="0070C1"/>
                </a:solidFill>
                <a:effectLst/>
                <a:latin typeface="Consolas" panose="020B0609020204030204" pitchFamily="49" charset="0"/>
              </a:rPr>
              <a:t>DOCTYPE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html</a:t>
            </a:r>
            <a:r>
              <a:rPr lang="en-IN" b="0" dirty="0">
                <a:solidFill>
                  <a:srgbClr val="000000"/>
                </a:solidFill>
                <a:effectLst/>
                <a:latin typeface="Consolas" panose="020B0609020204030204" pitchFamily="49" charset="0"/>
              </a:rPr>
              <a:t>&gt;</a:t>
            </a:r>
            <a:r>
              <a:rPr lang="en-IN" b="0" dirty="0">
                <a:solidFill>
                  <a:srgbClr val="800000"/>
                </a:solidFill>
                <a:effectLst/>
                <a:latin typeface="Consolas" panose="020B0609020204030204" pitchFamily="49" charset="0"/>
              </a:rPr>
              <a:t>&lt;html&gt;&lt;body&gt;</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&lt;h2&gt;</a:t>
            </a:r>
            <a:r>
              <a:rPr lang="en-IN" b="0" dirty="0">
                <a:solidFill>
                  <a:srgbClr val="000000"/>
                </a:solidFill>
                <a:effectLst/>
                <a:latin typeface="Consolas" panose="020B0609020204030204" pitchFamily="49" charset="0"/>
              </a:rPr>
              <a:t>JavaScript Promise</a:t>
            </a:r>
            <a:r>
              <a:rPr lang="en-IN" b="0" dirty="0">
                <a:solidFill>
                  <a:srgbClr val="800000"/>
                </a:solidFill>
                <a:effectLst/>
                <a:latin typeface="Consolas" panose="020B0609020204030204" pitchFamily="49" charset="0"/>
              </a:rPr>
              <a:t>&lt;/h2&gt;&lt;p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"demo"</a:t>
            </a:r>
            <a:r>
              <a:rPr lang="en-IN" b="0" dirty="0">
                <a:solidFill>
                  <a:srgbClr val="800000"/>
                </a:solidFill>
                <a:effectLst/>
                <a:latin typeface="Consolas" panose="020B0609020204030204" pitchFamily="49" charset="0"/>
              </a:rPr>
              <a:t>&gt;&lt;/p&gt;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function </a:t>
            </a:r>
            <a:r>
              <a:rPr lang="en-IN" b="1" dirty="0" err="1">
                <a:solidFill>
                  <a:srgbClr val="795E26"/>
                </a:solidFill>
                <a:latin typeface="Consolas" panose="020B0609020204030204" pitchFamily="49" charset="0"/>
              </a:rPr>
              <a:t>myDisplayer</a:t>
            </a:r>
            <a:r>
              <a:rPr lang="en-IN" b="0" dirty="0">
                <a:solidFill>
                  <a:srgbClr val="000000"/>
                </a:solidFill>
                <a:effectLst/>
                <a:latin typeface="Consolas" panose="020B0609020204030204" pitchFamily="49" charset="0"/>
              </a:rPr>
              <a:t>(some) </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"demo"</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innerHTML</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some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let </a:t>
            </a:r>
            <a:r>
              <a:rPr lang="en-IN" b="0" dirty="0" err="1">
                <a:solidFill>
                  <a:srgbClr val="000000"/>
                </a:solidFill>
                <a:effectLst/>
                <a:latin typeface="Consolas" panose="020B0609020204030204" pitchFamily="49" charset="0"/>
              </a:rPr>
              <a:t>myPromise</a:t>
            </a:r>
            <a:r>
              <a:rPr lang="en-IN" b="0" dirty="0">
                <a:solidFill>
                  <a:srgbClr val="000000"/>
                </a:solidFill>
                <a:effectLst/>
                <a:latin typeface="Consolas" panose="020B0609020204030204" pitchFamily="49" charset="0"/>
              </a:rPr>
              <a:t> = new Promise</a:t>
            </a:r>
            <a:r>
              <a:rPr lang="en-IN" b="0" dirty="0">
                <a:solidFill>
                  <a:srgbClr val="C00000"/>
                </a:solidFill>
                <a:effectLst/>
                <a:latin typeface="Consolas" panose="020B0609020204030204" pitchFamily="49" charset="0"/>
              </a:rPr>
              <a:t>(</a:t>
            </a:r>
          </a:p>
          <a:p>
            <a:r>
              <a:rPr lang="en-IN" dirty="0">
                <a:solidFill>
                  <a:srgbClr val="000000"/>
                </a:solidFill>
                <a:latin typeface="Consolas" panose="020B0609020204030204" pitchFamily="49" charset="0"/>
              </a:rPr>
              <a:t>	</a:t>
            </a:r>
            <a:r>
              <a:rPr lang="en-IN" b="0" dirty="0">
                <a:solidFill>
                  <a:srgbClr val="000000"/>
                </a:solidFill>
                <a:effectLst/>
                <a:latin typeface="Consolas" panose="020B0609020204030204" pitchFamily="49" charset="0"/>
              </a:rPr>
              <a:t>function (</a:t>
            </a:r>
            <a:r>
              <a:rPr lang="en-IN" b="0" dirty="0" err="1">
                <a:solidFill>
                  <a:srgbClr val="000000"/>
                </a:solidFill>
                <a:effectLst/>
                <a:latin typeface="Consolas" panose="020B0609020204030204" pitchFamily="49" charset="0"/>
              </a:rPr>
              <a:t>myResolve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myReject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1080"/>
                </a:solidFill>
                <a:effectLst/>
                <a:highlight>
                  <a:srgbClr val="FFFF00"/>
                </a:highlight>
                <a:latin typeface="Consolas" panose="020B0609020204030204" pitchFamily="49" charset="0"/>
              </a:rPr>
              <a:t>let</a:t>
            </a:r>
            <a:r>
              <a:rPr lang="en-IN" b="0" dirty="0">
                <a:solidFill>
                  <a:srgbClr val="000000"/>
                </a:solidFill>
                <a:effectLst/>
                <a:highlight>
                  <a:srgbClr val="FFFF00"/>
                </a:highlight>
                <a:latin typeface="Consolas" panose="020B0609020204030204" pitchFamily="49" charset="0"/>
              </a:rPr>
              <a:t> </a:t>
            </a:r>
            <a:r>
              <a:rPr lang="en-IN" b="0" dirty="0" err="1">
                <a:solidFill>
                  <a:srgbClr val="001080"/>
                </a:solidFill>
                <a:effectLst/>
                <a:highlight>
                  <a:srgbClr val="FFFF00"/>
                </a:highlight>
                <a:latin typeface="Consolas" panose="020B0609020204030204" pitchFamily="49" charset="0"/>
              </a:rPr>
              <a:t>req</a:t>
            </a:r>
            <a:r>
              <a:rPr lang="en-IN" b="0" dirty="0">
                <a:solidFill>
                  <a:srgbClr val="000000"/>
                </a:solidFill>
                <a:effectLst/>
                <a:highlight>
                  <a:srgbClr val="FFFF00"/>
                </a:highlight>
                <a:latin typeface="Consolas" panose="020B0609020204030204" pitchFamily="49" charset="0"/>
              </a:rPr>
              <a:t> = </a:t>
            </a:r>
            <a:r>
              <a:rPr lang="en-IN" b="0" dirty="0">
                <a:solidFill>
                  <a:srgbClr val="0000FF"/>
                </a:solidFill>
                <a:effectLst/>
                <a:highlight>
                  <a:srgbClr val="FFFF00"/>
                </a:highlight>
                <a:latin typeface="Consolas" panose="020B0609020204030204" pitchFamily="49" charset="0"/>
              </a:rPr>
              <a:t>new</a:t>
            </a:r>
            <a:r>
              <a:rPr lang="en-IN" b="0" dirty="0">
                <a:solidFill>
                  <a:srgbClr val="000000"/>
                </a:solidFill>
                <a:effectLst/>
                <a:highlight>
                  <a:srgbClr val="FFFF00"/>
                </a:highlight>
                <a:latin typeface="Consolas" panose="020B0609020204030204" pitchFamily="49" charset="0"/>
              </a:rPr>
              <a:t> </a:t>
            </a:r>
            <a:r>
              <a:rPr lang="en-IN" b="0" dirty="0" err="1">
                <a:solidFill>
                  <a:srgbClr val="267F99"/>
                </a:solidFill>
                <a:effectLst/>
                <a:highlight>
                  <a:srgbClr val="FFFF00"/>
                </a:highlight>
                <a:latin typeface="Consolas" panose="020B0609020204030204" pitchFamily="49" charset="0"/>
              </a:rPr>
              <a:t>XMLHttpRequest</a:t>
            </a:r>
            <a:r>
              <a:rPr lang="en-IN" b="0" dirty="0">
                <a:solidFill>
                  <a:srgbClr val="000000"/>
                </a:solidFill>
                <a:effectLst/>
                <a:highlight>
                  <a:srgbClr val="FFFF00"/>
                </a:highlight>
                <a:latin typeface="Consolas" panose="020B0609020204030204" pitchFamily="49" charset="0"/>
              </a:rPr>
              <a:t>();</a:t>
            </a:r>
          </a:p>
          <a:p>
            <a:r>
              <a:rPr lang="en-IN" b="0" dirty="0">
                <a:solidFill>
                  <a:srgbClr val="000000"/>
                </a:solidFill>
                <a:effectLst/>
                <a:highlight>
                  <a:srgbClr val="FFFF00"/>
                </a:highlight>
                <a:latin typeface="Consolas" panose="020B0609020204030204" pitchFamily="49" charset="0"/>
              </a:rPr>
              <a:t> 	 </a:t>
            </a:r>
            <a:r>
              <a:rPr lang="en-IN" b="0" dirty="0" err="1">
                <a:solidFill>
                  <a:srgbClr val="001080"/>
                </a:solidFill>
                <a:effectLst/>
                <a:highlight>
                  <a:srgbClr val="FFFF00"/>
                </a:highlight>
                <a:latin typeface="Consolas" panose="020B0609020204030204" pitchFamily="49" charset="0"/>
              </a:rPr>
              <a:t>req</a:t>
            </a:r>
            <a:r>
              <a:rPr lang="en-IN" b="0" dirty="0" err="1">
                <a:solidFill>
                  <a:srgbClr val="000000"/>
                </a:solidFill>
                <a:effectLst/>
                <a:highlight>
                  <a:srgbClr val="FFFF00"/>
                </a:highlight>
                <a:latin typeface="Consolas" panose="020B0609020204030204" pitchFamily="49" charset="0"/>
              </a:rPr>
              <a:t>.</a:t>
            </a:r>
            <a:r>
              <a:rPr lang="en-IN" b="0" dirty="0" err="1">
                <a:solidFill>
                  <a:srgbClr val="795E26"/>
                </a:solidFill>
                <a:effectLst/>
                <a:highlight>
                  <a:srgbClr val="FFFF00"/>
                </a:highlight>
                <a:latin typeface="Consolas" panose="020B0609020204030204" pitchFamily="49" charset="0"/>
              </a:rPr>
              <a:t>open</a:t>
            </a:r>
            <a:r>
              <a:rPr lang="en-IN" b="0" dirty="0">
                <a:solidFill>
                  <a:srgbClr val="000000"/>
                </a:solidFill>
                <a:effectLst/>
                <a:highlight>
                  <a:srgbClr val="FFFF00"/>
                </a:highlight>
                <a:latin typeface="Consolas" panose="020B0609020204030204" pitchFamily="49" charset="0"/>
              </a:rPr>
              <a:t>(</a:t>
            </a:r>
            <a:r>
              <a:rPr lang="en-IN" b="0" dirty="0">
                <a:solidFill>
                  <a:srgbClr val="A31515"/>
                </a:solidFill>
                <a:effectLst/>
                <a:highlight>
                  <a:srgbClr val="FFFF00"/>
                </a:highlight>
                <a:latin typeface="Consolas" panose="020B0609020204030204" pitchFamily="49" charset="0"/>
              </a:rPr>
              <a:t>'GET'</a:t>
            </a:r>
            <a:r>
              <a:rPr lang="en-IN" b="0" dirty="0">
                <a:solidFill>
                  <a:srgbClr val="000000"/>
                </a:solidFill>
                <a:effectLst/>
                <a:highlight>
                  <a:srgbClr val="FFFF00"/>
                </a:highlight>
                <a:latin typeface="Consolas" panose="020B0609020204030204" pitchFamily="49" charset="0"/>
              </a:rPr>
              <a:t>, </a:t>
            </a:r>
            <a:r>
              <a:rPr lang="en-IN" b="0" dirty="0">
                <a:solidFill>
                  <a:srgbClr val="A31515"/>
                </a:solidFill>
                <a:effectLst/>
                <a:highlight>
                  <a:srgbClr val="FFFF00"/>
                </a:highlight>
                <a:latin typeface="Consolas" panose="020B0609020204030204" pitchFamily="49" charset="0"/>
              </a:rPr>
              <a:t>"mycar.html"</a:t>
            </a:r>
            <a:r>
              <a:rPr lang="en-IN" b="0" dirty="0">
                <a:solidFill>
                  <a:srgbClr val="000000"/>
                </a:solidFill>
                <a:effectLst/>
                <a:highlight>
                  <a:srgbClr val="FFFF00"/>
                </a:highlight>
                <a:latin typeface="Consolas" panose="020B0609020204030204" pitchFamily="49" charset="0"/>
              </a:rPr>
              <a:t>);</a:t>
            </a:r>
          </a:p>
          <a:p>
            <a:r>
              <a:rPr lang="en-IN" b="0" dirty="0">
                <a:solidFill>
                  <a:srgbClr val="000000"/>
                </a:solidFill>
                <a:effectLst/>
                <a:highlight>
                  <a:srgbClr val="FFFF00"/>
                </a:highlight>
                <a:latin typeface="Consolas" panose="020B0609020204030204" pitchFamily="49" charset="0"/>
              </a:rPr>
              <a:t>  </a:t>
            </a:r>
            <a:r>
              <a:rPr lang="en-IN" b="0" dirty="0" err="1">
                <a:solidFill>
                  <a:srgbClr val="001080"/>
                </a:solidFill>
                <a:effectLst/>
                <a:highlight>
                  <a:srgbClr val="FFFF00"/>
                </a:highlight>
                <a:latin typeface="Consolas" panose="020B0609020204030204" pitchFamily="49" charset="0"/>
              </a:rPr>
              <a:t>req</a:t>
            </a:r>
            <a:r>
              <a:rPr lang="en-IN" b="0" dirty="0" err="1">
                <a:solidFill>
                  <a:srgbClr val="000000"/>
                </a:solidFill>
                <a:effectLst/>
                <a:highlight>
                  <a:srgbClr val="FFFF00"/>
                </a:highlight>
                <a:latin typeface="Consolas" panose="020B0609020204030204" pitchFamily="49" charset="0"/>
              </a:rPr>
              <a:t>.</a:t>
            </a:r>
            <a:r>
              <a:rPr lang="en-IN" b="0" dirty="0" err="1">
                <a:solidFill>
                  <a:srgbClr val="795E26"/>
                </a:solidFill>
                <a:effectLst/>
                <a:highlight>
                  <a:srgbClr val="FFFF00"/>
                </a:highlight>
                <a:latin typeface="Consolas" panose="020B0609020204030204" pitchFamily="49" charset="0"/>
              </a:rPr>
              <a:t>onload</a:t>
            </a:r>
            <a:r>
              <a:rPr lang="en-IN" b="0" dirty="0">
                <a:solidFill>
                  <a:srgbClr val="000000"/>
                </a:solidFill>
                <a:effectLst/>
                <a:highlight>
                  <a:srgbClr val="FFFF00"/>
                </a:highlight>
                <a:latin typeface="Consolas" panose="020B0609020204030204" pitchFamily="49" charset="0"/>
              </a:rPr>
              <a:t> = </a:t>
            </a:r>
            <a:r>
              <a:rPr lang="en-IN" b="0" dirty="0">
                <a:solidFill>
                  <a:srgbClr val="0000FF"/>
                </a:solidFill>
                <a:effectLst/>
                <a:highlight>
                  <a:srgbClr val="FFFF00"/>
                </a:highlight>
                <a:latin typeface="Consolas" panose="020B0609020204030204" pitchFamily="49" charset="0"/>
              </a:rPr>
              <a:t>function</a:t>
            </a:r>
            <a:r>
              <a:rPr lang="en-IN" b="0" dirty="0">
                <a:solidFill>
                  <a:srgbClr val="000000"/>
                </a:solidFill>
                <a:effectLst/>
                <a:highlight>
                  <a:srgbClr val="FFFF00"/>
                </a:highligh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a:solidFill>
                  <a:srgbClr val="AF00DB"/>
                </a:solidFill>
                <a:effectLst/>
                <a:highlight>
                  <a:srgbClr val="FFFF00"/>
                </a:highlight>
                <a:latin typeface="Consolas" panose="020B0609020204030204" pitchFamily="49" charset="0"/>
              </a:rPr>
              <a:t>if</a:t>
            </a:r>
            <a:r>
              <a:rPr lang="en-IN" b="0" dirty="0">
                <a:solidFill>
                  <a:srgbClr val="000000"/>
                </a:solidFill>
                <a:effectLst/>
                <a:highlight>
                  <a:srgbClr val="FFFF00"/>
                </a:highlight>
                <a:latin typeface="Consolas" panose="020B0609020204030204" pitchFamily="49" charset="0"/>
              </a:rPr>
              <a:t> (</a:t>
            </a:r>
            <a:r>
              <a:rPr lang="en-IN" b="0" dirty="0" err="1">
                <a:solidFill>
                  <a:srgbClr val="001080"/>
                </a:solidFill>
                <a:effectLst/>
                <a:highlight>
                  <a:srgbClr val="FFFF00"/>
                </a:highlight>
                <a:latin typeface="Consolas" panose="020B0609020204030204" pitchFamily="49" charset="0"/>
              </a:rPr>
              <a:t>req</a:t>
            </a:r>
            <a:r>
              <a:rPr lang="en-IN" b="0" dirty="0" err="1">
                <a:solidFill>
                  <a:srgbClr val="000000"/>
                </a:solidFill>
                <a:effectLst/>
                <a:highlight>
                  <a:srgbClr val="FFFF00"/>
                </a:highlight>
                <a:latin typeface="Consolas" panose="020B0609020204030204" pitchFamily="49" charset="0"/>
              </a:rPr>
              <a:t>.</a:t>
            </a:r>
            <a:r>
              <a:rPr lang="en-IN" b="0" dirty="0" err="1">
                <a:solidFill>
                  <a:srgbClr val="001080"/>
                </a:solidFill>
                <a:effectLst/>
                <a:highlight>
                  <a:srgbClr val="FFFF00"/>
                </a:highlight>
                <a:latin typeface="Consolas" panose="020B0609020204030204" pitchFamily="49" charset="0"/>
              </a:rPr>
              <a:t>status</a:t>
            </a:r>
            <a:r>
              <a:rPr lang="en-IN" b="0" dirty="0">
                <a:solidFill>
                  <a:srgbClr val="000000"/>
                </a:solidFill>
                <a:effectLst/>
                <a:highlight>
                  <a:srgbClr val="FFFF00"/>
                </a:highlight>
                <a:latin typeface="Consolas" panose="020B0609020204030204" pitchFamily="49" charset="0"/>
              </a:rPr>
              <a:t> == </a:t>
            </a:r>
            <a:r>
              <a:rPr lang="en-IN" b="0" dirty="0">
                <a:solidFill>
                  <a:srgbClr val="098658"/>
                </a:solidFill>
                <a:effectLst/>
                <a:highlight>
                  <a:srgbClr val="FFFF00"/>
                </a:highlight>
                <a:latin typeface="Consolas" panose="020B0609020204030204" pitchFamily="49" charset="0"/>
              </a:rPr>
              <a:t>200</a:t>
            </a:r>
            <a:r>
              <a:rPr lang="en-IN" b="0" dirty="0">
                <a:solidFill>
                  <a:srgbClr val="000000"/>
                </a:solidFill>
                <a:effectLst/>
                <a:highlight>
                  <a:srgbClr val="FFFF00"/>
                </a:highligh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err="1">
                <a:solidFill>
                  <a:srgbClr val="795E26"/>
                </a:solidFill>
                <a:effectLst/>
                <a:highlight>
                  <a:srgbClr val="FFFF00"/>
                </a:highlight>
                <a:latin typeface="Consolas" panose="020B0609020204030204" pitchFamily="49" charset="0"/>
              </a:rPr>
              <a:t>myResolve</a:t>
            </a:r>
            <a:r>
              <a:rPr lang="en-IN" b="0" dirty="0">
                <a:solidFill>
                  <a:srgbClr val="000000"/>
                </a:solidFill>
                <a:effectLst/>
                <a:highlight>
                  <a:srgbClr val="FFFF00"/>
                </a:highlight>
                <a:latin typeface="Consolas" panose="020B0609020204030204" pitchFamily="49" charset="0"/>
              </a:rPr>
              <a:t>(</a:t>
            </a:r>
            <a:r>
              <a:rPr lang="en-IN" b="0" dirty="0" err="1">
                <a:solidFill>
                  <a:srgbClr val="001080"/>
                </a:solidFill>
                <a:effectLst/>
                <a:highlight>
                  <a:srgbClr val="FFFF00"/>
                </a:highlight>
                <a:latin typeface="Consolas" panose="020B0609020204030204" pitchFamily="49" charset="0"/>
              </a:rPr>
              <a:t>req</a:t>
            </a:r>
            <a:r>
              <a:rPr lang="en-IN" b="0" dirty="0" err="1">
                <a:solidFill>
                  <a:srgbClr val="000000"/>
                </a:solidFill>
                <a:effectLst/>
                <a:highlight>
                  <a:srgbClr val="FFFF00"/>
                </a:highlight>
                <a:latin typeface="Consolas" panose="020B0609020204030204" pitchFamily="49" charset="0"/>
              </a:rPr>
              <a:t>.</a:t>
            </a:r>
            <a:r>
              <a:rPr lang="en-IN" b="0" dirty="0" err="1">
                <a:solidFill>
                  <a:srgbClr val="001080"/>
                </a:solidFill>
                <a:effectLst/>
                <a:highlight>
                  <a:srgbClr val="FFFF00"/>
                </a:highlight>
                <a:latin typeface="Consolas" panose="020B0609020204030204" pitchFamily="49" charset="0"/>
              </a:rPr>
              <a:t>response</a:t>
            </a:r>
            <a:r>
              <a:rPr lang="en-IN" b="0" dirty="0">
                <a:solidFill>
                  <a:srgbClr val="000000"/>
                </a:solidFill>
                <a:effectLst/>
                <a:highlight>
                  <a:srgbClr val="FFFF00"/>
                </a:highlight>
                <a:latin typeface="Consolas" panose="020B0609020204030204" pitchFamily="49" charset="0"/>
              </a:rPr>
              <a:t>);</a:t>
            </a:r>
          </a:p>
          <a:p>
            <a:r>
              <a:rPr lang="en-IN" b="0" dirty="0">
                <a:solidFill>
                  <a:srgbClr val="000000"/>
                </a:solidFill>
                <a:effectLst/>
                <a:highlight>
                  <a:srgbClr val="FFFF00"/>
                </a:highlight>
                <a:latin typeface="Consolas" panose="020B0609020204030204" pitchFamily="49" charset="0"/>
              </a:rPr>
              <a:t>   	 } </a:t>
            </a:r>
            <a:r>
              <a:rPr lang="en-IN" b="0" dirty="0">
                <a:solidFill>
                  <a:srgbClr val="AF00DB"/>
                </a:solidFill>
                <a:effectLst/>
                <a:highlight>
                  <a:srgbClr val="FFFF00"/>
                </a:highlight>
                <a:latin typeface="Consolas" panose="020B0609020204030204" pitchFamily="49" charset="0"/>
              </a:rPr>
              <a:t>else</a:t>
            </a:r>
            <a:r>
              <a:rPr lang="en-IN" b="0" dirty="0">
                <a:solidFill>
                  <a:srgbClr val="000000"/>
                </a:solidFill>
                <a:effectLst/>
                <a:highlight>
                  <a:srgbClr val="FFFF00"/>
                </a:highligh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err="1">
                <a:solidFill>
                  <a:srgbClr val="795E26"/>
                </a:solidFill>
                <a:effectLst/>
                <a:highlight>
                  <a:srgbClr val="FFFF00"/>
                </a:highlight>
                <a:latin typeface="Consolas" panose="020B0609020204030204" pitchFamily="49" charset="0"/>
              </a:rPr>
              <a:t>myReject</a:t>
            </a:r>
            <a:r>
              <a:rPr lang="en-IN" b="0" dirty="0">
                <a:solidFill>
                  <a:srgbClr val="000000"/>
                </a:solidFill>
                <a:effectLst/>
                <a:highlight>
                  <a:srgbClr val="FFFF00"/>
                </a:highlight>
                <a:latin typeface="Consolas" panose="020B0609020204030204" pitchFamily="49" charset="0"/>
              </a:rPr>
              <a:t>(</a:t>
            </a:r>
            <a:r>
              <a:rPr lang="en-IN" b="0" dirty="0">
                <a:solidFill>
                  <a:srgbClr val="A31515"/>
                </a:solidFill>
                <a:effectLst/>
                <a:highlight>
                  <a:srgbClr val="FFFF00"/>
                </a:highlight>
                <a:latin typeface="Consolas" panose="020B0609020204030204" pitchFamily="49" charset="0"/>
              </a:rPr>
              <a:t>"File not Found"</a:t>
            </a:r>
            <a:r>
              <a:rPr lang="en-IN" b="0" dirty="0">
                <a:solidFill>
                  <a:srgbClr val="000000"/>
                </a:solidFill>
                <a:effectLst/>
                <a:highlight>
                  <a:srgbClr val="FFFF00"/>
                </a:highlight>
                <a:latin typeface="Consolas" panose="020B0609020204030204" pitchFamily="49" charset="0"/>
              </a:rPr>
              <a:t>);</a:t>
            </a:r>
          </a:p>
          <a:p>
            <a:r>
              <a:rPr lang="en-IN" b="0" dirty="0">
                <a:solidFill>
                  <a:srgbClr val="000000"/>
                </a:solidFill>
                <a:effectLst/>
                <a:highlight>
                  <a:srgbClr val="FFFF00"/>
                </a:highligh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err="1">
                <a:solidFill>
                  <a:srgbClr val="001080"/>
                </a:solidFill>
                <a:effectLst/>
                <a:highlight>
                  <a:srgbClr val="FFFF00"/>
                </a:highlight>
                <a:latin typeface="Consolas" panose="020B0609020204030204" pitchFamily="49" charset="0"/>
              </a:rPr>
              <a:t>req</a:t>
            </a:r>
            <a:r>
              <a:rPr lang="en-IN" b="0" dirty="0" err="1">
                <a:solidFill>
                  <a:srgbClr val="000000"/>
                </a:solidFill>
                <a:effectLst/>
                <a:highlight>
                  <a:srgbClr val="FFFF00"/>
                </a:highlight>
                <a:latin typeface="Consolas" panose="020B0609020204030204" pitchFamily="49" charset="0"/>
              </a:rPr>
              <a:t>.</a:t>
            </a:r>
            <a:r>
              <a:rPr lang="en-IN" b="0" dirty="0" err="1">
                <a:solidFill>
                  <a:srgbClr val="795E26"/>
                </a:solidFill>
                <a:effectLst/>
                <a:highlight>
                  <a:srgbClr val="FFFF00"/>
                </a:highlight>
                <a:latin typeface="Consolas" panose="020B0609020204030204" pitchFamily="49" charset="0"/>
              </a:rPr>
              <a:t>send</a:t>
            </a:r>
            <a:r>
              <a:rPr lang="en-IN" b="0" dirty="0">
                <a:solidFill>
                  <a:srgbClr val="000000"/>
                </a:solidFill>
                <a:effectLst/>
                <a:highlight>
                  <a:srgbClr val="FFFF00"/>
                </a:highlight>
                <a:latin typeface="Consolas" panose="020B0609020204030204" pitchFamily="49" charset="0"/>
              </a:rPr>
              <a:t>();</a:t>
            </a:r>
          </a:p>
          <a:p>
            <a:r>
              <a:rPr lang="en-IN" b="0" dirty="0">
                <a:solidFill>
                  <a:srgbClr val="0000FF"/>
                </a:solidFill>
                <a:effectLst/>
                <a:latin typeface="Consolas" panose="020B0609020204030204" pitchFamily="49" charset="0"/>
              </a:rPr>
              <a:t>}</a:t>
            </a:r>
            <a:r>
              <a:rPr lang="en-IN" b="0" dirty="0">
                <a:solidFill>
                  <a:srgbClr val="C00000"/>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myPromise.then</a:t>
            </a:r>
            <a:r>
              <a:rPr lang="en-IN" b="0" dirty="0">
                <a:solidFill>
                  <a:srgbClr val="000000"/>
                </a:solidFill>
                <a:effectLst/>
                <a:latin typeface="Consolas" panose="020B0609020204030204" pitchFamily="49" charset="0"/>
              </a:rPr>
              <a:t>(function(value) </a:t>
            </a:r>
            <a:r>
              <a:rPr lang="en-IN" b="0" dirty="0">
                <a:solidFill>
                  <a:srgbClr val="0000FF"/>
                </a:solidFill>
                <a:effectLst/>
                <a:latin typeface="Consolas" panose="020B0609020204030204" pitchFamily="49" charset="0"/>
              </a:rPr>
              <a:t>{</a:t>
            </a:r>
            <a:r>
              <a:rPr lang="en-IN" b="1" dirty="0" err="1">
                <a:solidFill>
                  <a:srgbClr val="795E26"/>
                </a:solidFill>
                <a:effectLst/>
                <a:latin typeface="Consolas" panose="020B0609020204030204" pitchFamily="49" charset="0"/>
              </a:rPr>
              <a:t>myDisplayer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function(error) </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myDisplayer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r>
              <a:rPr lang="en-IN" b="0" dirty="0">
                <a:solidFill>
                  <a:srgbClr val="800000"/>
                </a:solidFill>
                <a:effectLst/>
                <a:latin typeface="Consolas" panose="020B0609020204030204" pitchFamily="49" charset="0"/>
              </a:rPr>
              <a:t>&lt;/script&gt;&lt;/body&gt;&lt;/html&gt;</a:t>
            </a:r>
            <a:endParaRPr lang="en-IN"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64A17DE2-1BFF-409B-9E4C-95D094B08D04}"/>
              </a:ext>
            </a:extLst>
          </p:cNvPr>
          <p:cNvSpPr txBox="1"/>
          <p:nvPr/>
        </p:nvSpPr>
        <p:spPr>
          <a:xfrm>
            <a:off x="7398774" y="-108125"/>
            <a:ext cx="3215148"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b="1" dirty="0"/>
              <a:t>Promise</a:t>
            </a:r>
          </a:p>
        </p:txBody>
      </p:sp>
    </p:spTree>
    <p:extLst>
      <p:ext uri="{BB962C8B-B14F-4D97-AF65-F5344CB8AC3E}">
        <p14:creationId xmlns:p14="http://schemas.microsoft.com/office/powerpoint/2010/main" val="822016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1909</TotalTime>
  <Words>3002</Words>
  <Application>Microsoft Office PowerPoint</Application>
  <PresentationFormat>Widescreen</PresentationFormat>
  <Paragraphs>279</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Unicode MS</vt:lpstr>
      <vt:lpstr>Calibri</vt:lpstr>
      <vt:lpstr>Calibri Light</vt:lpstr>
      <vt:lpstr>Cambria</vt:lpstr>
      <vt:lpstr>Consolas</vt:lpstr>
      <vt:lpstr>Office Theme</vt:lpstr>
      <vt:lpstr>PowerPoint Presentation</vt:lpstr>
      <vt:lpstr>PowerPoint Presentation</vt:lpstr>
      <vt:lpstr>The constructor syntax for a promise object is:</vt:lpstr>
      <vt:lpstr>PowerPoint Presentation</vt:lpstr>
      <vt:lpstr>PowerPoint Presentation</vt:lpstr>
      <vt:lpstr>PowerPoint Presentation</vt:lpstr>
      <vt:lpstr>And now an example of the executor rejecting the promise with an error: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99</cp:revision>
  <dcterms:created xsi:type="dcterms:W3CDTF">2020-12-02T06:26:25Z</dcterms:created>
  <dcterms:modified xsi:type="dcterms:W3CDTF">2024-12-06T07:27:26Z</dcterms:modified>
</cp:coreProperties>
</file>