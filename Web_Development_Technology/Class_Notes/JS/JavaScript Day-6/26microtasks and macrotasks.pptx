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8"/>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11-01-2024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11-01-2024</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A27C1B-FDE6-4851-B1C3-E834EF220BF8}"/>
              </a:ext>
            </a:extLst>
          </p:cNvPr>
          <p:cNvSpPr>
            <a:spLocks noGrp="1"/>
          </p:cNvSpPr>
          <p:nvPr>
            <p:ph idx="1"/>
          </p:nvPr>
        </p:nvSpPr>
        <p:spPr>
          <a:xfrm>
            <a:off x="98322" y="759695"/>
            <a:ext cx="11058832" cy="5508369"/>
          </a:xfrm>
        </p:spPr>
        <p:txBody>
          <a:bodyPr>
            <a:normAutofit fontScale="62500" lnSpcReduction="20000"/>
          </a:bodyPr>
          <a:lstStyle/>
          <a:p>
            <a:pPr marL="0" indent="0">
              <a:buNone/>
            </a:pPr>
            <a:r>
              <a:rPr lang="en-US" dirty="0"/>
              <a:t>The event loop concept is very simple. There’s an endless loop, where the JavaScript engine waits for tasks, executes them and then sleeps, waiting for more tasks.</a:t>
            </a:r>
          </a:p>
          <a:p>
            <a:pPr marL="0" indent="0">
              <a:buNone/>
            </a:pPr>
            <a:endParaRPr lang="en-US" dirty="0"/>
          </a:p>
          <a:p>
            <a:pPr marL="0" indent="0">
              <a:buNone/>
            </a:pPr>
            <a:r>
              <a:rPr lang="en-US" dirty="0"/>
              <a:t>The general algorithm of the engine:</a:t>
            </a:r>
          </a:p>
          <a:p>
            <a:pPr marL="0" indent="0">
              <a:buNone/>
            </a:pPr>
            <a:endParaRPr lang="en-US" dirty="0"/>
          </a:p>
          <a:p>
            <a:pPr marL="0" indent="0">
              <a:buNone/>
            </a:pPr>
            <a:r>
              <a:rPr lang="en-US" dirty="0"/>
              <a:t>    While there are tasks:</a:t>
            </a:r>
          </a:p>
          <a:p>
            <a:pPr marL="0" indent="0">
              <a:buNone/>
            </a:pPr>
            <a:r>
              <a:rPr lang="en-US" dirty="0"/>
              <a:t>        execute them, starting with the oldest task.</a:t>
            </a:r>
          </a:p>
          <a:p>
            <a:pPr marL="0" indent="0">
              <a:buNone/>
            </a:pPr>
            <a:r>
              <a:rPr lang="en-US" dirty="0"/>
              <a:t>    Sleep until a task appears, then go to 1.</a:t>
            </a:r>
          </a:p>
          <a:p>
            <a:pPr marL="0" indent="0">
              <a:buNone/>
            </a:pPr>
            <a:endParaRPr lang="en-US" dirty="0"/>
          </a:p>
          <a:p>
            <a:pPr marL="0" indent="0">
              <a:buNone/>
            </a:pPr>
            <a:r>
              <a:rPr lang="en-US" dirty="0"/>
              <a:t>That’s a formalization for what we see when browsing a page. The JavaScript engine does nothing most of the time, it only runs if a script/handler/event activates.</a:t>
            </a:r>
          </a:p>
          <a:p>
            <a:pPr marL="0" indent="0">
              <a:buNone/>
            </a:pPr>
            <a:endParaRPr lang="en-US" dirty="0"/>
          </a:p>
          <a:p>
            <a:pPr marL="0" indent="0">
              <a:buNone/>
            </a:pPr>
            <a:r>
              <a:rPr lang="en-US" dirty="0"/>
              <a:t>Examples of tasks:</a:t>
            </a:r>
          </a:p>
          <a:p>
            <a:pPr marL="0" indent="0">
              <a:buNone/>
            </a:pPr>
            <a:endParaRPr lang="en-US" dirty="0"/>
          </a:p>
          <a:p>
            <a:pPr marL="0" indent="0">
              <a:buNone/>
            </a:pPr>
            <a:r>
              <a:rPr lang="en-US" dirty="0"/>
              <a:t>    When an external script &lt;script </a:t>
            </a:r>
            <a:r>
              <a:rPr lang="en-US" dirty="0" err="1"/>
              <a:t>src</a:t>
            </a:r>
            <a:r>
              <a:rPr lang="en-US" dirty="0"/>
              <a:t>="..."&gt; loads, the task is to execute it.</a:t>
            </a:r>
          </a:p>
          <a:p>
            <a:pPr marL="0" indent="0">
              <a:buNone/>
            </a:pPr>
            <a:r>
              <a:rPr lang="en-US" dirty="0"/>
              <a:t>    When a user moves their mouse, the task is to dispatch </a:t>
            </a:r>
            <a:r>
              <a:rPr lang="en-US" dirty="0" err="1"/>
              <a:t>mousemove</a:t>
            </a:r>
            <a:r>
              <a:rPr lang="en-US" dirty="0"/>
              <a:t> event and execute handlers.</a:t>
            </a:r>
          </a:p>
          <a:p>
            <a:pPr marL="0" indent="0">
              <a:buNone/>
            </a:pPr>
            <a:r>
              <a:rPr lang="en-US" dirty="0"/>
              <a:t>    When the time is due for a scheduled </a:t>
            </a:r>
            <a:r>
              <a:rPr lang="en-US" dirty="0" err="1"/>
              <a:t>setTimeout</a:t>
            </a:r>
            <a:r>
              <a:rPr lang="en-US" dirty="0"/>
              <a:t>, the task is to run its callback.</a:t>
            </a:r>
          </a:p>
          <a:p>
            <a:pPr marL="0" indent="0">
              <a:buNone/>
            </a:pPr>
            <a:r>
              <a:rPr lang="en-US" dirty="0"/>
              <a:t>    …and so on.</a:t>
            </a:r>
          </a:p>
          <a:p>
            <a:pPr marL="0" indent="0">
              <a:buNone/>
            </a:pPr>
            <a:endParaRPr lang="en-IN" dirty="0"/>
          </a:p>
        </p:txBody>
      </p:sp>
      <p:sp>
        <p:nvSpPr>
          <p:cNvPr id="4" name="TextBox 3">
            <a:extLst>
              <a:ext uri="{FF2B5EF4-FFF2-40B4-BE49-F238E27FC236}">
                <a16:creationId xmlns:a16="http://schemas.microsoft.com/office/drawing/2014/main" id="{78EBE928-90AB-451D-9063-0F6B30CDC544}"/>
              </a:ext>
            </a:extLst>
          </p:cNvPr>
          <p:cNvSpPr txBox="1"/>
          <p:nvPr/>
        </p:nvSpPr>
        <p:spPr>
          <a:xfrm>
            <a:off x="2418735" y="245806"/>
            <a:ext cx="7364362" cy="369332"/>
          </a:xfrm>
          <a:prstGeom prst="rect">
            <a:avLst/>
          </a:prstGeom>
          <a:noFill/>
        </p:spPr>
        <p:txBody>
          <a:bodyPr wrap="square" rtlCol="0">
            <a:spAutoFit/>
          </a:bodyPr>
          <a:lstStyle/>
          <a:p>
            <a:r>
              <a:rPr lang="en-US" b="1" dirty="0"/>
              <a:t>Event loop: microtasks and </a:t>
            </a:r>
            <a:r>
              <a:rPr lang="en-US" b="1" dirty="0" err="1"/>
              <a:t>macrotasks</a:t>
            </a:r>
            <a:endParaRPr lang="en-US" b="1" dirty="0"/>
          </a:p>
        </p:txBody>
      </p:sp>
    </p:spTree>
    <p:extLst>
      <p:ext uri="{BB962C8B-B14F-4D97-AF65-F5344CB8AC3E}">
        <p14:creationId xmlns:p14="http://schemas.microsoft.com/office/powerpoint/2010/main" val="2993873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C32714-C632-4E6A-BAC8-0E722EC8C2EF}"/>
              </a:ext>
            </a:extLst>
          </p:cNvPr>
          <p:cNvSpPr>
            <a:spLocks noGrp="1"/>
          </p:cNvSpPr>
          <p:nvPr>
            <p:ph idx="1"/>
          </p:nvPr>
        </p:nvSpPr>
        <p:spPr>
          <a:xfrm>
            <a:off x="556751" y="152402"/>
            <a:ext cx="10626213" cy="1578076"/>
          </a:xfrm>
        </p:spPr>
        <p:txBody>
          <a:bodyPr/>
          <a:lstStyle/>
          <a:p>
            <a:pPr marL="0" indent="0">
              <a:buNone/>
            </a:pPr>
            <a:r>
              <a:rPr lang="en-US" dirty="0"/>
              <a:t>	</a:t>
            </a:r>
            <a:r>
              <a:rPr lang="en-US" sz="2000" dirty="0"/>
              <a:t>Tasks are set – the engine handles them – then waits for more tasks 	(while sleeping and consuming close to zero CPU).</a:t>
            </a:r>
          </a:p>
          <a:p>
            <a:pPr marL="0" indent="0">
              <a:buNone/>
            </a:pPr>
            <a:r>
              <a:rPr lang="en-US" sz="2000" dirty="0"/>
              <a:t>It may happen that a task comes while the engine is busy, then it’s enqueued.</a:t>
            </a:r>
          </a:p>
          <a:p>
            <a:pPr marL="0" indent="0">
              <a:buNone/>
            </a:pPr>
            <a:r>
              <a:rPr lang="en-US" sz="2000" dirty="0"/>
              <a:t>The tasks form a queue, so-called “</a:t>
            </a:r>
            <a:r>
              <a:rPr lang="en-US" sz="2000" dirty="0" err="1"/>
              <a:t>macrotask</a:t>
            </a:r>
            <a:r>
              <a:rPr lang="en-US" sz="2000" dirty="0"/>
              <a:t> queue” (v8 term):</a:t>
            </a:r>
            <a:endParaRPr lang="en-IN" sz="2000" dirty="0"/>
          </a:p>
        </p:txBody>
      </p:sp>
      <p:pic>
        <p:nvPicPr>
          <p:cNvPr id="5" name="Picture 4">
            <a:extLst>
              <a:ext uri="{FF2B5EF4-FFF2-40B4-BE49-F238E27FC236}">
                <a16:creationId xmlns:a16="http://schemas.microsoft.com/office/drawing/2014/main" id="{6AE842A0-757D-4BD5-AC6C-482228FA1298}"/>
              </a:ext>
            </a:extLst>
          </p:cNvPr>
          <p:cNvPicPr>
            <a:picLocks noChangeAspect="1"/>
          </p:cNvPicPr>
          <p:nvPr/>
        </p:nvPicPr>
        <p:blipFill rotWithShape="1">
          <a:blip r:embed="rId2"/>
          <a:srcRect l="39897" t="23369" r="20888" b="35914"/>
          <a:stretch/>
        </p:blipFill>
        <p:spPr>
          <a:xfrm>
            <a:off x="312038" y="2734954"/>
            <a:ext cx="4781070" cy="2792361"/>
          </a:xfrm>
          <a:prstGeom prst="rect">
            <a:avLst/>
          </a:prstGeom>
        </p:spPr>
      </p:pic>
      <p:sp>
        <p:nvSpPr>
          <p:cNvPr id="7" name="TextBox 6">
            <a:extLst>
              <a:ext uri="{FF2B5EF4-FFF2-40B4-BE49-F238E27FC236}">
                <a16:creationId xmlns:a16="http://schemas.microsoft.com/office/drawing/2014/main" id="{652243A4-0216-4F62-8A7E-F8F137D5DCB9}"/>
              </a:ext>
            </a:extLst>
          </p:cNvPr>
          <p:cNvSpPr txBox="1"/>
          <p:nvPr/>
        </p:nvSpPr>
        <p:spPr>
          <a:xfrm>
            <a:off x="5093108" y="1730478"/>
            <a:ext cx="6980903" cy="4801314"/>
          </a:xfrm>
          <a:prstGeom prst="rect">
            <a:avLst/>
          </a:prstGeom>
          <a:noFill/>
        </p:spPr>
        <p:txBody>
          <a:bodyPr wrap="square">
            <a:spAutoFit/>
          </a:bodyPr>
          <a:lstStyle/>
          <a:p>
            <a:r>
              <a:rPr lang="en-US" dirty="0"/>
              <a:t>For instance, while the engine is busy executing a script, a user may move their mouse causing </a:t>
            </a:r>
            <a:r>
              <a:rPr lang="en-US" dirty="0" err="1"/>
              <a:t>mousemove</a:t>
            </a:r>
            <a:r>
              <a:rPr lang="en-US" dirty="0"/>
              <a:t>, and </a:t>
            </a:r>
            <a:r>
              <a:rPr lang="en-US" dirty="0" err="1"/>
              <a:t>setTimeout</a:t>
            </a:r>
            <a:r>
              <a:rPr lang="en-US" dirty="0"/>
              <a:t> may be due and so on, these tasks form a queue, as illustrated on the picture.</a:t>
            </a:r>
          </a:p>
          <a:p>
            <a:endParaRPr lang="en-US" dirty="0"/>
          </a:p>
          <a:p>
            <a:r>
              <a:rPr lang="en-US" dirty="0"/>
              <a:t>Tasks from the queue are processed on “first come – first served” basis. When the engine browser is done with the script, it handles </a:t>
            </a:r>
            <a:r>
              <a:rPr lang="en-US" dirty="0" err="1"/>
              <a:t>mousemove</a:t>
            </a:r>
            <a:r>
              <a:rPr lang="en-US" dirty="0"/>
              <a:t> event, then </a:t>
            </a:r>
            <a:r>
              <a:rPr lang="en-US" dirty="0" err="1"/>
              <a:t>setTimeout</a:t>
            </a:r>
            <a:r>
              <a:rPr lang="en-US" dirty="0"/>
              <a:t> handler, and so on.</a:t>
            </a:r>
          </a:p>
          <a:p>
            <a:r>
              <a:rPr lang="en-US" dirty="0"/>
              <a:t>So far, quite simple, right?</a:t>
            </a:r>
          </a:p>
          <a:p>
            <a:r>
              <a:rPr lang="en-US" b="1" dirty="0"/>
              <a:t>Two more details</a:t>
            </a:r>
            <a:r>
              <a:rPr lang="en-US" dirty="0"/>
              <a:t>:</a:t>
            </a:r>
          </a:p>
          <a:p>
            <a:pPr marL="285750" indent="-285750">
              <a:buFont typeface="Arial" panose="020B0604020202020204" pitchFamily="34" charset="0"/>
              <a:buChar char="•"/>
            </a:pPr>
            <a:r>
              <a:rPr lang="en-US" dirty="0"/>
              <a:t>    Rendering never happens while the engine executes a task. It doesn’t matter if the task takes a long time. Changes to the DOM are painted only after the task is complete.</a:t>
            </a:r>
          </a:p>
          <a:p>
            <a:pPr marL="285750" indent="-285750">
              <a:buFont typeface="Arial" panose="020B0604020202020204" pitchFamily="34" charset="0"/>
              <a:buChar char="•"/>
            </a:pPr>
            <a:r>
              <a:rPr lang="en-US" dirty="0"/>
              <a:t>    If a task takes too long, the browser can’t do other tasks, such as processing user events. So after a time, it raises an alert like “Page Unresponsive”, suggesting killing the task with the whole page. That happens when there are a lot of complex calculations or a programming error leading to an infinite loop.</a:t>
            </a:r>
          </a:p>
        </p:txBody>
      </p:sp>
    </p:spTree>
    <p:extLst>
      <p:ext uri="{BB962C8B-B14F-4D97-AF65-F5344CB8AC3E}">
        <p14:creationId xmlns:p14="http://schemas.microsoft.com/office/powerpoint/2010/main" val="2697309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458A6-B8A3-4E50-90AD-2D7C6E28B5A0}"/>
              </a:ext>
            </a:extLst>
          </p:cNvPr>
          <p:cNvSpPr>
            <a:spLocks noGrp="1"/>
          </p:cNvSpPr>
          <p:nvPr>
            <p:ph type="title"/>
          </p:nvPr>
        </p:nvSpPr>
        <p:spPr>
          <a:xfrm>
            <a:off x="1130709" y="0"/>
            <a:ext cx="10085439" cy="559107"/>
          </a:xfrm>
        </p:spPr>
        <p:txBody>
          <a:bodyPr>
            <a:normAutofit fontScale="90000"/>
          </a:bodyPr>
          <a:lstStyle/>
          <a:p>
            <a:r>
              <a:rPr lang="en-US" dirty="0"/>
              <a:t>Use-case 1: splitting CPU-hungry tasks</a:t>
            </a:r>
            <a:endParaRPr lang="en-IN" dirty="0"/>
          </a:p>
        </p:txBody>
      </p:sp>
      <p:sp>
        <p:nvSpPr>
          <p:cNvPr id="3" name="Content Placeholder 2">
            <a:extLst>
              <a:ext uri="{FF2B5EF4-FFF2-40B4-BE49-F238E27FC236}">
                <a16:creationId xmlns:a16="http://schemas.microsoft.com/office/drawing/2014/main" id="{77940897-22C4-4114-B7B1-24ABCABA46EE}"/>
              </a:ext>
            </a:extLst>
          </p:cNvPr>
          <p:cNvSpPr>
            <a:spLocks noGrp="1"/>
          </p:cNvSpPr>
          <p:nvPr>
            <p:ph idx="1"/>
          </p:nvPr>
        </p:nvSpPr>
        <p:spPr>
          <a:xfrm>
            <a:off x="235973" y="648929"/>
            <a:ext cx="11759381" cy="2703871"/>
          </a:xfrm>
        </p:spPr>
        <p:txBody>
          <a:bodyPr>
            <a:normAutofit/>
          </a:bodyPr>
          <a:lstStyle/>
          <a:p>
            <a:pPr marL="0" indent="0">
              <a:buNone/>
            </a:pPr>
            <a:r>
              <a:rPr lang="en-US" sz="1400" b="1" dirty="0"/>
              <a:t>Let’s say we have a CPU-hungry task.</a:t>
            </a:r>
          </a:p>
          <a:p>
            <a:pPr marL="0" indent="0">
              <a:buNone/>
            </a:pPr>
            <a:r>
              <a:rPr lang="en-US" sz="1400" dirty="0"/>
              <a:t>For example, syntax-highlighting (used to colorize code examples on this page) is quite CPU-heavy. To highlight the code, it performs the analysis, creates many colored elements, adds them to the document – for a large amount of text that takes a lot of time.</a:t>
            </a:r>
          </a:p>
          <a:p>
            <a:pPr marL="0" indent="0">
              <a:buNone/>
            </a:pPr>
            <a:r>
              <a:rPr lang="en-US" sz="1400" dirty="0"/>
              <a:t>While the engine is busy with syntax highlighting, it can’t do other DOM-related stuff, process user events, etc. It may even cause the browser to “hiccup” or even “hang” for a bit, which is unacceptable.</a:t>
            </a:r>
          </a:p>
          <a:p>
            <a:pPr marL="0" indent="0">
              <a:buNone/>
            </a:pPr>
            <a:r>
              <a:rPr lang="en-US" sz="1400" dirty="0"/>
              <a:t>We can avoid problems by splitting the big task into pieces. Highlight first 100 lines, then schedule </a:t>
            </a:r>
            <a:r>
              <a:rPr lang="en-US" sz="1400" dirty="0" err="1"/>
              <a:t>setTimeout</a:t>
            </a:r>
            <a:r>
              <a:rPr lang="en-US" sz="1400" dirty="0"/>
              <a:t> (with zero-delay) for the next 100 lines, and so on.</a:t>
            </a:r>
          </a:p>
          <a:p>
            <a:pPr marL="0" indent="0">
              <a:buNone/>
            </a:pPr>
            <a:r>
              <a:rPr lang="en-US" sz="1400" dirty="0"/>
              <a:t>To demonstrate this approach, for the sake of simplicity, instead of text-highlighting, let’s take a function that counts from 1 to 1000000000.</a:t>
            </a:r>
          </a:p>
          <a:p>
            <a:pPr marL="0" indent="0">
              <a:buNone/>
            </a:pPr>
            <a:r>
              <a:rPr lang="en-US" sz="1400" dirty="0"/>
              <a:t>If you run the code below, the engine will “hang” for some time. For server-side JS that’s clearly noticeable, and if you are running it in-browser, then try to click other buttons on the page – you’ll see that no other events get handled until the counting finishes.</a:t>
            </a:r>
            <a:endParaRPr lang="en-IN" sz="1400" dirty="0"/>
          </a:p>
        </p:txBody>
      </p:sp>
      <p:sp>
        <p:nvSpPr>
          <p:cNvPr id="5" name="TextBox 4">
            <a:extLst>
              <a:ext uri="{FF2B5EF4-FFF2-40B4-BE49-F238E27FC236}">
                <a16:creationId xmlns:a16="http://schemas.microsoft.com/office/drawing/2014/main" id="{70942DE6-9184-4A34-8D45-9972DEAA7D5B}"/>
              </a:ext>
            </a:extLst>
          </p:cNvPr>
          <p:cNvSpPr txBox="1"/>
          <p:nvPr/>
        </p:nvSpPr>
        <p:spPr>
          <a:xfrm>
            <a:off x="196646" y="3352800"/>
            <a:ext cx="6135328" cy="3416320"/>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start</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Date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now</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count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do a heavy job</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j</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j</a:t>
            </a:r>
            <a:r>
              <a:rPr lang="en-IN" b="0" dirty="0">
                <a:solidFill>
                  <a:srgbClr val="000000"/>
                </a:solidFill>
                <a:effectLst/>
                <a:latin typeface="Consolas" panose="020B0609020204030204" pitchFamily="49" charset="0"/>
              </a:rPr>
              <a:t> &lt; </a:t>
            </a:r>
            <a:r>
              <a:rPr lang="en-IN" b="0" dirty="0">
                <a:solidFill>
                  <a:srgbClr val="098658"/>
                </a:solidFill>
                <a:effectLst/>
                <a:latin typeface="Consolas" panose="020B0609020204030204" pitchFamily="49" charset="0"/>
              </a:rPr>
              <a:t>1e9</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j</a:t>
            </a:r>
            <a:r>
              <a:rPr lang="en-IN" b="0" dirty="0" err="1">
                <a:solidFill>
                  <a:srgbClr val="000000"/>
                </a:solidFill>
                <a:effectLst/>
                <a:latin typeface="Consolas" panose="020B0609020204030204" pitchFamily="49" charset="0"/>
              </a:rPr>
              <a: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i</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"Done in "</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Date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now</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start</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795E26"/>
                </a:solidFill>
                <a:effectLst/>
                <a:latin typeface="Consolas" panose="020B0609020204030204" pitchFamily="49" charset="0"/>
              </a:rPr>
              <a:t>count</a:t>
            </a:r>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3465DC86-5687-4031-A111-62EAFD0200C0}"/>
              </a:ext>
            </a:extLst>
          </p:cNvPr>
          <p:cNvSpPr txBox="1"/>
          <p:nvPr/>
        </p:nvSpPr>
        <p:spPr>
          <a:xfrm>
            <a:off x="5860026" y="3830964"/>
            <a:ext cx="6135328" cy="64633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The browser may even show a “the script takes too long” warning.</a:t>
            </a:r>
            <a:endParaRPr lang="en-IN" dirty="0"/>
          </a:p>
        </p:txBody>
      </p:sp>
    </p:spTree>
    <p:extLst>
      <p:ext uri="{BB962C8B-B14F-4D97-AF65-F5344CB8AC3E}">
        <p14:creationId xmlns:p14="http://schemas.microsoft.com/office/powerpoint/2010/main" val="443629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C6292-4EFA-441A-B893-CCB2A1C068A8}"/>
              </a:ext>
            </a:extLst>
          </p:cNvPr>
          <p:cNvSpPr>
            <a:spLocks noGrp="1"/>
          </p:cNvSpPr>
          <p:nvPr>
            <p:ph type="title"/>
          </p:nvPr>
        </p:nvSpPr>
        <p:spPr>
          <a:xfrm>
            <a:off x="1514168" y="99655"/>
            <a:ext cx="10046110" cy="726256"/>
          </a:xfrm>
        </p:spPr>
        <p:txBody>
          <a:bodyPr>
            <a:normAutofit/>
          </a:bodyPr>
          <a:lstStyle/>
          <a:p>
            <a:r>
              <a:rPr lang="en-US" sz="3600" dirty="0"/>
              <a:t>Let’s split the job using nested </a:t>
            </a:r>
            <a:r>
              <a:rPr lang="en-US" sz="3600" dirty="0" err="1"/>
              <a:t>setTimeout</a:t>
            </a:r>
            <a:r>
              <a:rPr lang="en-US" sz="3600" dirty="0"/>
              <a:t> calls:</a:t>
            </a:r>
            <a:endParaRPr lang="en-IN" sz="3600" dirty="0"/>
          </a:p>
        </p:txBody>
      </p:sp>
      <p:sp>
        <p:nvSpPr>
          <p:cNvPr id="3" name="Content Placeholder 2">
            <a:extLst>
              <a:ext uri="{FF2B5EF4-FFF2-40B4-BE49-F238E27FC236}">
                <a16:creationId xmlns:a16="http://schemas.microsoft.com/office/drawing/2014/main" id="{C4B11A54-8102-4D2E-8A23-C28A51498CEA}"/>
              </a:ext>
            </a:extLst>
          </p:cNvPr>
          <p:cNvSpPr>
            <a:spLocks noGrp="1"/>
          </p:cNvSpPr>
          <p:nvPr>
            <p:ph idx="1"/>
          </p:nvPr>
        </p:nvSpPr>
        <p:spPr>
          <a:xfrm>
            <a:off x="127820" y="904568"/>
            <a:ext cx="4965290" cy="5515897"/>
          </a:xfrm>
        </p:spPr>
        <p:txBody>
          <a:bodyPr>
            <a:normAutofit fontScale="62500" lnSpcReduction="20000"/>
          </a:bodyPr>
          <a:lstStyle/>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0" indent="0">
              <a:buNone/>
            </a:pP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start</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Date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now</a:t>
            </a:r>
            <a:r>
              <a:rPr lang="en-US" b="0" dirty="0">
                <a:solidFill>
                  <a:srgbClr val="000000"/>
                </a:solidFill>
                <a:effectLst/>
                <a:latin typeface="Consolas" panose="020B0609020204030204" pitchFamily="49" charset="0"/>
              </a:rPr>
              <a:t>();</a:t>
            </a:r>
          </a:p>
          <a:p>
            <a:pPr marL="0" indent="0">
              <a:buNone/>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do a piece of the heavy job (*)</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1e6</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1e9</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"Done in "</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Date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now</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start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else</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schedule the new call (**)</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a:t>
            </a:r>
          </a:p>
          <a:p>
            <a:pPr marL="0" indent="0">
              <a:buNone/>
            </a:pPr>
            <a:endParaRPr lang="en-IN" dirty="0"/>
          </a:p>
        </p:txBody>
      </p:sp>
      <p:sp>
        <p:nvSpPr>
          <p:cNvPr id="5" name="TextBox 4">
            <a:extLst>
              <a:ext uri="{FF2B5EF4-FFF2-40B4-BE49-F238E27FC236}">
                <a16:creationId xmlns:a16="http://schemas.microsoft.com/office/drawing/2014/main" id="{B22A26D0-678E-4985-828F-9763A9276978}"/>
              </a:ext>
            </a:extLst>
          </p:cNvPr>
          <p:cNvSpPr txBox="1"/>
          <p:nvPr/>
        </p:nvSpPr>
        <p:spPr>
          <a:xfrm>
            <a:off x="5424949" y="788154"/>
            <a:ext cx="6511411" cy="5632311"/>
          </a:xfrm>
          <a:prstGeom prst="rect">
            <a:avLst/>
          </a:prstGeom>
          <a:noFill/>
        </p:spPr>
        <p:txBody>
          <a:bodyPr wrap="square">
            <a:spAutoFit/>
          </a:bodyPr>
          <a:lstStyle/>
          <a:p>
            <a:r>
              <a:rPr lang="en-US" dirty="0"/>
              <a:t>Now the browser interface is fully functional during the “counting” process.</a:t>
            </a:r>
          </a:p>
          <a:p>
            <a:endParaRPr lang="en-US" dirty="0"/>
          </a:p>
          <a:p>
            <a:r>
              <a:rPr lang="en-US" dirty="0"/>
              <a:t>A single run of count does a part of the job (*), and then re-schedules itself (**) if needed:</a:t>
            </a:r>
          </a:p>
          <a:p>
            <a:endParaRPr lang="en-US" dirty="0"/>
          </a:p>
          <a:p>
            <a:r>
              <a:rPr lang="en-US" dirty="0"/>
              <a:t>    First run counts: </a:t>
            </a:r>
            <a:r>
              <a:rPr lang="en-US" dirty="0" err="1"/>
              <a:t>i</a:t>
            </a:r>
            <a:r>
              <a:rPr lang="en-US" dirty="0"/>
              <a:t>=1...1000000.</a:t>
            </a:r>
          </a:p>
          <a:p>
            <a:r>
              <a:rPr lang="en-US" dirty="0"/>
              <a:t>    Second run counts: </a:t>
            </a:r>
            <a:r>
              <a:rPr lang="en-US" dirty="0" err="1"/>
              <a:t>i</a:t>
            </a:r>
            <a:r>
              <a:rPr lang="en-US" dirty="0"/>
              <a:t>=1000001..2000000.</a:t>
            </a:r>
          </a:p>
          <a:p>
            <a:r>
              <a:rPr lang="en-US" dirty="0"/>
              <a:t>    …and so on.</a:t>
            </a:r>
          </a:p>
          <a:p>
            <a:endParaRPr lang="en-US" dirty="0"/>
          </a:p>
          <a:p>
            <a:r>
              <a:rPr lang="en-US" dirty="0"/>
              <a:t>Now, if a new side task (e.g. onclick event) appears while the engine is busy executing part 1, it gets queued and then executes when part 1 finished, before the next part. Periodic returns to the event loop between count executions provide just enough “air” for the JavaScript engine to do something else, to react to other user actions.</a:t>
            </a:r>
          </a:p>
          <a:p>
            <a:endParaRPr lang="en-US" dirty="0"/>
          </a:p>
          <a:p>
            <a:r>
              <a:rPr lang="en-US" dirty="0"/>
              <a:t>The notable thing is that both variants – with and without splitting the job by </a:t>
            </a:r>
            <a:r>
              <a:rPr lang="en-US" dirty="0" err="1"/>
              <a:t>setTimeout</a:t>
            </a:r>
            <a:r>
              <a:rPr lang="en-US" dirty="0"/>
              <a:t> – are comparable in speed. There’s not much difference in the overall counting time.</a:t>
            </a:r>
            <a:endParaRPr lang="en-IN" dirty="0"/>
          </a:p>
        </p:txBody>
      </p:sp>
    </p:spTree>
    <p:extLst>
      <p:ext uri="{BB962C8B-B14F-4D97-AF65-F5344CB8AC3E}">
        <p14:creationId xmlns:p14="http://schemas.microsoft.com/office/powerpoint/2010/main" val="461956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40D0-2475-4BE0-B864-62359B53143D}"/>
              </a:ext>
            </a:extLst>
          </p:cNvPr>
          <p:cNvSpPr>
            <a:spLocks noGrp="1"/>
          </p:cNvSpPr>
          <p:nvPr>
            <p:ph type="title"/>
          </p:nvPr>
        </p:nvSpPr>
        <p:spPr>
          <a:xfrm>
            <a:off x="1025013" y="18255"/>
            <a:ext cx="10515600" cy="1325563"/>
          </a:xfrm>
        </p:spPr>
        <p:txBody>
          <a:bodyPr>
            <a:noAutofit/>
          </a:bodyPr>
          <a:lstStyle/>
          <a:p>
            <a:r>
              <a:rPr lang="en-US" sz="2400" dirty="0"/>
              <a:t>To make them closer, let’s make an improvement.</a:t>
            </a:r>
            <a:br>
              <a:rPr lang="en-US" sz="2400" dirty="0"/>
            </a:br>
            <a:r>
              <a:rPr lang="en-US" sz="2400" dirty="0"/>
              <a:t>We’ll move the scheduling to the beginning of the count():</a:t>
            </a:r>
            <a:endParaRPr lang="en-IN" sz="2400" dirty="0"/>
          </a:p>
        </p:txBody>
      </p:sp>
      <p:sp>
        <p:nvSpPr>
          <p:cNvPr id="3" name="Content Placeholder 2">
            <a:extLst>
              <a:ext uri="{FF2B5EF4-FFF2-40B4-BE49-F238E27FC236}">
                <a16:creationId xmlns:a16="http://schemas.microsoft.com/office/drawing/2014/main" id="{0434FBC7-CC43-47D1-B499-2A6E2450BE24}"/>
              </a:ext>
            </a:extLst>
          </p:cNvPr>
          <p:cNvSpPr>
            <a:spLocks noGrp="1"/>
          </p:cNvSpPr>
          <p:nvPr>
            <p:ph idx="1"/>
          </p:nvPr>
        </p:nvSpPr>
        <p:spPr>
          <a:xfrm>
            <a:off x="324464" y="1098012"/>
            <a:ext cx="5368413" cy="4833145"/>
          </a:xfrm>
        </p:spPr>
        <p:txBody>
          <a:bodyPr>
            <a:normAutofit fontScale="40000" lnSpcReduction="20000"/>
          </a:bodyPr>
          <a:lstStyle/>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start</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Date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now</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move the scheduling to the beginning</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1e9</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1e6</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schedule the new call</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1e6</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1e9</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"Done in "</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Date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now</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start</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count</a:t>
            </a:r>
            <a:r>
              <a:rPr lang="en-US" b="0" dirty="0">
                <a:solidFill>
                  <a:srgbClr val="000000"/>
                </a:solidFill>
                <a:effectLst/>
                <a:latin typeface="Consolas" panose="020B0609020204030204" pitchFamily="49" charset="0"/>
              </a:rPr>
              <a:t>();</a:t>
            </a:r>
          </a:p>
          <a:p>
            <a:pPr marL="0" indent="0">
              <a:buNone/>
            </a:pPr>
            <a:endParaRPr lang="en-IN" dirty="0"/>
          </a:p>
        </p:txBody>
      </p:sp>
      <p:sp>
        <p:nvSpPr>
          <p:cNvPr id="5" name="TextBox 4">
            <a:extLst>
              <a:ext uri="{FF2B5EF4-FFF2-40B4-BE49-F238E27FC236}">
                <a16:creationId xmlns:a16="http://schemas.microsoft.com/office/drawing/2014/main" id="{7B147BEA-041C-4A8C-8FE6-F666C40A5D85}"/>
              </a:ext>
            </a:extLst>
          </p:cNvPr>
          <p:cNvSpPr txBox="1"/>
          <p:nvPr/>
        </p:nvSpPr>
        <p:spPr>
          <a:xfrm>
            <a:off x="5234449" y="1667924"/>
            <a:ext cx="6764593" cy="3693319"/>
          </a:xfrm>
          <a:prstGeom prst="rect">
            <a:avLst/>
          </a:prstGeom>
          <a:noFill/>
        </p:spPr>
        <p:txBody>
          <a:bodyPr wrap="square">
            <a:spAutoFit/>
          </a:bodyPr>
          <a:lstStyle/>
          <a:p>
            <a:r>
              <a:rPr lang="en-US" dirty="0"/>
              <a:t>Now when we start to count() and see that we’ll need to count() more, we schedule that immediately, before doing the job.</a:t>
            </a:r>
          </a:p>
          <a:p>
            <a:endParaRPr lang="en-US" dirty="0"/>
          </a:p>
          <a:p>
            <a:r>
              <a:rPr lang="en-US" dirty="0"/>
              <a:t>If you run it, it’s easy to notice that it takes significantly less time.</a:t>
            </a:r>
          </a:p>
          <a:p>
            <a:endParaRPr lang="en-US" dirty="0"/>
          </a:p>
          <a:p>
            <a:r>
              <a:rPr lang="en-US" dirty="0"/>
              <a:t>Why?</a:t>
            </a:r>
          </a:p>
          <a:p>
            <a:endParaRPr lang="en-US" dirty="0"/>
          </a:p>
          <a:p>
            <a:r>
              <a:rPr lang="en-US" dirty="0"/>
              <a:t>That’s simple: as you remember, there’s the in-browser minimal delay of 4ms for many nested </a:t>
            </a:r>
            <a:r>
              <a:rPr lang="en-US" dirty="0" err="1"/>
              <a:t>setTimeout</a:t>
            </a:r>
            <a:r>
              <a:rPr lang="en-US" dirty="0"/>
              <a:t> calls. Even if we set 0, it’s 4ms (or a bit more). So the earlier we schedule it – the faster it runs.</a:t>
            </a:r>
          </a:p>
          <a:p>
            <a:endParaRPr lang="en-US" dirty="0"/>
          </a:p>
          <a:p>
            <a:r>
              <a:rPr lang="en-US" dirty="0"/>
              <a:t>Finally, we’ve split a CPU-hungry task into parts – now it doesn’t block the user interface. And its overall execution time isn’t much longer.</a:t>
            </a:r>
            <a:endParaRPr lang="en-IN" dirty="0"/>
          </a:p>
        </p:txBody>
      </p:sp>
    </p:spTree>
    <p:extLst>
      <p:ext uri="{BB962C8B-B14F-4D97-AF65-F5344CB8AC3E}">
        <p14:creationId xmlns:p14="http://schemas.microsoft.com/office/powerpoint/2010/main" val="2671347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B4F2-2675-4DBA-A9B8-DDF2FCC97076}"/>
              </a:ext>
            </a:extLst>
          </p:cNvPr>
          <p:cNvSpPr>
            <a:spLocks noGrp="1"/>
          </p:cNvSpPr>
          <p:nvPr>
            <p:ph type="title"/>
          </p:nvPr>
        </p:nvSpPr>
        <p:spPr>
          <a:xfrm>
            <a:off x="1700981" y="99655"/>
            <a:ext cx="6921909" cy="581382"/>
          </a:xfrm>
        </p:spPr>
        <p:txBody>
          <a:bodyPr>
            <a:noAutofit/>
          </a:bodyPr>
          <a:lstStyle/>
          <a:p>
            <a:r>
              <a:rPr lang="en-US" sz="3200" b="1" dirty="0"/>
              <a:t>Use case 2: progress indication</a:t>
            </a:r>
            <a:endParaRPr lang="en-IN" sz="3200" b="1" dirty="0"/>
          </a:p>
        </p:txBody>
      </p:sp>
      <p:sp>
        <p:nvSpPr>
          <p:cNvPr id="3" name="Content Placeholder 2">
            <a:extLst>
              <a:ext uri="{FF2B5EF4-FFF2-40B4-BE49-F238E27FC236}">
                <a16:creationId xmlns:a16="http://schemas.microsoft.com/office/drawing/2014/main" id="{7584F6DC-F515-4BED-878D-47D096F5CE90}"/>
              </a:ext>
            </a:extLst>
          </p:cNvPr>
          <p:cNvSpPr>
            <a:spLocks noGrp="1"/>
          </p:cNvSpPr>
          <p:nvPr>
            <p:ph idx="1"/>
          </p:nvPr>
        </p:nvSpPr>
        <p:spPr>
          <a:xfrm>
            <a:off x="314633" y="646620"/>
            <a:ext cx="11031793" cy="1280504"/>
          </a:xfrm>
        </p:spPr>
        <p:txBody>
          <a:bodyPr>
            <a:normAutofit fontScale="92500" lnSpcReduction="20000"/>
          </a:bodyPr>
          <a:lstStyle/>
          <a:p>
            <a:pPr marL="0" indent="0">
              <a:buNone/>
            </a:pPr>
            <a:r>
              <a:rPr lang="en-US" sz="1800" dirty="0"/>
              <a:t>Another benefit of splitting heavy tasks for browser scripts is that we can show progress indication.</a:t>
            </a:r>
          </a:p>
          <a:p>
            <a:pPr marL="0" indent="0">
              <a:buNone/>
            </a:pPr>
            <a:r>
              <a:rPr lang="en-US" sz="1800" dirty="0"/>
              <a:t>As mentioned earlier, changes to DOM are painted only after the currently running task is completed, irrespective of how long it takes.</a:t>
            </a:r>
          </a:p>
          <a:p>
            <a:pPr marL="0" indent="0">
              <a:buNone/>
            </a:pPr>
            <a:r>
              <a:rPr lang="en-US" sz="1800" dirty="0"/>
              <a:t>On one hand, that’s great, because our function may create many elements, add them one-by-one to the document and change their styles – the visitor won’t see any “intermediate”, unfinished state. An important thing, right?</a:t>
            </a:r>
            <a:endParaRPr lang="en-IN" sz="1800" dirty="0"/>
          </a:p>
        </p:txBody>
      </p:sp>
      <p:sp>
        <p:nvSpPr>
          <p:cNvPr id="5" name="TextBox 4">
            <a:extLst>
              <a:ext uri="{FF2B5EF4-FFF2-40B4-BE49-F238E27FC236}">
                <a16:creationId xmlns:a16="http://schemas.microsoft.com/office/drawing/2014/main" id="{C3E3D5C4-1E50-49FE-A963-EE89D44F8CA6}"/>
              </a:ext>
            </a:extLst>
          </p:cNvPr>
          <p:cNvSpPr txBox="1"/>
          <p:nvPr/>
        </p:nvSpPr>
        <p:spPr>
          <a:xfrm>
            <a:off x="137652" y="1964063"/>
            <a:ext cx="5525728" cy="424731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a:t>Here’s the demo, the changes to </a:t>
            </a:r>
            <a:r>
              <a:rPr lang="en-US" dirty="0" err="1"/>
              <a:t>i</a:t>
            </a:r>
            <a:r>
              <a:rPr lang="en-US" dirty="0"/>
              <a:t> won’t show up until the function finishes, so we’ll see only the last value:</a:t>
            </a:r>
          </a:p>
          <a:p>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"progress"</a:t>
            </a:r>
            <a:r>
              <a:rPr lang="en-US" b="0" dirty="0">
                <a:solidFill>
                  <a:srgbClr val="800000"/>
                </a:solidFill>
                <a:effectLst/>
                <a:latin typeface="Consolas" panose="020B0609020204030204" pitchFamily="49" charset="0"/>
              </a:rPr>
              <a:t>&gt;&lt;/div&gt;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function count()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1e6</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progress.</a:t>
            </a:r>
            <a:r>
              <a:rPr lang="en-US" b="0" dirty="0" err="1">
                <a:solidFill>
                  <a:srgbClr val="001080"/>
                </a:solidFill>
                <a:effectLst/>
                <a:latin typeface="Consolas" panose="020B0609020204030204" pitchFamily="49" charset="0"/>
              </a:rPr>
              <a:t>innerHTML</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count();</a:t>
            </a: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D207D55A-2779-4879-886F-0B34657AD65B}"/>
              </a:ext>
            </a:extLst>
          </p:cNvPr>
          <p:cNvSpPr txBox="1"/>
          <p:nvPr/>
        </p:nvSpPr>
        <p:spPr>
          <a:xfrm>
            <a:off x="5663381" y="1822909"/>
            <a:ext cx="6528620" cy="477053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But we also may want to show something during the task, e.g. a progress bar.</a:t>
            </a:r>
          </a:p>
          <a:p>
            <a:r>
              <a:rPr lang="en-US" dirty="0"/>
              <a:t>If we split the heavy task into pieces using </a:t>
            </a:r>
            <a:r>
              <a:rPr lang="en-US" dirty="0" err="1"/>
              <a:t>setTimeout</a:t>
            </a:r>
            <a:r>
              <a:rPr lang="en-US" dirty="0"/>
              <a:t>, then changes are painted out in-between them.</a:t>
            </a:r>
          </a:p>
          <a:p>
            <a:r>
              <a:rPr lang="en-US" dirty="0"/>
              <a:t>This looks prettier:</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"progress"</a:t>
            </a:r>
            <a:r>
              <a:rPr lang="en-US" b="0" dirty="0">
                <a:solidFill>
                  <a:srgbClr val="800000"/>
                </a:solidFill>
                <a:effectLst/>
                <a:latin typeface="Consolas" panose="020B0609020204030204" pitchFamily="49" charset="0"/>
              </a:rPr>
              <a:t>&gt;&lt;/div&gt;&lt;script&gt;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let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0;</a:t>
            </a:r>
          </a:p>
          <a:p>
            <a:r>
              <a:rPr lang="en-US" b="0" dirty="0">
                <a:solidFill>
                  <a:srgbClr val="000000"/>
                </a:solidFill>
                <a:effectLst/>
                <a:latin typeface="Consolas" panose="020B0609020204030204" pitchFamily="49" charset="0"/>
              </a:rPr>
              <a:t>function count() </a:t>
            </a:r>
            <a:r>
              <a:rPr lang="en-US" b="0" dirty="0">
                <a:solidFill>
                  <a:srgbClr val="0000FF"/>
                </a:solidFill>
                <a:effectLst/>
                <a:latin typeface="Consolas" panose="020B0609020204030204" pitchFamily="49" charset="0"/>
              </a:rPr>
              <a:t>{</a:t>
            </a:r>
            <a:r>
              <a:rPr lang="en-US" b="0" dirty="0">
                <a:solidFill>
                  <a:srgbClr val="008000"/>
                </a:solidFill>
                <a:effectLst/>
                <a:latin typeface="Consolas" panose="020B0609020204030204" pitchFamily="49" charset="0"/>
              </a:rPr>
              <a:t>//do a piece of the heavy job(*)</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do</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progress.</a:t>
            </a:r>
            <a:r>
              <a:rPr lang="en-US" b="0" dirty="0" err="1">
                <a:solidFill>
                  <a:srgbClr val="001080"/>
                </a:solidFill>
                <a:effectLst/>
                <a:latin typeface="Consolas" panose="020B0609020204030204" pitchFamily="49" charset="0"/>
              </a:rPr>
              <a:t>innerHTML</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r>
              <a:rPr lang="en-US" b="0" dirty="0">
                <a:solidFill>
                  <a:srgbClr val="795E26"/>
                </a:solidFill>
                <a:effectLst/>
                <a:latin typeface="Consolas" panose="020B0609020204030204" pitchFamily="49" charset="0"/>
              </a:rPr>
              <a:t>while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1e3</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1e7</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count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count();</a:t>
            </a:r>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sz="1600" b="1" dirty="0"/>
              <a:t>Now the &lt;div&gt; shows increasing values of </a:t>
            </a:r>
            <a:r>
              <a:rPr lang="en-US" sz="1600" b="1" dirty="0" err="1"/>
              <a:t>i</a:t>
            </a:r>
            <a:r>
              <a:rPr lang="en-US" sz="1600" b="1" dirty="0"/>
              <a:t>, a kind of a progress bar.</a:t>
            </a:r>
            <a:endParaRPr lang="en-IN" sz="1600" b="1" dirty="0"/>
          </a:p>
        </p:txBody>
      </p:sp>
    </p:spTree>
    <p:extLst>
      <p:ext uri="{BB962C8B-B14F-4D97-AF65-F5344CB8AC3E}">
        <p14:creationId xmlns:p14="http://schemas.microsoft.com/office/powerpoint/2010/main" val="1516723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CA3A7-6568-4D92-B8E1-02F1B1224BBD}"/>
              </a:ext>
            </a:extLst>
          </p:cNvPr>
          <p:cNvSpPr>
            <a:spLocks noGrp="1"/>
          </p:cNvSpPr>
          <p:nvPr>
            <p:ph type="title"/>
          </p:nvPr>
        </p:nvSpPr>
        <p:spPr>
          <a:xfrm>
            <a:off x="1641987" y="0"/>
            <a:ext cx="9711813" cy="519778"/>
          </a:xfrm>
        </p:spPr>
        <p:txBody>
          <a:bodyPr>
            <a:normAutofit fontScale="90000"/>
          </a:bodyPr>
          <a:lstStyle/>
          <a:p>
            <a:r>
              <a:rPr lang="en-IN" dirty="0" err="1"/>
              <a:t>Macrotasks</a:t>
            </a:r>
            <a:r>
              <a:rPr lang="en-IN" dirty="0"/>
              <a:t> and Microtasks</a:t>
            </a:r>
          </a:p>
        </p:txBody>
      </p:sp>
      <p:sp>
        <p:nvSpPr>
          <p:cNvPr id="3" name="Content Placeholder 2">
            <a:extLst>
              <a:ext uri="{FF2B5EF4-FFF2-40B4-BE49-F238E27FC236}">
                <a16:creationId xmlns:a16="http://schemas.microsoft.com/office/drawing/2014/main" id="{33C6FC6D-F5CF-4873-BA55-9619ACEE5D72}"/>
              </a:ext>
            </a:extLst>
          </p:cNvPr>
          <p:cNvSpPr>
            <a:spLocks noGrp="1"/>
          </p:cNvSpPr>
          <p:nvPr>
            <p:ph idx="1"/>
          </p:nvPr>
        </p:nvSpPr>
        <p:spPr>
          <a:xfrm>
            <a:off x="226142" y="658761"/>
            <a:ext cx="11127658" cy="3106994"/>
          </a:xfrm>
        </p:spPr>
        <p:txBody>
          <a:bodyPr>
            <a:normAutofit fontScale="92500" lnSpcReduction="20000"/>
          </a:bodyPr>
          <a:lstStyle/>
          <a:p>
            <a:r>
              <a:rPr lang="en-US" dirty="0"/>
              <a:t>Microtasks come solely from our code. They are usually created by promises: an execution of .then/catch/finally handler becomes a microtask. Microtasks are used “under the cover” of await as well, as it’s another form of promise handling.</a:t>
            </a:r>
          </a:p>
          <a:p>
            <a:r>
              <a:rPr lang="en-US" dirty="0"/>
              <a:t>There’s also a special function </a:t>
            </a:r>
            <a:r>
              <a:rPr lang="en-US" dirty="0" err="1"/>
              <a:t>queueMicrotask</a:t>
            </a:r>
            <a:r>
              <a:rPr lang="en-US" dirty="0"/>
              <a:t>(</a:t>
            </a:r>
            <a:r>
              <a:rPr lang="en-US" dirty="0" err="1"/>
              <a:t>func</a:t>
            </a:r>
            <a:r>
              <a:rPr lang="en-US" dirty="0"/>
              <a:t>) that queues </a:t>
            </a:r>
            <a:r>
              <a:rPr lang="en-US" dirty="0" err="1"/>
              <a:t>func</a:t>
            </a:r>
            <a:r>
              <a:rPr lang="en-US" dirty="0"/>
              <a:t> for execution in the microtask queue.</a:t>
            </a:r>
          </a:p>
          <a:p>
            <a:r>
              <a:rPr lang="en-US" dirty="0"/>
              <a:t>Immediately after every </a:t>
            </a:r>
            <a:r>
              <a:rPr lang="en-US" dirty="0" err="1"/>
              <a:t>macrotask</a:t>
            </a:r>
            <a:r>
              <a:rPr lang="en-US" dirty="0"/>
              <a:t>, the engine executes all tasks from microtask queue, prior to running any other </a:t>
            </a:r>
            <a:r>
              <a:rPr lang="en-US" dirty="0" err="1"/>
              <a:t>macrotasks</a:t>
            </a:r>
            <a:r>
              <a:rPr lang="en-US" dirty="0"/>
              <a:t> or rendering or anything else.</a:t>
            </a:r>
            <a:endParaRPr lang="en-IN" dirty="0"/>
          </a:p>
        </p:txBody>
      </p:sp>
      <p:sp>
        <p:nvSpPr>
          <p:cNvPr id="5" name="TextBox 4">
            <a:extLst>
              <a:ext uri="{FF2B5EF4-FFF2-40B4-BE49-F238E27FC236}">
                <a16:creationId xmlns:a16="http://schemas.microsoft.com/office/drawing/2014/main" id="{237B5945-89BA-4C4B-A9C5-B1A21FDCF0C6}"/>
              </a:ext>
            </a:extLst>
          </p:cNvPr>
          <p:cNvSpPr txBox="1"/>
          <p:nvPr/>
        </p:nvSpPr>
        <p:spPr>
          <a:xfrm>
            <a:off x="362565" y="3581089"/>
            <a:ext cx="6135328" cy="3139321"/>
          </a:xfrm>
          <a:prstGeom prst="rect">
            <a:avLst/>
          </a:prstGeom>
          <a:noFill/>
        </p:spPr>
        <p:txBody>
          <a:bodyPr wrap="square">
            <a:spAutoFit/>
          </a:bodyPr>
          <a:lstStyle/>
          <a:p>
            <a:r>
              <a:rPr lang="en-US" dirty="0"/>
              <a:t>For instance, take a look:</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setTimeout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"timeout"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"promise"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"code"</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r>
              <a:rPr lang="en-US" dirty="0"/>
              <a:t> </a:t>
            </a:r>
            <a:endParaRPr lang="en-IN" dirty="0"/>
          </a:p>
        </p:txBody>
      </p:sp>
      <p:sp>
        <p:nvSpPr>
          <p:cNvPr id="7" name="TextBox 6">
            <a:extLst>
              <a:ext uri="{FF2B5EF4-FFF2-40B4-BE49-F238E27FC236}">
                <a16:creationId xmlns:a16="http://schemas.microsoft.com/office/drawing/2014/main" id="{32D630ED-9D9F-42C1-B781-F80C4785DBCB}"/>
              </a:ext>
            </a:extLst>
          </p:cNvPr>
          <p:cNvSpPr txBox="1"/>
          <p:nvPr/>
        </p:nvSpPr>
        <p:spPr>
          <a:xfrm>
            <a:off x="5436704" y="3765755"/>
            <a:ext cx="6556807" cy="20313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dirty="0"/>
              <a:t>What’s going to be the order here?</a:t>
            </a:r>
          </a:p>
          <a:p>
            <a:endParaRPr lang="en-US" dirty="0"/>
          </a:p>
          <a:p>
            <a:r>
              <a:rPr lang="en-US" dirty="0"/>
              <a:t>   </a:t>
            </a:r>
            <a:r>
              <a:rPr lang="en-US" dirty="0">
                <a:highlight>
                  <a:srgbClr val="FFFF00"/>
                </a:highlight>
              </a:rPr>
              <a:t>code</a:t>
            </a:r>
            <a:r>
              <a:rPr lang="en-US" dirty="0"/>
              <a:t>      shows         first,    because it’s a regular synchronous call.</a:t>
            </a:r>
          </a:p>
          <a:p>
            <a:r>
              <a:rPr lang="en-US" dirty="0"/>
              <a:t>   </a:t>
            </a:r>
            <a:r>
              <a:rPr lang="en-US" dirty="0">
                <a:highlight>
                  <a:srgbClr val="FFFF00"/>
                </a:highlight>
              </a:rPr>
              <a:t>promise</a:t>
            </a:r>
            <a:r>
              <a:rPr lang="en-US" dirty="0"/>
              <a:t> shows      second,     because .then passes through the microtask queue, and runs after the current code.</a:t>
            </a:r>
          </a:p>
          <a:p>
            <a:endParaRPr lang="en-US" dirty="0"/>
          </a:p>
          <a:p>
            <a:r>
              <a:rPr lang="en-US" dirty="0"/>
              <a:t>    </a:t>
            </a:r>
            <a:r>
              <a:rPr lang="en-US" dirty="0">
                <a:highlight>
                  <a:srgbClr val="FFFF00"/>
                </a:highlight>
              </a:rPr>
              <a:t>timeout</a:t>
            </a:r>
            <a:r>
              <a:rPr lang="en-US" dirty="0"/>
              <a:t> shows     last,    because it’s a </a:t>
            </a:r>
            <a:r>
              <a:rPr lang="en-US" dirty="0" err="1"/>
              <a:t>macrotask</a:t>
            </a:r>
            <a:r>
              <a:rPr lang="en-US" dirty="0"/>
              <a:t>.</a:t>
            </a:r>
          </a:p>
        </p:txBody>
      </p:sp>
    </p:spTree>
    <p:extLst>
      <p:ext uri="{BB962C8B-B14F-4D97-AF65-F5344CB8AC3E}">
        <p14:creationId xmlns:p14="http://schemas.microsoft.com/office/powerpoint/2010/main" val="3395908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58721-2F43-4E95-86B3-07A66E054DCF}"/>
              </a:ext>
            </a:extLst>
          </p:cNvPr>
          <p:cNvSpPr>
            <a:spLocks noGrp="1"/>
          </p:cNvSpPr>
          <p:nvPr>
            <p:ph idx="1"/>
          </p:nvPr>
        </p:nvSpPr>
        <p:spPr>
          <a:xfrm>
            <a:off x="865238" y="1"/>
            <a:ext cx="10943303" cy="648928"/>
          </a:xfrm>
        </p:spPr>
        <p:txBody>
          <a:bodyPr>
            <a:normAutofit/>
          </a:bodyPr>
          <a:lstStyle/>
          <a:p>
            <a:pPr marL="0" indent="0">
              <a:buNone/>
            </a:pPr>
            <a:r>
              <a:rPr lang="en-US" sz="2000" dirty="0"/>
              <a:t>The richer event loop picture looks like this (order is from top to bottom, that is: the script first, then microtasks, rendering and so on):</a:t>
            </a:r>
            <a:endParaRPr lang="en-IN" sz="2000" dirty="0"/>
          </a:p>
        </p:txBody>
      </p:sp>
      <p:pic>
        <p:nvPicPr>
          <p:cNvPr id="5" name="Picture 4">
            <a:extLst>
              <a:ext uri="{FF2B5EF4-FFF2-40B4-BE49-F238E27FC236}">
                <a16:creationId xmlns:a16="http://schemas.microsoft.com/office/drawing/2014/main" id="{9EF6F2F3-1DA5-4DB5-B5E8-C6F48FEEABED}"/>
              </a:ext>
            </a:extLst>
          </p:cNvPr>
          <p:cNvPicPr>
            <a:picLocks noChangeAspect="1"/>
          </p:cNvPicPr>
          <p:nvPr/>
        </p:nvPicPr>
        <p:blipFill rotWithShape="1">
          <a:blip r:embed="rId2"/>
          <a:srcRect l="36936" t="14624" r="25564" b="21863"/>
          <a:stretch/>
        </p:blipFill>
        <p:spPr>
          <a:xfrm>
            <a:off x="216309" y="1553497"/>
            <a:ext cx="4572000" cy="4355691"/>
          </a:xfrm>
          <a:prstGeom prst="rect">
            <a:avLst/>
          </a:prstGeom>
        </p:spPr>
      </p:pic>
      <p:sp>
        <p:nvSpPr>
          <p:cNvPr id="7" name="TextBox 6">
            <a:extLst>
              <a:ext uri="{FF2B5EF4-FFF2-40B4-BE49-F238E27FC236}">
                <a16:creationId xmlns:a16="http://schemas.microsoft.com/office/drawing/2014/main" id="{8181A220-B87B-4751-AD44-608954567764}"/>
              </a:ext>
            </a:extLst>
          </p:cNvPr>
          <p:cNvSpPr txBox="1"/>
          <p:nvPr/>
        </p:nvSpPr>
        <p:spPr>
          <a:xfrm>
            <a:off x="5348748" y="732503"/>
            <a:ext cx="6135328" cy="4247317"/>
          </a:xfrm>
          <a:prstGeom prst="rect">
            <a:avLst/>
          </a:prstGeom>
          <a:noFill/>
        </p:spPr>
        <p:txBody>
          <a:bodyPr wrap="square">
            <a:spAutoFit/>
          </a:bodyPr>
          <a:lstStyle/>
          <a:p>
            <a:r>
              <a:rPr lang="en-US" dirty="0"/>
              <a:t>All microtasks are completed before any other event handling or rendering or any other </a:t>
            </a:r>
            <a:r>
              <a:rPr lang="en-US" dirty="0" err="1"/>
              <a:t>macrotask</a:t>
            </a:r>
            <a:r>
              <a:rPr lang="en-US" dirty="0"/>
              <a:t> takes place.</a:t>
            </a:r>
          </a:p>
          <a:p>
            <a:endParaRPr lang="en-US" dirty="0"/>
          </a:p>
          <a:p>
            <a:r>
              <a:rPr lang="en-US" dirty="0"/>
              <a:t>That’s important, as it guarantees that the application environment is basically the same (no mouse coordinate changes, no new network data, </a:t>
            </a:r>
            <a:r>
              <a:rPr lang="en-US" dirty="0" err="1"/>
              <a:t>etc</a:t>
            </a:r>
            <a:r>
              <a:rPr lang="en-US" dirty="0"/>
              <a:t>) between microtasks.</a:t>
            </a:r>
          </a:p>
          <a:p>
            <a:endParaRPr lang="en-US" dirty="0"/>
          </a:p>
          <a:p>
            <a:r>
              <a:rPr lang="en-US" dirty="0"/>
              <a:t>If we’d like to execute a function asynchronously (after the current code), but before changes are rendered or new events handled, we can schedule it with </a:t>
            </a:r>
            <a:r>
              <a:rPr lang="en-US" dirty="0" err="1"/>
              <a:t>queueMicrotask</a:t>
            </a:r>
            <a:r>
              <a:rPr lang="en-US" dirty="0"/>
              <a:t>.</a:t>
            </a:r>
          </a:p>
          <a:p>
            <a:endParaRPr lang="en-US" dirty="0"/>
          </a:p>
          <a:p>
            <a:r>
              <a:rPr lang="en-US" dirty="0"/>
              <a:t>Here’s an example with “counting progress bar”, similar to the one shown previously, but </a:t>
            </a:r>
            <a:r>
              <a:rPr lang="en-US" dirty="0" err="1"/>
              <a:t>queueMicrotask</a:t>
            </a:r>
            <a:r>
              <a:rPr lang="en-US" dirty="0"/>
              <a:t> is used instead of </a:t>
            </a:r>
            <a:r>
              <a:rPr lang="en-US" dirty="0" err="1"/>
              <a:t>setTimeout</a:t>
            </a:r>
            <a:r>
              <a:rPr lang="en-US" dirty="0"/>
              <a:t>. You can see that it renders at the very end. Just like the synchronous code:</a:t>
            </a:r>
            <a:endParaRPr lang="en-IN" dirty="0"/>
          </a:p>
        </p:txBody>
      </p:sp>
    </p:spTree>
    <p:extLst>
      <p:ext uri="{BB962C8B-B14F-4D97-AF65-F5344CB8AC3E}">
        <p14:creationId xmlns:p14="http://schemas.microsoft.com/office/powerpoint/2010/main" val="368089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D999E4-F0BA-48F8-A660-B0438235848E}"/>
              </a:ext>
            </a:extLst>
          </p:cNvPr>
          <p:cNvSpPr>
            <a:spLocks noGrp="1"/>
          </p:cNvSpPr>
          <p:nvPr>
            <p:ph idx="1"/>
          </p:nvPr>
        </p:nvSpPr>
        <p:spPr>
          <a:xfrm>
            <a:off x="265472" y="629265"/>
            <a:ext cx="5034116" cy="5751870"/>
          </a:xfrm>
        </p:spPr>
        <p:txBody>
          <a:bodyPr>
            <a:noAutofit/>
          </a:bodyPr>
          <a:lstStyle/>
          <a:p>
            <a:pPr marL="0" indent="0">
              <a:buNone/>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div</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id</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"progress"</a:t>
            </a:r>
            <a:r>
              <a:rPr lang="en-US" sz="1600" b="0" dirty="0">
                <a:solidFill>
                  <a:srgbClr val="000000"/>
                </a:solidFill>
                <a:effectLst/>
                <a:latin typeface="Consolas" panose="020B0609020204030204" pitchFamily="49" charset="0"/>
              </a:rPr>
              <a:t>&gt;&lt;/</a:t>
            </a:r>
            <a:r>
              <a:rPr lang="en-US" sz="1600" b="0" dirty="0">
                <a:solidFill>
                  <a:srgbClr val="001080"/>
                </a:solidFill>
                <a:effectLst/>
                <a:latin typeface="Consolas" panose="020B0609020204030204" pitchFamily="49" charset="0"/>
              </a:rPr>
              <a:t>div</a:t>
            </a:r>
            <a:r>
              <a:rPr lang="en-US" sz="1600" b="0" dirty="0">
                <a:solidFill>
                  <a:srgbClr val="000000"/>
                </a:solidFill>
                <a:effectLst/>
                <a:latin typeface="Consolas" panose="020B0609020204030204" pitchFamily="49" charset="0"/>
              </a:rPr>
              <a:t>&gt;</a:t>
            </a: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&lt;script&gt;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let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0;</a:t>
            </a:r>
          </a:p>
          <a:p>
            <a:pPr marL="0" indent="0">
              <a:buNone/>
            </a:pPr>
            <a:r>
              <a:rPr lang="en-US" sz="1600" b="0" dirty="0">
                <a:solidFill>
                  <a:srgbClr val="000000"/>
                </a:solidFill>
                <a:effectLst/>
                <a:latin typeface="Consolas" panose="020B0609020204030204" pitchFamily="49" charset="0"/>
              </a:rPr>
              <a:t>      function count() </a:t>
            </a:r>
            <a:r>
              <a:rPr lang="en-US" sz="1600" b="0" dirty="0">
                <a:solidFill>
                  <a:srgbClr val="0000FF"/>
                </a:solidFill>
                <a:effectLst/>
                <a:latin typeface="Consolas" panose="020B0609020204030204" pitchFamily="49" charset="0"/>
              </a:rPr>
              <a: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do a piece of the heavy job (*)</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do</a:t>
            </a: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progress.</a:t>
            </a:r>
            <a:r>
              <a:rPr lang="en-US" sz="1600" b="0" dirty="0" err="1">
                <a:solidFill>
                  <a:srgbClr val="001080"/>
                </a:solidFill>
                <a:effectLst/>
                <a:latin typeface="Consolas" panose="020B0609020204030204" pitchFamily="49" charset="0"/>
              </a:rPr>
              <a:t>innerHTML</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 </a:t>
            </a:r>
            <a:r>
              <a:rPr lang="en-US" sz="1600" b="0" dirty="0">
                <a:solidFill>
                  <a:srgbClr val="795E26"/>
                </a:solidFill>
                <a:effectLst/>
                <a:latin typeface="Consolas" panose="020B0609020204030204" pitchFamily="49" charset="0"/>
              </a:rPr>
              <a:t>while</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1e3</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98658"/>
                </a:solidFill>
                <a:effectLst/>
                <a:latin typeface="Consolas" panose="020B0609020204030204" pitchFamily="49" charset="0"/>
              </a:rPr>
              <a:t>1e6</a:t>
            </a: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queueMicrotask</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count</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count();</a:t>
            </a: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&lt;/script&gt;</a:t>
            </a:r>
            <a:endParaRPr lang="en-US" sz="1600" b="0" dirty="0">
              <a:solidFill>
                <a:srgbClr val="000000"/>
              </a:solidFill>
              <a:effectLst/>
              <a:latin typeface="Consolas" panose="020B0609020204030204" pitchFamily="49" charset="0"/>
            </a:endParaRPr>
          </a:p>
          <a:p>
            <a:pPr marL="0" indent="0">
              <a:buNone/>
            </a:pP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a:p>
            <a:pPr marL="0" indent="0">
              <a:buNone/>
            </a:pPr>
            <a:endParaRPr lang="en-IN" sz="1600" dirty="0"/>
          </a:p>
        </p:txBody>
      </p:sp>
      <p:sp>
        <p:nvSpPr>
          <p:cNvPr id="5" name="TextBox 4">
            <a:extLst>
              <a:ext uri="{FF2B5EF4-FFF2-40B4-BE49-F238E27FC236}">
                <a16:creationId xmlns:a16="http://schemas.microsoft.com/office/drawing/2014/main" id="{BEF18377-7E76-4BA5-ADB9-D4D2622B6599}"/>
              </a:ext>
            </a:extLst>
          </p:cNvPr>
          <p:cNvSpPr txBox="1"/>
          <p:nvPr/>
        </p:nvSpPr>
        <p:spPr>
          <a:xfrm>
            <a:off x="4906297" y="89624"/>
            <a:ext cx="7423354" cy="6678751"/>
          </a:xfrm>
          <a:prstGeom prst="rect">
            <a:avLst/>
          </a:prstGeom>
          <a:noFill/>
        </p:spPr>
        <p:txBody>
          <a:bodyPr wrap="square">
            <a:spAutoFit/>
          </a:bodyPr>
          <a:lstStyle/>
          <a:p>
            <a:r>
              <a:rPr lang="en-US" sz="1600" b="1" dirty="0"/>
              <a:t>Summary</a:t>
            </a:r>
          </a:p>
          <a:p>
            <a:r>
              <a:rPr lang="en-US" sz="1600" dirty="0"/>
              <a:t>A more detailed event loop algorithm (though still simplified compared to the specification):</a:t>
            </a:r>
          </a:p>
          <a:p>
            <a:r>
              <a:rPr lang="en-US" sz="1600" dirty="0"/>
              <a:t>    Dequeue and run the oldest task from the </a:t>
            </a:r>
            <a:r>
              <a:rPr lang="en-US" sz="1600" dirty="0" err="1"/>
              <a:t>macrotask</a:t>
            </a:r>
            <a:r>
              <a:rPr lang="en-US" sz="1600" dirty="0"/>
              <a:t> queue (e.g. “script”).</a:t>
            </a:r>
          </a:p>
          <a:p>
            <a:r>
              <a:rPr lang="en-US" sz="1600" dirty="0"/>
              <a:t>    Execute all microtasks:</a:t>
            </a:r>
          </a:p>
          <a:p>
            <a:r>
              <a:rPr lang="en-US" sz="1600" dirty="0"/>
              <a:t>        While the microtask queue is not empty:</a:t>
            </a:r>
          </a:p>
          <a:p>
            <a:r>
              <a:rPr lang="en-US" sz="1600" dirty="0"/>
              <a:t>            Dequeue and run the oldest microtask.</a:t>
            </a:r>
          </a:p>
          <a:p>
            <a:r>
              <a:rPr lang="en-US" sz="1600" dirty="0"/>
              <a:t>    Render changes if any.</a:t>
            </a:r>
          </a:p>
          <a:p>
            <a:r>
              <a:rPr lang="en-US" sz="1600" dirty="0"/>
              <a:t>    If the </a:t>
            </a:r>
            <a:r>
              <a:rPr lang="en-US" sz="1600" dirty="0" err="1"/>
              <a:t>macrotask</a:t>
            </a:r>
            <a:r>
              <a:rPr lang="en-US" sz="1600" dirty="0"/>
              <a:t> queue is empty, wait till a </a:t>
            </a:r>
            <a:r>
              <a:rPr lang="en-US" sz="1600" dirty="0" err="1"/>
              <a:t>macrotask</a:t>
            </a:r>
            <a:r>
              <a:rPr lang="en-US" sz="1600" dirty="0"/>
              <a:t> appears.</a:t>
            </a:r>
          </a:p>
          <a:p>
            <a:r>
              <a:rPr lang="en-US" sz="1600" dirty="0"/>
              <a:t>    Go to step 1.</a:t>
            </a:r>
          </a:p>
          <a:p>
            <a:endParaRPr lang="en-US" sz="1600" dirty="0"/>
          </a:p>
          <a:p>
            <a:r>
              <a:rPr lang="en-US" sz="1600" dirty="0"/>
              <a:t>To schedule a new </a:t>
            </a:r>
            <a:r>
              <a:rPr lang="en-US" sz="1600" dirty="0" err="1"/>
              <a:t>macrotask</a:t>
            </a:r>
            <a:r>
              <a:rPr lang="en-US" sz="1600" dirty="0"/>
              <a:t>:</a:t>
            </a:r>
          </a:p>
          <a:p>
            <a:r>
              <a:rPr lang="en-US" sz="1600" dirty="0"/>
              <a:t>    Use zero delayed </a:t>
            </a:r>
            <a:r>
              <a:rPr lang="en-US" sz="1600" dirty="0" err="1"/>
              <a:t>setTimeout</a:t>
            </a:r>
            <a:r>
              <a:rPr lang="en-US" sz="1600" dirty="0"/>
              <a:t>(f).</a:t>
            </a:r>
          </a:p>
          <a:p>
            <a:endParaRPr lang="en-US" sz="1600" dirty="0"/>
          </a:p>
          <a:p>
            <a:r>
              <a:rPr lang="en-US" sz="1600" dirty="0"/>
              <a:t>That may be used to split a big calculation-heavy task into pieces, for the browser to be able to react to user events and show progress between them.</a:t>
            </a:r>
          </a:p>
          <a:p>
            <a:r>
              <a:rPr lang="en-US" sz="1600" dirty="0"/>
              <a:t>Also, used in event handlers to schedule an action after the event is fully handled (bubbling done).</a:t>
            </a:r>
          </a:p>
          <a:p>
            <a:endParaRPr lang="en-US" sz="1600" dirty="0"/>
          </a:p>
          <a:p>
            <a:r>
              <a:rPr lang="en-US" sz="1600" dirty="0"/>
              <a:t>To schedule a new microtask</a:t>
            </a:r>
          </a:p>
          <a:p>
            <a:r>
              <a:rPr lang="en-US" sz="1600" dirty="0"/>
              <a:t>    Use </a:t>
            </a:r>
            <a:r>
              <a:rPr lang="en-US" sz="1600" dirty="0" err="1"/>
              <a:t>queueMicrotask</a:t>
            </a:r>
            <a:r>
              <a:rPr lang="en-US" sz="1600" dirty="0"/>
              <a:t>(f).</a:t>
            </a:r>
          </a:p>
          <a:p>
            <a:r>
              <a:rPr lang="en-US" sz="1600" dirty="0"/>
              <a:t>    Also promise handlers go through the microtask queue.</a:t>
            </a:r>
          </a:p>
          <a:p>
            <a:r>
              <a:rPr lang="en-US" sz="1600" dirty="0"/>
              <a:t>There’s no UI or network event handling between microtasks: they run immediately one after another.</a:t>
            </a:r>
          </a:p>
          <a:p>
            <a:r>
              <a:rPr lang="en-US" sz="1600" dirty="0"/>
              <a:t>So one may want to </a:t>
            </a:r>
            <a:r>
              <a:rPr lang="en-US" sz="1600" dirty="0" err="1"/>
              <a:t>queueMicrotask</a:t>
            </a:r>
            <a:r>
              <a:rPr lang="en-US" sz="1600" dirty="0"/>
              <a:t> to execute a function asynchronously, but within the environment state.</a:t>
            </a:r>
            <a:endParaRPr lang="en-IN" sz="1600" dirty="0"/>
          </a:p>
        </p:txBody>
      </p:sp>
    </p:spTree>
    <p:extLst>
      <p:ext uri="{BB962C8B-B14F-4D97-AF65-F5344CB8AC3E}">
        <p14:creationId xmlns:p14="http://schemas.microsoft.com/office/powerpoint/2010/main" val="1780847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F432B7-274A-42A4-8DF6-594A4EAE8264}"/>
              </a:ext>
            </a:extLst>
          </p:cNvPr>
          <p:cNvSpPr>
            <a:spLocks noGrp="1"/>
          </p:cNvSpPr>
          <p:nvPr>
            <p:ph idx="1"/>
          </p:nvPr>
        </p:nvSpPr>
        <p:spPr>
          <a:xfrm>
            <a:off x="422787" y="471948"/>
            <a:ext cx="10931013" cy="5705015"/>
          </a:xfrm>
        </p:spPr>
        <p:txBody>
          <a:bodyPr/>
          <a:lstStyle/>
          <a:p>
            <a:r>
              <a:rPr lang="en-US" dirty="0"/>
              <a:t>For long heavy calculations that shouldn’t block the event loop, we can </a:t>
            </a:r>
            <a:r>
              <a:rPr lang="en-US" dirty="0">
                <a:solidFill>
                  <a:schemeClr val="accent1"/>
                </a:solidFill>
              </a:rPr>
              <a:t>use Web Workers.</a:t>
            </a:r>
          </a:p>
          <a:p>
            <a:endParaRPr lang="en-US" dirty="0"/>
          </a:p>
          <a:p>
            <a:r>
              <a:rPr lang="en-US" dirty="0"/>
              <a:t>That’s a way to run code in another, parallel thread.</a:t>
            </a:r>
          </a:p>
          <a:p>
            <a:endParaRPr lang="en-US" dirty="0"/>
          </a:p>
          <a:p>
            <a:r>
              <a:rPr lang="en-US" dirty="0"/>
              <a:t>Web Workers can exchange messages with the main process, but they have their own variables, and their own event loop.</a:t>
            </a:r>
          </a:p>
          <a:p>
            <a:endParaRPr lang="en-US" dirty="0"/>
          </a:p>
          <a:p>
            <a:r>
              <a:rPr lang="en-US" dirty="0"/>
              <a:t>Web Workers </a:t>
            </a:r>
            <a:r>
              <a:rPr lang="en-US" b="1" dirty="0"/>
              <a:t>do not have access to DOM</a:t>
            </a:r>
            <a:r>
              <a:rPr lang="en-US" dirty="0"/>
              <a:t>, so they are useful, mainly, for calculations, to use multiple CPU cores simultaneously.</a:t>
            </a:r>
          </a:p>
          <a:p>
            <a:endParaRPr lang="en-IN" dirty="0"/>
          </a:p>
        </p:txBody>
      </p:sp>
    </p:spTree>
    <p:extLst>
      <p:ext uri="{BB962C8B-B14F-4D97-AF65-F5344CB8AC3E}">
        <p14:creationId xmlns:p14="http://schemas.microsoft.com/office/powerpoint/2010/main" val="1654808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85AEFB-DA79-42F0-9684-79CBECC5699B}"/>
              </a:ext>
            </a:extLst>
          </p:cNvPr>
          <p:cNvSpPr>
            <a:spLocks noGrp="1"/>
          </p:cNvSpPr>
          <p:nvPr>
            <p:ph idx="1"/>
          </p:nvPr>
        </p:nvSpPr>
        <p:spPr>
          <a:xfrm>
            <a:off x="277760" y="960386"/>
            <a:ext cx="11304639" cy="5774711"/>
          </a:xfrm>
        </p:spPr>
        <p:txBody>
          <a:bodyPr>
            <a:noAutofit/>
          </a:bodyPr>
          <a:lstStyle/>
          <a:p>
            <a:r>
              <a:rPr lang="en-US" sz="1600" dirty="0"/>
              <a:t>Even when a Promise is immediately resolved, the code on the lines below .then/.catch/.finally will still execute before these handlers.</a:t>
            </a:r>
          </a:p>
          <a:p>
            <a:r>
              <a:rPr lang="en-US" sz="1600" dirty="0"/>
              <a:t>Here’s a demo:</a:t>
            </a:r>
          </a:p>
          <a:p>
            <a:pPr marL="0" indent="0">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let</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promise</a:t>
            </a:r>
            <a:r>
              <a:rPr lang="en-US" sz="1600" b="0" dirty="0">
                <a:solidFill>
                  <a:srgbClr val="000000"/>
                </a:solidFill>
                <a:effectLst/>
                <a:latin typeface="Consolas" panose="020B0609020204030204" pitchFamily="49" charset="0"/>
              </a:rPr>
              <a:t> = </a:t>
            </a:r>
            <a:r>
              <a:rPr lang="en-US" sz="1600" b="0" dirty="0" err="1">
                <a:solidFill>
                  <a:srgbClr val="267F99"/>
                </a:solidFill>
                <a:effectLst/>
                <a:latin typeface="Consolas" panose="020B0609020204030204" pitchFamily="49" charset="0"/>
              </a:rPr>
              <a:t>Promise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resolve</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promise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then</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alert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"promise done!"</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alert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"code finished"</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this alert shows first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dirty="0"/>
              <a:t>If you run it, you see code finished first, and then promise done!.</a:t>
            </a:r>
          </a:p>
          <a:p>
            <a:r>
              <a:rPr lang="en-US" sz="1600" dirty="0"/>
              <a:t>That’s strange, because the promise is definitely done from the beginning.</a:t>
            </a:r>
          </a:p>
          <a:p>
            <a:r>
              <a:rPr lang="en-US" sz="1600" dirty="0"/>
              <a:t>Why did the .then trigger afterwards? What’s going on?</a:t>
            </a:r>
          </a:p>
          <a:p>
            <a:r>
              <a:rPr lang="en-US" sz="1600" dirty="0"/>
              <a:t>Microtasks queue</a:t>
            </a:r>
          </a:p>
          <a:p>
            <a:r>
              <a:rPr lang="en-US" sz="1600" dirty="0"/>
              <a:t>Asynchronous tasks need proper management. For that, the ECMA standard specifies an internal queue </a:t>
            </a:r>
            <a:r>
              <a:rPr lang="en-US" sz="1600" dirty="0" err="1"/>
              <a:t>PromiseJobs</a:t>
            </a:r>
            <a:r>
              <a:rPr lang="en-US" sz="1600" dirty="0"/>
              <a:t>, more often referred to as the “microtask queue” (V8 term).</a:t>
            </a:r>
          </a:p>
          <a:p>
            <a:r>
              <a:rPr lang="en-US" sz="1600" dirty="0"/>
              <a:t>As stated in the specification:</a:t>
            </a:r>
          </a:p>
          <a:p>
            <a:r>
              <a:rPr lang="en-US" sz="1600" dirty="0"/>
              <a:t>    The queue is first-in-first-out: tasks enqueued first are run first.</a:t>
            </a:r>
          </a:p>
          <a:p>
            <a:r>
              <a:rPr lang="en-US" sz="1600" dirty="0"/>
              <a:t>    Execution of a task is initiated only when nothing else is running.</a:t>
            </a:r>
          </a:p>
          <a:p>
            <a:r>
              <a:rPr lang="en-US" sz="1600" dirty="0"/>
              <a:t>Or, to say more simply, when a promise is ready, its .then/catch/finally handlers are put into the queue; they are not executed yet. When the JavaScript engine becomes free from the current code, it takes a task from the queue and executes it.</a:t>
            </a:r>
          </a:p>
          <a:p>
            <a:r>
              <a:rPr lang="en-US" sz="1200" b="1" i="1" dirty="0"/>
              <a:t>That’s why “code finished” in the example above shows first.</a:t>
            </a:r>
            <a:endParaRPr lang="en-IN" sz="1800" b="1" i="1" dirty="0"/>
          </a:p>
        </p:txBody>
      </p:sp>
      <p:sp>
        <p:nvSpPr>
          <p:cNvPr id="4" name="Rectangle 1">
            <a:extLst>
              <a:ext uri="{FF2B5EF4-FFF2-40B4-BE49-F238E27FC236}">
                <a16:creationId xmlns:a16="http://schemas.microsoft.com/office/drawing/2014/main" id="{85EF3D0D-813F-4C6A-A2E7-5F9F8E8C23C7}"/>
              </a:ext>
            </a:extLst>
          </p:cNvPr>
          <p:cNvSpPr>
            <a:spLocks noGrp="1" noChangeArrowheads="1"/>
          </p:cNvSpPr>
          <p:nvPr>
            <p:ph type="title"/>
          </p:nvPr>
        </p:nvSpPr>
        <p:spPr bwMode="auto">
          <a:xfrm>
            <a:off x="1228725" y="23089"/>
            <a:ext cx="878051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Microtasks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Promise handlers </a:t>
            </a:r>
            <a:r>
              <a:rPr kumimoji="0" lang="en-US" altLang="en-US" sz="2400" b="0" i="0" u="none" strike="noStrike" cap="none" normalizeH="0" baseline="0" dirty="0">
                <a:ln>
                  <a:noFill/>
                </a:ln>
                <a:solidFill>
                  <a:schemeClr val="tx1"/>
                </a:solidFill>
                <a:effectLst/>
                <a:latin typeface="Arial Unicode MS"/>
              </a:rPr>
              <a:t>.then</a:t>
            </a:r>
            <a:r>
              <a:rPr kumimoji="0" lang="en-US" altLang="en-US" sz="1800" b="0" i="0" u="none" strike="noStrike" cap="none" normalizeH="0" baseline="0" dirty="0">
                <a:ln>
                  <a:noFill/>
                </a:ln>
                <a:solidFill>
                  <a:schemeClr val="tx1"/>
                </a:solidFill>
                <a:effectLst/>
              </a:rPr>
              <a:t>/</a:t>
            </a:r>
            <a:r>
              <a:rPr kumimoji="0" lang="en-US" altLang="en-US" sz="2400" b="0" i="0" u="none" strike="noStrike" cap="none" normalizeH="0" baseline="0" dirty="0">
                <a:ln>
                  <a:noFill/>
                </a:ln>
                <a:solidFill>
                  <a:schemeClr val="tx1"/>
                </a:solidFill>
                <a:effectLst/>
                <a:latin typeface="Arial Unicode MS"/>
              </a:rPr>
              <a:t>.catch</a:t>
            </a:r>
            <a:r>
              <a:rPr kumimoji="0" lang="en-US" altLang="en-US" sz="1800" b="0" i="0" u="none" strike="noStrike" cap="none" normalizeH="0" baseline="0" dirty="0">
                <a:ln>
                  <a:noFill/>
                </a:ln>
                <a:solidFill>
                  <a:schemeClr val="tx1"/>
                </a:solidFill>
                <a:effectLst/>
              </a:rPr>
              <a:t>/</a:t>
            </a:r>
            <a:r>
              <a:rPr kumimoji="0" lang="en-US" altLang="en-US" sz="2400" b="0" i="0" u="none" strike="noStrike" cap="none" normalizeH="0" baseline="0" dirty="0">
                <a:ln>
                  <a:noFill/>
                </a:ln>
                <a:solidFill>
                  <a:schemeClr val="tx1"/>
                </a:solidFill>
                <a:effectLst/>
                <a:latin typeface="Arial Unicode MS"/>
              </a:rPr>
              <a:t>.finally</a:t>
            </a:r>
            <a:r>
              <a:rPr kumimoji="0" lang="en-US" altLang="en-US" sz="1800" b="0" i="0" u="none" strike="noStrike" cap="none" normalizeH="0" baseline="0" dirty="0">
                <a:ln>
                  <a:noFill/>
                </a:ln>
                <a:solidFill>
                  <a:schemeClr val="tx1"/>
                </a:solidFill>
                <a:effectLst/>
              </a:rPr>
              <a:t> are always asynchronous.</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0291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CDB44B-057E-4C1C-A9DB-1460FB6295A0}"/>
              </a:ext>
            </a:extLst>
          </p:cNvPr>
          <p:cNvPicPr>
            <a:picLocks noChangeAspect="1"/>
          </p:cNvPicPr>
          <p:nvPr/>
        </p:nvPicPr>
        <p:blipFill rotWithShape="1">
          <a:blip r:embed="rId2"/>
          <a:srcRect l="29192" t="31541" r="23468" b="33907"/>
          <a:stretch/>
        </p:blipFill>
        <p:spPr>
          <a:xfrm>
            <a:off x="0" y="1170038"/>
            <a:ext cx="5771536" cy="2369575"/>
          </a:xfrm>
          <a:prstGeom prst="rect">
            <a:avLst/>
          </a:prstGeom>
        </p:spPr>
      </p:pic>
      <p:sp>
        <p:nvSpPr>
          <p:cNvPr id="12" name="TextBox 11">
            <a:extLst>
              <a:ext uri="{FF2B5EF4-FFF2-40B4-BE49-F238E27FC236}">
                <a16:creationId xmlns:a16="http://schemas.microsoft.com/office/drawing/2014/main" id="{D54F79AB-1ED7-4084-AB9D-9270E202D363}"/>
              </a:ext>
            </a:extLst>
          </p:cNvPr>
          <p:cNvSpPr txBox="1"/>
          <p:nvPr/>
        </p:nvSpPr>
        <p:spPr>
          <a:xfrm>
            <a:off x="5633884" y="175395"/>
            <a:ext cx="6135328" cy="5632311"/>
          </a:xfrm>
          <a:prstGeom prst="rect">
            <a:avLst/>
          </a:prstGeom>
          <a:noFill/>
        </p:spPr>
        <p:txBody>
          <a:bodyPr wrap="square">
            <a:spAutoFit/>
          </a:bodyPr>
          <a:lstStyle/>
          <a:p>
            <a:r>
              <a:rPr lang="en-US" dirty="0"/>
              <a:t>Promise handlers always go through this internal queue.</a:t>
            </a:r>
          </a:p>
          <a:p>
            <a:endParaRPr lang="en-US" dirty="0"/>
          </a:p>
          <a:p>
            <a:r>
              <a:rPr lang="en-US" dirty="0"/>
              <a:t>If there’s a chain with multiple .then/catch/finally, then every one of them is executed asynchronously. That is, it first gets queued, then executed when the current code is complete and previously queued handlers are finished.</a:t>
            </a:r>
          </a:p>
          <a:p>
            <a:endParaRPr lang="en-US" dirty="0"/>
          </a:p>
          <a:p>
            <a:r>
              <a:rPr lang="en-US" dirty="0"/>
              <a:t>What if the order matters for us? How can we make code finished run after promise done?</a:t>
            </a:r>
          </a:p>
          <a:p>
            <a:endParaRPr lang="en-US" dirty="0"/>
          </a:p>
          <a:p>
            <a:r>
              <a:rPr lang="en-US" dirty="0"/>
              <a:t>Easy, just put it into the queue with .then:</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p>
          <a:p>
            <a:r>
              <a:rPr lang="en-US" b="0" dirty="0" err="1">
                <a:solidFill>
                  <a:srgbClr val="267F99"/>
                </a:solidFill>
                <a:effectLst/>
                <a:latin typeface="Consolas" panose="020B0609020204030204" pitchFamily="49" charset="0"/>
              </a:rPr>
              <a:t>promise</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resolve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"promise done!"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then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"code finished"</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endParaRPr lang="en-US" dirty="0"/>
          </a:p>
          <a:p>
            <a:r>
              <a:rPr lang="en-US" dirty="0"/>
              <a:t>Now the order is as intended.</a:t>
            </a:r>
            <a:endParaRPr lang="en-IN" dirty="0"/>
          </a:p>
        </p:txBody>
      </p:sp>
    </p:spTree>
    <p:extLst>
      <p:ext uri="{BB962C8B-B14F-4D97-AF65-F5344CB8AC3E}">
        <p14:creationId xmlns:p14="http://schemas.microsoft.com/office/powerpoint/2010/main" val="400231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EBC38-E6B8-4A35-BBA3-419CC553826E}"/>
              </a:ext>
            </a:extLst>
          </p:cNvPr>
          <p:cNvSpPr>
            <a:spLocks noGrp="1"/>
          </p:cNvSpPr>
          <p:nvPr>
            <p:ph idx="1"/>
          </p:nvPr>
        </p:nvSpPr>
        <p:spPr>
          <a:xfrm>
            <a:off x="176981" y="629265"/>
            <a:ext cx="11176819" cy="5547698"/>
          </a:xfrm>
        </p:spPr>
        <p:txBody>
          <a:bodyPr>
            <a:normAutofit/>
          </a:bodyPr>
          <a:lstStyle/>
          <a:p>
            <a:r>
              <a:rPr lang="en-US" dirty="0"/>
              <a:t>Remember the </a:t>
            </a:r>
            <a:r>
              <a:rPr lang="en-US" dirty="0" err="1"/>
              <a:t>unhandledrejection</a:t>
            </a:r>
            <a:r>
              <a:rPr lang="en-US" dirty="0"/>
              <a:t> event from the article Error handling with promises?</a:t>
            </a:r>
          </a:p>
          <a:p>
            <a:r>
              <a:rPr lang="en-US" dirty="0"/>
              <a:t>Now we can see exactly how JavaScript finds out that there was an unhandled rejection.</a:t>
            </a:r>
          </a:p>
          <a:p>
            <a:r>
              <a:rPr lang="en-US" dirty="0"/>
              <a:t>An “unhandled rejection” occurs when a promise error is not handled at the end of the microtask queue.</a:t>
            </a:r>
          </a:p>
          <a:p>
            <a:r>
              <a:rPr lang="en-US" dirty="0"/>
              <a:t>Normally, if we expect an error, we add .catch to the promise chain to handle it:</a:t>
            </a:r>
          </a:p>
          <a:p>
            <a:pPr marL="0" indent="0">
              <a:buNone/>
            </a:pPr>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promise</a:t>
            </a:r>
            <a:r>
              <a:rPr lang="en-IN" sz="1600" b="0" dirty="0">
                <a:solidFill>
                  <a:srgbClr val="000000"/>
                </a:solidFill>
                <a:effectLst/>
                <a:latin typeface="Consolas" panose="020B0609020204030204" pitchFamily="49" charset="0"/>
              </a:rPr>
              <a:t> = </a:t>
            </a:r>
            <a:r>
              <a:rPr lang="en-IN" sz="1600" b="0" dirty="0" err="1">
                <a:solidFill>
                  <a:srgbClr val="267F99"/>
                </a:solidFill>
                <a:effectLst/>
                <a:latin typeface="Consolas" panose="020B0609020204030204" pitchFamily="49" charset="0"/>
              </a:rPr>
              <a:t>Promise</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reject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Error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"Promise Failed!"</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promise</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catch</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err</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alert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'caught'</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r>
              <a:rPr lang="en-IN" sz="1600" b="0" dirty="0">
                <a:solidFill>
                  <a:srgbClr val="008000"/>
                </a:solidFill>
                <a:effectLst/>
                <a:latin typeface="Consolas" panose="020B0609020204030204" pitchFamily="49" charset="0"/>
              </a:rPr>
              <a:t>// doesn't run: error handled</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window</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addEventListener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unhandledrejection</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event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alert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event</a:t>
            </a:r>
            <a:r>
              <a:rPr lang="en-IN" sz="1600" b="0" dirty="0" err="1">
                <a:solidFill>
                  <a:srgbClr val="000000"/>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reason</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p>
          <a:p>
            <a:endParaRPr lang="en-US" dirty="0"/>
          </a:p>
        </p:txBody>
      </p:sp>
      <p:sp>
        <p:nvSpPr>
          <p:cNvPr id="5" name="TextBox 4">
            <a:extLst>
              <a:ext uri="{FF2B5EF4-FFF2-40B4-BE49-F238E27FC236}">
                <a16:creationId xmlns:a16="http://schemas.microsoft.com/office/drawing/2014/main" id="{BE25F3BF-692B-489A-A4E1-3B8EE0AC455B}"/>
              </a:ext>
            </a:extLst>
          </p:cNvPr>
          <p:cNvSpPr txBox="1"/>
          <p:nvPr/>
        </p:nvSpPr>
        <p:spPr>
          <a:xfrm>
            <a:off x="3205316" y="80806"/>
            <a:ext cx="3087329" cy="400110"/>
          </a:xfrm>
          <a:prstGeom prst="rect">
            <a:avLst/>
          </a:prstGeom>
          <a:noFill/>
        </p:spPr>
        <p:txBody>
          <a:bodyPr wrap="square">
            <a:spAutoFit/>
          </a:bodyPr>
          <a:lstStyle/>
          <a:p>
            <a:r>
              <a:rPr lang="en-US" sz="2000" b="1" dirty="0"/>
              <a:t>Unhandled rejection</a:t>
            </a:r>
          </a:p>
        </p:txBody>
      </p:sp>
    </p:spTree>
    <p:extLst>
      <p:ext uri="{BB962C8B-B14F-4D97-AF65-F5344CB8AC3E}">
        <p14:creationId xmlns:p14="http://schemas.microsoft.com/office/powerpoint/2010/main" val="2104977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ABB8BB-BEB4-46C8-B5A8-A3B3BD42876B}"/>
              </a:ext>
            </a:extLst>
          </p:cNvPr>
          <p:cNvSpPr>
            <a:spLocks noGrp="1"/>
          </p:cNvSpPr>
          <p:nvPr>
            <p:ph idx="1"/>
          </p:nvPr>
        </p:nvSpPr>
        <p:spPr>
          <a:xfrm>
            <a:off x="855407" y="0"/>
            <a:ext cx="11029335" cy="5636189"/>
          </a:xfrm>
        </p:spPr>
        <p:txBody>
          <a:bodyPr>
            <a:normAutofit fontScale="70000" lnSpcReduction="20000"/>
          </a:bodyPr>
          <a:lstStyle/>
          <a:p>
            <a:r>
              <a:rPr lang="en-US" dirty="0"/>
              <a:t>But if we forget to add .catch, then, after the microtask queue is empty, the engine triggers the event:</a:t>
            </a:r>
          </a:p>
          <a:p>
            <a:pPr marL="0" indent="0">
              <a:buNone/>
            </a:pPr>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promise</a:t>
            </a:r>
            <a:r>
              <a:rPr lang="en-IN" sz="1600" b="0" dirty="0">
                <a:solidFill>
                  <a:srgbClr val="000000"/>
                </a:solidFill>
                <a:effectLst/>
                <a:latin typeface="Consolas" panose="020B0609020204030204" pitchFamily="49" charset="0"/>
              </a:rPr>
              <a:t> = </a:t>
            </a:r>
            <a:r>
              <a:rPr lang="en-IN" sz="1600" b="0" dirty="0" err="1">
                <a:solidFill>
                  <a:srgbClr val="267F99"/>
                </a:solidFill>
                <a:effectLst/>
                <a:latin typeface="Consolas" panose="020B0609020204030204" pitchFamily="49" charset="0"/>
              </a:rPr>
              <a:t>Promise</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reject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Error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"Promise Failed!"</a:t>
            </a:r>
            <a:r>
              <a:rPr lang="en-IN" sz="1600" b="0" dirty="0">
                <a:solidFill>
                  <a:srgbClr val="000000"/>
                </a:solidFill>
                <a:effectLst/>
                <a:latin typeface="Consolas" panose="020B0609020204030204" pitchFamily="49" charset="0"/>
              </a:rPr>
              <a:t>));</a:t>
            </a:r>
          </a:p>
          <a:p>
            <a:pPr marL="0" indent="0">
              <a:buNone/>
            </a:pPr>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r>
              <a:rPr lang="en-IN" sz="1600" b="0" dirty="0">
                <a:solidFill>
                  <a:srgbClr val="008000"/>
                </a:solidFill>
                <a:effectLst/>
                <a:latin typeface="Consolas" panose="020B0609020204030204" pitchFamily="49" charset="0"/>
              </a:rPr>
              <a:t>// Promise Failed!</a:t>
            </a:r>
            <a:endParaRPr lang="en-IN" sz="1600" b="0" dirty="0">
              <a:solidFill>
                <a:srgbClr val="000000"/>
              </a:solidFill>
              <a:effectLst/>
              <a:latin typeface="Consolas" panose="020B0609020204030204" pitchFamily="49" charset="0"/>
            </a:endParaRPr>
          </a:p>
          <a:p>
            <a:pPr marL="0" indent="0">
              <a:buNone/>
            </a:pP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window</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addEventListener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unhandledrejection</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event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alert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event</a:t>
            </a:r>
            <a:r>
              <a:rPr lang="en-IN" sz="1600" b="0" dirty="0" err="1">
                <a:solidFill>
                  <a:srgbClr val="000000"/>
                </a:solidFill>
                <a:effectLst/>
                <a:latin typeface="Consolas" panose="020B0609020204030204" pitchFamily="49" charset="0"/>
              </a:rPr>
              <a:t>.</a:t>
            </a:r>
            <a:r>
              <a:rPr lang="en-IN" sz="1600" b="0" dirty="0" err="1">
                <a:solidFill>
                  <a:srgbClr val="0070C1"/>
                </a:solidFill>
                <a:effectLst/>
                <a:latin typeface="Consolas" panose="020B0609020204030204" pitchFamily="49" charset="0"/>
              </a:rPr>
              <a:t>reason</a:t>
            </a:r>
            <a:r>
              <a:rPr lang="en-IN" sz="1600"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sz="1900" b="0" dirty="0">
                <a:effectLst/>
                <a:latin typeface="Consolas" panose="020B0609020204030204" pitchFamily="49" charset="0"/>
              </a:rPr>
              <a:t>What if we handle the error later? Like this:</a:t>
            </a:r>
          </a:p>
          <a:p>
            <a:pPr marL="0" indent="0">
              <a:buNone/>
            </a:pPr>
            <a:br>
              <a:rPr lang="en-IN" sz="1050" b="0" dirty="0">
                <a:effectLst/>
                <a:latin typeface="Consolas" panose="020B0609020204030204" pitchFamily="49" charset="0"/>
              </a:rPr>
            </a:b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promise</a:t>
            </a:r>
            <a:r>
              <a:rPr lang="en-IN" sz="1400" b="0" dirty="0">
                <a:solidFill>
                  <a:srgbClr val="000000"/>
                </a:solidFill>
                <a:effectLst/>
                <a:latin typeface="Consolas" panose="020B0609020204030204" pitchFamily="49" charset="0"/>
              </a:rPr>
              <a:t> = </a:t>
            </a:r>
            <a:r>
              <a:rPr lang="en-IN" sz="1400" b="0" dirty="0" err="1">
                <a:solidFill>
                  <a:srgbClr val="267F99"/>
                </a:solidFill>
                <a:effectLst/>
                <a:latin typeface="Consolas" panose="020B0609020204030204" pitchFamily="49" charset="0"/>
              </a:rPr>
              <a:t>Promise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reject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"Promise Failed!"</a:t>
            </a:r>
            <a:r>
              <a:rPr lang="en-IN" sz="1400" b="0" dirty="0">
                <a:solidFill>
                  <a:srgbClr val="000000"/>
                </a:solidFill>
                <a:effectLst/>
                <a:latin typeface="Consolas" panose="020B0609020204030204" pitchFamily="49" charset="0"/>
              </a:rPr>
              <a:t>));</a:t>
            </a:r>
          </a:p>
          <a:p>
            <a:pPr marL="0" indent="0">
              <a:buNone/>
            </a:pPr>
            <a:r>
              <a:rPr lang="en-IN" sz="1400" b="0" dirty="0" err="1">
                <a:solidFill>
                  <a:srgbClr val="795E26"/>
                </a:solidFill>
                <a:effectLst/>
                <a:latin typeface="Consolas" panose="020B0609020204030204" pitchFamily="49" charset="0"/>
              </a:rPr>
              <a:t>setTimeout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promise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err</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'caught'</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1000</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Error: Promise Failed!</a:t>
            </a: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window</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addEventListener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unhandledrejection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event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event</a:t>
            </a:r>
            <a:r>
              <a:rPr lang="en-IN" sz="1400" b="0" dirty="0" err="1">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reason</a:t>
            </a:r>
            <a:r>
              <a:rPr lang="en-IN" sz="1400" b="0" dirty="0">
                <a:solidFill>
                  <a:srgbClr val="000000"/>
                </a:solidFill>
                <a:effectLst/>
                <a:latin typeface="Consolas" panose="020B0609020204030204" pitchFamily="49" charset="0"/>
              </a:rPr>
              <a:t>));</a:t>
            </a:r>
          </a:p>
          <a:p>
            <a:r>
              <a:rPr lang="en-US" dirty="0"/>
              <a:t>Now, if we run it, we’ll see Promise Failed! first and then caught.</a:t>
            </a:r>
          </a:p>
          <a:p>
            <a:r>
              <a:rPr lang="en-US" dirty="0"/>
              <a:t>If we didn’t know about the microtasks queue, we could wonder: “Why did </a:t>
            </a:r>
            <a:r>
              <a:rPr lang="en-US" dirty="0" err="1"/>
              <a:t>unhandledrejection</a:t>
            </a:r>
            <a:r>
              <a:rPr lang="en-US" dirty="0"/>
              <a:t> handler run? We did catch and handle the error!”</a:t>
            </a:r>
          </a:p>
          <a:p>
            <a:endParaRPr lang="en-US" dirty="0"/>
          </a:p>
          <a:p>
            <a:r>
              <a:rPr lang="en-US" dirty="0"/>
              <a:t>But now we understand that </a:t>
            </a:r>
            <a:r>
              <a:rPr lang="en-US" dirty="0" err="1"/>
              <a:t>unhandledrejection</a:t>
            </a:r>
            <a:r>
              <a:rPr lang="en-US" dirty="0"/>
              <a:t> is generated when the microtask queue is complete: the engine examines promises and, if any of them is in the “rejected” state, then the event triggers.</a:t>
            </a:r>
          </a:p>
          <a:p>
            <a:endParaRPr lang="en-US" dirty="0"/>
          </a:p>
          <a:p>
            <a:r>
              <a:rPr lang="en-US" dirty="0"/>
              <a:t>In the example above, .catch added by </a:t>
            </a:r>
            <a:r>
              <a:rPr lang="en-US" dirty="0" err="1"/>
              <a:t>setTimeout</a:t>
            </a:r>
            <a:r>
              <a:rPr lang="en-US" dirty="0"/>
              <a:t> also triggers. But it does so later, after </a:t>
            </a:r>
            <a:r>
              <a:rPr lang="en-US" dirty="0" err="1"/>
              <a:t>unhandledrejection</a:t>
            </a:r>
            <a:r>
              <a:rPr lang="en-US" dirty="0"/>
              <a:t> has already occurred, so it doesn’t change anything.</a:t>
            </a:r>
            <a:endParaRPr lang="en-IN" dirty="0"/>
          </a:p>
        </p:txBody>
      </p:sp>
    </p:spTree>
    <p:extLst>
      <p:ext uri="{BB962C8B-B14F-4D97-AF65-F5344CB8AC3E}">
        <p14:creationId xmlns:p14="http://schemas.microsoft.com/office/powerpoint/2010/main" val="4142452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E8DE5-9FC5-4994-A30E-FF7295D59121}"/>
              </a:ext>
            </a:extLst>
          </p:cNvPr>
          <p:cNvSpPr>
            <a:spLocks noGrp="1"/>
          </p:cNvSpPr>
          <p:nvPr>
            <p:ph idx="1"/>
          </p:nvPr>
        </p:nvSpPr>
        <p:spPr>
          <a:xfrm>
            <a:off x="383458" y="717755"/>
            <a:ext cx="10970342" cy="5459208"/>
          </a:xfrm>
        </p:spPr>
        <p:txBody>
          <a:bodyPr>
            <a:normAutofit lnSpcReduction="10000"/>
          </a:bodyPr>
          <a:lstStyle/>
          <a:p>
            <a:r>
              <a:rPr lang="en-US" dirty="0"/>
              <a:t>Promise handling is always asynchronous, as all promise actions pass through the internal “promise jobs” queue, also called “microtask queue” (V8 term).</a:t>
            </a:r>
          </a:p>
          <a:p>
            <a:endParaRPr lang="en-US" dirty="0"/>
          </a:p>
          <a:p>
            <a:r>
              <a:rPr lang="en-US" dirty="0"/>
              <a:t>So .then/catch/finally handlers are always called after the current code is finished.</a:t>
            </a:r>
          </a:p>
          <a:p>
            <a:endParaRPr lang="en-US" dirty="0"/>
          </a:p>
          <a:p>
            <a:r>
              <a:rPr lang="en-US" dirty="0"/>
              <a:t>If we need to guarantee that a piece of code is executed after .then/catch/finally, we can add it into a chained .then call.</a:t>
            </a:r>
          </a:p>
          <a:p>
            <a:endParaRPr lang="en-US" dirty="0"/>
          </a:p>
          <a:p>
            <a:r>
              <a:rPr lang="en-US" dirty="0"/>
              <a:t>In most </a:t>
            </a:r>
            <a:r>
              <a:rPr lang="en-US" dirty="0" err="1"/>
              <a:t>Javascript</a:t>
            </a:r>
            <a:r>
              <a:rPr lang="en-US" dirty="0"/>
              <a:t> engines, including browsers and Node.js, the concept of microtasks is closely tied with the “event loop” and “</a:t>
            </a:r>
            <a:r>
              <a:rPr lang="en-US" dirty="0" err="1"/>
              <a:t>macrotasks</a:t>
            </a:r>
            <a:r>
              <a:rPr lang="en-US" dirty="0"/>
              <a:t>”.</a:t>
            </a:r>
            <a:endParaRPr lang="en-IN" dirty="0"/>
          </a:p>
        </p:txBody>
      </p:sp>
    </p:spTree>
    <p:extLst>
      <p:ext uri="{BB962C8B-B14F-4D97-AF65-F5344CB8AC3E}">
        <p14:creationId xmlns:p14="http://schemas.microsoft.com/office/powerpoint/2010/main" val="420123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1069</TotalTime>
  <Words>3104</Words>
  <Application>Microsoft Office PowerPoint</Application>
  <PresentationFormat>Widescreen</PresentationFormat>
  <Paragraphs>263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Unicode MS</vt:lpstr>
      <vt:lpstr>Calibri</vt:lpstr>
      <vt:lpstr>Calibri Light</vt:lpstr>
      <vt:lpstr>Cambria</vt:lpstr>
      <vt:lpstr>Consolas</vt:lpstr>
      <vt:lpstr>Office Theme</vt:lpstr>
      <vt:lpstr>PowerPoint Presentation</vt:lpstr>
      <vt:lpstr>PowerPoint Presentation</vt:lpstr>
      <vt:lpstr>PowerPoint Presentation</vt:lpstr>
      <vt:lpstr>Use-case 1: splitting CPU-hungry tasks</vt:lpstr>
      <vt:lpstr>Let’s split the job using nested setTimeout calls:</vt:lpstr>
      <vt:lpstr>To make them closer, let’s make an improvement. We’ll move the scheduling to the beginning of the count():</vt:lpstr>
      <vt:lpstr>Use case 2: progress indication</vt:lpstr>
      <vt:lpstr>Macrotasks and Microtasks</vt:lpstr>
      <vt:lpstr>PowerPoint Presentation</vt:lpstr>
      <vt:lpstr>PowerPoint Presentation</vt:lpstr>
      <vt:lpstr>PowerPoint Presentation</vt:lpstr>
      <vt:lpstr>Microtasks Promise handlers .then/.catch/.finally are always asynchronous.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140</cp:revision>
  <dcterms:created xsi:type="dcterms:W3CDTF">2020-12-02T06:26:25Z</dcterms:created>
  <dcterms:modified xsi:type="dcterms:W3CDTF">2024-01-11T13:10:03Z</dcterms:modified>
</cp:coreProperties>
</file>