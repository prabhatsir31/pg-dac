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70" r:id="rId2"/>
    <p:sldId id="256" r:id="rId3"/>
    <p:sldId id="274" r:id="rId4"/>
    <p:sldId id="257" r:id="rId5"/>
    <p:sldId id="258" r:id="rId6"/>
    <p:sldId id="267" r:id="rId7"/>
    <p:sldId id="268" r:id="rId8"/>
    <p:sldId id="260" r:id="rId9"/>
    <p:sldId id="261" r:id="rId10"/>
    <p:sldId id="271" r:id="rId11"/>
    <p:sldId id="272" r:id="rId12"/>
    <p:sldId id="275" r:id="rId13"/>
    <p:sldId id="276" r:id="rId14"/>
    <p:sldId id="277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1450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A8A7FE-791D-48A6-A80F-AA82BE2E5515}" type="datetimeFigureOut">
              <a:rPr lang="en-US" smtClean="0"/>
              <a:pPr/>
              <a:t>6/10/2024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186412-1858-4EF5-B2A3-B9EABA3DB8D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285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186412-1858-4EF5-B2A3-B9EABA3DB8D0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0898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FB919-AE61-478B-A464-49FB6099A7C5}" type="datetimeFigureOut">
              <a:rPr lang="en-US" smtClean="0"/>
              <a:pPr/>
              <a:t>6/10/2024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8D0DE-4264-4CAB-9E09-A40B90B74A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FB919-AE61-478B-A464-49FB6099A7C5}" type="datetimeFigureOut">
              <a:rPr lang="en-US" smtClean="0"/>
              <a:pPr/>
              <a:t>6/10/2024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8D0DE-4264-4CAB-9E09-A40B90B74A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FB919-AE61-478B-A464-49FB6099A7C5}" type="datetimeFigureOut">
              <a:rPr lang="en-US" smtClean="0"/>
              <a:pPr/>
              <a:t>6/10/2024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8D0DE-4264-4CAB-9E09-A40B90B74A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FB919-AE61-478B-A464-49FB6099A7C5}" type="datetimeFigureOut">
              <a:rPr lang="en-US" smtClean="0"/>
              <a:pPr/>
              <a:t>6/10/2024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8D0DE-4264-4CAB-9E09-A40B90B74A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FB919-AE61-478B-A464-49FB6099A7C5}" type="datetimeFigureOut">
              <a:rPr lang="en-US" smtClean="0"/>
              <a:pPr/>
              <a:t>6/10/2024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8D0DE-4264-4CAB-9E09-A40B90B74A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FB919-AE61-478B-A464-49FB6099A7C5}" type="datetimeFigureOut">
              <a:rPr lang="en-US" smtClean="0"/>
              <a:pPr/>
              <a:t>6/10/2024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8D0DE-4264-4CAB-9E09-A40B90B74A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FB919-AE61-478B-A464-49FB6099A7C5}" type="datetimeFigureOut">
              <a:rPr lang="en-US" smtClean="0"/>
              <a:pPr/>
              <a:t>6/10/2024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8D0DE-4264-4CAB-9E09-A40B90B74A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FB919-AE61-478B-A464-49FB6099A7C5}" type="datetimeFigureOut">
              <a:rPr lang="en-US" smtClean="0"/>
              <a:pPr/>
              <a:t>6/10/2024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8D0DE-4264-4CAB-9E09-A40B90B74A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FB919-AE61-478B-A464-49FB6099A7C5}" type="datetimeFigureOut">
              <a:rPr lang="en-US" smtClean="0"/>
              <a:pPr/>
              <a:t>6/10/2024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8D0DE-4264-4CAB-9E09-A40B90B74A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FB919-AE61-478B-A464-49FB6099A7C5}" type="datetimeFigureOut">
              <a:rPr lang="en-US" smtClean="0"/>
              <a:pPr/>
              <a:t>6/10/2024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8D0DE-4264-4CAB-9E09-A40B90B74A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FB919-AE61-478B-A464-49FB6099A7C5}" type="datetimeFigureOut">
              <a:rPr lang="en-US" smtClean="0"/>
              <a:pPr/>
              <a:t>6/10/2024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8D0DE-4264-4CAB-9E09-A40B90B74A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BFB919-AE61-478B-A464-49FB6099A7C5}" type="datetimeFigureOut">
              <a:rPr lang="en-US" smtClean="0"/>
              <a:pPr/>
              <a:t>6/10/2024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28D0DE-4264-4CAB-9E09-A40B90B74A6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idyanidhi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javascript.crockford.com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ecma-international.org/publications/files/ecma-st/ECMA-262.pdf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DDFEADA-E901-4302-A497-05D33C2B2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304800"/>
            <a:ext cx="8458200" cy="6324600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>
                <a:hlinkClick r:id="rId2"/>
              </a:rPr>
              <a:t>http://www.vidyanidhi.com/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ketkiacharya.net@gmail.com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8DE8A8E-ED85-4B70-916D-ED56E0E40BBC}"/>
              </a:ext>
            </a:extLst>
          </p:cNvPr>
          <p:cNvSpPr txBox="1"/>
          <p:nvPr/>
        </p:nvSpPr>
        <p:spPr>
          <a:xfrm>
            <a:off x="762000" y="4724400"/>
            <a:ext cx="4419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 err="1"/>
              <a:t>Ketki</a:t>
            </a:r>
            <a:r>
              <a:rPr lang="en-IN" sz="2000" dirty="0"/>
              <a:t> Acharya</a:t>
            </a:r>
          </a:p>
          <a:p>
            <a:r>
              <a:rPr lang="en-IN" sz="2000" dirty="0"/>
              <a:t>From: SM VITA ATC of CDAC</a:t>
            </a:r>
          </a:p>
          <a:p>
            <a:r>
              <a:rPr lang="en-IN" sz="2000" dirty="0"/>
              <a:t>9769201036</a:t>
            </a:r>
          </a:p>
          <a:p>
            <a:r>
              <a:rPr lang="en-IN" sz="2000" dirty="0"/>
              <a:t>ketkiacharya.net@gmail.com</a:t>
            </a:r>
          </a:p>
        </p:txBody>
      </p:sp>
    </p:spTree>
    <p:extLst>
      <p:ext uri="{BB962C8B-B14F-4D97-AF65-F5344CB8AC3E}">
        <p14:creationId xmlns:p14="http://schemas.microsoft.com/office/powerpoint/2010/main" val="629767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>
                <a:solidFill>
                  <a:srgbClr val="FF0000"/>
                </a:solidFill>
              </a:rPr>
              <a:t>Javascript</a:t>
            </a:r>
            <a:r>
              <a:rPr lang="en-US" dirty="0">
                <a:solidFill>
                  <a:srgbClr val="FF0000"/>
                </a:solidFill>
              </a:rPr>
              <a:t>  Script Object  Notation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9166C2D-5E5E-48E3-B1B8-87A5526C0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JSON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5C146E7-4020-4DB6-9DD1-0C9A3C65D0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en-US" b="1" dirty="0"/>
          </a:p>
          <a:p>
            <a:r>
              <a:rPr lang="en-US" dirty="0"/>
              <a:t>JSON: </a:t>
            </a:r>
            <a:r>
              <a:rPr lang="en-US" b="1" dirty="0"/>
              <a:t>J</a:t>
            </a:r>
            <a:r>
              <a:rPr lang="en-US" dirty="0"/>
              <a:t>ava</a:t>
            </a:r>
            <a:r>
              <a:rPr lang="en-US" b="1" dirty="0"/>
              <a:t>S</a:t>
            </a:r>
            <a:r>
              <a:rPr lang="en-US" dirty="0"/>
              <a:t>cript </a:t>
            </a:r>
            <a:r>
              <a:rPr lang="en-US" b="1" dirty="0"/>
              <a:t>O</a:t>
            </a:r>
            <a:r>
              <a:rPr lang="en-US" dirty="0"/>
              <a:t>bject </a:t>
            </a:r>
            <a:r>
              <a:rPr lang="en-US" b="1" dirty="0"/>
              <a:t>N</a:t>
            </a:r>
            <a:r>
              <a:rPr lang="en-US" dirty="0"/>
              <a:t>otation.</a:t>
            </a:r>
          </a:p>
          <a:p>
            <a:r>
              <a:rPr lang="en-US" dirty="0"/>
              <a:t>JSON is a syntax for storing and exchanging data.</a:t>
            </a:r>
          </a:p>
          <a:p>
            <a:r>
              <a:rPr lang="en-US" dirty="0"/>
              <a:t>JSON is text, written with JavaScript object notation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JSON is a lightweight data-interchange format</a:t>
            </a:r>
          </a:p>
          <a:p>
            <a:r>
              <a:rPr lang="en-US" dirty="0"/>
              <a:t>JSON is "self-describing" and easy to understand</a:t>
            </a:r>
          </a:p>
          <a:p>
            <a:r>
              <a:rPr lang="en-US" dirty="0"/>
              <a:t>JSON is language independent *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2131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143000"/>
            <a:ext cx="8534400" cy="5364163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000" dirty="0"/>
              <a:t>It is a lightweight data-interchange format.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000" dirty="0"/>
              <a:t> It is easy for humans to read and write.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000" dirty="0"/>
              <a:t>It is easy for machines to parse and generate.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000" dirty="0"/>
              <a:t> It is based on a subset of the </a:t>
            </a:r>
            <a:r>
              <a:rPr lang="en-US" sz="2000" dirty="0">
                <a:hlinkClick r:id="rId3"/>
              </a:rPr>
              <a:t>JavaScript Programming Language</a:t>
            </a:r>
            <a:r>
              <a:rPr lang="en-US" sz="2000" dirty="0"/>
              <a:t>, </a:t>
            </a:r>
            <a:r>
              <a:rPr lang="en-US" sz="2000" dirty="0">
                <a:hlinkClick r:id="rId4"/>
              </a:rPr>
              <a:t>Standard ECMA-262 3rd Edition - December 1999</a:t>
            </a:r>
            <a:r>
              <a:rPr lang="en-US" sz="2000" dirty="0"/>
              <a:t>.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000" dirty="0"/>
              <a:t>JSON is a text format that is completely language independent but uses conventions that are familiar to programmers of the C-family of languages, including C, C++, C#, Java, JavaScript, Perl, Python, and many others.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000" dirty="0"/>
              <a:t>These properties make JSON an ideal data-interchange language.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4D8E9F0-2252-4ED7-9925-43AF417DC9AA}"/>
              </a:ext>
            </a:extLst>
          </p:cNvPr>
          <p:cNvSpPr txBox="1"/>
          <p:nvPr/>
        </p:nvSpPr>
        <p:spPr>
          <a:xfrm>
            <a:off x="2438400" y="152400"/>
            <a:ext cx="449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Why JSON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JSON is built on two structures: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>
            <a:normAutofit/>
          </a:bodyPr>
          <a:lstStyle/>
          <a:p>
            <a:pPr lvl="0"/>
            <a:r>
              <a:rPr lang="en-US" sz="2000" dirty="0"/>
              <a:t>A collection of name/value pairs.</a:t>
            </a:r>
          </a:p>
          <a:p>
            <a:pPr lvl="0"/>
            <a:r>
              <a:rPr lang="en-US" sz="2000" dirty="0"/>
              <a:t> In various languages, this is realized as an </a:t>
            </a:r>
            <a:r>
              <a:rPr lang="en-US" sz="2000" i="1" dirty="0"/>
              <a:t>object</a:t>
            </a:r>
            <a:r>
              <a:rPr lang="en-US" sz="2000" dirty="0"/>
              <a:t>, record, struct, dictionary, hash table, keyed list, or associative array. </a:t>
            </a:r>
          </a:p>
          <a:p>
            <a:r>
              <a:rPr lang="en-US" sz="2000" dirty="0"/>
              <a:t>An ordered list of values. </a:t>
            </a:r>
          </a:p>
          <a:p>
            <a:r>
              <a:rPr lang="en-US" sz="2000" dirty="0"/>
              <a:t>In most languages, this is realized as an </a:t>
            </a:r>
            <a:r>
              <a:rPr lang="en-US" sz="2000" i="1" dirty="0"/>
              <a:t>array</a:t>
            </a:r>
            <a:r>
              <a:rPr lang="en-US" sz="2000" dirty="0"/>
              <a:t>, vector, list, or sequence</a:t>
            </a:r>
          </a:p>
          <a:p>
            <a:r>
              <a:rPr lang="en-US" sz="2000" dirty="0"/>
              <a:t>These are universal data structures.</a:t>
            </a:r>
          </a:p>
          <a:p>
            <a:r>
              <a:rPr lang="en-US" sz="2000" dirty="0"/>
              <a:t> Virtually all modern programming languages support them in one form or another. </a:t>
            </a:r>
          </a:p>
          <a:p>
            <a:r>
              <a:rPr lang="en-US" sz="2000" dirty="0"/>
              <a:t>It makes sense that a data format that is interchangeable with programming languages also be based on these structures.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8686800" cy="6858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dirty="0">
                <a:latin typeface="Tahoma" pitchFamily="34" charset="0"/>
                <a:cs typeface="Tahoma" pitchFamily="34" charset="0"/>
              </a:rPr>
              <a:t>Much Like XML</a:t>
            </a:r>
          </a:p>
          <a:p>
            <a:pPr>
              <a:buNone/>
            </a:pPr>
            <a:r>
              <a:rPr lang="en-US" sz="2400" dirty="0">
                <a:latin typeface="Tahoma" pitchFamily="34" charset="0"/>
                <a:cs typeface="Tahoma" pitchFamily="34" charset="0"/>
              </a:rPr>
              <a:t>    JSON is plain text</a:t>
            </a:r>
          </a:p>
          <a:p>
            <a:pPr>
              <a:buNone/>
            </a:pPr>
            <a:r>
              <a:rPr lang="en-US" sz="2400" dirty="0">
                <a:latin typeface="Tahoma" pitchFamily="34" charset="0"/>
                <a:cs typeface="Tahoma" pitchFamily="34" charset="0"/>
              </a:rPr>
              <a:t>    JSON is "self-describing" (human readable)</a:t>
            </a:r>
          </a:p>
          <a:p>
            <a:pPr>
              <a:buNone/>
            </a:pPr>
            <a:r>
              <a:rPr lang="en-US" sz="2400" dirty="0">
                <a:latin typeface="Tahoma" pitchFamily="34" charset="0"/>
                <a:cs typeface="Tahoma" pitchFamily="34" charset="0"/>
              </a:rPr>
              <a:t>    JSON is hierarchical (values within values)</a:t>
            </a:r>
          </a:p>
          <a:p>
            <a:pPr>
              <a:buNone/>
            </a:pPr>
            <a:r>
              <a:rPr lang="en-US" sz="2400" dirty="0">
                <a:latin typeface="Tahoma" pitchFamily="34" charset="0"/>
                <a:cs typeface="Tahoma" pitchFamily="34" charset="0"/>
              </a:rPr>
              <a:t>    JSON can be parsed by JavaScript</a:t>
            </a:r>
          </a:p>
          <a:p>
            <a:pPr>
              <a:buNone/>
            </a:pPr>
            <a:r>
              <a:rPr lang="en-US" sz="2400" dirty="0">
                <a:latin typeface="Tahoma" pitchFamily="34" charset="0"/>
                <a:cs typeface="Tahoma" pitchFamily="34" charset="0"/>
              </a:rPr>
              <a:t>    JSON data can be transported using AJAX</a:t>
            </a:r>
          </a:p>
          <a:p>
            <a:pPr>
              <a:buNone/>
            </a:pPr>
            <a:endParaRPr lang="en-US" sz="2400" dirty="0">
              <a:latin typeface="Tahoma" pitchFamily="34" charset="0"/>
              <a:cs typeface="Tahoma" pitchFamily="34" charset="0"/>
            </a:endParaRPr>
          </a:p>
          <a:p>
            <a:pPr>
              <a:buNone/>
            </a:pPr>
            <a:r>
              <a:rPr lang="en-US" sz="2400" dirty="0">
                <a:latin typeface="Tahoma" pitchFamily="34" charset="0"/>
                <a:cs typeface="Tahoma" pitchFamily="34" charset="0"/>
              </a:rPr>
              <a:t>Much Unlike XML</a:t>
            </a:r>
          </a:p>
          <a:p>
            <a:pPr>
              <a:buNone/>
            </a:pPr>
            <a:r>
              <a:rPr lang="en-US" sz="2400" dirty="0">
                <a:latin typeface="Tahoma" pitchFamily="34" charset="0"/>
                <a:cs typeface="Tahoma" pitchFamily="34" charset="0"/>
              </a:rPr>
              <a:t>    No end tag</a:t>
            </a:r>
          </a:p>
          <a:p>
            <a:pPr>
              <a:buNone/>
            </a:pPr>
            <a:r>
              <a:rPr lang="en-US" sz="2400" dirty="0">
                <a:latin typeface="Tahoma" pitchFamily="34" charset="0"/>
                <a:cs typeface="Tahoma" pitchFamily="34" charset="0"/>
              </a:rPr>
              <a:t>    Shorter</a:t>
            </a:r>
          </a:p>
          <a:p>
            <a:pPr>
              <a:buNone/>
            </a:pPr>
            <a:r>
              <a:rPr lang="en-US" sz="2400" dirty="0">
                <a:latin typeface="Tahoma" pitchFamily="34" charset="0"/>
                <a:cs typeface="Tahoma" pitchFamily="34" charset="0"/>
              </a:rPr>
              <a:t>    Quicker to read and write</a:t>
            </a:r>
          </a:p>
          <a:p>
            <a:pPr>
              <a:buNone/>
            </a:pPr>
            <a:r>
              <a:rPr lang="en-US" sz="2400" dirty="0">
                <a:latin typeface="Tahoma" pitchFamily="34" charset="0"/>
                <a:cs typeface="Tahoma" pitchFamily="34" charset="0"/>
              </a:rPr>
              <a:t>    Can be parsed using built-in JavaScript </a:t>
            </a:r>
            <a:r>
              <a:rPr lang="en-US" sz="2400" dirty="0" err="1">
                <a:latin typeface="Tahoma" pitchFamily="34" charset="0"/>
                <a:cs typeface="Tahoma" pitchFamily="34" charset="0"/>
              </a:rPr>
              <a:t>eval</a:t>
            </a:r>
            <a:r>
              <a:rPr lang="en-US" sz="2400" dirty="0">
                <a:latin typeface="Tahoma" pitchFamily="34" charset="0"/>
                <a:cs typeface="Tahoma" pitchFamily="34" charset="0"/>
              </a:rPr>
              <a:t>()</a:t>
            </a:r>
          </a:p>
          <a:p>
            <a:pPr>
              <a:buNone/>
            </a:pPr>
            <a:r>
              <a:rPr lang="en-US" sz="2400" dirty="0">
                <a:latin typeface="Tahoma" pitchFamily="34" charset="0"/>
                <a:cs typeface="Tahoma" pitchFamily="34" charset="0"/>
              </a:rPr>
              <a:t>    Uses arrays</a:t>
            </a:r>
          </a:p>
          <a:p>
            <a:pPr>
              <a:buNone/>
            </a:pPr>
            <a:r>
              <a:rPr lang="en-US" sz="2400" dirty="0">
                <a:latin typeface="Tahoma" pitchFamily="34" charset="0"/>
                <a:cs typeface="Tahoma" pitchFamily="34" charset="0"/>
              </a:rPr>
              <a:t>    No reserved words</a:t>
            </a:r>
          </a:p>
          <a:p>
            <a:pPr>
              <a:buNone/>
            </a:pPr>
            <a:endParaRPr lang="en-US" sz="2400" dirty="0">
              <a:latin typeface="Tahoma" pitchFamily="34" charset="0"/>
              <a:cs typeface="Tahoma" pitchFamily="34" charset="0"/>
            </a:endParaRPr>
          </a:p>
          <a:p>
            <a:pPr>
              <a:buNone/>
            </a:pPr>
            <a:endParaRPr lang="en-US" sz="2400" dirty="0">
              <a:latin typeface="Tahoma" pitchFamily="34" charset="0"/>
              <a:cs typeface="Tahoma" pitchFamily="34" charset="0"/>
            </a:endParaRPr>
          </a:p>
          <a:p>
            <a:pPr>
              <a:buNone/>
            </a:pPr>
            <a:endParaRPr lang="en-US" sz="2400" dirty="0">
              <a:latin typeface="Tahoma" pitchFamily="34" charset="0"/>
              <a:cs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>
            <a:normAutofit/>
          </a:bodyPr>
          <a:lstStyle/>
          <a:p>
            <a:r>
              <a:rPr lang="en-US" sz="2000" dirty="0"/>
              <a:t>Why JSON?</a:t>
            </a:r>
          </a:p>
          <a:p>
            <a:endParaRPr lang="en-US" sz="2000" dirty="0"/>
          </a:p>
          <a:p>
            <a:r>
              <a:rPr lang="en-US" sz="2000" dirty="0"/>
              <a:t>For AJAX applications, JSON is faster and easier than XML:</a:t>
            </a:r>
          </a:p>
          <a:p>
            <a:endParaRPr lang="en-US" sz="2000" dirty="0"/>
          </a:p>
          <a:p>
            <a:r>
              <a:rPr lang="en-US" sz="2000" dirty="0"/>
              <a:t>Using XML</a:t>
            </a:r>
          </a:p>
          <a:p>
            <a:endParaRPr lang="en-US" sz="2000" dirty="0"/>
          </a:p>
          <a:p>
            <a:r>
              <a:rPr lang="en-US" sz="2000" dirty="0"/>
              <a:t>    Fetch an XML document</a:t>
            </a:r>
          </a:p>
          <a:p>
            <a:r>
              <a:rPr lang="en-US" sz="2000" dirty="0"/>
              <a:t>    Use the XML DOM to loop through the document</a:t>
            </a:r>
          </a:p>
          <a:p>
            <a:r>
              <a:rPr lang="en-US" sz="2000" dirty="0"/>
              <a:t>    Extract values and store in variables</a:t>
            </a:r>
          </a:p>
          <a:p>
            <a:endParaRPr lang="en-US" sz="2000" dirty="0"/>
          </a:p>
          <a:p>
            <a:r>
              <a:rPr lang="en-US" sz="2000" dirty="0"/>
              <a:t>Using JSON</a:t>
            </a:r>
          </a:p>
          <a:p>
            <a:endParaRPr lang="en-US" sz="2000" dirty="0"/>
          </a:p>
          <a:p>
            <a:r>
              <a:rPr lang="en-US" sz="2000" dirty="0"/>
              <a:t>    Fetch a JSON string</a:t>
            </a:r>
          </a:p>
          <a:p>
            <a:r>
              <a:rPr lang="en-US" sz="2000" dirty="0"/>
              <a:t>    </a:t>
            </a:r>
            <a:r>
              <a:rPr lang="en-US" sz="2000" dirty="0" err="1"/>
              <a:t>eval</a:t>
            </a:r>
            <a:r>
              <a:rPr lang="en-US" sz="2000" dirty="0"/>
              <a:t>() the JSON string</a:t>
            </a:r>
          </a:p>
          <a:p>
            <a:endParaRPr lang="en-US" sz="2000" dirty="0"/>
          </a:p>
          <a:p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 JSON, they take on these forms: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1"/>
            <a:ext cx="8229600" cy="3505200"/>
          </a:xfrm>
        </p:spPr>
        <p:txBody>
          <a:bodyPr/>
          <a:lstStyle/>
          <a:p>
            <a:r>
              <a:rPr lang="en-US" dirty="0"/>
              <a:t>An </a:t>
            </a:r>
            <a:r>
              <a:rPr lang="en-US" i="1" dirty="0"/>
              <a:t>object</a:t>
            </a:r>
            <a:r>
              <a:rPr lang="en-US" dirty="0"/>
              <a:t> is an unordered set of name/value pairs. </a:t>
            </a:r>
          </a:p>
          <a:p>
            <a:r>
              <a:rPr lang="en-US" dirty="0"/>
              <a:t>An object begins with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{</a:t>
            </a:r>
            <a:r>
              <a:rPr lang="en-US" dirty="0"/>
              <a:t>    (left brace) and ends with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}</a:t>
            </a:r>
            <a:r>
              <a:rPr lang="en-US" dirty="0"/>
              <a:t> (right brace). </a:t>
            </a:r>
          </a:p>
          <a:p>
            <a:r>
              <a:rPr lang="en-US" dirty="0"/>
              <a:t>Each name is followed by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:</a:t>
            </a:r>
            <a:r>
              <a:rPr lang="en-US" dirty="0"/>
              <a:t> (colon) and the name/value pairs are separated by , (comma).</a:t>
            </a:r>
          </a:p>
          <a:p>
            <a:endParaRPr lang="en-US" dirty="0"/>
          </a:p>
        </p:txBody>
      </p:sp>
      <p:pic>
        <p:nvPicPr>
          <p:cNvPr id="4" name="Picture 2" descr="C:\Users\ketki\Pictures\object.gif">
            <a:extLst>
              <a:ext uri="{FF2B5EF4-FFF2-40B4-BE49-F238E27FC236}">
                <a16:creationId xmlns:a16="http://schemas.microsoft.com/office/drawing/2014/main" xmlns="" id="{036A97AF-3F97-42B3-8073-08906A2CEB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4715233"/>
            <a:ext cx="6610350" cy="18288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ketki\Pictures\array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133600"/>
            <a:ext cx="8090263" cy="1528762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990600" y="457200"/>
            <a:ext cx="8534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 </a:t>
            </a:r>
            <a:r>
              <a:rPr lang="en-US" i="1" dirty="0"/>
              <a:t>array</a:t>
            </a:r>
            <a:r>
              <a:rPr lang="en-US" dirty="0"/>
              <a:t> is an ordered collection of values. An array begins with [ (left bracket) and ends with ] (right bracket). Values are separated by , (comma).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AC44D9C-15FD-46B0-AD29-F6E8B2E30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9523" y="304800"/>
            <a:ext cx="3276600" cy="2286000"/>
          </a:xfrm>
        </p:spPr>
        <p:txBody>
          <a:bodyPr>
            <a:normAutofit fontScale="70000" lnSpcReduction="20000"/>
          </a:bodyPr>
          <a:lstStyle/>
          <a:p>
            <a:r>
              <a:rPr lang="en-US" sz="2400" dirty="0"/>
              <a:t>When storing data, the data has to be a certain format, and regardless of where you choose to store it, text is always one of the legal formats.</a:t>
            </a:r>
          </a:p>
          <a:p>
            <a:endParaRPr lang="en-US" sz="2400" dirty="0"/>
          </a:p>
          <a:p>
            <a:r>
              <a:rPr lang="en-US" sz="2400" dirty="0"/>
              <a:t>JSON makes it possible to store JavaScript objects as text.</a:t>
            </a:r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3572F6DD-4AF9-490A-A8EE-E98CE3424849}"/>
              </a:ext>
            </a:extLst>
          </p:cNvPr>
          <p:cNvSpPr txBox="1"/>
          <p:nvPr/>
        </p:nvSpPr>
        <p:spPr>
          <a:xfrm>
            <a:off x="381000" y="152400"/>
            <a:ext cx="586740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&lt;!</a:t>
            </a:r>
            <a:r>
              <a:rPr lang="en-IN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DOCTYPE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&lt;html&gt;&lt;body&gt;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&lt;h2&gt;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Store and retrieve data from local storage.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&lt;/h2&gt;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"demo"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&gt;&lt;/p&gt;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"go()"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 Json String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</a:p>
          <a:p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getdata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 Object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</a:p>
          <a:p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var 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myObj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myJSON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text, 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obj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function go()</a:t>
            </a:r>
          </a:p>
          <a:p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Storing data: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myObj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{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name: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"John"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age: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31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city: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"New York"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};</a:t>
            </a:r>
          </a:p>
          <a:p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myJSON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stringify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myObj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localStorage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setItem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testJSON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myJSON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function 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getdata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Retrieving data: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localStorage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getItem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testJSON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parse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"demo"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 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&lt;/script&gt;&lt;/body&gt;&lt;/html&gt;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9382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0C02B3D-F302-43B7-8A51-A9407A0FF8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52400"/>
            <a:ext cx="8534400" cy="597376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JSON Values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 JSON, values must be one of the following data types: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a string</a:t>
            </a:r>
          </a:p>
          <a:p>
            <a:pPr marL="0" indent="0">
              <a:buNone/>
            </a:pPr>
            <a:r>
              <a:rPr lang="en-US" dirty="0"/>
              <a:t>    a number</a:t>
            </a:r>
          </a:p>
          <a:p>
            <a:pPr marL="0" indent="0">
              <a:buNone/>
            </a:pPr>
            <a:r>
              <a:rPr lang="en-US" dirty="0"/>
              <a:t>    an object (JSON object)</a:t>
            </a:r>
          </a:p>
          <a:p>
            <a:pPr marL="0" indent="0">
              <a:buNone/>
            </a:pPr>
            <a:r>
              <a:rPr lang="en-US" dirty="0"/>
              <a:t>    an array</a:t>
            </a:r>
          </a:p>
          <a:p>
            <a:pPr marL="0" indent="0">
              <a:buNone/>
            </a:pPr>
            <a:r>
              <a:rPr lang="en-US" dirty="0"/>
              <a:t>    a </a:t>
            </a:r>
            <a:r>
              <a:rPr lang="en-US" dirty="0" err="1"/>
              <a:t>boolean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null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 JavaScript values can be all of the above, plus any other valid JavaScript expression, including: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a function</a:t>
            </a:r>
          </a:p>
          <a:p>
            <a:pPr marL="0" indent="0">
              <a:buNone/>
            </a:pPr>
            <a:r>
              <a:rPr lang="en-US" dirty="0"/>
              <a:t>    a date</a:t>
            </a:r>
          </a:p>
          <a:p>
            <a:pPr marL="0" indent="0">
              <a:buNone/>
            </a:pPr>
            <a:r>
              <a:rPr lang="en-US" dirty="0"/>
              <a:t>    undefined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4222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86E523A-3AFF-4708-81D1-49C4885B5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171450" indent="-171450"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en-US" sz="2025" dirty="0"/>
              <a:t>In </a:t>
            </a:r>
            <a:r>
              <a:rPr lang="en-US" sz="2025" b="1" dirty="0"/>
              <a:t>JSON</a:t>
            </a:r>
            <a:r>
              <a:rPr lang="en-US" sz="2025" dirty="0"/>
              <a:t>, </a:t>
            </a:r>
            <a:r>
              <a:rPr lang="en-US" sz="2025" i="1" dirty="0"/>
              <a:t>values</a:t>
            </a:r>
            <a:r>
              <a:rPr lang="en-US" sz="2025" dirty="0"/>
              <a:t> must be one of the following data types:</a:t>
            </a:r>
            <a:r>
              <a:rPr lang="en-US" dirty="0"/>
              <a:t/>
            </a:r>
            <a:br>
              <a:rPr lang="en-US" dirty="0"/>
            </a:br>
            <a:r>
              <a:rPr lang="en-US" sz="21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In JSON, </a:t>
            </a:r>
            <a:r>
              <a:rPr lang="en-US" sz="2100" i="1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keys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 must be strings, written with double quotes</a:t>
            </a:r>
            <a:r>
              <a:rPr lang="en-IN" sz="21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/>
            </a:r>
            <a:br>
              <a:rPr lang="en-IN" sz="21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AD61C9A-D4B7-4C43-82E8-8F03E61840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" y="1306088"/>
            <a:ext cx="3308808" cy="3263504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 string</a:t>
            </a:r>
          </a:p>
          <a:p>
            <a:r>
              <a:rPr lang="en-US" dirty="0"/>
              <a:t>a number</a:t>
            </a:r>
          </a:p>
          <a:p>
            <a:r>
              <a:rPr lang="en-US" dirty="0"/>
              <a:t>an object (JSON object)</a:t>
            </a:r>
          </a:p>
          <a:p>
            <a:endParaRPr lang="en-US" dirty="0"/>
          </a:p>
          <a:p>
            <a:r>
              <a:rPr lang="en-US" dirty="0"/>
              <a:t>an array</a:t>
            </a:r>
          </a:p>
          <a:p>
            <a:endParaRPr lang="en-US" dirty="0"/>
          </a:p>
          <a:p>
            <a:r>
              <a:rPr lang="en-US" dirty="0"/>
              <a:t>A Boolean</a:t>
            </a:r>
          </a:p>
          <a:p>
            <a:endParaRPr lang="en-US" dirty="0"/>
          </a:p>
          <a:p>
            <a:r>
              <a:rPr lang="en-US" dirty="0"/>
              <a:t>null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BA17EF14-6B85-46A4-9623-8CCA4B902B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38427" y="1105781"/>
            <a:ext cx="5705573" cy="3664118"/>
          </a:xfrm>
        </p:spPr>
        <p:txBody>
          <a:bodyPr>
            <a:normAutofit fontScale="77500" lnSpcReduction="20000"/>
          </a:bodyPr>
          <a:lstStyle/>
          <a:p>
            <a:r>
              <a:rPr lang="en-IN" dirty="0"/>
              <a:t>{ "</a:t>
            </a:r>
            <a:r>
              <a:rPr lang="en-IN" dirty="0" err="1"/>
              <a:t>name":“Vita</a:t>
            </a:r>
            <a:r>
              <a:rPr lang="en-IN" dirty="0"/>
              <a:t>" }</a:t>
            </a:r>
          </a:p>
          <a:p>
            <a:r>
              <a:rPr lang="en-IN" dirty="0"/>
              <a:t>{ “age":30 } </a:t>
            </a:r>
          </a:p>
          <a:p>
            <a:r>
              <a:rPr lang="en-US" dirty="0"/>
              <a:t>{"employee": { "</a:t>
            </a:r>
            <a:r>
              <a:rPr lang="en-US" dirty="0" err="1"/>
              <a:t>name":“Vita</a:t>
            </a:r>
            <a:r>
              <a:rPr lang="en-US" dirty="0"/>
              <a:t>", "age":30, "city": “Mumbai" }</a:t>
            </a:r>
            <a:br>
              <a:rPr lang="en-US" dirty="0"/>
            </a:br>
            <a:r>
              <a:rPr lang="en-US" dirty="0"/>
              <a:t>} </a:t>
            </a:r>
          </a:p>
          <a:p>
            <a:r>
              <a:rPr lang="en-IN" dirty="0"/>
              <a:t>{  "employees":[ “Raj", “Mona", “Geeta" ]  } </a:t>
            </a:r>
          </a:p>
          <a:p>
            <a:endParaRPr lang="en-IN" dirty="0"/>
          </a:p>
          <a:p>
            <a:r>
              <a:rPr lang="en-IN" dirty="0"/>
              <a:t>{ "</a:t>
            </a:r>
            <a:r>
              <a:rPr lang="en-IN" dirty="0" err="1"/>
              <a:t>sale":true</a:t>
            </a:r>
            <a:r>
              <a:rPr lang="en-IN" dirty="0"/>
              <a:t> } </a:t>
            </a:r>
          </a:p>
          <a:p>
            <a:endParaRPr lang="en-IN" dirty="0"/>
          </a:p>
          <a:p>
            <a:r>
              <a:rPr lang="en-IN" dirty="0"/>
              <a:t>{ "</a:t>
            </a:r>
            <a:r>
              <a:rPr lang="en-IN" dirty="0" err="1"/>
              <a:t>middlename</a:t>
            </a:r>
            <a:r>
              <a:rPr lang="en-IN" dirty="0"/>
              <a:t>":null } </a:t>
            </a:r>
          </a:p>
        </p:txBody>
      </p:sp>
      <p:pic>
        <p:nvPicPr>
          <p:cNvPr id="5" name="Picture 2" descr="C:\Users\ketki\Pictures\value.gif">
            <a:extLst>
              <a:ext uri="{FF2B5EF4-FFF2-40B4-BE49-F238E27FC236}">
                <a16:creationId xmlns:a16="http://schemas.microsoft.com/office/drawing/2014/main" xmlns="" id="{B90718BC-9B7C-4B86-9BE3-A17FF85500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06023" y="4343400"/>
            <a:ext cx="5695950" cy="26479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94421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8489954-CBD5-4EBB-842B-90C4B397A1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0"/>
            <a:ext cx="8534400" cy="6858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&lt;!</a:t>
            </a: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DOCTYPE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&lt;html&gt;&lt;body&gt;&lt;p&gt;</a:t>
            </a:r>
            <a:r>
              <a:rPr lang="en-IN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How to access nested JSON objects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&lt;/p&gt;&lt;p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"demo"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&gt;&lt;/p&gt;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readdata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read data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var 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myobj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name"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"John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"age"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"cars"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{  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"car1"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"Ford"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	     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"car2"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"BMW"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	     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"car3"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"Fiat"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      }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}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function 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readdata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IN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document.getElementById</a:t>
            </a:r>
            <a:r>
              <a:rPr lang="en-IN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("demo").</a:t>
            </a:r>
            <a:r>
              <a:rPr lang="en-IN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IN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+= myObj.cars.car2 + "&lt;</a:t>
            </a:r>
            <a:r>
              <a:rPr lang="en-IN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&gt;";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//or: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IN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document.getElementById</a:t>
            </a:r>
            <a:r>
              <a:rPr lang="en-IN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("demo").</a:t>
            </a:r>
            <a:r>
              <a:rPr lang="en-IN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IN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+= </a:t>
            </a:r>
            <a:r>
              <a:rPr lang="en-IN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myObj.cars</a:t>
            </a:r>
            <a:r>
              <a:rPr lang="en-IN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["car2"];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myobj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			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typeof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myobj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]))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 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typeof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myobj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 != "object")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document.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"demo"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+= 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myobj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[x];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else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  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subx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myobj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    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document.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"demo"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+= 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myobj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[x][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subx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];}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&lt;/script&gt;&lt;/body&gt;&lt;/html&gt;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497438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52C2BC5-BCEB-4DF4-AF9D-C5DF0BF01D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76200"/>
            <a:ext cx="8382000" cy="6049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&lt;!</a:t>
            </a:r>
            <a:r>
              <a:rPr lang="en-IN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DOCTYPE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&lt;body&gt;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n-IN" sz="12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How to access nested Array.</a:t>
            </a:r>
            <a:r>
              <a:rPr lang="en-IN" sz="12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p&gt;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"demo"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&gt;&lt;/p&gt;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readdata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read data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var 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myobj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[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[       "Power Steering",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  "Front and rear power windows",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  "Anti-lock braking system"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],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[        "Power Windows",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  "Automatic Climate 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Controll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],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[       "Alloy Wheels",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  "Driver Airbag"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],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[        null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],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[         null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]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]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function 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readdata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of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myobj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{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subx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of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document.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"demo"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+= 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subx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+"&lt;</a:t>
            </a:r>
            <a:r>
              <a:rPr lang="en-IN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/&gt;";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}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</a:p>
          <a:p>
            <a:pPr marL="0" indent="0">
              <a:buNone/>
            </a:pP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3568200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653</TotalTime>
  <Words>606</Words>
  <Application>Microsoft Office PowerPoint</Application>
  <PresentationFormat>On-screen Show (4:3)</PresentationFormat>
  <Paragraphs>194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Consolas</vt:lpstr>
      <vt:lpstr>Tahoma</vt:lpstr>
      <vt:lpstr>Office Theme</vt:lpstr>
      <vt:lpstr>PowerPoint Presentation</vt:lpstr>
      <vt:lpstr>Json</vt:lpstr>
      <vt:lpstr>JSON</vt:lpstr>
      <vt:lpstr>PowerPoint Presentation</vt:lpstr>
      <vt:lpstr>JSON is built on two structures: </vt:lpstr>
      <vt:lpstr>PowerPoint Presentation</vt:lpstr>
      <vt:lpstr>PowerPoint Presentation</vt:lpstr>
      <vt:lpstr>In JSON, they take on these forms: </vt:lpstr>
      <vt:lpstr>PowerPoint Presentation</vt:lpstr>
      <vt:lpstr>PowerPoint Presentation</vt:lpstr>
      <vt:lpstr>PowerPoint Presentation</vt:lpstr>
      <vt:lpstr>In JSON, values must be one of the following data types: In JSON, keys must be strings, written with double quotes 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Jason</dc:title>
  <dc:creator>ketki</dc:creator>
  <cp:lastModifiedBy>User</cp:lastModifiedBy>
  <cp:revision>31</cp:revision>
  <dcterms:created xsi:type="dcterms:W3CDTF">2011-04-22T21:06:57Z</dcterms:created>
  <dcterms:modified xsi:type="dcterms:W3CDTF">2024-06-10T12:40:16Z</dcterms:modified>
</cp:coreProperties>
</file>