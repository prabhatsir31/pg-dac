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  <p:sldId id="262" r:id="rId5"/>
    <p:sldId id="275" r:id="rId6"/>
    <p:sldId id="263" r:id="rId7"/>
    <p:sldId id="264" r:id="rId8"/>
    <p:sldId id="265" r:id="rId9"/>
    <p:sldId id="266" r:id="rId10"/>
    <p:sldId id="267" r:id="rId11"/>
    <p:sldId id="268" r:id="rId12"/>
    <p:sldId id="276" r:id="rId13"/>
    <p:sldId id="272" r:id="rId14"/>
    <p:sldId id="277" r:id="rId15"/>
    <p:sldId id="278" r:id="rId16"/>
    <p:sldId id="269" r:id="rId17"/>
    <p:sldId id="270" r:id="rId18"/>
    <p:sldId id="27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9875-A9BA-4FEF-920E-4C22F852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7B814-8E5E-4786-A782-E24833624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A5E4E-8582-4B31-8617-14CBB193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4D1BD-2509-4FA4-AA14-87874273D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A1064-57B6-4800-8A02-CD288A6D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6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4DA26-6291-4D2B-8978-F93514DF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3C22-838A-44B1-81D3-9E211FEF0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AA663-5137-4937-8100-DB7D3B00C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C0661-8587-448A-9B04-E94F2063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56B56-4C9F-4BAE-9DC4-4EC0CB43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16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E9E4-BB58-4C34-A713-5C7FED46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6DCC1-0042-4D16-8A40-07D1598A6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608D7-A0AC-4F7F-9B2A-7E2BC2BC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6913-6AAC-424F-94E8-7967A5A0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0ECAC-D76A-4651-BD2D-47FA7FDE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22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4B3B-6866-44C5-95A8-265479B6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0E14-26F7-4927-A965-637C61EF0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966B2-1C21-40EC-AEB4-E6DF4D4C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D7BC0-6651-4CE9-BF89-B67C6D95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814CD-3BDE-475B-B2CE-F8785CAE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A8915-DC5F-40A7-87F8-4991A692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18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9CE4-EDF2-4731-8314-40A65010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80861-B423-43F6-9C0B-C057550FF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B849D-1629-4141-B0DA-74DAC9822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E2D5F-2402-43C2-982E-042CB8E31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5E2B4-51AA-4C0E-98D0-D89C08C38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F2DCC-82EF-468C-A9BD-A30BB422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869D6-01B3-445D-B02D-3DAA99E7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1305C-3FE6-4DE2-AFA9-63E378D4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8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828D-056B-484E-B46C-1913881D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8094D-3045-427E-AC8D-F81BFE55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DD406-C044-4A88-A803-79A5F6B8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B2901-976F-482D-AE8B-41B5E7EB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35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3FAE6-F69D-4630-A4D3-46E3DD97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6A903-527D-416B-A653-12F4EA2F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90FF6-2BA1-486B-9877-3C312C48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8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C3EF-6A71-4940-AD16-8EAD5B2D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DD74-1CE7-4DE8-8609-CB87E8CF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ABA8D-6FA0-473A-A0DF-7F3F767FF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43AEE-30C0-41A9-B398-66CC3058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8C12-85BE-4075-8059-73A39946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F5DF8-58D9-4B96-A949-09747A8B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7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76579-818E-4976-A82D-F552B176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6A0D9-1F47-44BF-A9FF-36FE018B5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87E5F-8F10-464E-A03D-F7B5DD464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63D88-923E-4462-B853-43E7AA36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2F551-E142-4576-BE4B-C24ADDBF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E0A25-4D04-4F0F-B57E-539F0029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0D829-AF1E-40CC-AA8B-1614C04F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13EA5-94DB-490C-9FE7-D17609AA3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DDA9E-D2CC-47EE-9DDE-0F4657D3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4E4E-C739-4E42-AED6-8247868A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AF632-88D5-40D9-ACDA-F145AC59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9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42E2B-190D-469C-BC26-97FFEE159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435C4-1632-4F15-9DF3-1D3E00CFD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A6B3-D7C6-4E14-8562-56C5A43E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DC34-0156-4A3B-AEE7-7A48BE57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704AD-9F7D-4B3D-B616-33C35F57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428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82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776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200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541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951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7690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49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4164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236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856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85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60A4F-4527-41DF-8948-4E6D3EB59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26F26-5539-47C1-AFFF-512008E41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3F1A-3A55-420B-98D8-F38BD8298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0FDB9-8E1A-4075-B100-3186540F4228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541F-2A41-4FFA-B28A-697CB88FA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0932-B360-451F-AC0E-CBA54D9D0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C06054-F4D6-463D-B988-0441229AFFE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C55DDA-2F67-497D-805E-5136A8321681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4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25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4F06-A661-4C80-9191-1CD142F0E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8" y="151427"/>
            <a:ext cx="10272252" cy="529610"/>
          </a:xfrm>
        </p:spPr>
        <p:txBody>
          <a:bodyPr>
            <a:normAutofit fontScale="90000"/>
          </a:bodyPr>
          <a:lstStyle/>
          <a:p>
            <a:r>
              <a:rPr lang="en-IN" dirty="0"/>
              <a:t>ES6 introduce Class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FA216-AB89-4885-9B30-80C9A04BD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599767"/>
            <a:ext cx="5456904" cy="625823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&lt;script&gt;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'use strict'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class Account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   constructor(</a:t>
            </a:r>
            <a:r>
              <a:rPr lang="en-IN" sz="1800" dirty="0" err="1">
                <a:latin typeface="Garamond" panose="02020404030301010803" pitchFamily="18" charset="0"/>
              </a:rPr>
              <a:t>name,amt</a:t>
            </a:r>
            <a:r>
              <a:rPr lang="en-IN" sz="1800" dirty="0">
                <a:latin typeface="Garamond" panose="02020404030301010803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  this.name=name;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  </a:t>
            </a:r>
            <a:r>
              <a:rPr lang="en-IN" sz="1800" dirty="0" err="1">
                <a:latin typeface="Garamond" panose="02020404030301010803" pitchFamily="18" charset="0"/>
              </a:rPr>
              <a:t>this.balance</a:t>
            </a:r>
            <a:r>
              <a:rPr lang="en-IN" sz="1800" dirty="0">
                <a:latin typeface="Garamond" panose="02020404030301010803" pitchFamily="18" charset="0"/>
              </a:rPr>
              <a:t>=amt;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  alert(</a:t>
            </a:r>
            <a:r>
              <a:rPr lang="en-IN" sz="1800" dirty="0" err="1">
                <a:latin typeface="Garamond" panose="02020404030301010803" pitchFamily="18" charset="0"/>
              </a:rPr>
              <a:t>typeof</a:t>
            </a:r>
            <a:r>
              <a:rPr lang="en-IN" sz="1800" dirty="0">
                <a:latin typeface="Garamond" panose="02020404030301010803" pitchFamily="18" charset="0"/>
              </a:rPr>
              <a:t> </a:t>
            </a:r>
            <a:r>
              <a:rPr lang="en-IN" sz="1800" dirty="0" err="1">
                <a:latin typeface="Garamond" panose="02020404030301010803" pitchFamily="18" charset="0"/>
              </a:rPr>
              <a:t>this.constructor</a:t>
            </a:r>
            <a:r>
              <a:rPr lang="en-IN" sz="1800" dirty="0">
                <a:latin typeface="Garamond" panose="02020404030301010803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var obj1=new Account("raj",20000);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console.log(obj1);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 err="1">
                <a:latin typeface="Garamond" panose="02020404030301010803" pitchFamily="18" charset="0"/>
              </a:rPr>
              <a:t>document.write</a:t>
            </a:r>
            <a:r>
              <a:rPr lang="en-IN" sz="1800" dirty="0">
                <a:latin typeface="Garamond" panose="02020404030301010803" pitchFamily="18" charset="0"/>
              </a:rPr>
              <a:t>(obj1 </a:t>
            </a:r>
            <a:r>
              <a:rPr lang="en-IN" sz="1800" dirty="0" err="1">
                <a:latin typeface="Garamond" panose="02020404030301010803" pitchFamily="18" charset="0"/>
              </a:rPr>
              <a:t>instanceof</a:t>
            </a:r>
            <a:r>
              <a:rPr lang="en-IN" sz="1800" dirty="0">
                <a:latin typeface="Garamond" panose="02020404030301010803" pitchFamily="18" charset="0"/>
              </a:rPr>
              <a:t> Account);//true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 err="1">
                <a:latin typeface="Garamond" panose="02020404030301010803" pitchFamily="18" charset="0"/>
              </a:rPr>
              <a:t>document.write</a:t>
            </a:r>
            <a:r>
              <a:rPr lang="en-IN" sz="1800" dirty="0">
                <a:latin typeface="Garamond" panose="02020404030301010803" pitchFamily="18" charset="0"/>
              </a:rPr>
              <a:t>(obj1 </a:t>
            </a:r>
            <a:r>
              <a:rPr lang="en-IN" sz="1800" dirty="0" err="1">
                <a:latin typeface="Garamond" panose="02020404030301010803" pitchFamily="18" charset="0"/>
              </a:rPr>
              <a:t>instanceof</a:t>
            </a:r>
            <a:r>
              <a:rPr lang="en-IN" sz="1800" dirty="0">
                <a:latin typeface="Garamond" panose="02020404030301010803" pitchFamily="18" charset="0"/>
              </a:rPr>
              <a:t> Object);//true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obj1.name="</a:t>
            </a:r>
            <a:r>
              <a:rPr lang="en-IN" sz="1800" dirty="0" err="1">
                <a:latin typeface="Garamond" panose="02020404030301010803" pitchFamily="18" charset="0"/>
              </a:rPr>
              <a:t>geeta</a:t>
            </a:r>
            <a:r>
              <a:rPr lang="en-IN" sz="1800" dirty="0">
                <a:latin typeface="Garamond" panose="02020404030301010803" pitchFamily="18" charset="0"/>
              </a:rPr>
              <a:t>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console.log(obj1);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 err="1">
                <a:latin typeface="Garamond" panose="02020404030301010803" pitchFamily="18" charset="0"/>
              </a:rPr>
              <a:t>document.write</a:t>
            </a:r>
            <a:r>
              <a:rPr lang="en-IN" sz="1800" dirty="0">
                <a:latin typeface="Garamond" panose="02020404030301010803" pitchFamily="18" charset="0"/>
              </a:rPr>
              <a:t>(obj1); //object </a:t>
            </a:r>
            <a:r>
              <a:rPr lang="en-IN" sz="1800" dirty="0" err="1">
                <a:latin typeface="Garamond" panose="02020404030301010803" pitchFamily="18" charset="0"/>
              </a:rPr>
              <a:t>Object</a:t>
            </a:r>
            <a:r>
              <a:rPr lang="en-IN" sz="1800" dirty="0">
                <a:latin typeface="Garamond" panose="02020404030301010803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var obj2=new Account("Mona",50000);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 err="1">
                <a:latin typeface="Garamond" panose="02020404030301010803" pitchFamily="18" charset="0"/>
              </a:rPr>
              <a:t>document.write</a:t>
            </a:r>
            <a:r>
              <a:rPr lang="en-IN" sz="1800" dirty="0">
                <a:latin typeface="Garamond" panose="02020404030301010803" pitchFamily="18" charset="0"/>
              </a:rPr>
              <a:t>(obj2.name);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console.log(new Object());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>
              <a:latin typeface="Garamond" panose="02020404030301010803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Garamond" panose="02020404030301010803" pitchFamily="18" charset="0"/>
              </a:rPr>
              <a:t>&lt;/script&gt;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D41E7C-BAFC-458F-92EB-252DF2B922D9}"/>
              </a:ext>
            </a:extLst>
          </p:cNvPr>
          <p:cNvSpPr/>
          <p:nvPr/>
        </p:nvSpPr>
        <p:spPr>
          <a:xfrm>
            <a:off x="6223819" y="1499419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53F22F-0C52-4226-ACE3-FA10EC580CAB}"/>
              </a:ext>
            </a:extLst>
          </p:cNvPr>
          <p:cNvCxnSpPr>
            <a:cxnSpLocks/>
          </p:cNvCxnSpPr>
          <p:nvPr/>
        </p:nvCxnSpPr>
        <p:spPr>
          <a:xfrm flipV="1">
            <a:off x="6617112" y="1787167"/>
            <a:ext cx="963561" cy="275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E3684D-DFE3-48CE-972A-E3D11F826C3F}"/>
              </a:ext>
            </a:extLst>
          </p:cNvPr>
          <p:cNvSpPr txBox="1"/>
          <p:nvPr/>
        </p:nvSpPr>
        <p:spPr>
          <a:xfrm>
            <a:off x="7757652" y="1307690"/>
            <a:ext cx="2310580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This.name=raj    </a:t>
            </a:r>
            <a:r>
              <a:rPr lang="en-IN" dirty="0" err="1"/>
              <a:t>geeta</a:t>
            </a:r>
            <a:endParaRPr lang="en-IN" dirty="0"/>
          </a:p>
          <a:p>
            <a:r>
              <a:rPr lang="en-IN" dirty="0" err="1"/>
              <a:t>This.balance</a:t>
            </a:r>
            <a:r>
              <a:rPr lang="en-IN" dirty="0"/>
              <a:t>=20000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3F79F3-1897-4E41-99D4-BC77FC93D56F}"/>
              </a:ext>
            </a:extLst>
          </p:cNvPr>
          <p:cNvSpPr/>
          <p:nvPr/>
        </p:nvSpPr>
        <p:spPr>
          <a:xfrm>
            <a:off x="7575759" y="2222093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78EC94-1818-4328-AA51-AA2B3AF6E548}"/>
              </a:ext>
            </a:extLst>
          </p:cNvPr>
          <p:cNvSpPr txBox="1"/>
          <p:nvPr/>
        </p:nvSpPr>
        <p:spPr>
          <a:xfrm>
            <a:off x="9109590" y="2204887"/>
            <a:ext cx="2310580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This.name=mona</a:t>
            </a:r>
          </a:p>
          <a:p>
            <a:r>
              <a:rPr lang="en-IN" dirty="0" err="1"/>
              <a:t>This.balance</a:t>
            </a:r>
            <a:r>
              <a:rPr lang="en-IN" dirty="0"/>
              <a:t>=50000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AF20C7-4247-44A8-A79A-44899CDD79CE}"/>
              </a:ext>
            </a:extLst>
          </p:cNvPr>
          <p:cNvCxnSpPr>
            <a:cxnSpLocks/>
          </p:cNvCxnSpPr>
          <p:nvPr/>
        </p:nvCxnSpPr>
        <p:spPr>
          <a:xfrm flipV="1">
            <a:off x="8273850" y="2453150"/>
            <a:ext cx="963561" cy="275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040CC7B-477A-4361-8A16-98E963C149B1}"/>
              </a:ext>
            </a:extLst>
          </p:cNvPr>
          <p:cNvSpPr/>
          <p:nvPr/>
        </p:nvSpPr>
        <p:spPr>
          <a:xfrm>
            <a:off x="7556092" y="151427"/>
            <a:ext cx="3229895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Object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600309-8202-4B4B-850A-21C9AD7A0240}"/>
              </a:ext>
            </a:extLst>
          </p:cNvPr>
          <p:cNvCxnSpPr/>
          <p:nvPr/>
        </p:nvCxnSpPr>
        <p:spPr>
          <a:xfrm>
            <a:off x="9026013" y="875072"/>
            <a:ext cx="0" cy="383458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BDB2CC-3C19-47C9-B7B3-92F1FA2D6D70}"/>
              </a:ext>
            </a:extLst>
          </p:cNvPr>
          <p:cNvSpPr txBox="1"/>
          <p:nvPr/>
        </p:nvSpPr>
        <p:spPr>
          <a:xfrm>
            <a:off x="6223819" y="3186770"/>
            <a:ext cx="56043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>
                <a:latin typeface="Garamond" panose="02020404030301010803" pitchFamily="18" charset="0"/>
              </a:rPr>
              <a:t>document.write</a:t>
            </a:r>
            <a:r>
              <a:rPr lang="en-IN" sz="1800" dirty="0">
                <a:latin typeface="Garamond" panose="02020404030301010803" pitchFamily="18" charset="0"/>
              </a:rPr>
              <a:t>(obj1); //object </a:t>
            </a:r>
            <a:r>
              <a:rPr lang="en-IN" sz="1800" dirty="0" err="1">
                <a:latin typeface="Garamond" panose="02020404030301010803" pitchFamily="18" charset="0"/>
              </a:rPr>
              <a:t>Object</a:t>
            </a:r>
            <a:r>
              <a:rPr lang="en-IN" sz="1800" dirty="0">
                <a:latin typeface="Garamond" panose="02020404030301010803" pitchFamily="18" charset="0"/>
              </a:rPr>
              <a:t> </a:t>
            </a:r>
          </a:p>
          <a:p>
            <a:r>
              <a:rPr lang="en-IN" dirty="0"/>
              <a:t>Internally calling </a:t>
            </a:r>
            <a:r>
              <a:rPr lang="en-IN" dirty="0" err="1">
                <a:solidFill>
                  <a:srgbClr val="FF0000"/>
                </a:solidFill>
              </a:rPr>
              <a:t>toString</a:t>
            </a:r>
            <a:r>
              <a:rPr lang="en-IN" dirty="0">
                <a:solidFill>
                  <a:srgbClr val="FF0000"/>
                </a:solidFill>
              </a:rPr>
              <a:t>() </a:t>
            </a:r>
            <a:r>
              <a:rPr lang="en-IN" dirty="0"/>
              <a:t>method.</a:t>
            </a:r>
          </a:p>
          <a:p>
            <a:r>
              <a:rPr lang="en-IN" dirty="0"/>
              <a:t>But Account class does not have this method</a:t>
            </a:r>
          </a:p>
          <a:p>
            <a:r>
              <a:rPr lang="en-IN" dirty="0"/>
              <a:t>So it will go to </a:t>
            </a:r>
            <a:r>
              <a:rPr lang="en-IN" dirty="0">
                <a:solidFill>
                  <a:srgbClr val="FF0000"/>
                </a:solidFill>
              </a:rPr>
              <a:t>parent class </a:t>
            </a:r>
            <a:r>
              <a:rPr lang="en-IN" dirty="0"/>
              <a:t>and call parent’s </a:t>
            </a:r>
            <a:r>
              <a:rPr lang="en-IN" dirty="0" err="1"/>
              <a:t>toString</a:t>
            </a:r>
            <a:r>
              <a:rPr lang="en-IN" dirty="0"/>
              <a:t>() method.</a:t>
            </a:r>
          </a:p>
          <a:p>
            <a:r>
              <a:rPr lang="en-IN" sz="1800" dirty="0">
                <a:latin typeface="Garamond" panose="02020404030301010803" pitchFamily="18" charset="0"/>
              </a:rPr>
              <a:t> alert(</a:t>
            </a:r>
            <a:r>
              <a:rPr lang="en-IN" sz="1800" dirty="0" err="1">
                <a:latin typeface="Garamond" panose="02020404030301010803" pitchFamily="18" charset="0"/>
              </a:rPr>
              <a:t>typeof</a:t>
            </a:r>
            <a:r>
              <a:rPr lang="en-IN" sz="1800" dirty="0">
                <a:latin typeface="Garamond" panose="02020404030301010803" pitchFamily="18" charset="0"/>
              </a:rPr>
              <a:t> </a:t>
            </a:r>
            <a:r>
              <a:rPr lang="en-IN" sz="1800" dirty="0" err="1">
                <a:latin typeface="Garamond" panose="02020404030301010803" pitchFamily="18" charset="0"/>
              </a:rPr>
              <a:t>this.constructor</a:t>
            </a:r>
            <a:r>
              <a:rPr lang="en-IN" sz="1800" dirty="0">
                <a:latin typeface="Garamond" panose="02020404030301010803" pitchFamily="18" charset="0"/>
              </a:rPr>
              <a:t>)</a:t>
            </a:r>
          </a:p>
          <a:p>
            <a:r>
              <a:rPr lang="en-IN" dirty="0">
                <a:latin typeface="Garamond" panose="02020404030301010803" pitchFamily="18" charset="0"/>
              </a:rPr>
              <a:t>Above line says it is function So…</a:t>
            </a:r>
            <a:endParaRPr lang="en-IN" dirty="0"/>
          </a:p>
          <a:p>
            <a:r>
              <a:rPr lang="en-IN" dirty="0"/>
              <a:t>Can I call Account() directly ?</a:t>
            </a:r>
          </a:p>
          <a:p>
            <a:r>
              <a:rPr lang="en-IN" dirty="0"/>
              <a:t>No you will get error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CC27DA-F69C-48D6-AE4E-22B822EE882D}"/>
              </a:ext>
            </a:extLst>
          </p:cNvPr>
          <p:cNvCxnSpPr/>
          <p:nvPr/>
        </p:nvCxnSpPr>
        <p:spPr>
          <a:xfrm flipV="1">
            <a:off x="9026013" y="1347019"/>
            <a:ext cx="211398" cy="334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67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C931-084F-4B8B-9D69-478A61E5D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864" y="0"/>
            <a:ext cx="10193594" cy="726256"/>
          </a:xfrm>
        </p:spPr>
        <p:txBody>
          <a:bodyPr/>
          <a:lstStyle/>
          <a:p>
            <a:r>
              <a:rPr lang="en-IN" dirty="0"/>
              <a:t>When you use class key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57379-2F24-454A-983A-A9621F218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36" y="726256"/>
            <a:ext cx="11292348" cy="2702744"/>
          </a:xfrm>
        </p:spPr>
        <p:txBody>
          <a:bodyPr/>
          <a:lstStyle/>
          <a:p>
            <a:r>
              <a:rPr lang="en-US" dirty="0"/>
              <a:t>Class methods are non-enumerable. A class definition sets enumerable flag to false for all methods in the "prototype".</a:t>
            </a:r>
          </a:p>
          <a:p>
            <a:r>
              <a:rPr lang="en-US" dirty="0"/>
              <a:t>That’s good, because if we use  </a:t>
            </a:r>
            <a:r>
              <a:rPr lang="en-US" dirty="0" err="1"/>
              <a:t>for..in</a:t>
            </a:r>
            <a:r>
              <a:rPr lang="en-US" dirty="0"/>
              <a:t> over an object, we usually don’t want its class methods.</a:t>
            </a:r>
          </a:p>
          <a:p>
            <a:r>
              <a:rPr lang="en-US" dirty="0"/>
              <a:t>Classes always use strict. All code inside the class construct is automatically in strict mode.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46EF4F-926D-4F5A-8CD3-28B96F570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95" y="3417264"/>
            <a:ext cx="9786879" cy="2369831"/>
          </a:xfrm>
          <a:prstGeom prst="rect">
            <a:avLst/>
          </a:prstGeom>
          <a:solidFill>
            <a:srgbClr val="FFEE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important difference between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function declarations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declarations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that function declarations are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458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hoisted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class declarations are not. You first need to declare your class and then access it, otherwise code like the following will throw a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458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ReferenceError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458B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458B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p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458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26262"/>
                </a:solidFill>
                <a:effectLst/>
                <a:latin typeface="Consolas" panose="020B0609020204030204" pitchFamily="49" charset="0"/>
              </a:rPr>
              <a:t>// ReferenceError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458B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53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4E9E-ED8F-4BA1-9BC8-39F65C47A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942" y="-106822"/>
            <a:ext cx="9298858" cy="667262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mean by enumerable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15F2-0955-472E-8632-52EC8FB6F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314633"/>
            <a:ext cx="6292645" cy="52822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	&lt;script&gt;</a:t>
            </a:r>
          </a:p>
          <a:p>
            <a:pPr marL="0" indent="0">
              <a:buNone/>
            </a:pPr>
            <a:r>
              <a:rPr lang="en-IN" sz="1800" dirty="0"/>
              <a:t>let person=function(</a:t>
            </a:r>
            <a:r>
              <a:rPr lang="en-IN" sz="1800" dirty="0" err="1"/>
              <a:t>nm,ag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   {     this.name=nm;</a:t>
            </a:r>
          </a:p>
          <a:p>
            <a:pPr marL="0" indent="0">
              <a:buNone/>
            </a:pPr>
            <a:r>
              <a:rPr lang="en-IN" sz="1800" dirty="0"/>
              <a:t>	 </a:t>
            </a:r>
            <a:r>
              <a:rPr lang="en-IN" sz="1800" dirty="0" err="1"/>
              <a:t>this.age</a:t>
            </a:r>
            <a:r>
              <a:rPr lang="en-IN" sz="1800" dirty="0"/>
              <a:t>=ag;</a:t>
            </a:r>
          </a:p>
          <a:p>
            <a:pPr marL="0" indent="0">
              <a:buNone/>
            </a:pPr>
            <a:r>
              <a:rPr lang="en-IN" sz="1800" dirty="0"/>
              <a:t>       </a:t>
            </a:r>
            <a:r>
              <a:rPr lang="en-IN" sz="1800" dirty="0" err="1"/>
              <a:t>this.dojob</a:t>
            </a:r>
            <a:r>
              <a:rPr lang="en-IN" sz="1800" dirty="0"/>
              <a:t>=function()   {</a:t>
            </a:r>
          </a:p>
          <a:p>
            <a:pPr marL="0" indent="0">
              <a:buNone/>
            </a:pPr>
            <a:r>
              <a:rPr lang="en-IN" sz="1800" dirty="0"/>
              <a:t>                        </a:t>
            </a:r>
            <a:r>
              <a:rPr lang="en-IN" sz="1800" dirty="0" err="1"/>
              <a:t>document.write</a:t>
            </a:r>
            <a:r>
              <a:rPr lang="en-IN" sz="1800" dirty="0"/>
              <a:t>("do-=== job hello&lt;</a:t>
            </a:r>
            <a:r>
              <a:rPr lang="en-IN" sz="1800" dirty="0" err="1"/>
              <a:t>br</a:t>
            </a:r>
            <a:r>
              <a:rPr lang="en-IN" sz="1800" dirty="0"/>
              <a:t>/&gt;");</a:t>
            </a:r>
          </a:p>
          <a:p>
            <a:pPr marL="0" indent="0">
              <a:buNone/>
            </a:pPr>
            <a:r>
              <a:rPr lang="en-IN" sz="1800" dirty="0"/>
              <a:t>                       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IN" sz="1800" dirty="0"/>
              <a:t>let </a:t>
            </a:r>
            <a:r>
              <a:rPr lang="en-IN" sz="1800" dirty="0" err="1"/>
              <a:t>obj</a:t>
            </a:r>
            <a:r>
              <a:rPr lang="en-IN" sz="1800" dirty="0"/>
              <a:t>=new person("Raj",25);</a:t>
            </a:r>
          </a:p>
          <a:p>
            <a:pPr marL="0" indent="0">
              <a:buNone/>
            </a:pPr>
            <a:r>
              <a:rPr lang="en-IN" sz="1800" dirty="0" err="1"/>
              <a:t>obj.dojob</a:t>
            </a:r>
            <a:r>
              <a:rPr lang="en-IN" sz="1800" dirty="0"/>
              <a:t>()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("&lt;hr/&gt;")</a:t>
            </a:r>
          </a:p>
          <a:p>
            <a:pPr marL="0" indent="0">
              <a:buNone/>
            </a:pPr>
            <a:r>
              <a:rPr lang="en-IN" sz="1800" dirty="0"/>
              <a:t>for(let prop in </a:t>
            </a:r>
            <a:r>
              <a:rPr lang="en-IN" sz="1800" dirty="0" err="1"/>
              <a:t>obj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{ if(</a:t>
            </a:r>
            <a:r>
              <a:rPr lang="en-IN" sz="1800" dirty="0" err="1"/>
              <a:t>typeof</a:t>
            </a:r>
            <a:r>
              <a:rPr lang="en-IN" sz="1800" dirty="0"/>
              <a:t> </a:t>
            </a:r>
            <a:r>
              <a:rPr lang="en-IN" sz="1800" dirty="0" err="1"/>
              <a:t>obj</a:t>
            </a:r>
            <a:r>
              <a:rPr lang="en-IN" sz="1800" dirty="0"/>
              <a:t>[prop]==‘function’)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obj</a:t>
            </a:r>
            <a:r>
              <a:rPr lang="en-IN" sz="1800" dirty="0"/>
              <a:t>[prop]();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(prop+" "+</a:t>
            </a:r>
            <a:r>
              <a:rPr lang="en-IN" sz="1800" dirty="0" err="1"/>
              <a:t>obj</a:t>
            </a:r>
            <a:r>
              <a:rPr lang="en-IN" sz="1800" dirty="0"/>
              <a:t>[prop]);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("&lt;hr/&gt;")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729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20A9-7B6F-4400-9C7B-F807B983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36226" cy="304401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Expression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53DC1-19BD-4E5D-9DFD-CB63852EF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632" y="1763912"/>
            <a:ext cx="5936226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Just like functions, classes can be defined inside another expression, passed around, returned, assigned, etc.</a:t>
            </a:r>
          </a:p>
          <a:p>
            <a:endParaRPr lang="en-US" dirty="0"/>
          </a:p>
          <a:p>
            <a:r>
              <a:rPr lang="en-US" dirty="0"/>
              <a:t>Here’s an example of a class expression: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User = class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sayHi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alert("Hello");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66EEB-621B-47BC-9741-3DE2EF1D7127}"/>
              </a:ext>
            </a:extLst>
          </p:cNvPr>
          <p:cNvSpPr txBox="1"/>
          <p:nvPr/>
        </p:nvSpPr>
        <p:spPr>
          <a:xfrm>
            <a:off x="6548284" y="4099509"/>
            <a:ext cx="4097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User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works, shows definition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9F394-9E6C-4FAB-A312-21BF12222AC4}"/>
              </a:ext>
            </a:extLst>
          </p:cNvPr>
          <p:cNvSpPr/>
          <p:nvPr/>
        </p:nvSpPr>
        <p:spPr>
          <a:xfrm>
            <a:off x="6132871" y="5244577"/>
            <a:ext cx="1622322" cy="943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5E2DD-ED1C-4BF4-A05B-6DDA2A34FAF8}"/>
              </a:ext>
            </a:extLst>
          </p:cNvPr>
          <p:cNvSpPr txBox="1"/>
          <p:nvPr/>
        </p:nvSpPr>
        <p:spPr>
          <a:xfrm>
            <a:off x="6132871" y="4838633"/>
            <a:ext cx="2025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User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D65275-FCA5-4565-AF48-A1E678D6F03C}"/>
              </a:ext>
            </a:extLst>
          </p:cNvPr>
          <p:cNvSpPr txBox="1"/>
          <p:nvPr/>
        </p:nvSpPr>
        <p:spPr>
          <a:xfrm>
            <a:off x="8895736" y="5312150"/>
            <a:ext cx="1442883" cy="483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sayHi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B5AC6F-72FD-4EF9-B32C-6364D23DEAA2}"/>
              </a:ext>
            </a:extLst>
          </p:cNvPr>
          <p:cNvSpPr/>
          <p:nvPr/>
        </p:nvSpPr>
        <p:spPr>
          <a:xfrm>
            <a:off x="9016181" y="5827846"/>
            <a:ext cx="1236406" cy="2803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A2EAF-D525-418B-A7D2-8CC56CF67AA7}"/>
              </a:ext>
            </a:extLst>
          </p:cNvPr>
          <p:cNvSpPr txBox="1"/>
          <p:nvPr/>
        </p:nvSpPr>
        <p:spPr>
          <a:xfrm>
            <a:off x="6415549" y="365125"/>
            <a:ext cx="2507226" cy="227754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};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465C5-3506-47AE-AFCD-72C1C68047C9}"/>
              </a:ext>
            </a:extLst>
          </p:cNvPr>
          <p:cNvSpPr txBox="1"/>
          <p:nvPr/>
        </p:nvSpPr>
        <p:spPr>
          <a:xfrm>
            <a:off x="9252154" y="365125"/>
            <a:ext cx="2782529" cy="2123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IN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unction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};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51DDED-7053-465D-8B13-1DF8A0F980C3}"/>
              </a:ext>
            </a:extLst>
          </p:cNvPr>
          <p:cNvCxnSpPr/>
          <p:nvPr/>
        </p:nvCxnSpPr>
        <p:spPr>
          <a:xfrm>
            <a:off x="7374194" y="2019367"/>
            <a:ext cx="1641987" cy="943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688A796-3F8C-431E-AB7E-E59D9AC9A05F}"/>
              </a:ext>
            </a:extLst>
          </p:cNvPr>
          <p:cNvSpPr/>
          <p:nvPr/>
        </p:nvSpPr>
        <p:spPr>
          <a:xfrm>
            <a:off x="9158749" y="2942697"/>
            <a:ext cx="599768" cy="4863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obj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092DC2-5E50-4E7C-886A-CD50CED72929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9758517" y="3185849"/>
            <a:ext cx="580102" cy="2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CCFC94A-B441-48AA-A93F-FBE63DA4AADD}"/>
              </a:ext>
            </a:extLst>
          </p:cNvPr>
          <p:cNvSpPr/>
          <p:nvPr/>
        </p:nvSpPr>
        <p:spPr>
          <a:xfrm>
            <a:off x="10338619" y="2705859"/>
            <a:ext cx="1052052" cy="9433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sayhi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5F9F2C-1C20-46E8-8F5C-4E5A312FAE05}"/>
              </a:ext>
            </a:extLst>
          </p:cNvPr>
          <p:cNvSpPr/>
          <p:nvPr/>
        </p:nvSpPr>
        <p:spPr>
          <a:xfrm>
            <a:off x="11496369" y="3429000"/>
            <a:ext cx="695632" cy="317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Alert()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23E0D5-C84F-AF2B-36D9-64654AB60249}"/>
              </a:ext>
            </a:extLst>
          </p:cNvPr>
          <p:cNvSpPr txBox="1"/>
          <p:nvPr/>
        </p:nvSpPr>
        <p:spPr>
          <a:xfrm>
            <a:off x="1927816" y="5312150"/>
            <a:ext cx="3290227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Let obj=new User()</a:t>
            </a:r>
          </a:p>
          <a:p>
            <a:r>
              <a:rPr lang="en-US" dirty="0" err="1"/>
              <a:t>obj.sayHi</a:t>
            </a:r>
            <a:r>
              <a:rPr lang="en-US" dirty="0"/>
              <a:t>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14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E5D3-3F9D-496A-8AD7-BDB17E04E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36" y="41786"/>
            <a:ext cx="11019503" cy="578772"/>
          </a:xfrm>
        </p:spPr>
        <p:txBody>
          <a:bodyPr>
            <a:noAutofit/>
          </a:bodyPr>
          <a:lstStyle/>
          <a:p>
            <a:r>
              <a:rPr lang="en-US" sz="2400" b="0" i="0" dirty="0">
                <a:solidFill>
                  <a:srgbClr val="333333"/>
                </a:solidFill>
                <a:effectLst/>
                <a:latin typeface="BlinkMacSystemFont"/>
              </a:rPr>
              <a:t>We can even make classes dynamically “on-demand”, like this: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B5B3-635D-4039-B094-01315391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93" y="620558"/>
            <a:ext cx="10019071" cy="59288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makeClass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phrase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declare a class and return it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class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         {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alert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phrase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Create a new class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IN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makeClass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User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Hello</a:t>
            </a:r>
          </a:p>
          <a:p>
            <a:pPr marL="0" indent="0">
              <a:buNone/>
            </a:pP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Let </a:t>
            </a: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uobj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=new User()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u</a:t>
            </a:r>
            <a:r>
              <a:rPr lang="en-IN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obj.sayHi</a:t>
            </a:r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2F0B6E-FD4A-408E-AF82-5388DD514192}"/>
              </a:ext>
            </a:extLst>
          </p:cNvPr>
          <p:cNvCxnSpPr/>
          <p:nvPr/>
        </p:nvCxnSpPr>
        <p:spPr>
          <a:xfrm flipV="1">
            <a:off x="3441290" y="3854245"/>
            <a:ext cx="2782529" cy="943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27A6A9-7166-4503-AE7E-CCA113AF3FC6}"/>
              </a:ext>
            </a:extLst>
          </p:cNvPr>
          <p:cNvSpPr/>
          <p:nvPr/>
        </p:nvSpPr>
        <p:spPr>
          <a:xfrm>
            <a:off x="7049729" y="4434348"/>
            <a:ext cx="2733368" cy="15534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class</a:t>
            </a:r>
          </a:p>
          <a:p>
            <a:pPr marL="0" indent="0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     { </a:t>
            </a:r>
            <a:r>
              <a:rPr lang="en-IN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pPr marL="0" indent="0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         { alert(phrase); };</a:t>
            </a:r>
          </a:p>
          <a:p>
            <a:pPr marL="0" indent="0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     };</a:t>
            </a:r>
          </a:p>
        </p:txBody>
      </p:sp>
    </p:spTree>
    <p:extLst>
      <p:ext uri="{BB962C8B-B14F-4D97-AF65-F5344CB8AC3E}">
        <p14:creationId xmlns:p14="http://schemas.microsoft.com/office/powerpoint/2010/main" val="73828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C590-63FA-41FC-A3B0-AEFC5F2F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8" y="138984"/>
            <a:ext cx="9928123" cy="647598"/>
          </a:xfrm>
        </p:spPr>
        <p:txBody>
          <a:bodyPr>
            <a:normAutofit fontScale="90000"/>
          </a:bodyPr>
          <a:lstStyle/>
          <a:p>
            <a:r>
              <a:rPr lang="en-IN" dirty="0"/>
              <a:t>Add deposit and display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3CBE-BB3F-43CA-9E15-E8525324B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609599"/>
            <a:ext cx="4945626" cy="59141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&lt;script&gt;</a:t>
            </a:r>
          </a:p>
          <a:p>
            <a:pPr marL="0" indent="0">
              <a:buNone/>
            </a:pPr>
            <a:r>
              <a:rPr lang="en-IN" sz="1800" dirty="0"/>
              <a:t>'use strict'</a:t>
            </a:r>
          </a:p>
          <a:p>
            <a:pPr marL="0" indent="0">
              <a:buNone/>
            </a:pPr>
            <a:r>
              <a:rPr lang="en-IN" sz="1800" dirty="0"/>
              <a:t>class Account </a:t>
            </a:r>
          </a:p>
          <a:p>
            <a:pPr marL="0" indent="0">
              <a:buNone/>
            </a:pPr>
            <a:r>
              <a:rPr lang="en-IN" sz="1800" dirty="0"/>
              <a:t>{ </a:t>
            </a:r>
          </a:p>
          <a:p>
            <a:pPr marL="0" indent="0">
              <a:buNone/>
            </a:pPr>
            <a:r>
              <a:rPr lang="en-IN" sz="1800" dirty="0"/>
              <a:t>   constructor(</a:t>
            </a:r>
            <a:r>
              <a:rPr lang="en-IN" sz="1800" dirty="0" err="1"/>
              <a:t>name,amt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  { </a:t>
            </a:r>
          </a:p>
          <a:p>
            <a:pPr marL="0" indent="0">
              <a:buNone/>
            </a:pPr>
            <a:r>
              <a:rPr lang="en-IN" sz="1800" dirty="0"/>
              <a:t>  this.name=name;</a:t>
            </a:r>
          </a:p>
          <a:p>
            <a:pPr marL="0" indent="0">
              <a:buNone/>
            </a:pPr>
            <a:r>
              <a:rPr lang="en-IN" sz="1800" dirty="0"/>
              <a:t>  </a:t>
            </a:r>
            <a:r>
              <a:rPr lang="en-IN" sz="1800" dirty="0" err="1"/>
              <a:t>this.balance</a:t>
            </a:r>
            <a:r>
              <a:rPr lang="en-IN" sz="1800" dirty="0"/>
              <a:t>=amt;</a:t>
            </a:r>
          </a:p>
          <a:p>
            <a:pPr marL="0" indent="0">
              <a:buNone/>
            </a:pPr>
            <a:r>
              <a:rPr lang="en-IN" sz="1800" dirty="0"/>
              <a:t>  alert(</a:t>
            </a:r>
            <a:r>
              <a:rPr lang="en-IN" sz="1800" dirty="0" err="1"/>
              <a:t>typeof</a:t>
            </a:r>
            <a:r>
              <a:rPr lang="en-IN" sz="1800" dirty="0"/>
              <a:t> </a:t>
            </a:r>
            <a:r>
              <a:rPr lang="en-IN" sz="1800" dirty="0" err="1"/>
              <a:t>this.constructor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r>
              <a:rPr lang="en-IN" sz="1800" dirty="0"/>
              <a:t>	deposit(amt)</a:t>
            </a:r>
          </a:p>
          <a:p>
            <a:pPr marL="0" indent="0">
              <a:buNone/>
            </a:pPr>
            <a:r>
              <a:rPr lang="en-IN" sz="1800" dirty="0"/>
              <a:t>	{ </a:t>
            </a:r>
            <a:r>
              <a:rPr lang="en-IN" sz="1800" dirty="0" err="1"/>
              <a:t>this.balance</a:t>
            </a:r>
            <a:r>
              <a:rPr lang="en-IN" sz="1800" dirty="0"/>
              <a:t>+=amt;</a:t>
            </a:r>
          </a:p>
          <a:p>
            <a:pPr marL="0" indent="0">
              <a:buNone/>
            </a:pPr>
            <a:r>
              <a:rPr lang="en-IN" sz="1800" dirty="0"/>
              <a:t>	}</a:t>
            </a:r>
          </a:p>
          <a:p>
            <a:pPr marL="0" indent="0">
              <a:buNone/>
            </a:pPr>
            <a:r>
              <a:rPr lang="en-IN" sz="1800" dirty="0"/>
              <a:t>	display()</a:t>
            </a:r>
          </a:p>
          <a:p>
            <a:pPr marL="0" indent="0">
              <a:buNone/>
            </a:pPr>
            <a:r>
              <a:rPr lang="en-IN" sz="1800" dirty="0"/>
              <a:t>	{return this.name+ "  " +</a:t>
            </a:r>
            <a:r>
              <a:rPr lang="en-IN" sz="1800" dirty="0" err="1"/>
              <a:t>this.balance</a:t>
            </a: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C209A-4A51-4F44-A2D9-5E12F0CB44A5}"/>
              </a:ext>
            </a:extLst>
          </p:cNvPr>
          <p:cNvSpPr txBox="1"/>
          <p:nvPr/>
        </p:nvSpPr>
        <p:spPr>
          <a:xfrm>
            <a:off x="3234818" y="974353"/>
            <a:ext cx="42180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800" dirty="0"/>
              <a:t>var obj1=new Account("raj",20000);</a:t>
            </a:r>
          </a:p>
          <a:p>
            <a:pPr marL="0" indent="0">
              <a:buNone/>
            </a:pPr>
            <a:r>
              <a:rPr lang="en-IN" sz="1800" dirty="0"/>
              <a:t>console.log(obj1.display());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(obj1.display());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obj1.name="</a:t>
            </a:r>
            <a:r>
              <a:rPr lang="en-IN" sz="1800" dirty="0" err="1"/>
              <a:t>geeta</a:t>
            </a:r>
            <a:r>
              <a:rPr lang="en-IN" sz="1800" dirty="0"/>
              <a:t>";</a:t>
            </a:r>
          </a:p>
          <a:p>
            <a:pPr marL="0" indent="0">
              <a:buNone/>
            </a:pPr>
            <a:r>
              <a:rPr lang="en-IN" sz="1800" dirty="0"/>
              <a:t>console.log(obj1.display());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(obj1.display());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var obj2=new Account("Mona",50000);</a:t>
            </a:r>
          </a:p>
          <a:p>
            <a:pPr marL="0" indent="0">
              <a:buNone/>
            </a:pPr>
            <a:r>
              <a:rPr lang="en-IN" sz="1800" dirty="0"/>
              <a:t>console.log(obj2);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console.log(new Object());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(new Object());</a:t>
            </a:r>
          </a:p>
          <a:p>
            <a:pPr marL="0" indent="0">
              <a:buNone/>
            </a:pPr>
            <a:r>
              <a:rPr lang="en-IN" sz="1800" dirty="0"/>
              <a:t>&lt;/script&gt;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48ECC9-F413-454F-916A-321205C2313D}"/>
              </a:ext>
            </a:extLst>
          </p:cNvPr>
          <p:cNvSpPr/>
          <p:nvPr/>
        </p:nvSpPr>
        <p:spPr>
          <a:xfrm>
            <a:off x="6182033" y="3864591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436267-8F45-4B96-B190-17BCAE24059B}"/>
              </a:ext>
            </a:extLst>
          </p:cNvPr>
          <p:cNvCxnSpPr>
            <a:cxnSpLocks/>
          </p:cNvCxnSpPr>
          <p:nvPr/>
        </p:nvCxnSpPr>
        <p:spPr>
          <a:xfrm flipV="1">
            <a:off x="6813758" y="3968655"/>
            <a:ext cx="963561" cy="275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EB5FB7B-B60E-4B83-84FB-DA49FADF8A65}"/>
              </a:ext>
            </a:extLst>
          </p:cNvPr>
          <p:cNvSpPr txBox="1"/>
          <p:nvPr/>
        </p:nvSpPr>
        <p:spPr>
          <a:xfrm>
            <a:off x="7762570" y="3645489"/>
            <a:ext cx="2310580" cy="64633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this.name=raj  </a:t>
            </a:r>
            <a:r>
              <a:rPr lang="en-IN" dirty="0" err="1">
                <a:solidFill>
                  <a:schemeClr val="bg1"/>
                </a:solidFill>
              </a:rPr>
              <a:t>geeta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this.balance</a:t>
            </a:r>
            <a:r>
              <a:rPr lang="en-IN" dirty="0">
                <a:solidFill>
                  <a:schemeClr val="bg1"/>
                </a:solidFill>
              </a:rPr>
              <a:t>=20000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FAC600-1985-43D4-A681-AFA4AC8658C4}"/>
              </a:ext>
            </a:extLst>
          </p:cNvPr>
          <p:cNvSpPr/>
          <p:nvPr/>
        </p:nvSpPr>
        <p:spPr>
          <a:xfrm>
            <a:off x="6120584" y="4996767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4D08C-934D-4BD5-9314-8BCCDE7937DD}"/>
              </a:ext>
            </a:extLst>
          </p:cNvPr>
          <p:cNvSpPr txBox="1"/>
          <p:nvPr/>
        </p:nvSpPr>
        <p:spPr>
          <a:xfrm>
            <a:off x="7762570" y="4929116"/>
            <a:ext cx="2310580" cy="64633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this.name=mona</a:t>
            </a:r>
          </a:p>
          <a:p>
            <a:r>
              <a:rPr lang="en-IN" dirty="0" err="1">
                <a:solidFill>
                  <a:schemeClr val="bg1"/>
                </a:solidFill>
              </a:rPr>
              <a:t>this.balance</a:t>
            </a:r>
            <a:r>
              <a:rPr lang="en-IN" dirty="0">
                <a:solidFill>
                  <a:schemeClr val="bg1"/>
                </a:solidFill>
              </a:rPr>
              <a:t>=50000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D60326-2502-4B40-9500-5D54C02839FF}"/>
              </a:ext>
            </a:extLst>
          </p:cNvPr>
          <p:cNvCxnSpPr>
            <a:cxnSpLocks/>
          </p:cNvCxnSpPr>
          <p:nvPr/>
        </p:nvCxnSpPr>
        <p:spPr>
          <a:xfrm flipV="1">
            <a:off x="6813758" y="5207048"/>
            <a:ext cx="963561" cy="275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7E6AB50-118C-4230-9766-3B3D81CA2C1C}"/>
              </a:ext>
            </a:extLst>
          </p:cNvPr>
          <p:cNvSpPr/>
          <p:nvPr/>
        </p:nvSpPr>
        <p:spPr>
          <a:xfrm>
            <a:off x="7998545" y="373845"/>
            <a:ext cx="3229895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3C3C98-6AA0-493E-9974-2D9EF0FB94A9}"/>
              </a:ext>
            </a:extLst>
          </p:cNvPr>
          <p:cNvSpPr/>
          <p:nvPr/>
        </p:nvSpPr>
        <p:spPr>
          <a:xfrm>
            <a:off x="9547123" y="1547364"/>
            <a:ext cx="2526890" cy="5460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dirty="0"/>
              <a:t>deposit(amt){ 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4FEBAD-9758-40FD-9CDA-92159A205996}"/>
              </a:ext>
            </a:extLst>
          </p:cNvPr>
          <p:cNvSpPr/>
          <p:nvPr/>
        </p:nvSpPr>
        <p:spPr>
          <a:xfrm>
            <a:off x="9655277" y="2438401"/>
            <a:ext cx="2045110" cy="3226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display(){}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F7C7D5-6B60-4086-BCFE-92F5C9DF7DA2}"/>
              </a:ext>
            </a:extLst>
          </p:cNvPr>
          <p:cNvCxnSpPr>
            <a:cxnSpLocks/>
          </p:cNvCxnSpPr>
          <p:nvPr/>
        </p:nvCxnSpPr>
        <p:spPr>
          <a:xfrm>
            <a:off x="8613058" y="974353"/>
            <a:ext cx="0" cy="84604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63E3B4-066D-495F-9BA5-045599AD4A4C}"/>
              </a:ext>
            </a:extLst>
          </p:cNvPr>
          <p:cNvCxnSpPr/>
          <p:nvPr/>
        </p:nvCxnSpPr>
        <p:spPr>
          <a:xfrm flipV="1">
            <a:off x="8711381" y="3736258"/>
            <a:ext cx="471948" cy="23239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82D37F3-A626-4F07-BE11-32C7DDF2F0B0}"/>
              </a:ext>
            </a:extLst>
          </p:cNvPr>
          <p:cNvSpPr/>
          <p:nvPr/>
        </p:nvSpPr>
        <p:spPr>
          <a:xfrm>
            <a:off x="7801902" y="1855365"/>
            <a:ext cx="1396178" cy="756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Account</a:t>
            </a:r>
          </a:p>
        </p:txBody>
      </p:sp>
    </p:spTree>
    <p:extLst>
      <p:ext uri="{BB962C8B-B14F-4D97-AF65-F5344CB8AC3E}">
        <p14:creationId xmlns:p14="http://schemas.microsoft.com/office/powerpoint/2010/main" val="62868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336D0-AFB4-4241-A7AF-ECAF02A5B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497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Override  to </a:t>
            </a:r>
            <a:r>
              <a:rPr lang="en-IN" dirty="0" err="1"/>
              <a:t>toString</a:t>
            </a:r>
            <a:r>
              <a:rPr lang="en-IN" dirty="0"/>
              <a:t>() method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5707-A0DC-429A-9708-3F2441E91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530941"/>
            <a:ext cx="5161937" cy="61451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&lt;script&gt;</a:t>
            </a:r>
          </a:p>
          <a:p>
            <a:pPr marL="0" indent="0">
              <a:buNone/>
            </a:pPr>
            <a:r>
              <a:rPr lang="en-IN" sz="1800" dirty="0"/>
              <a:t>'use strict'</a:t>
            </a:r>
          </a:p>
          <a:p>
            <a:pPr marL="0" indent="0">
              <a:buNone/>
            </a:pPr>
            <a:r>
              <a:rPr lang="en-IN" sz="1800" dirty="0"/>
              <a:t>class Account </a:t>
            </a:r>
          </a:p>
          <a:p>
            <a:pPr marL="0" indent="0">
              <a:buNone/>
            </a:pPr>
            <a:r>
              <a:rPr lang="en-IN" sz="1800" dirty="0"/>
              <a:t>{</a:t>
            </a:r>
          </a:p>
          <a:p>
            <a:pPr marL="0" indent="0">
              <a:buNone/>
            </a:pPr>
            <a:r>
              <a:rPr lang="en-IN" sz="1800" dirty="0"/>
              <a:t> constructor(</a:t>
            </a:r>
            <a:r>
              <a:rPr lang="en-IN" sz="1800" dirty="0" err="1"/>
              <a:t>name,amt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  { </a:t>
            </a:r>
          </a:p>
          <a:p>
            <a:pPr marL="0" indent="0">
              <a:buNone/>
            </a:pPr>
            <a:r>
              <a:rPr lang="en-IN" sz="1800" dirty="0"/>
              <a:t>  this.name=name;</a:t>
            </a:r>
          </a:p>
          <a:p>
            <a:pPr marL="0" indent="0">
              <a:buNone/>
            </a:pPr>
            <a:r>
              <a:rPr lang="en-IN" sz="1800" dirty="0"/>
              <a:t>  </a:t>
            </a:r>
            <a:r>
              <a:rPr lang="en-IN" sz="1800" dirty="0" err="1"/>
              <a:t>this.balance</a:t>
            </a:r>
            <a:r>
              <a:rPr lang="en-IN" sz="1800" dirty="0"/>
              <a:t>=amt;</a:t>
            </a:r>
          </a:p>
          <a:p>
            <a:pPr marL="0" indent="0">
              <a:buNone/>
            </a:pPr>
            <a:r>
              <a:rPr lang="en-IN" sz="1800" dirty="0"/>
              <a:t>  alert(</a:t>
            </a:r>
            <a:r>
              <a:rPr lang="en-IN" sz="1800" dirty="0" err="1"/>
              <a:t>typeof</a:t>
            </a:r>
            <a:r>
              <a:rPr lang="en-IN" sz="1800" dirty="0"/>
              <a:t> </a:t>
            </a:r>
            <a:r>
              <a:rPr lang="en-IN" sz="1800" dirty="0" err="1"/>
              <a:t>this.constructor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r>
              <a:rPr lang="en-IN" sz="1800" dirty="0"/>
              <a:t>	deposit(amt)</a:t>
            </a:r>
          </a:p>
          <a:p>
            <a:pPr marL="0" indent="0">
              <a:buNone/>
            </a:pPr>
            <a:r>
              <a:rPr lang="en-IN" sz="1800" dirty="0"/>
              <a:t>	{      </a:t>
            </a:r>
            <a:r>
              <a:rPr lang="en-IN" sz="1800" dirty="0" err="1"/>
              <a:t>this.balance</a:t>
            </a:r>
            <a:r>
              <a:rPr lang="en-IN" sz="1800" dirty="0"/>
              <a:t>+=amt;</a:t>
            </a:r>
          </a:p>
          <a:p>
            <a:pPr marL="0" indent="0">
              <a:buNone/>
            </a:pPr>
            <a:r>
              <a:rPr lang="en-IN" sz="1800" dirty="0"/>
              <a:t>	}</a:t>
            </a:r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 err="1"/>
              <a:t>toString</a:t>
            </a:r>
            <a:r>
              <a:rPr lang="en-IN" sz="1800" dirty="0"/>
              <a:t>()</a:t>
            </a:r>
          </a:p>
          <a:p>
            <a:pPr marL="0" indent="0">
              <a:buNone/>
            </a:pPr>
            <a:r>
              <a:rPr lang="en-IN" sz="1800" dirty="0"/>
              <a:t>	{return this.name+ "  " +</a:t>
            </a:r>
            <a:r>
              <a:rPr lang="en-IN" sz="1800" dirty="0" err="1"/>
              <a:t>this.balance</a:t>
            </a: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B048B-DF9B-4C18-AE1F-F60479ED5B0A}"/>
              </a:ext>
            </a:extLst>
          </p:cNvPr>
          <p:cNvSpPr txBox="1"/>
          <p:nvPr/>
        </p:nvSpPr>
        <p:spPr>
          <a:xfrm>
            <a:off x="3784189" y="843677"/>
            <a:ext cx="49161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800" dirty="0"/>
              <a:t>var obj1=new Account("raj",20000);</a:t>
            </a:r>
          </a:p>
          <a:p>
            <a:pPr marL="0" indent="0">
              <a:buNone/>
            </a:pPr>
            <a:r>
              <a:rPr lang="en-IN" sz="1800" dirty="0"/>
              <a:t>console.log(obj1);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(obj1);</a:t>
            </a:r>
          </a:p>
          <a:p>
            <a:pPr marL="0" indent="0">
              <a:buNone/>
            </a:pPr>
            <a:r>
              <a:rPr lang="en-IN" sz="1800" dirty="0"/>
              <a:t>console.log(obj1);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var obj2=new Account("Mona",50000);</a:t>
            </a:r>
          </a:p>
          <a:p>
            <a:pPr marL="0" indent="0">
              <a:buNone/>
            </a:pPr>
            <a:r>
              <a:rPr lang="en-IN" sz="1800" dirty="0"/>
              <a:t>console.log(obj2);</a:t>
            </a:r>
          </a:p>
          <a:p>
            <a:pPr marL="0" indent="0">
              <a:buNone/>
            </a:pPr>
            <a:r>
              <a:rPr lang="en-IN" sz="1800" dirty="0"/>
              <a:t>&lt;/script&gt;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2C38B7-B423-4B20-B6FC-879EB725AC88}"/>
              </a:ext>
            </a:extLst>
          </p:cNvPr>
          <p:cNvSpPr/>
          <p:nvPr/>
        </p:nvSpPr>
        <p:spPr>
          <a:xfrm>
            <a:off x="6182033" y="3864591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2EE97E-5D06-4ADA-AC7D-001547B4A983}"/>
              </a:ext>
            </a:extLst>
          </p:cNvPr>
          <p:cNvSpPr txBox="1"/>
          <p:nvPr/>
        </p:nvSpPr>
        <p:spPr>
          <a:xfrm>
            <a:off x="7762570" y="3645489"/>
            <a:ext cx="2310580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this.name=raj</a:t>
            </a:r>
          </a:p>
          <a:p>
            <a:r>
              <a:rPr lang="en-IN" dirty="0" err="1"/>
              <a:t>this.balance</a:t>
            </a:r>
            <a:r>
              <a:rPr lang="en-IN" dirty="0"/>
              <a:t>=20000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55967E-7562-4435-86C5-D1339458B95F}"/>
              </a:ext>
            </a:extLst>
          </p:cNvPr>
          <p:cNvSpPr/>
          <p:nvPr/>
        </p:nvSpPr>
        <p:spPr>
          <a:xfrm>
            <a:off x="6120584" y="4996767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A76563-896F-4AE9-8F5A-8FF0F7365478}"/>
              </a:ext>
            </a:extLst>
          </p:cNvPr>
          <p:cNvSpPr txBox="1"/>
          <p:nvPr/>
        </p:nvSpPr>
        <p:spPr>
          <a:xfrm>
            <a:off x="7762570" y="4929116"/>
            <a:ext cx="2310580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this.name=mona</a:t>
            </a:r>
          </a:p>
          <a:p>
            <a:r>
              <a:rPr lang="en-IN"/>
              <a:t>this</a:t>
            </a:r>
            <a:r>
              <a:rPr lang="en-IN" dirty="0" err="1"/>
              <a:t>.balance</a:t>
            </a:r>
            <a:r>
              <a:rPr lang="en-IN" dirty="0"/>
              <a:t>=50000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47CE2-5361-4063-90BB-65C88102B3D5}"/>
              </a:ext>
            </a:extLst>
          </p:cNvPr>
          <p:cNvSpPr/>
          <p:nvPr/>
        </p:nvSpPr>
        <p:spPr>
          <a:xfrm>
            <a:off x="7762570" y="349647"/>
            <a:ext cx="2526891" cy="1383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dirty="0"/>
              <a:t>Object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CE202E-B5E1-435B-8F82-6098315B3406}"/>
              </a:ext>
            </a:extLst>
          </p:cNvPr>
          <p:cNvSpPr/>
          <p:nvPr/>
        </p:nvSpPr>
        <p:spPr>
          <a:xfrm>
            <a:off x="9485674" y="2209565"/>
            <a:ext cx="2526890" cy="5460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dirty="0"/>
              <a:t>deposit(amt){ 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3805CE-C0C0-4C42-ADE2-8B4B2251397A}"/>
              </a:ext>
            </a:extLst>
          </p:cNvPr>
          <p:cNvSpPr/>
          <p:nvPr/>
        </p:nvSpPr>
        <p:spPr>
          <a:xfrm>
            <a:off x="10400073" y="1049849"/>
            <a:ext cx="1612491" cy="3149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toString</a:t>
            </a:r>
            <a:r>
              <a:rPr lang="en-IN" dirty="0"/>
              <a:t>(){}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AA6611-C83C-4046-BD76-545DF66532B5}"/>
              </a:ext>
            </a:extLst>
          </p:cNvPr>
          <p:cNvSpPr/>
          <p:nvPr/>
        </p:nvSpPr>
        <p:spPr>
          <a:xfrm>
            <a:off x="10289461" y="3521785"/>
            <a:ext cx="2045110" cy="32266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toString</a:t>
            </a:r>
            <a:r>
              <a:rPr lang="en-IN" dirty="0"/>
              <a:t>()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2C6BE8-F435-4849-AEE0-AE88A8D5DC1F}"/>
              </a:ext>
            </a:extLst>
          </p:cNvPr>
          <p:cNvCxnSpPr/>
          <p:nvPr/>
        </p:nvCxnSpPr>
        <p:spPr>
          <a:xfrm>
            <a:off x="8052619" y="1733601"/>
            <a:ext cx="186813" cy="1550373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E88D1C-C025-4765-B8A5-6D4C6703856E}"/>
              </a:ext>
            </a:extLst>
          </p:cNvPr>
          <p:cNvCxnSpPr>
            <a:stCxn id="6" idx="3"/>
          </p:cNvCxnSpPr>
          <p:nvPr/>
        </p:nvCxnSpPr>
        <p:spPr>
          <a:xfrm flipV="1">
            <a:off x="6880124" y="4109884"/>
            <a:ext cx="798870" cy="123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1FC515-13AD-4AD3-BF15-5A20D177A055}"/>
              </a:ext>
            </a:extLst>
          </p:cNvPr>
          <p:cNvCxnSpPr/>
          <p:nvPr/>
        </p:nvCxnSpPr>
        <p:spPr>
          <a:xfrm flipV="1">
            <a:off x="6821137" y="5365476"/>
            <a:ext cx="798870" cy="123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53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043D3-B4B2-478B-890A-AABA3ECF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55" y="-42823"/>
            <a:ext cx="10262419" cy="775417"/>
          </a:xfrm>
        </p:spPr>
        <p:txBody>
          <a:bodyPr/>
          <a:lstStyle/>
          <a:p>
            <a:r>
              <a:rPr lang="en-IN" dirty="0"/>
              <a:t>Getter setter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B9F5-BBD0-46E0-8896-A28928ED8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2" y="497194"/>
            <a:ext cx="5112775" cy="700481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&lt;script&gt;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'use strict'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class Account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{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constructor(</a:t>
            </a:r>
            <a:r>
              <a:rPr lang="en-IN" sz="1800" dirty="0" err="1"/>
              <a:t>name,amt</a:t>
            </a:r>
            <a:r>
              <a:rPr lang="en-IN" sz="1800" dirty="0"/>
              <a:t>) (1)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  </a:t>
            </a:r>
            <a:r>
              <a:rPr lang="en-IN" sz="1800" dirty="0" err="1"/>
              <a:t>this.Aname</a:t>
            </a:r>
            <a:r>
              <a:rPr lang="en-IN" sz="1800" dirty="0"/>
              <a:t>=name; (2)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  </a:t>
            </a:r>
            <a:r>
              <a:rPr lang="en-IN" sz="1800" dirty="0" err="1"/>
              <a:t>this.Abalance</a:t>
            </a:r>
            <a:r>
              <a:rPr lang="en-IN" sz="1800" dirty="0"/>
              <a:t>=amt; (4)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	  get </a:t>
            </a:r>
            <a:r>
              <a:rPr lang="en-IN" sz="1800" dirty="0" err="1"/>
              <a:t>Aname</a:t>
            </a:r>
            <a:r>
              <a:rPr lang="en-IN" sz="1800" dirty="0"/>
              <a:t>(){   return </a:t>
            </a:r>
            <a:r>
              <a:rPr lang="en-IN" sz="1800" dirty="0" err="1"/>
              <a:t>this._name</a:t>
            </a:r>
            <a:r>
              <a:rPr lang="en-IN" sz="1800" dirty="0"/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set </a:t>
            </a:r>
            <a:r>
              <a:rPr lang="en-IN" sz="1800" dirty="0" err="1"/>
              <a:t>Aname</a:t>
            </a:r>
            <a:r>
              <a:rPr lang="en-IN" sz="1800" dirty="0"/>
              <a:t>(</a:t>
            </a:r>
            <a:r>
              <a:rPr lang="en-IN" sz="1800" dirty="0">
                <a:solidFill>
                  <a:srgbClr val="FF0000"/>
                </a:solidFill>
              </a:rPr>
              <a:t>value</a:t>
            </a:r>
            <a:r>
              <a:rPr lang="en-IN" sz="1800" dirty="0"/>
              <a:t>) {    </a:t>
            </a:r>
            <a:r>
              <a:rPr lang="en-IN" sz="1800" dirty="0" err="1"/>
              <a:t>this._name</a:t>
            </a:r>
            <a:r>
              <a:rPr lang="en-IN" sz="1800" dirty="0"/>
              <a:t>=</a:t>
            </a:r>
            <a:r>
              <a:rPr lang="en-IN" sz="1800" dirty="0">
                <a:solidFill>
                  <a:srgbClr val="FF0000"/>
                </a:solidFill>
              </a:rPr>
              <a:t>value</a:t>
            </a:r>
            <a:r>
              <a:rPr lang="en-IN" sz="1800" dirty="0"/>
              <a:t>; } (3)</a:t>
            </a:r>
          </a:p>
          <a:p>
            <a:pPr marL="0" indent="0"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	  get </a:t>
            </a:r>
            <a:r>
              <a:rPr lang="en-IN" sz="1800" dirty="0" err="1"/>
              <a:t>Abalance</a:t>
            </a:r>
            <a:r>
              <a:rPr lang="en-IN" sz="1800" dirty="0"/>
              <a:t>() { return </a:t>
            </a:r>
            <a:r>
              <a:rPr lang="en-IN" sz="1800" dirty="0" err="1"/>
              <a:t>this._balance</a:t>
            </a:r>
            <a:r>
              <a:rPr lang="en-IN" sz="1800" dirty="0"/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set </a:t>
            </a:r>
            <a:r>
              <a:rPr lang="en-IN" sz="1800" dirty="0" err="1"/>
              <a:t>Abalance</a:t>
            </a:r>
            <a:r>
              <a:rPr lang="en-IN" sz="1800" dirty="0"/>
              <a:t>(</a:t>
            </a:r>
            <a:r>
              <a:rPr lang="en-IN" sz="1800" dirty="0">
                <a:solidFill>
                  <a:srgbClr val="FF0000"/>
                </a:solidFill>
              </a:rPr>
              <a:t>value</a:t>
            </a:r>
            <a:r>
              <a:rPr lang="en-IN" sz="1800" dirty="0"/>
              <a:t>) {    </a:t>
            </a:r>
            <a:r>
              <a:rPr lang="en-IN" sz="1800" dirty="0" err="1"/>
              <a:t>this._balance</a:t>
            </a:r>
            <a:r>
              <a:rPr lang="en-IN" sz="1800" dirty="0"/>
              <a:t>=</a:t>
            </a:r>
            <a:r>
              <a:rPr lang="en-IN" sz="1800" dirty="0">
                <a:solidFill>
                  <a:srgbClr val="FF0000"/>
                </a:solidFill>
              </a:rPr>
              <a:t>value</a:t>
            </a:r>
            <a:r>
              <a:rPr lang="en-IN" sz="1800" dirty="0"/>
              <a:t>; } (5)</a:t>
            </a:r>
          </a:p>
          <a:p>
            <a:pPr marL="0" indent="0"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	deposit(amt)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	{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                     </a:t>
            </a:r>
            <a:r>
              <a:rPr lang="en-IN" sz="1800" dirty="0" err="1"/>
              <a:t>this.Abalance</a:t>
            </a:r>
            <a:r>
              <a:rPr lang="en-IN" sz="1800" dirty="0"/>
              <a:t>= </a:t>
            </a:r>
            <a:r>
              <a:rPr lang="en-IN" sz="1800" dirty="0" err="1"/>
              <a:t>this.Abalance</a:t>
            </a:r>
            <a:r>
              <a:rPr lang="en-IN" sz="1800" dirty="0"/>
              <a:t> +amt;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	}</a:t>
            </a:r>
          </a:p>
          <a:p>
            <a:pPr marL="0" indent="0"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	</a:t>
            </a:r>
            <a:r>
              <a:rPr lang="en-IN" sz="1800" dirty="0" err="1"/>
              <a:t>toString</a:t>
            </a:r>
            <a:r>
              <a:rPr lang="en-IN" sz="18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	{ //calling get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                return </a:t>
            </a:r>
            <a:r>
              <a:rPr lang="en-IN" sz="1800" dirty="0" err="1"/>
              <a:t>this.Aname</a:t>
            </a:r>
            <a:r>
              <a:rPr lang="en-IN" sz="1800" dirty="0"/>
              <a:t>+ "  " +</a:t>
            </a:r>
            <a:r>
              <a:rPr lang="en-IN" sz="1800" dirty="0" err="1"/>
              <a:t>this.Abalance</a:t>
            </a:r>
            <a:r>
              <a:rPr lang="en-IN" sz="1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5FAB3-C706-4550-9886-3596ADE57104}"/>
              </a:ext>
            </a:extLst>
          </p:cNvPr>
          <p:cNvSpPr txBox="1"/>
          <p:nvPr/>
        </p:nvSpPr>
        <p:spPr>
          <a:xfrm>
            <a:off x="5142271" y="884903"/>
            <a:ext cx="51127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var obj1=new Account("raj",20000);</a:t>
            </a:r>
          </a:p>
          <a:p>
            <a:r>
              <a:rPr lang="en-IN" dirty="0"/>
              <a:t>console.log(obj1);</a:t>
            </a:r>
          </a:p>
          <a:p>
            <a:r>
              <a:rPr lang="en-IN" dirty="0" err="1"/>
              <a:t>document.write</a:t>
            </a:r>
            <a:r>
              <a:rPr lang="en-IN" dirty="0"/>
              <a:t>(obj1);</a:t>
            </a:r>
          </a:p>
          <a:p>
            <a:r>
              <a:rPr lang="en-IN" dirty="0"/>
              <a:t>obj1.Aname="</a:t>
            </a:r>
            <a:r>
              <a:rPr lang="en-IN" dirty="0" err="1"/>
              <a:t>geeta</a:t>
            </a:r>
            <a:r>
              <a:rPr lang="en-IN" dirty="0"/>
              <a:t>"; //calling set</a:t>
            </a:r>
          </a:p>
          <a:p>
            <a:r>
              <a:rPr lang="en-IN" dirty="0"/>
              <a:t>console.log(obj1);</a:t>
            </a:r>
          </a:p>
          <a:p>
            <a:r>
              <a:rPr lang="en-IN" dirty="0" err="1"/>
              <a:t>document.write</a:t>
            </a:r>
            <a:r>
              <a:rPr lang="en-IN" dirty="0"/>
              <a:t>(obj1);</a:t>
            </a:r>
          </a:p>
          <a:p>
            <a:r>
              <a:rPr lang="en-IN" dirty="0" err="1"/>
              <a:t>document.write</a:t>
            </a:r>
            <a:r>
              <a:rPr lang="en-IN" dirty="0"/>
              <a:t>(obj1.Aname);</a:t>
            </a:r>
          </a:p>
          <a:p>
            <a:r>
              <a:rPr lang="en-IN" dirty="0"/>
              <a:t>obj1.deposit(200);</a:t>
            </a:r>
          </a:p>
          <a:p>
            <a:r>
              <a:rPr lang="en-IN" sz="1800" dirty="0"/>
              <a:t>&lt;/script&gt;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2B7C7A-96AA-4D79-B62E-0A93BF166E9E}"/>
              </a:ext>
            </a:extLst>
          </p:cNvPr>
          <p:cNvSpPr/>
          <p:nvPr/>
        </p:nvSpPr>
        <p:spPr>
          <a:xfrm>
            <a:off x="6182033" y="3864591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803875-161A-4138-B603-61D36524C77B}"/>
              </a:ext>
            </a:extLst>
          </p:cNvPr>
          <p:cNvCxnSpPr>
            <a:cxnSpLocks/>
          </p:cNvCxnSpPr>
          <p:nvPr/>
        </p:nvCxnSpPr>
        <p:spPr>
          <a:xfrm flipV="1">
            <a:off x="6813758" y="3968655"/>
            <a:ext cx="963561" cy="275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1412516-A9A5-428D-9F31-0B8333413BA0}"/>
              </a:ext>
            </a:extLst>
          </p:cNvPr>
          <p:cNvSpPr txBox="1"/>
          <p:nvPr/>
        </p:nvSpPr>
        <p:spPr>
          <a:xfrm>
            <a:off x="7762570" y="3645489"/>
            <a:ext cx="2310580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 err="1"/>
              <a:t>this._name</a:t>
            </a:r>
            <a:r>
              <a:rPr lang="en-IN" dirty="0"/>
              <a:t>=raj</a:t>
            </a:r>
          </a:p>
          <a:p>
            <a:r>
              <a:rPr lang="en-IN" dirty="0" err="1"/>
              <a:t>this._balance</a:t>
            </a:r>
            <a:r>
              <a:rPr lang="en-IN" dirty="0"/>
              <a:t>=20000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3CDB11-9C15-43B2-9256-099833752D08}"/>
              </a:ext>
            </a:extLst>
          </p:cNvPr>
          <p:cNvSpPr/>
          <p:nvPr/>
        </p:nvSpPr>
        <p:spPr>
          <a:xfrm>
            <a:off x="7910054" y="109486"/>
            <a:ext cx="2433481" cy="92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dirty="0"/>
              <a:t>Object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4E290D-0411-45E4-99D4-F43827A4003E}"/>
              </a:ext>
            </a:extLst>
          </p:cNvPr>
          <p:cNvSpPr/>
          <p:nvPr/>
        </p:nvSpPr>
        <p:spPr>
          <a:xfrm>
            <a:off x="9126794" y="2932907"/>
            <a:ext cx="2433480" cy="36415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dirty="0"/>
              <a:t>deposit(amt){ 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EF7776-233F-45F0-92C4-7C39D336035F}"/>
              </a:ext>
            </a:extLst>
          </p:cNvPr>
          <p:cNvSpPr/>
          <p:nvPr/>
        </p:nvSpPr>
        <p:spPr>
          <a:xfrm>
            <a:off x="10222490" y="3418055"/>
            <a:ext cx="1969510" cy="2151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toString</a:t>
            </a:r>
            <a:r>
              <a:rPr lang="en-IN" dirty="0"/>
              <a:t>()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05D9CE-E8E3-4291-8EA5-03F821DCEA91}"/>
              </a:ext>
            </a:extLst>
          </p:cNvPr>
          <p:cNvCxnSpPr>
            <a:cxnSpLocks/>
          </p:cNvCxnSpPr>
          <p:nvPr/>
        </p:nvCxnSpPr>
        <p:spPr>
          <a:xfrm>
            <a:off x="8740877" y="1140542"/>
            <a:ext cx="0" cy="1624043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3A03873-2BB6-44C9-B2F0-32AA1AB8DF9B}"/>
              </a:ext>
            </a:extLst>
          </p:cNvPr>
          <p:cNvSpPr/>
          <p:nvPr/>
        </p:nvSpPr>
        <p:spPr>
          <a:xfrm>
            <a:off x="9891252" y="4342004"/>
            <a:ext cx="2113936" cy="3622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dirty="0"/>
              <a:t>get </a:t>
            </a:r>
            <a:r>
              <a:rPr lang="en-IN" sz="1800" dirty="0" err="1"/>
              <a:t>Aname</a:t>
            </a:r>
            <a:r>
              <a:rPr lang="en-IN" sz="1800" dirty="0"/>
              <a:t>(){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141422-DC5E-4CB1-B09B-C2A96F47C600}"/>
              </a:ext>
            </a:extLst>
          </p:cNvPr>
          <p:cNvSpPr/>
          <p:nvPr/>
        </p:nvSpPr>
        <p:spPr>
          <a:xfrm>
            <a:off x="9891252" y="4861164"/>
            <a:ext cx="2113936" cy="3622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</a:t>
            </a:r>
            <a:r>
              <a:rPr lang="en-IN" sz="1800" dirty="0"/>
              <a:t>et </a:t>
            </a:r>
            <a:r>
              <a:rPr lang="en-IN" sz="1800" dirty="0" err="1"/>
              <a:t>Aname</a:t>
            </a:r>
            <a:r>
              <a:rPr lang="en-IN" sz="1800" dirty="0"/>
              <a:t>(){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376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189D-F37D-4408-88F0-D0B99073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287" y="-108821"/>
            <a:ext cx="9957619" cy="578772"/>
          </a:xfrm>
        </p:spPr>
        <p:txBody>
          <a:bodyPr>
            <a:normAutofit fontScale="90000"/>
          </a:bodyPr>
          <a:lstStyle/>
          <a:p>
            <a:r>
              <a:rPr lang="en-IN" dirty="0"/>
              <a:t>Inheritance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6BAA-270D-4A41-A630-718E1EEBF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0564"/>
            <a:ext cx="3864078" cy="696748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		class Account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		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constructor(</a:t>
            </a:r>
            <a:r>
              <a:rPr lang="en-IN" sz="1600" dirty="0" err="1"/>
              <a:t>fname,lname,amt</a:t>
            </a:r>
            <a:r>
              <a:rPr lang="en-IN" sz="16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{   </a:t>
            </a:r>
            <a:r>
              <a:rPr lang="en-IN" sz="1600" dirty="0" err="1"/>
              <a:t>this.firstname</a:t>
            </a:r>
            <a:r>
              <a:rPr lang="en-IN" sz="1600" dirty="0"/>
              <a:t>=</a:t>
            </a:r>
            <a:r>
              <a:rPr lang="en-IN" sz="1600" dirty="0" err="1"/>
              <a:t>fname</a:t>
            </a:r>
            <a:r>
              <a:rPr lang="en-IN" sz="16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</a:t>
            </a:r>
            <a:r>
              <a:rPr lang="en-IN" sz="1600" dirty="0" err="1"/>
              <a:t>this.lastname</a:t>
            </a:r>
            <a:r>
              <a:rPr lang="en-IN" sz="1600" dirty="0"/>
              <a:t>=</a:t>
            </a:r>
            <a:r>
              <a:rPr lang="en-IN" sz="1600" dirty="0" err="1"/>
              <a:t>lname</a:t>
            </a:r>
            <a:r>
              <a:rPr lang="en-IN" sz="16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</a:t>
            </a:r>
            <a:r>
              <a:rPr lang="en-IN" sz="1600" dirty="0" err="1"/>
              <a:t>this.balance</a:t>
            </a:r>
            <a:r>
              <a:rPr lang="en-IN" sz="1600" dirty="0"/>
              <a:t>=amt;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set </a:t>
            </a:r>
            <a:r>
              <a:rPr lang="en-IN" sz="1600" dirty="0" err="1"/>
              <a:t>firstname</a:t>
            </a:r>
            <a:r>
              <a:rPr lang="en-IN" sz="1600" dirty="0"/>
              <a:t>(value) {this._</a:t>
            </a:r>
            <a:r>
              <a:rPr lang="en-IN" sz="1600" dirty="0" err="1"/>
              <a:t>fnm</a:t>
            </a:r>
            <a:r>
              <a:rPr lang="en-IN" sz="1600" dirty="0"/>
              <a:t>=value;}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get </a:t>
            </a:r>
            <a:r>
              <a:rPr lang="en-IN" sz="1600" dirty="0" err="1"/>
              <a:t>firstname</a:t>
            </a:r>
            <a:r>
              <a:rPr lang="en-IN" sz="1600" dirty="0"/>
              <a:t>(){ return this._</a:t>
            </a:r>
            <a:r>
              <a:rPr lang="en-IN" sz="1600" dirty="0" err="1"/>
              <a:t>fnm</a:t>
            </a:r>
            <a:r>
              <a:rPr lang="en-IN" sz="1600" dirty="0"/>
              <a:t>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set balance(value) {this._</a:t>
            </a:r>
            <a:r>
              <a:rPr lang="en-IN" sz="1600" dirty="0" err="1"/>
              <a:t>bal</a:t>
            </a:r>
            <a:r>
              <a:rPr lang="en-IN" sz="1600" dirty="0"/>
              <a:t>=value;}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get balance(){ return this._</a:t>
            </a:r>
            <a:r>
              <a:rPr lang="en-IN" sz="1600" dirty="0" err="1"/>
              <a:t>bal</a:t>
            </a:r>
            <a:r>
              <a:rPr lang="en-IN" sz="1600" dirty="0"/>
              <a:t>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set </a:t>
            </a:r>
            <a:r>
              <a:rPr lang="en-IN" sz="1600" dirty="0" err="1"/>
              <a:t>lastname</a:t>
            </a:r>
            <a:r>
              <a:rPr lang="en-IN" sz="1600" dirty="0"/>
              <a:t>(value) {this._</a:t>
            </a:r>
            <a:r>
              <a:rPr lang="en-IN" sz="1600" dirty="0" err="1"/>
              <a:t>lnm</a:t>
            </a:r>
            <a:r>
              <a:rPr lang="en-IN" sz="1600" dirty="0"/>
              <a:t>=value;}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get </a:t>
            </a:r>
            <a:r>
              <a:rPr lang="en-IN" sz="1600" dirty="0" err="1"/>
              <a:t>lastname</a:t>
            </a:r>
            <a:r>
              <a:rPr lang="en-IN" sz="1600" dirty="0"/>
              <a:t>(){ return this._</a:t>
            </a:r>
            <a:r>
              <a:rPr lang="en-IN" sz="1600" dirty="0" err="1"/>
              <a:t>lnm</a:t>
            </a:r>
            <a:r>
              <a:rPr lang="en-IN" sz="1600" dirty="0"/>
              <a:t>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deposit(amt)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{     </a:t>
            </a:r>
            <a:r>
              <a:rPr lang="en-IN" sz="1600" dirty="0" err="1"/>
              <a:t>this.balance</a:t>
            </a:r>
            <a:r>
              <a:rPr lang="en-IN" sz="1600" dirty="0"/>
              <a:t>+=amt;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 err="1"/>
              <a:t>toString</a:t>
            </a:r>
            <a:r>
              <a:rPr lang="en-IN" sz="1600" dirty="0"/>
              <a:t>() {  return  </a:t>
            </a:r>
            <a:r>
              <a:rPr lang="en-IN" sz="1600" dirty="0" err="1"/>
              <a:t>this.firstname</a:t>
            </a:r>
            <a:r>
              <a:rPr lang="en-IN" sz="1600" dirty="0"/>
              <a:t>+ "  " + </a:t>
            </a:r>
            <a:r>
              <a:rPr lang="en-IN" sz="1600" dirty="0" err="1"/>
              <a:t>this.lastname</a:t>
            </a:r>
            <a:r>
              <a:rPr lang="en-IN" sz="1600" dirty="0"/>
              <a:t>+" "+</a:t>
            </a:r>
            <a:r>
              <a:rPr lang="en-IN" sz="1600" dirty="0" err="1"/>
              <a:t>this.balance</a:t>
            </a:r>
            <a:r>
              <a:rPr lang="en-IN" sz="1600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94CD3-91F9-4724-AC05-E190EF8167BC}"/>
              </a:ext>
            </a:extLst>
          </p:cNvPr>
          <p:cNvSpPr txBox="1"/>
          <p:nvPr/>
        </p:nvSpPr>
        <p:spPr>
          <a:xfrm>
            <a:off x="4116644" y="272971"/>
            <a:ext cx="44343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Savingaccount</a:t>
            </a:r>
            <a:r>
              <a:rPr lang="en-IN" dirty="0"/>
              <a:t>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extends</a:t>
            </a:r>
            <a:r>
              <a:rPr lang="en-IN" dirty="0"/>
              <a:t> Account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   constructor(</a:t>
            </a:r>
            <a:r>
              <a:rPr lang="en-IN" dirty="0" err="1"/>
              <a:t>acctype,fname,lname,amt</a:t>
            </a:r>
            <a:r>
              <a:rPr lang="en-IN" dirty="0"/>
              <a:t>)</a:t>
            </a:r>
          </a:p>
          <a:p>
            <a:r>
              <a:rPr lang="en-IN" dirty="0"/>
              <a:t>  {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super</a:t>
            </a:r>
            <a:r>
              <a:rPr lang="en-IN" dirty="0"/>
              <a:t>(</a:t>
            </a:r>
            <a:r>
              <a:rPr lang="en-IN" dirty="0" err="1"/>
              <a:t>fname,lname,amt</a:t>
            </a:r>
            <a:r>
              <a:rPr lang="en-IN" dirty="0"/>
              <a:t>)</a:t>
            </a:r>
          </a:p>
          <a:p>
            <a:r>
              <a:rPr lang="en-IN" dirty="0"/>
              <a:t>    </a:t>
            </a:r>
            <a:r>
              <a:rPr lang="en-IN" dirty="0" err="1"/>
              <a:t>this.type</a:t>
            </a:r>
            <a:r>
              <a:rPr lang="en-IN" dirty="0"/>
              <a:t>=</a:t>
            </a:r>
            <a:r>
              <a:rPr lang="en-IN" dirty="0" err="1"/>
              <a:t>acctype</a:t>
            </a:r>
            <a:r>
              <a:rPr lang="en-IN" dirty="0"/>
              <a:t>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withdraw(amt)</a:t>
            </a:r>
          </a:p>
          <a:p>
            <a:r>
              <a:rPr lang="en-IN" dirty="0"/>
              <a:t>{ 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minbal</a:t>
            </a:r>
            <a:r>
              <a:rPr lang="en-IN" dirty="0"/>
              <a:t>=1000;</a:t>
            </a:r>
          </a:p>
          <a:p>
            <a:r>
              <a:rPr lang="en-IN" dirty="0"/>
              <a:t>      if(amt&gt;(</a:t>
            </a:r>
            <a:r>
              <a:rPr lang="en-IN" dirty="0" err="1"/>
              <a:t>this.balance-minbal</a:t>
            </a:r>
            <a:r>
              <a:rPr lang="en-IN" dirty="0"/>
              <a:t>))</a:t>
            </a:r>
          </a:p>
          <a:p>
            <a:r>
              <a:rPr lang="en-IN" dirty="0"/>
              <a:t>     throw  new </a:t>
            </a:r>
            <a:r>
              <a:rPr lang="en-IN" dirty="0" err="1"/>
              <a:t>TypeError</a:t>
            </a:r>
            <a:r>
              <a:rPr lang="en-IN" dirty="0"/>
              <a:t>("err");</a:t>
            </a:r>
          </a:p>
          <a:p>
            <a:r>
              <a:rPr lang="en-IN" dirty="0" err="1"/>
              <a:t>this.balance</a:t>
            </a:r>
            <a:r>
              <a:rPr lang="en-IN" dirty="0"/>
              <a:t>-=amt;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0F5A3C-287E-4787-A1B8-730550EC4F49}"/>
              </a:ext>
            </a:extLst>
          </p:cNvPr>
          <p:cNvSpPr/>
          <p:nvPr/>
        </p:nvSpPr>
        <p:spPr>
          <a:xfrm>
            <a:off x="983226" y="88490"/>
            <a:ext cx="845573" cy="3814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Parent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48FA54-DE3E-45FE-B89A-44D06D0A16A1}"/>
              </a:ext>
            </a:extLst>
          </p:cNvPr>
          <p:cNvSpPr/>
          <p:nvPr/>
        </p:nvSpPr>
        <p:spPr>
          <a:xfrm>
            <a:off x="5759860" y="88490"/>
            <a:ext cx="845573" cy="3814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Child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0F2D1-0679-464B-8C97-0B9FF43F27E6}"/>
              </a:ext>
            </a:extLst>
          </p:cNvPr>
          <p:cNvSpPr txBox="1"/>
          <p:nvPr/>
        </p:nvSpPr>
        <p:spPr>
          <a:xfrm>
            <a:off x="3864078" y="4828213"/>
            <a:ext cx="5309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var </a:t>
            </a:r>
            <a:r>
              <a:rPr lang="en-IN" dirty="0" err="1"/>
              <a:t>obj</a:t>
            </a:r>
            <a:r>
              <a:rPr lang="en-IN" dirty="0"/>
              <a:t>=new  </a:t>
            </a:r>
            <a:r>
              <a:rPr lang="en-IN" dirty="0" err="1"/>
              <a:t>Savingaccount</a:t>
            </a:r>
            <a:r>
              <a:rPr lang="en-IN" dirty="0"/>
              <a:t> ("sav","Raj","Mathur",2000)</a:t>
            </a:r>
          </a:p>
          <a:p>
            <a:r>
              <a:rPr lang="en-IN" dirty="0" err="1"/>
              <a:t>obj.deposit</a:t>
            </a:r>
            <a:r>
              <a:rPr lang="en-IN" dirty="0"/>
              <a:t>(2000);</a:t>
            </a:r>
          </a:p>
          <a:p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  <a:p>
            <a:r>
              <a:rPr lang="en-IN" dirty="0" err="1"/>
              <a:t>obj.withdraw</a:t>
            </a:r>
            <a:r>
              <a:rPr lang="en-IN" dirty="0"/>
              <a:t>(3000);</a:t>
            </a:r>
          </a:p>
          <a:p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42B26E-DDB4-4AFD-B276-C34587850017}"/>
              </a:ext>
            </a:extLst>
          </p:cNvPr>
          <p:cNvSpPr/>
          <p:nvPr/>
        </p:nvSpPr>
        <p:spPr>
          <a:xfrm>
            <a:off x="7206737" y="5710634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obj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96635-87F8-4556-A85A-6981B7258C25}"/>
              </a:ext>
            </a:extLst>
          </p:cNvPr>
          <p:cNvSpPr txBox="1"/>
          <p:nvPr/>
        </p:nvSpPr>
        <p:spPr>
          <a:xfrm>
            <a:off x="8081732" y="5179078"/>
            <a:ext cx="2036045" cy="12003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this._</a:t>
            </a:r>
            <a:r>
              <a:rPr lang="en-IN" dirty="0" err="1">
                <a:solidFill>
                  <a:schemeClr val="bg1"/>
                </a:solidFill>
              </a:rPr>
              <a:t>fnm</a:t>
            </a:r>
            <a:r>
              <a:rPr lang="en-IN" dirty="0">
                <a:solidFill>
                  <a:schemeClr val="bg1"/>
                </a:solidFill>
              </a:rPr>
              <a:t>=raj</a:t>
            </a:r>
          </a:p>
          <a:p>
            <a:r>
              <a:rPr lang="en-IN" dirty="0" err="1">
                <a:solidFill>
                  <a:schemeClr val="bg1"/>
                </a:solidFill>
              </a:rPr>
              <a:t>this.lnm</a:t>
            </a:r>
            <a:r>
              <a:rPr lang="en-IN" dirty="0">
                <a:solidFill>
                  <a:schemeClr val="bg1"/>
                </a:solidFill>
              </a:rPr>
              <a:t>-Mathur</a:t>
            </a:r>
          </a:p>
          <a:p>
            <a:r>
              <a:rPr lang="en-IN" dirty="0" err="1">
                <a:solidFill>
                  <a:schemeClr val="bg1"/>
                </a:solidFill>
              </a:rPr>
              <a:t>this_bal</a:t>
            </a:r>
            <a:r>
              <a:rPr lang="en-IN" dirty="0">
                <a:solidFill>
                  <a:schemeClr val="bg1"/>
                </a:solidFill>
              </a:rPr>
              <a:t>=2000 4000</a:t>
            </a:r>
          </a:p>
          <a:p>
            <a:r>
              <a:rPr lang="en-IN" dirty="0">
                <a:solidFill>
                  <a:schemeClr val="bg1"/>
                </a:solidFill>
              </a:rPr>
              <a:t>Type=sav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471E4E-5606-47F2-9A3B-D432FF10F514}"/>
              </a:ext>
            </a:extLst>
          </p:cNvPr>
          <p:cNvSpPr/>
          <p:nvPr/>
        </p:nvSpPr>
        <p:spPr>
          <a:xfrm>
            <a:off x="8629958" y="384549"/>
            <a:ext cx="3229895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7EF21B-C820-42B7-B471-99F3AD021234}"/>
              </a:ext>
            </a:extLst>
          </p:cNvPr>
          <p:cNvSpPr/>
          <p:nvPr/>
        </p:nvSpPr>
        <p:spPr>
          <a:xfrm>
            <a:off x="9478298" y="2241501"/>
            <a:ext cx="2526890" cy="54606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dirty="0"/>
              <a:t>deposit(amt){ }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C83089-0EDC-45FC-B70C-7508F90688AC}"/>
              </a:ext>
            </a:extLst>
          </p:cNvPr>
          <p:cNvCxnSpPr>
            <a:cxnSpLocks/>
          </p:cNvCxnSpPr>
          <p:nvPr/>
        </p:nvCxnSpPr>
        <p:spPr>
          <a:xfrm>
            <a:off x="9244471" y="985057"/>
            <a:ext cx="0" cy="539193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91C98-9A37-4CA5-AC50-DFA890B6A7CA}"/>
              </a:ext>
            </a:extLst>
          </p:cNvPr>
          <p:cNvSpPr/>
          <p:nvPr/>
        </p:nvSpPr>
        <p:spPr>
          <a:xfrm>
            <a:off x="10072194" y="2858750"/>
            <a:ext cx="1969510" cy="2151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toString</a:t>
            </a:r>
            <a:r>
              <a:rPr lang="en-IN" dirty="0"/>
              <a:t>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1F7589-84C5-4D39-A2D0-78EDB6C821EB}"/>
              </a:ext>
            </a:extLst>
          </p:cNvPr>
          <p:cNvSpPr/>
          <p:nvPr/>
        </p:nvSpPr>
        <p:spPr>
          <a:xfrm>
            <a:off x="10072194" y="3150068"/>
            <a:ext cx="2113936" cy="362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get </a:t>
            </a:r>
            <a:r>
              <a:rPr lang="en-IN" sz="1800" dirty="0" err="1"/>
              <a:t>firstname</a:t>
            </a:r>
            <a:r>
              <a:rPr lang="en-IN" sz="1800" dirty="0"/>
              <a:t>(){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5F19D3-E40A-45E6-A398-A02A2A5A4A06}"/>
              </a:ext>
            </a:extLst>
          </p:cNvPr>
          <p:cNvSpPr/>
          <p:nvPr/>
        </p:nvSpPr>
        <p:spPr>
          <a:xfrm>
            <a:off x="10117777" y="3644015"/>
            <a:ext cx="2113936" cy="362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</a:t>
            </a:r>
            <a:r>
              <a:rPr lang="en-IN" sz="1800" dirty="0"/>
              <a:t>et </a:t>
            </a:r>
            <a:r>
              <a:rPr lang="en-IN" sz="1800" dirty="0" err="1"/>
              <a:t>firstname</a:t>
            </a:r>
            <a:r>
              <a:rPr lang="en-IN" sz="1800" dirty="0"/>
              <a:t>(){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B6D723-5D9B-4EB7-85B3-CBBF1B9A83D8}"/>
              </a:ext>
            </a:extLst>
          </p:cNvPr>
          <p:cNvSpPr/>
          <p:nvPr/>
        </p:nvSpPr>
        <p:spPr>
          <a:xfrm>
            <a:off x="7674463" y="1463412"/>
            <a:ext cx="3229895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Account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BB320A-3CDC-4ADE-9F71-FFF96746951B}"/>
              </a:ext>
            </a:extLst>
          </p:cNvPr>
          <p:cNvCxnSpPr>
            <a:cxnSpLocks/>
          </p:cNvCxnSpPr>
          <p:nvPr/>
        </p:nvCxnSpPr>
        <p:spPr>
          <a:xfrm>
            <a:off x="8986684" y="2124845"/>
            <a:ext cx="560439" cy="2623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31847B2-B908-4062-8113-352BA8FEAE02}"/>
              </a:ext>
            </a:extLst>
          </p:cNvPr>
          <p:cNvSpPr/>
          <p:nvPr/>
        </p:nvSpPr>
        <p:spPr>
          <a:xfrm>
            <a:off x="10313655" y="5908000"/>
            <a:ext cx="1878345" cy="277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withdraw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B8926-9A6B-4FE5-BB9F-0D786028177F}"/>
              </a:ext>
            </a:extLst>
          </p:cNvPr>
          <p:cNvSpPr txBox="1"/>
          <p:nvPr/>
        </p:nvSpPr>
        <p:spPr>
          <a:xfrm>
            <a:off x="9478297" y="4828213"/>
            <a:ext cx="187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Savingaccount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5647CD-F4F9-4D23-AE60-D2418FBACAD5}"/>
              </a:ext>
            </a:extLst>
          </p:cNvPr>
          <p:cNvCxnSpPr/>
          <p:nvPr/>
        </p:nvCxnSpPr>
        <p:spPr>
          <a:xfrm flipV="1">
            <a:off x="9173497" y="5710634"/>
            <a:ext cx="226141" cy="2994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02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189D-F37D-4408-88F0-D0B99073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287" y="-108821"/>
            <a:ext cx="9957619" cy="578772"/>
          </a:xfrm>
        </p:spPr>
        <p:txBody>
          <a:bodyPr>
            <a:normAutofit fontScale="90000"/>
          </a:bodyPr>
          <a:lstStyle/>
          <a:p>
            <a:r>
              <a:rPr lang="en-IN" dirty="0"/>
              <a:t>Inheritance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6BAA-270D-4A41-A630-718E1EEBF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0564"/>
            <a:ext cx="3864078" cy="696748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		class Account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		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constructor(</a:t>
            </a:r>
            <a:r>
              <a:rPr lang="en-IN" sz="1600" dirty="0" err="1"/>
              <a:t>fname,lname,amt</a:t>
            </a:r>
            <a:r>
              <a:rPr lang="en-IN" sz="16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{   </a:t>
            </a:r>
            <a:r>
              <a:rPr lang="en-IN" sz="1600" dirty="0" err="1"/>
              <a:t>this.firstname</a:t>
            </a:r>
            <a:r>
              <a:rPr lang="en-IN" sz="1600" dirty="0"/>
              <a:t>=</a:t>
            </a:r>
            <a:r>
              <a:rPr lang="en-IN" sz="1600" dirty="0" err="1"/>
              <a:t>fname</a:t>
            </a:r>
            <a:r>
              <a:rPr lang="en-IN" sz="16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</a:t>
            </a:r>
            <a:r>
              <a:rPr lang="en-IN" sz="1600" dirty="0" err="1"/>
              <a:t>this.lastname</a:t>
            </a:r>
            <a:r>
              <a:rPr lang="en-IN" sz="1600" dirty="0"/>
              <a:t>=</a:t>
            </a:r>
            <a:r>
              <a:rPr lang="en-IN" sz="1600" dirty="0" err="1"/>
              <a:t>lname</a:t>
            </a:r>
            <a:r>
              <a:rPr lang="en-IN" sz="16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</a:t>
            </a:r>
            <a:r>
              <a:rPr lang="en-IN" sz="1600" dirty="0" err="1"/>
              <a:t>this.balance</a:t>
            </a:r>
            <a:r>
              <a:rPr lang="en-IN" sz="1600" dirty="0"/>
              <a:t>=amt;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set </a:t>
            </a:r>
            <a:r>
              <a:rPr lang="en-IN" sz="1600" dirty="0" err="1"/>
              <a:t>firstname</a:t>
            </a:r>
            <a:r>
              <a:rPr lang="en-IN" sz="1600" dirty="0"/>
              <a:t>(value) {this._</a:t>
            </a:r>
            <a:r>
              <a:rPr lang="en-IN" sz="1600" dirty="0" err="1"/>
              <a:t>fnm</a:t>
            </a:r>
            <a:r>
              <a:rPr lang="en-IN" sz="1600" dirty="0"/>
              <a:t>=value;}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get </a:t>
            </a:r>
            <a:r>
              <a:rPr lang="en-IN" sz="1600" dirty="0" err="1"/>
              <a:t>firstname</a:t>
            </a:r>
            <a:r>
              <a:rPr lang="en-IN" sz="1600" dirty="0"/>
              <a:t>(){ return this._</a:t>
            </a:r>
            <a:r>
              <a:rPr lang="en-IN" sz="1600" dirty="0" err="1"/>
              <a:t>fnm</a:t>
            </a:r>
            <a:r>
              <a:rPr lang="en-IN" sz="1600" dirty="0"/>
              <a:t>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set balance(value) {this._</a:t>
            </a:r>
            <a:r>
              <a:rPr lang="en-IN" sz="1600" dirty="0" err="1"/>
              <a:t>bal</a:t>
            </a:r>
            <a:r>
              <a:rPr lang="en-IN" sz="1600" dirty="0"/>
              <a:t>=value;}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get balance(){ return this._</a:t>
            </a:r>
            <a:r>
              <a:rPr lang="en-IN" sz="1600" dirty="0" err="1"/>
              <a:t>bal</a:t>
            </a:r>
            <a:r>
              <a:rPr lang="en-IN" sz="1600" dirty="0"/>
              <a:t>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set </a:t>
            </a:r>
            <a:r>
              <a:rPr lang="en-IN" sz="1600" dirty="0" err="1"/>
              <a:t>lastname</a:t>
            </a:r>
            <a:r>
              <a:rPr lang="en-IN" sz="1600" dirty="0"/>
              <a:t>(value) {this._</a:t>
            </a:r>
            <a:r>
              <a:rPr lang="en-IN" sz="1600" dirty="0" err="1"/>
              <a:t>lnm</a:t>
            </a:r>
            <a:r>
              <a:rPr lang="en-IN" sz="1600" dirty="0"/>
              <a:t>=value;}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get </a:t>
            </a:r>
            <a:r>
              <a:rPr lang="en-IN" sz="1600" dirty="0" err="1"/>
              <a:t>lastname</a:t>
            </a:r>
            <a:r>
              <a:rPr lang="en-IN" sz="1600" dirty="0"/>
              <a:t>(){ return this._</a:t>
            </a:r>
            <a:r>
              <a:rPr lang="en-IN" sz="1600" dirty="0" err="1"/>
              <a:t>lnm</a:t>
            </a:r>
            <a:r>
              <a:rPr lang="en-IN" sz="1600" dirty="0"/>
              <a:t>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deposit(amt)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{     </a:t>
            </a:r>
            <a:r>
              <a:rPr lang="en-IN" sz="1600" dirty="0" err="1"/>
              <a:t>this.balance</a:t>
            </a:r>
            <a:r>
              <a:rPr lang="en-IN" sz="1600" dirty="0"/>
              <a:t>+=amt;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 err="1"/>
              <a:t>toString</a:t>
            </a:r>
            <a:r>
              <a:rPr lang="en-IN" sz="1600" dirty="0"/>
              <a:t>() {  return  </a:t>
            </a:r>
            <a:r>
              <a:rPr lang="en-IN" sz="1600" dirty="0" err="1"/>
              <a:t>this.firstname</a:t>
            </a:r>
            <a:r>
              <a:rPr lang="en-IN" sz="1600" dirty="0"/>
              <a:t>+ "  " + </a:t>
            </a:r>
            <a:r>
              <a:rPr lang="en-IN" sz="1600" dirty="0" err="1"/>
              <a:t>this.lastname</a:t>
            </a:r>
            <a:r>
              <a:rPr lang="en-IN" sz="1600" dirty="0"/>
              <a:t>+" "+</a:t>
            </a:r>
            <a:r>
              <a:rPr lang="en-IN" sz="1600" dirty="0" err="1"/>
              <a:t>this.balance</a:t>
            </a:r>
            <a:r>
              <a:rPr lang="en-IN" sz="1600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94CD3-91F9-4724-AC05-E190EF8167BC}"/>
              </a:ext>
            </a:extLst>
          </p:cNvPr>
          <p:cNvSpPr txBox="1"/>
          <p:nvPr/>
        </p:nvSpPr>
        <p:spPr>
          <a:xfrm>
            <a:off x="4116644" y="272971"/>
            <a:ext cx="44343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Savingaccount</a:t>
            </a:r>
            <a:r>
              <a:rPr lang="en-IN" dirty="0"/>
              <a:t>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extends</a:t>
            </a:r>
            <a:r>
              <a:rPr lang="en-IN" dirty="0"/>
              <a:t> Account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   constructor(</a:t>
            </a:r>
            <a:r>
              <a:rPr lang="en-IN" dirty="0" err="1"/>
              <a:t>acctype,fname,lname,amt</a:t>
            </a:r>
            <a:r>
              <a:rPr lang="en-IN" dirty="0"/>
              <a:t>)</a:t>
            </a:r>
          </a:p>
          <a:p>
            <a:r>
              <a:rPr lang="en-IN" dirty="0"/>
              <a:t>  {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super</a:t>
            </a:r>
            <a:r>
              <a:rPr lang="en-IN" dirty="0"/>
              <a:t>(</a:t>
            </a:r>
            <a:r>
              <a:rPr lang="en-IN" dirty="0" err="1"/>
              <a:t>fname,lname,amt</a:t>
            </a:r>
            <a:r>
              <a:rPr lang="en-IN" dirty="0"/>
              <a:t>)</a:t>
            </a:r>
          </a:p>
          <a:p>
            <a:r>
              <a:rPr lang="en-IN" dirty="0"/>
              <a:t>    </a:t>
            </a:r>
            <a:r>
              <a:rPr lang="en-IN" dirty="0" err="1"/>
              <a:t>this.type</a:t>
            </a:r>
            <a:r>
              <a:rPr lang="en-IN" dirty="0"/>
              <a:t>=</a:t>
            </a:r>
            <a:r>
              <a:rPr lang="en-IN" dirty="0" err="1"/>
              <a:t>acctype</a:t>
            </a:r>
            <a:r>
              <a:rPr lang="en-IN" dirty="0"/>
              <a:t>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withdraw(amt)</a:t>
            </a:r>
          </a:p>
          <a:p>
            <a:r>
              <a:rPr lang="en-IN" dirty="0"/>
              <a:t>{ 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minbal</a:t>
            </a:r>
            <a:r>
              <a:rPr lang="en-IN" dirty="0"/>
              <a:t>=1000;</a:t>
            </a:r>
          </a:p>
          <a:p>
            <a:r>
              <a:rPr lang="en-IN" dirty="0"/>
              <a:t>      if(amt&gt;(</a:t>
            </a:r>
            <a:r>
              <a:rPr lang="en-IN" dirty="0" err="1"/>
              <a:t>this.balance-minbal</a:t>
            </a:r>
            <a:r>
              <a:rPr lang="en-IN" dirty="0"/>
              <a:t>))</a:t>
            </a:r>
          </a:p>
          <a:p>
            <a:r>
              <a:rPr lang="en-IN" dirty="0"/>
              <a:t>     throw  new </a:t>
            </a:r>
            <a:r>
              <a:rPr lang="en-IN" dirty="0" err="1"/>
              <a:t>TypeError</a:t>
            </a:r>
            <a:r>
              <a:rPr lang="en-IN" dirty="0"/>
              <a:t>("err");</a:t>
            </a:r>
          </a:p>
          <a:p>
            <a:r>
              <a:rPr lang="en-IN" dirty="0" err="1"/>
              <a:t>this.balance</a:t>
            </a:r>
            <a:r>
              <a:rPr lang="en-IN" dirty="0"/>
              <a:t>-=amt;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0F5A3C-287E-4787-A1B8-730550EC4F49}"/>
              </a:ext>
            </a:extLst>
          </p:cNvPr>
          <p:cNvSpPr/>
          <p:nvPr/>
        </p:nvSpPr>
        <p:spPr>
          <a:xfrm>
            <a:off x="983226" y="88490"/>
            <a:ext cx="845573" cy="3814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Parent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48FA54-DE3E-45FE-B89A-44D06D0A16A1}"/>
              </a:ext>
            </a:extLst>
          </p:cNvPr>
          <p:cNvSpPr/>
          <p:nvPr/>
        </p:nvSpPr>
        <p:spPr>
          <a:xfrm>
            <a:off x="5759860" y="88490"/>
            <a:ext cx="845573" cy="3814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Child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0F2D1-0679-464B-8C97-0B9FF43F27E6}"/>
              </a:ext>
            </a:extLst>
          </p:cNvPr>
          <p:cNvSpPr txBox="1"/>
          <p:nvPr/>
        </p:nvSpPr>
        <p:spPr>
          <a:xfrm>
            <a:off x="3864078" y="4828213"/>
            <a:ext cx="53094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var </a:t>
            </a:r>
            <a:r>
              <a:rPr lang="en-IN" dirty="0" err="1"/>
              <a:t>obj</a:t>
            </a:r>
            <a:r>
              <a:rPr lang="en-IN" dirty="0"/>
              <a:t>=new  </a:t>
            </a:r>
            <a:r>
              <a:rPr lang="en-IN" dirty="0" err="1"/>
              <a:t>Savingaccount</a:t>
            </a:r>
            <a:r>
              <a:rPr lang="en-IN" dirty="0"/>
              <a:t> ("sav","Raj","Mathur",2000)</a:t>
            </a:r>
          </a:p>
          <a:p>
            <a:r>
              <a:rPr lang="en-IN" dirty="0" err="1"/>
              <a:t>obj.deposit</a:t>
            </a:r>
            <a:r>
              <a:rPr lang="en-IN" dirty="0"/>
              <a:t>(2000);</a:t>
            </a:r>
          </a:p>
          <a:p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 </a:t>
            </a:r>
            <a:r>
              <a:rPr lang="en-IN" dirty="0">
                <a:solidFill>
                  <a:schemeClr val="tx2"/>
                </a:solidFill>
              </a:rPr>
              <a:t>try{</a:t>
            </a:r>
          </a:p>
          <a:p>
            <a:r>
              <a:rPr lang="en-IN" dirty="0" err="1"/>
              <a:t>obj.withdraw</a:t>
            </a:r>
            <a:r>
              <a:rPr lang="en-IN" dirty="0"/>
              <a:t>(5000);}</a:t>
            </a:r>
          </a:p>
          <a:p>
            <a:r>
              <a:rPr lang="en-IN" dirty="0"/>
              <a:t>catch(e){console.log(</a:t>
            </a:r>
            <a:r>
              <a:rPr lang="en-IN" dirty="0" err="1"/>
              <a:t>e.message</a:t>
            </a:r>
            <a:r>
              <a:rPr lang="en-IN" dirty="0"/>
              <a:t>)}</a:t>
            </a:r>
          </a:p>
          <a:p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42B26E-DDB4-4AFD-B276-C34587850017}"/>
              </a:ext>
            </a:extLst>
          </p:cNvPr>
          <p:cNvSpPr/>
          <p:nvPr/>
        </p:nvSpPr>
        <p:spPr>
          <a:xfrm>
            <a:off x="7206737" y="5710634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obj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96635-87F8-4556-A85A-6981B7258C25}"/>
              </a:ext>
            </a:extLst>
          </p:cNvPr>
          <p:cNvSpPr txBox="1"/>
          <p:nvPr/>
        </p:nvSpPr>
        <p:spPr>
          <a:xfrm>
            <a:off x="8081732" y="5179078"/>
            <a:ext cx="2036045" cy="12003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this._</a:t>
            </a:r>
            <a:r>
              <a:rPr lang="en-IN" dirty="0" err="1">
                <a:solidFill>
                  <a:schemeClr val="bg1"/>
                </a:solidFill>
              </a:rPr>
              <a:t>fnm</a:t>
            </a:r>
            <a:r>
              <a:rPr lang="en-IN" dirty="0">
                <a:solidFill>
                  <a:schemeClr val="bg1"/>
                </a:solidFill>
              </a:rPr>
              <a:t>=raj</a:t>
            </a:r>
          </a:p>
          <a:p>
            <a:r>
              <a:rPr lang="en-IN" dirty="0" err="1">
                <a:solidFill>
                  <a:schemeClr val="bg1"/>
                </a:solidFill>
              </a:rPr>
              <a:t>this.lnm</a:t>
            </a:r>
            <a:r>
              <a:rPr lang="en-IN" dirty="0">
                <a:solidFill>
                  <a:schemeClr val="bg1"/>
                </a:solidFill>
              </a:rPr>
              <a:t>-Mathur</a:t>
            </a:r>
          </a:p>
          <a:p>
            <a:r>
              <a:rPr lang="en-IN" dirty="0" err="1">
                <a:solidFill>
                  <a:schemeClr val="bg1"/>
                </a:solidFill>
              </a:rPr>
              <a:t>this_bal</a:t>
            </a:r>
            <a:r>
              <a:rPr lang="en-IN" dirty="0">
                <a:solidFill>
                  <a:schemeClr val="bg1"/>
                </a:solidFill>
              </a:rPr>
              <a:t>=2000 4000</a:t>
            </a:r>
          </a:p>
          <a:p>
            <a:r>
              <a:rPr lang="en-IN" dirty="0">
                <a:solidFill>
                  <a:schemeClr val="bg1"/>
                </a:solidFill>
              </a:rPr>
              <a:t>Type=sav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471E4E-5606-47F2-9A3B-D432FF10F514}"/>
              </a:ext>
            </a:extLst>
          </p:cNvPr>
          <p:cNvSpPr/>
          <p:nvPr/>
        </p:nvSpPr>
        <p:spPr>
          <a:xfrm>
            <a:off x="8629958" y="384549"/>
            <a:ext cx="3229895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7EF21B-C820-42B7-B471-99F3AD021234}"/>
              </a:ext>
            </a:extLst>
          </p:cNvPr>
          <p:cNvSpPr/>
          <p:nvPr/>
        </p:nvSpPr>
        <p:spPr>
          <a:xfrm>
            <a:off x="9478298" y="2241501"/>
            <a:ext cx="2526890" cy="54606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dirty="0"/>
              <a:t>deposit(amt){ }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C83089-0EDC-45FC-B70C-7508F90688AC}"/>
              </a:ext>
            </a:extLst>
          </p:cNvPr>
          <p:cNvCxnSpPr>
            <a:cxnSpLocks/>
          </p:cNvCxnSpPr>
          <p:nvPr/>
        </p:nvCxnSpPr>
        <p:spPr>
          <a:xfrm>
            <a:off x="9244471" y="985057"/>
            <a:ext cx="0" cy="539193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91C98-9A37-4CA5-AC50-DFA890B6A7CA}"/>
              </a:ext>
            </a:extLst>
          </p:cNvPr>
          <p:cNvSpPr/>
          <p:nvPr/>
        </p:nvSpPr>
        <p:spPr>
          <a:xfrm>
            <a:off x="10072194" y="2858750"/>
            <a:ext cx="1969510" cy="2151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toString</a:t>
            </a:r>
            <a:r>
              <a:rPr lang="en-IN" dirty="0"/>
              <a:t>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1F7589-84C5-4D39-A2D0-78EDB6C821EB}"/>
              </a:ext>
            </a:extLst>
          </p:cNvPr>
          <p:cNvSpPr/>
          <p:nvPr/>
        </p:nvSpPr>
        <p:spPr>
          <a:xfrm>
            <a:off x="10072194" y="3150068"/>
            <a:ext cx="2113936" cy="362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get </a:t>
            </a:r>
            <a:r>
              <a:rPr lang="en-IN" sz="1800" dirty="0" err="1"/>
              <a:t>firstname</a:t>
            </a:r>
            <a:r>
              <a:rPr lang="en-IN" sz="1800" dirty="0"/>
              <a:t>(){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5F19D3-E40A-45E6-A398-A02A2A5A4A06}"/>
              </a:ext>
            </a:extLst>
          </p:cNvPr>
          <p:cNvSpPr/>
          <p:nvPr/>
        </p:nvSpPr>
        <p:spPr>
          <a:xfrm>
            <a:off x="10117777" y="3644015"/>
            <a:ext cx="2113936" cy="362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</a:t>
            </a:r>
            <a:r>
              <a:rPr lang="en-IN" sz="1800" dirty="0"/>
              <a:t>et </a:t>
            </a:r>
            <a:r>
              <a:rPr lang="en-IN" sz="1800" dirty="0" err="1"/>
              <a:t>firstname</a:t>
            </a:r>
            <a:r>
              <a:rPr lang="en-IN" sz="1800" dirty="0"/>
              <a:t>(){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B6D723-5D9B-4EB7-85B3-CBBF1B9A83D8}"/>
              </a:ext>
            </a:extLst>
          </p:cNvPr>
          <p:cNvSpPr/>
          <p:nvPr/>
        </p:nvSpPr>
        <p:spPr>
          <a:xfrm>
            <a:off x="7674463" y="1463412"/>
            <a:ext cx="3229895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Account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BB320A-3CDC-4ADE-9F71-FFF96746951B}"/>
              </a:ext>
            </a:extLst>
          </p:cNvPr>
          <p:cNvCxnSpPr>
            <a:cxnSpLocks/>
          </p:cNvCxnSpPr>
          <p:nvPr/>
        </p:nvCxnSpPr>
        <p:spPr>
          <a:xfrm>
            <a:off x="8986684" y="2124845"/>
            <a:ext cx="560439" cy="2623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31847B2-B908-4062-8113-352BA8FEAE02}"/>
              </a:ext>
            </a:extLst>
          </p:cNvPr>
          <p:cNvSpPr/>
          <p:nvPr/>
        </p:nvSpPr>
        <p:spPr>
          <a:xfrm>
            <a:off x="10313655" y="5908000"/>
            <a:ext cx="1878345" cy="277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withdraw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B8926-9A6B-4FE5-BB9F-0D786028177F}"/>
              </a:ext>
            </a:extLst>
          </p:cNvPr>
          <p:cNvSpPr txBox="1"/>
          <p:nvPr/>
        </p:nvSpPr>
        <p:spPr>
          <a:xfrm>
            <a:off x="9478297" y="4828213"/>
            <a:ext cx="187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Savingaccount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5647CD-F4F9-4D23-AE60-D2418FBACAD5}"/>
              </a:ext>
            </a:extLst>
          </p:cNvPr>
          <p:cNvCxnSpPr/>
          <p:nvPr/>
        </p:nvCxnSpPr>
        <p:spPr>
          <a:xfrm flipV="1">
            <a:off x="9173497" y="5710634"/>
            <a:ext cx="226141" cy="2994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8A9DE76-80E4-47E3-9E57-3AFA7A373D27}"/>
              </a:ext>
            </a:extLst>
          </p:cNvPr>
          <p:cNvSpPr/>
          <p:nvPr/>
        </p:nvSpPr>
        <p:spPr>
          <a:xfrm>
            <a:off x="7747819" y="3512290"/>
            <a:ext cx="1238865" cy="84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AF1F11-0DC5-4459-ABD0-C6F31606C3BD}"/>
              </a:ext>
            </a:extLst>
          </p:cNvPr>
          <p:cNvSpPr txBox="1"/>
          <p:nvPr/>
        </p:nvSpPr>
        <p:spPr>
          <a:xfrm>
            <a:off x="7410470" y="3169361"/>
            <a:ext cx="243897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new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TypeError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("err");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EE7618-6318-4ADB-8FCE-3A0EEA133F9A}"/>
              </a:ext>
            </a:extLst>
          </p:cNvPr>
          <p:cNvCxnSpPr/>
          <p:nvPr/>
        </p:nvCxnSpPr>
        <p:spPr>
          <a:xfrm>
            <a:off x="8042934" y="2732198"/>
            <a:ext cx="38798" cy="400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48E0A25-1CA7-4D27-8AB2-ABDF2C303F6A}"/>
              </a:ext>
            </a:extLst>
          </p:cNvPr>
          <p:cNvSpPr txBox="1"/>
          <p:nvPr/>
        </p:nvSpPr>
        <p:spPr>
          <a:xfrm>
            <a:off x="7206737" y="2311271"/>
            <a:ext cx="243897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Error("err");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A8ED2E-8FA1-4C8A-8687-21B21F76A8AD}"/>
              </a:ext>
            </a:extLst>
          </p:cNvPr>
          <p:cNvCxnSpPr/>
          <p:nvPr/>
        </p:nvCxnSpPr>
        <p:spPr>
          <a:xfrm flipH="1">
            <a:off x="4513006" y="3538693"/>
            <a:ext cx="1582994" cy="2489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42B92F7-B56E-43F6-B8E7-153BEDC43231}"/>
              </a:ext>
            </a:extLst>
          </p:cNvPr>
          <p:cNvSpPr/>
          <p:nvPr/>
        </p:nvSpPr>
        <p:spPr>
          <a:xfrm>
            <a:off x="6930238" y="4027451"/>
            <a:ext cx="585019" cy="5787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7199B0-2C51-48F9-A200-A54C9A32EBB2}"/>
              </a:ext>
            </a:extLst>
          </p:cNvPr>
          <p:cNvCxnSpPr/>
          <p:nvPr/>
        </p:nvCxnSpPr>
        <p:spPr>
          <a:xfrm flipV="1">
            <a:off x="7410470" y="4027451"/>
            <a:ext cx="263993" cy="23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D4E7708-BE71-4D4E-8399-AC88FDD9B6EA}"/>
              </a:ext>
            </a:extLst>
          </p:cNvPr>
          <p:cNvSpPr/>
          <p:nvPr/>
        </p:nvSpPr>
        <p:spPr>
          <a:xfrm>
            <a:off x="7206737" y="3644015"/>
            <a:ext cx="442492" cy="276470"/>
          </a:xfrm>
          <a:prstGeom prst="rect">
            <a:avLst/>
          </a:prstGeom>
          <a:ln w="28575">
            <a:prstDash val="sysDot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E87F0EF-A778-4BA5-8E55-5DFBC75A4467}"/>
              </a:ext>
            </a:extLst>
          </p:cNvPr>
          <p:cNvCxnSpPr>
            <a:cxnSpLocks/>
          </p:cNvCxnSpPr>
          <p:nvPr/>
        </p:nvCxnSpPr>
        <p:spPr>
          <a:xfrm>
            <a:off x="7295267" y="3782250"/>
            <a:ext cx="432503" cy="54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165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189D-F37D-4408-88F0-D0B99073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287" y="-108821"/>
            <a:ext cx="9957619" cy="578772"/>
          </a:xfrm>
        </p:spPr>
        <p:txBody>
          <a:bodyPr>
            <a:normAutofit fontScale="90000"/>
          </a:bodyPr>
          <a:lstStyle/>
          <a:p>
            <a:r>
              <a:rPr lang="en-IN"/>
              <a:t>Abstract </a:t>
            </a:r>
            <a:r>
              <a:rPr lang="en-IN" dirty="0"/>
              <a:t>class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6BAA-270D-4A41-A630-718E1EEBF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3864078" cy="696748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		class Account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		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constructor(</a:t>
            </a:r>
            <a:r>
              <a:rPr lang="en-IN" sz="1200" dirty="0" err="1"/>
              <a:t>fname,lname,amt</a:t>
            </a:r>
            <a:r>
              <a:rPr lang="en-IN" sz="12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{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/>
              <a:t>alert(</a:t>
            </a:r>
            <a:r>
              <a:rPr lang="en-US" sz="1200" dirty="0" err="1"/>
              <a:t>new.target</a:t>
            </a:r>
            <a:r>
              <a:rPr lang="en-US" sz="12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/>
              <a:t>	  if (</a:t>
            </a:r>
            <a:r>
              <a:rPr lang="en-US" sz="1200" dirty="0" err="1">
                <a:solidFill>
                  <a:srgbClr val="FF0000"/>
                </a:solidFill>
              </a:rPr>
              <a:t>new</a:t>
            </a:r>
            <a:r>
              <a:rPr lang="en-US" sz="1800" dirty="0" err="1"/>
              <a:t>.</a:t>
            </a:r>
            <a:r>
              <a:rPr lang="en-US" sz="1200" dirty="0" err="1">
                <a:solidFill>
                  <a:srgbClr val="FF0000"/>
                </a:solidFill>
              </a:rPr>
              <a:t>target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/>
              <a:t>=== Account)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/>
              <a:t>	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/>
              <a:t>      throw new </a:t>
            </a:r>
            <a:r>
              <a:rPr lang="en-US" sz="1200" dirty="0" err="1"/>
              <a:t>TypeError</a:t>
            </a:r>
            <a:r>
              <a:rPr lang="en-US" sz="1200" dirty="0"/>
              <a:t>("Cannot construct Abstract instances directly");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/>
              <a:t>	         }</a:t>
            </a:r>
            <a:r>
              <a:rPr lang="en-IN" sz="1200" dirty="0"/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</a:t>
            </a:r>
            <a:r>
              <a:rPr lang="en-IN" sz="1200" dirty="0" err="1"/>
              <a:t>this.firstname</a:t>
            </a:r>
            <a:r>
              <a:rPr lang="en-IN" sz="1200" dirty="0"/>
              <a:t>=</a:t>
            </a:r>
            <a:r>
              <a:rPr lang="en-IN" sz="1200" dirty="0" err="1"/>
              <a:t>fname</a:t>
            </a:r>
            <a:r>
              <a:rPr lang="en-IN" sz="12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</a:t>
            </a:r>
            <a:r>
              <a:rPr lang="en-IN" sz="1200" dirty="0" err="1"/>
              <a:t>this.lastname</a:t>
            </a:r>
            <a:r>
              <a:rPr lang="en-IN" sz="1200" dirty="0"/>
              <a:t>=</a:t>
            </a:r>
            <a:r>
              <a:rPr lang="en-IN" sz="1200" dirty="0" err="1"/>
              <a:t>lname</a:t>
            </a:r>
            <a:r>
              <a:rPr lang="en-IN" sz="12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</a:t>
            </a:r>
            <a:r>
              <a:rPr lang="en-IN" sz="1200" dirty="0" err="1"/>
              <a:t>this.balance</a:t>
            </a:r>
            <a:r>
              <a:rPr lang="en-IN" sz="1200" dirty="0"/>
              <a:t>=amt;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}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set </a:t>
            </a:r>
            <a:r>
              <a:rPr lang="en-IN" sz="1200" dirty="0" err="1"/>
              <a:t>firstname</a:t>
            </a:r>
            <a:r>
              <a:rPr lang="en-IN" sz="1200" dirty="0"/>
              <a:t>(value) {this._</a:t>
            </a:r>
            <a:r>
              <a:rPr lang="en-IN" sz="1200" dirty="0" err="1"/>
              <a:t>fnm</a:t>
            </a:r>
            <a:r>
              <a:rPr lang="en-IN" sz="1200" dirty="0"/>
              <a:t>=value;}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get </a:t>
            </a:r>
            <a:r>
              <a:rPr lang="en-IN" sz="1200" dirty="0" err="1"/>
              <a:t>firstname</a:t>
            </a:r>
            <a:r>
              <a:rPr lang="en-IN" sz="1200" dirty="0"/>
              <a:t>(){ return this._</a:t>
            </a:r>
            <a:r>
              <a:rPr lang="en-IN" sz="1200" dirty="0" err="1"/>
              <a:t>fnm</a:t>
            </a:r>
            <a:r>
              <a:rPr lang="en-IN" sz="1200" dirty="0"/>
              <a:t>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set balance(value) {this._</a:t>
            </a:r>
            <a:r>
              <a:rPr lang="en-IN" sz="1200" dirty="0" err="1"/>
              <a:t>bal</a:t>
            </a:r>
            <a:r>
              <a:rPr lang="en-IN" sz="1200" dirty="0"/>
              <a:t>=value;}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get balance(){ return this._</a:t>
            </a:r>
            <a:r>
              <a:rPr lang="en-IN" sz="1200" dirty="0" err="1"/>
              <a:t>bal</a:t>
            </a:r>
            <a:r>
              <a:rPr lang="en-IN" sz="1200" dirty="0"/>
              <a:t>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set </a:t>
            </a:r>
            <a:r>
              <a:rPr lang="en-IN" sz="1200" dirty="0" err="1"/>
              <a:t>lastname</a:t>
            </a:r>
            <a:r>
              <a:rPr lang="en-IN" sz="1200" dirty="0"/>
              <a:t>(value) {this._</a:t>
            </a:r>
            <a:r>
              <a:rPr lang="en-IN" sz="1200" dirty="0" err="1"/>
              <a:t>lnm</a:t>
            </a:r>
            <a:r>
              <a:rPr lang="en-IN" sz="1200" dirty="0"/>
              <a:t>=value;}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get </a:t>
            </a:r>
            <a:r>
              <a:rPr lang="en-IN" sz="1200" dirty="0" err="1"/>
              <a:t>lastname</a:t>
            </a:r>
            <a:r>
              <a:rPr lang="en-IN" sz="1200" dirty="0"/>
              <a:t>(){ return this._</a:t>
            </a:r>
            <a:r>
              <a:rPr lang="en-IN" sz="1200" dirty="0" err="1"/>
              <a:t>lnm</a:t>
            </a:r>
            <a:r>
              <a:rPr lang="en-IN" sz="1200" dirty="0"/>
              <a:t>;}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deposit(amt)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{     </a:t>
            </a:r>
            <a:r>
              <a:rPr lang="en-IN" sz="1200" dirty="0" err="1"/>
              <a:t>this.balance</a:t>
            </a:r>
            <a:r>
              <a:rPr lang="en-IN" sz="1200" dirty="0"/>
              <a:t>+=amt;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 err="1"/>
              <a:t>toString</a:t>
            </a:r>
            <a:r>
              <a:rPr lang="en-IN" sz="1200" dirty="0"/>
              <a:t>() {  return  </a:t>
            </a:r>
            <a:r>
              <a:rPr lang="en-IN" sz="1200" dirty="0" err="1"/>
              <a:t>this.firstname</a:t>
            </a:r>
            <a:r>
              <a:rPr lang="en-IN" sz="1200" dirty="0"/>
              <a:t>+ "  " + </a:t>
            </a:r>
            <a:r>
              <a:rPr lang="en-IN" sz="1200" dirty="0" err="1"/>
              <a:t>this.lastname</a:t>
            </a:r>
            <a:r>
              <a:rPr lang="en-IN" sz="1200" dirty="0"/>
              <a:t>+" "+</a:t>
            </a:r>
            <a:r>
              <a:rPr lang="en-IN" sz="1200" dirty="0" err="1"/>
              <a:t>this.balance</a:t>
            </a:r>
            <a:r>
              <a:rPr lang="en-IN" sz="1200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94CD3-91F9-4724-AC05-E190EF8167BC}"/>
              </a:ext>
            </a:extLst>
          </p:cNvPr>
          <p:cNvSpPr txBox="1"/>
          <p:nvPr/>
        </p:nvSpPr>
        <p:spPr>
          <a:xfrm>
            <a:off x="4116644" y="272971"/>
            <a:ext cx="44343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Savingaccount</a:t>
            </a:r>
            <a:r>
              <a:rPr lang="en-IN" dirty="0"/>
              <a:t>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extends</a:t>
            </a:r>
            <a:r>
              <a:rPr lang="en-IN" dirty="0"/>
              <a:t> Account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   constructor(</a:t>
            </a:r>
            <a:r>
              <a:rPr lang="en-IN" dirty="0" err="1"/>
              <a:t>acctype,fname,lname,amt</a:t>
            </a:r>
            <a:r>
              <a:rPr lang="en-IN" dirty="0"/>
              <a:t>)</a:t>
            </a:r>
          </a:p>
          <a:p>
            <a:r>
              <a:rPr lang="en-IN" dirty="0"/>
              <a:t>  {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super</a:t>
            </a:r>
            <a:r>
              <a:rPr lang="en-IN" dirty="0"/>
              <a:t>(</a:t>
            </a:r>
            <a:r>
              <a:rPr lang="en-IN" dirty="0" err="1"/>
              <a:t>fname,lname,amt</a:t>
            </a:r>
            <a:r>
              <a:rPr lang="en-IN" dirty="0"/>
              <a:t>)</a:t>
            </a:r>
          </a:p>
          <a:p>
            <a:r>
              <a:rPr lang="en-IN" dirty="0"/>
              <a:t>    </a:t>
            </a:r>
            <a:r>
              <a:rPr lang="en-IN" dirty="0" err="1"/>
              <a:t>this.type</a:t>
            </a:r>
            <a:r>
              <a:rPr lang="en-IN" dirty="0"/>
              <a:t>=</a:t>
            </a:r>
            <a:r>
              <a:rPr lang="en-IN" dirty="0" err="1"/>
              <a:t>acctype</a:t>
            </a:r>
            <a:r>
              <a:rPr lang="en-IN" dirty="0"/>
              <a:t>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withdraw(amt)</a:t>
            </a:r>
          </a:p>
          <a:p>
            <a:r>
              <a:rPr lang="en-IN" dirty="0"/>
              <a:t>{ 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minbal</a:t>
            </a:r>
            <a:r>
              <a:rPr lang="en-IN" dirty="0"/>
              <a:t>=1000;</a:t>
            </a:r>
          </a:p>
          <a:p>
            <a:r>
              <a:rPr lang="en-IN" dirty="0"/>
              <a:t>      if(amt&gt;(</a:t>
            </a:r>
            <a:r>
              <a:rPr lang="en-IN" dirty="0" err="1"/>
              <a:t>this.balance-minbal</a:t>
            </a:r>
            <a:r>
              <a:rPr lang="en-IN" dirty="0"/>
              <a:t>))</a:t>
            </a:r>
          </a:p>
          <a:p>
            <a:r>
              <a:rPr lang="en-IN" dirty="0"/>
              <a:t>     throw  new </a:t>
            </a:r>
            <a:r>
              <a:rPr lang="en-IN" dirty="0" err="1"/>
              <a:t>TypeError</a:t>
            </a:r>
            <a:r>
              <a:rPr lang="en-IN" dirty="0"/>
              <a:t>("err");</a:t>
            </a:r>
          </a:p>
          <a:p>
            <a:r>
              <a:rPr lang="en-IN" dirty="0" err="1"/>
              <a:t>this.balance</a:t>
            </a:r>
            <a:r>
              <a:rPr lang="en-IN" dirty="0"/>
              <a:t>-=amt;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0F5A3C-287E-4787-A1B8-730550EC4F49}"/>
              </a:ext>
            </a:extLst>
          </p:cNvPr>
          <p:cNvSpPr/>
          <p:nvPr/>
        </p:nvSpPr>
        <p:spPr>
          <a:xfrm>
            <a:off x="983226" y="88490"/>
            <a:ext cx="845573" cy="3814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Parent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48FA54-DE3E-45FE-B89A-44D06D0A16A1}"/>
              </a:ext>
            </a:extLst>
          </p:cNvPr>
          <p:cNvSpPr/>
          <p:nvPr/>
        </p:nvSpPr>
        <p:spPr>
          <a:xfrm>
            <a:off x="5759860" y="88490"/>
            <a:ext cx="845573" cy="3814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Child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0F2D1-0679-464B-8C97-0B9FF43F27E6}"/>
              </a:ext>
            </a:extLst>
          </p:cNvPr>
          <p:cNvSpPr txBox="1"/>
          <p:nvPr/>
        </p:nvSpPr>
        <p:spPr>
          <a:xfrm>
            <a:off x="3864078" y="4797286"/>
            <a:ext cx="53094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var </a:t>
            </a:r>
            <a:r>
              <a:rPr lang="en-IN" dirty="0" err="1"/>
              <a:t>Aobj</a:t>
            </a:r>
            <a:r>
              <a:rPr lang="en-IN" dirty="0"/>
              <a:t>=new  Account (”Raj","Mathur",2000) //ERRRR</a:t>
            </a:r>
          </a:p>
          <a:p>
            <a:endParaRPr lang="en-IN" dirty="0"/>
          </a:p>
          <a:p>
            <a:r>
              <a:rPr lang="en-IN" dirty="0"/>
              <a:t>var </a:t>
            </a:r>
            <a:r>
              <a:rPr lang="en-IN" dirty="0" err="1"/>
              <a:t>obj</a:t>
            </a:r>
            <a:r>
              <a:rPr lang="en-IN" dirty="0"/>
              <a:t>=new  </a:t>
            </a:r>
            <a:r>
              <a:rPr lang="en-IN" dirty="0" err="1"/>
              <a:t>Savingaccount</a:t>
            </a:r>
            <a:r>
              <a:rPr lang="en-IN" dirty="0"/>
              <a:t> ("sav","Raj","Mathur",2000)</a:t>
            </a:r>
          </a:p>
          <a:p>
            <a:r>
              <a:rPr lang="en-IN" dirty="0" err="1"/>
              <a:t>obj.deposit</a:t>
            </a:r>
            <a:r>
              <a:rPr lang="en-IN" dirty="0"/>
              <a:t>(2000);</a:t>
            </a:r>
          </a:p>
          <a:p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  <a:p>
            <a:r>
              <a:rPr lang="en-IN" dirty="0" err="1"/>
              <a:t>obj.withdraw</a:t>
            </a:r>
            <a:r>
              <a:rPr lang="en-IN" dirty="0"/>
              <a:t>(3000);</a:t>
            </a:r>
          </a:p>
          <a:p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42B26E-DDB4-4AFD-B276-C34587850017}"/>
              </a:ext>
            </a:extLst>
          </p:cNvPr>
          <p:cNvSpPr/>
          <p:nvPr/>
        </p:nvSpPr>
        <p:spPr>
          <a:xfrm>
            <a:off x="8051273" y="3907424"/>
            <a:ext cx="698091" cy="7374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96635-87F8-4556-A85A-6981B7258C25}"/>
              </a:ext>
            </a:extLst>
          </p:cNvPr>
          <p:cNvSpPr txBox="1"/>
          <p:nvPr/>
        </p:nvSpPr>
        <p:spPr>
          <a:xfrm>
            <a:off x="9106820" y="4464850"/>
            <a:ext cx="1878345" cy="12003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this._</a:t>
            </a:r>
            <a:r>
              <a:rPr lang="en-IN" dirty="0" err="1">
                <a:solidFill>
                  <a:schemeClr val="bg1"/>
                </a:solidFill>
              </a:rPr>
              <a:t>fnm</a:t>
            </a:r>
            <a:r>
              <a:rPr lang="en-IN" dirty="0">
                <a:solidFill>
                  <a:schemeClr val="bg1"/>
                </a:solidFill>
              </a:rPr>
              <a:t>=raj</a:t>
            </a:r>
          </a:p>
          <a:p>
            <a:r>
              <a:rPr lang="en-IN" dirty="0" err="1">
                <a:solidFill>
                  <a:schemeClr val="bg1"/>
                </a:solidFill>
              </a:rPr>
              <a:t>this.lnm</a:t>
            </a:r>
            <a:r>
              <a:rPr lang="en-IN" dirty="0">
                <a:solidFill>
                  <a:schemeClr val="bg1"/>
                </a:solidFill>
              </a:rPr>
              <a:t>-Mathur</a:t>
            </a:r>
          </a:p>
          <a:p>
            <a:r>
              <a:rPr lang="en-IN" dirty="0" err="1">
                <a:solidFill>
                  <a:schemeClr val="bg1"/>
                </a:solidFill>
              </a:rPr>
              <a:t>this_bal</a:t>
            </a:r>
            <a:r>
              <a:rPr lang="en-IN" dirty="0">
                <a:solidFill>
                  <a:schemeClr val="bg1"/>
                </a:solidFill>
              </a:rPr>
              <a:t>=20000</a:t>
            </a:r>
          </a:p>
          <a:p>
            <a:r>
              <a:rPr lang="en-IN" dirty="0">
                <a:solidFill>
                  <a:schemeClr val="bg1"/>
                </a:solidFill>
              </a:rPr>
              <a:t>Type=sav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471E4E-5606-47F2-9A3B-D432FF10F514}"/>
              </a:ext>
            </a:extLst>
          </p:cNvPr>
          <p:cNvSpPr/>
          <p:nvPr/>
        </p:nvSpPr>
        <p:spPr>
          <a:xfrm>
            <a:off x="8629958" y="384549"/>
            <a:ext cx="3229895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7EF21B-C820-42B7-B471-99F3AD021234}"/>
              </a:ext>
            </a:extLst>
          </p:cNvPr>
          <p:cNvSpPr/>
          <p:nvPr/>
        </p:nvSpPr>
        <p:spPr>
          <a:xfrm>
            <a:off x="9478298" y="2241501"/>
            <a:ext cx="2526890" cy="546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dirty="0"/>
              <a:t>deposit(amt){ }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C83089-0EDC-45FC-B70C-7508F90688AC}"/>
              </a:ext>
            </a:extLst>
          </p:cNvPr>
          <p:cNvCxnSpPr>
            <a:cxnSpLocks/>
          </p:cNvCxnSpPr>
          <p:nvPr/>
        </p:nvCxnSpPr>
        <p:spPr>
          <a:xfrm>
            <a:off x="9244471" y="985057"/>
            <a:ext cx="0" cy="539193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91C98-9A37-4CA5-AC50-DFA890B6A7CA}"/>
              </a:ext>
            </a:extLst>
          </p:cNvPr>
          <p:cNvSpPr/>
          <p:nvPr/>
        </p:nvSpPr>
        <p:spPr>
          <a:xfrm>
            <a:off x="10072194" y="2858750"/>
            <a:ext cx="1969510" cy="2151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toString</a:t>
            </a:r>
            <a:r>
              <a:rPr lang="en-IN" dirty="0"/>
              <a:t>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1F7589-84C5-4D39-A2D0-78EDB6C821EB}"/>
              </a:ext>
            </a:extLst>
          </p:cNvPr>
          <p:cNvSpPr/>
          <p:nvPr/>
        </p:nvSpPr>
        <p:spPr>
          <a:xfrm>
            <a:off x="10072194" y="3150068"/>
            <a:ext cx="2113936" cy="362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get </a:t>
            </a:r>
            <a:r>
              <a:rPr lang="en-IN" sz="1800" dirty="0" err="1"/>
              <a:t>firstname</a:t>
            </a:r>
            <a:r>
              <a:rPr lang="en-IN" sz="1800" dirty="0"/>
              <a:t>(){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5F19D3-E40A-45E6-A398-A02A2A5A4A06}"/>
              </a:ext>
            </a:extLst>
          </p:cNvPr>
          <p:cNvSpPr/>
          <p:nvPr/>
        </p:nvSpPr>
        <p:spPr>
          <a:xfrm>
            <a:off x="10117777" y="3644015"/>
            <a:ext cx="2113936" cy="362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</a:t>
            </a:r>
            <a:r>
              <a:rPr lang="en-IN" sz="1800" dirty="0"/>
              <a:t>et </a:t>
            </a:r>
            <a:r>
              <a:rPr lang="en-IN" sz="1800" dirty="0" err="1"/>
              <a:t>firstname</a:t>
            </a:r>
            <a:r>
              <a:rPr lang="en-IN" sz="1800" dirty="0"/>
              <a:t>(){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B6D723-5D9B-4EB7-85B3-CBBF1B9A83D8}"/>
              </a:ext>
            </a:extLst>
          </p:cNvPr>
          <p:cNvSpPr/>
          <p:nvPr/>
        </p:nvSpPr>
        <p:spPr>
          <a:xfrm>
            <a:off x="7674463" y="1463412"/>
            <a:ext cx="3229895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Account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BB320A-3CDC-4ADE-9F71-FFF96746951B}"/>
              </a:ext>
            </a:extLst>
          </p:cNvPr>
          <p:cNvCxnSpPr>
            <a:cxnSpLocks/>
          </p:cNvCxnSpPr>
          <p:nvPr/>
        </p:nvCxnSpPr>
        <p:spPr>
          <a:xfrm>
            <a:off x="8986684" y="2124845"/>
            <a:ext cx="254294" cy="2340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31847B2-B908-4062-8113-352BA8FEAE02}"/>
              </a:ext>
            </a:extLst>
          </p:cNvPr>
          <p:cNvSpPr/>
          <p:nvPr/>
        </p:nvSpPr>
        <p:spPr>
          <a:xfrm>
            <a:off x="10117777" y="5940462"/>
            <a:ext cx="1878345" cy="277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withdraw</a:t>
            </a:r>
          </a:p>
        </p:txBody>
      </p:sp>
    </p:spTree>
    <p:extLst>
      <p:ext uri="{BB962C8B-B14F-4D97-AF65-F5344CB8AC3E}">
        <p14:creationId xmlns:p14="http://schemas.microsoft.com/office/powerpoint/2010/main" val="3957073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C58517-22FC-4CFD-9F4A-3C43981651E6}"/>
              </a:ext>
            </a:extLst>
          </p:cNvPr>
          <p:cNvSpPr txBox="1"/>
          <p:nvPr/>
        </p:nvSpPr>
        <p:spPr>
          <a:xfrm>
            <a:off x="0" y="757084"/>
            <a:ext cx="4031225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&lt;script&gt;</a:t>
            </a:r>
          </a:p>
          <a:p>
            <a:r>
              <a:rPr lang="en-IN" sz="1200" dirty="0"/>
              <a:t>'use strict'</a:t>
            </a:r>
          </a:p>
          <a:p>
            <a:r>
              <a:rPr lang="en-IN" sz="1200" dirty="0"/>
              <a:t>class Account</a:t>
            </a:r>
          </a:p>
          <a:p>
            <a:r>
              <a:rPr lang="en-IN" sz="1200" dirty="0"/>
              <a:t>{   </a:t>
            </a:r>
          </a:p>
          <a:p>
            <a:r>
              <a:rPr lang="en-IN" sz="1200" dirty="0">
                <a:highlight>
                  <a:srgbClr val="FFFF00"/>
                </a:highlight>
              </a:rPr>
              <a:t>    static </a:t>
            </a:r>
            <a:r>
              <a:rPr lang="en-IN" sz="1200" dirty="0" err="1">
                <a:highlight>
                  <a:srgbClr val="FFFF00"/>
                </a:highlight>
              </a:rPr>
              <a:t>accid</a:t>
            </a:r>
            <a:r>
              <a:rPr lang="en-IN" sz="1200" dirty="0">
                <a:highlight>
                  <a:srgbClr val="FFFF00"/>
                </a:highlight>
              </a:rPr>
              <a:t>()</a:t>
            </a:r>
          </a:p>
          <a:p>
            <a:r>
              <a:rPr lang="en-IN" sz="1200" dirty="0"/>
              <a:t>	{ 	</a:t>
            </a:r>
            <a:r>
              <a:rPr lang="en-IN" sz="1200" dirty="0">
                <a:highlight>
                  <a:srgbClr val="00FFFF"/>
                </a:highlight>
              </a:rPr>
              <a:t>Account.dd</a:t>
            </a:r>
            <a:r>
              <a:rPr lang="en-IN" sz="1200" dirty="0"/>
              <a:t>=++</a:t>
            </a:r>
            <a:r>
              <a:rPr lang="en-IN" sz="1200" dirty="0">
                <a:highlight>
                  <a:srgbClr val="00FFFF"/>
                </a:highlight>
              </a:rPr>
              <a:t>Account.dd</a:t>
            </a:r>
            <a:r>
              <a:rPr lang="en-IN" sz="1200" dirty="0"/>
              <a:t>||1;</a:t>
            </a:r>
          </a:p>
          <a:p>
            <a:r>
              <a:rPr lang="en-IN" sz="1200" dirty="0"/>
              <a:t>	   return Account.dd;</a:t>
            </a:r>
          </a:p>
          <a:p>
            <a:r>
              <a:rPr lang="en-IN" sz="1200" dirty="0"/>
              <a:t>	}</a:t>
            </a:r>
          </a:p>
          <a:p>
            <a:r>
              <a:rPr lang="en-IN" sz="1200" dirty="0"/>
              <a:t>	  constructor(</a:t>
            </a:r>
            <a:r>
              <a:rPr lang="en-IN" sz="1200" dirty="0" err="1"/>
              <a:t>name,amt</a:t>
            </a:r>
            <a:r>
              <a:rPr lang="en-IN" sz="1200" dirty="0"/>
              <a:t>)</a:t>
            </a:r>
          </a:p>
          <a:p>
            <a:r>
              <a:rPr lang="en-IN" sz="1200" dirty="0"/>
              <a:t>  { alert(</a:t>
            </a:r>
            <a:r>
              <a:rPr lang="en-IN" sz="1200" dirty="0" err="1"/>
              <a:t>new.target</a:t>
            </a:r>
            <a:r>
              <a:rPr lang="en-IN" sz="1200" dirty="0"/>
              <a:t>)  </a:t>
            </a:r>
          </a:p>
          <a:p>
            <a:r>
              <a:rPr lang="en-IN" sz="1200" dirty="0"/>
              <a:t>   if (</a:t>
            </a:r>
            <a:r>
              <a:rPr lang="en-IN" sz="1200" dirty="0" err="1">
                <a:solidFill>
                  <a:srgbClr val="FF0000"/>
                </a:solidFill>
              </a:rPr>
              <a:t>new</a:t>
            </a:r>
            <a:r>
              <a:rPr lang="en-IN" dirty="0" err="1">
                <a:solidFill>
                  <a:srgbClr val="00B0F0"/>
                </a:solidFill>
              </a:rPr>
              <a:t>.</a:t>
            </a:r>
            <a:r>
              <a:rPr lang="en-IN" sz="1400" b="1" dirty="0" err="1">
                <a:solidFill>
                  <a:srgbClr val="00B0F0"/>
                </a:solidFill>
              </a:rPr>
              <a:t>target</a:t>
            </a:r>
            <a:r>
              <a:rPr lang="en-IN" sz="1200" dirty="0"/>
              <a:t> === Account) {</a:t>
            </a:r>
          </a:p>
          <a:p>
            <a:r>
              <a:rPr lang="en-IN" sz="1200" dirty="0"/>
              <a:t>      throw new </a:t>
            </a:r>
            <a:r>
              <a:rPr lang="en-IN" sz="1200" dirty="0" err="1"/>
              <a:t>TypeError</a:t>
            </a:r>
            <a:r>
              <a:rPr lang="en-IN" sz="1200" dirty="0"/>
              <a:t>("Cannot construct Abstract instances directly");</a:t>
            </a:r>
          </a:p>
          <a:p>
            <a:r>
              <a:rPr lang="en-IN" sz="1200" dirty="0"/>
              <a:t>	         }  </a:t>
            </a:r>
          </a:p>
          <a:p>
            <a:r>
              <a:rPr lang="en-IN" sz="1200" dirty="0"/>
              <a:t>	</a:t>
            </a:r>
          </a:p>
          <a:p>
            <a:r>
              <a:rPr lang="en-IN" sz="1200" dirty="0"/>
              <a:t>      </a:t>
            </a:r>
            <a:r>
              <a:rPr lang="en-IN" sz="1200" dirty="0" err="1"/>
              <a:t>this.Aname</a:t>
            </a:r>
            <a:r>
              <a:rPr lang="en-IN" sz="1200" dirty="0"/>
              <a:t>=name;</a:t>
            </a:r>
          </a:p>
          <a:p>
            <a:r>
              <a:rPr lang="en-IN" sz="1200" dirty="0"/>
              <a:t>	  </a:t>
            </a:r>
            <a:r>
              <a:rPr lang="en-IN" sz="1200" dirty="0" err="1"/>
              <a:t>this.Abalance</a:t>
            </a:r>
            <a:r>
              <a:rPr lang="en-IN" sz="1200" dirty="0"/>
              <a:t>=amt;</a:t>
            </a:r>
          </a:p>
          <a:p>
            <a:r>
              <a:rPr lang="en-IN" sz="1200" dirty="0"/>
              <a:t>	  </a:t>
            </a:r>
            <a:r>
              <a:rPr lang="en-IN" sz="1200" dirty="0" err="1"/>
              <a:t>this._id</a:t>
            </a:r>
            <a:r>
              <a:rPr lang="en-IN" sz="1200" dirty="0"/>
              <a:t>= </a:t>
            </a:r>
            <a:r>
              <a:rPr lang="en-IN" sz="1200" dirty="0" err="1">
                <a:highlight>
                  <a:srgbClr val="FFFF00"/>
                </a:highlight>
              </a:rPr>
              <a:t>Account.accid</a:t>
            </a:r>
            <a:r>
              <a:rPr lang="en-IN" sz="1200" dirty="0">
                <a:highlight>
                  <a:srgbClr val="FFFF00"/>
                </a:highlight>
              </a:rPr>
              <a:t>();</a:t>
            </a:r>
          </a:p>
          <a:p>
            <a:r>
              <a:rPr lang="en-IN" sz="1200" dirty="0"/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get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Aname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(){ return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this._name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  set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Aname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(value) {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this._name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=value;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  get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Abalance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() { return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this._balance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  set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Abalance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(value) {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this._balance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=value;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deposit(amt)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this.Abalance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+=amt;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get Aid(){return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this._id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toString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{return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this.Aname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+ "  " +this.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Abalance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+"id="+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this.Aid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41E81-4270-4D02-A2E6-FE3E59094D64}"/>
              </a:ext>
            </a:extLst>
          </p:cNvPr>
          <p:cNvSpPr txBox="1"/>
          <p:nvPr/>
        </p:nvSpPr>
        <p:spPr>
          <a:xfrm>
            <a:off x="4483511" y="68826"/>
            <a:ext cx="5034115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class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SavingAccount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extends Account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{  	constructor(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name,amount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 { 	 super(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name,amount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withdrow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(amt)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{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const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minbal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=10000;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var b=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this.Abalance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-amt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 if(b&lt;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minbal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 {throw new Error("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insufficiant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balance");}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	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this.Abalance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-=amt;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prstClr val="black"/>
                </a:solidFill>
                <a:latin typeface="Garamond" panose="02020404030301010803"/>
              </a:rPr>
              <a:t>Let </a:t>
            </a:r>
            <a:r>
              <a:rPr lang="en-IN" sz="1200" dirty="0" err="1">
                <a:solidFill>
                  <a:prstClr val="black"/>
                </a:solidFill>
                <a:latin typeface="Garamond" panose="02020404030301010803"/>
              </a:rPr>
              <a:t>obj</a:t>
            </a:r>
            <a:r>
              <a:rPr lang="en-IN" sz="1200" dirty="0">
                <a:solidFill>
                  <a:prstClr val="black"/>
                </a:solidFill>
                <a:latin typeface="Garamond" panose="02020404030301010803"/>
              </a:rPr>
              <a:t>=new Account(“raj”,20000);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var sa1=new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SavingAccount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("Raj",50000);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console.log(sa1);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document.write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(sa1);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var sa2=new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SavingAccount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("manali",90000);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console.log(sa2);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document.write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(sa2);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sa2.Aname="vita";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console.log(sa2.hasOwnProperty("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Aname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")); //false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console.log(sa2.hasOwnProperty("_name"));//True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var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oba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=new Account("Geeta",5000);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class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currentAccount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extends Account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{  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constructor(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name,amount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 { 	 super(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name,amount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withdrow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(amt)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{ 		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this.Abalance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-=amt;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}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8D46C6-2991-48DD-BAB4-C8296B32741E}"/>
              </a:ext>
            </a:extLst>
          </p:cNvPr>
          <p:cNvSpPr txBox="1"/>
          <p:nvPr/>
        </p:nvSpPr>
        <p:spPr>
          <a:xfrm>
            <a:off x="8927691" y="196644"/>
            <a:ext cx="29988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var ca1=new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SavingAccount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("Vidya",90000);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console.log(ca1);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ca1.deposit(8000);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document.write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(ca1);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ca1.withdrow(70000);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document.write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(ca1);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document.write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("&lt;hr/&gt;");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for(var x in ca1)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document.write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(ca1[x]);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514503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0C3F5-4C7E-42BE-B626-AAA318951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30" y="845574"/>
            <a:ext cx="5427405" cy="162232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'use strict'</a:t>
            </a:r>
          </a:p>
          <a:p>
            <a:pPr marL="0" indent="0">
              <a:buNone/>
            </a:pPr>
            <a:r>
              <a:rPr lang="en-IN" dirty="0" err="1"/>
              <a:t>documet.write</a:t>
            </a:r>
            <a:r>
              <a:rPr lang="en-IN" dirty="0"/>
              <a:t>("hello");</a:t>
            </a:r>
          </a:p>
          <a:p>
            <a:pPr marL="0" indent="0">
              <a:buNone/>
            </a:pPr>
            <a:r>
              <a:rPr lang="en-IN" dirty="0" err="1"/>
              <a:t>window.document.write</a:t>
            </a:r>
            <a:r>
              <a:rPr lang="en-IN" dirty="0"/>
              <a:t>("hello")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7B7048-B482-4672-B0DE-5DAB0E1451D6}"/>
              </a:ext>
            </a:extLst>
          </p:cNvPr>
          <p:cNvSpPr/>
          <p:nvPr/>
        </p:nvSpPr>
        <p:spPr>
          <a:xfrm>
            <a:off x="1288026" y="3539613"/>
            <a:ext cx="648929" cy="55060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5D3EC-6B19-45C4-B8E6-215F344C6830}"/>
              </a:ext>
            </a:extLst>
          </p:cNvPr>
          <p:cNvSpPr txBox="1"/>
          <p:nvPr/>
        </p:nvSpPr>
        <p:spPr>
          <a:xfrm>
            <a:off x="1101213" y="3170281"/>
            <a:ext cx="1022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window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4C7A63-6361-475C-BA00-6C7C4A68CEF4}"/>
              </a:ext>
            </a:extLst>
          </p:cNvPr>
          <p:cNvSpPr/>
          <p:nvPr/>
        </p:nvSpPr>
        <p:spPr>
          <a:xfrm>
            <a:off x="2497394" y="3170281"/>
            <a:ext cx="2684206" cy="1480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07366-A324-4B62-891E-F02D62FDBA41}"/>
              </a:ext>
            </a:extLst>
          </p:cNvPr>
          <p:cNvSpPr/>
          <p:nvPr/>
        </p:nvSpPr>
        <p:spPr>
          <a:xfrm>
            <a:off x="3146323" y="3323303"/>
            <a:ext cx="1258529" cy="3146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document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F2EC48-D1DF-40D8-86E8-BB59245A9F9F}"/>
              </a:ext>
            </a:extLst>
          </p:cNvPr>
          <p:cNvCxnSpPr/>
          <p:nvPr/>
        </p:nvCxnSpPr>
        <p:spPr>
          <a:xfrm flipV="1">
            <a:off x="4424516" y="3352800"/>
            <a:ext cx="1671484" cy="186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AAFFAA-4EA3-4544-B1DA-D2172184EC16}"/>
              </a:ext>
            </a:extLst>
          </p:cNvPr>
          <p:cNvSpPr/>
          <p:nvPr/>
        </p:nvSpPr>
        <p:spPr>
          <a:xfrm>
            <a:off x="6400800" y="2949677"/>
            <a:ext cx="1858297" cy="1297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1800E6-59AA-446F-A2DD-5AE5505AD5D5}"/>
              </a:ext>
            </a:extLst>
          </p:cNvPr>
          <p:cNvSpPr txBox="1"/>
          <p:nvPr/>
        </p:nvSpPr>
        <p:spPr>
          <a:xfrm>
            <a:off x="2856272" y="2725682"/>
            <a:ext cx="1406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Window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39933D-1A4E-47B5-AAF7-B76EDE2FA71B}"/>
              </a:ext>
            </a:extLst>
          </p:cNvPr>
          <p:cNvSpPr txBox="1"/>
          <p:nvPr/>
        </p:nvSpPr>
        <p:spPr>
          <a:xfrm>
            <a:off x="6523706" y="2580345"/>
            <a:ext cx="1406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Document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C9A6FA-B67B-48B3-89C8-A237B9E67F00}"/>
              </a:ext>
            </a:extLst>
          </p:cNvPr>
          <p:cNvSpPr/>
          <p:nvPr/>
        </p:nvSpPr>
        <p:spPr>
          <a:xfrm>
            <a:off x="8819535" y="3746090"/>
            <a:ext cx="1578078" cy="344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0FE15F-41B8-43EF-A730-4B0A261BE0A9}"/>
              </a:ext>
            </a:extLst>
          </p:cNvPr>
          <p:cNvSpPr txBox="1"/>
          <p:nvPr/>
        </p:nvSpPr>
        <p:spPr>
          <a:xfrm>
            <a:off x="8947354" y="3413940"/>
            <a:ext cx="875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write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2E93C2-D7D7-4EDE-B0CF-931CA4ED6D26}"/>
              </a:ext>
            </a:extLst>
          </p:cNvPr>
          <p:cNvCxnSpPr>
            <a:stCxn id="4" idx="3"/>
          </p:cNvCxnSpPr>
          <p:nvPr/>
        </p:nvCxnSpPr>
        <p:spPr>
          <a:xfrm flipV="1">
            <a:off x="1936955" y="3637935"/>
            <a:ext cx="491612" cy="176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3FF3334-9CE3-430F-9F32-4E4E290350E0}"/>
              </a:ext>
            </a:extLst>
          </p:cNvPr>
          <p:cNvSpPr/>
          <p:nvPr/>
        </p:nvSpPr>
        <p:spPr>
          <a:xfrm>
            <a:off x="5309419" y="4483510"/>
            <a:ext cx="1214287" cy="285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690B00-8A3E-41C2-960D-EF252C9284B9}"/>
              </a:ext>
            </a:extLst>
          </p:cNvPr>
          <p:cNvSpPr txBox="1"/>
          <p:nvPr/>
        </p:nvSpPr>
        <p:spPr>
          <a:xfrm>
            <a:off x="5388077" y="4094513"/>
            <a:ext cx="80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alert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34E316-058F-4E2B-BF7A-F320A9E79C1A}"/>
              </a:ext>
            </a:extLst>
          </p:cNvPr>
          <p:cNvSpPr/>
          <p:nvPr/>
        </p:nvSpPr>
        <p:spPr>
          <a:xfrm>
            <a:off x="8971933" y="4457404"/>
            <a:ext cx="1578078" cy="344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4A7E71-7BB0-476D-A03C-3443C6981739}"/>
              </a:ext>
            </a:extLst>
          </p:cNvPr>
          <p:cNvSpPr txBox="1"/>
          <p:nvPr/>
        </p:nvSpPr>
        <p:spPr>
          <a:xfrm>
            <a:off x="9099752" y="4125254"/>
            <a:ext cx="875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4291338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26F7-997C-48D6-A601-8786918D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373" y="79989"/>
            <a:ext cx="10105103" cy="765585"/>
          </a:xfrm>
        </p:spPr>
        <p:txBody>
          <a:bodyPr/>
          <a:lstStyle/>
          <a:p>
            <a:r>
              <a:rPr lang="en-IN" dirty="0"/>
              <a:t>Calling member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FED19-B3C6-4D8A-B154-226E7685F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845574"/>
            <a:ext cx="4100052" cy="53313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class </a:t>
            </a:r>
            <a:r>
              <a:rPr lang="en-IN" sz="1600" dirty="0" err="1"/>
              <a:t>MyMath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{</a:t>
            </a:r>
          </a:p>
          <a:p>
            <a:pPr marL="0" indent="0">
              <a:buNone/>
            </a:pPr>
            <a:r>
              <a:rPr lang="en-IN" sz="1600" dirty="0"/>
              <a:t>  constructor(number)</a:t>
            </a:r>
          </a:p>
          <a:p>
            <a:pPr marL="0" indent="0">
              <a:buNone/>
            </a:pPr>
            <a:r>
              <a:rPr lang="en-IN" sz="1600" dirty="0"/>
              <a:t>  {</a:t>
            </a:r>
          </a:p>
          <a:p>
            <a:pPr marL="0" indent="0">
              <a:buNone/>
            </a:pPr>
            <a:r>
              <a:rPr lang="en-IN" sz="1600" dirty="0"/>
              <a:t>   this.no=number;</a:t>
            </a:r>
          </a:p>
          <a:p>
            <a:pPr marL="0" indent="0">
              <a:buNone/>
            </a:pPr>
            <a:r>
              <a:rPr lang="en-IN" sz="1600" dirty="0"/>
              <a:t>  }</a:t>
            </a:r>
          </a:p>
          <a:p>
            <a:pPr marL="0" indent="0">
              <a:buNone/>
            </a:pPr>
            <a:r>
              <a:rPr lang="en-IN" sz="1600" dirty="0"/>
              <a:t>  </a:t>
            </a:r>
            <a:r>
              <a:rPr lang="en-IN" sz="1600" dirty="0" err="1"/>
              <a:t>sqr</a:t>
            </a:r>
            <a:r>
              <a:rPr lang="en-IN" sz="1600" dirty="0"/>
              <a:t>()</a:t>
            </a:r>
          </a:p>
          <a:p>
            <a:pPr marL="0" indent="0">
              <a:buNone/>
            </a:pPr>
            <a:r>
              <a:rPr lang="en-IN" sz="1600" dirty="0"/>
              <a:t>   {  let s=this.no*this.no; </a:t>
            </a:r>
          </a:p>
          <a:p>
            <a:pPr marL="0" indent="0">
              <a:buNone/>
            </a:pPr>
            <a:r>
              <a:rPr lang="en-IN" sz="1600" dirty="0"/>
              <a:t>    return s;</a:t>
            </a:r>
          </a:p>
          <a:p>
            <a:pPr marL="0" indent="0">
              <a:buNone/>
            </a:pPr>
            <a:r>
              <a:rPr lang="en-IN" sz="1600" dirty="0"/>
              <a:t>   }</a:t>
            </a:r>
          </a:p>
          <a:p>
            <a:pPr marL="0" indent="0">
              <a:buNone/>
            </a:pPr>
            <a:r>
              <a:rPr lang="en-IN" sz="1600" dirty="0"/>
              <a:t>   cube()</a:t>
            </a:r>
          </a:p>
          <a:p>
            <a:pPr marL="0" indent="0">
              <a:buNone/>
            </a:pPr>
            <a:r>
              <a:rPr lang="en-IN" sz="1600" dirty="0"/>
              <a:t>   {</a:t>
            </a:r>
          </a:p>
          <a:p>
            <a:pPr marL="0" indent="0">
              <a:buNone/>
            </a:pPr>
            <a:r>
              <a:rPr lang="en-IN" sz="1600" dirty="0"/>
              <a:t>   let q= </a:t>
            </a:r>
            <a:r>
              <a:rPr lang="en-IN" sz="2000" b="1" dirty="0" err="1"/>
              <a:t>this</a:t>
            </a:r>
            <a:r>
              <a:rPr lang="en-IN" sz="1600" dirty="0" err="1"/>
              <a:t>.sqr</a:t>
            </a:r>
            <a:r>
              <a:rPr lang="en-IN" sz="1600" dirty="0"/>
              <a:t>()*</a:t>
            </a:r>
            <a:r>
              <a:rPr lang="en-IN" sz="2000" b="1" dirty="0"/>
              <a:t>this</a:t>
            </a:r>
            <a:r>
              <a:rPr lang="en-IN" sz="1600" dirty="0"/>
              <a:t>.no</a:t>
            </a:r>
          </a:p>
          <a:p>
            <a:pPr marL="0" indent="0">
              <a:buNone/>
            </a:pPr>
            <a:r>
              <a:rPr lang="en-IN" sz="1600" dirty="0"/>
              <a:t>   return q;</a:t>
            </a:r>
          </a:p>
          <a:p>
            <a:pPr marL="0" indent="0">
              <a:buNone/>
            </a:pPr>
            <a:r>
              <a:rPr lang="en-IN" sz="1600" dirty="0"/>
              <a:t>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7C1EA-7C98-4039-9DD6-D66E0471786E}"/>
              </a:ext>
            </a:extLst>
          </p:cNvPr>
          <p:cNvSpPr txBox="1"/>
          <p:nvPr/>
        </p:nvSpPr>
        <p:spPr>
          <a:xfrm>
            <a:off x="5997677" y="1032387"/>
            <a:ext cx="3824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 err="1"/>
              <a:t>obj</a:t>
            </a:r>
            <a:r>
              <a:rPr lang="en-IN" dirty="0"/>
              <a:t>=new </a:t>
            </a:r>
            <a:r>
              <a:rPr lang="en-IN" dirty="0" err="1"/>
              <a:t>MyMath</a:t>
            </a:r>
            <a:r>
              <a:rPr lang="en-IN" dirty="0"/>
              <a:t>(3);</a:t>
            </a:r>
          </a:p>
          <a:p>
            <a:r>
              <a:rPr lang="en-IN" dirty="0"/>
              <a:t>console.log(</a:t>
            </a:r>
            <a:r>
              <a:rPr lang="en-IN" dirty="0" err="1"/>
              <a:t>obj.sqr</a:t>
            </a:r>
            <a:r>
              <a:rPr lang="en-IN" dirty="0"/>
              <a:t>());</a:t>
            </a:r>
          </a:p>
          <a:p>
            <a:r>
              <a:rPr lang="en-IN" dirty="0"/>
              <a:t>console.log(</a:t>
            </a:r>
            <a:r>
              <a:rPr lang="en-IN" dirty="0" err="1"/>
              <a:t>obj.cube</a:t>
            </a:r>
            <a:r>
              <a:rPr lang="en-IN" dirty="0"/>
              <a:t>())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9A04BC-40FC-4F32-A83D-0EA7DD67F83B}"/>
              </a:ext>
            </a:extLst>
          </p:cNvPr>
          <p:cNvSpPr/>
          <p:nvPr/>
        </p:nvSpPr>
        <p:spPr>
          <a:xfrm>
            <a:off x="5407742" y="3578942"/>
            <a:ext cx="688258" cy="50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EAF918-0D30-4589-A3D9-8B09A7B8B77C}"/>
              </a:ext>
            </a:extLst>
          </p:cNvPr>
          <p:cNvCxnSpPr>
            <a:stCxn id="5" idx="3"/>
          </p:cNvCxnSpPr>
          <p:nvPr/>
        </p:nvCxnSpPr>
        <p:spPr>
          <a:xfrm flipV="1">
            <a:off x="6096000" y="3578942"/>
            <a:ext cx="943897" cy="250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DF7960B-1F2F-4390-8E1E-59D3A18C68A1}"/>
              </a:ext>
            </a:extLst>
          </p:cNvPr>
          <p:cNvSpPr/>
          <p:nvPr/>
        </p:nvSpPr>
        <p:spPr>
          <a:xfrm>
            <a:off x="7148052" y="2861187"/>
            <a:ext cx="2153264" cy="14355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no=3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AF8A53-9B51-4743-B5CA-E5219FE16B70}"/>
              </a:ext>
            </a:extLst>
          </p:cNvPr>
          <p:cNvSpPr/>
          <p:nvPr/>
        </p:nvSpPr>
        <p:spPr>
          <a:xfrm>
            <a:off x="10461523" y="3829665"/>
            <a:ext cx="1415845" cy="2507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CE00C8-AF66-4B25-9720-13A65768DC8F}"/>
              </a:ext>
            </a:extLst>
          </p:cNvPr>
          <p:cNvSpPr/>
          <p:nvPr/>
        </p:nvSpPr>
        <p:spPr>
          <a:xfrm>
            <a:off x="10461522" y="4316361"/>
            <a:ext cx="1415845" cy="2507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B6380-5FB4-45C2-A054-CDFBFBBC130D}"/>
              </a:ext>
            </a:extLst>
          </p:cNvPr>
          <p:cNvSpPr txBox="1"/>
          <p:nvPr/>
        </p:nvSpPr>
        <p:spPr>
          <a:xfrm>
            <a:off x="10382865" y="3479313"/>
            <a:ext cx="1415845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 </a:t>
            </a:r>
            <a:r>
              <a:rPr lang="en-IN" sz="1800" dirty="0" err="1"/>
              <a:t>sqr</a:t>
            </a:r>
            <a:r>
              <a:rPr lang="en-IN" sz="1800" dirty="0"/>
              <a:t>()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C7C405-227B-4474-A4C1-38C357035A62}"/>
              </a:ext>
            </a:extLst>
          </p:cNvPr>
          <p:cNvSpPr txBox="1"/>
          <p:nvPr/>
        </p:nvSpPr>
        <p:spPr>
          <a:xfrm>
            <a:off x="10382865" y="4018624"/>
            <a:ext cx="1233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/>
              <a:t>cube()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D545A0-A9CD-482A-9CA7-EF2A44A09792}"/>
              </a:ext>
            </a:extLst>
          </p:cNvPr>
          <p:cNvSpPr txBox="1"/>
          <p:nvPr/>
        </p:nvSpPr>
        <p:spPr>
          <a:xfrm>
            <a:off x="5565060" y="3209610"/>
            <a:ext cx="66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obj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9561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424C-E22B-441C-83BC-F682C1AE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1" y="180923"/>
            <a:ext cx="10262419" cy="500114"/>
          </a:xfrm>
        </p:spPr>
        <p:txBody>
          <a:bodyPr>
            <a:normAutofit fontScale="90000"/>
          </a:bodyPr>
          <a:lstStyle/>
          <a:p>
            <a:r>
              <a:rPr lang="en-IN" dirty="0"/>
              <a:t>Static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2A325-9754-4747-BF0D-A4F8E2F67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904568"/>
            <a:ext cx="4355691" cy="5272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&lt;script&gt;</a:t>
            </a:r>
          </a:p>
          <a:p>
            <a:pPr marL="0" indent="0">
              <a:buNone/>
            </a:pPr>
            <a:r>
              <a:rPr lang="en-IN" sz="1800" dirty="0"/>
              <a:t>'use strict'</a:t>
            </a:r>
          </a:p>
          <a:p>
            <a:pPr marL="0" indent="0">
              <a:buNone/>
            </a:pPr>
            <a:r>
              <a:rPr lang="en-IN" sz="1800" dirty="0"/>
              <a:t>class </a:t>
            </a:r>
            <a:r>
              <a:rPr lang="en-IN" sz="1800" dirty="0" err="1"/>
              <a:t>mymaths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{</a:t>
            </a:r>
          </a:p>
          <a:p>
            <a:pPr marL="0" indent="0">
              <a:buNone/>
            </a:pPr>
            <a:r>
              <a:rPr lang="en-IN" sz="1800" dirty="0"/>
              <a:t>   static add(</a:t>
            </a:r>
            <a:r>
              <a:rPr lang="en-IN" sz="1800" dirty="0" err="1"/>
              <a:t>a,b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   {</a:t>
            </a:r>
          </a:p>
          <a:p>
            <a:pPr marL="0" indent="0">
              <a:buNone/>
            </a:pPr>
            <a:r>
              <a:rPr lang="en-IN" sz="1800" dirty="0"/>
              <a:t>      return </a:t>
            </a:r>
            <a:r>
              <a:rPr lang="en-IN" sz="1800" dirty="0" err="1"/>
              <a:t>a+b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r>
              <a:rPr lang="en-IN" sz="1800" dirty="0"/>
              <a:t>      static </a:t>
            </a:r>
            <a:r>
              <a:rPr lang="en-IN" sz="1800" dirty="0" err="1"/>
              <a:t>sqr</a:t>
            </a:r>
            <a:r>
              <a:rPr lang="en-IN" sz="1800" dirty="0"/>
              <a:t>(a)</a:t>
            </a:r>
          </a:p>
          <a:p>
            <a:pPr marL="0" indent="0">
              <a:buNone/>
            </a:pPr>
            <a:r>
              <a:rPr lang="en-IN" sz="1800" dirty="0"/>
              <a:t>    {   return a*a;   }</a:t>
            </a:r>
          </a:p>
          <a:p>
            <a:pPr marL="0" indent="0">
              <a:buNone/>
            </a:pPr>
            <a:r>
              <a:rPr lang="en-IN" sz="1800" dirty="0"/>
              <a:t> }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</a:t>
            </a:r>
            <a:r>
              <a:rPr lang="en-IN" sz="1800" dirty="0" err="1"/>
              <a:t>mymaths.add</a:t>
            </a:r>
            <a:r>
              <a:rPr lang="en-IN" sz="1800" dirty="0"/>
              <a:t>(3,5));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</a:t>
            </a:r>
            <a:r>
              <a:rPr lang="en-IN" sz="1800" dirty="0" err="1"/>
              <a:t>mymaths.sqr</a:t>
            </a:r>
            <a:r>
              <a:rPr lang="en-IN" sz="1800" dirty="0"/>
              <a:t>(3));</a:t>
            </a:r>
          </a:p>
          <a:p>
            <a:pPr marL="0" indent="0">
              <a:buNone/>
            </a:pPr>
            <a:r>
              <a:rPr lang="en-IN" sz="1800" dirty="0"/>
              <a:t>&lt;/script&gt;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BFA05C-41FD-477E-A93F-F8467B8EC1F7}"/>
              </a:ext>
            </a:extLst>
          </p:cNvPr>
          <p:cNvSpPr/>
          <p:nvPr/>
        </p:nvSpPr>
        <p:spPr>
          <a:xfrm>
            <a:off x="7747819" y="501445"/>
            <a:ext cx="3605981" cy="10520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sz="1800" dirty="0"/>
              <a:t>static add(</a:t>
            </a:r>
            <a:r>
              <a:rPr lang="en-IN" sz="1800" dirty="0" err="1"/>
              <a:t>a,b</a:t>
            </a:r>
            <a:r>
              <a:rPr lang="en-IN" sz="1800" dirty="0"/>
              <a:t>)</a:t>
            </a:r>
          </a:p>
          <a:p>
            <a:r>
              <a:rPr lang="en-IN" sz="1800" dirty="0"/>
              <a:t>static </a:t>
            </a:r>
            <a:r>
              <a:rPr lang="en-IN" sz="1800" dirty="0" err="1"/>
              <a:t>sqr</a:t>
            </a:r>
            <a:r>
              <a:rPr lang="en-IN" sz="1800" dirty="0"/>
              <a:t>(a)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01057-F678-4CF0-BD54-6FAE33DF3034}"/>
              </a:ext>
            </a:extLst>
          </p:cNvPr>
          <p:cNvSpPr txBox="1"/>
          <p:nvPr/>
        </p:nvSpPr>
        <p:spPr>
          <a:xfrm>
            <a:off x="7885471" y="180923"/>
            <a:ext cx="311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External Memory</a:t>
            </a:r>
          </a:p>
        </p:txBody>
      </p:sp>
    </p:spTree>
    <p:extLst>
      <p:ext uri="{BB962C8B-B14F-4D97-AF65-F5344CB8AC3E}">
        <p14:creationId xmlns:p14="http://schemas.microsoft.com/office/powerpoint/2010/main" val="3005074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A01F5-8AC6-4344-B930-452402377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4" y="757084"/>
            <a:ext cx="10901516" cy="54198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unboundGetX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unboundGetX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The function gets invoked at the global scope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expected output: undefined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boundGetX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unboundGetX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boundGetX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expected output: 42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module.getX.call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(module))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2B9DB8-021E-4D61-8E29-9AF9E0E149FF}"/>
              </a:ext>
            </a:extLst>
          </p:cNvPr>
          <p:cNvSpPr/>
          <p:nvPr/>
        </p:nvSpPr>
        <p:spPr>
          <a:xfrm>
            <a:off x="5673213" y="1661652"/>
            <a:ext cx="875071" cy="55060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3E08A-CC1F-469B-994D-77809B31C0AD}"/>
              </a:ext>
            </a:extLst>
          </p:cNvPr>
          <p:cNvSpPr/>
          <p:nvPr/>
        </p:nvSpPr>
        <p:spPr>
          <a:xfrm>
            <a:off x="7393858" y="953729"/>
            <a:ext cx="1769807" cy="1632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X=42</a:t>
            </a:r>
          </a:p>
          <a:p>
            <a:pPr algn="ctr"/>
            <a:r>
              <a:rPr lang="en-IN" dirty="0" err="1"/>
              <a:t>getX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12128F-4156-4307-BCBB-589720DAC3A9}"/>
              </a:ext>
            </a:extLst>
          </p:cNvPr>
          <p:cNvSpPr/>
          <p:nvPr/>
        </p:nvSpPr>
        <p:spPr>
          <a:xfrm>
            <a:off x="9665110" y="1799303"/>
            <a:ext cx="1229032" cy="412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this.x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55A110-80D0-4C82-9F3E-BD14A0D03A52}"/>
              </a:ext>
            </a:extLst>
          </p:cNvPr>
          <p:cNvCxnSpPr/>
          <p:nvPr/>
        </p:nvCxnSpPr>
        <p:spPr>
          <a:xfrm>
            <a:off x="8613058" y="1927123"/>
            <a:ext cx="8750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003D27-2B11-4B2B-8BF5-20025EBC8494}"/>
              </a:ext>
            </a:extLst>
          </p:cNvPr>
          <p:cNvCxnSpPr/>
          <p:nvPr/>
        </p:nvCxnSpPr>
        <p:spPr>
          <a:xfrm>
            <a:off x="6626942" y="1799303"/>
            <a:ext cx="6784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ED10A36-AF1C-4D51-937C-57F60EA4A839}"/>
              </a:ext>
            </a:extLst>
          </p:cNvPr>
          <p:cNvSpPr/>
          <p:nvPr/>
        </p:nvSpPr>
        <p:spPr>
          <a:xfrm>
            <a:off x="5673213" y="2743209"/>
            <a:ext cx="1858297" cy="648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unboundGetX</a:t>
            </a:r>
            <a:r>
              <a:rPr lang="en-IN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D69D68-B95C-4C2A-B7D1-FE41CD4C7E1D}"/>
              </a:ext>
            </a:extLst>
          </p:cNvPr>
          <p:cNvCxnSpPr/>
          <p:nvPr/>
        </p:nvCxnSpPr>
        <p:spPr>
          <a:xfrm flipV="1">
            <a:off x="7261123" y="2296454"/>
            <a:ext cx="2517058" cy="806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5D1E89F-8FCD-40E6-86E6-FE3BDF33BC68}"/>
              </a:ext>
            </a:extLst>
          </p:cNvPr>
          <p:cNvSpPr/>
          <p:nvPr/>
        </p:nvSpPr>
        <p:spPr>
          <a:xfrm>
            <a:off x="10392697" y="2585884"/>
            <a:ext cx="1347019" cy="111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8DE71B-F649-4D74-9D0D-5E9FA463CD04}"/>
              </a:ext>
            </a:extLst>
          </p:cNvPr>
          <p:cNvSpPr txBox="1"/>
          <p:nvPr/>
        </p:nvSpPr>
        <p:spPr>
          <a:xfrm>
            <a:off x="10510684" y="2296454"/>
            <a:ext cx="130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Window</a:t>
            </a:r>
          </a:p>
        </p:txBody>
      </p:sp>
    </p:spTree>
    <p:extLst>
      <p:ext uri="{BB962C8B-B14F-4D97-AF65-F5344CB8AC3E}">
        <p14:creationId xmlns:p14="http://schemas.microsoft.com/office/powerpoint/2010/main" val="66183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82B1F-04C3-4890-ADF5-EEB15F214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1199535"/>
            <a:ext cx="10714703" cy="49774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718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3409</TotalTime>
  <Words>3050</Words>
  <Application>Microsoft Office PowerPoint</Application>
  <PresentationFormat>Widescreen</PresentationFormat>
  <Paragraphs>592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BlinkMacSystemFont</vt:lpstr>
      <vt:lpstr>Cambria</vt:lpstr>
      <vt:lpstr>Consolas</vt:lpstr>
      <vt:lpstr>Garamond</vt:lpstr>
      <vt:lpstr>Office Theme</vt:lpstr>
      <vt:lpstr>1_Office Theme</vt:lpstr>
      <vt:lpstr>PowerPoint Presentation</vt:lpstr>
      <vt:lpstr>ES6 introduce Class keyword</vt:lpstr>
      <vt:lpstr>When you use class key word</vt:lpstr>
      <vt:lpstr>What is mean by enumerable</vt:lpstr>
      <vt:lpstr>Class Expression</vt:lpstr>
      <vt:lpstr>We can even make classes dynamically “on-demand”, like this:</vt:lpstr>
      <vt:lpstr>Add deposit and display method</vt:lpstr>
      <vt:lpstr>Override  to toString() method </vt:lpstr>
      <vt:lpstr>Getter setter method</vt:lpstr>
      <vt:lpstr>Inheritance </vt:lpstr>
      <vt:lpstr>Inheritance </vt:lpstr>
      <vt:lpstr>Abstract class </vt:lpstr>
      <vt:lpstr>PowerPoint Presentation</vt:lpstr>
      <vt:lpstr>PowerPoint Presentation</vt:lpstr>
      <vt:lpstr>Calling member method</vt:lpstr>
      <vt:lpstr>Static method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111</cp:revision>
  <dcterms:created xsi:type="dcterms:W3CDTF">2020-09-09T03:29:17Z</dcterms:created>
  <dcterms:modified xsi:type="dcterms:W3CDTF">2024-12-02T06:36:03Z</dcterms:modified>
</cp:coreProperties>
</file>