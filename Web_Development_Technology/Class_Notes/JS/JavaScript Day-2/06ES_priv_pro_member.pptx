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0" r:id="rId2"/>
    <p:sldId id="274" r:id="rId3"/>
    <p:sldId id="261" r:id="rId4"/>
    <p:sldId id="271" r:id="rId5"/>
    <p:sldId id="268" r:id="rId6"/>
    <p:sldId id="272" r:id="rId7"/>
    <p:sldId id="281" r:id="rId8"/>
    <p:sldId id="273" r:id="rId9"/>
    <p:sldId id="275" r:id="rId10"/>
    <p:sldId id="276" r:id="rId11"/>
    <p:sldId id="277" r:id="rId12"/>
    <p:sldId id="278" r:id="rId13"/>
    <p:sldId id="279" r:id="rId14"/>
    <p:sldId id="286" r:id="rId15"/>
    <p:sldId id="287" r:id="rId16"/>
    <p:sldId id="280" r:id="rId17"/>
    <p:sldId id="282" r:id="rId18"/>
    <p:sldId id="283" r:id="rId19"/>
    <p:sldId id="284"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A0B6B-BD37-4A9C-B730-9D4D9B1CB7ED}" type="datetimeFigureOut">
              <a:rPr lang="en-IN" smtClean="0"/>
              <a:t>06-01-2024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88438-AEDD-4BE4-B43D-7FACE5733203}" type="slidenum">
              <a:rPr lang="en-IN" smtClean="0"/>
              <a:t>‹#›</a:t>
            </a:fld>
            <a:endParaRPr lang="en-IN"/>
          </a:p>
        </p:txBody>
      </p:sp>
    </p:spTree>
    <p:extLst>
      <p:ext uri="{BB962C8B-B14F-4D97-AF65-F5344CB8AC3E}">
        <p14:creationId xmlns:p14="http://schemas.microsoft.com/office/powerpoint/2010/main" val="2313912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3</a:t>
            </a:fld>
            <a:endParaRPr lang="en-IN"/>
          </a:p>
        </p:txBody>
      </p:sp>
    </p:spTree>
    <p:extLst>
      <p:ext uri="{BB962C8B-B14F-4D97-AF65-F5344CB8AC3E}">
        <p14:creationId xmlns:p14="http://schemas.microsoft.com/office/powerpoint/2010/main" val="3029713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4</a:t>
            </a:fld>
            <a:endParaRPr lang="en-IN"/>
          </a:p>
        </p:txBody>
      </p:sp>
    </p:spTree>
    <p:extLst>
      <p:ext uri="{BB962C8B-B14F-4D97-AF65-F5344CB8AC3E}">
        <p14:creationId xmlns:p14="http://schemas.microsoft.com/office/powerpoint/2010/main" val="3217040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9</a:t>
            </a:fld>
            <a:endParaRPr lang="en-IN"/>
          </a:p>
        </p:txBody>
      </p:sp>
    </p:spTree>
    <p:extLst>
      <p:ext uri="{BB962C8B-B14F-4D97-AF65-F5344CB8AC3E}">
        <p14:creationId xmlns:p14="http://schemas.microsoft.com/office/powerpoint/2010/main" val="2202410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10</a:t>
            </a:fld>
            <a:endParaRPr lang="en-IN"/>
          </a:p>
        </p:txBody>
      </p:sp>
    </p:spTree>
    <p:extLst>
      <p:ext uri="{BB962C8B-B14F-4D97-AF65-F5344CB8AC3E}">
        <p14:creationId xmlns:p14="http://schemas.microsoft.com/office/powerpoint/2010/main" val="3809201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B88438-AEDD-4BE4-B43D-7FACE5733203}" type="slidenum">
              <a:rPr lang="en-IN" smtClean="0"/>
              <a:t>13</a:t>
            </a:fld>
            <a:endParaRPr lang="en-IN"/>
          </a:p>
        </p:txBody>
      </p:sp>
    </p:spTree>
    <p:extLst>
      <p:ext uri="{BB962C8B-B14F-4D97-AF65-F5344CB8AC3E}">
        <p14:creationId xmlns:p14="http://schemas.microsoft.com/office/powerpoint/2010/main" val="2373018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9875-A9BA-4FEF-920E-4C22F8521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B7B814-8E5E-4786-A782-E24833624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A5E4E-8582-4B31-8617-14CBB193ED0B}"/>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5" name="Footer Placeholder 4">
            <a:extLst>
              <a:ext uri="{FF2B5EF4-FFF2-40B4-BE49-F238E27FC236}">
                <a16:creationId xmlns:a16="http://schemas.microsoft.com/office/drawing/2014/main" id="{DFC4D1BD-2509-4FA4-AA14-87874273D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A1064-57B6-4800-8A02-CD288A6D3DDD}"/>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80516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A26-6291-4D2B-8978-F93514DF0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13C22-838A-44B1-81D3-9E211FEF0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A663-5137-4937-8100-DB7D3B00C8D3}"/>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5" name="Footer Placeholder 4">
            <a:extLst>
              <a:ext uri="{FF2B5EF4-FFF2-40B4-BE49-F238E27FC236}">
                <a16:creationId xmlns:a16="http://schemas.microsoft.com/office/drawing/2014/main" id="{4FDC0661-8587-448A-9B04-E94F206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56B56-4C9F-4BAE-9DC4-4EC0CB43962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36116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E9E4-BB58-4C34-A713-5C7FED464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C6DCC1-0042-4D16-8A40-07D1598A6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608D7-A0AC-4F7F-9B2A-7E2BC2BCF3BD}"/>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5" name="Footer Placeholder 4">
            <a:extLst>
              <a:ext uri="{FF2B5EF4-FFF2-40B4-BE49-F238E27FC236}">
                <a16:creationId xmlns:a16="http://schemas.microsoft.com/office/drawing/2014/main" id="{857F6913-6AAC-424F-94E8-7967A5A06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CAC-D76A-4651-BD2D-47FA7FDE872E}"/>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96722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4B3B-6866-44C5-95A8-265479B674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90E14-26F7-4927-A965-637C61EF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966B2-1C21-40EC-AEB4-E6DF4D4CC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D7BC0-6651-4CE9-BF89-B67C6D952BFF}"/>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6" name="Footer Placeholder 5">
            <a:extLst>
              <a:ext uri="{FF2B5EF4-FFF2-40B4-BE49-F238E27FC236}">
                <a16:creationId xmlns:a16="http://schemas.microsoft.com/office/drawing/2014/main" id="{B0C814CD-3BDE-475B-B2CE-F8785CAE8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A8915-DC5F-40A7-87F8-4991A692EAD4}"/>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37171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9CE4-EDF2-4731-8314-40A65010B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80861-B423-43F6-9C0B-C057550FF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B849D-1629-4141-B0DA-74DAC98229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BE2D5F-2402-43C2-982E-042CB8E31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5E2B4-51AA-4C0E-98D0-D89C08C382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7F2DCC-82EF-468C-A9BD-A30BB42201A8}"/>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8" name="Footer Placeholder 7">
            <a:extLst>
              <a:ext uri="{FF2B5EF4-FFF2-40B4-BE49-F238E27FC236}">
                <a16:creationId xmlns:a16="http://schemas.microsoft.com/office/drawing/2014/main" id="{264869D6-01B3-445D-B02D-3DAA99E79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1305C-3FE6-4DE2-AFA9-63E378D45519}"/>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84238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828D-056B-484E-B46C-1913881D6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8094D-3045-427E-AC8D-F81BFE5599C2}"/>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4" name="Footer Placeholder 3">
            <a:extLst>
              <a:ext uri="{FF2B5EF4-FFF2-40B4-BE49-F238E27FC236}">
                <a16:creationId xmlns:a16="http://schemas.microsoft.com/office/drawing/2014/main" id="{D97DD406-C044-4A88-A803-79A5F6B84C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8B2901-976F-482D-AE8B-41B5E7EB1673}"/>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58535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23FAE6-F69D-4630-A4D3-46E3DD971B11}"/>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3" name="Footer Placeholder 2">
            <a:extLst>
              <a:ext uri="{FF2B5EF4-FFF2-40B4-BE49-F238E27FC236}">
                <a16:creationId xmlns:a16="http://schemas.microsoft.com/office/drawing/2014/main" id="{B176A903-527D-416B-A653-12F4EA2FF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890FF6-2BA1-486B-9877-3C312C4888C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828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C3EF-6A71-4940-AD16-8EAD5B2D6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A1DD74-1CE7-4DE8-8609-CB87E8CF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ABA8D-6FA0-473A-A0DF-7F3F767FF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43AEE-30C0-41A9-B398-66CC3058D10A}"/>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6" name="Footer Placeholder 5">
            <a:extLst>
              <a:ext uri="{FF2B5EF4-FFF2-40B4-BE49-F238E27FC236}">
                <a16:creationId xmlns:a16="http://schemas.microsoft.com/office/drawing/2014/main" id="{720B8C12-85BE-4075-8059-73A39946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F5DF8-58D9-4B96-A949-09747A8BAE5B}"/>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18467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6579-818E-4976-A82D-F552B1763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16A0D9-1F47-44BF-A9FF-36FE018B5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987E5F-8F10-464E-A03D-F7B5DD46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63D88-923E-4462-B853-43E7AA367EB1}"/>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6" name="Footer Placeholder 5">
            <a:extLst>
              <a:ext uri="{FF2B5EF4-FFF2-40B4-BE49-F238E27FC236}">
                <a16:creationId xmlns:a16="http://schemas.microsoft.com/office/drawing/2014/main" id="{4802F551-E142-4576-BE4B-C24ADDBF5C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E0A25-4D04-4F0F-B57E-539F0029D91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9009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D829-AF1E-40CC-AA8B-1614C04FA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C13EA5-94DB-490C-9FE7-D17609AA3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DDA9E-D2CC-47EE-9DDE-0F4657D3E0B3}"/>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5" name="Footer Placeholder 4">
            <a:extLst>
              <a:ext uri="{FF2B5EF4-FFF2-40B4-BE49-F238E27FC236}">
                <a16:creationId xmlns:a16="http://schemas.microsoft.com/office/drawing/2014/main" id="{09B34E4E-C739-4E42-AED6-8247868A7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AF632-88D5-40D9-ACDA-F145AC59A59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24441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42E2B-190D-469C-BC26-97FFEE159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435C4-1632-4F15-9DF3-1D3E00C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7A6B3-D7C6-4E14-8562-56C5A43ED561}"/>
              </a:ext>
            </a:extLst>
          </p:cNvPr>
          <p:cNvSpPr>
            <a:spLocks noGrp="1"/>
          </p:cNvSpPr>
          <p:nvPr>
            <p:ph type="dt" sz="half" idx="10"/>
          </p:nvPr>
        </p:nvSpPr>
        <p:spPr/>
        <p:txBody>
          <a:bodyPr/>
          <a:lstStyle/>
          <a:p>
            <a:fld id="{C5B0FDB9-8E1A-4075-B100-3186540F4228}" type="datetimeFigureOut">
              <a:rPr lang="en-IN" smtClean="0"/>
              <a:t>06-01-2024</a:t>
            </a:fld>
            <a:endParaRPr lang="en-IN"/>
          </a:p>
        </p:txBody>
      </p:sp>
      <p:sp>
        <p:nvSpPr>
          <p:cNvPr id="5" name="Footer Placeholder 4">
            <a:extLst>
              <a:ext uri="{FF2B5EF4-FFF2-40B4-BE49-F238E27FC236}">
                <a16:creationId xmlns:a16="http://schemas.microsoft.com/office/drawing/2014/main" id="{26B6DC34-0156-4A3B-AEE7-7A48BE575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704AD-9F7D-4B3D-B616-33C35F574482}"/>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956428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60A4F-4527-41DF-8948-4E6D3EB59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26F26-5539-47C1-AFFF-512008E41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43F1A-3A55-420B-98D8-F38BD8298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0FDB9-8E1A-4075-B100-3186540F4228}" type="datetimeFigureOut">
              <a:rPr lang="en-IN" smtClean="0"/>
              <a:t>06-01-2024</a:t>
            </a:fld>
            <a:endParaRPr lang="en-IN"/>
          </a:p>
        </p:txBody>
      </p:sp>
      <p:sp>
        <p:nvSpPr>
          <p:cNvPr id="5" name="Footer Placeholder 4">
            <a:extLst>
              <a:ext uri="{FF2B5EF4-FFF2-40B4-BE49-F238E27FC236}">
                <a16:creationId xmlns:a16="http://schemas.microsoft.com/office/drawing/2014/main" id="{587C541F-2A41-4FFA-B28A-697CB88FA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850932-B360-451F-AC0E-CBA54D9D0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BC3EB-76E3-4D95-B949-998AB2567A6D}" type="slidenum">
              <a:rPr lang="en-IN" smtClean="0"/>
              <a:t>‹#›</a:t>
            </a:fld>
            <a:endParaRPr lang="en-IN"/>
          </a:p>
        </p:txBody>
      </p:sp>
      <p:pic>
        <p:nvPicPr>
          <p:cNvPr id="8" name="Picture 7">
            <a:extLst>
              <a:ext uri="{FF2B5EF4-FFF2-40B4-BE49-F238E27FC236}">
                <a16:creationId xmlns:a16="http://schemas.microsoft.com/office/drawing/2014/main" id="{FEC06054-F4D6-463D-B988-0441229AFFE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52C55DDA-2F67-497D-805E-5136A8321681}"/>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334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8F2D-1C69-4EC1-932B-563AEF7E04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3FCD3E-B4A9-4CDD-AD4F-503B8D50DD17}"/>
              </a:ext>
            </a:extLst>
          </p:cNvPr>
          <p:cNvSpPr>
            <a:spLocks noGrp="1"/>
          </p:cNvSpPr>
          <p:nvPr>
            <p:ph idx="1"/>
          </p:nvPr>
        </p:nvSpPr>
        <p:spPr/>
        <p:txBody>
          <a:bodyPr/>
          <a:lstStyle/>
          <a:p>
            <a:pPr marL="0" indent="0">
              <a:buNone/>
            </a:pPr>
            <a:r>
              <a:rPr lang="en-IN" dirty="0"/>
              <a:t>Vita{</a:t>
            </a:r>
          </a:p>
          <a:p>
            <a:pPr marL="0" indent="0">
              <a:buNone/>
            </a:pPr>
            <a:r>
              <a:rPr lang="en-IN" dirty="0"/>
              <a:t>Class DAC{</a:t>
            </a:r>
          </a:p>
          <a:p>
            <a:pPr marL="0" indent="0">
              <a:buNone/>
            </a:pPr>
            <a:endParaRPr lang="en-IN" dirty="0"/>
          </a:p>
          <a:p>
            <a:pPr marL="0" indent="0">
              <a:buNone/>
            </a:pPr>
            <a:r>
              <a:rPr lang="en-IN" dirty="0"/>
              <a:t>    }</a:t>
            </a:r>
          </a:p>
          <a:p>
            <a:pPr marL="0" indent="0">
              <a:buNone/>
            </a:pPr>
            <a:endParaRPr lang="en-IN" dirty="0"/>
          </a:p>
          <a:p>
            <a:pPr marL="0" indent="0">
              <a:buNone/>
            </a:pPr>
            <a:r>
              <a:rPr lang="en-IN" dirty="0"/>
              <a:t>}</a:t>
            </a:r>
          </a:p>
          <a:p>
            <a:pPr marL="0" indent="0">
              <a:buNone/>
            </a:pPr>
            <a:r>
              <a:rPr lang="en-IN" dirty="0" err="1"/>
              <a:t>Vita.DAC</a:t>
            </a:r>
            <a:endParaRPr lang="en-IN" dirty="0"/>
          </a:p>
          <a:p>
            <a:pPr marL="0" indent="0">
              <a:buNone/>
            </a:pPr>
            <a:r>
              <a:rPr lang="en-IN" dirty="0"/>
              <a:t>Import vita from ‘./vita’</a:t>
            </a:r>
          </a:p>
        </p:txBody>
      </p:sp>
    </p:spTree>
    <p:extLst>
      <p:ext uri="{BB962C8B-B14F-4D97-AF65-F5344CB8AC3E}">
        <p14:creationId xmlns:p14="http://schemas.microsoft.com/office/powerpoint/2010/main" val="4145449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4F06-A661-4C80-9191-1CD142F0EA91}"/>
              </a:ext>
            </a:extLst>
          </p:cNvPr>
          <p:cNvSpPr>
            <a:spLocks noGrp="1"/>
          </p:cNvSpPr>
          <p:nvPr>
            <p:ph type="title"/>
          </p:nvPr>
        </p:nvSpPr>
        <p:spPr>
          <a:xfrm>
            <a:off x="2197674" y="-93233"/>
            <a:ext cx="10272252" cy="529610"/>
          </a:xfrm>
        </p:spPr>
        <p:txBody>
          <a:bodyPr>
            <a:normAutofit fontScale="90000"/>
          </a:bodyPr>
          <a:lstStyle/>
          <a:p>
            <a:r>
              <a:rPr lang="en-IN" dirty="0"/>
              <a:t>ES8 </a:t>
            </a:r>
            <a:r>
              <a:rPr lang="en-IN" b="1" dirty="0">
                <a:solidFill>
                  <a:srgbClr val="FF0000"/>
                </a:solidFill>
              </a:rPr>
              <a:t>#</a:t>
            </a:r>
            <a:r>
              <a:rPr lang="en-IN" dirty="0"/>
              <a:t>--private variable</a:t>
            </a:r>
          </a:p>
        </p:txBody>
      </p:sp>
      <p:sp>
        <p:nvSpPr>
          <p:cNvPr id="3" name="Content Placeholder 2">
            <a:extLst>
              <a:ext uri="{FF2B5EF4-FFF2-40B4-BE49-F238E27FC236}">
                <a16:creationId xmlns:a16="http://schemas.microsoft.com/office/drawing/2014/main" id="{C45FA216-AB89-4885-9B30-80C9A04BD110}"/>
              </a:ext>
            </a:extLst>
          </p:cNvPr>
          <p:cNvSpPr>
            <a:spLocks noGrp="1"/>
          </p:cNvSpPr>
          <p:nvPr>
            <p:ph idx="1"/>
          </p:nvPr>
        </p:nvSpPr>
        <p:spPr>
          <a:xfrm>
            <a:off x="105707" y="-22125"/>
            <a:ext cx="4881713" cy="7188721"/>
          </a:xfrm>
        </p:spPr>
        <p:txBody>
          <a:bodyPr>
            <a:noAutofit/>
          </a:bodyPr>
          <a:lstStyle/>
          <a:p>
            <a:pPr marL="0" indent="0">
              <a:lnSpc>
                <a:spcPct val="100000"/>
              </a:lnSpc>
              <a:spcBef>
                <a:spcPts val="0"/>
              </a:spcBef>
              <a:buNone/>
            </a:pPr>
            <a:r>
              <a:rPr lang="en-IN" sz="1600" dirty="0">
                <a:latin typeface="Garamond" panose="02020404030301010803" pitchFamily="18" charset="0"/>
              </a:rPr>
              <a:t>       &lt;script&gt;</a:t>
            </a:r>
          </a:p>
          <a:p>
            <a:pPr marL="0" indent="0">
              <a:lnSpc>
                <a:spcPct val="100000"/>
              </a:lnSpc>
              <a:spcBef>
                <a:spcPts val="0"/>
              </a:spcBef>
              <a:buNone/>
            </a:pPr>
            <a:r>
              <a:rPr lang="en-IN" sz="1600" dirty="0">
                <a:latin typeface="Garamond" panose="02020404030301010803" pitchFamily="18" charset="0"/>
              </a:rPr>
              <a:t>      ‘use strict'</a:t>
            </a:r>
          </a:p>
          <a:p>
            <a:pPr marL="0" indent="0">
              <a:lnSpc>
                <a:spcPct val="100000"/>
              </a:lnSpc>
              <a:spcBef>
                <a:spcPts val="0"/>
              </a:spcBef>
              <a:buNone/>
            </a:pPr>
            <a:r>
              <a:rPr lang="en-IN" sz="1600" dirty="0">
                <a:latin typeface="Garamond" panose="02020404030301010803" pitchFamily="18" charset="0"/>
              </a:rPr>
              <a:t>class Account</a:t>
            </a:r>
          </a:p>
          <a:p>
            <a:pPr marL="0" indent="0">
              <a:lnSpc>
                <a:spcPct val="100000"/>
              </a:lnSpc>
              <a:spcBef>
                <a:spcPts val="0"/>
              </a:spcBef>
              <a:buNone/>
            </a:pPr>
            <a:r>
              <a:rPr lang="en-IN" sz="2000" b="1" dirty="0">
                <a:solidFill>
                  <a:schemeClr val="accent5"/>
                </a:solidFill>
                <a:latin typeface="Garamond" panose="02020404030301010803" pitchFamily="18" charset="0"/>
              </a:rPr>
              <a:t>{</a:t>
            </a:r>
            <a:r>
              <a:rPr lang="en-IN" sz="1600" dirty="0">
                <a:latin typeface="Garamond" panose="02020404030301010803" pitchFamily="18" charset="0"/>
              </a:rPr>
              <a:t> </a:t>
            </a:r>
            <a:r>
              <a:rPr lang="en-IN" sz="1600" dirty="0">
                <a:solidFill>
                  <a:srgbClr val="FF0000"/>
                </a:solidFill>
                <a:latin typeface="Garamond" panose="02020404030301010803" pitchFamily="18" charset="0"/>
              </a:rPr>
              <a:t>#</a:t>
            </a:r>
            <a:r>
              <a:rPr lang="en-IN" sz="1600" dirty="0">
                <a:latin typeface="Garamond" panose="02020404030301010803" pitchFamily="18" charset="0"/>
              </a:rPr>
              <a:t>name;</a:t>
            </a:r>
          </a:p>
          <a:p>
            <a:pPr marL="0" indent="0">
              <a:lnSpc>
                <a:spcPct val="100000"/>
              </a:lnSpc>
              <a:spcBef>
                <a:spcPts val="0"/>
              </a:spcBef>
              <a:buNone/>
            </a:pPr>
            <a:r>
              <a:rPr lang="en-IN" sz="1600" dirty="0">
                <a:latin typeface="Garamond" panose="02020404030301010803" pitchFamily="18" charset="0"/>
              </a:rPr>
              <a:t> </a:t>
            </a:r>
            <a:r>
              <a:rPr lang="en-IN" sz="1600" dirty="0">
                <a:solidFill>
                  <a:srgbClr val="FF0000"/>
                </a:solidFill>
                <a:latin typeface="Garamond" panose="02020404030301010803" pitchFamily="18" charset="0"/>
              </a:rPr>
              <a:t>#</a:t>
            </a:r>
            <a:r>
              <a:rPr lang="en-IN" sz="1600" dirty="0">
                <a:latin typeface="Garamond" panose="02020404030301010803" pitchFamily="18" charset="0"/>
              </a:rPr>
              <a:t>balance;</a:t>
            </a:r>
          </a:p>
          <a:p>
            <a:pPr marL="0" indent="0">
              <a:lnSpc>
                <a:spcPct val="100000"/>
              </a:lnSpc>
              <a:spcBef>
                <a:spcPts val="0"/>
              </a:spcBef>
              <a:buNone/>
            </a:pPr>
            <a:r>
              <a:rPr lang="en-IN" sz="1600" dirty="0">
                <a:latin typeface="Garamond" panose="02020404030301010803" pitchFamily="18" charset="0"/>
              </a:rPr>
              <a:t>   constructor(</a:t>
            </a:r>
            <a:r>
              <a:rPr lang="en-IN" sz="1600" dirty="0" err="1">
                <a:latin typeface="Garamond" panose="02020404030301010803" pitchFamily="18" charset="0"/>
              </a:rPr>
              <a:t>name,amt</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a:t>
            </a:r>
          </a:p>
          <a:p>
            <a:pPr marL="0" indent="0">
              <a:lnSpc>
                <a:spcPct val="100000"/>
              </a:lnSpc>
              <a:spcBef>
                <a:spcPts val="0"/>
              </a:spcBef>
              <a:buNone/>
            </a:pPr>
            <a:r>
              <a:rPr lang="en-IN" sz="1600" dirty="0">
                <a:latin typeface="Garamond" panose="02020404030301010803" pitchFamily="18" charset="0"/>
              </a:rPr>
              <a:t>  </a:t>
            </a:r>
            <a:r>
              <a:rPr lang="en-IN" sz="1600" dirty="0" err="1">
                <a:latin typeface="Garamond" panose="02020404030301010803" pitchFamily="18" charset="0"/>
              </a:rPr>
              <a:t>this.</a:t>
            </a:r>
            <a:r>
              <a:rPr lang="en-IN" sz="1600" dirty="0" err="1">
                <a:solidFill>
                  <a:srgbClr val="FF0000"/>
                </a:solidFill>
                <a:latin typeface="Garamond" panose="02020404030301010803" pitchFamily="18" charset="0"/>
              </a:rPr>
              <a:t>#</a:t>
            </a:r>
            <a:r>
              <a:rPr lang="en-IN" sz="1600" dirty="0" err="1">
                <a:latin typeface="Garamond" panose="02020404030301010803" pitchFamily="18" charset="0"/>
              </a:rPr>
              <a:t>name</a:t>
            </a:r>
            <a:r>
              <a:rPr lang="en-IN" sz="1600" dirty="0">
                <a:latin typeface="Garamond" panose="02020404030301010803" pitchFamily="18" charset="0"/>
              </a:rPr>
              <a:t>=name;</a:t>
            </a:r>
          </a:p>
          <a:p>
            <a:pPr marL="0" indent="0">
              <a:lnSpc>
                <a:spcPct val="100000"/>
              </a:lnSpc>
              <a:spcBef>
                <a:spcPts val="0"/>
              </a:spcBef>
              <a:buNone/>
            </a:pPr>
            <a:r>
              <a:rPr lang="en-IN" sz="1600" dirty="0">
                <a:latin typeface="Garamond" panose="02020404030301010803" pitchFamily="18" charset="0"/>
              </a:rPr>
              <a:t>  </a:t>
            </a:r>
            <a:r>
              <a:rPr lang="en-IN" sz="1600" dirty="0" err="1">
                <a:latin typeface="Garamond" panose="02020404030301010803" pitchFamily="18" charset="0"/>
              </a:rPr>
              <a:t>this.</a:t>
            </a:r>
            <a:r>
              <a:rPr lang="en-IN" sz="1600" dirty="0" err="1">
                <a:solidFill>
                  <a:srgbClr val="FF0000"/>
                </a:solidFill>
                <a:latin typeface="Garamond" panose="02020404030301010803" pitchFamily="18" charset="0"/>
              </a:rPr>
              <a:t>#</a:t>
            </a:r>
            <a:r>
              <a:rPr lang="en-IN" sz="1600" dirty="0" err="1">
                <a:latin typeface="Garamond" panose="02020404030301010803" pitchFamily="18" charset="0"/>
              </a:rPr>
              <a:t>balance</a:t>
            </a:r>
            <a:r>
              <a:rPr lang="en-IN" sz="1600" dirty="0">
                <a:latin typeface="Garamond" panose="02020404030301010803" pitchFamily="18" charset="0"/>
              </a:rPr>
              <a:t>=amt;</a:t>
            </a:r>
          </a:p>
          <a:p>
            <a:pPr marL="0" indent="0">
              <a:lnSpc>
                <a:spcPct val="100000"/>
              </a:lnSpc>
              <a:spcBef>
                <a:spcPts val="0"/>
              </a:spcBef>
              <a:buNone/>
            </a:pPr>
            <a:r>
              <a:rPr lang="en-IN" sz="1600" dirty="0">
                <a:latin typeface="Garamond" panose="02020404030301010803" pitchFamily="18" charset="0"/>
              </a:rPr>
              <a:t>  alert(</a:t>
            </a:r>
            <a:r>
              <a:rPr lang="en-IN" sz="1600" dirty="0" err="1">
                <a:latin typeface="Garamond" panose="02020404030301010803" pitchFamily="18" charset="0"/>
              </a:rPr>
              <a:t>typeof</a:t>
            </a:r>
            <a:r>
              <a:rPr lang="en-IN" sz="1600" dirty="0">
                <a:latin typeface="Garamond" panose="02020404030301010803" pitchFamily="18" charset="0"/>
              </a:rPr>
              <a:t> </a:t>
            </a:r>
            <a:r>
              <a:rPr lang="en-IN" sz="1600" dirty="0" err="1">
                <a:latin typeface="Garamond" panose="02020404030301010803" pitchFamily="18" charset="0"/>
              </a:rPr>
              <a:t>this.constructor</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a:t>
            </a:r>
          </a:p>
          <a:p>
            <a:pPr marL="0" indent="0">
              <a:lnSpc>
                <a:spcPct val="100000"/>
              </a:lnSpc>
              <a:spcBef>
                <a:spcPts val="0"/>
              </a:spcBef>
              <a:buNone/>
            </a:pPr>
            <a:r>
              <a:rPr lang="en-IN" sz="1600" dirty="0">
                <a:latin typeface="Garamond" panose="02020404030301010803" pitchFamily="18" charset="0"/>
              </a:rPr>
              <a:t>       </a:t>
            </a:r>
            <a:r>
              <a:rPr lang="en-IN" sz="1600" dirty="0" err="1">
                <a:latin typeface="Garamond" panose="02020404030301010803" pitchFamily="18" charset="0"/>
              </a:rPr>
              <a:t>toString</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{return `Name=${</a:t>
            </a:r>
            <a:r>
              <a:rPr lang="en-IN" sz="1600" dirty="0" err="1">
                <a:latin typeface="Garamond" panose="02020404030301010803" pitchFamily="18" charset="0"/>
              </a:rPr>
              <a:t>this.#name</a:t>
            </a:r>
            <a:r>
              <a:rPr lang="en-IN" sz="1600" dirty="0">
                <a:latin typeface="Garamond" panose="02020404030301010803" pitchFamily="18" charset="0"/>
              </a:rPr>
              <a:t>} Bal=${</a:t>
            </a:r>
            <a:r>
              <a:rPr lang="en-IN" sz="1600" dirty="0" err="1">
                <a:latin typeface="Garamond" panose="02020404030301010803" pitchFamily="18" charset="0"/>
              </a:rPr>
              <a:t>this.#balance</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  }</a:t>
            </a:r>
          </a:p>
          <a:p>
            <a:pPr marL="0" indent="0">
              <a:lnSpc>
                <a:spcPct val="100000"/>
              </a:lnSpc>
              <a:spcBef>
                <a:spcPts val="0"/>
              </a:spcBef>
              <a:buNone/>
            </a:pP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a:t>
            </a:r>
            <a:r>
              <a:rPr lang="en-IN" sz="1200" dirty="0" err="1">
                <a:latin typeface="Garamond" panose="02020404030301010803" pitchFamily="18" charset="0"/>
              </a:rPr>
              <a:t>toString</a:t>
            </a:r>
            <a:r>
              <a:rPr lang="en-IN" sz="1200" dirty="0">
                <a:latin typeface="Garamond" panose="02020404030301010803" pitchFamily="18" charset="0"/>
              </a:rPr>
              <a:t>()</a:t>
            </a:r>
          </a:p>
          <a:p>
            <a:pPr marL="0" indent="0">
              <a:lnSpc>
                <a:spcPct val="100000"/>
              </a:lnSpc>
              <a:spcBef>
                <a:spcPts val="0"/>
              </a:spcBef>
              <a:buNone/>
            </a:pPr>
            <a:r>
              <a:rPr lang="en-IN" sz="1200" dirty="0">
                <a:latin typeface="Garamond" panose="02020404030301010803" pitchFamily="18" charset="0"/>
              </a:rPr>
              <a:t>{return “Name=“+</a:t>
            </a:r>
            <a:r>
              <a:rPr lang="en-IN" sz="1200" dirty="0" err="1">
                <a:latin typeface="Garamond" panose="02020404030301010803" pitchFamily="18" charset="0"/>
              </a:rPr>
              <a:t>this.#name</a:t>
            </a:r>
            <a:r>
              <a:rPr lang="en-IN" sz="1200" dirty="0">
                <a:latin typeface="Garamond" panose="02020404030301010803" pitchFamily="18" charset="0"/>
              </a:rPr>
              <a:t>+ “Bal=“+</a:t>
            </a:r>
            <a:r>
              <a:rPr lang="en-IN" sz="1200" dirty="0" err="1">
                <a:latin typeface="Garamond" panose="02020404030301010803" pitchFamily="18" charset="0"/>
              </a:rPr>
              <a:t>this.#balance</a:t>
            </a:r>
            <a:r>
              <a:rPr lang="en-IN" sz="1200" dirty="0">
                <a:latin typeface="Garamond" panose="02020404030301010803" pitchFamily="18" charset="0"/>
              </a:rPr>
              <a:t>;</a:t>
            </a:r>
            <a:r>
              <a:rPr lang="en-IN" sz="1600" b="1" dirty="0">
                <a:solidFill>
                  <a:schemeClr val="accent5"/>
                </a:solidFill>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var obj1=new Account("raj",20000);</a:t>
            </a:r>
          </a:p>
          <a:p>
            <a:pPr marL="0" indent="0">
              <a:lnSpc>
                <a:spcPct val="100000"/>
              </a:lnSpc>
              <a:spcBef>
                <a:spcPts val="0"/>
              </a:spcBef>
              <a:buNone/>
            </a:pPr>
            <a:r>
              <a:rPr lang="en-IN" sz="1600" dirty="0">
                <a:latin typeface="Garamond" panose="02020404030301010803" pitchFamily="18" charset="0"/>
              </a:rPr>
              <a:t>console.log(obj1);</a:t>
            </a:r>
          </a:p>
          <a:p>
            <a:pPr marL="0" indent="0">
              <a:lnSpc>
                <a:spcPct val="100000"/>
              </a:lnSpc>
              <a:spcBef>
                <a:spcPts val="0"/>
              </a:spcBef>
              <a:buNone/>
            </a:pPr>
            <a:r>
              <a:rPr lang="en-IN" sz="1600" dirty="0" err="1">
                <a:latin typeface="Garamond" panose="02020404030301010803" pitchFamily="18" charset="0"/>
              </a:rPr>
              <a:t>document.write</a:t>
            </a:r>
            <a:r>
              <a:rPr lang="en-IN" sz="1600" dirty="0">
                <a:latin typeface="Garamond" panose="02020404030301010803" pitchFamily="18" charset="0"/>
              </a:rPr>
              <a:t>(obj1 </a:t>
            </a:r>
            <a:r>
              <a:rPr lang="en-IN" sz="1600" dirty="0" err="1">
                <a:latin typeface="Garamond" panose="02020404030301010803" pitchFamily="18" charset="0"/>
              </a:rPr>
              <a:t>instanceof</a:t>
            </a:r>
            <a:r>
              <a:rPr lang="en-IN" sz="1600" dirty="0">
                <a:latin typeface="Garamond" panose="02020404030301010803" pitchFamily="18" charset="0"/>
              </a:rPr>
              <a:t> Account);//true</a:t>
            </a:r>
          </a:p>
          <a:p>
            <a:pPr marL="0" indent="0">
              <a:lnSpc>
                <a:spcPct val="100000"/>
              </a:lnSpc>
              <a:spcBef>
                <a:spcPts val="0"/>
              </a:spcBef>
              <a:buNone/>
            </a:pPr>
            <a:r>
              <a:rPr lang="en-IN" sz="1600" dirty="0" err="1">
                <a:latin typeface="Garamond" panose="02020404030301010803" pitchFamily="18" charset="0"/>
              </a:rPr>
              <a:t>document.write</a:t>
            </a:r>
            <a:r>
              <a:rPr lang="en-IN" sz="1600" dirty="0">
                <a:latin typeface="Garamond" panose="02020404030301010803" pitchFamily="18" charset="0"/>
              </a:rPr>
              <a:t>(obj1 </a:t>
            </a:r>
            <a:r>
              <a:rPr lang="en-IN" sz="1600" dirty="0" err="1">
                <a:latin typeface="Garamond" panose="02020404030301010803" pitchFamily="18" charset="0"/>
              </a:rPr>
              <a:t>instanceof</a:t>
            </a:r>
            <a:r>
              <a:rPr lang="en-IN" sz="1600" dirty="0">
                <a:latin typeface="Garamond" panose="02020404030301010803" pitchFamily="18" charset="0"/>
              </a:rPr>
              <a:t> Object);//true</a:t>
            </a:r>
          </a:p>
          <a:p>
            <a:pPr marL="0" indent="0">
              <a:lnSpc>
                <a:spcPct val="100000"/>
              </a:lnSpc>
              <a:spcBef>
                <a:spcPts val="0"/>
              </a:spcBef>
              <a:buNone/>
            </a:pPr>
            <a:r>
              <a:rPr lang="en-IN" sz="1600" dirty="0">
                <a:latin typeface="Garamond" panose="02020404030301010803" pitchFamily="18" charset="0"/>
              </a:rPr>
              <a:t>//obj1.#name="</a:t>
            </a:r>
            <a:r>
              <a:rPr lang="en-IN" sz="1600" dirty="0" err="1">
                <a:latin typeface="Garamond" panose="02020404030301010803" pitchFamily="18" charset="0"/>
              </a:rPr>
              <a:t>geeta</a:t>
            </a:r>
            <a:r>
              <a:rPr lang="en-IN" sz="1600" dirty="0">
                <a:latin typeface="Garamond" panose="02020404030301010803" pitchFamily="18" charset="0"/>
              </a:rPr>
              <a:t>";</a:t>
            </a:r>
          </a:p>
          <a:p>
            <a:pPr marL="0" indent="0">
              <a:lnSpc>
                <a:spcPct val="100000"/>
              </a:lnSpc>
              <a:spcBef>
                <a:spcPts val="0"/>
              </a:spcBef>
              <a:buNone/>
            </a:pPr>
            <a:r>
              <a:rPr lang="en-IN" sz="1600" dirty="0">
                <a:latin typeface="Garamond" panose="02020404030301010803" pitchFamily="18" charset="0"/>
              </a:rPr>
              <a:t>console.log(obj1);</a:t>
            </a:r>
          </a:p>
          <a:p>
            <a:pPr marL="0" indent="0">
              <a:lnSpc>
                <a:spcPct val="100000"/>
              </a:lnSpc>
              <a:spcBef>
                <a:spcPts val="0"/>
              </a:spcBef>
              <a:buNone/>
            </a:pPr>
            <a:r>
              <a:rPr lang="en-IN" sz="1600" dirty="0" err="1">
                <a:latin typeface="Garamond" panose="02020404030301010803" pitchFamily="18" charset="0"/>
              </a:rPr>
              <a:t>document.write</a:t>
            </a:r>
            <a:r>
              <a:rPr lang="en-IN" sz="1600" dirty="0">
                <a:latin typeface="Garamond" panose="02020404030301010803" pitchFamily="18" charset="0"/>
              </a:rPr>
              <a:t>(obj1); //</a:t>
            </a:r>
            <a:r>
              <a:rPr lang="en-IN" sz="1600" dirty="0" err="1">
                <a:latin typeface="Garamond" panose="02020404030301010803" pitchFamily="18" charset="0"/>
              </a:rPr>
              <a:t>geeta</a:t>
            </a:r>
            <a:r>
              <a:rPr lang="en-IN" sz="1600" dirty="0">
                <a:latin typeface="Garamond" panose="02020404030301010803" pitchFamily="18" charset="0"/>
              </a:rPr>
              <a:t> 20000</a:t>
            </a:r>
          </a:p>
          <a:p>
            <a:pPr marL="0" indent="0">
              <a:lnSpc>
                <a:spcPct val="100000"/>
              </a:lnSpc>
              <a:spcBef>
                <a:spcPts val="0"/>
              </a:spcBef>
              <a:buNone/>
            </a:pPr>
            <a:r>
              <a:rPr lang="en-IN" sz="1600" dirty="0">
                <a:latin typeface="Garamond" panose="02020404030301010803" pitchFamily="18" charset="0"/>
              </a:rPr>
              <a:t>var obj2=new Account("Mona",50000);</a:t>
            </a:r>
          </a:p>
          <a:p>
            <a:pPr marL="0" indent="0">
              <a:lnSpc>
                <a:spcPct val="100000"/>
              </a:lnSpc>
              <a:spcBef>
                <a:spcPts val="0"/>
              </a:spcBef>
              <a:buNone/>
            </a:pPr>
            <a:r>
              <a:rPr lang="en-IN" sz="1600" dirty="0">
                <a:latin typeface="Garamond" panose="02020404030301010803" pitchFamily="18" charset="0"/>
              </a:rPr>
              <a:t>console.log(new Object());</a:t>
            </a:r>
          </a:p>
          <a:p>
            <a:pPr marL="0" indent="0">
              <a:lnSpc>
                <a:spcPct val="100000"/>
              </a:lnSpc>
              <a:spcBef>
                <a:spcPts val="0"/>
              </a:spcBef>
              <a:buNone/>
            </a:pPr>
            <a:r>
              <a:rPr lang="en-IN" sz="1600" dirty="0">
                <a:latin typeface="Garamond" panose="02020404030301010803" pitchFamily="18" charset="0"/>
              </a:rPr>
              <a:t>&lt;/script&gt;</a:t>
            </a:r>
          </a:p>
          <a:p>
            <a:pPr marL="0" indent="0">
              <a:lnSpc>
                <a:spcPct val="100000"/>
              </a:lnSpc>
              <a:spcBef>
                <a:spcPts val="0"/>
              </a:spcBef>
              <a:buNone/>
            </a:pPr>
            <a:endParaRPr lang="en-IN" sz="1600" dirty="0">
              <a:latin typeface="Garamond" panose="02020404030301010803" pitchFamily="18" charset="0"/>
            </a:endParaRPr>
          </a:p>
        </p:txBody>
      </p:sp>
      <p:sp>
        <p:nvSpPr>
          <p:cNvPr id="4" name="Rectangle 3">
            <a:extLst>
              <a:ext uri="{FF2B5EF4-FFF2-40B4-BE49-F238E27FC236}">
                <a16:creationId xmlns:a16="http://schemas.microsoft.com/office/drawing/2014/main" id="{73D41E7C-BAFC-458F-92EB-252DF2B922D9}"/>
              </a:ext>
            </a:extLst>
          </p:cNvPr>
          <p:cNvSpPr/>
          <p:nvPr/>
        </p:nvSpPr>
        <p:spPr>
          <a:xfrm>
            <a:off x="6223819" y="1499419"/>
            <a:ext cx="698091" cy="73741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obj1</a:t>
            </a:r>
          </a:p>
        </p:txBody>
      </p:sp>
      <p:cxnSp>
        <p:nvCxnSpPr>
          <p:cNvPr id="6" name="Straight Arrow Connector 5">
            <a:extLst>
              <a:ext uri="{FF2B5EF4-FFF2-40B4-BE49-F238E27FC236}">
                <a16:creationId xmlns:a16="http://schemas.microsoft.com/office/drawing/2014/main" id="{5153F22F-0C52-4226-ACE3-FA10EC580CAB}"/>
              </a:ext>
            </a:extLst>
          </p:cNvPr>
          <p:cNvCxnSpPr>
            <a:cxnSpLocks/>
          </p:cNvCxnSpPr>
          <p:nvPr/>
        </p:nvCxnSpPr>
        <p:spPr>
          <a:xfrm flipV="1">
            <a:off x="6617112" y="1787167"/>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5E3684D-DFE3-48CE-972A-E3D11F826C3F}"/>
              </a:ext>
            </a:extLst>
          </p:cNvPr>
          <p:cNvSpPr txBox="1"/>
          <p:nvPr/>
        </p:nvSpPr>
        <p:spPr>
          <a:xfrm>
            <a:off x="7757652" y="984456"/>
            <a:ext cx="2310580" cy="646331"/>
          </a:xfrm>
          <a:prstGeom prst="rect">
            <a:avLst/>
          </a:prstGeom>
          <a:solidFill>
            <a:schemeClr val="accent1"/>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err="1"/>
              <a:t>this.#name</a:t>
            </a:r>
            <a:r>
              <a:rPr lang="en-IN" dirty="0"/>
              <a:t>=raj</a:t>
            </a:r>
          </a:p>
          <a:p>
            <a:r>
              <a:rPr lang="en-IN" dirty="0" err="1"/>
              <a:t>this.#balance</a:t>
            </a:r>
            <a:r>
              <a:rPr lang="en-IN" dirty="0"/>
              <a:t>=20000</a:t>
            </a:r>
          </a:p>
        </p:txBody>
      </p:sp>
      <p:sp>
        <p:nvSpPr>
          <p:cNvPr id="10" name="Rectangle 9">
            <a:extLst>
              <a:ext uri="{FF2B5EF4-FFF2-40B4-BE49-F238E27FC236}">
                <a16:creationId xmlns:a16="http://schemas.microsoft.com/office/drawing/2014/main" id="{9A3F79F3-1897-4E41-99D4-BC77FC93D56F}"/>
              </a:ext>
            </a:extLst>
          </p:cNvPr>
          <p:cNvSpPr/>
          <p:nvPr/>
        </p:nvSpPr>
        <p:spPr>
          <a:xfrm>
            <a:off x="7575757" y="2021469"/>
            <a:ext cx="698091" cy="73741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obj1</a:t>
            </a:r>
          </a:p>
        </p:txBody>
      </p:sp>
      <p:sp>
        <p:nvSpPr>
          <p:cNvPr id="12" name="TextBox 11">
            <a:extLst>
              <a:ext uri="{FF2B5EF4-FFF2-40B4-BE49-F238E27FC236}">
                <a16:creationId xmlns:a16="http://schemas.microsoft.com/office/drawing/2014/main" id="{6278EC94-1818-4328-AA51-AA2B3AF6E548}"/>
              </a:ext>
            </a:extLst>
          </p:cNvPr>
          <p:cNvSpPr txBox="1"/>
          <p:nvPr/>
        </p:nvSpPr>
        <p:spPr>
          <a:xfrm>
            <a:off x="9109590" y="2021469"/>
            <a:ext cx="2310580" cy="646331"/>
          </a:xfrm>
          <a:prstGeom prst="rect">
            <a:avLst/>
          </a:prstGeom>
          <a:solidFill>
            <a:schemeClr val="accent1"/>
          </a:solidFill>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err="1"/>
              <a:t>this.#name</a:t>
            </a:r>
            <a:r>
              <a:rPr lang="en-IN" dirty="0"/>
              <a:t>=mona</a:t>
            </a:r>
          </a:p>
          <a:p>
            <a:r>
              <a:rPr lang="en-IN" dirty="0" err="1"/>
              <a:t>this.#balance</a:t>
            </a:r>
            <a:r>
              <a:rPr lang="en-IN" dirty="0"/>
              <a:t>=50000</a:t>
            </a:r>
          </a:p>
        </p:txBody>
      </p:sp>
      <p:cxnSp>
        <p:nvCxnSpPr>
          <p:cNvPr id="13" name="Straight Arrow Connector 12">
            <a:extLst>
              <a:ext uri="{FF2B5EF4-FFF2-40B4-BE49-F238E27FC236}">
                <a16:creationId xmlns:a16="http://schemas.microsoft.com/office/drawing/2014/main" id="{FFAF20C7-4247-44A8-A79A-44899CDD79CE}"/>
              </a:ext>
            </a:extLst>
          </p:cNvPr>
          <p:cNvCxnSpPr>
            <a:cxnSpLocks/>
          </p:cNvCxnSpPr>
          <p:nvPr/>
        </p:nvCxnSpPr>
        <p:spPr>
          <a:xfrm flipV="1">
            <a:off x="8273850" y="2453150"/>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040CC7B-477A-4361-8A16-98E963C149B1}"/>
              </a:ext>
            </a:extLst>
          </p:cNvPr>
          <p:cNvSpPr/>
          <p:nvPr/>
        </p:nvSpPr>
        <p:spPr>
          <a:xfrm>
            <a:off x="8327932" y="-22125"/>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6" name="Straight Arrow Connector 15">
            <a:extLst>
              <a:ext uri="{FF2B5EF4-FFF2-40B4-BE49-F238E27FC236}">
                <a16:creationId xmlns:a16="http://schemas.microsoft.com/office/drawing/2014/main" id="{A9600309-8202-4B4B-850A-21C9AD7A0240}"/>
              </a:ext>
            </a:extLst>
          </p:cNvPr>
          <p:cNvCxnSpPr/>
          <p:nvPr/>
        </p:nvCxnSpPr>
        <p:spPr>
          <a:xfrm>
            <a:off x="8986683" y="624206"/>
            <a:ext cx="0" cy="383458"/>
          </a:xfrm>
          <a:prstGeom prst="straightConnector1">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CABDB2CC-3C19-47C9-B7B3-92F1FA2D6D70}"/>
              </a:ext>
            </a:extLst>
          </p:cNvPr>
          <p:cNvSpPr txBox="1"/>
          <p:nvPr/>
        </p:nvSpPr>
        <p:spPr>
          <a:xfrm>
            <a:off x="6129346" y="2865818"/>
            <a:ext cx="5604387" cy="3970318"/>
          </a:xfrm>
          <a:prstGeom prst="rect">
            <a:avLst/>
          </a:prstGeom>
          <a:noFill/>
        </p:spPr>
        <p:txBody>
          <a:bodyPr wrap="square" rtlCol="0">
            <a:spAutoFit/>
          </a:bodyPr>
          <a:lstStyle/>
          <a:p>
            <a:r>
              <a:rPr lang="en-IN" sz="1800" dirty="0" err="1">
                <a:latin typeface="Garamond" panose="02020404030301010803" pitchFamily="18" charset="0"/>
              </a:rPr>
              <a:t>document.write</a:t>
            </a:r>
            <a:r>
              <a:rPr lang="en-IN" sz="1800" dirty="0">
                <a:latin typeface="Garamond" panose="02020404030301010803" pitchFamily="18" charset="0"/>
              </a:rPr>
              <a:t>(obj1); // //</a:t>
            </a:r>
            <a:r>
              <a:rPr lang="en-IN" sz="1800" dirty="0" err="1">
                <a:latin typeface="Garamond" panose="02020404030301010803" pitchFamily="18" charset="0"/>
              </a:rPr>
              <a:t>geeta</a:t>
            </a:r>
            <a:r>
              <a:rPr lang="en-IN" sz="1800" dirty="0">
                <a:latin typeface="Garamond" panose="02020404030301010803" pitchFamily="18" charset="0"/>
              </a:rPr>
              <a:t> 20000</a:t>
            </a:r>
          </a:p>
          <a:p>
            <a:r>
              <a:rPr lang="en-IN" dirty="0"/>
              <a:t>Internally calling </a:t>
            </a:r>
            <a:r>
              <a:rPr lang="en-IN" dirty="0" err="1">
                <a:solidFill>
                  <a:srgbClr val="FF0000"/>
                </a:solidFill>
              </a:rPr>
              <a:t>toString</a:t>
            </a:r>
            <a:r>
              <a:rPr lang="en-IN" dirty="0">
                <a:solidFill>
                  <a:srgbClr val="FF0000"/>
                </a:solidFill>
              </a:rPr>
              <a:t>() </a:t>
            </a:r>
            <a:r>
              <a:rPr lang="en-IN" dirty="0"/>
              <a:t>method.</a:t>
            </a:r>
          </a:p>
          <a:p>
            <a:r>
              <a:rPr lang="en-IN" dirty="0"/>
              <a:t>- Account class does have this method</a:t>
            </a:r>
          </a:p>
          <a:p>
            <a:r>
              <a:rPr lang="en-IN" dirty="0"/>
              <a:t>So it will call </a:t>
            </a:r>
            <a:r>
              <a:rPr lang="en-IN" dirty="0" err="1"/>
              <a:t>toString</a:t>
            </a:r>
            <a:r>
              <a:rPr lang="en-IN" dirty="0"/>
              <a:t>() method. </a:t>
            </a:r>
          </a:p>
          <a:p>
            <a:r>
              <a:rPr lang="en-IN" sz="1800" dirty="0">
                <a:latin typeface="Garamond" panose="02020404030301010803" pitchFamily="18" charset="0"/>
              </a:rPr>
              <a:t> alert(</a:t>
            </a:r>
            <a:r>
              <a:rPr lang="en-IN" sz="1800" dirty="0" err="1">
                <a:latin typeface="Garamond" panose="02020404030301010803" pitchFamily="18" charset="0"/>
              </a:rPr>
              <a:t>typeof</a:t>
            </a:r>
            <a:r>
              <a:rPr lang="en-IN" sz="1800" dirty="0">
                <a:latin typeface="Garamond" panose="02020404030301010803" pitchFamily="18" charset="0"/>
              </a:rPr>
              <a:t> </a:t>
            </a:r>
            <a:r>
              <a:rPr lang="en-IN" sz="1800" dirty="0" err="1">
                <a:latin typeface="Garamond" panose="02020404030301010803" pitchFamily="18" charset="0"/>
              </a:rPr>
              <a:t>this.constructor</a:t>
            </a:r>
            <a:r>
              <a:rPr lang="en-IN" sz="1800" dirty="0">
                <a:latin typeface="Garamond" panose="02020404030301010803" pitchFamily="18" charset="0"/>
              </a:rPr>
              <a:t>)</a:t>
            </a:r>
          </a:p>
          <a:p>
            <a:r>
              <a:rPr lang="en-IN" dirty="0">
                <a:latin typeface="Garamond" panose="02020404030301010803" pitchFamily="18" charset="0"/>
              </a:rPr>
              <a:t>Above line says it is function So…</a:t>
            </a:r>
            <a:endParaRPr lang="en-IN" dirty="0"/>
          </a:p>
          <a:p>
            <a:r>
              <a:rPr lang="en-IN" dirty="0"/>
              <a:t>Can I call Account() directly ?</a:t>
            </a:r>
          </a:p>
          <a:p>
            <a:r>
              <a:rPr lang="en-IN" dirty="0"/>
              <a:t>No you will get error</a:t>
            </a:r>
          </a:p>
          <a:p>
            <a:r>
              <a:rPr lang="en-IN" dirty="0"/>
              <a:t>Default value in private instance member?</a:t>
            </a:r>
          </a:p>
          <a:p>
            <a:r>
              <a:rPr lang="en-IN" dirty="0"/>
              <a:t>Undefined</a:t>
            </a:r>
          </a:p>
          <a:p>
            <a:r>
              <a:rPr lang="en-IN" dirty="0"/>
              <a:t>Can I access #name out side class?</a:t>
            </a:r>
          </a:p>
          <a:p>
            <a:r>
              <a:rPr lang="en-IN" dirty="0"/>
              <a:t>NO</a:t>
            </a:r>
          </a:p>
          <a:p>
            <a:r>
              <a:rPr lang="en-US" dirty="0">
                <a:solidFill>
                  <a:srgbClr val="FF0000"/>
                </a:solidFill>
              </a:rPr>
              <a:t>Uncaught </a:t>
            </a:r>
            <a:r>
              <a:rPr lang="en-US" dirty="0" err="1">
                <a:solidFill>
                  <a:srgbClr val="FF0000"/>
                </a:solidFill>
              </a:rPr>
              <a:t>SyntaxError</a:t>
            </a:r>
            <a:r>
              <a:rPr lang="en-US" dirty="0">
                <a:solidFill>
                  <a:srgbClr val="FF0000"/>
                </a:solidFill>
              </a:rPr>
              <a:t>: Private field '#name' must be declared in an enclosing class</a:t>
            </a:r>
            <a:endParaRPr lang="en-IN" dirty="0">
              <a:solidFill>
                <a:srgbClr val="FF0000"/>
              </a:solidFill>
            </a:endParaRPr>
          </a:p>
        </p:txBody>
      </p:sp>
    </p:spTree>
    <p:extLst>
      <p:ext uri="{BB962C8B-B14F-4D97-AF65-F5344CB8AC3E}">
        <p14:creationId xmlns:p14="http://schemas.microsoft.com/office/powerpoint/2010/main" val="3588675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4F06-A661-4C80-9191-1CD142F0EA91}"/>
              </a:ext>
            </a:extLst>
          </p:cNvPr>
          <p:cNvSpPr>
            <a:spLocks noGrp="1"/>
          </p:cNvSpPr>
          <p:nvPr>
            <p:ph type="title"/>
          </p:nvPr>
        </p:nvSpPr>
        <p:spPr>
          <a:xfrm>
            <a:off x="2116394" y="257642"/>
            <a:ext cx="10272252" cy="529610"/>
          </a:xfrm>
        </p:spPr>
        <p:txBody>
          <a:bodyPr>
            <a:normAutofit fontScale="90000"/>
          </a:bodyPr>
          <a:lstStyle/>
          <a:p>
            <a:r>
              <a:rPr lang="en-IN" dirty="0"/>
              <a:t>ES8 </a:t>
            </a:r>
            <a:r>
              <a:rPr lang="en-IN" b="1" dirty="0">
                <a:solidFill>
                  <a:srgbClr val="FF0000"/>
                </a:solidFill>
              </a:rPr>
              <a:t>_</a:t>
            </a:r>
            <a:r>
              <a:rPr lang="en-IN" dirty="0"/>
              <a:t>--protected variable</a:t>
            </a:r>
          </a:p>
        </p:txBody>
      </p:sp>
      <p:sp>
        <p:nvSpPr>
          <p:cNvPr id="3" name="Content Placeholder 2">
            <a:extLst>
              <a:ext uri="{FF2B5EF4-FFF2-40B4-BE49-F238E27FC236}">
                <a16:creationId xmlns:a16="http://schemas.microsoft.com/office/drawing/2014/main" id="{C45FA216-AB89-4885-9B30-80C9A04BD110}"/>
              </a:ext>
            </a:extLst>
          </p:cNvPr>
          <p:cNvSpPr>
            <a:spLocks noGrp="1"/>
          </p:cNvSpPr>
          <p:nvPr>
            <p:ph idx="1"/>
          </p:nvPr>
        </p:nvSpPr>
        <p:spPr>
          <a:xfrm>
            <a:off x="506364" y="57653"/>
            <a:ext cx="5461814" cy="7188721"/>
          </a:xfrm>
        </p:spPr>
        <p:txBody>
          <a:bodyPr>
            <a:noAutofit/>
          </a:bodyPr>
          <a:lstStyle/>
          <a:p>
            <a:pPr marL="0" indent="0">
              <a:lnSpc>
                <a:spcPct val="100000"/>
              </a:lnSpc>
              <a:spcBef>
                <a:spcPts val="0"/>
              </a:spcBef>
              <a:buNone/>
            </a:pPr>
            <a:r>
              <a:rPr lang="en-IN" sz="1800" dirty="0">
                <a:latin typeface="Garamond" panose="02020404030301010803" pitchFamily="18" charset="0"/>
              </a:rPr>
              <a:t>&lt;script&gt;</a:t>
            </a:r>
          </a:p>
          <a:p>
            <a:pPr marL="0" indent="0">
              <a:lnSpc>
                <a:spcPct val="100000"/>
              </a:lnSpc>
              <a:spcBef>
                <a:spcPts val="0"/>
              </a:spcBef>
              <a:buNone/>
            </a:pPr>
            <a:r>
              <a:rPr lang="en-IN" sz="1800" dirty="0">
                <a:latin typeface="Garamond" panose="02020404030301010803" pitchFamily="18" charset="0"/>
              </a:rPr>
              <a:t>‘        use strict'</a:t>
            </a:r>
          </a:p>
          <a:p>
            <a:pPr marL="0" indent="0">
              <a:lnSpc>
                <a:spcPct val="100000"/>
              </a:lnSpc>
              <a:spcBef>
                <a:spcPts val="0"/>
              </a:spcBef>
              <a:buNone/>
            </a:pPr>
            <a:r>
              <a:rPr lang="en-IN" sz="1800" dirty="0">
                <a:latin typeface="Garamond" panose="02020404030301010803" pitchFamily="18" charset="0"/>
              </a:rPr>
              <a:t>class Account</a:t>
            </a:r>
          </a:p>
          <a:p>
            <a:pPr marL="0" indent="0">
              <a:lnSpc>
                <a:spcPct val="100000"/>
              </a:lnSpc>
              <a:spcBef>
                <a:spcPts val="0"/>
              </a:spcBef>
              <a:buNone/>
            </a:pPr>
            <a:r>
              <a:rPr lang="en-IN" sz="2400" b="1" dirty="0">
                <a:solidFill>
                  <a:schemeClr val="accent5"/>
                </a:solidFill>
                <a:latin typeface="Garamond" panose="02020404030301010803" pitchFamily="18" charset="0"/>
              </a:rPr>
              <a:t>{  </a:t>
            </a:r>
            <a:r>
              <a:rPr lang="en-IN" b="1" dirty="0">
                <a:solidFill>
                  <a:srgbClr val="FF0000"/>
                </a:solidFill>
                <a:latin typeface="Garamond" panose="02020404030301010803" pitchFamily="18" charset="0"/>
              </a:rPr>
              <a:t>_</a:t>
            </a:r>
            <a:r>
              <a:rPr lang="en-IN" sz="1800" dirty="0">
                <a:latin typeface="Garamond" panose="02020404030301010803" pitchFamily="18" charset="0"/>
              </a:rPr>
              <a:t>name;</a:t>
            </a:r>
          </a:p>
          <a:p>
            <a:pPr marL="0" indent="0">
              <a:lnSpc>
                <a:spcPct val="100000"/>
              </a:lnSpc>
              <a:spcBef>
                <a:spcPts val="0"/>
              </a:spcBef>
              <a:buNone/>
            </a:pPr>
            <a:r>
              <a:rPr lang="en-IN" sz="1800" dirty="0">
                <a:latin typeface="Garamond" panose="02020404030301010803" pitchFamily="18" charset="0"/>
              </a:rPr>
              <a:t> </a:t>
            </a:r>
            <a:r>
              <a:rPr lang="en-IN" b="1" dirty="0">
                <a:solidFill>
                  <a:srgbClr val="FF0000"/>
                </a:solidFill>
                <a:latin typeface="Garamond" panose="02020404030301010803" pitchFamily="18" charset="0"/>
              </a:rPr>
              <a:t>_</a:t>
            </a:r>
            <a:r>
              <a:rPr lang="en-IN" sz="1800" dirty="0">
                <a:latin typeface="Garamond" panose="02020404030301010803" pitchFamily="18" charset="0"/>
              </a:rPr>
              <a:t>balance;</a:t>
            </a:r>
          </a:p>
          <a:p>
            <a:pPr marL="0" indent="0">
              <a:lnSpc>
                <a:spcPct val="100000"/>
              </a:lnSpc>
              <a:spcBef>
                <a:spcPts val="0"/>
              </a:spcBef>
              <a:buNone/>
            </a:pPr>
            <a:r>
              <a:rPr lang="en-IN" sz="1800" dirty="0">
                <a:latin typeface="Garamond" panose="02020404030301010803" pitchFamily="18" charset="0"/>
              </a:rPr>
              <a:t>   constructor(</a:t>
            </a:r>
            <a:r>
              <a:rPr lang="en-IN" sz="1800" dirty="0" err="1">
                <a:latin typeface="Garamond" panose="02020404030301010803" pitchFamily="18" charset="0"/>
              </a:rPr>
              <a:t>name,amt</a:t>
            </a:r>
            <a:r>
              <a:rPr lang="en-IN" sz="1800" dirty="0">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  {   </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name</a:t>
            </a:r>
            <a:r>
              <a:rPr lang="en-IN" sz="1800" dirty="0">
                <a:latin typeface="Garamond" panose="02020404030301010803" pitchFamily="18" charset="0"/>
              </a:rPr>
              <a:t>=name;</a:t>
            </a:r>
          </a:p>
          <a:p>
            <a:pPr marL="0" indent="0">
              <a:lnSpc>
                <a:spcPct val="100000"/>
              </a:lnSpc>
              <a:spcBef>
                <a:spcPts val="0"/>
              </a:spcBef>
              <a:buNone/>
            </a:pPr>
            <a:r>
              <a:rPr lang="en-IN" sz="1800" dirty="0">
                <a:latin typeface="Garamond" panose="02020404030301010803" pitchFamily="18" charset="0"/>
              </a:rPr>
              <a:t>    </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balance</a:t>
            </a:r>
            <a:r>
              <a:rPr lang="en-IN" sz="1800" dirty="0">
                <a:latin typeface="Garamond" panose="02020404030301010803" pitchFamily="18" charset="0"/>
              </a:rPr>
              <a:t>=amt;</a:t>
            </a:r>
          </a:p>
          <a:p>
            <a:pPr marL="0" indent="0">
              <a:lnSpc>
                <a:spcPct val="100000"/>
              </a:lnSpc>
              <a:spcBef>
                <a:spcPts val="0"/>
              </a:spcBef>
              <a:buNone/>
            </a:pPr>
            <a:r>
              <a:rPr lang="en-IN" sz="1800" dirty="0">
                <a:latin typeface="Garamond" panose="02020404030301010803" pitchFamily="18" charset="0"/>
              </a:rPr>
              <a:t>  alert(</a:t>
            </a:r>
            <a:r>
              <a:rPr lang="en-IN" sz="1800" dirty="0" err="1">
                <a:latin typeface="Garamond" panose="02020404030301010803" pitchFamily="18" charset="0"/>
              </a:rPr>
              <a:t>typeof</a:t>
            </a:r>
            <a:r>
              <a:rPr lang="en-IN" sz="1800" dirty="0">
                <a:latin typeface="Garamond" panose="02020404030301010803" pitchFamily="18" charset="0"/>
              </a:rPr>
              <a:t> </a:t>
            </a:r>
            <a:r>
              <a:rPr lang="en-IN" sz="1800" dirty="0" err="1">
                <a:latin typeface="Garamond" panose="02020404030301010803" pitchFamily="18" charset="0"/>
              </a:rPr>
              <a:t>this.constructor</a:t>
            </a:r>
            <a:r>
              <a:rPr lang="en-IN" sz="1800" dirty="0">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    }</a:t>
            </a:r>
          </a:p>
          <a:p>
            <a:pPr marL="0" indent="0">
              <a:lnSpc>
                <a:spcPct val="100000"/>
              </a:lnSpc>
              <a:spcBef>
                <a:spcPts val="0"/>
              </a:spcBef>
              <a:buNone/>
            </a:pPr>
            <a:r>
              <a:rPr lang="en-IN" sz="1800" dirty="0">
                <a:latin typeface="Garamond" panose="02020404030301010803" pitchFamily="18" charset="0"/>
              </a:rPr>
              <a:t>	</a:t>
            </a:r>
            <a:r>
              <a:rPr lang="en-IN" sz="1800" dirty="0" err="1">
                <a:latin typeface="Garamond" panose="02020404030301010803" pitchFamily="18" charset="0"/>
              </a:rPr>
              <a:t>toString</a:t>
            </a:r>
            <a:r>
              <a:rPr lang="en-IN" sz="1800" dirty="0">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 {return `Name=${</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name</a:t>
            </a:r>
            <a:r>
              <a:rPr lang="en-IN" sz="1800" dirty="0">
                <a:latin typeface="Garamond" panose="02020404030301010803" pitchFamily="18" charset="0"/>
              </a:rPr>
              <a:t>} Bal=${</a:t>
            </a:r>
            <a:r>
              <a:rPr lang="en-IN" sz="1800" dirty="0" err="1">
                <a:latin typeface="Garamond" panose="02020404030301010803" pitchFamily="18" charset="0"/>
              </a:rPr>
              <a:t>this.</a:t>
            </a:r>
            <a:r>
              <a:rPr lang="en-IN" b="1" dirty="0" err="1">
                <a:solidFill>
                  <a:srgbClr val="FF0000"/>
                </a:solidFill>
                <a:latin typeface="Garamond" panose="02020404030301010803" pitchFamily="18" charset="0"/>
              </a:rPr>
              <a:t>_</a:t>
            </a:r>
            <a:r>
              <a:rPr lang="en-IN" sz="1800" dirty="0" err="1">
                <a:latin typeface="Garamond" panose="02020404030301010803" pitchFamily="18" charset="0"/>
              </a:rPr>
              <a:t>balance</a:t>
            </a:r>
            <a:r>
              <a:rPr lang="en-IN" sz="1800" dirty="0">
                <a:latin typeface="Garamond" panose="02020404030301010803" pitchFamily="18" charset="0"/>
              </a:rPr>
              <a:t>}`  }</a:t>
            </a:r>
          </a:p>
          <a:p>
            <a:pPr marL="0" indent="0">
              <a:lnSpc>
                <a:spcPct val="100000"/>
              </a:lnSpc>
              <a:spcBef>
                <a:spcPts val="0"/>
              </a:spcBef>
              <a:buNone/>
            </a:pPr>
            <a:r>
              <a:rPr lang="en-IN" sz="2000" b="1" dirty="0">
                <a:solidFill>
                  <a:schemeClr val="accent5"/>
                </a:solidFill>
                <a:latin typeface="Garamond" panose="02020404030301010803" pitchFamily="18" charset="0"/>
              </a:rPr>
              <a:t>}</a:t>
            </a:r>
          </a:p>
          <a:p>
            <a:pPr marL="0" indent="0">
              <a:lnSpc>
                <a:spcPct val="100000"/>
              </a:lnSpc>
              <a:spcBef>
                <a:spcPts val="0"/>
              </a:spcBef>
              <a:buNone/>
            </a:pPr>
            <a:r>
              <a:rPr lang="en-IN" sz="1800" dirty="0">
                <a:latin typeface="Garamond" panose="02020404030301010803" pitchFamily="18" charset="0"/>
              </a:rPr>
              <a:t>var obj1=new Account("raj",20000);</a:t>
            </a:r>
          </a:p>
          <a:p>
            <a:pPr marL="0" indent="0">
              <a:lnSpc>
                <a:spcPct val="100000"/>
              </a:lnSpc>
              <a:spcBef>
                <a:spcPts val="0"/>
              </a:spcBef>
              <a:buNone/>
            </a:pPr>
            <a:r>
              <a:rPr lang="en-IN" sz="1800" dirty="0">
                <a:latin typeface="Garamond" panose="02020404030301010803" pitchFamily="18" charset="0"/>
              </a:rPr>
              <a:t>console.log(obj1);</a:t>
            </a:r>
          </a:p>
          <a:p>
            <a:pPr marL="0" indent="0">
              <a:lnSpc>
                <a:spcPct val="100000"/>
              </a:lnSpc>
              <a:spcBef>
                <a:spcPts val="0"/>
              </a:spcBef>
              <a:buNone/>
            </a:pPr>
            <a:r>
              <a:rPr lang="en-IN" sz="1800" dirty="0" err="1">
                <a:latin typeface="Garamond" panose="02020404030301010803" pitchFamily="18" charset="0"/>
              </a:rPr>
              <a:t>document.write</a:t>
            </a:r>
            <a:r>
              <a:rPr lang="en-IN" sz="1800" dirty="0">
                <a:latin typeface="Garamond" panose="02020404030301010803" pitchFamily="18" charset="0"/>
              </a:rPr>
              <a:t>(obj1 </a:t>
            </a:r>
            <a:r>
              <a:rPr lang="en-IN" sz="1800" dirty="0" err="1">
                <a:latin typeface="Garamond" panose="02020404030301010803" pitchFamily="18" charset="0"/>
              </a:rPr>
              <a:t>instanceof</a:t>
            </a:r>
            <a:r>
              <a:rPr lang="en-IN" sz="1800" dirty="0">
                <a:latin typeface="Garamond" panose="02020404030301010803" pitchFamily="18" charset="0"/>
              </a:rPr>
              <a:t> Account);//true</a:t>
            </a:r>
          </a:p>
          <a:p>
            <a:pPr marL="0" indent="0">
              <a:lnSpc>
                <a:spcPct val="100000"/>
              </a:lnSpc>
              <a:spcBef>
                <a:spcPts val="0"/>
              </a:spcBef>
              <a:buNone/>
            </a:pPr>
            <a:r>
              <a:rPr lang="en-IN" sz="1800" dirty="0" err="1">
                <a:latin typeface="Garamond" panose="02020404030301010803" pitchFamily="18" charset="0"/>
              </a:rPr>
              <a:t>document.write</a:t>
            </a:r>
            <a:r>
              <a:rPr lang="en-IN" sz="1800" dirty="0">
                <a:latin typeface="Garamond" panose="02020404030301010803" pitchFamily="18" charset="0"/>
              </a:rPr>
              <a:t>(obj1 </a:t>
            </a:r>
            <a:r>
              <a:rPr lang="en-IN" sz="1800" dirty="0" err="1">
                <a:latin typeface="Garamond" panose="02020404030301010803" pitchFamily="18" charset="0"/>
              </a:rPr>
              <a:t>instanceof</a:t>
            </a:r>
            <a:r>
              <a:rPr lang="en-IN" sz="1800" dirty="0">
                <a:latin typeface="Garamond" panose="02020404030301010803" pitchFamily="18" charset="0"/>
              </a:rPr>
              <a:t> Object);//true</a:t>
            </a:r>
          </a:p>
          <a:p>
            <a:pPr marL="0" indent="0">
              <a:lnSpc>
                <a:spcPct val="100000"/>
              </a:lnSpc>
              <a:spcBef>
                <a:spcPts val="0"/>
              </a:spcBef>
              <a:buNone/>
            </a:pPr>
            <a:r>
              <a:rPr lang="en-IN" sz="1800" dirty="0">
                <a:latin typeface="Garamond" panose="02020404030301010803" pitchFamily="18" charset="0"/>
              </a:rPr>
              <a:t>obj1.</a:t>
            </a:r>
            <a:r>
              <a:rPr lang="en-IN" sz="2400" b="1" dirty="0">
                <a:solidFill>
                  <a:srgbClr val="FF0000"/>
                </a:solidFill>
                <a:latin typeface="Garamond" panose="02020404030301010803" pitchFamily="18" charset="0"/>
              </a:rPr>
              <a:t>_</a:t>
            </a:r>
            <a:r>
              <a:rPr lang="en-IN" sz="1800" dirty="0">
                <a:latin typeface="Garamond" panose="02020404030301010803" pitchFamily="18" charset="0"/>
              </a:rPr>
              <a:t>name="</a:t>
            </a:r>
            <a:r>
              <a:rPr lang="en-IN" sz="1800" dirty="0" err="1">
                <a:latin typeface="Garamond" panose="02020404030301010803" pitchFamily="18" charset="0"/>
              </a:rPr>
              <a:t>geeta</a:t>
            </a:r>
            <a:r>
              <a:rPr lang="en-IN" sz="1800" dirty="0">
                <a:latin typeface="Garamond" panose="02020404030301010803" pitchFamily="18" charset="0"/>
              </a:rPr>
              <a:t>";</a:t>
            </a:r>
          </a:p>
          <a:p>
            <a:pPr marL="0" indent="0">
              <a:lnSpc>
                <a:spcPct val="100000"/>
              </a:lnSpc>
              <a:spcBef>
                <a:spcPts val="0"/>
              </a:spcBef>
              <a:buNone/>
            </a:pPr>
            <a:r>
              <a:rPr lang="en-IN" sz="1800" dirty="0" err="1">
                <a:latin typeface="Garamond" panose="02020404030301010803" pitchFamily="18" charset="0"/>
              </a:rPr>
              <a:t>document.write</a:t>
            </a:r>
            <a:r>
              <a:rPr lang="en-IN" sz="1800" dirty="0">
                <a:latin typeface="Garamond" panose="02020404030301010803" pitchFamily="18" charset="0"/>
              </a:rPr>
              <a:t>(obj1); //object </a:t>
            </a:r>
            <a:r>
              <a:rPr lang="en-IN" sz="1800" dirty="0" err="1">
                <a:latin typeface="Garamond" panose="02020404030301010803" pitchFamily="18" charset="0"/>
              </a:rPr>
              <a:t>Object</a:t>
            </a:r>
            <a:r>
              <a:rPr lang="en-IN" sz="1800" dirty="0">
                <a:latin typeface="Garamond" panose="02020404030301010803" pitchFamily="18" charset="0"/>
              </a:rPr>
              <a:t> </a:t>
            </a:r>
          </a:p>
          <a:p>
            <a:pPr marL="0" indent="0">
              <a:lnSpc>
                <a:spcPct val="100000"/>
              </a:lnSpc>
              <a:spcBef>
                <a:spcPts val="0"/>
              </a:spcBef>
              <a:buNone/>
            </a:pPr>
            <a:r>
              <a:rPr lang="en-IN" sz="1800" dirty="0">
                <a:latin typeface="Garamond" panose="02020404030301010803" pitchFamily="18" charset="0"/>
              </a:rPr>
              <a:t>var obj2=new Account("Mona",50000);</a:t>
            </a:r>
          </a:p>
          <a:p>
            <a:pPr marL="0" indent="0">
              <a:lnSpc>
                <a:spcPct val="100000"/>
              </a:lnSpc>
              <a:spcBef>
                <a:spcPts val="0"/>
              </a:spcBef>
              <a:buNone/>
            </a:pPr>
            <a:r>
              <a:rPr lang="en-IN" sz="1800" dirty="0">
                <a:latin typeface="Garamond" panose="02020404030301010803" pitchFamily="18" charset="0"/>
              </a:rPr>
              <a:t>&lt;/script&gt;</a:t>
            </a:r>
          </a:p>
          <a:p>
            <a:pPr marL="0" indent="0">
              <a:lnSpc>
                <a:spcPct val="100000"/>
              </a:lnSpc>
              <a:spcBef>
                <a:spcPts val="0"/>
              </a:spcBef>
              <a:buNone/>
            </a:pPr>
            <a:endParaRPr lang="en-IN" sz="1800" dirty="0">
              <a:latin typeface="Garamond" panose="02020404030301010803" pitchFamily="18" charset="0"/>
            </a:endParaRPr>
          </a:p>
        </p:txBody>
      </p:sp>
      <p:sp>
        <p:nvSpPr>
          <p:cNvPr id="4" name="Rectangle 3">
            <a:extLst>
              <a:ext uri="{FF2B5EF4-FFF2-40B4-BE49-F238E27FC236}">
                <a16:creationId xmlns:a16="http://schemas.microsoft.com/office/drawing/2014/main" id="{73D41E7C-BAFC-458F-92EB-252DF2B922D9}"/>
              </a:ext>
            </a:extLst>
          </p:cNvPr>
          <p:cNvSpPr/>
          <p:nvPr/>
        </p:nvSpPr>
        <p:spPr>
          <a:xfrm>
            <a:off x="6186948" y="944462"/>
            <a:ext cx="698091"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obj1</a:t>
            </a:r>
          </a:p>
        </p:txBody>
      </p:sp>
      <p:cxnSp>
        <p:nvCxnSpPr>
          <p:cNvPr id="6" name="Straight Arrow Connector 5">
            <a:extLst>
              <a:ext uri="{FF2B5EF4-FFF2-40B4-BE49-F238E27FC236}">
                <a16:creationId xmlns:a16="http://schemas.microsoft.com/office/drawing/2014/main" id="{5153F22F-0C52-4226-ACE3-FA10EC580CAB}"/>
              </a:ext>
            </a:extLst>
          </p:cNvPr>
          <p:cNvCxnSpPr>
            <a:cxnSpLocks/>
          </p:cNvCxnSpPr>
          <p:nvPr/>
        </p:nvCxnSpPr>
        <p:spPr>
          <a:xfrm flipV="1">
            <a:off x="6821127" y="1220766"/>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5E3684D-DFE3-48CE-972A-E3D11F826C3F}"/>
              </a:ext>
            </a:extLst>
          </p:cNvPr>
          <p:cNvSpPr txBox="1"/>
          <p:nvPr/>
        </p:nvSpPr>
        <p:spPr>
          <a:xfrm>
            <a:off x="7870722" y="979869"/>
            <a:ext cx="2310580"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this.name=raj  </a:t>
            </a:r>
            <a:r>
              <a:rPr lang="en-IN" dirty="0" err="1"/>
              <a:t>geeta</a:t>
            </a:r>
            <a:endParaRPr lang="en-IN" dirty="0"/>
          </a:p>
          <a:p>
            <a:r>
              <a:rPr lang="en-IN" dirty="0" err="1"/>
              <a:t>this.balance</a:t>
            </a:r>
            <a:r>
              <a:rPr lang="en-IN" dirty="0"/>
              <a:t>=20000</a:t>
            </a:r>
          </a:p>
        </p:txBody>
      </p:sp>
      <p:sp>
        <p:nvSpPr>
          <p:cNvPr id="10" name="Rectangle 9">
            <a:extLst>
              <a:ext uri="{FF2B5EF4-FFF2-40B4-BE49-F238E27FC236}">
                <a16:creationId xmlns:a16="http://schemas.microsoft.com/office/drawing/2014/main" id="{9A3F79F3-1897-4E41-99D4-BC77FC93D56F}"/>
              </a:ext>
            </a:extLst>
          </p:cNvPr>
          <p:cNvSpPr/>
          <p:nvPr/>
        </p:nvSpPr>
        <p:spPr>
          <a:xfrm>
            <a:off x="7130843" y="1772373"/>
            <a:ext cx="698091"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obj2</a:t>
            </a:r>
          </a:p>
        </p:txBody>
      </p:sp>
      <p:sp>
        <p:nvSpPr>
          <p:cNvPr id="12" name="TextBox 11">
            <a:extLst>
              <a:ext uri="{FF2B5EF4-FFF2-40B4-BE49-F238E27FC236}">
                <a16:creationId xmlns:a16="http://schemas.microsoft.com/office/drawing/2014/main" id="{6278EC94-1818-4328-AA51-AA2B3AF6E548}"/>
              </a:ext>
            </a:extLst>
          </p:cNvPr>
          <p:cNvSpPr txBox="1"/>
          <p:nvPr/>
        </p:nvSpPr>
        <p:spPr>
          <a:xfrm>
            <a:off x="8826929" y="1763594"/>
            <a:ext cx="2310580" cy="64633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this.name=mona</a:t>
            </a:r>
          </a:p>
          <a:p>
            <a:r>
              <a:rPr lang="en-IN" dirty="0" err="1"/>
              <a:t>this.balance</a:t>
            </a:r>
            <a:r>
              <a:rPr lang="en-IN" dirty="0"/>
              <a:t>=50000</a:t>
            </a:r>
          </a:p>
        </p:txBody>
      </p:sp>
      <p:cxnSp>
        <p:nvCxnSpPr>
          <p:cNvPr id="13" name="Straight Arrow Connector 12">
            <a:extLst>
              <a:ext uri="{FF2B5EF4-FFF2-40B4-BE49-F238E27FC236}">
                <a16:creationId xmlns:a16="http://schemas.microsoft.com/office/drawing/2014/main" id="{FFAF20C7-4247-44A8-A79A-44899CDD79CE}"/>
              </a:ext>
            </a:extLst>
          </p:cNvPr>
          <p:cNvCxnSpPr>
            <a:cxnSpLocks/>
          </p:cNvCxnSpPr>
          <p:nvPr/>
        </p:nvCxnSpPr>
        <p:spPr>
          <a:xfrm flipV="1">
            <a:off x="7846151" y="1950289"/>
            <a:ext cx="963561" cy="275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040CC7B-477A-4361-8A16-98E963C149B1}"/>
              </a:ext>
            </a:extLst>
          </p:cNvPr>
          <p:cNvSpPr/>
          <p:nvPr/>
        </p:nvSpPr>
        <p:spPr>
          <a:xfrm>
            <a:off x="8327932" y="-24366"/>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16" name="Straight Arrow Connector 15">
            <a:extLst>
              <a:ext uri="{FF2B5EF4-FFF2-40B4-BE49-F238E27FC236}">
                <a16:creationId xmlns:a16="http://schemas.microsoft.com/office/drawing/2014/main" id="{A9600309-8202-4B4B-850A-21C9AD7A0240}"/>
              </a:ext>
            </a:extLst>
          </p:cNvPr>
          <p:cNvCxnSpPr/>
          <p:nvPr/>
        </p:nvCxnSpPr>
        <p:spPr>
          <a:xfrm>
            <a:off x="9026012" y="595523"/>
            <a:ext cx="0" cy="383458"/>
          </a:xfrm>
          <a:prstGeom prst="straightConnector1">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5DBCDF3A-3EF1-4C4E-8D02-4A3D78B704D4}"/>
              </a:ext>
            </a:extLst>
          </p:cNvPr>
          <p:cNvSpPr txBox="1"/>
          <p:nvPr/>
        </p:nvSpPr>
        <p:spPr>
          <a:xfrm>
            <a:off x="6223824" y="2602542"/>
            <a:ext cx="5604387" cy="4247317"/>
          </a:xfrm>
          <a:prstGeom prst="rect">
            <a:avLst/>
          </a:prstGeom>
          <a:noFill/>
        </p:spPr>
        <p:txBody>
          <a:bodyPr wrap="square" rtlCol="0">
            <a:spAutoFit/>
          </a:bodyPr>
          <a:lstStyle/>
          <a:p>
            <a:r>
              <a:rPr lang="en-IN" sz="1800" dirty="0" err="1">
                <a:latin typeface="Garamond" panose="02020404030301010803" pitchFamily="18" charset="0"/>
              </a:rPr>
              <a:t>document.write</a:t>
            </a:r>
            <a:r>
              <a:rPr lang="en-IN" sz="1800" dirty="0">
                <a:latin typeface="Garamond" panose="02020404030301010803" pitchFamily="18" charset="0"/>
              </a:rPr>
              <a:t>(obj1); // //</a:t>
            </a:r>
            <a:r>
              <a:rPr lang="en-IN" sz="1800" dirty="0" err="1">
                <a:latin typeface="Garamond" panose="02020404030301010803" pitchFamily="18" charset="0"/>
              </a:rPr>
              <a:t>geeta</a:t>
            </a:r>
            <a:r>
              <a:rPr lang="en-IN" sz="1800" dirty="0">
                <a:latin typeface="Garamond" panose="02020404030301010803" pitchFamily="18" charset="0"/>
              </a:rPr>
              <a:t> 20000</a:t>
            </a:r>
          </a:p>
          <a:p>
            <a:r>
              <a:rPr lang="en-IN" dirty="0"/>
              <a:t>Internally calling </a:t>
            </a:r>
            <a:r>
              <a:rPr lang="en-IN" dirty="0" err="1">
                <a:solidFill>
                  <a:srgbClr val="FF0000"/>
                </a:solidFill>
              </a:rPr>
              <a:t>toString</a:t>
            </a:r>
            <a:r>
              <a:rPr lang="en-IN" dirty="0">
                <a:solidFill>
                  <a:srgbClr val="FF0000"/>
                </a:solidFill>
              </a:rPr>
              <a:t>() </a:t>
            </a:r>
            <a:r>
              <a:rPr lang="en-IN" dirty="0"/>
              <a:t>method.</a:t>
            </a:r>
          </a:p>
          <a:p>
            <a:r>
              <a:rPr lang="en-IN" dirty="0"/>
              <a:t>- Account class does have this method</a:t>
            </a:r>
          </a:p>
          <a:p>
            <a:r>
              <a:rPr lang="en-IN" dirty="0"/>
              <a:t>So it will call </a:t>
            </a:r>
            <a:r>
              <a:rPr lang="en-IN" dirty="0" err="1"/>
              <a:t>toString</a:t>
            </a:r>
            <a:r>
              <a:rPr lang="en-IN" dirty="0"/>
              <a:t>() method. </a:t>
            </a:r>
          </a:p>
          <a:p>
            <a:r>
              <a:rPr lang="en-IN" sz="1800" dirty="0">
                <a:latin typeface="Garamond" panose="02020404030301010803" pitchFamily="18" charset="0"/>
              </a:rPr>
              <a:t> alert(</a:t>
            </a:r>
            <a:r>
              <a:rPr lang="en-IN" sz="1800" dirty="0" err="1">
                <a:latin typeface="Garamond" panose="02020404030301010803" pitchFamily="18" charset="0"/>
              </a:rPr>
              <a:t>typeof</a:t>
            </a:r>
            <a:r>
              <a:rPr lang="en-IN" sz="1800" dirty="0">
                <a:latin typeface="Garamond" panose="02020404030301010803" pitchFamily="18" charset="0"/>
              </a:rPr>
              <a:t> </a:t>
            </a:r>
            <a:r>
              <a:rPr lang="en-IN" sz="1800" dirty="0" err="1">
                <a:latin typeface="Garamond" panose="02020404030301010803" pitchFamily="18" charset="0"/>
              </a:rPr>
              <a:t>this.constructor</a:t>
            </a:r>
            <a:r>
              <a:rPr lang="en-IN" sz="1800" dirty="0">
                <a:latin typeface="Garamond" panose="02020404030301010803" pitchFamily="18" charset="0"/>
              </a:rPr>
              <a:t>)</a:t>
            </a:r>
          </a:p>
          <a:p>
            <a:r>
              <a:rPr lang="en-IN" dirty="0">
                <a:latin typeface="Garamond" panose="02020404030301010803" pitchFamily="18" charset="0"/>
              </a:rPr>
              <a:t>Above line says it is function So…</a:t>
            </a:r>
            <a:endParaRPr lang="en-IN" dirty="0"/>
          </a:p>
          <a:p>
            <a:r>
              <a:rPr lang="en-IN" dirty="0"/>
              <a:t>Can I call Account() directly  </a:t>
            </a:r>
            <a:r>
              <a:rPr lang="en-IN"/>
              <a:t>as function?</a:t>
            </a:r>
            <a:endParaRPr lang="en-IN" dirty="0"/>
          </a:p>
          <a:p>
            <a:r>
              <a:rPr lang="en-IN" dirty="0"/>
              <a:t>No you will get error</a:t>
            </a:r>
          </a:p>
          <a:p>
            <a:endParaRPr lang="en-IN" dirty="0"/>
          </a:p>
          <a:p>
            <a:r>
              <a:rPr lang="en-IN" dirty="0"/>
              <a:t>Default value in private instance member?</a:t>
            </a:r>
          </a:p>
          <a:p>
            <a:r>
              <a:rPr lang="en-IN" dirty="0"/>
              <a:t>Undefined</a:t>
            </a:r>
          </a:p>
          <a:p>
            <a:r>
              <a:rPr lang="en-IN" dirty="0"/>
              <a:t>_name is available out side the class but need no use.</a:t>
            </a:r>
          </a:p>
          <a:p>
            <a:r>
              <a:rPr lang="en-IN" dirty="0"/>
              <a:t>Use it only in child class</a:t>
            </a:r>
          </a:p>
          <a:p>
            <a:r>
              <a:rPr lang="en-IN" dirty="0"/>
              <a:t>Is instance member required [above constructor] ?</a:t>
            </a:r>
          </a:p>
          <a:p>
            <a:r>
              <a:rPr lang="en-IN" dirty="0"/>
              <a:t>No</a:t>
            </a:r>
            <a:endParaRPr lang="en-IN" dirty="0">
              <a:solidFill>
                <a:schemeClr val="accent2"/>
              </a:solidFill>
            </a:endParaRPr>
          </a:p>
        </p:txBody>
      </p:sp>
      <p:cxnSp>
        <p:nvCxnSpPr>
          <p:cNvPr id="8" name="Straight Connector 7">
            <a:extLst>
              <a:ext uri="{FF2B5EF4-FFF2-40B4-BE49-F238E27FC236}">
                <a16:creationId xmlns:a16="http://schemas.microsoft.com/office/drawing/2014/main" id="{B3EEDB4E-F00B-46B6-ADCF-FA27334676BB}"/>
              </a:ext>
            </a:extLst>
          </p:cNvPr>
          <p:cNvCxnSpPr/>
          <p:nvPr/>
        </p:nvCxnSpPr>
        <p:spPr>
          <a:xfrm flipV="1">
            <a:off x="8672052" y="1499419"/>
            <a:ext cx="437538" cy="9340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96785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9189D-F37D-4408-88F0-D0B990731FF3}"/>
              </a:ext>
            </a:extLst>
          </p:cNvPr>
          <p:cNvSpPr>
            <a:spLocks noGrp="1"/>
          </p:cNvSpPr>
          <p:nvPr>
            <p:ph type="title"/>
          </p:nvPr>
        </p:nvSpPr>
        <p:spPr>
          <a:xfrm>
            <a:off x="3024648" y="-69231"/>
            <a:ext cx="9957619" cy="578772"/>
          </a:xfrm>
        </p:spPr>
        <p:txBody>
          <a:bodyPr>
            <a:normAutofit fontScale="90000"/>
          </a:bodyPr>
          <a:lstStyle/>
          <a:p>
            <a:r>
              <a:rPr lang="en-IN" dirty="0"/>
              <a:t>Inheritance            </a:t>
            </a:r>
            <a:r>
              <a:rPr lang="en-IN" dirty="0">
                <a:solidFill>
                  <a:srgbClr val="FF0000"/>
                </a:solidFill>
              </a:rPr>
              <a:t>_</a:t>
            </a:r>
            <a:r>
              <a:rPr lang="en-IN" dirty="0"/>
              <a:t>protected</a:t>
            </a:r>
          </a:p>
        </p:txBody>
      </p:sp>
      <p:sp>
        <p:nvSpPr>
          <p:cNvPr id="3" name="Content Placeholder 2">
            <a:extLst>
              <a:ext uri="{FF2B5EF4-FFF2-40B4-BE49-F238E27FC236}">
                <a16:creationId xmlns:a16="http://schemas.microsoft.com/office/drawing/2014/main" id="{27366BAA-270D-4A41-A630-718E1EEBF9A9}"/>
              </a:ext>
            </a:extLst>
          </p:cNvPr>
          <p:cNvSpPr>
            <a:spLocks noGrp="1"/>
          </p:cNvSpPr>
          <p:nvPr>
            <p:ph idx="1"/>
          </p:nvPr>
        </p:nvSpPr>
        <p:spPr>
          <a:xfrm>
            <a:off x="0" y="180564"/>
            <a:ext cx="3864078" cy="6967487"/>
          </a:xfrm>
        </p:spPr>
        <p:txBody>
          <a:bodyPr>
            <a:noAutofit/>
          </a:bodyPr>
          <a:lstStyle/>
          <a:p>
            <a:pPr marL="0" indent="0">
              <a:lnSpc>
                <a:spcPct val="120000"/>
              </a:lnSpc>
              <a:spcBef>
                <a:spcPts val="0"/>
              </a:spcBef>
              <a:buNone/>
            </a:pPr>
            <a:r>
              <a:rPr lang="en-IN" sz="1600" dirty="0"/>
              <a:t>		class Account</a:t>
            </a:r>
          </a:p>
          <a:p>
            <a:pPr marL="0" indent="0">
              <a:lnSpc>
                <a:spcPct val="100000"/>
              </a:lnSpc>
              <a:spcBef>
                <a:spcPts val="0"/>
              </a:spcBef>
              <a:buNone/>
            </a:pPr>
            <a:r>
              <a:rPr lang="en-IN" sz="1600" dirty="0"/>
              <a:t>		{</a:t>
            </a:r>
            <a:r>
              <a:rPr lang="en-IN" sz="2400" dirty="0">
                <a:solidFill>
                  <a:srgbClr val="FF0000"/>
                </a:solidFill>
              </a:rPr>
              <a:t> _</a:t>
            </a:r>
            <a:r>
              <a:rPr lang="en-IN" sz="1600" dirty="0" err="1"/>
              <a:t>firstname</a:t>
            </a:r>
            <a:r>
              <a:rPr lang="en-IN" sz="1600" dirty="0"/>
              <a:t>;</a:t>
            </a:r>
          </a:p>
          <a:p>
            <a:pPr marL="0" indent="0">
              <a:lnSpc>
                <a:spcPct val="100000"/>
              </a:lnSpc>
              <a:spcBef>
                <a:spcPts val="0"/>
              </a:spcBef>
              <a:buNone/>
            </a:pPr>
            <a:r>
              <a:rPr lang="en-IN" sz="2400" dirty="0">
                <a:solidFill>
                  <a:srgbClr val="FF0000"/>
                </a:solidFill>
              </a:rPr>
              <a:t>_</a:t>
            </a:r>
            <a:r>
              <a:rPr lang="en-IN" sz="1600" dirty="0" err="1"/>
              <a:t>lastname</a:t>
            </a:r>
            <a:r>
              <a:rPr lang="en-IN" sz="1600" dirty="0"/>
              <a:t>;</a:t>
            </a:r>
          </a:p>
          <a:p>
            <a:pPr marL="0" indent="0">
              <a:lnSpc>
                <a:spcPct val="100000"/>
              </a:lnSpc>
              <a:spcBef>
                <a:spcPts val="0"/>
              </a:spcBef>
              <a:buNone/>
            </a:pPr>
            <a:r>
              <a:rPr lang="en-IN" sz="2400" dirty="0">
                <a:solidFill>
                  <a:srgbClr val="FF0000"/>
                </a:solidFill>
              </a:rPr>
              <a:t>_</a:t>
            </a:r>
            <a:r>
              <a:rPr lang="en-IN" sz="1600" dirty="0"/>
              <a:t>balance;</a:t>
            </a:r>
          </a:p>
          <a:p>
            <a:pPr marL="0" indent="0">
              <a:lnSpc>
                <a:spcPct val="100000"/>
              </a:lnSpc>
              <a:spcBef>
                <a:spcPts val="0"/>
              </a:spcBef>
              <a:buNone/>
            </a:pPr>
            <a:r>
              <a:rPr lang="en-IN" sz="1600" dirty="0"/>
              <a:t>   constructor(</a:t>
            </a:r>
            <a:r>
              <a:rPr lang="en-IN" sz="1600" dirty="0" err="1"/>
              <a:t>fname,lname,amt</a:t>
            </a:r>
            <a:r>
              <a:rPr lang="en-IN" sz="1600" dirty="0"/>
              <a:t>)</a:t>
            </a:r>
          </a:p>
          <a:p>
            <a:pPr marL="0" indent="0">
              <a:lnSpc>
                <a:spcPct val="100000"/>
              </a:lnSpc>
              <a:spcBef>
                <a:spcPts val="0"/>
              </a:spcBef>
              <a:buNone/>
            </a:pPr>
            <a:r>
              <a:rPr lang="en-IN" sz="1600" dirty="0"/>
              <a:t> {   </a:t>
            </a:r>
            <a:r>
              <a:rPr lang="en-IN" sz="1600" b="1" dirty="0" err="1">
                <a:solidFill>
                  <a:srgbClr val="FF0000"/>
                </a:solidFill>
              </a:rPr>
              <a:t>this</a:t>
            </a:r>
            <a:r>
              <a:rPr lang="en-IN" sz="1600" dirty="0" err="1"/>
              <a:t>.firstname</a:t>
            </a:r>
            <a:r>
              <a:rPr lang="en-IN" sz="1600" dirty="0"/>
              <a:t>=</a:t>
            </a:r>
            <a:r>
              <a:rPr lang="en-IN" sz="1600" dirty="0" err="1"/>
              <a:t>fname</a:t>
            </a:r>
            <a:r>
              <a:rPr lang="en-IN" sz="1600" dirty="0"/>
              <a:t>;</a:t>
            </a:r>
          </a:p>
          <a:p>
            <a:pPr marL="0" indent="0">
              <a:lnSpc>
                <a:spcPct val="100000"/>
              </a:lnSpc>
              <a:spcBef>
                <a:spcPts val="0"/>
              </a:spcBef>
              <a:buNone/>
            </a:pPr>
            <a:r>
              <a:rPr lang="en-IN" sz="1600" b="1" dirty="0">
                <a:solidFill>
                  <a:srgbClr val="FF0000"/>
                </a:solidFill>
              </a:rPr>
              <a:t>     </a:t>
            </a:r>
            <a:r>
              <a:rPr lang="en-IN" sz="1600" b="1" dirty="0" err="1">
                <a:solidFill>
                  <a:srgbClr val="FF0000"/>
                </a:solidFill>
              </a:rPr>
              <a:t>this</a:t>
            </a:r>
            <a:r>
              <a:rPr lang="en-IN" sz="1600" dirty="0" err="1"/>
              <a:t>.lastname</a:t>
            </a:r>
            <a:r>
              <a:rPr lang="en-IN" sz="1600" dirty="0"/>
              <a:t>=</a:t>
            </a:r>
            <a:r>
              <a:rPr lang="en-IN" sz="1600" dirty="0" err="1"/>
              <a:t>lname</a:t>
            </a:r>
            <a:r>
              <a:rPr lang="en-IN" sz="1600" dirty="0"/>
              <a:t>;</a:t>
            </a:r>
          </a:p>
          <a:p>
            <a:pPr marL="0" indent="0">
              <a:lnSpc>
                <a:spcPct val="100000"/>
              </a:lnSpc>
              <a:spcBef>
                <a:spcPts val="0"/>
              </a:spcBef>
              <a:buNone/>
            </a:pPr>
            <a:r>
              <a:rPr lang="en-IN" sz="1600" dirty="0"/>
              <a:t>     </a:t>
            </a:r>
            <a:r>
              <a:rPr lang="en-IN" sz="1600" b="1" dirty="0" err="1">
                <a:solidFill>
                  <a:srgbClr val="FF0000"/>
                </a:solidFill>
              </a:rPr>
              <a:t>this.</a:t>
            </a:r>
            <a:r>
              <a:rPr lang="en-IN" sz="1600" dirty="0" err="1"/>
              <a:t>balance</a:t>
            </a:r>
            <a:r>
              <a:rPr lang="en-IN" sz="1600" dirty="0"/>
              <a:t>=amt;</a:t>
            </a:r>
          </a:p>
          <a:p>
            <a:pPr marL="0" indent="0">
              <a:lnSpc>
                <a:spcPct val="100000"/>
              </a:lnSpc>
              <a:spcBef>
                <a:spcPts val="0"/>
              </a:spcBef>
              <a:buNone/>
            </a:pPr>
            <a:r>
              <a:rPr lang="en-IN" sz="1600" dirty="0"/>
              <a:t>  }</a:t>
            </a:r>
          </a:p>
          <a:p>
            <a:pPr marL="0" indent="0">
              <a:lnSpc>
                <a:spcPct val="100000"/>
              </a:lnSpc>
              <a:spcBef>
                <a:spcPts val="0"/>
              </a:spcBef>
              <a:buNone/>
            </a:pPr>
            <a:r>
              <a:rPr lang="en-IN" sz="1600" dirty="0"/>
              <a:t>  set </a:t>
            </a:r>
            <a:r>
              <a:rPr lang="en-IN" sz="1600" dirty="0" err="1"/>
              <a:t>firstname</a:t>
            </a:r>
            <a:r>
              <a:rPr lang="en-IN" sz="1600" dirty="0"/>
              <a:t>(value) {this.</a:t>
            </a:r>
            <a:r>
              <a:rPr lang="en-IN" sz="2400" dirty="0">
                <a:solidFill>
                  <a:srgbClr val="FF0000"/>
                </a:solidFill>
              </a:rPr>
              <a:t>_</a:t>
            </a:r>
            <a:r>
              <a:rPr lang="en-IN" sz="1600" dirty="0" err="1"/>
              <a:t>firstname</a:t>
            </a:r>
            <a:r>
              <a:rPr lang="en-IN" sz="1600" dirty="0"/>
              <a:t>=value;}</a:t>
            </a:r>
          </a:p>
          <a:p>
            <a:pPr marL="0" indent="0">
              <a:lnSpc>
                <a:spcPct val="100000"/>
              </a:lnSpc>
              <a:spcBef>
                <a:spcPts val="0"/>
              </a:spcBef>
              <a:buNone/>
            </a:pPr>
            <a:r>
              <a:rPr lang="en-IN" sz="1600" dirty="0"/>
              <a:t>get </a:t>
            </a:r>
            <a:r>
              <a:rPr lang="en-IN" sz="1600" dirty="0" err="1"/>
              <a:t>firstname</a:t>
            </a:r>
            <a:r>
              <a:rPr lang="en-IN" sz="1600" dirty="0"/>
              <a:t>(){ return this.</a:t>
            </a:r>
            <a:r>
              <a:rPr lang="en-IN" sz="2400" dirty="0">
                <a:solidFill>
                  <a:srgbClr val="FF0000"/>
                </a:solidFill>
              </a:rPr>
              <a:t>_</a:t>
            </a:r>
            <a:r>
              <a:rPr lang="en-IN" sz="1600" dirty="0" err="1"/>
              <a:t>firstname</a:t>
            </a:r>
            <a:r>
              <a:rPr lang="en-IN" sz="1600" dirty="0"/>
              <a:t>;}</a:t>
            </a:r>
          </a:p>
          <a:p>
            <a:pPr marL="0" indent="0">
              <a:lnSpc>
                <a:spcPct val="100000"/>
              </a:lnSpc>
              <a:spcBef>
                <a:spcPts val="0"/>
              </a:spcBef>
              <a:buNone/>
            </a:pPr>
            <a:r>
              <a:rPr lang="en-IN" sz="1600" dirty="0"/>
              <a:t> set balance(value) {</a:t>
            </a:r>
            <a:r>
              <a:rPr lang="en-IN" sz="1600" dirty="0" err="1"/>
              <a:t>this.</a:t>
            </a:r>
            <a:r>
              <a:rPr lang="en-IN" sz="2400" dirty="0" err="1">
                <a:solidFill>
                  <a:srgbClr val="FF0000"/>
                </a:solidFill>
              </a:rPr>
              <a:t>_</a:t>
            </a:r>
            <a:r>
              <a:rPr lang="en-IN" sz="1600" dirty="0" err="1"/>
              <a:t>balance</a:t>
            </a:r>
            <a:r>
              <a:rPr lang="en-IN" sz="1600" dirty="0"/>
              <a:t>=value;}</a:t>
            </a:r>
          </a:p>
          <a:p>
            <a:pPr marL="0" indent="0">
              <a:lnSpc>
                <a:spcPct val="100000"/>
              </a:lnSpc>
              <a:spcBef>
                <a:spcPts val="0"/>
              </a:spcBef>
              <a:buNone/>
            </a:pPr>
            <a:r>
              <a:rPr lang="en-IN" sz="1600" dirty="0"/>
              <a:t>get balance(){ return </a:t>
            </a:r>
            <a:r>
              <a:rPr lang="en-IN" sz="1600" dirty="0" err="1"/>
              <a:t>this.</a:t>
            </a:r>
            <a:r>
              <a:rPr lang="en-IN" sz="2400" dirty="0" err="1">
                <a:solidFill>
                  <a:srgbClr val="FF0000"/>
                </a:solidFill>
              </a:rPr>
              <a:t>_</a:t>
            </a:r>
            <a:r>
              <a:rPr lang="en-IN" sz="1600" dirty="0" err="1"/>
              <a:t>balance</a:t>
            </a:r>
            <a:r>
              <a:rPr lang="en-IN" sz="1600" dirty="0"/>
              <a:t>;}</a:t>
            </a:r>
          </a:p>
          <a:p>
            <a:pPr marL="0" indent="0">
              <a:lnSpc>
                <a:spcPct val="100000"/>
              </a:lnSpc>
              <a:spcBef>
                <a:spcPts val="0"/>
              </a:spcBef>
              <a:buNone/>
            </a:pPr>
            <a:r>
              <a:rPr lang="en-IN" sz="1600" dirty="0"/>
              <a:t> set </a:t>
            </a:r>
            <a:r>
              <a:rPr lang="en-IN" sz="1600" dirty="0" err="1"/>
              <a:t>lastname</a:t>
            </a:r>
            <a:r>
              <a:rPr lang="en-IN" sz="1600" dirty="0"/>
              <a:t>(value) {this.</a:t>
            </a:r>
            <a:r>
              <a:rPr lang="en-IN" sz="2400" dirty="0">
                <a:solidFill>
                  <a:srgbClr val="FF0000"/>
                </a:solidFill>
              </a:rPr>
              <a:t>_</a:t>
            </a:r>
            <a:r>
              <a:rPr lang="en-IN" sz="1600" dirty="0" err="1"/>
              <a:t>lastname</a:t>
            </a:r>
            <a:r>
              <a:rPr lang="en-IN" sz="1600" dirty="0"/>
              <a:t>=value;}</a:t>
            </a:r>
          </a:p>
          <a:p>
            <a:pPr marL="0" indent="0">
              <a:lnSpc>
                <a:spcPct val="100000"/>
              </a:lnSpc>
              <a:spcBef>
                <a:spcPts val="0"/>
              </a:spcBef>
              <a:buNone/>
            </a:pPr>
            <a:r>
              <a:rPr lang="en-IN" sz="1600" dirty="0"/>
              <a:t>get </a:t>
            </a:r>
            <a:r>
              <a:rPr lang="en-IN" sz="1600" dirty="0" err="1"/>
              <a:t>lastname</a:t>
            </a:r>
            <a:r>
              <a:rPr lang="en-IN" sz="1600" dirty="0"/>
              <a:t>(){ return this.</a:t>
            </a:r>
            <a:r>
              <a:rPr lang="en-IN" sz="2400" dirty="0">
                <a:solidFill>
                  <a:srgbClr val="FF0000"/>
                </a:solidFill>
              </a:rPr>
              <a:t>_</a:t>
            </a:r>
            <a:r>
              <a:rPr lang="en-IN" sz="1600" dirty="0" err="1"/>
              <a:t>lastname</a:t>
            </a:r>
            <a:r>
              <a:rPr lang="en-IN" sz="1600" dirty="0"/>
              <a:t>;}</a:t>
            </a:r>
          </a:p>
          <a:p>
            <a:pPr marL="0" indent="0">
              <a:lnSpc>
                <a:spcPct val="100000"/>
              </a:lnSpc>
              <a:spcBef>
                <a:spcPts val="0"/>
              </a:spcBef>
              <a:buNone/>
            </a:pPr>
            <a:endParaRPr lang="en-IN" sz="1600" dirty="0"/>
          </a:p>
          <a:p>
            <a:pPr marL="0" indent="0">
              <a:lnSpc>
                <a:spcPct val="100000"/>
              </a:lnSpc>
              <a:spcBef>
                <a:spcPts val="0"/>
              </a:spcBef>
              <a:buNone/>
            </a:pPr>
            <a:r>
              <a:rPr lang="en-IN" sz="1600" dirty="0"/>
              <a:t>  deposit(amt)</a:t>
            </a:r>
          </a:p>
          <a:p>
            <a:pPr marL="0" indent="0">
              <a:lnSpc>
                <a:spcPct val="100000"/>
              </a:lnSpc>
              <a:spcBef>
                <a:spcPts val="0"/>
              </a:spcBef>
              <a:buNone/>
            </a:pPr>
            <a:r>
              <a:rPr lang="en-IN" sz="1600" dirty="0"/>
              <a:t> {     this. balance +=amt;   }</a:t>
            </a:r>
          </a:p>
          <a:p>
            <a:pPr marL="0" indent="0">
              <a:lnSpc>
                <a:spcPct val="100000"/>
              </a:lnSpc>
              <a:spcBef>
                <a:spcPts val="0"/>
              </a:spcBef>
              <a:buNone/>
            </a:pPr>
            <a:endParaRPr lang="en-IN" sz="1600" dirty="0"/>
          </a:p>
          <a:p>
            <a:pPr marL="0" indent="0">
              <a:lnSpc>
                <a:spcPct val="100000"/>
              </a:lnSpc>
              <a:spcBef>
                <a:spcPts val="0"/>
              </a:spcBef>
              <a:buNone/>
            </a:pPr>
            <a:r>
              <a:rPr lang="en-IN" sz="1600" dirty="0" err="1"/>
              <a:t>toString</a:t>
            </a:r>
            <a:r>
              <a:rPr lang="en-IN" sz="1600" dirty="0"/>
              <a:t>() {  return  </a:t>
            </a:r>
            <a:r>
              <a:rPr lang="en-IN" sz="1600" dirty="0" err="1"/>
              <a:t>this.firstname</a:t>
            </a:r>
            <a:r>
              <a:rPr lang="en-IN" sz="1600" dirty="0"/>
              <a:t>+ "  " + </a:t>
            </a:r>
            <a:r>
              <a:rPr lang="en-IN" sz="1600" dirty="0" err="1"/>
              <a:t>this.lastname</a:t>
            </a:r>
            <a:r>
              <a:rPr lang="en-IN" sz="1600" dirty="0"/>
              <a:t>+" "+</a:t>
            </a:r>
            <a:r>
              <a:rPr lang="en-IN" sz="1600" dirty="0" err="1"/>
              <a:t>this.balance</a:t>
            </a:r>
            <a:r>
              <a:rPr lang="en-IN" sz="1600" dirty="0"/>
              <a:t>}</a:t>
            </a:r>
          </a:p>
          <a:p>
            <a:pPr marL="0" indent="0">
              <a:lnSpc>
                <a:spcPct val="100000"/>
              </a:lnSpc>
              <a:spcBef>
                <a:spcPts val="0"/>
              </a:spcBef>
              <a:buNone/>
            </a:pPr>
            <a:r>
              <a:rPr lang="en-IN" sz="1600" dirty="0"/>
              <a:t>}</a:t>
            </a:r>
            <a:endParaRPr lang="en-IN" sz="1200" dirty="0"/>
          </a:p>
        </p:txBody>
      </p:sp>
      <p:sp>
        <p:nvSpPr>
          <p:cNvPr id="4" name="TextBox 3">
            <a:extLst>
              <a:ext uri="{FF2B5EF4-FFF2-40B4-BE49-F238E27FC236}">
                <a16:creationId xmlns:a16="http://schemas.microsoft.com/office/drawing/2014/main" id="{C5094CD3-91F9-4724-AC05-E190EF8167BC}"/>
              </a:ext>
            </a:extLst>
          </p:cNvPr>
          <p:cNvSpPr txBox="1"/>
          <p:nvPr/>
        </p:nvSpPr>
        <p:spPr>
          <a:xfrm>
            <a:off x="4116644" y="272971"/>
            <a:ext cx="4434348" cy="4616648"/>
          </a:xfrm>
          <a:prstGeom prst="rect">
            <a:avLst/>
          </a:prstGeom>
          <a:noFill/>
        </p:spPr>
        <p:txBody>
          <a:bodyPr wrap="square" rtlCol="0">
            <a:spAutoFit/>
          </a:bodyPr>
          <a:lstStyle/>
          <a:p>
            <a:endParaRPr lang="en-IN" dirty="0"/>
          </a:p>
          <a:p>
            <a:r>
              <a:rPr lang="en-IN" dirty="0"/>
              <a:t>class </a:t>
            </a:r>
            <a:r>
              <a:rPr lang="en-IN" dirty="0" err="1"/>
              <a:t>Savingaccount</a:t>
            </a:r>
            <a:r>
              <a:rPr lang="en-IN" dirty="0"/>
              <a:t> </a:t>
            </a:r>
            <a:r>
              <a:rPr lang="en-IN" b="1" dirty="0">
                <a:solidFill>
                  <a:srgbClr val="0070C0"/>
                </a:solidFill>
              </a:rPr>
              <a:t>extends</a:t>
            </a:r>
            <a:r>
              <a:rPr lang="en-IN" dirty="0"/>
              <a:t> Account</a:t>
            </a:r>
          </a:p>
          <a:p>
            <a:r>
              <a:rPr lang="en-IN" dirty="0"/>
              <a:t>{type;</a:t>
            </a:r>
          </a:p>
          <a:p>
            <a:r>
              <a:rPr lang="en-IN" dirty="0"/>
              <a:t>   constructor(</a:t>
            </a:r>
            <a:r>
              <a:rPr lang="en-IN" dirty="0" err="1"/>
              <a:t>acctype,fname,lname,amt</a:t>
            </a:r>
            <a:r>
              <a:rPr lang="en-IN" dirty="0"/>
              <a:t>)</a:t>
            </a:r>
          </a:p>
          <a:p>
            <a:r>
              <a:rPr lang="en-IN" dirty="0"/>
              <a:t>  { </a:t>
            </a:r>
            <a:r>
              <a:rPr lang="en-IN" b="1" dirty="0">
                <a:solidFill>
                  <a:schemeClr val="accent1"/>
                </a:solidFill>
              </a:rPr>
              <a:t>super</a:t>
            </a:r>
            <a:r>
              <a:rPr lang="en-IN" dirty="0"/>
              <a:t>(</a:t>
            </a:r>
            <a:r>
              <a:rPr lang="en-IN" dirty="0" err="1"/>
              <a:t>fname,lname,amt</a:t>
            </a:r>
            <a:r>
              <a:rPr lang="en-IN" dirty="0"/>
              <a:t>)</a:t>
            </a:r>
          </a:p>
          <a:p>
            <a:r>
              <a:rPr lang="en-IN" dirty="0"/>
              <a:t>    </a:t>
            </a:r>
            <a:r>
              <a:rPr lang="en-IN" dirty="0" err="1"/>
              <a:t>this.type</a:t>
            </a:r>
            <a:r>
              <a:rPr lang="en-IN" dirty="0"/>
              <a:t>=</a:t>
            </a:r>
            <a:r>
              <a:rPr lang="en-IN" dirty="0" err="1"/>
              <a:t>acctype</a:t>
            </a:r>
            <a:r>
              <a:rPr lang="en-IN" dirty="0"/>
              <a:t>;</a:t>
            </a:r>
          </a:p>
          <a:p>
            <a:r>
              <a:rPr lang="en-IN" dirty="0"/>
              <a:t>  </a:t>
            </a:r>
          </a:p>
          <a:p>
            <a:r>
              <a:rPr lang="en-IN" dirty="0"/>
              <a:t>    }</a:t>
            </a:r>
          </a:p>
          <a:p>
            <a:r>
              <a:rPr lang="en-IN" dirty="0"/>
              <a:t>withdraw(amt)</a:t>
            </a:r>
          </a:p>
          <a:p>
            <a:r>
              <a:rPr lang="en-IN" dirty="0"/>
              <a:t>{     </a:t>
            </a:r>
            <a:r>
              <a:rPr lang="en-IN" dirty="0" err="1">
                <a:solidFill>
                  <a:schemeClr val="accent1"/>
                </a:solidFill>
              </a:rPr>
              <a:t>const</a:t>
            </a:r>
            <a:r>
              <a:rPr lang="en-IN" dirty="0"/>
              <a:t> </a:t>
            </a:r>
            <a:r>
              <a:rPr lang="en-IN" dirty="0" err="1"/>
              <a:t>minbal</a:t>
            </a:r>
            <a:r>
              <a:rPr lang="en-IN" dirty="0"/>
              <a:t>=1000;</a:t>
            </a:r>
          </a:p>
          <a:p>
            <a:r>
              <a:rPr lang="en-IN" dirty="0"/>
              <a:t>      if(amt&gt;(</a:t>
            </a:r>
            <a:r>
              <a:rPr lang="en-IN" dirty="0" err="1"/>
              <a:t>this</a:t>
            </a:r>
            <a:r>
              <a:rPr lang="en-IN" sz="2400" dirty="0" err="1">
                <a:solidFill>
                  <a:srgbClr val="FF0000"/>
                </a:solidFill>
              </a:rPr>
              <a:t>.</a:t>
            </a:r>
            <a:r>
              <a:rPr lang="en-IN" dirty="0" err="1"/>
              <a:t>balance-minbal</a:t>
            </a:r>
            <a:r>
              <a:rPr lang="en-IN" dirty="0"/>
              <a:t>))</a:t>
            </a:r>
          </a:p>
          <a:p>
            <a:r>
              <a:rPr lang="en-IN" dirty="0"/>
              <a:t>     throw  new </a:t>
            </a:r>
            <a:r>
              <a:rPr lang="en-IN" dirty="0" err="1"/>
              <a:t>TypeError</a:t>
            </a:r>
            <a:r>
              <a:rPr lang="en-IN" dirty="0"/>
              <a:t>("err");</a:t>
            </a:r>
          </a:p>
          <a:p>
            <a:r>
              <a:rPr lang="en-IN" dirty="0" err="1"/>
              <a:t>this.balance</a:t>
            </a:r>
            <a:r>
              <a:rPr lang="en-IN" dirty="0"/>
              <a:t>-=amt;</a:t>
            </a:r>
          </a:p>
          <a:p>
            <a:endParaRPr lang="en-IN" dirty="0"/>
          </a:p>
          <a:p>
            <a:r>
              <a:rPr lang="en-IN" dirty="0"/>
              <a:t>    }</a:t>
            </a:r>
          </a:p>
          <a:p>
            <a:r>
              <a:rPr lang="en-IN" dirty="0"/>
              <a:t>}</a:t>
            </a:r>
          </a:p>
        </p:txBody>
      </p:sp>
      <p:sp>
        <p:nvSpPr>
          <p:cNvPr id="5" name="Rectangle 4">
            <a:extLst>
              <a:ext uri="{FF2B5EF4-FFF2-40B4-BE49-F238E27FC236}">
                <a16:creationId xmlns:a16="http://schemas.microsoft.com/office/drawing/2014/main" id="{670F5A3C-287E-4787-A1B8-730550EC4F49}"/>
              </a:ext>
            </a:extLst>
          </p:cNvPr>
          <p:cNvSpPr/>
          <p:nvPr/>
        </p:nvSpPr>
        <p:spPr>
          <a:xfrm>
            <a:off x="983226" y="88490"/>
            <a:ext cx="845573" cy="381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Parent</a:t>
            </a:r>
          </a:p>
        </p:txBody>
      </p:sp>
      <p:sp>
        <p:nvSpPr>
          <p:cNvPr id="7" name="Rectangle 6">
            <a:extLst>
              <a:ext uri="{FF2B5EF4-FFF2-40B4-BE49-F238E27FC236}">
                <a16:creationId xmlns:a16="http://schemas.microsoft.com/office/drawing/2014/main" id="{2048FA54-DE3E-45FE-B89A-44D06D0A16A1}"/>
              </a:ext>
            </a:extLst>
          </p:cNvPr>
          <p:cNvSpPr/>
          <p:nvPr/>
        </p:nvSpPr>
        <p:spPr>
          <a:xfrm>
            <a:off x="5759860" y="88490"/>
            <a:ext cx="845573" cy="381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Child</a:t>
            </a:r>
          </a:p>
        </p:txBody>
      </p:sp>
      <p:sp>
        <p:nvSpPr>
          <p:cNvPr id="8" name="TextBox 7">
            <a:extLst>
              <a:ext uri="{FF2B5EF4-FFF2-40B4-BE49-F238E27FC236}">
                <a16:creationId xmlns:a16="http://schemas.microsoft.com/office/drawing/2014/main" id="{BB30F2D1-0679-464B-8C97-0B9FF43F27E6}"/>
              </a:ext>
            </a:extLst>
          </p:cNvPr>
          <p:cNvSpPr txBox="1"/>
          <p:nvPr/>
        </p:nvSpPr>
        <p:spPr>
          <a:xfrm>
            <a:off x="4232786" y="4616269"/>
            <a:ext cx="5309419" cy="2585323"/>
          </a:xfrm>
          <a:prstGeom prst="rect">
            <a:avLst/>
          </a:prstGeom>
          <a:noFill/>
        </p:spPr>
        <p:txBody>
          <a:bodyPr wrap="square" rtlCol="0">
            <a:spAutoFit/>
          </a:bodyPr>
          <a:lstStyle/>
          <a:p>
            <a:r>
              <a:rPr lang="en-IN" dirty="0"/>
              <a:t>var </a:t>
            </a:r>
            <a:r>
              <a:rPr lang="en-IN" dirty="0" err="1"/>
              <a:t>obj</a:t>
            </a:r>
            <a:r>
              <a:rPr lang="en-IN" dirty="0"/>
              <a:t>=new  </a:t>
            </a:r>
            <a:r>
              <a:rPr lang="en-IN" dirty="0" err="1"/>
              <a:t>Savingaccount</a:t>
            </a:r>
            <a:r>
              <a:rPr lang="en-IN" dirty="0"/>
              <a:t> ("sav","Raj","Mathur",2000)</a:t>
            </a:r>
          </a:p>
          <a:p>
            <a:r>
              <a:rPr lang="en-IN" dirty="0" err="1"/>
              <a:t>obj.deposit</a:t>
            </a:r>
            <a:r>
              <a:rPr lang="en-IN" dirty="0"/>
              <a:t>(2000);</a:t>
            </a:r>
          </a:p>
          <a:p>
            <a:r>
              <a:rPr lang="en-IN" dirty="0" err="1"/>
              <a:t>document.write</a:t>
            </a:r>
            <a:r>
              <a:rPr lang="en-IN" dirty="0"/>
              <a:t>(</a:t>
            </a:r>
            <a:r>
              <a:rPr lang="en-IN" dirty="0" err="1"/>
              <a:t>obj</a:t>
            </a:r>
            <a:r>
              <a:rPr lang="en-IN" dirty="0"/>
              <a:t>);</a:t>
            </a:r>
          </a:p>
          <a:p>
            <a:r>
              <a:rPr lang="en-IN" dirty="0" err="1"/>
              <a:t>obj.withdraw</a:t>
            </a:r>
            <a:r>
              <a:rPr lang="en-IN" dirty="0"/>
              <a:t>(500);</a:t>
            </a:r>
          </a:p>
          <a:p>
            <a:r>
              <a:rPr lang="en-IN" dirty="0" err="1"/>
              <a:t>document.write</a:t>
            </a:r>
            <a:r>
              <a:rPr lang="en-IN" dirty="0"/>
              <a:t>(</a:t>
            </a:r>
            <a:r>
              <a:rPr lang="en-IN" dirty="0" err="1"/>
              <a:t>obj</a:t>
            </a:r>
            <a:r>
              <a:rPr lang="en-IN" dirty="0"/>
              <a:t>);</a:t>
            </a:r>
          </a:p>
          <a:p>
            <a:r>
              <a:rPr lang="en-IN" dirty="0" err="1"/>
              <a:t>document.write</a:t>
            </a:r>
            <a:r>
              <a:rPr lang="en-IN" dirty="0"/>
              <a:t>(</a:t>
            </a:r>
            <a:r>
              <a:rPr lang="en-IN" dirty="0" err="1"/>
              <a:t>obj.balance</a:t>
            </a:r>
            <a:r>
              <a:rPr lang="en-IN" dirty="0"/>
              <a:t>);</a:t>
            </a:r>
          </a:p>
          <a:p>
            <a:r>
              <a:rPr lang="en-IN" dirty="0" err="1"/>
              <a:t>Obj.balance</a:t>
            </a:r>
            <a:r>
              <a:rPr lang="en-IN" dirty="0"/>
              <a:t>=50000;</a:t>
            </a:r>
          </a:p>
          <a:p>
            <a:endParaRPr lang="en-IN" dirty="0"/>
          </a:p>
          <a:p>
            <a:endParaRPr lang="en-IN" dirty="0"/>
          </a:p>
        </p:txBody>
      </p:sp>
      <p:sp>
        <p:nvSpPr>
          <p:cNvPr id="9" name="Rectangle 8">
            <a:extLst>
              <a:ext uri="{FF2B5EF4-FFF2-40B4-BE49-F238E27FC236}">
                <a16:creationId xmlns:a16="http://schemas.microsoft.com/office/drawing/2014/main" id="{BE42B26E-DDB4-4AFD-B276-C34587850017}"/>
              </a:ext>
            </a:extLst>
          </p:cNvPr>
          <p:cNvSpPr/>
          <p:nvPr/>
        </p:nvSpPr>
        <p:spPr>
          <a:xfrm>
            <a:off x="7206737" y="5710634"/>
            <a:ext cx="698091"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obj1</a:t>
            </a:r>
          </a:p>
        </p:txBody>
      </p:sp>
      <p:sp>
        <p:nvSpPr>
          <p:cNvPr id="10" name="TextBox 9">
            <a:extLst>
              <a:ext uri="{FF2B5EF4-FFF2-40B4-BE49-F238E27FC236}">
                <a16:creationId xmlns:a16="http://schemas.microsoft.com/office/drawing/2014/main" id="{0B196635-87F8-4556-A85A-6981B7258C25}"/>
              </a:ext>
            </a:extLst>
          </p:cNvPr>
          <p:cNvSpPr txBox="1"/>
          <p:nvPr/>
        </p:nvSpPr>
        <p:spPr>
          <a:xfrm>
            <a:off x="8081732" y="5179078"/>
            <a:ext cx="2684591" cy="166199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a:t>
            </a:r>
            <a:r>
              <a:rPr lang="en-IN" sz="1800" dirty="0"/>
              <a:t> .</a:t>
            </a:r>
            <a:r>
              <a:rPr lang="en-IN" sz="2800" dirty="0">
                <a:solidFill>
                  <a:srgbClr val="FF0000"/>
                </a:solidFill>
              </a:rPr>
              <a:t>_</a:t>
            </a:r>
            <a:r>
              <a:rPr lang="en-IN" sz="1800" dirty="0" err="1"/>
              <a:t>firstname</a:t>
            </a:r>
            <a:r>
              <a:rPr lang="en-IN" sz="1800" dirty="0"/>
              <a:t> </a:t>
            </a:r>
            <a:r>
              <a:rPr lang="en-IN" dirty="0"/>
              <a:t>=raj</a:t>
            </a:r>
          </a:p>
          <a:p>
            <a:r>
              <a:rPr lang="en-IN" dirty="0"/>
              <a:t>this.</a:t>
            </a:r>
            <a:r>
              <a:rPr lang="en-IN" sz="1800" dirty="0"/>
              <a:t> .</a:t>
            </a:r>
            <a:r>
              <a:rPr lang="en-IN" sz="2800" dirty="0">
                <a:solidFill>
                  <a:srgbClr val="FF0000"/>
                </a:solidFill>
              </a:rPr>
              <a:t>_</a:t>
            </a:r>
            <a:r>
              <a:rPr lang="en-IN" sz="1800" dirty="0" err="1"/>
              <a:t>lastname</a:t>
            </a:r>
            <a:r>
              <a:rPr lang="en-IN" sz="1800" dirty="0"/>
              <a:t> </a:t>
            </a:r>
            <a:r>
              <a:rPr lang="en-IN" dirty="0"/>
              <a:t>-Mathur</a:t>
            </a:r>
          </a:p>
          <a:p>
            <a:r>
              <a:rPr lang="en-IN" dirty="0"/>
              <a:t>this.</a:t>
            </a:r>
            <a:r>
              <a:rPr lang="en-IN" sz="1800" dirty="0"/>
              <a:t> .</a:t>
            </a:r>
            <a:r>
              <a:rPr lang="en-IN" sz="2800" dirty="0">
                <a:solidFill>
                  <a:srgbClr val="FF0000"/>
                </a:solidFill>
              </a:rPr>
              <a:t>_</a:t>
            </a:r>
            <a:r>
              <a:rPr lang="en-IN" dirty="0">
                <a:solidFill>
                  <a:schemeClr val="tx1"/>
                </a:solidFill>
              </a:rPr>
              <a:t>balance</a:t>
            </a:r>
            <a:r>
              <a:rPr lang="en-IN" sz="1800" dirty="0"/>
              <a:t> </a:t>
            </a:r>
            <a:r>
              <a:rPr lang="en-IN" dirty="0"/>
              <a:t>=20000</a:t>
            </a:r>
          </a:p>
          <a:p>
            <a:r>
              <a:rPr lang="en-IN" dirty="0" err="1"/>
              <a:t>this.Type</a:t>
            </a:r>
            <a:r>
              <a:rPr lang="en-IN" dirty="0"/>
              <a:t>=sav</a:t>
            </a:r>
          </a:p>
        </p:txBody>
      </p:sp>
      <p:sp>
        <p:nvSpPr>
          <p:cNvPr id="11" name="Rectangle 10">
            <a:extLst>
              <a:ext uri="{FF2B5EF4-FFF2-40B4-BE49-F238E27FC236}">
                <a16:creationId xmlns:a16="http://schemas.microsoft.com/office/drawing/2014/main" id="{B0471E4E-5606-47F2-9A3B-D432FF10F514}"/>
              </a:ext>
            </a:extLst>
          </p:cNvPr>
          <p:cNvSpPr/>
          <p:nvPr/>
        </p:nvSpPr>
        <p:spPr>
          <a:xfrm>
            <a:off x="8629958" y="384549"/>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
        <p:nvSpPr>
          <p:cNvPr id="12" name="Rectangle 11">
            <a:extLst>
              <a:ext uri="{FF2B5EF4-FFF2-40B4-BE49-F238E27FC236}">
                <a16:creationId xmlns:a16="http://schemas.microsoft.com/office/drawing/2014/main" id="{467EF21B-C820-42B7-B471-99F3AD021234}"/>
              </a:ext>
            </a:extLst>
          </p:cNvPr>
          <p:cNvSpPr/>
          <p:nvPr/>
        </p:nvSpPr>
        <p:spPr>
          <a:xfrm>
            <a:off x="9478298" y="2241501"/>
            <a:ext cx="2526890" cy="5460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dirty="0"/>
              <a:t>deposit(amt){ }</a:t>
            </a:r>
          </a:p>
        </p:txBody>
      </p:sp>
      <p:cxnSp>
        <p:nvCxnSpPr>
          <p:cNvPr id="14" name="Straight Connector 13">
            <a:extLst>
              <a:ext uri="{FF2B5EF4-FFF2-40B4-BE49-F238E27FC236}">
                <a16:creationId xmlns:a16="http://schemas.microsoft.com/office/drawing/2014/main" id="{BFC83089-0EDC-45FC-B70C-7508F90688AC}"/>
              </a:ext>
            </a:extLst>
          </p:cNvPr>
          <p:cNvCxnSpPr>
            <a:cxnSpLocks/>
          </p:cNvCxnSpPr>
          <p:nvPr/>
        </p:nvCxnSpPr>
        <p:spPr>
          <a:xfrm>
            <a:off x="9244471" y="985057"/>
            <a:ext cx="0" cy="53919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Rectangle 15">
            <a:extLst>
              <a:ext uri="{FF2B5EF4-FFF2-40B4-BE49-F238E27FC236}">
                <a16:creationId xmlns:a16="http://schemas.microsoft.com/office/drawing/2014/main" id="{31291C98-9A37-4CA5-AC50-DFA890B6A7CA}"/>
              </a:ext>
            </a:extLst>
          </p:cNvPr>
          <p:cNvSpPr/>
          <p:nvPr/>
        </p:nvSpPr>
        <p:spPr>
          <a:xfrm>
            <a:off x="10072194" y="2858750"/>
            <a:ext cx="1969510" cy="215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toString</a:t>
            </a:r>
            <a:r>
              <a:rPr lang="en-IN" dirty="0"/>
              <a:t>()</a:t>
            </a:r>
          </a:p>
        </p:txBody>
      </p:sp>
      <p:sp>
        <p:nvSpPr>
          <p:cNvPr id="18" name="Rectangle 17">
            <a:extLst>
              <a:ext uri="{FF2B5EF4-FFF2-40B4-BE49-F238E27FC236}">
                <a16:creationId xmlns:a16="http://schemas.microsoft.com/office/drawing/2014/main" id="{A11F7589-84C5-4D39-A2D0-78EDB6C821EB}"/>
              </a:ext>
            </a:extLst>
          </p:cNvPr>
          <p:cNvSpPr/>
          <p:nvPr/>
        </p:nvSpPr>
        <p:spPr>
          <a:xfrm>
            <a:off x="10072194" y="3150068"/>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t>get </a:t>
            </a:r>
            <a:r>
              <a:rPr lang="en-IN" sz="1800" dirty="0" err="1"/>
              <a:t>firstname</a:t>
            </a:r>
            <a:r>
              <a:rPr lang="en-IN" sz="1800" dirty="0"/>
              <a:t>(){</a:t>
            </a:r>
            <a:endParaRPr lang="en-IN" dirty="0"/>
          </a:p>
        </p:txBody>
      </p:sp>
      <p:sp>
        <p:nvSpPr>
          <p:cNvPr id="20" name="Rectangle 19">
            <a:extLst>
              <a:ext uri="{FF2B5EF4-FFF2-40B4-BE49-F238E27FC236}">
                <a16:creationId xmlns:a16="http://schemas.microsoft.com/office/drawing/2014/main" id="{705F19D3-E40A-45E6-A398-A02A2A5A4A06}"/>
              </a:ext>
            </a:extLst>
          </p:cNvPr>
          <p:cNvSpPr/>
          <p:nvPr/>
        </p:nvSpPr>
        <p:spPr>
          <a:xfrm>
            <a:off x="10117777" y="3644015"/>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a:t>
            </a:r>
            <a:r>
              <a:rPr lang="en-IN" sz="1800" dirty="0"/>
              <a:t>et </a:t>
            </a:r>
            <a:r>
              <a:rPr lang="en-IN" sz="1800" dirty="0" err="1"/>
              <a:t>firstname</a:t>
            </a:r>
            <a:r>
              <a:rPr lang="en-IN" sz="1800" dirty="0"/>
              <a:t>(){</a:t>
            </a:r>
            <a:endParaRPr lang="en-IN" dirty="0"/>
          </a:p>
        </p:txBody>
      </p:sp>
      <p:sp>
        <p:nvSpPr>
          <p:cNvPr id="23" name="Rectangle 22">
            <a:extLst>
              <a:ext uri="{FF2B5EF4-FFF2-40B4-BE49-F238E27FC236}">
                <a16:creationId xmlns:a16="http://schemas.microsoft.com/office/drawing/2014/main" id="{FCB6D723-5D9B-4EB7-85B3-CBBF1B9A83D8}"/>
              </a:ext>
            </a:extLst>
          </p:cNvPr>
          <p:cNvSpPr/>
          <p:nvPr/>
        </p:nvSpPr>
        <p:spPr>
          <a:xfrm>
            <a:off x="7674463" y="1463412"/>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Account</a:t>
            </a:r>
          </a:p>
        </p:txBody>
      </p:sp>
      <p:cxnSp>
        <p:nvCxnSpPr>
          <p:cNvPr id="25" name="Straight Connector 24">
            <a:extLst>
              <a:ext uri="{FF2B5EF4-FFF2-40B4-BE49-F238E27FC236}">
                <a16:creationId xmlns:a16="http://schemas.microsoft.com/office/drawing/2014/main" id="{0FBB320A-3CDC-4ADE-9F71-FFF96746951B}"/>
              </a:ext>
            </a:extLst>
          </p:cNvPr>
          <p:cNvCxnSpPr/>
          <p:nvPr/>
        </p:nvCxnSpPr>
        <p:spPr>
          <a:xfrm>
            <a:off x="8986684" y="2124845"/>
            <a:ext cx="186813" cy="2948600"/>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31847B2-B908-4062-8113-352BA8FEAE02}"/>
              </a:ext>
            </a:extLst>
          </p:cNvPr>
          <p:cNvSpPr/>
          <p:nvPr/>
        </p:nvSpPr>
        <p:spPr>
          <a:xfrm>
            <a:off x="10313655" y="5073445"/>
            <a:ext cx="1878345" cy="277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withdraw</a:t>
            </a:r>
          </a:p>
        </p:txBody>
      </p:sp>
      <p:sp>
        <p:nvSpPr>
          <p:cNvPr id="19" name="Rectangle 18">
            <a:extLst>
              <a:ext uri="{FF2B5EF4-FFF2-40B4-BE49-F238E27FC236}">
                <a16:creationId xmlns:a16="http://schemas.microsoft.com/office/drawing/2014/main" id="{4637C2E0-95C2-445D-8465-BF42C1EB9327}"/>
              </a:ext>
            </a:extLst>
          </p:cNvPr>
          <p:cNvSpPr/>
          <p:nvPr/>
        </p:nvSpPr>
        <p:spPr>
          <a:xfrm>
            <a:off x="8003457" y="4616269"/>
            <a:ext cx="1958869" cy="276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Savingaccount</a:t>
            </a:r>
            <a:endParaRPr lang="en-IN" dirty="0"/>
          </a:p>
        </p:txBody>
      </p:sp>
    </p:spTree>
    <p:extLst>
      <p:ext uri="{BB962C8B-B14F-4D97-AF65-F5344CB8AC3E}">
        <p14:creationId xmlns:p14="http://schemas.microsoft.com/office/powerpoint/2010/main" val="2794602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C6DB-4A1B-48AE-84B0-7962FB7DBB48}"/>
              </a:ext>
            </a:extLst>
          </p:cNvPr>
          <p:cNvSpPr>
            <a:spLocks noGrp="1"/>
          </p:cNvSpPr>
          <p:nvPr>
            <p:ph type="title"/>
          </p:nvPr>
        </p:nvSpPr>
        <p:spPr>
          <a:xfrm>
            <a:off x="3694389" y="-10160"/>
            <a:ext cx="10055941" cy="425398"/>
          </a:xfrm>
        </p:spPr>
        <p:txBody>
          <a:bodyPr>
            <a:noAutofit/>
          </a:bodyPr>
          <a:lstStyle/>
          <a:p>
            <a:r>
              <a:rPr lang="en-IN" sz="2400" dirty="0"/>
              <a:t>Complete application</a:t>
            </a:r>
          </a:p>
        </p:txBody>
      </p:sp>
      <p:sp>
        <p:nvSpPr>
          <p:cNvPr id="3" name="Content Placeholder 2">
            <a:extLst>
              <a:ext uri="{FF2B5EF4-FFF2-40B4-BE49-F238E27FC236}">
                <a16:creationId xmlns:a16="http://schemas.microsoft.com/office/drawing/2014/main" id="{E27647B3-33C4-46D8-A63C-BACC166543F3}"/>
              </a:ext>
            </a:extLst>
          </p:cNvPr>
          <p:cNvSpPr>
            <a:spLocks noGrp="1"/>
          </p:cNvSpPr>
          <p:nvPr>
            <p:ph idx="1"/>
          </p:nvPr>
        </p:nvSpPr>
        <p:spPr>
          <a:xfrm>
            <a:off x="243840" y="211377"/>
            <a:ext cx="6238240" cy="6799023"/>
          </a:xfrm>
        </p:spPr>
        <p:txBody>
          <a:bodyPr>
            <a:noAutofit/>
          </a:bodyPr>
          <a:lstStyle/>
          <a:p>
            <a:pPr marL="0" indent="0">
              <a:spcAft>
                <a:spcPts val="600"/>
              </a:spcAft>
              <a:buNone/>
            </a:pPr>
            <a:r>
              <a:rPr lang="en-IN" sz="1200" b="0" dirty="0">
                <a:solidFill>
                  <a:srgbClr val="800000"/>
                </a:solidFill>
                <a:effectLst/>
                <a:latin typeface="Consolas" panose="020B0609020204030204" pitchFamily="49" charset="0"/>
              </a:rPr>
              <a:t>	&lt;script&gt;</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‘use strict’</a:t>
            </a:r>
            <a:endParaRPr lang="en-IN" sz="1200" b="0" dirty="0">
              <a:solidFill>
                <a:srgbClr val="000000"/>
              </a:solidFill>
              <a:effectLst/>
              <a:latin typeface="Consolas" panose="020B0609020204030204" pitchFamily="49" charset="0"/>
            </a:endParaRP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	class</a:t>
            </a:r>
            <a:r>
              <a:rPr lang="en-IN" sz="1200" b="0" dirty="0">
                <a:solidFill>
                  <a:srgbClr val="000000"/>
                </a:solidFill>
                <a:effectLst/>
                <a:latin typeface="Consolas" panose="020B0609020204030204" pitchFamily="49" charset="0"/>
              </a:rPr>
              <a:t> </a:t>
            </a:r>
            <a:r>
              <a:rPr lang="en-IN" sz="1200" b="0" dirty="0">
                <a:solidFill>
                  <a:srgbClr val="267F99"/>
                </a:solidFill>
                <a:effectLst/>
                <a:latin typeface="Consolas" panose="020B0609020204030204" pitchFamily="49" charset="0"/>
              </a:rPr>
              <a:t>Account</a:t>
            </a: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r>
              <a:rPr lang="en-IN" sz="1200" b="0" dirty="0">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1080"/>
                </a:solidFill>
                <a:effectLst/>
                <a:latin typeface="Consolas" panose="020B0609020204030204" pitchFamily="49" charset="0"/>
              </a:rPr>
              <a:t>#balance</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#id;</a:t>
            </a:r>
            <a:endParaRPr lang="en-IN" sz="1200" b="0" dirty="0">
              <a:solidFill>
                <a:srgbClr val="000000"/>
              </a:solidFill>
              <a:effectLst/>
              <a:latin typeface="Consolas" panose="020B0609020204030204" pitchFamily="49" charset="0"/>
            </a:endParaRPr>
          </a:p>
          <a:p>
            <a:pPr marL="0" indent="0">
              <a:lnSpc>
                <a:spcPct val="100000"/>
              </a:lnSpc>
              <a:spcBef>
                <a:spcPts val="0"/>
              </a:spcBef>
              <a:spcAft>
                <a:spcPts val="600"/>
              </a:spcAft>
              <a:buNone/>
            </a:pPr>
            <a:r>
              <a:rPr lang="en-IN" sz="1200" b="0" dirty="0">
                <a:solidFill>
                  <a:schemeClr val="accent2"/>
                </a:solidFill>
                <a:effectLst/>
                <a:latin typeface="Consolas" panose="020B0609020204030204" pitchFamily="49" charset="0"/>
              </a:rPr>
              <a:t>static</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aid</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a:t>
            </a: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constructor</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lname</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 _</a:t>
            </a:r>
            <a:r>
              <a:rPr lang="en-IN" sz="1200" b="0" dirty="0" err="1">
                <a:solidFill>
                  <a:srgbClr val="795E26"/>
                </a:solidFill>
                <a:effectLst/>
                <a:latin typeface="Consolas" panose="020B0609020204030204" pitchFamily="49" charset="0"/>
              </a:rPr>
              <a:t>cbalance</a:t>
            </a:r>
            <a:r>
              <a:rPr lang="en-IN" sz="1200" b="0" dirty="0">
                <a:solidFill>
                  <a:srgbClr val="795E26"/>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a:t>
            </a:r>
            <a:r>
              <a:rPr lang="en-IN" sz="1200" b="0" dirty="0" err="1">
                <a:solidFill>
                  <a:schemeClr val="accent2"/>
                </a:solidFill>
                <a:effectLst/>
                <a:latin typeface="Consolas" panose="020B0609020204030204" pitchFamily="49" charset="0"/>
              </a:rPr>
              <a:t>Account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aid</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_</a:t>
            </a:r>
            <a:r>
              <a:rPr lang="en-IN" sz="1200" b="0" dirty="0" err="1">
                <a:solidFill>
                  <a:srgbClr val="795E26"/>
                </a:solidFill>
                <a:effectLst/>
                <a:latin typeface="Consolas" panose="020B0609020204030204" pitchFamily="49" charset="0"/>
              </a:rPr>
              <a:t>cbalance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#balance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_</a:t>
            </a:r>
            <a:r>
              <a:rPr lang="en-IN" sz="1200" b="0" dirty="0" err="1">
                <a:solidFill>
                  <a:srgbClr val="795E26"/>
                </a:solidFill>
                <a:effectLst/>
                <a:latin typeface="Consolas" panose="020B0609020204030204" pitchFamily="49" charset="0"/>
              </a:rPr>
              <a:t>cbalance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#balance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br>
              <a:rPr lang="en-IN" sz="1200" b="0" dirty="0">
                <a:solidFill>
                  <a:srgbClr val="000000"/>
                </a:solidFill>
                <a:effectLst/>
                <a:latin typeface="Consolas" panose="020B0609020204030204" pitchFamily="49" charset="0"/>
              </a:rPr>
            </a:b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set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value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err="1">
                <a:solidFill>
                  <a:srgbClr val="795E26"/>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FF"/>
                </a:solidFill>
                <a:effectLst/>
                <a:latin typeface="Consolas" panose="020B0609020204030204" pitchFamily="49" charset="0"/>
              </a:rPr>
              <a:t>get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gid</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deposit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 _</a:t>
            </a:r>
            <a:r>
              <a:rPr lang="en-IN" sz="1200" b="0" dirty="0" err="1">
                <a:solidFill>
                  <a:srgbClr val="795E26"/>
                </a:solidFill>
                <a:effectLst/>
                <a:latin typeface="Consolas" panose="020B0609020204030204" pitchFamily="49" charset="0"/>
              </a:rPr>
              <a:t>cbalance</a:t>
            </a:r>
            <a:r>
              <a:rPr lang="en-IN" sz="1200" b="0" dirty="0">
                <a:solidFill>
                  <a:srgbClr val="795E26"/>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amt</a:t>
            </a:r>
            <a:r>
              <a:rPr lang="en-IN" sz="1200" b="0" dirty="0">
                <a:solidFill>
                  <a:srgbClr val="000000"/>
                </a:solidFill>
                <a:effectLst/>
                <a:latin typeface="Consolas" panose="020B0609020204030204" pitchFamily="49" charset="0"/>
              </a:rPr>
              <a:t>;   }</a:t>
            </a:r>
          </a:p>
          <a:p>
            <a:pPr marL="0" indent="0">
              <a:lnSpc>
                <a:spcPct val="100000"/>
              </a:lnSpc>
              <a:spcBef>
                <a:spcPts val="0"/>
              </a:spcBef>
              <a:spcAft>
                <a:spcPts val="600"/>
              </a:spcAft>
              <a:buNone/>
            </a:pPr>
            <a:br>
              <a:rPr lang="en-IN" sz="1200" b="0" dirty="0">
                <a:solidFill>
                  <a:srgbClr val="000000"/>
                </a:solidFill>
                <a:effectLst/>
                <a:latin typeface="Consolas" panose="020B0609020204030204" pitchFamily="49" charset="0"/>
              </a:rPr>
            </a:br>
            <a:r>
              <a:rPr lang="en-IN" sz="1200" b="0" dirty="0" err="1">
                <a:solidFill>
                  <a:srgbClr val="795E26"/>
                </a:solidFill>
                <a:effectLst/>
                <a:latin typeface="Consolas" panose="020B0609020204030204" pitchFamily="49" charset="0"/>
              </a:rPr>
              <a:t>toString</a:t>
            </a:r>
            <a:r>
              <a:rPr lang="en-IN" sz="1200" b="0" dirty="0">
                <a:solidFill>
                  <a:srgbClr val="000000"/>
                </a:solidFill>
                <a:effectLst/>
                <a:latin typeface="Consolas" panose="020B0609020204030204" pitchFamily="49" charset="0"/>
              </a:rPr>
              <a:t>() {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dirty="0" err="1">
                <a:solidFill>
                  <a:srgbClr val="001080"/>
                </a:solidFill>
                <a:latin typeface="Consolas" panose="020B0609020204030204" pitchFamily="49" charset="0"/>
              </a:rPr>
              <a:t>gid</a:t>
            </a:r>
            <a:r>
              <a:rPr lang="en-IN" sz="1200" b="0" dirty="0">
                <a:solidFill>
                  <a:srgbClr val="000000"/>
                </a:solidFill>
                <a:effectLst/>
                <a:latin typeface="Consolas" panose="020B0609020204030204" pitchFamily="49" charset="0"/>
              </a:rPr>
              <a:t> + </a:t>
            </a:r>
            <a:r>
              <a:rPr lang="en-IN" sz="1200" b="0" dirty="0">
                <a:solidFill>
                  <a:srgbClr val="A31515"/>
                </a:solidFill>
                <a:effectLst/>
                <a:latin typeface="Consolas" panose="020B0609020204030204" pitchFamily="49" charset="0"/>
              </a:rPr>
              <a:t>" "</a:t>
            </a:r>
            <a:r>
              <a:rPr lang="en-IN" sz="1200" b="0" dirty="0">
                <a:solidFill>
                  <a:srgbClr val="000000"/>
                </a:solidFill>
                <a:effectLst/>
                <a:latin typeface="Consolas" panose="020B0609020204030204" pitchFamily="49" charset="0"/>
              </a:rPr>
              <a:t>+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firstname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  "</a:t>
            </a:r>
            <a:r>
              <a:rPr lang="en-IN" sz="1200" b="0" dirty="0">
                <a:solidFill>
                  <a:srgbClr val="000000"/>
                </a:solidFill>
                <a:effectLst/>
                <a:latin typeface="Consolas" panose="020B0609020204030204" pitchFamily="49" charset="0"/>
              </a:rPr>
              <a:t> + </a:t>
            </a:r>
            <a:r>
              <a:rPr lang="en-IN" sz="1200" b="0" dirty="0" err="1">
                <a:solidFill>
                  <a:srgbClr val="0000FF"/>
                </a:solidFill>
                <a:effectLst/>
                <a:latin typeface="Consolas" panose="020B0609020204030204" pitchFamily="49" charset="0"/>
              </a:rPr>
              <a:t>this</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lastname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 "</a:t>
            </a:r>
            <a:r>
              <a:rPr lang="en-IN" sz="1200" b="0" dirty="0">
                <a:solidFill>
                  <a:srgbClr val="000000"/>
                </a:solidFill>
                <a:effectLst/>
                <a:latin typeface="Consolas" panose="020B0609020204030204" pitchFamily="49" charset="0"/>
              </a:rPr>
              <a:t>+</a:t>
            </a:r>
            <a:r>
              <a:rPr lang="en-IN" sz="1200" b="0" dirty="0">
                <a:solidFill>
                  <a:srgbClr val="0000FF"/>
                </a:solidFill>
                <a:effectLst/>
                <a:latin typeface="Consolas" panose="020B0609020204030204" pitchFamily="49" charset="0"/>
              </a:rPr>
              <a:t>this</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_</a:t>
            </a:r>
            <a:r>
              <a:rPr lang="en-IN" sz="1200" b="0" dirty="0" err="1">
                <a:solidFill>
                  <a:srgbClr val="001080"/>
                </a:solidFill>
                <a:effectLst/>
                <a:latin typeface="Consolas" panose="020B0609020204030204" pitchFamily="49" charset="0"/>
              </a:rPr>
              <a:t>cbalance</a:t>
            </a:r>
            <a:r>
              <a:rPr lang="en-IN" sz="12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200" b="0" dirty="0">
                <a:solidFill>
                  <a:srgbClr val="000000"/>
                </a:solidFill>
                <a:effectLst/>
                <a:latin typeface="Consolas" panose="020B0609020204030204" pitchFamily="49" charset="0"/>
              </a:rPr>
              <a:t>}</a:t>
            </a:r>
          </a:p>
          <a:p>
            <a:pPr marL="0" indent="0">
              <a:spcAft>
                <a:spcPts val="600"/>
              </a:spcAft>
              <a:buNone/>
            </a:pPr>
            <a:endParaRPr lang="en-IN" sz="1200" dirty="0"/>
          </a:p>
        </p:txBody>
      </p:sp>
      <p:sp>
        <p:nvSpPr>
          <p:cNvPr id="4" name="TextBox 3">
            <a:extLst>
              <a:ext uri="{FF2B5EF4-FFF2-40B4-BE49-F238E27FC236}">
                <a16:creationId xmlns:a16="http://schemas.microsoft.com/office/drawing/2014/main" id="{5204CB4B-CF56-4525-A1F6-428BBDB37EA6}"/>
              </a:ext>
            </a:extLst>
          </p:cNvPr>
          <p:cNvSpPr txBox="1"/>
          <p:nvPr/>
        </p:nvSpPr>
        <p:spPr>
          <a:xfrm>
            <a:off x="6278880" y="-113082"/>
            <a:ext cx="5232400" cy="4801314"/>
          </a:xfrm>
          <a:prstGeom prst="rect">
            <a:avLst/>
          </a:prstGeom>
          <a:noFill/>
        </p:spPr>
        <p:txBody>
          <a:bodyPr wrap="square" rtlCol="0">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extends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Account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acctype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super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lname</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acctype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p>
          <a:p>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withdraw</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70C1"/>
                </a:solidFill>
                <a:effectLst/>
                <a:latin typeface="Consolas" panose="020B0609020204030204" pitchFamily="49" charset="0"/>
              </a:rPr>
              <a:t>minbal</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&gt;(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_</a:t>
            </a:r>
            <a:r>
              <a:rPr lang="en-IN" b="0" dirty="0" err="1">
                <a:solidFill>
                  <a:srgbClr val="001080"/>
                </a:solidFill>
                <a:effectLst/>
                <a:latin typeface="Consolas" panose="020B0609020204030204" pitchFamily="49" charset="0"/>
              </a:rPr>
              <a:t>cbalance</a:t>
            </a:r>
            <a:r>
              <a:rPr lang="en-IN" b="0" dirty="0" err="1">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minbal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TypeError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_</a:t>
            </a:r>
            <a:r>
              <a:rPr lang="en-IN" b="0" dirty="0" err="1">
                <a:solidFill>
                  <a:srgbClr val="001080"/>
                </a:solidFill>
                <a:effectLst/>
                <a:latin typeface="Consolas" panose="020B0609020204030204" pitchFamily="49" charset="0"/>
              </a:rPr>
              <a:t>cbalance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_</a:t>
            </a:r>
            <a:r>
              <a:rPr lang="en-IN" b="0" dirty="0" err="1">
                <a:solidFill>
                  <a:srgbClr val="001080"/>
                </a:solidFill>
                <a:effectLst/>
                <a:latin typeface="Consolas" panose="020B0609020204030204" pitchFamily="49" charset="0"/>
              </a:rPr>
              <a:t>cbalance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amt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endParaRPr lang="en-IN" dirty="0"/>
          </a:p>
        </p:txBody>
      </p:sp>
      <p:sp>
        <p:nvSpPr>
          <p:cNvPr id="5" name="TextBox 4">
            <a:extLst>
              <a:ext uri="{FF2B5EF4-FFF2-40B4-BE49-F238E27FC236}">
                <a16:creationId xmlns:a16="http://schemas.microsoft.com/office/drawing/2014/main" id="{E58DDD17-9BB5-4864-AA9F-E75DF35DE173}"/>
              </a:ext>
            </a:extLst>
          </p:cNvPr>
          <p:cNvSpPr txBox="1"/>
          <p:nvPr/>
        </p:nvSpPr>
        <p:spPr>
          <a:xfrm>
            <a:off x="6471920" y="4579130"/>
            <a:ext cx="5831840" cy="2031325"/>
          </a:xfrm>
          <a:prstGeom prst="rect">
            <a:avLst/>
          </a:prstGeom>
          <a:noFill/>
        </p:spPr>
        <p:txBody>
          <a:bodyPr wrap="square" rtlCol="0">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obj</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"sav"</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"Raj"</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"Mathur"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obj</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deposit</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obj</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obj</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withdraw</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500</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document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obj</a:t>
            </a:r>
            <a:r>
              <a:rPr lang="en-IN" b="0" dirty="0">
                <a:solidFill>
                  <a:srgbClr val="000000"/>
                </a:solidFill>
                <a:effectLst/>
                <a:latin typeface="Consolas" panose="020B0609020204030204" pitchFamily="49" charset="0"/>
              </a:rPr>
              <a:t>);</a:t>
            </a:r>
          </a:p>
          <a:p>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obj.gid</a:t>
            </a:r>
            <a:r>
              <a:rPr lang="en-IN" b="0" dirty="0">
                <a:solidFill>
                  <a:srgbClr val="008000"/>
                </a:solidFill>
                <a:effectLst/>
                <a:latin typeface="Consolas" panose="020B0609020204030204" pitchFamily="49" charset="0"/>
              </a:rPr>
              <a:t>=101;</a:t>
            </a: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850058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B0EF7A-6242-40AE-9F78-A34E9D0BCE0A}"/>
              </a:ext>
            </a:extLst>
          </p:cNvPr>
          <p:cNvSpPr>
            <a:spLocks noGrp="1"/>
          </p:cNvSpPr>
          <p:nvPr>
            <p:ph idx="1"/>
          </p:nvPr>
        </p:nvSpPr>
        <p:spPr>
          <a:xfrm>
            <a:off x="255639" y="550606"/>
            <a:ext cx="11818374" cy="5801477"/>
          </a:xfrm>
        </p:spPr>
        <p:txBody>
          <a:bodyPr>
            <a:normAutofit/>
          </a:bodyPr>
          <a:lstStyle/>
          <a:p>
            <a:pPr marL="0" indent="0">
              <a:buNone/>
            </a:pPr>
            <a:endParaRPr lang="en-IN" sz="1800" dirty="0">
              <a:solidFill>
                <a:schemeClr val="accent1"/>
              </a:solidFill>
            </a:endParaRPr>
          </a:p>
        </p:txBody>
      </p:sp>
      <p:sp>
        <p:nvSpPr>
          <p:cNvPr id="4" name="Rectangle 3">
            <a:extLst>
              <a:ext uri="{FF2B5EF4-FFF2-40B4-BE49-F238E27FC236}">
                <a16:creationId xmlns:a16="http://schemas.microsoft.com/office/drawing/2014/main" id="{4CD47256-BE47-40AF-9437-726B36297AEF}"/>
              </a:ext>
            </a:extLst>
          </p:cNvPr>
          <p:cNvSpPr/>
          <p:nvPr/>
        </p:nvSpPr>
        <p:spPr>
          <a:xfrm>
            <a:off x="6050417" y="433981"/>
            <a:ext cx="5798574" cy="157316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dirty="0"/>
              <a:t>External memory</a:t>
            </a:r>
          </a:p>
          <a:p>
            <a:r>
              <a:rPr lang="en-IN" dirty="0">
                <a:solidFill>
                  <a:schemeClr val="accent1"/>
                </a:solidFill>
              </a:rPr>
              <a:t>Static</a:t>
            </a:r>
            <a:r>
              <a:rPr lang="en-IN" dirty="0"/>
              <a:t> aid =0 1 2</a:t>
            </a:r>
          </a:p>
          <a:p>
            <a:r>
              <a:rPr lang="en-IN" dirty="0">
                <a:solidFill>
                  <a:schemeClr val="accent1"/>
                </a:solidFill>
              </a:rPr>
              <a:t>Static</a:t>
            </a:r>
            <a:r>
              <a:rPr lang="en-IN" dirty="0"/>
              <a:t> </a:t>
            </a:r>
            <a:r>
              <a:rPr lang="en-IN" dirty="0" err="1"/>
              <a:t>coname</a:t>
            </a:r>
            <a:r>
              <a:rPr lang="en-IN" dirty="0"/>
              <a:t>=“vidyanidhi”</a:t>
            </a:r>
          </a:p>
          <a:p>
            <a:r>
              <a:rPr lang="en-IN" dirty="0">
                <a:solidFill>
                  <a:schemeClr val="accent1"/>
                </a:solidFill>
              </a:rPr>
              <a:t>Static</a:t>
            </a:r>
            <a:r>
              <a:rPr lang="en-IN" dirty="0"/>
              <a:t> </a:t>
            </a:r>
            <a:r>
              <a:rPr lang="en-IN" dirty="0" err="1"/>
              <a:t>rateofint</a:t>
            </a:r>
            <a:r>
              <a:rPr lang="en-IN" dirty="0"/>
              <a:t>=0.08</a:t>
            </a:r>
          </a:p>
          <a:p>
            <a:r>
              <a:rPr lang="en-IN" dirty="0">
                <a:solidFill>
                  <a:schemeClr val="accent1"/>
                </a:solidFill>
              </a:rPr>
              <a:t>Static</a:t>
            </a:r>
            <a:r>
              <a:rPr lang="en-IN" dirty="0"/>
              <a:t> </a:t>
            </a:r>
            <a:r>
              <a:rPr lang="en-IN" dirty="0" err="1"/>
              <a:t>payinterest</a:t>
            </a:r>
            <a:r>
              <a:rPr lang="en-IN" dirty="0"/>
              <a:t>(  </a:t>
            </a:r>
            <a:r>
              <a:rPr lang="en-IN" dirty="0" err="1"/>
              <a:t>obj</a:t>
            </a:r>
            <a:r>
              <a:rPr lang="en-IN" dirty="0"/>
              <a:t>)</a:t>
            </a:r>
          </a:p>
        </p:txBody>
      </p:sp>
      <p:sp>
        <p:nvSpPr>
          <p:cNvPr id="5" name="Rectangle 4">
            <a:extLst>
              <a:ext uri="{FF2B5EF4-FFF2-40B4-BE49-F238E27FC236}">
                <a16:creationId xmlns:a16="http://schemas.microsoft.com/office/drawing/2014/main" id="{6FCA536D-B174-4DB2-A97A-E02AFBB762E5}"/>
              </a:ext>
            </a:extLst>
          </p:cNvPr>
          <p:cNvSpPr/>
          <p:nvPr/>
        </p:nvSpPr>
        <p:spPr>
          <a:xfrm>
            <a:off x="8297279" y="1716373"/>
            <a:ext cx="2644877" cy="9000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87A0941E-B1C7-4A2E-9141-5008EDD0728D}"/>
              </a:ext>
            </a:extLst>
          </p:cNvPr>
          <p:cNvSpPr/>
          <p:nvPr/>
        </p:nvSpPr>
        <p:spPr>
          <a:xfrm>
            <a:off x="312174" y="4817529"/>
            <a:ext cx="1052052" cy="74479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err="1"/>
              <a:t>obj</a:t>
            </a:r>
            <a:endParaRPr lang="en-IN" dirty="0"/>
          </a:p>
        </p:txBody>
      </p:sp>
      <p:sp>
        <p:nvSpPr>
          <p:cNvPr id="7" name="TextBox 6">
            <a:extLst>
              <a:ext uri="{FF2B5EF4-FFF2-40B4-BE49-F238E27FC236}">
                <a16:creationId xmlns:a16="http://schemas.microsoft.com/office/drawing/2014/main" id="{DB52CC1B-7A6A-4EE0-B65A-8D7150E5E12F}"/>
              </a:ext>
            </a:extLst>
          </p:cNvPr>
          <p:cNvSpPr txBox="1"/>
          <p:nvPr/>
        </p:nvSpPr>
        <p:spPr>
          <a:xfrm>
            <a:off x="1946019" y="4645401"/>
            <a:ext cx="2684591" cy="163121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this.</a:t>
            </a:r>
            <a:r>
              <a:rPr lang="en-IN" sz="1800" dirty="0"/>
              <a:t> .</a:t>
            </a:r>
            <a:r>
              <a:rPr lang="en-IN" sz="1800" dirty="0" err="1"/>
              <a:t>firstname</a:t>
            </a:r>
            <a:r>
              <a:rPr lang="en-IN" sz="1800" dirty="0"/>
              <a:t> </a:t>
            </a:r>
            <a:r>
              <a:rPr lang="en-IN" dirty="0"/>
              <a:t>=raj</a:t>
            </a:r>
          </a:p>
          <a:p>
            <a:r>
              <a:rPr lang="en-IN" dirty="0"/>
              <a:t>this.</a:t>
            </a:r>
            <a:r>
              <a:rPr lang="en-IN" sz="1800" dirty="0"/>
              <a:t> .</a:t>
            </a:r>
            <a:r>
              <a:rPr lang="en-IN" sz="1800" dirty="0" err="1"/>
              <a:t>lastname</a:t>
            </a:r>
            <a:r>
              <a:rPr lang="en-IN" sz="1800" dirty="0"/>
              <a:t> </a:t>
            </a:r>
            <a:r>
              <a:rPr lang="en-IN" dirty="0"/>
              <a:t>-Mathur</a:t>
            </a:r>
          </a:p>
          <a:p>
            <a:r>
              <a:rPr lang="en-IN" dirty="0"/>
              <a:t>this.</a:t>
            </a:r>
            <a:r>
              <a:rPr lang="en-IN" sz="1800" dirty="0"/>
              <a:t> .</a:t>
            </a:r>
            <a:r>
              <a:rPr lang="en-IN" sz="2800" dirty="0">
                <a:solidFill>
                  <a:srgbClr val="FF0000"/>
                </a:solidFill>
              </a:rPr>
              <a:t>_</a:t>
            </a:r>
            <a:r>
              <a:rPr lang="en-IN" dirty="0">
                <a:solidFill>
                  <a:schemeClr val="tx1"/>
                </a:solidFill>
              </a:rPr>
              <a:t>balance</a:t>
            </a:r>
            <a:r>
              <a:rPr lang="en-IN" sz="1800" dirty="0"/>
              <a:t> </a:t>
            </a:r>
            <a:r>
              <a:rPr lang="en-IN" dirty="0"/>
              <a:t>=20000</a:t>
            </a:r>
          </a:p>
          <a:p>
            <a:r>
              <a:rPr lang="en-IN" dirty="0" err="1"/>
              <a:t>This.#id</a:t>
            </a:r>
            <a:r>
              <a:rPr lang="en-IN" dirty="0"/>
              <a:t>=1</a:t>
            </a:r>
          </a:p>
          <a:p>
            <a:r>
              <a:rPr lang="en-IN" dirty="0" err="1"/>
              <a:t>this.Type</a:t>
            </a:r>
            <a:r>
              <a:rPr lang="en-IN" dirty="0"/>
              <a:t>=sav</a:t>
            </a:r>
          </a:p>
        </p:txBody>
      </p:sp>
      <p:sp>
        <p:nvSpPr>
          <p:cNvPr id="8" name="Rectangle 7">
            <a:extLst>
              <a:ext uri="{FF2B5EF4-FFF2-40B4-BE49-F238E27FC236}">
                <a16:creationId xmlns:a16="http://schemas.microsoft.com/office/drawing/2014/main" id="{913FC454-04D2-4924-8376-A3F65E1A554D}"/>
              </a:ext>
            </a:extLst>
          </p:cNvPr>
          <p:cNvSpPr/>
          <p:nvPr/>
        </p:nvSpPr>
        <p:spPr>
          <a:xfrm>
            <a:off x="2300174" y="-182937"/>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
        <p:nvSpPr>
          <p:cNvPr id="9" name="Rectangle 8">
            <a:extLst>
              <a:ext uri="{FF2B5EF4-FFF2-40B4-BE49-F238E27FC236}">
                <a16:creationId xmlns:a16="http://schemas.microsoft.com/office/drawing/2014/main" id="{8FE84AAB-5608-46FE-B70E-0AB9486248A9}"/>
              </a:ext>
            </a:extLst>
          </p:cNvPr>
          <p:cNvSpPr/>
          <p:nvPr/>
        </p:nvSpPr>
        <p:spPr>
          <a:xfrm>
            <a:off x="3342585" y="1707824"/>
            <a:ext cx="2526890" cy="54606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dirty="0"/>
              <a:t>deposit(amt){ }</a:t>
            </a:r>
          </a:p>
        </p:txBody>
      </p:sp>
      <p:sp>
        <p:nvSpPr>
          <p:cNvPr id="10" name="Rectangle 9">
            <a:extLst>
              <a:ext uri="{FF2B5EF4-FFF2-40B4-BE49-F238E27FC236}">
                <a16:creationId xmlns:a16="http://schemas.microsoft.com/office/drawing/2014/main" id="{EB071BCB-7A3B-48CF-88F6-ACE4174D2B01}"/>
              </a:ext>
            </a:extLst>
          </p:cNvPr>
          <p:cNvSpPr/>
          <p:nvPr/>
        </p:nvSpPr>
        <p:spPr>
          <a:xfrm>
            <a:off x="3936481" y="2325073"/>
            <a:ext cx="1969510" cy="21517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toString</a:t>
            </a:r>
            <a:r>
              <a:rPr lang="en-IN" dirty="0"/>
              <a:t>()</a:t>
            </a:r>
          </a:p>
        </p:txBody>
      </p:sp>
      <p:sp>
        <p:nvSpPr>
          <p:cNvPr id="11" name="Rectangle 10">
            <a:extLst>
              <a:ext uri="{FF2B5EF4-FFF2-40B4-BE49-F238E27FC236}">
                <a16:creationId xmlns:a16="http://schemas.microsoft.com/office/drawing/2014/main" id="{E2532DED-4DF7-4943-B187-DF72DBF1D21D}"/>
              </a:ext>
            </a:extLst>
          </p:cNvPr>
          <p:cNvSpPr/>
          <p:nvPr/>
        </p:nvSpPr>
        <p:spPr>
          <a:xfrm>
            <a:off x="3936481" y="2616391"/>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t>get </a:t>
            </a:r>
            <a:r>
              <a:rPr lang="en-IN" sz="1800" dirty="0" err="1"/>
              <a:t>firstname</a:t>
            </a:r>
            <a:r>
              <a:rPr lang="en-IN" sz="1800" dirty="0"/>
              <a:t>(){</a:t>
            </a:r>
            <a:endParaRPr lang="en-IN" dirty="0"/>
          </a:p>
        </p:txBody>
      </p:sp>
      <p:sp>
        <p:nvSpPr>
          <p:cNvPr id="12" name="Rectangle 11">
            <a:extLst>
              <a:ext uri="{FF2B5EF4-FFF2-40B4-BE49-F238E27FC236}">
                <a16:creationId xmlns:a16="http://schemas.microsoft.com/office/drawing/2014/main" id="{92945768-2DDA-4B5E-B844-F9A0F359E6E6}"/>
              </a:ext>
            </a:extLst>
          </p:cNvPr>
          <p:cNvSpPr/>
          <p:nvPr/>
        </p:nvSpPr>
        <p:spPr>
          <a:xfrm>
            <a:off x="3982064" y="3110338"/>
            <a:ext cx="2113936" cy="362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a:t>
            </a:r>
            <a:r>
              <a:rPr lang="en-IN" sz="1800" dirty="0"/>
              <a:t>et </a:t>
            </a:r>
            <a:r>
              <a:rPr lang="en-IN" sz="1800" dirty="0" err="1"/>
              <a:t>firstname</a:t>
            </a:r>
            <a:r>
              <a:rPr lang="en-IN" sz="1800" dirty="0"/>
              <a:t>(){</a:t>
            </a:r>
            <a:endParaRPr lang="en-IN" dirty="0"/>
          </a:p>
        </p:txBody>
      </p:sp>
      <p:sp>
        <p:nvSpPr>
          <p:cNvPr id="13" name="Rectangle 12">
            <a:extLst>
              <a:ext uri="{FF2B5EF4-FFF2-40B4-BE49-F238E27FC236}">
                <a16:creationId xmlns:a16="http://schemas.microsoft.com/office/drawing/2014/main" id="{2CAADA1E-09B2-4BF4-A713-E7CB17996BA7}"/>
              </a:ext>
            </a:extLst>
          </p:cNvPr>
          <p:cNvSpPr/>
          <p:nvPr/>
        </p:nvSpPr>
        <p:spPr>
          <a:xfrm>
            <a:off x="1538750" y="929735"/>
            <a:ext cx="3229895"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Account</a:t>
            </a:r>
          </a:p>
        </p:txBody>
      </p:sp>
      <p:sp>
        <p:nvSpPr>
          <p:cNvPr id="14" name="Rectangle 13">
            <a:extLst>
              <a:ext uri="{FF2B5EF4-FFF2-40B4-BE49-F238E27FC236}">
                <a16:creationId xmlns:a16="http://schemas.microsoft.com/office/drawing/2014/main" id="{8837F7FF-FADF-44A1-B727-97D16685EE79}"/>
              </a:ext>
            </a:extLst>
          </p:cNvPr>
          <p:cNvSpPr/>
          <p:nvPr/>
        </p:nvSpPr>
        <p:spPr>
          <a:xfrm>
            <a:off x="4177942" y="4539768"/>
            <a:ext cx="1878345" cy="27776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withdraw</a:t>
            </a:r>
          </a:p>
        </p:txBody>
      </p:sp>
      <p:sp>
        <p:nvSpPr>
          <p:cNvPr id="15" name="Rectangle 14">
            <a:extLst>
              <a:ext uri="{FF2B5EF4-FFF2-40B4-BE49-F238E27FC236}">
                <a16:creationId xmlns:a16="http://schemas.microsoft.com/office/drawing/2014/main" id="{08A61232-5D30-4EF1-B3F0-E72ECE521D79}"/>
              </a:ext>
            </a:extLst>
          </p:cNvPr>
          <p:cNvSpPr/>
          <p:nvPr/>
        </p:nvSpPr>
        <p:spPr>
          <a:xfrm>
            <a:off x="1867744" y="4082592"/>
            <a:ext cx="1958869" cy="2764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Savingaccount</a:t>
            </a:r>
            <a:endParaRPr lang="en-IN" dirty="0"/>
          </a:p>
        </p:txBody>
      </p:sp>
      <p:cxnSp>
        <p:nvCxnSpPr>
          <p:cNvPr id="17" name="Straight Arrow Connector 16">
            <a:extLst>
              <a:ext uri="{FF2B5EF4-FFF2-40B4-BE49-F238E27FC236}">
                <a16:creationId xmlns:a16="http://schemas.microsoft.com/office/drawing/2014/main" id="{4F66A716-E6F6-4ACF-A7EC-9C7F0BCFF22D}"/>
              </a:ext>
            </a:extLst>
          </p:cNvPr>
          <p:cNvCxnSpPr/>
          <p:nvPr/>
        </p:nvCxnSpPr>
        <p:spPr>
          <a:xfrm>
            <a:off x="1445342" y="5368413"/>
            <a:ext cx="5006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0FB5EBA-3E11-4430-9909-E535ABF87814}"/>
              </a:ext>
            </a:extLst>
          </p:cNvPr>
          <p:cNvCxnSpPr>
            <a:endCxn id="13" idx="0"/>
          </p:cNvCxnSpPr>
          <p:nvPr/>
        </p:nvCxnSpPr>
        <p:spPr>
          <a:xfrm>
            <a:off x="3077497" y="505917"/>
            <a:ext cx="76201" cy="423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2F7B3D-019C-4FDF-B6CB-05F1F5C7A04D}"/>
              </a:ext>
            </a:extLst>
          </p:cNvPr>
          <p:cNvCxnSpPr/>
          <p:nvPr/>
        </p:nvCxnSpPr>
        <p:spPr>
          <a:xfrm>
            <a:off x="2182761" y="1576066"/>
            <a:ext cx="117413" cy="2415831"/>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68AE64F5-6944-40FB-BFDA-67830CD8FC08}"/>
              </a:ext>
            </a:extLst>
          </p:cNvPr>
          <p:cNvSpPr/>
          <p:nvPr/>
        </p:nvSpPr>
        <p:spPr>
          <a:xfrm>
            <a:off x="10009239" y="1931544"/>
            <a:ext cx="540774" cy="39352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err="1"/>
              <a:t>obj</a:t>
            </a:r>
            <a:endParaRPr lang="en-IN" dirty="0"/>
          </a:p>
        </p:txBody>
      </p:sp>
      <p:cxnSp>
        <p:nvCxnSpPr>
          <p:cNvPr id="24" name="Straight Arrow Connector 23">
            <a:extLst>
              <a:ext uri="{FF2B5EF4-FFF2-40B4-BE49-F238E27FC236}">
                <a16:creationId xmlns:a16="http://schemas.microsoft.com/office/drawing/2014/main" id="{8099293C-463F-4A47-9932-2F320B89BFBD}"/>
              </a:ext>
            </a:extLst>
          </p:cNvPr>
          <p:cNvCxnSpPr/>
          <p:nvPr/>
        </p:nvCxnSpPr>
        <p:spPr>
          <a:xfrm flipH="1">
            <a:off x="4727978" y="2369762"/>
            <a:ext cx="5468074" cy="3283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6886476-9C7A-46B2-B886-86905656DB76}"/>
              </a:ext>
            </a:extLst>
          </p:cNvPr>
          <p:cNvCxnSpPr/>
          <p:nvPr/>
        </p:nvCxnSpPr>
        <p:spPr>
          <a:xfrm flipH="1">
            <a:off x="7151247" y="827510"/>
            <a:ext cx="163953" cy="2528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C2F127B-BC4A-4B23-A7B6-C2E4FB9D0EE9}"/>
              </a:ext>
            </a:extLst>
          </p:cNvPr>
          <p:cNvCxnSpPr/>
          <p:nvPr/>
        </p:nvCxnSpPr>
        <p:spPr>
          <a:xfrm flipH="1">
            <a:off x="7276225" y="802946"/>
            <a:ext cx="163953" cy="2528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27F407A-EDBF-4AE5-AC3D-2BEE017CAFB9}"/>
              </a:ext>
            </a:extLst>
          </p:cNvPr>
          <p:cNvCxnSpPr/>
          <p:nvPr/>
        </p:nvCxnSpPr>
        <p:spPr>
          <a:xfrm flipH="1">
            <a:off x="7501247" y="802946"/>
            <a:ext cx="163953" cy="25280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747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904FF-37C8-4405-891C-0BDBE3C10D0E}"/>
              </a:ext>
            </a:extLst>
          </p:cNvPr>
          <p:cNvSpPr>
            <a:spLocks noGrp="1"/>
          </p:cNvSpPr>
          <p:nvPr>
            <p:ph type="title"/>
          </p:nvPr>
        </p:nvSpPr>
        <p:spPr>
          <a:xfrm>
            <a:off x="1038860" y="20002"/>
            <a:ext cx="10114280" cy="66103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6DCAD3B-CFED-474E-8DAA-385CCDB9A963}"/>
              </a:ext>
            </a:extLst>
          </p:cNvPr>
          <p:cNvSpPr>
            <a:spLocks noGrp="1"/>
          </p:cNvSpPr>
          <p:nvPr>
            <p:ph idx="1"/>
          </p:nvPr>
        </p:nvSpPr>
        <p:spPr>
          <a:xfrm>
            <a:off x="281940" y="681037"/>
            <a:ext cx="11767820" cy="6278563"/>
          </a:xfrm>
        </p:spPr>
        <p:txBody>
          <a:bodyPr>
            <a:normAutofit/>
          </a:bodyPr>
          <a:lstStyle/>
          <a:p>
            <a:pPr marL="0" indent="0">
              <a:spcBef>
                <a:spcPts val="0"/>
              </a:spcBef>
              <a:buNone/>
            </a:pPr>
            <a:r>
              <a:rPr lang="en-IN" sz="1600" dirty="0"/>
              <a:t>In the above example we have declare static variable to generate account id.</a:t>
            </a:r>
          </a:p>
          <a:p>
            <a:pPr marL="0" indent="0">
              <a:spcBef>
                <a:spcPts val="0"/>
              </a:spcBef>
              <a:buNone/>
            </a:pP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err="1">
                <a:solidFill>
                  <a:schemeClr val="accent2"/>
                </a:solidFill>
                <a:effectLst/>
                <a:latin typeface="Consolas" panose="020B0609020204030204" pitchFamily="49" charset="0"/>
              </a:rPr>
              <a:t>Account</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aid</a:t>
            </a:r>
            <a:r>
              <a:rPr lang="en-IN" sz="1600" b="0" dirty="0">
                <a:solidFill>
                  <a:srgbClr val="000000"/>
                </a:solidFill>
                <a:effectLst/>
                <a:latin typeface="Consolas" panose="020B0609020204030204" pitchFamily="49" charset="0"/>
              </a:rPr>
              <a:t>;</a:t>
            </a:r>
          </a:p>
          <a:p>
            <a:pPr marL="0" indent="0">
              <a:buNone/>
            </a:pPr>
            <a:r>
              <a:rPr lang="en-IN" sz="1600" dirty="0"/>
              <a:t>In the above line we can access static variable with class name.</a:t>
            </a:r>
          </a:p>
          <a:p>
            <a:pPr marL="0" indent="0">
              <a:buNone/>
            </a:pPr>
            <a:r>
              <a:rPr lang="en-IN" sz="1600" b="0" dirty="0">
                <a:solidFill>
                  <a:srgbClr val="0000FF"/>
                </a:solidFill>
                <a:effectLst/>
                <a:latin typeface="Consolas" panose="020B0609020204030204" pitchFamily="49" charset="0"/>
              </a:rPr>
              <a:t>get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gid</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p>
          <a:p>
            <a:pPr marL="0" indent="0">
              <a:buNone/>
            </a:pPr>
            <a:r>
              <a:rPr lang="en-IN" sz="1600" dirty="0"/>
              <a:t>We have written only  getter property as user can read Id but can not set it. Generally account number is given by bank.</a:t>
            </a:r>
          </a:p>
          <a:p>
            <a:pPr marL="0" indent="0">
              <a:buNone/>
            </a:pPr>
            <a:r>
              <a:rPr lang="en-IN" sz="1600" dirty="0"/>
              <a:t>We have declare instance member private in a class and achieve data hiding, encapsulation.</a:t>
            </a:r>
          </a:p>
          <a:p>
            <a:pPr marL="0" indent="0">
              <a:lnSpc>
                <a:spcPct val="100000"/>
              </a:lnSpc>
              <a:spcBef>
                <a:spcPts val="0"/>
              </a:spcBef>
              <a:spcAft>
                <a:spcPts val="600"/>
              </a:spcAft>
              <a:buNone/>
            </a:pPr>
            <a:r>
              <a:rPr lang="en-IN" sz="1600" b="0" dirty="0">
                <a:solidFill>
                  <a:srgbClr val="0000FF"/>
                </a:solidFill>
                <a:effectLst/>
                <a:latin typeface="Consolas" panose="020B0609020204030204" pitchFamily="49" charset="0"/>
              </a:rPr>
              <a:t>set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_</a:t>
            </a:r>
            <a:r>
              <a:rPr lang="en-IN" sz="1600" b="0" dirty="0" err="1">
                <a:solidFill>
                  <a:srgbClr val="795E26"/>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#balance</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r>
              <a:rPr lang="en-IN" sz="1600" b="0" dirty="0">
                <a:solidFill>
                  <a:srgbClr val="0000FF"/>
                </a:solidFill>
                <a:effectLst/>
                <a:latin typeface="Consolas" panose="020B0609020204030204" pitchFamily="49" charset="0"/>
              </a:rPr>
              <a:t>get</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_</a:t>
            </a:r>
            <a:r>
              <a:rPr lang="en-IN" sz="1600" b="0" dirty="0" err="1">
                <a:solidFill>
                  <a:srgbClr val="795E26"/>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a:t>
            </a:r>
            <a:r>
              <a:rPr lang="en-IN" sz="1600" b="0" dirty="0" err="1">
                <a:solidFill>
                  <a:srgbClr val="001080"/>
                </a:solidFill>
                <a:effectLst/>
                <a:latin typeface="Consolas" panose="020B0609020204030204" pitchFamily="49" charset="0"/>
              </a:rPr>
              <a:t>#balance</a:t>
            </a:r>
            <a:r>
              <a:rPr lang="en-IN" sz="1600" b="0" dirty="0">
                <a:solidFill>
                  <a:srgbClr val="000000"/>
                </a:solidFill>
                <a:effectLst/>
                <a:latin typeface="Consolas" panose="020B0609020204030204" pitchFamily="49" charset="0"/>
              </a:rPr>
              <a:t>;}</a:t>
            </a:r>
          </a:p>
          <a:p>
            <a:pPr marL="0" indent="0">
              <a:lnSpc>
                <a:spcPct val="100000"/>
              </a:lnSpc>
              <a:spcBef>
                <a:spcPts val="0"/>
              </a:spcBef>
              <a:spcAft>
                <a:spcPts val="600"/>
              </a:spcAft>
              <a:buNone/>
            </a:pPr>
            <a:endParaRPr lang="en-IN" sz="1600" dirty="0">
              <a:solidFill>
                <a:srgbClr val="000000"/>
              </a:solidFill>
              <a:latin typeface="Consolas" panose="020B0609020204030204" pitchFamily="49" charset="0"/>
            </a:endParaRPr>
          </a:p>
          <a:p>
            <a:pPr marL="0" indent="0">
              <a:lnSpc>
                <a:spcPct val="100000"/>
              </a:lnSpc>
              <a:spcBef>
                <a:spcPts val="0"/>
              </a:spcBef>
              <a:spcAft>
                <a:spcPts val="600"/>
              </a:spcAft>
              <a:buNone/>
            </a:pPr>
            <a:r>
              <a:rPr lang="en-IN" sz="1600" b="0" dirty="0">
                <a:solidFill>
                  <a:srgbClr val="000000"/>
                </a:solidFill>
                <a:effectLst/>
                <a:latin typeface="Consolas" panose="020B0609020204030204" pitchFamily="49" charset="0"/>
              </a:rPr>
              <a:t>We purposely declared get set </a:t>
            </a:r>
            <a:r>
              <a:rPr lang="en-IN" sz="1600" b="0" dirty="0">
                <a:solidFill>
                  <a:srgbClr val="795E26"/>
                </a:solidFill>
                <a:effectLst/>
                <a:latin typeface="Consolas" panose="020B0609020204030204" pitchFamily="49" charset="0"/>
              </a:rPr>
              <a:t>_</a:t>
            </a:r>
            <a:r>
              <a:rPr lang="en-IN" sz="1600" b="0" dirty="0" err="1">
                <a:solidFill>
                  <a:srgbClr val="795E26"/>
                </a:solidFill>
                <a:effectLst/>
                <a:latin typeface="Consolas" panose="020B0609020204030204" pitchFamily="49" charset="0"/>
              </a:rPr>
              <a:t>cbalance</a:t>
            </a:r>
            <a:r>
              <a:rPr lang="en-IN" sz="1600" b="0" dirty="0">
                <a:solidFill>
                  <a:srgbClr val="795E26"/>
                </a:solidFill>
                <a:effectLst/>
                <a:latin typeface="Consolas" panose="020B0609020204030204" pitchFamily="49" charset="0"/>
              </a:rPr>
              <a:t> </a:t>
            </a:r>
            <a:r>
              <a:rPr lang="en-IN" sz="1600" b="0" dirty="0">
                <a:effectLst/>
                <a:latin typeface="Consolas" panose="020B0609020204030204" pitchFamily="49" charset="0"/>
              </a:rPr>
              <a:t>so that programmer should not use this variable outside the class. </a:t>
            </a:r>
            <a:r>
              <a:rPr lang="en-IN" sz="1600" dirty="0">
                <a:latin typeface="Consolas" panose="020B0609020204030204" pitchFamily="49" charset="0"/>
              </a:rPr>
              <a:t>But only child class can access it.</a:t>
            </a:r>
          </a:p>
          <a:p>
            <a:pPr marL="0" indent="0">
              <a:lnSpc>
                <a:spcPct val="100000"/>
              </a:lnSpc>
              <a:spcBef>
                <a:spcPts val="0"/>
              </a:spcBef>
              <a:spcAft>
                <a:spcPts val="600"/>
              </a:spcAft>
              <a:buNone/>
            </a:pPr>
            <a:r>
              <a:rPr lang="en-IN" sz="1600" b="0" dirty="0">
                <a:effectLst/>
                <a:latin typeface="Consolas" panose="020B0609020204030204" pitchFamily="49" charset="0"/>
              </a:rPr>
              <a:t>In bank you can read balance but you can not set balance. So should I write getter only?? Think how you will set value when user deposit money?</a:t>
            </a:r>
          </a:p>
          <a:p>
            <a:pPr marL="0" indent="0">
              <a:lnSpc>
                <a:spcPct val="100000"/>
              </a:lnSpc>
              <a:spcBef>
                <a:spcPts val="0"/>
              </a:spcBef>
              <a:spcAft>
                <a:spcPts val="600"/>
              </a:spcAft>
              <a:buNone/>
            </a:pPr>
            <a:r>
              <a:rPr lang="en-IN" sz="1600" dirty="0">
                <a:latin typeface="Consolas" panose="020B0609020204030204" pitchFamily="49" charset="0"/>
              </a:rPr>
              <a:t>So you need getter and setter both. You just want to ensure that it should be available only to child class. So we are using _balance so that it is reminder to programmer that this variable need not used outside class.</a:t>
            </a:r>
            <a:endParaRPr lang="en-IN" sz="1600" b="0" dirty="0">
              <a:effectLst/>
              <a:latin typeface="Consolas" panose="020B0609020204030204" pitchFamily="49" charset="0"/>
            </a:endParaRPr>
          </a:p>
          <a:p>
            <a:pPr marL="0" indent="0">
              <a:buNone/>
            </a:pPr>
            <a:endParaRPr lang="en-IN" sz="1600" dirty="0"/>
          </a:p>
          <a:p>
            <a:pPr marL="0" indent="0">
              <a:buNone/>
            </a:pPr>
            <a:endParaRPr lang="en-IN" sz="1600" dirty="0"/>
          </a:p>
          <a:p>
            <a:pPr marL="0" indent="0">
              <a:buNone/>
            </a:pPr>
            <a:endParaRPr lang="en-IN" sz="1600" dirty="0"/>
          </a:p>
        </p:txBody>
      </p:sp>
    </p:spTree>
    <p:extLst>
      <p:ext uri="{BB962C8B-B14F-4D97-AF65-F5344CB8AC3E}">
        <p14:creationId xmlns:p14="http://schemas.microsoft.com/office/powerpoint/2010/main" val="1797244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FF87-6444-4CF5-A4D8-653020254C93}"/>
              </a:ext>
            </a:extLst>
          </p:cNvPr>
          <p:cNvSpPr>
            <a:spLocks noGrp="1"/>
          </p:cNvSpPr>
          <p:nvPr>
            <p:ph type="title"/>
          </p:nvPr>
        </p:nvSpPr>
        <p:spPr>
          <a:xfrm>
            <a:off x="1209368" y="239917"/>
            <a:ext cx="9603658" cy="441120"/>
          </a:xfrm>
        </p:spPr>
        <p:txBody>
          <a:bodyPr>
            <a:normAutofit fontScale="90000"/>
          </a:bodyPr>
          <a:lstStyle/>
          <a:p>
            <a:r>
              <a:rPr lang="en-IN" dirty="0"/>
              <a:t>Private method/private static variable</a:t>
            </a:r>
          </a:p>
        </p:txBody>
      </p:sp>
      <p:sp>
        <p:nvSpPr>
          <p:cNvPr id="3" name="Content Placeholder 2">
            <a:extLst>
              <a:ext uri="{FF2B5EF4-FFF2-40B4-BE49-F238E27FC236}">
                <a16:creationId xmlns:a16="http://schemas.microsoft.com/office/drawing/2014/main" id="{9E9BB27F-6DDF-4C2D-B409-6F1D82E36756}"/>
              </a:ext>
            </a:extLst>
          </p:cNvPr>
          <p:cNvSpPr>
            <a:spLocks noGrp="1"/>
          </p:cNvSpPr>
          <p:nvPr>
            <p:ph idx="1"/>
          </p:nvPr>
        </p:nvSpPr>
        <p:spPr>
          <a:xfrm>
            <a:off x="363794" y="884903"/>
            <a:ext cx="10813026" cy="5006924"/>
          </a:xfrm>
        </p:spPr>
        <p:txBody>
          <a:bodyPr>
            <a:normAutofit fontScale="55000" lnSpcReduction="20000"/>
          </a:bodyPr>
          <a:lstStyle/>
          <a:p>
            <a:pPr marL="0" indent="0">
              <a:buNone/>
            </a:pPr>
            <a:r>
              <a:rPr lang="en-IN" dirty="0"/>
              <a:t>Private instance methods</a:t>
            </a:r>
          </a:p>
          <a:p>
            <a:pPr marL="0" indent="0">
              <a:buNone/>
            </a:pPr>
            <a:endParaRPr lang="en-IN" dirty="0"/>
          </a:p>
          <a:p>
            <a:pPr marL="0" indent="0">
              <a:buNone/>
            </a:pPr>
            <a:r>
              <a:rPr lang="en-IN" dirty="0"/>
              <a:t>Private instance methods are methods available on class instances whose access is restricted in the same manner as private instance fields.</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privateMethod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'hello world'</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getPrivateMessage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instance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ClassWithPrivateMethod</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instance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getPrivateMessage</a:t>
            </a:r>
            <a:r>
              <a:rPr lang="en-IN" b="0" dirty="0">
                <a:solidFill>
                  <a:srgbClr val="000000"/>
                </a:solidFill>
                <a:effectLst/>
                <a:latin typeface="Consolas" panose="020B0609020204030204" pitchFamily="49" charset="0"/>
              </a:rPr>
              <a:t>())</a:t>
            </a:r>
          </a:p>
          <a:p>
            <a:pPr marL="0" indent="0">
              <a:buNone/>
            </a:pPr>
            <a:r>
              <a:rPr lang="en-IN" b="0" dirty="0">
                <a:solidFill>
                  <a:srgbClr val="008000"/>
                </a:solidFill>
                <a:effectLst/>
                <a:latin typeface="Consolas" panose="020B0609020204030204" pitchFamily="49" charset="0"/>
              </a:rPr>
              <a:t>// expected output: "hello world"</a:t>
            </a:r>
            <a:endParaRPr lang="en-IN" b="0" dirty="0">
              <a:solidFill>
                <a:srgbClr val="000000"/>
              </a:solidFill>
              <a:effectLst/>
              <a:latin typeface="Consolas" panose="020B0609020204030204" pitchFamily="49" charset="0"/>
            </a:endParaRP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37589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881EDD-5EB7-4720-B6DF-0BFBB0417CD6}"/>
              </a:ext>
            </a:extLst>
          </p:cNvPr>
          <p:cNvSpPr>
            <a:spLocks noGrp="1"/>
          </p:cNvSpPr>
          <p:nvPr>
            <p:ph idx="1"/>
          </p:nvPr>
        </p:nvSpPr>
        <p:spPr>
          <a:xfrm>
            <a:off x="462116" y="609600"/>
            <a:ext cx="10891684" cy="5567363"/>
          </a:xfrm>
        </p:spPr>
        <p:txBody>
          <a:bodyPr>
            <a:normAutofit fontScale="62500" lnSpcReduction="20000"/>
          </a:bodyPr>
          <a:lstStyle/>
          <a:p>
            <a:pPr marL="0" indent="0">
              <a:buNone/>
            </a:pPr>
            <a:r>
              <a:rPr lang="en-IN" dirty="0"/>
              <a:t>Private getters and setters are also possible:</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ClassWithPrivateAccessor</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#message</a:t>
            </a: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get</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#message</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set</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msg</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#message</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msg</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t>
            </a:r>
            <a:r>
              <a:rPr lang="en-IN" b="0" dirty="0" err="1">
                <a:solidFill>
                  <a:srgbClr val="001080"/>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'hello world'</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t>
            </a:r>
            <a:r>
              <a:rPr lang="en-IN" b="0" dirty="0" err="1">
                <a:solidFill>
                  <a:srgbClr val="001080"/>
                </a:solidFill>
                <a:effectLst/>
                <a:latin typeface="Consolas" panose="020B0609020204030204" pitchFamily="49" charset="0"/>
              </a:rPr>
              <a:t>decoratedMessage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dirty="0">
                <a:solidFill>
                  <a:srgbClr val="000000"/>
                </a:solidFill>
                <a:latin typeface="Consolas" panose="020B0609020204030204" pitchFamily="49" charset="0"/>
              </a:rPr>
              <a:t>let </a:t>
            </a:r>
            <a:r>
              <a:rPr lang="en-IN" dirty="0" err="1">
                <a:solidFill>
                  <a:srgbClr val="000000"/>
                </a:solidFill>
                <a:latin typeface="Consolas" panose="020B0609020204030204" pitchFamily="49" charset="0"/>
              </a:rPr>
              <a:t>Obj</a:t>
            </a:r>
            <a:r>
              <a:rPr lang="en-IN" dirty="0">
                <a:solidFill>
                  <a:srgbClr val="000000"/>
                </a:solidFill>
                <a:latin typeface="Consolas" panose="020B0609020204030204" pitchFamily="49" charset="0"/>
              </a:rPr>
              <a:t>=new </a:t>
            </a:r>
            <a:r>
              <a:rPr lang="en-IN" b="0" dirty="0" err="1">
                <a:solidFill>
                  <a:srgbClr val="267F99"/>
                </a:solidFill>
                <a:effectLst/>
                <a:latin typeface="Consolas" panose="020B0609020204030204" pitchFamily="49" charset="0"/>
              </a:rPr>
              <a:t>ClassWithPrivateAccessor</a:t>
            </a:r>
            <a:r>
              <a:rPr lang="en-IN" b="0" dirty="0">
                <a:solidFill>
                  <a:srgbClr val="267F99"/>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2672962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2CFF54-459B-44CE-AD1B-99CD355DB067}"/>
              </a:ext>
            </a:extLst>
          </p:cNvPr>
          <p:cNvSpPr>
            <a:spLocks noGrp="1"/>
          </p:cNvSpPr>
          <p:nvPr>
            <p:ph idx="1"/>
          </p:nvPr>
        </p:nvSpPr>
        <p:spPr>
          <a:xfrm>
            <a:off x="89453" y="648929"/>
            <a:ext cx="6271590" cy="5528034"/>
          </a:xfrm>
        </p:spPr>
        <p:txBody>
          <a:bodyPr>
            <a:normAutofit fontScale="40000" lnSpcReduction="20000"/>
          </a:bodyPr>
          <a:lstStyle/>
          <a:p>
            <a:pPr marL="0" indent="0">
              <a:buNone/>
            </a:pPr>
            <a:r>
              <a:rPr lang="en-US" dirty="0"/>
              <a:t>the limitation of static variables being called by only static methods still holds.</a:t>
            </a:r>
          </a:p>
          <a:p>
            <a:pPr marL="0" indent="0">
              <a:buNone/>
            </a:pPr>
            <a:br>
              <a:rPr lang="en-IN" sz="3600" b="0" dirty="0">
                <a:solidFill>
                  <a:srgbClr val="000000"/>
                </a:solidFill>
                <a:effectLst/>
                <a:latin typeface="Consolas" panose="020B0609020204030204" pitchFamily="49" charset="0"/>
              </a:rPr>
            </a:br>
            <a:r>
              <a:rPr lang="en-IN" sz="3600" b="0" dirty="0">
                <a:solidFill>
                  <a:srgbClr val="0000FF"/>
                </a:solidFill>
                <a:effectLst/>
                <a:latin typeface="Consolas" panose="020B0609020204030204" pitchFamily="49" charset="0"/>
              </a:rPr>
              <a:t>class</a:t>
            </a:r>
            <a:r>
              <a:rPr lang="en-IN" sz="3600" b="0" dirty="0">
                <a:solidFill>
                  <a:srgbClr val="000000"/>
                </a:solidFill>
                <a:effectLst/>
                <a:latin typeface="Consolas" panose="020B0609020204030204" pitchFamily="49" charset="0"/>
              </a:rPr>
              <a:t> </a:t>
            </a:r>
            <a:r>
              <a:rPr lang="en-IN" sz="3600" b="0" dirty="0" err="1">
                <a:solidFill>
                  <a:srgbClr val="267F99"/>
                </a:solidFill>
                <a:effectLst/>
                <a:latin typeface="Consolas" panose="020B0609020204030204" pitchFamily="49" charset="0"/>
              </a:rPr>
              <a:t>ClassWithPrivateStaticField</a:t>
            </a:r>
            <a:r>
              <a:rPr lang="en-IN" sz="3600" b="0" dirty="0">
                <a:solidFill>
                  <a:srgbClr val="000000"/>
                </a:solidFill>
                <a:effectLst/>
                <a:latin typeface="Consolas" panose="020B0609020204030204" pitchFamily="49" charset="0"/>
              </a:rPr>
              <a:t> {</a:t>
            </a:r>
          </a:p>
          <a:p>
            <a:pPr marL="0" indent="0">
              <a:buNone/>
            </a:pPr>
            <a:r>
              <a:rPr lang="en-IN" sz="3600" b="0" dirty="0">
                <a:solidFill>
                  <a:srgbClr val="000000"/>
                </a:solidFill>
                <a:effectLst/>
                <a:latin typeface="Consolas" panose="020B0609020204030204" pitchFamily="49" charset="0"/>
              </a:rPr>
              <a:t>  </a:t>
            </a:r>
            <a:r>
              <a:rPr lang="en-IN" sz="3600" b="0" dirty="0">
                <a:solidFill>
                  <a:srgbClr val="0000FF"/>
                </a:solidFill>
                <a:effectLst/>
                <a:latin typeface="Consolas" panose="020B0609020204030204" pitchFamily="49" charset="0"/>
              </a:rPr>
              <a:t>static</a:t>
            </a:r>
            <a:r>
              <a:rPr lang="en-IN" sz="3600" b="0" dirty="0">
                <a:solidFill>
                  <a:srgbClr val="000000"/>
                </a:solidFill>
                <a:effectLst/>
                <a:latin typeface="Consolas" panose="020B0609020204030204" pitchFamily="49" charset="0"/>
              </a:rPr>
              <a:t> </a:t>
            </a:r>
            <a:r>
              <a:rPr lang="en-IN" sz="3600" b="0" dirty="0">
                <a:solidFill>
                  <a:srgbClr val="001080"/>
                </a:solidFill>
                <a:effectLst/>
                <a:latin typeface="Consolas" panose="020B0609020204030204" pitchFamily="49" charset="0"/>
              </a:rPr>
              <a:t>#PRIVATE_STATIC_FIELD</a:t>
            </a:r>
            <a:endParaRPr lang="en-IN" sz="3600" b="0" dirty="0">
              <a:solidFill>
                <a:srgbClr val="000000"/>
              </a:solidFill>
              <a:effectLst/>
              <a:latin typeface="Consolas" panose="020B0609020204030204" pitchFamily="49" charset="0"/>
            </a:endParaRPr>
          </a:p>
          <a:p>
            <a:pPr marL="0" indent="0">
              <a:buNone/>
            </a:pPr>
            <a:br>
              <a:rPr lang="en-IN" sz="3600" b="0" dirty="0">
                <a:solidFill>
                  <a:srgbClr val="000000"/>
                </a:solidFill>
                <a:effectLst/>
                <a:latin typeface="Consolas" panose="020B0609020204030204" pitchFamily="49" charset="0"/>
              </a:rPr>
            </a:br>
            <a:r>
              <a:rPr lang="en-IN" sz="3600" b="0" dirty="0">
                <a:solidFill>
                  <a:srgbClr val="000000"/>
                </a:solidFill>
                <a:effectLst/>
                <a:latin typeface="Consolas" panose="020B0609020204030204" pitchFamily="49" charset="0"/>
              </a:rPr>
              <a:t>  </a:t>
            </a:r>
            <a:r>
              <a:rPr lang="en-IN" sz="3600" b="0" dirty="0">
                <a:solidFill>
                  <a:srgbClr val="0000FF"/>
                </a:solidFill>
                <a:effectLst/>
                <a:latin typeface="Consolas" panose="020B0609020204030204" pitchFamily="49" charset="0"/>
              </a:rPr>
              <a:t>static</a:t>
            </a:r>
            <a:r>
              <a:rPr lang="en-IN" sz="3600" b="0" dirty="0">
                <a:solidFill>
                  <a:srgbClr val="000000"/>
                </a:solidFill>
                <a:effectLst/>
                <a:latin typeface="Consolas" panose="020B0609020204030204" pitchFamily="49" charset="0"/>
              </a:rPr>
              <a:t> </a:t>
            </a:r>
            <a:r>
              <a:rPr lang="en-IN" sz="3600" b="0" dirty="0" err="1">
                <a:solidFill>
                  <a:srgbClr val="795E26"/>
                </a:solidFill>
                <a:effectLst/>
                <a:latin typeface="Consolas" panose="020B0609020204030204" pitchFamily="49" charset="0"/>
              </a:rPr>
              <a:t>publicStaticMethod</a:t>
            </a:r>
            <a:r>
              <a:rPr lang="en-IN" sz="3600" b="0" dirty="0">
                <a:solidFill>
                  <a:srgbClr val="000000"/>
                </a:solidFill>
                <a:effectLst/>
                <a:latin typeface="Consolas" panose="020B0609020204030204" pitchFamily="49" charset="0"/>
              </a:rPr>
              <a:t>() {</a:t>
            </a:r>
          </a:p>
          <a:p>
            <a:pPr marL="0" indent="0">
              <a:buNone/>
            </a:pPr>
            <a:r>
              <a:rPr lang="en-IN" sz="3600" b="0" dirty="0">
                <a:solidFill>
                  <a:srgbClr val="000000"/>
                </a:solidFill>
                <a:effectLst/>
                <a:latin typeface="Consolas" panose="020B0609020204030204" pitchFamily="49" charset="0"/>
              </a:rPr>
              <a:t>    </a:t>
            </a:r>
            <a:r>
              <a:rPr lang="en-IN" sz="3600" b="0" dirty="0" err="1">
                <a:solidFill>
                  <a:srgbClr val="267F99"/>
                </a:solidFill>
                <a:effectLst/>
                <a:latin typeface="Consolas" panose="020B0609020204030204" pitchFamily="49" charset="0"/>
              </a:rPr>
              <a:t>ClassWithPrivateStaticField</a:t>
            </a:r>
            <a:r>
              <a:rPr lang="en-IN" sz="3600" b="0" dirty="0">
                <a:solidFill>
                  <a:srgbClr val="000000"/>
                </a:solidFill>
                <a:effectLst/>
                <a:latin typeface="Consolas" panose="020B0609020204030204" pitchFamily="49" charset="0"/>
              </a:rPr>
              <a:t>.</a:t>
            </a:r>
            <a:r>
              <a:rPr lang="en-IN" sz="3600" b="0" dirty="0">
                <a:solidFill>
                  <a:srgbClr val="0070C1"/>
                </a:solidFill>
                <a:effectLst/>
                <a:latin typeface="Consolas" panose="020B0609020204030204" pitchFamily="49" charset="0"/>
              </a:rPr>
              <a:t>#PRIVATE_STATIC_FIELD</a:t>
            </a:r>
            <a:r>
              <a:rPr lang="en-IN" sz="3600" b="0" dirty="0">
                <a:solidFill>
                  <a:srgbClr val="000000"/>
                </a:solidFill>
                <a:effectLst/>
                <a:latin typeface="Consolas" panose="020B0609020204030204" pitchFamily="49" charset="0"/>
              </a:rPr>
              <a:t> = </a:t>
            </a:r>
            <a:r>
              <a:rPr lang="en-IN" sz="3600" b="0" dirty="0">
                <a:solidFill>
                  <a:srgbClr val="098658"/>
                </a:solidFill>
                <a:effectLst/>
                <a:latin typeface="Consolas" panose="020B0609020204030204" pitchFamily="49" charset="0"/>
              </a:rPr>
              <a:t>42</a:t>
            </a:r>
            <a:endParaRPr lang="en-IN" sz="3600" b="0" dirty="0">
              <a:solidFill>
                <a:srgbClr val="000000"/>
              </a:solidFill>
              <a:effectLst/>
              <a:latin typeface="Consolas" panose="020B0609020204030204" pitchFamily="49" charset="0"/>
            </a:endParaRPr>
          </a:p>
          <a:p>
            <a:pPr marL="0" indent="0">
              <a:buNone/>
            </a:pPr>
            <a:r>
              <a:rPr lang="en-IN" sz="3600" b="0" dirty="0">
                <a:solidFill>
                  <a:srgbClr val="000000"/>
                </a:solidFill>
                <a:effectLst/>
                <a:latin typeface="Consolas" panose="020B0609020204030204" pitchFamily="49" charset="0"/>
              </a:rPr>
              <a:t>    </a:t>
            </a:r>
            <a:r>
              <a:rPr lang="en-IN" sz="3600" b="0" dirty="0">
                <a:solidFill>
                  <a:srgbClr val="AF00DB"/>
                </a:solidFill>
                <a:effectLst/>
                <a:latin typeface="Consolas" panose="020B0609020204030204" pitchFamily="49" charset="0"/>
              </a:rPr>
              <a:t>return</a:t>
            </a:r>
            <a:r>
              <a:rPr lang="en-IN" sz="3600" b="0" dirty="0">
                <a:solidFill>
                  <a:srgbClr val="000000"/>
                </a:solidFill>
                <a:effectLst/>
                <a:latin typeface="Consolas" panose="020B0609020204030204" pitchFamily="49" charset="0"/>
              </a:rPr>
              <a:t> </a:t>
            </a:r>
            <a:r>
              <a:rPr lang="en-IN" sz="3600" b="0" dirty="0" err="1">
                <a:solidFill>
                  <a:srgbClr val="267F99"/>
                </a:solidFill>
                <a:effectLst/>
                <a:latin typeface="Consolas" panose="020B0609020204030204" pitchFamily="49" charset="0"/>
              </a:rPr>
              <a:t>ClassWithPrivateStaticField</a:t>
            </a:r>
            <a:r>
              <a:rPr lang="en-IN" sz="3600" b="0" dirty="0">
                <a:solidFill>
                  <a:srgbClr val="000000"/>
                </a:solidFill>
                <a:effectLst/>
                <a:latin typeface="Consolas" panose="020B0609020204030204" pitchFamily="49" charset="0"/>
              </a:rPr>
              <a:t>.</a:t>
            </a:r>
            <a:r>
              <a:rPr lang="en-IN" sz="3600" b="0" dirty="0">
                <a:solidFill>
                  <a:srgbClr val="0070C1"/>
                </a:solidFill>
                <a:effectLst/>
                <a:latin typeface="Consolas" panose="020B0609020204030204" pitchFamily="49" charset="0"/>
              </a:rPr>
              <a:t>#PRIVATE_STATIC_FIELD</a:t>
            </a:r>
            <a:endParaRPr lang="en-IN" sz="3600" b="0" dirty="0">
              <a:solidFill>
                <a:srgbClr val="000000"/>
              </a:solidFill>
              <a:effectLst/>
              <a:latin typeface="Consolas" panose="020B0609020204030204" pitchFamily="49" charset="0"/>
            </a:endParaRPr>
          </a:p>
          <a:p>
            <a:pPr marL="0" indent="0">
              <a:buNone/>
            </a:pPr>
            <a:r>
              <a:rPr lang="en-IN" sz="3600" b="0" dirty="0">
                <a:solidFill>
                  <a:srgbClr val="000000"/>
                </a:solidFill>
                <a:effectLst/>
                <a:latin typeface="Consolas" panose="020B0609020204030204" pitchFamily="49" charset="0"/>
              </a:rPr>
              <a:t>  }</a:t>
            </a:r>
          </a:p>
          <a:p>
            <a:pPr marL="0" indent="0">
              <a:buNone/>
            </a:pPr>
            <a:r>
              <a:rPr lang="en-IN" sz="3600"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267F99"/>
                </a:solidFill>
                <a:effectLst/>
                <a:latin typeface="Consolas" panose="020B0609020204030204" pitchFamily="49" charset="0"/>
              </a:rPr>
              <a:t>ClassWithPrivateStaticField</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publicStaticMethod</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US" dirty="0"/>
          </a:p>
          <a:p>
            <a:pPr marL="0" indent="0">
              <a:buNone/>
            </a:pPr>
            <a:r>
              <a:rPr lang="en-US" dirty="0"/>
              <a:t>Private static fields are added to the class constructor at class evaluation time.</a:t>
            </a:r>
          </a:p>
          <a:p>
            <a:pPr marL="0" indent="0">
              <a:buNone/>
            </a:pPr>
            <a:endParaRPr lang="en-US" dirty="0"/>
          </a:p>
          <a:p>
            <a:pPr marL="0" indent="0">
              <a:buNone/>
            </a:pPr>
            <a:r>
              <a:rPr lang="en-US" dirty="0"/>
              <a:t>There is a provenance restriction on private static fields. Only the class which defines the private static field can access the field.</a:t>
            </a:r>
          </a:p>
          <a:p>
            <a:pPr marL="0" indent="0">
              <a:buNone/>
            </a:pPr>
            <a:endParaRPr lang="en-US" dirty="0"/>
          </a:p>
          <a:p>
            <a:pPr marL="0" indent="0">
              <a:buNone/>
            </a:pPr>
            <a:r>
              <a:rPr lang="en-US" dirty="0"/>
              <a:t>This can lead to unexpected behavior when using this.</a:t>
            </a:r>
            <a:endParaRPr lang="en-IN" dirty="0"/>
          </a:p>
        </p:txBody>
      </p:sp>
    </p:spTree>
    <p:extLst>
      <p:ext uri="{BB962C8B-B14F-4D97-AF65-F5344CB8AC3E}">
        <p14:creationId xmlns:p14="http://schemas.microsoft.com/office/powerpoint/2010/main" val="3268209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A6384D-653E-4A22-BDD2-19E557B40434}"/>
              </a:ext>
            </a:extLst>
          </p:cNvPr>
          <p:cNvSpPr>
            <a:spLocks noGrp="1"/>
          </p:cNvSpPr>
          <p:nvPr>
            <p:ph idx="1"/>
          </p:nvPr>
        </p:nvSpPr>
        <p:spPr>
          <a:xfrm>
            <a:off x="659990" y="855406"/>
            <a:ext cx="10872019" cy="5783673"/>
          </a:xfrm>
        </p:spPr>
        <p:txBody>
          <a:bodyPr>
            <a:normAutofit fontScale="55000" lnSpcReduction="20000"/>
          </a:bodyPr>
          <a:lstStyle/>
          <a:p>
            <a:pPr marL="0" indent="0">
              <a:buNone/>
            </a:pPr>
            <a:r>
              <a:rPr lang="en-IN" dirty="0"/>
              <a:t>Private static methods</a:t>
            </a:r>
          </a:p>
          <a:p>
            <a:pPr marL="0" indent="0">
              <a:buNone/>
            </a:pPr>
            <a:r>
              <a:rPr lang="en-IN" dirty="0"/>
              <a:t>Like their public equivalent, private static methods are called on the class itself, not instances of the class. Like private static fields, they are only accessible from inside the class declaration.</a:t>
            </a:r>
          </a:p>
          <a:p>
            <a:pPr marL="0" indent="0">
              <a:buNone/>
            </a:pPr>
            <a:r>
              <a:rPr lang="en-IN" dirty="0"/>
              <a:t>Private static methods may be generator, async, and async generator functions.</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42</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ClassWithPrivateStaticMethod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marL="0" indent="0">
              <a:buNone/>
            </a:pPr>
            <a:endParaRPr lang="en-IN" dirty="0"/>
          </a:p>
        </p:txBody>
      </p:sp>
      <p:pic>
        <p:nvPicPr>
          <p:cNvPr id="2" name="Picture 1">
            <a:extLst>
              <a:ext uri="{FF2B5EF4-FFF2-40B4-BE49-F238E27FC236}">
                <a16:creationId xmlns:a16="http://schemas.microsoft.com/office/drawing/2014/main" id="{12BC91B6-F94D-8FB5-4485-2BF30476FE2A}"/>
              </a:ext>
            </a:extLst>
          </p:cNvPr>
          <p:cNvPicPr>
            <a:picLocks noChangeAspect="1"/>
          </p:cNvPicPr>
          <p:nvPr/>
        </p:nvPicPr>
        <p:blipFill rotWithShape="1">
          <a:blip r:embed="rId2"/>
          <a:srcRect l="44114" t="9463" r="-807" b="26021"/>
          <a:stretch/>
        </p:blipFill>
        <p:spPr>
          <a:xfrm>
            <a:off x="7762460" y="1461585"/>
            <a:ext cx="5068957" cy="3620433"/>
          </a:xfrm>
          <a:prstGeom prst="rect">
            <a:avLst/>
          </a:prstGeom>
        </p:spPr>
      </p:pic>
    </p:spTree>
    <p:extLst>
      <p:ext uri="{BB962C8B-B14F-4D97-AF65-F5344CB8AC3E}">
        <p14:creationId xmlns:p14="http://schemas.microsoft.com/office/powerpoint/2010/main" val="151713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23707-36F6-4EFB-8C44-FC027401E99B}"/>
              </a:ext>
            </a:extLst>
          </p:cNvPr>
          <p:cNvSpPr>
            <a:spLocks noGrp="1"/>
          </p:cNvSpPr>
          <p:nvPr>
            <p:ph idx="1"/>
          </p:nvPr>
        </p:nvSpPr>
        <p:spPr>
          <a:xfrm>
            <a:off x="78660" y="605989"/>
            <a:ext cx="6272980" cy="5646021"/>
          </a:xfrm>
        </p:spPr>
        <p:txBody>
          <a:bodyPr>
            <a:normAutofit fontScale="55000" lnSpcReduction="20000"/>
          </a:bodyPr>
          <a:lstStyle/>
          <a:p>
            <a:pPr marL="0" indent="0">
              <a:buNone/>
            </a:pPr>
            <a:r>
              <a:rPr lang="en-US" dirty="0"/>
              <a:t>This can lead to unexpected behavior when using this. In the following example this refers to the Derived class (not the Base class) when we try to call Derived.publicStaticMethod2(), and thus exhibits the same "provenance restriction" as mentioned above:</a:t>
            </a:r>
          </a:p>
          <a:p>
            <a:pPr marL="0" indent="0">
              <a:buNone/>
            </a:pPr>
            <a:endParaRPr lang="en-US" dirty="0"/>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Base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42</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Base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static</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this</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
            </a:r>
            <a:r>
              <a:rPr lang="en-IN" b="0" dirty="0" err="1">
                <a:solidFill>
                  <a:srgbClr val="795E26"/>
                </a:solidFill>
                <a:effectLst/>
                <a:latin typeface="Consolas" panose="020B0609020204030204" pitchFamily="49" charset="0"/>
              </a:rPr>
              <a:t>privateStaticMethod</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Derived</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extends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Base</a:t>
            </a:r>
            <a:r>
              <a:rPr lang="en-IN" b="0" dirty="0">
                <a:solidFill>
                  <a:srgbClr val="000000"/>
                </a:solidFill>
                <a:effectLst/>
                <a:latin typeface="Consolas" panose="020B0609020204030204" pitchFamily="49" charset="0"/>
              </a:rPr>
              <a:t> {}</a:t>
            </a: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Derived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publicStaticMethod1</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42</a:t>
            </a:r>
            <a:endParaRPr lang="en-IN" b="0" dirty="0">
              <a:solidFill>
                <a:srgbClr val="000000"/>
              </a:solidFill>
              <a:effectLst/>
              <a:latin typeface="Consolas" panose="020B0609020204030204" pitchFamily="49" charset="0"/>
            </a:endParaRPr>
          </a:p>
          <a:p>
            <a:pPr marL="0" indent="0">
              <a:buNone/>
            </a:pP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267F99"/>
                </a:solidFill>
                <a:effectLst/>
                <a:latin typeface="Consolas" panose="020B0609020204030204" pitchFamily="49" charset="0"/>
              </a:rPr>
              <a:t>Derived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publicStaticMethod2</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a:t>
            </a:r>
            <a:r>
              <a:rPr lang="en-IN" b="0" dirty="0" err="1">
                <a:solidFill>
                  <a:srgbClr val="008000"/>
                </a:solidFill>
                <a:effectLst/>
                <a:latin typeface="Consolas" panose="020B0609020204030204" pitchFamily="49" charset="0"/>
              </a:rPr>
              <a:t>TypeError</a:t>
            </a:r>
            <a:endParaRPr lang="en-IN" b="0" dirty="0">
              <a:solidFill>
                <a:srgbClr val="000000"/>
              </a:solidFill>
              <a:effectLst/>
              <a:latin typeface="Consolas" panose="020B0609020204030204" pitchFamily="49" charset="0"/>
            </a:endParaRPr>
          </a:p>
          <a:p>
            <a:pPr marL="0" indent="0">
              <a:buNone/>
            </a:pPr>
            <a:endParaRPr lang="en-IN" dirty="0"/>
          </a:p>
        </p:txBody>
      </p:sp>
      <p:pic>
        <p:nvPicPr>
          <p:cNvPr id="4" name="Picture 3">
            <a:extLst>
              <a:ext uri="{FF2B5EF4-FFF2-40B4-BE49-F238E27FC236}">
                <a16:creationId xmlns:a16="http://schemas.microsoft.com/office/drawing/2014/main" id="{5AEB46D0-5594-4B13-9FC0-7B0FA1224662}"/>
              </a:ext>
            </a:extLst>
          </p:cNvPr>
          <p:cNvPicPr>
            <a:picLocks noChangeAspect="1"/>
          </p:cNvPicPr>
          <p:nvPr/>
        </p:nvPicPr>
        <p:blipFill rotWithShape="1">
          <a:blip r:embed="rId3"/>
          <a:srcRect l="25968" t="7168" r="5404" b="67025"/>
          <a:stretch/>
        </p:blipFill>
        <p:spPr>
          <a:xfrm>
            <a:off x="4493341" y="1740309"/>
            <a:ext cx="8367253" cy="1769807"/>
          </a:xfrm>
          <a:prstGeom prst="rect">
            <a:avLst/>
          </a:prstGeom>
        </p:spPr>
      </p:pic>
      <p:cxnSp>
        <p:nvCxnSpPr>
          <p:cNvPr id="5" name="Straight Connector 4">
            <a:extLst>
              <a:ext uri="{FF2B5EF4-FFF2-40B4-BE49-F238E27FC236}">
                <a16:creationId xmlns:a16="http://schemas.microsoft.com/office/drawing/2014/main" id="{926B8604-CCF1-4EB2-942F-A9C2B41941A3}"/>
              </a:ext>
            </a:extLst>
          </p:cNvPr>
          <p:cNvCxnSpPr/>
          <p:nvPr/>
        </p:nvCxnSpPr>
        <p:spPr>
          <a:xfrm>
            <a:off x="1199535" y="3687097"/>
            <a:ext cx="2467897" cy="934064"/>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468222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55B28-7F53-DAFB-8550-FD642915A6DA}"/>
              </a:ext>
            </a:extLst>
          </p:cNvPr>
          <p:cNvSpPr>
            <a:spLocks noGrp="1"/>
          </p:cNvSpPr>
          <p:nvPr>
            <p:ph type="title"/>
          </p:nvPr>
        </p:nvSpPr>
        <p:spPr>
          <a:xfrm>
            <a:off x="1502465" y="0"/>
            <a:ext cx="9187070" cy="688423"/>
          </a:xfrm>
        </p:spPr>
        <p:txBody>
          <a:bodyPr>
            <a:normAutofit fontScale="90000"/>
          </a:bodyPr>
          <a:lstStyle/>
          <a:p>
            <a:r>
              <a:rPr lang="en-US" dirty="0"/>
              <a:t>Using Import export</a:t>
            </a:r>
            <a:endParaRPr lang="en-IN" dirty="0"/>
          </a:p>
        </p:txBody>
      </p:sp>
      <p:sp>
        <p:nvSpPr>
          <p:cNvPr id="5" name="TextBox 4">
            <a:extLst>
              <a:ext uri="{FF2B5EF4-FFF2-40B4-BE49-F238E27FC236}">
                <a16:creationId xmlns:a16="http://schemas.microsoft.com/office/drawing/2014/main" id="{DEB373B8-0964-BABA-05D0-6290229F2C2F}"/>
              </a:ext>
            </a:extLst>
          </p:cNvPr>
          <p:cNvSpPr txBox="1"/>
          <p:nvPr/>
        </p:nvSpPr>
        <p:spPr>
          <a:xfrm>
            <a:off x="-60464" y="688423"/>
            <a:ext cx="10436916" cy="6555641"/>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export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class</a:t>
            </a:r>
            <a:r>
              <a:rPr lang="en-IN" sz="1400" b="0" dirty="0">
                <a:solidFill>
                  <a:srgbClr val="000000"/>
                </a:solidFill>
                <a:effectLst/>
                <a:latin typeface="Consolas" panose="020B0609020204030204" pitchFamily="49" charset="0"/>
              </a:rPr>
              <a:t> Account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#firstname;</a:t>
            </a:r>
          </a:p>
          <a:p>
            <a:r>
              <a:rPr lang="en-IN" sz="1400" b="0" dirty="0">
                <a:solidFill>
                  <a:srgbClr val="000000"/>
                </a:solidFill>
                <a:effectLst/>
                <a:latin typeface="Consolas" panose="020B0609020204030204" pitchFamily="49" charset="0"/>
              </a:rPr>
              <a:t>    #lastname;</a:t>
            </a:r>
          </a:p>
          <a:p>
            <a:r>
              <a:rPr lang="en-IN" sz="1400" b="0" dirty="0">
                <a:solidFill>
                  <a:srgbClr val="000000"/>
                </a:solidFill>
                <a:effectLst/>
                <a:latin typeface="Consolas" panose="020B0609020204030204" pitchFamily="49" charset="0"/>
              </a:rPr>
              <a:t>    #balance; #id;</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static</a:t>
            </a:r>
            <a:r>
              <a:rPr lang="en-IN" sz="1400" b="0" dirty="0">
                <a:solidFill>
                  <a:srgbClr val="000000"/>
                </a:solidFill>
                <a:effectLst/>
                <a:latin typeface="Consolas" panose="020B0609020204030204" pitchFamily="49" charset="0"/>
              </a:rPr>
              <a:t> #aid=</a:t>
            </a:r>
            <a:r>
              <a:rPr lang="en-IN" sz="1400" b="0" dirty="0">
                <a:solidFill>
                  <a:srgbClr val="098658"/>
                </a:solidFill>
                <a:effectLst/>
                <a:latin typeface="Consolas" panose="020B0609020204030204" pitchFamily="49" charset="0"/>
              </a:rPr>
              <a:t>0</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constructor</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fname,lname,amt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 </a:t>
            </a:r>
            <a:r>
              <a:rPr lang="en-IN" sz="1400" b="0" dirty="0" err="1">
                <a:solidFill>
                  <a:srgbClr val="000000"/>
                </a:solidFill>
                <a:effectLst/>
                <a:latin typeface="Consolas" panose="020B0609020204030204" pitchFamily="49" charset="0"/>
              </a:rPr>
              <a:t>fname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lname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 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 =amt;</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Account.#aid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(value)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 value;}</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 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(value)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.#balance</a:t>
            </a:r>
            <a:r>
              <a:rPr lang="en-IN" sz="1400" b="0" dirty="0">
                <a:solidFill>
                  <a:srgbClr val="000000"/>
                </a:solidFill>
                <a:effectLst/>
                <a:latin typeface="Consolas" panose="020B0609020204030204" pitchFamily="49" charset="0"/>
              </a:rPr>
              <a:t> = value;}</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.#balance</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set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(value)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 = value;}</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get</a:t>
            </a:r>
            <a:r>
              <a:rPr lang="en-IN" sz="1400" b="0" dirty="0">
                <a:solidFill>
                  <a:srgbClr val="000000"/>
                </a:solidFill>
                <a:effectLst/>
                <a:latin typeface="Consolas" panose="020B0609020204030204" pitchFamily="49" charset="0"/>
              </a:rPr>
              <a:t> gid(){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deposit(amt)</a:t>
            </a:r>
          </a:p>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 += amt;   }</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err="1">
                <a:solidFill>
                  <a:srgbClr val="000000"/>
                </a:solidFill>
                <a:effectLst/>
                <a:latin typeface="Consolas" panose="020B0609020204030204" pitchFamily="49" charset="0"/>
              </a:rPr>
              <a:t>toString</a:t>
            </a:r>
            <a:r>
              <a:rPr lang="en-IN" sz="1400" b="0" dirty="0">
                <a:solidFill>
                  <a:srgbClr val="000000"/>
                </a:solidFill>
                <a:effectLst/>
                <a:latin typeface="Consolas" panose="020B0609020204030204" pitchFamily="49" charset="0"/>
              </a:rPr>
              <a:t>() {  </a:t>
            </a:r>
            <a:r>
              <a:rPr lang="en-IN" sz="1400" b="0" dirty="0">
                <a:solidFill>
                  <a:srgbClr val="0000FF"/>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.gid</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 +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._</a:t>
            </a:r>
            <a:r>
              <a:rPr lang="en-IN" sz="1400" b="0" dirty="0" err="1">
                <a:solidFill>
                  <a:srgbClr val="000000"/>
                </a:solidFill>
                <a:effectLst/>
                <a:latin typeface="Consolas" panose="020B0609020204030204" pitchFamily="49" charset="0"/>
              </a:rPr>
              <a:t>cbalance</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4B72AD25-E457-5CEB-2787-73429894E6FD}"/>
              </a:ext>
            </a:extLst>
          </p:cNvPr>
          <p:cNvSpPr txBox="1"/>
          <p:nvPr/>
        </p:nvSpPr>
        <p:spPr>
          <a:xfrm>
            <a:off x="5923723" y="566530"/>
            <a:ext cx="4950544"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To create module save this file as </a:t>
            </a:r>
            <a:r>
              <a:rPr lang="en-US" dirty="0" err="1"/>
              <a:t>account.</a:t>
            </a:r>
            <a:r>
              <a:rPr lang="en-US" dirty="0" err="1">
                <a:highlight>
                  <a:srgbClr val="FFFF00"/>
                </a:highlight>
              </a:rPr>
              <a:t>mjs</a:t>
            </a:r>
            <a:endParaRPr lang="en-IN" dirty="0">
              <a:highlight>
                <a:srgbClr val="FFFF00"/>
              </a:highlight>
            </a:endParaRPr>
          </a:p>
        </p:txBody>
      </p:sp>
    </p:spTree>
    <p:extLst>
      <p:ext uri="{BB962C8B-B14F-4D97-AF65-F5344CB8AC3E}">
        <p14:creationId xmlns:p14="http://schemas.microsoft.com/office/powerpoint/2010/main" val="3777415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402DC4-8A6A-FD67-AFA4-0044F379DFBA}"/>
              </a:ext>
            </a:extLst>
          </p:cNvPr>
          <p:cNvSpPr txBox="1"/>
          <p:nvPr/>
        </p:nvSpPr>
        <p:spPr>
          <a:xfrm>
            <a:off x="146603" y="820917"/>
            <a:ext cx="6137412" cy="4893647"/>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Account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Account.mjs</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class</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Savingaccount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extends</a:t>
            </a:r>
            <a:r>
              <a:rPr lang="en-IN" sz="1600" b="0" dirty="0">
                <a:solidFill>
                  <a:srgbClr val="000000"/>
                </a:solidFill>
                <a:effectLst/>
                <a:latin typeface="Consolas" panose="020B0609020204030204" pitchFamily="49" charset="0"/>
              </a:rPr>
              <a:t> Account {</a:t>
            </a:r>
          </a:p>
          <a:p>
            <a:r>
              <a:rPr lang="en-IN" sz="1600" b="0" dirty="0">
                <a:solidFill>
                  <a:srgbClr val="000000"/>
                </a:solidFill>
                <a:effectLst/>
                <a:latin typeface="Consolas" panose="020B0609020204030204" pitchFamily="49" charset="0"/>
              </a:rPr>
              <a:t>        type;</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constructor</a:t>
            </a:r>
            <a:r>
              <a:rPr lang="en-IN" sz="1600" b="0" dirty="0">
                <a:solidFill>
                  <a:srgbClr val="000000"/>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acctype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fname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lname</a:t>
            </a:r>
            <a:r>
              <a:rPr lang="en-IN" sz="1600" b="0" dirty="0">
                <a:solidFill>
                  <a:srgbClr val="000000"/>
                </a:solidFill>
                <a:effectLst/>
                <a:latin typeface="Consolas" panose="020B0609020204030204" pitchFamily="49" charset="0"/>
              </a:rPr>
              <a:t>, amt)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super</a:t>
            </a:r>
            <a:r>
              <a:rPr lang="en-IN" sz="1600" b="0" dirty="0">
                <a:solidFill>
                  <a:srgbClr val="000000"/>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fname</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lname</a:t>
            </a:r>
            <a:r>
              <a:rPr lang="en-IN" sz="1600" b="0" dirty="0">
                <a:solidFill>
                  <a:srgbClr val="000000"/>
                </a:solidFill>
                <a:effectLst/>
                <a:latin typeface="Consolas" panose="020B0609020204030204" pitchFamily="49" charset="0"/>
              </a:rPr>
              <a:t>, amt)</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this</a:t>
            </a:r>
            <a:r>
              <a:rPr lang="en-IN" sz="1600" b="0" dirty="0" err="1">
                <a:solidFill>
                  <a:srgbClr val="00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acctype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withdraw(amt)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minbal</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1000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if</a:t>
            </a:r>
            <a:r>
              <a:rPr lang="en-IN" sz="1600" b="0" dirty="0">
                <a:solidFill>
                  <a:srgbClr val="000000"/>
                </a:solidFill>
                <a:effectLst/>
                <a:latin typeface="Consolas" panose="020B0609020204030204" pitchFamily="49" charset="0"/>
              </a:rPr>
              <a:t> (amt &gt; (</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._</a:t>
            </a:r>
            <a:r>
              <a:rPr lang="en-IN" sz="1600" b="0" dirty="0" err="1">
                <a:solidFill>
                  <a:srgbClr val="000000"/>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minbal</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throw</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new</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TypeError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"err"</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._</a:t>
            </a:r>
            <a:r>
              <a:rPr lang="en-IN" sz="1600" b="0" dirty="0" err="1">
                <a:solidFill>
                  <a:srgbClr val="000000"/>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this</a:t>
            </a:r>
            <a:r>
              <a:rPr lang="en-IN" sz="1600" b="0" dirty="0">
                <a:solidFill>
                  <a:srgbClr val="000000"/>
                </a:solidFill>
                <a:effectLst/>
                <a:latin typeface="Consolas" panose="020B0609020204030204" pitchFamily="49" charset="0"/>
              </a:rPr>
              <a:t>._</a:t>
            </a:r>
            <a:r>
              <a:rPr lang="en-IN" sz="1600" b="0" dirty="0" err="1">
                <a:solidFill>
                  <a:srgbClr val="000000"/>
                </a:solidFill>
                <a:effectLst/>
                <a:latin typeface="Consolas" panose="020B0609020204030204" pitchFamily="49" charset="0"/>
              </a:rPr>
              <a:t>cbalance</a:t>
            </a:r>
            <a:r>
              <a:rPr lang="en-IN" sz="1600" b="0" dirty="0">
                <a:solidFill>
                  <a:srgbClr val="000000"/>
                </a:solidFill>
                <a:effectLst/>
                <a:latin typeface="Consolas" panose="020B0609020204030204" pitchFamily="49" charset="0"/>
              </a:rPr>
              <a:t> - amt;</a:t>
            </a:r>
          </a:p>
          <a:p>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D62AC0BF-FBFD-769A-269F-6AEC9441A5DC}"/>
              </a:ext>
            </a:extLst>
          </p:cNvPr>
          <p:cNvSpPr txBox="1"/>
          <p:nvPr/>
        </p:nvSpPr>
        <p:spPr>
          <a:xfrm>
            <a:off x="6482797" y="1877273"/>
            <a:ext cx="5941116" cy="2308324"/>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Saving.mjs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sobj</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Savingaccount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"sav"</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"raj"</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"Mathur"</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console.log(</a:t>
            </a:r>
            <a:r>
              <a:rPr lang="en-IN" b="0" dirty="0" err="1">
                <a:solidFill>
                  <a:srgbClr val="000000"/>
                </a:solidFill>
                <a:effectLst/>
                <a:latin typeface="Consolas" panose="020B0609020204030204" pitchFamily="49" charset="0"/>
              </a:rPr>
              <a:t>sobj.toString</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sobj.withdraw</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console.log(</a:t>
            </a:r>
            <a:r>
              <a:rPr lang="en-IN" b="0" dirty="0" err="1">
                <a:solidFill>
                  <a:srgbClr val="000000"/>
                </a:solidFill>
                <a:effectLst/>
                <a:latin typeface="Consolas" panose="020B0609020204030204" pitchFamily="49" charset="0"/>
              </a:rPr>
              <a:t>sobj</a:t>
            </a:r>
            <a:r>
              <a:rPr lang="en-IN"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0D70F4B1-6C7F-C807-CF53-150B9ABC063E}"/>
              </a:ext>
            </a:extLst>
          </p:cNvPr>
          <p:cNvSpPr txBox="1"/>
          <p:nvPr/>
        </p:nvSpPr>
        <p:spPr>
          <a:xfrm>
            <a:off x="2315817" y="188843"/>
            <a:ext cx="6450496" cy="369332"/>
          </a:xfrm>
          <a:prstGeom prst="rect">
            <a:avLst/>
          </a:prstGeom>
          <a:noFill/>
        </p:spPr>
        <p:txBody>
          <a:bodyPr wrap="square" rtlCol="0">
            <a:spAutoFit/>
          </a:bodyPr>
          <a:lstStyle/>
          <a:p>
            <a:r>
              <a:rPr lang="en-US" dirty="0"/>
              <a:t>Following file is </a:t>
            </a:r>
            <a:r>
              <a:rPr lang="en-US" dirty="0" err="1"/>
              <a:t>Savingaccount.</a:t>
            </a:r>
            <a:r>
              <a:rPr lang="en-US" dirty="0" err="1">
                <a:highlight>
                  <a:srgbClr val="FFFF00"/>
                </a:highlight>
              </a:rPr>
              <a:t>mjs</a:t>
            </a:r>
            <a:r>
              <a:rPr lang="en-US" dirty="0"/>
              <a:t> and </a:t>
            </a:r>
            <a:r>
              <a:rPr lang="en-US" dirty="0" err="1"/>
              <a:t>use.</a:t>
            </a:r>
            <a:r>
              <a:rPr lang="en-US" dirty="0" err="1">
                <a:highlight>
                  <a:srgbClr val="FFFF00"/>
                </a:highlight>
              </a:rPr>
              <a:t>mjs</a:t>
            </a:r>
            <a:endParaRPr lang="en-IN" dirty="0">
              <a:highlight>
                <a:srgbClr val="FFFF00"/>
              </a:highlight>
            </a:endParaRPr>
          </a:p>
        </p:txBody>
      </p:sp>
      <p:sp>
        <p:nvSpPr>
          <p:cNvPr id="9" name="TextBox 8">
            <a:extLst>
              <a:ext uri="{FF2B5EF4-FFF2-40B4-BE49-F238E27FC236}">
                <a16:creationId xmlns:a16="http://schemas.microsoft.com/office/drawing/2014/main" id="{5F320347-F1FD-7B40-4FDC-5A2900A23CE4}"/>
              </a:ext>
            </a:extLst>
          </p:cNvPr>
          <p:cNvSpPr txBox="1"/>
          <p:nvPr/>
        </p:nvSpPr>
        <p:spPr>
          <a:xfrm>
            <a:off x="5347252" y="5317435"/>
            <a:ext cx="6013174" cy="646331"/>
          </a:xfrm>
          <a:prstGeom prst="rect">
            <a:avLst/>
          </a:prstGeom>
          <a:noFill/>
        </p:spPr>
        <p:txBody>
          <a:bodyPr wrap="square" rtlCol="0">
            <a:spAutoFit/>
          </a:bodyPr>
          <a:lstStyle/>
          <a:p>
            <a:r>
              <a:rPr lang="en-US" dirty="0"/>
              <a:t>Run from command prompt </a:t>
            </a:r>
          </a:p>
          <a:p>
            <a:r>
              <a:rPr lang="en-US" dirty="0">
                <a:highlight>
                  <a:srgbClr val="FFFF00"/>
                </a:highlight>
              </a:rPr>
              <a:t>node </a:t>
            </a:r>
            <a:r>
              <a:rPr lang="en-US" dirty="0" err="1">
                <a:highlight>
                  <a:srgbClr val="FFFF00"/>
                </a:highlight>
              </a:rPr>
              <a:t>use.mjs</a:t>
            </a:r>
            <a:endParaRPr lang="en-IN" dirty="0">
              <a:highlight>
                <a:srgbClr val="FFFF00"/>
              </a:highlight>
            </a:endParaRPr>
          </a:p>
        </p:txBody>
      </p:sp>
    </p:spTree>
    <p:extLst>
      <p:ext uri="{BB962C8B-B14F-4D97-AF65-F5344CB8AC3E}">
        <p14:creationId xmlns:p14="http://schemas.microsoft.com/office/powerpoint/2010/main" val="261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5A82E5-7CD8-42F7-8425-BE7144159A65}"/>
              </a:ext>
            </a:extLst>
          </p:cNvPr>
          <p:cNvSpPr/>
          <p:nvPr/>
        </p:nvSpPr>
        <p:spPr>
          <a:xfrm>
            <a:off x="7964129" y="501445"/>
            <a:ext cx="3569110" cy="18484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A124A344-4DD7-415C-A8AE-775F30579BD6}"/>
              </a:ext>
            </a:extLst>
          </p:cNvPr>
          <p:cNvSpPr>
            <a:spLocks noGrp="1"/>
          </p:cNvSpPr>
          <p:nvPr>
            <p:ph type="title"/>
          </p:nvPr>
        </p:nvSpPr>
        <p:spPr>
          <a:xfrm>
            <a:off x="1494502" y="365125"/>
            <a:ext cx="9859297" cy="411623"/>
          </a:xfrm>
        </p:spPr>
        <p:txBody>
          <a:bodyPr>
            <a:normAutofit fontScale="90000"/>
          </a:bodyPr>
          <a:lstStyle/>
          <a:p>
            <a:r>
              <a:rPr lang="en-IN" dirty="0"/>
              <a:t>yield</a:t>
            </a:r>
          </a:p>
        </p:txBody>
      </p:sp>
      <p:sp>
        <p:nvSpPr>
          <p:cNvPr id="3" name="Content Placeholder 2">
            <a:extLst>
              <a:ext uri="{FF2B5EF4-FFF2-40B4-BE49-F238E27FC236}">
                <a16:creationId xmlns:a16="http://schemas.microsoft.com/office/drawing/2014/main" id="{A59159B6-D4AB-4CF1-83C2-D072EE9578CA}"/>
              </a:ext>
            </a:extLst>
          </p:cNvPr>
          <p:cNvSpPr>
            <a:spLocks noGrp="1"/>
          </p:cNvSpPr>
          <p:nvPr>
            <p:ph idx="1"/>
          </p:nvPr>
        </p:nvSpPr>
        <p:spPr>
          <a:xfrm>
            <a:off x="658761" y="1140542"/>
            <a:ext cx="10695039" cy="5036421"/>
          </a:xfrm>
        </p:spPr>
        <p:txBody>
          <a:bodyPr>
            <a:normAutofit fontScale="70000" lnSpcReduction="20000"/>
          </a:bodyPr>
          <a:lstStyle/>
          <a:p>
            <a:pPr marL="0" indent="0">
              <a:buNone/>
            </a:pPr>
            <a:r>
              <a:rPr lang="en-IN" b="0" dirty="0">
                <a:solidFill>
                  <a:srgbClr val="0000FF"/>
                </a:solidFill>
                <a:effectLst/>
                <a:latin typeface="Consolas" panose="020B0609020204030204" pitchFamily="49" charset="0"/>
              </a:rPr>
              <a:t>class</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Polygon</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constructor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Method</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795E26"/>
                </a:solidFill>
                <a:effectLst/>
                <a:latin typeface="Consolas" panose="020B0609020204030204" pitchFamily="49" charset="0"/>
              </a:rPr>
              <a:t>getSides</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for</a:t>
            </a:r>
            <a:r>
              <a:rPr lang="en-IN" b="0" dirty="0">
                <a:solidFill>
                  <a:srgbClr val="000000"/>
                </a:solidFill>
                <a:effectLst/>
                <a:latin typeface="Consolas" panose="020B0609020204030204" pitchFamily="49" charset="0"/>
              </a:rPr>
              <a:t>(</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side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of</a:t>
            </a: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this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sides</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yield</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side</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pentagon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new</a:t>
            </a:r>
            <a:r>
              <a:rPr lang="en-IN" b="0" dirty="0">
                <a:solidFill>
                  <a:srgbClr val="000000"/>
                </a:solidFill>
                <a:effectLst/>
                <a:latin typeface="Consolas" panose="020B0609020204030204" pitchFamily="49" charset="0"/>
              </a:rPr>
              <a:t> </a:t>
            </a:r>
            <a:r>
              <a:rPr lang="en-IN" b="0" dirty="0">
                <a:solidFill>
                  <a:srgbClr val="267F99"/>
                </a:solidFill>
                <a:effectLst/>
                <a:latin typeface="Consolas" panose="020B0609020204030204" pitchFamily="49" charset="0"/>
              </a:rPr>
              <a:t>Polygon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70C1"/>
                </a:solidFill>
                <a:effectLst/>
                <a:latin typeface="Consolas" panose="020B0609020204030204" pitchFamily="49" charset="0"/>
              </a:rPr>
              <a:t>pentagon</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getSides</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[1,2,3,4,5]</a:t>
            </a:r>
            <a:endParaRPr lang="en-IN" b="0" dirty="0">
              <a:solidFill>
                <a:srgbClr val="000000"/>
              </a:solidFill>
              <a:effectLst/>
              <a:latin typeface="Consolas" panose="020B0609020204030204" pitchFamily="49" charset="0"/>
            </a:endParaRPr>
          </a:p>
          <a:p>
            <a:pPr marL="0" indent="0">
              <a:buNone/>
            </a:pPr>
            <a:endParaRPr lang="en-IN" dirty="0"/>
          </a:p>
        </p:txBody>
      </p:sp>
      <p:graphicFrame>
        <p:nvGraphicFramePr>
          <p:cNvPr id="4" name="Table 4">
            <a:extLst>
              <a:ext uri="{FF2B5EF4-FFF2-40B4-BE49-F238E27FC236}">
                <a16:creationId xmlns:a16="http://schemas.microsoft.com/office/drawing/2014/main" id="{D852A068-0003-4AF1-9196-5699D3A336C1}"/>
              </a:ext>
            </a:extLst>
          </p:cNvPr>
          <p:cNvGraphicFramePr>
            <a:graphicFrameLocks noGrp="1"/>
          </p:cNvGraphicFramePr>
          <p:nvPr>
            <p:extLst>
              <p:ext uri="{D42A27DB-BD31-4B8C-83A1-F6EECF244321}">
                <p14:modId xmlns:p14="http://schemas.microsoft.com/office/powerpoint/2010/main" val="3704706769"/>
              </p:ext>
            </p:extLst>
          </p:nvPr>
        </p:nvGraphicFramePr>
        <p:xfrm>
          <a:off x="9036457" y="570936"/>
          <a:ext cx="2847670" cy="757084"/>
        </p:xfrm>
        <a:graphic>
          <a:graphicData uri="http://schemas.openxmlformats.org/drawingml/2006/table">
            <a:tbl>
              <a:tblPr firstRow="1" bandRow="1">
                <a:tableStyleId>{5C22544A-7EE6-4342-B048-85BDC9FD1C3A}</a:tableStyleId>
              </a:tblPr>
              <a:tblGrid>
                <a:gridCol w="569534">
                  <a:extLst>
                    <a:ext uri="{9D8B030D-6E8A-4147-A177-3AD203B41FA5}">
                      <a16:colId xmlns:a16="http://schemas.microsoft.com/office/drawing/2014/main" val="1456638514"/>
                    </a:ext>
                  </a:extLst>
                </a:gridCol>
                <a:gridCol w="569534">
                  <a:extLst>
                    <a:ext uri="{9D8B030D-6E8A-4147-A177-3AD203B41FA5}">
                      <a16:colId xmlns:a16="http://schemas.microsoft.com/office/drawing/2014/main" val="609457719"/>
                    </a:ext>
                  </a:extLst>
                </a:gridCol>
                <a:gridCol w="569534">
                  <a:extLst>
                    <a:ext uri="{9D8B030D-6E8A-4147-A177-3AD203B41FA5}">
                      <a16:colId xmlns:a16="http://schemas.microsoft.com/office/drawing/2014/main" val="2726309128"/>
                    </a:ext>
                  </a:extLst>
                </a:gridCol>
                <a:gridCol w="569534">
                  <a:extLst>
                    <a:ext uri="{9D8B030D-6E8A-4147-A177-3AD203B41FA5}">
                      <a16:colId xmlns:a16="http://schemas.microsoft.com/office/drawing/2014/main" val="879520956"/>
                    </a:ext>
                  </a:extLst>
                </a:gridCol>
                <a:gridCol w="569534">
                  <a:extLst>
                    <a:ext uri="{9D8B030D-6E8A-4147-A177-3AD203B41FA5}">
                      <a16:colId xmlns:a16="http://schemas.microsoft.com/office/drawing/2014/main" val="3687308767"/>
                    </a:ext>
                  </a:extLst>
                </a:gridCol>
              </a:tblGrid>
              <a:tr h="378542">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3296358803"/>
                  </a:ext>
                </a:extLst>
              </a:tr>
              <a:tr h="378542">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3096802262"/>
                  </a:ext>
                </a:extLst>
              </a:tr>
            </a:tbl>
          </a:graphicData>
        </a:graphic>
      </p:graphicFrame>
      <p:sp>
        <p:nvSpPr>
          <p:cNvPr id="5" name="TextBox 4">
            <a:extLst>
              <a:ext uri="{FF2B5EF4-FFF2-40B4-BE49-F238E27FC236}">
                <a16:creationId xmlns:a16="http://schemas.microsoft.com/office/drawing/2014/main" id="{131CC892-DB52-45DE-9CE4-C5EA6717D4AD}"/>
              </a:ext>
            </a:extLst>
          </p:cNvPr>
          <p:cNvSpPr txBox="1"/>
          <p:nvPr/>
        </p:nvSpPr>
        <p:spPr>
          <a:xfrm>
            <a:off x="8034095" y="903236"/>
            <a:ext cx="619080" cy="369332"/>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en-IN" dirty="0"/>
              <a:t>sides</a:t>
            </a:r>
          </a:p>
        </p:txBody>
      </p:sp>
      <p:sp>
        <p:nvSpPr>
          <p:cNvPr id="6" name="Rectangle 5">
            <a:extLst>
              <a:ext uri="{FF2B5EF4-FFF2-40B4-BE49-F238E27FC236}">
                <a16:creationId xmlns:a16="http://schemas.microsoft.com/office/drawing/2014/main" id="{29FCA468-3C7A-4B6B-8777-BD9BDB3D57F3}"/>
              </a:ext>
            </a:extLst>
          </p:cNvPr>
          <p:cNvSpPr/>
          <p:nvPr/>
        </p:nvSpPr>
        <p:spPr>
          <a:xfrm>
            <a:off x="5948516" y="2025445"/>
            <a:ext cx="1238865" cy="6194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pentagon</a:t>
            </a:r>
          </a:p>
        </p:txBody>
      </p:sp>
      <p:cxnSp>
        <p:nvCxnSpPr>
          <p:cNvPr id="8" name="Straight Arrow Connector 7">
            <a:extLst>
              <a:ext uri="{FF2B5EF4-FFF2-40B4-BE49-F238E27FC236}">
                <a16:creationId xmlns:a16="http://schemas.microsoft.com/office/drawing/2014/main" id="{00D75E19-DA07-4ACA-81F5-8D7FF1CA2F63}"/>
              </a:ext>
            </a:extLst>
          </p:cNvPr>
          <p:cNvCxnSpPr/>
          <p:nvPr/>
        </p:nvCxnSpPr>
        <p:spPr>
          <a:xfrm flipV="1">
            <a:off x="7305368" y="1887793"/>
            <a:ext cx="511277" cy="344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C991B8C-C575-43F2-812C-D2235F985C5F}"/>
              </a:ext>
            </a:extLst>
          </p:cNvPr>
          <p:cNvSpPr/>
          <p:nvPr/>
        </p:nvSpPr>
        <p:spPr>
          <a:xfrm>
            <a:off x="10255045" y="2998839"/>
            <a:ext cx="1474839" cy="2851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EA4C931-0AEF-4B57-9E96-E1CE1081A6C3}"/>
              </a:ext>
            </a:extLst>
          </p:cNvPr>
          <p:cNvSpPr txBox="1"/>
          <p:nvPr/>
        </p:nvSpPr>
        <p:spPr>
          <a:xfrm>
            <a:off x="10025661" y="2542910"/>
            <a:ext cx="1933606" cy="400110"/>
          </a:xfrm>
          <a:prstGeom prst="rect">
            <a:avLst/>
          </a:prstGeom>
          <a:noFill/>
        </p:spPr>
        <p:txBody>
          <a:bodyPr wrap="square">
            <a:spAutoFit/>
          </a:bodyPr>
          <a:lstStyle/>
          <a:p>
            <a:r>
              <a:rPr kumimoji="0" lang="en-IN" sz="20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20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getSides</a:t>
            </a:r>
            <a:r>
              <a:rPr kumimoji="0" lang="en-IN"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lang="en-IN" sz="1400" dirty="0"/>
          </a:p>
        </p:txBody>
      </p:sp>
      <p:cxnSp>
        <p:nvCxnSpPr>
          <p:cNvPr id="11" name="Straight Arrow Connector 10">
            <a:extLst>
              <a:ext uri="{FF2B5EF4-FFF2-40B4-BE49-F238E27FC236}">
                <a16:creationId xmlns:a16="http://schemas.microsoft.com/office/drawing/2014/main" id="{D49FC186-6F01-4CD7-8333-2CD68EB5AA1A}"/>
              </a:ext>
            </a:extLst>
          </p:cNvPr>
          <p:cNvCxnSpPr>
            <a:endCxn id="4" idx="1"/>
          </p:cNvCxnSpPr>
          <p:nvPr/>
        </p:nvCxnSpPr>
        <p:spPr>
          <a:xfrm flipV="1">
            <a:off x="8750710" y="949478"/>
            <a:ext cx="285747" cy="19106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181753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AA2612-2EAA-42CD-A5AC-1804C44DC496}"/>
              </a:ext>
            </a:extLst>
          </p:cNvPr>
          <p:cNvSpPr>
            <a:spLocks noGrp="1"/>
          </p:cNvSpPr>
          <p:nvPr>
            <p:ph idx="1"/>
          </p:nvPr>
        </p:nvSpPr>
        <p:spPr>
          <a:xfrm>
            <a:off x="98323" y="658761"/>
            <a:ext cx="5909187" cy="2005781"/>
          </a:xfrm>
        </p:spPr>
        <p:txBody>
          <a:bodyPr>
            <a:normAutofit fontScale="92500"/>
          </a:bodyPr>
          <a:lstStyle/>
          <a:p>
            <a:r>
              <a:rPr lang="en-US" sz="2000" b="0" i="0" dirty="0">
                <a:solidFill>
                  <a:srgbClr val="202124"/>
                </a:solidFill>
                <a:effectLst/>
                <a:latin typeface="arial" panose="020B0604020202020204" pitchFamily="34" charset="0"/>
              </a:rPr>
              <a:t>The yield keyword pauses generator function execution and the value of the expression following the yield keyword is returned to the generator's caller. It can be thought of as a generator-based version of the return keyword. ... A yield , which </a:t>
            </a:r>
            <a:r>
              <a:rPr lang="en-US" sz="2000" b="1" i="0" dirty="0">
                <a:solidFill>
                  <a:srgbClr val="202124"/>
                </a:solidFill>
                <a:effectLst/>
                <a:latin typeface="arial" panose="020B0604020202020204" pitchFamily="34" charset="0"/>
              </a:rPr>
              <a:t>causes the generator to once again pause and return the generator's new value</a:t>
            </a:r>
            <a:r>
              <a:rPr lang="en-US" sz="2000" b="0" i="0" dirty="0">
                <a:solidFill>
                  <a:srgbClr val="202124"/>
                </a:solidFill>
                <a:effectLst/>
                <a:latin typeface="arial" panose="020B0604020202020204" pitchFamily="34" charset="0"/>
              </a:rPr>
              <a:t>.</a:t>
            </a:r>
            <a:endParaRPr lang="en-IN" sz="2000" dirty="0"/>
          </a:p>
        </p:txBody>
      </p:sp>
      <p:sp>
        <p:nvSpPr>
          <p:cNvPr id="4" name="TextBox 3">
            <a:extLst>
              <a:ext uri="{FF2B5EF4-FFF2-40B4-BE49-F238E27FC236}">
                <a16:creationId xmlns:a16="http://schemas.microsoft.com/office/drawing/2014/main" id="{71BA9DF8-53EB-431F-8211-E73FB192200B}"/>
              </a:ext>
            </a:extLst>
          </p:cNvPr>
          <p:cNvSpPr txBox="1"/>
          <p:nvPr/>
        </p:nvSpPr>
        <p:spPr>
          <a:xfrm>
            <a:off x="6341808" y="-98043"/>
            <a:ext cx="4011561" cy="2585323"/>
          </a:xfrm>
          <a:prstGeom prst="rect">
            <a:avLst/>
          </a:prstGeom>
          <a:noFill/>
        </p:spPr>
        <p:txBody>
          <a:bodyPr wrap="square">
            <a:spAutoFit/>
          </a:bodyPr>
          <a:lstStyle/>
          <a:p>
            <a:r>
              <a:rPr lang="en-US" dirty="0"/>
              <a:t>&lt;script&gt;</a:t>
            </a:r>
          </a:p>
          <a:p>
            <a:r>
              <a:rPr lang="en-US" dirty="0"/>
              <a:t>function* </a:t>
            </a:r>
            <a:r>
              <a:rPr lang="en-US" dirty="0" err="1"/>
              <a:t>generateSequence</a:t>
            </a:r>
            <a:r>
              <a:rPr lang="en-US" dirty="0"/>
              <a:t>() {</a:t>
            </a:r>
          </a:p>
          <a:p>
            <a:r>
              <a:rPr lang="en-US" dirty="0"/>
              <a:t>  yield 1;</a:t>
            </a:r>
          </a:p>
          <a:p>
            <a:r>
              <a:rPr lang="en-US" dirty="0"/>
              <a:t>  yield 2;</a:t>
            </a:r>
          </a:p>
          <a:p>
            <a:r>
              <a:rPr lang="en-US" dirty="0"/>
              <a:t>  yield 3;</a:t>
            </a:r>
          </a:p>
          <a:p>
            <a:r>
              <a:rPr lang="en-US" dirty="0"/>
              <a:t>}</a:t>
            </a:r>
          </a:p>
          <a:p>
            <a:r>
              <a:rPr lang="en-US" dirty="0"/>
              <a:t>let sequence = [...</a:t>
            </a:r>
            <a:r>
              <a:rPr lang="en-US" dirty="0" err="1"/>
              <a:t>generateSequence</a:t>
            </a:r>
            <a:r>
              <a:rPr lang="en-US" dirty="0"/>
              <a:t>()];</a:t>
            </a:r>
          </a:p>
          <a:p>
            <a:r>
              <a:rPr lang="en-US" dirty="0"/>
              <a:t>alert(sequence); // 0, 1, 2, 3</a:t>
            </a:r>
          </a:p>
          <a:p>
            <a:r>
              <a:rPr lang="en-US" dirty="0"/>
              <a:t>&lt;/script&gt;</a:t>
            </a:r>
          </a:p>
        </p:txBody>
      </p:sp>
      <p:pic>
        <p:nvPicPr>
          <p:cNvPr id="6" name="Picture 5">
            <a:extLst>
              <a:ext uri="{FF2B5EF4-FFF2-40B4-BE49-F238E27FC236}">
                <a16:creationId xmlns:a16="http://schemas.microsoft.com/office/drawing/2014/main" id="{1970E10B-62A1-4A19-91A6-D97BDEFAC609}"/>
              </a:ext>
            </a:extLst>
          </p:cNvPr>
          <p:cNvPicPr>
            <a:picLocks noChangeAspect="1"/>
          </p:cNvPicPr>
          <p:nvPr/>
        </p:nvPicPr>
        <p:blipFill rotWithShape="1">
          <a:blip r:embed="rId2"/>
          <a:srcRect l="31936" t="6595" r="4032" b="24731"/>
          <a:stretch/>
        </p:blipFill>
        <p:spPr>
          <a:xfrm>
            <a:off x="393290" y="2664261"/>
            <a:ext cx="7806813" cy="4709651"/>
          </a:xfrm>
          <a:prstGeom prst="rect">
            <a:avLst/>
          </a:prstGeom>
        </p:spPr>
      </p:pic>
      <p:sp>
        <p:nvSpPr>
          <p:cNvPr id="8" name="TextBox 7">
            <a:extLst>
              <a:ext uri="{FF2B5EF4-FFF2-40B4-BE49-F238E27FC236}">
                <a16:creationId xmlns:a16="http://schemas.microsoft.com/office/drawing/2014/main" id="{B52C5B4F-067F-4F8E-A46F-7E70497BC797}"/>
              </a:ext>
            </a:extLst>
          </p:cNvPr>
          <p:cNvSpPr txBox="1"/>
          <p:nvPr/>
        </p:nvSpPr>
        <p:spPr>
          <a:xfrm>
            <a:off x="8809703" y="3871140"/>
            <a:ext cx="3205316" cy="369332"/>
          </a:xfrm>
          <a:prstGeom prst="rect">
            <a:avLst/>
          </a:prstGeom>
          <a:noFill/>
        </p:spPr>
        <p:txBody>
          <a:bodyPr wrap="square">
            <a:spAutoFit/>
          </a:bodyPr>
          <a:lstStyle/>
          <a:p>
            <a:r>
              <a:rPr lang="en-IN" dirty="0"/>
              <a:t>console.log(</a:t>
            </a:r>
            <a:r>
              <a:rPr lang="en-IN" dirty="0" err="1"/>
              <a:t>generateSequence</a:t>
            </a:r>
            <a:r>
              <a:rPr lang="en-IN" dirty="0"/>
              <a:t>())</a:t>
            </a:r>
          </a:p>
        </p:txBody>
      </p:sp>
      <p:cxnSp>
        <p:nvCxnSpPr>
          <p:cNvPr id="10" name="Straight Arrow Connector 9">
            <a:extLst>
              <a:ext uri="{FF2B5EF4-FFF2-40B4-BE49-F238E27FC236}">
                <a16:creationId xmlns:a16="http://schemas.microsoft.com/office/drawing/2014/main" id="{2F052185-BA36-41CE-9BAC-6F6936646813}"/>
              </a:ext>
            </a:extLst>
          </p:cNvPr>
          <p:cNvCxnSpPr/>
          <p:nvPr/>
        </p:nvCxnSpPr>
        <p:spPr>
          <a:xfrm flipH="1">
            <a:off x="7924800" y="4198374"/>
            <a:ext cx="875071" cy="816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552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1712CB-54A4-407C-9830-9C8B123A53DE}"/>
              </a:ext>
            </a:extLst>
          </p:cNvPr>
          <p:cNvSpPr>
            <a:spLocks noGrp="1"/>
          </p:cNvSpPr>
          <p:nvPr>
            <p:ph idx="1"/>
          </p:nvPr>
        </p:nvSpPr>
        <p:spPr>
          <a:xfrm>
            <a:off x="245806" y="698090"/>
            <a:ext cx="5633884" cy="6056671"/>
          </a:xfrm>
        </p:spPr>
        <p:txBody>
          <a:bodyPr>
            <a:normAutofit fontScale="62500" lnSpcReduction="20000"/>
          </a:bodyPr>
          <a:lstStyle/>
          <a:p>
            <a:pPr marL="0" indent="0">
              <a:buNone/>
            </a:pPr>
            <a:r>
              <a:rPr lang="en-IN" dirty="0"/>
              <a:t>&lt;script&gt;</a:t>
            </a:r>
          </a:p>
          <a:p>
            <a:pPr marL="0" indent="0">
              <a:buNone/>
            </a:pPr>
            <a:r>
              <a:rPr lang="en-IN" dirty="0"/>
              <a:t>class </a:t>
            </a:r>
            <a:r>
              <a:rPr lang="en-IN" dirty="0" err="1"/>
              <a:t>MyClass</a:t>
            </a:r>
            <a:r>
              <a:rPr lang="en-IN" dirty="0"/>
              <a:t> {</a:t>
            </a:r>
          </a:p>
          <a:p>
            <a:pPr marL="0" indent="0">
              <a:buNone/>
            </a:pPr>
            <a:r>
              <a:rPr lang="en-IN" dirty="0"/>
              <a:t>    *</a:t>
            </a:r>
            <a:r>
              <a:rPr lang="en-IN" dirty="0" err="1"/>
              <a:t>createIterator</a:t>
            </a:r>
            <a:r>
              <a:rPr lang="en-IN" dirty="0"/>
              <a:t>() {</a:t>
            </a:r>
          </a:p>
          <a:p>
            <a:pPr marL="0" indent="0">
              <a:buNone/>
            </a:pPr>
            <a:r>
              <a:rPr lang="en-IN" dirty="0"/>
              <a:t>        yield 1;</a:t>
            </a:r>
          </a:p>
          <a:p>
            <a:pPr marL="0" indent="0">
              <a:buNone/>
            </a:pPr>
            <a:r>
              <a:rPr lang="en-IN" dirty="0"/>
              <a:t>        yield 2;</a:t>
            </a:r>
          </a:p>
          <a:p>
            <a:pPr marL="0" indent="0">
              <a:buNone/>
            </a:pPr>
            <a:r>
              <a:rPr lang="en-IN" dirty="0"/>
              <a:t>        yield 3;</a:t>
            </a:r>
          </a:p>
          <a:p>
            <a:pPr marL="0" indent="0">
              <a:buNone/>
            </a:pPr>
            <a:r>
              <a:rPr lang="en-IN" dirty="0"/>
              <a:t>    }</a:t>
            </a:r>
          </a:p>
          <a:p>
            <a:pPr marL="0" indent="0">
              <a:buNone/>
            </a:pPr>
            <a:r>
              <a:rPr lang="en-IN" dirty="0"/>
              <a:t>}</a:t>
            </a:r>
          </a:p>
          <a:p>
            <a:pPr marL="0" indent="0">
              <a:buNone/>
            </a:pPr>
            <a:r>
              <a:rPr lang="en-IN" dirty="0"/>
              <a:t>let instance = new </a:t>
            </a:r>
            <a:r>
              <a:rPr lang="en-IN" dirty="0" err="1"/>
              <a:t>MyClass</a:t>
            </a:r>
            <a:r>
              <a:rPr lang="en-IN" dirty="0"/>
              <a:t>();</a:t>
            </a:r>
          </a:p>
          <a:p>
            <a:pPr marL="0" indent="0">
              <a:buNone/>
            </a:pPr>
            <a:r>
              <a:rPr lang="en-IN" dirty="0"/>
              <a:t>let iterator = </a:t>
            </a:r>
            <a:r>
              <a:rPr lang="en-IN" dirty="0" err="1"/>
              <a:t>instance.createIterator</a:t>
            </a:r>
            <a:r>
              <a:rPr lang="en-IN" dirty="0"/>
              <a:t>();</a:t>
            </a:r>
          </a:p>
          <a:p>
            <a:pPr marL="0" indent="0">
              <a:buNone/>
            </a:pPr>
            <a:r>
              <a:rPr lang="en-IN" dirty="0"/>
              <a:t>console.log(iterator);</a:t>
            </a:r>
          </a:p>
          <a:p>
            <a:pPr marL="0" indent="0">
              <a:buNone/>
            </a:pPr>
            <a:r>
              <a:rPr lang="en-IN" dirty="0"/>
              <a:t>let one=</a:t>
            </a:r>
            <a:r>
              <a:rPr lang="en-IN" dirty="0" err="1"/>
              <a:t>iterator.next</a:t>
            </a:r>
            <a:r>
              <a:rPr lang="en-IN" dirty="0"/>
              <a:t>();</a:t>
            </a:r>
          </a:p>
          <a:p>
            <a:pPr marL="0" indent="0">
              <a:buNone/>
            </a:pPr>
            <a:r>
              <a:rPr lang="en-IN" dirty="0"/>
              <a:t>alert(</a:t>
            </a:r>
            <a:r>
              <a:rPr lang="en-IN" dirty="0" err="1"/>
              <a:t>JSON.stringify</a:t>
            </a:r>
            <a:r>
              <a:rPr lang="en-IN" dirty="0"/>
              <a:t>(one));</a:t>
            </a:r>
          </a:p>
          <a:p>
            <a:pPr marL="0" indent="0">
              <a:buNone/>
            </a:pPr>
            <a:r>
              <a:rPr lang="en-IN" dirty="0"/>
              <a:t>let two=</a:t>
            </a:r>
            <a:r>
              <a:rPr lang="en-IN" dirty="0" err="1"/>
              <a:t>iterator.next</a:t>
            </a:r>
            <a:r>
              <a:rPr lang="en-IN" dirty="0"/>
              <a:t>();</a:t>
            </a:r>
          </a:p>
          <a:p>
            <a:pPr marL="0" indent="0">
              <a:buNone/>
            </a:pPr>
            <a:r>
              <a:rPr lang="en-IN" dirty="0"/>
              <a:t>alert(</a:t>
            </a:r>
            <a:r>
              <a:rPr lang="en-IN" dirty="0" err="1"/>
              <a:t>JSON.stringify</a:t>
            </a:r>
            <a:r>
              <a:rPr lang="en-IN" dirty="0"/>
              <a:t>(two));</a:t>
            </a:r>
          </a:p>
          <a:p>
            <a:pPr marL="0" indent="0">
              <a:buNone/>
            </a:pPr>
            <a:r>
              <a:rPr lang="en-IN" dirty="0"/>
              <a:t>let three=</a:t>
            </a:r>
            <a:r>
              <a:rPr lang="en-IN" dirty="0" err="1"/>
              <a:t>iterator.next</a:t>
            </a:r>
            <a:r>
              <a:rPr lang="en-IN" dirty="0"/>
              <a:t>();</a:t>
            </a:r>
          </a:p>
          <a:p>
            <a:pPr marL="0" indent="0">
              <a:buNone/>
            </a:pPr>
            <a:r>
              <a:rPr lang="en-IN" dirty="0"/>
              <a:t>alert(</a:t>
            </a:r>
            <a:r>
              <a:rPr lang="en-IN" dirty="0" err="1"/>
              <a:t>JSON.stringify</a:t>
            </a:r>
            <a:r>
              <a:rPr lang="en-IN" dirty="0"/>
              <a:t>(three));</a:t>
            </a:r>
          </a:p>
          <a:p>
            <a:pPr marL="0" indent="0">
              <a:buNone/>
            </a:pPr>
            <a:r>
              <a:rPr lang="en-IN" dirty="0"/>
              <a:t>let four=</a:t>
            </a:r>
            <a:r>
              <a:rPr lang="en-IN" dirty="0" err="1"/>
              <a:t>iterator.next</a:t>
            </a:r>
            <a:r>
              <a:rPr lang="en-IN" dirty="0"/>
              <a:t>();</a:t>
            </a:r>
          </a:p>
          <a:p>
            <a:pPr marL="0" indent="0">
              <a:buNone/>
            </a:pPr>
            <a:r>
              <a:rPr lang="en-IN" dirty="0"/>
              <a:t>alert(</a:t>
            </a:r>
            <a:r>
              <a:rPr lang="en-IN" dirty="0" err="1"/>
              <a:t>JSON.stringify</a:t>
            </a:r>
            <a:r>
              <a:rPr lang="en-IN" dirty="0"/>
              <a:t>(four));</a:t>
            </a:r>
          </a:p>
        </p:txBody>
      </p:sp>
      <p:sp>
        <p:nvSpPr>
          <p:cNvPr id="4" name="Rectangle 3">
            <a:extLst>
              <a:ext uri="{FF2B5EF4-FFF2-40B4-BE49-F238E27FC236}">
                <a16:creationId xmlns:a16="http://schemas.microsoft.com/office/drawing/2014/main" id="{199C2963-EF11-42BA-ABF4-CD0DF5917FAB}"/>
              </a:ext>
            </a:extLst>
          </p:cNvPr>
          <p:cNvSpPr/>
          <p:nvPr/>
        </p:nvSpPr>
        <p:spPr>
          <a:xfrm>
            <a:off x="5594555" y="2585884"/>
            <a:ext cx="501445" cy="56043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3F05449F-F938-477B-B30F-6C0295EE08AB}"/>
              </a:ext>
            </a:extLst>
          </p:cNvPr>
          <p:cNvSpPr txBox="1"/>
          <p:nvPr/>
        </p:nvSpPr>
        <p:spPr>
          <a:xfrm>
            <a:off x="5181603" y="2140662"/>
            <a:ext cx="1219198" cy="369332"/>
          </a:xfrm>
          <a:prstGeom prst="rect">
            <a:avLst/>
          </a:prstGeom>
          <a:noFill/>
        </p:spPr>
        <p:txBody>
          <a:bodyPr wrap="square">
            <a:spAutoFit/>
          </a:bodyPr>
          <a:lstStyle/>
          <a:p>
            <a:r>
              <a:rPr lang="en-IN" dirty="0"/>
              <a:t>instance </a:t>
            </a:r>
          </a:p>
        </p:txBody>
      </p:sp>
      <p:sp>
        <p:nvSpPr>
          <p:cNvPr id="7" name="Rectangle 6">
            <a:extLst>
              <a:ext uri="{FF2B5EF4-FFF2-40B4-BE49-F238E27FC236}">
                <a16:creationId xmlns:a16="http://schemas.microsoft.com/office/drawing/2014/main" id="{A015D6ED-C300-4F26-BE42-04E82797A9C7}"/>
              </a:ext>
            </a:extLst>
          </p:cNvPr>
          <p:cNvSpPr/>
          <p:nvPr/>
        </p:nvSpPr>
        <p:spPr>
          <a:xfrm>
            <a:off x="6272981" y="2140662"/>
            <a:ext cx="1592825" cy="11039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1B1939F-3721-4EA5-BE7A-3934979B5775}"/>
              </a:ext>
            </a:extLst>
          </p:cNvPr>
          <p:cNvSpPr txBox="1"/>
          <p:nvPr/>
        </p:nvSpPr>
        <p:spPr>
          <a:xfrm>
            <a:off x="6272981" y="1732001"/>
            <a:ext cx="1641987" cy="369332"/>
          </a:xfrm>
          <a:prstGeom prst="rect">
            <a:avLst/>
          </a:prstGeom>
          <a:noFill/>
        </p:spPr>
        <p:txBody>
          <a:bodyPr wrap="square">
            <a:spAutoFit/>
          </a:bodyPr>
          <a:lstStyle/>
          <a:p>
            <a:r>
              <a:rPr lang="en-IN" dirty="0" err="1"/>
              <a:t>MyClass</a:t>
            </a:r>
            <a:r>
              <a:rPr lang="en-IN" dirty="0"/>
              <a:t> </a:t>
            </a:r>
          </a:p>
        </p:txBody>
      </p:sp>
      <p:sp>
        <p:nvSpPr>
          <p:cNvPr id="10" name="Rectangle 9">
            <a:extLst>
              <a:ext uri="{FF2B5EF4-FFF2-40B4-BE49-F238E27FC236}">
                <a16:creationId xmlns:a16="http://schemas.microsoft.com/office/drawing/2014/main" id="{F3C313E2-D8D9-41A0-8A8E-107984C23886}"/>
              </a:ext>
            </a:extLst>
          </p:cNvPr>
          <p:cNvSpPr/>
          <p:nvPr/>
        </p:nvSpPr>
        <p:spPr>
          <a:xfrm>
            <a:off x="6725265" y="2438400"/>
            <a:ext cx="432619"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CEFAE170-9C0E-4302-9B6A-80EE52E94144}"/>
              </a:ext>
            </a:extLst>
          </p:cNvPr>
          <p:cNvCxnSpPr>
            <a:stCxn id="10" idx="3"/>
          </p:cNvCxnSpPr>
          <p:nvPr/>
        </p:nvCxnSpPr>
        <p:spPr>
          <a:xfrm flipV="1">
            <a:off x="7157884" y="2509994"/>
            <a:ext cx="1366684" cy="113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4EF3733-0058-4662-9494-CED1A4053BF5}"/>
              </a:ext>
            </a:extLst>
          </p:cNvPr>
          <p:cNvSpPr txBox="1"/>
          <p:nvPr/>
        </p:nvSpPr>
        <p:spPr>
          <a:xfrm>
            <a:off x="8524568" y="2253734"/>
            <a:ext cx="2035277" cy="369332"/>
          </a:xfrm>
          <a:prstGeom prst="rect">
            <a:avLst/>
          </a:prstGeom>
          <a:noFill/>
        </p:spPr>
        <p:txBody>
          <a:bodyPr wrap="square">
            <a:spAutoFit/>
          </a:bodyPr>
          <a:lstStyle/>
          <a:p>
            <a:r>
              <a:rPr lang="en-IN" dirty="0"/>
              <a:t>*</a:t>
            </a:r>
            <a:r>
              <a:rPr lang="en-IN" dirty="0" err="1"/>
              <a:t>createIterator</a:t>
            </a:r>
            <a:r>
              <a:rPr lang="en-IN" dirty="0"/>
              <a:t>() </a:t>
            </a:r>
          </a:p>
        </p:txBody>
      </p:sp>
      <p:sp>
        <p:nvSpPr>
          <p:cNvPr id="15" name="Rectangle 14">
            <a:extLst>
              <a:ext uri="{FF2B5EF4-FFF2-40B4-BE49-F238E27FC236}">
                <a16:creationId xmlns:a16="http://schemas.microsoft.com/office/drawing/2014/main" id="{B71B4483-E638-44D2-B998-9450EA949DD5}"/>
              </a:ext>
            </a:extLst>
          </p:cNvPr>
          <p:cNvSpPr/>
          <p:nvPr/>
        </p:nvSpPr>
        <p:spPr>
          <a:xfrm>
            <a:off x="8642555" y="2807732"/>
            <a:ext cx="2310580" cy="3385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F083B691-C44F-496F-8CF2-674C6F410AC8}"/>
              </a:ext>
            </a:extLst>
          </p:cNvPr>
          <p:cNvSpPr/>
          <p:nvPr/>
        </p:nvSpPr>
        <p:spPr>
          <a:xfrm>
            <a:off x="8731045" y="1199535"/>
            <a:ext cx="1445342" cy="688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19022AE5-58B9-4FD4-9A66-38D7BF02A198}"/>
              </a:ext>
            </a:extLst>
          </p:cNvPr>
          <p:cNvSpPr/>
          <p:nvPr/>
        </p:nvSpPr>
        <p:spPr>
          <a:xfrm>
            <a:off x="8642555" y="774601"/>
            <a:ext cx="1288026" cy="3693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generator</a:t>
            </a:r>
          </a:p>
        </p:txBody>
      </p:sp>
      <p:cxnSp>
        <p:nvCxnSpPr>
          <p:cNvPr id="21" name="Straight Connector 20">
            <a:extLst>
              <a:ext uri="{FF2B5EF4-FFF2-40B4-BE49-F238E27FC236}">
                <a16:creationId xmlns:a16="http://schemas.microsoft.com/office/drawing/2014/main" id="{9436744E-39A2-4369-95B1-5209621B3F79}"/>
              </a:ext>
            </a:extLst>
          </p:cNvPr>
          <p:cNvCxnSpPr/>
          <p:nvPr/>
        </p:nvCxnSpPr>
        <p:spPr>
          <a:xfrm>
            <a:off x="9542206" y="1976735"/>
            <a:ext cx="0" cy="533259"/>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45FD9BB8-09D8-4FF9-B22C-A7660868FFAD}"/>
              </a:ext>
            </a:extLst>
          </p:cNvPr>
          <p:cNvSpPr/>
          <p:nvPr/>
        </p:nvSpPr>
        <p:spPr>
          <a:xfrm>
            <a:off x="10373032" y="1143933"/>
            <a:ext cx="1641987" cy="83280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Next()</a:t>
            </a:r>
          </a:p>
          <a:p>
            <a:pPr algn="ctr"/>
            <a:r>
              <a:rPr lang="en-IN" dirty="0"/>
              <a:t>Return()</a:t>
            </a:r>
          </a:p>
          <a:p>
            <a:pPr algn="ctr"/>
            <a:r>
              <a:rPr lang="en-IN" dirty="0"/>
              <a:t>Throw()</a:t>
            </a:r>
          </a:p>
        </p:txBody>
      </p:sp>
      <p:sp>
        <p:nvSpPr>
          <p:cNvPr id="23" name="TextBox 22">
            <a:extLst>
              <a:ext uri="{FF2B5EF4-FFF2-40B4-BE49-F238E27FC236}">
                <a16:creationId xmlns:a16="http://schemas.microsoft.com/office/drawing/2014/main" id="{3082E543-7A38-4560-96FA-5FF9520BEE61}"/>
              </a:ext>
            </a:extLst>
          </p:cNvPr>
          <p:cNvSpPr txBox="1"/>
          <p:nvPr/>
        </p:nvSpPr>
        <p:spPr>
          <a:xfrm>
            <a:off x="7113638" y="4168877"/>
            <a:ext cx="4026310" cy="1477328"/>
          </a:xfrm>
          <a:prstGeom prst="rect">
            <a:avLst/>
          </a:prstGeom>
          <a:noFill/>
        </p:spPr>
        <p:txBody>
          <a:bodyPr wrap="square" rtlCol="0">
            <a:spAutoFit/>
          </a:bodyPr>
          <a:lstStyle/>
          <a:p>
            <a:r>
              <a:rPr lang="en-IN" dirty="0"/>
              <a:t>Can I use loop=</a:t>
            </a:r>
            <a:r>
              <a:rPr lang="en-IN" dirty="0">
                <a:sym typeface="Wingdings" panose="05000000000000000000" pitchFamily="2" charset="2"/>
              </a:rPr>
              <a:t> Yes</a:t>
            </a:r>
          </a:p>
          <a:p>
            <a:endParaRPr lang="en-IN" dirty="0">
              <a:sym typeface="Wingdings" panose="05000000000000000000" pitchFamily="2" charset="2"/>
            </a:endParaRPr>
          </a:p>
          <a:p>
            <a:endParaRPr lang="en-IN" dirty="0">
              <a:sym typeface="Wingdings" panose="05000000000000000000" pitchFamily="2" charset="2"/>
            </a:endParaRPr>
          </a:p>
          <a:p>
            <a:r>
              <a:rPr lang="en-IN" dirty="0"/>
              <a:t>for(let x of iterator)</a:t>
            </a:r>
          </a:p>
          <a:p>
            <a:r>
              <a:rPr lang="en-IN" dirty="0"/>
              <a:t>alert(x)</a:t>
            </a:r>
          </a:p>
        </p:txBody>
      </p:sp>
    </p:spTree>
    <p:extLst>
      <p:ext uri="{BB962C8B-B14F-4D97-AF65-F5344CB8AC3E}">
        <p14:creationId xmlns:p14="http://schemas.microsoft.com/office/powerpoint/2010/main" val="1396828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36D869-FAA3-4851-93DC-BBA737FB547A}"/>
              </a:ext>
            </a:extLst>
          </p:cNvPr>
          <p:cNvSpPr txBox="1"/>
          <p:nvPr/>
        </p:nvSpPr>
        <p:spPr>
          <a:xfrm>
            <a:off x="255639" y="688258"/>
            <a:ext cx="4444180" cy="5632311"/>
          </a:xfrm>
          <a:prstGeom prst="rect">
            <a:avLst/>
          </a:prstGeom>
          <a:noFill/>
        </p:spPr>
        <p:txBody>
          <a:bodyPr wrap="square">
            <a:spAutoFit/>
          </a:bodyPr>
          <a:lstStyle/>
          <a:p>
            <a:r>
              <a:rPr lang="en-IN" dirty="0"/>
              <a:t>class Company</a:t>
            </a:r>
          </a:p>
          <a:p>
            <a:r>
              <a:rPr lang="en-IN" dirty="0"/>
              <a:t>{     constructor()</a:t>
            </a:r>
          </a:p>
          <a:p>
            <a:r>
              <a:rPr lang="en-IN" dirty="0"/>
              <a:t>  {	</a:t>
            </a:r>
            <a:r>
              <a:rPr lang="en-IN" dirty="0" err="1"/>
              <a:t>this.x</a:t>
            </a:r>
            <a:r>
              <a:rPr lang="en-IN" dirty="0"/>
              <a:t>=new Array()</a:t>
            </a:r>
          </a:p>
          <a:p>
            <a:r>
              <a:rPr lang="en-IN" dirty="0"/>
              <a:t>	</a:t>
            </a:r>
            <a:r>
              <a:rPr lang="en-IN" dirty="0" err="1"/>
              <a:t>this.x</a:t>
            </a:r>
            <a:r>
              <a:rPr lang="en-IN" dirty="0"/>
              <a:t>[0]=new Employee("Raj",1);</a:t>
            </a:r>
          </a:p>
          <a:p>
            <a:r>
              <a:rPr lang="en-IN" dirty="0"/>
              <a:t>	</a:t>
            </a:r>
            <a:r>
              <a:rPr lang="en-IN" dirty="0" err="1"/>
              <a:t>this.x</a:t>
            </a:r>
            <a:r>
              <a:rPr lang="en-IN" dirty="0"/>
              <a:t>[1]=new Employee("Mona",2);</a:t>
            </a:r>
          </a:p>
          <a:p>
            <a:r>
              <a:rPr lang="en-IN" dirty="0"/>
              <a:t>	</a:t>
            </a:r>
            <a:r>
              <a:rPr lang="en-IN" dirty="0" err="1"/>
              <a:t>this.x</a:t>
            </a:r>
            <a:r>
              <a:rPr lang="en-IN" dirty="0"/>
              <a:t>[2]=new Employee("Geeta",3);</a:t>
            </a:r>
          </a:p>
          <a:p>
            <a:r>
              <a:rPr lang="en-IN" dirty="0"/>
              <a:t>	}</a:t>
            </a:r>
          </a:p>
          <a:p>
            <a:r>
              <a:rPr lang="en-IN" dirty="0"/>
              <a:t>	*</a:t>
            </a:r>
            <a:r>
              <a:rPr lang="en-IN" dirty="0" err="1"/>
              <a:t>crIterator</a:t>
            </a:r>
            <a:r>
              <a:rPr lang="en-IN" dirty="0"/>
              <a:t>() {</a:t>
            </a:r>
          </a:p>
          <a:p>
            <a:r>
              <a:rPr lang="en-IN" dirty="0"/>
              <a:t>		 yield *</a:t>
            </a:r>
            <a:r>
              <a:rPr lang="en-IN" dirty="0" err="1"/>
              <a:t>this.x</a:t>
            </a:r>
            <a:r>
              <a:rPr lang="en-IN" dirty="0"/>
              <a:t>;</a:t>
            </a:r>
          </a:p>
          <a:p>
            <a:r>
              <a:rPr lang="en-IN" dirty="0"/>
              <a:t>	}</a:t>
            </a:r>
          </a:p>
          <a:p>
            <a:r>
              <a:rPr lang="en-IN" dirty="0"/>
              <a:t>}</a:t>
            </a:r>
          </a:p>
          <a:p>
            <a:endParaRPr lang="en-IN" dirty="0"/>
          </a:p>
          <a:p>
            <a:r>
              <a:rPr lang="en-IN" dirty="0"/>
              <a:t>class Employee</a:t>
            </a:r>
          </a:p>
          <a:p>
            <a:r>
              <a:rPr lang="en-IN" dirty="0"/>
              <a:t>{	constructor(</a:t>
            </a:r>
            <a:r>
              <a:rPr lang="en-IN" dirty="0" err="1"/>
              <a:t>nm,id</a:t>
            </a:r>
            <a:r>
              <a:rPr lang="en-IN" dirty="0"/>
              <a:t>)</a:t>
            </a:r>
          </a:p>
          <a:p>
            <a:r>
              <a:rPr lang="en-IN" dirty="0"/>
              <a:t>	{this.name=nm;</a:t>
            </a:r>
          </a:p>
          <a:p>
            <a:r>
              <a:rPr lang="en-IN" dirty="0"/>
              <a:t>	this.id=id;</a:t>
            </a:r>
          </a:p>
          <a:p>
            <a:r>
              <a:rPr lang="en-IN" dirty="0"/>
              <a:t>	}</a:t>
            </a:r>
          </a:p>
          <a:p>
            <a:r>
              <a:rPr lang="en-IN" dirty="0"/>
              <a:t>	</a:t>
            </a:r>
            <a:r>
              <a:rPr lang="en-IN" dirty="0" err="1"/>
              <a:t>toString</a:t>
            </a:r>
            <a:r>
              <a:rPr lang="en-IN" dirty="0"/>
              <a:t>()</a:t>
            </a:r>
          </a:p>
          <a:p>
            <a:r>
              <a:rPr lang="en-IN" dirty="0"/>
              <a:t>	{return this.name+ " "+this.id; }</a:t>
            </a:r>
          </a:p>
          <a:p>
            <a:r>
              <a:rPr lang="en-IN" dirty="0"/>
              <a:t>}</a:t>
            </a:r>
          </a:p>
        </p:txBody>
      </p:sp>
      <p:sp>
        <p:nvSpPr>
          <p:cNvPr id="7" name="TextBox 6">
            <a:extLst>
              <a:ext uri="{FF2B5EF4-FFF2-40B4-BE49-F238E27FC236}">
                <a16:creationId xmlns:a16="http://schemas.microsoft.com/office/drawing/2014/main" id="{F96483D4-76B9-45DE-831B-867D8E7E2DBA}"/>
              </a:ext>
            </a:extLst>
          </p:cNvPr>
          <p:cNvSpPr txBox="1"/>
          <p:nvPr/>
        </p:nvSpPr>
        <p:spPr>
          <a:xfrm>
            <a:off x="5614219" y="-75834"/>
            <a:ext cx="4837471" cy="1754326"/>
          </a:xfrm>
          <a:prstGeom prst="rect">
            <a:avLst/>
          </a:prstGeom>
          <a:noFill/>
        </p:spPr>
        <p:txBody>
          <a:bodyPr wrap="square">
            <a:spAutoFit/>
          </a:bodyPr>
          <a:lstStyle/>
          <a:p>
            <a:r>
              <a:rPr lang="en-IN" dirty="0"/>
              <a:t>var cc=new Company();</a:t>
            </a:r>
          </a:p>
          <a:p>
            <a:endParaRPr lang="en-IN" dirty="0"/>
          </a:p>
          <a:p>
            <a:r>
              <a:rPr lang="en-IN" dirty="0"/>
              <a:t>     var </a:t>
            </a:r>
            <a:r>
              <a:rPr lang="en-IN" dirty="0" err="1"/>
              <a:t>i</a:t>
            </a:r>
            <a:r>
              <a:rPr lang="en-IN" dirty="0"/>
              <a:t>=  </a:t>
            </a:r>
            <a:r>
              <a:rPr lang="en-IN" dirty="0" err="1"/>
              <a:t>cc.crIterator</a:t>
            </a:r>
            <a:r>
              <a:rPr lang="en-IN" dirty="0"/>
              <a:t>();</a:t>
            </a:r>
          </a:p>
          <a:p>
            <a:r>
              <a:rPr lang="en-IN" dirty="0"/>
              <a:t>	 console.log(</a:t>
            </a:r>
            <a:r>
              <a:rPr lang="en-IN" dirty="0" err="1"/>
              <a:t>i</a:t>
            </a:r>
            <a:r>
              <a:rPr lang="en-IN" dirty="0"/>
              <a:t>)</a:t>
            </a:r>
          </a:p>
          <a:p>
            <a:r>
              <a:rPr lang="en-IN" dirty="0"/>
              <a:t>for(let x of </a:t>
            </a:r>
            <a:r>
              <a:rPr lang="en-IN" dirty="0" err="1"/>
              <a:t>i</a:t>
            </a:r>
            <a:r>
              <a:rPr lang="en-IN" dirty="0"/>
              <a:t>)</a:t>
            </a:r>
          </a:p>
          <a:p>
            <a:r>
              <a:rPr lang="en-IN" dirty="0" err="1"/>
              <a:t>document.write</a:t>
            </a:r>
            <a:r>
              <a:rPr lang="en-IN" dirty="0"/>
              <a:t>(x);</a:t>
            </a:r>
          </a:p>
        </p:txBody>
      </p:sp>
      <p:sp>
        <p:nvSpPr>
          <p:cNvPr id="8" name="Rectangle 7">
            <a:extLst>
              <a:ext uri="{FF2B5EF4-FFF2-40B4-BE49-F238E27FC236}">
                <a16:creationId xmlns:a16="http://schemas.microsoft.com/office/drawing/2014/main" id="{1EA25826-79B3-4504-AA7D-2B2236557369}"/>
              </a:ext>
            </a:extLst>
          </p:cNvPr>
          <p:cNvSpPr/>
          <p:nvPr/>
        </p:nvSpPr>
        <p:spPr>
          <a:xfrm>
            <a:off x="5614219" y="4198374"/>
            <a:ext cx="658762" cy="5309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598331E-8595-4951-BBF3-45EC74088DFD}"/>
              </a:ext>
            </a:extLst>
          </p:cNvPr>
          <p:cNvSpPr txBox="1"/>
          <p:nvPr/>
        </p:nvSpPr>
        <p:spPr>
          <a:xfrm>
            <a:off x="5673213" y="3829042"/>
            <a:ext cx="845574" cy="369332"/>
          </a:xfrm>
          <a:prstGeom prst="rect">
            <a:avLst/>
          </a:prstGeom>
          <a:noFill/>
        </p:spPr>
        <p:txBody>
          <a:bodyPr wrap="square">
            <a:spAutoFit/>
          </a:bodyPr>
          <a:lstStyle/>
          <a:p>
            <a:r>
              <a:rPr lang="en-IN" dirty="0"/>
              <a:t>cc</a:t>
            </a:r>
          </a:p>
        </p:txBody>
      </p:sp>
      <p:cxnSp>
        <p:nvCxnSpPr>
          <p:cNvPr id="12" name="Straight Arrow Connector 11">
            <a:extLst>
              <a:ext uri="{FF2B5EF4-FFF2-40B4-BE49-F238E27FC236}">
                <a16:creationId xmlns:a16="http://schemas.microsoft.com/office/drawing/2014/main" id="{33FF5438-83A0-4CCB-8625-4F610E3BA379}"/>
              </a:ext>
            </a:extLst>
          </p:cNvPr>
          <p:cNvCxnSpPr/>
          <p:nvPr/>
        </p:nvCxnSpPr>
        <p:spPr>
          <a:xfrm flipV="1">
            <a:off x="6272981" y="4463845"/>
            <a:ext cx="668593" cy="127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F0FEACA-E7D3-49AB-898A-0BFE58D3AD2F}"/>
              </a:ext>
            </a:extLst>
          </p:cNvPr>
          <p:cNvSpPr/>
          <p:nvPr/>
        </p:nvSpPr>
        <p:spPr>
          <a:xfrm>
            <a:off x="7030065" y="3949798"/>
            <a:ext cx="1386348" cy="1202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this.x</a:t>
            </a:r>
            <a:endParaRPr lang="en-IN" dirty="0"/>
          </a:p>
        </p:txBody>
      </p:sp>
      <p:sp>
        <p:nvSpPr>
          <p:cNvPr id="15" name="TextBox 14">
            <a:extLst>
              <a:ext uri="{FF2B5EF4-FFF2-40B4-BE49-F238E27FC236}">
                <a16:creationId xmlns:a16="http://schemas.microsoft.com/office/drawing/2014/main" id="{5A9DBD55-A41F-4B1B-B577-B0472D87A6BB}"/>
              </a:ext>
            </a:extLst>
          </p:cNvPr>
          <p:cNvSpPr txBox="1"/>
          <p:nvPr/>
        </p:nvSpPr>
        <p:spPr>
          <a:xfrm>
            <a:off x="6941574" y="3644376"/>
            <a:ext cx="1917290" cy="369332"/>
          </a:xfrm>
          <a:prstGeom prst="rect">
            <a:avLst/>
          </a:prstGeom>
          <a:noFill/>
        </p:spPr>
        <p:txBody>
          <a:bodyPr wrap="square">
            <a:spAutoFit/>
          </a:bodyPr>
          <a:lstStyle/>
          <a:p>
            <a:r>
              <a:rPr lang="en-IN" dirty="0"/>
              <a:t>new Company();</a:t>
            </a:r>
          </a:p>
        </p:txBody>
      </p:sp>
      <p:sp>
        <p:nvSpPr>
          <p:cNvPr id="16" name="Rectangle 15">
            <a:extLst>
              <a:ext uri="{FF2B5EF4-FFF2-40B4-BE49-F238E27FC236}">
                <a16:creationId xmlns:a16="http://schemas.microsoft.com/office/drawing/2014/main" id="{F9DBA6F7-2912-4938-98A5-A8B022251C1E}"/>
              </a:ext>
            </a:extLst>
          </p:cNvPr>
          <p:cNvSpPr/>
          <p:nvPr/>
        </p:nvSpPr>
        <p:spPr>
          <a:xfrm>
            <a:off x="7600336" y="4729316"/>
            <a:ext cx="550606" cy="2851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32F0F212-3FEB-4401-8AC8-07FC341F873A}"/>
              </a:ext>
            </a:extLst>
          </p:cNvPr>
          <p:cNvCxnSpPr/>
          <p:nvPr/>
        </p:nvCxnSpPr>
        <p:spPr>
          <a:xfrm flipV="1">
            <a:off x="8150942" y="4729316"/>
            <a:ext cx="570271" cy="1081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aphicFrame>
        <p:nvGraphicFramePr>
          <p:cNvPr id="19" name="Table 19">
            <a:extLst>
              <a:ext uri="{FF2B5EF4-FFF2-40B4-BE49-F238E27FC236}">
                <a16:creationId xmlns:a16="http://schemas.microsoft.com/office/drawing/2014/main" id="{EE802602-BE2F-4D58-B2A2-8AF5F6777205}"/>
              </a:ext>
            </a:extLst>
          </p:cNvPr>
          <p:cNvGraphicFramePr>
            <a:graphicFrameLocks noGrp="1"/>
          </p:cNvGraphicFramePr>
          <p:nvPr>
            <p:extLst>
              <p:ext uri="{D42A27DB-BD31-4B8C-83A1-F6EECF244321}">
                <p14:modId xmlns:p14="http://schemas.microsoft.com/office/powerpoint/2010/main" val="3148844821"/>
              </p:ext>
            </p:extLst>
          </p:nvPr>
        </p:nvGraphicFramePr>
        <p:xfrm>
          <a:off x="8937524" y="4100706"/>
          <a:ext cx="3087327" cy="913746"/>
        </p:xfrm>
        <a:graphic>
          <a:graphicData uri="http://schemas.openxmlformats.org/drawingml/2006/table">
            <a:tbl>
              <a:tblPr firstRow="1" bandRow="1">
                <a:tableStyleId>{5C22544A-7EE6-4342-B048-85BDC9FD1C3A}</a:tableStyleId>
              </a:tblPr>
              <a:tblGrid>
                <a:gridCol w="1029109">
                  <a:extLst>
                    <a:ext uri="{9D8B030D-6E8A-4147-A177-3AD203B41FA5}">
                      <a16:colId xmlns:a16="http://schemas.microsoft.com/office/drawing/2014/main" val="1480972931"/>
                    </a:ext>
                  </a:extLst>
                </a:gridCol>
                <a:gridCol w="1029109">
                  <a:extLst>
                    <a:ext uri="{9D8B030D-6E8A-4147-A177-3AD203B41FA5}">
                      <a16:colId xmlns:a16="http://schemas.microsoft.com/office/drawing/2014/main" val="3998086448"/>
                    </a:ext>
                  </a:extLst>
                </a:gridCol>
                <a:gridCol w="1029109">
                  <a:extLst>
                    <a:ext uri="{9D8B030D-6E8A-4147-A177-3AD203B41FA5}">
                      <a16:colId xmlns:a16="http://schemas.microsoft.com/office/drawing/2014/main" val="623269861"/>
                    </a:ext>
                  </a:extLst>
                </a:gridCol>
              </a:tblGrid>
              <a:tr h="456873">
                <a:tc>
                  <a:txBody>
                    <a:bodyPr/>
                    <a:lstStyle/>
                    <a:p>
                      <a:r>
                        <a:rPr lang="en-IN" dirty="0"/>
                        <a:t>0</a:t>
                      </a:r>
                    </a:p>
                  </a:txBody>
                  <a:tcPr/>
                </a:tc>
                <a:tc>
                  <a:txBody>
                    <a:bodyPr/>
                    <a:lstStyle/>
                    <a:p>
                      <a:r>
                        <a:rPr lang="en-IN" dirty="0"/>
                        <a:t>1</a:t>
                      </a:r>
                    </a:p>
                  </a:txBody>
                  <a:tcPr/>
                </a:tc>
                <a:tc>
                  <a:txBody>
                    <a:bodyPr/>
                    <a:lstStyle/>
                    <a:p>
                      <a:r>
                        <a:rPr lang="en-IN" dirty="0"/>
                        <a:t>2</a:t>
                      </a:r>
                    </a:p>
                  </a:txBody>
                  <a:tcPr/>
                </a:tc>
                <a:extLst>
                  <a:ext uri="{0D108BD9-81ED-4DB2-BD59-A6C34878D82A}">
                    <a16:rowId xmlns:a16="http://schemas.microsoft.com/office/drawing/2014/main" val="2591570538"/>
                  </a:ext>
                </a:extLst>
              </a:tr>
              <a:tr h="456873">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214415319"/>
                  </a:ext>
                </a:extLst>
              </a:tr>
            </a:tbl>
          </a:graphicData>
        </a:graphic>
      </p:graphicFrame>
      <p:sp>
        <p:nvSpPr>
          <p:cNvPr id="20" name="Rectangle 19">
            <a:extLst>
              <a:ext uri="{FF2B5EF4-FFF2-40B4-BE49-F238E27FC236}">
                <a16:creationId xmlns:a16="http://schemas.microsoft.com/office/drawing/2014/main" id="{E65C09B3-283A-4CFB-9159-0C4396B20568}"/>
              </a:ext>
            </a:extLst>
          </p:cNvPr>
          <p:cNvSpPr/>
          <p:nvPr/>
        </p:nvSpPr>
        <p:spPr>
          <a:xfrm>
            <a:off x="11395588" y="4739148"/>
            <a:ext cx="344129" cy="1769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828F4E79-95E6-4CA7-9655-D3AA00C952AA}"/>
              </a:ext>
            </a:extLst>
          </p:cNvPr>
          <p:cNvSpPr/>
          <p:nvPr/>
        </p:nvSpPr>
        <p:spPr>
          <a:xfrm>
            <a:off x="10259961" y="4694903"/>
            <a:ext cx="344129" cy="1769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6115F112-3543-4E00-9C6F-5A54D95422CC}"/>
              </a:ext>
            </a:extLst>
          </p:cNvPr>
          <p:cNvSpPr/>
          <p:nvPr/>
        </p:nvSpPr>
        <p:spPr>
          <a:xfrm>
            <a:off x="9296398" y="4694903"/>
            <a:ext cx="344129" cy="1769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CD38CBA0-E5FA-4742-846B-8530007C684F}"/>
              </a:ext>
            </a:extLst>
          </p:cNvPr>
          <p:cNvCxnSpPr/>
          <p:nvPr/>
        </p:nvCxnSpPr>
        <p:spPr>
          <a:xfrm>
            <a:off x="9350477" y="5014452"/>
            <a:ext cx="0" cy="39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37F9E5B-71BB-479A-B7C8-F1411AC721A2}"/>
              </a:ext>
            </a:extLst>
          </p:cNvPr>
          <p:cNvCxnSpPr/>
          <p:nvPr/>
        </p:nvCxnSpPr>
        <p:spPr>
          <a:xfrm>
            <a:off x="10427108" y="4916129"/>
            <a:ext cx="0" cy="39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DB137BB-D8BA-4CB6-87B8-2F84C01E881B}"/>
              </a:ext>
            </a:extLst>
          </p:cNvPr>
          <p:cNvCxnSpPr/>
          <p:nvPr/>
        </p:nvCxnSpPr>
        <p:spPr>
          <a:xfrm>
            <a:off x="11567652" y="4955458"/>
            <a:ext cx="0" cy="393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8D669D50-43D3-4C52-889A-22889E95B5FC}"/>
              </a:ext>
            </a:extLst>
          </p:cNvPr>
          <p:cNvSpPr/>
          <p:nvPr/>
        </p:nvSpPr>
        <p:spPr>
          <a:xfrm>
            <a:off x="8150943" y="5545394"/>
            <a:ext cx="1268358" cy="890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Id=1</a:t>
            </a:r>
          </a:p>
        </p:txBody>
      </p:sp>
      <p:sp>
        <p:nvSpPr>
          <p:cNvPr id="28" name="Rectangle 27">
            <a:extLst>
              <a:ext uri="{FF2B5EF4-FFF2-40B4-BE49-F238E27FC236}">
                <a16:creationId xmlns:a16="http://schemas.microsoft.com/office/drawing/2014/main" id="{58296C24-3A18-4769-BBD8-61DD7B22A575}"/>
              </a:ext>
            </a:extLst>
          </p:cNvPr>
          <p:cNvSpPr/>
          <p:nvPr/>
        </p:nvSpPr>
        <p:spPr>
          <a:xfrm>
            <a:off x="9625782" y="5461873"/>
            <a:ext cx="1268358" cy="890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Name=Mona</a:t>
            </a:r>
          </a:p>
          <a:p>
            <a:pPr algn="ctr"/>
            <a:r>
              <a:rPr lang="en-IN" dirty="0"/>
              <a:t>Id=2</a:t>
            </a:r>
          </a:p>
        </p:txBody>
      </p:sp>
      <p:sp>
        <p:nvSpPr>
          <p:cNvPr id="29" name="Rectangle 28">
            <a:extLst>
              <a:ext uri="{FF2B5EF4-FFF2-40B4-BE49-F238E27FC236}">
                <a16:creationId xmlns:a16="http://schemas.microsoft.com/office/drawing/2014/main" id="{A03C4981-9D23-4F0F-8330-F989420EBD4F}"/>
              </a:ext>
            </a:extLst>
          </p:cNvPr>
          <p:cNvSpPr/>
          <p:nvPr/>
        </p:nvSpPr>
        <p:spPr>
          <a:xfrm>
            <a:off x="10958046" y="5466081"/>
            <a:ext cx="1415850" cy="8905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Name=Geeta</a:t>
            </a:r>
          </a:p>
          <a:p>
            <a:pPr algn="ctr"/>
            <a:r>
              <a:rPr lang="en-IN" dirty="0"/>
              <a:t>Id=3</a:t>
            </a:r>
          </a:p>
        </p:txBody>
      </p:sp>
      <p:sp>
        <p:nvSpPr>
          <p:cNvPr id="31" name="TextBox 30">
            <a:extLst>
              <a:ext uri="{FF2B5EF4-FFF2-40B4-BE49-F238E27FC236}">
                <a16:creationId xmlns:a16="http://schemas.microsoft.com/office/drawing/2014/main" id="{AD899E72-688D-49F9-8682-870509786DBC}"/>
              </a:ext>
            </a:extLst>
          </p:cNvPr>
          <p:cNvSpPr txBox="1"/>
          <p:nvPr/>
        </p:nvSpPr>
        <p:spPr>
          <a:xfrm>
            <a:off x="7057104" y="4013708"/>
            <a:ext cx="1457632" cy="369332"/>
          </a:xfrm>
          <a:prstGeom prst="rect">
            <a:avLst/>
          </a:prstGeom>
          <a:noFill/>
        </p:spPr>
        <p:txBody>
          <a:bodyPr wrap="square">
            <a:spAutoFit/>
          </a:bodyPr>
          <a:lstStyle/>
          <a:p>
            <a:r>
              <a:rPr lang="en-IN" b="1" dirty="0">
                <a:solidFill>
                  <a:schemeClr val="bg1"/>
                </a:solidFill>
              </a:rPr>
              <a:t>*</a:t>
            </a:r>
            <a:r>
              <a:rPr lang="en-IN" b="1" dirty="0" err="1">
                <a:solidFill>
                  <a:schemeClr val="bg1"/>
                </a:solidFill>
              </a:rPr>
              <a:t>crIterator</a:t>
            </a:r>
            <a:r>
              <a:rPr lang="en-IN" b="1" dirty="0">
                <a:solidFill>
                  <a:schemeClr val="bg1"/>
                </a:solidFill>
              </a:rPr>
              <a:t>() </a:t>
            </a:r>
          </a:p>
        </p:txBody>
      </p:sp>
    </p:spTree>
    <p:extLst>
      <p:ext uri="{BB962C8B-B14F-4D97-AF65-F5344CB8AC3E}">
        <p14:creationId xmlns:p14="http://schemas.microsoft.com/office/powerpoint/2010/main" val="1808667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3986A3-0BDF-42AF-AC61-635756D6B90E}"/>
              </a:ext>
            </a:extLst>
          </p:cNvPr>
          <p:cNvSpPr txBox="1"/>
          <p:nvPr/>
        </p:nvSpPr>
        <p:spPr>
          <a:xfrm>
            <a:off x="137652" y="609600"/>
            <a:ext cx="5063613" cy="6463308"/>
          </a:xfrm>
          <a:prstGeom prst="rect">
            <a:avLst/>
          </a:prstGeom>
          <a:noFill/>
        </p:spPr>
        <p:txBody>
          <a:bodyPr wrap="square">
            <a:spAutoFit/>
          </a:bodyPr>
          <a:lstStyle/>
          <a:p>
            <a:r>
              <a:rPr lang="en-IN" dirty="0"/>
              <a:t>&lt;script&gt;</a:t>
            </a:r>
          </a:p>
          <a:p>
            <a:r>
              <a:rPr lang="en-IN" dirty="0"/>
              <a:t>class </a:t>
            </a:r>
            <a:r>
              <a:rPr lang="en-IN" dirty="0" err="1"/>
              <a:t>MyIterator</a:t>
            </a:r>
            <a:r>
              <a:rPr lang="en-IN" dirty="0"/>
              <a:t> {</a:t>
            </a:r>
          </a:p>
          <a:p>
            <a:r>
              <a:rPr lang="en-IN" dirty="0"/>
              <a:t>    constructor() {</a:t>
            </a:r>
          </a:p>
          <a:p>
            <a:r>
              <a:rPr lang="en-IN" dirty="0"/>
              <a:t>	</a:t>
            </a:r>
            <a:r>
              <a:rPr lang="en-IN" dirty="0" err="1"/>
              <a:t>this.i</a:t>
            </a:r>
            <a:r>
              <a:rPr lang="en-IN" dirty="0"/>
              <a:t>=0;</a:t>
            </a:r>
          </a:p>
          <a:p>
            <a:r>
              <a:rPr lang="en-IN" dirty="0"/>
              <a:t>        </a:t>
            </a:r>
            <a:r>
              <a:rPr lang="en-IN" dirty="0" err="1"/>
              <a:t>this.step</a:t>
            </a:r>
            <a:r>
              <a:rPr lang="en-IN" dirty="0"/>
              <a:t> = new Array(1,2);</a:t>
            </a:r>
          </a:p>
          <a:p>
            <a:r>
              <a:rPr lang="en-IN" dirty="0"/>
              <a:t>    }</a:t>
            </a:r>
          </a:p>
          <a:p>
            <a:r>
              <a:rPr lang="en-IN" dirty="0"/>
              <a:t>    [</a:t>
            </a:r>
            <a:r>
              <a:rPr lang="en-IN" dirty="0" err="1"/>
              <a:t>Symbol.iterator</a:t>
            </a:r>
            <a:r>
              <a:rPr lang="en-IN" dirty="0"/>
              <a:t>]() {	   </a:t>
            </a:r>
          </a:p>
          <a:p>
            <a:r>
              <a:rPr lang="en-IN" dirty="0"/>
              <a:t>        return this;</a:t>
            </a:r>
          </a:p>
          <a:p>
            <a:r>
              <a:rPr lang="en-IN" dirty="0"/>
              <a:t>    }</a:t>
            </a:r>
          </a:p>
          <a:p>
            <a:r>
              <a:rPr lang="en-IN" dirty="0"/>
              <a:t>    next() {</a:t>
            </a:r>
          </a:p>
          <a:p>
            <a:r>
              <a:rPr lang="en-IN" dirty="0"/>
              <a:t>	if(</a:t>
            </a:r>
            <a:r>
              <a:rPr lang="en-IN" dirty="0" err="1"/>
              <a:t>this.i</a:t>
            </a:r>
            <a:r>
              <a:rPr lang="en-IN" dirty="0"/>
              <a:t>&lt;</a:t>
            </a:r>
            <a:r>
              <a:rPr lang="en-IN" dirty="0" err="1"/>
              <a:t>this.step.length</a:t>
            </a:r>
            <a:r>
              <a:rPr lang="en-IN" dirty="0"/>
              <a:t>)</a:t>
            </a:r>
          </a:p>
          <a:p>
            <a:r>
              <a:rPr lang="en-IN" dirty="0"/>
              <a:t>	  {</a:t>
            </a:r>
          </a:p>
          <a:p>
            <a:r>
              <a:rPr lang="en-IN" dirty="0"/>
              <a:t>      return  </a:t>
            </a:r>
            <a:r>
              <a:rPr lang="en-IN" dirty="0" err="1"/>
              <a:t>this.step</a:t>
            </a:r>
            <a:r>
              <a:rPr lang="en-IN" dirty="0"/>
              <a:t>[</a:t>
            </a:r>
            <a:r>
              <a:rPr lang="en-IN" dirty="0" err="1"/>
              <a:t>this.i</a:t>
            </a:r>
            <a:r>
              <a:rPr lang="en-IN" dirty="0"/>
              <a:t>++];</a:t>
            </a:r>
          </a:p>
          <a:p>
            <a:r>
              <a:rPr lang="en-IN" dirty="0"/>
              <a:t>       }</a:t>
            </a:r>
          </a:p>
          <a:p>
            <a:r>
              <a:rPr lang="en-IN" dirty="0"/>
              <a:t>                return {done: true};</a:t>
            </a:r>
          </a:p>
          <a:p>
            <a:r>
              <a:rPr lang="en-IN" dirty="0"/>
              <a:t>    }</a:t>
            </a:r>
          </a:p>
          <a:p>
            <a:r>
              <a:rPr lang="en-IN" dirty="0"/>
              <a:t>}</a:t>
            </a:r>
          </a:p>
          <a:p>
            <a:r>
              <a:rPr lang="en-IN" dirty="0"/>
              <a:t>let </a:t>
            </a:r>
            <a:r>
              <a:rPr lang="en-IN" dirty="0" err="1"/>
              <a:t>iter</a:t>
            </a:r>
            <a:r>
              <a:rPr lang="en-IN" dirty="0"/>
              <a:t> = new </a:t>
            </a:r>
            <a:r>
              <a:rPr lang="en-IN" dirty="0" err="1"/>
              <a:t>MyIterator</a:t>
            </a:r>
            <a:r>
              <a:rPr lang="en-IN" dirty="0"/>
              <a:t>();</a:t>
            </a:r>
          </a:p>
          <a:p>
            <a:r>
              <a:rPr lang="en-IN" dirty="0"/>
              <a:t>console.log(</a:t>
            </a:r>
            <a:r>
              <a:rPr lang="en-IN" dirty="0" err="1"/>
              <a:t>iter.next</a:t>
            </a:r>
            <a:r>
              <a:rPr lang="en-IN" dirty="0"/>
              <a:t>());</a:t>
            </a:r>
          </a:p>
          <a:p>
            <a:r>
              <a:rPr lang="en-IN" dirty="0"/>
              <a:t>console.log(</a:t>
            </a:r>
            <a:r>
              <a:rPr lang="en-IN" dirty="0" err="1"/>
              <a:t>iter.next</a:t>
            </a:r>
            <a:r>
              <a:rPr lang="en-IN" dirty="0"/>
              <a:t>());</a:t>
            </a:r>
          </a:p>
          <a:p>
            <a:r>
              <a:rPr lang="en-IN" dirty="0"/>
              <a:t>// output: {done: true}</a:t>
            </a:r>
          </a:p>
          <a:p>
            <a:r>
              <a:rPr lang="en-IN" dirty="0"/>
              <a:t>console.log(</a:t>
            </a:r>
            <a:r>
              <a:rPr lang="en-IN" dirty="0" err="1"/>
              <a:t>iter.next</a:t>
            </a:r>
            <a:r>
              <a:rPr lang="en-IN" dirty="0"/>
              <a:t>());</a:t>
            </a:r>
          </a:p>
          <a:p>
            <a:r>
              <a:rPr lang="en-IN" dirty="0"/>
              <a:t>&lt;/script&gt;</a:t>
            </a:r>
          </a:p>
        </p:txBody>
      </p:sp>
      <p:sp>
        <p:nvSpPr>
          <p:cNvPr id="6" name="Rectangle 5">
            <a:extLst>
              <a:ext uri="{FF2B5EF4-FFF2-40B4-BE49-F238E27FC236}">
                <a16:creationId xmlns:a16="http://schemas.microsoft.com/office/drawing/2014/main" id="{47890B35-9B5B-43B6-863C-531DFDDE5AA8}"/>
              </a:ext>
            </a:extLst>
          </p:cNvPr>
          <p:cNvSpPr/>
          <p:nvPr/>
        </p:nvSpPr>
        <p:spPr>
          <a:xfrm>
            <a:off x="3608439" y="157316"/>
            <a:ext cx="5476567" cy="5801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Can I write </a:t>
            </a:r>
            <a:r>
              <a:rPr lang="en-IN"/>
              <a:t>iterator manually </a:t>
            </a:r>
          </a:p>
        </p:txBody>
      </p:sp>
    </p:spTree>
    <p:extLst>
      <p:ext uri="{BB962C8B-B14F-4D97-AF65-F5344CB8AC3E}">
        <p14:creationId xmlns:p14="http://schemas.microsoft.com/office/powerpoint/2010/main" val="336271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1938</TotalTime>
  <Words>3042</Words>
  <Application>Microsoft Office PowerPoint</Application>
  <PresentationFormat>Widescreen</PresentationFormat>
  <Paragraphs>509</Paragraphs>
  <Slides>20</Slides>
  <Notes>5</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vt:lpstr>
      <vt:lpstr>Calibri</vt:lpstr>
      <vt:lpstr>Cambria</vt:lpstr>
      <vt:lpstr>Consolas</vt:lpstr>
      <vt:lpstr>Garamond</vt:lpstr>
      <vt:lpstr>Office Theme</vt:lpstr>
      <vt:lpstr>PowerPoint Presentation</vt:lpstr>
      <vt:lpstr>PowerPoint Presentation</vt:lpstr>
      <vt:lpstr>ES8 #--private variable</vt:lpstr>
      <vt:lpstr>ES8 _--protected variable</vt:lpstr>
      <vt:lpstr>Inheritance            _protected</vt:lpstr>
      <vt:lpstr>Complete application</vt:lpstr>
      <vt:lpstr>PowerPoint Presentation</vt:lpstr>
      <vt:lpstr>PowerPoint Presentation</vt:lpstr>
      <vt:lpstr>Private method/private static variable</vt:lpstr>
      <vt:lpstr>PowerPoint Presentation</vt:lpstr>
      <vt:lpstr>PowerPoint Presentation</vt:lpstr>
      <vt:lpstr>PowerPoint Presentation</vt:lpstr>
      <vt:lpstr>PowerPoint Presentation</vt:lpstr>
      <vt:lpstr>Using Import export</vt:lpstr>
      <vt:lpstr>PowerPoint Presentation</vt:lpstr>
      <vt:lpstr>yield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145</cp:revision>
  <dcterms:created xsi:type="dcterms:W3CDTF">2020-09-09T03:29:17Z</dcterms:created>
  <dcterms:modified xsi:type="dcterms:W3CDTF">2024-01-06T04:08:23Z</dcterms:modified>
</cp:coreProperties>
</file>