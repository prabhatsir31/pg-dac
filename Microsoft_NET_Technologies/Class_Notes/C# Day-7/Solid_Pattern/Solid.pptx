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97" autoAdjust="0"/>
    <p:restoredTop sz="94660"/>
  </p:normalViewPr>
  <p:slideViewPr>
    <p:cSldViewPr snapToGrid="0">
      <p:cViewPr varScale="1">
        <p:scale>
          <a:sx n="85" d="100"/>
          <a:sy n="85" d="100"/>
        </p:scale>
        <p:origin x="456"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24DB5E7-3463-4D2D-B377-7A48FDC5F9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E81E161F-528B-4058-927E-68E8AD6BDE73}"/>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1B2988B-3C87-476B-8FB8-118606CE0C67}" type="datetimeFigureOut">
              <a:rPr lang="en-IN" smtClean="0"/>
              <a:t>08-05-2023</a:t>
            </a:fld>
            <a:endParaRPr lang="en-IN"/>
          </a:p>
        </p:txBody>
      </p:sp>
      <p:sp>
        <p:nvSpPr>
          <p:cNvPr id="4" name="Slide Image Placeholder 3">
            <a:extLst>
              <a:ext uri="{FF2B5EF4-FFF2-40B4-BE49-F238E27FC236}">
                <a16:creationId xmlns:a16="http://schemas.microsoft.com/office/drawing/2014/main" id="{D24ABD9A-B048-4C9E-AECD-157960234AD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a:extLst>
              <a:ext uri="{FF2B5EF4-FFF2-40B4-BE49-F238E27FC236}">
                <a16:creationId xmlns:a16="http://schemas.microsoft.com/office/drawing/2014/main" id="{4AC4C100-60EC-4B26-A03F-D45E539DFDC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a:extLst>
              <a:ext uri="{FF2B5EF4-FFF2-40B4-BE49-F238E27FC236}">
                <a16:creationId xmlns:a16="http://schemas.microsoft.com/office/drawing/2014/main" id="{D867DBCB-6D72-4CC0-AF64-0E833B5F6E70}"/>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a:extLst>
              <a:ext uri="{FF2B5EF4-FFF2-40B4-BE49-F238E27FC236}">
                <a16:creationId xmlns:a16="http://schemas.microsoft.com/office/drawing/2014/main" id="{09EB0D16-FFC5-446F-AC1C-8BF415FDA335}"/>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3D1EAD-256C-478B-B753-B2629164A95D}"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E4E7DA4-A53B-42FB-B526-5B580D41AFAB}" type="slidenum">
              <a:rPr lang="en-IN" smtClean="0"/>
              <a:t>3</a:t>
            </a:fld>
            <a:endParaRPr lang="en-IN"/>
          </a:p>
        </p:txBody>
      </p:sp>
    </p:spTree>
    <p:extLst>
      <p:ext uri="{BB962C8B-B14F-4D97-AF65-F5344CB8AC3E}">
        <p14:creationId xmlns:p14="http://schemas.microsoft.com/office/powerpoint/2010/main" val="39629112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57406-74BB-459A-A6CF-8EB7E518E3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4DFBAA7-6830-4C1F-94D7-8A2067BD90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2D688F6-FE2A-42E0-A084-D7D44ACF1405}"/>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5" name="Footer Placeholder 4">
            <a:extLst>
              <a:ext uri="{FF2B5EF4-FFF2-40B4-BE49-F238E27FC236}">
                <a16:creationId xmlns:a16="http://schemas.microsoft.com/office/drawing/2014/main" id="{B271F284-9A77-46A0-AB3A-3C1052497D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E417E6-5924-4722-94CF-BCA0E9DF084A}"/>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3405385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C04B-E120-417F-AF0D-97E5B38A208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0ED4C83-BB6D-4B9F-A0C8-2B1FE0C33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28B6CC-4785-429D-878A-B0A56A34080B}"/>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5" name="Footer Placeholder 4">
            <a:extLst>
              <a:ext uri="{FF2B5EF4-FFF2-40B4-BE49-F238E27FC236}">
                <a16:creationId xmlns:a16="http://schemas.microsoft.com/office/drawing/2014/main" id="{BBFF020C-0782-49E0-9F8D-258CF7B7E6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B84E99D-6792-4EF0-9C1E-7CE2A91EBC4E}"/>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1182974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A1555-CB40-465E-88C7-2F5E5DD791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3F89FE-70E8-40D7-AA78-5E48AB1FE04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CAFE470-DFA8-4F75-AB8A-507DDC801FC0}"/>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5" name="Footer Placeholder 4">
            <a:extLst>
              <a:ext uri="{FF2B5EF4-FFF2-40B4-BE49-F238E27FC236}">
                <a16:creationId xmlns:a16="http://schemas.microsoft.com/office/drawing/2014/main" id="{03E6D418-89ED-4D95-8C72-934EE718D9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0CF1E9-06F3-475E-A2CB-FF0DD830C6C0}"/>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17600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C1E5B-0BBB-465B-865D-37CAE1C1699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665E92-2F08-4A92-9BE2-CAA16864397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D4C82F0-68F7-4A72-A7AE-2D26455391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D9051E6-3A45-4520-9916-09AFF011A95A}"/>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6" name="Footer Placeholder 5">
            <a:extLst>
              <a:ext uri="{FF2B5EF4-FFF2-40B4-BE49-F238E27FC236}">
                <a16:creationId xmlns:a16="http://schemas.microsoft.com/office/drawing/2014/main" id="{B87361DA-0ED8-4BFE-AD0E-B204E7609FC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8EED692-473C-427E-8AF1-78A7DD86FE33}"/>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13853941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370C5-49E9-45D8-9EA7-C03975286D7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E0CAA7F-B3A5-4575-AD7B-6A60F8A756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B9F2B1C-032C-4D46-A9BC-CC4F242F2A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B83A55-A71D-42DC-94D8-572C2544E2E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6665DA-B029-4CCF-A839-7478566819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8F703AB-D64C-4DC9-A921-B89F48CC5D84}"/>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8" name="Footer Placeholder 7">
            <a:extLst>
              <a:ext uri="{FF2B5EF4-FFF2-40B4-BE49-F238E27FC236}">
                <a16:creationId xmlns:a16="http://schemas.microsoft.com/office/drawing/2014/main" id="{D7DFB758-2ED8-4B28-B18C-D2FBB795B8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46E8AE2-647A-4DDB-9F9A-0CDEC720D877}"/>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233673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3903C-17BF-44AC-BD6A-6FA39DC393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901E426-C41F-4E1D-8D6F-03BCDFE49361}"/>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4" name="Footer Placeholder 3">
            <a:extLst>
              <a:ext uri="{FF2B5EF4-FFF2-40B4-BE49-F238E27FC236}">
                <a16:creationId xmlns:a16="http://schemas.microsoft.com/office/drawing/2014/main" id="{8F6F769C-E1DF-4264-9DC7-2FAA54D94BB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8CCA2B9-5D44-4C54-923A-8F15C8205A74}"/>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871216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E65DE7-F388-4668-B72F-A44E9FE1EA8C}"/>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3" name="Footer Placeholder 2">
            <a:extLst>
              <a:ext uri="{FF2B5EF4-FFF2-40B4-BE49-F238E27FC236}">
                <a16:creationId xmlns:a16="http://schemas.microsoft.com/office/drawing/2014/main" id="{D328BD47-E340-4E41-8659-6C0B6BED145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A7BEC9E-DD33-4CF0-A2C7-B1FCD396BEB2}"/>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8234775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25690-29E5-4DA9-8B94-888D3B157A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73874E0-6DDF-4FFA-B8B4-24CC6FFC5F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B90C86E-3C28-4E10-AB9D-1E71A5E76B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3AE5320-CC5C-4E53-8627-98AE4760228C}"/>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6" name="Footer Placeholder 5">
            <a:extLst>
              <a:ext uri="{FF2B5EF4-FFF2-40B4-BE49-F238E27FC236}">
                <a16:creationId xmlns:a16="http://schemas.microsoft.com/office/drawing/2014/main" id="{57F70885-CE3D-43EE-89A1-318C4595A7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3A2FF1A-8A6F-43C0-A86C-4E1BCC0D1887}"/>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747890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D826F-C0A8-4D5D-AAD1-8C673171B6E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433B93F-A39B-44EE-9F2C-0E610A10D4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3D83135-C356-4FDA-8F90-8299C2417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7CEC84-AA06-4DC6-98AE-445E0FC22CBC}"/>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6" name="Footer Placeholder 5">
            <a:extLst>
              <a:ext uri="{FF2B5EF4-FFF2-40B4-BE49-F238E27FC236}">
                <a16:creationId xmlns:a16="http://schemas.microsoft.com/office/drawing/2014/main" id="{993D6BE5-69DF-4D0F-8AF9-8FE53B915D3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50C8FC-5D03-4EBB-8002-5F7B3D6AF7C2}"/>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38911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4DCAD-B847-4CA8-9316-6633980BBCA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5FEE0CB-F1FF-478B-95D9-776BD456E4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C59D2F-EFDE-4EF7-B697-9CF55132162F}"/>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5" name="Footer Placeholder 4">
            <a:extLst>
              <a:ext uri="{FF2B5EF4-FFF2-40B4-BE49-F238E27FC236}">
                <a16:creationId xmlns:a16="http://schemas.microsoft.com/office/drawing/2014/main" id="{202CA6C2-6DDB-40C1-89FB-F03A8618506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1D4C4C-0A7D-4B88-A076-9FA1AF72F6B3}"/>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3071037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DA420C-07A8-4042-84B6-52DA5DAFA52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C03AF6-D29D-4830-88CA-92810E314B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7A6E30-4F70-49D6-9330-EE262EB0B25C}"/>
              </a:ext>
            </a:extLst>
          </p:cNvPr>
          <p:cNvSpPr>
            <a:spLocks noGrp="1"/>
          </p:cNvSpPr>
          <p:nvPr>
            <p:ph type="dt" sz="half" idx="10"/>
          </p:nvPr>
        </p:nvSpPr>
        <p:spPr/>
        <p:txBody>
          <a:bodyPr/>
          <a:lstStyle/>
          <a:p>
            <a:fld id="{8E6030F7-C059-4CA0-8897-34224C256806}" type="datetimeFigureOut">
              <a:rPr lang="en-IN" smtClean="0"/>
              <a:t>08-05-2023</a:t>
            </a:fld>
            <a:endParaRPr lang="en-IN"/>
          </a:p>
        </p:txBody>
      </p:sp>
      <p:sp>
        <p:nvSpPr>
          <p:cNvPr id="5" name="Footer Placeholder 4">
            <a:extLst>
              <a:ext uri="{FF2B5EF4-FFF2-40B4-BE49-F238E27FC236}">
                <a16:creationId xmlns:a16="http://schemas.microsoft.com/office/drawing/2014/main" id="{FFE15D31-EACC-454C-B930-5AB522308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3FAF050-7F4B-4BE0-BE6F-33FB820DA26C}"/>
              </a:ext>
            </a:extLst>
          </p:cNvPr>
          <p:cNvSpPr>
            <a:spLocks noGrp="1"/>
          </p:cNvSpPr>
          <p:nvPr>
            <p:ph type="sldNum" sz="quarter" idx="12"/>
          </p:nvPr>
        </p:nvSpPr>
        <p:spPr/>
        <p:txBody>
          <a:bodyPr/>
          <a:lstStyle/>
          <a:p>
            <a:fld id="{1B972650-CBF2-4FE0-A4B5-D928A62BBAFD}" type="slidenum">
              <a:rPr lang="en-IN" smtClean="0"/>
              <a:t>‹#›</a:t>
            </a:fld>
            <a:endParaRPr lang="en-IN"/>
          </a:p>
        </p:txBody>
      </p:sp>
    </p:spTree>
    <p:extLst>
      <p:ext uri="{BB962C8B-B14F-4D97-AF65-F5344CB8AC3E}">
        <p14:creationId xmlns:p14="http://schemas.microsoft.com/office/powerpoint/2010/main" val="1173917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697F0A-2884-4603-858A-0A535058D7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B3941EA-4DC9-44CF-9346-904C247590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B04CCF-B542-49CE-8FCF-81AA3F5520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6030F7-C059-4CA0-8897-34224C256806}" type="datetimeFigureOut">
              <a:rPr lang="en-IN" smtClean="0"/>
              <a:t>08-05-2023</a:t>
            </a:fld>
            <a:endParaRPr lang="en-IN"/>
          </a:p>
        </p:txBody>
      </p:sp>
      <p:sp>
        <p:nvSpPr>
          <p:cNvPr id="5" name="Footer Placeholder 4">
            <a:extLst>
              <a:ext uri="{FF2B5EF4-FFF2-40B4-BE49-F238E27FC236}">
                <a16:creationId xmlns:a16="http://schemas.microsoft.com/office/drawing/2014/main" id="{6E7F67F7-BC24-48DF-B882-5298EA119F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8909D33-1EEC-43C7-963A-601A9819A5A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72650-CBF2-4FE0-A4B5-D928A62BBAFD}" type="slidenum">
              <a:rPr lang="en-IN" smtClean="0"/>
              <a:t>‹#›</a:t>
            </a:fld>
            <a:endParaRPr lang="en-IN"/>
          </a:p>
        </p:txBody>
      </p:sp>
    </p:spTree>
    <p:extLst>
      <p:ext uri="{BB962C8B-B14F-4D97-AF65-F5344CB8AC3E}">
        <p14:creationId xmlns:p14="http://schemas.microsoft.com/office/powerpoint/2010/main" val="33632323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51D042-D3EE-4B61-A6BC-7A9A1D486FFD}"/>
              </a:ext>
            </a:extLst>
          </p:cNvPr>
          <p:cNvSpPr txBox="1"/>
          <p:nvPr/>
        </p:nvSpPr>
        <p:spPr>
          <a:xfrm>
            <a:off x="255639" y="324465"/>
            <a:ext cx="11808542" cy="1754326"/>
          </a:xfrm>
          <a:prstGeom prst="rect">
            <a:avLst/>
          </a:prstGeom>
          <a:noFill/>
        </p:spPr>
        <p:txBody>
          <a:bodyPr wrap="square">
            <a:spAutoFit/>
          </a:bodyPr>
          <a:lstStyle/>
          <a:p>
            <a:pPr algn="ctr"/>
            <a:r>
              <a:rPr lang="en-US" b="1" dirty="0"/>
              <a:t>SOLID Introduction</a:t>
            </a:r>
          </a:p>
          <a:p>
            <a:r>
              <a:rPr lang="en-US" dirty="0"/>
              <a:t>SOLID principles are the design principles that enable us manage most of the software design problems</a:t>
            </a:r>
          </a:p>
          <a:p>
            <a:r>
              <a:rPr lang="en-US" dirty="0"/>
              <a:t>The term SOLID is an acronym for five design principles intended to make software designs more understandable, flexible and maintainable</a:t>
            </a:r>
          </a:p>
          <a:p>
            <a:r>
              <a:rPr lang="en-US" dirty="0"/>
              <a:t>The principles are a subset of many principles promoted by Robert C. Martin</a:t>
            </a:r>
          </a:p>
          <a:p>
            <a:r>
              <a:rPr lang="en-US" dirty="0"/>
              <a:t>The SOLID acronym was first introduced by Michael Feather</a:t>
            </a:r>
            <a:endParaRPr lang="en-IN" dirty="0"/>
          </a:p>
        </p:txBody>
      </p:sp>
      <p:sp>
        <p:nvSpPr>
          <p:cNvPr id="7" name="TextBox 6">
            <a:extLst>
              <a:ext uri="{FF2B5EF4-FFF2-40B4-BE49-F238E27FC236}">
                <a16:creationId xmlns:a16="http://schemas.microsoft.com/office/drawing/2014/main" id="{97E7044C-646F-4B0B-B6BB-58DDAE2F1B77}"/>
              </a:ext>
            </a:extLst>
          </p:cNvPr>
          <p:cNvSpPr txBox="1"/>
          <p:nvPr/>
        </p:nvSpPr>
        <p:spPr>
          <a:xfrm>
            <a:off x="255639" y="2347818"/>
            <a:ext cx="11592232" cy="1754326"/>
          </a:xfrm>
          <a:prstGeom prst="rect">
            <a:avLst/>
          </a:prstGeom>
          <a:noFill/>
        </p:spPr>
        <p:txBody>
          <a:bodyPr wrap="square">
            <a:spAutoFit/>
          </a:bodyPr>
          <a:lstStyle/>
          <a:p>
            <a:pPr algn="ctr"/>
            <a:r>
              <a:rPr lang="en-IN" b="1" dirty="0"/>
              <a:t>SOLID Acronym</a:t>
            </a:r>
          </a:p>
          <a:p>
            <a:r>
              <a:rPr lang="en-IN" dirty="0"/>
              <a:t>S : Single Responsibility Principle (SRP) </a:t>
            </a:r>
          </a:p>
          <a:p>
            <a:r>
              <a:rPr lang="en-IN" dirty="0"/>
              <a:t>O : Open closed Principle (OSP) </a:t>
            </a:r>
          </a:p>
          <a:p>
            <a:r>
              <a:rPr lang="en-IN" dirty="0"/>
              <a:t>L :  </a:t>
            </a:r>
            <a:r>
              <a:rPr lang="en-IN" dirty="0" err="1"/>
              <a:t>Liskov</a:t>
            </a:r>
            <a:r>
              <a:rPr lang="en-IN" dirty="0"/>
              <a:t> substitution Principle (LSP) </a:t>
            </a:r>
          </a:p>
          <a:p>
            <a:r>
              <a:rPr lang="en-IN" dirty="0"/>
              <a:t>I  :  Interface Segregation Principle (ISP) </a:t>
            </a:r>
          </a:p>
          <a:p>
            <a:r>
              <a:rPr lang="en-IN" dirty="0"/>
              <a:t>D : Dependency Inversion Principle (DIP)</a:t>
            </a:r>
          </a:p>
        </p:txBody>
      </p:sp>
    </p:spTree>
    <p:extLst>
      <p:ext uri="{BB962C8B-B14F-4D97-AF65-F5344CB8AC3E}">
        <p14:creationId xmlns:p14="http://schemas.microsoft.com/office/powerpoint/2010/main" val="3260132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54825E8-6770-419B-88B5-B2C4675D3244}"/>
              </a:ext>
            </a:extLst>
          </p:cNvPr>
          <p:cNvSpPr txBox="1"/>
          <p:nvPr/>
        </p:nvSpPr>
        <p:spPr>
          <a:xfrm>
            <a:off x="108155" y="96230"/>
            <a:ext cx="6096000" cy="1754326"/>
          </a:xfrm>
          <a:prstGeom prst="rect">
            <a:avLst/>
          </a:prstGeom>
          <a:noFill/>
        </p:spPr>
        <p:txBody>
          <a:bodyPr wrap="square">
            <a:spAutoFit/>
          </a:bodyPr>
          <a:lstStyle/>
          <a:p>
            <a:pPr algn="ctr"/>
            <a:r>
              <a:rPr lang="en-US" b="1" dirty="0"/>
              <a:t>Single Responsibility Principle</a:t>
            </a:r>
          </a:p>
          <a:p>
            <a:r>
              <a:rPr lang="en-US" dirty="0"/>
              <a:t>Robert C. Martin expresses the principle as, "A class should have only one reason to change”</a:t>
            </a:r>
          </a:p>
          <a:p>
            <a:r>
              <a:rPr lang="en-US" dirty="0"/>
              <a:t>Every module or class should have responsibility over a single part of the functionality provided by the software, and that responsibility should be entirely encapsulated by the class</a:t>
            </a:r>
            <a:endParaRPr lang="en-IN" dirty="0"/>
          </a:p>
        </p:txBody>
      </p:sp>
      <p:sp>
        <p:nvSpPr>
          <p:cNvPr id="9" name="TextBox 8">
            <a:extLst>
              <a:ext uri="{FF2B5EF4-FFF2-40B4-BE49-F238E27FC236}">
                <a16:creationId xmlns:a16="http://schemas.microsoft.com/office/drawing/2014/main" id="{E682FAC8-FA68-4B07-BD36-C73FE3410CF8}"/>
              </a:ext>
            </a:extLst>
          </p:cNvPr>
          <p:cNvSpPr txBox="1"/>
          <p:nvPr/>
        </p:nvSpPr>
        <p:spPr>
          <a:xfrm>
            <a:off x="0" y="2136338"/>
            <a:ext cx="6096000" cy="2585323"/>
          </a:xfrm>
          <a:prstGeom prst="rect">
            <a:avLst/>
          </a:prstGeom>
          <a:noFill/>
        </p:spPr>
        <p:txBody>
          <a:bodyPr wrap="square">
            <a:spAutoFit/>
          </a:bodyPr>
          <a:lstStyle/>
          <a:p>
            <a:pPr algn="ctr"/>
            <a:r>
              <a:rPr lang="en-US" b="1" dirty="0" err="1"/>
              <a:t>Liskov</a:t>
            </a:r>
            <a:r>
              <a:rPr lang="en-US" b="1" dirty="0"/>
              <a:t> Substitution Principle</a:t>
            </a:r>
          </a:p>
          <a:p>
            <a:r>
              <a:rPr lang="en-US" dirty="0"/>
              <a:t>Introduced by Barbara </a:t>
            </a:r>
            <a:r>
              <a:rPr lang="en-US" dirty="0" err="1"/>
              <a:t>Liskov</a:t>
            </a:r>
            <a:r>
              <a:rPr lang="en-US" dirty="0"/>
              <a:t> state that “objects in a program should be replaceable with instances of their sub-types without altering the correctness of that program”</a:t>
            </a:r>
          </a:p>
          <a:p>
            <a:r>
              <a:rPr lang="en-US" dirty="0"/>
              <a:t>If a program module is using a Base class, then the reference to the Base class can be replaced with a Derived class without affecting the functionality of the program module</a:t>
            </a:r>
          </a:p>
          <a:p>
            <a:r>
              <a:rPr lang="en-US" dirty="0"/>
              <a:t>We can also state that Derived types must be substitutable for their base types</a:t>
            </a:r>
            <a:endParaRPr lang="en-IN" dirty="0"/>
          </a:p>
        </p:txBody>
      </p:sp>
      <p:sp>
        <p:nvSpPr>
          <p:cNvPr id="11" name="TextBox 10">
            <a:extLst>
              <a:ext uri="{FF2B5EF4-FFF2-40B4-BE49-F238E27FC236}">
                <a16:creationId xmlns:a16="http://schemas.microsoft.com/office/drawing/2014/main" id="{ADCE32F6-BFFC-4BDB-8287-02B5F1EB3BB7}"/>
              </a:ext>
            </a:extLst>
          </p:cNvPr>
          <p:cNvSpPr txBox="1"/>
          <p:nvPr/>
        </p:nvSpPr>
        <p:spPr>
          <a:xfrm>
            <a:off x="6071420" y="98968"/>
            <a:ext cx="6120580" cy="2585323"/>
          </a:xfrm>
          <a:prstGeom prst="rect">
            <a:avLst/>
          </a:prstGeom>
          <a:noFill/>
        </p:spPr>
        <p:txBody>
          <a:bodyPr wrap="square">
            <a:spAutoFit/>
          </a:bodyPr>
          <a:lstStyle/>
          <a:p>
            <a:pPr algn="ctr"/>
            <a:r>
              <a:rPr lang="en-US" b="1" dirty="0"/>
              <a:t>Open/Closed Principle</a:t>
            </a:r>
          </a:p>
          <a:p>
            <a:r>
              <a:rPr lang="en-US" dirty="0"/>
              <a:t>“Software entities should be open for extension, but closed for modification”</a:t>
            </a:r>
          </a:p>
          <a:p>
            <a:r>
              <a:rPr lang="en-US" dirty="0"/>
              <a:t>The design and writing of the code should be done in a way that new functionality should be added with minimum changes in the existing code </a:t>
            </a:r>
          </a:p>
          <a:p>
            <a:r>
              <a:rPr lang="en-US" dirty="0"/>
              <a:t>The design should be done in a way to allow the adding of new functionality as new classes, keeping as much as possible existing code unchanged</a:t>
            </a:r>
            <a:endParaRPr lang="en-IN" dirty="0"/>
          </a:p>
        </p:txBody>
      </p:sp>
      <p:sp>
        <p:nvSpPr>
          <p:cNvPr id="13" name="TextBox 12">
            <a:extLst>
              <a:ext uri="{FF2B5EF4-FFF2-40B4-BE49-F238E27FC236}">
                <a16:creationId xmlns:a16="http://schemas.microsoft.com/office/drawing/2014/main" id="{C3DEE9C4-AA62-41C9-85C6-2F6842D09C53}"/>
              </a:ext>
            </a:extLst>
          </p:cNvPr>
          <p:cNvSpPr txBox="1"/>
          <p:nvPr/>
        </p:nvSpPr>
        <p:spPr>
          <a:xfrm>
            <a:off x="6314769" y="2684291"/>
            <a:ext cx="5385618" cy="1754326"/>
          </a:xfrm>
          <a:prstGeom prst="rect">
            <a:avLst/>
          </a:prstGeom>
          <a:noFill/>
        </p:spPr>
        <p:txBody>
          <a:bodyPr wrap="square">
            <a:spAutoFit/>
          </a:bodyPr>
          <a:lstStyle/>
          <a:p>
            <a:pPr algn="ctr"/>
            <a:r>
              <a:rPr lang="en-US" b="1" dirty="0"/>
              <a:t>Interface Segregation Principle</a:t>
            </a:r>
          </a:p>
          <a:p>
            <a:r>
              <a:rPr lang="en-US" dirty="0"/>
              <a:t>“Many client-specific interfaces are better than one general-purpose interface”</a:t>
            </a:r>
          </a:p>
          <a:p>
            <a:r>
              <a:rPr lang="en-US" dirty="0"/>
              <a:t>We should not enforce clients to implement interfaces that they don't use. Instead of creating one big interface we can break down it to smaller interfaces</a:t>
            </a:r>
            <a:endParaRPr lang="en-IN" dirty="0"/>
          </a:p>
        </p:txBody>
      </p:sp>
      <p:sp>
        <p:nvSpPr>
          <p:cNvPr id="15" name="TextBox 14">
            <a:extLst>
              <a:ext uri="{FF2B5EF4-FFF2-40B4-BE49-F238E27FC236}">
                <a16:creationId xmlns:a16="http://schemas.microsoft.com/office/drawing/2014/main" id="{1668F89F-D687-4C13-AE72-32D69111A8FD}"/>
              </a:ext>
            </a:extLst>
          </p:cNvPr>
          <p:cNvSpPr txBox="1"/>
          <p:nvPr/>
        </p:nvSpPr>
        <p:spPr>
          <a:xfrm>
            <a:off x="6096000" y="4652835"/>
            <a:ext cx="6140244" cy="1477328"/>
          </a:xfrm>
          <a:prstGeom prst="rect">
            <a:avLst/>
          </a:prstGeom>
          <a:noFill/>
        </p:spPr>
        <p:txBody>
          <a:bodyPr wrap="square">
            <a:spAutoFit/>
          </a:bodyPr>
          <a:lstStyle/>
          <a:p>
            <a:pPr algn="ctr"/>
            <a:r>
              <a:rPr lang="en-US" b="1" dirty="0"/>
              <a:t>Dependency Inversion Principle</a:t>
            </a:r>
          </a:p>
          <a:p>
            <a:r>
              <a:rPr lang="en-US" dirty="0"/>
              <a:t>One should “depend upon abstractions, [not] concretions"</a:t>
            </a:r>
          </a:p>
          <a:p>
            <a:r>
              <a:rPr lang="en-US" dirty="0"/>
              <a:t>Abstractions should not depend on the details whereas the details should depend on abstractions</a:t>
            </a:r>
          </a:p>
          <a:p>
            <a:r>
              <a:rPr lang="en-US" dirty="0"/>
              <a:t>High-level modules should not depend on low level modules </a:t>
            </a:r>
            <a:endParaRPr lang="en-IN" dirty="0"/>
          </a:p>
        </p:txBody>
      </p:sp>
    </p:spTree>
    <p:extLst>
      <p:ext uri="{BB962C8B-B14F-4D97-AF65-F5344CB8AC3E}">
        <p14:creationId xmlns:p14="http://schemas.microsoft.com/office/powerpoint/2010/main" val="388565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AC056D7-825A-49B4-8124-02CB0F9D4A3F}"/>
              </a:ext>
            </a:extLst>
          </p:cNvPr>
          <p:cNvSpPr txBox="1"/>
          <p:nvPr/>
        </p:nvSpPr>
        <p:spPr>
          <a:xfrm>
            <a:off x="186813" y="252467"/>
            <a:ext cx="11788878" cy="4801314"/>
          </a:xfrm>
          <a:prstGeom prst="rect">
            <a:avLst/>
          </a:prstGeom>
          <a:noFill/>
        </p:spPr>
        <p:txBody>
          <a:bodyPr wrap="square">
            <a:spAutoFit/>
          </a:bodyPr>
          <a:lstStyle/>
          <a:p>
            <a:r>
              <a:rPr lang="en-US" b="1" dirty="0"/>
              <a:t>If we don’t follow SOLID Principles </a:t>
            </a:r>
          </a:p>
          <a:p>
            <a:endParaRPr lang="en-US" b="1" dirty="0"/>
          </a:p>
          <a:p>
            <a:r>
              <a:rPr lang="en-US" dirty="0"/>
              <a:t>we  End up with tight or strong coupling of the code with many other modules/applications</a:t>
            </a:r>
          </a:p>
          <a:p>
            <a:r>
              <a:rPr lang="en-US" dirty="0"/>
              <a:t>Tight coupling causes time to implement any new requirement, features or any bug fixes and some times it creates unknown issues</a:t>
            </a:r>
          </a:p>
          <a:p>
            <a:r>
              <a:rPr lang="en-US" dirty="0"/>
              <a:t>End up with a code which is not testable</a:t>
            </a:r>
          </a:p>
          <a:p>
            <a:r>
              <a:rPr lang="en-US" dirty="0"/>
              <a:t>End up with duplication of code</a:t>
            </a:r>
          </a:p>
          <a:p>
            <a:r>
              <a:rPr lang="en-US" dirty="0"/>
              <a:t>End up creating new bugs by fixing another bug</a:t>
            </a:r>
          </a:p>
          <a:p>
            <a:r>
              <a:rPr lang="en-US" dirty="0"/>
              <a:t>End up with many unknown issues in the application development cycle</a:t>
            </a:r>
          </a:p>
          <a:p>
            <a:endParaRPr lang="en-US" dirty="0"/>
          </a:p>
          <a:p>
            <a:r>
              <a:rPr lang="en-US" b="1" dirty="0"/>
              <a:t>Following SOLID Principles helps us to </a:t>
            </a:r>
          </a:p>
          <a:p>
            <a:endParaRPr lang="en-US" b="1" dirty="0"/>
          </a:p>
          <a:p>
            <a:r>
              <a:rPr lang="en-US" dirty="0"/>
              <a:t>Achieve reduction in complexity of code</a:t>
            </a:r>
          </a:p>
          <a:p>
            <a:r>
              <a:rPr lang="en-US" dirty="0"/>
              <a:t>Increase readability, extensibility and maintenance</a:t>
            </a:r>
          </a:p>
          <a:p>
            <a:r>
              <a:rPr lang="en-US" dirty="0"/>
              <a:t>Reduce error and implement Reusability</a:t>
            </a:r>
          </a:p>
          <a:p>
            <a:r>
              <a:rPr lang="en-US" dirty="0"/>
              <a:t>Achieve Better testability</a:t>
            </a:r>
          </a:p>
          <a:p>
            <a:r>
              <a:rPr lang="en-US" dirty="0"/>
              <a:t>Reduce tight coupling</a:t>
            </a:r>
            <a:endParaRPr lang="en-IN" dirty="0"/>
          </a:p>
        </p:txBody>
      </p:sp>
      <p:sp>
        <p:nvSpPr>
          <p:cNvPr id="7" name="TextBox 6">
            <a:extLst>
              <a:ext uri="{FF2B5EF4-FFF2-40B4-BE49-F238E27FC236}">
                <a16:creationId xmlns:a16="http://schemas.microsoft.com/office/drawing/2014/main" id="{783AAEF2-F2D7-4559-B78C-3068F6F39789}"/>
              </a:ext>
            </a:extLst>
          </p:cNvPr>
          <p:cNvSpPr txBox="1"/>
          <p:nvPr/>
        </p:nvSpPr>
        <p:spPr>
          <a:xfrm>
            <a:off x="5879691" y="3899619"/>
            <a:ext cx="6096000" cy="2308324"/>
          </a:xfrm>
          <a:prstGeom prst="rect">
            <a:avLst/>
          </a:prstGeom>
          <a:noFill/>
        </p:spPr>
        <p:txBody>
          <a:bodyPr wrap="square">
            <a:spAutoFit/>
          </a:bodyPr>
          <a:lstStyle/>
          <a:p>
            <a:r>
              <a:rPr lang="en-US" b="1" dirty="0"/>
              <a:t>Solution to develop a successful application depends on </a:t>
            </a:r>
          </a:p>
          <a:p>
            <a:r>
              <a:rPr lang="en-US" dirty="0"/>
              <a:t>Architecture : choosing an architecture is the first step in designing application based on the requirements. Example : MVC, WEBAPI, MVVM..</a:t>
            </a:r>
            <a:r>
              <a:rPr lang="en-US" dirty="0" err="1"/>
              <a:t>etc</a:t>
            </a:r>
            <a:endParaRPr lang="en-US" dirty="0"/>
          </a:p>
          <a:p>
            <a:r>
              <a:rPr lang="en-US" dirty="0"/>
              <a:t>Design Principles : Application development process need to follow the design principles</a:t>
            </a:r>
          </a:p>
          <a:p>
            <a:r>
              <a:rPr lang="en-US" dirty="0"/>
              <a:t>Design Patterns : We need to choose correct design patterns to build the software</a:t>
            </a:r>
            <a:endParaRPr lang="en-IN" dirty="0"/>
          </a:p>
        </p:txBody>
      </p:sp>
    </p:spTree>
    <p:extLst>
      <p:ext uri="{BB962C8B-B14F-4D97-AF65-F5344CB8AC3E}">
        <p14:creationId xmlns:p14="http://schemas.microsoft.com/office/powerpoint/2010/main" val="1364217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A80ACF-8948-49A6-99F8-F77C1F630C22}"/>
              </a:ext>
            </a:extLst>
          </p:cNvPr>
          <p:cNvSpPr>
            <a:spLocks noGrp="1"/>
          </p:cNvSpPr>
          <p:nvPr>
            <p:ph idx="1"/>
          </p:nvPr>
        </p:nvSpPr>
        <p:spPr>
          <a:xfrm>
            <a:off x="304799" y="0"/>
            <a:ext cx="5240595" cy="442451"/>
          </a:xfrm>
        </p:spPr>
        <p:txBody>
          <a:bodyPr>
            <a:normAutofit fontScale="92500" lnSpcReduction="10000"/>
          </a:bodyPr>
          <a:lstStyle/>
          <a:p>
            <a:pPr marL="0" indent="0" algn="ctr">
              <a:buNone/>
            </a:pPr>
            <a:r>
              <a:rPr lang="en-IN" b="1" dirty="0"/>
              <a:t>Single Responsibility Principle in C#</a:t>
            </a:r>
          </a:p>
        </p:txBody>
      </p:sp>
      <p:sp>
        <p:nvSpPr>
          <p:cNvPr id="5" name="TextBox 4">
            <a:extLst>
              <a:ext uri="{FF2B5EF4-FFF2-40B4-BE49-F238E27FC236}">
                <a16:creationId xmlns:a16="http://schemas.microsoft.com/office/drawing/2014/main" id="{28B5BC79-CE5E-4948-813A-7C985D5DD613}"/>
              </a:ext>
            </a:extLst>
          </p:cNvPr>
          <p:cNvSpPr txBox="1"/>
          <p:nvPr/>
        </p:nvSpPr>
        <p:spPr>
          <a:xfrm>
            <a:off x="132735" y="383457"/>
            <a:ext cx="5825614" cy="923330"/>
          </a:xfrm>
          <a:prstGeom prst="rect">
            <a:avLst/>
          </a:prstGeom>
          <a:noFill/>
        </p:spPr>
        <p:txBody>
          <a:bodyPr wrap="square">
            <a:spAutoFit/>
          </a:bodyPr>
          <a:lstStyle/>
          <a:p>
            <a:r>
              <a:rPr lang="en-US" dirty="0"/>
              <a:t>The letter </a:t>
            </a:r>
            <a:r>
              <a:rPr lang="en-US" b="1" dirty="0"/>
              <a:t>S</a:t>
            </a:r>
            <a:r>
              <a:rPr lang="en-US" dirty="0"/>
              <a:t> in </a:t>
            </a:r>
            <a:r>
              <a:rPr lang="en-US" b="1" dirty="0"/>
              <a:t>S</a:t>
            </a:r>
            <a:r>
              <a:rPr lang="en-US" dirty="0"/>
              <a:t>OLID stands for the </a:t>
            </a:r>
            <a:r>
              <a:rPr lang="en-US" b="1" dirty="0"/>
              <a:t>S</a:t>
            </a:r>
            <a:r>
              <a:rPr lang="en-US" dirty="0"/>
              <a:t>ingle </a:t>
            </a:r>
            <a:r>
              <a:rPr lang="en-US" b="1" dirty="0"/>
              <a:t>R</a:t>
            </a:r>
            <a:r>
              <a:rPr lang="en-US" dirty="0"/>
              <a:t>esponsibility </a:t>
            </a:r>
            <a:r>
              <a:rPr lang="en-US" b="1" dirty="0"/>
              <a:t>P</a:t>
            </a:r>
            <a:r>
              <a:rPr lang="en-US" dirty="0"/>
              <a:t>rinciple which is also known as </a:t>
            </a:r>
            <a:r>
              <a:rPr lang="en-US" b="1" dirty="0"/>
              <a:t>SRP</a:t>
            </a:r>
            <a:r>
              <a:rPr lang="en-US" dirty="0"/>
              <a:t>. As part of this article, we are going to discuss the following pointers in detail.</a:t>
            </a:r>
          </a:p>
        </p:txBody>
      </p:sp>
      <p:sp>
        <p:nvSpPr>
          <p:cNvPr id="7" name="TextBox 6">
            <a:extLst>
              <a:ext uri="{FF2B5EF4-FFF2-40B4-BE49-F238E27FC236}">
                <a16:creationId xmlns:a16="http://schemas.microsoft.com/office/drawing/2014/main" id="{F104E10F-BA30-448D-8601-CD06F3EEFAA0}"/>
              </a:ext>
            </a:extLst>
          </p:cNvPr>
          <p:cNvSpPr txBox="1"/>
          <p:nvPr/>
        </p:nvSpPr>
        <p:spPr>
          <a:xfrm>
            <a:off x="132735" y="1395277"/>
            <a:ext cx="11926532" cy="5632311"/>
          </a:xfrm>
          <a:prstGeom prst="rect">
            <a:avLst/>
          </a:prstGeom>
          <a:noFill/>
        </p:spPr>
        <p:txBody>
          <a:bodyPr wrap="square">
            <a:spAutoFit/>
          </a:bodyPr>
          <a:lstStyle/>
          <a:p>
            <a:r>
              <a:rPr lang="en-US" b="1" dirty="0"/>
              <a:t>What is the Single Responsibility Principle in C#?</a:t>
            </a:r>
          </a:p>
          <a:p>
            <a:r>
              <a:rPr lang="en-US" dirty="0"/>
              <a:t>The Single Responsibility Principle states that “Each software module or class should have only one reason to change“. In other words, we can say that each module or class should have only one responsibility to do.</a:t>
            </a:r>
          </a:p>
          <a:p>
            <a:endParaRPr lang="en-US" dirty="0"/>
          </a:p>
          <a:p>
            <a:r>
              <a:rPr lang="en-US" dirty="0"/>
              <a:t>So we need to design the software in such a way that everything in a class or module should be related to a single responsibility. That does not mean your class should contain only one method or property, you can have multiple members (methods or properties) as long as they are related to a single responsibility or functionality. So, with the help of SRP, the classes become smaller and cleaner and thus easier to maintain.</a:t>
            </a:r>
          </a:p>
          <a:p>
            <a:endParaRPr lang="en-US" dirty="0"/>
          </a:p>
          <a:p>
            <a:r>
              <a:rPr lang="en-US" b="1" dirty="0"/>
              <a:t>How can we achieve the Single Responsibility Principle in C#?</a:t>
            </a:r>
          </a:p>
          <a:p>
            <a:r>
              <a:rPr lang="en-US" dirty="0"/>
              <a:t>Let us understand the need for the Single Responsibility Principle in C# with an example. Suppose we need to design an Invoice class. As we know an Invoice class basically used to calculate various amounts based on its data. The Invoice class does not know how to retrieve the data, or how to format the data for display, print, logging, or sending an email, etc. </a:t>
            </a:r>
          </a:p>
          <a:p>
            <a:endParaRPr lang="en-US" dirty="0"/>
          </a:p>
          <a:p>
            <a:r>
              <a:rPr lang="en-US" dirty="0"/>
              <a:t>If we write the database logic, business logic as well as display logic in a single class, then our class performing multiple responsibilities. Then it becomes very difficult to change one responsibility without breaking the other responsibilities. So, by mixing multiple responsibilities into a single class, we are getting the following disadvantage,</a:t>
            </a:r>
          </a:p>
          <a:p>
            <a:pPr marL="285750" indent="-285750">
              <a:buFont typeface="Arial" panose="020B0604020202020204" pitchFamily="34" charset="0"/>
              <a:buChar char="•"/>
            </a:pPr>
            <a:r>
              <a:rPr lang="en-US" dirty="0"/>
              <a:t>Difficult to understand</a:t>
            </a:r>
          </a:p>
          <a:p>
            <a:pPr marL="285750" indent="-285750">
              <a:buFont typeface="Arial" panose="020B0604020202020204" pitchFamily="34" charset="0"/>
              <a:buChar char="•"/>
            </a:pPr>
            <a:r>
              <a:rPr lang="en-US" dirty="0"/>
              <a:t>Difficult to test</a:t>
            </a:r>
          </a:p>
          <a:p>
            <a:pPr marL="285750" indent="-285750">
              <a:buFont typeface="Arial" panose="020B0604020202020204" pitchFamily="34" charset="0"/>
              <a:buChar char="•"/>
            </a:pPr>
            <a:r>
              <a:rPr lang="en-US" dirty="0"/>
              <a:t>Chance of duplicating the logic of other parts of the application</a:t>
            </a:r>
            <a:endParaRPr lang="en-IN" dirty="0"/>
          </a:p>
        </p:txBody>
      </p:sp>
      <p:sp>
        <p:nvSpPr>
          <p:cNvPr id="9" name="TextBox 8">
            <a:extLst>
              <a:ext uri="{FF2B5EF4-FFF2-40B4-BE49-F238E27FC236}">
                <a16:creationId xmlns:a16="http://schemas.microsoft.com/office/drawing/2014/main" id="{6861F00E-F98C-44B2-883B-866A8491D8C5}"/>
              </a:ext>
            </a:extLst>
          </p:cNvPr>
          <p:cNvSpPr txBox="1"/>
          <p:nvPr/>
        </p:nvSpPr>
        <p:spPr>
          <a:xfrm>
            <a:off x="5963265" y="53991"/>
            <a:ext cx="6096000" cy="1477328"/>
          </a:xfrm>
          <a:prstGeom prst="rect">
            <a:avLst/>
          </a:prstGeom>
          <a:noFill/>
        </p:spPr>
        <p:txBody>
          <a:bodyPr wrap="square">
            <a:spAutoFit/>
          </a:bodyPr>
          <a:lstStyle/>
          <a:p>
            <a:r>
              <a:rPr lang="en-US" b="1" dirty="0"/>
              <a:t>What is the Single Responsibility Principle in C#?</a:t>
            </a:r>
          </a:p>
          <a:p>
            <a:r>
              <a:rPr lang="en-US" dirty="0"/>
              <a:t>How can we achieve the Single Responsibility Principle in C#?</a:t>
            </a:r>
          </a:p>
          <a:p>
            <a:r>
              <a:rPr lang="en-US" dirty="0"/>
              <a:t>Example without using the Single Responsibility Principle.</a:t>
            </a:r>
          </a:p>
          <a:p>
            <a:r>
              <a:rPr lang="en-US" dirty="0"/>
              <a:t>Problems of not following the SRP.</a:t>
            </a:r>
          </a:p>
          <a:p>
            <a:r>
              <a:rPr lang="en-US" dirty="0"/>
              <a:t>Example using the SRP.</a:t>
            </a:r>
          </a:p>
        </p:txBody>
      </p:sp>
    </p:spTree>
    <p:extLst>
      <p:ext uri="{BB962C8B-B14F-4D97-AF65-F5344CB8AC3E}">
        <p14:creationId xmlns:p14="http://schemas.microsoft.com/office/powerpoint/2010/main" val="18839337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A0C051-8C76-462F-A82F-42FF7F1900A1}"/>
              </a:ext>
            </a:extLst>
          </p:cNvPr>
          <p:cNvPicPr>
            <a:picLocks noChangeAspect="1"/>
          </p:cNvPicPr>
          <p:nvPr/>
        </p:nvPicPr>
        <p:blipFill>
          <a:blip r:embed="rId2"/>
          <a:stretch>
            <a:fillRect/>
          </a:stretch>
        </p:blipFill>
        <p:spPr>
          <a:xfrm>
            <a:off x="288669" y="807935"/>
            <a:ext cx="7839075" cy="3000375"/>
          </a:xfrm>
          <a:prstGeom prst="rect">
            <a:avLst/>
          </a:prstGeom>
        </p:spPr>
      </p:pic>
      <p:sp>
        <p:nvSpPr>
          <p:cNvPr id="6" name="TextBox 5">
            <a:extLst>
              <a:ext uri="{FF2B5EF4-FFF2-40B4-BE49-F238E27FC236}">
                <a16:creationId xmlns:a16="http://schemas.microsoft.com/office/drawing/2014/main" id="{F08E9CF3-0DD1-4D4B-AE98-8DE884FD3E85}"/>
              </a:ext>
            </a:extLst>
          </p:cNvPr>
          <p:cNvSpPr txBox="1"/>
          <p:nvPr/>
        </p:nvSpPr>
        <p:spPr>
          <a:xfrm>
            <a:off x="442452" y="129966"/>
            <a:ext cx="6096000" cy="369332"/>
          </a:xfrm>
          <a:prstGeom prst="rect">
            <a:avLst/>
          </a:prstGeom>
          <a:noFill/>
        </p:spPr>
        <p:txBody>
          <a:bodyPr wrap="square">
            <a:spAutoFit/>
          </a:bodyPr>
          <a:lstStyle/>
          <a:p>
            <a:r>
              <a:rPr lang="en-US" dirty="0"/>
              <a:t>Example of without the Single Responsibility Principle in C#:</a:t>
            </a:r>
            <a:endParaRPr lang="en-IN" dirty="0"/>
          </a:p>
        </p:txBody>
      </p:sp>
      <p:sp>
        <p:nvSpPr>
          <p:cNvPr id="8" name="TextBox 7">
            <a:extLst>
              <a:ext uri="{FF2B5EF4-FFF2-40B4-BE49-F238E27FC236}">
                <a16:creationId xmlns:a16="http://schemas.microsoft.com/office/drawing/2014/main" id="{8AC8C2EA-259F-40E2-933B-5BBD2D924793}"/>
              </a:ext>
            </a:extLst>
          </p:cNvPr>
          <p:cNvSpPr txBox="1"/>
          <p:nvPr/>
        </p:nvSpPr>
        <p:spPr>
          <a:xfrm>
            <a:off x="196644" y="4224932"/>
            <a:ext cx="11788879" cy="1200329"/>
          </a:xfrm>
          <a:prstGeom prst="rect">
            <a:avLst/>
          </a:prstGeom>
          <a:noFill/>
        </p:spPr>
        <p:txBody>
          <a:bodyPr wrap="square">
            <a:spAutoFit/>
          </a:bodyPr>
          <a:lstStyle/>
          <a:p>
            <a:r>
              <a:rPr lang="en-US" dirty="0"/>
              <a:t>As you can see in the above image, we are going to create an Invoice class with four functionalities as Adding and Deleting Invoices, Error Logging as well as Sending Emails. As we are putting all the above four functionalities into a single class or module, we are violating the Single Responsibility Principle. This is because Sending Email and Error Logging are not a part of the Invoice module</a:t>
            </a:r>
            <a:endParaRPr lang="en-IN" dirty="0"/>
          </a:p>
        </p:txBody>
      </p:sp>
    </p:spTree>
    <p:extLst>
      <p:ext uri="{BB962C8B-B14F-4D97-AF65-F5344CB8AC3E}">
        <p14:creationId xmlns:p14="http://schemas.microsoft.com/office/powerpoint/2010/main" val="406853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B538AD8-E8A1-4D56-8954-C956BFEE4546}"/>
              </a:ext>
            </a:extLst>
          </p:cNvPr>
          <p:cNvSpPr txBox="1"/>
          <p:nvPr/>
        </p:nvSpPr>
        <p:spPr>
          <a:xfrm>
            <a:off x="1" y="0"/>
            <a:ext cx="9144000" cy="7232749"/>
          </a:xfrm>
          <a:prstGeom prst="rect">
            <a:avLst/>
          </a:prstGeom>
          <a:noFill/>
        </p:spPr>
        <p:txBody>
          <a:bodyPr wrap="square">
            <a:spAutoFit/>
          </a:bodyPr>
          <a:lstStyle/>
          <a:p>
            <a:pPr algn="l" fontAlgn="base"/>
            <a:r>
              <a:rPr lang="en-IN" sz="1600" b="1" i="0" dirty="0">
                <a:solidFill>
                  <a:srgbClr val="D171DD"/>
                </a:solidFill>
                <a:effectLst/>
                <a:latin typeface="inherit"/>
              </a:rPr>
              <a:t>namespace </a:t>
            </a:r>
            <a:r>
              <a:rPr lang="en-IN" sz="1600" b="0" i="1" dirty="0">
                <a:solidFill>
                  <a:srgbClr val="4284AE"/>
                </a:solidFill>
                <a:effectLst/>
                <a:latin typeface="inherit"/>
              </a:rPr>
              <a:t>SOLID_PRINCIPLES.SRP</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1" i="0" dirty="0">
                <a:solidFill>
                  <a:srgbClr val="D171DD"/>
                </a:solidFill>
                <a:effectLst/>
                <a:latin typeface="inherit"/>
              </a:rPr>
              <a:t>class</a:t>
            </a:r>
            <a:r>
              <a:rPr lang="en-IN" sz="1600" b="0" i="0" dirty="0">
                <a:solidFill>
                  <a:srgbClr val="CFD5E0"/>
                </a:solidFill>
                <a:effectLst/>
                <a:latin typeface="inherit"/>
              </a:rPr>
              <a:t> Invoice</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	public</a:t>
            </a:r>
            <a:r>
              <a:rPr lang="en-IN" sz="1600" b="0" i="0" dirty="0">
                <a:solidFill>
                  <a:srgbClr val="CFD5E0"/>
                </a:solidFill>
                <a:effectLst/>
                <a:latin typeface="inherit"/>
              </a:rPr>
              <a:t> </a:t>
            </a:r>
            <a:r>
              <a:rPr lang="en-IN" sz="1600" b="1" i="0" dirty="0">
                <a:solidFill>
                  <a:srgbClr val="D171DD"/>
                </a:solidFill>
                <a:effectLst/>
                <a:latin typeface="inherit"/>
              </a:rPr>
              <a:t>long</a:t>
            </a:r>
            <a:r>
              <a:rPr lang="en-IN" sz="1600" b="0" i="0" dirty="0">
                <a:solidFill>
                  <a:srgbClr val="CFD5E0"/>
                </a:solidFill>
                <a:effectLst/>
                <a:latin typeface="inherit"/>
              </a:rPr>
              <a:t> </a:t>
            </a:r>
            <a:r>
              <a:rPr lang="en-IN" sz="1600" b="0" i="0" dirty="0" err="1">
                <a:solidFill>
                  <a:srgbClr val="CFD5E0"/>
                </a:solidFill>
                <a:effectLst/>
                <a:latin typeface="inherit"/>
              </a:rPr>
              <a:t>InvAmount</a:t>
            </a:r>
            <a:r>
              <a:rPr lang="en-IN" sz="1600" b="0" i="0" dirty="0">
                <a:solidFill>
                  <a:srgbClr val="CFD5E0"/>
                </a:solidFill>
                <a:effectLst/>
                <a:latin typeface="inherit"/>
              </a:rPr>
              <a:t> </a:t>
            </a:r>
            <a:r>
              <a:rPr lang="en-IN" sz="1600" b="1" i="0" dirty="0">
                <a:solidFill>
                  <a:srgbClr val="6B7C8B"/>
                </a:solidFill>
                <a:effectLst/>
                <a:latin typeface="inherit"/>
              </a:rPr>
              <a:t>{</a:t>
            </a:r>
            <a:r>
              <a:rPr lang="en-IN" sz="1600" b="0" i="0" dirty="0">
                <a:solidFill>
                  <a:srgbClr val="CFD5E0"/>
                </a:solidFill>
                <a:effectLst/>
                <a:latin typeface="inherit"/>
              </a:rPr>
              <a:t> </a:t>
            </a:r>
            <a:r>
              <a:rPr lang="en-IN" sz="1600" b="1" i="0" dirty="0">
                <a:solidFill>
                  <a:srgbClr val="D171DD"/>
                </a:solidFill>
                <a:effectLst/>
                <a:latin typeface="inherit"/>
              </a:rPr>
              <a:t>get</a:t>
            </a:r>
            <a:r>
              <a:rPr lang="en-IN" sz="1600" b="0" i="0" dirty="0">
                <a:solidFill>
                  <a:srgbClr val="CFD5E0"/>
                </a:solidFill>
                <a:effectLst/>
                <a:latin typeface="inherit"/>
              </a:rPr>
              <a:t>; </a:t>
            </a:r>
            <a:r>
              <a:rPr lang="en-IN" sz="1600" b="1" i="0" dirty="0">
                <a:solidFill>
                  <a:srgbClr val="D171DD"/>
                </a:solidFill>
                <a:effectLst/>
                <a:latin typeface="inherit"/>
              </a:rPr>
              <a:t>set</a:t>
            </a:r>
            <a:r>
              <a:rPr lang="en-IN" sz="1600" b="0" i="0" dirty="0">
                <a:solidFill>
                  <a:srgbClr val="CFD5E0"/>
                </a:solidFill>
                <a:effectLst/>
                <a:latin typeface="inherit"/>
              </a:rPr>
              <a:t>; </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	public</a:t>
            </a:r>
            <a:r>
              <a:rPr lang="en-IN" sz="1600" b="0" i="0" dirty="0">
                <a:solidFill>
                  <a:srgbClr val="CFD5E0"/>
                </a:solidFill>
                <a:effectLst/>
                <a:latin typeface="inherit"/>
              </a:rPr>
              <a:t> </a:t>
            </a:r>
            <a:r>
              <a:rPr lang="en-IN" sz="1600" b="0" i="0" dirty="0" err="1">
                <a:solidFill>
                  <a:srgbClr val="CFD5E0"/>
                </a:solidFill>
                <a:effectLst/>
                <a:latin typeface="inherit"/>
              </a:rPr>
              <a:t>DateTime</a:t>
            </a:r>
            <a:r>
              <a:rPr lang="en-IN" sz="1600" b="0" i="0" dirty="0">
                <a:solidFill>
                  <a:srgbClr val="CFD5E0"/>
                </a:solidFill>
                <a:effectLst/>
                <a:latin typeface="inherit"/>
              </a:rPr>
              <a:t> </a:t>
            </a:r>
            <a:r>
              <a:rPr lang="en-IN" sz="1600" b="0" i="0" dirty="0" err="1">
                <a:solidFill>
                  <a:srgbClr val="CFD5E0"/>
                </a:solidFill>
                <a:effectLst/>
                <a:latin typeface="inherit"/>
              </a:rPr>
              <a:t>InvDate</a:t>
            </a:r>
            <a:r>
              <a:rPr lang="en-IN" sz="1600" b="0" i="0" dirty="0">
                <a:solidFill>
                  <a:srgbClr val="CFD5E0"/>
                </a:solidFill>
                <a:effectLst/>
                <a:latin typeface="inherit"/>
              </a:rPr>
              <a:t> </a:t>
            </a:r>
            <a:r>
              <a:rPr lang="en-IN" sz="1600" b="1" i="0" dirty="0">
                <a:solidFill>
                  <a:srgbClr val="6B7C8B"/>
                </a:solidFill>
                <a:effectLst/>
                <a:latin typeface="inherit"/>
              </a:rPr>
              <a:t>{</a:t>
            </a:r>
            <a:r>
              <a:rPr lang="en-IN" sz="1600" b="0" i="0" dirty="0">
                <a:solidFill>
                  <a:srgbClr val="CFD5E0"/>
                </a:solidFill>
                <a:effectLst/>
                <a:latin typeface="inherit"/>
              </a:rPr>
              <a:t> </a:t>
            </a:r>
            <a:r>
              <a:rPr lang="en-IN" sz="1600" b="1" i="0" dirty="0">
                <a:solidFill>
                  <a:srgbClr val="D171DD"/>
                </a:solidFill>
                <a:effectLst/>
                <a:latin typeface="inherit"/>
              </a:rPr>
              <a:t>get</a:t>
            </a:r>
            <a:r>
              <a:rPr lang="en-IN" sz="1600" b="0" i="0" dirty="0">
                <a:solidFill>
                  <a:srgbClr val="CFD5E0"/>
                </a:solidFill>
                <a:effectLst/>
                <a:latin typeface="inherit"/>
              </a:rPr>
              <a:t>; </a:t>
            </a:r>
            <a:r>
              <a:rPr lang="en-IN" sz="1600" b="1" i="0" dirty="0">
                <a:solidFill>
                  <a:srgbClr val="D171DD"/>
                </a:solidFill>
                <a:effectLst/>
                <a:latin typeface="inherit"/>
              </a:rPr>
              <a:t>set</a:t>
            </a:r>
            <a:r>
              <a:rPr lang="en-IN" sz="1600" b="0" i="0" dirty="0">
                <a:solidFill>
                  <a:srgbClr val="CFD5E0"/>
                </a:solidFill>
                <a:effectLst/>
                <a:latin typeface="inherit"/>
              </a:rPr>
              <a:t>; </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1" i="0" dirty="0">
                <a:solidFill>
                  <a:srgbClr val="D171DD"/>
                </a:solidFill>
                <a:effectLst/>
                <a:latin typeface="inherit"/>
              </a:rPr>
              <a:t>void</a:t>
            </a:r>
            <a:r>
              <a:rPr lang="en-IN" sz="1600" b="0" i="0" dirty="0">
                <a:solidFill>
                  <a:srgbClr val="CFD5E0"/>
                </a:solidFill>
                <a:effectLst/>
                <a:latin typeface="inherit"/>
              </a:rPr>
              <a:t> </a:t>
            </a:r>
            <a:r>
              <a:rPr lang="en-IN" sz="1600" b="0" i="0" dirty="0" err="1">
                <a:solidFill>
                  <a:srgbClr val="4284AE"/>
                </a:solidFill>
                <a:effectLst/>
                <a:latin typeface="inherit"/>
              </a:rPr>
              <a:t>AddInvoice</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	try</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a:t>
            </a:r>
            <a:endParaRPr lang="en-IN" sz="1600" b="0" i="0" dirty="0">
              <a:solidFill>
                <a:srgbClr val="596174"/>
              </a:solidFill>
              <a:effectLst/>
              <a:latin typeface="Inconsolata"/>
            </a:endParaRPr>
          </a:p>
          <a:p>
            <a:pPr algn="l" fontAlgn="base"/>
            <a:r>
              <a:rPr lang="en-IN" sz="1600" b="0" i="0" dirty="0">
                <a:solidFill>
                  <a:srgbClr val="6B7C8B"/>
                </a:solidFill>
                <a:effectLst/>
                <a:latin typeface="inherit"/>
              </a:rPr>
              <a:t>// Here we need to write the Code for adding invoice</a:t>
            </a:r>
            <a:endParaRPr lang="en-IN" sz="1600" b="0" i="0" dirty="0">
              <a:solidFill>
                <a:srgbClr val="596174"/>
              </a:solidFill>
              <a:effectLst/>
              <a:latin typeface="Inconsolata"/>
            </a:endParaRPr>
          </a:p>
          <a:p>
            <a:pPr algn="l" fontAlgn="base"/>
            <a:r>
              <a:rPr lang="en-IN" sz="1600" b="0" i="0" dirty="0">
                <a:solidFill>
                  <a:srgbClr val="6B7C8B"/>
                </a:solidFill>
                <a:effectLst/>
                <a:latin typeface="inherit"/>
              </a:rPr>
              <a:t>// Once the Invoice has been added, then send the mail</a:t>
            </a:r>
            <a:endParaRPr lang="en-IN" sz="1600" b="0" i="0" dirty="0">
              <a:solidFill>
                <a:srgbClr val="596174"/>
              </a:solidFill>
              <a:effectLst/>
              <a:latin typeface="Inconsolata"/>
            </a:endParaRPr>
          </a:p>
          <a:p>
            <a:pPr algn="l" fontAlgn="base"/>
            <a:r>
              <a:rPr lang="en-IN" sz="1600" b="0" i="0" dirty="0" err="1">
                <a:solidFill>
                  <a:srgbClr val="CFD5E0"/>
                </a:solidFill>
                <a:effectLst/>
                <a:latin typeface="inherit"/>
              </a:rPr>
              <a:t>MailMessage</a:t>
            </a:r>
            <a:r>
              <a:rPr lang="en-IN" sz="1600" b="0" i="0" dirty="0">
                <a:solidFill>
                  <a:srgbClr val="CFD5E0"/>
                </a:solidFill>
                <a:effectLst/>
                <a:latin typeface="inherit"/>
              </a:rPr>
              <a:t> </a:t>
            </a:r>
            <a:r>
              <a:rPr lang="en-IN" sz="1600" b="0" i="0" dirty="0" err="1">
                <a:solidFill>
                  <a:srgbClr val="CFD5E0"/>
                </a:solidFill>
                <a:effectLst/>
                <a:latin typeface="inherit"/>
              </a:rPr>
              <a:t>mailMessage</a:t>
            </a:r>
            <a:r>
              <a:rPr lang="en-IN" sz="1600" b="0" i="0" dirty="0">
                <a:solidFill>
                  <a:srgbClr val="CFD5E0"/>
                </a:solidFill>
                <a:effectLst/>
                <a:latin typeface="inherit"/>
              </a:rPr>
              <a:t> = </a:t>
            </a:r>
            <a:r>
              <a:rPr lang="en-IN" sz="1600" b="0" i="0" dirty="0">
                <a:solidFill>
                  <a:srgbClr val="4284AE"/>
                </a:solidFill>
                <a:effectLst/>
                <a:latin typeface="inherit"/>
              </a:rPr>
              <a:t>new</a:t>
            </a:r>
            <a:r>
              <a:rPr lang="en-IN" sz="1600" b="0" i="0" dirty="0">
                <a:solidFill>
                  <a:srgbClr val="CFD5E0"/>
                </a:solidFill>
                <a:effectLst/>
                <a:latin typeface="inherit"/>
              </a:rPr>
              <a:t> </a:t>
            </a:r>
            <a:r>
              <a:rPr lang="en-IN" sz="1600" b="0" i="0" dirty="0" err="1">
                <a:solidFill>
                  <a:srgbClr val="4284AE"/>
                </a:solidFill>
                <a:effectLst/>
                <a:latin typeface="inherit"/>
              </a:rPr>
              <a:t>MailMessage</a:t>
            </a:r>
            <a:r>
              <a:rPr lang="en-IN" sz="1600" b="1" i="0" dirty="0">
                <a:solidFill>
                  <a:srgbClr val="6B7C8B"/>
                </a:solidFill>
                <a:effectLst/>
                <a:latin typeface="inherit"/>
              </a:rPr>
              <a:t>(</a:t>
            </a:r>
            <a:r>
              <a:rPr lang="en-IN" sz="1600" b="0" i="0" dirty="0">
                <a:solidFill>
                  <a:srgbClr val="7CC379"/>
                </a:solidFill>
                <a:effectLst/>
                <a:latin typeface="inherit"/>
              </a:rPr>
              <a:t>"</a:t>
            </a:r>
            <a:r>
              <a:rPr lang="en-IN" sz="1600" b="0" i="0" dirty="0" err="1">
                <a:solidFill>
                  <a:srgbClr val="7CC379"/>
                </a:solidFill>
                <a:effectLst/>
                <a:latin typeface="inherit"/>
              </a:rPr>
              <a:t>EMailFrom</a:t>
            </a:r>
            <a:r>
              <a:rPr lang="en-IN" sz="1600" b="0" i="0" dirty="0">
                <a:solidFill>
                  <a:srgbClr val="7CC379"/>
                </a:solidFill>
                <a:effectLst/>
                <a:latin typeface="inherit"/>
              </a:rPr>
              <a:t>"</a:t>
            </a:r>
            <a:r>
              <a:rPr lang="en-IN" sz="1600" b="0" i="0" dirty="0">
                <a:solidFill>
                  <a:srgbClr val="CFD5E0"/>
                </a:solidFill>
                <a:effectLst/>
                <a:latin typeface="inherit"/>
              </a:rPr>
              <a:t>, </a:t>
            </a:r>
            <a:r>
              <a:rPr lang="en-IN" sz="1600" b="0" i="0" dirty="0">
                <a:solidFill>
                  <a:srgbClr val="7CC379"/>
                </a:solidFill>
                <a:effectLst/>
                <a:latin typeface="inherit"/>
              </a:rPr>
              <a:t>"</a:t>
            </a:r>
            <a:r>
              <a:rPr lang="en-IN" sz="1600" b="0" i="0" dirty="0" err="1">
                <a:solidFill>
                  <a:srgbClr val="7CC379"/>
                </a:solidFill>
                <a:effectLst/>
                <a:latin typeface="inherit"/>
              </a:rPr>
              <a:t>EMailTo</a:t>
            </a:r>
            <a:r>
              <a:rPr lang="en-IN" sz="1600" b="0" i="0" dirty="0">
                <a:solidFill>
                  <a:srgbClr val="7CC379"/>
                </a:solidFill>
                <a:effectLst/>
                <a:latin typeface="inherit"/>
              </a:rPr>
              <a:t>"</a:t>
            </a:r>
            <a:r>
              <a:rPr lang="en-IN" sz="1600" b="0" i="0" dirty="0">
                <a:solidFill>
                  <a:srgbClr val="CFD5E0"/>
                </a:solidFill>
                <a:effectLst/>
                <a:latin typeface="inherit"/>
              </a:rPr>
              <a:t>, </a:t>
            </a:r>
            <a:r>
              <a:rPr lang="en-IN" sz="1600" b="0" i="0" dirty="0">
                <a:solidFill>
                  <a:srgbClr val="7CC379"/>
                </a:solidFill>
                <a:effectLst/>
                <a:latin typeface="inherit"/>
              </a:rPr>
              <a:t>"</a:t>
            </a:r>
            <a:r>
              <a:rPr lang="en-IN" sz="1600" b="0" i="0" dirty="0" err="1">
                <a:solidFill>
                  <a:srgbClr val="7CC379"/>
                </a:solidFill>
                <a:effectLst/>
                <a:latin typeface="inherit"/>
              </a:rPr>
              <a:t>EMailSubject</a:t>
            </a:r>
            <a:r>
              <a:rPr lang="en-IN" sz="1600" b="0" i="0" dirty="0">
                <a:solidFill>
                  <a:srgbClr val="7CC379"/>
                </a:solidFill>
                <a:effectLst/>
                <a:latin typeface="inherit"/>
              </a:rPr>
              <a:t>"</a:t>
            </a:r>
            <a:r>
              <a:rPr lang="en-IN" sz="1600" b="0" i="0" dirty="0">
                <a:solidFill>
                  <a:srgbClr val="CFD5E0"/>
                </a:solidFill>
                <a:effectLst/>
                <a:latin typeface="inherit"/>
              </a:rPr>
              <a:t>, </a:t>
            </a:r>
            <a:r>
              <a:rPr lang="en-IN" sz="1600" b="0" i="0" dirty="0">
                <a:solidFill>
                  <a:srgbClr val="7CC379"/>
                </a:solidFill>
                <a:effectLst/>
                <a:latin typeface="inherit"/>
              </a:rPr>
              <a:t>"</a:t>
            </a:r>
            <a:r>
              <a:rPr lang="en-IN" sz="1600" b="0" i="0" dirty="0" err="1">
                <a:solidFill>
                  <a:srgbClr val="7CC379"/>
                </a:solidFill>
                <a:effectLst/>
                <a:latin typeface="inherit"/>
              </a:rPr>
              <a:t>EMailBody</a:t>
            </a:r>
            <a:r>
              <a:rPr lang="en-IN" sz="1600" b="0" i="0" dirty="0">
                <a:solidFill>
                  <a:srgbClr val="7CC379"/>
                </a:solidFill>
                <a:effectLst/>
                <a:latin typeface="inherit"/>
              </a:rPr>
              <a:t>"</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a:endParaRPr>
          </a:p>
          <a:p>
            <a:pPr algn="l" fontAlgn="base"/>
            <a:r>
              <a:rPr lang="en-IN" sz="1600" b="0" i="0" dirty="0" err="1">
                <a:solidFill>
                  <a:srgbClr val="FFFFFF"/>
                </a:solidFill>
                <a:effectLst/>
                <a:latin typeface="inherit"/>
              </a:rPr>
              <a:t>this</a:t>
            </a:r>
            <a:r>
              <a:rPr lang="en-IN" sz="1600" b="0" i="0" dirty="0" err="1">
                <a:solidFill>
                  <a:srgbClr val="CFD5E0"/>
                </a:solidFill>
                <a:effectLst/>
                <a:latin typeface="inherit"/>
              </a:rPr>
              <a:t>.</a:t>
            </a:r>
            <a:r>
              <a:rPr lang="en-IN" sz="1600" b="0" i="0" dirty="0" err="1">
                <a:solidFill>
                  <a:srgbClr val="4284AE"/>
                </a:solidFill>
                <a:effectLst/>
                <a:latin typeface="inherit"/>
              </a:rPr>
              <a:t>SendInvoiceEmail</a:t>
            </a:r>
            <a:r>
              <a:rPr lang="en-IN" sz="1600" b="1" i="0" dirty="0">
                <a:solidFill>
                  <a:srgbClr val="6B7C8B"/>
                </a:solidFill>
                <a:effectLst/>
                <a:latin typeface="inherit"/>
              </a:rPr>
              <a:t>(</a:t>
            </a:r>
            <a:r>
              <a:rPr lang="en-IN" sz="1600" b="0" i="0" dirty="0" err="1">
                <a:solidFill>
                  <a:srgbClr val="CFD5E0"/>
                </a:solidFill>
                <a:effectLst/>
                <a:latin typeface="inherit"/>
              </a:rPr>
              <a:t>mailMessage</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	catch</a:t>
            </a:r>
            <a:r>
              <a:rPr lang="en-IN" sz="1600" b="0" i="0" dirty="0">
                <a:solidFill>
                  <a:srgbClr val="CFD5E0"/>
                </a:solidFill>
                <a:effectLst/>
                <a:latin typeface="inherit"/>
              </a:rPr>
              <a:t> </a:t>
            </a:r>
            <a:r>
              <a:rPr lang="en-IN" sz="1600" b="1" i="0" dirty="0">
                <a:solidFill>
                  <a:srgbClr val="6B7C8B"/>
                </a:solidFill>
                <a:effectLst/>
                <a:latin typeface="inherit"/>
              </a:rPr>
              <a:t>(</a:t>
            </a:r>
            <a:r>
              <a:rPr lang="en-IN" sz="1600" b="0" i="0" dirty="0">
                <a:solidFill>
                  <a:srgbClr val="CFD5E0"/>
                </a:solidFill>
                <a:effectLst/>
                <a:latin typeface="inherit"/>
              </a:rPr>
              <a:t>Exception ex</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 </a:t>
            </a:r>
            <a:r>
              <a:rPr lang="en-IN" sz="1600" b="0" i="0" dirty="0" err="1">
                <a:solidFill>
                  <a:srgbClr val="CFD5E0"/>
                </a:solidFill>
                <a:effectLst/>
                <a:latin typeface="inherit"/>
              </a:rPr>
              <a:t>System.</a:t>
            </a:r>
            <a:r>
              <a:rPr lang="en-IN" sz="1600" b="0" i="0" dirty="0" err="1">
                <a:solidFill>
                  <a:srgbClr val="4284AE"/>
                </a:solidFill>
                <a:effectLst/>
                <a:latin typeface="inherit"/>
              </a:rPr>
              <a:t>IO</a:t>
            </a:r>
            <a:r>
              <a:rPr lang="en-IN" sz="1600" b="0" i="0" dirty="0" err="1">
                <a:solidFill>
                  <a:srgbClr val="CFD5E0"/>
                </a:solidFill>
                <a:effectLst/>
                <a:latin typeface="inherit"/>
              </a:rPr>
              <a:t>.</a:t>
            </a:r>
            <a:r>
              <a:rPr lang="en-IN" sz="1600" b="0" i="0" dirty="0" err="1">
                <a:solidFill>
                  <a:srgbClr val="4284AE"/>
                </a:solidFill>
                <a:effectLst/>
                <a:latin typeface="inherit"/>
              </a:rPr>
              <a:t>File</a:t>
            </a:r>
            <a:r>
              <a:rPr lang="en-IN" sz="1600" b="0" i="0" dirty="0" err="1">
                <a:solidFill>
                  <a:srgbClr val="CFD5E0"/>
                </a:solidFill>
                <a:effectLst/>
                <a:latin typeface="inherit"/>
              </a:rPr>
              <a:t>.</a:t>
            </a:r>
            <a:r>
              <a:rPr lang="en-IN" sz="1600" b="0" i="0" dirty="0" err="1">
                <a:solidFill>
                  <a:srgbClr val="4284AE"/>
                </a:solidFill>
                <a:effectLst/>
                <a:latin typeface="inherit"/>
              </a:rPr>
              <a:t>WriteAllText</a:t>
            </a:r>
            <a:r>
              <a:rPr lang="en-IN" sz="1600" b="1" i="0" dirty="0">
                <a:solidFill>
                  <a:srgbClr val="6B7C8B"/>
                </a:solidFill>
                <a:effectLst/>
                <a:latin typeface="inherit"/>
              </a:rPr>
              <a:t>(</a:t>
            </a:r>
            <a:r>
              <a:rPr lang="en-IN" sz="1600" b="0" i="0" dirty="0">
                <a:solidFill>
                  <a:srgbClr val="CFD5E0"/>
                </a:solidFill>
                <a:effectLst/>
                <a:latin typeface="inherit"/>
              </a:rPr>
              <a:t>@</a:t>
            </a:r>
            <a:r>
              <a:rPr lang="en-IN" sz="1600" b="0" i="0" dirty="0">
                <a:solidFill>
                  <a:srgbClr val="7CC379"/>
                </a:solidFill>
                <a:effectLst/>
                <a:latin typeface="inherit"/>
              </a:rPr>
              <a:t>"c:\ErrorLog.txt"</a:t>
            </a:r>
            <a:r>
              <a:rPr lang="en-IN" sz="1600" b="0" i="0" dirty="0">
                <a:solidFill>
                  <a:srgbClr val="CFD5E0"/>
                </a:solidFill>
                <a:effectLst/>
                <a:latin typeface="inherit"/>
              </a:rPr>
              <a:t>, </a:t>
            </a:r>
            <a:r>
              <a:rPr lang="en-IN" sz="1600" b="0" i="0" dirty="0" err="1">
                <a:solidFill>
                  <a:srgbClr val="CFD5E0"/>
                </a:solidFill>
                <a:effectLst/>
                <a:latin typeface="inherit"/>
              </a:rPr>
              <a:t>ex.</a:t>
            </a:r>
            <a:r>
              <a:rPr lang="en-IN" sz="1600" b="0" i="0" dirty="0" err="1">
                <a:solidFill>
                  <a:srgbClr val="4284AE"/>
                </a:solidFill>
                <a:effectLst/>
                <a:latin typeface="inherit"/>
              </a:rPr>
              <a:t>ToString</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a:t>
            </a:r>
            <a:endParaRPr lang="en-IN" sz="1600" b="0" i="0" dirty="0">
              <a:solidFill>
                <a:srgbClr val="596174"/>
              </a:solidFill>
              <a:effectLst/>
              <a:latin typeface="Inconsolata"/>
            </a:endParaRPr>
          </a:p>
          <a:p>
            <a:pPr algn="l" fontAlgn="base"/>
            <a:r>
              <a:rPr lang="en-IN" sz="1600" b="1" dirty="0">
                <a:solidFill>
                  <a:srgbClr val="6B7C8B"/>
                </a:solidFill>
                <a:latin typeface="inherit"/>
              </a:rPr>
              <a:t> </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public</a:t>
            </a:r>
            <a:r>
              <a:rPr lang="en-IN" sz="1600" b="0" i="0" dirty="0">
                <a:solidFill>
                  <a:srgbClr val="CFD5E0"/>
                </a:solidFill>
                <a:effectLst/>
                <a:latin typeface="inherit"/>
              </a:rPr>
              <a:t> </a:t>
            </a:r>
            <a:r>
              <a:rPr lang="en-IN" sz="1600" b="1" i="0" dirty="0">
                <a:solidFill>
                  <a:srgbClr val="D171DD"/>
                </a:solidFill>
                <a:effectLst/>
                <a:latin typeface="inherit"/>
              </a:rPr>
              <a:t>void</a:t>
            </a:r>
            <a:r>
              <a:rPr lang="en-IN" sz="1600" b="0" i="0" dirty="0">
                <a:solidFill>
                  <a:srgbClr val="CFD5E0"/>
                </a:solidFill>
                <a:effectLst/>
                <a:latin typeface="inherit"/>
              </a:rPr>
              <a:t> </a:t>
            </a:r>
            <a:r>
              <a:rPr lang="en-IN" sz="1600" b="0" i="0" dirty="0" err="1">
                <a:solidFill>
                  <a:srgbClr val="4284AE"/>
                </a:solidFill>
                <a:effectLst/>
                <a:latin typeface="inherit"/>
              </a:rPr>
              <a:t>DeleteInvoice</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try</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	</a:t>
            </a:r>
            <a:r>
              <a:rPr lang="en-IN" sz="1600" b="0" i="0" dirty="0">
                <a:solidFill>
                  <a:srgbClr val="6B7C8B"/>
                </a:solidFill>
                <a:effectLst/>
                <a:latin typeface="inherit"/>
              </a:rPr>
              <a:t>//Here we need to write the Code for Deleting the already generated invoice</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a:t>
            </a:r>
            <a:endParaRPr lang="en-IN" sz="1600" b="0" i="0" dirty="0">
              <a:solidFill>
                <a:srgbClr val="596174"/>
              </a:solidFill>
              <a:effectLst/>
              <a:latin typeface="Inconsolata"/>
            </a:endParaRPr>
          </a:p>
          <a:p>
            <a:pPr algn="l" fontAlgn="base"/>
            <a:r>
              <a:rPr lang="en-IN" sz="1600" b="1" i="0" dirty="0">
                <a:solidFill>
                  <a:srgbClr val="D171DD"/>
                </a:solidFill>
                <a:effectLst/>
                <a:latin typeface="inherit"/>
              </a:rPr>
              <a:t>catch</a:t>
            </a:r>
            <a:r>
              <a:rPr lang="en-IN" sz="1600" b="0" i="0" dirty="0">
                <a:solidFill>
                  <a:srgbClr val="CFD5E0"/>
                </a:solidFill>
                <a:effectLst/>
                <a:latin typeface="inherit"/>
              </a:rPr>
              <a:t> </a:t>
            </a:r>
            <a:r>
              <a:rPr lang="en-IN" sz="1600" b="1" i="0" dirty="0">
                <a:solidFill>
                  <a:srgbClr val="6B7C8B"/>
                </a:solidFill>
                <a:effectLst/>
                <a:latin typeface="inherit"/>
              </a:rPr>
              <a:t>(</a:t>
            </a:r>
            <a:r>
              <a:rPr lang="en-IN" sz="1600" b="0" i="0" dirty="0">
                <a:solidFill>
                  <a:srgbClr val="CFD5E0"/>
                </a:solidFill>
                <a:effectLst/>
                <a:latin typeface="inherit"/>
              </a:rPr>
              <a:t>Exception ex</a:t>
            </a:r>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	</a:t>
            </a:r>
            <a:r>
              <a:rPr lang="en-IN" sz="1600" b="0" i="0" dirty="0" err="1">
                <a:solidFill>
                  <a:srgbClr val="CFD5E0"/>
                </a:solidFill>
                <a:effectLst/>
                <a:latin typeface="inherit"/>
              </a:rPr>
              <a:t>System.</a:t>
            </a:r>
            <a:r>
              <a:rPr lang="en-IN" sz="1600" b="0" i="0" dirty="0" err="1">
                <a:solidFill>
                  <a:srgbClr val="4284AE"/>
                </a:solidFill>
                <a:effectLst/>
                <a:latin typeface="inherit"/>
              </a:rPr>
              <a:t>IO</a:t>
            </a:r>
            <a:r>
              <a:rPr lang="en-IN" sz="1600" b="0" i="0" dirty="0" err="1">
                <a:solidFill>
                  <a:srgbClr val="CFD5E0"/>
                </a:solidFill>
                <a:effectLst/>
                <a:latin typeface="inherit"/>
              </a:rPr>
              <a:t>.</a:t>
            </a:r>
            <a:r>
              <a:rPr lang="en-IN" sz="1600" b="0" i="0" dirty="0" err="1">
                <a:solidFill>
                  <a:srgbClr val="4284AE"/>
                </a:solidFill>
                <a:effectLst/>
                <a:latin typeface="inherit"/>
              </a:rPr>
              <a:t>File</a:t>
            </a:r>
            <a:r>
              <a:rPr lang="en-IN" sz="1600" b="0" i="0" dirty="0" err="1">
                <a:solidFill>
                  <a:srgbClr val="CFD5E0"/>
                </a:solidFill>
                <a:effectLst/>
                <a:latin typeface="inherit"/>
              </a:rPr>
              <a:t>.</a:t>
            </a:r>
            <a:r>
              <a:rPr lang="en-IN" sz="1600" b="0" i="0" dirty="0" err="1">
                <a:solidFill>
                  <a:srgbClr val="4284AE"/>
                </a:solidFill>
                <a:effectLst/>
                <a:latin typeface="inherit"/>
              </a:rPr>
              <a:t>WriteAllText</a:t>
            </a:r>
            <a:r>
              <a:rPr lang="en-IN" sz="1600" b="1" i="0" dirty="0">
                <a:solidFill>
                  <a:srgbClr val="6B7C8B"/>
                </a:solidFill>
                <a:effectLst/>
                <a:latin typeface="inherit"/>
              </a:rPr>
              <a:t>(</a:t>
            </a:r>
            <a:r>
              <a:rPr lang="en-IN" sz="1600" b="0" i="0" dirty="0">
                <a:solidFill>
                  <a:srgbClr val="CFD5E0"/>
                </a:solidFill>
                <a:effectLst/>
                <a:latin typeface="inherit"/>
              </a:rPr>
              <a:t>@</a:t>
            </a:r>
            <a:r>
              <a:rPr lang="en-IN" sz="1600" b="0" i="0" dirty="0">
                <a:solidFill>
                  <a:srgbClr val="7CC379"/>
                </a:solidFill>
                <a:effectLst/>
                <a:latin typeface="inherit"/>
              </a:rPr>
              <a:t>"c:\ErrorLog.txt"</a:t>
            </a:r>
            <a:r>
              <a:rPr lang="en-IN" sz="1600" b="0" i="0" dirty="0">
                <a:solidFill>
                  <a:srgbClr val="CFD5E0"/>
                </a:solidFill>
                <a:effectLst/>
                <a:latin typeface="inherit"/>
              </a:rPr>
              <a:t>, </a:t>
            </a:r>
            <a:r>
              <a:rPr lang="en-IN" sz="1600" b="0" i="0" dirty="0" err="1">
                <a:solidFill>
                  <a:srgbClr val="CFD5E0"/>
                </a:solidFill>
                <a:effectLst/>
                <a:latin typeface="inherit"/>
              </a:rPr>
              <a:t>ex.</a:t>
            </a:r>
            <a:r>
              <a:rPr lang="en-IN" sz="1600" b="0" i="0" dirty="0" err="1">
                <a:solidFill>
                  <a:srgbClr val="4284AE"/>
                </a:solidFill>
                <a:effectLst/>
                <a:latin typeface="inherit"/>
              </a:rPr>
              <a:t>ToString</a:t>
            </a:r>
            <a:r>
              <a:rPr lang="en-IN" sz="1600" b="1" i="0" dirty="0">
                <a:solidFill>
                  <a:srgbClr val="6B7C8B"/>
                </a:solidFill>
                <a:effectLst/>
                <a:latin typeface="inherit"/>
              </a:rPr>
              <a:t>())</a:t>
            </a:r>
            <a:r>
              <a:rPr lang="en-IN" sz="1600" b="0" i="0" dirty="0">
                <a:solidFill>
                  <a:srgbClr val="CFD5E0"/>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a:endParaRPr>
          </a:p>
          <a:p>
            <a:pPr algn="l" fontAlgn="base"/>
            <a:r>
              <a:rPr lang="en-IN" sz="1600" b="1" i="0" dirty="0">
                <a:solidFill>
                  <a:srgbClr val="6B7C8B"/>
                </a:solidFill>
                <a:effectLst/>
                <a:latin typeface="inherit"/>
              </a:rPr>
              <a:t>}</a:t>
            </a:r>
            <a:endParaRPr lang="en-IN" sz="1600" b="0" i="0" dirty="0">
              <a:solidFill>
                <a:srgbClr val="596174"/>
              </a:solidFill>
              <a:effectLst/>
              <a:latin typeface="Inconsolata"/>
            </a:endParaRPr>
          </a:p>
        </p:txBody>
      </p:sp>
      <p:sp>
        <p:nvSpPr>
          <p:cNvPr id="9" name="TextBox 8">
            <a:extLst>
              <a:ext uri="{FF2B5EF4-FFF2-40B4-BE49-F238E27FC236}">
                <a16:creationId xmlns:a16="http://schemas.microsoft.com/office/drawing/2014/main" id="{F9DC0C4F-5DCF-4D12-84BD-92CF2DA8675A}"/>
              </a:ext>
            </a:extLst>
          </p:cNvPr>
          <p:cNvSpPr txBox="1"/>
          <p:nvPr/>
        </p:nvSpPr>
        <p:spPr>
          <a:xfrm>
            <a:off x="6695768" y="76944"/>
            <a:ext cx="6115664" cy="3046988"/>
          </a:xfrm>
          <a:prstGeom prst="rect">
            <a:avLst/>
          </a:prstGeom>
          <a:noFill/>
        </p:spPr>
        <p:txBody>
          <a:bodyPr wrap="square">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D171DD"/>
                </a:solidFill>
                <a:effectLst/>
                <a:uLnTx/>
                <a:uFillTx/>
                <a:latin typeface="inherit"/>
                <a:ea typeface="+mn-ea"/>
                <a:cs typeface="+mn-cs"/>
              </a:rPr>
              <a:t>public</a:t>
            </a:r>
            <a:r>
              <a:rPr kumimoji="0" lang="en-IN" sz="1600" b="0" i="0" u="none" strike="noStrike" kern="1200" cap="none" spc="0" normalizeH="0" baseline="0" noProof="0" dirty="0">
                <a:ln>
                  <a:noFill/>
                </a:ln>
                <a:solidFill>
                  <a:srgbClr val="CFD5E0"/>
                </a:solidFill>
                <a:effectLst/>
                <a:uLnTx/>
                <a:uFillTx/>
                <a:latin typeface="inherit"/>
                <a:ea typeface="+mn-ea"/>
                <a:cs typeface="+mn-cs"/>
              </a:rPr>
              <a:t> </a:t>
            </a:r>
            <a:r>
              <a:rPr kumimoji="0" lang="en-IN" sz="1600" b="1" i="0" u="none" strike="noStrike" kern="1200" cap="none" spc="0" normalizeH="0" baseline="0" noProof="0" dirty="0">
                <a:ln>
                  <a:noFill/>
                </a:ln>
                <a:solidFill>
                  <a:srgbClr val="D171DD"/>
                </a:solidFill>
                <a:effectLst/>
                <a:uLnTx/>
                <a:uFillTx/>
                <a:latin typeface="inherit"/>
                <a:ea typeface="+mn-ea"/>
                <a:cs typeface="+mn-cs"/>
              </a:rPr>
              <a:t>void</a:t>
            </a:r>
            <a:r>
              <a:rPr kumimoji="0" lang="en-IN" sz="1600" b="0" i="0" u="none" strike="noStrike" kern="1200" cap="none" spc="0" normalizeH="0" baseline="0" noProof="0" dirty="0">
                <a:ln>
                  <a:noFill/>
                </a:ln>
                <a:solidFill>
                  <a:srgbClr val="CFD5E0"/>
                </a:solidFill>
                <a:effectLst/>
                <a:uLnTx/>
                <a:uFillTx/>
                <a:latin typeface="inherit"/>
                <a:ea typeface="+mn-ea"/>
                <a:cs typeface="+mn-cs"/>
              </a:rPr>
              <a:t> </a:t>
            </a:r>
            <a:r>
              <a:rPr kumimoji="0" lang="en-IN" sz="1600" b="0" i="0" u="none" strike="noStrike" kern="1200" cap="none" spc="0" normalizeH="0" baseline="0" noProof="0" dirty="0" err="1">
                <a:ln>
                  <a:noFill/>
                </a:ln>
                <a:solidFill>
                  <a:srgbClr val="4284AE"/>
                </a:solidFill>
                <a:effectLst/>
                <a:uLnTx/>
                <a:uFillTx/>
                <a:latin typeface="inherit"/>
                <a:ea typeface="+mn-ea"/>
                <a:cs typeface="+mn-cs"/>
              </a:rPr>
              <a:t>SendInvoiceEmail</a:t>
            </a:r>
            <a:r>
              <a:rPr kumimoji="0" lang="en-IN" sz="1600" b="1" i="0" u="none" strike="noStrike" kern="1200" cap="none" spc="0" normalizeH="0" baseline="0" noProof="0" dirty="0">
                <a:ln>
                  <a:noFill/>
                </a:ln>
                <a:solidFill>
                  <a:srgbClr val="6B7C8B"/>
                </a:solidFill>
                <a:effectLst/>
                <a:uLnTx/>
                <a:uFillTx/>
                <a:latin typeface="inherit"/>
                <a:ea typeface="+mn-ea"/>
                <a:cs typeface="+mn-cs"/>
              </a:rPr>
              <a:t>(</a:t>
            </a:r>
            <a:r>
              <a:rPr kumimoji="0" lang="en-IN" sz="1600" b="0" i="0" u="none" strike="noStrike" kern="1200" cap="none" spc="0" normalizeH="0" baseline="0" noProof="0" dirty="0" err="1">
                <a:ln>
                  <a:noFill/>
                </a:ln>
                <a:solidFill>
                  <a:srgbClr val="CFD5E0"/>
                </a:solidFill>
                <a:effectLst/>
                <a:uLnTx/>
                <a:uFillTx/>
                <a:latin typeface="inherit"/>
                <a:ea typeface="+mn-ea"/>
                <a:cs typeface="+mn-cs"/>
              </a:rPr>
              <a:t>MailMessage</a:t>
            </a:r>
            <a:r>
              <a:rPr kumimoji="0" lang="en-IN" sz="1600" b="0" i="0" u="none" strike="noStrike" kern="1200" cap="none" spc="0" normalizeH="0" baseline="0" noProof="0" dirty="0">
                <a:ln>
                  <a:noFill/>
                </a:ln>
                <a:solidFill>
                  <a:srgbClr val="CFD5E0"/>
                </a:solidFill>
                <a:effectLst/>
                <a:uLnTx/>
                <a:uFillTx/>
                <a:latin typeface="inherit"/>
                <a:ea typeface="+mn-ea"/>
                <a:cs typeface="+mn-cs"/>
              </a:rPr>
              <a:t> </a:t>
            </a:r>
            <a:r>
              <a:rPr kumimoji="0" lang="en-IN" sz="1600" b="0" i="0" u="none" strike="noStrike" kern="1200" cap="none" spc="0" normalizeH="0" baseline="0" noProof="0" dirty="0" err="1">
                <a:ln>
                  <a:noFill/>
                </a:ln>
                <a:solidFill>
                  <a:srgbClr val="CFD5E0"/>
                </a:solidFill>
                <a:effectLst/>
                <a:uLnTx/>
                <a:uFillTx/>
                <a:latin typeface="inherit"/>
                <a:ea typeface="+mn-ea"/>
                <a:cs typeface="+mn-cs"/>
              </a:rPr>
              <a:t>mailMessage</a:t>
            </a:r>
            <a:r>
              <a:rPr kumimoji="0" lang="en-IN" sz="1600" b="1" i="0" u="none" strike="noStrike" kern="1200" cap="none" spc="0" normalizeH="0" baseline="0" noProof="0" dirty="0">
                <a:ln>
                  <a:noFill/>
                </a:ln>
                <a:solidFill>
                  <a:srgbClr val="6B7C8B"/>
                </a:solidFill>
                <a:effectLst/>
                <a:uLnTx/>
                <a:uFillTx/>
                <a:latin typeface="inherit"/>
                <a:ea typeface="+mn-ea"/>
                <a:cs typeface="+mn-cs"/>
              </a:rPr>
              <a:t>)</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D171DD"/>
                </a:solidFill>
                <a:effectLst/>
                <a:uLnTx/>
                <a:uFillTx/>
                <a:latin typeface="inherit"/>
                <a:ea typeface="+mn-ea"/>
                <a:cs typeface="+mn-cs"/>
              </a:rPr>
              <a:t> try</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 { </a:t>
            </a:r>
            <a:r>
              <a:rPr kumimoji="0" lang="en-IN" sz="1600" b="0" i="0" u="none" strike="noStrike" kern="1200" cap="none" spc="0" normalizeH="0" baseline="0" noProof="0" dirty="0">
                <a:ln>
                  <a:noFill/>
                </a:ln>
                <a:solidFill>
                  <a:srgbClr val="6B7C8B"/>
                </a:solidFill>
                <a:effectLst/>
                <a:uLnTx/>
                <a:uFillTx/>
                <a:latin typeface="inherit"/>
                <a:ea typeface="+mn-ea"/>
                <a:cs typeface="+mn-cs"/>
              </a:rPr>
              <a:t>// Here we need to write the Code for Email setting and sending the   invoice mail</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 }</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D171DD"/>
                </a:solidFill>
                <a:effectLst/>
                <a:uLnTx/>
                <a:uFillTx/>
                <a:latin typeface="inherit"/>
                <a:ea typeface="+mn-ea"/>
                <a:cs typeface="+mn-cs"/>
              </a:rPr>
              <a:t>   catch</a:t>
            </a:r>
            <a:r>
              <a:rPr kumimoji="0" lang="en-IN" sz="1600" b="0" i="0" u="none" strike="noStrike" kern="1200" cap="none" spc="0" normalizeH="0" baseline="0" noProof="0" dirty="0">
                <a:ln>
                  <a:noFill/>
                </a:ln>
                <a:solidFill>
                  <a:srgbClr val="CFD5E0"/>
                </a:solidFill>
                <a:effectLst/>
                <a:uLnTx/>
                <a:uFillTx/>
                <a:latin typeface="inherit"/>
                <a:ea typeface="+mn-ea"/>
                <a:cs typeface="+mn-cs"/>
              </a:rPr>
              <a:t> </a:t>
            </a:r>
            <a:r>
              <a:rPr kumimoji="0" lang="en-IN" sz="1600" b="1" i="0" u="none" strike="noStrike" kern="1200" cap="none" spc="0" normalizeH="0" baseline="0" noProof="0" dirty="0">
                <a:ln>
                  <a:noFill/>
                </a:ln>
                <a:solidFill>
                  <a:srgbClr val="6B7C8B"/>
                </a:solidFill>
                <a:effectLst/>
                <a:uLnTx/>
                <a:uFillTx/>
                <a:latin typeface="inherit"/>
                <a:ea typeface="+mn-ea"/>
                <a:cs typeface="+mn-cs"/>
              </a:rPr>
              <a:t>(</a:t>
            </a:r>
            <a:r>
              <a:rPr kumimoji="0" lang="en-IN" sz="1600" b="0" i="0" u="none" strike="noStrike" kern="1200" cap="none" spc="0" normalizeH="0" baseline="0" noProof="0" dirty="0">
                <a:ln>
                  <a:noFill/>
                </a:ln>
                <a:solidFill>
                  <a:srgbClr val="CFD5E0"/>
                </a:solidFill>
                <a:effectLst/>
                <a:uLnTx/>
                <a:uFillTx/>
                <a:latin typeface="inherit"/>
                <a:ea typeface="+mn-ea"/>
                <a:cs typeface="+mn-cs"/>
              </a:rPr>
              <a:t>Exception ex</a:t>
            </a:r>
            <a:r>
              <a:rPr kumimoji="0" lang="en-IN" sz="1600" b="1" i="0" u="none" strike="noStrike" kern="1200" cap="none" spc="0" normalizeH="0" baseline="0" noProof="0" dirty="0">
                <a:ln>
                  <a:noFill/>
                </a:ln>
                <a:solidFill>
                  <a:srgbClr val="6B7C8B"/>
                </a:solidFill>
                <a:effectLst/>
                <a:uLnTx/>
                <a:uFillTx/>
                <a:latin typeface="inherit"/>
                <a:ea typeface="+mn-ea"/>
                <a:cs typeface="+mn-cs"/>
              </a:rPr>
              <a:t>)</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  { </a:t>
            </a:r>
            <a:r>
              <a:rPr kumimoji="0" lang="en-IN" sz="1600" b="0" i="0" u="none" strike="noStrike" kern="1200" cap="none" spc="0" normalizeH="0" baseline="0" noProof="0" dirty="0" err="1">
                <a:ln>
                  <a:noFill/>
                </a:ln>
                <a:solidFill>
                  <a:srgbClr val="CFD5E0"/>
                </a:solidFill>
                <a:effectLst/>
                <a:uLnTx/>
                <a:uFillTx/>
                <a:latin typeface="inherit"/>
                <a:ea typeface="+mn-ea"/>
                <a:cs typeface="+mn-cs"/>
              </a:rPr>
              <a:t>System.</a:t>
            </a:r>
            <a:r>
              <a:rPr kumimoji="0" lang="en-IN" sz="1600" b="0" i="0" u="none" strike="noStrike" kern="1200" cap="none" spc="0" normalizeH="0" baseline="0" noProof="0" dirty="0" err="1">
                <a:ln>
                  <a:noFill/>
                </a:ln>
                <a:solidFill>
                  <a:srgbClr val="4284AE"/>
                </a:solidFill>
                <a:effectLst/>
                <a:uLnTx/>
                <a:uFillTx/>
                <a:latin typeface="inherit"/>
                <a:ea typeface="+mn-ea"/>
                <a:cs typeface="+mn-cs"/>
              </a:rPr>
              <a:t>IO</a:t>
            </a:r>
            <a:r>
              <a:rPr kumimoji="0" lang="en-IN" sz="1600" b="0" i="0" u="none" strike="noStrike" kern="1200" cap="none" spc="0" normalizeH="0" baseline="0" noProof="0" dirty="0" err="1">
                <a:ln>
                  <a:noFill/>
                </a:ln>
                <a:solidFill>
                  <a:srgbClr val="CFD5E0"/>
                </a:solidFill>
                <a:effectLst/>
                <a:uLnTx/>
                <a:uFillTx/>
                <a:latin typeface="inherit"/>
                <a:ea typeface="+mn-ea"/>
                <a:cs typeface="+mn-cs"/>
              </a:rPr>
              <a:t>.</a:t>
            </a:r>
            <a:r>
              <a:rPr kumimoji="0" lang="en-IN" sz="1600" b="0" i="0" u="none" strike="noStrike" kern="1200" cap="none" spc="0" normalizeH="0" baseline="0" noProof="0" dirty="0" err="1">
                <a:ln>
                  <a:noFill/>
                </a:ln>
                <a:solidFill>
                  <a:srgbClr val="4284AE"/>
                </a:solidFill>
                <a:effectLst/>
                <a:uLnTx/>
                <a:uFillTx/>
                <a:latin typeface="inherit"/>
                <a:ea typeface="+mn-ea"/>
                <a:cs typeface="+mn-cs"/>
              </a:rPr>
              <a:t>File</a:t>
            </a:r>
            <a:r>
              <a:rPr kumimoji="0" lang="en-IN" sz="1600" b="0" i="0" u="none" strike="noStrike" kern="1200" cap="none" spc="0" normalizeH="0" baseline="0" noProof="0" dirty="0" err="1">
                <a:ln>
                  <a:noFill/>
                </a:ln>
                <a:solidFill>
                  <a:srgbClr val="CFD5E0"/>
                </a:solidFill>
                <a:effectLst/>
                <a:uLnTx/>
                <a:uFillTx/>
                <a:latin typeface="inherit"/>
                <a:ea typeface="+mn-ea"/>
                <a:cs typeface="+mn-cs"/>
              </a:rPr>
              <a:t>.</a:t>
            </a:r>
            <a:r>
              <a:rPr kumimoji="0" lang="en-IN" sz="1600" b="0" i="0" u="none" strike="noStrike" kern="1200" cap="none" spc="0" normalizeH="0" baseline="0" noProof="0" dirty="0" err="1">
                <a:ln>
                  <a:noFill/>
                </a:ln>
                <a:solidFill>
                  <a:srgbClr val="4284AE"/>
                </a:solidFill>
                <a:effectLst/>
                <a:uLnTx/>
                <a:uFillTx/>
                <a:latin typeface="inherit"/>
                <a:ea typeface="+mn-ea"/>
                <a:cs typeface="+mn-cs"/>
              </a:rPr>
              <a:t>WriteAllText</a:t>
            </a:r>
            <a:r>
              <a:rPr kumimoji="0" lang="en-IN" sz="1600" b="1" i="0" u="none" strike="noStrike" kern="1200" cap="none" spc="0" normalizeH="0" baseline="0" noProof="0" dirty="0">
                <a:ln>
                  <a:noFill/>
                </a:ln>
                <a:solidFill>
                  <a:srgbClr val="6B7C8B"/>
                </a:solidFill>
                <a:effectLst/>
                <a:uLnTx/>
                <a:uFillTx/>
                <a:latin typeface="inherit"/>
                <a:ea typeface="+mn-ea"/>
                <a:cs typeface="+mn-cs"/>
              </a:rPr>
              <a:t>(</a:t>
            </a:r>
            <a:r>
              <a:rPr kumimoji="0" lang="en-IN" sz="1600" b="0" i="0" u="none" strike="noStrike" kern="1200" cap="none" spc="0" normalizeH="0" baseline="0" noProof="0" dirty="0">
                <a:ln>
                  <a:noFill/>
                </a:ln>
                <a:solidFill>
                  <a:srgbClr val="CFD5E0"/>
                </a:solidFill>
                <a:effectLst/>
                <a:uLnTx/>
                <a:uFillTx/>
                <a:latin typeface="inherit"/>
                <a:ea typeface="+mn-ea"/>
                <a:cs typeface="+mn-cs"/>
              </a:rPr>
              <a:t>@</a:t>
            </a:r>
            <a:r>
              <a:rPr kumimoji="0" lang="en-IN" sz="1600" b="0" i="0" u="none" strike="noStrike" kern="1200" cap="none" spc="0" normalizeH="0" baseline="0" noProof="0" dirty="0">
                <a:ln>
                  <a:noFill/>
                </a:ln>
                <a:solidFill>
                  <a:srgbClr val="7CC379"/>
                </a:solidFill>
                <a:effectLst/>
                <a:uLnTx/>
                <a:uFillTx/>
                <a:latin typeface="inherit"/>
                <a:ea typeface="+mn-ea"/>
                <a:cs typeface="+mn-cs"/>
              </a:rPr>
              <a:t>"c:\ErrorLog.txt"</a:t>
            </a:r>
            <a:r>
              <a:rPr kumimoji="0" lang="en-IN" sz="1600" b="0" i="0" u="none" strike="noStrike" kern="1200" cap="none" spc="0" normalizeH="0" baseline="0" noProof="0" dirty="0">
                <a:ln>
                  <a:noFill/>
                </a:ln>
                <a:solidFill>
                  <a:srgbClr val="CFD5E0"/>
                </a:solidFill>
                <a:effectLst/>
                <a:uLnTx/>
                <a:uFillTx/>
                <a:latin typeface="inherit"/>
                <a:ea typeface="+mn-ea"/>
                <a:cs typeface="+mn-cs"/>
              </a:rPr>
              <a:t>, </a:t>
            </a:r>
            <a:r>
              <a:rPr kumimoji="0" lang="en-IN" sz="1600" b="0" i="0" u="none" strike="noStrike" kern="1200" cap="none" spc="0" normalizeH="0" baseline="0" noProof="0" dirty="0" err="1">
                <a:ln>
                  <a:noFill/>
                </a:ln>
                <a:solidFill>
                  <a:srgbClr val="CFD5E0"/>
                </a:solidFill>
                <a:effectLst/>
                <a:uLnTx/>
                <a:uFillTx/>
                <a:latin typeface="inherit"/>
                <a:ea typeface="+mn-ea"/>
                <a:cs typeface="+mn-cs"/>
              </a:rPr>
              <a:t>ex.</a:t>
            </a:r>
            <a:r>
              <a:rPr kumimoji="0" lang="en-IN" sz="1600" b="0" i="0" u="none" strike="noStrike" kern="1200" cap="none" spc="0" normalizeH="0" baseline="0" noProof="0" dirty="0" err="1">
                <a:ln>
                  <a:noFill/>
                </a:ln>
                <a:solidFill>
                  <a:srgbClr val="4284AE"/>
                </a:solidFill>
                <a:effectLst/>
                <a:uLnTx/>
                <a:uFillTx/>
                <a:latin typeface="inherit"/>
                <a:ea typeface="+mn-ea"/>
                <a:cs typeface="+mn-cs"/>
              </a:rPr>
              <a:t>ToString</a:t>
            </a:r>
            <a:r>
              <a:rPr kumimoji="0" lang="en-IN" sz="1600" b="1" i="0" u="none" strike="noStrike" kern="1200" cap="none" spc="0" normalizeH="0" baseline="0" noProof="0" dirty="0">
                <a:ln>
                  <a:noFill/>
                </a:ln>
                <a:solidFill>
                  <a:srgbClr val="6B7C8B"/>
                </a:solidFill>
                <a:effectLst/>
                <a:uLnTx/>
                <a:uFillTx/>
                <a:latin typeface="inherit"/>
                <a:ea typeface="+mn-ea"/>
                <a:cs typeface="+mn-cs"/>
              </a:rPr>
              <a:t>())</a:t>
            </a:r>
            <a:r>
              <a:rPr kumimoji="0" lang="en-IN" sz="1600" b="0" i="0" u="none" strike="noStrike" kern="1200" cap="none" spc="0" normalizeH="0" baseline="0" noProof="0" dirty="0">
                <a:ln>
                  <a:noFill/>
                </a:ln>
                <a:solidFill>
                  <a:srgbClr val="CFD5E0"/>
                </a:solidFill>
                <a:effectLst/>
                <a:uLnTx/>
                <a:uFillTx/>
                <a:latin typeface="inherit"/>
                <a:ea typeface="+mn-ea"/>
                <a:cs typeface="+mn-cs"/>
              </a:rPr>
              <a:t>;</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    }</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  }</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  }</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a:p>
            <a:pPr marL="0" marR="0" lvl="0" indent="0" algn="l" defTabSz="914400" rtl="0" eaLnBrk="1" fontAlgn="base"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dirty="0">
                <a:ln>
                  <a:noFill/>
                </a:ln>
                <a:solidFill>
                  <a:srgbClr val="6B7C8B"/>
                </a:solidFill>
                <a:effectLst/>
                <a:uLnTx/>
                <a:uFillTx/>
                <a:latin typeface="inherit"/>
                <a:ea typeface="+mn-ea"/>
                <a:cs typeface="+mn-cs"/>
              </a:rPr>
              <a:t>}</a:t>
            </a:r>
            <a:endParaRPr kumimoji="0" lang="en-IN" sz="1600" b="0" i="0" u="none" strike="noStrike" kern="1200" cap="none" spc="0" normalizeH="0" baseline="0" noProof="0" dirty="0">
              <a:ln>
                <a:noFill/>
              </a:ln>
              <a:solidFill>
                <a:srgbClr val="596174"/>
              </a:solidFill>
              <a:effectLst/>
              <a:uLnTx/>
              <a:uFillTx/>
              <a:latin typeface="Inconsolata"/>
              <a:ea typeface="+mn-ea"/>
              <a:cs typeface="+mn-cs"/>
            </a:endParaRPr>
          </a:p>
        </p:txBody>
      </p:sp>
    </p:spTree>
    <p:extLst>
      <p:ext uri="{BB962C8B-B14F-4D97-AF65-F5344CB8AC3E}">
        <p14:creationId xmlns:p14="http://schemas.microsoft.com/office/powerpoint/2010/main" val="258268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3A336C2-8A45-4B46-AAB2-B7FFB0127E85}"/>
              </a:ext>
            </a:extLst>
          </p:cNvPr>
          <p:cNvSpPr txBox="1"/>
          <p:nvPr/>
        </p:nvSpPr>
        <p:spPr>
          <a:xfrm>
            <a:off x="442452" y="297114"/>
            <a:ext cx="6096000" cy="369332"/>
          </a:xfrm>
          <a:prstGeom prst="rect">
            <a:avLst/>
          </a:prstGeom>
          <a:noFill/>
        </p:spPr>
        <p:txBody>
          <a:bodyPr wrap="square">
            <a:spAutoFit/>
          </a:bodyPr>
          <a:lstStyle/>
          <a:p>
            <a:r>
              <a:rPr lang="en-US" dirty="0"/>
              <a:t>Example: Implementing the SRP in C#</a:t>
            </a:r>
            <a:endParaRPr lang="en-IN" dirty="0"/>
          </a:p>
        </p:txBody>
      </p:sp>
      <p:pic>
        <p:nvPicPr>
          <p:cNvPr id="6" name="Picture 5">
            <a:extLst>
              <a:ext uri="{FF2B5EF4-FFF2-40B4-BE49-F238E27FC236}">
                <a16:creationId xmlns:a16="http://schemas.microsoft.com/office/drawing/2014/main" id="{F547C121-3F9F-4F46-9E10-A42042147FE6}"/>
              </a:ext>
            </a:extLst>
          </p:cNvPr>
          <p:cNvPicPr>
            <a:picLocks noChangeAspect="1"/>
          </p:cNvPicPr>
          <p:nvPr/>
        </p:nvPicPr>
        <p:blipFill>
          <a:blip r:embed="rId2"/>
          <a:stretch>
            <a:fillRect/>
          </a:stretch>
        </p:blipFill>
        <p:spPr>
          <a:xfrm>
            <a:off x="442452" y="1124564"/>
            <a:ext cx="8867775" cy="2819400"/>
          </a:xfrm>
          <a:prstGeom prst="rect">
            <a:avLst/>
          </a:prstGeom>
        </p:spPr>
      </p:pic>
    </p:spTree>
    <p:extLst>
      <p:ext uri="{BB962C8B-B14F-4D97-AF65-F5344CB8AC3E}">
        <p14:creationId xmlns:p14="http://schemas.microsoft.com/office/powerpoint/2010/main" val="2598345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351A45-4004-413A-AA33-B19A0BBC0B9E}"/>
              </a:ext>
            </a:extLst>
          </p:cNvPr>
          <p:cNvSpPr>
            <a:spLocks noGrp="1"/>
          </p:cNvSpPr>
          <p:nvPr>
            <p:ph idx="1"/>
          </p:nvPr>
        </p:nvSpPr>
        <p:spPr>
          <a:xfrm>
            <a:off x="255640" y="157317"/>
            <a:ext cx="4965289" cy="5152102"/>
          </a:xfrm>
        </p:spPr>
        <p:txBody>
          <a:bodyPr>
            <a:normAutofit/>
          </a:bodyPr>
          <a:lstStyle/>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SRP_SOlid</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MailSender</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EMailFrom</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EMailTo</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EMailSubject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EMailBody</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SendEmail</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we need to write the Code for sending the mail</a:t>
            </a:r>
            <a:endParaRPr lang="en-US"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p>
        </p:txBody>
      </p:sp>
      <p:sp>
        <p:nvSpPr>
          <p:cNvPr id="5" name="TextBox 4">
            <a:extLst>
              <a:ext uri="{FF2B5EF4-FFF2-40B4-BE49-F238E27FC236}">
                <a16:creationId xmlns:a16="http://schemas.microsoft.com/office/drawing/2014/main" id="{29641EBC-4B37-48EC-947F-D2903F9A257F}"/>
              </a:ext>
            </a:extLst>
          </p:cNvPr>
          <p:cNvSpPr txBox="1"/>
          <p:nvPr/>
        </p:nvSpPr>
        <p:spPr>
          <a:xfrm>
            <a:off x="5968180" y="0"/>
            <a:ext cx="6096000" cy="6555641"/>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SRP_SOlid</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interface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ILogger</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Info(</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info);</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Debug(</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info);</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Error(</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message, </a:t>
            </a:r>
            <a:r>
              <a:rPr lang="en-IN" sz="1200" dirty="0">
                <a:solidFill>
                  <a:srgbClr val="2B91AF"/>
                </a:solidFill>
                <a:highlight>
                  <a:srgbClr val="FFFFFF"/>
                </a:highlight>
                <a:latin typeface="Consolas" panose="020B0609020204030204" pitchFamily="49" charset="0"/>
              </a:rPr>
              <a:t>Exception</a:t>
            </a:r>
            <a:r>
              <a:rPr lang="en-IN" sz="1200" dirty="0">
                <a:solidFill>
                  <a:srgbClr val="000000"/>
                </a:solidFill>
                <a:highlight>
                  <a:srgbClr val="FFFFFF"/>
                </a:highlight>
                <a:latin typeface="Consolas" panose="020B0609020204030204" pitchFamily="49" charset="0"/>
              </a:rPr>
              <a:t> ex);</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Logger</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ILogger</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Logger()</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we need to write the Code for initialization </a:t>
            </a:r>
            <a:endParaRPr lang="en-US" sz="1200" dirty="0">
              <a:solidFill>
                <a:srgbClr val="000000"/>
              </a:solidFill>
              <a:highlight>
                <a:srgbClr val="FFFFFF"/>
              </a:highlight>
              <a:latin typeface="Consolas" panose="020B0609020204030204" pitchFamily="49" charset="0"/>
            </a:endParaRP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that is Creating the Log file with </a:t>
            </a:r>
            <a:r>
              <a:rPr lang="en-US" sz="1200" dirty="0" err="1">
                <a:solidFill>
                  <a:srgbClr val="008000"/>
                </a:solidFill>
                <a:highlight>
                  <a:srgbClr val="FFFFFF"/>
                </a:highlight>
                <a:latin typeface="Consolas" panose="020B0609020204030204" pitchFamily="49" charset="0"/>
              </a:rPr>
              <a:t>necesssary</a:t>
            </a:r>
            <a:r>
              <a:rPr lang="en-US" sz="1200" dirty="0">
                <a:solidFill>
                  <a:srgbClr val="008000"/>
                </a:solidFill>
                <a:highlight>
                  <a:srgbClr val="FFFFFF"/>
                </a:highlight>
                <a:latin typeface="Consolas" panose="020B0609020204030204" pitchFamily="49" charset="0"/>
              </a:rPr>
              <a:t> details</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Info(</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info)</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we need to write the Code for info information into the </a:t>
            </a:r>
            <a:r>
              <a:rPr lang="en-US" sz="1200" dirty="0" err="1">
                <a:solidFill>
                  <a:srgbClr val="008000"/>
                </a:solidFill>
                <a:highlight>
                  <a:srgbClr val="FFFFFF"/>
                </a:highlight>
                <a:latin typeface="Consolas" panose="020B0609020204030204" pitchFamily="49" charset="0"/>
              </a:rPr>
              <a:t>ErrorLog</a:t>
            </a:r>
            <a:r>
              <a:rPr lang="en-US" sz="1200" dirty="0">
                <a:solidFill>
                  <a:srgbClr val="008000"/>
                </a:solidFill>
                <a:highlight>
                  <a:srgbClr val="FFFFFF"/>
                </a:highlight>
                <a:latin typeface="Consolas" panose="020B0609020204030204" pitchFamily="49" charset="0"/>
              </a:rPr>
              <a:t> text file</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Debug(</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info)</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we need to write the Code for Debug information into the </a:t>
            </a:r>
            <a:r>
              <a:rPr lang="en-US" sz="1200" dirty="0" err="1">
                <a:solidFill>
                  <a:srgbClr val="008000"/>
                </a:solidFill>
                <a:highlight>
                  <a:srgbClr val="FFFFFF"/>
                </a:highlight>
                <a:latin typeface="Consolas" panose="020B0609020204030204" pitchFamily="49" charset="0"/>
              </a:rPr>
              <a:t>ErrorLog</a:t>
            </a:r>
            <a:r>
              <a:rPr lang="en-US" sz="1200" dirty="0">
                <a:solidFill>
                  <a:srgbClr val="008000"/>
                </a:solidFill>
                <a:highlight>
                  <a:srgbClr val="FFFFFF"/>
                </a:highlight>
                <a:latin typeface="Consolas" panose="020B0609020204030204" pitchFamily="49" charset="0"/>
              </a:rPr>
              <a:t> text file</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Error(</a:t>
            </a:r>
            <a:r>
              <a:rPr lang="en-IN" sz="1200" dirty="0">
                <a:solidFill>
                  <a:srgbClr val="0000FF"/>
                </a:solidFill>
                <a:highlight>
                  <a:srgbClr val="FFFFFF"/>
                </a:highlight>
                <a:latin typeface="Consolas" panose="020B0609020204030204" pitchFamily="49" charset="0"/>
              </a:rPr>
              <a:t>string</a:t>
            </a:r>
            <a:r>
              <a:rPr lang="en-IN" sz="1200" dirty="0">
                <a:solidFill>
                  <a:srgbClr val="000000"/>
                </a:solidFill>
                <a:highlight>
                  <a:srgbClr val="FFFFFF"/>
                </a:highlight>
                <a:latin typeface="Consolas" panose="020B0609020204030204" pitchFamily="49" charset="0"/>
              </a:rPr>
              <a:t> message, </a:t>
            </a:r>
            <a:r>
              <a:rPr lang="en-IN" sz="1200" dirty="0">
                <a:solidFill>
                  <a:srgbClr val="2B91AF"/>
                </a:solidFill>
                <a:highlight>
                  <a:srgbClr val="FFFFFF"/>
                </a:highlight>
                <a:latin typeface="Consolas" panose="020B0609020204030204" pitchFamily="49" charset="0"/>
              </a:rPr>
              <a:t>Exception</a:t>
            </a:r>
            <a:r>
              <a:rPr lang="en-IN" sz="1200" dirty="0">
                <a:solidFill>
                  <a:srgbClr val="000000"/>
                </a:solidFill>
                <a:highlight>
                  <a:srgbClr val="FFFFFF"/>
                </a:highlight>
                <a:latin typeface="Consolas" panose="020B0609020204030204" pitchFamily="49" charset="0"/>
              </a:rPr>
              <a:t> ex)</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we need to write the Code for Error information into the </a:t>
            </a:r>
            <a:r>
              <a:rPr lang="en-US" sz="1200" dirty="0" err="1">
                <a:solidFill>
                  <a:srgbClr val="008000"/>
                </a:solidFill>
                <a:highlight>
                  <a:srgbClr val="FFFFFF"/>
                </a:highlight>
                <a:latin typeface="Consolas" panose="020B0609020204030204" pitchFamily="49" charset="0"/>
              </a:rPr>
              <a:t>ErrorLog</a:t>
            </a:r>
            <a:r>
              <a:rPr lang="en-US" sz="1200" dirty="0">
                <a:solidFill>
                  <a:srgbClr val="008000"/>
                </a:solidFill>
                <a:highlight>
                  <a:srgbClr val="FFFFFF"/>
                </a:highlight>
                <a:latin typeface="Consolas" panose="020B0609020204030204" pitchFamily="49" charset="0"/>
              </a:rPr>
              <a:t> text file</a:t>
            </a:r>
            <a:endParaRPr lang="en-US"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p:txBody>
      </p:sp>
    </p:spTree>
    <p:extLst>
      <p:ext uri="{BB962C8B-B14F-4D97-AF65-F5344CB8AC3E}">
        <p14:creationId xmlns:p14="http://schemas.microsoft.com/office/powerpoint/2010/main" val="6902663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34899F-AD84-434E-9C4D-54BA20D4879A}"/>
              </a:ext>
            </a:extLst>
          </p:cNvPr>
          <p:cNvSpPr>
            <a:spLocks noGrp="1"/>
          </p:cNvSpPr>
          <p:nvPr>
            <p:ph idx="1"/>
          </p:nvPr>
        </p:nvSpPr>
        <p:spPr>
          <a:xfrm>
            <a:off x="78658" y="39329"/>
            <a:ext cx="6017342" cy="5921324"/>
          </a:xfrm>
        </p:spPr>
        <p:txBody>
          <a:bodyPr>
            <a:noAutofit/>
          </a:bodyPr>
          <a:lstStyle/>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lnSpc>
                <a:spcPct val="100000"/>
              </a:lnSpc>
              <a:spcBef>
                <a:spcPts val="0"/>
              </a:spcBef>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SRP_SOlid</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Invoice</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long</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InvAmount</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err="1">
                <a:solidFill>
                  <a:srgbClr val="2B91AF"/>
                </a:solidFill>
                <a:highlight>
                  <a:srgbClr val="FFFFFF"/>
                </a:highlight>
                <a:latin typeface="Consolas" panose="020B0609020204030204" pitchFamily="49" charset="0"/>
              </a:rPr>
              <a:t>DateTime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InvDate</a:t>
            </a:r>
            <a:r>
              <a:rPr lang="en-US" sz="1200" dirty="0">
                <a:solidFill>
                  <a:srgbClr val="000000"/>
                </a:solidFill>
                <a:highlight>
                  <a:srgbClr val="FFFFFF"/>
                </a:highlight>
                <a:latin typeface="Consolas" panose="020B0609020204030204" pitchFamily="49" charset="0"/>
              </a:rPr>
              <a: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private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ILogger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fileLogger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private</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MailSender</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emailSender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Invoice()</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fileLogger</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Logger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emailSender</a:t>
            </a:r>
            <a:r>
              <a:rPr lang="en-IN" sz="1200" dirty="0">
                <a:solidFill>
                  <a:srgbClr val="000000"/>
                </a:solidFill>
                <a:highlight>
                  <a:srgbClr val="FFFFFF"/>
                </a:highlight>
                <a:latin typeface="Consolas" panose="020B0609020204030204" pitchFamily="49" charset="0"/>
              </a:rPr>
              <a:t> =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MailSender</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void</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AddInvoice</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try</a:t>
            </a:r>
            <a:endParaRPr lang="en-IN"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fileLogger.Info</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"Add method Start"</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Here we need to write the Code for adding invoice</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a:solidFill>
                  <a:srgbClr val="008000"/>
                </a:solidFill>
                <a:highlight>
                  <a:srgbClr val="FFFFFF"/>
                </a:highlight>
                <a:latin typeface="Consolas" panose="020B0609020204030204" pitchFamily="49" charset="0"/>
              </a:rPr>
              <a:t>// Once the Invoice has been added, then send the  mail</a:t>
            </a:r>
            <a:endParaRPr lang="en-US" sz="1200" dirty="0">
              <a:solidFill>
                <a:srgbClr val="000000"/>
              </a:solidFill>
              <a:highlight>
                <a:srgbClr val="FFFFFF"/>
              </a:highlight>
              <a:latin typeface="Consolas" panose="020B0609020204030204" pitchFamily="49" charset="0"/>
            </a:endParaRP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emailSender.EMailFrom</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"emailfrom@xyz.com"</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emailSender.EMailTo</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"emailto@xyz.com"</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emailSender.EMailSubject</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"Single Responsibility </a:t>
            </a:r>
            <a:r>
              <a:rPr lang="en-US" sz="1200" dirty="0" err="1">
                <a:solidFill>
                  <a:srgbClr val="A31515"/>
                </a:solidFill>
                <a:highlight>
                  <a:srgbClr val="FFFFFF"/>
                </a:highlight>
                <a:latin typeface="Consolas" panose="020B0609020204030204" pitchFamily="49" charset="0"/>
              </a:rPr>
              <a:t>Princile</a:t>
            </a:r>
            <a:r>
              <a:rPr lang="en-US" sz="1200" dirty="0">
                <a:solidFill>
                  <a:srgbClr val="A31515"/>
                </a:solidFill>
                <a:highlight>
                  <a:srgbClr val="FFFFFF"/>
                </a:highlight>
                <a:latin typeface="Consolas" panose="020B0609020204030204" pitchFamily="49" charset="0"/>
              </a:rPr>
              <a:t>"</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emailSender.EMailBody</a:t>
            </a:r>
            <a:r>
              <a:rPr lang="en-US" sz="1200" dirty="0">
                <a:solidFill>
                  <a:srgbClr val="000000"/>
                </a:solidFill>
                <a:highlight>
                  <a:srgbClr val="FFFFFF"/>
                </a:highlight>
                <a:latin typeface="Consolas" panose="020B0609020204030204" pitchFamily="49" charset="0"/>
              </a:rPr>
              <a:t> = </a:t>
            </a:r>
            <a:r>
              <a:rPr lang="en-US" sz="1200" dirty="0">
                <a:solidFill>
                  <a:srgbClr val="A31515"/>
                </a:solidFill>
                <a:highlight>
                  <a:srgbClr val="FFFFFF"/>
                </a:highlight>
                <a:latin typeface="Consolas" panose="020B0609020204030204" pitchFamily="49" charset="0"/>
              </a:rPr>
              <a:t>"A class should have only one reason to change"</a:t>
            </a:r>
            <a:r>
              <a:rPr lang="en-US"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emailSender.SendEmail</a:t>
            </a:r>
            <a:r>
              <a:rPr lang="en-IN" sz="1200" dirty="0">
                <a:solidFill>
                  <a:srgbClr val="000000"/>
                </a:solidFill>
                <a:highlight>
                  <a:srgbClr val="FFFFFF"/>
                </a:highlight>
                <a:latin typeface="Consolas" panose="020B0609020204030204" pitchFamily="49" charset="0"/>
              </a:rPr>
              <a:t>();</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catch</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Exception</a:t>
            </a:r>
            <a:r>
              <a:rPr lang="en-IN" sz="1200" dirty="0">
                <a:solidFill>
                  <a:srgbClr val="000000"/>
                </a:solidFill>
                <a:highlight>
                  <a:srgbClr val="FFFFFF"/>
                </a:highlight>
                <a:latin typeface="Consolas" panose="020B0609020204030204" pitchFamily="49" charset="0"/>
              </a:rPr>
              <a:t> ex)</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fileLogger.Error</a:t>
            </a:r>
            <a:r>
              <a:rPr lang="en-US" sz="1200" dirty="0">
                <a:solidFill>
                  <a:srgbClr val="000000"/>
                </a:solidFill>
                <a:highlight>
                  <a:srgbClr val="FFFFFF"/>
                </a:highlight>
                <a:latin typeface="Consolas" panose="020B0609020204030204" pitchFamily="49" charset="0"/>
              </a:rPr>
              <a:t>(</a:t>
            </a:r>
            <a:r>
              <a:rPr lang="en-US" sz="1200" dirty="0">
                <a:solidFill>
                  <a:srgbClr val="A31515"/>
                </a:solidFill>
                <a:highlight>
                  <a:srgbClr val="FFFFFF"/>
                </a:highlight>
                <a:latin typeface="Consolas" panose="020B0609020204030204" pitchFamily="49" charset="0"/>
              </a:rPr>
              <a:t>"Error Occurred while Generating </a:t>
            </a:r>
            <a:r>
              <a:rPr lang="en-US" sz="1200" dirty="0" err="1">
                <a:solidFill>
                  <a:srgbClr val="A31515"/>
                </a:solidFill>
                <a:highlight>
                  <a:srgbClr val="FFFFFF"/>
                </a:highlight>
                <a:latin typeface="Consolas" panose="020B0609020204030204" pitchFamily="49" charset="0"/>
              </a:rPr>
              <a:t>Invoice"</a:t>
            </a:r>
            <a:r>
              <a:rPr lang="en-US" sz="1200" dirty="0" err="1">
                <a:solidFill>
                  <a:srgbClr val="000000"/>
                </a:solidFill>
                <a:highlight>
                  <a:srgbClr val="FFFFFF"/>
                </a:highlight>
                <a:latin typeface="Consolas" panose="020B0609020204030204" pitchFamily="49" charset="0"/>
              </a:rPr>
              <a:t>,ex</a:t>
            </a:r>
            <a:r>
              <a:rPr lang="en-US"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r>
              <a:rPr lang="en-IN" sz="1200" dirty="0">
                <a:solidFill>
                  <a:srgbClr val="000000"/>
                </a:solidFill>
                <a:highlight>
                  <a:srgbClr val="FFFFFF"/>
                </a:highlight>
                <a:latin typeface="Consolas" panose="020B0609020204030204" pitchFamily="49" charset="0"/>
              </a:rPr>
              <a:t>        }</a:t>
            </a:r>
          </a:p>
          <a:p>
            <a:pPr marL="0" indent="0">
              <a:lnSpc>
                <a:spcPct val="100000"/>
              </a:lnSpc>
              <a:spcBef>
                <a:spcPts val="0"/>
              </a:spcBef>
              <a:buNone/>
            </a:pPr>
            <a:endParaRPr lang="en-IN" sz="1200" dirty="0"/>
          </a:p>
        </p:txBody>
      </p:sp>
      <p:sp>
        <p:nvSpPr>
          <p:cNvPr id="7" name="TextBox 6">
            <a:extLst>
              <a:ext uri="{FF2B5EF4-FFF2-40B4-BE49-F238E27FC236}">
                <a16:creationId xmlns:a16="http://schemas.microsoft.com/office/drawing/2014/main" id="{7B83BB52-EA6E-43BB-BD2C-DBF372314E0C}"/>
              </a:ext>
            </a:extLst>
          </p:cNvPr>
          <p:cNvSpPr txBox="1"/>
          <p:nvPr/>
        </p:nvSpPr>
        <p:spPr>
          <a:xfrm>
            <a:off x="6322142" y="39329"/>
            <a:ext cx="5869858" cy="3970318"/>
          </a:xfrm>
          <a:prstGeom prst="rect">
            <a:avLst/>
          </a:prstGeom>
          <a:noFill/>
        </p:spPr>
        <p:txBody>
          <a:bodyPr wrap="square">
            <a:spAutoFit/>
          </a:bodyPr>
          <a:lstStyle/>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public</a:t>
            </a: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void</a:t>
            </a: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DeleteInvoice</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try</a:t>
            </a:r>
            <a:endParaRPr lang="en-IN"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a:solidFill>
                  <a:srgbClr val="008000"/>
                </a:solidFill>
                <a:highlight>
                  <a:srgbClr val="FFFFFF"/>
                </a:highlight>
                <a:latin typeface="Consolas" panose="020B0609020204030204" pitchFamily="49" charset="0"/>
              </a:rPr>
              <a:t>//Here we need to write the Code for Deleting the already generated invoice</a:t>
            </a:r>
            <a:endParaRPr lang="en-US" sz="1400" dirty="0">
              <a:solidFill>
                <a:srgbClr val="000000"/>
              </a:solidFill>
              <a:highlight>
                <a:srgbClr val="FFFFFF"/>
              </a:highlight>
              <a:latin typeface="Consolas" panose="020B0609020204030204" pitchFamily="49" charset="0"/>
            </a:endParaRPr>
          </a:p>
          <a:p>
            <a:pPr marL="0" indent="0">
              <a:buNone/>
            </a:pPr>
            <a:r>
              <a:rPr lang="en-IN" sz="1400" dirty="0">
                <a:solidFill>
                  <a:srgbClr val="000000"/>
                </a:solidFill>
                <a:highlight>
                  <a:srgbClr val="FFFFFF"/>
                </a:highlight>
                <a:latin typeface="Consolas" panose="020B0609020204030204" pitchFamily="49" charset="0"/>
              </a:rPr>
              <a:t>                </a:t>
            </a:r>
            <a:r>
              <a:rPr lang="en-IN" sz="1400" dirty="0" err="1">
                <a:solidFill>
                  <a:srgbClr val="000000"/>
                </a:solidFill>
                <a:highlight>
                  <a:srgbClr val="FFFFFF"/>
                </a:highlight>
                <a:latin typeface="Consolas" panose="020B0609020204030204" pitchFamily="49" charset="0"/>
              </a:rPr>
              <a:t>fileLogger.Info</a:t>
            </a:r>
            <a:r>
              <a:rPr lang="en-IN" sz="1400" dirty="0">
                <a:solidFill>
                  <a:srgbClr val="000000"/>
                </a:solidFill>
                <a:highlight>
                  <a:srgbClr val="FFFFFF"/>
                </a:highlight>
                <a:latin typeface="Consolas" panose="020B0609020204030204" pitchFamily="49" charset="0"/>
              </a:rPr>
              <a:t>(</a:t>
            </a:r>
            <a:r>
              <a:rPr lang="en-IN" sz="1400" dirty="0">
                <a:solidFill>
                  <a:srgbClr val="A31515"/>
                </a:solidFill>
                <a:highlight>
                  <a:srgbClr val="FFFFFF"/>
                </a:highlight>
                <a:latin typeface="Consolas" panose="020B0609020204030204" pitchFamily="49" charset="0"/>
              </a:rPr>
              <a:t>"Delete Invoice Start at @"</a:t>
            </a:r>
            <a:r>
              <a:rPr lang="en-IN" sz="1400" dirty="0">
                <a:solidFill>
                  <a:srgbClr val="000000"/>
                </a:solidFill>
                <a:highlight>
                  <a:srgbClr val="FFFFFF"/>
                </a:highlight>
                <a:latin typeface="Consolas" panose="020B0609020204030204" pitchFamily="49" charset="0"/>
              </a:rPr>
              <a:t> + </a:t>
            </a:r>
            <a:r>
              <a:rPr lang="en-IN" sz="1400" dirty="0" err="1">
                <a:solidFill>
                  <a:srgbClr val="2B91AF"/>
                </a:solidFill>
                <a:highlight>
                  <a:srgbClr val="FFFFFF"/>
                </a:highlight>
                <a:latin typeface="Consolas" panose="020B0609020204030204" pitchFamily="49" charset="0"/>
              </a:rPr>
              <a:t>DateTime</a:t>
            </a:r>
            <a:r>
              <a:rPr lang="en-IN" sz="1400" dirty="0" err="1">
                <a:solidFill>
                  <a:srgbClr val="000000"/>
                </a:solidFill>
                <a:highlight>
                  <a:srgbClr val="FFFFFF"/>
                </a:highlight>
                <a:latin typeface="Consolas" panose="020B0609020204030204" pitchFamily="49" charset="0"/>
              </a:rPr>
              <a:t>.Now</a:t>
            </a: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r>
              <a:rPr lang="en-IN" sz="1400" dirty="0">
                <a:solidFill>
                  <a:srgbClr val="0000FF"/>
                </a:solidFill>
                <a:highlight>
                  <a:srgbClr val="FFFFFF"/>
                </a:highlight>
                <a:latin typeface="Consolas" panose="020B0609020204030204" pitchFamily="49" charset="0"/>
              </a:rPr>
              <a:t>catch</a:t>
            </a:r>
            <a:r>
              <a:rPr lang="en-IN" sz="1400" dirty="0">
                <a:solidFill>
                  <a:srgbClr val="000000"/>
                </a:solidFill>
                <a:highlight>
                  <a:srgbClr val="FFFFFF"/>
                </a:highlight>
                <a:latin typeface="Consolas" panose="020B0609020204030204" pitchFamily="49" charset="0"/>
              </a:rPr>
              <a:t> (</a:t>
            </a:r>
            <a:r>
              <a:rPr lang="en-IN" sz="1400" dirty="0">
                <a:solidFill>
                  <a:srgbClr val="2B91AF"/>
                </a:solidFill>
                <a:highlight>
                  <a:srgbClr val="FFFFFF"/>
                </a:highlight>
                <a:latin typeface="Consolas" panose="020B0609020204030204" pitchFamily="49" charset="0"/>
              </a:rPr>
              <a:t>Exception</a:t>
            </a:r>
            <a:r>
              <a:rPr lang="en-IN" sz="1400" dirty="0">
                <a:solidFill>
                  <a:srgbClr val="000000"/>
                </a:solidFill>
                <a:highlight>
                  <a:srgbClr val="FFFFFF"/>
                </a:highlight>
                <a:latin typeface="Consolas" panose="020B0609020204030204" pitchFamily="49" charset="0"/>
              </a:rPr>
              <a:t> ex)</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US" sz="1400" dirty="0">
                <a:solidFill>
                  <a:srgbClr val="000000"/>
                </a:solidFill>
                <a:highlight>
                  <a:srgbClr val="FFFFFF"/>
                </a:highlight>
                <a:latin typeface="Consolas" panose="020B0609020204030204" pitchFamily="49" charset="0"/>
              </a:rPr>
              <a:t>                </a:t>
            </a:r>
            <a:r>
              <a:rPr lang="en-US" sz="1400" dirty="0" err="1">
                <a:solidFill>
                  <a:srgbClr val="000000"/>
                </a:solidFill>
                <a:highlight>
                  <a:srgbClr val="FFFFFF"/>
                </a:highlight>
                <a:latin typeface="Consolas" panose="020B0609020204030204" pitchFamily="49" charset="0"/>
              </a:rPr>
              <a:t>fileLogger.Error</a:t>
            </a:r>
            <a:r>
              <a:rPr lang="en-US" sz="1400" dirty="0">
                <a:solidFill>
                  <a:srgbClr val="000000"/>
                </a:solidFill>
                <a:highlight>
                  <a:srgbClr val="FFFFFF"/>
                </a:highlight>
                <a:latin typeface="Consolas" panose="020B0609020204030204" pitchFamily="49" charset="0"/>
              </a:rPr>
              <a:t>(</a:t>
            </a:r>
            <a:r>
              <a:rPr lang="en-US" sz="1400" dirty="0">
                <a:solidFill>
                  <a:srgbClr val="A31515"/>
                </a:solidFill>
                <a:highlight>
                  <a:srgbClr val="FFFFFF"/>
                </a:highlight>
                <a:latin typeface="Consolas" panose="020B0609020204030204" pitchFamily="49" charset="0"/>
              </a:rPr>
              <a:t>"Error Occurred while Deleting Invoice"</a:t>
            </a:r>
            <a:r>
              <a:rPr lang="en-US" sz="1400" dirty="0">
                <a:solidFill>
                  <a:srgbClr val="000000"/>
                </a:solidFill>
                <a:highlight>
                  <a:srgbClr val="FFFFFF"/>
                </a:highlight>
                <a:latin typeface="Consolas" panose="020B0609020204030204" pitchFamily="49" charset="0"/>
              </a:rPr>
              <a:t>, ex);</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    }</a:t>
            </a:r>
          </a:p>
          <a:p>
            <a:pPr marL="0" indent="0">
              <a:buNone/>
            </a:pPr>
            <a:r>
              <a:rPr lang="en-IN" sz="1400" dirty="0">
                <a:solidFill>
                  <a:srgbClr val="000000"/>
                </a:solidFill>
                <a:highlight>
                  <a:srgbClr val="FFFFFF"/>
                </a:highlight>
                <a:latin typeface="Consolas" panose="020B0609020204030204" pitchFamily="49" charset="0"/>
              </a:rPr>
              <a:t>}</a:t>
            </a:r>
          </a:p>
          <a:p>
            <a:pPr marL="0" indent="0">
              <a:buNone/>
            </a:pPr>
            <a:r>
              <a:rPr lang="en-IN" sz="1400" dirty="0">
                <a:solidFill>
                  <a:srgbClr val="000000"/>
                </a:solidFill>
                <a:highlight>
                  <a:srgbClr val="FFFFFF"/>
                </a:highlight>
                <a:latin typeface="Consolas" panose="020B0609020204030204" pitchFamily="49" charset="0"/>
              </a:rPr>
              <a:t>}</a:t>
            </a:r>
            <a:endParaRPr lang="en-IN" sz="1400" dirty="0"/>
          </a:p>
        </p:txBody>
      </p:sp>
      <p:sp>
        <p:nvSpPr>
          <p:cNvPr id="9" name="TextBox 8">
            <a:extLst>
              <a:ext uri="{FF2B5EF4-FFF2-40B4-BE49-F238E27FC236}">
                <a16:creationId xmlns:a16="http://schemas.microsoft.com/office/drawing/2014/main" id="{CE28A2F0-72C6-4193-9603-38445FD5268B}"/>
              </a:ext>
            </a:extLst>
          </p:cNvPr>
          <p:cNvSpPr txBox="1"/>
          <p:nvPr/>
        </p:nvSpPr>
        <p:spPr>
          <a:xfrm>
            <a:off x="6322142" y="4158649"/>
            <a:ext cx="5063613" cy="1477328"/>
          </a:xfrm>
          <a:prstGeom prst="rect">
            <a:avLst/>
          </a:prstGeom>
          <a:noFill/>
        </p:spPr>
        <p:txBody>
          <a:bodyPr wrap="square">
            <a:spAutoFit/>
          </a:bodyPr>
          <a:lstStyle/>
          <a:p>
            <a:r>
              <a:rPr lang="en-US" dirty="0"/>
              <a:t>As you can see, the Invoice class delegating the logging activity to the “Logger” class. In the same way, delegate the Email Sending activity to the “</a:t>
            </a:r>
            <a:r>
              <a:rPr lang="en-US" dirty="0" err="1"/>
              <a:t>MailSender</a:t>
            </a:r>
            <a:r>
              <a:rPr lang="en-US" dirty="0"/>
              <a:t>” class. Now, the Invoice class now only concentrates on Invoice related activities.</a:t>
            </a:r>
            <a:endParaRPr lang="en-IN" dirty="0"/>
          </a:p>
        </p:txBody>
      </p:sp>
    </p:spTree>
    <p:extLst>
      <p:ext uri="{BB962C8B-B14F-4D97-AF65-F5344CB8AC3E}">
        <p14:creationId xmlns:p14="http://schemas.microsoft.com/office/powerpoint/2010/main" val="650304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A94488-FBD2-4169-81F2-36E305DEDDBF}"/>
              </a:ext>
            </a:extLst>
          </p:cNvPr>
          <p:cNvSpPr>
            <a:spLocks noGrp="1"/>
          </p:cNvSpPr>
          <p:nvPr>
            <p:ph idx="1"/>
          </p:nvPr>
        </p:nvSpPr>
        <p:spPr>
          <a:xfrm>
            <a:off x="186813" y="0"/>
            <a:ext cx="9104671" cy="401029"/>
          </a:xfrm>
        </p:spPr>
        <p:txBody>
          <a:bodyPr>
            <a:normAutofit fontScale="85000" lnSpcReduction="10000"/>
          </a:bodyPr>
          <a:lstStyle/>
          <a:p>
            <a:pPr marL="0" indent="0">
              <a:buNone/>
            </a:pPr>
            <a:r>
              <a:rPr lang="en-US" sz="2000" b="0" i="0" dirty="0">
                <a:solidFill>
                  <a:srgbClr val="000000"/>
                </a:solidFill>
                <a:effectLst/>
                <a:latin typeface="arial" panose="020B0604020202020204" pitchFamily="34" charset="0"/>
              </a:rPr>
              <a:t>The letter </a:t>
            </a:r>
            <a:r>
              <a:rPr lang="en-US" sz="2000" b="1" i="0" dirty="0">
                <a:solidFill>
                  <a:srgbClr val="000000"/>
                </a:solidFill>
                <a:effectLst/>
                <a:latin typeface="arial" panose="020B0604020202020204" pitchFamily="34" charset="0"/>
              </a:rPr>
              <a:t>O</a:t>
            </a:r>
            <a:r>
              <a:rPr lang="en-US" sz="2000" b="0" i="0" dirty="0">
                <a:solidFill>
                  <a:srgbClr val="000000"/>
                </a:solidFill>
                <a:effectLst/>
                <a:latin typeface="arial" panose="020B0604020202020204" pitchFamily="34" charset="0"/>
              </a:rPr>
              <a:t> in S</a:t>
            </a:r>
            <a:r>
              <a:rPr lang="en-US" sz="2000" b="1" i="0" dirty="0">
                <a:solidFill>
                  <a:srgbClr val="000000"/>
                </a:solidFill>
                <a:effectLst/>
                <a:latin typeface="arial" panose="020B0604020202020204" pitchFamily="34" charset="0"/>
              </a:rPr>
              <a:t>O</a:t>
            </a:r>
            <a:r>
              <a:rPr lang="en-US" sz="2000" b="0" i="0" dirty="0">
                <a:solidFill>
                  <a:srgbClr val="000000"/>
                </a:solidFill>
                <a:effectLst/>
                <a:latin typeface="arial" panose="020B0604020202020204" pitchFamily="34" charset="0"/>
              </a:rPr>
              <a:t>LID stands for the Open-Closed Principle which is also known as </a:t>
            </a:r>
            <a:r>
              <a:rPr lang="en-US" sz="2000" b="1" i="0" dirty="0">
                <a:solidFill>
                  <a:srgbClr val="000000"/>
                </a:solidFill>
                <a:effectLst/>
                <a:latin typeface="arial" panose="020B0604020202020204" pitchFamily="34" charset="0"/>
              </a:rPr>
              <a:t>OCP</a:t>
            </a:r>
            <a:r>
              <a:rPr lang="en-US" sz="2000" b="0" i="0" dirty="0">
                <a:solidFill>
                  <a:srgbClr val="000000"/>
                </a:solidFill>
                <a:effectLst/>
                <a:latin typeface="arial" panose="020B0604020202020204" pitchFamily="34" charset="0"/>
              </a:rPr>
              <a:t>.</a:t>
            </a:r>
            <a:endParaRPr lang="en-IN" sz="2000" dirty="0"/>
          </a:p>
        </p:txBody>
      </p:sp>
      <p:sp>
        <p:nvSpPr>
          <p:cNvPr id="5" name="TextBox 4">
            <a:extLst>
              <a:ext uri="{FF2B5EF4-FFF2-40B4-BE49-F238E27FC236}">
                <a16:creationId xmlns:a16="http://schemas.microsoft.com/office/drawing/2014/main" id="{663C2AF3-0343-4DB7-A44B-1DA6F91D1F62}"/>
              </a:ext>
            </a:extLst>
          </p:cNvPr>
          <p:cNvSpPr txBox="1"/>
          <p:nvPr/>
        </p:nvSpPr>
        <p:spPr>
          <a:xfrm>
            <a:off x="186813" y="263379"/>
            <a:ext cx="6096000" cy="1169551"/>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sz="1400" dirty="0"/>
              <a:t>What is the Open-Closed Principle in C#?</a:t>
            </a:r>
          </a:p>
          <a:p>
            <a:r>
              <a:rPr lang="en-US" sz="1400" dirty="0"/>
              <a:t>Implementation Guidelines for the Open-Closed Principle in C#</a:t>
            </a:r>
          </a:p>
          <a:p>
            <a:r>
              <a:rPr lang="en-US" sz="1400" dirty="0"/>
              <a:t>What Problems you will get if you are not following the Open-Closed Principle?</a:t>
            </a:r>
          </a:p>
          <a:p>
            <a:r>
              <a:rPr lang="en-US" sz="1400" dirty="0"/>
              <a:t>Example without using the Open-Closed Principle.</a:t>
            </a:r>
          </a:p>
          <a:p>
            <a:r>
              <a:rPr lang="en-US" sz="1400" dirty="0"/>
              <a:t>Example using the Open-Closed Principle in C#.</a:t>
            </a:r>
            <a:endParaRPr lang="en-IN" sz="1400" dirty="0"/>
          </a:p>
        </p:txBody>
      </p:sp>
      <p:sp>
        <p:nvSpPr>
          <p:cNvPr id="7" name="TextBox 6">
            <a:extLst>
              <a:ext uri="{FF2B5EF4-FFF2-40B4-BE49-F238E27FC236}">
                <a16:creationId xmlns:a16="http://schemas.microsoft.com/office/drawing/2014/main" id="{37133570-0D63-4AF3-AE13-41A0225E7BC1}"/>
              </a:ext>
            </a:extLst>
          </p:cNvPr>
          <p:cNvSpPr txBox="1"/>
          <p:nvPr/>
        </p:nvSpPr>
        <p:spPr>
          <a:xfrm>
            <a:off x="6430297" y="263379"/>
            <a:ext cx="5643716" cy="3754874"/>
          </a:xfrm>
          <a:prstGeom prst="rect">
            <a:avLst/>
          </a:prstGeom>
          <a:noFill/>
        </p:spPr>
        <p:txBody>
          <a:bodyPr wrap="square">
            <a:spAutoFit/>
          </a:bodyPr>
          <a:lstStyle/>
          <a:p>
            <a:pPr algn="ctr"/>
            <a:r>
              <a:rPr lang="en-US" sz="1400" b="1" dirty="0"/>
              <a:t>What is the Open-Closed Principle in C#?</a:t>
            </a:r>
          </a:p>
          <a:p>
            <a:r>
              <a:rPr lang="en-US" sz="1400" dirty="0"/>
              <a:t>The Open-Closed Principle states that “software entities such as modules, classes, functions, etc. should be open for extension, but closed for modification“.</a:t>
            </a:r>
          </a:p>
          <a:p>
            <a:r>
              <a:rPr lang="en-US" sz="1400" dirty="0"/>
              <a:t>Let us understand the above definition in simple words. Here we need to understand two things. The first thing is Open for extension and the second thing is Closed for modification. The Open for extension means we need to design the software modules/classes in such a way that the new responsibilities or functionalities should be added easily when new requirements come. On the other hand, Closed for modification means, we should not modify the class/module until we find some bugs.</a:t>
            </a:r>
          </a:p>
          <a:p>
            <a:endParaRPr lang="en-US" sz="1400" dirty="0"/>
          </a:p>
          <a:p>
            <a:r>
              <a:rPr lang="en-US" sz="1400" dirty="0"/>
              <a:t>The reason for this is, we have already developed a class/module and it has gone through the unit testing phase. So we should not have to change this as it affects the existing functionalities. In simple words, we can say that we should develop an entity in such a way that it should allow its behavior to be extended without altering its source code.</a:t>
            </a:r>
            <a:endParaRPr lang="en-IN" sz="1400" dirty="0"/>
          </a:p>
        </p:txBody>
      </p:sp>
      <p:sp>
        <p:nvSpPr>
          <p:cNvPr id="9" name="TextBox 8">
            <a:extLst>
              <a:ext uri="{FF2B5EF4-FFF2-40B4-BE49-F238E27FC236}">
                <a16:creationId xmlns:a16="http://schemas.microsoft.com/office/drawing/2014/main" id="{3BB729F2-FC35-405B-9D5E-2E7EE06D3CD5}"/>
              </a:ext>
            </a:extLst>
          </p:cNvPr>
          <p:cNvSpPr txBox="1"/>
          <p:nvPr/>
        </p:nvSpPr>
        <p:spPr>
          <a:xfrm>
            <a:off x="0" y="1674886"/>
            <a:ext cx="6282813" cy="2246769"/>
          </a:xfrm>
          <a:prstGeom prst="rect">
            <a:avLst/>
          </a:prstGeom>
          <a:noFill/>
        </p:spPr>
        <p:txBody>
          <a:bodyPr wrap="square">
            <a:spAutoFit/>
          </a:bodyPr>
          <a:lstStyle/>
          <a:p>
            <a:pPr algn="just" fontAlgn="base"/>
            <a:r>
              <a:rPr lang="en-US" sz="1400" b="1" i="0" dirty="0">
                <a:solidFill>
                  <a:srgbClr val="000000"/>
                </a:solidFill>
                <a:effectLst/>
                <a:latin typeface="arial" panose="020B0604020202020204" pitchFamily="34" charset="0"/>
              </a:rPr>
              <a:t>Implementation Guidelines for the Open-Closed Principle in C#</a:t>
            </a:r>
            <a:endParaRPr lang="en-US" sz="1400" b="0" i="0" dirty="0">
              <a:solidFill>
                <a:srgbClr val="3A3A3A"/>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The easiest way to implement the Open-Closed Principle in C# is to add the new functionalities by creating new derived classes which should be inherited from the original base class.</a:t>
            </a:r>
            <a:endParaRPr lang="en-US" sz="1400" b="0" i="0" dirty="0">
              <a:solidFill>
                <a:srgbClr val="212529"/>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Another way is to allow the client to access the original class with an abstract interface.</a:t>
            </a:r>
            <a:endParaRPr lang="en-US" sz="1400" b="0" i="0" dirty="0">
              <a:solidFill>
                <a:srgbClr val="212529"/>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So, at any given point of time when there is a change in requirement or any new requirement comes then instead of touching the existing functionality, it’s always better and suggested to create new derived classes and leave the original class implementation as it is.</a:t>
            </a:r>
            <a:endParaRPr lang="en-US" sz="1400" b="0" i="0" dirty="0">
              <a:solidFill>
                <a:srgbClr val="212529"/>
              </a:solidFill>
              <a:effectLst/>
              <a:latin typeface="-apple-system"/>
            </a:endParaRPr>
          </a:p>
        </p:txBody>
      </p:sp>
      <p:sp>
        <p:nvSpPr>
          <p:cNvPr id="11" name="TextBox 10">
            <a:extLst>
              <a:ext uri="{FF2B5EF4-FFF2-40B4-BE49-F238E27FC236}">
                <a16:creationId xmlns:a16="http://schemas.microsoft.com/office/drawing/2014/main" id="{2B7B4EE0-5CF5-4D16-85B0-05A50293649A}"/>
              </a:ext>
            </a:extLst>
          </p:cNvPr>
          <p:cNvSpPr txBox="1"/>
          <p:nvPr/>
        </p:nvSpPr>
        <p:spPr>
          <a:xfrm>
            <a:off x="0" y="4193963"/>
            <a:ext cx="11523407" cy="2462213"/>
          </a:xfrm>
          <a:prstGeom prst="rect">
            <a:avLst/>
          </a:prstGeom>
          <a:noFill/>
        </p:spPr>
        <p:txBody>
          <a:bodyPr wrap="square">
            <a:spAutoFit/>
          </a:bodyPr>
          <a:lstStyle/>
          <a:p>
            <a:pPr algn="just" fontAlgn="base"/>
            <a:r>
              <a:rPr lang="en-US" sz="1400" b="1" i="0" dirty="0">
                <a:solidFill>
                  <a:srgbClr val="000000"/>
                </a:solidFill>
                <a:effectLst/>
                <a:latin typeface="arial" panose="020B0604020202020204" pitchFamily="34" charset="0"/>
              </a:rPr>
              <a:t>Problems of Not following the Open-Closed Principle in C#: </a:t>
            </a:r>
            <a:endParaRPr lang="en-US" sz="1400" b="0"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If you are not following the Open-Closed Principle during the application development process, then you may end up your application development with the following problems</a:t>
            </a:r>
            <a:endParaRPr lang="en-US" sz="1400" b="0" i="0" dirty="0">
              <a:solidFill>
                <a:srgbClr val="212529"/>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If you allow a class or function to add new logic then as a developer you need to test the entire functionalities which include the old functionalities as well as new functionalities of the application.</a:t>
            </a:r>
            <a:endParaRPr lang="en-US" sz="1400" b="0" i="0" dirty="0">
              <a:solidFill>
                <a:srgbClr val="212529"/>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As a developer, it is also your responsibility to tell the QA (Quality Assurance) team about the changes in advance so that they can prepare themselves in advance for regression testing along with the new feature testing.</a:t>
            </a:r>
            <a:endParaRPr lang="en-US" sz="1400" b="0" i="0" dirty="0">
              <a:solidFill>
                <a:srgbClr val="212529"/>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If you are not following the Open-Closed Principle, then it also breaks the Single Responsibility Principle as the class or module is going to perform multiple responsibilities.</a:t>
            </a:r>
            <a:endParaRPr lang="en-US" sz="1400" b="0" i="0" dirty="0">
              <a:solidFill>
                <a:srgbClr val="212529"/>
              </a:solidFill>
              <a:effectLst/>
              <a:latin typeface="-apple-system"/>
            </a:endParaRPr>
          </a:p>
          <a:p>
            <a:pPr algn="just" fontAlgn="base">
              <a:buFont typeface="+mj-lt"/>
              <a:buAutoNum type="arabicPeriod"/>
            </a:pPr>
            <a:r>
              <a:rPr lang="en-US" sz="1400" b="0" i="0" dirty="0">
                <a:solidFill>
                  <a:srgbClr val="000000"/>
                </a:solidFill>
                <a:effectLst/>
                <a:latin typeface="arial" panose="020B0604020202020204" pitchFamily="34" charset="0"/>
              </a:rPr>
              <a:t>If you are implementing all the functionalities in a single class, then the maintenance of the class becomes very difficult.</a:t>
            </a:r>
            <a:endParaRPr lang="en-US" sz="1400" b="0" i="0" dirty="0">
              <a:solidFill>
                <a:srgbClr val="212529"/>
              </a:solidFill>
              <a:effectLst/>
              <a:latin typeface="-apple-system"/>
            </a:endParaRPr>
          </a:p>
          <a:p>
            <a:pPr algn="just" fontAlgn="base"/>
            <a:r>
              <a:rPr lang="en-US" sz="1400" b="0" i="0" dirty="0">
                <a:solidFill>
                  <a:srgbClr val="000000"/>
                </a:solidFill>
                <a:effectLst/>
                <a:latin typeface="arial" panose="020B0604020202020204" pitchFamily="34" charset="0"/>
              </a:rPr>
              <a:t>Because of the above key points, we need to follow the open-closed principle in C# while developing the application.</a:t>
            </a:r>
            <a:endParaRPr lang="en-US" sz="1400" b="0" i="0" dirty="0">
              <a:solidFill>
                <a:srgbClr val="212529"/>
              </a:solidFill>
              <a:effectLst/>
              <a:latin typeface="-apple-system"/>
            </a:endParaRPr>
          </a:p>
        </p:txBody>
      </p:sp>
    </p:spTree>
    <p:extLst>
      <p:ext uri="{BB962C8B-B14F-4D97-AF65-F5344CB8AC3E}">
        <p14:creationId xmlns:p14="http://schemas.microsoft.com/office/powerpoint/2010/main" val="2171672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645C99-1902-4756-96B2-B7EAC5C7665D}"/>
              </a:ext>
            </a:extLst>
          </p:cNvPr>
          <p:cNvSpPr>
            <a:spLocks noGrp="1"/>
          </p:cNvSpPr>
          <p:nvPr>
            <p:ph idx="1"/>
          </p:nvPr>
        </p:nvSpPr>
        <p:spPr>
          <a:xfrm>
            <a:off x="137651" y="98323"/>
            <a:ext cx="11798709" cy="609600"/>
          </a:xfrm>
        </p:spPr>
        <p:txBody>
          <a:bodyPr/>
          <a:lstStyle/>
          <a:p>
            <a:pPr marL="0" indent="0">
              <a:buNone/>
            </a:pPr>
            <a:r>
              <a:rPr lang="en-US" dirty="0"/>
              <a:t>Let us understand the Open-Closed Principle in C# with one example</a:t>
            </a:r>
            <a:endParaRPr lang="en-IN" dirty="0"/>
          </a:p>
        </p:txBody>
      </p:sp>
      <p:pic>
        <p:nvPicPr>
          <p:cNvPr id="1026" name="Picture 2" descr="Violating open Closed principle in C#">
            <a:extLst>
              <a:ext uri="{FF2B5EF4-FFF2-40B4-BE49-F238E27FC236}">
                <a16:creationId xmlns:a16="http://schemas.microsoft.com/office/drawing/2014/main" id="{970DA8DF-E13E-47E2-BF20-8F6148B0D9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640" y="599768"/>
            <a:ext cx="7748587" cy="532273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F906697-875B-4B9A-8C0A-09CB9E4DA333}"/>
              </a:ext>
            </a:extLst>
          </p:cNvPr>
          <p:cNvSpPr txBox="1"/>
          <p:nvPr/>
        </p:nvSpPr>
        <p:spPr>
          <a:xfrm>
            <a:off x="8032955" y="860480"/>
            <a:ext cx="4159045" cy="4801314"/>
          </a:xfrm>
          <a:prstGeom prst="rect">
            <a:avLst/>
          </a:prstGeom>
          <a:noFill/>
        </p:spPr>
        <p:txBody>
          <a:bodyPr wrap="square">
            <a:spAutoFit/>
          </a:bodyPr>
          <a:lstStyle/>
          <a:p>
            <a:r>
              <a:rPr lang="en-US" dirty="0"/>
              <a:t>As you can see in the above image, within the Invoice class we have created the </a:t>
            </a:r>
            <a:r>
              <a:rPr lang="en-US" dirty="0" err="1"/>
              <a:t>GetInvoiceDiscount</a:t>
            </a:r>
            <a:r>
              <a:rPr lang="en-US" dirty="0"/>
              <a:t>() method. As part of that </a:t>
            </a:r>
            <a:r>
              <a:rPr lang="en-US" dirty="0" err="1"/>
              <a:t>GetInvoiceDiscount</a:t>
            </a:r>
            <a:r>
              <a:rPr lang="en-US" dirty="0"/>
              <a:t>() method, we are calculating the final amount based on the Invoice type. As of now, we have two Invoice Types as the Final Invoice and Proposed Invoice. So we have implemented the logic using if-else. Tomorrow, if one more Invoice Type comes into the picture then we need to modify the </a:t>
            </a:r>
            <a:r>
              <a:rPr lang="en-US" dirty="0" err="1"/>
              <a:t>GetInvoiceDiscount</a:t>
            </a:r>
            <a:r>
              <a:rPr lang="en-US" dirty="0"/>
              <a:t>() method logic by adding another else if block to the source code. As we are changing the source code for the new requirement, we are violating the Open-Closed principle in C#. </a:t>
            </a:r>
            <a:endParaRPr lang="en-IN" dirty="0"/>
          </a:p>
        </p:txBody>
      </p:sp>
    </p:spTree>
    <p:extLst>
      <p:ext uri="{BB962C8B-B14F-4D97-AF65-F5344CB8AC3E}">
        <p14:creationId xmlns:p14="http://schemas.microsoft.com/office/powerpoint/2010/main" val="32853891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64C4C4-5548-4D37-AFAD-A3C1C689728F}"/>
              </a:ext>
            </a:extLst>
          </p:cNvPr>
          <p:cNvSpPr>
            <a:spLocks noGrp="1"/>
          </p:cNvSpPr>
          <p:nvPr>
            <p:ph idx="1"/>
          </p:nvPr>
        </p:nvSpPr>
        <p:spPr>
          <a:xfrm>
            <a:off x="117987" y="-1"/>
            <a:ext cx="7207045" cy="6725265"/>
          </a:xfrm>
        </p:spPr>
        <p:txBody>
          <a:bodyPr>
            <a:noAutofit/>
          </a:bodyPr>
          <a:lstStyle/>
          <a:p>
            <a:pPr marL="0" indent="0">
              <a:buNone/>
            </a:pPr>
            <a:r>
              <a:rPr lang="en-IN" sz="1200" dirty="0">
                <a:solidFill>
                  <a:srgbClr val="0000FF"/>
                </a:solidFill>
                <a:highlight>
                  <a:srgbClr val="FFFFFF"/>
                </a:highlight>
                <a:latin typeface="Consolas" panose="020B0609020204030204" pitchFamily="49" charset="0"/>
              </a:rPr>
              <a:t>using</a:t>
            </a:r>
            <a:r>
              <a:rPr lang="en-IN" sz="1200" dirty="0">
                <a:solidFill>
                  <a:srgbClr val="000000"/>
                </a:solidFill>
                <a:highlight>
                  <a:srgbClr val="FFFFFF"/>
                </a:highlight>
                <a:latin typeface="Consolas" panose="020B0609020204030204" pitchFamily="49" charset="0"/>
              </a:rPr>
              <a:t> System;</a:t>
            </a:r>
          </a:p>
          <a:p>
            <a:pPr marL="0" indent="0">
              <a:buNone/>
            </a:pPr>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SOLID_PRINCIPLES.OCP</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Invoice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GetInvoiceDiscount</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double</a:t>
            </a:r>
            <a:r>
              <a:rPr lang="en-US" sz="1200" dirty="0">
                <a:solidFill>
                  <a:srgbClr val="000000"/>
                </a:solidFill>
                <a:highlight>
                  <a:srgbClr val="FFFFFF"/>
                </a:highlight>
                <a:latin typeface="Consolas" panose="020B0609020204030204" pitchFamily="49" charset="0"/>
              </a:rPr>
              <a:t> amount, </a:t>
            </a:r>
            <a:r>
              <a:rPr lang="en-US" sz="1200" dirty="0" err="1">
                <a:solidFill>
                  <a:srgbClr val="2B91AF"/>
                </a:solidFill>
                <a:highlight>
                  <a:srgbClr val="FFFFFF"/>
                </a:highlight>
                <a:latin typeface="Consolas" panose="020B0609020204030204" pitchFamily="49" charset="0"/>
              </a:rPr>
              <a:t>InvoiceType</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invoiceType</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double</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finalAmount</a:t>
            </a:r>
            <a:r>
              <a:rPr lang="en-IN" sz="1200" dirty="0">
                <a:solidFill>
                  <a:srgbClr val="000000"/>
                </a:solidFill>
                <a:highlight>
                  <a:srgbClr val="FFFFFF"/>
                </a:highlight>
                <a:latin typeface="Consolas" panose="020B0609020204030204" pitchFamily="49" charset="0"/>
              </a:rPr>
              <a:t> = 0;</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if</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invoiceType</a:t>
            </a:r>
            <a:r>
              <a:rPr lang="en-IN" sz="1200" dirty="0">
                <a:solidFill>
                  <a:srgbClr val="000000"/>
                </a:solidFill>
                <a:highlight>
                  <a:srgbClr val="FFFFFF"/>
                </a:highlight>
                <a:latin typeface="Consolas" panose="020B0609020204030204" pitchFamily="49" charset="0"/>
              </a:rPr>
              <a:t> == </a:t>
            </a:r>
            <a:r>
              <a:rPr lang="en-IN" sz="1200" dirty="0" err="1">
                <a:solidFill>
                  <a:srgbClr val="2B91AF"/>
                </a:solidFill>
                <a:highlight>
                  <a:srgbClr val="FFFFFF"/>
                </a:highlight>
                <a:latin typeface="Consolas" panose="020B0609020204030204" pitchFamily="49" charset="0"/>
              </a:rPr>
              <a:t>InvoiceType</a:t>
            </a:r>
            <a:r>
              <a:rPr lang="en-IN" sz="1200" dirty="0" err="1">
                <a:solidFill>
                  <a:srgbClr val="000000"/>
                </a:solidFill>
                <a:highlight>
                  <a:srgbClr val="FFFFFF"/>
                </a:highlight>
                <a:latin typeface="Consolas" panose="020B0609020204030204" pitchFamily="49" charset="0"/>
              </a:rPr>
              <a:t>.FinalInvoice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finalAmount</a:t>
            </a:r>
            <a:r>
              <a:rPr lang="en-IN" sz="1200" dirty="0">
                <a:solidFill>
                  <a:srgbClr val="000000"/>
                </a:solidFill>
                <a:highlight>
                  <a:srgbClr val="FFFFFF"/>
                </a:highlight>
                <a:latin typeface="Consolas" panose="020B0609020204030204" pitchFamily="49" charset="0"/>
              </a:rPr>
              <a:t> = amount - 100;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else</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if</a:t>
            </a:r>
            <a:r>
              <a:rPr lang="en-US" sz="1200" dirty="0">
                <a:solidFill>
                  <a:srgbClr val="000000"/>
                </a:solidFill>
                <a:highlight>
                  <a:srgbClr val="FFFFFF"/>
                </a:highlight>
                <a:latin typeface="Consolas" panose="020B0609020204030204" pitchFamily="49" charset="0"/>
              </a:rPr>
              <a:t> (</a:t>
            </a:r>
            <a:r>
              <a:rPr lang="en-US" sz="1200" dirty="0" err="1">
                <a:solidFill>
                  <a:srgbClr val="000000"/>
                </a:solidFill>
                <a:highlight>
                  <a:srgbClr val="FFFFFF"/>
                </a:highlight>
                <a:latin typeface="Consolas" panose="020B0609020204030204" pitchFamily="49" charset="0"/>
              </a:rPr>
              <a:t>invoiceType</a:t>
            </a:r>
            <a:r>
              <a:rPr lang="en-US" sz="1200" dirty="0">
                <a:solidFill>
                  <a:srgbClr val="000000"/>
                </a:solidFill>
                <a:highlight>
                  <a:srgbClr val="FFFFFF"/>
                </a:highlight>
                <a:latin typeface="Consolas" panose="020B0609020204030204" pitchFamily="49" charset="0"/>
              </a:rPr>
              <a:t> == </a:t>
            </a:r>
            <a:r>
              <a:rPr lang="en-US" sz="1200" dirty="0" err="1">
                <a:solidFill>
                  <a:srgbClr val="2B91AF"/>
                </a:solidFill>
                <a:highlight>
                  <a:srgbClr val="FFFFFF"/>
                </a:highlight>
                <a:latin typeface="Consolas" panose="020B0609020204030204" pitchFamily="49" charset="0"/>
              </a:rPr>
              <a:t>InvoiceType</a:t>
            </a:r>
            <a:r>
              <a:rPr lang="en-US" sz="1200" dirty="0" err="1">
                <a:solidFill>
                  <a:srgbClr val="000000"/>
                </a:solidFill>
                <a:highlight>
                  <a:srgbClr val="FFFFFF"/>
                </a:highlight>
                <a:latin typeface="Consolas" panose="020B0609020204030204" pitchFamily="49" charset="0"/>
              </a:rPr>
              <a:t>.ProposedInvoice</a:t>
            </a:r>
            <a:r>
              <a:rPr lang="en-US"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finalAmount</a:t>
            </a:r>
            <a:r>
              <a:rPr lang="en-IN" sz="1200" dirty="0">
                <a:solidFill>
                  <a:srgbClr val="000000"/>
                </a:solidFill>
                <a:highlight>
                  <a:srgbClr val="FFFFFF"/>
                </a:highlight>
                <a:latin typeface="Consolas" panose="020B0609020204030204" pitchFamily="49" charset="0"/>
              </a:rPr>
              <a:t> = amount - 50;</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finalAmount</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FF"/>
                </a:solidFill>
                <a:highlight>
                  <a:srgbClr val="FFFFFF"/>
                </a:highlight>
                <a:latin typeface="Consolas" panose="020B0609020204030204" pitchFamily="49" charset="0"/>
              </a:rPr>
              <a:t>enum</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InvoiceType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FinalInvoice</a:t>
            </a:r>
            <a:r>
              <a:rPr lang="en-IN" sz="1200" dirty="0">
                <a:solidFill>
                  <a:srgbClr val="000000"/>
                </a:solidFill>
                <a:highlight>
                  <a:srgbClr val="FFFFFF"/>
                </a:highlight>
                <a:latin typeface="Consolas" panose="020B0609020204030204" pitchFamily="49" charset="0"/>
              </a:rPr>
              <a:t>,</a:t>
            </a:r>
          </a:p>
          <a:p>
            <a:pPr marL="0" indent="0">
              <a:buNone/>
            </a:pP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ProposedInvoice</a:t>
            </a:r>
            <a:endParaRPr lang="en-IN" sz="1200" dirty="0">
              <a:solidFill>
                <a:srgbClr val="000000"/>
              </a:solidFill>
              <a:highlight>
                <a:srgbClr val="FFFFFF"/>
              </a:highlight>
              <a:latin typeface="Consolas" panose="020B0609020204030204" pitchFamily="49" charset="0"/>
            </a:endParaRP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r>
              <a:rPr lang="en-IN" sz="1200" dirty="0">
                <a:solidFill>
                  <a:srgbClr val="000000"/>
                </a:solidFill>
                <a:highlight>
                  <a:srgbClr val="FFFFFF"/>
                </a:highlight>
                <a:latin typeface="Consolas" panose="020B0609020204030204" pitchFamily="49" charset="0"/>
              </a:rPr>
              <a:t>    }</a:t>
            </a:r>
          </a:p>
          <a:p>
            <a:pPr marL="0" indent="0">
              <a:buNone/>
            </a:pPr>
            <a:endParaRPr lang="en-IN" sz="1200" dirty="0">
              <a:solidFill>
                <a:srgbClr val="000000"/>
              </a:solidFill>
              <a:highlight>
                <a:srgbClr val="FFFFFF"/>
              </a:highlight>
              <a:latin typeface="Consolas" panose="020B0609020204030204" pitchFamily="49" charset="0"/>
            </a:endParaRPr>
          </a:p>
          <a:p>
            <a:pPr marL="0" indent="0">
              <a:buNone/>
            </a:pPr>
            <a:endParaRPr lang="en-IN" sz="1200" dirty="0"/>
          </a:p>
        </p:txBody>
      </p:sp>
      <p:sp>
        <p:nvSpPr>
          <p:cNvPr id="5" name="TextBox 4">
            <a:extLst>
              <a:ext uri="{FF2B5EF4-FFF2-40B4-BE49-F238E27FC236}">
                <a16:creationId xmlns:a16="http://schemas.microsoft.com/office/drawing/2014/main" id="{6D0DCE83-2152-411F-B32F-6109E5268C92}"/>
              </a:ext>
            </a:extLst>
          </p:cNvPr>
          <p:cNvSpPr txBox="1"/>
          <p:nvPr/>
        </p:nvSpPr>
        <p:spPr>
          <a:xfrm>
            <a:off x="7000568" y="132736"/>
            <a:ext cx="4935793" cy="3693319"/>
          </a:xfrm>
          <a:prstGeom prst="rect">
            <a:avLst/>
          </a:prstGeom>
          <a:noFill/>
        </p:spPr>
        <p:txBody>
          <a:bodyPr wrap="square">
            <a:spAutoFit/>
          </a:bodyPr>
          <a:lstStyle/>
          <a:p>
            <a:r>
              <a:rPr lang="en-US" b="0" i="0" dirty="0">
                <a:solidFill>
                  <a:srgbClr val="000000"/>
                </a:solidFill>
                <a:effectLst/>
                <a:latin typeface="arial" panose="020B0604020202020204" pitchFamily="34" charset="0"/>
              </a:rPr>
              <a:t>The problem with the above example is that if we want to add another new invoice type, then we need to add one more “if” condition in the same “</a:t>
            </a:r>
            <a:r>
              <a:rPr lang="en-US" b="1" i="0" dirty="0" err="1">
                <a:solidFill>
                  <a:srgbClr val="000000"/>
                </a:solidFill>
                <a:effectLst/>
                <a:latin typeface="arial" panose="020B0604020202020204" pitchFamily="34" charset="0"/>
              </a:rPr>
              <a:t>GetInvoiceDiscount</a:t>
            </a:r>
            <a:r>
              <a:rPr lang="en-US" b="0" i="0" dirty="0">
                <a:solidFill>
                  <a:srgbClr val="000000"/>
                </a:solidFill>
                <a:effectLst/>
                <a:latin typeface="arial" panose="020B0604020202020204" pitchFamily="34" charset="0"/>
              </a:rPr>
              <a:t>” method, in other words, we need to modify the Invoice class. If we are changing the Invoice class again and again then we need to ensure that the previous functionalities along with the new functionalities are working properly by testing both the functionalities again. This is because we need to ensure that the existing clients, which are referencing this class are working properly as expected or not.</a:t>
            </a:r>
            <a:endParaRPr lang="en-IN" dirty="0"/>
          </a:p>
        </p:txBody>
      </p:sp>
    </p:spTree>
    <p:extLst>
      <p:ext uri="{BB962C8B-B14F-4D97-AF65-F5344CB8AC3E}">
        <p14:creationId xmlns:p14="http://schemas.microsoft.com/office/powerpoint/2010/main" val="1922978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B2EF1-0441-4798-9C4C-666E5B08DB13}"/>
              </a:ext>
            </a:extLst>
          </p:cNvPr>
          <p:cNvSpPr>
            <a:spLocks noGrp="1"/>
          </p:cNvSpPr>
          <p:nvPr>
            <p:ph type="title"/>
          </p:nvPr>
        </p:nvSpPr>
        <p:spPr>
          <a:xfrm>
            <a:off x="350980" y="134216"/>
            <a:ext cx="10051473" cy="315912"/>
          </a:xfrm>
        </p:spPr>
        <p:txBody>
          <a:bodyPr>
            <a:noAutofit/>
          </a:bodyPr>
          <a:lstStyle/>
          <a:p>
            <a:r>
              <a:rPr lang="en-US" sz="1400" dirty="0"/>
              <a:t>As per </a:t>
            </a:r>
            <a:r>
              <a:rPr lang="en-US" sz="1800" b="1" dirty="0"/>
              <a:t>the Open-Closed principle</a:t>
            </a:r>
            <a:r>
              <a:rPr lang="en-US" sz="1400" dirty="0"/>
              <a:t>, Instead of “MODIFYING”, we should go for “EXTENSION”.</a:t>
            </a:r>
            <a:endParaRPr lang="en-IN" sz="1400" dirty="0"/>
          </a:p>
        </p:txBody>
      </p:sp>
      <p:sp>
        <p:nvSpPr>
          <p:cNvPr id="3" name="Content Placeholder 2">
            <a:extLst>
              <a:ext uri="{FF2B5EF4-FFF2-40B4-BE49-F238E27FC236}">
                <a16:creationId xmlns:a16="http://schemas.microsoft.com/office/drawing/2014/main" id="{74345173-2F3E-497D-B1E1-36F1AD4FD3D8}"/>
              </a:ext>
            </a:extLst>
          </p:cNvPr>
          <p:cNvSpPr>
            <a:spLocks noGrp="1"/>
          </p:cNvSpPr>
          <p:nvPr>
            <p:ph idx="1"/>
          </p:nvPr>
        </p:nvSpPr>
        <p:spPr>
          <a:xfrm>
            <a:off x="219364" y="546330"/>
            <a:ext cx="5313217" cy="2349212"/>
          </a:xfrm>
        </p:spPr>
        <p:txBody>
          <a:bodyPr>
            <a:normAutofit/>
          </a:bodyPr>
          <a:lstStyle/>
          <a:p>
            <a:pPr marL="0" indent="0">
              <a:buNone/>
            </a:pPr>
            <a:r>
              <a:rPr lang="en-US" sz="2000" dirty="0"/>
              <a:t>If you want to follow the Open-Closed Principle in the above example, when a new invoice type needs to be added, then we need to add a new class. As a result, the current functionalities that are already implemented are going to be unchanged. The advantage is that we just only need to test and check the new classes.</a:t>
            </a:r>
            <a:endParaRPr lang="en-IN" sz="2000" dirty="0"/>
          </a:p>
        </p:txBody>
      </p:sp>
      <p:sp>
        <p:nvSpPr>
          <p:cNvPr id="5" name="TextBox 4">
            <a:extLst>
              <a:ext uri="{FF2B5EF4-FFF2-40B4-BE49-F238E27FC236}">
                <a16:creationId xmlns:a16="http://schemas.microsoft.com/office/drawing/2014/main" id="{21B2F0BD-95EB-4338-B9FB-B59E5483651C}"/>
              </a:ext>
            </a:extLst>
          </p:cNvPr>
          <p:cNvSpPr txBox="1"/>
          <p:nvPr/>
        </p:nvSpPr>
        <p:spPr>
          <a:xfrm>
            <a:off x="5853546" y="442276"/>
            <a:ext cx="5830454" cy="4524315"/>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SOLID_PRINCIPLES.OCP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Invoice</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virtual</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amount)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amount - 10;</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FinalInvoice</a:t>
            </a:r>
            <a:r>
              <a:rPr lang="en-IN" sz="900" dirty="0">
                <a:solidFill>
                  <a:srgbClr val="000000"/>
                </a:solidFill>
                <a:highlight>
                  <a:srgbClr val="FFFFFF"/>
                </a:highlight>
                <a:latin typeface="Consolas" panose="020B0609020204030204" pitchFamily="49" charset="0"/>
              </a:rPr>
              <a:t> : Invoice</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override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amount)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return</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base</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(amount) - 50;</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ProposedInvoice</a:t>
            </a:r>
            <a:r>
              <a:rPr lang="en-IN" sz="900" dirty="0">
                <a:solidFill>
                  <a:srgbClr val="000000"/>
                </a:solidFill>
                <a:highlight>
                  <a:srgbClr val="FFFFFF"/>
                </a:highlight>
                <a:latin typeface="Consolas" panose="020B0609020204030204" pitchFamily="49" charset="0"/>
              </a:rPr>
              <a:t> : Invoice</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override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amount)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return</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base</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(amount) - 40;</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RecurringInvoice</a:t>
            </a:r>
            <a:r>
              <a:rPr lang="en-IN" sz="900" dirty="0">
                <a:solidFill>
                  <a:srgbClr val="000000"/>
                </a:solidFill>
                <a:highlight>
                  <a:srgbClr val="FFFFFF"/>
                </a:highlight>
                <a:latin typeface="Consolas" panose="020B0609020204030204" pitchFamily="49" charset="0"/>
              </a:rPr>
              <a:t> : Invoice</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override</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amount)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return</a:t>
            </a:r>
            <a:r>
              <a:rPr lang="en-US" sz="900" dirty="0">
                <a:solidFill>
                  <a:srgbClr val="000000"/>
                </a:solidFill>
                <a:highlight>
                  <a:srgbClr val="FFFFFF"/>
                </a:highlight>
                <a:latin typeface="Consolas" panose="020B0609020204030204" pitchFamily="49" charset="0"/>
              </a:rPr>
              <a:t> </a:t>
            </a:r>
            <a:r>
              <a:rPr lang="en-US" sz="900" dirty="0" err="1">
                <a:solidFill>
                  <a:srgbClr val="0000FF"/>
                </a:solidFill>
                <a:highlight>
                  <a:srgbClr val="FFFFFF"/>
                </a:highlight>
                <a:latin typeface="Consolas" panose="020B0609020204030204" pitchFamily="49" charset="0"/>
              </a:rPr>
              <a:t>base</a:t>
            </a:r>
            <a:r>
              <a:rPr lang="en-US" sz="900" dirty="0" err="1">
                <a:solidFill>
                  <a:srgbClr val="000000"/>
                </a:solidFill>
                <a:highlight>
                  <a:srgbClr val="FFFFFF"/>
                </a:highlight>
                <a:latin typeface="Consolas" panose="020B0609020204030204" pitchFamily="49" charset="0"/>
              </a:rPr>
              <a:t>.GetInvoiceDiscount</a:t>
            </a:r>
            <a:r>
              <a:rPr lang="en-US" sz="900" dirty="0">
                <a:solidFill>
                  <a:srgbClr val="000000"/>
                </a:solidFill>
                <a:highlight>
                  <a:srgbClr val="FFFFFF"/>
                </a:highlight>
                <a:latin typeface="Consolas" panose="020B0609020204030204" pitchFamily="49" charset="0"/>
              </a:rPr>
              <a:t>(amount) - 30;</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endParaRPr lang="en-IN" dirty="0"/>
          </a:p>
        </p:txBody>
      </p:sp>
      <p:sp>
        <p:nvSpPr>
          <p:cNvPr id="7" name="TextBox 6">
            <a:extLst>
              <a:ext uri="{FF2B5EF4-FFF2-40B4-BE49-F238E27FC236}">
                <a16:creationId xmlns:a16="http://schemas.microsoft.com/office/drawing/2014/main" id="{B59BA456-5F9E-44D3-838D-0D6D2D0A9F63}"/>
              </a:ext>
            </a:extLst>
          </p:cNvPr>
          <p:cNvSpPr txBox="1"/>
          <p:nvPr/>
        </p:nvSpPr>
        <p:spPr>
          <a:xfrm>
            <a:off x="219364" y="2895542"/>
            <a:ext cx="4756729" cy="2446824"/>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using</a:t>
            </a:r>
            <a:r>
              <a:rPr lang="en-IN" sz="900" dirty="0">
                <a:solidFill>
                  <a:srgbClr val="000000"/>
                </a:solidFill>
                <a:highlight>
                  <a:srgbClr val="FFFFFF"/>
                </a:highlight>
                <a:latin typeface="Consolas" panose="020B0609020204030204" pitchFamily="49" charset="0"/>
              </a:rPr>
              <a:t> System;</a:t>
            </a:r>
          </a:p>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SOLID_PRINCIPLES.OCP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Program</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static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Main(</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args</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Invoice </a:t>
            </a:r>
            <a:r>
              <a:rPr lang="en-IN" sz="900" dirty="0" err="1">
                <a:solidFill>
                  <a:srgbClr val="000000"/>
                </a:solidFill>
                <a:highlight>
                  <a:srgbClr val="FFFFFF"/>
                </a:highlight>
                <a:latin typeface="Consolas" panose="020B0609020204030204" pitchFamily="49" charset="0"/>
              </a:rPr>
              <a:t>FInvoice</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FinalInvoice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Invoice </a:t>
            </a:r>
            <a:r>
              <a:rPr lang="en-IN" sz="900" dirty="0" err="1">
                <a:solidFill>
                  <a:srgbClr val="000000"/>
                </a:solidFill>
                <a:highlight>
                  <a:srgbClr val="FFFFFF"/>
                </a:highlight>
                <a:latin typeface="Consolas" panose="020B0609020204030204" pitchFamily="49" charset="0"/>
              </a:rPr>
              <a:t>PInvoice</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ProposedInvoice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Invoice </a:t>
            </a:r>
            <a:r>
              <a:rPr lang="en-IN" sz="900" dirty="0" err="1">
                <a:solidFill>
                  <a:srgbClr val="000000"/>
                </a:solidFill>
                <a:highlight>
                  <a:srgbClr val="FFFFFF"/>
                </a:highlight>
                <a:latin typeface="Consolas" panose="020B0609020204030204" pitchFamily="49" charset="0"/>
              </a:rPr>
              <a:t>RInvoice</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RecurringInvoice</a:t>
            </a:r>
            <a:r>
              <a:rPr lang="en-IN" sz="900" dirty="0">
                <a:solidFill>
                  <a:srgbClr val="000000"/>
                </a:solidFill>
                <a:highlight>
                  <a:srgbClr val="FFFFFF"/>
                </a:highlight>
                <a:latin typeface="Consolas" panose="020B0609020204030204" pitchFamily="49" charset="0"/>
              </a:rPr>
              <a:t>();</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FInvoiceAmount</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FInvoice.GetInvoiceDiscount</a:t>
            </a:r>
            <a:r>
              <a:rPr lang="en-US" sz="900" dirty="0">
                <a:solidFill>
                  <a:srgbClr val="000000"/>
                </a:solidFill>
                <a:highlight>
                  <a:srgbClr val="FFFFFF"/>
                </a:highlight>
                <a:latin typeface="Consolas" panose="020B0609020204030204" pitchFamily="49" charset="0"/>
              </a:rPr>
              <a:t>(1000);</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PInvoiceAmount</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PInvoice.GetInvoiceDiscount</a:t>
            </a:r>
            <a:r>
              <a:rPr lang="en-US" sz="900" dirty="0">
                <a:solidFill>
                  <a:srgbClr val="000000"/>
                </a:solidFill>
                <a:highlight>
                  <a:srgbClr val="FFFFFF"/>
                </a:highlight>
                <a:latin typeface="Consolas" panose="020B0609020204030204" pitchFamily="49" charset="0"/>
              </a:rPr>
              <a:t>(1000);</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double</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RInvoiceAmount</a:t>
            </a:r>
            <a:r>
              <a:rPr lang="en-US" sz="900" dirty="0">
                <a:solidFill>
                  <a:srgbClr val="000000"/>
                </a:solidFill>
                <a:highlight>
                  <a:srgbClr val="FFFFFF"/>
                </a:highlight>
                <a:latin typeface="Consolas" panose="020B0609020204030204" pitchFamily="49" charset="0"/>
              </a:rPr>
              <a:t> = </a:t>
            </a:r>
            <a:r>
              <a:rPr lang="en-US" sz="900" dirty="0" err="1">
                <a:solidFill>
                  <a:srgbClr val="000000"/>
                </a:solidFill>
                <a:highlight>
                  <a:srgbClr val="FFFFFF"/>
                </a:highlight>
                <a:latin typeface="Consolas" panose="020B0609020204030204" pitchFamily="49" charset="0"/>
              </a:rPr>
              <a:t>RInvoice.GetInvoiceDiscount</a:t>
            </a:r>
            <a:r>
              <a:rPr lang="en-US" sz="900" dirty="0">
                <a:solidFill>
                  <a:srgbClr val="000000"/>
                </a:solidFill>
                <a:highlight>
                  <a:srgbClr val="FFFFFF"/>
                </a:highlight>
                <a:latin typeface="Consolas" panose="020B0609020204030204" pitchFamily="49" charset="0"/>
              </a:rPr>
              <a:t>(1000);</a:t>
            </a:r>
          </a:p>
          <a:p>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Console</a:t>
            </a:r>
            <a:r>
              <a:rPr lang="en-IN" sz="900" dirty="0" err="1">
                <a:solidFill>
                  <a:srgbClr val="000000"/>
                </a:solidFill>
                <a:highlight>
                  <a:srgbClr val="FFFFFF"/>
                </a:highlight>
                <a:latin typeface="Consolas" panose="020B0609020204030204" pitchFamily="49" charset="0"/>
              </a:rPr>
              <a:t>.ReadKey</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endParaRPr lang="en-IN" dirty="0"/>
          </a:p>
        </p:txBody>
      </p:sp>
      <p:sp>
        <p:nvSpPr>
          <p:cNvPr id="9" name="TextBox 8">
            <a:extLst>
              <a:ext uri="{FF2B5EF4-FFF2-40B4-BE49-F238E27FC236}">
                <a16:creationId xmlns:a16="http://schemas.microsoft.com/office/drawing/2014/main" id="{33FD029B-6B99-4B9F-A8FC-047C83215AF9}"/>
              </a:ext>
            </a:extLst>
          </p:cNvPr>
          <p:cNvSpPr txBox="1"/>
          <p:nvPr/>
        </p:nvSpPr>
        <p:spPr>
          <a:xfrm>
            <a:off x="868218" y="5769393"/>
            <a:ext cx="10612582" cy="646331"/>
          </a:xfrm>
          <a:prstGeom prst="rect">
            <a:avLst/>
          </a:prstGeom>
          <a:noFill/>
        </p:spPr>
        <p:txBody>
          <a:bodyPr wrap="square">
            <a:spAutoFit/>
          </a:bodyPr>
          <a:lstStyle/>
          <a:p>
            <a:r>
              <a:rPr lang="en-US" b="0" i="0" dirty="0">
                <a:solidFill>
                  <a:srgbClr val="000000"/>
                </a:solidFill>
                <a:effectLst/>
                <a:latin typeface="arial" panose="020B0604020202020204" pitchFamily="34" charset="0"/>
              </a:rPr>
              <a:t>Now, the Invoice class is closed for modification. But it is open for the extension as it allows creating new classes deriving from the Invoice class which clearly follows the Open-Closed Principle in C#.</a:t>
            </a:r>
            <a:r>
              <a:rPr lang="en-US" b="1" i="0" dirty="0">
                <a:solidFill>
                  <a:srgbClr val="000000"/>
                </a:solidFill>
                <a:effectLst/>
                <a:latin typeface="arial" panose="020B0604020202020204" pitchFamily="34" charset="0"/>
              </a:rPr>
              <a:t> </a:t>
            </a:r>
            <a:endParaRPr lang="en-IN" dirty="0"/>
          </a:p>
        </p:txBody>
      </p:sp>
    </p:spTree>
    <p:extLst>
      <p:ext uri="{BB962C8B-B14F-4D97-AF65-F5344CB8AC3E}">
        <p14:creationId xmlns:p14="http://schemas.microsoft.com/office/powerpoint/2010/main" val="3731516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8E871-635F-42CB-9F45-5F7EB663B906}"/>
              </a:ext>
            </a:extLst>
          </p:cNvPr>
          <p:cNvSpPr>
            <a:spLocks noGrp="1"/>
          </p:cNvSpPr>
          <p:nvPr>
            <p:ph type="title"/>
          </p:nvPr>
        </p:nvSpPr>
        <p:spPr>
          <a:xfrm>
            <a:off x="-73891" y="9112"/>
            <a:ext cx="6964218" cy="452799"/>
          </a:xfrm>
        </p:spPr>
        <p:txBody>
          <a:bodyPr>
            <a:normAutofit fontScale="90000"/>
          </a:bodyPr>
          <a:lstStyle/>
          <a:p>
            <a:r>
              <a:rPr lang="en-US" sz="1800" dirty="0"/>
              <a:t>The Letter </a:t>
            </a:r>
            <a:r>
              <a:rPr lang="en-US" sz="2000" b="1" dirty="0"/>
              <a:t>L </a:t>
            </a:r>
            <a:r>
              <a:rPr lang="en-US" sz="1800" dirty="0"/>
              <a:t>in SOLID stands for </a:t>
            </a:r>
            <a:r>
              <a:rPr lang="en-US" sz="2200" dirty="0" err="1"/>
              <a:t>Liskov</a:t>
            </a:r>
            <a:r>
              <a:rPr lang="en-US" sz="2200" dirty="0"/>
              <a:t> Substitution </a:t>
            </a:r>
            <a:r>
              <a:rPr lang="en-US" sz="1800" dirty="0"/>
              <a:t>Principle which is also known as LSP. </a:t>
            </a:r>
            <a:endParaRPr lang="en-IN" sz="1800" dirty="0"/>
          </a:p>
        </p:txBody>
      </p:sp>
      <p:sp>
        <p:nvSpPr>
          <p:cNvPr id="3" name="Content Placeholder 2">
            <a:extLst>
              <a:ext uri="{FF2B5EF4-FFF2-40B4-BE49-F238E27FC236}">
                <a16:creationId xmlns:a16="http://schemas.microsoft.com/office/drawing/2014/main" id="{99953659-BA37-4161-AC34-A34DA40DB4E5}"/>
              </a:ext>
            </a:extLst>
          </p:cNvPr>
          <p:cNvSpPr>
            <a:spLocks noGrp="1"/>
          </p:cNvSpPr>
          <p:nvPr>
            <p:ph idx="1"/>
          </p:nvPr>
        </p:nvSpPr>
        <p:spPr>
          <a:xfrm>
            <a:off x="461818" y="455469"/>
            <a:ext cx="5634182" cy="1955222"/>
          </a:xfrm>
        </p:spPr>
        <p:txBody>
          <a:bodyPr>
            <a:normAutofit fontScale="47500" lnSpcReduction="20000"/>
          </a:bodyPr>
          <a:lstStyle/>
          <a:p>
            <a:pPr marL="0" indent="0">
              <a:buNone/>
            </a:pPr>
            <a:r>
              <a:rPr lang="en-US" b="1" dirty="0"/>
              <a:t>What is the </a:t>
            </a:r>
            <a:r>
              <a:rPr lang="en-US" b="1" dirty="0" err="1"/>
              <a:t>Liskov</a:t>
            </a:r>
            <a:r>
              <a:rPr lang="en-US" b="1" dirty="0"/>
              <a:t> Substitution Principle</a:t>
            </a:r>
            <a:r>
              <a:rPr lang="en-US" dirty="0"/>
              <a:t>?</a:t>
            </a:r>
          </a:p>
          <a:p>
            <a:r>
              <a:rPr lang="en-US" dirty="0"/>
              <a:t>The </a:t>
            </a:r>
            <a:r>
              <a:rPr lang="en-US" dirty="0" err="1"/>
              <a:t>Liskov</a:t>
            </a:r>
            <a:r>
              <a:rPr lang="en-US" dirty="0"/>
              <a:t> Substitution Principle is a Substitutability principle in object-oriented programming Language. This principle states that, if S is a subtype of T, then objects of type T should be replaced with the objects of type S. In other words, we can say that objects in an application should be replaceable with the instances of their subtypes without modifying the correctness of that application. </a:t>
            </a:r>
          </a:p>
          <a:p>
            <a:r>
              <a:rPr lang="en-US" dirty="0"/>
              <a:t>For example, a father is a teacher whereas his son is a doctor. So here, in this case, the son can’t simply replace his father even though both belong to the same family.</a:t>
            </a:r>
            <a:endParaRPr lang="en-IN" dirty="0"/>
          </a:p>
        </p:txBody>
      </p:sp>
      <p:sp>
        <p:nvSpPr>
          <p:cNvPr id="5" name="TextBox 4">
            <a:extLst>
              <a:ext uri="{FF2B5EF4-FFF2-40B4-BE49-F238E27FC236}">
                <a16:creationId xmlns:a16="http://schemas.microsoft.com/office/drawing/2014/main" id="{0F2A44D6-C7C5-40CE-B92D-28825D799B55}"/>
              </a:ext>
            </a:extLst>
          </p:cNvPr>
          <p:cNvSpPr txBox="1"/>
          <p:nvPr/>
        </p:nvSpPr>
        <p:spPr>
          <a:xfrm>
            <a:off x="109681" y="2410691"/>
            <a:ext cx="6096000" cy="1384995"/>
          </a:xfrm>
          <a:prstGeom prst="rect">
            <a:avLst/>
          </a:prstGeom>
          <a:noFill/>
        </p:spPr>
        <p:txBody>
          <a:bodyPr wrap="square">
            <a:spAutoFit/>
          </a:bodyPr>
          <a:lstStyle/>
          <a:p>
            <a:pPr algn="just" fontAlgn="base"/>
            <a:r>
              <a:rPr lang="en-US" sz="1200" b="1" i="0" dirty="0">
                <a:solidFill>
                  <a:srgbClr val="000000"/>
                </a:solidFill>
                <a:effectLst/>
                <a:latin typeface="arial" panose="020B0604020202020204" pitchFamily="34" charset="0"/>
              </a:rPr>
              <a:t>Example without using the </a:t>
            </a:r>
            <a:r>
              <a:rPr lang="en-US" sz="1200" b="1" i="0" dirty="0" err="1">
                <a:solidFill>
                  <a:srgbClr val="000000"/>
                </a:solidFill>
                <a:effectLst/>
                <a:latin typeface="arial" panose="020B0604020202020204" pitchFamily="34" charset="0"/>
              </a:rPr>
              <a:t>Liskov</a:t>
            </a:r>
            <a:r>
              <a:rPr lang="en-US" sz="1200" b="1" i="0" dirty="0">
                <a:solidFill>
                  <a:srgbClr val="000000"/>
                </a:solidFill>
                <a:effectLst/>
                <a:latin typeface="arial" panose="020B0604020202020204" pitchFamily="34" charset="0"/>
              </a:rPr>
              <a:t> Substitution Principle in C#:</a:t>
            </a:r>
            <a:endParaRPr lang="en-US" sz="1200" b="0" i="0" dirty="0">
              <a:solidFill>
                <a:srgbClr val="3A3A3A"/>
              </a:solidFill>
              <a:effectLst/>
              <a:latin typeface="-apple-system"/>
            </a:endParaRPr>
          </a:p>
          <a:p>
            <a:pPr algn="just" fontAlgn="base"/>
            <a:r>
              <a:rPr lang="en-US" sz="1200" b="0" i="0" dirty="0">
                <a:solidFill>
                  <a:srgbClr val="000000"/>
                </a:solidFill>
                <a:effectLst/>
                <a:latin typeface="arial" panose="020B0604020202020204" pitchFamily="34" charset="0"/>
              </a:rPr>
              <a:t>Let us first understand one example without using the </a:t>
            </a:r>
            <a:r>
              <a:rPr lang="en-US" sz="1200" b="0" i="0" dirty="0" err="1">
                <a:solidFill>
                  <a:srgbClr val="000000"/>
                </a:solidFill>
                <a:effectLst/>
                <a:latin typeface="arial" panose="020B0604020202020204" pitchFamily="34" charset="0"/>
              </a:rPr>
              <a:t>Liskov</a:t>
            </a:r>
            <a:r>
              <a:rPr lang="en-US" sz="1200" b="0" i="0" dirty="0">
                <a:solidFill>
                  <a:srgbClr val="000000"/>
                </a:solidFill>
                <a:effectLst/>
                <a:latin typeface="arial" panose="020B0604020202020204" pitchFamily="34" charset="0"/>
              </a:rPr>
              <a:t> Substitution Principle in C#. In the following example, first, we create the Apple class with the method </a:t>
            </a:r>
            <a:r>
              <a:rPr lang="en-US" sz="1200" b="0" i="0" dirty="0" err="1">
                <a:solidFill>
                  <a:srgbClr val="000000"/>
                </a:solidFill>
                <a:effectLst/>
                <a:latin typeface="arial" panose="020B0604020202020204" pitchFamily="34" charset="0"/>
              </a:rPr>
              <a:t>GetColor</a:t>
            </a:r>
            <a:r>
              <a:rPr lang="en-US" sz="1200" b="0" i="0" dirty="0">
                <a:solidFill>
                  <a:srgbClr val="000000"/>
                </a:solidFill>
                <a:effectLst/>
                <a:latin typeface="arial" panose="020B0604020202020204" pitchFamily="34" charset="0"/>
              </a:rPr>
              <a:t>. Then we create the Orange class which inherits the Apple class as well as overrides the </a:t>
            </a:r>
            <a:r>
              <a:rPr lang="en-US" sz="1200" b="0" i="0" dirty="0" err="1">
                <a:solidFill>
                  <a:srgbClr val="000000"/>
                </a:solidFill>
                <a:effectLst/>
                <a:latin typeface="arial" panose="020B0604020202020204" pitchFamily="34" charset="0"/>
              </a:rPr>
              <a:t>GetColor</a:t>
            </a:r>
            <a:r>
              <a:rPr lang="en-US" sz="1200" b="0" i="0" dirty="0">
                <a:solidFill>
                  <a:srgbClr val="000000"/>
                </a:solidFill>
                <a:effectLst/>
                <a:latin typeface="arial" panose="020B0604020202020204" pitchFamily="34" charset="0"/>
              </a:rPr>
              <a:t> method of the Apple class. The point is that an Orange cannot be replaced by an Apple, which results in printing the color of the apple as Orange as shown in the below example.</a:t>
            </a:r>
            <a:endParaRPr lang="en-US" sz="1200" b="0" i="0" dirty="0">
              <a:solidFill>
                <a:srgbClr val="212529"/>
              </a:solidFill>
              <a:effectLst/>
              <a:latin typeface="-apple-system"/>
            </a:endParaRPr>
          </a:p>
        </p:txBody>
      </p:sp>
      <p:sp>
        <p:nvSpPr>
          <p:cNvPr id="7" name="TextBox 6">
            <a:extLst>
              <a:ext uri="{FF2B5EF4-FFF2-40B4-BE49-F238E27FC236}">
                <a16:creationId xmlns:a16="http://schemas.microsoft.com/office/drawing/2014/main" id="{63C63A26-6963-4C10-BDF2-606E0202CD1D}"/>
              </a:ext>
            </a:extLst>
          </p:cNvPr>
          <p:cNvSpPr txBox="1"/>
          <p:nvPr/>
        </p:nvSpPr>
        <p:spPr>
          <a:xfrm>
            <a:off x="7172036" y="9236"/>
            <a:ext cx="4179454" cy="3831818"/>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SOLID_PRINCIPLES.LSP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Program</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static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Main(</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args</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Apple apple1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Apple();</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apple.GetColor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Apple </a:t>
            </a:r>
            <a:r>
              <a:rPr lang="en-IN" sz="900" dirty="0" err="1">
                <a:solidFill>
                  <a:srgbClr val="000000"/>
                </a:solidFill>
                <a:highlight>
                  <a:srgbClr val="FFFFFF"/>
                </a:highlight>
                <a:latin typeface="Consolas" panose="020B0609020204030204" pitchFamily="49" charset="0"/>
              </a:rPr>
              <a:t>apple</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Orange();</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apple.GetColor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Apple</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virtual</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a:t>
            </a:r>
            <a:r>
              <a:rPr lang="en-IN" sz="900" dirty="0">
                <a:solidFill>
                  <a:srgbClr val="A31515"/>
                </a:solidFill>
                <a:highlight>
                  <a:srgbClr val="FFFFFF"/>
                </a:highlight>
                <a:latin typeface="Consolas" panose="020B0609020204030204" pitchFamily="49" charset="0"/>
              </a:rPr>
              <a:t>"Red"</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Orange</a:t>
            </a:r>
            <a:r>
              <a:rPr lang="en-IN" sz="900" dirty="0">
                <a:solidFill>
                  <a:srgbClr val="000000"/>
                </a:solidFill>
                <a:highlight>
                  <a:srgbClr val="FFFFFF"/>
                </a:highlight>
                <a:latin typeface="Consolas" panose="020B0609020204030204" pitchFamily="49" charset="0"/>
              </a:rPr>
              <a:t> : Apple</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override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a:t>
            </a:r>
            <a:r>
              <a:rPr lang="en-IN" sz="900" dirty="0">
                <a:solidFill>
                  <a:srgbClr val="A31515"/>
                </a:solidFill>
                <a:highlight>
                  <a:srgbClr val="FFFFFF"/>
                </a:highlight>
                <a:latin typeface="Consolas" panose="020B0609020204030204" pitchFamily="49" charset="0"/>
              </a:rPr>
              <a:t>"Orange"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endParaRPr lang="en-IN" dirty="0"/>
          </a:p>
        </p:txBody>
      </p:sp>
      <p:sp>
        <p:nvSpPr>
          <p:cNvPr id="9" name="TextBox 8">
            <a:extLst>
              <a:ext uri="{FF2B5EF4-FFF2-40B4-BE49-F238E27FC236}">
                <a16:creationId xmlns:a16="http://schemas.microsoft.com/office/drawing/2014/main" id="{21884B84-8EF0-4DDC-97C0-DAC45CA8739C}"/>
              </a:ext>
            </a:extLst>
          </p:cNvPr>
          <p:cNvSpPr txBox="1"/>
          <p:nvPr/>
        </p:nvSpPr>
        <p:spPr>
          <a:xfrm>
            <a:off x="0" y="4128946"/>
            <a:ext cx="6096000" cy="1169551"/>
          </a:xfrm>
          <a:prstGeom prst="rect">
            <a:avLst/>
          </a:prstGeom>
          <a:noFill/>
        </p:spPr>
        <p:txBody>
          <a:bodyPr wrap="square">
            <a:spAutoFit/>
          </a:bodyPr>
          <a:lstStyle/>
          <a:p>
            <a:pPr algn="l" fontAlgn="base"/>
            <a:r>
              <a:rPr lang="en-US" sz="1400" b="1" i="0" dirty="0">
                <a:solidFill>
                  <a:srgbClr val="000000"/>
                </a:solidFill>
                <a:effectLst/>
                <a:latin typeface="arial" panose="020B0604020202020204" pitchFamily="34" charset="0"/>
              </a:rPr>
              <a:t>Example Using the </a:t>
            </a:r>
            <a:r>
              <a:rPr lang="en-US" sz="1400" b="1" i="0" dirty="0" err="1">
                <a:solidFill>
                  <a:srgbClr val="000000"/>
                </a:solidFill>
                <a:effectLst/>
                <a:latin typeface="arial" panose="020B0604020202020204" pitchFamily="34" charset="0"/>
              </a:rPr>
              <a:t>Liskov</a:t>
            </a:r>
            <a:r>
              <a:rPr lang="en-US" sz="1400" b="1" i="0" dirty="0">
                <a:solidFill>
                  <a:srgbClr val="000000"/>
                </a:solidFill>
                <a:effectLst/>
                <a:latin typeface="arial" panose="020B0604020202020204" pitchFamily="34" charset="0"/>
              </a:rPr>
              <a:t> Substitution Principle in C#</a:t>
            </a:r>
            <a:endParaRPr lang="en-US" sz="1400" b="0"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Let’s modify the previous example to follow the </a:t>
            </a:r>
            <a:r>
              <a:rPr lang="en-US" sz="1400" b="0" i="0" dirty="0" err="1">
                <a:solidFill>
                  <a:srgbClr val="000000"/>
                </a:solidFill>
                <a:effectLst/>
                <a:latin typeface="arial" panose="020B0604020202020204" pitchFamily="34" charset="0"/>
              </a:rPr>
              <a:t>Liskov</a:t>
            </a:r>
            <a:r>
              <a:rPr lang="en-US" sz="1400" b="0" i="0" dirty="0">
                <a:solidFill>
                  <a:srgbClr val="000000"/>
                </a:solidFill>
                <a:effectLst/>
                <a:latin typeface="arial" panose="020B0604020202020204" pitchFamily="34" charset="0"/>
              </a:rPr>
              <a:t> Substitution Principle. Here, first, we need a generic base class such as Fruit for both Apple and Orange. Now you can replace the Fruit class object with its subtypes either Apple and </a:t>
            </a:r>
            <a:r>
              <a:rPr lang="en-US" sz="1400" b="0" i="0" dirty="0" err="1">
                <a:solidFill>
                  <a:srgbClr val="000000"/>
                </a:solidFill>
                <a:effectLst/>
                <a:latin typeface="arial" panose="020B0604020202020204" pitchFamily="34" charset="0"/>
              </a:rPr>
              <a:t>Orage</a:t>
            </a:r>
            <a:r>
              <a:rPr lang="en-US" sz="1400" b="0" i="0" dirty="0">
                <a:solidFill>
                  <a:srgbClr val="000000"/>
                </a:solidFill>
                <a:effectLst/>
                <a:latin typeface="arial" panose="020B0604020202020204" pitchFamily="34" charset="0"/>
              </a:rPr>
              <a:t> and it will behave correctly.</a:t>
            </a:r>
            <a:endParaRPr lang="en-US" sz="1400" b="0" i="0" dirty="0">
              <a:solidFill>
                <a:srgbClr val="212529"/>
              </a:solidFill>
              <a:effectLst/>
              <a:latin typeface="-apple-system"/>
            </a:endParaRPr>
          </a:p>
        </p:txBody>
      </p:sp>
      <p:sp>
        <p:nvSpPr>
          <p:cNvPr id="11" name="TextBox 10">
            <a:extLst>
              <a:ext uri="{FF2B5EF4-FFF2-40B4-BE49-F238E27FC236}">
                <a16:creationId xmlns:a16="http://schemas.microsoft.com/office/drawing/2014/main" id="{63BA197C-E097-4711-AB30-CA2FD77512A3}"/>
              </a:ext>
            </a:extLst>
          </p:cNvPr>
          <p:cNvSpPr txBox="1"/>
          <p:nvPr/>
        </p:nvSpPr>
        <p:spPr>
          <a:xfrm>
            <a:off x="6096000" y="3580180"/>
            <a:ext cx="3722255" cy="3277820"/>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SOLID_PRINCIPLES.LSP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Program</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static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Main(</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args</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Fruit </a:t>
            </a:r>
            <a:r>
              <a:rPr lang="en-IN" sz="900" dirty="0" err="1">
                <a:solidFill>
                  <a:srgbClr val="000000"/>
                </a:solidFill>
                <a:highlight>
                  <a:srgbClr val="FFFFFF"/>
                </a:highlight>
                <a:latin typeface="Consolas" panose="020B0609020204030204" pitchFamily="49" charset="0"/>
              </a:rPr>
              <a:t>fruit</a:t>
            </a:r>
            <a:r>
              <a:rPr lang="en-IN" sz="900" dirty="0">
                <a:solidFill>
                  <a:srgbClr val="000000"/>
                </a:solidFill>
                <a:highlight>
                  <a:srgbClr val="FFFFFF"/>
                </a:highlight>
                <a:latin typeface="Consolas" panose="020B0609020204030204" pitchFamily="49" charset="0"/>
              </a:rPr>
              <a: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Orange();</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fruit.GetColor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fruit =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Apple();</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err="1">
                <a:solidFill>
                  <a:srgbClr val="000000"/>
                </a:solidFill>
                <a:highlight>
                  <a:srgbClr val="FFFFFF"/>
                </a:highlight>
                <a:latin typeface="Consolas" panose="020B0609020204030204" pitchFamily="49" charset="0"/>
              </a:rPr>
              <a:t>fruit.GetColor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abstract</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Fruit</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abstract</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a:solidFill>
                  <a:srgbClr val="2B91AF"/>
                </a:solidFill>
                <a:highlight>
                  <a:srgbClr val="FFFFFF"/>
                </a:highlight>
                <a:latin typeface="Consolas" panose="020B0609020204030204" pitchFamily="49" charset="0"/>
              </a:rPr>
              <a:t>Apple</a:t>
            </a:r>
            <a:r>
              <a:rPr lang="en-IN" sz="900" dirty="0">
                <a:solidFill>
                  <a:srgbClr val="000000"/>
                </a:solidFill>
                <a:highlight>
                  <a:srgbClr val="FFFFFF"/>
                </a:highlight>
                <a:latin typeface="Consolas" panose="020B0609020204030204" pitchFamily="49" charset="0"/>
              </a:rPr>
              <a:t> : Fruit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override</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GetColor</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return</a:t>
            </a:r>
            <a:r>
              <a:rPr lang="en-IN" sz="900" dirty="0">
                <a:solidFill>
                  <a:srgbClr val="000000"/>
                </a:solidFill>
                <a:highlight>
                  <a:srgbClr val="FFFFFF"/>
                </a:highlight>
                <a:latin typeface="Consolas" panose="020B0609020204030204" pitchFamily="49" charset="0"/>
              </a:rPr>
              <a:t> </a:t>
            </a:r>
            <a:r>
              <a:rPr lang="en-IN" sz="900" dirty="0">
                <a:solidFill>
                  <a:srgbClr val="A31515"/>
                </a:solidFill>
                <a:highlight>
                  <a:srgbClr val="FFFFFF"/>
                </a:highlight>
                <a:latin typeface="Consolas" panose="020B0609020204030204" pitchFamily="49" charset="0"/>
              </a:rPr>
              <a:t>"Red"</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endParaRPr lang="en-IN" dirty="0"/>
          </a:p>
        </p:txBody>
      </p:sp>
      <p:sp>
        <p:nvSpPr>
          <p:cNvPr id="13" name="TextBox 12">
            <a:extLst>
              <a:ext uri="{FF2B5EF4-FFF2-40B4-BE49-F238E27FC236}">
                <a16:creationId xmlns:a16="http://schemas.microsoft.com/office/drawing/2014/main" id="{60911946-906A-43D4-AB5B-92403A9DE41C}"/>
              </a:ext>
            </a:extLst>
          </p:cNvPr>
          <p:cNvSpPr txBox="1"/>
          <p:nvPr/>
        </p:nvSpPr>
        <p:spPr>
          <a:xfrm>
            <a:off x="9653156" y="4049739"/>
            <a:ext cx="2538844" cy="1338828"/>
          </a:xfrm>
          <a:prstGeom prst="rect">
            <a:avLst/>
          </a:prstGeom>
        </p:spPr>
        <p:style>
          <a:lnRef idx="2">
            <a:schemeClr val="accent4"/>
          </a:lnRef>
          <a:fillRef idx="1">
            <a:schemeClr val="lt1"/>
          </a:fillRef>
          <a:effectRef idx="0">
            <a:schemeClr val="accent4"/>
          </a:effectRef>
          <a:fontRef idx="minor">
            <a:schemeClr val="dk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2B91AF"/>
                </a:solidFill>
                <a:effectLst/>
                <a:highlight>
                  <a:srgbClr val="FFFFFF"/>
                </a:highlight>
                <a:uLnTx/>
                <a:uFillTx/>
                <a:latin typeface="Consolas" panose="020B0609020204030204" pitchFamily="49" charset="0"/>
                <a:ea typeface="+mn-ea"/>
                <a:cs typeface="+mn-cs"/>
              </a:rPr>
              <a:t>Orange</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Fruit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override</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GetColor</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return</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9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"Orange"</a:t>
            </a: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endParaRPr lang="en-IN" dirty="0"/>
          </a:p>
        </p:txBody>
      </p:sp>
      <p:sp>
        <p:nvSpPr>
          <p:cNvPr id="15" name="TextBox 14">
            <a:extLst>
              <a:ext uri="{FF2B5EF4-FFF2-40B4-BE49-F238E27FC236}">
                <a16:creationId xmlns:a16="http://schemas.microsoft.com/office/drawing/2014/main" id="{CF88334E-467A-4F3E-A909-50643F529772}"/>
              </a:ext>
            </a:extLst>
          </p:cNvPr>
          <p:cNvSpPr txBox="1"/>
          <p:nvPr/>
        </p:nvSpPr>
        <p:spPr>
          <a:xfrm>
            <a:off x="79663" y="5544656"/>
            <a:ext cx="5591464" cy="738664"/>
          </a:xfrm>
          <a:prstGeom prst="rect">
            <a:avLst/>
          </a:prstGeom>
          <a:noFill/>
        </p:spPr>
        <p:txBody>
          <a:bodyPr wrap="square">
            <a:spAutoFit/>
          </a:bodyPr>
          <a:lstStyle/>
          <a:p>
            <a:r>
              <a:rPr lang="en-US" sz="1400" b="0" i="0" dirty="0">
                <a:solidFill>
                  <a:srgbClr val="000000"/>
                </a:solidFill>
                <a:effectLst/>
                <a:latin typeface="arial" panose="020B0604020202020204" pitchFamily="34" charset="0"/>
              </a:rPr>
              <a:t>Now, run the application and it should give the output as expected. Here we are following the LSP as we are now able to change the object with its subtype.</a:t>
            </a:r>
            <a:endParaRPr lang="en-IN" sz="1400" dirty="0"/>
          </a:p>
        </p:txBody>
      </p:sp>
    </p:spTree>
    <p:extLst>
      <p:ext uri="{BB962C8B-B14F-4D97-AF65-F5344CB8AC3E}">
        <p14:creationId xmlns:p14="http://schemas.microsoft.com/office/powerpoint/2010/main" val="8482626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F634162-479B-499D-B0DF-C9F8EB8AF697}"/>
              </a:ext>
            </a:extLst>
          </p:cNvPr>
          <p:cNvSpPr txBox="1"/>
          <p:nvPr/>
        </p:nvSpPr>
        <p:spPr>
          <a:xfrm>
            <a:off x="193963" y="0"/>
            <a:ext cx="3412549" cy="5693866"/>
          </a:xfrm>
          <a:prstGeom prst="rect">
            <a:avLst/>
          </a:prstGeom>
          <a:noFill/>
        </p:spPr>
        <p:txBody>
          <a:bodyPr wrap="square">
            <a:spAutoFit/>
          </a:bodyPr>
          <a:lstStyle/>
          <a:p>
            <a:r>
              <a:rPr lang="en-US" sz="1400" b="1" dirty="0"/>
              <a:t>What is the Interface Segregation Principle in C#?</a:t>
            </a:r>
          </a:p>
          <a:p>
            <a:r>
              <a:rPr lang="en-US" sz="1400" dirty="0"/>
              <a:t>The Interface Segregation Principle states that “Clients should not be forced to implement any methods they don’t use. Rather than one fat interface, numerous little interfaces are preferred based on groups of methods with each interface serving one submodule“.</a:t>
            </a:r>
          </a:p>
          <a:p>
            <a:endParaRPr lang="en-US" sz="1400" dirty="0"/>
          </a:p>
          <a:p>
            <a:r>
              <a:rPr lang="en-US" sz="1400" dirty="0"/>
              <a:t>Let us break down the above definition into two parts.</a:t>
            </a:r>
          </a:p>
          <a:p>
            <a:endParaRPr lang="en-US" sz="1400" dirty="0"/>
          </a:p>
          <a:p>
            <a:r>
              <a:rPr lang="en-US" sz="1400" dirty="0"/>
              <a:t>First, no class should be forced to implement any method(s) of an interface they don’t use.</a:t>
            </a:r>
          </a:p>
          <a:p>
            <a:r>
              <a:rPr lang="en-US" sz="1400" dirty="0"/>
              <a:t>Secondly, instead of creating large or you can say fat interfaces, create multiple smaller interfaces with the aim that the clients should only think about the methods that are of interest to them.</a:t>
            </a:r>
          </a:p>
          <a:p>
            <a:r>
              <a:rPr lang="en-US" sz="1400" dirty="0"/>
              <a:t>As per the Single Responsibility Principle of SOLID, like classes, interfaces also should have a single responsibility. That means we shouldn’t force any class to implement any method(s) which they don’t require.</a:t>
            </a:r>
            <a:endParaRPr lang="en-IN" sz="1400" dirty="0"/>
          </a:p>
        </p:txBody>
      </p:sp>
      <p:pic>
        <p:nvPicPr>
          <p:cNvPr id="1026" name="Picture 2" descr="Interface Segregation Principle in C# with an example">
            <a:extLst>
              <a:ext uri="{FF2B5EF4-FFF2-40B4-BE49-F238E27FC236}">
                <a16:creationId xmlns:a16="http://schemas.microsoft.com/office/drawing/2014/main" id="{3DD48839-C689-4B63-A9A0-70E55E1867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06512" y="111703"/>
            <a:ext cx="8391525" cy="619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7105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B2AC6B63-2544-419C-A2EB-8A5185751694}"/>
              </a:ext>
            </a:extLst>
          </p:cNvPr>
          <p:cNvSpPr txBox="1">
            <a:spLocks noGrp="1"/>
          </p:cNvSpPr>
          <p:nvPr>
            <p:ph idx="1"/>
          </p:nvPr>
        </p:nvSpPr>
        <p:spPr>
          <a:xfrm>
            <a:off x="139268" y="10193"/>
            <a:ext cx="11177587" cy="1993366"/>
          </a:xfrm>
          <a:prstGeom prst="rect">
            <a:avLst/>
          </a:prstGeom>
          <a:noFill/>
        </p:spPr>
        <p:txBody>
          <a:bodyPr wrap="square">
            <a:spAutoFit/>
          </a:bodyPr>
          <a:lstStyle/>
          <a:p>
            <a:r>
              <a:rPr lang="en-US" sz="1600" dirty="0"/>
              <a:t>As you can see in the above diagram, we have an interface i.e. </a:t>
            </a:r>
            <a:r>
              <a:rPr lang="en-US" sz="1600" dirty="0" err="1"/>
              <a:t>IPrinterTasks</a:t>
            </a:r>
            <a:r>
              <a:rPr lang="en-US" sz="1600" dirty="0"/>
              <a:t> declared with four methods. Now if any class wants to implement this interface then that class should have to provide the implementation to all the four methods of the </a:t>
            </a:r>
            <a:r>
              <a:rPr lang="en-US" sz="1600" dirty="0" err="1"/>
              <a:t>IPrinterTasks</a:t>
            </a:r>
            <a:r>
              <a:rPr lang="en-US" sz="1600" dirty="0"/>
              <a:t> interface. As you can see in the above diagram, we have two classes </a:t>
            </a:r>
            <a:r>
              <a:rPr lang="en-US" sz="1600" dirty="0" err="1"/>
              <a:t>HPLaserJetPrinter</a:t>
            </a:r>
            <a:r>
              <a:rPr lang="en-US" sz="1600" dirty="0"/>
              <a:t> and </a:t>
            </a:r>
            <a:r>
              <a:rPr lang="en-US" sz="1600" dirty="0" err="1"/>
              <a:t>LiquidInkjetPrinter</a:t>
            </a:r>
            <a:r>
              <a:rPr lang="en-US" sz="1600" dirty="0"/>
              <a:t> who want the printer service.</a:t>
            </a:r>
          </a:p>
          <a:p>
            <a:r>
              <a:rPr lang="en-US" sz="1600" dirty="0"/>
              <a:t>But the requirement is the </a:t>
            </a:r>
            <a:r>
              <a:rPr lang="en-US" sz="1600" dirty="0" err="1"/>
              <a:t>HPLaserJetPrinter</a:t>
            </a:r>
            <a:r>
              <a:rPr lang="en-US" sz="1600" dirty="0"/>
              <a:t> wants all the services provided by the </a:t>
            </a:r>
            <a:r>
              <a:rPr lang="en-US" sz="1600" dirty="0" err="1"/>
              <a:t>IPrinterTasks</a:t>
            </a:r>
            <a:r>
              <a:rPr lang="en-US" sz="1600" dirty="0"/>
              <a:t> while the </a:t>
            </a:r>
            <a:r>
              <a:rPr lang="en-US" sz="1600" dirty="0" err="1"/>
              <a:t>LiquidInkjetPrinter</a:t>
            </a:r>
            <a:r>
              <a:rPr lang="en-US" sz="1600" dirty="0"/>
              <a:t> wants only the  Print and Scan service of the printer. As we have declared all the methods within the </a:t>
            </a:r>
            <a:r>
              <a:rPr lang="en-US" sz="1600" dirty="0" err="1"/>
              <a:t>IPrinterTasks</a:t>
            </a:r>
            <a:r>
              <a:rPr lang="en-US" sz="1600" dirty="0"/>
              <a:t> interface, then it is mandatory for the </a:t>
            </a:r>
            <a:r>
              <a:rPr lang="en-US" sz="1600" dirty="0" err="1"/>
              <a:t>LiquidInkjetPrinter</a:t>
            </a:r>
            <a:r>
              <a:rPr lang="en-US" sz="1600" dirty="0"/>
              <a:t> class to provide implementation to Scan and Print methods along with the Fax and </a:t>
            </a:r>
            <a:r>
              <a:rPr lang="en-US" sz="1600" dirty="0" err="1"/>
              <a:t>PrinctDulex</a:t>
            </a:r>
            <a:r>
              <a:rPr lang="en-US" sz="1600" dirty="0"/>
              <a:t> method which are not required by the class.</a:t>
            </a:r>
            <a:endParaRPr lang="en-IN" sz="1600" dirty="0"/>
          </a:p>
        </p:txBody>
      </p:sp>
      <p:sp>
        <p:nvSpPr>
          <p:cNvPr id="6" name="TextBox 5">
            <a:extLst>
              <a:ext uri="{FF2B5EF4-FFF2-40B4-BE49-F238E27FC236}">
                <a16:creationId xmlns:a16="http://schemas.microsoft.com/office/drawing/2014/main" id="{0ADBCB88-8129-4A53-9736-52F003DAD816}"/>
              </a:ext>
            </a:extLst>
          </p:cNvPr>
          <p:cNvSpPr txBox="1"/>
          <p:nvPr/>
        </p:nvSpPr>
        <p:spPr>
          <a:xfrm>
            <a:off x="139268" y="2054650"/>
            <a:ext cx="6096000" cy="369332"/>
          </a:xfrm>
          <a:prstGeom prst="rect">
            <a:avLst/>
          </a:prstGeom>
          <a:noFill/>
        </p:spPr>
        <p:txBody>
          <a:bodyPr wrap="square">
            <a:spAutoFit/>
          </a:bodyPr>
          <a:lstStyle/>
          <a:p>
            <a:r>
              <a:rPr lang="en-US" b="1" dirty="0"/>
              <a:t>Example using the Interface Segregation Principle:</a:t>
            </a:r>
            <a:endParaRPr lang="en-IN" b="1" dirty="0"/>
          </a:p>
        </p:txBody>
      </p:sp>
      <p:pic>
        <p:nvPicPr>
          <p:cNvPr id="2050" name="Picture 2" descr="Interface Segregation Principle in C#">
            <a:extLst>
              <a:ext uri="{FF2B5EF4-FFF2-40B4-BE49-F238E27FC236}">
                <a16:creationId xmlns:a16="http://schemas.microsoft.com/office/drawing/2014/main" id="{07881657-0B55-4DFB-96EA-2367E1F134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68" y="2477578"/>
            <a:ext cx="4486275" cy="41433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nterface Segregation Principle in C#">
            <a:extLst>
              <a:ext uri="{FF2B5EF4-FFF2-40B4-BE49-F238E27FC236}">
                <a16:creationId xmlns:a16="http://schemas.microsoft.com/office/drawing/2014/main" id="{2DCD2AAF-F6E1-4C2A-BD2F-A3D3DDA4D5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7906" y="3162646"/>
            <a:ext cx="7105650" cy="3829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529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599F90E0-0570-490E-9488-AD756E38C969}"/>
              </a:ext>
            </a:extLst>
          </p:cNvPr>
          <p:cNvSpPr txBox="1"/>
          <p:nvPr/>
        </p:nvSpPr>
        <p:spPr>
          <a:xfrm>
            <a:off x="267854" y="0"/>
            <a:ext cx="1162858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 you can see in the above diagram, now we have split that big interface into three small interfaces.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Each interface now having some specific purpose. Now if any class wants all the services then that class needs to implement all the three interfaces as shown below.</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3550CA4F-7B39-44B1-A9C8-1254CCAA2434}"/>
              </a:ext>
            </a:extLst>
          </p:cNvPr>
          <p:cNvPicPr>
            <a:picLocks noChangeAspect="1"/>
          </p:cNvPicPr>
          <p:nvPr/>
        </p:nvPicPr>
        <p:blipFill>
          <a:blip r:embed="rId2"/>
          <a:stretch>
            <a:fillRect/>
          </a:stretch>
        </p:blipFill>
        <p:spPr>
          <a:xfrm>
            <a:off x="67830" y="1181966"/>
            <a:ext cx="6573115" cy="3829050"/>
          </a:xfrm>
          <a:prstGeom prst="rect">
            <a:avLst/>
          </a:prstGeom>
        </p:spPr>
      </p:pic>
      <p:sp>
        <p:nvSpPr>
          <p:cNvPr id="8" name="TextBox 7">
            <a:extLst>
              <a:ext uri="{FF2B5EF4-FFF2-40B4-BE49-F238E27FC236}">
                <a16:creationId xmlns:a16="http://schemas.microsoft.com/office/drawing/2014/main" id="{E5E27627-5DC6-4894-90B4-EF8C4A387BEE}"/>
              </a:ext>
            </a:extLst>
          </p:cNvPr>
          <p:cNvSpPr txBox="1"/>
          <p:nvPr/>
        </p:nvSpPr>
        <p:spPr>
          <a:xfrm>
            <a:off x="138545" y="6267179"/>
            <a:ext cx="12053455" cy="523220"/>
          </a:xfrm>
          <a:prstGeom prst="rect">
            <a:avLst/>
          </a:prstGeom>
          <a:noFill/>
        </p:spPr>
        <p:txBody>
          <a:bodyPr wrap="square">
            <a:spAutoFit/>
          </a:bodyPr>
          <a:lstStyle/>
          <a:p>
            <a:pPr algn="just" fontAlgn="base"/>
            <a:r>
              <a:rPr lang="en-US" sz="1400" b="0" i="0" dirty="0">
                <a:solidFill>
                  <a:srgbClr val="000000"/>
                </a:solidFill>
                <a:effectLst/>
                <a:latin typeface="arial" panose="020B0604020202020204" pitchFamily="34" charset="0"/>
              </a:rPr>
              <a:t>Now, if any class wants the Scan and Print service, then that class needs to implement only the </a:t>
            </a:r>
            <a:r>
              <a:rPr lang="en-US" sz="1400" b="0" i="0" dirty="0" err="1">
                <a:solidFill>
                  <a:srgbClr val="000000"/>
                </a:solidFill>
                <a:effectLst/>
                <a:latin typeface="arial" panose="020B0604020202020204" pitchFamily="34" charset="0"/>
              </a:rPr>
              <a:t>IPrinterTasks</a:t>
            </a:r>
            <a:r>
              <a:rPr lang="en-US" sz="1400" b="0" i="0" dirty="0">
                <a:solidFill>
                  <a:srgbClr val="000000"/>
                </a:solidFill>
                <a:effectLst/>
                <a:latin typeface="arial" panose="020B0604020202020204" pitchFamily="34" charset="0"/>
              </a:rPr>
              <a:t> interfaces as shown in the below image.</a:t>
            </a:r>
            <a:br>
              <a:rPr lang="en-US" sz="1400" dirty="0"/>
            </a:br>
            <a:endParaRPr lang="en-IN" sz="1400" dirty="0"/>
          </a:p>
        </p:txBody>
      </p:sp>
      <p:pic>
        <p:nvPicPr>
          <p:cNvPr id="3074" name="Picture 2" descr="Interface Segregation Principle in C#">
            <a:extLst>
              <a:ext uri="{FF2B5EF4-FFF2-40B4-BE49-F238E27FC236}">
                <a16:creationId xmlns:a16="http://schemas.microsoft.com/office/drawing/2014/main" id="{87AACA62-85D0-41DE-8F67-6F02F0CB82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4701" y="2820532"/>
            <a:ext cx="5239470" cy="2409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409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1382CC-AE32-45ED-BC8E-7742474DDE44}"/>
              </a:ext>
            </a:extLst>
          </p:cNvPr>
          <p:cNvSpPr>
            <a:spLocks noGrp="1"/>
          </p:cNvSpPr>
          <p:nvPr>
            <p:ph idx="1"/>
          </p:nvPr>
        </p:nvSpPr>
        <p:spPr>
          <a:xfrm>
            <a:off x="-1" y="73891"/>
            <a:ext cx="11046692" cy="286327"/>
          </a:xfrm>
        </p:spPr>
        <p:txBody>
          <a:bodyPr>
            <a:normAutofit/>
          </a:bodyPr>
          <a:lstStyle/>
          <a:p>
            <a:r>
              <a:rPr lang="en-US" sz="1200" b="1" i="0" dirty="0">
                <a:solidFill>
                  <a:srgbClr val="000000"/>
                </a:solidFill>
                <a:effectLst/>
                <a:latin typeface="arial" panose="020B0604020202020204" pitchFamily="34" charset="0"/>
              </a:rPr>
              <a:t>Example without using the Interface Segregation Principle in C#:</a:t>
            </a:r>
            <a:endParaRPr lang="en-US" sz="1200" b="0" i="0" dirty="0">
              <a:solidFill>
                <a:srgbClr val="3A3A3A"/>
              </a:solidFill>
              <a:effectLst/>
              <a:latin typeface="-apple-system"/>
            </a:endParaRPr>
          </a:p>
          <a:p>
            <a:endParaRPr lang="en-IN" sz="1200" dirty="0"/>
          </a:p>
        </p:txBody>
      </p:sp>
      <p:sp>
        <p:nvSpPr>
          <p:cNvPr id="5" name="TextBox 4">
            <a:extLst>
              <a:ext uri="{FF2B5EF4-FFF2-40B4-BE49-F238E27FC236}">
                <a16:creationId xmlns:a16="http://schemas.microsoft.com/office/drawing/2014/main" id="{FABDEA54-E00F-440A-8742-0A077443401E}"/>
              </a:ext>
            </a:extLst>
          </p:cNvPr>
          <p:cNvSpPr txBox="1"/>
          <p:nvPr/>
        </p:nvSpPr>
        <p:spPr>
          <a:xfrm>
            <a:off x="193963" y="5611336"/>
            <a:ext cx="11831781" cy="923330"/>
          </a:xfrm>
          <a:prstGeom prst="rect">
            <a:avLst/>
          </a:prstGeom>
          <a:noFill/>
        </p:spPr>
        <p:txBody>
          <a:bodyPr wrap="square">
            <a:spAutoFit/>
          </a:bodyPr>
          <a:lstStyle/>
          <a:p>
            <a:r>
              <a:rPr lang="en-US" dirty="0"/>
              <a:t>As you can see in the above </a:t>
            </a:r>
            <a:r>
              <a:rPr lang="en-US" dirty="0" err="1"/>
              <a:t>LiquidInkjetPrinter</a:t>
            </a:r>
            <a:r>
              <a:rPr lang="en-US" dirty="0"/>
              <a:t> class the Fax and </a:t>
            </a:r>
            <a:r>
              <a:rPr lang="en-US" dirty="0" err="1"/>
              <a:t>PrintDuplex</a:t>
            </a:r>
            <a:r>
              <a:rPr lang="en-US" dirty="0"/>
              <a:t> methods are not required by the class but, still, it is implementing these two methods. This is violating the Interface Segregation Principle in C# as we are forcing the class to implement two methods that they don’t require.</a:t>
            </a:r>
            <a:endParaRPr lang="en-IN" dirty="0"/>
          </a:p>
        </p:txBody>
      </p:sp>
      <p:sp>
        <p:nvSpPr>
          <p:cNvPr id="7" name="TextBox 6">
            <a:extLst>
              <a:ext uri="{FF2B5EF4-FFF2-40B4-BE49-F238E27FC236}">
                <a16:creationId xmlns:a16="http://schemas.microsoft.com/office/drawing/2014/main" id="{79D51EB6-A817-4431-8B8C-3EDAD849F4EA}"/>
              </a:ext>
            </a:extLst>
          </p:cNvPr>
          <p:cNvSpPr txBox="1"/>
          <p:nvPr/>
        </p:nvSpPr>
        <p:spPr>
          <a:xfrm>
            <a:off x="193962" y="623700"/>
            <a:ext cx="4378037" cy="1708160"/>
          </a:xfrm>
          <a:prstGeom prst="rect">
            <a:avLst/>
          </a:prstGeom>
          <a:noFill/>
        </p:spPr>
        <p:txBody>
          <a:bodyPr wrap="square">
            <a:spAutoFit/>
          </a:bodyPr>
          <a:lstStyle/>
          <a:p>
            <a:r>
              <a:rPr lang="en-IN" sz="1050" dirty="0">
                <a:solidFill>
                  <a:srgbClr val="0000FF"/>
                </a:solidFill>
                <a:highlight>
                  <a:srgbClr val="FFFFFF"/>
                </a:highlight>
                <a:latin typeface="Consolas" panose="020B0609020204030204" pitchFamily="49" charset="0"/>
              </a:rPr>
              <a:t>namespace</a:t>
            </a:r>
            <a:r>
              <a:rPr lang="en-IN" sz="1050" dirty="0">
                <a:solidFill>
                  <a:srgbClr val="000000"/>
                </a:solidFill>
                <a:highlight>
                  <a:srgbClr val="FFFFFF"/>
                </a:highlight>
                <a:latin typeface="Consolas" panose="020B0609020204030204" pitchFamily="49" charset="0"/>
              </a:rPr>
              <a:t> SOLID_PRINCIPLES.ISP</a:t>
            </a:r>
          </a:p>
          <a:p>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public</a:t>
            </a:r>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interface</a:t>
            </a:r>
            <a:r>
              <a:rPr lang="en-IN" sz="1050" dirty="0">
                <a:solidFill>
                  <a:srgbClr val="000000"/>
                </a:solidFill>
                <a:highlight>
                  <a:srgbClr val="FFFFFF"/>
                </a:highlight>
                <a:latin typeface="Consolas" panose="020B0609020204030204" pitchFamily="49" charset="0"/>
              </a:rPr>
              <a:t> </a:t>
            </a:r>
            <a:r>
              <a:rPr lang="en-IN" sz="1050" dirty="0" err="1">
                <a:solidFill>
                  <a:srgbClr val="2B91AF"/>
                </a:solidFill>
                <a:highlight>
                  <a:srgbClr val="FFFFFF"/>
                </a:highlight>
                <a:latin typeface="Consolas" panose="020B0609020204030204" pitchFamily="49" charset="0"/>
              </a:rPr>
              <a:t>IPrinterTasks</a:t>
            </a:r>
            <a:endParaRPr lang="en-IN" sz="1050" dirty="0">
              <a:solidFill>
                <a:srgbClr val="000000"/>
              </a:solidFill>
              <a:highlight>
                <a:srgbClr val="FFFFFF"/>
              </a:highlight>
              <a:latin typeface="Consolas" panose="020B0609020204030204" pitchFamily="49" charset="0"/>
            </a:endParaRP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Print(</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PrintContent</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Scan(</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ScanContent</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Fax(</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FaxContent</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r>
              <a:rPr lang="en-IN" sz="1050" dirty="0">
                <a:solidFill>
                  <a:srgbClr val="0000FF"/>
                </a:solidFill>
                <a:highlight>
                  <a:srgbClr val="FFFFFF"/>
                </a:highlight>
                <a:latin typeface="Consolas" panose="020B0609020204030204" pitchFamily="49" charset="0"/>
              </a:rPr>
              <a:t>void</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PrintDuplex</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string</a:t>
            </a:r>
            <a:r>
              <a:rPr lang="en-IN" sz="1050" dirty="0">
                <a:solidFill>
                  <a:srgbClr val="000000"/>
                </a:solidFill>
                <a:highlight>
                  <a:srgbClr val="FFFFFF"/>
                </a:highlight>
                <a:latin typeface="Consolas" panose="020B0609020204030204" pitchFamily="49" charset="0"/>
              </a:rPr>
              <a:t> </a:t>
            </a:r>
            <a:r>
              <a:rPr lang="en-IN" sz="1050" dirty="0" err="1">
                <a:solidFill>
                  <a:srgbClr val="000000"/>
                </a:solidFill>
                <a:highlight>
                  <a:srgbClr val="FFFFFF"/>
                </a:highlight>
                <a:latin typeface="Consolas" panose="020B0609020204030204" pitchFamily="49" charset="0"/>
              </a:rPr>
              <a:t>PrintDuplexContent</a:t>
            </a:r>
            <a:r>
              <a:rPr lang="en-IN" sz="1050" dirty="0">
                <a:solidFill>
                  <a:srgbClr val="000000"/>
                </a:solidFill>
                <a:highlight>
                  <a:srgbClr val="FFFFFF"/>
                </a:highlight>
                <a:latin typeface="Consolas" panose="020B0609020204030204" pitchFamily="49" charset="0"/>
              </a:rPr>
              <a:t>);</a:t>
            </a:r>
          </a:p>
          <a:p>
            <a:r>
              <a:rPr lang="en-IN" sz="1050" dirty="0">
                <a:solidFill>
                  <a:srgbClr val="000000"/>
                </a:solidFill>
                <a:highlight>
                  <a:srgbClr val="FFFFFF"/>
                </a:highlight>
                <a:latin typeface="Consolas" panose="020B0609020204030204" pitchFamily="49" charset="0"/>
              </a:rPr>
              <a:t>    }</a:t>
            </a:r>
          </a:p>
          <a:p>
            <a:r>
              <a:rPr lang="en-IN" sz="1050" dirty="0">
                <a:solidFill>
                  <a:srgbClr val="000000"/>
                </a:solidFill>
                <a:highlight>
                  <a:srgbClr val="FFFFFF"/>
                </a:highlight>
                <a:latin typeface="Consolas" panose="020B0609020204030204" pitchFamily="49" charset="0"/>
              </a:rPr>
              <a:t>}</a:t>
            </a:r>
            <a:endParaRPr lang="en-IN" sz="2400" dirty="0"/>
          </a:p>
        </p:txBody>
      </p:sp>
      <p:sp>
        <p:nvSpPr>
          <p:cNvPr id="9" name="TextBox 8">
            <a:extLst>
              <a:ext uri="{FF2B5EF4-FFF2-40B4-BE49-F238E27FC236}">
                <a16:creationId xmlns:a16="http://schemas.microsoft.com/office/drawing/2014/main" id="{BDDB0DF9-AEC6-4668-BD1E-997B7946F140}"/>
              </a:ext>
            </a:extLst>
          </p:cNvPr>
          <p:cNvSpPr txBox="1"/>
          <p:nvPr/>
        </p:nvSpPr>
        <p:spPr>
          <a:xfrm>
            <a:off x="7518402" y="226290"/>
            <a:ext cx="6096000" cy="3139321"/>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SOLID_PRINCIPLES.ISP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HPLaserJetPrinter</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IPrinterTasks</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Print(</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PrintContent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"Print Done"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Scan(</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ScanContent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"Scan 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Fax(</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FaxContent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"Fax 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PrintDuplex</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PrintDuplexContent</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fr-FR" sz="900" dirty="0">
                <a:solidFill>
                  <a:srgbClr val="000000"/>
                </a:solidFill>
                <a:highlight>
                  <a:srgbClr val="FFFFFF"/>
                </a:highlight>
                <a:latin typeface="Consolas" panose="020B0609020204030204" pitchFamily="49" charset="0"/>
              </a:rPr>
              <a:t>            Console.WriteLine(</a:t>
            </a:r>
            <a:r>
              <a:rPr lang="fr-FR" sz="900" dirty="0">
                <a:solidFill>
                  <a:srgbClr val="A31515"/>
                </a:solidFill>
                <a:highlight>
                  <a:srgbClr val="FFFFFF"/>
                </a:highlight>
                <a:latin typeface="Consolas" panose="020B0609020204030204" pitchFamily="49" charset="0"/>
              </a:rPr>
              <a:t>"Print Duplex content"</a:t>
            </a:r>
            <a:r>
              <a:rPr lang="fr-FR"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endParaRPr lang="en-IN" dirty="0"/>
          </a:p>
        </p:txBody>
      </p:sp>
      <p:sp>
        <p:nvSpPr>
          <p:cNvPr id="13" name="TextBox 12">
            <a:extLst>
              <a:ext uri="{FF2B5EF4-FFF2-40B4-BE49-F238E27FC236}">
                <a16:creationId xmlns:a16="http://schemas.microsoft.com/office/drawing/2014/main" id="{FB28D61B-BCBC-47B8-83D2-F7DCACD036F3}"/>
              </a:ext>
            </a:extLst>
          </p:cNvPr>
          <p:cNvSpPr txBox="1"/>
          <p:nvPr/>
        </p:nvSpPr>
        <p:spPr>
          <a:xfrm>
            <a:off x="193962" y="2595342"/>
            <a:ext cx="6096000" cy="3139321"/>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SOLID_PRINCIPLES.ISP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class</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LiquidInkjetPrinter</a:t>
            </a:r>
            <a:r>
              <a:rPr lang="en-IN" sz="900" dirty="0">
                <a:solidFill>
                  <a:srgbClr val="000000"/>
                </a:solidFill>
                <a:highlight>
                  <a:srgbClr val="FFFFFF"/>
                </a:highlight>
                <a:latin typeface="Consolas" panose="020B0609020204030204" pitchFamily="49" charset="0"/>
              </a:rPr>
              <a:t> : </a:t>
            </a:r>
            <a:r>
              <a:rPr lang="en-IN" sz="900" dirty="0" err="1">
                <a:solidFill>
                  <a:srgbClr val="000000"/>
                </a:solidFill>
                <a:highlight>
                  <a:srgbClr val="FFFFFF"/>
                </a:highlight>
                <a:latin typeface="Consolas" panose="020B0609020204030204" pitchFamily="49" charset="0"/>
              </a:rPr>
              <a:t>IPrinterTasks</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Print(</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PrintContent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"Print Done"</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Scan(</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ScanContent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Console.WriteLine</a:t>
            </a:r>
            <a:r>
              <a:rPr lang="en-IN" sz="900" dirty="0">
                <a:solidFill>
                  <a:srgbClr val="000000"/>
                </a:solidFill>
                <a:highlight>
                  <a:srgbClr val="FFFFFF"/>
                </a:highlight>
                <a:latin typeface="Consolas" panose="020B0609020204030204" pitchFamily="49" charset="0"/>
              </a:rPr>
              <a:t>(</a:t>
            </a:r>
            <a:r>
              <a:rPr lang="en-IN" sz="900" dirty="0">
                <a:solidFill>
                  <a:srgbClr val="A31515"/>
                </a:solidFill>
                <a:highlight>
                  <a:srgbClr val="FFFFFF"/>
                </a:highlight>
                <a:latin typeface="Consolas" panose="020B0609020204030204" pitchFamily="49" charset="0"/>
              </a:rPr>
              <a:t>"Scan 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void</a:t>
            </a:r>
            <a:r>
              <a:rPr lang="en-IN" sz="900" dirty="0">
                <a:solidFill>
                  <a:srgbClr val="000000"/>
                </a:solidFill>
                <a:highlight>
                  <a:srgbClr val="FFFFFF"/>
                </a:highlight>
                <a:latin typeface="Consolas" panose="020B0609020204030204" pitchFamily="49" charset="0"/>
              </a:rPr>
              <a:t> Fax(</a:t>
            </a:r>
            <a:r>
              <a:rPr lang="en-IN" sz="900" dirty="0">
                <a:solidFill>
                  <a:srgbClr val="0000FF"/>
                </a:solidFill>
                <a:highlight>
                  <a:srgbClr val="FFFFFF"/>
                </a:highlight>
                <a:latin typeface="Consolas" panose="020B0609020204030204" pitchFamily="49" charset="0"/>
              </a:rPr>
              <a:t>string</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FaxContent</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throw</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NotImplementedException</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public</a:t>
            </a:r>
            <a:r>
              <a:rPr lang="en-US" sz="900" dirty="0">
                <a:solidFill>
                  <a:srgbClr val="000000"/>
                </a:solidFill>
                <a:highlight>
                  <a:srgbClr val="FFFFFF"/>
                </a:highlight>
                <a:latin typeface="Consolas" panose="020B0609020204030204" pitchFamily="49" charset="0"/>
              </a:rPr>
              <a:t> </a:t>
            </a:r>
            <a:r>
              <a:rPr lang="en-US" sz="900" dirty="0">
                <a:solidFill>
                  <a:srgbClr val="0000FF"/>
                </a:solidFill>
                <a:highlight>
                  <a:srgbClr val="FFFFFF"/>
                </a:highlight>
                <a:latin typeface="Consolas" panose="020B0609020204030204" pitchFamily="49" charset="0"/>
              </a:rPr>
              <a:t>void</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PrintDuplex</a:t>
            </a:r>
            <a:r>
              <a:rPr lang="en-US" sz="900" dirty="0">
                <a:solidFill>
                  <a:srgbClr val="000000"/>
                </a:solidFill>
                <a:highlight>
                  <a:srgbClr val="FFFFFF"/>
                </a:highlight>
                <a:latin typeface="Consolas" panose="020B0609020204030204" pitchFamily="49" charset="0"/>
              </a:rPr>
              <a:t>(</a:t>
            </a:r>
            <a:r>
              <a:rPr lang="en-US" sz="900" dirty="0">
                <a:solidFill>
                  <a:srgbClr val="0000FF"/>
                </a:solidFill>
                <a:highlight>
                  <a:srgbClr val="FFFFFF"/>
                </a:highlight>
                <a:latin typeface="Consolas" panose="020B0609020204030204" pitchFamily="49" charset="0"/>
              </a:rPr>
              <a:t>string</a:t>
            </a:r>
            <a:r>
              <a:rPr lang="en-US" sz="900" dirty="0">
                <a:solidFill>
                  <a:srgbClr val="000000"/>
                </a:solidFill>
                <a:highlight>
                  <a:srgbClr val="FFFFFF"/>
                </a:highlight>
                <a:latin typeface="Consolas" panose="020B0609020204030204" pitchFamily="49" charset="0"/>
              </a:rPr>
              <a:t> </a:t>
            </a:r>
            <a:r>
              <a:rPr lang="en-US" sz="900" dirty="0" err="1">
                <a:solidFill>
                  <a:srgbClr val="000000"/>
                </a:solidFill>
                <a:highlight>
                  <a:srgbClr val="FFFFFF"/>
                </a:highlight>
                <a:latin typeface="Consolas" panose="020B0609020204030204" pitchFamily="49" charset="0"/>
              </a:rPr>
              <a:t>PrintDuplexContent</a:t>
            </a:r>
            <a:r>
              <a:rPr lang="en-US"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throw</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new</a:t>
            </a:r>
            <a:r>
              <a:rPr lang="en-IN" sz="900" dirty="0">
                <a:solidFill>
                  <a:srgbClr val="000000"/>
                </a:solidFill>
                <a:highlight>
                  <a:srgbClr val="FFFFFF"/>
                </a:highlight>
                <a:latin typeface="Consolas" panose="020B0609020204030204" pitchFamily="49" charset="0"/>
              </a:rPr>
              <a:t> </a:t>
            </a:r>
            <a:r>
              <a:rPr lang="en-IN" sz="900" dirty="0" err="1">
                <a:solidFill>
                  <a:srgbClr val="000000"/>
                </a:solidFill>
                <a:highlight>
                  <a:srgbClr val="FFFFFF"/>
                </a:highlight>
                <a:latin typeface="Consolas" panose="020B0609020204030204" pitchFamily="49" charset="0"/>
              </a:rPr>
              <a:t>NotImplementedException</a:t>
            </a:r>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endParaRPr lang="en-IN" dirty="0"/>
          </a:p>
        </p:txBody>
      </p:sp>
    </p:spTree>
    <p:extLst>
      <p:ext uri="{BB962C8B-B14F-4D97-AF65-F5344CB8AC3E}">
        <p14:creationId xmlns:p14="http://schemas.microsoft.com/office/powerpoint/2010/main" val="1442792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4736B5C-ED05-45E8-9E12-B0790D7AF2AD}"/>
              </a:ext>
            </a:extLst>
          </p:cNvPr>
          <p:cNvSpPr txBox="1"/>
          <p:nvPr/>
        </p:nvSpPr>
        <p:spPr>
          <a:xfrm>
            <a:off x="83127" y="0"/>
            <a:ext cx="6096000" cy="369332"/>
          </a:xfrm>
          <a:prstGeom prst="rect">
            <a:avLst/>
          </a:prstGeom>
          <a:noFill/>
        </p:spPr>
        <p:txBody>
          <a:bodyPr wrap="square">
            <a:spAutoFit/>
          </a:bodyPr>
          <a:lstStyle/>
          <a:p>
            <a:pPr algn="l" fontAlgn="base"/>
            <a:r>
              <a:rPr lang="en-US" b="1" i="0" dirty="0">
                <a:solidFill>
                  <a:srgbClr val="000000"/>
                </a:solidFill>
                <a:effectLst/>
                <a:latin typeface="arial" panose="020B0604020202020204" pitchFamily="34" charset="0"/>
              </a:rPr>
              <a:t>Example using the Interface Segregation Principle:</a:t>
            </a:r>
            <a:endParaRPr lang="en-US" b="0" i="0" dirty="0">
              <a:solidFill>
                <a:srgbClr val="3A3A3A"/>
              </a:solidFill>
              <a:effectLst/>
              <a:latin typeface="-apple-system"/>
            </a:endParaRPr>
          </a:p>
        </p:txBody>
      </p:sp>
      <p:sp>
        <p:nvSpPr>
          <p:cNvPr id="9" name="TextBox 8">
            <a:extLst>
              <a:ext uri="{FF2B5EF4-FFF2-40B4-BE49-F238E27FC236}">
                <a16:creationId xmlns:a16="http://schemas.microsoft.com/office/drawing/2014/main" id="{00F09A9F-3011-401F-9E7D-9FE424C616EC}"/>
              </a:ext>
            </a:extLst>
          </p:cNvPr>
          <p:cNvSpPr txBox="1"/>
          <p:nvPr/>
        </p:nvSpPr>
        <p:spPr>
          <a:xfrm>
            <a:off x="221672" y="184666"/>
            <a:ext cx="6096000" cy="6694140"/>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SOLID_PRINCIPLES.ISP</a:t>
            </a:r>
          </a:p>
          <a:p>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interface</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IPrinterTasks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Print(</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PrintContent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Scan(</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ScanContent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interface</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IFaxTasks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Fax(</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content);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interface</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IPrintDuplexTasks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PrintDuplex</a:t>
            </a:r>
            <a:r>
              <a:rPr lang="en-IN" sz="1100" dirty="0">
                <a:solidFill>
                  <a:srgbClr val="000000"/>
                </a:solidFill>
                <a:highlight>
                  <a:srgbClr val="FFFFFF"/>
                </a:highlight>
                <a:latin typeface="Consolas" panose="020B0609020204030204" pitchFamily="49" charset="0"/>
              </a:rPr>
              <a:t>(</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content);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p>
          <a:p>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SOLID_PRINCIPLES.ISP</a:t>
            </a:r>
          </a:p>
          <a:p>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HPLaserJetPrinter</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IPrinterTasks</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IFaxTasks</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IPrintDuplexTasks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Print(</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PrintContent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Console.WriteLine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"Print Done"</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Scan(</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ScanContent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Console.WriteLine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"Scan 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void</a:t>
            </a:r>
            <a:r>
              <a:rPr lang="en-IN" sz="1100" dirty="0">
                <a:solidFill>
                  <a:srgbClr val="000000"/>
                </a:solidFill>
                <a:highlight>
                  <a:srgbClr val="FFFFFF"/>
                </a:highlight>
                <a:latin typeface="Consolas" panose="020B0609020204030204" pitchFamily="49" charset="0"/>
              </a:rPr>
              <a:t> Fax(</a:t>
            </a:r>
            <a:r>
              <a:rPr lang="en-IN" sz="1100" dirty="0">
                <a:solidFill>
                  <a:srgbClr val="0000FF"/>
                </a:solidFill>
                <a:highlight>
                  <a:srgbClr val="FFFFFF"/>
                </a:highlight>
                <a:latin typeface="Consolas" panose="020B0609020204030204" pitchFamily="49" charset="0"/>
              </a:rPr>
              <a:t>string</a:t>
            </a:r>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FaxContent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err="1">
                <a:solidFill>
                  <a:srgbClr val="000000"/>
                </a:solidFill>
                <a:highlight>
                  <a:srgbClr val="FFFFFF"/>
                </a:highlight>
                <a:latin typeface="Consolas" panose="020B0609020204030204" pitchFamily="49" charset="0"/>
              </a:rPr>
              <a:t>Console.WriteLine</a:t>
            </a:r>
            <a:r>
              <a:rPr lang="en-IN" sz="1100" dirty="0">
                <a:solidFill>
                  <a:srgbClr val="000000"/>
                </a:solidFill>
                <a:highlight>
                  <a:srgbClr val="FFFFFF"/>
                </a:highlight>
                <a:latin typeface="Consolas" panose="020B0609020204030204" pitchFamily="49" charset="0"/>
              </a:rPr>
              <a:t>(</a:t>
            </a:r>
            <a:r>
              <a:rPr lang="en-IN" sz="1100" dirty="0">
                <a:solidFill>
                  <a:srgbClr val="A31515"/>
                </a:solidFill>
                <a:highlight>
                  <a:srgbClr val="FFFFFF"/>
                </a:highlight>
                <a:latin typeface="Consolas" panose="020B0609020204030204" pitchFamily="49" charset="0"/>
              </a:rPr>
              <a:t>"Fax content"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void</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PrintDuplex</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string</a:t>
            </a:r>
            <a:r>
              <a:rPr lang="en-US" sz="1100" dirty="0">
                <a:solidFill>
                  <a:srgbClr val="000000"/>
                </a:solidFill>
                <a:highlight>
                  <a:srgbClr val="FFFFFF"/>
                </a:highlight>
                <a:latin typeface="Consolas" panose="020B0609020204030204" pitchFamily="49" charset="0"/>
              </a:rPr>
              <a:t> </a:t>
            </a:r>
            <a:r>
              <a:rPr lang="en-US" sz="1100" dirty="0" err="1">
                <a:solidFill>
                  <a:srgbClr val="000000"/>
                </a:solidFill>
                <a:highlight>
                  <a:srgbClr val="FFFFFF"/>
                </a:highlight>
                <a:latin typeface="Consolas" panose="020B0609020204030204" pitchFamily="49" charset="0"/>
              </a:rPr>
              <a:t>PrintDuplexContent</a:t>
            </a:r>
            <a:r>
              <a:rPr lang="en-US"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fr-FR" sz="1100" dirty="0">
                <a:solidFill>
                  <a:srgbClr val="000000"/>
                </a:solidFill>
                <a:highlight>
                  <a:srgbClr val="FFFFFF"/>
                </a:highlight>
                <a:latin typeface="Consolas" panose="020B0609020204030204" pitchFamily="49" charset="0"/>
              </a:rPr>
              <a:t>            Console.WriteLine(</a:t>
            </a:r>
            <a:r>
              <a:rPr lang="fr-FR" sz="1100" dirty="0">
                <a:solidFill>
                  <a:srgbClr val="A31515"/>
                </a:solidFill>
                <a:highlight>
                  <a:srgbClr val="FFFFFF"/>
                </a:highlight>
                <a:latin typeface="Consolas" panose="020B0609020204030204" pitchFamily="49" charset="0"/>
              </a:rPr>
              <a:t>"Print Duplex content"</a:t>
            </a:r>
            <a:r>
              <a:rPr lang="fr-FR"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endParaRPr lang="en-IN" sz="2800" dirty="0"/>
          </a:p>
        </p:txBody>
      </p:sp>
      <p:sp>
        <p:nvSpPr>
          <p:cNvPr id="11" name="TextBox 10">
            <a:extLst>
              <a:ext uri="{FF2B5EF4-FFF2-40B4-BE49-F238E27FC236}">
                <a16:creationId xmlns:a16="http://schemas.microsoft.com/office/drawing/2014/main" id="{703A3D96-C024-42AD-97CE-4792F410156A}"/>
              </a:ext>
            </a:extLst>
          </p:cNvPr>
          <p:cNvSpPr txBox="1"/>
          <p:nvPr/>
        </p:nvSpPr>
        <p:spPr>
          <a:xfrm>
            <a:off x="6640945" y="369332"/>
            <a:ext cx="6096000" cy="251607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namespace</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SOLID_PRINCIPLES.ISP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LiquidInkjetPrinter</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IPrinterTasks</a:t>
            </a:r>
            <a:endPar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Print(</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PrintContent</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Console.WriteLine</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05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"Print Done"</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void</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Scan(</a:t>
            </a:r>
            <a:r>
              <a:rPr kumimoji="0" lang="en-IN" sz="105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string</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ScanContent</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05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Console.WriteLine</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IN" sz="105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"Scan content"</a:t>
            </a: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endParaRPr lang="en-IN" sz="2400" dirty="0"/>
          </a:p>
        </p:txBody>
      </p:sp>
    </p:spTree>
    <p:extLst>
      <p:ext uri="{BB962C8B-B14F-4D97-AF65-F5344CB8AC3E}">
        <p14:creationId xmlns:p14="http://schemas.microsoft.com/office/powerpoint/2010/main" val="35225836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7EDF05F-9B63-4878-88AF-35EF11ABA8D5}"/>
              </a:ext>
            </a:extLst>
          </p:cNvPr>
          <p:cNvSpPr>
            <a:spLocks noGrp="1"/>
          </p:cNvSpPr>
          <p:nvPr>
            <p:ph idx="1"/>
          </p:nvPr>
        </p:nvSpPr>
        <p:spPr>
          <a:xfrm>
            <a:off x="240145" y="166255"/>
            <a:ext cx="11702473" cy="3833090"/>
          </a:xfrm>
        </p:spPr>
        <p:txBody>
          <a:bodyPr>
            <a:normAutofit fontScale="77500" lnSpcReduction="20000"/>
          </a:bodyPr>
          <a:lstStyle/>
          <a:p>
            <a:pPr marL="0" indent="0">
              <a:buNone/>
            </a:pPr>
            <a:r>
              <a:rPr lang="en-US" dirty="0"/>
              <a:t>The Dependency Inversion Principle (DIP) states that high-level modules/classes should not depend on low-level modules/classes. Both should depend upon abstractions. </a:t>
            </a:r>
          </a:p>
          <a:p>
            <a:pPr marL="0" indent="0">
              <a:buNone/>
            </a:pPr>
            <a:endParaRPr lang="en-US" dirty="0"/>
          </a:p>
          <a:p>
            <a:pPr marL="0" indent="0">
              <a:buNone/>
            </a:pPr>
            <a:r>
              <a:rPr lang="en-US" dirty="0"/>
              <a:t>Secondly, abstractions should not depend upon details. Details should depend upon abstractions.</a:t>
            </a:r>
          </a:p>
          <a:p>
            <a:pPr marL="0" indent="0">
              <a:buNone/>
            </a:pPr>
            <a:endParaRPr lang="en-US" dirty="0"/>
          </a:p>
          <a:p>
            <a:pPr marL="0" indent="0">
              <a:buNone/>
            </a:pPr>
            <a:r>
              <a:rPr lang="en-US" dirty="0"/>
              <a:t>The most important point that you need to remember while developing real-time applications, always to try to keep the High-level module and Low-level module as loosely coupled as possible.</a:t>
            </a:r>
          </a:p>
          <a:p>
            <a:pPr marL="0" indent="0">
              <a:buNone/>
            </a:pPr>
            <a:endParaRPr lang="en-US" dirty="0"/>
          </a:p>
          <a:p>
            <a:pPr marL="0" indent="0">
              <a:buNone/>
            </a:pPr>
            <a:r>
              <a:rPr lang="en-US" dirty="0"/>
              <a:t>When a class knows about the design and implementation of another class, it raises the risk that if we do any changes to one class will break the other class. So we must keep these high-level and low-level modules/classes loosely coupled as much as possible. To do that, we need to make both of them dependent on abstractions instead of knowing each other.</a:t>
            </a:r>
            <a:endParaRPr lang="en-IN" dirty="0"/>
          </a:p>
        </p:txBody>
      </p:sp>
    </p:spTree>
    <p:extLst>
      <p:ext uri="{BB962C8B-B14F-4D97-AF65-F5344CB8AC3E}">
        <p14:creationId xmlns:p14="http://schemas.microsoft.com/office/powerpoint/2010/main" val="3325423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E77F489-9E6B-403B-9C1F-BD80FDF89646}"/>
              </a:ext>
            </a:extLst>
          </p:cNvPr>
          <p:cNvSpPr txBox="1"/>
          <p:nvPr/>
        </p:nvSpPr>
        <p:spPr>
          <a:xfrm>
            <a:off x="0" y="0"/>
            <a:ext cx="4572000" cy="5940088"/>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SOLID_PRINCIPLES.DIP</a:t>
            </a: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a:solidFill>
                  <a:srgbClr val="2B91AF"/>
                </a:solidFill>
                <a:highlight>
                  <a:srgbClr val="FFFFFF"/>
                </a:highlight>
                <a:latin typeface="Consolas" panose="020B0609020204030204" pitchFamily="49" charset="0"/>
              </a:rPr>
              <a:t>Employee</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ID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Name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string</a:t>
            </a:r>
            <a:r>
              <a:rPr lang="en-US" sz="1200" dirty="0">
                <a:solidFill>
                  <a:srgbClr val="000000"/>
                </a:solidFill>
                <a:highlight>
                  <a:srgbClr val="FFFFFF"/>
                </a:highlight>
                <a:latin typeface="Consolas" panose="020B0609020204030204" pitchFamily="49" charset="0"/>
              </a:rPr>
              <a:t> Department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Salary { </a:t>
            </a:r>
            <a:r>
              <a:rPr lang="en-US" sz="1200" dirty="0">
                <a:solidFill>
                  <a:srgbClr val="0000FF"/>
                </a:solidFill>
                <a:highlight>
                  <a:srgbClr val="FFFFFF"/>
                </a:highlight>
                <a:latin typeface="Consolas" panose="020B0609020204030204" pitchFamily="49" charset="0"/>
              </a:rPr>
              <a:t>get</a:t>
            </a:r>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set</a:t>
            </a:r>
            <a:r>
              <a:rPr lang="en-US"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p>
          <a:p>
            <a:endParaRPr lang="en-IN" sz="1200" dirty="0">
              <a:solidFill>
                <a:srgbClr val="000000"/>
              </a:solidFill>
              <a:highlight>
                <a:srgbClr val="FFFFFF"/>
              </a:highlight>
              <a:latin typeface="Consolas" panose="020B0609020204030204" pitchFamily="49" charset="0"/>
            </a:endParaRPr>
          </a:p>
          <a:p>
            <a:endParaRPr lang="en-IN" sz="1200" dirty="0">
              <a:solidFill>
                <a:srgbClr val="000000"/>
              </a:solidFill>
              <a:highlight>
                <a:srgbClr val="FFFFFF"/>
              </a:highlight>
              <a:latin typeface="Consolas" panose="020B0609020204030204" pitchFamily="49" charset="0"/>
            </a:endParaRPr>
          </a:p>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SOLID_PRINCIPLES.DIP</a:t>
            </a: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EmployeeBusinessLogic</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b="1" dirty="0" err="1">
                <a:solidFill>
                  <a:srgbClr val="000000"/>
                </a:solidFill>
                <a:highlight>
                  <a:srgbClr val="FFFFFF"/>
                </a:highlight>
                <a:latin typeface="Consolas" panose="020B0609020204030204" pitchFamily="49" charset="0"/>
              </a:rPr>
              <a:t>EmployeeDataAccess</a:t>
            </a:r>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EmployeeDataAccess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EmployeeBusinessLogic</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EmployeeDataAccess</a:t>
            </a:r>
            <a:r>
              <a:rPr lang="en-IN" sz="1200" dirty="0">
                <a:solidFill>
                  <a:srgbClr val="000000"/>
                </a:solidFill>
                <a:highlight>
                  <a:srgbClr val="FFFFFF"/>
                </a:highlight>
                <a:latin typeface="Consolas" panose="020B0609020204030204" pitchFamily="49" charset="0"/>
              </a:rPr>
              <a:t> = </a:t>
            </a:r>
            <a:r>
              <a:rPr lang="en-IN" sz="1200" i="1" dirty="0" err="1">
                <a:solidFill>
                  <a:srgbClr val="000000"/>
                </a:solidFill>
                <a:highlight>
                  <a:srgbClr val="FFFFFF"/>
                </a:highlight>
                <a:latin typeface="Consolas" panose="020B0609020204030204" pitchFamily="49" charset="0"/>
              </a:rPr>
              <a:t>DataAccessFactory.GetEmployeeDataAccessObj</a:t>
            </a:r>
            <a:r>
              <a:rPr lang="en-IN" sz="1200" i="1"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 </a:t>
            </a:r>
            <a:r>
              <a:rPr lang="en-US" sz="1200" dirty="0" err="1">
                <a:solidFill>
                  <a:srgbClr val="000000"/>
                </a:solidFill>
                <a:highlight>
                  <a:srgbClr val="FFFFFF"/>
                </a:highlight>
                <a:latin typeface="Consolas" panose="020B0609020204030204" pitchFamily="49" charset="0"/>
              </a:rPr>
              <a:t>GetEmployeeDetails</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id)</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EmployeeDataAccess.GetEmployeeDetails</a:t>
            </a:r>
            <a:r>
              <a:rPr lang="en-IN" sz="1200" dirty="0">
                <a:solidFill>
                  <a:srgbClr val="000000"/>
                </a:solidFill>
                <a:highlight>
                  <a:srgbClr val="FFFFFF"/>
                </a:highlight>
                <a:latin typeface="Consolas" panose="020B0609020204030204" pitchFamily="49" charset="0"/>
              </a:rPr>
              <a:t>(id);</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p>
          <a:p>
            <a:endParaRPr lang="en-IN" sz="3200" dirty="0"/>
          </a:p>
        </p:txBody>
      </p:sp>
      <p:sp>
        <p:nvSpPr>
          <p:cNvPr id="7" name="TextBox 6">
            <a:extLst>
              <a:ext uri="{FF2B5EF4-FFF2-40B4-BE49-F238E27FC236}">
                <a16:creationId xmlns:a16="http://schemas.microsoft.com/office/drawing/2014/main" id="{0A6C6637-6D3F-4961-AB37-9C4A04CEC531}"/>
              </a:ext>
            </a:extLst>
          </p:cNvPr>
          <p:cNvSpPr txBox="1"/>
          <p:nvPr/>
        </p:nvSpPr>
        <p:spPr>
          <a:xfrm>
            <a:off x="4442691" y="215444"/>
            <a:ext cx="5061527" cy="550920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namespace</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SOLID_PRINCIPLES.DIP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DataAccessFactory</a:t>
            </a:r>
            <a:endPar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static</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EmployeeDataAccess</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1"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GetEmployeeDataAccessObj</a:t>
            </a:r>
            <a:r>
              <a:rPr kumimoji="0" lang="en-IN" sz="1100" b="0" i="1"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EmployeeDataAccess</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100" dirty="0">
              <a:solidFill>
                <a:srgbClr val="000000"/>
              </a:solidFill>
              <a:highlight>
                <a:srgbClr val="FFFFFF"/>
              </a:highlight>
              <a:latin typeface="Consolas" panose="020B06090202040302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namespace</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SOLID_PRINCIPLES.DIP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class</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1"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EmployeeDataAccess</a:t>
            </a:r>
            <a:endParaRPr kumimoji="0" lang="en-IN" sz="1100" b="1"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public</a:t>
            </a:r>
            <a:r>
              <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Employee </a:t>
            </a:r>
            <a:r>
              <a:rPr kumimoji="0" lang="en-US" sz="1100" b="0" i="0" u="none" strike="noStrike" kern="1200" cap="none" spc="0" normalizeH="0" baseline="0" noProof="0" dirty="0" err="1">
                <a:ln>
                  <a:noFill/>
                </a:ln>
                <a:solidFill>
                  <a:srgbClr val="000000"/>
                </a:solidFill>
                <a:effectLst/>
                <a:highlight>
                  <a:srgbClr val="FFFFFF"/>
                </a:highlight>
                <a:uLnTx/>
                <a:uFillTx/>
                <a:latin typeface="Consolas" panose="020B0609020204030204" pitchFamily="49" charset="0"/>
                <a:ea typeface="+mn-ea"/>
                <a:cs typeface="+mn-cs"/>
              </a:rPr>
              <a:t>GetEmployeeDetails</a:t>
            </a:r>
            <a:r>
              <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r>
              <a:rPr kumimoji="0" lang="en-US"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int</a:t>
            </a:r>
            <a:r>
              <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1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 In real time get the employee details from </a:t>
            </a:r>
            <a:r>
              <a:rPr kumimoji="0" lang="en-US" sz="1100" b="0" i="0" u="none" strike="noStrike" kern="1200" cap="none" spc="0" normalizeH="0" baseline="0" noProof="0" dirty="0" err="1">
                <a:ln>
                  <a:noFill/>
                </a:ln>
                <a:solidFill>
                  <a:srgbClr val="008000"/>
                </a:solidFill>
                <a:effectLst/>
                <a:highlight>
                  <a:srgbClr val="FFFFFF"/>
                </a:highlight>
                <a:uLnTx/>
                <a:uFillTx/>
                <a:latin typeface="Consolas" panose="020B0609020204030204" pitchFamily="49" charset="0"/>
                <a:ea typeface="+mn-ea"/>
                <a:cs typeface="+mn-cs"/>
              </a:rPr>
              <a:t>db</a:t>
            </a:r>
            <a:endPar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US" sz="1100" b="0" i="0" u="none" strike="noStrike" kern="1200" cap="none" spc="0" normalizeH="0" baseline="0" noProof="0" dirty="0">
                <a:ln>
                  <a:noFill/>
                </a:ln>
                <a:solidFill>
                  <a:srgbClr val="008000"/>
                </a:solidFill>
                <a:effectLst/>
                <a:highlight>
                  <a:srgbClr val="FFFFFF"/>
                </a:highlight>
                <a:uLnTx/>
                <a:uFillTx/>
                <a:latin typeface="Consolas" panose="020B0609020204030204" pitchFamily="49" charset="0"/>
                <a:ea typeface="+mn-ea"/>
                <a:cs typeface="+mn-cs"/>
              </a:rPr>
              <a:t>//but here we are hard coded the employee details</a:t>
            </a:r>
            <a:endParaRPr kumimoji="0" lang="en-US"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Employee emp =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new</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Employee()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ID = id,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Name = </a:t>
            </a:r>
            <a:r>
              <a:rPr kumimoji="0" lang="en-IN" sz="11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t>
            </a:r>
            <a:r>
              <a:rPr kumimoji="0" lang="en-IN" sz="1100" b="0" i="0" u="none" strike="noStrike" kern="1200" cap="none" spc="0" normalizeH="0" baseline="0" noProof="0" dirty="0" err="1">
                <a:ln>
                  <a:noFill/>
                </a:ln>
                <a:solidFill>
                  <a:srgbClr val="A31515"/>
                </a:solidFill>
                <a:effectLst/>
                <a:highlight>
                  <a:srgbClr val="FFFFFF"/>
                </a:highlight>
                <a:uLnTx/>
                <a:uFillTx/>
                <a:latin typeface="Consolas" panose="020B0609020204030204" pitchFamily="49" charset="0"/>
                <a:ea typeface="+mn-ea"/>
                <a:cs typeface="+mn-cs"/>
              </a:rPr>
              <a:t>Pranaya</a:t>
            </a:r>
            <a:r>
              <a:rPr kumimoji="0" lang="en-IN" sz="11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Department = </a:t>
            </a:r>
            <a:r>
              <a:rPr kumimoji="0" lang="en-IN" sz="1100" b="0" i="0" u="none" strike="noStrike" kern="1200" cap="none" spc="0" normalizeH="0" baseline="0" noProof="0" dirty="0">
                <a:ln>
                  <a:noFill/>
                </a:ln>
                <a:solidFill>
                  <a:srgbClr val="A31515"/>
                </a:solidFill>
                <a:effectLst/>
                <a:highlight>
                  <a:srgbClr val="FFFFFF"/>
                </a:highlight>
                <a:uLnTx/>
                <a:uFillTx/>
                <a:latin typeface="Consolas" panose="020B0609020204030204" pitchFamily="49" charset="0"/>
                <a:ea typeface="+mn-ea"/>
                <a:cs typeface="+mn-cs"/>
              </a:rPr>
              <a:t>"IT"</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Salary = 10000</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r>
              <a:rPr kumimoji="0" lang="en-IN" sz="1100" b="0" i="0" u="none" strike="noStrike" kern="1200" cap="none" spc="0" normalizeH="0" baseline="0" noProof="0" dirty="0">
                <a:ln>
                  <a:noFill/>
                </a:ln>
                <a:solidFill>
                  <a:srgbClr val="0000FF"/>
                </a:solidFill>
                <a:effectLst/>
                <a:highlight>
                  <a:srgbClr val="FFFFFF"/>
                </a:highlight>
                <a:uLnTx/>
                <a:uFillTx/>
                <a:latin typeface="Consolas" panose="020B0609020204030204" pitchFamily="49" charset="0"/>
                <a:ea typeface="+mn-ea"/>
                <a:cs typeface="+mn-cs"/>
              </a:rPr>
              <a:t>return</a:t>
            </a: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emp;</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0" u="none" strike="noStrike" kern="1200" cap="none" spc="0" normalizeH="0" baseline="0" noProof="0" dirty="0">
                <a:ln>
                  <a:noFill/>
                </a:ln>
                <a:solidFill>
                  <a:srgbClr val="000000"/>
                </a:solidFill>
                <a:effectLst/>
                <a:highlight>
                  <a:srgbClr val="FFFFFF"/>
                </a:highlight>
                <a:uLnTx/>
                <a:uFillTx/>
                <a:latin typeface="Consolas" panose="020B0609020204030204" pitchFamily="49" charset="0"/>
                <a:ea typeface="+mn-ea"/>
                <a:cs typeface="+mn-cs"/>
              </a:rPr>
              <a:t>}</a:t>
            </a:r>
            <a:endParaRPr lang="en-IN" sz="2800" dirty="0"/>
          </a:p>
        </p:txBody>
      </p:sp>
      <p:sp>
        <p:nvSpPr>
          <p:cNvPr id="9" name="TextBox 8">
            <a:extLst>
              <a:ext uri="{FF2B5EF4-FFF2-40B4-BE49-F238E27FC236}">
                <a16:creationId xmlns:a16="http://schemas.microsoft.com/office/drawing/2014/main" id="{71A19B51-06B0-4DD7-BBA6-5139C1F44D40}"/>
              </a:ext>
            </a:extLst>
          </p:cNvPr>
          <p:cNvSpPr txBox="1"/>
          <p:nvPr/>
        </p:nvSpPr>
        <p:spPr>
          <a:xfrm>
            <a:off x="0" y="6119728"/>
            <a:ext cx="12025745" cy="738664"/>
          </a:xfrm>
          <a:prstGeom prst="rect">
            <a:avLst/>
          </a:prstGeom>
          <a:noFill/>
        </p:spPr>
        <p:txBody>
          <a:bodyPr wrap="square">
            <a:spAutoFit/>
          </a:bodyPr>
          <a:lstStyle/>
          <a:p>
            <a:pPr algn="l" fontAlgn="base"/>
            <a:r>
              <a:rPr lang="en-US" sz="1400" b="1" i="0" dirty="0">
                <a:solidFill>
                  <a:srgbClr val="000000"/>
                </a:solidFill>
                <a:effectLst/>
                <a:latin typeface="arial" panose="020B0604020202020204" pitchFamily="34" charset="0"/>
              </a:rPr>
              <a:t>Let us compare the above example with the Dependency Inversion Principle in C#</a:t>
            </a:r>
            <a:endParaRPr lang="en-US" sz="1400" b="0" i="0" dirty="0">
              <a:solidFill>
                <a:srgbClr val="3A3A3A"/>
              </a:solidFill>
              <a:effectLst/>
              <a:latin typeface="-apple-system"/>
            </a:endParaRPr>
          </a:p>
          <a:p>
            <a:pPr algn="just" fontAlgn="base"/>
            <a:r>
              <a:rPr lang="en-US" sz="1400" b="0" i="0" dirty="0">
                <a:solidFill>
                  <a:srgbClr val="000000"/>
                </a:solidFill>
                <a:effectLst/>
                <a:latin typeface="arial" panose="020B0604020202020204" pitchFamily="34" charset="0"/>
              </a:rPr>
              <a:t>As per the </a:t>
            </a:r>
            <a:r>
              <a:rPr lang="en-US" sz="1400" b="1" i="0" dirty="0">
                <a:solidFill>
                  <a:srgbClr val="000000"/>
                </a:solidFill>
                <a:effectLst/>
                <a:latin typeface="arial" panose="020B0604020202020204" pitchFamily="34" charset="0"/>
              </a:rPr>
              <a:t>Dependency Inversion Principle </a:t>
            </a:r>
            <a:r>
              <a:rPr lang="en-US" sz="1400" b="0" i="0" dirty="0">
                <a:solidFill>
                  <a:srgbClr val="000000"/>
                </a:solidFill>
                <a:effectLst/>
                <a:latin typeface="arial" panose="020B0604020202020204" pitchFamily="34" charset="0"/>
              </a:rPr>
              <a:t>definition</a:t>
            </a:r>
            <a:r>
              <a:rPr lang="en-US" sz="1400" b="1" i="0" dirty="0">
                <a:solidFill>
                  <a:srgbClr val="000000"/>
                </a:solidFill>
                <a:effectLst/>
                <a:latin typeface="arial" panose="020B0604020202020204" pitchFamily="34" charset="0"/>
              </a:rPr>
              <a:t>, </a:t>
            </a:r>
            <a:r>
              <a:rPr lang="en-US" sz="1400" b="1" i="0" dirty="0">
                <a:solidFill>
                  <a:srgbClr val="0000FF"/>
                </a:solidFill>
                <a:effectLst/>
                <a:latin typeface="arial" panose="020B0604020202020204" pitchFamily="34" charset="0"/>
              </a:rPr>
              <a:t>“a high-level module should not depend on low-level modules. Both should depend on the abstraction”.</a:t>
            </a:r>
            <a:endParaRPr lang="en-US" sz="1400" b="0" i="0" dirty="0">
              <a:solidFill>
                <a:srgbClr val="212529"/>
              </a:solidFill>
              <a:effectLst/>
              <a:latin typeface="-apple-system"/>
            </a:endParaRPr>
          </a:p>
        </p:txBody>
      </p:sp>
      <p:cxnSp>
        <p:nvCxnSpPr>
          <p:cNvPr id="3" name="Straight Arrow Connector 2">
            <a:extLst>
              <a:ext uri="{FF2B5EF4-FFF2-40B4-BE49-F238E27FC236}">
                <a16:creationId xmlns:a16="http://schemas.microsoft.com/office/drawing/2014/main" id="{C7330112-6DB8-4456-9742-F4BF87E53668}"/>
              </a:ext>
            </a:extLst>
          </p:cNvPr>
          <p:cNvCxnSpPr/>
          <p:nvPr/>
        </p:nvCxnSpPr>
        <p:spPr>
          <a:xfrm flipV="1">
            <a:off x="3703782" y="1339273"/>
            <a:ext cx="1089891" cy="23922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5346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6B5B8BD-FA5F-40F9-96E8-5F05BDBC78C6}"/>
              </a:ext>
            </a:extLst>
          </p:cNvPr>
          <p:cNvSpPr>
            <a:spLocks noGrp="1"/>
          </p:cNvSpPr>
          <p:nvPr>
            <p:ph idx="1"/>
          </p:nvPr>
        </p:nvSpPr>
        <p:spPr>
          <a:xfrm>
            <a:off x="277091" y="101600"/>
            <a:ext cx="11076709" cy="4184073"/>
          </a:xfrm>
        </p:spPr>
        <p:txBody>
          <a:bodyPr>
            <a:normAutofit/>
          </a:bodyPr>
          <a:lstStyle/>
          <a:p>
            <a:r>
              <a:rPr lang="en-US" sz="2000" dirty="0"/>
              <a:t>As per the Dependency Inversion Principle definition, “a high-level module should not depend on low-level modules. Both should depend on the abstraction”.</a:t>
            </a:r>
          </a:p>
          <a:p>
            <a:endParaRPr lang="en-US" sz="2000" dirty="0"/>
          </a:p>
          <a:p>
            <a:r>
              <a:rPr lang="en-US" sz="2000" dirty="0"/>
              <a:t>So, first, we need to figure out which one is the high-level module (class) and which one is the low-level module (class) in our example. A high-level module is a module that always depends on other modules. So, in our example, the </a:t>
            </a:r>
            <a:r>
              <a:rPr lang="en-US" sz="2000" dirty="0" err="1"/>
              <a:t>EmployeeBusinessLogic</a:t>
            </a:r>
            <a:r>
              <a:rPr lang="en-US" sz="2000" dirty="0"/>
              <a:t> class depends on </a:t>
            </a:r>
            <a:r>
              <a:rPr lang="en-US" sz="2000" dirty="0" err="1"/>
              <a:t>EmployeeDataAccess</a:t>
            </a:r>
            <a:r>
              <a:rPr lang="en-US" sz="2000" dirty="0"/>
              <a:t> class, so here the </a:t>
            </a:r>
            <a:r>
              <a:rPr lang="en-US" sz="2000" dirty="0" err="1"/>
              <a:t>EmployeeBusinessLogic</a:t>
            </a:r>
            <a:r>
              <a:rPr lang="en-US" sz="2000" dirty="0"/>
              <a:t> class is the high-level module and the </a:t>
            </a:r>
            <a:r>
              <a:rPr lang="en-US" sz="2000" dirty="0" err="1"/>
              <a:t>EmployeeDataAccess</a:t>
            </a:r>
            <a:r>
              <a:rPr lang="en-US" sz="2000" dirty="0"/>
              <a:t> class is the low-level module.</a:t>
            </a:r>
          </a:p>
          <a:p>
            <a:endParaRPr lang="en-US" sz="2000" dirty="0"/>
          </a:p>
          <a:p>
            <a:r>
              <a:rPr lang="en-US" sz="2000" dirty="0"/>
              <a:t>So, as per the first rule of the Dependency Inversion Principle in C#, the </a:t>
            </a:r>
            <a:r>
              <a:rPr lang="en-US" sz="2000" dirty="0" err="1"/>
              <a:t>EmployeeBusinessLogic</a:t>
            </a:r>
            <a:r>
              <a:rPr lang="en-US" sz="2000" dirty="0"/>
              <a:t> class/module should not depend on the concrete </a:t>
            </a:r>
            <a:r>
              <a:rPr lang="en-US" sz="2000" dirty="0" err="1"/>
              <a:t>EmployeeDataAccess</a:t>
            </a:r>
            <a:r>
              <a:rPr lang="en-US" sz="2000" dirty="0"/>
              <a:t> class/module, instead, both the classes should depend on abstraction.</a:t>
            </a:r>
            <a:endParaRPr lang="en-IN" sz="2000" dirty="0"/>
          </a:p>
        </p:txBody>
      </p:sp>
      <p:sp>
        <p:nvSpPr>
          <p:cNvPr id="5" name="TextBox 4">
            <a:extLst>
              <a:ext uri="{FF2B5EF4-FFF2-40B4-BE49-F238E27FC236}">
                <a16:creationId xmlns:a16="http://schemas.microsoft.com/office/drawing/2014/main" id="{B7320F4C-8958-4A4B-959F-7CEDF266AC7D}"/>
              </a:ext>
            </a:extLst>
          </p:cNvPr>
          <p:cNvSpPr txBox="1"/>
          <p:nvPr/>
        </p:nvSpPr>
        <p:spPr>
          <a:xfrm>
            <a:off x="527627" y="5001644"/>
            <a:ext cx="11076708" cy="646331"/>
          </a:xfrm>
          <a:prstGeom prst="rect">
            <a:avLst/>
          </a:prstGeom>
          <a:noFill/>
        </p:spPr>
        <p:txBody>
          <a:bodyPr wrap="square">
            <a:spAutoFit/>
          </a:bodyPr>
          <a:lstStyle/>
          <a:p>
            <a:r>
              <a:rPr lang="en-US" dirty="0"/>
              <a:t>The second rule of the Dependency Inversion Principle state that “Abstractions should not depend on details. Details should depend on abstractions”.</a:t>
            </a:r>
            <a:endParaRPr lang="en-IN" dirty="0"/>
          </a:p>
        </p:txBody>
      </p:sp>
    </p:spTree>
    <p:extLst>
      <p:ext uri="{BB962C8B-B14F-4D97-AF65-F5344CB8AC3E}">
        <p14:creationId xmlns:p14="http://schemas.microsoft.com/office/powerpoint/2010/main" val="23855383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D74B68D-01F6-4692-B1CD-4709FE85DAB2}"/>
              </a:ext>
            </a:extLst>
          </p:cNvPr>
          <p:cNvSpPr txBox="1"/>
          <p:nvPr/>
        </p:nvSpPr>
        <p:spPr>
          <a:xfrm>
            <a:off x="92364" y="0"/>
            <a:ext cx="11850254" cy="4247317"/>
          </a:xfrm>
          <a:prstGeom prst="rect">
            <a:avLst/>
          </a:prstGeom>
          <a:noFill/>
        </p:spPr>
        <p:txBody>
          <a:bodyPr wrap="square">
            <a:spAutoFit/>
          </a:bodyPr>
          <a:lstStyle/>
          <a:p>
            <a:pPr algn="just" fontAlgn="base"/>
            <a:r>
              <a:rPr lang="en-US" b="1" i="0" dirty="0">
                <a:solidFill>
                  <a:srgbClr val="000000"/>
                </a:solidFill>
                <a:effectLst/>
                <a:latin typeface="arial" panose="020B0604020202020204" pitchFamily="34" charset="0"/>
              </a:rPr>
              <a:t>What is Abstraction?</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In simple words, we can say that Abstraction means something which is non-concrete. So, abstraction in programming means we need to create either an interface or abstract class which is non-concrete so that we can not create an instance of it. In our example, the </a:t>
            </a:r>
            <a:r>
              <a:rPr lang="en-US" b="0" i="0" dirty="0" err="1">
                <a:solidFill>
                  <a:srgbClr val="000000"/>
                </a:solidFill>
                <a:effectLst/>
                <a:latin typeface="arial" panose="020B0604020202020204" pitchFamily="34" charset="0"/>
              </a:rPr>
              <a:t>EmployeeBusinessLogic</a:t>
            </a:r>
            <a:r>
              <a:rPr lang="en-US" b="0" i="0" dirty="0">
                <a:solidFill>
                  <a:srgbClr val="000000"/>
                </a:solidFill>
                <a:effectLst/>
                <a:latin typeface="arial" panose="020B0604020202020204" pitchFamily="34" charset="0"/>
              </a:rPr>
              <a:t> and </a:t>
            </a:r>
            <a:r>
              <a:rPr lang="en-US" b="0" i="0" dirty="0" err="1">
                <a:solidFill>
                  <a:srgbClr val="000000"/>
                </a:solidFill>
                <a:effectLst/>
                <a:latin typeface="arial" panose="020B0604020202020204" pitchFamily="34" charset="0"/>
              </a:rPr>
              <a:t>EmployeeDataAccess</a:t>
            </a:r>
            <a:r>
              <a:rPr lang="en-US" b="0" i="0" dirty="0">
                <a:solidFill>
                  <a:srgbClr val="000000"/>
                </a:solidFill>
                <a:effectLst/>
                <a:latin typeface="arial" panose="020B0604020202020204" pitchFamily="34" charset="0"/>
              </a:rPr>
              <a:t> are concrete classes that mean we can create objects of it.</a:t>
            </a:r>
            <a:endParaRPr lang="en-US" b="0" i="0" dirty="0">
              <a:solidFill>
                <a:srgbClr val="212529"/>
              </a:solidFill>
              <a:effectLst/>
              <a:latin typeface="-apple-system"/>
            </a:endParaRPr>
          </a:p>
          <a:p>
            <a:pPr algn="just" fontAlgn="base"/>
            <a:r>
              <a:rPr lang="en-US" b="0" i="0" dirty="0">
                <a:solidFill>
                  <a:srgbClr val="000000"/>
                </a:solidFill>
                <a:effectLst/>
                <a:latin typeface="arial" panose="020B0604020202020204" pitchFamily="34" charset="0"/>
              </a:rPr>
              <a:t>As per the Dependency Inversion Principle in C#, the </a:t>
            </a:r>
            <a:r>
              <a:rPr lang="en-US" b="0" i="0" dirty="0" err="1">
                <a:solidFill>
                  <a:srgbClr val="000000"/>
                </a:solidFill>
                <a:effectLst/>
                <a:latin typeface="arial" panose="020B0604020202020204" pitchFamily="34" charset="0"/>
              </a:rPr>
              <a:t>EmployeeBusinessLogic</a:t>
            </a:r>
            <a:r>
              <a:rPr lang="en-US" b="0" i="0" dirty="0">
                <a:solidFill>
                  <a:srgbClr val="000000"/>
                </a:solidFill>
                <a:effectLst/>
                <a:latin typeface="arial" panose="020B0604020202020204" pitchFamily="34" charset="0"/>
              </a:rPr>
              <a:t> (high-level module) should not depend on the concrete </a:t>
            </a:r>
            <a:r>
              <a:rPr lang="en-US" b="0" i="0" dirty="0" err="1">
                <a:solidFill>
                  <a:srgbClr val="000000"/>
                </a:solidFill>
                <a:effectLst/>
                <a:latin typeface="arial" panose="020B0604020202020204" pitchFamily="34" charset="0"/>
              </a:rPr>
              <a:t>EmployeeDataAccess</a:t>
            </a:r>
            <a:r>
              <a:rPr lang="en-US" b="0" i="0" dirty="0">
                <a:solidFill>
                  <a:srgbClr val="000000"/>
                </a:solidFill>
                <a:effectLst/>
                <a:latin typeface="arial" panose="020B0604020202020204" pitchFamily="34" charset="0"/>
              </a:rPr>
              <a:t> (low-level module) class. Both classes should depend on abstractions, meaning both classes should depend on either an interface or an abstract class.</a:t>
            </a:r>
            <a:endParaRPr lang="en-US" b="0" i="0" dirty="0">
              <a:solidFill>
                <a:srgbClr val="212529"/>
              </a:solidFill>
              <a:effectLst/>
              <a:latin typeface="-apple-system"/>
            </a:endParaRPr>
          </a:p>
          <a:p>
            <a:pPr algn="just" fontAlgn="base"/>
            <a:endParaRPr lang="en-US" b="1" i="0" dirty="0">
              <a:solidFill>
                <a:srgbClr val="000000"/>
              </a:solidFill>
              <a:effectLst/>
              <a:latin typeface="arial" panose="020B0604020202020204" pitchFamily="34" charset="0"/>
            </a:endParaRPr>
          </a:p>
          <a:p>
            <a:pPr algn="just" fontAlgn="base"/>
            <a:endParaRPr lang="en-US" b="1" dirty="0">
              <a:solidFill>
                <a:srgbClr val="000000"/>
              </a:solidFill>
              <a:latin typeface="arial" panose="020B0604020202020204" pitchFamily="34" charset="0"/>
            </a:endParaRPr>
          </a:p>
          <a:p>
            <a:pPr algn="just" fontAlgn="base"/>
            <a:r>
              <a:rPr lang="en-US" b="1" i="0" dirty="0">
                <a:solidFill>
                  <a:srgbClr val="000000"/>
                </a:solidFill>
                <a:effectLst/>
                <a:latin typeface="arial" panose="020B0604020202020204" pitchFamily="34" charset="0"/>
              </a:rPr>
              <a:t>What should be in the interface (or in the abstract class)?</a:t>
            </a:r>
            <a:endParaRPr lang="en-US" b="0" i="0" dirty="0">
              <a:solidFill>
                <a:srgbClr val="3A3A3A"/>
              </a:solidFill>
              <a:effectLst/>
              <a:latin typeface="-apple-system"/>
            </a:endParaRPr>
          </a:p>
          <a:p>
            <a:pPr algn="just" fontAlgn="base"/>
            <a:r>
              <a:rPr lang="en-US" b="0" i="0" dirty="0">
                <a:solidFill>
                  <a:srgbClr val="000000"/>
                </a:solidFill>
                <a:effectLst/>
                <a:latin typeface="arial" panose="020B0604020202020204" pitchFamily="34" charset="0"/>
              </a:rPr>
              <a:t>As you can see in the above example, the </a:t>
            </a:r>
            <a:r>
              <a:rPr lang="en-US" b="0" i="0" dirty="0" err="1">
                <a:solidFill>
                  <a:srgbClr val="000000"/>
                </a:solidFill>
                <a:effectLst/>
                <a:latin typeface="arial" panose="020B0604020202020204" pitchFamily="34" charset="0"/>
              </a:rPr>
              <a:t>EmployeeBusinessLogic</a:t>
            </a:r>
            <a:r>
              <a:rPr lang="en-US" b="0" i="0" dirty="0">
                <a:solidFill>
                  <a:srgbClr val="000000"/>
                </a:solidFill>
                <a:effectLst/>
                <a:latin typeface="arial" panose="020B0604020202020204" pitchFamily="34" charset="0"/>
              </a:rPr>
              <a:t> uses the </a:t>
            </a:r>
            <a:r>
              <a:rPr lang="en-US" b="0" i="0" dirty="0" err="1">
                <a:solidFill>
                  <a:srgbClr val="000000"/>
                </a:solidFill>
                <a:effectLst/>
                <a:latin typeface="arial" panose="020B0604020202020204" pitchFamily="34" charset="0"/>
              </a:rPr>
              <a:t>GetEmployeeDetails</a:t>
            </a:r>
            <a:r>
              <a:rPr lang="en-US" b="0" i="0" dirty="0">
                <a:solidFill>
                  <a:srgbClr val="000000"/>
                </a:solidFill>
                <a:effectLst/>
                <a:latin typeface="arial" panose="020B0604020202020204" pitchFamily="34" charset="0"/>
              </a:rPr>
              <a:t>() method of </a:t>
            </a:r>
            <a:r>
              <a:rPr lang="en-US" b="0" i="0" dirty="0" err="1">
                <a:solidFill>
                  <a:srgbClr val="000000"/>
                </a:solidFill>
                <a:effectLst/>
                <a:latin typeface="arial" panose="020B0604020202020204" pitchFamily="34" charset="0"/>
              </a:rPr>
              <a:t>EmployeeDataAccess</a:t>
            </a:r>
            <a:r>
              <a:rPr lang="en-US" b="0" i="0" dirty="0">
                <a:solidFill>
                  <a:srgbClr val="000000"/>
                </a:solidFill>
                <a:effectLst/>
                <a:latin typeface="arial" panose="020B0604020202020204" pitchFamily="34" charset="0"/>
              </a:rPr>
              <a:t> class. In real-time, there will be many employee-related methods in the </a:t>
            </a:r>
            <a:r>
              <a:rPr lang="en-US" b="0" i="0" dirty="0" err="1">
                <a:solidFill>
                  <a:srgbClr val="000000"/>
                </a:solidFill>
                <a:effectLst/>
                <a:latin typeface="arial" panose="020B0604020202020204" pitchFamily="34" charset="0"/>
              </a:rPr>
              <a:t>EmployeeDataAccess</a:t>
            </a:r>
            <a:r>
              <a:rPr lang="en-US" b="0" i="0" dirty="0">
                <a:solidFill>
                  <a:srgbClr val="000000"/>
                </a:solidFill>
                <a:effectLst/>
                <a:latin typeface="arial" panose="020B0604020202020204" pitchFamily="34" charset="0"/>
              </a:rPr>
              <a:t> class. So, we need to declare the </a:t>
            </a:r>
            <a:r>
              <a:rPr lang="en-US" b="0" i="0" dirty="0" err="1">
                <a:solidFill>
                  <a:srgbClr val="000000"/>
                </a:solidFill>
                <a:effectLst/>
                <a:latin typeface="arial" panose="020B0604020202020204" pitchFamily="34" charset="0"/>
              </a:rPr>
              <a:t>GetEmployeeDetails</a:t>
            </a:r>
            <a:r>
              <a:rPr lang="en-US" b="0" i="0" dirty="0">
                <a:solidFill>
                  <a:srgbClr val="000000"/>
                </a:solidFill>
                <a:effectLst/>
                <a:latin typeface="arial" panose="020B0604020202020204" pitchFamily="34" charset="0"/>
              </a:rPr>
              <a:t>(int id) method within the interface. Add one interface with the name </a:t>
            </a:r>
            <a:r>
              <a:rPr lang="en-US" b="0" i="0" dirty="0" err="1">
                <a:solidFill>
                  <a:srgbClr val="000000"/>
                </a:solidFill>
                <a:effectLst/>
                <a:latin typeface="arial" panose="020B0604020202020204" pitchFamily="34" charset="0"/>
              </a:rPr>
              <a:t>IDataAccess</a:t>
            </a:r>
            <a:r>
              <a:rPr lang="en-US" b="0" i="0" dirty="0">
                <a:solidFill>
                  <a:srgbClr val="000000"/>
                </a:solidFill>
                <a:effectLst/>
                <a:latin typeface="arial" panose="020B0604020202020204" pitchFamily="34" charset="0"/>
              </a:rPr>
              <a:t> and then copy and paste the following codes.</a:t>
            </a:r>
            <a:endParaRPr lang="en-US" b="0" i="0" dirty="0">
              <a:solidFill>
                <a:srgbClr val="212529"/>
              </a:solidFill>
              <a:effectLst/>
              <a:latin typeface="-apple-system"/>
            </a:endParaRPr>
          </a:p>
        </p:txBody>
      </p:sp>
    </p:spTree>
    <p:extLst>
      <p:ext uri="{BB962C8B-B14F-4D97-AF65-F5344CB8AC3E}">
        <p14:creationId xmlns:p14="http://schemas.microsoft.com/office/powerpoint/2010/main" val="15339058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30D268F-1CDC-42B7-965A-A7F923EA36E6}"/>
              </a:ext>
            </a:extLst>
          </p:cNvPr>
          <p:cNvSpPr txBox="1"/>
          <p:nvPr/>
        </p:nvSpPr>
        <p:spPr>
          <a:xfrm>
            <a:off x="193963" y="194141"/>
            <a:ext cx="3842328" cy="1061829"/>
          </a:xfrm>
          <a:prstGeom prst="rect">
            <a:avLst/>
          </a:prstGeom>
          <a:noFill/>
        </p:spPr>
        <p:txBody>
          <a:bodyPr wrap="square">
            <a:spAutoFit/>
          </a:bodyPr>
          <a:lstStyle/>
          <a:p>
            <a:r>
              <a:rPr lang="en-IN" sz="900" dirty="0">
                <a:solidFill>
                  <a:srgbClr val="0000FF"/>
                </a:solidFill>
                <a:highlight>
                  <a:srgbClr val="FFFFFF"/>
                </a:highlight>
                <a:latin typeface="Consolas" panose="020B0609020204030204" pitchFamily="49" charset="0"/>
              </a:rPr>
              <a:t>namespace</a:t>
            </a:r>
            <a:r>
              <a:rPr lang="en-IN" sz="900" dirty="0">
                <a:solidFill>
                  <a:srgbClr val="000000"/>
                </a:solidFill>
                <a:highlight>
                  <a:srgbClr val="FFFFFF"/>
                </a:highlight>
                <a:latin typeface="Consolas" panose="020B0609020204030204" pitchFamily="49" charset="0"/>
              </a:rPr>
              <a:t> SOLID_PRINCIPLES.DIP</a:t>
            </a:r>
          </a:p>
          <a:p>
            <a:r>
              <a:rPr lang="en-IN" sz="900" dirty="0">
                <a:solidFill>
                  <a:srgbClr val="000000"/>
                </a:solidFill>
                <a:highlight>
                  <a:srgbClr val="FFFFFF"/>
                </a:highlight>
                <a:latin typeface="Consolas" panose="020B0609020204030204" pitchFamily="49" charset="0"/>
              </a:rPr>
              <a:t>{</a:t>
            </a:r>
          </a:p>
          <a:p>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public</a:t>
            </a:r>
            <a:r>
              <a:rPr lang="en-IN" sz="900" dirty="0">
                <a:solidFill>
                  <a:srgbClr val="000000"/>
                </a:solidFill>
                <a:highlight>
                  <a:srgbClr val="FFFFFF"/>
                </a:highlight>
                <a:latin typeface="Consolas" panose="020B0609020204030204" pitchFamily="49" charset="0"/>
              </a:rPr>
              <a:t> </a:t>
            </a:r>
            <a:r>
              <a:rPr lang="en-IN" sz="900" dirty="0">
                <a:solidFill>
                  <a:srgbClr val="0000FF"/>
                </a:solidFill>
                <a:highlight>
                  <a:srgbClr val="FFFFFF"/>
                </a:highlight>
                <a:latin typeface="Consolas" panose="020B0609020204030204" pitchFamily="49" charset="0"/>
              </a:rPr>
              <a:t>interface</a:t>
            </a:r>
            <a:r>
              <a:rPr lang="en-IN" sz="900" dirty="0">
                <a:solidFill>
                  <a:srgbClr val="000000"/>
                </a:solidFill>
                <a:highlight>
                  <a:srgbClr val="FFFFFF"/>
                </a:highlight>
                <a:latin typeface="Consolas" panose="020B0609020204030204" pitchFamily="49" charset="0"/>
              </a:rPr>
              <a:t> </a:t>
            </a:r>
            <a:r>
              <a:rPr lang="en-IN" sz="900" dirty="0" err="1">
                <a:solidFill>
                  <a:srgbClr val="2B91AF"/>
                </a:solidFill>
                <a:highlight>
                  <a:srgbClr val="FFFFFF"/>
                </a:highlight>
                <a:latin typeface="Consolas" panose="020B0609020204030204" pitchFamily="49" charset="0"/>
              </a:rPr>
              <a:t>IEmployeeDataAccess</a:t>
            </a:r>
            <a:endParaRPr lang="en-IN" sz="900" dirty="0">
              <a:solidFill>
                <a:srgbClr val="000000"/>
              </a:solidFill>
              <a:highlight>
                <a:srgbClr val="FFFFFF"/>
              </a:highlight>
              <a:latin typeface="Consolas" panose="020B0609020204030204" pitchFamily="49" charset="0"/>
            </a:endParaRP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        Employee </a:t>
            </a:r>
            <a:r>
              <a:rPr lang="en-IN" sz="900" dirty="0" err="1">
                <a:solidFill>
                  <a:srgbClr val="000000"/>
                </a:solidFill>
                <a:highlight>
                  <a:srgbClr val="FFFFFF"/>
                </a:highlight>
                <a:latin typeface="Consolas" panose="020B0609020204030204" pitchFamily="49" charset="0"/>
              </a:rPr>
              <a:t>GetEmployeeDetails</a:t>
            </a:r>
            <a:r>
              <a:rPr lang="en-IN" sz="900" dirty="0">
                <a:solidFill>
                  <a:srgbClr val="000000"/>
                </a:solidFill>
                <a:highlight>
                  <a:srgbClr val="FFFFFF"/>
                </a:highlight>
                <a:latin typeface="Consolas" panose="020B0609020204030204" pitchFamily="49" charset="0"/>
              </a:rPr>
              <a:t>(</a:t>
            </a:r>
            <a:r>
              <a:rPr lang="en-IN" sz="900" dirty="0">
                <a:solidFill>
                  <a:srgbClr val="0000FF"/>
                </a:solidFill>
                <a:highlight>
                  <a:srgbClr val="FFFFFF"/>
                </a:highlight>
                <a:latin typeface="Consolas" panose="020B0609020204030204" pitchFamily="49" charset="0"/>
              </a:rPr>
              <a:t>int</a:t>
            </a:r>
            <a:r>
              <a:rPr lang="en-IN" sz="900" dirty="0">
                <a:solidFill>
                  <a:srgbClr val="000000"/>
                </a:solidFill>
                <a:highlight>
                  <a:srgbClr val="FFFFFF"/>
                </a:highlight>
                <a:latin typeface="Consolas" panose="020B0609020204030204" pitchFamily="49" charset="0"/>
              </a:rPr>
              <a:t> id);</a:t>
            </a:r>
          </a:p>
          <a:p>
            <a:r>
              <a:rPr lang="en-IN" sz="900" dirty="0">
                <a:solidFill>
                  <a:srgbClr val="000000"/>
                </a:solidFill>
                <a:highlight>
                  <a:srgbClr val="FFFFFF"/>
                </a:highlight>
                <a:latin typeface="Consolas" panose="020B0609020204030204" pitchFamily="49" charset="0"/>
              </a:rPr>
              <a:t>    }</a:t>
            </a:r>
          </a:p>
          <a:p>
            <a:r>
              <a:rPr lang="en-IN" sz="900" dirty="0">
                <a:solidFill>
                  <a:srgbClr val="000000"/>
                </a:solidFill>
                <a:highlight>
                  <a:srgbClr val="FFFFFF"/>
                </a:highlight>
                <a:latin typeface="Consolas" panose="020B0609020204030204" pitchFamily="49" charset="0"/>
              </a:rPr>
              <a:t>}</a:t>
            </a:r>
            <a:endParaRPr lang="en-IN" dirty="0"/>
          </a:p>
        </p:txBody>
      </p:sp>
      <p:sp>
        <p:nvSpPr>
          <p:cNvPr id="7" name="TextBox 6">
            <a:extLst>
              <a:ext uri="{FF2B5EF4-FFF2-40B4-BE49-F238E27FC236}">
                <a16:creationId xmlns:a16="http://schemas.microsoft.com/office/drawing/2014/main" id="{A7768265-C9DA-4FA2-8DBE-367911C68D04}"/>
              </a:ext>
            </a:extLst>
          </p:cNvPr>
          <p:cNvSpPr txBox="1"/>
          <p:nvPr/>
        </p:nvSpPr>
        <p:spPr>
          <a:xfrm>
            <a:off x="83128" y="1538008"/>
            <a:ext cx="4119417" cy="1477328"/>
          </a:xfrm>
          <a:prstGeom prst="rect">
            <a:avLst/>
          </a:prstGeom>
          <a:noFill/>
        </p:spPr>
        <p:txBody>
          <a:bodyPr wrap="square">
            <a:spAutoFit/>
          </a:bodyPr>
          <a:lstStyle/>
          <a:p>
            <a:r>
              <a:rPr lang="en-US" dirty="0"/>
              <a:t>Now, we need to implement the </a:t>
            </a:r>
            <a:r>
              <a:rPr lang="en-US" dirty="0" err="1"/>
              <a:t>IEmployeeDataAccess</a:t>
            </a:r>
            <a:r>
              <a:rPr lang="en-US" dirty="0"/>
              <a:t> in </a:t>
            </a:r>
            <a:r>
              <a:rPr lang="en-US" dirty="0" err="1"/>
              <a:t>EmployeeDataAccess</a:t>
            </a:r>
            <a:r>
              <a:rPr lang="en-US" dirty="0"/>
              <a:t> class. So, modify the </a:t>
            </a:r>
            <a:r>
              <a:rPr lang="en-US" dirty="0" err="1"/>
              <a:t>EmployeeDataAccess</a:t>
            </a:r>
            <a:r>
              <a:rPr lang="en-US" dirty="0"/>
              <a:t> class as shown below</a:t>
            </a:r>
            <a:endParaRPr lang="en-IN" dirty="0"/>
          </a:p>
        </p:txBody>
      </p:sp>
      <p:sp>
        <p:nvSpPr>
          <p:cNvPr id="9" name="TextBox 8">
            <a:extLst>
              <a:ext uri="{FF2B5EF4-FFF2-40B4-BE49-F238E27FC236}">
                <a16:creationId xmlns:a16="http://schemas.microsoft.com/office/drawing/2014/main" id="{50237C25-B9E5-44E5-A41B-E65969A79722}"/>
              </a:ext>
            </a:extLst>
          </p:cNvPr>
          <p:cNvSpPr txBox="1"/>
          <p:nvPr/>
        </p:nvSpPr>
        <p:spPr>
          <a:xfrm>
            <a:off x="53113" y="3022308"/>
            <a:ext cx="5347854" cy="3308598"/>
          </a:xfrm>
          <a:prstGeom prst="rect">
            <a:avLst/>
          </a:prstGeom>
          <a:noFill/>
        </p:spPr>
        <p:txBody>
          <a:bodyPr wrap="square">
            <a:spAutoFit/>
          </a:bodyPr>
          <a:lstStyle/>
          <a:p>
            <a:r>
              <a:rPr lang="en-IN" sz="1100" dirty="0">
                <a:solidFill>
                  <a:srgbClr val="0000FF"/>
                </a:solidFill>
                <a:highlight>
                  <a:srgbClr val="FFFFFF"/>
                </a:highlight>
                <a:latin typeface="Consolas" panose="020B0609020204030204" pitchFamily="49" charset="0"/>
              </a:rPr>
              <a:t>namespace</a:t>
            </a:r>
            <a:r>
              <a:rPr lang="en-IN" sz="1100" dirty="0">
                <a:solidFill>
                  <a:srgbClr val="000000"/>
                </a:solidFill>
                <a:highlight>
                  <a:srgbClr val="FFFFFF"/>
                </a:highlight>
                <a:latin typeface="Consolas" panose="020B0609020204030204" pitchFamily="49" charset="0"/>
              </a:rPr>
              <a:t> SOLID_PRINCIPLES.DIP</a:t>
            </a:r>
          </a:p>
          <a:p>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class</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EmployeeDataAccess</a:t>
            </a:r>
            <a:r>
              <a:rPr lang="en-IN" sz="1100" dirty="0">
                <a:solidFill>
                  <a:srgbClr val="000000"/>
                </a:solidFill>
                <a:highlight>
                  <a:srgbClr val="FFFFFF"/>
                </a:highlight>
                <a:latin typeface="Consolas" panose="020B0609020204030204" pitchFamily="49" charset="0"/>
              </a:rPr>
              <a:t> : </a:t>
            </a:r>
            <a:r>
              <a:rPr lang="en-IN" sz="1100" dirty="0" err="1">
                <a:solidFill>
                  <a:srgbClr val="000000"/>
                </a:solidFill>
                <a:highlight>
                  <a:srgbClr val="FFFFFF"/>
                </a:highlight>
                <a:latin typeface="Consolas" panose="020B0609020204030204" pitchFamily="49" charset="0"/>
              </a:rPr>
              <a:t>IEmployeeDataAccess</a:t>
            </a:r>
            <a:endParaRPr lang="en-IN"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00FF"/>
                </a:solidFill>
                <a:highlight>
                  <a:srgbClr val="FFFFFF"/>
                </a:highlight>
                <a:latin typeface="Consolas" panose="020B0609020204030204" pitchFamily="49" charset="0"/>
              </a:rPr>
              <a:t>public</a:t>
            </a:r>
            <a:r>
              <a:rPr lang="en-US" sz="1100" dirty="0">
                <a:solidFill>
                  <a:srgbClr val="000000"/>
                </a:solidFill>
                <a:highlight>
                  <a:srgbClr val="FFFFFF"/>
                </a:highlight>
                <a:latin typeface="Consolas" panose="020B0609020204030204" pitchFamily="49" charset="0"/>
              </a:rPr>
              <a:t> Employee </a:t>
            </a:r>
            <a:r>
              <a:rPr lang="en-US" sz="1100" dirty="0" err="1">
                <a:solidFill>
                  <a:srgbClr val="000000"/>
                </a:solidFill>
                <a:highlight>
                  <a:srgbClr val="FFFFFF"/>
                </a:highlight>
                <a:latin typeface="Consolas" panose="020B0609020204030204" pitchFamily="49" charset="0"/>
              </a:rPr>
              <a:t>GetEmployeeDetails</a:t>
            </a:r>
            <a:r>
              <a:rPr lang="en-US" sz="1100" dirty="0">
                <a:solidFill>
                  <a:srgbClr val="000000"/>
                </a:solidFill>
                <a:highlight>
                  <a:srgbClr val="FFFFFF"/>
                </a:highlight>
                <a:latin typeface="Consolas" panose="020B0609020204030204" pitchFamily="49" charset="0"/>
              </a:rPr>
              <a:t>(</a:t>
            </a:r>
            <a:r>
              <a:rPr lang="en-US" sz="1100" dirty="0">
                <a:solidFill>
                  <a:srgbClr val="0000FF"/>
                </a:solidFill>
                <a:highlight>
                  <a:srgbClr val="FFFFFF"/>
                </a:highlight>
                <a:latin typeface="Consolas" panose="020B0609020204030204" pitchFamily="49" charset="0"/>
              </a:rPr>
              <a:t>int</a:t>
            </a:r>
            <a:r>
              <a:rPr lang="en-US" sz="1100" dirty="0">
                <a:solidFill>
                  <a:srgbClr val="000000"/>
                </a:solidFill>
                <a:highlight>
                  <a:srgbClr val="FFFFFF"/>
                </a:highlight>
                <a:latin typeface="Consolas" panose="020B0609020204030204" pitchFamily="49" charset="0"/>
              </a:rPr>
              <a:t> id)</a:t>
            </a:r>
          </a:p>
          <a:p>
            <a:r>
              <a:rPr lang="en-IN" sz="1100" dirty="0">
                <a:solidFill>
                  <a:srgbClr val="000000"/>
                </a:solidFill>
                <a:highlight>
                  <a:srgbClr val="FFFFFF"/>
                </a:highlight>
                <a:latin typeface="Consolas" panose="020B0609020204030204" pitchFamily="49" charset="0"/>
              </a:rPr>
              <a:t>        {</a:t>
            </a: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 In real time get the employee details from </a:t>
            </a:r>
            <a:r>
              <a:rPr lang="en-US" sz="1100" dirty="0" err="1">
                <a:solidFill>
                  <a:srgbClr val="008000"/>
                </a:solidFill>
                <a:highlight>
                  <a:srgbClr val="FFFFFF"/>
                </a:highlight>
                <a:latin typeface="Consolas" panose="020B0609020204030204" pitchFamily="49" charset="0"/>
              </a:rPr>
              <a:t>db</a:t>
            </a:r>
            <a:endParaRPr lang="en-US" sz="1100" dirty="0">
              <a:solidFill>
                <a:srgbClr val="000000"/>
              </a:solidFill>
              <a:highlight>
                <a:srgbClr val="FFFFFF"/>
              </a:highlight>
              <a:latin typeface="Consolas" panose="020B0609020204030204" pitchFamily="49" charset="0"/>
            </a:endParaRPr>
          </a:p>
          <a:p>
            <a:r>
              <a:rPr lang="en-US" sz="1100" dirty="0">
                <a:solidFill>
                  <a:srgbClr val="000000"/>
                </a:solidFill>
                <a:highlight>
                  <a:srgbClr val="FFFFFF"/>
                </a:highlight>
                <a:latin typeface="Consolas" panose="020B0609020204030204" pitchFamily="49" charset="0"/>
              </a:rPr>
              <a:t>            </a:t>
            </a:r>
            <a:r>
              <a:rPr lang="en-US" sz="1100" dirty="0">
                <a:solidFill>
                  <a:srgbClr val="008000"/>
                </a:solidFill>
                <a:highlight>
                  <a:srgbClr val="FFFFFF"/>
                </a:highlight>
                <a:latin typeface="Consolas" panose="020B0609020204030204" pitchFamily="49" charset="0"/>
              </a:rPr>
              <a:t>//but here we are hardcoded the employee details</a:t>
            </a:r>
            <a:endParaRPr lang="en-US" sz="1100" dirty="0">
              <a:solidFill>
                <a:srgbClr val="000000"/>
              </a:solidFill>
              <a:highlight>
                <a:srgbClr val="FFFFFF"/>
              </a:highlight>
              <a:latin typeface="Consolas" panose="020B0609020204030204" pitchFamily="49" charset="0"/>
            </a:endParaRPr>
          </a:p>
          <a:p>
            <a:r>
              <a:rPr lang="en-IN" sz="1100" dirty="0">
                <a:solidFill>
                  <a:srgbClr val="000000"/>
                </a:solidFill>
                <a:highlight>
                  <a:srgbClr val="FFFFFF"/>
                </a:highlight>
                <a:latin typeface="Consolas" panose="020B0609020204030204" pitchFamily="49" charset="0"/>
              </a:rPr>
              <a:t>            Employee emp = </a:t>
            </a:r>
            <a:r>
              <a:rPr lang="en-IN" sz="1100" dirty="0">
                <a:solidFill>
                  <a:srgbClr val="0000FF"/>
                </a:solidFill>
                <a:highlight>
                  <a:srgbClr val="FFFFFF"/>
                </a:highlight>
                <a:latin typeface="Consolas" panose="020B0609020204030204" pitchFamily="49" charset="0"/>
              </a:rPr>
              <a:t>new</a:t>
            </a:r>
            <a:r>
              <a:rPr lang="en-IN" sz="1100" dirty="0">
                <a:solidFill>
                  <a:srgbClr val="000000"/>
                </a:solidFill>
                <a:highlight>
                  <a:srgbClr val="FFFFFF"/>
                </a:highlight>
                <a:latin typeface="Consolas" panose="020B0609020204030204" pitchFamily="49" charset="0"/>
              </a:rPr>
              <a:t> Employee()</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ID = id,</a:t>
            </a:r>
          </a:p>
          <a:p>
            <a:r>
              <a:rPr lang="en-IN" sz="1100" dirty="0">
                <a:solidFill>
                  <a:srgbClr val="000000"/>
                </a:solidFill>
                <a:highlight>
                  <a:srgbClr val="FFFFFF"/>
                </a:highlight>
                <a:latin typeface="Consolas" panose="020B0609020204030204" pitchFamily="49" charset="0"/>
              </a:rPr>
              <a:t>                Name = </a:t>
            </a:r>
            <a:r>
              <a:rPr lang="en-IN" sz="1100" dirty="0">
                <a:solidFill>
                  <a:srgbClr val="A31515"/>
                </a:solidFill>
                <a:highlight>
                  <a:srgbClr val="FFFFFF"/>
                </a:highlight>
                <a:latin typeface="Consolas" panose="020B0609020204030204" pitchFamily="49" charset="0"/>
              </a:rPr>
              <a:t>"</a:t>
            </a:r>
            <a:r>
              <a:rPr lang="en-IN" sz="1100" dirty="0" err="1">
                <a:solidFill>
                  <a:srgbClr val="A31515"/>
                </a:solidFill>
                <a:highlight>
                  <a:srgbClr val="FFFFFF"/>
                </a:highlight>
                <a:latin typeface="Consolas" panose="020B0609020204030204" pitchFamily="49" charset="0"/>
              </a:rPr>
              <a:t>Pranaya</a:t>
            </a:r>
            <a:r>
              <a:rPr lang="en-IN" sz="1100" dirty="0">
                <a:solidFill>
                  <a:srgbClr val="A31515"/>
                </a:solidFill>
                <a:highlight>
                  <a:srgbClr val="FFFFFF"/>
                </a:highlight>
                <a:latin typeface="Consolas" panose="020B0609020204030204" pitchFamily="49" charset="0"/>
              </a:rPr>
              <a: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Department = </a:t>
            </a:r>
            <a:r>
              <a:rPr lang="en-IN" sz="1100" dirty="0">
                <a:solidFill>
                  <a:srgbClr val="A31515"/>
                </a:solidFill>
                <a:highlight>
                  <a:srgbClr val="FFFFFF"/>
                </a:highlight>
                <a:latin typeface="Consolas" panose="020B0609020204030204" pitchFamily="49" charset="0"/>
              </a:rPr>
              <a:t>"IT"</a:t>
            </a:r>
            <a:r>
              <a:rPr lang="en-IN" sz="1100" dirty="0">
                <a:solidFill>
                  <a:srgbClr val="000000"/>
                </a:solidFill>
                <a:highlight>
                  <a:srgbClr val="FFFFFF"/>
                </a:highlight>
                <a:latin typeface="Consolas" panose="020B0609020204030204" pitchFamily="49" charset="0"/>
              </a:rPr>
              <a:t>,</a:t>
            </a:r>
          </a:p>
          <a:p>
            <a:r>
              <a:rPr lang="en-IN" sz="1100" dirty="0">
                <a:solidFill>
                  <a:srgbClr val="000000"/>
                </a:solidFill>
                <a:highlight>
                  <a:srgbClr val="FFFFFF"/>
                </a:highlight>
                <a:latin typeface="Consolas" panose="020B0609020204030204" pitchFamily="49" charset="0"/>
              </a:rPr>
              <a:t>                Salary = 10000</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return</a:t>
            </a:r>
            <a:r>
              <a:rPr lang="en-IN" sz="1100" dirty="0">
                <a:solidFill>
                  <a:srgbClr val="000000"/>
                </a:solidFill>
                <a:highlight>
                  <a:srgbClr val="FFFFFF"/>
                </a:highlight>
                <a:latin typeface="Consolas" panose="020B0609020204030204" pitchFamily="49" charset="0"/>
              </a:rPr>
              <a:t> emp;</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    }</a:t>
            </a:r>
          </a:p>
          <a:p>
            <a:r>
              <a:rPr lang="en-IN" sz="1100" dirty="0">
                <a:solidFill>
                  <a:srgbClr val="000000"/>
                </a:solidFill>
                <a:highlight>
                  <a:srgbClr val="FFFFFF"/>
                </a:highlight>
                <a:latin typeface="Consolas" panose="020B0609020204030204" pitchFamily="49" charset="0"/>
              </a:rPr>
              <a:t>}</a:t>
            </a:r>
            <a:endParaRPr lang="en-IN" sz="1100" dirty="0"/>
          </a:p>
        </p:txBody>
      </p:sp>
      <p:sp>
        <p:nvSpPr>
          <p:cNvPr id="13" name="TextBox 12">
            <a:extLst>
              <a:ext uri="{FF2B5EF4-FFF2-40B4-BE49-F238E27FC236}">
                <a16:creationId xmlns:a16="http://schemas.microsoft.com/office/drawing/2014/main" id="{D04781AB-0CD2-4A20-BF75-C9242E6FCD07}"/>
              </a:ext>
            </a:extLst>
          </p:cNvPr>
          <p:cNvSpPr txBox="1"/>
          <p:nvPr/>
        </p:nvSpPr>
        <p:spPr>
          <a:xfrm>
            <a:off x="4719780" y="159340"/>
            <a:ext cx="3953164" cy="1015663"/>
          </a:xfrm>
          <a:prstGeom prst="rect">
            <a:avLst/>
          </a:prstGeom>
          <a:noFill/>
        </p:spPr>
        <p:txBody>
          <a:bodyPr wrap="square">
            <a:spAutoFit/>
          </a:bodyPr>
          <a:lstStyle/>
          <a:p>
            <a:r>
              <a:rPr lang="en-US" sz="1200" dirty="0"/>
              <a:t>Now, we need to change the factory class which will return the </a:t>
            </a:r>
            <a:r>
              <a:rPr lang="en-US" sz="1200" dirty="0" err="1"/>
              <a:t>IEmployeeDataAccess</a:t>
            </a:r>
            <a:r>
              <a:rPr lang="en-US" sz="1200" dirty="0"/>
              <a:t> instead of the concrete </a:t>
            </a:r>
            <a:r>
              <a:rPr lang="en-US" sz="1200" dirty="0" err="1"/>
              <a:t>EmployeeDataAccess</a:t>
            </a:r>
            <a:r>
              <a:rPr lang="en-US" sz="1200" dirty="0"/>
              <a:t> class as shown below.</a:t>
            </a:r>
          </a:p>
          <a:p>
            <a:endParaRPr lang="en-US" sz="1200" dirty="0"/>
          </a:p>
          <a:p>
            <a:r>
              <a:rPr lang="en-US" sz="1200" dirty="0" err="1"/>
              <a:t>DataAccessFactory.cs</a:t>
            </a:r>
            <a:endParaRPr lang="en-IN" sz="1200" dirty="0"/>
          </a:p>
        </p:txBody>
      </p:sp>
      <p:sp>
        <p:nvSpPr>
          <p:cNvPr id="15" name="TextBox 14">
            <a:extLst>
              <a:ext uri="{FF2B5EF4-FFF2-40B4-BE49-F238E27FC236}">
                <a16:creationId xmlns:a16="http://schemas.microsoft.com/office/drawing/2014/main" id="{FCD63CE7-1D38-44B6-BF72-C602A218D380}"/>
              </a:ext>
            </a:extLst>
          </p:cNvPr>
          <p:cNvSpPr txBox="1"/>
          <p:nvPr/>
        </p:nvSpPr>
        <p:spPr>
          <a:xfrm>
            <a:off x="4798290" y="1746702"/>
            <a:ext cx="3796143" cy="2308324"/>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SOLID_PRINCIPLES.DIP</a:t>
            </a: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DataAccessFactory</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static</a:t>
            </a:r>
            <a:r>
              <a:rPr lang="en-IN" sz="1200" dirty="0">
                <a:solidFill>
                  <a:srgbClr val="000000"/>
                </a:solidFill>
                <a:highlight>
                  <a:srgbClr val="FFFFFF"/>
                </a:highlight>
                <a:latin typeface="Consolas" panose="020B0609020204030204" pitchFamily="49" charset="0"/>
              </a:rPr>
              <a:t> </a:t>
            </a:r>
            <a:r>
              <a:rPr lang="en-IN" sz="1200" dirty="0" err="1">
                <a:solidFill>
                  <a:srgbClr val="FF0000"/>
                </a:solidFill>
                <a:highlight>
                  <a:srgbClr val="FFFFFF"/>
                </a:highlight>
                <a:latin typeface="Consolas" panose="020B0609020204030204" pitchFamily="49" charset="0"/>
              </a:rPr>
              <a:t>IEmployeeDataAccess</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GetEmployeeDataAccessObj</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new</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EmployeeDataAccess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1200" dirty="0"/>
          </a:p>
        </p:txBody>
      </p:sp>
      <p:sp>
        <p:nvSpPr>
          <p:cNvPr id="17" name="TextBox 16">
            <a:extLst>
              <a:ext uri="{FF2B5EF4-FFF2-40B4-BE49-F238E27FC236}">
                <a16:creationId xmlns:a16="http://schemas.microsoft.com/office/drawing/2014/main" id="{1D736737-D794-40C6-8E73-E7ED86CDCC7B}"/>
              </a:ext>
            </a:extLst>
          </p:cNvPr>
          <p:cNvSpPr txBox="1"/>
          <p:nvPr/>
        </p:nvSpPr>
        <p:spPr>
          <a:xfrm>
            <a:off x="8756073" y="0"/>
            <a:ext cx="3435928" cy="830997"/>
          </a:xfrm>
          <a:prstGeom prst="rect">
            <a:avLst/>
          </a:prstGeom>
          <a:noFill/>
        </p:spPr>
        <p:txBody>
          <a:bodyPr wrap="square">
            <a:spAutoFit/>
          </a:bodyPr>
          <a:lstStyle/>
          <a:p>
            <a:r>
              <a:rPr lang="en-US" sz="1200" dirty="0"/>
              <a:t>Now, we need to change the </a:t>
            </a:r>
            <a:r>
              <a:rPr lang="en-US" sz="1200" dirty="0" err="1"/>
              <a:t>EmployeeBusinessLogic</a:t>
            </a:r>
            <a:r>
              <a:rPr lang="en-US" sz="1200" dirty="0"/>
              <a:t> class which will use the </a:t>
            </a:r>
            <a:r>
              <a:rPr lang="en-US" sz="1200" dirty="0" err="1"/>
              <a:t>IEmployeeDataAccess</a:t>
            </a:r>
            <a:r>
              <a:rPr lang="en-US" sz="1200" dirty="0"/>
              <a:t> instead of the concrete </a:t>
            </a:r>
            <a:r>
              <a:rPr lang="en-US" sz="1200" dirty="0" err="1"/>
              <a:t>EmployeeDataAccess</a:t>
            </a:r>
            <a:r>
              <a:rPr lang="en-US" sz="1200" dirty="0"/>
              <a:t> class as shown below.</a:t>
            </a:r>
            <a:endParaRPr lang="en-IN" sz="1200" dirty="0"/>
          </a:p>
        </p:txBody>
      </p:sp>
      <p:sp>
        <p:nvSpPr>
          <p:cNvPr id="19" name="TextBox 18">
            <a:extLst>
              <a:ext uri="{FF2B5EF4-FFF2-40B4-BE49-F238E27FC236}">
                <a16:creationId xmlns:a16="http://schemas.microsoft.com/office/drawing/2014/main" id="{C01E518E-49F7-4B8F-81A7-DF4222B9633E}"/>
              </a:ext>
            </a:extLst>
          </p:cNvPr>
          <p:cNvSpPr txBox="1"/>
          <p:nvPr/>
        </p:nvSpPr>
        <p:spPr>
          <a:xfrm>
            <a:off x="8672944" y="1335015"/>
            <a:ext cx="3435928" cy="3970318"/>
          </a:xfrm>
          <a:prstGeom prst="rect">
            <a:avLst/>
          </a:prstGeom>
          <a:noFill/>
        </p:spPr>
        <p:txBody>
          <a:bodyPr wrap="square">
            <a:spAutoFit/>
          </a:bodyPr>
          <a:lstStyle/>
          <a:p>
            <a:r>
              <a:rPr lang="en-IN" sz="1200" dirty="0">
                <a:solidFill>
                  <a:srgbClr val="0000FF"/>
                </a:solidFill>
                <a:highlight>
                  <a:srgbClr val="FFFFFF"/>
                </a:highlight>
                <a:latin typeface="Consolas" panose="020B0609020204030204" pitchFamily="49" charset="0"/>
              </a:rPr>
              <a:t>namespace</a:t>
            </a:r>
            <a:r>
              <a:rPr lang="en-IN" sz="1200" dirty="0">
                <a:solidFill>
                  <a:srgbClr val="000000"/>
                </a:solidFill>
                <a:highlight>
                  <a:srgbClr val="FFFFFF"/>
                </a:highlight>
                <a:latin typeface="Consolas" panose="020B0609020204030204" pitchFamily="49" charset="0"/>
              </a:rPr>
              <a:t> SOLID_PRINCIPLES.DIP</a:t>
            </a:r>
          </a:p>
          <a:p>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class</a:t>
            </a:r>
            <a:r>
              <a:rPr lang="en-IN" sz="1200" dirty="0">
                <a:solidFill>
                  <a:srgbClr val="000000"/>
                </a:solidFill>
                <a:highlight>
                  <a:srgbClr val="FFFFFF"/>
                </a:highlight>
                <a:latin typeface="Consolas" panose="020B0609020204030204" pitchFamily="49" charset="0"/>
              </a:rPr>
              <a:t> </a:t>
            </a:r>
            <a:r>
              <a:rPr lang="en-IN" sz="1200" dirty="0" err="1">
                <a:solidFill>
                  <a:srgbClr val="2B91AF"/>
                </a:solidFill>
                <a:highlight>
                  <a:srgbClr val="FFFFFF"/>
                </a:highlight>
                <a:latin typeface="Consolas" panose="020B0609020204030204" pitchFamily="49" charset="0"/>
              </a:rPr>
              <a:t>EmployeeBusinessLogic</a:t>
            </a:r>
            <a:endParaRPr lang="en-IN" sz="1200" dirty="0">
              <a:solidFill>
                <a:srgbClr val="000000"/>
              </a:solidFill>
              <a:highlight>
                <a:srgbClr val="FFFFFF"/>
              </a:highlight>
              <a:latin typeface="Consolas" panose="020B0609020204030204" pitchFamily="49" charset="0"/>
            </a:endParaRPr>
          </a:p>
          <a:p>
            <a:r>
              <a:rPr lang="en-IN" sz="1200" dirty="0">
                <a:solidFill>
                  <a:srgbClr val="000000"/>
                </a:solidFill>
                <a:highlight>
                  <a:srgbClr val="FFFFFF"/>
                </a:highlight>
                <a:latin typeface="Consolas" panose="020B0609020204030204" pitchFamily="49" charset="0"/>
              </a:rPr>
              <a:t>    {</a:t>
            </a:r>
          </a:p>
          <a:p>
            <a:r>
              <a:rPr lang="en-IN" sz="1200" dirty="0">
                <a:solidFill>
                  <a:srgbClr val="FF0000"/>
                </a:solidFill>
                <a:highlight>
                  <a:srgbClr val="FFFFFF"/>
                </a:highlight>
                <a:latin typeface="Consolas" panose="020B0609020204030204" pitchFamily="49" charset="0"/>
              </a:rPr>
              <a:t>        </a:t>
            </a:r>
            <a:r>
              <a:rPr lang="en-IN" sz="1200" dirty="0" err="1">
                <a:solidFill>
                  <a:srgbClr val="FF0000"/>
                </a:solidFill>
                <a:highlight>
                  <a:srgbClr val="FFFFFF"/>
                </a:highlight>
                <a:latin typeface="Consolas" panose="020B0609020204030204" pitchFamily="49" charset="0"/>
              </a:rPr>
              <a:t>IEmployeeDataAccess</a:t>
            </a:r>
            <a:r>
              <a:rPr lang="en-IN" sz="1200" dirty="0">
                <a:solidFill>
                  <a:srgbClr val="FF0000"/>
                </a:solidFill>
                <a:highlight>
                  <a:srgbClr val="FFFFFF"/>
                </a:highlight>
                <a:latin typeface="Consolas" panose="020B0609020204030204" pitchFamily="49" charset="0"/>
              </a:rPr>
              <a:t> </a:t>
            </a:r>
            <a:r>
              <a:rPr lang="en-IN" sz="1200" dirty="0">
                <a:solidFill>
                  <a:srgbClr val="000000"/>
                </a:solidFill>
                <a:highlight>
                  <a:srgbClr val="FFFFFF"/>
                </a:highlight>
                <a:latin typeface="Consolas" panose="020B0609020204030204" pitchFamily="49" charset="0"/>
              </a:rPr>
              <a:t>_</a:t>
            </a:r>
            <a:r>
              <a:rPr lang="en-IN" sz="1200" dirty="0" err="1">
                <a:solidFill>
                  <a:srgbClr val="000000"/>
                </a:solidFill>
                <a:highlight>
                  <a:srgbClr val="FFFFFF"/>
                </a:highlight>
                <a:latin typeface="Consolas" panose="020B0609020204030204" pitchFamily="49" charset="0"/>
              </a:rPr>
              <a:t>EmployeeDataAccess</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public</a:t>
            </a:r>
            <a:r>
              <a:rPr lang="en-IN" sz="1200" dirty="0">
                <a:solidFill>
                  <a:srgbClr val="000000"/>
                </a:solidFill>
                <a:highlight>
                  <a:srgbClr val="FFFFFF"/>
                </a:highlight>
                <a:latin typeface="Consolas" panose="020B0609020204030204" pitchFamily="49" charset="0"/>
              </a:rPr>
              <a:t> </a:t>
            </a:r>
            <a:r>
              <a:rPr lang="en-IN" sz="1200" dirty="0" err="1">
                <a:solidFill>
                  <a:srgbClr val="000000"/>
                </a:solidFill>
                <a:highlight>
                  <a:srgbClr val="FFFFFF"/>
                </a:highlight>
                <a:latin typeface="Consolas" panose="020B0609020204030204" pitchFamily="49" charset="0"/>
              </a:rPr>
              <a:t>EmployeeBusinessLogic</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EmployeeDataAccess</a:t>
            </a:r>
            <a:r>
              <a:rPr lang="en-IN" sz="1200" dirty="0">
                <a:solidFill>
                  <a:srgbClr val="000000"/>
                </a:solidFill>
                <a:highlight>
                  <a:srgbClr val="FFFFFF"/>
                </a:highlight>
                <a:latin typeface="Consolas" panose="020B0609020204030204" pitchFamily="49" charset="0"/>
              </a:rPr>
              <a:t> = </a:t>
            </a:r>
            <a:r>
              <a:rPr lang="en-IN" sz="1200" dirty="0" err="1">
                <a:solidFill>
                  <a:srgbClr val="000000"/>
                </a:solidFill>
                <a:highlight>
                  <a:srgbClr val="FFFFFF"/>
                </a:highlight>
                <a:latin typeface="Consolas" panose="020B0609020204030204" pitchFamily="49" charset="0"/>
              </a:rPr>
              <a:t>DataAccessFactory.GetEmployeeDataAccessObj</a:t>
            </a:r>
            <a:r>
              <a:rPr lang="en-IN" sz="1200" dirty="0">
                <a:solidFill>
                  <a:srgbClr val="000000"/>
                </a:solidFill>
                <a:highlight>
                  <a:srgbClr val="FFFFFF"/>
                </a:highlight>
                <a:latin typeface="Consolas" panose="020B0609020204030204" pitchFamily="49" charset="0"/>
              </a:rPr>
              <a:t>();</a:t>
            </a:r>
          </a:p>
          <a:p>
            <a:r>
              <a:rPr lang="en-IN" sz="1200" dirty="0">
                <a:solidFill>
                  <a:srgbClr val="000000"/>
                </a:solidFill>
                <a:highlight>
                  <a:srgbClr val="FFFFFF"/>
                </a:highlight>
                <a:latin typeface="Consolas" panose="020B0609020204030204" pitchFamily="49" charset="0"/>
              </a:rPr>
              <a:t>        }</a:t>
            </a:r>
          </a:p>
          <a:p>
            <a:r>
              <a:rPr lang="en-US" sz="1200" dirty="0">
                <a:solidFill>
                  <a:srgbClr val="000000"/>
                </a:solidFill>
                <a:highlight>
                  <a:srgbClr val="FFFFFF"/>
                </a:highlight>
                <a:latin typeface="Consolas" panose="020B0609020204030204" pitchFamily="49" charset="0"/>
              </a:rPr>
              <a:t>        </a:t>
            </a:r>
            <a:r>
              <a:rPr lang="en-US" sz="1200" dirty="0">
                <a:solidFill>
                  <a:srgbClr val="0000FF"/>
                </a:solidFill>
                <a:highlight>
                  <a:srgbClr val="FFFFFF"/>
                </a:highlight>
                <a:latin typeface="Consolas" panose="020B0609020204030204" pitchFamily="49" charset="0"/>
              </a:rPr>
              <a:t>public</a:t>
            </a:r>
            <a:r>
              <a:rPr lang="en-US" sz="1200" dirty="0">
                <a:solidFill>
                  <a:srgbClr val="000000"/>
                </a:solidFill>
                <a:highlight>
                  <a:srgbClr val="FFFFFF"/>
                </a:highlight>
                <a:latin typeface="Consolas" panose="020B0609020204030204" pitchFamily="49" charset="0"/>
              </a:rPr>
              <a:t> Employee </a:t>
            </a:r>
            <a:r>
              <a:rPr lang="en-US" sz="1200" dirty="0" err="1">
                <a:solidFill>
                  <a:srgbClr val="000000"/>
                </a:solidFill>
                <a:highlight>
                  <a:srgbClr val="FFFFFF"/>
                </a:highlight>
                <a:latin typeface="Consolas" panose="020B0609020204030204" pitchFamily="49" charset="0"/>
              </a:rPr>
              <a:t>GetEmployeeDetails</a:t>
            </a:r>
            <a:r>
              <a:rPr lang="en-US" sz="1200" dirty="0">
                <a:solidFill>
                  <a:srgbClr val="000000"/>
                </a:solidFill>
                <a:highlight>
                  <a:srgbClr val="FFFFFF"/>
                </a:highlight>
                <a:latin typeface="Consolas" panose="020B0609020204030204" pitchFamily="49" charset="0"/>
              </a:rPr>
              <a:t>(</a:t>
            </a:r>
            <a:r>
              <a:rPr lang="en-US" sz="1200" dirty="0">
                <a:solidFill>
                  <a:srgbClr val="0000FF"/>
                </a:solidFill>
                <a:highlight>
                  <a:srgbClr val="FFFFFF"/>
                </a:highlight>
                <a:latin typeface="Consolas" panose="020B0609020204030204" pitchFamily="49" charset="0"/>
              </a:rPr>
              <a:t>int</a:t>
            </a:r>
            <a:r>
              <a:rPr lang="en-US" sz="1200" dirty="0">
                <a:solidFill>
                  <a:srgbClr val="000000"/>
                </a:solidFill>
                <a:highlight>
                  <a:srgbClr val="FFFFFF"/>
                </a:highlight>
                <a:latin typeface="Consolas" panose="020B0609020204030204" pitchFamily="49" charset="0"/>
              </a:rPr>
              <a:t> id)</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r>
              <a:rPr lang="en-IN" sz="1200" dirty="0">
                <a:solidFill>
                  <a:srgbClr val="0000FF"/>
                </a:solidFill>
                <a:highlight>
                  <a:srgbClr val="FFFFFF"/>
                </a:highlight>
                <a:latin typeface="Consolas" panose="020B0609020204030204" pitchFamily="49" charset="0"/>
              </a:rPr>
              <a:t>return</a:t>
            </a:r>
            <a:r>
              <a:rPr lang="en-IN" sz="1200" dirty="0">
                <a:solidFill>
                  <a:srgbClr val="000000"/>
                </a:solidFill>
                <a:highlight>
                  <a:srgbClr val="FFFFFF"/>
                </a:highlight>
                <a:latin typeface="Consolas" panose="020B0609020204030204" pitchFamily="49" charset="0"/>
              </a:rPr>
              <a:t> _</a:t>
            </a:r>
            <a:r>
              <a:rPr lang="en-IN" sz="1200" dirty="0" err="1">
                <a:solidFill>
                  <a:srgbClr val="000000"/>
                </a:solidFill>
                <a:highlight>
                  <a:srgbClr val="FFFFFF"/>
                </a:highlight>
                <a:latin typeface="Consolas" panose="020B0609020204030204" pitchFamily="49" charset="0"/>
              </a:rPr>
              <a:t>EmployeeDataAccess.GetEmployeeDetails</a:t>
            </a:r>
            <a:r>
              <a:rPr lang="en-IN" sz="1200" dirty="0">
                <a:solidFill>
                  <a:srgbClr val="000000"/>
                </a:solidFill>
                <a:highlight>
                  <a:srgbClr val="FFFFFF"/>
                </a:highlight>
                <a:latin typeface="Consolas" panose="020B0609020204030204" pitchFamily="49" charset="0"/>
              </a:rPr>
              <a:t>(id);</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    }</a:t>
            </a:r>
          </a:p>
          <a:p>
            <a:r>
              <a:rPr lang="en-IN" sz="1200" dirty="0">
                <a:solidFill>
                  <a:srgbClr val="000000"/>
                </a:solidFill>
                <a:highlight>
                  <a:srgbClr val="FFFFFF"/>
                </a:highlight>
                <a:latin typeface="Consolas" panose="020B0609020204030204" pitchFamily="49" charset="0"/>
              </a:rPr>
              <a:t>}</a:t>
            </a:r>
            <a:endParaRPr lang="en-IN" sz="3200" dirty="0"/>
          </a:p>
        </p:txBody>
      </p:sp>
      <p:grpSp>
        <p:nvGrpSpPr>
          <p:cNvPr id="8" name="Group 7">
            <a:extLst>
              <a:ext uri="{FF2B5EF4-FFF2-40B4-BE49-F238E27FC236}">
                <a16:creationId xmlns:a16="http://schemas.microsoft.com/office/drawing/2014/main" id="{35E3DE6D-3D37-421F-9D53-E2442EFF704E}"/>
              </a:ext>
            </a:extLst>
          </p:cNvPr>
          <p:cNvGrpSpPr/>
          <p:nvPr/>
        </p:nvGrpSpPr>
        <p:grpSpPr>
          <a:xfrm>
            <a:off x="1891150" y="5872081"/>
            <a:ext cx="3084945" cy="617126"/>
            <a:chOff x="4297222" y="4961637"/>
            <a:chExt cx="3084945" cy="617126"/>
          </a:xfrm>
        </p:grpSpPr>
        <p:sp>
          <p:nvSpPr>
            <p:cNvPr id="12" name="TextBox 11">
              <a:extLst>
                <a:ext uri="{FF2B5EF4-FFF2-40B4-BE49-F238E27FC236}">
                  <a16:creationId xmlns:a16="http://schemas.microsoft.com/office/drawing/2014/main" id="{B89ED7AC-7D2B-4DBB-866A-B510F7DD23A8}"/>
                </a:ext>
              </a:extLst>
            </p:cNvPr>
            <p:cNvSpPr txBox="1"/>
            <p:nvPr/>
          </p:nvSpPr>
          <p:spPr>
            <a:xfrm>
              <a:off x="4297222" y="4961637"/>
              <a:ext cx="3084945" cy="261610"/>
            </a:xfrm>
            <a:prstGeom prst="rect">
              <a:avLst/>
            </a:prstGeom>
            <a:noFill/>
          </p:spPr>
          <p:txBody>
            <a:bodyPr wrap="square">
              <a:spAutoFit/>
            </a:bodyPr>
            <a:lstStyle/>
            <a:p>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public</a:t>
              </a:r>
              <a:r>
                <a:rPr lang="en-IN" sz="1100" dirty="0">
                  <a:solidFill>
                    <a:srgbClr val="000000"/>
                  </a:solidFill>
                  <a:highlight>
                    <a:srgbClr val="FFFFFF"/>
                  </a:highlight>
                  <a:latin typeface="Consolas" panose="020B0609020204030204" pitchFamily="49" charset="0"/>
                </a:rPr>
                <a:t> </a:t>
              </a:r>
              <a:r>
                <a:rPr lang="en-IN" sz="1100" dirty="0">
                  <a:solidFill>
                    <a:srgbClr val="0000FF"/>
                  </a:solidFill>
                  <a:highlight>
                    <a:srgbClr val="FFFFFF"/>
                  </a:highlight>
                  <a:latin typeface="Consolas" panose="020B0609020204030204" pitchFamily="49" charset="0"/>
                </a:rPr>
                <a:t>interface</a:t>
              </a:r>
              <a:r>
                <a:rPr lang="en-IN" sz="1100" dirty="0">
                  <a:solidFill>
                    <a:srgbClr val="000000"/>
                  </a:solidFill>
                  <a:highlight>
                    <a:srgbClr val="FFFFFF"/>
                  </a:highlight>
                  <a:latin typeface="Consolas" panose="020B0609020204030204" pitchFamily="49" charset="0"/>
                </a:rPr>
                <a:t> </a:t>
              </a:r>
              <a:r>
                <a:rPr lang="en-IN" sz="1100" dirty="0" err="1">
                  <a:solidFill>
                    <a:srgbClr val="2B91AF"/>
                  </a:solidFill>
                  <a:highlight>
                    <a:srgbClr val="FFFFFF"/>
                  </a:highlight>
                  <a:latin typeface="Consolas" panose="020B0609020204030204" pitchFamily="49" charset="0"/>
                </a:rPr>
                <a:t>IEmployeeDataAccess</a:t>
              </a:r>
              <a:endParaRPr lang="en-IN" sz="1100" dirty="0"/>
            </a:p>
          </p:txBody>
        </p:sp>
        <p:cxnSp>
          <p:nvCxnSpPr>
            <p:cNvPr id="4" name="Straight Connector 3">
              <a:extLst>
                <a:ext uri="{FF2B5EF4-FFF2-40B4-BE49-F238E27FC236}">
                  <a16:creationId xmlns:a16="http://schemas.microsoft.com/office/drawing/2014/main" id="{56333A67-8651-4F92-B500-8D048C6941CA}"/>
                </a:ext>
              </a:extLst>
            </p:cNvPr>
            <p:cNvCxnSpPr/>
            <p:nvPr/>
          </p:nvCxnSpPr>
          <p:spPr>
            <a:xfrm>
              <a:off x="4585853" y="5578763"/>
              <a:ext cx="2318327"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TextBox 15">
              <a:extLst>
                <a:ext uri="{FF2B5EF4-FFF2-40B4-BE49-F238E27FC236}">
                  <a16:creationId xmlns:a16="http://schemas.microsoft.com/office/drawing/2014/main" id="{D795029F-12F8-4CED-AB8F-8A19F7CBF0B1}"/>
                </a:ext>
              </a:extLst>
            </p:cNvPr>
            <p:cNvSpPr txBox="1"/>
            <p:nvPr/>
          </p:nvSpPr>
          <p:spPr>
            <a:xfrm>
              <a:off x="4511965" y="5223247"/>
              <a:ext cx="2854036" cy="253916"/>
            </a:xfrm>
            <a:prstGeom prst="rect">
              <a:avLst/>
            </a:prstGeom>
            <a:noFill/>
          </p:spPr>
          <p:txBody>
            <a:bodyPr wrap="square">
              <a:spAutoFit/>
            </a:bodyPr>
            <a:lstStyle/>
            <a:p>
              <a:r>
                <a:rPr lang="en-IN" sz="1050" dirty="0">
                  <a:solidFill>
                    <a:srgbClr val="000000"/>
                  </a:solidFill>
                  <a:highlight>
                    <a:srgbClr val="FFFFFF"/>
                  </a:highlight>
                  <a:latin typeface="Consolas" panose="020B0609020204030204" pitchFamily="49" charset="0"/>
                </a:rPr>
                <a:t>Employee </a:t>
              </a:r>
              <a:r>
                <a:rPr lang="en-IN" sz="1050" dirty="0" err="1">
                  <a:solidFill>
                    <a:srgbClr val="000000"/>
                  </a:solidFill>
                  <a:highlight>
                    <a:srgbClr val="FFFFFF"/>
                  </a:highlight>
                  <a:latin typeface="Consolas" panose="020B0609020204030204" pitchFamily="49" charset="0"/>
                </a:rPr>
                <a:t>GetEmployeeDetails</a:t>
              </a:r>
              <a:r>
                <a:rPr lang="en-IN" sz="1050" dirty="0">
                  <a:solidFill>
                    <a:srgbClr val="000000"/>
                  </a:solidFill>
                  <a:highlight>
                    <a:srgbClr val="FFFFFF"/>
                  </a:highlight>
                  <a:latin typeface="Consolas" panose="020B0609020204030204" pitchFamily="49" charset="0"/>
                </a:rPr>
                <a:t>(</a:t>
              </a:r>
              <a:r>
                <a:rPr lang="en-IN" sz="1050" dirty="0">
                  <a:solidFill>
                    <a:srgbClr val="0000FF"/>
                  </a:solidFill>
                  <a:highlight>
                    <a:srgbClr val="FFFFFF"/>
                  </a:highlight>
                  <a:latin typeface="Consolas" panose="020B0609020204030204" pitchFamily="49" charset="0"/>
                </a:rPr>
                <a:t>int</a:t>
              </a:r>
              <a:r>
                <a:rPr lang="en-IN" sz="1050" dirty="0">
                  <a:solidFill>
                    <a:srgbClr val="000000"/>
                  </a:solidFill>
                  <a:highlight>
                    <a:srgbClr val="FFFFFF"/>
                  </a:highlight>
                  <a:latin typeface="Consolas" panose="020B0609020204030204" pitchFamily="49" charset="0"/>
                </a:rPr>
                <a:t> id);</a:t>
              </a:r>
            </a:p>
          </p:txBody>
        </p:sp>
      </p:grpSp>
      <p:sp>
        <p:nvSpPr>
          <p:cNvPr id="18" name="TextBox 17">
            <a:extLst>
              <a:ext uri="{FF2B5EF4-FFF2-40B4-BE49-F238E27FC236}">
                <a16:creationId xmlns:a16="http://schemas.microsoft.com/office/drawing/2014/main" id="{8A21A310-369E-42A2-AE59-68C7943DDAD6}"/>
              </a:ext>
            </a:extLst>
          </p:cNvPr>
          <p:cNvSpPr txBox="1"/>
          <p:nvPr/>
        </p:nvSpPr>
        <p:spPr>
          <a:xfrm>
            <a:off x="6695211" y="5440328"/>
            <a:ext cx="1810326" cy="27699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IN" sz="1200" dirty="0">
                <a:solidFill>
                  <a:srgbClr val="000000"/>
                </a:solidFill>
                <a:highlight>
                  <a:srgbClr val="FFFFFF"/>
                </a:highlight>
                <a:latin typeface="Consolas" panose="020B0609020204030204" pitchFamily="49" charset="0"/>
              </a:rPr>
              <a:t>_</a:t>
            </a:r>
            <a:r>
              <a:rPr lang="en-IN" sz="1200" dirty="0" err="1">
                <a:solidFill>
                  <a:srgbClr val="000000"/>
                </a:solidFill>
                <a:highlight>
                  <a:srgbClr val="FFFFFF"/>
                </a:highlight>
                <a:latin typeface="Consolas" panose="020B0609020204030204" pitchFamily="49" charset="0"/>
              </a:rPr>
              <a:t>EmployeeDataAccess</a:t>
            </a:r>
            <a:endParaRPr lang="en-IN" sz="1200" dirty="0"/>
          </a:p>
        </p:txBody>
      </p:sp>
      <p:cxnSp>
        <p:nvCxnSpPr>
          <p:cNvPr id="20" name="Straight Arrow Connector 19">
            <a:extLst>
              <a:ext uri="{FF2B5EF4-FFF2-40B4-BE49-F238E27FC236}">
                <a16:creationId xmlns:a16="http://schemas.microsoft.com/office/drawing/2014/main" id="{846D2D02-D924-4B57-BB61-470A065C97D5}"/>
              </a:ext>
            </a:extLst>
          </p:cNvPr>
          <p:cNvCxnSpPr/>
          <p:nvPr/>
        </p:nvCxnSpPr>
        <p:spPr>
          <a:xfrm flipV="1">
            <a:off x="8125690" y="5553806"/>
            <a:ext cx="452584" cy="1564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EC11C9E2-A2C8-40C9-8673-6448D167CAEF}"/>
              </a:ext>
            </a:extLst>
          </p:cNvPr>
          <p:cNvSpPr/>
          <p:nvPr/>
        </p:nvSpPr>
        <p:spPr>
          <a:xfrm>
            <a:off x="8719126" y="5509333"/>
            <a:ext cx="1080655" cy="81941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4" name="Rectangle 23">
            <a:extLst>
              <a:ext uri="{FF2B5EF4-FFF2-40B4-BE49-F238E27FC236}">
                <a16:creationId xmlns:a16="http://schemas.microsoft.com/office/drawing/2014/main" id="{3071658D-0AA5-41B6-BC9C-22490852E6C2}"/>
              </a:ext>
            </a:extLst>
          </p:cNvPr>
          <p:cNvSpPr/>
          <p:nvPr/>
        </p:nvSpPr>
        <p:spPr>
          <a:xfrm>
            <a:off x="9799781" y="4769624"/>
            <a:ext cx="1893455" cy="535709"/>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IN" sz="800" dirty="0">
                <a:solidFill>
                  <a:srgbClr val="0000FF"/>
                </a:solidFill>
                <a:highlight>
                  <a:srgbClr val="FFFFFF"/>
                </a:highlight>
                <a:latin typeface="Consolas" panose="020B0609020204030204" pitchFamily="49" charset="0"/>
              </a:rPr>
              <a:t>public</a:t>
            </a:r>
            <a:r>
              <a:rPr lang="en-IN" sz="800" dirty="0">
                <a:solidFill>
                  <a:srgbClr val="000000"/>
                </a:solidFill>
                <a:highlight>
                  <a:srgbClr val="FFFFFF"/>
                </a:highlight>
                <a:latin typeface="Consolas" panose="020B0609020204030204" pitchFamily="49" charset="0"/>
              </a:rPr>
              <a:t> </a:t>
            </a:r>
            <a:r>
              <a:rPr lang="en-IN" sz="800" dirty="0">
                <a:solidFill>
                  <a:srgbClr val="0000FF"/>
                </a:solidFill>
                <a:highlight>
                  <a:srgbClr val="FFFFFF"/>
                </a:highlight>
                <a:latin typeface="Consolas" panose="020B0609020204030204" pitchFamily="49" charset="0"/>
              </a:rPr>
              <a:t>static</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IEmployeeDataAccess</a:t>
            </a:r>
            <a:r>
              <a:rPr lang="en-IN" sz="800" dirty="0">
                <a:solidFill>
                  <a:srgbClr val="000000"/>
                </a:solidFill>
                <a:highlight>
                  <a:srgbClr val="FFFFFF"/>
                </a:highlight>
                <a:latin typeface="Consolas" panose="020B0609020204030204" pitchFamily="49" charset="0"/>
              </a:rPr>
              <a:t> </a:t>
            </a:r>
            <a:r>
              <a:rPr lang="en-IN" sz="800" dirty="0" err="1">
                <a:solidFill>
                  <a:srgbClr val="000000"/>
                </a:solidFill>
                <a:highlight>
                  <a:srgbClr val="FFFFFF"/>
                </a:highlight>
                <a:latin typeface="Consolas" panose="020B0609020204030204" pitchFamily="49" charset="0"/>
              </a:rPr>
              <a:t>GetEmployeeDataAccessObj</a:t>
            </a:r>
            <a:r>
              <a:rPr lang="en-IN" sz="800" dirty="0">
                <a:solidFill>
                  <a:srgbClr val="000000"/>
                </a:solidFill>
                <a:highlight>
                  <a:srgbClr val="FFFFFF"/>
                </a:highlight>
                <a:latin typeface="Consolas" panose="020B0609020204030204" pitchFamily="49" charset="0"/>
              </a:rPr>
              <a:t>()</a:t>
            </a:r>
            <a:endParaRPr lang="en-IN" sz="800" dirty="0"/>
          </a:p>
        </p:txBody>
      </p:sp>
      <p:sp>
        <p:nvSpPr>
          <p:cNvPr id="25" name="Rectangle 24">
            <a:extLst>
              <a:ext uri="{FF2B5EF4-FFF2-40B4-BE49-F238E27FC236}">
                <a16:creationId xmlns:a16="http://schemas.microsoft.com/office/drawing/2014/main" id="{F0252B15-BB4F-42CA-B5C1-A46EF9B74695}"/>
              </a:ext>
            </a:extLst>
          </p:cNvPr>
          <p:cNvSpPr/>
          <p:nvPr/>
        </p:nvSpPr>
        <p:spPr>
          <a:xfrm>
            <a:off x="5800436" y="5909027"/>
            <a:ext cx="895926" cy="71344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IN" sz="500" dirty="0">
                <a:solidFill>
                  <a:srgbClr val="000000"/>
                </a:solidFill>
                <a:highlight>
                  <a:srgbClr val="FFFFFF"/>
                </a:highlight>
                <a:latin typeface="Consolas" panose="020B0609020204030204" pitchFamily="49" charset="0"/>
              </a:rPr>
              <a:t>ID = id,</a:t>
            </a:r>
          </a:p>
          <a:p>
            <a:r>
              <a:rPr lang="en-IN" sz="500" dirty="0">
                <a:solidFill>
                  <a:srgbClr val="000000"/>
                </a:solidFill>
                <a:highlight>
                  <a:srgbClr val="FFFFFF"/>
                </a:highlight>
                <a:latin typeface="Consolas" panose="020B0609020204030204" pitchFamily="49" charset="0"/>
              </a:rPr>
              <a:t>                Name = </a:t>
            </a:r>
            <a:r>
              <a:rPr lang="en-IN" sz="500" dirty="0">
                <a:solidFill>
                  <a:srgbClr val="A31515"/>
                </a:solidFill>
                <a:highlight>
                  <a:srgbClr val="FFFFFF"/>
                </a:highlight>
                <a:latin typeface="Consolas" panose="020B0609020204030204" pitchFamily="49" charset="0"/>
              </a:rPr>
              <a:t>"</a:t>
            </a:r>
            <a:r>
              <a:rPr lang="en-IN" sz="500" dirty="0" err="1">
                <a:solidFill>
                  <a:srgbClr val="A31515"/>
                </a:solidFill>
                <a:highlight>
                  <a:srgbClr val="FFFFFF"/>
                </a:highlight>
                <a:latin typeface="Consolas" panose="020B0609020204030204" pitchFamily="49" charset="0"/>
              </a:rPr>
              <a:t>Pranaya</a:t>
            </a:r>
            <a:r>
              <a:rPr lang="en-IN" sz="500" dirty="0">
                <a:solidFill>
                  <a:srgbClr val="A31515"/>
                </a:solidFill>
                <a:highlight>
                  <a:srgbClr val="FFFFFF"/>
                </a:highlight>
                <a:latin typeface="Consolas" panose="020B0609020204030204" pitchFamily="49" charset="0"/>
              </a:rPr>
              <a:t>"</a:t>
            </a:r>
            <a:r>
              <a:rPr lang="en-IN" sz="500" dirty="0">
                <a:solidFill>
                  <a:srgbClr val="000000"/>
                </a:solidFill>
                <a:highlight>
                  <a:srgbClr val="FFFFFF"/>
                </a:highlight>
                <a:latin typeface="Consolas" panose="020B0609020204030204" pitchFamily="49" charset="0"/>
              </a:rPr>
              <a:t>,</a:t>
            </a:r>
          </a:p>
          <a:p>
            <a:r>
              <a:rPr lang="en-IN" sz="500" dirty="0">
                <a:solidFill>
                  <a:srgbClr val="000000"/>
                </a:solidFill>
                <a:highlight>
                  <a:srgbClr val="FFFFFF"/>
                </a:highlight>
                <a:latin typeface="Consolas" panose="020B0609020204030204" pitchFamily="49" charset="0"/>
              </a:rPr>
              <a:t>                Department = </a:t>
            </a:r>
            <a:r>
              <a:rPr lang="en-IN" sz="500" dirty="0">
                <a:solidFill>
                  <a:srgbClr val="A31515"/>
                </a:solidFill>
                <a:highlight>
                  <a:srgbClr val="FFFFFF"/>
                </a:highlight>
                <a:latin typeface="Consolas" panose="020B0609020204030204" pitchFamily="49" charset="0"/>
              </a:rPr>
              <a:t>"IT"</a:t>
            </a:r>
            <a:r>
              <a:rPr lang="en-IN" sz="500" dirty="0">
                <a:solidFill>
                  <a:srgbClr val="000000"/>
                </a:solidFill>
                <a:highlight>
                  <a:srgbClr val="FFFFFF"/>
                </a:highlight>
                <a:latin typeface="Consolas" panose="020B0609020204030204" pitchFamily="49" charset="0"/>
              </a:rPr>
              <a:t>,</a:t>
            </a:r>
          </a:p>
          <a:p>
            <a:r>
              <a:rPr lang="en-IN" sz="500" dirty="0">
                <a:solidFill>
                  <a:srgbClr val="000000"/>
                </a:solidFill>
                <a:highlight>
                  <a:srgbClr val="FFFFFF"/>
                </a:highlight>
                <a:latin typeface="Consolas" panose="020B0609020204030204" pitchFamily="49" charset="0"/>
              </a:rPr>
              <a:t>                Salary = 10000</a:t>
            </a:r>
          </a:p>
        </p:txBody>
      </p:sp>
      <p:sp>
        <p:nvSpPr>
          <p:cNvPr id="27" name="TextBox 26">
            <a:extLst>
              <a:ext uri="{FF2B5EF4-FFF2-40B4-BE49-F238E27FC236}">
                <a16:creationId xmlns:a16="http://schemas.microsoft.com/office/drawing/2014/main" id="{851E0D29-7E18-42E8-A9AD-3B5893F7B944}"/>
              </a:ext>
            </a:extLst>
          </p:cNvPr>
          <p:cNvSpPr txBox="1"/>
          <p:nvPr/>
        </p:nvSpPr>
        <p:spPr>
          <a:xfrm>
            <a:off x="4959929" y="6223184"/>
            <a:ext cx="655781" cy="369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IN" sz="1800" dirty="0">
                <a:solidFill>
                  <a:srgbClr val="000000"/>
                </a:solidFill>
                <a:highlight>
                  <a:srgbClr val="FFFFFF"/>
                </a:highlight>
                <a:latin typeface="Consolas" panose="020B0609020204030204" pitchFamily="49" charset="0"/>
              </a:rPr>
              <a:t>emp</a:t>
            </a:r>
            <a:endParaRPr lang="en-IN" dirty="0"/>
          </a:p>
        </p:txBody>
      </p:sp>
      <p:cxnSp>
        <p:nvCxnSpPr>
          <p:cNvPr id="29" name="Straight Arrow Connector 28">
            <a:extLst>
              <a:ext uri="{FF2B5EF4-FFF2-40B4-BE49-F238E27FC236}">
                <a16:creationId xmlns:a16="http://schemas.microsoft.com/office/drawing/2014/main" id="{DB50B677-7C6A-4930-A178-616B4133DCC5}"/>
              </a:ext>
            </a:extLst>
          </p:cNvPr>
          <p:cNvCxnSpPr>
            <a:stCxn id="27" idx="3"/>
          </p:cNvCxnSpPr>
          <p:nvPr/>
        </p:nvCxnSpPr>
        <p:spPr>
          <a:xfrm flipV="1">
            <a:off x="5615710" y="6407848"/>
            <a:ext cx="184726"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C8EAEEA8-F77B-45A4-BE37-527B0084E52B}"/>
              </a:ext>
            </a:extLst>
          </p:cNvPr>
          <p:cNvSpPr txBox="1"/>
          <p:nvPr/>
        </p:nvSpPr>
        <p:spPr>
          <a:xfrm>
            <a:off x="8465127" y="5248628"/>
            <a:ext cx="1838036" cy="276999"/>
          </a:xfrm>
          <a:prstGeom prst="rect">
            <a:avLst/>
          </a:prstGeom>
          <a:noFill/>
        </p:spPr>
        <p:txBody>
          <a:bodyPr wrap="square">
            <a:spAutoFit/>
          </a:bodyPr>
          <a:lstStyle/>
          <a:p>
            <a:pPr algn="ctr"/>
            <a:r>
              <a:rPr kumimoji="0" lang="en-IN" sz="1200" b="0" i="0" u="none" strike="noStrike" kern="1200" cap="none" spc="0" normalizeH="0" baseline="0" noProof="0" dirty="0" err="1">
                <a:ln>
                  <a:noFill/>
                </a:ln>
                <a:solidFill>
                  <a:srgbClr val="2B91AF"/>
                </a:solidFill>
                <a:effectLst/>
                <a:highlight>
                  <a:srgbClr val="FFFFFF"/>
                </a:highlight>
                <a:uLnTx/>
                <a:uFillTx/>
                <a:latin typeface="Consolas" panose="020B0609020204030204" pitchFamily="49" charset="0"/>
                <a:ea typeface="+mn-ea"/>
                <a:cs typeface="+mn-cs"/>
              </a:rPr>
              <a:t>EmployeeDataAccess</a:t>
            </a:r>
            <a:endParaRPr lang="en-IN" sz="1200" dirty="0"/>
          </a:p>
        </p:txBody>
      </p:sp>
    </p:spTree>
    <p:extLst>
      <p:ext uri="{BB962C8B-B14F-4D97-AF65-F5344CB8AC3E}">
        <p14:creationId xmlns:p14="http://schemas.microsoft.com/office/powerpoint/2010/main" val="3352659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12D320-262A-4ED3-9E87-76F7E44042D8}"/>
              </a:ext>
            </a:extLst>
          </p:cNvPr>
          <p:cNvSpPr>
            <a:spLocks noGrp="1"/>
          </p:cNvSpPr>
          <p:nvPr>
            <p:ph idx="1"/>
          </p:nvPr>
        </p:nvSpPr>
        <p:spPr>
          <a:xfrm>
            <a:off x="92364" y="591127"/>
            <a:ext cx="11261436" cy="5585836"/>
          </a:xfrm>
        </p:spPr>
        <p:txBody>
          <a:bodyPr>
            <a:normAutofit/>
          </a:bodyPr>
          <a:lstStyle/>
          <a:p>
            <a:pPr marL="0" indent="0">
              <a:buNone/>
            </a:pPr>
            <a:r>
              <a:rPr lang="en-US" sz="1800" dirty="0"/>
              <a:t>That’s it. We have implemented the Dependency Inversion Principle in our example where the high-level module (</a:t>
            </a:r>
            <a:r>
              <a:rPr lang="en-US" sz="1800" dirty="0" err="1"/>
              <a:t>EmployeeBusinessLogic</a:t>
            </a:r>
            <a:r>
              <a:rPr lang="en-US" sz="1800" dirty="0"/>
              <a:t>) and low-level module (</a:t>
            </a:r>
            <a:r>
              <a:rPr lang="en-US" sz="1800" dirty="0" err="1"/>
              <a:t>EmployeeDataAccess</a:t>
            </a:r>
            <a:r>
              <a:rPr lang="en-US" sz="1800" dirty="0"/>
              <a:t>) depend on abstraction (</a:t>
            </a:r>
            <a:r>
              <a:rPr lang="en-US" sz="1800" dirty="0" err="1"/>
              <a:t>IEmployeeDataAccess</a:t>
            </a:r>
            <a:r>
              <a:rPr lang="en-US" sz="1800" dirty="0"/>
              <a:t>). Also, abstraction (</a:t>
            </a:r>
            <a:r>
              <a:rPr lang="en-US" sz="1800" dirty="0" err="1"/>
              <a:t>IEmployeeDataAccess</a:t>
            </a:r>
            <a:r>
              <a:rPr lang="en-US" sz="1800" dirty="0"/>
              <a:t>) does not depend on details (</a:t>
            </a:r>
            <a:r>
              <a:rPr lang="en-US" sz="1800" dirty="0" err="1"/>
              <a:t>EmployeeDataAccess</a:t>
            </a:r>
            <a:r>
              <a:rPr lang="en-US" sz="1800" dirty="0"/>
              <a:t>) but details depend on abstraction.</a:t>
            </a:r>
          </a:p>
          <a:p>
            <a:pPr marL="0" indent="0">
              <a:buNone/>
            </a:pPr>
            <a:endParaRPr lang="en-US" sz="1800" dirty="0"/>
          </a:p>
          <a:p>
            <a:pPr marL="0" indent="0">
              <a:buNone/>
            </a:pPr>
            <a:r>
              <a:rPr lang="en-US" sz="1800" dirty="0"/>
              <a:t>Advantages of implementing the Dependency Inversion Principle in C#:</a:t>
            </a:r>
          </a:p>
          <a:p>
            <a:pPr marL="0" indent="0">
              <a:buNone/>
            </a:pPr>
            <a:r>
              <a:rPr lang="en-US" sz="1800" dirty="0"/>
              <a:t>Now, the </a:t>
            </a:r>
            <a:r>
              <a:rPr lang="en-US" sz="1800" dirty="0" err="1"/>
              <a:t>EmployeeBusinessLogic</a:t>
            </a:r>
            <a:r>
              <a:rPr lang="en-US" sz="1800" dirty="0"/>
              <a:t> and </a:t>
            </a:r>
            <a:r>
              <a:rPr lang="en-US" sz="1800" dirty="0" err="1"/>
              <a:t>EmployeeDataAccess</a:t>
            </a:r>
            <a:r>
              <a:rPr lang="en-US" sz="1800" dirty="0"/>
              <a:t> classes are loosely coupled classes because </a:t>
            </a:r>
            <a:r>
              <a:rPr lang="en-US" sz="1800" dirty="0" err="1"/>
              <a:t>EmployeeBusinessLogic</a:t>
            </a:r>
            <a:r>
              <a:rPr lang="en-US" sz="1800" dirty="0"/>
              <a:t> does not depend on concrete </a:t>
            </a:r>
            <a:r>
              <a:rPr lang="en-US" sz="1800" dirty="0" err="1"/>
              <a:t>EmployeeDataAccess</a:t>
            </a:r>
            <a:r>
              <a:rPr lang="en-US" sz="1800" dirty="0"/>
              <a:t> class, instead, it includes a reference of </a:t>
            </a:r>
            <a:r>
              <a:rPr lang="en-US" sz="1800" dirty="0" err="1"/>
              <a:t>IEmployeeDataAccess</a:t>
            </a:r>
            <a:r>
              <a:rPr lang="en-US" sz="1800" dirty="0"/>
              <a:t> interface. So now, we can easily use another class that implements </a:t>
            </a:r>
            <a:r>
              <a:rPr lang="en-US" sz="1800" dirty="0" err="1"/>
              <a:t>IEmployeeDataAccess</a:t>
            </a:r>
            <a:r>
              <a:rPr lang="en-US" sz="1800" dirty="0"/>
              <a:t> with a different implementation.</a:t>
            </a:r>
            <a:endParaRPr lang="en-IN" sz="1800" dirty="0"/>
          </a:p>
        </p:txBody>
      </p:sp>
    </p:spTree>
    <p:extLst>
      <p:ext uri="{BB962C8B-B14F-4D97-AF65-F5344CB8AC3E}">
        <p14:creationId xmlns:p14="http://schemas.microsoft.com/office/powerpoint/2010/main" val="32941642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680</TotalTime>
  <Words>5716</Words>
  <Application>Microsoft Office PowerPoint</Application>
  <PresentationFormat>Widescreen</PresentationFormat>
  <Paragraphs>641</Paragraphs>
  <Slides>25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25</vt:i4>
      </vt:variant>
    </vt:vector>
  </HeadingPairs>
  <TitlesOfParts>
    <vt:vector size="34" baseType="lpstr">
      <vt:lpstr>-apple-system</vt:lpstr>
      <vt:lpstr>Arial</vt:lpstr>
      <vt:lpstr>Arial</vt:lpstr>
      <vt:lpstr>Calibri</vt:lpstr>
      <vt:lpstr>Calibri Light</vt:lpstr>
      <vt:lpstr>Consolas</vt:lpstr>
      <vt:lpstr>Inconsolata</vt:lpstr>
      <vt:lpstr>inherit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 per the Open-Closed principle, Instead of “MODIFYING”, we should go for “EXTENSION”.</vt:lpstr>
      <vt:lpstr>The Letter L in SOLID stands for Liskov Substitution Principle which is also known as LSP.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vidyanidhi school</cp:lastModifiedBy>
  <cp:revision>34</cp:revision>
  <dcterms:created xsi:type="dcterms:W3CDTF">2021-04-03T05:20:28Z</dcterms:created>
  <dcterms:modified xsi:type="dcterms:W3CDTF">2023-05-08T07:30:52Z</dcterms:modified>
</cp:coreProperties>
</file>