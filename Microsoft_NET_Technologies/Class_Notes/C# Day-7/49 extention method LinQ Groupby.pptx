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81" r:id="rId4"/>
    <p:sldId id="269" r:id="rId5"/>
    <p:sldId id="280" r:id="rId6"/>
    <p:sldId id="278" r:id="rId7"/>
    <p:sldId id="270" r:id="rId8"/>
    <p:sldId id="271" r:id="rId9"/>
    <p:sldId id="273" r:id="rId10"/>
    <p:sldId id="275" r:id="rId11"/>
    <p:sldId id="272" r:id="rId12"/>
    <p:sldId id="276" r:id="rId13"/>
    <p:sldId id="274" r:id="rId14"/>
    <p:sldId id="279" r:id="rId15"/>
    <p:sldId id="27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686" y="-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9FE38-F050-47FC-972A-2C62A7FE0238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35BFC4-6EE2-4A43-98E9-146BD6B5190C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6806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DC139F7-30EE-4C3C-BBF4-BAD32D2B5D66}"/>
              </a:ext>
            </a:extLst>
          </p:cNvPr>
          <p:cNvSpPr/>
          <p:nvPr userDrawn="1"/>
        </p:nvSpPr>
        <p:spPr>
          <a:xfrm>
            <a:off x="0" y="6567586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/>
              <a:t>ketkiacharya</a:t>
            </a:r>
            <a:r>
              <a:rPr lang="en-IN" sz="1350" dirty="0"/>
              <a:t>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4A5B-FA83-4903-A279-F176ACA2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-1"/>
            <a:ext cx="838200" cy="609601"/>
          </a:xfrm>
        </p:spPr>
        <p:txBody>
          <a:bodyPr>
            <a:normAutofit/>
          </a:bodyPr>
          <a:lstStyle/>
          <a:p>
            <a:r>
              <a:rPr lang="en-IN" sz="2800" b="1" dirty="0"/>
              <a:t>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A933B-95FE-4C88-AEC8-CEECC72EB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2400" y="29497"/>
            <a:ext cx="4699819" cy="72095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 </a:t>
            </a: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Demonstrate join. 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A class that links an item name with its number.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ItemNumber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Item(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n,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inum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Name = n;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ItemNumber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inum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   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A class that links an item number with its in-stock status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InStockStatus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ItemNumber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InStockStatus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n,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ItemNumber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n;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b;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 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A class that encapsulates a name with its status.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Temp(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n,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       Name = n;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b;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227111-71E8-4358-B31C-F6A9CA1589D9}"/>
              </a:ext>
            </a:extLst>
          </p:cNvPr>
          <p:cNvSpPr txBox="1"/>
          <p:nvPr/>
        </p:nvSpPr>
        <p:spPr>
          <a:xfrm>
            <a:off x="4419600" y="-96470"/>
            <a:ext cx="4953000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JoinDemo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items = {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"Pliers"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1424),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"Hammer"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7892),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"Wrench"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8534),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"Saw"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6411)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InStockStatus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statusList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{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InStockStatus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(1424,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InStockStatus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(7892,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InStockStatus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(8534,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InStockStatus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(6411,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Create a query that joins Item with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InStockStatus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to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produce a list of item names and availability. Notice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that a sequence of Temp objects is produced.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inStockList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item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items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entry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statusList</a:t>
            </a:r>
            <a:endParaRPr lang="en-IN" sz="12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item.ItemNumber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equals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entry.ItemNumber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item.Name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entry.InStock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"Item\</a:t>
            </a:r>
            <a:r>
              <a:rPr lang="en-IN" sz="12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tAvailable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\n"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Execute the query and display the results.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inStockList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"{0}\t{1}"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t.Name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t.InStock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8493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CD39A-2B90-A59E-F6A2-ACC098AF5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21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IEnumerable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&lt;Temp&gt;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inStockList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item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chemeClr val="accent6"/>
                </a:solidFill>
                <a:latin typeface="Cascadia Mono" panose="020B0609020000020004" pitchFamily="49" charset="0"/>
              </a:rPr>
              <a:t>items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join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		entry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chemeClr val="accent6"/>
                </a:solidFill>
                <a:latin typeface="Cascadia Mono" panose="020B0609020000020004" pitchFamily="49" charset="0"/>
              </a:rPr>
              <a:t>statusList</a:t>
            </a:r>
            <a:endParaRPr lang="en-IN" sz="1600" dirty="0">
              <a:solidFill>
                <a:schemeClr val="accent6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		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item.ItemNumber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	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equals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entry.ItemNumber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Temp{ 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Name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item.Name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InStock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entry.InStock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25E4D3-7BA7-E4C7-C522-8BF46D736218}"/>
              </a:ext>
            </a:extLst>
          </p:cNvPr>
          <p:cNvSpPr txBox="1"/>
          <p:nvPr/>
        </p:nvSpPr>
        <p:spPr>
          <a:xfrm>
            <a:off x="152400" y="3304837"/>
            <a:ext cx="3429000" cy="4308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 {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ItemNumber</a:t>
            </a:r>
            <a:r>
              <a:rPr lang="en-US" sz="11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48F0B-01B3-CA06-C33C-6B01CE0A9B0E}"/>
              </a:ext>
            </a:extLst>
          </p:cNvPr>
          <p:cNvSpPr txBox="1"/>
          <p:nvPr/>
        </p:nvSpPr>
        <p:spPr>
          <a:xfrm>
            <a:off x="4318000" y="3429000"/>
            <a:ext cx="388620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ItemNumber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  <a:endParaRPr lang="en-IN" sz="12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1EE8F7-9898-C220-58C1-4D734734D63F}"/>
              </a:ext>
            </a:extLst>
          </p:cNvPr>
          <p:cNvCxnSpPr/>
          <p:nvPr/>
        </p:nvCxnSpPr>
        <p:spPr>
          <a:xfrm>
            <a:off x="2057400" y="1447800"/>
            <a:ext cx="304800" cy="1857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100264-63B2-C3B6-49A7-98964CFCF948}"/>
              </a:ext>
            </a:extLst>
          </p:cNvPr>
          <p:cNvCxnSpPr/>
          <p:nvPr/>
        </p:nvCxnSpPr>
        <p:spPr>
          <a:xfrm>
            <a:off x="5257800" y="1676400"/>
            <a:ext cx="76200" cy="175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154C83-CD67-4000-AB30-63651B92132C}"/>
              </a:ext>
            </a:extLst>
          </p:cNvPr>
          <p:cNvSpPr txBox="1"/>
          <p:nvPr/>
        </p:nvSpPr>
        <p:spPr>
          <a:xfrm>
            <a:off x="3479800" y="3902242"/>
            <a:ext cx="939800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Join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dirty="0">
                <a:solidFill>
                  <a:schemeClr val="accent1"/>
                </a:solidFill>
              </a:rPr>
              <a:t>On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dirty="0">
                <a:solidFill>
                  <a:schemeClr val="accent1"/>
                </a:solidFill>
              </a:rPr>
              <a:t>equals</a:t>
            </a:r>
          </a:p>
          <a:p>
            <a:endParaRPr lang="en-IN" dirty="0"/>
          </a:p>
          <a:p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B689E5-0261-CA24-5B51-63A2882226C4}"/>
              </a:ext>
            </a:extLst>
          </p:cNvPr>
          <p:cNvCxnSpPr/>
          <p:nvPr/>
        </p:nvCxnSpPr>
        <p:spPr>
          <a:xfrm>
            <a:off x="1752600" y="3657600"/>
            <a:ext cx="1676400" cy="1568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325178-9FBF-54BB-54F8-3B2C94193263}"/>
              </a:ext>
            </a:extLst>
          </p:cNvPr>
          <p:cNvCxnSpPr/>
          <p:nvPr/>
        </p:nvCxnSpPr>
        <p:spPr>
          <a:xfrm flipH="1">
            <a:off x="4191000" y="3657600"/>
            <a:ext cx="1600200" cy="167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A06F604-68C8-E04F-99B8-D4063C4522A0}"/>
              </a:ext>
            </a:extLst>
          </p:cNvPr>
          <p:cNvCxnSpPr/>
          <p:nvPr/>
        </p:nvCxnSpPr>
        <p:spPr>
          <a:xfrm flipV="1">
            <a:off x="3200400" y="762000"/>
            <a:ext cx="2514600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1AC0D51-E53A-E661-D21D-C5D95D738E2D}"/>
              </a:ext>
            </a:extLst>
          </p:cNvPr>
          <p:cNvCxnSpPr/>
          <p:nvPr/>
        </p:nvCxnSpPr>
        <p:spPr>
          <a:xfrm flipH="1" flipV="1">
            <a:off x="5715000" y="762000"/>
            <a:ext cx="381000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BBCD80F-292F-6C4E-A3BE-96386A6E20C6}"/>
              </a:ext>
            </a:extLst>
          </p:cNvPr>
          <p:cNvSpPr txBox="1"/>
          <p:nvPr/>
        </p:nvSpPr>
        <p:spPr>
          <a:xfrm>
            <a:off x="5943600" y="228600"/>
            <a:ext cx="27432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Collection</a:t>
            </a:r>
          </a:p>
        </p:txBody>
      </p:sp>
    </p:spTree>
    <p:extLst>
      <p:ext uri="{BB962C8B-B14F-4D97-AF65-F5344CB8AC3E}">
        <p14:creationId xmlns:p14="http://schemas.microsoft.com/office/powerpoint/2010/main" val="135951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B777C-0B29-4319-A99E-367E8A15B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 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7A0B3-D330-4CE3-BAD1-340AD6CB6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990600"/>
            <a:ext cx="4572000" cy="3276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Item    Available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Pliers  True</a:t>
            </a:r>
          </a:p>
          <a:p>
            <a:pPr marL="0" indent="0">
              <a:buNone/>
            </a:pPr>
            <a:r>
              <a:rPr lang="en-US" dirty="0"/>
              <a:t>Hammer  False</a:t>
            </a:r>
          </a:p>
          <a:p>
            <a:pPr marL="0" indent="0">
              <a:buNone/>
            </a:pPr>
            <a:r>
              <a:rPr lang="en-US" dirty="0"/>
              <a:t>Wrench  True</a:t>
            </a:r>
          </a:p>
          <a:p>
            <a:pPr marL="0" indent="0">
              <a:buNone/>
            </a:pPr>
            <a:r>
              <a:rPr lang="en-US" dirty="0"/>
              <a:t>Saw     True</a:t>
            </a:r>
          </a:p>
          <a:p>
            <a:pPr marL="0" indent="0">
              <a:buNone/>
            </a:pPr>
            <a:r>
              <a:rPr lang="en-US" dirty="0"/>
              <a:t>Press any key to continue . . 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F3CCB-45F1-6B66-2CC2-1E7D65DB7AA2}"/>
              </a:ext>
            </a:extLst>
          </p:cNvPr>
          <p:cNvSpPr txBox="1"/>
          <p:nvPr/>
        </p:nvSpPr>
        <p:spPr>
          <a:xfrm>
            <a:off x="457200" y="4518561"/>
            <a:ext cx="8229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da-DK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q = items.Join(statusList,</a:t>
            </a:r>
          </a:p>
          <a:p>
            <a:r>
              <a:rPr lang="en-IN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it =&gt; </a:t>
            </a:r>
            <a:r>
              <a:rPr lang="en-IN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it.ItemNumber</a:t>
            </a:r>
            <a:r>
              <a:rPr lang="en-IN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IN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IN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sl</a:t>
            </a:r>
            <a:r>
              <a:rPr lang="en-IN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=&gt; </a:t>
            </a:r>
            <a:r>
              <a:rPr lang="en-IN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sl.ItemNumber</a:t>
            </a:r>
            <a:r>
              <a:rPr lang="en-IN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(it,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sl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 =&gt;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Temp(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it.Name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sl.InStock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)); ;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449731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079421-1148-E2AC-EC1D-F2BDDE04ACD9}"/>
              </a:ext>
            </a:extLst>
          </p:cNvPr>
          <p:cNvSpPr txBox="1"/>
          <p:nvPr/>
        </p:nvSpPr>
        <p:spPr>
          <a:xfrm>
            <a:off x="228600" y="609601"/>
            <a:ext cx="8305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TestComparer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: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IEqualityComparer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Equals(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x,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y)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ReferenceEquals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(x, y))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s-E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s-E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s-E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((x &gt;= 7892 || y &gt;= 7892) &amp;&amp; (x != y))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GetHashCode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1;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D4083-A320-D2C9-1FD0-85E82455D292}"/>
              </a:ext>
            </a:extLst>
          </p:cNvPr>
          <p:cNvSpPr txBox="1"/>
          <p:nvPr/>
        </p:nvSpPr>
        <p:spPr>
          <a:xfrm>
            <a:off x="1523172" y="5181600"/>
            <a:ext cx="60976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da-DK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da-D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q = items.Join(statusList,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it =&gt;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it.ItemNumber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sl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=&gt;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sl.ItemNumber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(it,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=&gt;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Temp(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it.Name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sl.InStock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),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TestComparer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2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0DC2D-C338-14B4-01D9-110593812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305800" cy="304800"/>
          </a:xfrm>
        </p:spPr>
        <p:txBody>
          <a:bodyPr>
            <a:normAutofit fontScale="90000"/>
          </a:bodyPr>
          <a:lstStyle/>
          <a:p>
            <a:r>
              <a:rPr lang="en-US" dirty="0"/>
              <a:t>TASK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89286-6498-D3E2-FFA9-57714007B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66018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Create class employee with member Id , </a:t>
            </a:r>
            <a:r>
              <a:rPr lang="en-US" sz="2000" dirty="0" err="1"/>
              <a:t>EmpName</a:t>
            </a:r>
            <a:r>
              <a:rPr lang="en-US" sz="2000" dirty="0"/>
              <a:t> salary and </a:t>
            </a:r>
            <a:r>
              <a:rPr lang="en-US" sz="2000" dirty="0" err="1"/>
              <a:t>DetId</a:t>
            </a:r>
            <a:endParaRPr lang="en-US" sz="2000" dirty="0"/>
          </a:p>
          <a:p>
            <a:r>
              <a:rPr lang="en-US" sz="2000" dirty="0"/>
              <a:t>Create class Department with member </a:t>
            </a:r>
            <a:r>
              <a:rPr lang="en-US" sz="2000" dirty="0" err="1"/>
              <a:t>DetId</a:t>
            </a:r>
            <a:r>
              <a:rPr lang="en-US" sz="2000" dirty="0"/>
              <a:t>  </a:t>
            </a:r>
            <a:r>
              <a:rPr lang="en-US" sz="2000" dirty="0" err="1"/>
              <a:t>DeptName</a:t>
            </a:r>
            <a:r>
              <a:rPr lang="en-US" sz="2000" dirty="0"/>
              <a:t>[ADV, HR, ADMIN]</a:t>
            </a:r>
          </a:p>
          <a:p>
            <a:r>
              <a:rPr lang="en-US" sz="2000" dirty="0"/>
              <a:t>Create array of each class and store 6 object</a:t>
            </a:r>
          </a:p>
          <a:p>
            <a:r>
              <a:rPr lang="en-US" sz="2000" dirty="0"/>
              <a:t>Write query and display </a:t>
            </a:r>
            <a:r>
              <a:rPr lang="en-US" sz="2000" dirty="0" err="1"/>
              <a:t>EmpName</a:t>
            </a:r>
            <a:r>
              <a:rPr lang="en-US" sz="2000" dirty="0"/>
              <a:t> and name </a:t>
            </a:r>
            <a:r>
              <a:rPr lang="en-US" sz="2000"/>
              <a:t>of Department</a:t>
            </a: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27109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29CD2-24B4-40F9-A774-5F627085A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9832"/>
            <a:ext cx="7543800" cy="762000"/>
          </a:xfrm>
        </p:spPr>
        <p:txBody>
          <a:bodyPr/>
          <a:lstStyle/>
          <a:p>
            <a:r>
              <a:rPr lang="en-IN" dirty="0" err="1"/>
              <a:t>GroupBy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86629-864D-4EDD-8DCE-4EEA673B5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71833"/>
            <a:ext cx="8382000" cy="27333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sing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System.Collections.Generic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ProductName{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Category{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0843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57A562-243C-42F7-9A6F-13E6148129B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-152400" y="-152400"/>
            <a:ext cx="10515600" cy="7467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demo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products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&gt;{</a:t>
            </a: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=1, ProductName=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"Chai"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Category=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"Beverages"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=18.0000 ,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=39},</a:t>
            </a:r>
          </a:p>
          <a:p>
            <a:pPr marL="0" indent="0">
              <a:buFont typeface="Arial" pitchFamily="34" charset="0"/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=2 ,ProductName=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"Chang"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Category=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"Food"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=19.0000,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=17},</a:t>
            </a:r>
          </a:p>
          <a:p>
            <a:pPr marL="0" indent="0">
              <a:buFont typeface="Arial" pitchFamily="34" charset="0"/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=24, ProductName=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Guaraná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Category=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"Food"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=4.5000,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=20},</a:t>
            </a:r>
          </a:p>
          <a:p>
            <a:pPr marL="0" indent="0">
              <a:buFont typeface="Arial" pitchFamily="34" charset="0"/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=34, ProductName=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"Sasquatch Ale"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Category=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"Food"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=14.0000,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=111},</a:t>
            </a:r>
          </a:p>
          <a:p>
            <a:pPr marL="0" indent="0">
              <a:buFont typeface="Arial" pitchFamily="34" charset="0"/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=35, ProductName=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"Steeleye Stout"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Category=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"Food"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=18.0000 ,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=20},</a:t>
            </a:r>
          </a:p>
          <a:p>
            <a:pPr marL="0" indent="0">
              <a:buFont typeface="Arial" pitchFamily="34" charset="0"/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=38, ProductName=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"Côte de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Blaye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,Category=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"Beverages"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=263.5000,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=17},</a:t>
            </a:r>
          </a:p>
          <a:p>
            <a:pPr marL="0" indent="0">
              <a:buFont typeface="Arial" pitchFamily="34" charset="0"/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=39, ProductName=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"Chartreuse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vertev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Category=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"Beverages"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=18.0000 ,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=69}</a:t>
            </a: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=43, ProductName=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"Ipoh Coffee"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,Category=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"Beverages"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=46.0000,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=17},</a:t>
            </a:r>
          </a:p>
          <a:p>
            <a:pPr marL="0" indent="0">
              <a:buFont typeface="Arial" pitchFamily="34" charset="0"/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=67, ProductName=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"Laughing Lumberjack </a:t>
            </a:r>
            <a:r>
              <a:rPr lang="en-I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Lagerv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Category=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"Beverages"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=14.0000,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=52}</a:t>
            </a:r>
          </a:p>
          <a:p>
            <a:pPr marL="0" indent="0">
              <a:buFont typeface="Arial" pitchFamily="34" charset="0"/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};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287237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61719-E97C-4927-A580-AB42095D3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567" y="0"/>
            <a:ext cx="8858865" cy="3276599"/>
          </a:xfrm>
        </p:spPr>
        <p:txBody>
          <a:bodyPr>
            <a:normAutofit fontScale="92500" lnSpcReduction="10000"/>
          </a:bodyPr>
          <a:lstStyle/>
          <a:p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orderGroups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products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group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p.Category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g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Category =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g.Key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Products = g };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orderGroups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r.Category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r.Products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"{0}  {1}  {2} {3}"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n.ProductID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,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n.ProductName,n.UnitPrice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n.Category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5535AD-A1BE-4025-9F68-48CE81F430C4}"/>
              </a:ext>
            </a:extLst>
          </p:cNvPr>
          <p:cNvSpPr txBox="1"/>
          <p:nvPr/>
        </p:nvSpPr>
        <p:spPr>
          <a:xfrm>
            <a:off x="228600" y="3505200"/>
            <a:ext cx="8610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orderGroups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products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group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p.Category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g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g;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orderGroups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r.Key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r)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"{0}  {1}  {2} {3}"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n.ProductID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n.ProductName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n.UnitPrice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n.Category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8791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D7687-7663-4E09-9A0A-438815C34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5011B-9B62-43C7-A78B-97058D38F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Beverages</a:t>
            </a:r>
          </a:p>
          <a:p>
            <a:pPr marL="0" indent="0">
              <a:buNone/>
            </a:pPr>
            <a:r>
              <a:rPr lang="en-IN" dirty="0"/>
              <a:t>1  Chai  18 Beverages</a:t>
            </a:r>
          </a:p>
          <a:p>
            <a:pPr marL="0" indent="0">
              <a:buNone/>
            </a:pPr>
            <a:r>
              <a:rPr lang="en-IN" dirty="0"/>
              <a:t>38  Côte de </a:t>
            </a:r>
            <a:r>
              <a:rPr lang="en-IN" dirty="0" err="1"/>
              <a:t>Blaye</a:t>
            </a:r>
            <a:r>
              <a:rPr lang="en-IN" dirty="0"/>
              <a:t>  263.5 Beverages</a:t>
            </a:r>
          </a:p>
          <a:p>
            <a:pPr marL="0" indent="0">
              <a:buNone/>
            </a:pPr>
            <a:r>
              <a:rPr lang="en-IN" dirty="0"/>
              <a:t>39  Chartreuse </a:t>
            </a:r>
            <a:r>
              <a:rPr lang="en-IN" dirty="0" err="1"/>
              <a:t>vertev</a:t>
            </a:r>
            <a:r>
              <a:rPr lang="en-IN" dirty="0"/>
              <a:t>  18 Beverages</a:t>
            </a:r>
          </a:p>
          <a:p>
            <a:pPr marL="0" indent="0">
              <a:buNone/>
            </a:pPr>
            <a:r>
              <a:rPr lang="en-IN" dirty="0"/>
              <a:t>43  Ipoh Coffee  46 Beverages</a:t>
            </a:r>
          </a:p>
          <a:p>
            <a:pPr marL="0" indent="0">
              <a:buNone/>
            </a:pPr>
            <a:r>
              <a:rPr lang="en-IN" dirty="0"/>
              <a:t>67  Laughing Lumberjack </a:t>
            </a:r>
            <a:r>
              <a:rPr lang="en-IN" dirty="0" err="1"/>
              <a:t>Lagerv</a:t>
            </a:r>
            <a:r>
              <a:rPr lang="en-IN" dirty="0"/>
              <a:t>  14 Beverages</a:t>
            </a:r>
          </a:p>
          <a:p>
            <a:pPr marL="0" indent="0">
              <a:buNone/>
            </a:pPr>
            <a:r>
              <a:rPr lang="en-IN" dirty="0"/>
              <a:t>Food</a:t>
            </a:r>
          </a:p>
          <a:p>
            <a:pPr marL="0" indent="0">
              <a:buNone/>
            </a:pPr>
            <a:r>
              <a:rPr lang="en-IN" dirty="0"/>
              <a:t>2  Chang  19 Food</a:t>
            </a:r>
          </a:p>
          <a:p>
            <a:pPr marL="0" indent="0">
              <a:buNone/>
            </a:pPr>
            <a:r>
              <a:rPr lang="en-IN" dirty="0"/>
              <a:t>24  </a:t>
            </a:r>
            <a:r>
              <a:rPr lang="en-IN" dirty="0" err="1"/>
              <a:t>Guaraná</a:t>
            </a:r>
            <a:r>
              <a:rPr lang="en-IN" dirty="0"/>
              <a:t>  4.5 Food</a:t>
            </a:r>
          </a:p>
          <a:p>
            <a:pPr marL="0" indent="0">
              <a:buNone/>
            </a:pPr>
            <a:r>
              <a:rPr lang="en-IN" dirty="0"/>
              <a:t>34  Sasquatch Ale  14 Food</a:t>
            </a:r>
          </a:p>
          <a:p>
            <a:pPr marL="0" indent="0">
              <a:buNone/>
            </a:pPr>
            <a:r>
              <a:rPr lang="en-IN" dirty="0"/>
              <a:t>35  Steeleye Stout  18 Food</a:t>
            </a:r>
          </a:p>
          <a:p>
            <a:pPr marL="0" indent="0">
              <a:buNone/>
            </a:pPr>
            <a:r>
              <a:rPr lang="en-IN" dirty="0"/>
              <a:t>Press any key to continue . . 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794086B-9524-43E9-AF35-F303EB479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949926"/>
              </p:ext>
            </p:extLst>
          </p:nvPr>
        </p:nvGraphicFramePr>
        <p:xfrm>
          <a:off x="4599039" y="3962400"/>
          <a:ext cx="19812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99524779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r>
                        <a:rPr lang="en-IN" dirty="0"/>
                        <a:t>0=Beverages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90815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lang="en-IN" dirty="0"/>
                        <a:t>1=Food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77117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F9ADF1-76DC-4CEE-AC3D-FDAAE31B2D32}"/>
              </a:ext>
            </a:extLst>
          </p:cNvPr>
          <p:cNvCxnSpPr/>
          <p:nvPr/>
        </p:nvCxnSpPr>
        <p:spPr>
          <a:xfrm flipV="1">
            <a:off x="5995220" y="4191000"/>
            <a:ext cx="8382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45AD61-34DC-476E-9908-F4B293CB255B}"/>
              </a:ext>
            </a:extLst>
          </p:cNvPr>
          <p:cNvCxnSpPr/>
          <p:nvPr/>
        </p:nvCxnSpPr>
        <p:spPr>
          <a:xfrm flipV="1">
            <a:off x="6134100" y="4800600"/>
            <a:ext cx="8382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FC52211D-518E-4121-A92D-94273BD6E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892471"/>
              </p:ext>
            </p:extLst>
          </p:nvPr>
        </p:nvGraphicFramePr>
        <p:xfrm>
          <a:off x="6991965" y="2438400"/>
          <a:ext cx="259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542729385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r>
                        <a:rPr lang="en-IN" dirty="0"/>
                        <a:t>1 chai 18 Beverages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039497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en-IN" dirty="0"/>
                        <a:t>38 cote de </a:t>
                      </a:r>
                      <a:r>
                        <a:rPr lang="en-IN" dirty="0" err="1"/>
                        <a:t>Bkaye</a:t>
                      </a:r>
                      <a:r>
                        <a:rPr lang="en-IN" dirty="0"/>
                        <a:t> 263.5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170099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796929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0504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63887"/>
                  </a:ext>
                </a:extLst>
              </a:tr>
            </a:tbl>
          </a:graphicData>
        </a:graphic>
      </p:graphicFrame>
      <p:graphicFrame>
        <p:nvGraphicFramePr>
          <p:cNvPr id="12" name="Table 10">
            <a:extLst>
              <a:ext uri="{FF2B5EF4-FFF2-40B4-BE49-F238E27FC236}">
                <a16:creationId xmlns:a16="http://schemas.microsoft.com/office/drawing/2014/main" id="{ABCE8837-0ADC-46FE-A52C-D6600D6B2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257213"/>
              </p:ext>
            </p:extLst>
          </p:nvPr>
        </p:nvGraphicFramePr>
        <p:xfrm>
          <a:off x="6991965" y="4572000"/>
          <a:ext cx="2304435" cy="2453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435">
                  <a:extLst>
                    <a:ext uri="{9D8B030D-6E8A-4147-A177-3AD203B41FA5}">
                      <a16:colId xmlns:a16="http://schemas.microsoft.com/office/drawing/2014/main" val="542729385"/>
                    </a:ext>
                  </a:extLst>
                </a:gridCol>
              </a:tblGrid>
              <a:tr h="660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dirty="0"/>
                        <a:t>2  Chang  19 Food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039497"/>
                  </a:ext>
                </a:extLst>
              </a:tr>
              <a:tr h="660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dirty="0"/>
                        <a:t>24  </a:t>
                      </a:r>
                      <a:r>
                        <a:rPr lang="en-IN" dirty="0" err="1"/>
                        <a:t>Guaraná</a:t>
                      </a:r>
                      <a:r>
                        <a:rPr lang="en-IN" dirty="0"/>
                        <a:t>  4.5 Food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170099"/>
                  </a:ext>
                </a:extLst>
              </a:tr>
              <a:tr h="377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796929"/>
                  </a:ext>
                </a:extLst>
              </a:tr>
              <a:tr h="377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05042"/>
                  </a:ext>
                </a:extLst>
              </a:tr>
              <a:tr h="377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63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135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24706-1477-4DB6-A1C9-F00170DC9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System.Collections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System.Collections.Generic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Summary: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Represents a collection of objects that have a common key.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Type parameters: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</a:t>
            </a:r>
            <a:r>
              <a:rPr lang="en-IN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TKey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The type of the key of the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System.Linq.IGrouping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TKey,TElement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&gt;.This type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parameter is covariant. That is, you can use either the type you specified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or any type that is more derived. For more information about covariance and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contravariance, see Covariance and Contravariance in Generics.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</a:t>
            </a:r>
            <a:r>
              <a:rPr lang="en-IN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TElement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The type of the values in the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System.Linq.IGrouping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TKey,TElement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&gt;.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interface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IGrouping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TElement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: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IEnumerable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TElement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&gt;,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IEnumerable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Summary: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Gets the key of the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System.Linq.IGrouping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TKey,TElement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&gt;.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Returns: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The key of the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System.Linq.IGrouping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TKey,TElement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&gt;.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TKey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Key {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1306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A1A1F-866F-475B-80AC-ACC98E63D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b="1" dirty="0">
                <a:effectLst/>
                <a:latin typeface="FranklinGothic-DemiCnd"/>
                <a:ea typeface="Calibri" panose="020F0502020204030204" pitchFamily="34" charset="0"/>
                <a:cs typeface="FranklinGothic-DemiCnd"/>
              </a:rPr>
              <a:t>Group Results with group</a:t>
            </a:r>
            <a:b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B2990-A5A3-43AA-9E1E-11E26C256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166018"/>
            <a:ext cx="8991600" cy="45259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One of the most powerful query features is provided by the 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group 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clause because it enables you to create results that are grouped by keys. Using the sequence obtained from a group, you can easily access all of the data associated with a key. This makes 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group 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an easy and effective way to retrieve data that is organized into sequences of related items.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The 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group 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clause is one of only two clauses that can end a query. (The other is 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select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.)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The 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group 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clause has the following general form: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group </a:t>
            </a:r>
            <a:r>
              <a:rPr lang="en-IN" sz="1800" i="1" dirty="0">
                <a:effectLst/>
                <a:latin typeface="Palatino-Italic"/>
                <a:ea typeface="Calibri" panose="020F0502020204030204" pitchFamily="34" charset="0"/>
                <a:cs typeface="Palatino-Italic"/>
              </a:rPr>
              <a:t>range-variable 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by </a:t>
            </a:r>
            <a:r>
              <a:rPr lang="en-IN" sz="1800" i="1" dirty="0">
                <a:effectLst/>
                <a:latin typeface="Palatino-Italic"/>
                <a:ea typeface="Calibri" panose="020F0502020204030204" pitchFamily="34" charset="0"/>
                <a:cs typeface="Palatino-Italic"/>
              </a:rPr>
              <a:t>key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It returns data grouped into sequences, with each sequence sharing the key specified by </a:t>
            </a:r>
            <a:r>
              <a:rPr lang="en-IN" sz="1800" i="1" dirty="0">
                <a:effectLst/>
                <a:latin typeface="Palatino-Italic"/>
                <a:ea typeface="Calibri" panose="020F0502020204030204" pitchFamily="34" charset="0"/>
                <a:cs typeface="Palatino-Italic"/>
              </a:rPr>
              <a:t>key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The result of 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group 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is a sequence that contains elements of type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 </a:t>
            </a:r>
            <a:r>
              <a:rPr lang="en-IN" sz="1800" b="1" dirty="0" err="1">
                <a:effectLst/>
                <a:latin typeface="Palatino-Bold"/>
                <a:ea typeface="Calibri" panose="020F0502020204030204" pitchFamily="34" charset="0"/>
                <a:cs typeface="Palatino-Bold"/>
              </a:rPr>
              <a:t>IGrouping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&lt;</a:t>
            </a:r>
            <a:r>
              <a:rPr lang="en-IN" sz="1800" b="1" dirty="0" err="1">
                <a:effectLst/>
                <a:latin typeface="Palatino-Bold"/>
                <a:ea typeface="Calibri" panose="020F0502020204030204" pitchFamily="34" charset="0"/>
                <a:cs typeface="Palatino-Bold"/>
              </a:rPr>
              <a:t>TKey,TElement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&gt;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, which is declared in the </a:t>
            </a:r>
            <a:r>
              <a:rPr lang="en-IN" sz="1800" b="1" dirty="0" err="1">
                <a:effectLst/>
                <a:latin typeface="Palatino-Bold"/>
                <a:ea typeface="Calibri" panose="020F0502020204030204" pitchFamily="34" charset="0"/>
                <a:cs typeface="Palatino-Bold"/>
              </a:rPr>
              <a:t>System.Linq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 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namespace.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 It defines a collection of objects that share a common key. The type of query variable in a query that returns a group is </a:t>
            </a:r>
            <a:r>
              <a:rPr lang="en-IN" sz="1800" b="1" dirty="0" err="1">
                <a:effectLst/>
                <a:latin typeface="Palatino-Bold"/>
                <a:ea typeface="Calibri" panose="020F0502020204030204" pitchFamily="34" charset="0"/>
                <a:cs typeface="Palatino-Bold"/>
              </a:rPr>
              <a:t>IEnumerable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&lt;</a:t>
            </a:r>
            <a:r>
              <a:rPr lang="en-IN" sz="1800" b="1" dirty="0" err="1">
                <a:effectLst/>
                <a:latin typeface="Palatino-Bold"/>
                <a:ea typeface="Calibri" panose="020F0502020204030204" pitchFamily="34" charset="0"/>
                <a:cs typeface="Palatino-Bold"/>
              </a:rPr>
              <a:t>IGrouping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&lt;</a:t>
            </a:r>
            <a:r>
              <a:rPr lang="en-IN" sz="1800" b="1" dirty="0" err="1">
                <a:effectLst/>
                <a:latin typeface="Palatino-Bold"/>
                <a:ea typeface="Calibri" panose="020F0502020204030204" pitchFamily="34" charset="0"/>
                <a:cs typeface="Palatino-Bold"/>
              </a:rPr>
              <a:t>TKey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, </a:t>
            </a:r>
            <a:r>
              <a:rPr lang="en-IN" sz="1800" b="1" dirty="0" err="1">
                <a:effectLst/>
                <a:latin typeface="Palatino-Bold"/>
                <a:ea typeface="Calibri" panose="020F0502020204030204" pitchFamily="34" charset="0"/>
                <a:cs typeface="Palatino-Bold"/>
              </a:rPr>
              <a:t>TElement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&gt;&gt;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 err="1">
                <a:effectLst/>
                <a:latin typeface="Palatino-Bold"/>
                <a:ea typeface="Calibri" panose="020F0502020204030204" pitchFamily="34" charset="0"/>
                <a:cs typeface="Palatino-Bold"/>
              </a:rPr>
              <a:t>IGrouping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 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defines a </a:t>
            </a:r>
            <a:r>
              <a:rPr lang="en-IN" sz="180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read-only property called 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Key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, which returns the key associated with each sequence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3718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45F94-6A35-45DA-BE11-D52F87589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400" y="228600"/>
            <a:ext cx="51816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demo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words = { 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"blueberry"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"chimpanzee"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"abacus"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"banana"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"apple"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"cheese"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wordGroups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w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words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group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w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w[0]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into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g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FirstLetter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g.Key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Words = g };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g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wordGroups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"Words that start with the letter '{0}':"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g.FirstLetter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w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g.Words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(w);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A8FBB-D8C0-4E9B-BF83-8BC45429F16E}"/>
              </a:ext>
            </a:extLst>
          </p:cNvPr>
          <p:cNvSpPr txBox="1"/>
          <p:nvPr/>
        </p:nvSpPr>
        <p:spPr>
          <a:xfrm>
            <a:off x="381000" y="990600"/>
            <a:ext cx="2895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Result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Words that start with the letter '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’: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blueberry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Banana</a:t>
            </a:r>
          </a:p>
          <a:p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Words that start with the letter '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’: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chimpanzee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Cheese</a:t>
            </a:r>
          </a:p>
          <a:p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Words that start with the letter '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’: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abacus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apple*/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0987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D3AD05-7A17-D8CA-A220-ED46FA211EAE}"/>
              </a:ext>
            </a:extLst>
          </p:cNvPr>
          <p:cNvSpPr txBox="1"/>
          <p:nvPr/>
        </p:nvSpPr>
        <p:spPr>
          <a:xfrm>
            <a:off x="381000" y="457200"/>
            <a:ext cx="73152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ss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words.GroupBy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((m) =&gt; m[0]).Select((k) =&gt;k);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sv-S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(var myw </a:t>
            </a:r>
            <a:r>
              <a:rPr lang="sv-S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ss)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myw.Key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sv-S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(var m </a:t>
            </a:r>
            <a:r>
              <a:rPr lang="sv-S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myw)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(m);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B99600-FCEE-FF51-19D8-3F12B6C8D3B3}"/>
              </a:ext>
            </a:extLst>
          </p:cNvPr>
          <p:cNvSpPr txBox="1"/>
          <p:nvPr/>
        </p:nvSpPr>
        <p:spPr>
          <a:xfrm>
            <a:off x="381000" y="3048000"/>
            <a:ext cx="8229600" cy="397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ss =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words.GroupBy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((m) =&gt; m[0] == </a:t>
            </a:r>
            <a:r>
              <a:rPr lang="en-IN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'c'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).Where((d) =&gt;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d.Key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).Select((k) =&gt; k);</a:t>
            </a:r>
          </a:p>
          <a:p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qry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w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words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group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w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w[0]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g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g.Key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'c'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g;</a:t>
            </a:r>
          </a:p>
          <a:p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sv-SE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(var myw </a:t>
            </a:r>
            <a:r>
              <a:rPr lang="sv-SE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ss)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 </a:t>
            </a:r>
            <a:r>
              <a:rPr lang="en-IN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(</a:t>
            </a:r>
            <a:r>
              <a:rPr lang="en-IN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myw.Key</a:t>
            </a:r>
            <a:r>
              <a:rPr lang="en-IN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);</a:t>
            </a:r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sv-SE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(var m </a:t>
            </a:r>
            <a:r>
              <a:rPr lang="sv-SE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myw)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(m);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768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2D6102-BF8D-4AA4-AEA9-02E0F9D5AC76}"/>
              </a:ext>
            </a:extLst>
          </p:cNvPr>
          <p:cNvSpPr txBox="1"/>
          <p:nvPr/>
        </p:nvSpPr>
        <p:spPr>
          <a:xfrm>
            <a:off x="152400" y="1143000"/>
            <a:ext cx="7086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Create a class Employee having Id name salary dept.</a:t>
            </a:r>
          </a:p>
          <a:p>
            <a:r>
              <a:rPr lang="en-IN" dirty="0"/>
              <a:t>Display all employee detail department wise.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new Employee{id=1, Name=“Raj”, dept=“HR” }</a:t>
            </a:r>
          </a:p>
          <a:p>
            <a:r>
              <a:rPr lang="en-IN" dirty="0"/>
              <a:t>new Employee{id=2, Name=“Raja”, dept=“HR” }</a:t>
            </a:r>
          </a:p>
          <a:p>
            <a:r>
              <a:rPr lang="en-IN" dirty="0"/>
              <a:t>new Employee{id=3, Name=“Rajani”, dept=“ADV” }</a:t>
            </a:r>
          </a:p>
          <a:p>
            <a:r>
              <a:rPr lang="en-IN" dirty="0"/>
              <a:t>new Employee{id=4, Name=“Kavita”, dept=“MKT” }</a:t>
            </a:r>
          </a:p>
          <a:p>
            <a:r>
              <a:rPr lang="en-IN" dirty="0"/>
              <a:t>new Employee{id=5, Name=“Vidya”, dept=“MKT” }</a:t>
            </a:r>
          </a:p>
          <a:p>
            <a:r>
              <a:rPr lang="en-IN" dirty="0"/>
              <a:t>new Employee{id=6, Name=“Ganesh”, dept=“HR” }</a:t>
            </a:r>
          </a:p>
          <a:p>
            <a:r>
              <a:rPr lang="en-IN" dirty="0"/>
              <a:t>new Employee{id=7, Name</a:t>
            </a:r>
            <a:r>
              <a:rPr lang="en-IN"/>
              <a:t>=“Mohan”, </a:t>
            </a:r>
            <a:r>
              <a:rPr lang="en-IN" dirty="0"/>
              <a:t>dept=“MKT” }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2727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2983</TotalTime>
  <Words>2171</Words>
  <Application>Microsoft Office PowerPoint</Application>
  <PresentationFormat>On-screen Show (4:3)</PresentationFormat>
  <Paragraphs>306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Calibri</vt:lpstr>
      <vt:lpstr>Cambria</vt:lpstr>
      <vt:lpstr>Cascadia Mono</vt:lpstr>
      <vt:lpstr>Consolas</vt:lpstr>
      <vt:lpstr>FranklinGothic-DemiCnd</vt:lpstr>
      <vt:lpstr>Garamond</vt:lpstr>
      <vt:lpstr>Palatino-Bold</vt:lpstr>
      <vt:lpstr>Palatino-Italic</vt:lpstr>
      <vt:lpstr>Palatino-Roman</vt:lpstr>
      <vt:lpstr>Trebuchet MS</vt:lpstr>
      <vt:lpstr>Office Theme</vt:lpstr>
      <vt:lpstr>PowerPoint Presentation</vt:lpstr>
      <vt:lpstr>Join</vt:lpstr>
      <vt:lpstr>PowerPoint Presentation</vt:lpstr>
      <vt:lpstr>Out put</vt:lpstr>
      <vt:lpstr>PowerPoint Presentation</vt:lpstr>
      <vt:lpstr>TASK</vt:lpstr>
      <vt:lpstr>GroupBy</vt:lpstr>
      <vt:lpstr>PowerPoint Presentation</vt:lpstr>
      <vt:lpstr>PowerPoint Presentation</vt:lpstr>
      <vt:lpstr>PowerPoint Presentation</vt:lpstr>
      <vt:lpstr>PowerPoint Presentation</vt:lpstr>
      <vt:lpstr>Group Results with group </vt:lpstr>
      <vt:lpstr>PowerPoint Presentation</vt:lpstr>
      <vt:lpstr>PowerPoint Presentation</vt:lpstr>
      <vt:lpstr>PowerPoint Presentation</vt:lpstr>
    </vt:vector>
  </TitlesOfParts>
  <Company>University at Buffalo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Handelling</dc:title>
  <dc:creator>Theory</dc:creator>
  <cp:lastModifiedBy>sriram mantri vidyanidhi infotech academy</cp:lastModifiedBy>
  <cp:revision>138</cp:revision>
  <dcterms:created xsi:type="dcterms:W3CDTF">2012-05-24T05:32:28Z</dcterms:created>
  <dcterms:modified xsi:type="dcterms:W3CDTF">2024-10-18T04:23:23Z</dcterms:modified>
</cp:coreProperties>
</file>