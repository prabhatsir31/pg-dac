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67" r:id="rId2"/>
    <p:sldId id="269" r:id="rId3"/>
    <p:sldId id="273" r:id="rId4"/>
    <p:sldId id="270" r:id="rId5"/>
    <p:sldId id="296" r:id="rId6"/>
    <p:sldId id="271" r:id="rId7"/>
    <p:sldId id="272" r:id="rId8"/>
    <p:sldId id="274" r:id="rId9"/>
    <p:sldId id="298" r:id="rId10"/>
    <p:sldId id="299" r:id="rId11"/>
    <p:sldId id="300" r:id="rId12"/>
    <p:sldId id="275" r:id="rId13"/>
    <p:sldId id="276" r:id="rId14"/>
    <p:sldId id="279" r:id="rId15"/>
    <p:sldId id="280" r:id="rId16"/>
    <p:sldId id="281" r:id="rId17"/>
    <p:sldId id="282" r:id="rId18"/>
    <p:sldId id="277" r:id="rId19"/>
    <p:sldId id="278" r:id="rId20"/>
    <p:sldId id="284" r:id="rId21"/>
    <p:sldId id="292" r:id="rId22"/>
    <p:sldId id="283" r:id="rId23"/>
    <p:sldId id="301" r:id="rId24"/>
    <p:sldId id="285" r:id="rId25"/>
    <p:sldId id="286" r:id="rId26"/>
    <p:sldId id="297" r:id="rId27"/>
    <p:sldId id="287" r:id="rId28"/>
    <p:sldId id="289" r:id="rId29"/>
    <p:sldId id="288" r:id="rId30"/>
    <p:sldId id="293" r:id="rId31"/>
    <p:sldId id="302" r:id="rId32"/>
    <p:sldId id="294" r:id="rId33"/>
    <p:sldId id="29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730"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33575-20B5-4F4C-B092-A7C803135F9E}" type="datetimeFigureOut">
              <a:rPr lang="en-IN" smtClean="0"/>
              <a:t>12-10-2024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5962C-5821-4F66-B503-D958CFFF057C}" type="slidenum">
              <a:rPr lang="en-IN" smtClean="0"/>
              <a:t>‹#›</a:t>
            </a:fld>
            <a:endParaRPr lang="en-IN"/>
          </a:p>
        </p:txBody>
      </p:sp>
    </p:spTree>
    <p:extLst>
      <p:ext uri="{BB962C8B-B14F-4D97-AF65-F5344CB8AC3E}">
        <p14:creationId xmlns:p14="http://schemas.microsoft.com/office/powerpoint/2010/main" val="439803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12</a:t>
            </a:fld>
            <a:endParaRPr lang="en-IN"/>
          </a:p>
        </p:txBody>
      </p:sp>
    </p:spTree>
    <p:extLst>
      <p:ext uri="{BB962C8B-B14F-4D97-AF65-F5344CB8AC3E}">
        <p14:creationId xmlns:p14="http://schemas.microsoft.com/office/powerpoint/2010/main" val="190745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15</a:t>
            </a:fld>
            <a:endParaRPr lang="en-IN"/>
          </a:p>
        </p:txBody>
      </p:sp>
    </p:spTree>
    <p:extLst>
      <p:ext uri="{BB962C8B-B14F-4D97-AF65-F5344CB8AC3E}">
        <p14:creationId xmlns:p14="http://schemas.microsoft.com/office/powerpoint/2010/main" val="3569100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95962C-5821-4F66-B503-D958CFFF057C}" type="slidenum">
              <a:rPr lang="en-IN" smtClean="0"/>
              <a:t>17</a:t>
            </a:fld>
            <a:endParaRPr lang="en-IN"/>
          </a:p>
        </p:txBody>
      </p:sp>
    </p:spTree>
    <p:extLst>
      <p:ext uri="{BB962C8B-B14F-4D97-AF65-F5344CB8AC3E}">
        <p14:creationId xmlns:p14="http://schemas.microsoft.com/office/powerpoint/2010/main" val="613158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3A6AF8-DF1E-496E-814F-37CE4D963D72}"/>
              </a:ext>
            </a:extLst>
          </p:cNvPr>
          <p:cNvSpPr>
            <a:spLocks noGrp="1"/>
          </p:cNvSpPr>
          <p:nvPr>
            <p:ph idx="1"/>
          </p:nvPr>
        </p:nvSpPr>
        <p:spPr>
          <a:xfrm>
            <a:off x="685800" y="76200"/>
            <a:ext cx="8229600" cy="6629400"/>
          </a:xfrm>
        </p:spPr>
        <p:txBody>
          <a:bodyPr>
            <a:noAutofit/>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help overcome the limitations of a simple array, the .NET base class libraries ship with a number of namespaces containing </a:t>
            </a:r>
            <a:r>
              <a:rPr lang="en-IN" sz="1800" i="1" dirty="0">
                <a:effectLst/>
                <a:latin typeface="Cambria" panose="02040503050406030204" pitchFamily="18" charset="0"/>
                <a:ea typeface="Calibri" panose="020F0502020204030204" pitchFamily="34" charset="0"/>
                <a:cs typeface="Utopia-Italic"/>
              </a:rPr>
              <a:t>collection classes</a:t>
            </a:r>
            <a:r>
              <a:rPr lang="en-IN" sz="1800" dirty="0">
                <a:effectLst/>
                <a:latin typeface="Cambria" panose="02040503050406030204" pitchFamily="18" charset="0"/>
                <a:ea typeface="Calibri" panose="020F0502020204030204" pitchFamily="34" charset="0"/>
                <a:cs typeface="Utopia-Regular"/>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Unlike a simple C# array, collection classes are built to dynamically </a:t>
            </a:r>
            <a:r>
              <a:rPr lang="en-IN" sz="1800" b="1" dirty="0">
                <a:effectLst/>
                <a:latin typeface="Cambria" panose="02040503050406030204" pitchFamily="18" charset="0"/>
                <a:ea typeface="Calibri" panose="020F0502020204030204" pitchFamily="34" charset="0"/>
                <a:cs typeface="Utopia-Regular"/>
              </a:rPr>
              <a:t>resize </a:t>
            </a:r>
            <a:r>
              <a:rPr lang="en-IN" sz="1800" dirty="0">
                <a:effectLst/>
                <a:latin typeface="Cambria" panose="02040503050406030204" pitchFamily="18" charset="0"/>
                <a:ea typeface="Calibri" panose="020F0502020204030204" pitchFamily="34" charset="0"/>
                <a:cs typeface="Utopia-Regular"/>
              </a:rPr>
              <a:t>themselves </a:t>
            </a:r>
            <a:r>
              <a:rPr lang="en-IN" sz="1800" b="1" dirty="0">
                <a:effectLst/>
                <a:latin typeface="Cambria" panose="02040503050406030204" pitchFamily="18" charset="0"/>
                <a:ea typeface="Calibri" panose="020F0502020204030204" pitchFamily="34" charset="0"/>
                <a:cs typeface="Utopia-Regular"/>
              </a:rPr>
              <a:t>on the fly </a:t>
            </a:r>
            <a:r>
              <a:rPr lang="en-IN" sz="1800" dirty="0">
                <a:effectLst/>
                <a:latin typeface="Cambria" panose="02040503050406030204" pitchFamily="18" charset="0"/>
                <a:ea typeface="Calibri" panose="020F0502020204030204" pitchFamily="34" charset="0"/>
                <a:cs typeface="Utopia-Regular"/>
              </a:rPr>
              <a:t>as you insert or remove items.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Moreover, many of the collection classes offer increased type safety and are highly optimized to process the contained data in a memory efficient manner.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 collections (primarily found in the </a:t>
            </a:r>
            <a:r>
              <a:rPr lang="en-IN" sz="1800" dirty="0" err="1">
                <a:effectLst/>
                <a:latin typeface="Cambria" panose="02040503050406030204" pitchFamily="18" charset="0"/>
                <a:ea typeface="Calibri" panose="020F0502020204030204" pitchFamily="34" charset="0"/>
                <a:cs typeface="TheSansMonoConNormal"/>
              </a:rPr>
              <a:t>System.Collections.Generic</a:t>
            </a:r>
            <a:r>
              <a:rPr lang="en-IN" sz="1800" dirty="0">
                <a:effectLst/>
                <a:latin typeface="Cambria" panose="02040503050406030204" pitchFamily="18" charset="0"/>
                <a:ea typeface="Calibri" panose="020F0502020204030204" pitchFamily="34" charset="0"/>
                <a:cs typeface="TheSansMonoConNormal"/>
              </a:rPr>
              <a:t> </a:t>
            </a:r>
            <a:r>
              <a:rPr lang="en-IN" sz="1800" dirty="0">
                <a:effectLst/>
                <a:latin typeface="Cambria" panose="02040503050406030204" pitchFamily="18" charset="0"/>
                <a:ea typeface="Calibri" panose="020F0502020204030204" pitchFamily="34" charset="0"/>
                <a:cs typeface="Utopia-Regular"/>
              </a:rPr>
              <a:t>namespace)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Generics provide better performance because they do not result in boxing or unboxing penalties when storing value types.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Generics are type safe because they can contain only the type of type you specify.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Symbol" panose="05050102010706020507" pitchFamily="18" charset="2"/>
              </a:rPr>
              <a:t> </a:t>
            </a:r>
            <a:r>
              <a:rPr lang="en-IN" sz="1800" dirty="0">
                <a:effectLst/>
                <a:latin typeface="Cambria" panose="02040503050406030204" pitchFamily="18" charset="0"/>
                <a:ea typeface="Calibri" panose="020F0502020204030204" pitchFamily="34" charset="0"/>
                <a:cs typeface="Utopia-Regular"/>
              </a:rPr>
              <a:t>Generics greatly reduce the need to build custom collection types because you specify the “type of type” when creating the generic container.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9765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FDAFF-FA04-40EC-9443-31324BD73F55}"/>
              </a:ext>
            </a:extLst>
          </p:cNvPr>
          <p:cNvSpPr>
            <a:spLocks noGrp="1"/>
          </p:cNvSpPr>
          <p:nvPr>
            <p:ph idx="1"/>
          </p:nvPr>
        </p:nvSpPr>
        <p:spPr>
          <a:xfrm>
            <a:off x="457200" y="762000"/>
            <a:ext cx="8229600" cy="5364163"/>
          </a:xfrm>
        </p:spPr>
        <p:txBody>
          <a:bodyPr>
            <a:normAutofit fontScale="92500" lnSpcReduction="10000"/>
          </a:bodyPr>
          <a:lstStyle/>
          <a:p>
            <a:r>
              <a:rPr lang="en-IN" dirty="0">
                <a:latin typeface="+mj-lt"/>
              </a:rPr>
              <a:t>You will  see the use of collection class when you retrieve data from data base.</a:t>
            </a:r>
          </a:p>
          <a:p>
            <a:endParaRPr lang="en-IN" dirty="0">
              <a:latin typeface="+mj-lt"/>
            </a:endParaRPr>
          </a:p>
          <a:p>
            <a:r>
              <a:rPr lang="en-IN" dirty="0" err="1">
                <a:latin typeface="+mj-lt"/>
              </a:rPr>
              <a:t>Eg</a:t>
            </a:r>
            <a:r>
              <a:rPr lang="en-IN" dirty="0">
                <a:latin typeface="+mj-lt"/>
              </a:rPr>
              <a:t> display all employee or customer detail.</a:t>
            </a:r>
          </a:p>
          <a:p>
            <a:r>
              <a:rPr lang="en-IN" dirty="0">
                <a:latin typeface="+mj-lt"/>
              </a:rPr>
              <a:t>You have to fetch this data and map to Employee class or Customer class.</a:t>
            </a:r>
          </a:p>
          <a:p>
            <a:endParaRPr lang="en-IN" dirty="0">
              <a:latin typeface="+mj-lt"/>
            </a:endParaRPr>
          </a:p>
          <a:p>
            <a:r>
              <a:rPr lang="en-IN" dirty="0">
                <a:latin typeface="+mj-lt"/>
              </a:rPr>
              <a:t>Now think what will be the size of Array its difficult to judge so we need flexible train which can grow as per our data, in such scenario we use collection class</a:t>
            </a:r>
          </a:p>
        </p:txBody>
      </p:sp>
    </p:spTree>
    <p:extLst>
      <p:ext uri="{BB962C8B-B14F-4D97-AF65-F5344CB8AC3E}">
        <p14:creationId xmlns:p14="http://schemas.microsoft.com/office/powerpoint/2010/main" val="673568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680A52D-C95B-4A24-9C8E-4D876E7A4BC4}"/>
              </a:ext>
            </a:extLst>
          </p:cNvPr>
          <p:cNvGraphicFramePr>
            <a:graphicFrameLocks noGrp="1"/>
          </p:cNvGraphicFramePr>
          <p:nvPr>
            <p:ph idx="1"/>
            <p:extLst>
              <p:ext uri="{D42A27DB-BD31-4B8C-83A1-F6EECF244321}">
                <p14:modId xmlns:p14="http://schemas.microsoft.com/office/powerpoint/2010/main" val="542766311"/>
              </p:ext>
            </p:extLst>
          </p:nvPr>
        </p:nvGraphicFramePr>
        <p:xfrm>
          <a:off x="381000" y="1371600"/>
          <a:ext cx="8382000" cy="3886199"/>
        </p:xfrm>
        <a:graphic>
          <a:graphicData uri="http://schemas.openxmlformats.org/drawingml/2006/table">
            <a:tbl>
              <a:tblPr firstRow="1" firstCol="1" bandRow="1"/>
              <a:tblGrid>
                <a:gridCol w="1521887">
                  <a:extLst>
                    <a:ext uri="{9D8B030D-6E8A-4147-A177-3AD203B41FA5}">
                      <a16:colId xmlns:a16="http://schemas.microsoft.com/office/drawing/2014/main" val="384898120"/>
                    </a:ext>
                  </a:extLst>
                </a:gridCol>
                <a:gridCol w="1583246">
                  <a:extLst>
                    <a:ext uri="{9D8B030D-6E8A-4147-A177-3AD203B41FA5}">
                      <a16:colId xmlns:a16="http://schemas.microsoft.com/office/drawing/2014/main" val="2313027509"/>
                    </a:ext>
                  </a:extLst>
                </a:gridCol>
                <a:gridCol w="1522816">
                  <a:extLst>
                    <a:ext uri="{9D8B030D-6E8A-4147-A177-3AD203B41FA5}">
                      <a16:colId xmlns:a16="http://schemas.microsoft.com/office/drawing/2014/main" val="2994620021"/>
                    </a:ext>
                  </a:extLst>
                </a:gridCol>
                <a:gridCol w="1466107">
                  <a:extLst>
                    <a:ext uri="{9D8B030D-6E8A-4147-A177-3AD203B41FA5}">
                      <a16:colId xmlns:a16="http://schemas.microsoft.com/office/drawing/2014/main" val="3599670507"/>
                    </a:ext>
                  </a:extLst>
                </a:gridCol>
                <a:gridCol w="1180887">
                  <a:extLst>
                    <a:ext uri="{9D8B030D-6E8A-4147-A177-3AD203B41FA5}">
                      <a16:colId xmlns:a16="http://schemas.microsoft.com/office/drawing/2014/main" val="122332396"/>
                    </a:ext>
                  </a:extLst>
                </a:gridCol>
                <a:gridCol w="1107057">
                  <a:extLst>
                    <a:ext uri="{9D8B030D-6E8A-4147-A177-3AD203B41FA5}">
                      <a16:colId xmlns:a16="http://schemas.microsoft.com/office/drawing/2014/main" val="1438934769"/>
                    </a:ext>
                  </a:extLst>
                </a:gridCol>
              </a:tblGrid>
              <a:tr h="423714">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List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 Dictionary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HashSet&lt;T&gt;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err="1">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SortedSet</a:t>
                      </a:r>
                      <a:r>
                        <a:rPr lang="en-IN" sz="1000" u="none" strike="noStrike" dirty="0">
                          <a:solidFill>
                            <a:schemeClr val="tx1"/>
                          </a:solidFill>
                          <a:effectLst/>
                          <a:latin typeface="Consolas" panose="020B0609020204030204" pitchFamily="49" charset="0"/>
                          <a:ea typeface="Calibri" panose="020F0502020204030204" pitchFamily="34" charset="0"/>
                          <a:cs typeface="Times New Roman" panose="02020603050405020304" pitchFamily="18" charset="0"/>
                        </a:rPr>
                        <a:t>&lt;T&gt;</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176667"/>
                  </a:ext>
                </a:extLst>
              </a:tr>
              <a:tr h="580852">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Hash 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Binary Search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u="non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Hash table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000" u="none" strike="noStrike" dirty="0">
                          <a:solidFill>
                            <a:schemeClr val="tx1"/>
                          </a:solidFill>
                          <a:effectLst/>
                          <a:latin typeface="Helvetica" panose="020B0604020202020204" pitchFamily="34" charset="0"/>
                          <a:ea typeface="Calibri" panose="020F0502020204030204" pitchFamily="34" charset="0"/>
                          <a:cs typeface="Times New Roman" panose="02020603050405020304" pitchFamily="18" charset="0"/>
                        </a:rPr>
                        <a:t>Red-black tree</a:t>
                      </a:r>
                      <a:endParaRPr lang="en-IN" sz="1100" u="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18247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2288341"/>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Indexed/Key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indexed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274644"/>
                  </a:ext>
                </a:extLst>
              </a:tr>
              <a:tr h="2070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Not 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sorted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811552"/>
                  </a:ext>
                </a:extLst>
              </a:tr>
              <a:tr h="857014">
                <a:tc>
                  <a:txBody>
                    <a:bodyPr/>
                    <a:lstStyle/>
                    <a:p>
                      <a:pPr>
                        <a:lnSpc>
                          <a:spcPct val="107000"/>
                        </a:lnSpc>
                        <a:spcAft>
                          <a:spcPts val="800"/>
                        </a:spcAft>
                      </a:pP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Key</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Duplicate </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value not</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Dnot</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IN" sz="1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uplicate</a:t>
                      </a:r>
                      <a:r>
                        <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value </a:t>
                      </a: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740737"/>
                  </a:ext>
                </a:extLst>
              </a:tr>
              <a:tr h="763067">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Key can not be null</a:t>
                      </a:r>
                    </a:p>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Value can be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Null allowed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461254"/>
                  </a:ext>
                </a:extLst>
              </a:tr>
              <a:tr h="640363">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Order of insertion not maintained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464739"/>
                  </a:ext>
                </a:extLst>
              </a:tr>
            </a:tbl>
          </a:graphicData>
        </a:graphic>
      </p:graphicFrame>
      <p:sp>
        <p:nvSpPr>
          <p:cNvPr id="2" name="TextBox 1">
            <a:extLst>
              <a:ext uri="{FF2B5EF4-FFF2-40B4-BE49-F238E27FC236}">
                <a16:creationId xmlns:a16="http://schemas.microsoft.com/office/drawing/2014/main" id="{2F00BD23-893E-4339-A3B7-79E55B015DD9}"/>
              </a:ext>
            </a:extLst>
          </p:cNvPr>
          <p:cNvSpPr txBox="1"/>
          <p:nvPr/>
        </p:nvSpPr>
        <p:spPr>
          <a:xfrm>
            <a:off x="990600" y="5562600"/>
            <a:ext cx="7391400" cy="369332"/>
          </a:xfrm>
          <a:prstGeom prst="rect">
            <a:avLst/>
          </a:prstGeom>
          <a:noFill/>
        </p:spPr>
        <p:txBody>
          <a:bodyPr wrap="square" rtlCol="0">
            <a:spAutoFit/>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System.Collections.Generic</a:t>
            </a:r>
            <a:r>
              <a:rPr lang="en-IN" sz="18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426963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2D85-BDE4-EFC9-BBDC-A9489E505124}"/>
              </a:ext>
            </a:extLst>
          </p:cNvPr>
          <p:cNvSpPr>
            <a:spLocks noGrp="1"/>
          </p:cNvSpPr>
          <p:nvPr>
            <p:ph type="title"/>
          </p:nvPr>
        </p:nvSpPr>
        <p:spPr>
          <a:xfrm>
            <a:off x="990600" y="274638"/>
            <a:ext cx="7696200" cy="457199"/>
          </a:xfrm>
        </p:spPr>
        <p:txBody>
          <a:bodyPr>
            <a:normAutofit fontScale="90000"/>
          </a:bodyPr>
          <a:lstStyle/>
          <a:p>
            <a:r>
              <a:rPr lang="en-IN" dirty="0"/>
              <a:t>Non Generic</a:t>
            </a:r>
          </a:p>
        </p:txBody>
      </p:sp>
      <p:sp>
        <p:nvSpPr>
          <p:cNvPr id="5" name="TextBox 4">
            <a:extLst>
              <a:ext uri="{FF2B5EF4-FFF2-40B4-BE49-F238E27FC236}">
                <a16:creationId xmlns:a16="http://schemas.microsoft.com/office/drawing/2014/main" id="{DC854530-31FA-D549-97F7-E70E0B5D755E}"/>
              </a:ext>
            </a:extLst>
          </p:cNvPr>
          <p:cNvSpPr txBox="1"/>
          <p:nvPr/>
        </p:nvSpPr>
        <p:spPr>
          <a:xfrm>
            <a:off x="447368" y="609600"/>
            <a:ext cx="5343832" cy="5816977"/>
          </a:xfrm>
          <a:prstGeom prst="rect">
            <a:avLst/>
          </a:prstGeom>
          <a:noFill/>
        </p:spPr>
        <p:txBody>
          <a:bodyPr wrap="square">
            <a:spAutoFit/>
          </a:bodyPr>
          <a:lstStyle/>
          <a:p>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Animal</a:t>
            </a:r>
            <a:r>
              <a:rPr lang="en-IN" sz="1200" dirty="0">
                <a:solidFill>
                  <a:srgbClr val="000000"/>
                </a:solidFill>
                <a:latin typeface="Cascadia Mono" panose="020B0609020000020004" pitchFamily="49" charset="0"/>
              </a:rPr>
              <a:t> {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Name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Salary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Employee</a:t>
            </a:r>
            <a:r>
              <a:rPr lang="en-IN" sz="1200" dirty="0">
                <a:solidFill>
                  <a:srgbClr val="000000"/>
                </a:solidFill>
                <a:latin typeface="Cascadia Mono" panose="020B0609020000020004" pitchFamily="49" charset="0"/>
              </a:rPr>
              <a:t>() {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Employee</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nm, </a:t>
            </a:r>
            <a:r>
              <a:rPr lang="en-US" sz="1200" dirty="0">
                <a:solidFill>
                  <a:srgbClr val="0000FF"/>
                </a:solidFill>
                <a:latin typeface="Cascadia Mono" panose="020B0609020000020004" pitchFamily="49" charset="0"/>
              </a:rPr>
              <a:t>double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sl</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Name = nm;</a:t>
            </a:r>
          </a:p>
          <a:p>
            <a:r>
              <a:rPr lang="en-IN" sz="1200" dirty="0">
                <a:solidFill>
                  <a:srgbClr val="000000"/>
                </a:solidFill>
                <a:latin typeface="Cascadia Mono" panose="020B0609020000020004" pitchFamily="49" charset="0"/>
              </a:rPr>
              <a:t>            Salary = </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override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ToString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return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String.Format</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"{0} {1}"</a:t>
            </a:r>
            <a:r>
              <a:rPr lang="en-US" sz="1200" dirty="0">
                <a:solidFill>
                  <a:srgbClr val="000000"/>
                </a:solidFill>
                <a:latin typeface="Cascadia Mono" panose="020B0609020000020004" pitchFamily="49" charset="0"/>
              </a:rPr>
              <a:t>, Name, Salary);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ArrayList</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Mona"</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=7000}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Het"</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=3000}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Employee {Name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Raj"</a:t>
            </a:r>
            <a:r>
              <a:rPr lang="en-US" sz="1200" dirty="0" err="1">
                <a:solidFill>
                  <a:srgbClr val="000000"/>
                </a:solidFill>
                <a:latin typeface="Cascadia Mono" panose="020B0609020000020004" pitchFamily="49" charset="0"/>
              </a:rPr>
              <a:t>,Salary</a:t>
            </a:r>
            <a:r>
              <a:rPr lang="en-US" sz="1200" dirty="0">
                <a:solidFill>
                  <a:srgbClr val="000000"/>
                </a:solidFill>
                <a:latin typeface="Cascadia Mono" panose="020B0609020000020004" pitchFamily="49" charset="0"/>
              </a:rPr>
              <a:t> =6000}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IN" sz="1200" dirty="0">
                <a:solidFill>
                  <a:srgbClr val="000000"/>
                </a:solidFill>
                <a:latin typeface="Cascadia Mono" panose="020B0609020000020004" pitchFamily="49" charset="0"/>
              </a:rPr>
              <a:t>.Add(</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Animal());</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 (Employee e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listemp</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endParaRPr lang="en-IN" sz="1200" dirty="0"/>
          </a:p>
        </p:txBody>
      </p:sp>
      <p:sp>
        <p:nvSpPr>
          <p:cNvPr id="3" name="TextBox 2">
            <a:extLst>
              <a:ext uri="{FF2B5EF4-FFF2-40B4-BE49-F238E27FC236}">
                <a16:creationId xmlns:a16="http://schemas.microsoft.com/office/drawing/2014/main" id="{E203A0B2-E067-B50F-54F6-8211676EDDCC}"/>
              </a:ext>
            </a:extLst>
          </p:cNvPr>
          <p:cNvSpPr txBox="1"/>
          <p:nvPr/>
        </p:nvSpPr>
        <p:spPr>
          <a:xfrm>
            <a:off x="4953000" y="2209800"/>
            <a:ext cx="609600" cy="381000"/>
          </a:xfrm>
          <a:prstGeom prst="rect">
            <a:avLst/>
          </a:prstGeom>
          <a:noFill/>
        </p:spPr>
        <p:txBody>
          <a:bodyPr wrap="square" rtlCol="0">
            <a:spAutoFit/>
          </a:bodyPr>
          <a:lstStyle/>
          <a:p>
            <a:r>
              <a:rPr lang="en-US" dirty="0"/>
              <a:t>al</a:t>
            </a:r>
            <a:endParaRPr lang="en-IN" dirty="0"/>
          </a:p>
        </p:txBody>
      </p:sp>
      <p:cxnSp>
        <p:nvCxnSpPr>
          <p:cNvPr id="6" name="Straight Arrow Connector 5">
            <a:extLst>
              <a:ext uri="{FF2B5EF4-FFF2-40B4-BE49-F238E27FC236}">
                <a16:creationId xmlns:a16="http://schemas.microsoft.com/office/drawing/2014/main" id="{B82A702D-E4FE-0D5A-9679-56CB1BDEE55C}"/>
              </a:ext>
            </a:extLst>
          </p:cNvPr>
          <p:cNvCxnSpPr/>
          <p:nvPr/>
        </p:nvCxnSpPr>
        <p:spPr>
          <a:xfrm>
            <a:off x="5334000" y="236220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E2DAC077-CD92-7A51-5A57-49491312DE25}"/>
              </a:ext>
            </a:extLst>
          </p:cNvPr>
          <p:cNvGraphicFramePr>
            <a:graphicFrameLocks noGrp="1"/>
          </p:cNvGraphicFramePr>
          <p:nvPr>
            <p:extLst>
              <p:ext uri="{D42A27DB-BD31-4B8C-83A1-F6EECF244321}">
                <p14:modId xmlns:p14="http://schemas.microsoft.com/office/powerpoint/2010/main" val="4288498499"/>
              </p:ext>
            </p:extLst>
          </p:nvPr>
        </p:nvGraphicFramePr>
        <p:xfrm>
          <a:off x="6096000" y="1630680"/>
          <a:ext cx="1885950" cy="731520"/>
        </p:xfrm>
        <a:graphic>
          <a:graphicData uri="http://schemas.openxmlformats.org/drawingml/2006/table">
            <a:tbl>
              <a:tblPr firstRow="1" bandRow="1">
                <a:tableStyleId>{5C22544A-7EE6-4342-B048-85BDC9FD1C3A}</a:tableStyleId>
              </a:tblPr>
              <a:tblGrid>
                <a:gridCol w="628650">
                  <a:extLst>
                    <a:ext uri="{9D8B030D-6E8A-4147-A177-3AD203B41FA5}">
                      <a16:colId xmlns:a16="http://schemas.microsoft.com/office/drawing/2014/main" val="852238170"/>
                    </a:ext>
                  </a:extLst>
                </a:gridCol>
                <a:gridCol w="628650">
                  <a:extLst>
                    <a:ext uri="{9D8B030D-6E8A-4147-A177-3AD203B41FA5}">
                      <a16:colId xmlns:a16="http://schemas.microsoft.com/office/drawing/2014/main" val="3316396363"/>
                    </a:ext>
                  </a:extLst>
                </a:gridCol>
                <a:gridCol w="628650">
                  <a:extLst>
                    <a:ext uri="{9D8B030D-6E8A-4147-A177-3AD203B41FA5}">
                      <a16:colId xmlns:a16="http://schemas.microsoft.com/office/drawing/2014/main" val="4151284061"/>
                    </a:ext>
                  </a:extLst>
                </a:gridCol>
              </a:tblGrid>
              <a:tr h="2286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3455360952"/>
                  </a:ext>
                </a:extLst>
              </a:tr>
              <a:tr h="228600">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76766877"/>
                  </a:ext>
                </a:extLst>
              </a:tr>
            </a:tbl>
          </a:graphicData>
        </a:graphic>
      </p:graphicFrame>
      <p:cxnSp>
        <p:nvCxnSpPr>
          <p:cNvPr id="9" name="Straight Arrow Connector 8">
            <a:extLst>
              <a:ext uri="{FF2B5EF4-FFF2-40B4-BE49-F238E27FC236}">
                <a16:creationId xmlns:a16="http://schemas.microsoft.com/office/drawing/2014/main" id="{7B861E8B-94E6-C73E-CEC7-4CA45176258B}"/>
              </a:ext>
            </a:extLst>
          </p:cNvPr>
          <p:cNvCxnSpPr/>
          <p:nvPr/>
        </p:nvCxnSpPr>
        <p:spPr>
          <a:xfrm>
            <a:off x="6324600" y="2209800"/>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3E756A1-CDFD-5E0C-B369-7D438534D29F}"/>
              </a:ext>
            </a:extLst>
          </p:cNvPr>
          <p:cNvSpPr/>
          <p:nvPr/>
        </p:nvSpPr>
        <p:spPr>
          <a:xfrm>
            <a:off x="5867400" y="29718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Mona</a:t>
            </a:r>
          </a:p>
          <a:p>
            <a:pPr algn="ctr"/>
            <a:r>
              <a:rPr lang="en-US" dirty="0"/>
              <a:t>7000</a:t>
            </a:r>
            <a:endParaRPr lang="en-IN" dirty="0"/>
          </a:p>
        </p:txBody>
      </p:sp>
      <p:cxnSp>
        <p:nvCxnSpPr>
          <p:cNvPr id="11" name="Straight Arrow Connector 10">
            <a:extLst>
              <a:ext uri="{FF2B5EF4-FFF2-40B4-BE49-F238E27FC236}">
                <a16:creationId xmlns:a16="http://schemas.microsoft.com/office/drawing/2014/main" id="{33DDCE07-B6AE-95E1-F049-79A6413B9489}"/>
              </a:ext>
            </a:extLst>
          </p:cNvPr>
          <p:cNvCxnSpPr/>
          <p:nvPr/>
        </p:nvCxnSpPr>
        <p:spPr>
          <a:xfrm>
            <a:off x="7010400" y="2266361"/>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8671105-8938-68C1-35E3-279324192A77}"/>
              </a:ext>
            </a:extLst>
          </p:cNvPr>
          <p:cNvSpPr/>
          <p:nvPr/>
        </p:nvSpPr>
        <p:spPr>
          <a:xfrm>
            <a:off x="6729953"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Het</a:t>
            </a:r>
          </a:p>
          <a:p>
            <a:pPr algn="ctr"/>
            <a:r>
              <a:rPr lang="en-US" dirty="0"/>
              <a:t>3000</a:t>
            </a:r>
            <a:endParaRPr lang="en-IN" dirty="0"/>
          </a:p>
        </p:txBody>
      </p:sp>
      <p:cxnSp>
        <p:nvCxnSpPr>
          <p:cNvPr id="13" name="Straight Arrow Connector 12">
            <a:extLst>
              <a:ext uri="{FF2B5EF4-FFF2-40B4-BE49-F238E27FC236}">
                <a16:creationId xmlns:a16="http://schemas.microsoft.com/office/drawing/2014/main" id="{2CE235CF-5D13-DD2D-683F-934D455E8BE3}"/>
              </a:ext>
            </a:extLst>
          </p:cNvPr>
          <p:cNvCxnSpPr>
            <a:cxnSpLocks/>
          </p:cNvCxnSpPr>
          <p:nvPr/>
        </p:nvCxnSpPr>
        <p:spPr>
          <a:xfrm>
            <a:off x="7696200" y="2464880"/>
            <a:ext cx="0" cy="41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322BCA3-5D8E-055B-DBED-768B1905212A}"/>
              </a:ext>
            </a:extLst>
          </p:cNvPr>
          <p:cNvSpPr/>
          <p:nvPr/>
        </p:nvSpPr>
        <p:spPr>
          <a:xfrm>
            <a:off x="7696200" y="3009900"/>
            <a:ext cx="762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Raj</a:t>
            </a:r>
          </a:p>
          <a:p>
            <a:pPr algn="ctr"/>
            <a:r>
              <a:rPr lang="en-US" dirty="0"/>
              <a:t>6000</a:t>
            </a:r>
            <a:endParaRPr lang="en-IN" dirty="0"/>
          </a:p>
        </p:txBody>
      </p:sp>
      <p:cxnSp>
        <p:nvCxnSpPr>
          <p:cNvPr id="20" name="Straight Arrow Connector 19">
            <a:extLst>
              <a:ext uri="{FF2B5EF4-FFF2-40B4-BE49-F238E27FC236}">
                <a16:creationId xmlns:a16="http://schemas.microsoft.com/office/drawing/2014/main" id="{E6DC889A-6F19-8428-818C-E640D6A6A9E3}"/>
              </a:ext>
            </a:extLst>
          </p:cNvPr>
          <p:cNvCxnSpPr/>
          <p:nvPr/>
        </p:nvCxnSpPr>
        <p:spPr>
          <a:xfrm>
            <a:off x="8743950" y="2362200"/>
            <a:ext cx="0" cy="647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0FE5B4A-9DF9-29DF-DDEC-EC56FAB419E7}"/>
              </a:ext>
            </a:extLst>
          </p:cNvPr>
          <p:cNvSpPr/>
          <p:nvPr/>
        </p:nvSpPr>
        <p:spPr>
          <a:xfrm>
            <a:off x="8663822" y="3200400"/>
            <a:ext cx="68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4250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ACA0-52B7-4656-A117-D25FFCF63FD5}"/>
              </a:ext>
            </a:extLst>
          </p:cNvPr>
          <p:cNvSpPr>
            <a:spLocks noGrp="1"/>
          </p:cNvSpPr>
          <p:nvPr>
            <p:ph type="title"/>
          </p:nvPr>
        </p:nvSpPr>
        <p:spPr>
          <a:xfrm>
            <a:off x="1066800" y="-51624"/>
            <a:ext cx="2667000" cy="639762"/>
          </a:xfrm>
        </p:spPr>
        <p:txBody>
          <a:bodyPr>
            <a:normAutofit fontScale="90000"/>
          </a:bodyPr>
          <a:lstStyle/>
          <a:p>
            <a:r>
              <a:rPr lang="en-IN" dirty="0"/>
              <a:t>List class</a:t>
            </a:r>
          </a:p>
        </p:txBody>
      </p:sp>
      <p:sp>
        <p:nvSpPr>
          <p:cNvPr id="3" name="Content Placeholder 2">
            <a:extLst>
              <a:ext uri="{FF2B5EF4-FFF2-40B4-BE49-F238E27FC236}">
                <a16:creationId xmlns:a16="http://schemas.microsoft.com/office/drawing/2014/main" id="{F7128749-AC49-43E9-ABAB-A76A59B8F073}"/>
              </a:ext>
            </a:extLst>
          </p:cNvPr>
          <p:cNvSpPr>
            <a:spLocks noGrp="1"/>
          </p:cNvSpPr>
          <p:nvPr>
            <p:ph idx="1"/>
          </p:nvPr>
        </p:nvSpPr>
        <p:spPr>
          <a:xfrm>
            <a:off x="4038599" y="92075"/>
            <a:ext cx="5213555" cy="6613525"/>
          </a:xfrm>
        </p:spPr>
        <p:txBody>
          <a:bodyPr>
            <a:noAutofit/>
          </a:bodyPr>
          <a:lstStyle/>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  </a:t>
            </a:r>
          </a:p>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GenListDemo</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Create a list. </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lst</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char</a:t>
            </a:r>
            <a:r>
              <a:rPr lang="en-US" sz="1100" dirty="0">
                <a:solidFill>
                  <a:srgbClr val="000000"/>
                </a:solidFill>
                <a:highlight>
                  <a:srgbClr val="FFFFFF"/>
                </a:highlight>
                <a:latin typeface="Consolas" panose="020B0609020204030204" pitchFamily="49" charset="0"/>
              </a:rPr>
              <a:t>&gt;();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//0 0</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"Adding 6 elements"</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Add elements to the array list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'A'</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lst.Add</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"count={0} capacity={1}"</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lst.Count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lst.Capacity</a:t>
            </a:r>
            <a:r>
              <a:rPr lang="en-IN" sz="1100" dirty="0">
                <a:solidFill>
                  <a:srgbClr val="000000"/>
                </a:solidFill>
                <a:highlight>
                  <a:srgbClr val="FFFFFF"/>
                </a:highlight>
                <a:latin typeface="Consolas" panose="020B0609020204030204" pitchFamily="49" charset="0"/>
              </a:rPr>
              <a:t>);</a:t>
            </a:r>
            <a:r>
              <a:rPr lang="en-IN" sz="1100" dirty="0">
                <a:solidFill>
                  <a:srgbClr val="008000"/>
                </a:solidFill>
                <a:highlight>
                  <a:srgbClr val="FFFFFF"/>
                </a:highlight>
                <a:latin typeface="Consolas" panose="020B0609020204030204" pitchFamily="49" charset="0"/>
              </a:rPr>
              <a:t>//6 8</a:t>
            </a: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Display the array list using array indexing.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"Current contents: "</a:t>
            </a:r>
            <a:r>
              <a:rPr lang="en-IN" sz="1100" dirty="0">
                <a:solidFill>
                  <a:srgbClr val="000000"/>
                </a:solidFill>
                <a:highlight>
                  <a:srgbClr val="FFFFFF"/>
                </a:highlight>
                <a:latin typeface="Consolas" panose="020B0609020204030204" pitchFamily="49" charset="0"/>
              </a:rPr>
              <a:t>);</a:t>
            </a:r>
          </a:p>
          <a:p>
            <a:pPr marL="0" indent="0">
              <a:buNone/>
            </a:pP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for</a:t>
            </a: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int</a:t>
            </a:r>
            <a:r>
              <a:rPr lang="nn-NO" sz="1100" dirty="0">
                <a:solidFill>
                  <a:srgbClr val="000000"/>
                </a:solidFill>
                <a:highlight>
                  <a:srgbClr val="FFFFFF"/>
                </a:highlight>
                <a:latin typeface="Consolas" panose="020B0609020204030204" pitchFamily="49" charset="0"/>
              </a:rPr>
              <a:t> i = 0; i &lt; lst.Count; i++)</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lst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"\n"</a:t>
            </a: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TextBox 3">
            <a:extLst>
              <a:ext uri="{FF2B5EF4-FFF2-40B4-BE49-F238E27FC236}">
                <a16:creationId xmlns:a16="http://schemas.microsoft.com/office/drawing/2014/main" id="{DA306B08-754B-4D2F-8D44-D1E6D2E7D268}"/>
              </a:ext>
            </a:extLst>
          </p:cNvPr>
          <p:cNvSpPr txBox="1"/>
          <p:nvPr/>
        </p:nvSpPr>
        <p:spPr>
          <a:xfrm>
            <a:off x="76200" y="751502"/>
            <a:ext cx="4343400" cy="1969770"/>
          </a:xfrm>
          <a:prstGeom prst="rect">
            <a:avLst/>
          </a:prstGeom>
          <a:noFill/>
        </p:spPr>
        <p:txBody>
          <a:bodyPr wrap="square" rtlCol="0">
            <a:spAutoFit/>
          </a:bodyPr>
          <a:lstStyle/>
          <a:p>
            <a:r>
              <a:rPr lang="en-IN" sz="1400" b="1" i="1" dirty="0">
                <a:solidFill>
                  <a:srgbClr val="000000"/>
                </a:solidFill>
                <a:highlight>
                  <a:srgbClr val="FFFFFF"/>
                </a:highlight>
                <a:latin typeface="Consolas" panose="020B0609020204030204" pitchFamily="49" charset="0"/>
              </a:rPr>
              <a:t>Templated created at compile time</a:t>
            </a:r>
          </a:p>
          <a:p>
            <a:endParaRPr lang="en-IN" sz="1200" dirty="0">
              <a:solidFill>
                <a:srgbClr val="000000"/>
              </a:solidFill>
              <a:highlight>
                <a:srgbClr val="FFFFFF"/>
              </a:highlight>
              <a:latin typeface="Consolas" panose="020B0609020204030204" pitchFamily="49" charset="0"/>
            </a:endParaRPr>
          </a:p>
          <a:p>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class</a:t>
            </a:r>
            <a:r>
              <a:rPr lang="fr-FR" sz="1200" dirty="0">
                <a:solidFill>
                  <a:srgbClr val="000000"/>
                </a:solidFill>
                <a:highlight>
                  <a:srgbClr val="FFFFFF"/>
                </a:highlight>
                <a:latin typeface="Consolas" panose="020B0609020204030204" pitchFamily="49" charset="0"/>
              </a:rPr>
              <a:t> </a:t>
            </a:r>
            <a:r>
              <a:rPr lang="fr-FR" sz="1200" dirty="0">
                <a:solidFill>
                  <a:srgbClr val="2B91AF"/>
                </a:solidFill>
                <a:highlight>
                  <a:srgbClr val="FFFFFF"/>
                </a:highlight>
                <a:latin typeface="Consolas" panose="020B0609020204030204" pitchFamily="49" charset="0"/>
              </a:rPr>
              <a:t>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 </a:t>
            </a:r>
            <a:r>
              <a:rPr lang="fr-FR" sz="1200" dirty="0">
                <a:solidFill>
                  <a:srgbClr val="2B91AF"/>
                </a:solidFill>
                <a:highlight>
                  <a:srgbClr val="FFFFFF"/>
                </a:highlight>
                <a:latin typeface="Consolas" panose="020B0609020204030204" pitchFamily="49" charset="0"/>
              </a:rPr>
              <a:t>IList</a:t>
            </a:r>
            <a:r>
              <a:rPr lang="fr-FR" sz="1200" dirty="0">
                <a:solidFill>
                  <a:srgbClr val="000000"/>
                </a:solidFill>
                <a:highlight>
                  <a:srgbClr val="FFFFFF"/>
                </a:highlight>
                <a:latin typeface="Consolas" panose="020B0609020204030204" pitchFamily="49" charset="0"/>
              </a:rPr>
              <a:t>&lt;</a:t>
            </a:r>
            <a:r>
              <a:rPr lang="fr-FR" sz="1200" dirty="0">
                <a:solidFill>
                  <a:srgbClr val="0000FF"/>
                </a:solidFill>
                <a:highlight>
                  <a:srgbClr val="FFFFFF"/>
                </a:highlight>
                <a:latin typeface="Consolas" panose="020B0609020204030204" pitchFamily="49" charset="0"/>
              </a:rPr>
              <a:t>char</a:t>
            </a:r>
            <a:r>
              <a:rPr lang="fr-FR" sz="1200" dirty="0">
                <a:solidFill>
                  <a:srgbClr val="000000"/>
                </a:solidFill>
                <a:highlight>
                  <a:srgbClr val="FFFFFF"/>
                </a:highlight>
                <a:latin typeface="Consolas" panose="020B0609020204030204" pitchFamily="49" charset="0"/>
              </a:rPr>
              <a:t>&gt;, </a:t>
            </a:r>
            <a:r>
              <a:rPr lang="fr-FR" sz="1200" dirty="0">
                <a:solidFill>
                  <a:srgbClr val="2B91AF"/>
                </a:solidFill>
                <a:highlight>
                  <a:srgbClr val="FFFFFF"/>
                </a:highlight>
                <a:latin typeface="Consolas" panose="020B0609020204030204" pitchFamily="49" charset="0"/>
              </a:rPr>
              <a:t>ICollection</a:t>
            </a:r>
            <a:r>
              <a:rPr lang="fr-FR" sz="1200" dirty="0">
                <a:solidFill>
                  <a:srgbClr val="000000"/>
                </a:solidFill>
                <a:highlight>
                  <a:srgbClr val="FFFFFF"/>
                </a:highlight>
                <a:latin typeface="Consolas" panose="020B0609020204030204" pitchFamily="49" charset="0"/>
              </a:rPr>
              <a:t>&lt;char&gt;</a:t>
            </a:r>
          </a:p>
          <a:p>
            <a:r>
              <a:rPr lang="en-IN" sz="1200" dirty="0">
                <a:solidFill>
                  <a:srgbClr val="000000"/>
                </a:solidFill>
                <a:highlight>
                  <a:srgbClr val="FFFFFF"/>
                </a:highlight>
                <a:latin typeface="Consolas" panose="020B0609020204030204" pitchFamily="49" charset="0"/>
              </a:rPr>
              <a: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Add(char item);</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List(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capacity);</a:t>
            </a: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Count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5" name="TextBox 4">
            <a:extLst>
              <a:ext uri="{FF2B5EF4-FFF2-40B4-BE49-F238E27FC236}">
                <a16:creationId xmlns:a16="http://schemas.microsoft.com/office/drawing/2014/main" id="{24C94971-653C-454C-826F-1BD83DEE64AD}"/>
              </a:ext>
            </a:extLst>
          </p:cNvPr>
          <p:cNvSpPr txBox="1"/>
          <p:nvPr/>
        </p:nvSpPr>
        <p:spPr>
          <a:xfrm>
            <a:off x="76200" y="2864971"/>
            <a:ext cx="4495800" cy="4247317"/>
          </a:xfrm>
          <a:prstGeom prst="rect">
            <a:avLst/>
          </a:prstGeom>
          <a:noFill/>
        </p:spPr>
        <p:txBody>
          <a:bodyPr wrap="square" rtlCol="0">
            <a:spAutoFit/>
          </a:bodyPr>
          <a:lstStyle/>
          <a:p>
            <a:r>
              <a:rPr lang="en-IN" dirty="0"/>
              <a:t>We have understood here that capacity of list is growing </a:t>
            </a:r>
            <a:r>
              <a:rPr lang="en-IN" b="1" dirty="0"/>
              <a:t>dynamically.</a:t>
            </a:r>
          </a:p>
          <a:p>
            <a:endParaRPr lang="en-IN" dirty="0"/>
          </a:p>
          <a:p>
            <a:r>
              <a:rPr lang="en-IN" dirty="0"/>
              <a:t>Initial capacity was 0 </a:t>
            </a:r>
          </a:p>
          <a:p>
            <a:endParaRPr lang="en-IN" dirty="0"/>
          </a:p>
          <a:p>
            <a:r>
              <a:rPr lang="en-IN" dirty="0"/>
              <a:t>After adding 6 element </a:t>
            </a:r>
          </a:p>
          <a:p>
            <a:endParaRPr lang="en-IN" dirty="0"/>
          </a:p>
          <a:p>
            <a:r>
              <a:rPr lang="en-IN" dirty="0"/>
              <a:t>Capacity has grown from 0 to 8</a:t>
            </a:r>
          </a:p>
          <a:p>
            <a:endParaRPr lang="en-IN" dirty="0"/>
          </a:p>
          <a:p>
            <a:r>
              <a:rPr lang="en-IN" dirty="0"/>
              <a:t>Generally it will grow in multiple of 4</a:t>
            </a:r>
          </a:p>
          <a:p>
            <a:endParaRPr lang="en-IN" dirty="0"/>
          </a:p>
          <a:p>
            <a:r>
              <a:rPr lang="en-IN" dirty="0"/>
              <a:t>You can read data using [] index</a:t>
            </a:r>
          </a:p>
          <a:p>
            <a:r>
              <a:rPr lang="en-IN" dirty="0"/>
              <a:t>Observe it maintain the order of insertion.</a:t>
            </a:r>
          </a:p>
          <a:p>
            <a:endParaRPr lang="en-IN" dirty="0"/>
          </a:p>
        </p:txBody>
      </p:sp>
    </p:spTree>
    <p:extLst>
      <p:ext uri="{BB962C8B-B14F-4D97-AF65-F5344CB8AC3E}">
        <p14:creationId xmlns:p14="http://schemas.microsoft.com/office/powerpoint/2010/main" val="71563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BFD4-8F8B-49F4-A913-A72A83748804}"/>
              </a:ext>
            </a:extLst>
          </p:cNvPr>
          <p:cNvSpPr>
            <a:spLocks noGrp="1"/>
          </p:cNvSpPr>
          <p:nvPr>
            <p:ph type="title"/>
          </p:nvPr>
        </p:nvSpPr>
        <p:spPr>
          <a:xfrm>
            <a:off x="894735" y="-76200"/>
            <a:ext cx="8229600" cy="639762"/>
          </a:xfrm>
        </p:spPr>
        <p:txBody>
          <a:bodyPr>
            <a:normAutofit fontScale="90000"/>
          </a:bodyPr>
          <a:lstStyle/>
          <a:p>
            <a:r>
              <a:rPr lang="en-IN" dirty="0"/>
              <a:t>How to remove and modify data in list</a:t>
            </a:r>
          </a:p>
        </p:txBody>
      </p:sp>
      <p:sp>
        <p:nvSpPr>
          <p:cNvPr id="3" name="Content Placeholder 2">
            <a:extLst>
              <a:ext uri="{FF2B5EF4-FFF2-40B4-BE49-F238E27FC236}">
                <a16:creationId xmlns:a16="http://schemas.microsoft.com/office/drawing/2014/main" id="{1B1C29D5-5D17-4B98-BAA8-61D45C35814F}"/>
              </a:ext>
            </a:extLst>
          </p:cNvPr>
          <p:cNvSpPr>
            <a:spLocks noGrp="1"/>
          </p:cNvSpPr>
          <p:nvPr>
            <p:ph idx="1"/>
          </p:nvPr>
        </p:nvSpPr>
        <p:spPr>
          <a:xfrm>
            <a:off x="3810000" y="563562"/>
            <a:ext cx="5105400" cy="5837238"/>
          </a:xfrm>
        </p:spPr>
        <p:txBody>
          <a:bodyPr>
            <a:normAutofit/>
          </a:bodyPr>
          <a:lstStyle/>
          <a:p>
            <a:pPr marL="0" indent="0">
              <a:buNone/>
            </a:pPr>
            <a:r>
              <a:rPr lang="en-US" sz="1800" dirty="0">
                <a:solidFill>
                  <a:srgbClr val="008000"/>
                </a:solidFill>
                <a:highlight>
                  <a:srgbClr val="FFFFFF"/>
                </a:highlight>
                <a:latin typeface="Consolas" panose="020B0609020204030204" pitchFamily="49" charset="0"/>
              </a:rPr>
              <a:t>// Remove elements from the array list.  </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'F'</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Change contents using array indexing.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"Change first three elements"</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[1] = </a:t>
            </a:r>
            <a:r>
              <a:rPr lang="en-IN" sz="1800" dirty="0">
                <a:solidFill>
                  <a:srgbClr val="A31515"/>
                </a:solidFill>
                <a:highlight>
                  <a:srgbClr val="FFFFFF"/>
                </a:highlight>
                <a:latin typeface="Consolas" panose="020B0609020204030204" pitchFamily="49" charset="0"/>
              </a:rPr>
              <a:t>'Y'</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[2] = </a:t>
            </a:r>
            <a:r>
              <a:rPr lang="en-IN" sz="1800" dirty="0">
                <a:solidFill>
                  <a:srgbClr val="A31515"/>
                </a:solidFill>
                <a:highlight>
                  <a:srgbClr val="FFFFFF"/>
                </a:highlight>
                <a:latin typeface="Consolas" panose="020B0609020204030204" pitchFamily="49" charset="0"/>
              </a:rPr>
              <a:t>'Z'</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foreach</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char</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a:t>
            </a:r>
            <a:r>
              <a:rPr lang="en-IN" sz="1800" dirty="0">
                <a:solidFill>
                  <a:srgbClr val="000000"/>
                </a:solidFill>
                <a:highlight>
                  <a:srgbClr val="FFFFFF"/>
                </a:highlight>
                <a:latin typeface="Consolas" panose="020B0609020204030204" pitchFamily="49" charset="0"/>
              </a:rPr>
              <a:t>(c + </a:t>
            </a:r>
            <a:r>
              <a:rPr lang="en-IN" sz="1800" dirty="0">
                <a:solidFill>
                  <a:srgbClr val="A31515"/>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lst.Add</a:t>
            </a:r>
            <a:r>
              <a:rPr lang="en-US" sz="1800" dirty="0">
                <a:solidFill>
                  <a:srgbClr val="000000"/>
                </a:solidFill>
                <a:highlight>
                  <a:srgbClr val="FFFFFF"/>
                </a:highlight>
                <a:latin typeface="Consolas" panose="020B0609020204030204" pitchFamily="49" charset="0"/>
              </a:rPr>
              <a:t>(99); // Error, not a char! </a:t>
            </a:r>
            <a:endParaRPr lang="en-IN" dirty="0"/>
          </a:p>
        </p:txBody>
      </p:sp>
      <p:sp>
        <p:nvSpPr>
          <p:cNvPr id="4" name="TextBox 3">
            <a:extLst>
              <a:ext uri="{FF2B5EF4-FFF2-40B4-BE49-F238E27FC236}">
                <a16:creationId xmlns:a16="http://schemas.microsoft.com/office/drawing/2014/main" id="{7CC0DB11-B393-4E9E-ABFD-09F29C1F4954}"/>
              </a:ext>
            </a:extLst>
          </p:cNvPr>
          <p:cNvSpPr txBox="1"/>
          <p:nvPr/>
        </p:nvSpPr>
        <p:spPr>
          <a:xfrm>
            <a:off x="19665" y="914400"/>
            <a:ext cx="3790335" cy="4524315"/>
          </a:xfrm>
          <a:prstGeom prst="rect">
            <a:avLst/>
          </a:prstGeom>
          <a:noFill/>
        </p:spPr>
        <p:txBody>
          <a:bodyPr wrap="square" rtlCol="0">
            <a:spAutoFit/>
          </a:bodyPr>
          <a:lstStyle/>
          <a:p>
            <a:r>
              <a:rPr lang="en-IN" dirty="0" err="1"/>
              <a:t>Remoe</a:t>
            </a:r>
            <a:r>
              <a:rPr lang="en-IN" dirty="0"/>
              <a:t> will remove the element.</a:t>
            </a:r>
          </a:p>
          <a:p>
            <a:r>
              <a:rPr lang="en-IN" dirty="0"/>
              <a:t>Once you remove data from list </a:t>
            </a:r>
          </a:p>
          <a:p>
            <a:endParaRPr lang="en-IN" dirty="0"/>
          </a:p>
          <a:p>
            <a:r>
              <a:rPr lang="en-IN" dirty="0"/>
              <a:t>It will not shrink </a:t>
            </a:r>
            <a:r>
              <a:rPr lang="en-IN" dirty="0" err="1"/>
              <a:t>ie</a:t>
            </a:r>
            <a:r>
              <a:rPr lang="en-IN" dirty="0"/>
              <a:t>. Reduce the capacity.</a:t>
            </a:r>
          </a:p>
          <a:p>
            <a:endParaRPr lang="en-IN" dirty="0"/>
          </a:p>
          <a:p>
            <a:r>
              <a:rPr lang="en-IN" dirty="0"/>
              <a:t>You can modify data at specific index using following syntax</a:t>
            </a:r>
          </a:p>
          <a:p>
            <a:r>
              <a:rPr lang="en-IN" sz="1800" dirty="0" err="1">
                <a:solidFill>
                  <a:srgbClr val="000000"/>
                </a:solidFill>
                <a:highlight>
                  <a:srgbClr val="FFFFFF"/>
                </a:highlight>
                <a:latin typeface="Consolas" panose="020B0609020204030204" pitchFamily="49" charset="0"/>
              </a:rPr>
              <a:t>lst</a:t>
            </a:r>
            <a:r>
              <a:rPr lang="en-IN" sz="1800" dirty="0">
                <a:solidFill>
                  <a:srgbClr val="000000"/>
                </a:solidFill>
                <a:highlight>
                  <a:srgbClr val="FFFFFF"/>
                </a:highlight>
                <a:latin typeface="Consolas" panose="020B0609020204030204" pitchFamily="49" charset="0"/>
              </a:rPr>
              <a:t>[0] = </a:t>
            </a:r>
            <a:r>
              <a:rPr lang="en-IN" sz="1800" dirty="0">
                <a:solidFill>
                  <a:srgbClr val="A31515"/>
                </a:solidFill>
                <a:highlight>
                  <a:srgbClr val="FFFFFF"/>
                </a:highlight>
                <a:latin typeface="Consolas" panose="020B0609020204030204" pitchFamily="49" charset="0"/>
              </a:rPr>
              <a:t>'X’</a:t>
            </a:r>
            <a:r>
              <a:rPr lang="en-IN" sz="1800" dirty="0">
                <a:solidFill>
                  <a:srgbClr val="000000"/>
                </a:solidFill>
                <a:highlight>
                  <a:srgbClr val="FFFFFF"/>
                </a:highlight>
                <a:latin typeface="Consolas" panose="020B0609020204030204" pitchFamily="49" charset="0"/>
              </a:rPr>
              <a:t>;</a:t>
            </a:r>
          </a:p>
          <a:p>
            <a:endParaRPr lang="en-IN" dirty="0"/>
          </a:p>
          <a:p>
            <a:r>
              <a:rPr lang="en-IN" dirty="0"/>
              <a:t>Observe the template shown in above ppt it say you can store only char int “</a:t>
            </a:r>
            <a:r>
              <a:rPr lang="en-IN" dirty="0" err="1"/>
              <a:t>lst</a:t>
            </a:r>
            <a:r>
              <a:rPr lang="en-IN" dirty="0"/>
              <a:t>”  List variable.</a:t>
            </a:r>
          </a:p>
          <a:p>
            <a:endParaRPr lang="en-IN" dirty="0"/>
          </a:p>
          <a:p>
            <a:r>
              <a:rPr lang="en-IN" dirty="0"/>
              <a:t>I f you try to add number it will give you compile time error</a:t>
            </a:r>
          </a:p>
        </p:txBody>
      </p:sp>
    </p:spTree>
    <p:extLst>
      <p:ext uri="{BB962C8B-B14F-4D97-AF65-F5344CB8AC3E}">
        <p14:creationId xmlns:p14="http://schemas.microsoft.com/office/powerpoint/2010/main" val="361320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9A71A-7164-42DC-AB15-F5F145DD0430}"/>
              </a:ext>
            </a:extLst>
          </p:cNvPr>
          <p:cNvSpPr>
            <a:spLocks noGrp="1"/>
          </p:cNvSpPr>
          <p:nvPr>
            <p:ph idx="1"/>
          </p:nvPr>
        </p:nvSpPr>
        <p:spPr>
          <a:xfrm>
            <a:off x="3429000" y="-76200"/>
            <a:ext cx="5562600" cy="6629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Employee() {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Name = nm;</a:t>
            </a:r>
          </a:p>
          <a:p>
            <a:pPr marL="0" indent="0">
              <a:buNone/>
            </a:pPr>
            <a:r>
              <a:rPr lang="en-IN" sz="1200" dirty="0">
                <a:solidFill>
                  <a:srgbClr val="000000"/>
                </a:solidFill>
                <a:highlight>
                  <a:srgbClr val="FFFFFF"/>
                </a:highlight>
                <a:latin typeface="Consolas" panose="020B0609020204030204" pitchFamily="49" charset="0"/>
              </a:rPr>
              <a:t>            Salary =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"{0} {1}"</a:t>
            </a:r>
            <a:r>
              <a:rPr lang="en-US" sz="1200" dirty="0">
                <a:solidFill>
                  <a:srgbClr val="000000"/>
                </a:solidFill>
                <a:highlight>
                  <a:srgbClr val="FFFFFF"/>
                </a:highlight>
                <a:latin typeface="Consolas" panose="020B0609020204030204" pitchFamily="49" charset="0"/>
              </a:rPr>
              <a:t>, Name, Salary);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Raj"</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=6000}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Mona"</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=7000}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{Name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Het"</a:t>
            </a:r>
            <a:r>
              <a:rPr lang="en-US" sz="1200" dirty="0" err="1">
                <a:solidFill>
                  <a:srgbClr val="000000"/>
                </a:solidFill>
                <a:highlight>
                  <a:srgbClr val="FFFFFF"/>
                </a:highlight>
                <a:latin typeface="Consolas" panose="020B0609020204030204" pitchFamily="49" charset="0"/>
              </a:rPr>
              <a:t>,Salary</a:t>
            </a:r>
            <a:r>
              <a:rPr lang="en-US" sz="1200" dirty="0">
                <a:solidFill>
                  <a:srgbClr val="000000"/>
                </a:solidFill>
                <a:highlight>
                  <a:srgbClr val="FFFFFF"/>
                </a:highlight>
                <a:latin typeface="Consolas" panose="020B0609020204030204" pitchFamily="49" charset="0"/>
              </a:rPr>
              <a:t> =3000} ,</a:t>
            </a: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e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listemp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a:t>
            </a:r>
          </a:p>
          <a:p>
            <a:pPr marL="0" indent="0">
              <a:buNone/>
            </a:pPr>
            <a:r>
              <a:rPr lang="en-US" sz="1200" dirty="0">
                <a:solidFill>
                  <a:srgbClr val="000000"/>
                </a:solidFill>
                <a:latin typeface="Consolas" panose="020B0609020204030204" pitchFamily="49" charset="0"/>
              </a:rPr>
              <a:t>Employee obj=</a:t>
            </a:r>
            <a:r>
              <a:rPr lang="en-US" sz="1200" dirty="0" err="1">
                <a:solidFill>
                  <a:srgbClr val="000000"/>
                </a:solidFill>
                <a:latin typeface="Consolas" panose="020B0609020204030204" pitchFamily="49" charset="0"/>
              </a:rPr>
              <a:t>listemp.Find</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arr</a:t>
            </a:r>
            <a:r>
              <a:rPr lang="en-US" sz="1200" dirty="0">
                <a:solidFill>
                  <a:srgbClr val="000000"/>
                </a:solidFill>
                <a:latin typeface="Consolas" panose="020B0609020204030204" pitchFamily="49" charset="0"/>
              </a:rPr>
              <a:t>) =&gt; </a:t>
            </a:r>
            <a:r>
              <a:rPr lang="en-US" sz="1200" dirty="0" err="1">
                <a:solidFill>
                  <a:srgbClr val="000000"/>
                </a:solidFill>
                <a:latin typeface="Consolas" panose="020B0609020204030204" pitchFamily="49" charset="0"/>
              </a:rPr>
              <a:t>arr.Salary</a:t>
            </a:r>
            <a:r>
              <a:rPr lang="en-US" sz="1200" dirty="0">
                <a:solidFill>
                  <a:srgbClr val="000000"/>
                </a:solidFill>
                <a:latin typeface="Consolas" panose="020B0609020204030204" pitchFamily="49" charset="0"/>
              </a:rPr>
              <a:t> == 6000);</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8553B941-1A24-4E54-9F79-05C8F877410B}"/>
              </a:ext>
            </a:extLst>
          </p:cNvPr>
          <p:cNvSpPr txBox="1"/>
          <p:nvPr/>
        </p:nvSpPr>
        <p:spPr>
          <a:xfrm>
            <a:off x="152400" y="990600"/>
            <a:ext cx="3276600" cy="2308324"/>
          </a:xfrm>
          <a:prstGeom prst="rect">
            <a:avLst/>
          </a:prstGeom>
          <a:noFill/>
        </p:spPr>
        <p:txBody>
          <a:bodyPr wrap="square" rtlCol="0">
            <a:spAutoFit/>
          </a:bodyPr>
          <a:lstStyle/>
          <a:p>
            <a:r>
              <a:rPr lang="en-IN" dirty="0"/>
              <a:t>In this example we are storing all employee objects in List class.</a:t>
            </a:r>
          </a:p>
          <a:p>
            <a:endParaRPr lang="en-IN" dirty="0"/>
          </a:p>
          <a:p>
            <a:r>
              <a:rPr lang="en-IN" dirty="0"/>
              <a:t>List class has many </a:t>
            </a:r>
            <a:r>
              <a:rPr lang="en-IN" dirty="0" err="1"/>
              <a:t>usefull</a:t>
            </a:r>
            <a:r>
              <a:rPr lang="en-IN" dirty="0"/>
              <a:t> function like</a:t>
            </a:r>
          </a:p>
          <a:p>
            <a:r>
              <a:rPr lang="en-IN" dirty="0"/>
              <a:t>Sort,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BinarySearch</a:t>
            </a:r>
            <a:r>
              <a:rPr lang="en-IN" sz="1800" dirty="0">
                <a:solidFill>
                  <a:srgbClr val="000000"/>
                </a:solidFill>
                <a:highlight>
                  <a:srgbClr val="FFFFFF"/>
                </a:highlight>
                <a:latin typeface="Consolas" panose="020B0609020204030204" pitchFamily="49" charset="0"/>
              </a:rPr>
              <a:t>, Insert etc.</a:t>
            </a:r>
            <a:endParaRPr lang="en-IN" dirty="0"/>
          </a:p>
        </p:txBody>
      </p:sp>
      <p:sp>
        <p:nvSpPr>
          <p:cNvPr id="5" name="TextBox 4">
            <a:extLst>
              <a:ext uri="{FF2B5EF4-FFF2-40B4-BE49-F238E27FC236}">
                <a16:creationId xmlns:a16="http://schemas.microsoft.com/office/drawing/2014/main" id="{92BB216B-5E7A-44B4-B40D-00EF72757564}"/>
              </a:ext>
            </a:extLst>
          </p:cNvPr>
          <p:cNvSpPr txBox="1"/>
          <p:nvPr/>
        </p:nvSpPr>
        <p:spPr>
          <a:xfrm>
            <a:off x="7375" y="3429000"/>
            <a:ext cx="3955025" cy="1338828"/>
          </a:xfrm>
          <a:prstGeom prst="rect">
            <a:avLst/>
          </a:prstGeom>
          <a:noFill/>
        </p:spPr>
        <p:txBody>
          <a:bodyPr wrap="square">
            <a:spAutoFit/>
          </a:bodyPr>
          <a:lstStyle/>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Employee obj=</a:t>
            </a:r>
            <a:r>
              <a:rPr lang="en-US" sz="900" dirty="0" err="1">
                <a:solidFill>
                  <a:srgbClr val="000000"/>
                </a:solidFill>
                <a:latin typeface="Consolas" panose="020B0609020204030204" pitchFamily="49" charset="0"/>
              </a:rPr>
              <a:t>listemp.Find</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arr</a:t>
            </a:r>
            <a:r>
              <a:rPr lang="en-US" sz="900" dirty="0">
                <a:solidFill>
                  <a:srgbClr val="000000"/>
                </a:solidFill>
                <a:latin typeface="Consolas" panose="020B0609020204030204" pitchFamily="49" charset="0"/>
              </a:rPr>
              <a:t>) =&gt; </a:t>
            </a:r>
            <a:r>
              <a:rPr lang="en-US" sz="900" dirty="0" err="1">
                <a:solidFill>
                  <a:srgbClr val="000000"/>
                </a:solidFill>
                <a:latin typeface="Consolas" panose="020B0609020204030204" pitchFamily="49" charset="0"/>
              </a:rPr>
              <a:t>arr.Salary</a:t>
            </a:r>
            <a:r>
              <a:rPr lang="en-US" sz="900" dirty="0">
                <a:solidFill>
                  <a:srgbClr val="000000"/>
                </a:solidFill>
                <a:latin typeface="Consolas" panose="020B0609020204030204" pitchFamily="49" charset="0"/>
              </a:rPr>
              <a:t> == 6000);</a:t>
            </a:r>
          </a:p>
          <a:p>
            <a:r>
              <a:rPr lang="en-IN" sz="900" dirty="0">
                <a:solidFill>
                  <a:srgbClr val="000000"/>
                </a:solidFill>
                <a:latin typeface="Consolas" panose="020B0609020204030204" pitchFamily="49" charset="0"/>
              </a:rPr>
              <a:t>  </a:t>
            </a:r>
          </a:p>
          <a:p>
            <a:r>
              <a:rPr lang="en-IN" sz="900" dirty="0">
                <a:solidFill>
                  <a:srgbClr val="0000FF"/>
                </a:solidFill>
                <a:latin typeface="Consolas" panose="020B0609020204030204" pitchFamily="49" charset="0"/>
              </a:rPr>
              <a:t>var</a:t>
            </a:r>
            <a:r>
              <a:rPr lang="en-IN" sz="900" dirty="0">
                <a:solidFill>
                  <a:srgbClr val="000000"/>
                </a:solidFill>
                <a:latin typeface="Consolas" panose="020B0609020204030204" pitchFamily="49" charset="0"/>
              </a:rPr>
              <a:t> result=  </a:t>
            </a:r>
            <a:r>
              <a:rPr lang="en-IN" sz="900" dirty="0" err="1">
                <a:solidFill>
                  <a:srgbClr val="000000"/>
                </a:solidFill>
                <a:latin typeface="Consolas" panose="020B0609020204030204" pitchFamily="49" charset="0"/>
              </a:rPr>
              <a:t>listemp.FindAll</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arr</a:t>
            </a:r>
            <a:r>
              <a:rPr lang="en-IN" sz="900" dirty="0">
                <a:solidFill>
                  <a:srgbClr val="000000"/>
                </a:solidFill>
                <a:latin typeface="Consolas" panose="020B0609020204030204" pitchFamily="49" charset="0"/>
              </a:rPr>
              <a:t>) =&gt; </a:t>
            </a:r>
            <a:r>
              <a:rPr lang="en-IN" sz="900" dirty="0" err="1">
                <a:solidFill>
                  <a:srgbClr val="000000"/>
                </a:solidFill>
                <a:latin typeface="Consolas" panose="020B0609020204030204" pitchFamily="49" charset="0"/>
              </a:rPr>
              <a:t>arr.Salary</a:t>
            </a:r>
            <a:r>
              <a:rPr lang="en-IN" sz="900" dirty="0">
                <a:solidFill>
                  <a:srgbClr val="000000"/>
                </a:solidFill>
                <a:latin typeface="Consolas" panose="020B0609020204030204" pitchFamily="49" charset="0"/>
              </a:rPr>
              <a:t> &gt;=6000);</a:t>
            </a:r>
          </a:p>
          <a:p>
            <a:r>
              <a:rPr lang="en-IN" sz="900" dirty="0">
                <a:solidFill>
                  <a:srgbClr val="000000"/>
                </a:solidFill>
                <a:latin typeface="Consolas" panose="020B0609020204030204" pitchFamily="49" charset="0"/>
              </a:rPr>
              <a:t>                     </a:t>
            </a:r>
          </a:p>
          <a:p>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obj</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foreach</a:t>
            </a:r>
            <a:r>
              <a:rPr lang="en-US" sz="900" dirty="0">
                <a:solidFill>
                  <a:srgbClr val="000000"/>
                </a:solidFill>
                <a:latin typeface="Consolas" panose="020B0609020204030204" pitchFamily="49" charset="0"/>
              </a:rPr>
              <a:t> (Employee e </a:t>
            </a:r>
            <a:r>
              <a:rPr lang="en-US" sz="900" dirty="0">
                <a:solidFill>
                  <a:srgbClr val="0000FF"/>
                </a:solidFill>
                <a:latin typeface="Consolas" panose="020B0609020204030204" pitchFamily="49" charset="0"/>
              </a:rPr>
              <a:t>in</a:t>
            </a:r>
            <a:r>
              <a:rPr lang="en-US" sz="900" dirty="0">
                <a:solidFill>
                  <a:srgbClr val="000000"/>
                </a:solidFill>
                <a:latin typeface="Consolas" panose="020B0609020204030204" pitchFamily="49" charset="0"/>
              </a:rPr>
              <a:t> result)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(e);</a:t>
            </a:r>
            <a:endParaRPr lang="en-IN" dirty="0"/>
          </a:p>
        </p:txBody>
      </p:sp>
    </p:spTree>
    <p:extLst>
      <p:ext uri="{BB962C8B-B14F-4D97-AF65-F5344CB8AC3E}">
        <p14:creationId xmlns:p14="http://schemas.microsoft.com/office/powerpoint/2010/main" val="1214999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75F80F-27A1-759E-D6CD-16B1877F046C}"/>
              </a:ext>
            </a:extLst>
          </p:cNvPr>
          <p:cNvSpPr/>
          <p:nvPr/>
        </p:nvSpPr>
        <p:spPr>
          <a:xfrm>
            <a:off x="114300" y="685800"/>
            <a:ext cx="4724400" cy="525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T? Find(Predicate&lt;T&gt; match)</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(match == </a:t>
            </a:r>
            <a:r>
              <a:rPr lang="en-IN" sz="1600" dirty="0">
                <a:solidFill>
                  <a:srgbClr val="0000FF"/>
                </a:solidFill>
                <a:latin typeface="Cascadia Mono" panose="020B0609020000020004" pitchFamily="49" charset="0"/>
              </a:rPr>
              <a:t>null</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err="1">
                <a:solidFill>
                  <a:srgbClr val="000000"/>
                </a:solidFill>
                <a:latin typeface="Cascadia Mono" panose="020B0609020000020004" pitchFamily="49" charset="0"/>
              </a:rPr>
              <a:t>ThrowHelper.ThrowArgumentNullException</a:t>
            </a:r>
            <a:r>
              <a:rPr lang="en-IN" sz="1600" dirty="0">
                <a:solidFill>
                  <a:srgbClr val="000000"/>
                </a:solidFill>
                <a:latin typeface="Cascadia Mono" panose="020B0609020000020004" pitchFamily="49" charset="0"/>
              </a:rPr>
              <a:t>(</a:t>
            </a:r>
            <a:r>
              <a:rPr lang="en-IN" sz="1600" dirty="0" err="1">
                <a:solidFill>
                  <a:srgbClr val="000000"/>
                </a:solidFill>
                <a:latin typeface="Cascadia Mono" panose="020B0609020000020004" pitchFamily="49" charset="0"/>
              </a:rPr>
              <a:t>ExceptionArgument.match</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for</a:t>
            </a:r>
            <a:r>
              <a:rPr lang="nn-NO" sz="1600" dirty="0">
                <a:solidFill>
                  <a:srgbClr val="000000"/>
                </a:solidFill>
                <a:latin typeface="Cascadia Mono" panose="020B0609020000020004" pitchFamily="49" charset="0"/>
              </a:rPr>
              <a:t> (</a:t>
            </a:r>
            <a:r>
              <a:rPr lang="nn-NO" sz="1600" dirty="0">
                <a:solidFill>
                  <a:srgbClr val="0000FF"/>
                </a:solidFill>
                <a:latin typeface="Cascadia Mono" panose="020B0609020000020004" pitchFamily="49" charset="0"/>
              </a:rPr>
              <a:t>int</a:t>
            </a:r>
            <a:r>
              <a:rPr lang="nn-NO" sz="1600" dirty="0">
                <a:solidFill>
                  <a:srgbClr val="000000"/>
                </a:solidFill>
                <a:latin typeface="Cascadia Mono" panose="020B0609020000020004" pitchFamily="49" charset="0"/>
              </a:rPr>
              <a:t> i = 0; i &lt; _size; i++)</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if</a:t>
            </a:r>
            <a:r>
              <a:rPr lang="en-IN" sz="1600" dirty="0">
                <a:solidFill>
                  <a:srgbClr val="000000"/>
                </a:solidFill>
                <a:latin typeface="Cascadia Mono" panose="020B0609020000020004" pitchFamily="49" charset="0"/>
              </a:rPr>
              <a:t> (</a:t>
            </a:r>
            <a:r>
              <a:rPr lang="en-IN" sz="1600" dirty="0">
                <a:solidFill>
                  <a:srgbClr val="000000"/>
                </a:solidFill>
                <a:highlight>
                  <a:srgbClr val="FFFF00"/>
                </a:highlight>
                <a:latin typeface="Cascadia Mono" panose="020B0609020000020004" pitchFamily="49" charset="0"/>
              </a:rPr>
              <a:t>match(_items[</a:t>
            </a:r>
            <a:r>
              <a:rPr lang="en-IN" sz="1600" dirty="0" err="1">
                <a:solidFill>
                  <a:srgbClr val="000000"/>
                </a:solidFill>
                <a:highlight>
                  <a:srgbClr val="FFFF00"/>
                </a:highlight>
                <a:latin typeface="Cascadia Mono" panose="020B0609020000020004" pitchFamily="49" charset="0"/>
              </a:rPr>
              <a:t>i</a:t>
            </a:r>
            <a:r>
              <a:rPr lang="en-IN" sz="1600" dirty="0">
                <a:solidFill>
                  <a:srgbClr val="000000"/>
                </a:solidFill>
                <a:highlight>
                  <a:srgbClr val="FFFF00"/>
                </a:highlight>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_items[</a:t>
            </a:r>
            <a:r>
              <a:rPr lang="en-IN" sz="1600" dirty="0" err="1">
                <a:solidFill>
                  <a:srgbClr val="000000"/>
                </a:solidFill>
                <a:latin typeface="Cascadia Mono" panose="020B0609020000020004" pitchFamily="49" charset="0"/>
              </a:rPr>
              <a:t>i</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return</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default</a:t>
            </a:r>
            <a:r>
              <a:rPr lang="en-IN" sz="1600" dirty="0">
                <a:solidFill>
                  <a:srgbClr val="000000"/>
                </a:solidFill>
                <a:latin typeface="Cascadia Mono" panose="020B0609020000020004" pitchFamily="49" charset="0"/>
              </a:rPr>
              <a:t>;</a:t>
            </a:r>
          </a:p>
          <a:p>
            <a:r>
              <a:rPr lang="en-IN" sz="1600" dirty="0">
                <a:solidFill>
                  <a:srgbClr val="000000"/>
                </a:solidFill>
                <a:latin typeface="Cascadia Mono" panose="020B0609020000020004" pitchFamily="49" charset="0"/>
              </a:rPr>
              <a:t>        }</a:t>
            </a:r>
          </a:p>
          <a:p>
            <a:pPr algn="ctr"/>
            <a:endParaRPr lang="en-IN" sz="1600" dirty="0"/>
          </a:p>
        </p:txBody>
      </p:sp>
      <p:sp>
        <p:nvSpPr>
          <p:cNvPr id="6" name="TextBox 5">
            <a:extLst>
              <a:ext uri="{FF2B5EF4-FFF2-40B4-BE49-F238E27FC236}">
                <a16:creationId xmlns:a16="http://schemas.microsoft.com/office/drawing/2014/main" id="{2EF134B9-42EC-96F4-257D-8F4946815D5B}"/>
              </a:ext>
            </a:extLst>
          </p:cNvPr>
          <p:cNvSpPr txBox="1"/>
          <p:nvPr/>
        </p:nvSpPr>
        <p:spPr>
          <a:xfrm>
            <a:off x="4953000" y="152400"/>
            <a:ext cx="3733800" cy="92333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Employee obj=</a:t>
            </a:r>
            <a:r>
              <a:rPr kumimoji="0" lang="en-US"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listemp.Find</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=&gt; </a:t>
            </a:r>
            <a:r>
              <a:rPr kumimoji="0" lang="en-US"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arr.Salary</a:t>
            </a:r>
            <a:r>
              <a:rPr kumimoji="0" lang="en-US"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 6000</a:t>
            </a:r>
            <a:r>
              <a:rPr kumimoji="0" lang="en-US"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kumimoji="0" lang="en-IN"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p:txBody>
      </p:sp>
      <p:cxnSp>
        <p:nvCxnSpPr>
          <p:cNvPr id="7" name="Straight Arrow Connector 6">
            <a:extLst>
              <a:ext uri="{FF2B5EF4-FFF2-40B4-BE49-F238E27FC236}">
                <a16:creationId xmlns:a16="http://schemas.microsoft.com/office/drawing/2014/main" id="{7B2A3AA6-1711-8A90-D87B-64FC65BCB8CC}"/>
              </a:ext>
            </a:extLst>
          </p:cNvPr>
          <p:cNvCxnSpPr/>
          <p:nvPr/>
        </p:nvCxnSpPr>
        <p:spPr>
          <a:xfrm flipV="1">
            <a:off x="5285688" y="2943023"/>
            <a:ext cx="5334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5E632EE-DD17-4A26-221A-F47BBC5EEF80}"/>
              </a:ext>
            </a:extLst>
          </p:cNvPr>
          <p:cNvSpPr/>
          <p:nvPr/>
        </p:nvSpPr>
        <p:spPr>
          <a:xfrm>
            <a:off x="4852644" y="2628507"/>
            <a:ext cx="685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lstemp</a:t>
            </a:r>
            <a:endParaRPr lang="en-IN" sz="1200" dirty="0"/>
          </a:p>
        </p:txBody>
      </p:sp>
      <p:sp>
        <p:nvSpPr>
          <p:cNvPr id="10" name="Rectangle 9">
            <a:extLst>
              <a:ext uri="{FF2B5EF4-FFF2-40B4-BE49-F238E27FC236}">
                <a16:creationId xmlns:a16="http://schemas.microsoft.com/office/drawing/2014/main" id="{41EB606E-095A-4241-7D38-C9D11D75D837}"/>
              </a:ext>
            </a:extLst>
          </p:cNvPr>
          <p:cNvSpPr/>
          <p:nvPr/>
        </p:nvSpPr>
        <p:spPr>
          <a:xfrm>
            <a:off x="5735032" y="1714036"/>
            <a:ext cx="3429000" cy="243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solidFill>
                  <a:srgbClr val="000000"/>
                </a:solidFill>
                <a:highlight>
                  <a:srgbClr val="FFFF00"/>
                </a:highlight>
                <a:latin typeface="Cascadia Mono" panose="020B0609020000020004" pitchFamily="49" charset="0"/>
              </a:rPr>
              <a:t>Employee _items[]=new  Employee[]</a:t>
            </a:r>
            <a:endParaRPr lang="en-IN" dirty="0"/>
          </a:p>
        </p:txBody>
      </p:sp>
      <p:sp>
        <p:nvSpPr>
          <p:cNvPr id="11" name="TextBox 10">
            <a:extLst>
              <a:ext uri="{FF2B5EF4-FFF2-40B4-BE49-F238E27FC236}">
                <a16:creationId xmlns:a16="http://schemas.microsoft.com/office/drawing/2014/main" id="{40F47FD6-AAA7-07BC-3703-67D9EC279E71}"/>
              </a:ext>
            </a:extLst>
          </p:cNvPr>
          <p:cNvSpPr txBox="1"/>
          <p:nvPr/>
        </p:nvSpPr>
        <p:spPr>
          <a:xfrm>
            <a:off x="6172200" y="1371600"/>
            <a:ext cx="1905000" cy="369332"/>
          </a:xfrm>
          <a:prstGeom prst="rect">
            <a:avLst/>
          </a:prstGeom>
          <a:noFill/>
        </p:spPr>
        <p:txBody>
          <a:bodyPr wrap="square" rtlCol="0">
            <a:spAutoFit/>
          </a:bodyPr>
          <a:lstStyle/>
          <a:p>
            <a:r>
              <a:rPr lang="en-US" dirty="0"/>
              <a:t>List&lt;Employee&gt;</a:t>
            </a:r>
            <a:endParaRPr lang="en-IN" dirty="0"/>
          </a:p>
        </p:txBody>
      </p:sp>
      <p:graphicFrame>
        <p:nvGraphicFramePr>
          <p:cNvPr id="12" name="Table 12">
            <a:extLst>
              <a:ext uri="{FF2B5EF4-FFF2-40B4-BE49-F238E27FC236}">
                <a16:creationId xmlns:a16="http://schemas.microsoft.com/office/drawing/2014/main" id="{20F59FBA-6A91-4F4F-B30C-18281A29CBBD}"/>
              </a:ext>
            </a:extLst>
          </p:cNvPr>
          <p:cNvGraphicFramePr>
            <a:graphicFrameLocks noGrp="1"/>
          </p:cNvGraphicFramePr>
          <p:nvPr>
            <p:extLst>
              <p:ext uri="{D42A27DB-BD31-4B8C-83A1-F6EECF244321}">
                <p14:modId xmlns:p14="http://schemas.microsoft.com/office/powerpoint/2010/main" val="3497540094"/>
              </p:ext>
            </p:extLst>
          </p:nvPr>
        </p:nvGraphicFramePr>
        <p:xfrm>
          <a:off x="5600700" y="3365808"/>
          <a:ext cx="3429000" cy="731520"/>
        </p:xfrm>
        <a:graphic>
          <a:graphicData uri="http://schemas.openxmlformats.org/drawingml/2006/table">
            <a:tbl>
              <a:tblPr firstRow="1" bandRow="1">
                <a:tableStyleId>{93296810-A885-4BE3-A3E7-6D5BEEA58F35}</a:tableStyleId>
              </a:tblPr>
              <a:tblGrid>
                <a:gridCol w="1143000">
                  <a:extLst>
                    <a:ext uri="{9D8B030D-6E8A-4147-A177-3AD203B41FA5}">
                      <a16:colId xmlns:a16="http://schemas.microsoft.com/office/drawing/2014/main" val="2001770024"/>
                    </a:ext>
                  </a:extLst>
                </a:gridCol>
                <a:gridCol w="1143000">
                  <a:extLst>
                    <a:ext uri="{9D8B030D-6E8A-4147-A177-3AD203B41FA5}">
                      <a16:colId xmlns:a16="http://schemas.microsoft.com/office/drawing/2014/main" val="2431420416"/>
                    </a:ext>
                  </a:extLst>
                </a:gridCol>
                <a:gridCol w="1143000">
                  <a:extLst>
                    <a:ext uri="{9D8B030D-6E8A-4147-A177-3AD203B41FA5}">
                      <a16:colId xmlns:a16="http://schemas.microsoft.com/office/drawing/2014/main" val="1082772250"/>
                    </a:ext>
                  </a:extLst>
                </a:gridCol>
              </a:tblGrid>
              <a:tr h="281628">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137125130"/>
                  </a:ext>
                </a:extLst>
              </a:tr>
              <a:tr h="281628">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690765746"/>
                  </a:ext>
                </a:extLst>
              </a:tr>
            </a:tbl>
          </a:graphicData>
        </a:graphic>
      </p:graphicFrame>
      <p:cxnSp>
        <p:nvCxnSpPr>
          <p:cNvPr id="14" name="Straight Arrow Connector 13">
            <a:extLst>
              <a:ext uri="{FF2B5EF4-FFF2-40B4-BE49-F238E27FC236}">
                <a16:creationId xmlns:a16="http://schemas.microsoft.com/office/drawing/2014/main" id="{9900F29F-0ACB-D5FE-B12C-E9D74345F76C}"/>
              </a:ext>
            </a:extLst>
          </p:cNvPr>
          <p:cNvCxnSpPr>
            <a:cxnSpLocks/>
          </p:cNvCxnSpPr>
          <p:nvPr/>
        </p:nvCxnSpPr>
        <p:spPr>
          <a:xfrm flipH="1">
            <a:off x="5555727" y="3869124"/>
            <a:ext cx="780068"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DB555A4-FD7A-10EE-4BF0-A479F7363AC4}"/>
              </a:ext>
            </a:extLst>
          </p:cNvPr>
          <p:cNvCxnSpPr>
            <a:cxnSpLocks/>
          </p:cNvCxnSpPr>
          <p:nvPr/>
        </p:nvCxnSpPr>
        <p:spPr>
          <a:xfrm flipH="1">
            <a:off x="6998223" y="3888894"/>
            <a:ext cx="590550" cy="560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9905781-32A2-6AB7-DE13-0B1D68BEDEBF}"/>
              </a:ext>
            </a:extLst>
          </p:cNvPr>
          <p:cNvCxnSpPr>
            <a:cxnSpLocks/>
          </p:cNvCxnSpPr>
          <p:nvPr/>
        </p:nvCxnSpPr>
        <p:spPr>
          <a:xfrm flipH="1">
            <a:off x="8206228" y="3793844"/>
            <a:ext cx="688060" cy="920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B675746-4885-F5C7-AD9C-51A7248E6B1E}"/>
              </a:ext>
            </a:extLst>
          </p:cNvPr>
          <p:cNvSpPr/>
          <p:nvPr/>
        </p:nvSpPr>
        <p:spPr>
          <a:xfrm>
            <a:off x="5087332" y="4673313"/>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"Raj"</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0" name="Rectangle 19">
            <a:extLst>
              <a:ext uri="{FF2B5EF4-FFF2-40B4-BE49-F238E27FC236}">
                <a16:creationId xmlns:a16="http://schemas.microsoft.com/office/drawing/2014/main" id="{ECF5AB1D-AC06-9897-AF39-711D07D1063E}"/>
              </a:ext>
            </a:extLst>
          </p:cNvPr>
          <p:cNvSpPr/>
          <p:nvPr/>
        </p:nvSpPr>
        <p:spPr>
          <a:xfrm>
            <a:off x="6452059" y="4714086"/>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“Mona"</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=7000</a:t>
            </a:r>
            <a:endParaRPr lang="en-IN" sz="1000" dirty="0"/>
          </a:p>
        </p:txBody>
      </p:sp>
      <p:sp>
        <p:nvSpPr>
          <p:cNvPr id="21" name="Rectangle 20">
            <a:extLst>
              <a:ext uri="{FF2B5EF4-FFF2-40B4-BE49-F238E27FC236}">
                <a16:creationId xmlns:a16="http://schemas.microsoft.com/office/drawing/2014/main" id="{BD405675-700D-C56F-01B5-A36704854B45}"/>
              </a:ext>
            </a:extLst>
          </p:cNvPr>
          <p:cNvSpPr/>
          <p:nvPr/>
        </p:nvSpPr>
        <p:spPr>
          <a:xfrm>
            <a:off x="8025549" y="4765587"/>
            <a:ext cx="1295400" cy="75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000000"/>
                </a:solidFill>
                <a:highlight>
                  <a:srgbClr val="FFFFFF"/>
                </a:highlight>
                <a:latin typeface="Consolas" panose="020B0609020204030204" pitchFamily="49" charset="0"/>
              </a:rPr>
              <a:t>Name =</a:t>
            </a:r>
            <a:r>
              <a:rPr lang="en-US" sz="1000" dirty="0">
                <a:solidFill>
                  <a:srgbClr val="A31515"/>
                </a:solidFill>
                <a:highlight>
                  <a:srgbClr val="FFFFFF"/>
                </a:highlight>
                <a:latin typeface="Consolas" panose="020B0609020204030204" pitchFamily="49" charset="0"/>
              </a:rPr>
              <a:t>“Het"</a:t>
            </a:r>
            <a:r>
              <a:rPr lang="en-US" sz="1000" dirty="0">
                <a:solidFill>
                  <a:srgbClr val="000000"/>
                </a:solidFill>
                <a:highlight>
                  <a:srgbClr val="FFFFFF"/>
                </a:highlight>
                <a:latin typeface="Consolas" panose="020B0609020204030204" pitchFamily="49" charset="0"/>
              </a:rPr>
              <a:t>,</a:t>
            </a:r>
          </a:p>
          <a:p>
            <a:pPr algn="ctr"/>
            <a:r>
              <a:rPr lang="en-US" sz="1000" dirty="0">
                <a:solidFill>
                  <a:srgbClr val="000000"/>
                </a:solidFill>
                <a:highlight>
                  <a:srgbClr val="FFFFFF"/>
                </a:highlight>
                <a:latin typeface="Consolas" panose="020B0609020204030204" pitchFamily="49" charset="0"/>
              </a:rPr>
              <a:t>Salary =6000</a:t>
            </a:r>
            <a:endParaRPr lang="en-IN" sz="1000" dirty="0"/>
          </a:p>
        </p:txBody>
      </p:sp>
      <p:sp>
        <p:nvSpPr>
          <p:cNvPr id="27" name="TextBox 26">
            <a:extLst>
              <a:ext uri="{FF2B5EF4-FFF2-40B4-BE49-F238E27FC236}">
                <a16:creationId xmlns:a16="http://schemas.microsoft.com/office/drawing/2014/main" id="{12DDC969-BE34-096C-728A-CEDEB7F42705}"/>
              </a:ext>
            </a:extLst>
          </p:cNvPr>
          <p:cNvSpPr txBox="1"/>
          <p:nvPr/>
        </p:nvSpPr>
        <p:spPr>
          <a:xfrm>
            <a:off x="3811178" y="6055827"/>
            <a:ext cx="6099142" cy="261610"/>
          </a:xfrm>
          <a:prstGeom prst="rect">
            <a:avLst/>
          </a:prstGeom>
          <a:noFill/>
        </p:spPr>
        <p:txBody>
          <a:bodyPr wrap="square">
            <a:spAutoFit/>
          </a:bodyPr>
          <a:lstStyle/>
          <a:p>
            <a:pPr marL="0" indent="0">
              <a:buNone/>
            </a:pPr>
            <a:r>
              <a:rPr lang="en-US" sz="1100" dirty="0">
                <a:solidFill>
                  <a:srgbClr val="000000"/>
                </a:solidFill>
                <a:latin typeface="Consolas" panose="020B0609020204030204" pitchFamily="49" charset="0"/>
              </a:rPr>
              <a:t>Employee obj=</a:t>
            </a:r>
            <a:r>
              <a:rPr lang="en-US" sz="1100" dirty="0" err="1">
                <a:solidFill>
                  <a:srgbClr val="000000"/>
                </a:solidFill>
                <a:latin typeface="Consolas" panose="020B0609020204030204" pitchFamily="49" charset="0"/>
              </a:rPr>
              <a:t>listemp.Find</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arr</a:t>
            </a:r>
            <a:r>
              <a:rPr lang="en-US" sz="1100" dirty="0">
                <a:solidFill>
                  <a:srgbClr val="000000"/>
                </a:solidFill>
                <a:latin typeface="Consolas" panose="020B0609020204030204" pitchFamily="49" charset="0"/>
              </a:rPr>
              <a:t>) =&gt; </a:t>
            </a:r>
            <a:r>
              <a:rPr lang="en-US" sz="1100" dirty="0" err="1">
                <a:solidFill>
                  <a:srgbClr val="000000"/>
                </a:solidFill>
                <a:latin typeface="Consolas" panose="020B0609020204030204" pitchFamily="49" charset="0"/>
              </a:rPr>
              <a:t>arr.Salary</a:t>
            </a:r>
            <a:r>
              <a:rPr lang="en-US" sz="1100" dirty="0">
                <a:solidFill>
                  <a:srgbClr val="000000"/>
                </a:solidFill>
                <a:latin typeface="Consolas" panose="020B0609020204030204" pitchFamily="49" charset="0"/>
              </a:rPr>
              <a:t> == 6000);</a:t>
            </a:r>
            <a:endParaRPr lang="en-IN" sz="1100" dirty="0">
              <a:solidFill>
                <a:srgbClr val="000000"/>
              </a:solidFill>
              <a:highlight>
                <a:srgbClr val="FFFFFF"/>
              </a:highlight>
              <a:latin typeface="Consolas" panose="020B0609020204030204" pitchFamily="49" charset="0"/>
            </a:endParaRPr>
          </a:p>
        </p:txBody>
      </p:sp>
      <p:sp>
        <p:nvSpPr>
          <p:cNvPr id="29" name="Freeform: Shape 28">
            <a:extLst>
              <a:ext uri="{FF2B5EF4-FFF2-40B4-BE49-F238E27FC236}">
                <a16:creationId xmlns:a16="http://schemas.microsoft.com/office/drawing/2014/main" id="{CFECD5AB-A016-B639-E0E9-C0C995A162CE}"/>
              </a:ext>
            </a:extLst>
          </p:cNvPr>
          <p:cNvSpPr/>
          <p:nvPr/>
        </p:nvSpPr>
        <p:spPr>
          <a:xfrm>
            <a:off x="3864990" y="1018095"/>
            <a:ext cx="2667785" cy="190587"/>
          </a:xfrm>
          <a:custGeom>
            <a:avLst/>
            <a:gdLst>
              <a:gd name="connsiteX0" fmla="*/ 0 w 2667785"/>
              <a:gd name="connsiteY0" fmla="*/ 150829 h 190587"/>
              <a:gd name="connsiteX1" fmla="*/ 47134 w 2667785"/>
              <a:gd name="connsiteY1" fmla="*/ 169682 h 190587"/>
              <a:gd name="connsiteX2" fmla="*/ 1432874 w 2667785"/>
              <a:gd name="connsiteY2" fmla="*/ 150829 h 190587"/>
              <a:gd name="connsiteX3" fmla="*/ 2337847 w 2667785"/>
              <a:gd name="connsiteY3" fmla="*/ 160256 h 190587"/>
              <a:gd name="connsiteX4" fmla="*/ 2564090 w 2667785"/>
              <a:gd name="connsiteY4" fmla="*/ 131975 h 190587"/>
              <a:gd name="connsiteX5" fmla="*/ 2601798 w 2667785"/>
              <a:gd name="connsiteY5" fmla="*/ 84841 h 190587"/>
              <a:gd name="connsiteX6" fmla="*/ 2630078 w 2667785"/>
              <a:gd name="connsiteY6" fmla="*/ 56561 h 190587"/>
              <a:gd name="connsiteX7" fmla="*/ 2667785 w 2667785"/>
              <a:gd name="connsiteY7" fmla="*/ 0 h 1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7785" h="190587">
                <a:moveTo>
                  <a:pt x="0" y="150829"/>
                </a:moveTo>
                <a:cubicBezTo>
                  <a:pt x="15711" y="157113"/>
                  <a:pt x="30213" y="169565"/>
                  <a:pt x="47134" y="169682"/>
                </a:cubicBezTo>
                <a:cubicBezTo>
                  <a:pt x="1263301" y="178070"/>
                  <a:pt x="937733" y="221564"/>
                  <a:pt x="1432874" y="150829"/>
                </a:cubicBezTo>
                <a:cubicBezTo>
                  <a:pt x="1734532" y="153971"/>
                  <a:pt x="2036215" y="165283"/>
                  <a:pt x="2337847" y="160256"/>
                </a:cubicBezTo>
                <a:cubicBezTo>
                  <a:pt x="2413838" y="158989"/>
                  <a:pt x="2491013" y="152854"/>
                  <a:pt x="2564090" y="131975"/>
                </a:cubicBezTo>
                <a:cubicBezTo>
                  <a:pt x="2583436" y="126447"/>
                  <a:pt x="2588548" y="99983"/>
                  <a:pt x="2601798" y="84841"/>
                </a:cubicBezTo>
                <a:cubicBezTo>
                  <a:pt x="2610577" y="74808"/>
                  <a:pt x="2621544" y="66802"/>
                  <a:pt x="2630078" y="56561"/>
                </a:cubicBezTo>
                <a:lnTo>
                  <a:pt x="2667785" y="0"/>
                </a:lnTo>
              </a:path>
            </a:pathLst>
          </a:custGeom>
          <a:ln w="571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272810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B80C9-0E02-1392-DEFC-5C932AD1B4B5}"/>
              </a:ext>
            </a:extLst>
          </p:cNvPr>
          <p:cNvSpPr>
            <a:spLocks noGrp="1"/>
          </p:cNvSpPr>
          <p:nvPr>
            <p:ph type="title"/>
          </p:nvPr>
        </p:nvSpPr>
        <p:spPr>
          <a:xfrm>
            <a:off x="1295400" y="-143593"/>
            <a:ext cx="7620000" cy="457199"/>
          </a:xfrm>
        </p:spPr>
        <p:txBody>
          <a:bodyPr>
            <a:normAutofit fontScale="90000"/>
          </a:bodyPr>
          <a:lstStyle/>
          <a:p>
            <a:r>
              <a:rPr lang="en-US" dirty="0"/>
              <a:t>DEMO Predicate</a:t>
            </a:r>
            <a:endParaRPr lang="en-IN" dirty="0"/>
          </a:p>
        </p:txBody>
      </p:sp>
      <p:sp>
        <p:nvSpPr>
          <p:cNvPr id="3" name="Content Placeholder 2">
            <a:extLst>
              <a:ext uri="{FF2B5EF4-FFF2-40B4-BE49-F238E27FC236}">
                <a16:creationId xmlns:a16="http://schemas.microsoft.com/office/drawing/2014/main" id="{5F9627AD-70F3-9F75-C239-4169A6022D33}"/>
              </a:ext>
            </a:extLst>
          </p:cNvPr>
          <p:cNvSpPr>
            <a:spLocks noGrp="1"/>
          </p:cNvSpPr>
          <p:nvPr>
            <p:ph idx="1"/>
          </p:nvPr>
        </p:nvSpPr>
        <p:spPr>
          <a:xfrm>
            <a:off x="304800" y="309678"/>
            <a:ext cx="8534400" cy="6049962"/>
          </a:xfrm>
        </p:spPr>
        <p:txBody>
          <a:bodyPr>
            <a:noAutofit/>
          </a:bodyPr>
          <a:lstStyle/>
          <a:p>
            <a:pPr marL="0" indent="0">
              <a:buNone/>
            </a:pPr>
            <a:r>
              <a:rPr lang="en-IN" sz="1100" dirty="0">
                <a:solidFill>
                  <a:srgbClr val="0000FF"/>
                </a:solidFill>
                <a:latin typeface="Cascadia Mono" panose="020B0609020000020004" pitchFamily="49" charset="0"/>
              </a:rPr>
              <a:t>	namespace</a:t>
            </a:r>
            <a:r>
              <a:rPr lang="en-IN" sz="1100" dirty="0">
                <a:solidFill>
                  <a:srgbClr val="000000"/>
                </a:solidFill>
                <a:latin typeface="Cascadia Mono" panose="020B0609020000020004" pitchFamily="49" charset="0"/>
              </a:rPr>
              <a:t> ConsoleApp2find</a:t>
            </a:r>
          </a:p>
          <a:p>
            <a:pPr marL="0" indent="0">
              <a:buNone/>
            </a:pP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Employee</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Salary{</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Name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Employee[] _items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Employee[2];</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US" sz="1100" dirty="0">
                <a:solidFill>
                  <a:srgbClr val="000000"/>
                </a:solidFill>
                <a:latin typeface="Cascadia Mono" panose="020B0609020000020004" pitchFamily="49" charset="0"/>
              </a:rPr>
              <a:t>     _items[0]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6000, Name = </a:t>
            </a:r>
            <a:r>
              <a:rPr lang="en-US" sz="1100" dirty="0">
                <a:solidFill>
                  <a:srgbClr val="A31515"/>
                </a:solidFill>
                <a:latin typeface="Cascadia Mono" panose="020B0609020000020004" pitchFamily="49" charset="0"/>
              </a:rPr>
              <a:t>"Raj"</a:t>
            </a:r>
            <a:r>
              <a:rPr lang="en-US"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_items[1]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Employee { Salary = 3000, Name = </a:t>
            </a:r>
            <a:r>
              <a:rPr lang="en-US" sz="1100" dirty="0">
                <a:solidFill>
                  <a:srgbClr val="A31515"/>
                </a:solidFill>
                <a:latin typeface="Cascadia Mono" panose="020B0609020000020004" pitchFamily="49" charset="0"/>
              </a:rPr>
              <a:t>"Mona"</a:t>
            </a:r>
            <a:r>
              <a:rPr lang="en-US" sz="1100" dirty="0">
                <a:solidFill>
                  <a:srgbClr val="000000"/>
                </a:solidFill>
                <a:latin typeface="Cascadia Mono" panose="020B0609020000020004" pitchFamily="49" charset="0"/>
              </a:rPr>
              <a:t> };</a:t>
            </a:r>
          </a:p>
          <a:p>
            <a:pPr marL="0" indent="0">
              <a:buNone/>
            </a:pP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Employee </a:t>
            </a:r>
            <a:r>
              <a:rPr lang="en-US" sz="1100" dirty="0" err="1">
                <a:solidFill>
                  <a:srgbClr val="000000"/>
                </a:solidFill>
                <a:latin typeface="Cascadia Mono" panose="020B0609020000020004" pitchFamily="49" charset="0"/>
              </a:rPr>
              <a:t>MyFind</a:t>
            </a:r>
            <a:r>
              <a:rPr lang="en-US" sz="1100" dirty="0">
                <a:solidFill>
                  <a:srgbClr val="000000"/>
                </a:solidFill>
                <a:latin typeface="Cascadia Mono" panose="020B0609020000020004" pitchFamily="49" charset="0"/>
              </a:rPr>
              <a:t>(Predicate&lt;Employee&gt; match) </a:t>
            </a:r>
          </a:p>
          <a:p>
            <a:pPr marL="0" indent="0">
              <a:buNone/>
            </a:pPr>
            <a:r>
              <a:rPr lang="en-IN" sz="1100" dirty="0">
                <a:solidFill>
                  <a:srgbClr val="000000"/>
                </a:solidFill>
                <a:latin typeface="Cascadia Mono" panose="020B0609020000020004" pitchFamily="49" charset="0"/>
              </a:rPr>
              <a:t>        {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size = _</a:t>
            </a:r>
            <a:r>
              <a:rPr lang="en-IN" sz="1100" dirty="0" err="1">
                <a:solidFill>
                  <a:srgbClr val="000000"/>
                </a:solidFill>
                <a:latin typeface="Cascadia Mono" panose="020B0609020000020004" pitchFamily="49" charset="0"/>
              </a:rPr>
              <a:t>items.Length</a:t>
            </a:r>
            <a:r>
              <a:rPr lang="en-IN" sz="1100" dirty="0">
                <a:solidFill>
                  <a:srgbClr val="000000"/>
                </a:solidFill>
                <a:latin typeface="Cascadia Mono" panose="020B0609020000020004" pitchFamily="49" charset="0"/>
              </a:rPr>
              <a:t>;</a:t>
            </a:r>
          </a:p>
          <a:p>
            <a:pPr marL="0" indent="0">
              <a:buNone/>
            </a:pP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for</a:t>
            </a:r>
            <a:r>
              <a:rPr lang="nn-NO" sz="1100" dirty="0">
                <a:solidFill>
                  <a:srgbClr val="000000"/>
                </a:solidFill>
                <a:latin typeface="Cascadia Mono" panose="020B0609020000020004" pitchFamily="49" charset="0"/>
              </a:rPr>
              <a:t> (</a:t>
            </a:r>
            <a:r>
              <a:rPr lang="nn-NO" sz="1100" dirty="0">
                <a:solidFill>
                  <a:srgbClr val="0000FF"/>
                </a:solidFill>
                <a:latin typeface="Cascadia Mono" panose="020B0609020000020004" pitchFamily="49" charset="0"/>
              </a:rPr>
              <a:t>int</a:t>
            </a:r>
            <a:r>
              <a:rPr lang="nn-NO" sz="1100" dirty="0">
                <a:solidFill>
                  <a:srgbClr val="000000"/>
                </a:solidFill>
                <a:latin typeface="Cascadia Mono" panose="020B0609020000020004" pitchFamily="49" charset="0"/>
              </a:rPr>
              <a:t> i = 0; i &lt; size; i++)</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if</a:t>
            </a:r>
            <a:r>
              <a:rPr lang="en-IN" sz="1100" dirty="0">
                <a:solidFill>
                  <a:srgbClr val="000000"/>
                </a:solidFill>
                <a:latin typeface="Cascadia Mono" panose="020B0609020000020004" pitchFamily="49" charset="0"/>
              </a:rPr>
              <a:t> (match(_items[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_items[</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null</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internal</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pPr marL="0" indent="0">
              <a:buNone/>
            </a:pPr>
            <a:r>
              <a:rPr lang="en-IN" sz="1100" dirty="0">
                <a:solidFill>
                  <a:srgbClr val="000000"/>
                </a:solidFill>
                <a:latin typeface="Cascadia Mono" panose="020B0609020000020004" pitchFamily="49" charset="0"/>
              </a:rPr>
              <a:t>    {</a:t>
            </a:r>
          </a:p>
          <a:p>
            <a:pPr marL="0" indent="0">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Main(</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args</a:t>
            </a:r>
            <a:r>
              <a:rPr lang="en-US"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"Hello, World!"</a:t>
            </a:r>
            <a:r>
              <a:rPr lang="en-IN" sz="1100" dirty="0">
                <a:solidFill>
                  <a:srgbClr val="000000"/>
                </a:solidFill>
                <a:latin typeface="Cascadia Mono" panose="020B0609020000020004" pitchFamily="49" charset="0"/>
              </a:rPr>
              <a:t>);</a:t>
            </a:r>
          </a:p>
          <a:p>
            <a:pPr marL="0" indent="0">
              <a:buNone/>
            </a:pP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Mylist</a:t>
            </a:r>
            <a:r>
              <a:rPr lang="en-IN"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Employee e1= </a:t>
            </a:r>
            <a:r>
              <a:rPr lang="en-US" sz="1100" dirty="0" err="1">
                <a:solidFill>
                  <a:srgbClr val="000000"/>
                </a:solidFill>
                <a:latin typeface="Cascadia Mono" panose="020B0609020000020004" pitchFamily="49" charset="0"/>
              </a:rPr>
              <a:t>mylist.MyFind</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arr</a:t>
            </a:r>
            <a:r>
              <a:rPr lang="en-US" sz="1100" dirty="0">
                <a:solidFill>
                  <a:srgbClr val="000000"/>
                </a:solidFill>
                <a:latin typeface="Cascadia Mono" panose="020B0609020000020004" pitchFamily="49" charset="0"/>
              </a:rPr>
              <a:t>) =&gt; </a:t>
            </a:r>
            <a:r>
              <a:rPr lang="en-US" sz="1100" dirty="0" err="1">
                <a:solidFill>
                  <a:srgbClr val="000000"/>
                </a:solidFill>
                <a:latin typeface="Cascadia Mono" panose="020B0609020000020004" pitchFamily="49" charset="0"/>
              </a:rPr>
              <a:t>arr.Salary</a:t>
            </a:r>
            <a:r>
              <a:rPr lang="en-US" sz="1100" dirty="0">
                <a:solidFill>
                  <a:srgbClr val="000000"/>
                </a:solidFill>
                <a:latin typeface="Cascadia Mono" panose="020B0609020000020004" pitchFamily="49" charset="0"/>
              </a:rPr>
              <a:t> == 6000);</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    }</a:t>
            </a:r>
          </a:p>
          <a:p>
            <a:pPr marL="0" indent="0">
              <a:buNone/>
            </a:pPr>
            <a:r>
              <a:rPr lang="en-IN" sz="1100" dirty="0">
                <a:solidFill>
                  <a:srgbClr val="000000"/>
                </a:solidFill>
                <a:latin typeface="Cascadia Mono" panose="020B0609020000020004" pitchFamily="49" charset="0"/>
              </a:rPr>
              <a:t>}</a:t>
            </a:r>
            <a:endParaRPr lang="en-IN" sz="1100" dirty="0"/>
          </a:p>
        </p:txBody>
      </p:sp>
    </p:spTree>
    <p:extLst>
      <p:ext uri="{BB962C8B-B14F-4D97-AF65-F5344CB8AC3E}">
        <p14:creationId xmlns:p14="http://schemas.microsoft.com/office/powerpoint/2010/main" val="181984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DA22-BDFC-673F-21E3-E2EA2F7B2C4D}"/>
              </a:ext>
            </a:extLst>
          </p:cNvPr>
          <p:cNvSpPr>
            <a:spLocks noGrp="1"/>
          </p:cNvSpPr>
          <p:nvPr>
            <p:ph type="title"/>
          </p:nvPr>
        </p:nvSpPr>
        <p:spPr>
          <a:xfrm>
            <a:off x="1219200" y="31423"/>
            <a:ext cx="7467600" cy="457199"/>
          </a:xfrm>
        </p:spPr>
        <p:style>
          <a:lnRef idx="2">
            <a:schemeClr val="accent6"/>
          </a:lnRef>
          <a:fillRef idx="1">
            <a:schemeClr val="lt1"/>
          </a:fillRef>
          <a:effectRef idx="0">
            <a:schemeClr val="accent6"/>
          </a:effectRef>
          <a:fontRef idx="minor">
            <a:schemeClr val="dk1"/>
          </a:fontRef>
        </p:style>
        <p:txBody>
          <a:bodyPr>
            <a:noAutofit/>
          </a:bodyPr>
          <a:lstStyle/>
          <a:p>
            <a:r>
              <a:rPr lang="en-US" sz="2400" dirty="0"/>
              <a:t>Passing method definition in method call</a:t>
            </a:r>
            <a:endParaRPr lang="en-IN" sz="2400" dirty="0"/>
          </a:p>
        </p:txBody>
      </p:sp>
      <p:sp>
        <p:nvSpPr>
          <p:cNvPr id="3" name="Content Placeholder 2">
            <a:extLst>
              <a:ext uri="{FF2B5EF4-FFF2-40B4-BE49-F238E27FC236}">
                <a16:creationId xmlns:a16="http://schemas.microsoft.com/office/drawing/2014/main" id="{10DB8BA1-02AD-8CE5-81B5-7030E835A8D5}"/>
              </a:ext>
            </a:extLst>
          </p:cNvPr>
          <p:cNvSpPr>
            <a:spLocks noGrp="1"/>
          </p:cNvSpPr>
          <p:nvPr>
            <p:ph idx="1"/>
          </p:nvPr>
        </p:nvSpPr>
        <p:spPr>
          <a:xfrm>
            <a:off x="304800" y="685800"/>
            <a:ext cx="8382000" cy="5440363"/>
          </a:xfrm>
        </p:spPr>
        <p:txBody>
          <a:bodyPr>
            <a:normAutofit fontScale="77500" lnSpcReduction="20000"/>
          </a:bodyPr>
          <a:lstStyle/>
          <a:p>
            <a:pPr marL="0" indent="0">
              <a:buNone/>
            </a:pPr>
            <a:r>
              <a:rPr lang="en-IN" sz="1800" dirty="0">
                <a:solidFill>
                  <a:srgbClr val="0000FF"/>
                </a:solidFill>
                <a:latin typeface="Cascadia Mono" panose="020B0609020000020004" pitchFamily="49" charset="0"/>
              </a:rPr>
              <a:t>namespace</a:t>
            </a:r>
            <a:r>
              <a:rPr lang="en-IN" sz="1800" dirty="0">
                <a:solidFill>
                  <a:srgbClr val="000000"/>
                </a:solidFill>
                <a:latin typeface="Cascadia Mono" panose="020B0609020000020004" pitchFamily="49" charset="0"/>
              </a:rPr>
              <a:t> ConsoleApp2find</a:t>
            </a:r>
          </a:p>
          <a:p>
            <a:pPr marL="0" indent="0">
              <a:buNone/>
            </a:pP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delegate</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myprint</a:t>
            </a:r>
            <a:r>
              <a:rPr lang="en-IN"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Mylist</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MyFind</a:t>
            </a:r>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myprint</a:t>
            </a:r>
            <a:r>
              <a:rPr lang="en-US" sz="1800" dirty="0">
                <a:solidFill>
                  <a:srgbClr val="000000"/>
                </a:solidFill>
                <a:latin typeface="Cascadia Mono" panose="020B0609020000020004" pitchFamily="49" charset="0"/>
              </a:rPr>
              <a:t> match)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match();</a:t>
            </a:r>
          </a:p>
          <a:p>
            <a:pPr marL="0" indent="0">
              <a:buNone/>
            </a:pPr>
            <a:r>
              <a:rPr lang="en-IN" sz="1800" dirty="0">
                <a:solidFill>
                  <a:srgbClr val="000000"/>
                </a:solidFill>
                <a:latin typeface="Cascadia Mono" panose="020B0609020000020004" pitchFamily="49" charset="0"/>
              </a:rPr>
              <a:t>        }  </a:t>
            </a:r>
          </a:p>
          <a:p>
            <a:pPr marL="0" indent="0">
              <a:buNone/>
            </a:pPr>
            <a:endParaRPr lang="en-IN" sz="1800" dirty="0">
              <a:solidFill>
                <a:srgbClr val="000000"/>
              </a:solidFill>
              <a:latin typeface="Cascadia Mono" panose="020B0609020000020004" pitchFamily="49" charset="0"/>
            </a:endParaRPr>
          </a:p>
          <a:p>
            <a:pPr marL="0" indent="0">
              <a:buNone/>
            </a:pP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internal</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a:solidFill>
                  <a:srgbClr val="2B91AF"/>
                </a:solidFill>
                <a:latin typeface="Cascadia Mono" panose="020B0609020000020004" pitchFamily="49" charset="0"/>
              </a:rPr>
              <a:t>Program</a:t>
            </a:r>
            <a:endParaRPr lang="en-IN" sz="1800" dirty="0">
              <a:solidFill>
                <a:srgbClr val="000000"/>
              </a:solidFill>
              <a:latin typeface="Cascadia Mono" panose="020B0609020000020004" pitchFamily="49" charset="0"/>
            </a:endParaRPr>
          </a:p>
          <a:p>
            <a:pPr marL="0" indent="0">
              <a:buNone/>
            </a:pPr>
            <a:r>
              <a:rPr lang="en-IN" sz="1800" dirty="0">
                <a:solidFill>
                  <a:srgbClr val="000000"/>
                </a:solidFill>
                <a:latin typeface="Cascadia Mono" panose="020B0609020000020004" pitchFamily="49" charset="0"/>
              </a:rPr>
              <a:t>    {</a:t>
            </a:r>
          </a:p>
          <a:p>
            <a:pPr marL="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Mylist</a:t>
            </a:r>
            <a:r>
              <a:rPr lang="en-IN" sz="1800" dirty="0">
                <a:solidFill>
                  <a:srgbClr val="000000"/>
                </a:solidFill>
                <a:latin typeface="Cascadia Mono" panose="020B0609020000020004" pitchFamily="49" charset="0"/>
              </a:rPr>
              <a:t>();</a:t>
            </a:r>
          </a:p>
          <a:p>
            <a:pPr marL="0" indent="0">
              <a:buNone/>
            </a:pPr>
            <a:endParaRPr lang="en-IN" sz="1800" dirty="0">
              <a:solidFill>
                <a:srgbClr val="000000"/>
              </a:solidFill>
              <a:latin typeface="Cascadia Mono" panose="020B0609020000020004" pitchFamily="49" charset="0"/>
            </a:endParaRPr>
          </a:p>
          <a:p>
            <a:pPr marL="0" indent="0">
              <a:buNone/>
            </a:pPr>
            <a:r>
              <a:rPr lang="nn-NO" sz="1800" dirty="0">
                <a:solidFill>
                  <a:srgbClr val="000000"/>
                </a:solidFill>
                <a:latin typeface="Cascadia Mono" panose="020B0609020000020004" pitchFamily="49" charset="0"/>
              </a:rPr>
              <a:t>          mylist.MyFind(() =&gt; Console.WriteLine(</a:t>
            </a:r>
            <a:r>
              <a:rPr lang="nn-NO" sz="1800" dirty="0">
                <a:solidFill>
                  <a:srgbClr val="A31515"/>
                </a:solidFill>
                <a:latin typeface="Cascadia Mono" panose="020B0609020000020004" pitchFamily="49" charset="0"/>
              </a:rPr>
              <a:t>"Hello delegate"</a:t>
            </a:r>
            <a:r>
              <a:rPr lang="nn-NO" sz="1800" dirty="0">
                <a:solidFill>
                  <a:srgbClr val="000000"/>
                </a:solidFill>
                <a:latin typeface="Cascadia Mono" panose="020B0609020000020004" pitchFamily="49" charset="0"/>
              </a:rPr>
              <a:t>));</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    }</a:t>
            </a:r>
          </a:p>
          <a:p>
            <a:pPr marL="0" indent="0">
              <a:buNone/>
            </a:pPr>
            <a:r>
              <a:rPr lang="en-IN" sz="1800" dirty="0">
                <a:solidFill>
                  <a:srgbClr val="000000"/>
                </a:solidFill>
                <a:latin typeface="Cascadia Mono" panose="020B0609020000020004" pitchFamily="49" charset="0"/>
              </a:rPr>
              <a:t>}</a:t>
            </a:r>
            <a:endParaRPr lang="en-IN" dirty="0"/>
          </a:p>
        </p:txBody>
      </p:sp>
      <p:cxnSp>
        <p:nvCxnSpPr>
          <p:cNvPr id="5" name="Straight Arrow Connector 4">
            <a:extLst>
              <a:ext uri="{FF2B5EF4-FFF2-40B4-BE49-F238E27FC236}">
                <a16:creationId xmlns:a16="http://schemas.microsoft.com/office/drawing/2014/main" id="{E0E6C0AA-A514-9AA0-4529-E348C0685E66}"/>
              </a:ext>
            </a:extLst>
          </p:cNvPr>
          <p:cNvCxnSpPr>
            <a:cxnSpLocks/>
          </p:cNvCxnSpPr>
          <p:nvPr/>
        </p:nvCxnSpPr>
        <p:spPr>
          <a:xfrm>
            <a:off x="4267200" y="2133600"/>
            <a:ext cx="990600" cy="266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053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930E-D4AD-47FC-AC70-905B6C2A151F}"/>
              </a:ext>
            </a:extLst>
          </p:cNvPr>
          <p:cNvSpPr>
            <a:spLocks noGrp="1"/>
          </p:cNvSpPr>
          <p:nvPr>
            <p:ph type="title"/>
          </p:nvPr>
        </p:nvSpPr>
        <p:spPr>
          <a:xfrm>
            <a:off x="3804745" y="143260"/>
            <a:ext cx="4114800" cy="369332"/>
          </a:xfrm>
        </p:spPr>
        <p:style>
          <a:lnRef idx="2">
            <a:schemeClr val="accent6"/>
          </a:lnRef>
          <a:fillRef idx="1">
            <a:schemeClr val="lt1"/>
          </a:fillRef>
          <a:effectRef idx="0">
            <a:schemeClr val="accent6"/>
          </a:effectRef>
          <a:fontRef idx="minor">
            <a:schemeClr val="dk1"/>
          </a:fontRef>
        </p:style>
        <p:txBody>
          <a:bodyPr>
            <a:normAutofit fontScale="90000"/>
          </a:bodyPr>
          <a:lstStyle/>
          <a:p>
            <a:r>
              <a:rPr lang="en-IN" b="1" dirty="0"/>
              <a:t>Sorted</a:t>
            </a:r>
            <a:r>
              <a:rPr lang="en-IN" dirty="0"/>
              <a:t> List</a:t>
            </a:r>
          </a:p>
        </p:txBody>
      </p:sp>
      <p:sp>
        <p:nvSpPr>
          <p:cNvPr id="3" name="Content Placeholder 2">
            <a:extLst>
              <a:ext uri="{FF2B5EF4-FFF2-40B4-BE49-F238E27FC236}">
                <a16:creationId xmlns:a16="http://schemas.microsoft.com/office/drawing/2014/main" id="{1AF8E85C-249F-4048-BF28-D14D806210A1}"/>
              </a:ext>
            </a:extLst>
          </p:cNvPr>
          <p:cNvSpPr>
            <a:spLocks noGrp="1"/>
          </p:cNvSpPr>
          <p:nvPr>
            <p:ph idx="1"/>
          </p:nvPr>
        </p:nvSpPr>
        <p:spPr>
          <a:xfrm>
            <a:off x="-21021" y="10510"/>
            <a:ext cx="4343400" cy="66294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 </a:t>
            </a:r>
            <a:r>
              <a:rPr lang="en-IN" sz="1200" dirty="0" err="1">
                <a:solidFill>
                  <a:srgbClr val="008000"/>
                </a:solidFill>
                <a:highlight>
                  <a:srgbClr val="FFFFFF"/>
                </a:highlight>
                <a:latin typeface="Consolas" panose="020B0609020204030204" pitchFamily="49" charset="0"/>
              </a:rPr>
              <a:t>SortedList</a:t>
            </a:r>
            <a:r>
              <a:rPr lang="en-IN" sz="1200" dirty="0">
                <a:solidFill>
                  <a:srgbClr val="008000"/>
                </a:solidFill>
                <a:highlight>
                  <a:srgbClr val="FFFFFF"/>
                </a:highlight>
                <a:latin typeface="Consolas" panose="020B0609020204030204" pitchFamily="49" charset="0"/>
              </a:rPr>
              <a:t>&lt;TK, TV&gt;.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GenSLDemo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sorted </a:t>
            </a:r>
            <a:r>
              <a:rPr lang="en-US" sz="1200" dirty="0" err="1">
                <a:solidFill>
                  <a:srgbClr val="008000"/>
                </a:solidFill>
                <a:highlight>
                  <a:srgbClr val="FFFFFF"/>
                </a:highlight>
                <a:latin typeface="Consolas" panose="020B0609020204030204" pitchFamily="49" charset="0"/>
              </a:rPr>
              <a:t>SortedList</a:t>
            </a:r>
            <a:r>
              <a:rPr lang="en-US" sz="1200" dirty="0">
                <a:solidFill>
                  <a:srgbClr val="008000"/>
                </a:solidFill>
                <a:highlight>
                  <a:srgbClr val="FFFFFF"/>
                </a:highlight>
                <a:latin typeface="Consolas" panose="020B0609020204030204" pitchFamily="49" charset="0"/>
              </a:rPr>
              <a:t>&lt;T&gt; for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employee names and salaries.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sl.Add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sl.Keys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sl.Keys</a:t>
            </a:r>
            <a:r>
              <a:rPr lang="en-IN" sz="1200" dirty="0">
                <a:solidFill>
                  <a:srgbClr val="000000"/>
                </a:solidFill>
                <a:highlight>
                  <a:srgbClr val="FFFFFF"/>
                </a:highlight>
                <a:latin typeface="Consolas" panose="020B0609020204030204" pitchFamily="49" charset="0"/>
              </a:rPr>
              <a:t>[0]);</a:t>
            </a:r>
          </a:p>
          <a:p>
            <a:pPr marL="0" indent="0">
              <a:buNone/>
            </a:pPr>
            <a:r>
              <a:rPr lang="en-IN" sz="18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sl</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"Butler"</a:t>
            </a:r>
            <a:r>
              <a:rPr lang="en-IN" sz="1200" dirty="0">
                <a:solidFill>
                  <a:srgbClr val="000000"/>
                </a:solidFill>
                <a:latin typeface="Cascadia Mono" panose="020B0609020000020004" pitchFamily="49" charset="0"/>
              </a:rPr>
              <a:t>]);</a:t>
            </a:r>
            <a:endParaRPr lang="en-IN" sz="10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sl</a:t>
            </a:r>
            <a:r>
              <a:rPr lang="en-IN" sz="1200" dirty="0">
                <a:solidFill>
                  <a:srgbClr val="000000"/>
                </a:solidFill>
                <a:highlight>
                  <a:srgbClr val="FFFFFF"/>
                </a:highlight>
                <a:latin typeface="Consolas" panose="020B0609020204030204" pitchFamily="49" charset="0"/>
              </a:rPr>
              <a:t>[str]);</a:t>
            </a:r>
          </a:p>
          <a:p>
            <a:pPr marL="0" indent="0">
              <a:buNone/>
            </a:pPr>
            <a:r>
              <a:rPr lang="en-US" sz="18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KeyValuePair</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x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sl</a:t>
            </a:r>
            <a:r>
              <a:rPr lang="en-US" sz="120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(x);</a:t>
            </a:r>
            <a:endParaRPr lang="en-IN" sz="105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1E05CA35-B559-4189-B5D3-4B9DF1B7BDD4}"/>
              </a:ext>
            </a:extLst>
          </p:cNvPr>
          <p:cNvSpPr txBox="1"/>
          <p:nvPr/>
        </p:nvSpPr>
        <p:spPr>
          <a:xfrm>
            <a:off x="4343399" y="655174"/>
            <a:ext cx="457202" cy="369332"/>
          </a:xfrm>
          <a:prstGeom prst="rect">
            <a:avLst/>
          </a:prstGeom>
          <a:noFill/>
        </p:spPr>
        <p:txBody>
          <a:bodyPr wrap="square" rtlCol="0">
            <a:spAutoFit/>
          </a:bodyPr>
          <a:lstStyle/>
          <a:p>
            <a:r>
              <a:rPr lang="en-IN" dirty="0" err="1"/>
              <a:t>sl</a:t>
            </a:r>
            <a:endParaRPr lang="en-IN" dirty="0"/>
          </a:p>
        </p:txBody>
      </p:sp>
      <p:graphicFrame>
        <p:nvGraphicFramePr>
          <p:cNvPr id="5" name="Table 5">
            <a:extLst>
              <a:ext uri="{FF2B5EF4-FFF2-40B4-BE49-F238E27FC236}">
                <a16:creationId xmlns:a16="http://schemas.microsoft.com/office/drawing/2014/main" id="{0D2BE6C4-D528-47D3-ACEC-8383A8AD2E10}"/>
              </a:ext>
            </a:extLst>
          </p:cNvPr>
          <p:cNvGraphicFramePr>
            <a:graphicFrameLocks noGrp="1"/>
          </p:cNvGraphicFramePr>
          <p:nvPr>
            <p:extLst>
              <p:ext uri="{D42A27DB-BD31-4B8C-83A1-F6EECF244321}">
                <p14:modId xmlns:p14="http://schemas.microsoft.com/office/powerpoint/2010/main" val="3007937739"/>
              </p:ext>
            </p:extLst>
          </p:nvPr>
        </p:nvGraphicFramePr>
        <p:xfrm>
          <a:off x="4322379" y="113675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Butler</a:t>
                      </a:r>
                    </a:p>
                    <a:p>
                      <a:endParaRPr lang="en-IN" dirty="0"/>
                    </a:p>
                  </a:txBody>
                  <a:tcPr/>
                </a:tc>
                <a:tc>
                  <a:txBody>
                    <a:bodyPr/>
                    <a:lstStyle/>
                    <a:p>
                      <a:r>
                        <a:rPr lang="en-IN" dirty="0"/>
                        <a:t>Frank</a:t>
                      </a:r>
                    </a:p>
                    <a:p>
                      <a:endParaRPr lang="en-IN" dirty="0"/>
                    </a:p>
                  </a:txBody>
                  <a:tcPr/>
                </a:tc>
                <a:tc>
                  <a:txBody>
                    <a:bodyPr/>
                    <a:lstStyle/>
                    <a:p>
                      <a:r>
                        <a:rPr lang="en-IN" dirty="0" err="1"/>
                        <a:t>Piku</a:t>
                      </a:r>
                      <a:endParaRPr lang="en-IN" dirty="0"/>
                    </a:p>
                    <a:p>
                      <a:endParaRPr lang="en-IN" dirty="0"/>
                    </a:p>
                  </a:txBody>
                  <a:tcPr/>
                </a:tc>
                <a:tc>
                  <a:txBody>
                    <a:bodyPr/>
                    <a:lstStyle/>
                    <a:p>
                      <a:r>
                        <a:rPr lang="en-IN" dirty="0" err="1"/>
                        <a:t>Sanoj</a:t>
                      </a:r>
                      <a:endParaRPr lang="en-IN" dirty="0"/>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73000</a:t>
                      </a:r>
                    </a:p>
                  </a:txBody>
                  <a:tcPr/>
                </a:tc>
                <a:tc>
                  <a:txBody>
                    <a:bodyPr/>
                    <a:lstStyle/>
                    <a:p>
                      <a:r>
                        <a:rPr lang="en-IN" dirty="0"/>
                        <a:t>99000</a:t>
                      </a:r>
                    </a:p>
                  </a:txBody>
                  <a:tcPr/>
                </a:tc>
                <a:tc>
                  <a:txBody>
                    <a:bodyPr/>
                    <a:lstStyle/>
                    <a:p>
                      <a:r>
                        <a:rPr lang="en-IN" dirty="0"/>
                        <a:t>45000</a:t>
                      </a:r>
                    </a:p>
                  </a:txBody>
                  <a:tcPr/>
                </a:tc>
                <a:tc>
                  <a:txBody>
                    <a:bodyPr/>
                    <a:lstStyle/>
                    <a:p>
                      <a:r>
                        <a:rPr lang="en-IN" dirty="0"/>
                        <a:t>50000</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62DEB790-443D-4260-A56C-F03497AF8C0D}"/>
              </a:ext>
            </a:extLst>
          </p:cNvPr>
          <p:cNvSpPr txBox="1"/>
          <p:nvPr/>
        </p:nvSpPr>
        <p:spPr>
          <a:xfrm>
            <a:off x="5410200" y="3962400"/>
            <a:ext cx="533400" cy="369332"/>
          </a:xfrm>
          <a:prstGeom prst="rect">
            <a:avLst/>
          </a:prstGeom>
          <a:noFill/>
        </p:spPr>
        <p:txBody>
          <a:bodyPr wrap="square" rtlCol="0">
            <a:spAutoFit/>
          </a:bodyPr>
          <a:lstStyle/>
          <a:p>
            <a:r>
              <a:rPr lang="en-IN" dirty="0"/>
              <a:t>x</a:t>
            </a:r>
          </a:p>
        </p:txBody>
      </p:sp>
      <p:sp>
        <p:nvSpPr>
          <p:cNvPr id="7" name="Rectangle 6">
            <a:extLst>
              <a:ext uri="{FF2B5EF4-FFF2-40B4-BE49-F238E27FC236}">
                <a16:creationId xmlns:a16="http://schemas.microsoft.com/office/drawing/2014/main" id="{89506230-2926-4FF7-A5E2-3E6ED2DD0B40}"/>
              </a:ext>
            </a:extLst>
          </p:cNvPr>
          <p:cNvSpPr/>
          <p:nvPr/>
        </p:nvSpPr>
        <p:spPr>
          <a:xfrm>
            <a:off x="5486400" y="4331732"/>
            <a:ext cx="1219200" cy="1002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Butler</a:t>
            </a:r>
          </a:p>
          <a:p>
            <a:pPr algn="ctr"/>
            <a:r>
              <a:rPr lang="en-IN" dirty="0"/>
              <a:t>73000</a:t>
            </a:r>
          </a:p>
        </p:txBody>
      </p:sp>
      <p:sp>
        <p:nvSpPr>
          <p:cNvPr id="8" name="TextBox 7">
            <a:extLst>
              <a:ext uri="{FF2B5EF4-FFF2-40B4-BE49-F238E27FC236}">
                <a16:creationId xmlns:a16="http://schemas.microsoft.com/office/drawing/2014/main" id="{BEB3D7DC-452F-4B9D-8D85-DC1F25E8C874}"/>
              </a:ext>
            </a:extLst>
          </p:cNvPr>
          <p:cNvSpPr txBox="1"/>
          <p:nvPr/>
        </p:nvSpPr>
        <p:spPr>
          <a:xfrm>
            <a:off x="5486400" y="5562600"/>
            <a:ext cx="1295400" cy="381000"/>
          </a:xfrm>
          <a:prstGeom prst="rect">
            <a:avLst/>
          </a:prstGeom>
          <a:noFill/>
        </p:spPr>
        <p:txBody>
          <a:bodyPr wrap="square" rtlCol="0">
            <a:spAutoFit/>
          </a:bodyPr>
          <a:lstStyle/>
          <a:p>
            <a:r>
              <a:rPr lang="en-IN" dirty="0"/>
              <a:t>stack</a:t>
            </a:r>
          </a:p>
        </p:txBody>
      </p:sp>
      <p:sp>
        <p:nvSpPr>
          <p:cNvPr id="9" name="TextBox 8">
            <a:extLst>
              <a:ext uri="{FF2B5EF4-FFF2-40B4-BE49-F238E27FC236}">
                <a16:creationId xmlns:a16="http://schemas.microsoft.com/office/drawing/2014/main" id="{118481E4-F7E7-4538-B5E8-D6DCB320E9C2}"/>
              </a:ext>
            </a:extLst>
          </p:cNvPr>
          <p:cNvSpPr txBox="1"/>
          <p:nvPr/>
        </p:nvSpPr>
        <p:spPr>
          <a:xfrm>
            <a:off x="4572000" y="2406095"/>
            <a:ext cx="2133600" cy="369332"/>
          </a:xfrm>
          <a:prstGeom prst="rect">
            <a:avLst/>
          </a:prstGeom>
          <a:noFill/>
        </p:spPr>
        <p:txBody>
          <a:bodyPr wrap="square" rtlCol="0">
            <a:spAutoFit/>
          </a:bodyPr>
          <a:lstStyle/>
          <a:p>
            <a:r>
              <a:rPr lang="en-US" sz="1800" dirty="0" err="1">
                <a:solidFill>
                  <a:srgbClr val="000000"/>
                </a:solidFill>
                <a:highlight>
                  <a:srgbClr val="FFFFFF"/>
                </a:highlight>
                <a:latin typeface="Consolas" panose="020B0609020204030204" pitchFamily="49" charset="0"/>
              </a:rPr>
              <a:t>sl.Keys</a:t>
            </a:r>
            <a:endParaRPr lang="en-IN" dirty="0"/>
          </a:p>
        </p:txBody>
      </p:sp>
      <p:graphicFrame>
        <p:nvGraphicFramePr>
          <p:cNvPr id="11" name="Table 5">
            <a:extLst>
              <a:ext uri="{FF2B5EF4-FFF2-40B4-BE49-F238E27FC236}">
                <a16:creationId xmlns:a16="http://schemas.microsoft.com/office/drawing/2014/main" id="{A8EE9E48-044D-4F21-A228-88E2BE5BCAFE}"/>
              </a:ext>
            </a:extLst>
          </p:cNvPr>
          <p:cNvGraphicFramePr>
            <a:graphicFrameLocks noGrp="1"/>
          </p:cNvGraphicFramePr>
          <p:nvPr>
            <p:extLst>
              <p:ext uri="{D42A27DB-BD31-4B8C-83A1-F6EECF244321}">
                <p14:modId xmlns:p14="http://schemas.microsoft.com/office/powerpoint/2010/main" val="693784745"/>
              </p:ext>
            </p:extLst>
          </p:nvPr>
        </p:nvGraphicFramePr>
        <p:xfrm>
          <a:off x="4575560" y="2895600"/>
          <a:ext cx="7010400" cy="1100745"/>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75074711"/>
                    </a:ext>
                  </a:extLst>
                </a:gridCol>
                <a:gridCol w="876300">
                  <a:extLst>
                    <a:ext uri="{9D8B030D-6E8A-4147-A177-3AD203B41FA5}">
                      <a16:colId xmlns:a16="http://schemas.microsoft.com/office/drawing/2014/main" val="1496193313"/>
                    </a:ext>
                  </a:extLst>
                </a:gridCol>
                <a:gridCol w="876300">
                  <a:extLst>
                    <a:ext uri="{9D8B030D-6E8A-4147-A177-3AD203B41FA5}">
                      <a16:colId xmlns:a16="http://schemas.microsoft.com/office/drawing/2014/main" val="3797299816"/>
                    </a:ext>
                  </a:extLst>
                </a:gridCol>
                <a:gridCol w="876300">
                  <a:extLst>
                    <a:ext uri="{9D8B030D-6E8A-4147-A177-3AD203B41FA5}">
                      <a16:colId xmlns:a16="http://schemas.microsoft.com/office/drawing/2014/main" val="2120810301"/>
                    </a:ext>
                  </a:extLst>
                </a:gridCol>
                <a:gridCol w="876300">
                  <a:extLst>
                    <a:ext uri="{9D8B030D-6E8A-4147-A177-3AD203B41FA5}">
                      <a16:colId xmlns:a16="http://schemas.microsoft.com/office/drawing/2014/main" val="1956239635"/>
                    </a:ext>
                  </a:extLst>
                </a:gridCol>
                <a:gridCol w="876300">
                  <a:extLst>
                    <a:ext uri="{9D8B030D-6E8A-4147-A177-3AD203B41FA5}">
                      <a16:colId xmlns:a16="http://schemas.microsoft.com/office/drawing/2014/main" val="1339126075"/>
                    </a:ext>
                  </a:extLst>
                </a:gridCol>
                <a:gridCol w="876300">
                  <a:extLst>
                    <a:ext uri="{9D8B030D-6E8A-4147-A177-3AD203B41FA5}">
                      <a16:colId xmlns:a16="http://schemas.microsoft.com/office/drawing/2014/main" val="1855523740"/>
                    </a:ext>
                  </a:extLst>
                </a:gridCol>
                <a:gridCol w="876300">
                  <a:extLst>
                    <a:ext uri="{9D8B030D-6E8A-4147-A177-3AD203B41FA5}">
                      <a16:colId xmlns:a16="http://schemas.microsoft.com/office/drawing/2014/main" val="2796826016"/>
                    </a:ext>
                  </a:extLst>
                </a:gridCol>
              </a:tblGrid>
              <a:tr h="460665">
                <a:tc>
                  <a:txBody>
                    <a:bodyPr/>
                    <a:lstStyle/>
                    <a:p>
                      <a:r>
                        <a:rPr lang="en-IN" dirty="0"/>
                        <a:t>0</a:t>
                      </a:r>
                    </a:p>
                    <a:p>
                      <a:endParaRPr lang="en-IN" dirty="0"/>
                    </a:p>
                  </a:txBody>
                  <a:tcPr/>
                </a:tc>
                <a:tc>
                  <a:txBody>
                    <a:bodyPr/>
                    <a:lstStyle/>
                    <a:p>
                      <a:r>
                        <a:rPr lang="en-IN" dirty="0"/>
                        <a:t>1</a:t>
                      </a:r>
                    </a:p>
                  </a:txBody>
                  <a:tcPr/>
                </a:tc>
                <a:tc>
                  <a:txBody>
                    <a:bodyPr/>
                    <a:lstStyle/>
                    <a:p>
                      <a:r>
                        <a:rPr lang="en-IN" dirty="0"/>
                        <a:t>2</a:t>
                      </a:r>
                    </a:p>
                  </a:txBody>
                  <a:tcPr/>
                </a:tc>
                <a:tc>
                  <a:txBody>
                    <a:bodyPr/>
                    <a:lstStyle/>
                    <a:p>
                      <a:r>
                        <a:rPr lang="en-IN" dirty="0"/>
                        <a:t>3</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460665">
                <a:tc>
                  <a:txBody>
                    <a:bodyPr/>
                    <a:lstStyle/>
                    <a:p>
                      <a:r>
                        <a:rPr lang="en-IN" dirty="0"/>
                        <a:t>Butler</a:t>
                      </a:r>
                    </a:p>
                  </a:txBody>
                  <a:tcPr/>
                </a:tc>
                <a:tc>
                  <a:txBody>
                    <a:bodyPr/>
                    <a:lstStyle/>
                    <a:p>
                      <a:r>
                        <a:rPr lang="en-IN" dirty="0"/>
                        <a:t>Frank</a:t>
                      </a:r>
                    </a:p>
                  </a:txBody>
                  <a:tcPr/>
                </a:tc>
                <a:tc>
                  <a:txBody>
                    <a:bodyPr/>
                    <a:lstStyle/>
                    <a:p>
                      <a:r>
                        <a:rPr lang="en-IN" dirty="0" err="1"/>
                        <a:t>Piku</a:t>
                      </a:r>
                      <a:endParaRPr lang="en-IN" dirty="0"/>
                    </a:p>
                  </a:txBody>
                  <a:tcPr/>
                </a:tc>
                <a:tc>
                  <a:txBody>
                    <a:bodyPr/>
                    <a:lstStyle/>
                    <a:p>
                      <a:r>
                        <a:rPr lang="en-IN" dirty="0" err="1"/>
                        <a:t>Sanoj</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Tree>
    <p:extLst>
      <p:ext uri="{BB962C8B-B14F-4D97-AF65-F5344CB8AC3E}">
        <p14:creationId xmlns:p14="http://schemas.microsoft.com/office/powerpoint/2010/main" val="825182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DC271-227C-4C56-95CE-A20F53EBFAAA}"/>
              </a:ext>
            </a:extLst>
          </p:cNvPr>
          <p:cNvSpPr>
            <a:spLocks noGrp="1"/>
          </p:cNvSpPr>
          <p:nvPr>
            <p:ph idx="1"/>
          </p:nvPr>
        </p:nvSpPr>
        <p:spPr>
          <a:xfrm>
            <a:off x="159774" y="44867"/>
            <a:ext cx="5105400" cy="64770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ConsoleApplication17</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openWith</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SortedList</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some elements to the list. There are no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duplicate keys, but some of the values are duplicates.</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"notepad.exe"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"bmp"</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"dib"</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"paint.exe"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"rtf"</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"wordpad.exe"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The Add method throws an exception if the new key is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already in the list.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openWith.Add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"txt"</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"winword.exe"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ArgumentException</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"An element with Key = \"txt\" already exists."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24C7DBDC-96AB-4FD7-849F-0A0BAC1343B5}"/>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graphicFrame>
        <p:nvGraphicFramePr>
          <p:cNvPr id="5" name="Table 5">
            <a:extLst>
              <a:ext uri="{FF2B5EF4-FFF2-40B4-BE49-F238E27FC236}">
                <a16:creationId xmlns:a16="http://schemas.microsoft.com/office/drawing/2014/main" id="{F4914281-DB9E-4FC6-8744-79EE49193A1E}"/>
              </a:ext>
            </a:extLst>
          </p:cNvPr>
          <p:cNvGraphicFramePr>
            <a:graphicFrameLocks noGrp="1"/>
          </p:cNvGraphicFramePr>
          <p:nvPr>
            <p:extLst>
              <p:ext uri="{D42A27DB-BD31-4B8C-83A1-F6EECF244321}">
                <p14:modId xmlns:p14="http://schemas.microsoft.com/office/powerpoint/2010/main" val="2599087538"/>
              </p:ext>
            </p:extLst>
          </p:nvPr>
        </p:nvGraphicFramePr>
        <p:xfrm>
          <a:off x="5257800" y="1371600"/>
          <a:ext cx="7086600" cy="1554480"/>
        </p:xfrm>
        <a:graphic>
          <a:graphicData uri="http://schemas.openxmlformats.org/drawingml/2006/table">
            <a:tbl>
              <a:tblPr firstRow="1" bandRow="1">
                <a:tableStyleId>{5C22544A-7EE6-4342-B048-85BDC9FD1C3A}</a:tableStyleId>
              </a:tblPr>
              <a:tblGrid>
                <a:gridCol w="885825">
                  <a:extLst>
                    <a:ext uri="{9D8B030D-6E8A-4147-A177-3AD203B41FA5}">
                      <a16:colId xmlns:a16="http://schemas.microsoft.com/office/drawing/2014/main" val="275074711"/>
                    </a:ext>
                  </a:extLst>
                </a:gridCol>
                <a:gridCol w="885825">
                  <a:extLst>
                    <a:ext uri="{9D8B030D-6E8A-4147-A177-3AD203B41FA5}">
                      <a16:colId xmlns:a16="http://schemas.microsoft.com/office/drawing/2014/main" val="1496193313"/>
                    </a:ext>
                  </a:extLst>
                </a:gridCol>
                <a:gridCol w="885825">
                  <a:extLst>
                    <a:ext uri="{9D8B030D-6E8A-4147-A177-3AD203B41FA5}">
                      <a16:colId xmlns:a16="http://schemas.microsoft.com/office/drawing/2014/main" val="3797299816"/>
                    </a:ext>
                  </a:extLst>
                </a:gridCol>
                <a:gridCol w="885825">
                  <a:extLst>
                    <a:ext uri="{9D8B030D-6E8A-4147-A177-3AD203B41FA5}">
                      <a16:colId xmlns:a16="http://schemas.microsoft.com/office/drawing/2014/main" val="2120810301"/>
                    </a:ext>
                  </a:extLst>
                </a:gridCol>
                <a:gridCol w="885825">
                  <a:extLst>
                    <a:ext uri="{9D8B030D-6E8A-4147-A177-3AD203B41FA5}">
                      <a16:colId xmlns:a16="http://schemas.microsoft.com/office/drawing/2014/main" val="1956239635"/>
                    </a:ext>
                  </a:extLst>
                </a:gridCol>
                <a:gridCol w="885825">
                  <a:extLst>
                    <a:ext uri="{9D8B030D-6E8A-4147-A177-3AD203B41FA5}">
                      <a16:colId xmlns:a16="http://schemas.microsoft.com/office/drawing/2014/main" val="1339126075"/>
                    </a:ext>
                  </a:extLst>
                </a:gridCol>
                <a:gridCol w="885825">
                  <a:extLst>
                    <a:ext uri="{9D8B030D-6E8A-4147-A177-3AD203B41FA5}">
                      <a16:colId xmlns:a16="http://schemas.microsoft.com/office/drawing/2014/main" val="1855523740"/>
                    </a:ext>
                  </a:extLst>
                </a:gridCol>
                <a:gridCol w="885825">
                  <a:extLst>
                    <a:ext uri="{9D8B030D-6E8A-4147-A177-3AD203B41FA5}">
                      <a16:colId xmlns:a16="http://schemas.microsoft.com/office/drawing/2014/main" val="2796826016"/>
                    </a:ext>
                  </a:extLst>
                </a:gridCol>
              </a:tblGrid>
              <a:tr h="533400">
                <a:tc>
                  <a:txBody>
                    <a:bodyPr/>
                    <a:lstStyle/>
                    <a:p>
                      <a:r>
                        <a:rPr lang="en-IN" dirty="0"/>
                        <a:t>bmp</a:t>
                      </a:r>
                    </a:p>
                    <a:p>
                      <a:endParaRPr lang="en-IN" dirty="0"/>
                    </a:p>
                  </a:txBody>
                  <a:tcPr/>
                </a:tc>
                <a:tc>
                  <a:txBody>
                    <a:bodyPr/>
                    <a:lstStyle/>
                    <a:p>
                      <a:r>
                        <a:rPr lang="en-IN" dirty="0"/>
                        <a:t>dib</a:t>
                      </a:r>
                    </a:p>
                    <a:p>
                      <a:endParaRPr lang="en-IN" dirty="0"/>
                    </a:p>
                  </a:txBody>
                  <a:tcPr/>
                </a:tc>
                <a:tc>
                  <a:txBody>
                    <a:bodyPr/>
                    <a:lstStyle/>
                    <a:p>
                      <a:r>
                        <a:rPr lang="en-IN" dirty="0"/>
                        <a:t>rtf</a:t>
                      </a:r>
                    </a:p>
                    <a:p>
                      <a:endParaRPr lang="en-IN" dirty="0"/>
                    </a:p>
                  </a:txBody>
                  <a:tcPr/>
                </a:tc>
                <a:tc>
                  <a:txBody>
                    <a:bodyPr/>
                    <a:lstStyle/>
                    <a:p>
                      <a:r>
                        <a:rPr lang="en-IN" dirty="0"/>
                        <a:t>text</a:t>
                      </a:r>
                    </a:p>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796963"/>
                  </a:ext>
                </a:extLst>
              </a:tr>
              <a:tr h="762000">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paint.exe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wordpad.exe</a:t>
                      </a:r>
                      <a:endParaRPr lang="en-IN" dirty="0"/>
                    </a:p>
                  </a:txBody>
                  <a:tcPr/>
                </a:tc>
                <a:tc>
                  <a:txBody>
                    <a:bodyPr/>
                    <a:lstStyle/>
                    <a:p>
                      <a:r>
                        <a:rPr lang="en-IN" sz="1800" dirty="0">
                          <a:solidFill>
                            <a:srgbClr val="A31515"/>
                          </a:solidFill>
                          <a:highlight>
                            <a:srgbClr val="FFFFFF"/>
                          </a:highlight>
                          <a:latin typeface="Consolas" panose="020B0609020204030204" pitchFamily="49" charset="0"/>
                        </a:rPr>
                        <a:t>notepad.exe</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150390130"/>
                  </a:ext>
                </a:extLst>
              </a:tr>
            </a:tbl>
          </a:graphicData>
        </a:graphic>
      </p:graphicFrame>
      <p:sp>
        <p:nvSpPr>
          <p:cNvPr id="6" name="TextBox 5">
            <a:extLst>
              <a:ext uri="{FF2B5EF4-FFF2-40B4-BE49-F238E27FC236}">
                <a16:creationId xmlns:a16="http://schemas.microsoft.com/office/drawing/2014/main" id="{CB335EEE-E1BB-42C4-9C99-1BC7C1CEF9F0}"/>
              </a:ext>
            </a:extLst>
          </p:cNvPr>
          <p:cNvSpPr txBox="1"/>
          <p:nvPr/>
        </p:nvSpPr>
        <p:spPr>
          <a:xfrm>
            <a:off x="5410200" y="685800"/>
            <a:ext cx="1447800"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openWith</a:t>
            </a:r>
            <a:endParaRPr lang="en-IN" dirty="0"/>
          </a:p>
        </p:txBody>
      </p:sp>
    </p:spTree>
    <p:extLst>
      <p:ext uri="{BB962C8B-B14F-4D97-AF65-F5344CB8AC3E}">
        <p14:creationId xmlns:p14="http://schemas.microsoft.com/office/powerpoint/2010/main" val="364723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12DBA-15AA-4F63-988C-AC61D5BA0590}"/>
              </a:ext>
            </a:extLst>
          </p:cNvPr>
          <p:cNvSpPr>
            <a:spLocks noGrp="1"/>
          </p:cNvSpPr>
          <p:nvPr>
            <p:ph idx="1"/>
          </p:nvPr>
        </p:nvSpPr>
        <p:spPr>
          <a:xfrm>
            <a:off x="152400" y="609600"/>
            <a:ext cx="7162800" cy="6096000"/>
          </a:xfrm>
        </p:spPr>
        <p:txBody>
          <a:bodyPr>
            <a:normAutofit fontScale="85000" lnSpcReduction="10000"/>
          </a:bodyPr>
          <a:lstStyle/>
          <a:p>
            <a:pPr marL="0" indent="0">
              <a:buNone/>
            </a:pPr>
            <a:r>
              <a:rPr lang="en-US" sz="1800" dirty="0">
                <a:solidFill>
                  <a:srgbClr val="008000"/>
                </a:solidFill>
                <a:highlight>
                  <a:srgbClr val="FFFFFF"/>
                </a:highlight>
                <a:latin typeface="Consolas" panose="020B0609020204030204" pitchFamily="49" charset="0"/>
              </a:rPr>
              <a:t>// The Item property is another name for the indexer, so you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can omit its name when accessing elements. </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The indexer can be used to change the value associated</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with a key.</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 = </a:t>
            </a:r>
            <a:r>
              <a:rPr lang="en-IN" sz="1800" dirty="0">
                <a:solidFill>
                  <a:srgbClr val="A31515"/>
                </a:solidFill>
                <a:highlight>
                  <a:srgbClr val="FFFFFF"/>
                </a:highlight>
                <a:latin typeface="Consolas" panose="020B0609020204030204" pitchFamily="49" charset="0"/>
              </a:rPr>
              <a:t>"winword.exe"</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"For key = \"rtf\", value = {0}."</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"rtf"</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Use the Remove method to remove a key/value pair.</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a:t>
            </a:r>
            <a:r>
              <a:rPr lang="en-IN" sz="1800" dirty="0" err="1">
                <a:solidFill>
                  <a:srgbClr val="A31515"/>
                </a:solidFill>
                <a:highlight>
                  <a:srgbClr val="FFFFFF"/>
                </a:highlight>
                <a:latin typeface="Consolas" panose="020B0609020204030204" pitchFamily="49" charset="0"/>
              </a:rPr>
              <a:t>nRemove</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openWith.Remove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if</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openWith.ContainsKey</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"doc"</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"Key \"doc\" is not found."</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5" name="TextBox 4">
            <a:extLst>
              <a:ext uri="{FF2B5EF4-FFF2-40B4-BE49-F238E27FC236}">
                <a16:creationId xmlns:a16="http://schemas.microsoft.com/office/drawing/2014/main" id="{97E5741B-8751-4A6E-BA1C-B27DDDD4ADDF}"/>
              </a:ext>
            </a:extLst>
          </p:cNvPr>
          <p:cNvSpPr txBox="1"/>
          <p:nvPr/>
        </p:nvSpPr>
        <p:spPr>
          <a:xfrm>
            <a:off x="7010400" y="0"/>
            <a:ext cx="1752600" cy="369332"/>
          </a:xfrm>
          <a:prstGeom prst="rect">
            <a:avLst/>
          </a:prstGeom>
          <a:noFill/>
        </p:spPr>
        <p:txBody>
          <a:bodyPr wrap="square" rtlCol="0">
            <a:spAutoFit/>
          </a:bodyPr>
          <a:lstStyle/>
          <a:p>
            <a:r>
              <a:rPr lang="en-IN" dirty="0"/>
              <a:t>Sorted List</a:t>
            </a:r>
          </a:p>
        </p:txBody>
      </p:sp>
    </p:spTree>
    <p:extLst>
      <p:ext uri="{BB962C8B-B14F-4D97-AF65-F5344CB8AC3E}">
        <p14:creationId xmlns:p14="http://schemas.microsoft.com/office/powerpoint/2010/main" val="2951323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C3C6-B39F-4DEF-AC31-BADF6CBBB16C}"/>
              </a:ext>
            </a:extLst>
          </p:cNvPr>
          <p:cNvSpPr>
            <a:spLocks noGrp="1"/>
          </p:cNvSpPr>
          <p:nvPr>
            <p:ph type="title"/>
          </p:nvPr>
        </p:nvSpPr>
        <p:spPr>
          <a:xfrm>
            <a:off x="4953000" y="0"/>
            <a:ext cx="4191000" cy="533400"/>
          </a:xfrm>
        </p:spPr>
        <p:txBody>
          <a:bodyPr>
            <a:normAutofit fontScale="90000"/>
          </a:bodyPr>
          <a:lstStyle/>
          <a:p>
            <a:r>
              <a:rPr lang="en-IN" dirty="0"/>
              <a:t>Demo 2 Sorted List</a:t>
            </a:r>
          </a:p>
        </p:txBody>
      </p:sp>
      <p:sp>
        <p:nvSpPr>
          <p:cNvPr id="3" name="Content Placeholder 2">
            <a:extLst>
              <a:ext uri="{FF2B5EF4-FFF2-40B4-BE49-F238E27FC236}">
                <a16:creationId xmlns:a16="http://schemas.microsoft.com/office/drawing/2014/main" id="{A6D92886-C9DB-40B9-ABA5-ED865191F956}"/>
              </a:ext>
            </a:extLst>
          </p:cNvPr>
          <p:cNvSpPr>
            <a:spLocks noGrp="1"/>
          </p:cNvSpPr>
          <p:nvPr>
            <p:ph idx="1"/>
          </p:nvPr>
        </p:nvSpPr>
        <p:spPr>
          <a:xfrm>
            <a:off x="0" y="-152400"/>
            <a:ext cx="4800600" cy="7162800"/>
          </a:xfrm>
        </p:spPr>
        <p:txBody>
          <a:bodyPr>
            <a:noAutofit/>
          </a:bodyPr>
          <a:lstStyle/>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The indexer throws an exception if the requested key is</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not in the list.</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try</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"For key = \"</a:t>
            </a:r>
            <a:r>
              <a:rPr lang="en-US" sz="1400" dirty="0" err="1">
                <a:solidFill>
                  <a:srgbClr val="A31515"/>
                </a:solidFill>
                <a:highlight>
                  <a:srgbClr val="FFFFFF"/>
                </a:highlight>
                <a:latin typeface="Consolas" panose="020B0609020204030204" pitchFamily="49" charset="0"/>
              </a:rPr>
              <a:t>tif</a:t>
            </a:r>
            <a:r>
              <a:rPr lang="en-US" sz="1400" dirty="0">
                <a:solidFill>
                  <a:srgbClr val="A31515"/>
                </a:solidFill>
                <a:highlight>
                  <a:srgbClr val="FFFFFF"/>
                </a:highlight>
                <a:latin typeface="Consolas" panose="020B0609020204030204" pitchFamily="49" charset="0"/>
              </a:rPr>
              <a:t>\", value = {0}."</a:t>
            </a:r>
            <a:r>
              <a:rPr lang="en-US" sz="1400" dirty="0">
                <a:solidFill>
                  <a:srgbClr val="000000"/>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tif</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endParaRPr lang="en-IN" sz="1000" dirty="0"/>
          </a:p>
        </p:txBody>
      </p:sp>
      <p:sp>
        <p:nvSpPr>
          <p:cNvPr id="4" name="TextBox 3">
            <a:extLst>
              <a:ext uri="{FF2B5EF4-FFF2-40B4-BE49-F238E27FC236}">
                <a16:creationId xmlns:a16="http://schemas.microsoft.com/office/drawing/2014/main" id="{F32D593C-B618-44D0-AEB4-0155783F6AF0}"/>
              </a:ext>
            </a:extLst>
          </p:cNvPr>
          <p:cNvSpPr txBox="1"/>
          <p:nvPr/>
        </p:nvSpPr>
        <p:spPr>
          <a:xfrm>
            <a:off x="5181600" y="762000"/>
            <a:ext cx="4191000" cy="4985980"/>
          </a:xfrm>
          <a:prstGeom prst="rect">
            <a:avLst/>
          </a:prstGeom>
          <a:noFill/>
        </p:spPr>
        <p:txBody>
          <a:bodyPr wrap="square" rtlCol="0">
            <a:spAutoFit/>
          </a:bodyPr>
          <a:lstStyle/>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KeyNotFoundException</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When a program often has to try keys that turn out not to</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be in the list, </a:t>
            </a:r>
            <a:r>
              <a:rPr lang="en-US" sz="1200" dirty="0" err="1">
                <a:solidFill>
                  <a:srgbClr val="008000"/>
                </a:solidFill>
                <a:highlight>
                  <a:srgbClr val="FFFFFF"/>
                </a:highlight>
                <a:latin typeface="Consolas" panose="020B0609020204030204" pitchFamily="49" charset="0"/>
              </a:rPr>
              <a:t>TryGetValue</a:t>
            </a:r>
            <a:r>
              <a:rPr lang="en-US" sz="1200" dirty="0">
                <a:solidFill>
                  <a:srgbClr val="008000"/>
                </a:solidFill>
                <a:highlight>
                  <a:srgbClr val="FFFFFF"/>
                </a:highlight>
                <a:latin typeface="Consolas" panose="020B0609020204030204" pitchFamily="49" charset="0"/>
              </a:rPr>
              <a:t> can be a more efficient </a:t>
            </a:r>
            <a:endParaRPr lang="en-US"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way to retrieve values.</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value =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if</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openWith.TryGetValue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out</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"For 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value = {0}."</a:t>
            </a:r>
            <a:r>
              <a:rPr lang="en-US" sz="1200" dirty="0">
                <a:solidFill>
                  <a:srgbClr val="000000"/>
                </a:solidFill>
                <a:highlight>
                  <a:srgbClr val="FFFFFF"/>
                </a:highlight>
                <a:latin typeface="Consolas" panose="020B0609020204030204" pitchFamily="49" charset="0"/>
              </a:rPr>
              <a:t>, value);</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"Key = \"</a:t>
            </a:r>
            <a:r>
              <a:rPr lang="en-US" sz="1200" dirty="0" err="1">
                <a:solidFill>
                  <a:srgbClr val="A31515"/>
                </a:solidFill>
                <a:highlight>
                  <a:srgbClr val="FFFFFF"/>
                </a:highlight>
                <a:latin typeface="Consolas" panose="020B0609020204030204" pitchFamily="49" charset="0"/>
              </a:rPr>
              <a:t>tif</a:t>
            </a:r>
            <a:r>
              <a:rPr lang="en-US" sz="1200" dirty="0">
                <a:solidFill>
                  <a:srgbClr val="A31515"/>
                </a:solidFill>
                <a:highlight>
                  <a:srgbClr val="FFFFFF"/>
                </a:highlight>
                <a:latin typeface="Consolas" panose="020B0609020204030204" pitchFamily="49" charset="0"/>
              </a:rPr>
              <a:t>\" is not found."</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r>
              <a:rPr lang="en-US" sz="900" dirty="0">
                <a:solidFill>
                  <a:srgbClr val="000000"/>
                </a:solidFill>
                <a:highlight>
                  <a:srgbClr val="FFFFFF"/>
                </a:highlight>
                <a:latin typeface="Consolas" panose="020B0609020204030204" pitchFamily="49" charset="0"/>
              </a:rPr>
              <a:t>          </a:t>
            </a:r>
            <a:endParaRPr lang="en-IN" sz="900" dirty="0"/>
          </a:p>
          <a:p>
            <a:pPr marL="0" indent="0">
              <a:buNone/>
            </a:pPr>
            <a:endParaRPr lang="en-IN" sz="12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4034465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8395FA-404D-452F-8766-0D3482058AD9}"/>
              </a:ext>
            </a:extLst>
          </p:cNvPr>
          <p:cNvSpPr>
            <a:spLocks noGrp="1"/>
          </p:cNvSpPr>
          <p:nvPr>
            <p:ph idx="1"/>
          </p:nvPr>
        </p:nvSpPr>
        <p:spPr>
          <a:xfrm>
            <a:off x="0" y="152400"/>
            <a:ext cx="5105400" cy="6858000"/>
          </a:xfrm>
        </p:spPr>
        <p:txBody>
          <a:bodyPr>
            <a:normAutofit fontScale="92500" lnSpcReduction="10000"/>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ConsoleApplication17</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SortedList</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some elements to the list. There are no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duplicate keys, but some of the values are duplicates.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"txt"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"notepad.exe"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"bmp"</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"dib"</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"paint.exe"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"rtf"</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"wordpad.exe"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t>
            </a:r>
            <a:r>
              <a:rPr lang="en-US" sz="1400" dirty="0" err="1">
                <a:solidFill>
                  <a:srgbClr val="008000"/>
                </a:solidFill>
                <a:highlight>
                  <a:srgbClr val="FFFFFF"/>
                </a:highlight>
                <a:latin typeface="Consolas" panose="020B0609020204030204" pitchFamily="49" charset="0"/>
              </a:rPr>
              <a:t>ContainsKey</a:t>
            </a:r>
            <a:r>
              <a:rPr lang="en-US" sz="1400" dirty="0">
                <a:solidFill>
                  <a:srgbClr val="008000"/>
                </a:solidFill>
                <a:highlight>
                  <a:srgbClr val="FFFFFF"/>
                </a:highlight>
                <a:latin typeface="Consolas" panose="020B0609020204030204" pitchFamily="49" charset="0"/>
              </a:rPr>
              <a:t> can be used to test keys before inserting </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them.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openWith.ContainsKey</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"hypertrm.exe"</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"Value added for key = \"</a:t>
            </a:r>
            <a:r>
              <a:rPr lang="en-US" sz="1400" dirty="0" err="1">
                <a:solidFill>
                  <a:srgbClr val="A31515"/>
                </a:solidFill>
                <a:highlight>
                  <a:srgbClr val="FFFFFF"/>
                </a:highlight>
                <a:latin typeface="Consolas" panose="020B0609020204030204" pitchFamily="49" charset="0"/>
              </a:rPr>
              <a:t>ht</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openWith</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ht</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DF25DDE0-53D9-4070-983C-29C06355A83B}"/>
              </a:ext>
            </a:extLst>
          </p:cNvPr>
          <p:cNvSpPr txBox="1"/>
          <p:nvPr/>
        </p:nvSpPr>
        <p:spPr>
          <a:xfrm>
            <a:off x="4876800" y="0"/>
            <a:ext cx="4648200" cy="5970865"/>
          </a:xfrm>
          <a:prstGeom prst="rect">
            <a:avLst/>
          </a:prstGeom>
          <a:noFill/>
        </p:spPr>
        <p:txBody>
          <a:bodyPr wrap="square" rtlCol="0">
            <a:spAutoFit/>
          </a:bodyPr>
          <a:lstStyle/>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When you use foreach to enumerate list elements,</a:t>
            </a:r>
            <a:endParaRPr lang="en-US" sz="1000" dirty="0">
              <a:solidFill>
                <a:srgbClr val="000000"/>
              </a:solidFill>
              <a:highlight>
                <a:srgbClr val="FFFFFF"/>
              </a:highlight>
              <a:latin typeface="Consolas" panose="020B0609020204030204" pitchFamily="49" charset="0"/>
            </a:endParaRPr>
          </a:p>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the elements are retrieved as </a:t>
            </a:r>
            <a:r>
              <a:rPr lang="en-US" sz="1000" dirty="0" err="1">
                <a:solidFill>
                  <a:srgbClr val="008000"/>
                </a:solidFill>
                <a:highlight>
                  <a:srgbClr val="FFFFFF"/>
                </a:highlight>
                <a:latin typeface="Consolas" panose="020B0609020204030204" pitchFamily="49" charset="0"/>
              </a:rPr>
              <a:t>KeyValuePair</a:t>
            </a:r>
            <a:r>
              <a:rPr lang="en-US" sz="1000" dirty="0">
                <a:solidFill>
                  <a:srgbClr val="008000"/>
                </a:solidFill>
                <a:highlight>
                  <a:srgbClr val="FFFFFF"/>
                </a:highlight>
                <a:latin typeface="Consolas" panose="020B0609020204030204" pitchFamily="49" charset="0"/>
              </a:rPr>
              <a:t> objects.</a:t>
            </a:r>
            <a:endParaRPr lang="en-US" sz="1000" dirty="0">
              <a:solidFill>
                <a:srgbClr val="000000"/>
              </a:solidFill>
              <a:highlight>
                <a:srgbClr val="FFFFFF"/>
              </a:highlight>
              <a:latin typeface="Consolas" panose="020B0609020204030204" pitchFamily="49" charset="0"/>
            </a:endParaRPr>
          </a:p>
          <a:p>
            <a:pPr marL="0" indent="0">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endPar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KeyValuePair</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"Key = {0}, Value = {1}"</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kvp.Key</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kvp.Value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To get the values alone, use the Values property.</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IList</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kumimoji="0" lang="en-IN"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elements of the list are strongly typed with the </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type that was specified for the </a:t>
            </a:r>
            <a:r>
              <a:rPr kumimoji="0" lang="en-US" sz="10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SorteList</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foreach</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 </a:t>
            </a:r>
            <a:r>
              <a:rPr kumimoji="0" lang="en-US" sz="10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ilistValues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"Value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The Values property is an efficient way to retrieve</a:t>
            </a: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values by index.</a:t>
            </a: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0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r>
              <a:rPr kumimoji="0" lang="en-US" sz="1000" b="0" i="0" u="none" strike="noStrike" kern="1200" cap="none" spc="0" normalizeH="0" baseline="0" noProof="0" dirty="0" err="1">
                <a:ln>
                  <a:noFill/>
                </a:ln>
                <a:solidFill>
                  <a:srgbClr val="A31515"/>
                </a:solidFill>
                <a:effectLst/>
                <a:highlight>
                  <a:srgbClr val="FFFFFF"/>
                </a:highlight>
                <a:uLnTx/>
                <a:uFillTx/>
                <a:latin typeface="Consolas" panose="020B0609020204030204" pitchFamily="49" charset="0"/>
                <a:ea typeface="+mn-ea"/>
                <a:cs typeface="+mn-cs"/>
              </a:rPr>
              <a:t>nIndexed</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 retrieval using the Values "</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US" sz="10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"property: Values[2] = {0}"</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10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0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openWith.Values</a:t>
            </a:r>
            <a:r>
              <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[2]);</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0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29110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1D95-E4DC-4A5C-B839-D137D1497A28}"/>
              </a:ext>
            </a:extLst>
          </p:cNvPr>
          <p:cNvSpPr>
            <a:spLocks noGrp="1"/>
          </p:cNvSpPr>
          <p:nvPr>
            <p:ph type="title"/>
          </p:nvPr>
        </p:nvSpPr>
        <p:spPr>
          <a:xfrm>
            <a:off x="1981200" y="-37618"/>
            <a:ext cx="6858000" cy="457199"/>
          </a:xfrm>
        </p:spPr>
        <p:txBody>
          <a:bodyPr>
            <a:normAutofit fontScale="90000"/>
          </a:bodyPr>
          <a:lstStyle/>
          <a:p>
            <a:r>
              <a:rPr lang="en-IN" dirty="0" err="1"/>
              <a:t>SortedList</a:t>
            </a:r>
            <a:endParaRPr lang="en-IN" dirty="0"/>
          </a:p>
        </p:txBody>
      </p:sp>
      <p:sp>
        <p:nvSpPr>
          <p:cNvPr id="3" name="Content Placeholder 2">
            <a:extLst>
              <a:ext uri="{FF2B5EF4-FFF2-40B4-BE49-F238E27FC236}">
                <a16:creationId xmlns:a16="http://schemas.microsoft.com/office/drawing/2014/main" id="{6622A15D-076A-4E8B-855F-F970FF470D4D}"/>
              </a:ext>
            </a:extLst>
          </p:cNvPr>
          <p:cNvSpPr>
            <a:spLocks noGrp="1"/>
          </p:cNvSpPr>
          <p:nvPr>
            <p:ph idx="1"/>
          </p:nvPr>
        </p:nvSpPr>
        <p:spPr>
          <a:xfrm>
            <a:off x="228600" y="0"/>
            <a:ext cx="6934200" cy="7010400"/>
          </a:xfrm>
        </p:spPr>
        <p:txBody>
          <a:bodyPr>
            <a:noAutofit/>
          </a:bodyPr>
          <a:lstStyle/>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System.Collections.Generic</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ConsoleApplication17</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Salary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Employee() {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Employee(</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nm,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sl</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Name = nm;</a:t>
            </a:r>
          </a:p>
          <a:p>
            <a:pPr marL="0" indent="0">
              <a:buNone/>
            </a:pPr>
            <a:r>
              <a:rPr lang="en-IN" sz="1050" dirty="0">
                <a:solidFill>
                  <a:srgbClr val="000000"/>
                </a:solidFill>
                <a:highlight>
                  <a:srgbClr val="FFFFFF"/>
                </a:highlight>
                <a:latin typeface="Consolas" panose="020B0609020204030204" pitchFamily="49" charset="0"/>
              </a:rPr>
              <a:t>            Salary = </a:t>
            </a:r>
            <a:r>
              <a:rPr lang="en-IN" sz="1050" dirty="0" err="1">
                <a:solidFill>
                  <a:srgbClr val="000000"/>
                </a:solidFill>
                <a:highlight>
                  <a:srgbClr val="FFFFFF"/>
                </a:highlight>
                <a:latin typeface="Consolas" panose="020B0609020204030204" pitchFamily="49" charset="0"/>
              </a:rPr>
              <a:t>sl</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return</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String</a:t>
            </a:r>
            <a:r>
              <a:rPr lang="en-US" sz="1050" dirty="0" err="1">
                <a:solidFill>
                  <a:srgbClr val="000000"/>
                </a:solidFill>
                <a:highlight>
                  <a:srgbClr val="FFFFFF"/>
                </a:highlight>
                <a:latin typeface="Consolas" panose="020B0609020204030204" pitchFamily="49" charset="0"/>
              </a:rPr>
              <a:t>.Format</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"{0} {1}"</a:t>
            </a:r>
            <a:r>
              <a:rPr lang="en-US" sz="1050" dirty="0">
                <a:solidFill>
                  <a:srgbClr val="000000"/>
                </a:solidFill>
                <a:highlight>
                  <a:srgbClr val="FFFFFF"/>
                </a:highlight>
                <a:latin typeface="Consolas" panose="020B0609020204030204" pitchFamily="49" charset="0"/>
              </a:rPr>
              <a:t>, Name, Salary);</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 emp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r>
              <a:rPr lang="en-IN" sz="1050" dirty="0">
                <a:solidFill>
                  <a:srgbClr val="000000"/>
                </a:solidFill>
                <a:highlight>
                  <a:srgbClr val="FFFFFF"/>
                </a:highlight>
                <a:latin typeface="Consolas" panose="020B0609020204030204" pitchFamily="49" charset="0"/>
              </a:rPr>
              <a:t>();</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e1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Salary = 6000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e2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"Mona"</a:t>
            </a:r>
            <a:r>
              <a:rPr lang="en-US" sz="1050" dirty="0">
                <a:solidFill>
                  <a:srgbClr val="000000"/>
                </a:solidFill>
                <a:highlight>
                  <a:srgbClr val="FFFFFF"/>
                </a:highlight>
                <a:latin typeface="Consolas" panose="020B0609020204030204" pitchFamily="49" charset="0"/>
              </a:rPr>
              <a:t>, Salary = 7000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e3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"Het"</a:t>
            </a:r>
            <a:r>
              <a:rPr lang="en-US" sz="1050" dirty="0">
                <a:solidFill>
                  <a:srgbClr val="000000"/>
                </a:solidFill>
                <a:highlight>
                  <a:srgbClr val="FFFFFF"/>
                </a:highlight>
                <a:latin typeface="Consolas" panose="020B0609020204030204" pitchFamily="49" charset="0"/>
              </a:rPr>
              <a:t>, Salary = 3000 };</a:t>
            </a:r>
          </a:p>
          <a:p>
            <a:pPr marL="0" indent="0">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SortedList</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a:t>
            </a:r>
          </a:p>
          <a:p>
            <a:pPr marL="0" indent="0">
              <a:buNone/>
            </a:pPr>
            <a:endParaRPr lang="en-IN" sz="1050" dirty="0">
              <a:solidFill>
                <a:srgbClr val="000000"/>
              </a:solidFill>
              <a:highlight>
                <a:srgbClr val="FFFFFF"/>
              </a:highlight>
              <a:latin typeface="Consolas" panose="020B0609020204030204" pitchFamily="49" charset="0"/>
            </a:endParaRP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(e1.Name, e1);</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(e2.Name, e2);</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listemp.Add</a:t>
            </a:r>
            <a:r>
              <a:rPr lang="en-IN" sz="1050" dirty="0">
                <a:solidFill>
                  <a:srgbClr val="000000"/>
                </a:solidFill>
                <a:highlight>
                  <a:srgbClr val="FFFFFF"/>
                </a:highlight>
                <a:latin typeface="Consolas" panose="020B0609020204030204" pitchFamily="49" charset="0"/>
              </a:rPr>
              <a:t>(e3.Name, e3);</a:t>
            </a:r>
          </a:p>
          <a:p>
            <a:pPr marL="0" indent="0">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KeyValuePair</a:t>
            </a:r>
            <a:r>
              <a:rPr lang="en-US" sz="1050" dirty="0">
                <a:solidFill>
                  <a:srgbClr val="000000"/>
                </a:solidFill>
                <a:highlight>
                  <a:srgbClr val="FFFFFF"/>
                </a:highlight>
                <a:latin typeface="Consolas" panose="020B0609020204030204" pitchFamily="49" charset="0"/>
              </a:rPr>
              <a:t>&lt;</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&gt; x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listemp</a:t>
            </a:r>
            <a:r>
              <a:rPr lang="en-US" sz="1050" dirty="0">
                <a:solidFill>
                  <a:srgbClr val="000000"/>
                </a:solidFill>
                <a:highlight>
                  <a:srgbClr val="FFFFFF"/>
                </a:highlight>
                <a:latin typeface="Consolas" panose="020B0609020204030204" pitchFamily="49" charset="0"/>
              </a:rPr>
              <a:t>)</a:t>
            </a:r>
          </a:p>
          <a:p>
            <a:pPr marL="0" indent="0">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(x);</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    }</a:t>
            </a:r>
          </a:p>
          <a:p>
            <a:pPr marL="0" indent="0">
              <a:buNone/>
            </a:pPr>
            <a:r>
              <a:rPr lang="en-IN" sz="1050" dirty="0">
                <a:solidFill>
                  <a:srgbClr val="000000"/>
                </a:solidFill>
                <a:highlight>
                  <a:srgbClr val="FFFFFF"/>
                </a:highlight>
                <a:latin typeface="Consolas" panose="020B0609020204030204" pitchFamily="49" charset="0"/>
              </a:rPr>
              <a:t>}</a:t>
            </a:r>
          </a:p>
          <a:p>
            <a:pPr marL="0" indent="0">
              <a:buNone/>
            </a:pPr>
            <a:endParaRPr lang="en-IN" sz="1050" dirty="0"/>
          </a:p>
        </p:txBody>
      </p:sp>
      <p:graphicFrame>
        <p:nvGraphicFramePr>
          <p:cNvPr id="4" name="Table 4">
            <a:extLst>
              <a:ext uri="{FF2B5EF4-FFF2-40B4-BE49-F238E27FC236}">
                <a16:creationId xmlns:a16="http://schemas.microsoft.com/office/drawing/2014/main" id="{4AD1447B-3CE9-48D2-B447-805118DECED5}"/>
              </a:ext>
            </a:extLst>
          </p:cNvPr>
          <p:cNvGraphicFramePr>
            <a:graphicFrameLocks noGrp="1"/>
          </p:cNvGraphicFramePr>
          <p:nvPr>
            <p:extLst>
              <p:ext uri="{D42A27DB-BD31-4B8C-83A1-F6EECF244321}">
                <p14:modId xmlns:p14="http://schemas.microsoft.com/office/powerpoint/2010/main" val="1661640752"/>
              </p:ext>
            </p:extLst>
          </p:nvPr>
        </p:nvGraphicFramePr>
        <p:xfrm>
          <a:off x="3810000" y="1066800"/>
          <a:ext cx="3810000" cy="961814"/>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3680324092"/>
                    </a:ext>
                  </a:extLst>
                </a:gridCol>
                <a:gridCol w="952500">
                  <a:extLst>
                    <a:ext uri="{9D8B030D-6E8A-4147-A177-3AD203B41FA5}">
                      <a16:colId xmlns:a16="http://schemas.microsoft.com/office/drawing/2014/main" val="2785724141"/>
                    </a:ext>
                  </a:extLst>
                </a:gridCol>
                <a:gridCol w="952500">
                  <a:extLst>
                    <a:ext uri="{9D8B030D-6E8A-4147-A177-3AD203B41FA5}">
                      <a16:colId xmlns:a16="http://schemas.microsoft.com/office/drawing/2014/main" val="103471662"/>
                    </a:ext>
                  </a:extLst>
                </a:gridCol>
                <a:gridCol w="952500">
                  <a:extLst>
                    <a:ext uri="{9D8B030D-6E8A-4147-A177-3AD203B41FA5}">
                      <a16:colId xmlns:a16="http://schemas.microsoft.com/office/drawing/2014/main" val="1609130062"/>
                    </a:ext>
                  </a:extLst>
                </a:gridCol>
              </a:tblGrid>
              <a:tr h="480907">
                <a:tc>
                  <a:txBody>
                    <a:bodyPr/>
                    <a:lstStyle/>
                    <a:p>
                      <a:r>
                        <a:rPr lang="en-IN" dirty="0"/>
                        <a:t>Key</a:t>
                      </a:r>
                    </a:p>
                  </a:txBody>
                  <a:tcPr/>
                </a:tc>
                <a:tc>
                  <a:txBody>
                    <a:bodyPr/>
                    <a:lstStyle/>
                    <a:p>
                      <a:r>
                        <a:rPr lang="en-IN" dirty="0"/>
                        <a:t>Het</a:t>
                      </a:r>
                    </a:p>
                  </a:txBody>
                  <a:tcPr/>
                </a:tc>
                <a:tc>
                  <a:txBody>
                    <a:bodyPr/>
                    <a:lstStyle/>
                    <a:p>
                      <a:r>
                        <a:rPr lang="en-IN" dirty="0"/>
                        <a:t>Mona</a:t>
                      </a:r>
                    </a:p>
                  </a:txBody>
                  <a:tcPr/>
                </a:tc>
                <a:tc>
                  <a:txBody>
                    <a:bodyPr/>
                    <a:lstStyle/>
                    <a:p>
                      <a:r>
                        <a:rPr lang="en-IN" dirty="0" err="1"/>
                        <a:t>Rak</a:t>
                      </a:r>
                      <a:endParaRPr lang="en-IN" dirty="0"/>
                    </a:p>
                  </a:txBody>
                  <a:tcPr/>
                </a:tc>
                <a:extLst>
                  <a:ext uri="{0D108BD9-81ED-4DB2-BD59-A6C34878D82A}">
                    <a16:rowId xmlns:a16="http://schemas.microsoft.com/office/drawing/2014/main" val="68352264"/>
                  </a:ext>
                </a:extLst>
              </a:tr>
              <a:tr h="480907">
                <a:tc>
                  <a:txBody>
                    <a:bodyPr/>
                    <a:lstStyle/>
                    <a:p>
                      <a:r>
                        <a:rPr lang="en-IN" dirty="0"/>
                        <a:t>Value</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411424785"/>
                  </a:ext>
                </a:extLst>
              </a:tr>
            </a:tbl>
          </a:graphicData>
        </a:graphic>
      </p:graphicFrame>
      <p:cxnSp>
        <p:nvCxnSpPr>
          <p:cNvPr id="6" name="Straight Arrow Connector 5">
            <a:extLst>
              <a:ext uri="{FF2B5EF4-FFF2-40B4-BE49-F238E27FC236}">
                <a16:creationId xmlns:a16="http://schemas.microsoft.com/office/drawing/2014/main" id="{691BB514-B232-4E36-989E-2FFD51A1BAB3}"/>
              </a:ext>
            </a:extLst>
          </p:cNvPr>
          <p:cNvCxnSpPr/>
          <p:nvPr/>
        </p:nvCxnSpPr>
        <p:spPr>
          <a:xfrm>
            <a:off x="5105400" y="1828800"/>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BEB06BB-3270-4BD9-8180-1B8E9ACABEB9}"/>
              </a:ext>
            </a:extLst>
          </p:cNvPr>
          <p:cNvCxnSpPr/>
          <p:nvPr/>
        </p:nvCxnSpPr>
        <p:spPr>
          <a:xfrm>
            <a:off x="5943600" y="1682671"/>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DF81BA-0D99-46C2-A836-E8844807528A}"/>
              </a:ext>
            </a:extLst>
          </p:cNvPr>
          <p:cNvCxnSpPr/>
          <p:nvPr/>
        </p:nvCxnSpPr>
        <p:spPr>
          <a:xfrm>
            <a:off x="7080455" y="1921333"/>
            <a:ext cx="228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4B573B9-CC44-4773-9E60-4B0D351BA18C}"/>
              </a:ext>
            </a:extLst>
          </p:cNvPr>
          <p:cNvSpPr/>
          <p:nvPr/>
        </p:nvSpPr>
        <p:spPr>
          <a:xfrm>
            <a:off x="4775405" y="2790614"/>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Het</a:t>
            </a:r>
          </a:p>
          <a:p>
            <a:pPr algn="ctr"/>
            <a:r>
              <a:rPr lang="en-IN" dirty="0"/>
              <a:t>3000</a:t>
            </a:r>
          </a:p>
        </p:txBody>
      </p:sp>
      <p:sp>
        <p:nvSpPr>
          <p:cNvPr id="12" name="Rectangle 11">
            <a:extLst>
              <a:ext uri="{FF2B5EF4-FFF2-40B4-BE49-F238E27FC236}">
                <a16:creationId xmlns:a16="http://schemas.microsoft.com/office/drawing/2014/main" id="{EC699CAF-0920-44C0-921B-E066C8DD6C2F}"/>
              </a:ext>
            </a:extLst>
          </p:cNvPr>
          <p:cNvSpPr/>
          <p:nvPr/>
        </p:nvSpPr>
        <p:spPr>
          <a:xfrm>
            <a:off x="5943600" y="2677293"/>
            <a:ext cx="990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Mona</a:t>
            </a:r>
          </a:p>
          <a:p>
            <a:pPr algn="ctr"/>
            <a:r>
              <a:rPr lang="en-IN" dirty="0"/>
              <a:t>7000</a:t>
            </a:r>
          </a:p>
        </p:txBody>
      </p:sp>
      <p:sp>
        <p:nvSpPr>
          <p:cNvPr id="13" name="Rectangle 12">
            <a:extLst>
              <a:ext uri="{FF2B5EF4-FFF2-40B4-BE49-F238E27FC236}">
                <a16:creationId xmlns:a16="http://schemas.microsoft.com/office/drawing/2014/main" id="{B93B128B-8B09-4811-ABE9-7CB5477F4D32}"/>
              </a:ext>
            </a:extLst>
          </p:cNvPr>
          <p:cNvSpPr/>
          <p:nvPr/>
        </p:nvSpPr>
        <p:spPr>
          <a:xfrm>
            <a:off x="7162800" y="2790614"/>
            <a:ext cx="990600" cy="961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Raj</a:t>
            </a:r>
          </a:p>
          <a:p>
            <a:pPr algn="ctr"/>
            <a:r>
              <a:rPr lang="en-IN" dirty="0"/>
              <a:t>6000</a:t>
            </a:r>
          </a:p>
        </p:txBody>
      </p:sp>
    </p:spTree>
    <p:extLst>
      <p:ext uri="{BB962C8B-B14F-4D97-AF65-F5344CB8AC3E}">
        <p14:creationId xmlns:p14="http://schemas.microsoft.com/office/powerpoint/2010/main" val="2213465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78A2-E666-4AFC-84E5-8429530FE9FA}"/>
              </a:ext>
            </a:extLst>
          </p:cNvPr>
          <p:cNvSpPr>
            <a:spLocks noGrp="1"/>
          </p:cNvSpPr>
          <p:nvPr>
            <p:ph type="title"/>
          </p:nvPr>
        </p:nvSpPr>
        <p:spPr>
          <a:xfrm>
            <a:off x="2133600" y="21021"/>
            <a:ext cx="6553200" cy="563562"/>
          </a:xfrm>
        </p:spPr>
        <p:txBody>
          <a:bodyPr>
            <a:normAutofit fontScale="90000"/>
          </a:bodyPr>
          <a:lstStyle/>
          <a:p>
            <a:r>
              <a:rPr lang="en-IN" dirty="0"/>
              <a:t>Dictionary </a:t>
            </a:r>
          </a:p>
        </p:txBody>
      </p:sp>
      <p:sp>
        <p:nvSpPr>
          <p:cNvPr id="3" name="Content Placeholder 2">
            <a:extLst>
              <a:ext uri="{FF2B5EF4-FFF2-40B4-BE49-F238E27FC236}">
                <a16:creationId xmlns:a16="http://schemas.microsoft.com/office/drawing/2014/main" id="{BE357CE1-D4B1-4CEC-861A-CD3191AE46CC}"/>
              </a:ext>
            </a:extLst>
          </p:cNvPr>
          <p:cNvSpPr>
            <a:spLocks noGrp="1"/>
          </p:cNvSpPr>
          <p:nvPr>
            <p:ph idx="1"/>
          </p:nvPr>
        </p:nvSpPr>
        <p:spPr>
          <a:xfrm>
            <a:off x="0" y="584584"/>
            <a:ext cx="7086600" cy="5892416"/>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generic Dictionary&lt;TK, TV&gt; class. </a:t>
            </a:r>
            <a:endParaRPr lang="en-US"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GenDictionaryDemo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Dictionary that holds employee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names and their corresponding salaries.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dict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collection.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"Butler"</a:t>
            </a:r>
            <a:r>
              <a:rPr lang="en-IN" sz="1200" dirty="0">
                <a:solidFill>
                  <a:srgbClr val="000000"/>
                </a:solidFill>
                <a:highlight>
                  <a:srgbClr val="FFFFFF"/>
                </a:highlight>
                <a:latin typeface="Consolas" panose="020B0609020204030204" pitchFamily="49" charset="0"/>
              </a:rPr>
              <a:t>, 73000);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Sanoj</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59000);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Piku</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45000);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dict.Add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"Frank"</a:t>
            </a:r>
            <a:r>
              <a:rPr lang="en-IN" sz="1200" dirty="0">
                <a:solidFill>
                  <a:srgbClr val="000000"/>
                </a:solidFill>
                <a:highlight>
                  <a:srgbClr val="FFFFFF"/>
                </a:highlight>
                <a:latin typeface="Consolas" panose="020B0609020204030204" pitchFamily="49" charset="0"/>
              </a:rPr>
              <a:t>, 99000);</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a collection of the keys (names).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ICollection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c = </a:t>
            </a:r>
            <a:r>
              <a:rPr lang="en-US" sz="1200" dirty="0" err="1">
                <a:solidFill>
                  <a:srgbClr val="000000"/>
                </a:solidFill>
                <a:highlight>
                  <a:srgbClr val="FFFFFF"/>
                </a:highlight>
                <a:latin typeface="Consolas" panose="020B0609020204030204" pitchFamily="49" charset="0"/>
              </a:rPr>
              <a:t>dict.Keys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keys to obtain the values (</a:t>
            </a:r>
            <a:r>
              <a:rPr lang="en-US" sz="1200" dirty="0" err="1">
                <a:solidFill>
                  <a:srgbClr val="008000"/>
                </a:solidFill>
                <a:highlight>
                  <a:srgbClr val="FFFFFF"/>
                </a:highlight>
                <a:latin typeface="Consolas" panose="020B0609020204030204" pitchFamily="49" charset="0"/>
              </a:rPr>
              <a:t>salares</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Salary: {1:C}"</a:t>
            </a:r>
            <a:r>
              <a:rPr lang="en-IN" sz="1200" dirty="0">
                <a:solidFill>
                  <a:srgbClr val="000000"/>
                </a:solidFill>
                <a:highlight>
                  <a:srgbClr val="FFFFFF"/>
                </a:highlight>
                <a:latin typeface="Consolas" panose="020B0609020204030204" pitchFamily="49" charset="0"/>
              </a:rPr>
              <a:t>, str, </a:t>
            </a:r>
            <a:r>
              <a:rPr lang="en-IN" sz="1200" dirty="0" err="1">
                <a:solidFill>
                  <a:srgbClr val="000000"/>
                </a:solidFill>
                <a:highlight>
                  <a:srgbClr val="FFFFFF"/>
                </a:highlight>
                <a:latin typeface="Consolas" panose="020B0609020204030204" pitchFamily="49" charset="0"/>
              </a:rPr>
              <a:t>dict</a:t>
            </a:r>
            <a:r>
              <a:rPr lang="en-IN" sz="1200" dirty="0">
                <a:solidFill>
                  <a:srgbClr val="000000"/>
                </a:solidFill>
                <a:highlight>
                  <a:srgbClr val="FFFFFF"/>
                </a:highlight>
                <a:latin typeface="Consolas" panose="020B0609020204030204" pitchFamily="49" charset="0"/>
              </a:rPr>
              <a:t>[str]);</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42425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518F-4C9E-4C32-A6E7-429C693EB432}"/>
              </a:ext>
            </a:extLst>
          </p:cNvPr>
          <p:cNvSpPr>
            <a:spLocks noGrp="1"/>
          </p:cNvSpPr>
          <p:nvPr>
            <p:ph type="title"/>
          </p:nvPr>
        </p:nvSpPr>
        <p:spPr>
          <a:xfrm>
            <a:off x="4495800" y="0"/>
            <a:ext cx="4572000" cy="457200"/>
          </a:xfrm>
        </p:spPr>
        <p:txBody>
          <a:bodyPr>
            <a:normAutofit fontScale="90000"/>
          </a:bodyPr>
          <a:lstStyle/>
          <a:p>
            <a:r>
              <a:rPr lang="en-IN" dirty="0"/>
              <a:t>Sorted Dictionary</a:t>
            </a:r>
          </a:p>
        </p:txBody>
      </p:sp>
      <p:sp>
        <p:nvSpPr>
          <p:cNvPr id="3" name="Content Placeholder 2">
            <a:extLst>
              <a:ext uri="{FF2B5EF4-FFF2-40B4-BE49-F238E27FC236}">
                <a16:creationId xmlns:a16="http://schemas.microsoft.com/office/drawing/2014/main" id="{AC8A584C-2140-42CD-9016-B682D12ECA7F}"/>
              </a:ext>
            </a:extLst>
          </p:cNvPr>
          <p:cNvSpPr>
            <a:spLocks noGrp="1"/>
          </p:cNvSpPr>
          <p:nvPr>
            <p:ph idx="1"/>
          </p:nvPr>
        </p:nvSpPr>
        <p:spPr>
          <a:xfrm>
            <a:off x="0" y="304800"/>
            <a:ext cx="6858000" cy="68580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generic </a:t>
            </a:r>
            <a:r>
              <a:rPr lang="en-US" sz="1400" dirty="0" err="1">
                <a:solidFill>
                  <a:srgbClr val="008000"/>
                </a:solidFill>
                <a:highlight>
                  <a:srgbClr val="FFFFFF"/>
                </a:highlight>
                <a:latin typeface="Consolas" panose="020B0609020204030204" pitchFamily="49" charset="0"/>
              </a:rPr>
              <a:t>SortedDictionary</a:t>
            </a:r>
            <a:r>
              <a:rPr lang="en-US" sz="1400" dirty="0">
                <a:solidFill>
                  <a:srgbClr val="008000"/>
                </a:solidFill>
                <a:highlight>
                  <a:srgbClr val="FFFFFF"/>
                </a:highlight>
                <a:latin typeface="Consolas" panose="020B0609020204030204" pitchFamily="49" charset="0"/>
              </a:rPr>
              <a:t>&lt;TK, TV&gt;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GenSortedDictionaryDemo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Create a Dictionary that holds employee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names and their corresponding salaries.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SortedDictionary</a:t>
            </a:r>
            <a:r>
              <a:rPr lang="en-IN" sz="1400" dirty="0">
                <a:solidFill>
                  <a:srgbClr val="000000"/>
                </a:solidFill>
                <a:highlight>
                  <a:srgbClr val="FFFFFF"/>
                </a:highlight>
                <a:latin typeface="Consolas" panose="020B0609020204030204" pitchFamily="49" charset="0"/>
              </a:rPr>
              <a:t>&lt;</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collection.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dict.</a:t>
            </a:r>
            <a:r>
              <a:rPr lang="en-IN" sz="1400" dirty="0">
                <a:solidFill>
                  <a:srgbClr val="000000"/>
                </a:solidFill>
                <a:highlight>
                  <a:srgbClr val="FFFFFF"/>
                </a:highlight>
                <a:latin typeface="Consolas" panose="020B0609020204030204" pitchFamily="49" charset="0"/>
              </a:rPr>
              <a:t> Add(</a:t>
            </a:r>
            <a:r>
              <a:rPr lang="en-IN" sz="1400" dirty="0">
                <a:solidFill>
                  <a:srgbClr val="A31515"/>
                </a:solidFill>
                <a:highlight>
                  <a:srgbClr val="FFFFFF"/>
                </a:highlight>
                <a:latin typeface="Consolas" panose="020B0609020204030204" pitchFamily="49" charset="0"/>
              </a:rPr>
              <a:t>"Butler"</a:t>
            </a:r>
            <a:r>
              <a:rPr lang="en-IN" sz="1400" dirty="0">
                <a:solidFill>
                  <a:srgbClr val="000000"/>
                </a:solidFill>
                <a:highlight>
                  <a:srgbClr val="FFFFFF"/>
                </a:highlight>
                <a:latin typeface="Consolas" panose="020B0609020204030204" pitchFamily="49" charset="0"/>
              </a:rPr>
              <a:t>, 73000);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Sanoj</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59000);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Piku</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 45000);</a:t>
            </a:r>
          </a:p>
          <a:p>
            <a:pPr marL="0" indent="0">
              <a:buNone/>
            </a:pPr>
            <a:r>
              <a:rPr lang="en-IN"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.Add(</a:t>
            </a:r>
            <a:r>
              <a:rPr lang="en-IN" sz="1400" dirty="0">
                <a:solidFill>
                  <a:srgbClr val="A31515"/>
                </a:solidFill>
                <a:highlight>
                  <a:srgbClr val="FFFFFF"/>
                </a:highlight>
                <a:latin typeface="Consolas" panose="020B0609020204030204" pitchFamily="49" charset="0"/>
              </a:rPr>
              <a:t>"Frank"</a:t>
            </a:r>
            <a:r>
              <a:rPr lang="en-IN" sz="1400" dirty="0">
                <a:solidFill>
                  <a:srgbClr val="000000"/>
                </a:solidFill>
                <a:highlight>
                  <a:srgbClr val="FFFFFF"/>
                </a:highlight>
                <a:latin typeface="Consolas" panose="020B0609020204030204" pitchFamily="49" charset="0"/>
              </a:rPr>
              <a:t>, 99000);</a:t>
            </a:r>
            <a:r>
              <a:rPr lang="en-US" sz="1400" dirty="0">
                <a:solidFill>
                  <a:srgbClr val="000000"/>
                </a:solidFill>
                <a:highlight>
                  <a:srgbClr val="FFFFFF"/>
                </a:highlight>
                <a:latin typeface="Consolas" panose="020B0609020204030204" pitchFamily="49" charset="0"/>
              </a:rPr>
              <a:t> </a:t>
            </a:r>
          </a:p>
          <a:p>
            <a:pPr marL="0" indent="0">
              <a:buNone/>
            </a:pPr>
            <a:r>
              <a:rPr lang="en-US" sz="1400" dirty="0">
                <a:solidFill>
                  <a:srgbClr val="008000"/>
                </a:solidFill>
                <a:highlight>
                  <a:srgbClr val="FFFFFF"/>
                </a:highlight>
                <a:latin typeface="Consolas" panose="020B0609020204030204" pitchFamily="49" charset="0"/>
              </a:rPr>
              <a:t>// Get a collection of the keys (names).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ICollection</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c = </a:t>
            </a:r>
            <a:r>
              <a:rPr lang="en-US" sz="1400" dirty="0" err="1">
                <a:solidFill>
                  <a:srgbClr val="000000"/>
                </a:solidFill>
                <a:highlight>
                  <a:srgbClr val="FFFFFF"/>
                </a:highlight>
                <a:latin typeface="Consolas" panose="020B0609020204030204" pitchFamily="49" charset="0"/>
              </a:rPr>
              <a:t>dict.Keys</a:t>
            </a:r>
            <a:r>
              <a:rPr lang="en-US"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Use the keys to obtain the values (</a:t>
            </a:r>
            <a:r>
              <a:rPr lang="en-US" sz="1400" dirty="0" err="1">
                <a:solidFill>
                  <a:srgbClr val="008000"/>
                </a:solidFill>
                <a:highlight>
                  <a:srgbClr val="FFFFFF"/>
                </a:highlight>
                <a:latin typeface="Consolas" panose="020B0609020204030204" pitchFamily="49" charset="0"/>
              </a:rPr>
              <a:t>salares</a:t>
            </a:r>
            <a:r>
              <a:rPr lang="en-US" sz="1400" dirty="0">
                <a:solidFill>
                  <a:srgbClr val="008000"/>
                </a:solidFill>
                <a:highlight>
                  <a:srgbClr val="FFFFFF"/>
                </a:highlight>
                <a:latin typeface="Consolas" panose="020B0609020204030204" pitchFamily="49" charset="0"/>
              </a:rPr>
              <a:t>).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c)</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"{0}, Salary: {1:C}"</a:t>
            </a:r>
            <a:r>
              <a:rPr lang="en-IN" sz="1400" dirty="0">
                <a:solidFill>
                  <a:srgbClr val="000000"/>
                </a:solidFill>
                <a:highlight>
                  <a:srgbClr val="FFFFFF"/>
                </a:highlight>
                <a:latin typeface="Consolas" panose="020B0609020204030204" pitchFamily="49" charset="0"/>
              </a:rPr>
              <a:t>, str, </a:t>
            </a:r>
            <a:r>
              <a:rPr lang="en-IN" sz="1400" dirty="0" err="1">
                <a:solidFill>
                  <a:srgbClr val="000000"/>
                </a:solidFill>
                <a:highlight>
                  <a:srgbClr val="FFFFFF"/>
                </a:highlight>
                <a:latin typeface="Consolas" panose="020B0609020204030204" pitchFamily="49" charset="0"/>
              </a:rPr>
              <a:t>dict</a:t>
            </a:r>
            <a:r>
              <a:rPr lang="en-IN" sz="1400" dirty="0">
                <a:solidFill>
                  <a:srgbClr val="000000"/>
                </a:solidFill>
                <a:highlight>
                  <a:srgbClr val="FFFFFF"/>
                </a:highlight>
                <a:latin typeface="Consolas" panose="020B0609020204030204" pitchFamily="49" charset="0"/>
              </a:rPr>
              <a:t>[str]);</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p>
        </p:txBody>
      </p:sp>
    </p:spTree>
    <p:extLst>
      <p:ext uri="{BB962C8B-B14F-4D97-AF65-F5344CB8AC3E}">
        <p14:creationId xmlns:p14="http://schemas.microsoft.com/office/powerpoint/2010/main" val="160479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28600" y="1143000"/>
            <a:ext cx="8458200" cy="4983163"/>
          </a:xfrm>
        </p:spPr>
        <p:txBody>
          <a:bodyPr>
            <a:normAutofit/>
          </a:bodyPr>
          <a:lstStyle/>
          <a:p>
            <a:r>
              <a:rPr lang="en-US" sz="2400" b="0" i="0" dirty="0">
                <a:effectLst/>
                <a:latin typeface="+mj-lt"/>
              </a:rPr>
              <a:t>In C#, is an unordered collection </a:t>
            </a:r>
            <a:r>
              <a:rPr lang="en-US" sz="2400" b="1" i="0" dirty="0">
                <a:effectLst/>
                <a:latin typeface="+mj-lt"/>
              </a:rPr>
              <a:t>of unique </a:t>
            </a:r>
            <a:r>
              <a:rPr lang="en-US" sz="2400" b="0" i="0" dirty="0">
                <a:effectLst/>
                <a:latin typeface="+mj-lt"/>
              </a:rPr>
              <a:t>elements. </a:t>
            </a:r>
          </a:p>
          <a:p>
            <a:r>
              <a:rPr lang="en-US" sz="2400" b="0" i="0" dirty="0">
                <a:effectLst/>
                <a:latin typeface="+mj-lt"/>
              </a:rPr>
              <a:t>This collection is introduced in </a:t>
            </a:r>
            <a:r>
              <a:rPr lang="en-US" sz="2400" b="0" i="1" dirty="0">
                <a:effectLst/>
                <a:latin typeface="+mj-lt"/>
              </a:rPr>
              <a:t>.NET 3.5</a:t>
            </a:r>
            <a:r>
              <a:rPr lang="en-US" sz="2400" b="0" i="0" dirty="0">
                <a:effectLst/>
                <a:latin typeface="+mj-lt"/>
              </a:rPr>
              <a:t>.</a:t>
            </a:r>
          </a:p>
          <a:p>
            <a:r>
              <a:rPr lang="en-US" sz="2400" b="0" i="0" dirty="0">
                <a:effectLst/>
                <a:latin typeface="+mj-lt"/>
              </a:rPr>
              <a:t> It supports the implementation of sets and uses the hash table for storage. </a:t>
            </a:r>
          </a:p>
          <a:p>
            <a:r>
              <a:rPr lang="en-US" sz="2400" b="0" i="0" dirty="0">
                <a:effectLst/>
                <a:latin typeface="+mj-lt"/>
              </a:rPr>
              <a:t>This collection is of the generic type collection and it is defined under </a:t>
            </a:r>
            <a:r>
              <a:rPr lang="en-US" sz="2400" b="0" i="1" dirty="0" err="1">
                <a:effectLst/>
                <a:latin typeface="+mj-lt"/>
              </a:rPr>
              <a:t>System.Collections.Generic</a:t>
            </a:r>
            <a:r>
              <a:rPr lang="en-US" sz="2400" b="0" i="0" dirty="0">
                <a:effectLst/>
                <a:latin typeface="+mj-lt"/>
              </a:rPr>
              <a:t> namespace.</a:t>
            </a:r>
          </a:p>
          <a:p>
            <a:r>
              <a:rPr lang="en-US" sz="2400" b="0" i="0" dirty="0">
                <a:effectLst/>
                <a:latin typeface="+mj-lt"/>
              </a:rPr>
              <a:t> It is generally used when we want to prevent duplicate elements from being placed in the collection. </a:t>
            </a:r>
          </a:p>
          <a:p>
            <a:r>
              <a:rPr lang="en-US" sz="2400" b="0" i="0" dirty="0">
                <a:effectLst/>
                <a:latin typeface="+mj-lt"/>
              </a:rPr>
              <a:t>The performance of the HashSet is much better in comparison to the list.</a:t>
            </a:r>
            <a:endParaRPr lang="en-IN" sz="2400" dirty="0">
              <a:latin typeface="+mj-lt"/>
            </a:endParaRPr>
          </a:p>
        </p:txBody>
      </p:sp>
    </p:spTree>
    <p:extLst>
      <p:ext uri="{BB962C8B-B14F-4D97-AF65-F5344CB8AC3E}">
        <p14:creationId xmlns:p14="http://schemas.microsoft.com/office/powerpoint/2010/main" val="88438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6096000" y="-76200"/>
            <a:ext cx="2590800" cy="685800"/>
          </a:xfrm>
        </p:spPr>
        <p:txBody>
          <a:bodyPr>
            <a:normAutofit fontScale="90000"/>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5078" y="0"/>
            <a:ext cx="9473878" cy="70104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 </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collectiondata</a:t>
            </a: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Main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 </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 Creating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HashSet class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myhash</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&gt;(); </a:t>
            </a:r>
          </a:p>
          <a:p>
            <a:pPr marL="0" indent="0">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the elements in HashSet</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Add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"Java"</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"Php"</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After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Remove element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Remove method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myhash.Remove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"Ruby"</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Before using Remove method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myhash.RemoveWhere</a:t>
            </a:r>
            <a:r>
              <a:rPr lang="en-US" sz="1400" dirty="0">
                <a:solidFill>
                  <a:srgbClr val="000000"/>
                </a:solidFill>
                <a:highlight>
                  <a:srgbClr val="FFFFFF"/>
                </a:highlight>
                <a:latin typeface="Consolas" panose="020B0609020204030204" pitchFamily="49" charset="0"/>
              </a:rPr>
              <a:t>(data =&gt; </a:t>
            </a:r>
            <a:r>
              <a:rPr lang="en-US" sz="1400" dirty="0" err="1">
                <a:solidFill>
                  <a:srgbClr val="000000"/>
                </a:solidFill>
                <a:highlight>
                  <a:srgbClr val="FFFFFF"/>
                </a:highlight>
                <a:latin typeface="Consolas" panose="020B0609020204030204" pitchFamily="49" charset="0"/>
              </a:rPr>
              <a:t>data.StartsWith</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"C"</a:t>
            </a:r>
            <a:r>
              <a:rPr lang="en-US" sz="1400" dirty="0">
                <a:solidFill>
                  <a:srgbClr val="000000"/>
                </a:solidFill>
                <a:highlight>
                  <a:srgbClr val="FFFFFF"/>
                </a:highlight>
                <a:latin typeface="Consolas" panose="020B0609020204030204" pitchFamily="49" charset="0"/>
              </a:rPr>
              <a:t>));</a:t>
            </a:r>
          </a:p>
          <a:p>
            <a:pPr marL="0" indent="0">
              <a:buNone/>
            </a:pP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foreach</a:t>
            </a:r>
            <a:r>
              <a:rPr lang="sv-SE" sz="1400" dirty="0">
                <a:solidFill>
                  <a:srgbClr val="000000"/>
                </a:solidFill>
                <a:highlight>
                  <a:srgbClr val="FFFFFF"/>
                </a:highlight>
                <a:latin typeface="Consolas" panose="020B0609020204030204" pitchFamily="49" charset="0"/>
              </a:rPr>
              <a:t> (</a:t>
            </a:r>
            <a:r>
              <a:rPr lang="sv-SE" sz="1400" dirty="0">
                <a:solidFill>
                  <a:srgbClr val="0000FF"/>
                </a:solidFill>
                <a:highlight>
                  <a:srgbClr val="FFFFFF"/>
                </a:highlight>
                <a:latin typeface="Consolas" panose="020B0609020204030204" pitchFamily="49" charset="0"/>
              </a:rPr>
              <a:t>var</a:t>
            </a:r>
            <a:r>
              <a:rPr lang="sv-SE" sz="1400" dirty="0">
                <a:solidFill>
                  <a:srgbClr val="000000"/>
                </a:solidFill>
                <a:highlight>
                  <a:srgbClr val="FFFFFF"/>
                </a:highlight>
                <a:latin typeface="Consolas" panose="020B0609020204030204" pitchFamily="49" charset="0"/>
              </a:rPr>
              <a:t> valu </a:t>
            </a:r>
            <a:r>
              <a:rPr lang="sv-SE" sz="1400" dirty="0">
                <a:solidFill>
                  <a:srgbClr val="0000FF"/>
                </a:solidFill>
                <a:highlight>
                  <a:srgbClr val="FFFFFF"/>
                </a:highlight>
                <a:latin typeface="Consolas" panose="020B0609020204030204" pitchFamily="49" charset="0"/>
              </a:rPr>
              <a:t>in</a:t>
            </a:r>
            <a:r>
              <a:rPr lang="sv-SE" sz="1400" dirty="0">
                <a:solidFill>
                  <a:srgbClr val="000000"/>
                </a:solidFill>
                <a:highlight>
                  <a:srgbClr val="FFFFFF"/>
                </a:highlight>
                <a:latin typeface="Consolas" panose="020B0609020204030204" pitchFamily="49" charset="0"/>
              </a:rPr>
              <a:t> myhash)</a:t>
            </a:r>
          </a:p>
          <a:p>
            <a:pPr marL="0" indent="0">
              <a:buNone/>
            </a:pP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valu</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 </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Remove all elements from HashSet </a:t>
            </a: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Using Clear method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myhash.Clear</a:t>
            </a: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"Total number of elements present"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 </a:t>
            </a:r>
            <a:r>
              <a:rPr lang="en-US" sz="1400" dirty="0" err="1">
                <a:solidFill>
                  <a:srgbClr val="A31515"/>
                </a:solidFill>
                <a:highlight>
                  <a:srgbClr val="FFFFFF"/>
                </a:highlight>
                <a:latin typeface="Consolas" panose="020B0609020204030204" pitchFamily="49" charset="0"/>
              </a:rPr>
              <a:t>myhash</a:t>
            </a:r>
            <a:r>
              <a:rPr lang="en-US" sz="1400" dirty="0">
                <a:solidFill>
                  <a:srgbClr val="A31515"/>
                </a:solidFill>
                <a:highlight>
                  <a:srgbClr val="FFFFFF"/>
                </a:highlight>
                <a:latin typeface="Consolas" panose="020B0609020204030204" pitchFamily="49" charset="0"/>
              </a:rPr>
              <a:t>:{0}"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myhash.Count</a:t>
            </a:r>
            <a:r>
              <a:rPr lang="en-US" sz="1400" dirty="0">
                <a:solidFill>
                  <a:srgbClr val="000000"/>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b="0" i="0" dirty="0">
                <a:effectLst/>
                <a:latin typeface="+mj-lt"/>
              </a:rPr>
              <a:t>.</a:t>
            </a:r>
            <a:endParaRPr lang="en-IN" sz="1400" dirty="0">
              <a:latin typeface="+mj-lt"/>
            </a:endParaRPr>
          </a:p>
        </p:txBody>
      </p:sp>
    </p:spTree>
    <p:extLst>
      <p:ext uri="{BB962C8B-B14F-4D97-AF65-F5344CB8AC3E}">
        <p14:creationId xmlns:p14="http://schemas.microsoft.com/office/powerpoint/2010/main" val="2026372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133600" y="-40747"/>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4419600" cy="6781800"/>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Demonstrate the HashSet&lt;T&gt; class.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HashSetDemo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Show(</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msg,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set)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msg</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set)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setB.Add</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"Initial content of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setB</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setA.SymmetricExceptWith</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setB</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Show(</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setA</a:t>
            </a:r>
            <a:r>
              <a:rPr lang="en-US" sz="1200" dirty="0">
                <a:solidFill>
                  <a:srgbClr val="A31515"/>
                </a:solidFill>
                <a:highlight>
                  <a:srgbClr val="FFFFFF"/>
                </a:highlight>
                <a:latin typeface="Consolas" panose="020B0609020204030204" pitchFamily="49" charset="0"/>
              </a:rPr>
              <a:t> after Symmetric difference with </a:t>
            </a:r>
            <a:r>
              <a:rPr lang="en-US" sz="1200" dirty="0" err="1">
                <a:solidFill>
                  <a:srgbClr val="A31515"/>
                </a:solidFill>
                <a:highlight>
                  <a:srgbClr val="FFFFFF"/>
                </a:highlight>
                <a:latin typeface="Consolas" panose="020B0609020204030204" pitchFamily="49" charset="0"/>
              </a:rPr>
              <a:t>SetB</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setA</a:t>
            </a:r>
            <a:r>
              <a:rPr lang="en-US" sz="1200" dirty="0">
                <a:solidFill>
                  <a:srgbClr val="000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267200" y="-40747"/>
            <a:ext cx="4876800"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157DEC"/>
                </a:solidFill>
                <a:effectLst/>
                <a:latin typeface="Georgia" panose="02040502050405020303" pitchFamily="18" charset="0"/>
                <a:ea typeface="Times New Roman" panose="02020603050405020304" pitchFamily="18" charset="0"/>
              </a:rPr>
              <a:t>Example to find the symmetric difference using Venn diagram:</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If A = {1, 2, 3, 4, 5, 6, 7, 8} and</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{1, 3, 5, 6, 7, 8, 9}, </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endParaRPr lang="en-US" altLang="en-US" sz="1200" dirty="0">
              <a:latin typeface="Arial" panose="020B0604020202020204" pitchFamily="34" charset="0"/>
              <a:ea typeface="Times New Roman" panose="02020603050405020304" pitchFamily="18"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then A – B = {2, 4}, B – A = {9} and A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 = {2, 4, 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2" descr="Symmetric Difference Venn Diagram">
            <a:extLst>
              <a:ext uri="{FF2B5EF4-FFF2-40B4-BE49-F238E27FC236}">
                <a16:creationId xmlns:a16="http://schemas.microsoft.com/office/drawing/2014/main" id="{B79B71C8-2F5A-4717-A2A5-1329984CC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966788"/>
            <a:ext cx="4923784" cy="414749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91176"/>
            <a:ext cx="358490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Therefore, the shaded part of the Venn diagram represents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 </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Cambria Math" panose="02040503050406030204" pitchFamily="18" charset="0"/>
              </a:rPr>
              <a:t>△</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B = {2, 4, 9}.</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859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371600" y="1295400"/>
            <a:ext cx="2667000" cy="2438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A,B </a:t>
            </a:r>
            <a:endParaRPr lang="en-IN" dirty="0"/>
          </a:p>
        </p:txBody>
      </p:sp>
      <p:sp>
        <p:nvSpPr>
          <p:cNvPr id="5" name="Oval 4"/>
          <p:cNvSpPr/>
          <p:nvPr/>
        </p:nvSpPr>
        <p:spPr>
          <a:xfrm>
            <a:off x="3352800" y="1409700"/>
            <a:ext cx="3048000" cy="2209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       D      E    </a:t>
            </a:r>
            <a:endParaRPr lang="en-IN" dirty="0"/>
          </a:p>
        </p:txBody>
      </p:sp>
      <p:cxnSp>
        <p:nvCxnSpPr>
          <p:cNvPr id="7" name="Straight Arrow Connector 6"/>
          <p:cNvCxnSpPr/>
          <p:nvPr/>
        </p:nvCxnSpPr>
        <p:spPr>
          <a:xfrm flipV="1">
            <a:off x="738188" y="2819400"/>
            <a:ext cx="685800" cy="15240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1752600" y="3886200"/>
            <a:ext cx="2057400" cy="1981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B D E</a:t>
            </a:r>
            <a:endParaRPr lang="en-IN" dirty="0"/>
          </a:p>
        </p:txBody>
      </p:sp>
      <p:sp>
        <p:nvSpPr>
          <p:cNvPr id="10" name="TextBox 9"/>
          <p:cNvSpPr txBox="1"/>
          <p:nvPr/>
        </p:nvSpPr>
        <p:spPr>
          <a:xfrm>
            <a:off x="-47625" y="2895600"/>
            <a:ext cx="1752600" cy="381000"/>
          </a:xfrm>
          <a:prstGeom prst="rect">
            <a:avLst/>
          </a:prstGeom>
          <a:noFill/>
        </p:spPr>
        <p:txBody>
          <a:bodyPr wrap="square" rtlCol="0">
            <a:spAutoFit/>
          </a:bodyPr>
          <a:lstStyle/>
          <a:p>
            <a:r>
              <a:rPr lang="en-US" dirty="0"/>
              <a:t>Set A</a:t>
            </a:r>
            <a:endParaRPr lang="en-IN" dirty="0"/>
          </a:p>
        </p:txBody>
      </p:sp>
      <p:sp>
        <p:nvSpPr>
          <p:cNvPr id="14" name="TextBox 13"/>
          <p:cNvSpPr txBox="1"/>
          <p:nvPr/>
        </p:nvSpPr>
        <p:spPr>
          <a:xfrm>
            <a:off x="6629400" y="1676400"/>
            <a:ext cx="1524000" cy="381000"/>
          </a:xfrm>
          <a:prstGeom prst="rect">
            <a:avLst/>
          </a:prstGeom>
          <a:noFill/>
        </p:spPr>
        <p:txBody>
          <a:bodyPr wrap="square" rtlCol="0">
            <a:spAutoFit/>
          </a:bodyPr>
          <a:lstStyle/>
          <a:p>
            <a:r>
              <a:rPr lang="en-US" dirty="0" err="1"/>
              <a:t>setB</a:t>
            </a:r>
            <a:endParaRPr lang="en-IN" dirty="0"/>
          </a:p>
        </p:txBody>
      </p:sp>
      <p:cxnSp>
        <p:nvCxnSpPr>
          <p:cNvPr id="16" name="Straight Arrow Connector 15"/>
          <p:cNvCxnSpPr/>
          <p:nvPr/>
        </p:nvCxnSpPr>
        <p:spPr>
          <a:xfrm flipH="1">
            <a:off x="6477000" y="20574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33400" y="3276600"/>
            <a:ext cx="1295400"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399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7818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setA.UnionWith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union with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64380" y="202967"/>
            <a:ext cx="5341619" cy="197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4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examples of union of sets using Venn diagram: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If A = {2, 5, 7} and   B = {1, 2, 5, 8}.</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Find A U B using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a:t>
            </a: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Solution: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According to the given question we know, </a:t>
            </a: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 = {2, 5, 7} and    B = {1, 2, 5, 8}</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Now let’s draw the </a:t>
            </a:r>
            <a:r>
              <a:rPr lang="en-IN" sz="1400" dirty="0" err="1">
                <a:effectLst/>
                <a:latin typeface="Times New Roman" panose="02020603050405020304" pitchFamily="18" charset="0"/>
                <a:ea typeface="Times New Roman" panose="02020603050405020304" pitchFamily="18" charset="0"/>
                <a:cs typeface="Times New Roman" panose="02020603050405020304" pitchFamily="18" charset="0"/>
              </a:rPr>
              <a:t>venn</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diagram to find A union B.</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4724402" y="4960398"/>
            <a:ext cx="3584905"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Therefore, from the Venn diagram we get A U B = {1, 2, 5, 7, 8}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descr="Union using Venn Diagram">
            <a:extLst>
              <a:ext uri="{FF2B5EF4-FFF2-40B4-BE49-F238E27FC236}">
                <a16:creationId xmlns:a16="http://schemas.microsoft.com/office/drawing/2014/main" id="{864C41FC-7B12-4F6F-B155-5AA94DAFA89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90356" y="2161712"/>
            <a:ext cx="3345338" cy="2934267"/>
          </a:xfrm>
          <a:prstGeom prst="rect">
            <a:avLst/>
          </a:prstGeom>
          <a:noFill/>
          <a:ln>
            <a:noFill/>
          </a:ln>
        </p:spPr>
      </p:pic>
    </p:spTree>
    <p:extLst>
      <p:ext uri="{BB962C8B-B14F-4D97-AF65-F5344CB8AC3E}">
        <p14:creationId xmlns:p14="http://schemas.microsoft.com/office/powerpoint/2010/main" val="3538779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9526-7994-4780-9723-87CDF9109D7F}"/>
              </a:ext>
            </a:extLst>
          </p:cNvPr>
          <p:cNvSpPr>
            <a:spLocks noGrp="1"/>
          </p:cNvSpPr>
          <p:nvPr>
            <p:ph type="title"/>
          </p:nvPr>
        </p:nvSpPr>
        <p:spPr>
          <a:xfrm>
            <a:off x="2590577" y="108092"/>
            <a:ext cx="2739695" cy="45719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D0A1F214-5E93-4056-81D2-3021078CD911}"/>
              </a:ext>
            </a:extLst>
          </p:cNvPr>
          <p:cNvSpPr>
            <a:spLocks noGrp="1"/>
          </p:cNvSpPr>
          <p:nvPr>
            <p:ph idx="1"/>
          </p:nvPr>
        </p:nvSpPr>
        <p:spPr>
          <a:xfrm>
            <a:off x="0" y="76200"/>
            <a:ext cx="5029200" cy="6934200"/>
          </a:xfrm>
        </p:spPr>
        <p:txBody>
          <a:bodyPr>
            <a:noAutofit/>
          </a:bodyPr>
          <a:lstStyle/>
          <a:p>
            <a:pPr marL="0" indent="0">
              <a:spcBef>
                <a:spcPts val="0"/>
              </a:spcBef>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HashSet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'A'</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setB.Add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'E'</a:t>
            </a: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setB</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setA.ExceptWith</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setB</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after subtracting </a:t>
            </a:r>
            <a:r>
              <a:rPr lang="en-US" sz="1400" dirty="0" err="1">
                <a:solidFill>
                  <a:srgbClr val="A31515"/>
                </a:solidFill>
                <a:highlight>
                  <a:srgbClr val="FFFFFF"/>
                </a:highlight>
                <a:latin typeface="Consolas" panose="020B0609020204030204" pitchFamily="49" charset="0"/>
              </a:rPr>
              <a:t>setB</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1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solidFill>
                <a:srgbClr val="000000"/>
              </a:solidFill>
              <a:highlight>
                <a:srgbClr val="FFFFFF"/>
              </a:highlight>
              <a:latin typeface="Consolas" panose="020B0609020204030204" pitchFamily="49" charset="0"/>
            </a:endParaRPr>
          </a:p>
          <a:p>
            <a:pPr marL="0" indent="0">
              <a:spcBef>
                <a:spcPts val="0"/>
              </a:spcBef>
              <a:buNone/>
            </a:pPr>
            <a:endParaRPr lang="en-IN" sz="900" dirty="0"/>
          </a:p>
        </p:txBody>
      </p:sp>
      <p:sp>
        <p:nvSpPr>
          <p:cNvPr id="4" name="Rectangle 2">
            <a:extLst>
              <a:ext uri="{FF2B5EF4-FFF2-40B4-BE49-F238E27FC236}">
                <a16:creationId xmlns:a16="http://schemas.microsoft.com/office/drawing/2014/main" id="{2865EA89-8BCB-4820-9035-F268518641D0}"/>
              </a:ext>
            </a:extLst>
          </p:cNvPr>
          <p:cNvSpPr>
            <a:spLocks noChangeArrowheads="1"/>
          </p:cNvSpPr>
          <p:nvPr/>
        </p:nvSpPr>
        <p:spPr bwMode="auto">
          <a:xfrm>
            <a:off x="4572000" y="76200"/>
            <a:ext cx="5417820" cy="289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IN" sz="1800" dirty="0">
                <a:solidFill>
                  <a:srgbClr val="157DEC"/>
                </a:solidFill>
                <a:effectLst/>
                <a:latin typeface="Georgia" panose="02040502050405020303" pitchFamily="18" charset="0"/>
                <a:ea typeface="Times New Roman" panose="02020603050405020304" pitchFamily="18" charset="0"/>
                <a:cs typeface="Times New Roman" panose="02020603050405020304" pitchFamily="18" charset="0"/>
              </a:rPr>
              <a:t>Solved example to find the difference of sets using Venn diagram: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If A = {2, 3, 4, 5, 6, 7} and B = {3, 5, 7, 9, 11, 13}, then find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and (ii) B – 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According</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the given statement; </a:t>
            </a:r>
          </a:p>
          <a:p>
            <a:pP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 = {2, 3, 4, 5, 6, 7} and B = {3, 5, 7, 9, 11, 13}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b="1"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 – B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023880A-04BC-4714-BF9C-68899EE273A4}"/>
              </a:ext>
            </a:extLst>
          </p:cNvPr>
          <p:cNvSpPr>
            <a:spLocks noChangeArrowheads="1"/>
          </p:cNvSpPr>
          <p:nvPr/>
        </p:nvSpPr>
        <p:spPr bwMode="auto">
          <a:xfrm>
            <a:off x="5559095" y="5095979"/>
            <a:ext cx="358490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{2, 4, 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descr="Difference of Sets">
            <a:extLst>
              <a:ext uri="{FF2B5EF4-FFF2-40B4-BE49-F238E27FC236}">
                <a16:creationId xmlns:a16="http://schemas.microsoft.com/office/drawing/2014/main" id="{86D1F180-1F0A-4456-BC1C-C25881F4DFC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91200" y="2615648"/>
            <a:ext cx="2735580" cy="2545080"/>
          </a:xfrm>
          <a:prstGeom prst="rect">
            <a:avLst/>
          </a:prstGeom>
          <a:noFill/>
          <a:ln>
            <a:noFill/>
          </a:ln>
        </p:spPr>
      </p:pic>
    </p:spTree>
    <p:extLst>
      <p:ext uri="{BB962C8B-B14F-4D97-AF65-F5344CB8AC3E}">
        <p14:creationId xmlns:p14="http://schemas.microsoft.com/office/powerpoint/2010/main" val="3246329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DC1539-B31A-3D46-60EC-B717849CA21A}"/>
              </a:ext>
            </a:extLst>
          </p:cNvPr>
          <p:cNvSpPr txBox="1"/>
          <p:nvPr/>
        </p:nvSpPr>
        <p:spPr>
          <a:xfrm>
            <a:off x="152400" y="685800"/>
            <a:ext cx="6096000" cy="5216813"/>
          </a:xfrm>
          <a:prstGeom prst="rect">
            <a:avLst/>
          </a:prstGeom>
          <a:noFill/>
        </p:spPr>
        <p:txBody>
          <a:bodyPr wrap="square">
            <a:spAutoFit/>
          </a:bodyPr>
          <a:lstStyle/>
          <a:p>
            <a:r>
              <a:rPr lang="en-US" sz="900" dirty="0">
                <a:solidFill>
                  <a:srgbClr val="008000"/>
                </a:solidFill>
                <a:latin typeface="Cascadia Mono" panose="020B0609020000020004" pitchFamily="49" charset="0"/>
              </a:rPr>
              <a:t>// Demonstrate the HashSet&lt;T&gt; class.  </a:t>
            </a:r>
            <a:endParaRPr lang="en-US"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HashSetDemo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Show(</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msg,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set)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msg</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ch</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set)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ch</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 "</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HashSet&lt;</a:t>
            </a:r>
            <a:r>
              <a:rPr lang="en-US" sz="900" dirty="0">
                <a:solidFill>
                  <a:srgbClr val="0000FF"/>
                </a:solidFill>
                <a:latin typeface="Cascadia Mono" panose="020B0609020000020004" pitchFamily="49" charset="0"/>
              </a:rPr>
              <a:t>char</a:t>
            </a:r>
            <a:r>
              <a:rPr lang="en-US" sz="900" dirty="0">
                <a:solidFill>
                  <a:srgbClr val="000000"/>
                </a:solidFill>
                <a:latin typeface="Cascadia Mono" panose="020B0609020000020004" pitchFamily="49" charset="0"/>
              </a:rPr>
              <a:t>&gt;();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'B'</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setB.Add</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"Initial content of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setB</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setA.IntersectWith</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setB</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Show(</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setA</a:t>
            </a:r>
            <a:r>
              <a:rPr lang="en-US" sz="900" dirty="0">
                <a:solidFill>
                  <a:srgbClr val="A31515"/>
                </a:solidFill>
                <a:latin typeface="Cascadia Mono" panose="020B0609020000020004" pitchFamily="49" charset="0"/>
              </a:rPr>
              <a:t> after </a:t>
            </a:r>
            <a:r>
              <a:rPr lang="en-IN" sz="1800" dirty="0" err="1">
                <a:solidFill>
                  <a:srgbClr val="A31515"/>
                </a:solidFill>
                <a:latin typeface="Cascadia Mono" panose="020B0609020000020004" pitchFamily="49" charset="0"/>
              </a:rPr>
              <a:t>IntersectWith</a:t>
            </a:r>
            <a:r>
              <a:rPr lang="en-US" sz="900" dirty="0">
                <a:solidFill>
                  <a:srgbClr val="A31515"/>
                </a:solidFill>
                <a:latin typeface="Cascadia Mono" panose="020B0609020000020004" pitchFamily="49" charset="0"/>
              </a:rPr>
              <a:t> </a:t>
            </a:r>
            <a:r>
              <a:rPr lang="en-US" sz="900" dirty="0" err="1">
                <a:solidFill>
                  <a:srgbClr val="A31515"/>
                </a:solidFill>
                <a:latin typeface="Cascadia Mono" panose="020B0609020000020004" pitchFamily="49" charset="0"/>
              </a:rPr>
              <a:t>setB</a:t>
            </a:r>
            <a:r>
              <a:rPr lang="en-US" sz="900" dirty="0">
                <a:solidFill>
                  <a:srgbClr val="A31515"/>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setA</a:t>
            </a:r>
            <a:r>
              <a:rPr lang="en-US" sz="900" dirty="0">
                <a:solidFill>
                  <a:srgbClr val="000000"/>
                </a:solidFill>
                <a:latin typeface="Cascadia Mono" panose="020B0609020000020004" pitchFamily="49" charset="0"/>
              </a:rPr>
              <a:t>); //C</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394194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EA3F-CA96-48DE-9B5C-3779E35E5847}"/>
              </a:ext>
            </a:extLst>
          </p:cNvPr>
          <p:cNvSpPr>
            <a:spLocks noGrp="1"/>
          </p:cNvSpPr>
          <p:nvPr>
            <p:ph type="title"/>
          </p:nvPr>
        </p:nvSpPr>
        <p:spPr>
          <a:xfrm>
            <a:off x="1828800" y="274638"/>
            <a:ext cx="6858000" cy="258762"/>
          </a:xfrm>
        </p:spPr>
        <p:txBody>
          <a:bodyPr>
            <a:normAutofit fontScale="90000"/>
          </a:bodyPr>
          <a:lstStyle/>
          <a:p>
            <a:r>
              <a:rPr lang="en-IN" dirty="0"/>
              <a:t>Sorted set</a:t>
            </a:r>
          </a:p>
        </p:txBody>
      </p:sp>
      <p:sp>
        <p:nvSpPr>
          <p:cNvPr id="3" name="Content Placeholder 2">
            <a:extLst>
              <a:ext uri="{FF2B5EF4-FFF2-40B4-BE49-F238E27FC236}">
                <a16:creationId xmlns:a16="http://schemas.microsoft.com/office/drawing/2014/main" id="{B8FE1384-C011-4CC3-90E6-5D3E70AAF258}"/>
              </a:ext>
            </a:extLst>
          </p:cNvPr>
          <p:cNvSpPr>
            <a:spLocks noGrp="1"/>
          </p:cNvSpPr>
          <p:nvPr>
            <p:ph idx="1"/>
          </p:nvPr>
        </p:nvSpPr>
        <p:spPr>
          <a:xfrm>
            <a:off x="228600" y="533400"/>
            <a:ext cx="8610600" cy="6553200"/>
          </a:xfrm>
        </p:spPr>
        <p:txBody>
          <a:bodyPr>
            <a:noAutofit/>
          </a:bodyPr>
          <a:lstStyle/>
          <a:p>
            <a:pPr marL="0" indent="0">
              <a:buNone/>
            </a:pPr>
            <a:r>
              <a:rPr lang="en-US" sz="1400" dirty="0">
                <a:solidFill>
                  <a:srgbClr val="008000"/>
                </a:solidFill>
                <a:highlight>
                  <a:srgbClr val="FFFFFF"/>
                </a:highlight>
                <a:latin typeface="Consolas" panose="020B0609020204030204" pitchFamily="49" charset="0"/>
              </a:rPr>
              <a:t>// Demonstrate the HashSet&lt;T&gt; class.  </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HashSetDemo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Show(</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msg,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set)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msg</a:t>
            </a:r>
            <a:r>
              <a:rPr lang="en-IN"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ch</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set)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ch</a:t>
            </a:r>
            <a:r>
              <a:rPr lang="en-IN" sz="1400" dirty="0">
                <a:solidFill>
                  <a:srgbClr val="000000"/>
                </a:solidFill>
                <a:highlight>
                  <a:srgbClr val="FFFFFF"/>
                </a:highlight>
                <a:latin typeface="Consolas" panose="020B0609020204030204" pitchFamily="49" charset="0"/>
              </a:rPr>
              <a:t> + </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SortedSet</a:t>
            </a:r>
            <a:r>
              <a:rPr lang="en-US" sz="1400" dirty="0">
                <a:solidFill>
                  <a:srgbClr val="000000"/>
                </a:solidFill>
                <a:highlight>
                  <a:srgbClr val="FFFFFF"/>
                </a:highlight>
                <a:latin typeface="Consolas" panose="020B0609020204030204" pitchFamily="49" charset="0"/>
              </a:rPr>
              <a:t>&lt;</a:t>
            </a:r>
            <a:r>
              <a:rPr lang="en-US" sz="1400" dirty="0">
                <a:solidFill>
                  <a:srgbClr val="0000FF"/>
                </a:solidFill>
                <a:highlight>
                  <a:srgbClr val="FFFFFF"/>
                </a:highlight>
                <a:latin typeface="Consolas" panose="020B0609020204030204" pitchFamily="49" charset="0"/>
              </a:rPr>
              <a:t>char</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'X'</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setA.Add</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'B'</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Show(</a:t>
            </a:r>
            <a:r>
              <a:rPr lang="en-US" sz="1400" dirty="0">
                <a:solidFill>
                  <a:srgbClr val="A31515"/>
                </a:solidFill>
                <a:highlight>
                  <a:srgbClr val="FFFFFF"/>
                </a:highlight>
                <a:latin typeface="Consolas" panose="020B0609020204030204" pitchFamily="49" charset="0"/>
              </a:rPr>
              <a:t>"Initial content of </a:t>
            </a:r>
            <a:r>
              <a:rPr lang="en-US" sz="1400" dirty="0" err="1">
                <a:solidFill>
                  <a:srgbClr val="A31515"/>
                </a:solidFill>
                <a:highlight>
                  <a:srgbClr val="FFFFFF"/>
                </a:highlight>
                <a:latin typeface="Consolas" panose="020B0609020204030204" pitchFamily="49" charset="0"/>
              </a:rPr>
              <a:t>setA</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setA</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endParaRPr lang="en-IN" sz="1400" dirty="0"/>
          </a:p>
        </p:txBody>
      </p:sp>
    </p:spTree>
    <p:extLst>
      <p:ext uri="{BB962C8B-B14F-4D97-AF65-F5344CB8AC3E}">
        <p14:creationId xmlns:p14="http://schemas.microsoft.com/office/powerpoint/2010/main" val="3241478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8A56-6444-4519-88BD-F72FFF824191}"/>
              </a:ext>
            </a:extLst>
          </p:cNvPr>
          <p:cNvSpPr>
            <a:spLocks noGrp="1"/>
          </p:cNvSpPr>
          <p:nvPr>
            <p:ph type="title"/>
          </p:nvPr>
        </p:nvSpPr>
        <p:spPr>
          <a:xfrm>
            <a:off x="457200" y="-76200"/>
            <a:ext cx="8229600" cy="1143000"/>
          </a:xfrm>
        </p:spPr>
        <p:txBody>
          <a:bodyPr/>
          <a:lstStyle/>
          <a:p>
            <a:r>
              <a:rPr lang="en-US" b="0" i="0" dirty="0">
                <a:effectLst/>
              </a:rPr>
              <a:t>HashSet</a:t>
            </a:r>
            <a:endParaRPr lang="en-IN" dirty="0"/>
          </a:p>
        </p:txBody>
      </p:sp>
      <p:sp>
        <p:nvSpPr>
          <p:cNvPr id="3" name="Content Placeholder 2">
            <a:extLst>
              <a:ext uri="{FF2B5EF4-FFF2-40B4-BE49-F238E27FC236}">
                <a16:creationId xmlns:a16="http://schemas.microsoft.com/office/drawing/2014/main" id="{192A46D3-C61B-4D0C-871F-892B71A2E13C}"/>
              </a:ext>
            </a:extLst>
          </p:cNvPr>
          <p:cNvSpPr>
            <a:spLocks noGrp="1"/>
          </p:cNvSpPr>
          <p:nvPr>
            <p:ph idx="1"/>
          </p:nvPr>
        </p:nvSpPr>
        <p:spPr>
          <a:xfrm>
            <a:off x="266700" y="1066800"/>
            <a:ext cx="8610600" cy="6096000"/>
          </a:xfrm>
        </p:spPr>
        <p:txBody>
          <a:bodyPr>
            <a:norm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HashSet</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c = </a:t>
            </a:r>
            <a:r>
              <a:rPr lang="en-IN" sz="1200" dirty="0" err="1">
                <a:solidFill>
                  <a:srgbClr val="000000"/>
                </a:solidFill>
                <a:highlight>
                  <a:srgbClr val="FFFFFF"/>
                </a:highlight>
                <a:latin typeface="Consolas" panose="020B0609020204030204" pitchFamily="49" charset="0"/>
              </a:rPr>
              <a:t>s.ToCharArray</a:t>
            </a:r>
            <a:r>
              <a:rPr lang="en-IN" sz="1200" dirty="0">
                <a:solidFill>
                  <a:srgbClr val="000000"/>
                </a:solidFill>
                <a:highlight>
                  <a:srgbClr val="FFFFFF"/>
                </a:highlight>
                <a:latin typeface="Consolas" panose="020B0609020204030204" pitchFamily="49" charset="0"/>
              </a:rPr>
              <a:t>();</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ds.Add</a:t>
            </a:r>
            <a:r>
              <a:rPr lang="en-IN" sz="1200" dirty="0">
                <a:solidFill>
                  <a:srgbClr val="000000"/>
                </a:solidFill>
                <a:highlight>
                  <a:srgbClr val="FFFFFF"/>
                </a:highlight>
                <a:latin typeface="Consolas" panose="020B0609020204030204" pitchFamily="49" charset="0"/>
              </a:rPr>
              <a:t>(c[</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2400" dirty="0">
              <a:latin typeface="+mj-lt"/>
            </a:endParaRPr>
          </a:p>
        </p:txBody>
      </p:sp>
      <p:sp>
        <p:nvSpPr>
          <p:cNvPr id="4" name="Thought Bubble: Cloud 3">
            <a:extLst>
              <a:ext uri="{FF2B5EF4-FFF2-40B4-BE49-F238E27FC236}">
                <a16:creationId xmlns:a16="http://schemas.microsoft.com/office/drawing/2014/main" id="{DF72F8F1-5F67-4AD4-B0C7-BC7D164B63E9}"/>
              </a:ext>
            </a:extLst>
          </p:cNvPr>
          <p:cNvSpPr/>
          <p:nvPr/>
        </p:nvSpPr>
        <p:spPr>
          <a:xfrm>
            <a:off x="6995160" y="287020"/>
            <a:ext cx="2057400" cy="19050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5" name="TextBox 4">
            <a:extLst>
              <a:ext uri="{FF2B5EF4-FFF2-40B4-BE49-F238E27FC236}">
                <a16:creationId xmlns:a16="http://schemas.microsoft.com/office/drawing/2014/main" id="{13028160-425A-43B5-AE3A-021BA46BDF1F}"/>
              </a:ext>
            </a:extLst>
          </p:cNvPr>
          <p:cNvSpPr txBox="1"/>
          <p:nvPr/>
        </p:nvSpPr>
        <p:spPr>
          <a:xfrm>
            <a:off x="4953000" y="774323"/>
            <a:ext cx="533400" cy="381000"/>
          </a:xfrm>
          <a:prstGeom prst="rect">
            <a:avLst/>
          </a:prstGeom>
          <a:noFill/>
        </p:spPr>
        <p:txBody>
          <a:bodyPr wrap="square" rtlCol="0">
            <a:spAutoFit/>
          </a:bodyPr>
          <a:lstStyle/>
          <a:p>
            <a:r>
              <a:rPr lang="en-IN" dirty="0"/>
              <a:t>s</a:t>
            </a:r>
          </a:p>
        </p:txBody>
      </p:sp>
      <p:cxnSp>
        <p:nvCxnSpPr>
          <p:cNvPr id="7" name="Straight Arrow Connector 6">
            <a:extLst>
              <a:ext uri="{FF2B5EF4-FFF2-40B4-BE49-F238E27FC236}">
                <a16:creationId xmlns:a16="http://schemas.microsoft.com/office/drawing/2014/main" id="{B4571A32-1964-4364-AAE8-DF3C011E1FF6}"/>
              </a:ext>
            </a:extLst>
          </p:cNvPr>
          <p:cNvCxnSpPr/>
          <p:nvPr/>
        </p:nvCxnSpPr>
        <p:spPr>
          <a:xfrm>
            <a:off x="5184140" y="984766"/>
            <a:ext cx="1676400" cy="5334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8" name="Table 8">
            <a:extLst>
              <a:ext uri="{FF2B5EF4-FFF2-40B4-BE49-F238E27FC236}">
                <a16:creationId xmlns:a16="http://schemas.microsoft.com/office/drawing/2014/main" id="{FEA2EA01-C9EF-48BE-9D96-6D31A52B2B6A}"/>
              </a:ext>
            </a:extLst>
          </p:cNvPr>
          <p:cNvGraphicFramePr>
            <a:graphicFrameLocks noGrp="1"/>
          </p:cNvGraphicFramePr>
          <p:nvPr>
            <p:extLst>
              <p:ext uri="{D42A27DB-BD31-4B8C-83A1-F6EECF244321}">
                <p14:modId xmlns:p14="http://schemas.microsoft.com/office/powerpoint/2010/main" val="2650253203"/>
              </p:ext>
            </p:extLst>
          </p:nvPr>
        </p:nvGraphicFramePr>
        <p:xfrm>
          <a:off x="4592320" y="2290326"/>
          <a:ext cx="60960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576566801"/>
                    </a:ext>
                  </a:extLst>
                </a:gridCol>
                <a:gridCol w="609600">
                  <a:extLst>
                    <a:ext uri="{9D8B030D-6E8A-4147-A177-3AD203B41FA5}">
                      <a16:colId xmlns:a16="http://schemas.microsoft.com/office/drawing/2014/main" val="3188607646"/>
                    </a:ext>
                  </a:extLst>
                </a:gridCol>
                <a:gridCol w="609600">
                  <a:extLst>
                    <a:ext uri="{9D8B030D-6E8A-4147-A177-3AD203B41FA5}">
                      <a16:colId xmlns:a16="http://schemas.microsoft.com/office/drawing/2014/main" val="221385716"/>
                    </a:ext>
                  </a:extLst>
                </a:gridCol>
                <a:gridCol w="609600">
                  <a:extLst>
                    <a:ext uri="{9D8B030D-6E8A-4147-A177-3AD203B41FA5}">
                      <a16:colId xmlns:a16="http://schemas.microsoft.com/office/drawing/2014/main" val="3412570674"/>
                    </a:ext>
                  </a:extLst>
                </a:gridCol>
                <a:gridCol w="609600">
                  <a:extLst>
                    <a:ext uri="{9D8B030D-6E8A-4147-A177-3AD203B41FA5}">
                      <a16:colId xmlns:a16="http://schemas.microsoft.com/office/drawing/2014/main" val="550513922"/>
                    </a:ext>
                  </a:extLst>
                </a:gridCol>
                <a:gridCol w="609600">
                  <a:extLst>
                    <a:ext uri="{9D8B030D-6E8A-4147-A177-3AD203B41FA5}">
                      <a16:colId xmlns:a16="http://schemas.microsoft.com/office/drawing/2014/main" val="4273241803"/>
                    </a:ext>
                  </a:extLst>
                </a:gridCol>
                <a:gridCol w="609600">
                  <a:extLst>
                    <a:ext uri="{9D8B030D-6E8A-4147-A177-3AD203B41FA5}">
                      <a16:colId xmlns:a16="http://schemas.microsoft.com/office/drawing/2014/main" val="190602288"/>
                    </a:ext>
                  </a:extLst>
                </a:gridCol>
                <a:gridCol w="609600">
                  <a:extLst>
                    <a:ext uri="{9D8B030D-6E8A-4147-A177-3AD203B41FA5}">
                      <a16:colId xmlns:a16="http://schemas.microsoft.com/office/drawing/2014/main" val="21088205"/>
                    </a:ext>
                  </a:extLst>
                </a:gridCol>
                <a:gridCol w="609600">
                  <a:extLst>
                    <a:ext uri="{9D8B030D-6E8A-4147-A177-3AD203B41FA5}">
                      <a16:colId xmlns:a16="http://schemas.microsoft.com/office/drawing/2014/main" val="2525827390"/>
                    </a:ext>
                  </a:extLst>
                </a:gridCol>
                <a:gridCol w="609600">
                  <a:extLst>
                    <a:ext uri="{9D8B030D-6E8A-4147-A177-3AD203B41FA5}">
                      <a16:colId xmlns:a16="http://schemas.microsoft.com/office/drawing/2014/main" val="2045864408"/>
                    </a:ext>
                  </a:extLst>
                </a:gridCol>
              </a:tblGrid>
              <a:tr h="370840">
                <a:tc>
                  <a:txBody>
                    <a:bodyPr/>
                    <a:lstStyle/>
                    <a:p>
                      <a:r>
                        <a:rPr lang="en-IN" dirty="0"/>
                        <a:t>v</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y</a:t>
                      </a:r>
                    </a:p>
                  </a:txBody>
                  <a:tcPr/>
                </a:tc>
                <a:tc>
                  <a:txBody>
                    <a:bodyPr/>
                    <a:lstStyle/>
                    <a:p>
                      <a:r>
                        <a:rPr lang="en-IN" dirty="0"/>
                        <a:t>a</a:t>
                      </a:r>
                    </a:p>
                  </a:txBody>
                  <a:tcPr/>
                </a:tc>
                <a:tc>
                  <a:txBody>
                    <a:bodyPr/>
                    <a:lstStyle/>
                    <a:p>
                      <a:r>
                        <a:rPr lang="en-IN" dirty="0"/>
                        <a:t>n</a:t>
                      </a:r>
                    </a:p>
                  </a:txBody>
                  <a:tcPr/>
                </a:tc>
                <a:tc>
                  <a:txBody>
                    <a:bodyPr/>
                    <a:lstStyle/>
                    <a:p>
                      <a:r>
                        <a:rPr lang="en-IN" dirty="0" err="1"/>
                        <a:t>i</a:t>
                      </a:r>
                      <a:endParaRPr lang="en-IN" dirty="0"/>
                    </a:p>
                  </a:txBody>
                  <a:tcPr/>
                </a:tc>
                <a:tc>
                  <a:txBody>
                    <a:bodyPr/>
                    <a:lstStyle/>
                    <a:p>
                      <a:r>
                        <a:rPr lang="en-IN" dirty="0"/>
                        <a:t>d</a:t>
                      </a:r>
                    </a:p>
                  </a:txBody>
                  <a:tcPr/>
                </a:tc>
                <a:tc>
                  <a:txBody>
                    <a:bodyPr/>
                    <a:lstStyle/>
                    <a:p>
                      <a:r>
                        <a:rPr lang="en-IN" dirty="0"/>
                        <a:t>h</a:t>
                      </a:r>
                    </a:p>
                  </a:txBody>
                  <a:tcPr/>
                </a:tc>
                <a:tc>
                  <a:txBody>
                    <a:bodyPr/>
                    <a:lstStyle/>
                    <a:p>
                      <a:r>
                        <a:rPr lang="en-IN" dirty="0" err="1"/>
                        <a:t>i</a:t>
                      </a:r>
                      <a:endParaRPr lang="en-IN" dirty="0"/>
                    </a:p>
                  </a:txBody>
                  <a:tcPr/>
                </a:tc>
                <a:extLst>
                  <a:ext uri="{0D108BD9-81ED-4DB2-BD59-A6C34878D82A}">
                    <a16:rowId xmlns:a16="http://schemas.microsoft.com/office/drawing/2014/main" val="1333030152"/>
                  </a:ext>
                </a:extLst>
              </a:tr>
            </a:tbl>
          </a:graphicData>
        </a:graphic>
      </p:graphicFrame>
      <p:sp>
        <p:nvSpPr>
          <p:cNvPr id="10" name="TextBox 9">
            <a:extLst>
              <a:ext uri="{FF2B5EF4-FFF2-40B4-BE49-F238E27FC236}">
                <a16:creationId xmlns:a16="http://schemas.microsoft.com/office/drawing/2014/main" id="{BB82BFA1-7BCD-499D-827D-7B7161BC60AA}"/>
              </a:ext>
            </a:extLst>
          </p:cNvPr>
          <p:cNvSpPr txBox="1"/>
          <p:nvPr/>
        </p:nvSpPr>
        <p:spPr>
          <a:xfrm>
            <a:off x="4709160" y="1917323"/>
            <a:ext cx="445770" cy="381000"/>
          </a:xfrm>
          <a:prstGeom prst="rect">
            <a:avLst/>
          </a:prstGeom>
          <a:noFill/>
        </p:spPr>
        <p:txBody>
          <a:bodyPr wrap="square" rtlCol="0">
            <a:spAutoFit/>
          </a:bodyPr>
          <a:lstStyle/>
          <a:p>
            <a:r>
              <a:rPr lang="en-IN" dirty="0"/>
              <a:t>c</a:t>
            </a:r>
          </a:p>
        </p:txBody>
      </p:sp>
      <p:sp>
        <p:nvSpPr>
          <p:cNvPr id="11" name="TextBox 10">
            <a:extLst>
              <a:ext uri="{FF2B5EF4-FFF2-40B4-BE49-F238E27FC236}">
                <a16:creationId xmlns:a16="http://schemas.microsoft.com/office/drawing/2014/main" id="{06082A1A-9FC0-44BA-BE29-0060F066B530}"/>
              </a:ext>
            </a:extLst>
          </p:cNvPr>
          <p:cNvSpPr txBox="1"/>
          <p:nvPr/>
        </p:nvSpPr>
        <p:spPr>
          <a:xfrm>
            <a:off x="4650740" y="3337183"/>
            <a:ext cx="533400" cy="369332"/>
          </a:xfrm>
          <a:prstGeom prst="rect">
            <a:avLst/>
          </a:prstGeom>
          <a:noFill/>
        </p:spPr>
        <p:txBody>
          <a:bodyPr wrap="square" rtlCol="0">
            <a:spAutoFit/>
          </a:bodyPr>
          <a:lstStyle/>
          <a:p>
            <a:r>
              <a:rPr lang="en-IN" dirty="0"/>
              <a:t>ds</a:t>
            </a:r>
          </a:p>
        </p:txBody>
      </p:sp>
      <p:cxnSp>
        <p:nvCxnSpPr>
          <p:cNvPr id="12" name="Straight Arrow Connector 11">
            <a:extLst>
              <a:ext uri="{FF2B5EF4-FFF2-40B4-BE49-F238E27FC236}">
                <a16:creationId xmlns:a16="http://schemas.microsoft.com/office/drawing/2014/main" id="{1EE6F16E-A8C2-4BF3-BD37-7F43201F8DE7}"/>
              </a:ext>
            </a:extLst>
          </p:cNvPr>
          <p:cNvCxnSpPr>
            <a:cxnSpLocks/>
          </p:cNvCxnSpPr>
          <p:nvPr/>
        </p:nvCxnSpPr>
        <p:spPr>
          <a:xfrm>
            <a:off x="5038090" y="3597295"/>
            <a:ext cx="896620" cy="17168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5DD7A8BA-FD49-424B-A7CF-B27A08838602}"/>
              </a:ext>
            </a:extLst>
          </p:cNvPr>
          <p:cNvSpPr/>
          <p:nvPr/>
        </p:nvSpPr>
        <p:spPr>
          <a:xfrm>
            <a:off x="6042660" y="2953642"/>
            <a:ext cx="1882140" cy="33709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5" name="Table 15">
            <a:extLst>
              <a:ext uri="{FF2B5EF4-FFF2-40B4-BE49-F238E27FC236}">
                <a16:creationId xmlns:a16="http://schemas.microsoft.com/office/drawing/2014/main" id="{D699E77B-9EA0-4E24-A254-28AF01889ABB}"/>
              </a:ext>
            </a:extLst>
          </p:cNvPr>
          <p:cNvGraphicFramePr>
            <a:graphicFrameLocks noGrp="1"/>
          </p:cNvGraphicFramePr>
          <p:nvPr>
            <p:extLst>
              <p:ext uri="{D42A27DB-BD31-4B8C-83A1-F6EECF244321}">
                <p14:modId xmlns:p14="http://schemas.microsoft.com/office/powerpoint/2010/main" val="140206355"/>
              </p:ext>
            </p:extLst>
          </p:nvPr>
        </p:nvGraphicFramePr>
        <p:xfrm>
          <a:off x="6629400" y="3111689"/>
          <a:ext cx="838200" cy="2926080"/>
        </p:xfrm>
        <a:graphic>
          <a:graphicData uri="http://schemas.openxmlformats.org/drawingml/2006/table">
            <a:tbl>
              <a:tblPr firstRow="1" bandRow="1"/>
              <a:tblGrid>
                <a:gridCol w="838200">
                  <a:extLst>
                    <a:ext uri="{9D8B030D-6E8A-4147-A177-3AD203B41FA5}">
                      <a16:colId xmlns:a16="http://schemas.microsoft.com/office/drawing/2014/main" val="3853909115"/>
                    </a:ext>
                  </a:extLst>
                </a:gridCol>
              </a:tblGrid>
              <a:tr h="332423">
                <a:tc>
                  <a:txBody>
                    <a:bodyPr/>
                    <a:lstStyle/>
                    <a:p>
                      <a:r>
                        <a:rPr lang="en-IN" dirty="0"/>
                        <a:t>v</a:t>
                      </a:r>
                    </a:p>
                  </a:txBody>
                  <a:tcPr/>
                </a:tc>
                <a:extLst>
                  <a:ext uri="{0D108BD9-81ED-4DB2-BD59-A6C34878D82A}">
                    <a16:rowId xmlns:a16="http://schemas.microsoft.com/office/drawing/2014/main" val="2724568072"/>
                  </a:ext>
                </a:extLst>
              </a:tr>
              <a:tr h="332423">
                <a:tc>
                  <a:txBody>
                    <a:bodyPr/>
                    <a:lstStyle/>
                    <a:p>
                      <a:r>
                        <a:rPr lang="en-IN" dirty="0" err="1"/>
                        <a:t>i</a:t>
                      </a:r>
                      <a:endParaRPr lang="en-IN" dirty="0"/>
                    </a:p>
                  </a:txBody>
                  <a:tcPr/>
                </a:tc>
                <a:extLst>
                  <a:ext uri="{0D108BD9-81ED-4DB2-BD59-A6C34878D82A}">
                    <a16:rowId xmlns:a16="http://schemas.microsoft.com/office/drawing/2014/main" val="1454534961"/>
                  </a:ext>
                </a:extLst>
              </a:tr>
              <a:tr h="332423">
                <a:tc>
                  <a:txBody>
                    <a:bodyPr/>
                    <a:lstStyle/>
                    <a:p>
                      <a:r>
                        <a:rPr lang="en-IN" dirty="0"/>
                        <a:t>d</a:t>
                      </a:r>
                    </a:p>
                  </a:txBody>
                  <a:tcPr/>
                </a:tc>
                <a:extLst>
                  <a:ext uri="{0D108BD9-81ED-4DB2-BD59-A6C34878D82A}">
                    <a16:rowId xmlns:a16="http://schemas.microsoft.com/office/drawing/2014/main" val="2510030303"/>
                  </a:ext>
                </a:extLst>
              </a:tr>
              <a:tr h="332423">
                <a:tc>
                  <a:txBody>
                    <a:bodyPr/>
                    <a:lstStyle/>
                    <a:p>
                      <a:r>
                        <a:rPr lang="en-IN" dirty="0"/>
                        <a:t>y</a:t>
                      </a:r>
                    </a:p>
                  </a:txBody>
                  <a:tcPr/>
                </a:tc>
                <a:extLst>
                  <a:ext uri="{0D108BD9-81ED-4DB2-BD59-A6C34878D82A}">
                    <a16:rowId xmlns:a16="http://schemas.microsoft.com/office/drawing/2014/main" val="3884022197"/>
                  </a:ext>
                </a:extLst>
              </a:tr>
              <a:tr h="332423">
                <a:tc>
                  <a:txBody>
                    <a:bodyPr/>
                    <a:lstStyle/>
                    <a:p>
                      <a:r>
                        <a:rPr lang="en-IN" dirty="0"/>
                        <a:t>a</a:t>
                      </a:r>
                    </a:p>
                  </a:txBody>
                  <a:tcPr/>
                </a:tc>
                <a:extLst>
                  <a:ext uri="{0D108BD9-81ED-4DB2-BD59-A6C34878D82A}">
                    <a16:rowId xmlns:a16="http://schemas.microsoft.com/office/drawing/2014/main" val="931171665"/>
                  </a:ext>
                </a:extLst>
              </a:tr>
              <a:tr h="332423">
                <a:tc>
                  <a:txBody>
                    <a:bodyPr/>
                    <a:lstStyle/>
                    <a:p>
                      <a:r>
                        <a:rPr lang="en-IN" dirty="0"/>
                        <a:t>n</a:t>
                      </a:r>
                    </a:p>
                  </a:txBody>
                  <a:tcPr/>
                </a:tc>
                <a:extLst>
                  <a:ext uri="{0D108BD9-81ED-4DB2-BD59-A6C34878D82A}">
                    <a16:rowId xmlns:a16="http://schemas.microsoft.com/office/drawing/2014/main" val="4181005424"/>
                  </a:ext>
                </a:extLst>
              </a:tr>
              <a:tr h="332423">
                <a:tc>
                  <a:txBody>
                    <a:bodyPr/>
                    <a:lstStyle/>
                    <a:p>
                      <a:r>
                        <a:rPr lang="en-IN" dirty="0"/>
                        <a:t>h</a:t>
                      </a:r>
                    </a:p>
                  </a:txBody>
                  <a:tcPr/>
                </a:tc>
                <a:extLst>
                  <a:ext uri="{0D108BD9-81ED-4DB2-BD59-A6C34878D82A}">
                    <a16:rowId xmlns:a16="http://schemas.microsoft.com/office/drawing/2014/main" val="1315479514"/>
                  </a:ext>
                </a:extLst>
              </a:tr>
              <a:tr h="332423">
                <a:tc>
                  <a:txBody>
                    <a:bodyPr/>
                    <a:lstStyle/>
                    <a:p>
                      <a:endParaRPr lang="en-IN" dirty="0"/>
                    </a:p>
                  </a:txBody>
                  <a:tcPr/>
                </a:tc>
                <a:extLst>
                  <a:ext uri="{0D108BD9-81ED-4DB2-BD59-A6C34878D82A}">
                    <a16:rowId xmlns:a16="http://schemas.microsoft.com/office/drawing/2014/main" val="2963903368"/>
                  </a:ext>
                </a:extLst>
              </a:tr>
            </a:tbl>
          </a:graphicData>
        </a:graphic>
      </p:graphicFrame>
    </p:spTree>
    <p:extLst>
      <p:ext uri="{BB962C8B-B14F-4D97-AF65-F5344CB8AC3E}">
        <p14:creationId xmlns:p14="http://schemas.microsoft.com/office/powerpoint/2010/main" val="606978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1335-5C2E-4966-8E54-AF6E72EDEE8C}"/>
              </a:ext>
            </a:extLst>
          </p:cNvPr>
          <p:cNvSpPr>
            <a:spLocks noGrp="1"/>
          </p:cNvSpPr>
          <p:nvPr>
            <p:ph type="title"/>
          </p:nvPr>
        </p:nvSpPr>
        <p:spPr>
          <a:xfrm>
            <a:off x="1600200" y="274638"/>
            <a:ext cx="7086600" cy="334962"/>
          </a:xfrm>
        </p:spPr>
        <p:txBody>
          <a:bodyPr>
            <a:normAutofit fontScale="90000"/>
          </a:bodyPr>
          <a:lstStyle/>
          <a:p>
            <a:r>
              <a:rPr lang="en-IN" dirty="0"/>
              <a:t>Dictionary</a:t>
            </a:r>
          </a:p>
        </p:txBody>
      </p:sp>
      <p:sp>
        <p:nvSpPr>
          <p:cNvPr id="3" name="Content Placeholder 2">
            <a:extLst>
              <a:ext uri="{FF2B5EF4-FFF2-40B4-BE49-F238E27FC236}">
                <a16:creationId xmlns:a16="http://schemas.microsoft.com/office/drawing/2014/main" id="{F76DFF85-EEEC-4989-9B9F-EDB329FA2BB2}"/>
              </a:ext>
            </a:extLst>
          </p:cNvPr>
          <p:cNvSpPr>
            <a:spLocks noGrp="1"/>
          </p:cNvSpPr>
          <p:nvPr>
            <p:ph idx="1"/>
          </p:nvPr>
        </p:nvSpPr>
        <p:spPr>
          <a:xfrm>
            <a:off x="228600" y="838200"/>
            <a:ext cx="8610600" cy="5867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//print unique string</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 = </a:t>
            </a:r>
            <a:r>
              <a:rPr lang="en-IN" sz="1200" dirty="0">
                <a:solidFill>
                  <a:srgbClr val="A31515"/>
                </a:solidFill>
                <a:highlight>
                  <a:srgbClr val="FFFFFF"/>
                </a:highlight>
                <a:latin typeface="Consolas" panose="020B0609020204030204" pitchFamily="49" charset="0"/>
              </a:rPr>
              <a:t>"vidyanidhi"</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 ds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Dictionary</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char</a:t>
            </a:r>
            <a:r>
              <a:rPr lang="en-US" sz="1200" dirty="0">
                <a:solidFill>
                  <a:srgbClr val="000000"/>
                </a:solidFill>
                <a:highlight>
                  <a:srgbClr val="FFFFFF"/>
                </a:highlight>
                <a:latin typeface="Consolas" panose="020B0609020204030204" pitchFamily="49" charset="0"/>
              </a:rPr>
              <a:t>[] c = s.</a:t>
            </a:r>
            <a:r>
              <a:rPr lang="en-IN" sz="18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ToCharArray</a:t>
            </a:r>
            <a:r>
              <a:rPr lang="en-US" sz="1200" dirty="0">
                <a:solidFill>
                  <a:srgbClr val="000000"/>
                </a:solidFill>
                <a:highlight>
                  <a:srgbClr val="FFFFFF"/>
                </a:highlight>
                <a:latin typeface="Consolas" panose="020B0609020204030204" pitchFamily="49" charset="0"/>
              </a:rPr>
              <a:t>();</a:t>
            </a:r>
          </a:p>
          <a:p>
            <a:pPr marL="0" indent="0">
              <a:buNone/>
            </a:pP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c.Length;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nn-NO" sz="1200" dirty="0">
                <a:solidFill>
                  <a:srgbClr val="000000"/>
                </a:solidFill>
                <a:highlight>
                  <a:srgbClr val="FFFFFF"/>
                </a:highlight>
                <a:latin typeface="Consolas" panose="020B0609020204030204" pitchFamily="49" charset="0"/>
              </a:rPr>
              <a:t>                    ds.Add(c[i],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a:t>
            </a:r>
            <a:r>
              <a:rPr lang="sv-SE" sz="1200" dirty="0">
                <a:solidFill>
                  <a:srgbClr val="0000FF"/>
                </a:solidFill>
                <a:highlight>
                  <a:srgbClr val="FFFFFF"/>
                </a:highlight>
                <a:latin typeface="Consolas" panose="020B0609020204030204" pitchFamily="49" charset="0"/>
              </a:rPr>
              <a:t>var</a:t>
            </a:r>
            <a:r>
              <a:rPr lang="sv-SE" sz="1200" dirty="0">
                <a:solidFill>
                  <a:srgbClr val="000000"/>
                </a:solidFill>
                <a:highlight>
                  <a:srgbClr val="FFFFFF"/>
                </a:highlight>
                <a:latin typeface="Consolas" panose="020B0609020204030204" pitchFamily="49" charset="0"/>
              </a:rPr>
              <a:t> d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ds)</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graphicFrame>
        <p:nvGraphicFramePr>
          <p:cNvPr id="4" name="Table 4">
            <a:extLst>
              <a:ext uri="{FF2B5EF4-FFF2-40B4-BE49-F238E27FC236}">
                <a16:creationId xmlns:a16="http://schemas.microsoft.com/office/drawing/2014/main" id="{C5E74717-341E-FCC3-7DF7-31E129E04018}"/>
              </a:ext>
            </a:extLst>
          </p:cNvPr>
          <p:cNvGraphicFramePr>
            <a:graphicFrameLocks noGrp="1"/>
          </p:cNvGraphicFramePr>
          <p:nvPr>
            <p:extLst>
              <p:ext uri="{D42A27DB-BD31-4B8C-83A1-F6EECF244321}">
                <p14:modId xmlns:p14="http://schemas.microsoft.com/office/powerpoint/2010/main" val="3031578505"/>
              </p:ext>
            </p:extLst>
          </p:nvPr>
        </p:nvGraphicFramePr>
        <p:xfrm>
          <a:off x="5576740" y="1524000"/>
          <a:ext cx="3124200" cy="1135380"/>
        </p:xfrm>
        <a:graphic>
          <a:graphicData uri="http://schemas.openxmlformats.org/drawingml/2006/table">
            <a:tbl>
              <a:tblPr firstRow="1" bandRow="1">
                <a:tableStyleId>{5C22544A-7EE6-4342-B048-85BDC9FD1C3A}</a:tableStyleId>
              </a:tblPr>
              <a:tblGrid>
                <a:gridCol w="312420">
                  <a:extLst>
                    <a:ext uri="{9D8B030D-6E8A-4147-A177-3AD203B41FA5}">
                      <a16:colId xmlns:a16="http://schemas.microsoft.com/office/drawing/2014/main" val="4064252345"/>
                    </a:ext>
                  </a:extLst>
                </a:gridCol>
                <a:gridCol w="312420">
                  <a:extLst>
                    <a:ext uri="{9D8B030D-6E8A-4147-A177-3AD203B41FA5}">
                      <a16:colId xmlns:a16="http://schemas.microsoft.com/office/drawing/2014/main" val="1958640917"/>
                    </a:ext>
                  </a:extLst>
                </a:gridCol>
                <a:gridCol w="312420">
                  <a:extLst>
                    <a:ext uri="{9D8B030D-6E8A-4147-A177-3AD203B41FA5}">
                      <a16:colId xmlns:a16="http://schemas.microsoft.com/office/drawing/2014/main" val="467320464"/>
                    </a:ext>
                  </a:extLst>
                </a:gridCol>
                <a:gridCol w="312420">
                  <a:extLst>
                    <a:ext uri="{9D8B030D-6E8A-4147-A177-3AD203B41FA5}">
                      <a16:colId xmlns:a16="http://schemas.microsoft.com/office/drawing/2014/main" val="2390764328"/>
                    </a:ext>
                  </a:extLst>
                </a:gridCol>
                <a:gridCol w="312420">
                  <a:extLst>
                    <a:ext uri="{9D8B030D-6E8A-4147-A177-3AD203B41FA5}">
                      <a16:colId xmlns:a16="http://schemas.microsoft.com/office/drawing/2014/main" val="2093382906"/>
                    </a:ext>
                  </a:extLst>
                </a:gridCol>
                <a:gridCol w="312420">
                  <a:extLst>
                    <a:ext uri="{9D8B030D-6E8A-4147-A177-3AD203B41FA5}">
                      <a16:colId xmlns:a16="http://schemas.microsoft.com/office/drawing/2014/main" val="3701411628"/>
                    </a:ext>
                  </a:extLst>
                </a:gridCol>
                <a:gridCol w="312420">
                  <a:extLst>
                    <a:ext uri="{9D8B030D-6E8A-4147-A177-3AD203B41FA5}">
                      <a16:colId xmlns:a16="http://schemas.microsoft.com/office/drawing/2014/main" val="3370457936"/>
                    </a:ext>
                  </a:extLst>
                </a:gridCol>
                <a:gridCol w="312420">
                  <a:extLst>
                    <a:ext uri="{9D8B030D-6E8A-4147-A177-3AD203B41FA5}">
                      <a16:colId xmlns:a16="http://schemas.microsoft.com/office/drawing/2014/main" val="204453157"/>
                    </a:ext>
                  </a:extLst>
                </a:gridCol>
                <a:gridCol w="312420">
                  <a:extLst>
                    <a:ext uri="{9D8B030D-6E8A-4147-A177-3AD203B41FA5}">
                      <a16:colId xmlns:a16="http://schemas.microsoft.com/office/drawing/2014/main" val="615921287"/>
                    </a:ext>
                  </a:extLst>
                </a:gridCol>
                <a:gridCol w="312420">
                  <a:extLst>
                    <a:ext uri="{9D8B030D-6E8A-4147-A177-3AD203B41FA5}">
                      <a16:colId xmlns:a16="http://schemas.microsoft.com/office/drawing/2014/main" val="3752685442"/>
                    </a:ext>
                  </a:extLst>
                </a:gridCol>
              </a:tblGrid>
              <a:tr h="495300">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tc>
                  <a:txBody>
                    <a:bodyPr/>
                    <a:lstStyle/>
                    <a:p>
                      <a:r>
                        <a:rPr lang="en-US" dirty="0"/>
                        <a:t>6</a:t>
                      </a:r>
                      <a:endParaRPr lang="en-IN" dirty="0"/>
                    </a:p>
                  </a:txBody>
                  <a:tcPr/>
                </a:tc>
                <a:tc>
                  <a:txBody>
                    <a:bodyPr/>
                    <a:lstStyle/>
                    <a:p>
                      <a:r>
                        <a:rPr lang="en-US" dirty="0"/>
                        <a:t>7</a:t>
                      </a:r>
                      <a:endParaRPr lang="en-IN" dirty="0"/>
                    </a:p>
                  </a:txBody>
                  <a:tcPr/>
                </a:tc>
                <a:tc>
                  <a:txBody>
                    <a:bodyPr/>
                    <a:lstStyle/>
                    <a:p>
                      <a:r>
                        <a:rPr lang="en-US" dirty="0"/>
                        <a:t>8</a:t>
                      </a:r>
                      <a:endParaRPr lang="en-IN" dirty="0"/>
                    </a:p>
                  </a:txBody>
                  <a:tcPr/>
                </a:tc>
                <a:tc>
                  <a:txBody>
                    <a:bodyPr/>
                    <a:lstStyle/>
                    <a:p>
                      <a:r>
                        <a:rPr lang="en-US" dirty="0"/>
                        <a:t>9v</a:t>
                      </a:r>
                      <a:endParaRPr lang="en-IN" dirty="0"/>
                    </a:p>
                  </a:txBody>
                  <a:tcPr/>
                </a:tc>
                <a:extLst>
                  <a:ext uri="{0D108BD9-81ED-4DB2-BD59-A6C34878D82A}">
                    <a16:rowId xmlns:a16="http://schemas.microsoft.com/office/drawing/2014/main" val="3741107950"/>
                  </a:ext>
                </a:extLst>
              </a:tr>
              <a:tr h="495300">
                <a:tc>
                  <a:txBody>
                    <a:bodyPr/>
                    <a:lstStyle/>
                    <a:p>
                      <a:r>
                        <a:rPr lang="en-US" dirty="0"/>
                        <a:t>V</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Y</a:t>
                      </a:r>
                      <a:endParaRPr lang="en-IN" dirty="0"/>
                    </a:p>
                  </a:txBody>
                  <a:tcPr/>
                </a:tc>
                <a:tc>
                  <a:txBody>
                    <a:bodyPr/>
                    <a:lstStyle/>
                    <a:p>
                      <a:r>
                        <a:rPr lang="en-US" dirty="0"/>
                        <a:t>A</a:t>
                      </a:r>
                      <a:endParaRPr lang="en-IN" dirty="0"/>
                    </a:p>
                  </a:txBody>
                  <a:tcPr/>
                </a:tc>
                <a:tc>
                  <a:txBody>
                    <a:bodyPr/>
                    <a:lstStyle/>
                    <a:p>
                      <a:r>
                        <a:rPr lang="en-US" dirty="0"/>
                        <a:t>N</a:t>
                      </a:r>
                      <a:endParaRPr lang="en-IN" dirty="0"/>
                    </a:p>
                  </a:txBody>
                  <a:tcPr/>
                </a:tc>
                <a:tc>
                  <a:txBody>
                    <a:bodyPr/>
                    <a:lstStyle/>
                    <a:p>
                      <a:r>
                        <a:rPr lang="en-US" dirty="0"/>
                        <a:t>I</a:t>
                      </a:r>
                      <a:endParaRPr lang="en-IN" dirty="0"/>
                    </a:p>
                  </a:txBody>
                  <a:tcPr/>
                </a:tc>
                <a:tc>
                  <a:txBody>
                    <a:bodyPr/>
                    <a:lstStyle/>
                    <a:p>
                      <a:r>
                        <a:rPr lang="en-US" dirty="0"/>
                        <a:t>D</a:t>
                      </a:r>
                      <a:endParaRPr lang="en-IN" dirty="0"/>
                    </a:p>
                  </a:txBody>
                  <a:tcPr/>
                </a:tc>
                <a:tc>
                  <a:txBody>
                    <a:bodyPr/>
                    <a:lstStyle/>
                    <a:p>
                      <a:r>
                        <a:rPr lang="en-US" dirty="0"/>
                        <a:t>H</a:t>
                      </a:r>
                      <a:endParaRPr lang="en-IN" dirty="0"/>
                    </a:p>
                  </a:txBody>
                  <a:tcPr/>
                </a:tc>
                <a:tc>
                  <a:txBody>
                    <a:bodyPr/>
                    <a:lstStyle/>
                    <a:p>
                      <a:r>
                        <a:rPr lang="en-US" dirty="0"/>
                        <a:t>I</a:t>
                      </a:r>
                      <a:endParaRPr lang="en-IN" dirty="0"/>
                    </a:p>
                  </a:txBody>
                  <a:tcPr/>
                </a:tc>
                <a:extLst>
                  <a:ext uri="{0D108BD9-81ED-4DB2-BD59-A6C34878D82A}">
                    <a16:rowId xmlns:a16="http://schemas.microsoft.com/office/drawing/2014/main" val="4062039436"/>
                  </a:ext>
                </a:extLst>
              </a:tr>
            </a:tbl>
          </a:graphicData>
        </a:graphic>
      </p:graphicFrame>
      <p:sp>
        <p:nvSpPr>
          <p:cNvPr id="5" name="Rectangle 4">
            <a:extLst>
              <a:ext uri="{FF2B5EF4-FFF2-40B4-BE49-F238E27FC236}">
                <a16:creationId xmlns:a16="http://schemas.microsoft.com/office/drawing/2014/main" id="{69635AD2-5062-C87B-95F7-6772BFF6E1A7}"/>
              </a:ext>
            </a:extLst>
          </p:cNvPr>
          <p:cNvSpPr/>
          <p:nvPr/>
        </p:nvSpPr>
        <p:spPr>
          <a:xfrm>
            <a:off x="4533900" y="198120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N" dirty="0"/>
          </a:p>
        </p:txBody>
      </p:sp>
      <p:cxnSp>
        <p:nvCxnSpPr>
          <p:cNvPr id="7" name="Straight Arrow Connector 6">
            <a:extLst>
              <a:ext uri="{FF2B5EF4-FFF2-40B4-BE49-F238E27FC236}">
                <a16:creationId xmlns:a16="http://schemas.microsoft.com/office/drawing/2014/main" id="{E052B4E5-69D4-5ECD-3B57-3CF1BA9420AA}"/>
              </a:ext>
            </a:extLst>
          </p:cNvPr>
          <p:cNvCxnSpPr/>
          <p:nvPr/>
        </p:nvCxnSpPr>
        <p:spPr>
          <a:xfrm flipV="1">
            <a:off x="5181600" y="2209800"/>
            <a:ext cx="25688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831E3B-249E-06B8-FF2D-DF3F6D26D84C}"/>
              </a:ext>
            </a:extLst>
          </p:cNvPr>
          <p:cNvSpPr/>
          <p:nvPr/>
        </p:nvSpPr>
        <p:spPr>
          <a:xfrm>
            <a:off x="5608163" y="4149090"/>
            <a:ext cx="4953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ds</a:t>
            </a:r>
            <a:endParaRPr lang="en-IN" dirty="0"/>
          </a:p>
        </p:txBody>
      </p:sp>
      <p:sp>
        <p:nvSpPr>
          <p:cNvPr id="9" name="Rectangle 8">
            <a:extLst>
              <a:ext uri="{FF2B5EF4-FFF2-40B4-BE49-F238E27FC236}">
                <a16:creationId xmlns:a16="http://schemas.microsoft.com/office/drawing/2014/main" id="{9FA6AD4D-CDDE-6B7D-40C1-5FDE051BEA31}"/>
              </a:ext>
            </a:extLst>
          </p:cNvPr>
          <p:cNvSpPr/>
          <p:nvPr/>
        </p:nvSpPr>
        <p:spPr>
          <a:xfrm>
            <a:off x="6400800" y="3886200"/>
            <a:ext cx="2286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 IDYANH</a:t>
            </a:r>
            <a:endParaRPr lang="en-IN" dirty="0"/>
          </a:p>
        </p:txBody>
      </p:sp>
      <p:sp>
        <p:nvSpPr>
          <p:cNvPr id="10" name="Thought Bubble: Cloud 3">
            <a:extLst>
              <a:ext uri="{FF2B5EF4-FFF2-40B4-BE49-F238E27FC236}">
                <a16:creationId xmlns:a16="http://schemas.microsoft.com/office/drawing/2014/main" id="{DF72F8F1-5F67-4AD4-B0C7-BC7D164B63E9}"/>
              </a:ext>
            </a:extLst>
          </p:cNvPr>
          <p:cNvSpPr/>
          <p:nvPr/>
        </p:nvSpPr>
        <p:spPr>
          <a:xfrm>
            <a:off x="6908165" y="64336"/>
            <a:ext cx="2415540" cy="1353185"/>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vidyanidhi</a:t>
            </a:r>
          </a:p>
        </p:txBody>
      </p:sp>
      <p:sp>
        <p:nvSpPr>
          <p:cNvPr id="11" name="TextBox 10">
            <a:extLst>
              <a:ext uri="{FF2B5EF4-FFF2-40B4-BE49-F238E27FC236}">
                <a16:creationId xmlns:a16="http://schemas.microsoft.com/office/drawing/2014/main" id="{13028160-425A-43B5-AE3A-021BA46BDF1F}"/>
              </a:ext>
            </a:extLst>
          </p:cNvPr>
          <p:cNvSpPr txBox="1"/>
          <p:nvPr/>
        </p:nvSpPr>
        <p:spPr>
          <a:xfrm>
            <a:off x="4991100" y="274324"/>
            <a:ext cx="399062" cy="369332"/>
          </a:xfrm>
          <a:prstGeom prst="rect">
            <a:avLst/>
          </a:prstGeom>
          <a:noFill/>
        </p:spPr>
        <p:txBody>
          <a:bodyPr wrap="square" rtlCol="0">
            <a:spAutoFit/>
          </a:bodyPr>
          <a:lstStyle/>
          <a:p>
            <a:r>
              <a:rPr lang="en-IN" dirty="0"/>
              <a:t>s</a:t>
            </a:r>
          </a:p>
        </p:txBody>
      </p:sp>
      <p:cxnSp>
        <p:nvCxnSpPr>
          <p:cNvPr id="12" name="Straight Arrow Connector 11">
            <a:extLst>
              <a:ext uri="{FF2B5EF4-FFF2-40B4-BE49-F238E27FC236}">
                <a16:creationId xmlns:a16="http://schemas.microsoft.com/office/drawing/2014/main" id="{B4571A32-1964-4364-AAE8-DF3C011E1FF6}"/>
              </a:ext>
            </a:extLst>
          </p:cNvPr>
          <p:cNvCxnSpPr/>
          <p:nvPr/>
        </p:nvCxnSpPr>
        <p:spPr>
          <a:xfrm>
            <a:off x="6103463" y="867093"/>
            <a:ext cx="795177" cy="1932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p:cNvSpPr/>
          <p:nvPr/>
        </p:nvSpPr>
        <p:spPr>
          <a:xfrm>
            <a:off x="5438480" y="619478"/>
            <a:ext cx="437940" cy="369332"/>
          </a:xfrm>
          <a:prstGeom prst="rect">
            <a:avLst/>
          </a:prstGeom>
        </p:spPr>
        <p:txBody>
          <a:bodyPr wrap="none">
            <a:spAutoFit/>
          </a:bodyPr>
          <a:lstStyle/>
          <a:p>
            <a:r>
              <a:rPr lang="en-IN" dirty="0">
                <a:solidFill>
                  <a:srgbClr val="000000"/>
                </a:solidFill>
                <a:highlight>
                  <a:srgbClr val="FFFFFF"/>
                </a:highlight>
                <a:latin typeface="Consolas" panose="020B0609020204030204" pitchFamily="49" charset="0"/>
              </a:rPr>
              <a:t>s </a:t>
            </a:r>
            <a:endParaRPr lang="en-IN" dirty="0"/>
          </a:p>
        </p:txBody>
      </p:sp>
    </p:spTree>
    <p:extLst>
      <p:ext uri="{BB962C8B-B14F-4D97-AF65-F5344CB8AC3E}">
        <p14:creationId xmlns:p14="http://schemas.microsoft.com/office/powerpoint/2010/main" val="3304476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IComparable</a:t>
            </a:r>
            <a:r>
              <a:rPr lang="en-US" sz="2800" dirty="0">
                <a:solidFill>
                  <a:srgbClr val="008000"/>
                </a:solidFill>
                <a:highlight>
                  <a:srgbClr val="FFFFFF"/>
                </a:highlight>
                <a:latin typeface="Consolas" panose="020B0609020204030204" pitchFamily="49" charset="0"/>
              </a:rPr>
              <a:t>&lt;T&gt;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3"/>
            <a:ext cx="4419600" cy="6096000"/>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Implement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8000"/>
                </a:solidFill>
                <a:highlight>
                  <a:srgbClr val="FFFFFF"/>
                </a:highlight>
                <a:latin typeface="Consolas" panose="020B0609020204030204" pitchFamily="49" charset="0"/>
              </a:rPr>
              <a:t>// Implement the generic </a:t>
            </a:r>
            <a:r>
              <a:rPr lang="en-US" sz="1200" dirty="0" err="1">
                <a:solidFill>
                  <a:srgbClr val="008000"/>
                </a:solidFill>
                <a:highlight>
                  <a:srgbClr val="FFFFFF"/>
                </a:highlight>
                <a:latin typeface="Consolas" panose="020B0609020204030204" pitchFamily="49" charset="0"/>
              </a:rPr>
              <a:t>IComparable</a:t>
            </a:r>
            <a:r>
              <a:rPr lang="en-US" sz="1200" dirty="0">
                <a:solidFill>
                  <a:srgbClr val="008000"/>
                </a:solidFill>
                <a:highlight>
                  <a:srgbClr val="FFFFFF"/>
                </a:highlight>
                <a:latin typeface="Consolas" panose="020B0609020204030204" pitchFamily="49" charset="0"/>
              </a:rPr>
              <a:t>&lt;T&gt; interface.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IComparable</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&lt;T&gt; interface.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CompareTo</a:t>
            </a:r>
            <a:r>
              <a:rPr lang="en-IN" sz="1200" dirty="0">
                <a:solidFill>
                  <a:srgbClr val="000000"/>
                </a:solidFill>
                <a:highlight>
                  <a:srgbClr val="FFFFFF"/>
                </a:highlight>
                <a:latin typeface="Consolas" panose="020B0609020204030204" pitchFamily="49" charset="0"/>
              </a:rPr>
              <a: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name.CompareTo</a:t>
            </a:r>
            <a:r>
              <a:rPr lang="en-US" sz="1200" dirty="0">
                <a:solidFill>
                  <a:srgbClr val="000000"/>
                </a:solidFill>
                <a:highlight>
                  <a:srgbClr val="FFFFFF"/>
                </a:highlight>
                <a:latin typeface="Consolas" panose="020B0609020204030204" pitchFamily="49" charset="0"/>
              </a:rPr>
              <a:t>(obj.name);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0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40197"/>
          </a:xfrm>
          <a:prstGeom prst="rect">
            <a:avLst/>
          </a:prstGeom>
          <a:noFill/>
        </p:spPr>
        <p:txBody>
          <a:bodyPr wrap="square" rtlCol="0">
            <a:spAutoFit/>
          </a:bodyPr>
          <a:lstStyle/>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GenericIComparableDemo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 inv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List</a:t>
            </a:r>
            <a:r>
              <a:rPr lang="en-US" sz="1400" dirty="0">
                <a:solidFill>
                  <a:srgbClr val="000000"/>
                </a:solidFill>
                <a:highlight>
                  <a:srgbClr val="FFFFFF"/>
                </a:highlight>
                <a:latin typeface="Consolas" panose="020B0609020204030204" pitchFamily="49" charset="0"/>
              </a:rPr>
              <a:t>&lt;</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&gt;();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Add elements to the list </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"Pliers"</a:t>
            </a:r>
            <a:r>
              <a:rPr lang="en-US" sz="1400" dirty="0">
                <a:solidFill>
                  <a:srgbClr val="000000"/>
                </a:solidFill>
                <a:highlight>
                  <a:srgbClr val="FFFFFF"/>
                </a:highlight>
                <a:latin typeface="Consolas" panose="020B0609020204030204" pitchFamily="49" charset="0"/>
              </a:rPr>
              <a:t>, 5.95, 3));</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"Wrenches"</a:t>
            </a:r>
            <a:r>
              <a:rPr lang="en-US" sz="1400" dirty="0">
                <a:solidFill>
                  <a:srgbClr val="000000"/>
                </a:solidFill>
                <a:highlight>
                  <a:srgbClr val="FFFFFF"/>
                </a:highlight>
                <a:latin typeface="Consolas" panose="020B0609020204030204" pitchFamily="49" charset="0"/>
              </a:rPr>
              <a:t>, 8.29,2));</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"Hammers"</a:t>
            </a:r>
            <a:r>
              <a:rPr lang="en-US" sz="1400" dirty="0">
                <a:solidFill>
                  <a:srgbClr val="000000"/>
                </a:solidFill>
                <a:highlight>
                  <a:srgbClr val="FFFFFF"/>
                </a:highlight>
                <a:latin typeface="Consolas" panose="020B0609020204030204" pitchFamily="49" charset="0"/>
              </a:rPr>
              <a:t>, 3.50, 4));</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inv.Add</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"Drills"</a:t>
            </a:r>
            <a:r>
              <a:rPr lang="en-US" sz="1400" dirty="0">
                <a:solidFill>
                  <a:srgbClr val="000000"/>
                </a:solidFill>
                <a:highlight>
                  <a:srgbClr val="FFFFFF"/>
                </a:highlight>
                <a:latin typeface="Consolas" panose="020B0609020204030204" pitchFamily="49" charset="0"/>
              </a:rPr>
              <a:t>, 19.88, 8));</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before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Sort the list. </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inv.Sort</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"Inventory list after sorting:"</a:t>
            </a:r>
            <a:r>
              <a:rPr lang="en-US" sz="1400" dirty="0">
                <a:solidFill>
                  <a:srgbClr val="000000"/>
                </a:solidFill>
                <a:highlight>
                  <a:srgbClr val="FFFFFF"/>
                </a:highlight>
                <a:latin typeface="Consolas" panose="020B0609020204030204" pitchFamily="49" charset="0"/>
              </a:rPr>
              <a:t>);</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Inventory</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inv)</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2000" dirty="0"/>
          </a:p>
        </p:txBody>
      </p:sp>
    </p:spTree>
    <p:extLst>
      <p:ext uri="{BB962C8B-B14F-4D97-AF65-F5344CB8AC3E}">
        <p14:creationId xmlns:p14="http://schemas.microsoft.com/office/powerpoint/2010/main" val="117167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07786740"/>
              </p:ext>
            </p:extLst>
          </p:nvPr>
        </p:nvGraphicFramePr>
        <p:xfrm>
          <a:off x="1524000" y="838200"/>
          <a:ext cx="6096000" cy="9296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9296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0"/>
                  </a:ext>
                </a:extLst>
              </a:tr>
            </a:tbl>
          </a:graphicData>
        </a:graphic>
      </p:graphicFrame>
      <p:cxnSp>
        <p:nvCxnSpPr>
          <p:cNvPr id="6" name="Straight Arrow Connector 5"/>
          <p:cNvCxnSpPr/>
          <p:nvPr/>
        </p:nvCxnSpPr>
        <p:spPr>
          <a:xfrm>
            <a:off x="22860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68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"Pliers"</a:t>
            </a:r>
            <a:r>
              <a:rPr lang="en-US" dirty="0">
                <a:solidFill>
                  <a:srgbClr val="000000"/>
                </a:solidFill>
                <a:highlight>
                  <a:srgbClr val="FFFFFF"/>
                </a:highlight>
                <a:latin typeface="Consolas" panose="020B0609020204030204" pitchFamily="49" charset="0"/>
              </a:rPr>
              <a:t>, 5.95,</a:t>
            </a:r>
          </a:p>
          <a:p>
            <a:pPr algn="ctr"/>
            <a:r>
              <a:rPr lang="en-US" dirty="0">
                <a:solidFill>
                  <a:srgbClr val="000000"/>
                </a:solidFill>
                <a:highlight>
                  <a:srgbClr val="FFFFFF"/>
                </a:highlight>
                <a:latin typeface="Consolas" panose="020B0609020204030204" pitchFamily="49" charset="0"/>
              </a:rPr>
              <a:t> 3</a:t>
            </a:r>
            <a:endParaRPr lang="en-IN" dirty="0"/>
          </a:p>
        </p:txBody>
      </p:sp>
      <p:cxnSp>
        <p:nvCxnSpPr>
          <p:cNvPr id="8" name="Straight Arrow Connector 7"/>
          <p:cNvCxnSpPr/>
          <p:nvPr/>
        </p:nvCxnSpPr>
        <p:spPr>
          <a:xfrm>
            <a:off x="4038600" y="15240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8194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A31515"/>
                </a:solidFill>
                <a:highlight>
                  <a:srgbClr val="FFFFFF"/>
                </a:highlight>
                <a:latin typeface="Consolas" panose="020B0609020204030204" pitchFamily="49" charset="0"/>
              </a:rPr>
              <a:t>" Wrenches"</a:t>
            </a:r>
            <a:r>
              <a:rPr lang="en-US" dirty="0">
                <a:solidFill>
                  <a:srgbClr val="000000"/>
                </a:solidFill>
                <a:highlight>
                  <a:srgbClr val="FFFFFF"/>
                </a:highlight>
                <a:latin typeface="Consolas" panose="020B0609020204030204" pitchFamily="49" charset="0"/>
              </a:rPr>
              <a:t>, 8.29,</a:t>
            </a:r>
          </a:p>
          <a:p>
            <a:pPr algn="ctr"/>
            <a:r>
              <a:rPr lang="en-US" dirty="0">
                <a:solidFill>
                  <a:srgbClr val="000000"/>
                </a:solidFill>
                <a:highlight>
                  <a:srgbClr val="FFFFFF"/>
                </a:highlight>
                <a:latin typeface="Consolas" panose="020B0609020204030204" pitchFamily="49" charset="0"/>
              </a:rPr>
              <a:t>2</a:t>
            </a:r>
            <a:endParaRPr lang="en-IN" dirty="0"/>
          </a:p>
        </p:txBody>
      </p:sp>
      <p:sp>
        <p:nvSpPr>
          <p:cNvPr id="12" name="Rectangle 11"/>
          <p:cNvSpPr/>
          <p:nvPr/>
        </p:nvSpPr>
        <p:spPr>
          <a:xfrm>
            <a:off x="4800600" y="2590800"/>
            <a:ext cx="1524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A31515"/>
                </a:solidFill>
                <a:highlight>
                  <a:srgbClr val="FFFFFF"/>
                </a:highlight>
                <a:latin typeface="Consolas" panose="020B0609020204030204" pitchFamily="49" charset="0"/>
              </a:rPr>
              <a:t>"Hammers"</a:t>
            </a:r>
            <a:r>
              <a:rPr lang="en-US" dirty="0">
                <a:solidFill>
                  <a:srgbClr val="000000"/>
                </a:solidFill>
                <a:highlight>
                  <a:srgbClr val="FFFFFF"/>
                </a:highlight>
                <a:latin typeface="Consolas" panose="020B0609020204030204" pitchFamily="49" charset="0"/>
              </a:rPr>
              <a:t>, 3.50,</a:t>
            </a:r>
          </a:p>
          <a:p>
            <a:r>
              <a:rPr lang="en-US" dirty="0">
                <a:solidFill>
                  <a:srgbClr val="000000"/>
                </a:solidFill>
                <a:highlight>
                  <a:srgbClr val="FFFFFF"/>
                </a:highlight>
                <a:latin typeface="Consolas" panose="020B0609020204030204" pitchFamily="49" charset="0"/>
              </a:rPr>
              <a:t> 4</a:t>
            </a:r>
            <a:endParaRPr lang="en-IN" dirty="0"/>
          </a:p>
        </p:txBody>
      </p:sp>
      <p:cxnSp>
        <p:nvCxnSpPr>
          <p:cNvPr id="13" name="Straight Arrow Connector 12"/>
          <p:cNvCxnSpPr/>
          <p:nvPr/>
        </p:nvCxnSpPr>
        <p:spPr>
          <a:xfrm>
            <a:off x="5410200" y="16764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620000" y="1295400"/>
            <a:ext cx="1066800"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4800" y="990600"/>
            <a:ext cx="10668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inv</a:t>
            </a:r>
            <a:endParaRPr lang="en-IN" dirty="0"/>
          </a:p>
        </p:txBody>
      </p:sp>
    </p:spTree>
    <p:extLst>
      <p:ext uri="{BB962C8B-B14F-4D97-AF65-F5344CB8AC3E}">
        <p14:creationId xmlns:p14="http://schemas.microsoft.com/office/powerpoint/2010/main" val="3750434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5AD4-0B93-4C7A-99EB-3C4BED7BE75E}"/>
              </a:ext>
            </a:extLst>
          </p:cNvPr>
          <p:cNvSpPr>
            <a:spLocks noGrp="1"/>
          </p:cNvSpPr>
          <p:nvPr>
            <p:ph type="title"/>
          </p:nvPr>
        </p:nvSpPr>
        <p:spPr>
          <a:xfrm>
            <a:off x="2895600" y="0"/>
            <a:ext cx="6019800" cy="494736"/>
          </a:xfrm>
        </p:spPr>
        <p:txBody>
          <a:bodyPr>
            <a:noAutofit/>
          </a:bodyPr>
          <a:lstStyle/>
          <a:p>
            <a:r>
              <a:rPr lang="en-US" sz="2800" dirty="0" err="1">
                <a:solidFill>
                  <a:srgbClr val="008000"/>
                </a:solidFill>
                <a:highlight>
                  <a:srgbClr val="FFFFFF"/>
                </a:highlight>
                <a:latin typeface="Consolas" panose="020B0609020204030204" pitchFamily="49" charset="0"/>
              </a:rPr>
              <a:t>IComparer</a:t>
            </a:r>
            <a:r>
              <a:rPr lang="en-US" sz="2800" dirty="0">
                <a:solidFill>
                  <a:srgbClr val="008000"/>
                </a:solidFill>
                <a:highlight>
                  <a:srgbClr val="FFFFFF"/>
                </a:highlight>
                <a:latin typeface="Consolas" panose="020B0609020204030204" pitchFamily="49" charset="0"/>
              </a:rPr>
              <a:t> &lt;T&gt;</a:t>
            </a:r>
            <a:endParaRPr lang="en-IN" sz="2800" dirty="0"/>
          </a:p>
        </p:txBody>
      </p:sp>
      <p:sp>
        <p:nvSpPr>
          <p:cNvPr id="3" name="Content Placeholder 2">
            <a:extLst>
              <a:ext uri="{FF2B5EF4-FFF2-40B4-BE49-F238E27FC236}">
                <a16:creationId xmlns:a16="http://schemas.microsoft.com/office/drawing/2014/main" id="{A07EDAFA-6ABB-4FE2-B227-5FC603D90589}"/>
              </a:ext>
            </a:extLst>
          </p:cNvPr>
          <p:cNvSpPr>
            <a:spLocks noGrp="1"/>
          </p:cNvSpPr>
          <p:nvPr>
            <p:ph idx="1"/>
          </p:nvPr>
        </p:nvSpPr>
        <p:spPr>
          <a:xfrm>
            <a:off x="99552" y="215272"/>
            <a:ext cx="4419600" cy="6718927"/>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System.Collections.Generic</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Console_gen_comp</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a:t>
            </a:r>
            <a:r>
              <a:rPr lang="en-US" sz="1200" dirty="0">
                <a:solidFill>
                  <a:srgbClr val="008000"/>
                </a:solidFill>
                <a:highlight>
                  <a:srgbClr val="FFFFFF"/>
                </a:highlight>
                <a:latin typeface="Consolas" panose="020B0609020204030204" pitchFamily="49" charset="0"/>
              </a:rPr>
              <a:t>// Create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for Inventory objects.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IComparer</a:t>
            </a:r>
            <a:r>
              <a:rPr lang="en-IN" sz="1200" dirty="0">
                <a:solidFill>
                  <a:srgbClr val="000000"/>
                </a:solidFill>
                <a:highlight>
                  <a:srgbClr val="FFFFFF"/>
                </a:highlight>
                <a:latin typeface="Consolas" panose="020B0609020204030204" pitchFamily="49" charset="0"/>
              </a:rPr>
              <a:t>&lt;</a:t>
            </a:r>
            <a:r>
              <a:rPr lang="en-IN" sz="1200" dirty="0">
                <a:solidFill>
                  <a:srgbClr val="2B91AF"/>
                </a:solidFill>
                <a:highlight>
                  <a:srgbClr val="FFFFFF"/>
                </a:highlight>
                <a:latin typeface="Consolas" panose="020B0609020204030204" pitchFamily="49" charset="0"/>
              </a:rPr>
              <a:t>Inventory</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Implement the </a:t>
            </a:r>
            <a:r>
              <a:rPr lang="en-IN" sz="1200" dirty="0" err="1">
                <a:solidFill>
                  <a:srgbClr val="008000"/>
                </a:solidFill>
                <a:highlight>
                  <a:srgbClr val="FFFFFF"/>
                </a:highlight>
                <a:latin typeface="Consolas" panose="020B0609020204030204" pitchFamily="49" charset="0"/>
              </a:rPr>
              <a:t>IComparable</a:t>
            </a:r>
            <a:r>
              <a:rPr lang="en-IN" sz="1200" dirty="0">
                <a:solidFill>
                  <a:srgbClr val="008000"/>
                </a:solidFill>
                <a:highlight>
                  <a:srgbClr val="FFFFFF"/>
                </a:highlight>
                <a:latin typeface="Consolas" panose="020B0609020204030204" pitchFamily="49" charset="0"/>
              </a:rPr>
              <a:t> interface.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Compare(</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x,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.Compare</a:t>
            </a:r>
            <a:r>
              <a:rPr lang="en-IN" sz="1200" dirty="0">
                <a:solidFill>
                  <a:srgbClr val="000000"/>
                </a:solidFill>
                <a:highlight>
                  <a:srgbClr val="FFFFFF"/>
                </a:highlight>
                <a:latin typeface="Consolas" panose="020B0609020204030204" pitchFamily="49" charset="0"/>
              </a:rPr>
              <a:t>(x.name, y.name);</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Inventory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cost;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Inventory(</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name = n;</a:t>
            </a:r>
          </a:p>
          <a:p>
            <a:pPr marL="0" indent="0">
              <a:buNone/>
            </a:pPr>
            <a:r>
              <a:rPr lang="en-IN" sz="1200" dirty="0">
                <a:solidFill>
                  <a:srgbClr val="000000"/>
                </a:solidFill>
                <a:highlight>
                  <a:srgbClr val="FFFFFF"/>
                </a:highlight>
                <a:latin typeface="Consolas" panose="020B0609020204030204" pitchFamily="49" charset="0"/>
              </a:rPr>
              <a:t>            cost = c;</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 = h;</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String</a:t>
            </a:r>
            <a:r>
              <a:rPr lang="en-IN" sz="1200" dirty="0" err="1">
                <a:solidFill>
                  <a:srgbClr val="000000"/>
                </a:solidFill>
                <a:highlight>
                  <a:srgbClr val="FFFFFF"/>
                </a:highlight>
                <a:latin typeface="Consolas" panose="020B0609020204030204" pitchFamily="49" charset="0"/>
              </a:rPr>
              <a:t>.Format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"{0,-10}Cost: {1,6:C}  On hand: {2}"</a:t>
            </a:r>
            <a:r>
              <a:rPr lang="en-IN" sz="1200" dirty="0">
                <a:solidFill>
                  <a:srgbClr val="000000"/>
                </a:solidFill>
                <a:highlight>
                  <a:srgbClr val="FFFFFF"/>
                </a:highlight>
                <a:latin typeface="Consolas" panose="020B0609020204030204" pitchFamily="49" charset="0"/>
              </a:rPr>
              <a:t>,  name, cost, </a:t>
            </a:r>
            <a:r>
              <a:rPr lang="en-IN" sz="1200" dirty="0" err="1">
                <a:solidFill>
                  <a:srgbClr val="000000"/>
                </a:solidFill>
                <a:highlight>
                  <a:srgbClr val="FFFFFF"/>
                </a:highlight>
                <a:latin typeface="Consolas" panose="020B0609020204030204" pitchFamily="49" charset="0"/>
              </a:rPr>
              <a:t>onhand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2CEE3C8-84E7-460A-9F02-EAA557818A1E}"/>
              </a:ext>
            </a:extLst>
          </p:cNvPr>
          <p:cNvSpPr txBox="1"/>
          <p:nvPr/>
        </p:nvSpPr>
        <p:spPr>
          <a:xfrm>
            <a:off x="4038600" y="455407"/>
            <a:ext cx="5410200" cy="6370975"/>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 comp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CompInv</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 inv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List</a:t>
            </a:r>
            <a:r>
              <a:rPr lang="en-US" sz="1200" dirty="0">
                <a:solidFill>
                  <a:srgbClr val="000000"/>
                </a:solidFill>
                <a:highlight>
                  <a:srgbClr val="FFFFFF"/>
                </a:highlight>
                <a:latin typeface="Consolas" panose="020B0609020204030204" pitchFamily="49" charset="0"/>
              </a:rPr>
              <a:t>&lt;</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&gt;();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elements to the list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"Pliers"</a:t>
            </a:r>
            <a:r>
              <a:rPr lang="en-US" sz="1200" dirty="0">
                <a:solidFill>
                  <a:srgbClr val="000000"/>
                </a:solidFill>
                <a:highlight>
                  <a:srgbClr val="FFFFFF"/>
                </a:highlight>
                <a:latin typeface="Consolas" panose="020B0609020204030204" pitchFamily="49" charset="0"/>
              </a:rPr>
              <a:t>, 5.95, 3));</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"Wrenches"</a:t>
            </a:r>
            <a:r>
              <a:rPr lang="en-US" sz="1200" dirty="0">
                <a:solidFill>
                  <a:srgbClr val="000000"/>
                </a:solidFill>
                <a:highlight>
                  <a:srgbClr val="FFFFFF"/>
                </a:highlight>
                <a:latin typeface="Consolas" panose="020B0609020204030204" pitchFamily="49" charset="0"/>
              </a:rPr>
              <a:t>, 8.29, 2));</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"Hammers"</a:t>
            </a:r>
            <a:r>
              <a:rPr lang="en-US" sz="1200" dirty="0">
                <a:solidFill>
                  <a:srgbClr val="000000"/>
                </a:solidFill>
                <a:highlight>
                  <a:srgbClr val="FFFFFF"/>
                </a:highlight>
                <a:latin typeface="Consolas" panose="020B0609020204030204" pitchFamily="49" charset="0"/>
              </a:rPr>
              <a:t>, 3.50, 4));</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inv.Add</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"Drills"</a:t>
            </a:r>
            <a:r>
              <a:rPr lang="en-US" sz="1200" dirty="0">
                <a:solidFill>
                  <a:srgbClr val="000000"/>
                </a:solidFill>
                <a:highlight>
                  <a:srgbClr val="FFFFFF"/>
                </a:highlight>
                <a:latin typeface="Consolas" panose="020B0609020204030204" pitchFamily="49" charset="0"/>
              </a:rPr>
              <a:t>, 19.88, 8));</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before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Sort the list using an </a:t>
            </a:r>
            <a:r>
              <a:rPr lang="en-US" sz="1200" dirty="0" err="1">
                <a:solidFill>
                  <a:srgbClr val="008000"/>
                </a:solidFill>
                <a:highlight>
                  <a:srgbClr val="FFFFFF"/>
                </a:highlight>
                <a:latin typeface="Consolas" panose="020B0609020204030204" pitchFamily="49" charset="0"/>
              </a:rPr>
              <a:t>IComparer</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inv.Sort</a:t>
            </a:r>
            <a:r>
              <a:rPr lang="en-IN" sz="1200" dirty="0">
                <a:solidFill>
                  <a:srgbClr val="000000"/>
                </a:solidFill>
                <a:highlight>
                  <a:srgbClr val="FFFFFF"/>
                </a:highlight>
                <a:latin typeface="Consolas" panose="020B0609020204030204" pitchFamily="49" charset="0"/>
              </a:rPr>
              <a:t>(comp);</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"Inventory list after sorting:"</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foreach</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Inventory</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inv)</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endParaRPr lang="en-IN" sz="1400" dirty="0"/>
          </a:p>
        </p:txBody>
      </p:sp>
    </p:spTree>
    <p:extLst>
      <p:ext uri="{BB962C8B-B14F-4D97-AF65-F5344CB8AC3E}">
        <p14:creationId xmlns:p14="http://schemas.microsoft.com/office/powerpoint/2010/main" val="170140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28D7-FE74-43E5-8670-9FDA4BBC1DF5}"/>
              </a:ext>
            </a:extLst>
          </p:cNvPr>
          <p:cNvSpPr>
            <a:spLocks noGrp="1"/>
          </p:cNvSpPr>
          <p:nvPr>
            <p:ph type="title"/>
          </p:nvPr>
        </p:nvSpPr>
        <p:spPr>
          <a:xfrm>
            <a:off x="1143000" y="0"/>
            <a:ext cx="2971800" cy="228600"/>
          </a:xfrm>
        </p:spPr>
        <p:txBody>
          <a:bodyPr>
            <a:normAutofit fontScale="90000"/>
          </a:bodyPr>
          <a:lstStyle/>
          <a:p>
            <a:r>
              <a:rPr lang="en-IN" sz="1100" dirty="0" err="1"/>
              <a:t>IEnumerable</a:t>
            </a:r>
            <a:r>
              <a:rPr lang="en-IN" sz="1100" dirty="0"/>
              <a:t> </a:t>
            </a:r>
          </a:p>
        </p:txBody>
      </p:sp>
      <p:sp>
        <p:nvSpPr>
          <p:cNvPr id="3" name="Content Placeholder 2">
            <a:extLst>
              <a:ext uri="{FF2B5EF4-FFF2-40B4-BE49-F238E27FC236}">
                <a16:creationId xmlns:a16="http://schemas.microsoft.com/office/drawing/2014/main" id="{14B5184F-BA75-4905-B8B2-D437122F4CB4}"/>
              </a:ext>
            </a:extLst>
          </p:cNvPr>
          <p:cNvSpPr>
            <a:spLocks noGrp="1"/>
          </p:cNvSpPr>
          <p:nvPr>
            <p:ph idx="1"/>
          </p:nvPr>
        </p:nvSpPr>
        <p:spPr>
          <a:xfrm>
            <a:off x="0" y="7374"/>
            <a:ext cx="4038600" cy="6850626"/>
          </a:xfrm>
        </p:spPr>
        <p:txBody>
          <a:bodyPr>
            <a:no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System.Collections</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System.Linq</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System.Threading.Tasks;A</a:t>
            </a: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ConsoleApplication1</a:t>
            </a:r>
          </a:p>
          <a:p>
            <a:pPr marL="0" indent="0">
              <a:spcBef>
                <a:spcPts val="0"/>
              </a:spcBef>
              <a:buNone/>
            </a:pP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Employee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Name { </a:t>
            </a:r>
            <a:r>
              <a:rPr lang="en-US" sz="1050" dirty="0">
                <a:solidFill>
                  <a:srgbClr val="0000FF"/>
                </a:solidFill>
                <a:highlight>
                  <a:srgbClr val="FFFFFF"/>
                </a:highlight>
                <a:latin typeface="Consolas" panose="020B0609020204030204" pitchFamily="49" charset="0"/>
              </a:rPr>
              <a:t>get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set</a:t>
            </a:r>
            <a:r>
              <a:rPr lang="en-US"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override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ToString</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Name;</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 s = </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List</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2B91A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emp)</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s.Add</a:t>
            </a:r>
            <a:r>
              <a:rPr lang="en-IN" sz="1050" dirty="0">
                <a:solidFill>
                  <a:srgbClr val="000000"/>
                </a:solidFill>
                <a:highlight>
                  <a:srgbClr val="FFFFFF"/>
                </a:highlight>
                <a:latin typeface="Consolas" panose="020B0609020204030204" pitchFamily="49" charset="0"/>
              </a:rPr>
              <a:t>(emp);</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List</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IEnumerable</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_objects;</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c = 0;</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List()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[3];</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Add(</a:t>
            </a:r>
            <a:r>
              <a:rPr lang="en-US" sz="1050" dirty="0">
                <a:solidFill>
                  <a:srgbClr val="0000FF"/>
                </a:solidFill>
                <a:highlight>
                  <a:srgbClr val="FFFFFF"/>
                </a:highlight>
                <a:latin typeface="Consolas" panose="020B0609020204030204" pitchFamily="49" charset="0"/>
              </a:rPr>
              <a:t>object</a:t>
            </a:r>
            <a:r>
              <a:rPr lang="en-US" sz="1050" dirty="0">
                <a:solidFill>
                  <a:srgbClr val="000000"/>
                </a:solidFill>
                <a:highlight>
                  <a:srgbClr val="FFFFFF"/>
                </a:highlight>
                <a:latin typeface="Consolas" panose="020B0609020204030204" pitchFamily="49" charset="0"/>
              </a:rPr>
              <a:t> obj)</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_objects[</a:t>
            </a:r>
            <a:r>
              <a:rPr lang="en-IN" sz="1050" dirty="0" err="1">
                <a:solidFill>
                  <a:srgbClr val="000000"/>
                </a:solidFill>
                <a:highlight>
                  <a:srgbClr val="FFFFFF"/>
                </a:highlight>
                <a:latin typeface="Consolas" panose="020B0609020204030204" pitchFamily="49" charset="0"/>
              </a:rPr>
              <a:t>c++</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obj</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IEnumerator</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GetEnumerator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id="{664FD561-6129-42F4-99B4-09C3F1DD8D70}"/>
              </a:ext>
            </a:extLst>
          </p:cNvPr>
          <p:cNvSpPr txBox="1"/>
          <p:nvPr/>
        </p:nvSpPr>
        <p:spPr>
          <a:xfrm>
            <a:off x="4419600" y="7374"/>
            <a:ext cx="4343400" cy="7525137"/>
          </a:xfrm>
          <a:prstGeom prst="rect">
            <a:avLst/>
          </a:prstGeom>
          <a:noFill/>
        </p:spPr>
        <p:txBody>
          <a:bodyPr wrap="square" rtlCol="0">
            <a:spAutoFit/>
          </a:bodyPr>
          <a:lstStyle/>
          <a:p>
            <a:pPr marL="0" indent="0">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ListEnumerator</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IEnumerator</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private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bool</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&lt; _</a:t>
            </a:r>
            <a:r>
              <a:rPr lang="en-IN" sz="1050" dirty="0" err="1">
                <a:solidFill>
                  <a:srgbClr val="000000"/>
                </a:solidFill>
                <a:highlight>
                  <a:srgbClr val="FFFFFF"/>
                </a:highlight>
                <a:latin typeface="Consolas" panose="020B0609020204030204" pitchFamily="49" charset="0"/>
              </a:rPr>
              <a:t>objects.Length</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object</a:t>
            </a:r>
            <a:r>
              <a:rPr lang="en-IN" sz="1050" dirty="0">
                <a:solidFill>
                  <a:srgbClr val="000000"/>
                </a:solidFill>
                <a:highlight>
                  <a:srgbClr val="FFFFFF"/>
                </a:highlight>
                <a:latin typeface="Consolas" panose="020B0609020204030204" pitchFamily="49" charset="0"/>
              </a:rPr>
              <a:t> Current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get</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try</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_objects[_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catch</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IndexOutOfRangeException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throw</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InvalidOperationException</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Reset()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_</a:t>
            </a:r>
            <a:r>
              <a:rPr lang="en-IN" sz="1050" dirty="0" err="1">
                <a:solidFill>
                  <a:srgbClr val="000000"/>
                </a:solidFill>
                <a:highlight>
                  <a:srgbClr val="FFFFFF"/>
                </a:highlight>
                <a:latin typeface="Consolas" panose="020B0609020204030204" pitchFamily="49" charset="0"/>
              </a:rPr>
              <a:t>currentIndex</a:t>
            </a:r>
            <a:r>
              <a:rPr lang="en-IN" sz="1050" dirty="0">
                <a:solidFill>
                  <a:srgbClr val="000000"/>
                </a:solidFill>
                <a:highlight>
                  <a:srgbClr val="FFFFFF"/>
                </a:highlight>
                <a:latin typeface="Consolas" panose="020B0609020204030204" pitchFamily="49" charset="0"/>
              </a:rPr>
              <a:t> = -1;</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Program</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void</a:t>
            </a:r>
            <a:r>
              <a:rPr lang="en-US" sz="1050" dirty="0">
                <a:solidFill>
                  <a:srgbClr val="000000"/>
                </a:solidFill>
                <a:highlight>
                  <a:srgbClr val="FFFFFF"/>
                </a:highlight>
                <a:latin typeface="Consolas" panose="020B0609020204030204" pitchFamily="49" charset="0"/>
              </a:rPr>
              <a:t> Main(</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args</a:t>
            </a:r>
            <a:r>
              <a:rPr lang="en-US"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 c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Company</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"Raj"</a:t>
            </a:r>
            <a:r>
              <a:rPr lang="en-US" sz="1050" dirty="0">
                <a:solidFill>
                  <a:srgbClr val="000000"/>
                </a:solidFill>
                <a:highlight>
                  <a:srgbClr val="FFFFFF"/>
                </a:highlight>
                <a:latin typeface="Consolas" panose="020B0609020204030204" pitchFamily="49" charset="0"/>
              </a:rPr>
              <a:t> });</a:t>
            </a:r>
          </a:p>
          <a:p>
            <a:pPr marL="0" indent="0">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c.add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new</a:t>
            </a:r>
            <a:r>
              <a:rPr lang="en-US" sz="1050" dirty="0">
                <a:solidFill>
                  <a:srgbClr val="000000"/>
                </a:solidFill>
                <a:highlight>
                  <a:srgbClr val="FFFFFF"/>
                </a:highlight>
                <a:latin typeface="Consolas" panose="020B0609020204030204" pitchFamily="49" charset="0"/>
              </a:rPr>
              <a:t> </a:t>
            </a:r>
            <a:r>
              <a:rPr lang="en-US" sz="1050" dirty="0">
                <a:solidFill>
                  <a:srgbClr val="2B91AF"/>
                </a:solidFill>
                <a:highlight>
                  <a:srgbClr val="FFFFFF"/>
                </a:highlight>
                <a:latin typeface="Consolas" panose="020B0609020204030204" pitchFamily="49" charset="0"/>
              </a:rPr>
              <a:t>Employee</a:t>
            </a:r>
            <a:r>
              <a:rPr lang="en-US" sz="1050" dirty="0">
                <a:solidFill>
                  <a:srgbClr val="000000"/>
                </a:solidFill>
                <a:highlight>
                  <a:srgbClr val="FFFFFF"/>
                </a:highlight>
                <a:latin typeface="Consolas" panose="020B0609020204030204" pitchFamily="49" charset="0"/>
              </a:rPr>
              <a:t>() { Name = </a:t>
            </a:r>
            <a:r>
              <a:rPr lang="en-US" sz="1050" dirty="0">
                <a:solidFill>
                  <a:srgbClr val="A31515"/>
                </a:solidFill>
                <a:highlight>
                  <a:srgbClr val="FFFFFF"/>
                </a:highlight>
                <a:latin typeface="Consolas" panose="020B0609020204030204" pitchFamily="49" charset="0"/>
              </a:rPr>
              <a:t>"Geeta"</a:t>
            </a:r>
            <a:r>
              <a:rPr lang="en-US" sz="1050" dirty="0">
                <a:solidFill>
                  <a:srgbClr val="000000"/>
                </a:solidFill>
                <a:highlight>
                  <a:srgbClr val="FFFFFF"/>
                </a:highlight>
                <a:latin typeface="Consolas" panose="020B0609020204030204" pitchFamily="49" charset="0"/>
              </a:rPr>
              <a:t> });</a:t>
            </a: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sv-SE" sz="1050" dirty="0">
                <a:solidFill>
                  <a:srgbClr val="000000"/>
                </a:solidFill>
                <a:highlight>
                  <a:srgbClr val="FFFFFF"/>
                </a:highlight>
                <a:latin typeface="Consolas" panose="020B0609020204030204" pitchFamily="49" charset="0"/>
              </a:rPr>
              <a:t>            </a:t>
            </a:r>
            <a:r>
              <a:rPr lang="sv-SE" sz="1050" dirty="0">
                <a:solidFill>
                  <a:srgbClr val="0000FF"/>
                </a:solidFill>
                <a:highlight>
                  <a:srgbClr val="FFFFFF"/>
                </a:highlight>
                <a:latin typeface="Consolas" panose="020B0609020204030204" pitchFamily="49" charset="0"/>
              </a:rPr>
              <a:t>var</a:t>
            </a:r>
            <a:r>
              <a:rPr lang="sv-SE" sz="1050" dirty="0">
                <a:solidFill>
                  <a:srgbClr val="000000"/>
                </a:solidFill>
                <a:highlight>
                  <a:srgbClr val="FFFFFF"/>
                </a:highlight>
                <a:latin typeface="Consolas" panose="020B0609020204030204" pitchFamily="49" charset="0"/>
              </a:rPr>
              <a:t> enumerator = c.s.GetEnumerator();</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while</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enumerator.MoveNext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enumerator.Current</a:t>
            </a:r>
            <a:r>
              <a:rPr lang="en-IN" sz="1050" dirty="0">
                <a:solidFill>
                  <a:srgbClr val="000000"/>
                </a:solidFill>
                <a:highlight>
                  <a:srgbClr val="FFFFFF"/>
                </a:highlight>
                <a:latin typeface="Consolas" panose="020B0609020204030204" pitchFamily="49" charset="0"/>
              </a:rPr>
              <a:t>);</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endParaRPr lang="en-IN" sz="1050" dirty="0">
              <a:solidFill>
                <a:srgbClr val="000000"/>
              </a:solidFill>
              <a:highlight>
                <a:srgbClr val="FFFFFF"/>
              </a:highlight>
              <a:latin typeface="Consolas" panose="020B0609020204030204" pitchFamily="49" charset="0"/>
            </a:endParaRP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    }</a:t>
            </a:r>
          </a:p>
          <a:p>
            <a:pPr marL="0" indent="0">
              <a:spcBef>
                <a:spcPts val="0"/>
              </a:spcBef>
              <a:buNone/>
            </a:pPr>
            <a:r>
              <a:rPr lang="en-IN" sz="105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331405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2830</TotalTime>
  <Words>6544</Words>
  <Application>Microsoft Office PowerPoint</Application>
  <PresentationFormat>On-screen Show (4:3)</PresentationFormat>
  <Paragraphs>1200</Paragraphs>
  <Slides>33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Cambria</vt:lpstr>
      <vt:lpstr>Cascadia Mono</vt:lpstr>
      <vt:lpstr>Consolas</vt:lpstr>
      <vt:lpstr>Garamond</vt:lpstr>
      <vt:lpstr>Georgia</vt:lpstr>
      <vt:lpstr>Helvetica</vt:lpstr>
      <vt:lpstr>Times New Roman</vt:lpstr>
      <vt:lpstr>Trebuchet MS</vt:lpstr>
      <vt:lpstr>Office Theme</vt:lpstr>
      <vt:lpstr>PowerPoint Presentation</vt:lpstr>
      <vt:lpstr>PowerPoint Presentation</vt:lpstr>
      <vt:lpstr>PowerPoint Presentation</vt:lpstr>
      <vt:lpstr>PowerPoint Presentation</vt:lpstr>
      <vt:lpstr>Non Generic</vt:lpstr>
      <vt:lpstr>List class</vt:lpstr>
      <vt:lpstr>How to remove and modify data in list</vt:lpstr>
      <vt:lpstr>PowerPoint Presentation</vt:lpstr>
      <vt:lpstr>PowerPoint Presentation</vt:lpstr>
      <vt:lpstr>DEMO Predicate</vt:lpstr>
      <vt:lpstr>Passing method definition in method call</vt:lpstr>
      <vt:lpstr>Sorted List</vt:lpstr>
      <vt:lpstr>PowerPoint Presentation</vt:lpstr>
      <vt:lpstr>PowerPoint Presentation</vt:lpstr>
      <vt:lpstr>Demo 2 Sorted List</vt:lpstr>
      <vt:lpstr>PowerPoint Presentation</vt:lpstr>
      <vt:lpstr>SortedList</vt:lpstr>
      <vt:lpstr>Dictionary </vt:lpstr>
      <vt:lpstr>Sorted Dictionary</vt:lpstr>
      <vt:lpstr>HashSet</vt:lpstr>
      <vt:lpstr>HashSet</vt:lpstr>
      <vt:lpstr>Set</vt:lpstr>
      <vt:lpstr>PowerPoint Presentation</vt:lpstr>
      <vt:lpstr>Set</vt:lpstr>
      <vt:lpstr>Set</vt:lpstr>
      <vt:lpstr>PowerPoint Presentation</vt:lpstr>
      <vt:lpstr>Sorted set</vt:lpstr>
      <vt:lpstr>HashSet</vt:lpstr>
      <vt:lpstr>Dictionary</vt:lpstr>
      <vt:lpstr>IComparable&lt;T&gt;</vt:lpstr>
      <vt:lpstr>PowerPoint Presentation</vt:lpstr>
      <vt:lpstr>IComparer &lt;T&gt;</vt:lpstr>
      <vt:lpstr>IEnumerable </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151</cp:revision>
  <dcterms:created xsi:type="dcterms:W3CDTF">2012-05-24T05:32:28Z</dcterms:created>
  <dcterms:modified xsi:type="dcterms:W3CDTF">2024-10-12T07:36:47Z</dcterms:modified>
</cp:coreProperties>
</file>