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67" r:id="rId2"/>
    <p:sldId id="268" r:id="rId3"/>
    <p:sldId id="269" r:id="rId4"/>
    <p:sldId id="271" r:id="rId5"/>
    <p:sldId id="270" r:id="rId6"/>
    <p:sldId id="272" r:id="rId7"/>
    <p:sldId id="273" r:id="rId8"/>
    <p:sldId id="274" r:id="rId9"/>
    <p:sldId id="275" r:id="rId10"/>
    <p:sldId id="290" r:id="rId11"/>
    <p:sldId id="277" r:id="rId12"/>
    <p:sldId id="276" r:id="rId13"/>
    <p:sldId id="278" r:id="rId14"/>
    <p:sldId id="279" r:id="rId15"/>
    <p:sldId id="288" r:id="rId16"/>
    <p:sldId id="280" r:id="rId17"/>
    <p:sldId id="281" r:id="rId18"/>
    <p:sldId id="282" r:id="rId19"/>
    <p:sldId id="283" r:id="rId20"/>
    <p:sldId id="284" r:id="rId21"/>
    <p:sldId id="285" r:id="rId22"/>
    <p:sldId id="289" r:id="rId23"/>
    <p:sldId id="287" r:id="rId24"/>
    <p:sldId id="286" r:id="rId25"/>
    <p:sldId id="291" r:id="rId26"/>
    <p:sldId id="292" r:id="rId27"/>
    <p:sldId id="293" r:id="rId28"/>
    <p:sldId id="294" r:id="rId29"/>
    <p:sldId id="295" r:id="rId30"/>
    <p:sldId id="296"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666" y="-25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548FC8-179F-4B2E-8A39-D3DD0F2C6554}" type="datetimeFigureOut">
              <a:rPr lang="en-IN" smtClean="0"/>
              <a:t>11-04-2025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D7305B-C6AF-4C59-B2E4-1F9F0FB5E7C6}" type="slidenum">
              <a:rPr lang="en-IN" smtClean="0"/>
              <a:t>‹#›</a:t>
            </a:fld>
            <a:endParaRPr lang="en-IN"/>
          </a:p>
        </p:txBody>
      </p:sp>
    </p:spTree>
    <p:extLst>
      <p:ext uri="{BB962C8B-B14F-4D97-AF65-F5344CB8AC3E}">
        <p14:creationId xmlns:p14="http://schemas.microsoft.com/office/powerpoint/2010/main" val="108626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IN" dirty="0"/>
          </a:p>
        </p:txBody>
      </p:sp>
      <p:sp>
        <p:nvSpPr>
          <p:cNvPr id="4" name="Slide Number Placeholder 3"/>
          <p:cNvSpPr>
            <a:spLocks noGrp="1"/>
          </p:cNvSpPr>
          <p:nvPr>
            <p:ph type="sldNum" sz="quarter" idx="10"/>
          </p:nvPr>
        </p:nvSpPr>
        <p:spPr/>
        <p:txBody>
          <a:bodyPr/>
          <a:lstStyle/>
          <a:p>
            <a:fld id="{51D7305B-C6AF-4C59-B2E4-1F9F0FB5E7C6}" type="slidenum">
              <a:rPr lang="en-IN" smtClean="0"/>
              <a:t>5</a:t>
            </a:fld>
            <a:endParaRPr lang="en-IN"/>
          </a:p>
        </p:txBody>
      </p:sp>
    </p:spTree>
    <p:extLst>
      <p:ext uri="{BB962C8B-B14F-4D97-AF65-F5344CB8AC3E}">
        <p14:creationId xmlns:p14="http://schemas.microsoft.com/office/powerpoint/2010/main" val="3578945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49FE38-F050-47FC-972A-2C62A7FE0238}"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49FE38-F050-47FC-972A-2C62A7FE0238}"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49FE38-F050-47FC-972A-2C62A7FE0238}" type="datetimeFigureOut">
              <a:rPr lang="en-US" smtClean="0"/>
              <a:pPr/>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49FE38-F050-47FC-972A-2C62A7FE0238}" type="datetimeFigureOut">
              <a:rPr lang="en-US" smtClean="0"/>
              <a:pPr/>
              <a:t>4/11/2025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49FE38-F050-47FC-972A-2C62A7FE0238}" type="datetimeFigureOut">
              <a:rPr lang="en-US" smtClean="0"/>
              <a:pPr/>
              <a:t>4/11/2025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49FE38-F050-47FC-972A-2C62A7FE0238}" type="datetimeFigureOut">
              <a:rPr lang="en-US" smtClean="0"/>
              <a:pPr/>
              <a:t>4/11/2025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9FE38-F050-47FC-972A-2C62A7FE0238}" type="datetimeFigureOut">
              <a:rPr lang="en-US" smtClean="0"/>
              <a:pPr/>
              <a:t>4/11/2025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750578-D8D6-4767-8C49-4EFFCBD988B0}" type="slidenum">
              <a:rPr lang="en-US" smtClean="0"/>
              <a:pPr/>
              <a:t>‹#›</a:t>
            </a:fld>
            <a:endParaRPr lang="en-US"/>
          </a:p>
        </p:txBody>
      </p:sp>
      <p:pic>
        <p:nvPicPr>
          <p:cNvPr id="8" name="Picture 7">
            <a:extLst>
              <a:ext uri="{FF2B5EF4-FFF2-40B4-BE49-F238E27FC236}">
                <a16:creationId xmlns:a16="http://schemas.microsoft.com/office/drawing/2014/main" xmlns="" id="{5F35BFC4-6EE2-4A43-98E9-146BD6B5190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126806"/>
            <a:ext cx="1282699" cy="857534"/>
          </a:xfrm>
          <a:prstGeom prst="rect">
            <a:avLst/>
          </a:prstGeom>
        </p:spPr>
      </p:pic>
      <p:sp>
        <p:nvSpPr>
          <p:cNvPr id="10" name="Rectangle 9">
            <a:extLst>
              <a:ext uri="{FF2B5EF4-FFF2-40B4-BE49-F238E27FC236}">
                <a16:creationId xmlns:a16="http://schemas.microsoft.com/office/drawing/2014/main" xmlns="" id="{1DC139F7-30EE-4C3C-BBF4-BAD32D2B5D66}"/>
              </a:ext>
            </a:extLst>
          </p:cNvPr>
          <p:cNvSpPr/>
          <p:nvPr userDrawn="1"/>
        </p:nvSpPr>
        <p:spPr>
          <a:xfrm>
            <a:off x="0" y="6567586"/>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DDFEADA-E901-4302-A497-05D33C2B29A4}"/>
              </a:ext>
            </a:extLst>
          </p:cNvPr>
          <p:cNvSpPr>
            <a:spLocks noGrp="1"/>
          </p:cNvSpPr>
          <p:nvPr>
            <p:ph idx="1"/>
          </p:nvPr>
        </p:nvSpPr>
        <p:spPr>
          <a:xfrm>
            <a:off x="1314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xmlns="" id="{E8DE8A8E-ED85-4B70-916D-ED56E0E40BBC}"/>
              </a:ext>
            </a:extLst>
          </p:cNvPr>
          <p:cNvSpPr txBox="1"/>
          <p:nvPr/>
        </p:nvSpPr>
        <p:spPr>
          <a:xfrm>
            <a:off x="1543050" y="3886201"/>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a:t>ketkiacharya</a:t>
            </a:r>
            <a:r>
              <a:rPr lang="en-IN" sz="1350"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3063E1-BF08-43CD-858A-C993B40756A3}"/>
              </a:ext>
            </a:extLst>
          </p:cNvPr>
          <p:cNvSpPr>
            <a:spLocks noGrp="1"/>
          </p:cNvSpPr>
          <p:nvPr>
            <p:ph type="title"/>
          </p:nvPr>
        </p:nvSpPr>
        <p:spPr>
          <a:xfrm>
            <a:off x="685800" y="-93406"/>
            <a:ext cx="8229600" cy="779206"/>
          </a:xfrm>
        </p:spPr>
        <p:txBody>
          <a:bodyPr/>
          <a:lstStyle/>
          <a:p>
            <a:r>
              <a:rPr lang="en-IN" dirty="0" err="1"/>
              <a:t>LinQ</a:t>
            </a:r>
            <a:endParaRPr lang="en-IN" dirty="0"/>
          </a:p>
        </p:txBody>
      </p:sp>
      <p:pic>
        <p:nvPicPr>
          <p:cNvPr id="4" name="Content Placeholder 3" descr="LINQ Architecture">
            <a:extLst>
              <a:ext uri="{FF2B5EF4-FFF2-40B4-BE49-F238E27FC236}">
                <a16:creationId xmlns:a16="http://schemas.microsoft.com/office/drawing/2014/main" xmlns="" id="{CB1D3CCB-789E-4FC2-9D01-D4310D2A359B}"/>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58551" y="561438"/>
            <a:ext cx="6291262" cy="4450556"/>
          </a:xfrm>
          <a:prstGeom prst="rect">
            <a:avLst/>
          </a:prstGeom>
          <a:noFill/>
          <a:ln>
            <a:noFill/>
          </a:ln>
        </p:spPr>
      </p:pic>
      <p:sp>
        <p:nvSpPr>
          <p:cNvPr id="5" name="TextBox 4">
            <a:extLst>
              <a:ext uri="{FF2B5EF4-FFF2-40B4-BE49-F238E27FC236}">
                <a16:creationId xmlns:a16="http://schemas.microsoft.com/office/drawing/2014/main" xmlns="" id="{FDDFB201-D6C2-423F-9F8C-555DE4E7915E}"/>
              </a:ext>
            </a:extLst>
          </p:cNvPr>
          <p:cNvSpPr txBox="1"/>
          <p:nvPr/>
        </p:nvSpPr>
        <p:spPr>
          <a:xfrm>
            <a:off x="381000" y="4800600"/>
            <a:ext cx="8332839" cy="1754326"/>
          </a:xfrm>
          <a:prstGeom prst="rect">
            <a:avLst/>
          </a:prstGeom>
          <a:noFill/>
        </p:spPr>
        <p:txBody>
          <a:bodyPr wrap="square" rtlCol="0">
            <a:spAutoFit/>
          </a:bodyPr>
          <a:lstStyle/>
          <a:p>
            <a:r>
              <a:rPr lang="en-US" dirty="0"/>
              <a:t>What is LINQ</a:t>
            </a:r>
          </a:p>
          <a:p>
            <a:r>
              <a:rPr lang="en-US" dirty="0" err="1"/>
              <a:t>LanguageIntegrated</a:t>
            </a:r>
            <a:r>
              <a:rPr lang="en-US" dirty="0"/>
              <a:t> Query</a:t>
            </a:r>
          </a:p>
          <a:p>
            <a:r>
              <a:rPr lang="en-US" dirty="0"/>
              <a:t>It helps us to query any type of datastore (</a:t>
            </a:r>
            <a:r>
              <a:rPr lang="en-US" dirty="0" err="1"/>
              <a:t>sql,XML,Object</a:t>
            </a:r>
            <a:r>
              <a:rPr lang="en-US" dirty="0"/>
              <a:t> in Memory)</a:t>
            </a:r>
          </a:p>
          <a:p>
            <a:r>
              <a:rPr lang="en-US" dirty="0"/>
              <a:t>without having the need to know the syntax specific to the data source. It also provides intelligence and compile time error</a:t>
            </a:r>
          </a:p>
          <a:p>
            <a:r>
              <a:rPr lang="en-IN" sz="1800" dirty="0">
                <a:effectLst/>
                <a:latin typeface="Calibri" panose="020F0502020204030204" pitchFamily="34" charset="0"/>
                <a:ea typeface="Calibri" panose="020F0502020204030204" pitchFamily="34" charset="0"/>
              </a:rPr>
              <a:t>LINQ was first introduced to the .NET platform in version 3.5,</a:t>
            </a:r>
            <a:endParaRPr lang="en-IN" dirty="0"/>
          </a:p>
        </p:txBody>
      </p:sp>
    </p:spTree>
    <p:extLst>
      <p:ext uri="{BB962C8B-B14F-4D97-AF65-F5344CB8AC3E}">
        <p14:creationId xmlns:p14="http://schemas.microsoft.com/office/powerpoint/2010/main" val="2183854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55ECDF8-D896-45D7-BF9F-25C2BE2374F3}"/>
              </a:ext>
            </a:extLst>
          </p:cNvPr>
          <p:cNvSpPr>
            <a:spLocks noGrp="1"/>
          </p:cNvSpPr>
          <p:nvPr>
            <p:ph idx="1"/>
          </p:nvPr>
        </p:nvSpPr>
        <p:spPr/>
        <p:txBody>
          <a:bodyPr/>
          <a:lstStyle/>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to support the LINQ technology set</a:t>
            </a:r>
            <a:r>
              <a:rPr lang="en-IN" sz="1800" dirty="0">
                <a:latin typeface="Calibri" panose="020F0502020204030204" pitchFamily="34" charset="0"/>
                <a:ea typeface="Calibri" panose="020F0502020204030204" pitchFamily="34" charset="0"/>
                <a:cs typeface="Calibri" panose="020F0502020204030204" pitchFamily="34" charset="0"/>
              </a:rPr>
              <a:t>,</a:t>
            </a:r>
            <a:r>
              <a:rPr lang="en-IN" sz="1800" dirty="0">
                <a:effectLst/>
                <a:latin typeface="Calibri" panose="020F0502020204030204" pitchFamily="34" charset="0"/>
                <a:ea typeface="Calibri" panose="020F0502020204030204" pitchFamily="34" charset="0"/>
                <a:cs typeface="Calibri" panose="020F0502020204030204" pitchFamily="34" charset="0"/>
              </a:rPr>
              <a:t> the C# language uses the following core LINQ-centric features: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implicitly typed local variables [ var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Object/collection initialization syntax [new Employee{Name=“Raj”}</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Lambda expressions  [ n=&gt;n%2==0]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Extension methods [ now we will study]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Anonymous types [var </a:t>
            </a:r>
            <a:r>
              <a:rPr lang="en-IN" sz="1800" dirty="0" err="1">
                <a:effectLst/>
                <a:latin typeface="Calibri" panose="020F0502020204030204" pitchFamily="34" charset="0"/>
                <a:ea typeface="Calibri" panose="020F0502020204030204" pitchFamily="34" charset="0"/>
                <a:cs typeface="Calibri" panose="020F0502020204030204" pitchFamily="34" charset="0"/>
              </a:rPr>
              <a:t>obj</a:t>
            </a:r>
            <a:r>
              <a:rPr lang="en-IN" sz="1800" dirty="0">
                <a:effectLst/>
                <a:latin typeface="Calibri" panose="020F0502020204030204" pitchFamily="34" charset="0"/>
                <a:ea typeface="Calibri" panose="020F0502020204030204" pitchFamily="34" charset="0"/>
                <a:cs typeface="Calibri" panose="020F0502020204030204" pitchFamily="34" charset="0"/>
              </a:rPr>
              <a:t>=new {car=“BMW”, Speed=130}]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48583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B25316-2227-4E4F-8115-27ECDC1B52FE}"/>
              </a:ext>
            </a:extLst>
          </p:cNvPr>
          <p:cNvSpPr>
            <a:spLocks noGrp="1"/>
          </p:cNvSpPr>
          <p:nvPr>
            <p:ph type="title"/>
          </p:nvPr>
        </p:nvSpPr>
        <p:spPr>
          <a:xfrm>
            <a:off x="1524000" y="0"/>
            <a:ext cx="6553200" cy="411162"/>
          </a:xfrm>
        </p:spPr>
        <p:txBody>
          <a:bodyPr>
            <a:normAutofit fontScale="90000"/>
          </a:bodyPr>
          <a:lstStyle/>
          <a:p>
            <a:r>
              <a:rPr lang="en-IN" dirty="0"/>
              <a:t>Why extension method</a:t>
            </a:r>
          </a:p>
        </p:txBody>
      </p:sp>
      <p:sp>
        <p:nvSpPr>
          <p:cNvPr id="3" name="Content Placeholder 2">
            <a:extLst>
              <a:ext uri="{FF2B5EF4-FFF2-40B4-BE49-F238E27FC236}">
                <a16:creationId xmlns:a16="http://schemas.microsoft.com/office/drawing/2014/main" xmlns="" id="{EF80D616-28D5-4107-9BA7-C7A4ABBECCDA}"/>
              </a:ext>
            </a:extLst>
          </p:cNvPr>
          <p:cNvSpPr>
            <a:spLocks noGrp="1"/>
          </p:cNvSpPr>
          <p:nvPr>
            <p:ph idx="1"/>
          </p:nvPr>
        </p:nvSpPr>
        <p:spPr>
          <a:xfrm>
            <a:off x="152400" y="990600"/>
            <a:ext cx="8534400" cy="5135563"/>
          </a:xfrm>
        </p:spPr>
        <p:txBody>
          <a:bodyPr>
            <a:normAutofit fontScale="85000" lnSpcReduction="10000"/>
          </a:bodyPr>
          <a:lstStyle/>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where might this be helpful?     Consider the following possibilities.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First off, say you have a given class that is in production. It becomes clear over time that this class should support a handful of new members. If you were to modify the current class definition directly, you risk the possibility of breaking backward compatibility with older code bases making use of it, as they might not have been compiled with the latest and greatest class definition. One way to ensure backward compatibility would be to create a new derived class from the existing parent; however, now you have two classes to maintain. As we all know, code maintenance is least glamorous part of a software engineer’s job description.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Now consider this situation. Let’s say you have a structure (or maybe a sealed class) and would like to add new members so that it behaves polymorphically in your system. Since structures and sealed classes cannot be extended, your only choice is to add the members to the type, once again risking backward compatibility!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Using extension methods, you are able to modify types without </a:t>
            </a:r>
            <a:r>
              <a:rPr lang="en-IN" sz="1800" dirty="0" err="1">
                <a:effectLst/>
                <a:latin typeface="Cambria" panose="02040503050406030204" pitchFamily="18" charset="0"/>
                <a:ea typeface="Calibri" panose="020F0502020204030204" pitchFamily="34" charset="0"/>
                <a:cs typeface="Utopia-Regular"/>
              </a:rPr>
              <a:t>subclassing</a:t>
            </a:r>
            <a:r>
              <a:rPr lang="en-IN" sz="1800" dirty="0">
                <a:effectLst/>
                <a:latin typeface="Cambria" panose="02040503050406030204" pitchFamily="18" charset="0"/>
                <a:ea typeface="Calibri" panose="020F0502020204030204" pitchFamily="34" charset="0"/>
                <a:cs typeface="Utopia-Regular"/>
              </a:rPr>
              <a:t> and without modifying the type directly.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To be sure, this technique is essentially a smoke and mirror show. The new functionality is only offered to a type if the extension methods have been referenced for use in your current project.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37540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CA5BA3-B1C9-4968-B049-BBBA806B2072}"/>
              </a:ext>
            </a:extLst>
          </p:cNvPr>
          <p:cNvSpPr>
            <a:spLocks noGrp="1"/>
          </p:cNvSpPr>
          <p:nvPr>
            <p:ph type="title"/>
          </p:nvPr>
        </p:nvSpPr>
        <p:spPr>
          <a:xfrm>
            <a:off x="479323" y="-17206"/>
            <a:ext cx="8131277" cy="626806"/>
          </a:xfrm>
        </p:spPr>
        <p:txBody>
          <a:bodyPr>
            <a:normAutofit fontScale="90000"/>
          </a:bodyPr>
          <a:lstStyle/>
          <a:p>
            <a:r>
              <a:rPr lang="en-IN" dirty="0"/>
              <a:t>Extension method</a:t>
            </a:r>
          </a:p>
        </p:txBody>
      </p:sp>
      <p:sp>
        <p:nvSpPr>
          <p:cNvPr id="3" name="Content Placeholder 2">
            <a:extLst>
              <a:ext uri="{FF2B5EF4-FFF2-40B4-BE49-F238E27FC236}">
                <a16:creationId xmlns:a16="http://schemas.microsoft.com/office/drawing/2014/main" xmlns="" id="{7B9F2F0E-DD61-4DC1-9C52-B680E5556DC7}"/>
              </a:ext>
            </a:extLst>
          </p:cNvPr>
          <p:cNvSpPr>
            <a:spLocks noGrp="1"/>
          </p:cNvSpPr>
          <p:nvPr>
            <p:ph idx="1"/>
          </p:nvPr>
        </p:nvSpPr>
        <p:spPr>
          <a:xfrm>
            <a:off x="381000" y="838200"/>
            <a:ext cx="8305800" cy="5287963"/>
          </a:xfrm>
        </p:spPr>
        <p:txBody>
          <a:bodyPr/>
          <a:lstStyle/>
          <a:p>
            <a:r>
              <a:rPr lang="en-IN" sz="1800" dirty="0">
                <a:effectLst/>
                <a:latin typeface="Cambria" panose="02040503050406030204" pitchFamily="18" charset="0"/>
                <a:ea typeface="Calibri" panose="020F0502020204030204" pitchFamily="34" charset="0"/>
                <a:cs typeface="Utopia-Regular"/>
              </a:rPr>
              <a:t>.NET 3.5 introduced the concept of </a:t>
            </a:r>
            <a:r>
              <a:rPr lang="en-IN" sz="1800" i="1" dirty="0">
                <a:effectLst/>
                <a:latin typeface="Cambria" panose="02040503050406030204" pitchFamily="18" charset="0"/>
                <a:ea typeface="Calibri" panose="020F0502020204030204" pitchFamily="34" charset="0"/>
                <a:cs typeface="Utopia-Italic"/>
              </a:rPr>
              <a:t>extension methods</a:t>
            </a:r>
            <a:r>
              <a:rPr lang="en-IN" sz="1800" dirty="0">
                <a:effectLst/>
                <a:latin typeface="Cambria" panose="02040503050406030204" pitchFamily="18" charset="0"/>
                <a:ea typeface="Calibri" panose="020F0502020204030204" pitchFamily="34" charset="0"/>
                <a:cs typeface="Utopia-Regular"/>
              </a:rPr>
              <a:t>, which allow you to add new methods or properties to a class or structure, without modifying the original type in any direct manner. </a:t>
            </a:r>
          </a:p>
          <a:p>
            <a:pPr>
              <a:lnSpc>
                <a:spcPct val="115000"/>
              </a:lnSpc>
              <a:spcAft>
                <a:spcPts val="1000"/>
              </a:spcAft>
            </a:pPr>
            <a:r>
              <a:rPr lang="en-IN" sz="1800" b="1" dirty="0">
                <a:effectLst/>
                <a:latin typeface="Cambria" panose="02040503050406030204" pitchFamily="18" charset="0"/>
                <a:ea typeface="Calibri" panose="020F0502020204030204" pitchFamily="34" charset="0"/>
                <a:cs typeface="Utopia-Regular"/>
              </a:rPr>
              <a:t>Defining Extension Methods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When you define extension methods, the first restriction is that they must be defined within </a:t>
            </a:r>
            <a:r>
              <a:rPr lang="en-IN" sz="1800" b="1" dirty="0">
                <a:effectLst/>
                <a:latin typeface="Cambria" panose="02040503050406030204" pitchFamily="18" charset="0"/>
                <a:ea typeface="Calibri" panose="020F0502020204030204" pitchFamily="34" charset="0"/>
                <a:cs typeface="Utopia-Regular"/>
              </a:rPr>
              <a:t>a static class</a:t>
            </a:r>
            <a:r>
              <a:rPr lang="en-IN" sz="1800" dirty="0">
                <a:effectLst/>
                <a:latin typeface="Cambria" panose="02040503050406030204" pitchFamily="18" charset="0"/>
                <a:ea typeface="Calibri" panose="020F0502020204030204" pitchFamily="34" charset="0"/>
                <a:cs typeface="Utopia-Regular"/>
              </a:rPr>
              <a:t>, therefore, each extension method must be declared with the </a:t>
            </a:r>
            <a:r>
              <a:rPr lang="en-IN" sz="1800" dirty="0">
                <a:effectLst/>
                <a:latin typeface="Cambria" panose="02040503050406030204" pitchFamily="18" charset="0"/>
                <a:ea typeface="Calibri" panose="020F0502020204030204" pitchFamily="34" charset="0"/>
                <a:cs typeface="TheSansMonoConNormal"/>
              </a:rPr>
              <a:t>static </a:t>
            </a:r>
            <a:r>
              <a:rPr lang="en-IN" sz="1800" dirty="0">
                <a:effectLst/>
                <a:latin typeface="Cambria" panose="02040503050406030204" pitchFamily="18" charset="0"/>
                <a:ea typeface="Calibri" panose="020F0502020204030204" pitchFamily="34" charset="0"/>
                <a:cs typeface="Utopia-Regular"/>
              </a:rPr>
              <a:t>keyword.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  The second point is that all extension methods are marked as such by using </a:t>
            </a:r>
            <a:r>
              <a:rPr lang="en-IN" sz="1800" b="1" dirty="0">
                <a:effectLst/>
                <a:latin typeface="Cambria" panose="02040503050406030204" pitchFamily="18" charset="0"/>
                <a:ea typeface="Calibri" panose="020F0502020204030204" pitchFamily="34" charset="0"/>
                <a:cs typeface="Utopia-Regular"/>
              </a:rPr>
              <a:t>the </a:t>
            </a:r>
            <a:r>
              <a:rPr lang="en-IN" sz="1800" b="1" dirty="0">
                <a:effectLst/>
                <a:latin typeface="Cambria" panose="02040503050406030204" pitchFamily="18" charset="0"/>
                <a:ea typeface="Calibri" panose="020F0502020204030204" pitchFamily="34" charset="0"/>
                <a:cs typeface="TheSansMonoConNormal"/>
              </a:rPr>
              <a:t>this </a:t>
            </a:r>
            <a:r>
              <a:rPr lang="en-IN" sz="1800" b="1" dirty="0">
                <a:effectLst/>
                <a:latin typeface="Cambria" panose="02040503050406030204" pitchFamily="18" charset="0"/>
                <a:ea typeface="Calibri" panose="020F0502020204030204" pitchFamily="34" charset="0"/>
                <a:cs typeface="Utopia-Regular"/>
              </a:rPr>
              <a:t>keyword as a modifier </a:t>
            </a:r>
            <a:r>
              <a:rPr lang="en-IN" sz="1800" dirty="0">
                <a:effectLst/>
                <a:latin typeface="Cambria" panose="02040503050406030204" pitchFamily="18" charset="0"/>
                <a:ea typeface="Calibri" panose="020F0502020204030204" pitchFamily="34" charset="0"/>
                <a:cs typeface="Utopia-Regular"/>
              </a:rPr>
              <a:t>on the </a:t>
            </a:r>
            <a:r>
              <a:rPr lang="en-IN" sz="1800" b="1" dirty="0">
                <a:effectLst/>
                <a:latin typeface="Cambria" panose="02040503050406030204" pitchFamily="18" charset="0"/>
                <a:ea typeface="Calibri" panose="020F0502020204030204" pitchFamily="34" charset="0"/>
                <a:cs typeface="Utopia-Regular"/>
              </a:rPr>
              <a:t>first</a:t>
            </a:r>
            <a:r>
              <a:rPr lang="en-IN" sz="1800" dirty="0">
                <a:effectLst/>
                <a:latin typeface="Cambria" panose="02040503050406030204" pitchFamily="18" charset="0"/>
                <a:ea typeface="Calibri" panose="020F0502020204030204" pitchFamily="34" charset="0"/>
                <a:cs typeface="Utopia-Regular"/>
              </a:rPr>
              <a:t> (and only the first) parameter of the method in question.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The “this qualified” parameter represents the item being extended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59972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hought Bubble: Cloud 8">
            <a:extLst>
              <a:ext uri="{FF2B5EF4-FFF2-40B4-BE49-F238E27FC236}">
                <a16:creationId xmlns:a16="http://schemas.microsoft.com/office/drawing/2014/main" xmlns="" id="{75EAB015-21A0-4C52-8B32-5B22FF40C73E}"/>
              </a:ext>
            </a:extLst>
          </p:cNvPr>
          <p:cNvSpPr/>
          <p:nvPr/>
        </p:nvSpPr>
        <p:spPr>
          <a:xfrm>
            <a:off x="1981200" y="609600"/>
            <a:ext cx="1752600" cy="1861066"/>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xmlns="" id="{A440C14E-1342-4A6C-B7F8-13A46481B80F}"/>
              </a:ext>
            </a:extLst>
          </p:cNvPr>
          <p:cNvSpPr>
            <a:spLocks noGrp="1"/>
          </p:cNvSpPr>
          <p:nvPr>
            <p:ph type="title"/>
          </p:nvPr>
        </p:nvSpPr>
        <p:spPr>
          <a:xfrm>
            <a:off x="1066800" y="0"/>
            <a:ext cx="7620000" cy="258762"/>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xmlns="" id="{3C6C3582-C4CD-48D8-9B08-CF85FC8F8240}"/>
              </a:ext>
            </a:extLst>
          </p:cNvPr>
          <p:cNvSpPr>
            <a:spLocks noGrp="1"/>
          </p:cNvSpPr>
          <p:nvPr>
            <p:ph idx="1"/>
          </p:nvPr>
        </p:nvSpPr>
        <p:spPr>
          <a:xfrm>
            <a:off x="4191000" y="258762"/>
            <a:ext cx="5791200" cy="5943600"/>
          </a:xfrm>
        </p:spPr>
        <p:txBody>
          <a:bodyPr>
            <a:noAutofit/>
          </a:bodyPr>
          <a:lstStyle/>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ConsoleApplication20</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str = </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edac</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rs</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str.changefirstlett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rs</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.ReadLine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a:t>
            </a:r>
            <a:r>
              <a:rPr lang="en-US" sz="1400" dirty="0" err="1">
                <a:solidFill>
                  <a:srgbClr val="008000"/>
                </a:solidFill>
                <a:highlight>
                  <a:srgbClr val="FFFFFF"/>
                </a:highlight>
                <a:latin typeface="Consolas" panose="020B0609020204030204" pitchFamily="49" charset="0"/>
              </a:rPr>
              <a:t>obsereve</a:t>
            </a:r>
            <a:r>
              <a:rPr lang="en-US" sz="1400" dirty="0">
                <a:solidFill>
                  <a:srgbClr val="008000"/>
                </a:solidFill>
                <a:highlight>
                  <a:srgbClr val="FFFFFF"/>
                </a:highlight>
                <a:latin typeface="Consolas" panose="020B0609020204030204" pitchFamily="49" charset="0"/>
              </a:rPr>
              <a:t> class is  static and use of this key words</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endParaRPr lang="en-IN" sz="1400" dirty="0"/>
          </a:p>
        </p:txBody>
      </p:sp>
      <p:sp>
        <p:nvSpPr>
          <p:cNvPr id="4" name="TextBox 3">
            <a:extLst>
              <a:ext uri="{FF2B5EF4-FFF2-40B4-BE49-F238E27FC236}">
                <a16:creationId xmlns:a16="http://schemas.microsoft.com/office/drawing/2014/main" xmlns="" id="{A5F8BDCC-47CD-439F-8903-07B3CE2BCC33}"/>
              </a:ext>
            </a:extLst>
          </p:cNvPr>
          <p:cNvSpPr txBox="1"/>
          <p:nvPr/>
        </p:nvSpPr>
        <p:spPr>
          <a:xfrm>
            <a:off x="228600" y="4038600"/>
            <a:ext cx="8915400" cy="2862322"/>
          </a:xfrm>
          <a:prstGeom prst="rect">
            <a:avLst/>
          </a:prstGeom>
          <a:noFill/>
        </p:spPr>
        <p:txBody>
          <a:bodyPr wrap="square" rtlCol="0">
            <a:spAutoFit/>
          </a:bodyPr>
          <a:lstStyle/>
          <a:p>
            <a:pPr marL="0" indent="0">
              <a:buNone/>
            </a:pP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strhelp</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changefirstlett</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this</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inp</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inp.Length</a:t>
            </a:r>
            <a:r>
              <a:rPr lang="en-IN" sz="1200" dirty="0">
                <a:solidFill>
                  <a:srgbClr val="000000"/>
                </a:solidFill>
                <a:highlight>
                  <a:srgbClr val="FFFFFF"/>
                </a:highlight>
                <a:latin typeface="Consolas" panose="020B0609020204030204" pitchFamily="49" charset="0"/>
              </a:rPr>
              <a:t> &gt; 0)</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char</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inp.ToCharArray</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 = </a:t>
            </a:r>
            <a:r>
              <a:rPr lang="en-IN" sz="1200" dirty="0" err="1">
                <a:solidFill>
                  <a:srgbClr val="0000FF"/>
                </a:solidFill>
                <a:highlight>
                  <a:srgbClr val="FFFFFF"/>
                </a:highlight>
                <a:latin typeface="Consolas" panose="020B0609020204030204" pitchFamily="49" charset="0"/>
              </a:rPr>
              <a:t>char</a:t>
            </a:r>
            <a:r>
              <a:rPr lang="en-IN" sz="1200" dirty="0" err="1">
                <a:solidFill>
                  <a:srgbClr val="000000"/>
                </a:solidFill>
                <a:highlight>
                  <a:srgbClr val="FFFFFF"/>
                </a:highlight>
                <a:latin typeface="Consolas" panose="020B0609020204030204" pitchFamily="49" charset="0"/>
              </a:rPr>
              <a:t>.IsUpper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 ? </a:t>
            </a:r>
            <a:r>
              <a:rPr lang="en-IN" sz="1200" dirty="0" err="1">
                <a:solidFill>
                  <a:srgbClr val="0000FF"/>
                </a:solidFill>
                <a:highlight>
                  <a:srgbClr val="FFFFFF"/>
                </a:highlight>
                <a:latin typeface="Consolas" panose="020B0609020204030204" pitchFamily="49" charset="0"/>
              </a:rPr>
              <a:t>char</a:t>
            </a:r>
            <a:r>
              <a:rPr lang="en-IN" sz="1200" dirty="0" err="1">
                <a:solidFill>
                  <a:srgbClr val="000000"/>
                </a:solidFill>
                <a:highlight>
                  <a:srgbClr val="FFFFFF"/>
                </a:highlight>
                <a:latin typeface="Consolas" panose="020B0609020204030204" pitchFamily="49" charset="0"/>
              </a:rPr>
              <a:t>.ToLower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 : </a:t>
            </a:r>
            <a:r>
              <a:rPr lang="en-IN" sz="1200" dirty="0" err="1">
                <a:solidFill>
                  <a:srgbClr val="0000FF"/>
                </a:solidFill>
                <a:highlight>
                  <a:srgbClr val="FFFFFF"/>
                </a:highlight>
                <a:latin typeface="Consolas" panose="020B0609020204030204" pitchFamily="49" charset="0"/>
              </a:rPr>
              <a:t>char</a:t>
            </a:r>
            <a:r>
              <a:rPr lang="en-IN" sz="1200" dirty="0" err="1">
                <a:solidFill>
                  <a:srgbClr val="000000"/>
                </a:solidFill>
                <a:highlight>
                  <a:srgbClr val="FFFFFF"/>
                </a:highlight>
                <a:latin typeface="Consolas" panose="020B0609020204030204" pitchFamily="49" charset="0"/>
              </a:rPr>
              <a:t>.ToUpper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char_arr</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inp</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p:txBody>
      </p:sp>
      <p:sp>
        <p:nvSpPr>
          <p:cNvPr id="5" name="Rectangle 4">
            <a:extLst>
              <a:ext uri="{FF2B5EF4-FFF2-40B4-BE49-F238E27FC236}">
                <a16:creationId xmlns:a16="http://schemas.microsoft.com/office/drawing/2014/main" xmlns="" id="{989E9DA7-7265-4722-B6C6-EAD10C90D767}"/>
              </a:ext>
            </a:extLst>
          </p:cNvPr>
          <p:cNvSpPr/>
          <p:nvPr/>
        </p:nvSpPr>
        <p:spPr>
          <a:xfrm>
            <a:off x="2286000" y="958334"/>
            <a:ext cx="9906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edac</a:t>
            </a:r>
            <a:endParaRPr lang="en-IN" dirty="0"/>
          </a:p>
        </p:txBody>
      </p:sp>
      <p:sp>
        <p:nvSpPr>
          <p:cNvPr id="6" name="TextBox 5">
            <a:extLst>
              <a:ext uri="{FF2B5EF4-FFF2-40B4-BE49-F238E27FC236}">
                <a16:creationId xmlns:a16="http://schemas.microsoft.com/office/drawing/2014/main" xmlns="" id="{5D23E854-6094-4747-ADEC-F31F105E26B6}"/>
              </a:ext>
            </a:extLst>
          </p:cNvPr>
          <p:cNvSpPr txBox="1"/>
          <p:nvPr/>
        </p:nvSpPr>
        <p:spPr>
          <a:xfrm>
            <a:off x="685800" y="1143000"/>
            <a:ext cx="457200" cy="369332"/>
          </a:xfrm>
          <a:prstGeom prst="rect">
            <a:avLst/>
          </a:prstGeom>
          <a:noFill/>
        </p:spPr>
        <p:txBody>
          <a:bodyPr wrap="square" rtlCol="0">
            <a:spAutoFit/>
          </a:bodyPr>
          <a:lstStyle/>
          <a:p>
            <a:r>
              <a:rPr lang="en-IN" dirty="0"/>
              <a:t>str</a:t>
            </a:r>
          </a:p>
        </p:txBody>
      </p:sp>
      <p:cxnSp>
        <p:nvCxnSpPr>
          <p:cNvPr id="8" name="Straight Arrow Connector 7">
            <a:extLst>
              <a:ext uri="{FF2B5EF4-FFF2-40B4-BE49-F238E27FC236}">
                <a16:creationId xmlns:a16="http://schemas.microsoft.com/office/drawing/2014/main" xmlns="" id="{B4BF5334-C710-4B3E-A74E-D5155ECC436E}"/>
              </a:ext>
            </a:extLst>
          </p:cNvPr>
          <p:cNvCxnSpPr>
            <a:stCxn id="6" idx="3"/>
          </p:cNvCxnSpPr>
          <p:nvPr/>
        </p:nvCxnSpPr>
        <p:spPr>
          <a:xfrm>
            <a:off x="1143000" y="1327666"/>
            <a:ext cx="838200" cy="43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xmlns="" id="{82E328CC-4FEB-493F-AC3A-9421B98D98FE}"/>
              </a:ext>
            </a:extLst>
          </p:cNvPr>
          <p:cNvSpPr txBox="1"/>
          <p:nvPr/>
        </p:nvSpPr>
        <p:spPr>
          <a:xfrm>
            <a:off x="173295" y="2997465"/>
            <a:ext cx="1170038" cy="369332"/>
          </a:xfrm>
          <a:prstGeom prst="rect">
            <a:avLst/>
          </a:prstGeom>
          <a:noFill/>
        </p:spPr>
        <p:txBody>
          <a:bodyPr wrap="square" rtlCol="0">
            <a:spAutoFit/>
          </a:bodyPr>
          <a:lstStyle/>
          <a:p>
            <a:r>
              <a:rPr lang="en-IN" dirty="0" err="1"/>
              <a:t>Char_arr</a:t>
            </a:r>
            <a:endParaRPr lang="en-IN" dirty="0"/>
          </a:p>
        </p:txBody>
      </p:sp>
      <p:cxnSp>
        <p:nvCxnSpPr>
          <p:cNvPr id="11" name="Straight Arrow Connector 10">
            <a:extLst>
              <a:ext uri="{FF2B5EF4-FFF2-40B4-BE49-F238E27FC236}">
                <a16:creationId xmlns:a16="http://schemas.microsoft.com/office/drawing/2014/main" xmlns="" id="{BF5A7BCE-7AF3-4BAE-98BB-642E24856F0F}"/>
              </a:ext>
            </a:extLst>
          </p:cNvPr>
          <p:cNvCxnSpPr>
            <a:cxnSpLocks/>
          </p:cNvCxnSpPr>
          <p:nvPr/>
        </p:nvCxnSpPr>
        <p:spPr>
          <a:xfrm flipV="1">
            <a:off x="914400" y="1722438"/>
            <a:ext cx="914400" cy="367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Table 15">
            <a:extLst>
              <a:ext uri="{FF2B5EF4-FFF2-40B4-BE49-F238E27FC236}">
                <a16:creationId xmlns:a16="http://schemas.microsoft.com/office/drawing/2014/main" xmlns="" id="{6C284A05-2B36-4850-AE93-7D7CB934D8D1}"/>
              </a:ext>
            </a:extLst>
          </p:cNvPr>
          <p:cNvGraphicFramePr>
            <a:graphicFrameLocks noGrp="1"/>
          </p:cNvGraphicFramePr>
          <p:nvPr>
            <p:extLst>
              <p:ext uri="{D42A27DB-BD31-4B8C-83A1-F6EECF244321}">
                <p14:modId xmlns:p14="http://schemas.microsoft.com/office/powerpoint/2010/main" val="2884084582"/>
              </p:ext>
            </p:extLst>
          </p:nvPr>
        </p:nvGraphicFramePr>
        <p:xfrm>
          <a:off x="1424448" y="2939534"/>
          <a:ext cx="2918952" cy="485194"/>
        </p:xfrm>
        <a:graphic>
          <a:graphicData uri="http://schemas.openxmlformats.org/drawingml/2006/table">
            <a:tbl>
              <a:tblPr firstRow="1" bandRow="1"/>
              <a:tblGrid>
                <a:gridCol w="729738">
                  <a:extLst>
                    <a:ext uri="{9D8B030D-6E8A-4147-A177-3AD203B41FA5}">
                      <a16:colId xmlns:a16="http://schemas.microsoft.com/office/drawing/2014/main" xmlns="" val="1487814617"/>
                    </a:ext>
                  </a:extLst>
                </a:gridCol>
                <a:gridCol w="729738">
                  <a:extLst>
                    <a:ext uri="{9D8B030D-6E8A-4147-A177-3AD203B41FA5}">
                      <a16:colId xmlns:a16="http://schemas.microsoft.com/office/drawing/2014/main" xmlns="" val="1597005031"/>
                    </a:ext>
                  </a:extLst>
                </a:gridCol>
                <a:gridCol w="729738">
                  <a:extLst>
                    <a:ext uri="{9D8B030D-6E8A-4147-A177-3AD203B41FA5}">
                      <a16:colId xmlns:a16="http://schemas.microsoft.com/office/drawing/2014/main" xmlns="" val="1629979148"/>
                    </a:ext>
                  </a:extLst>
                </a:gridCol>
                <a:gridCol w="729738">
                  <a:extLst>
                    <a:ext uri="{9D8B030D-6E8A-4147-A177-3AD203B41FA5}">
                      <a16:colId xmlns:a16="http://schemas.microsoft.com/office/drawing/2014/main" xmlns="" val="1322463696"/>
                    </a:ext>
                  </a:extLst>
                </a:gridCol>
              </a:tblGrid>
              <a:tr h="485194">
                <a:tc>
                  <a:txBody>
                    <a:bodyPr/>
                    <a:lstStyle/>
                    <a:p>
                      <a:pPr algn="ctr"/>
                      <a:r>
                        <a:rPr lang="en-US" dirty="0"/>
                        <a:t>e   </a:t>
                      </a:r>
                      <a:r>
                        <a:rPr lang="en-US" dirty="0" err="1"/>
                        <a:t>E</a:t>
                      </a:r>
                      <a:r>
                        <a:rPr lang="en-US" dirty="0"/>
                        <a:t>   </a:t>
                      </a:r>
                      <a:endParaRPr lang="en-IN" dirty="0"/>
                    </a:p>
                  </a:txBody>
                  <a:tcPr/>
                </a:tc>
                <a:tc>
                  <a:txBody>
                    <a:bodyPr/>
                    <a:lstStyle/>
                    <a:p>
                      <a:r>
                        <a:rPr lang="en-IN" dirty="0"/>
                        <a:t>d</a:t>
                      </a:r>
                    </a:p>
                  </a:txBody>
                  <a:tcPr/>
                </a:tc>
                <a:tc>
                  <a:txBody>
                    <a:bodyPr/>
                    <a:lstStyle/>
                    <a:p>
                      <a:r>
                        <a:rPr lang="en-IN" dirty="0"/>
                        <a:t>a</a:t>
                      </a:r>
                    </a:p>
                  </a:txBody>
                  <a:tcPr/>
                </a:tc>
                <a:tc>
                  <a:txBody>
                    <a:bodyPr/>
                    <a:lstStyle/>
                    <a:p>
                      <a:r>
                        <a:rPr lang="en-IN" dirty="0"/>
                        <a:t>c</a:t>
                      </a:r>
                    </a:p>
                  </a:txBody>
                  <a:tcPr/>
                </a:tc>
                <a:extLst>
                  <a:ext uri="{0D108BD9-81ED-4DB2-BD59-A6C34878D82A}">
                    <a16:rowId xmlns:a16="http://schemas.microsoft.com/office/drawing/2014/main" xmlns="" val="3489730206"/>
                  </a:ext>
                </a:extLst>
              </a:tr>
            </a:tbl>
          </a:graphicData>
        </a:graphic>
      </p:graphicFrame>
      <p:sp>
        <p:nvSpPr>
          <p:cNvPr id="16" name="TextBox 15">
            <a:extLst>
              <a:ext uri="{FF2B5EF4-FFF2-40B4-BE49-F238E27FC236}">
                <a16:creationId xmlns:a16="http://schemas.microsoft.com/office/drawing/2014/main" xmlns="" id="{DE0A5016-9376-447E-B86A-9F047E3FE1AA}"/>
              </a:ext>
            </a:extLst>
          </p:cNvPr>
          <p:cNvSpPr txBox="1"/>
          <p:nvPr/>
        </p:nvSpPr>
        <p:spPr>
          <a:xfrm>
            <a:off x="561668" y="1916668"/>
            <a:ext cx="629265" cy="369332"/>
          </a:xfrm>
          <a:prstGeom prst="rect">
            <a:avLst/>
          </a:prstGeom>
          <a:noFill/>
        </p:spPr>
        <p:txBody>
          <a:bodyPr wrap="square" rtlCol="0">
            <a:spAutoFit/>
          </a:bodyPr>
          <a:lstStyle/>
          <a:p>
            <a:r>
              <a:rPr lang="en-IN" dirty="0" err="1"/>
              <a:t>inp</a:t>
            </a:r>
            <a:endParaRPr lang="en-IN" dirty="0"/>
          </a:p>
        </p:txBody>
      </p:sp>
      <p:sp>
        <p:nvSpPr>
          <p:cNvPr id="17" name="Rectangle 16">
            <a:extLst>
              <a:ext uri="{FF2B5EF4-FFF2-40B4-BE49-F238E27FC236}">
                <a16:creationId xmlns:a16="http://schemas.microsoft.com/office/drawing/2014/main" xmlns="" id="{09D8F843-58C1-48BF-82E4-C9ACF36C159D}"/>
              </a:ext>
            </a:extLst>
          </p:cNvPr>
          <p:cNvSpPr/>
          <p:nvPr/>
        </p:nvSpPr>
        <p:spPr>
          <a:xfrm>
            <a:off x="1190932" y="3581400"/>
            <a:ext cx="790267" cy="485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Edac</a:t>
            </a:r>
            <a:endParaRPr lang="en-IN" dirty="0"/>
          </a:p>
        </p:txBody>
      </p:sp>
      <p:cxnSp>
        <p:nvCxnSpPr>
          <p:cNvPr id="19" name="Straight Arrow Connector 18">
            <a:extLst>
              <a:ext uri="{FF2B5EF4-FFF2-40B4-BE49-F238E27FC236}">
                <a16:creationId xmlns:a16="http://schemas.microsoft.com/office/drawing/2014/main" xmlns="" id="{5BE838F0-922D-480B-964E-2DAD605407D8}"/>
              </a:ext>
            </a:extLst>
          </p:cNvPr>
          <p:cNvCxnSpPr>
            <a:cxnSpLocks/>
          </p:cNvCxnSpPr>
          <p:nvPr/>
        </p:nvCxnSpPr>
        <p:spPr>
          <a:xfrm>
            <a:off x="381000" y="38100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xmlns="" id="{FB6B01F2-E063-47CA-B110-DAAB33E2329E}"/>
              </a:ext>
            </a:extLst>
          </p:cNvPr>
          <p:cNvSpPr txBox="1"/>
          <p:nvPr/>
        </p:nvSpPr>
        <p:spPr>
          <a:xfrm>
            <a:off x="52234" y="3440668"/>
            <a:ext cx="457200" cy="369332"/>
          </a:xfrm>
          <a:prstGeom prst="rect">
            <a:avLst/>
          </a:prstGeom>
          <a:noFill/>
        </p:spPr>
        <p:txBody>
          <a:bodyPr wrap="square" rtlCol="0">
            <a:spAutoFit/>
          </a:bodyPr>
          <a:lstStyle/>
          <a:p>
            <a:r>
              <a:rPr lang="en-IN" dirty="0" err="1"/>
              <a:t>rs</a:t>
            </a:r>
            <a:endParaRPr lang="en-IN" dirty="0"/>
          </a:p>
        </p:txBody>
      </p:sp>
      <p:cxnSp>
        <p:nvCxnSpPr>
          <p:cNvPr id="12" name="Straight Connector 11"/>
          <p:cNvCxnSpPr/>
          <p:nvPr/>
        </p:nvCxnSpPr>
        <p:spPr>
          <a:xfrm flipH="1">
            <a:off x="1447800" y="2895600"/>
            <a:ext cx="381000" cy="471197"/>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50431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549BF7-37E7-4E1B-A6A6-0292C53BB37D}"/>
              </a:ext>
            </a:extLst>
          </p:cNvPr>
          <p:cNvSpPr>
            <a:spLocks noGrp="1"/>
          </p:cNvSpPr>
          <p:nvPr>
            <p:ph type="title"/>
          </p:nvPr>
        </p:nvSpPr>
        <p:spPr>
          <a:xfrm>
            <a:off x="990600" y="29497"/>
            <a:ext cx="7543800" cy="457199"/>
          </a:xfrm>
        </p:spPr>
        <p:txBody>
          <a:bodyPr>
            <a:normAutofit fontScale="90000"/>
          </a:bodyPr>
          <a:lstStyle/>
          <a:p>
            <a:r>
              <a:rPr lang="en-IN" dirty="0"/>
              <a:t>Demo1</a:t>
            </a:r>
          </a:p>
        </p:txBody>
      </p:sp>
      <p:sp>
        <p:nvSpPr>
          <p:cNvPr id="3" name="Content Placeholder 2">
            <a:extLst>
              <a:ext uri="{FF2B5EF4-FFF2-40B4-BE49-F238E27FC236}">
                <a16:creationId xmlns:a16="http://schemas.microsoft.com/office/drawing/2014/main" xmlns="" id="{4BEBCBA1-C623-4549-85E2-10362E82BDFE}"/>
              </a:ext>
            </a:extLst>
          </p:cNvPr>
          <p:cNvSpPr>
            <a:spLocks noGrp="1"/>
          </p:cNvSpPr>
          <p:nvPr>
            <p:ph idx="1"/>
          </p:nvPr>
        </p:nvSpPr>
        <p:spPr>
          <a:xfrm>
            <a:off x="152400" y="762000"/>
            <a:ext cx="8763000" cy="5791200"/>
          </a:xfrm>
        </p:spPr>
        <p:txBody>
          <a:bodyPr>
            <a:normAutofit fontScale="92500" lnSpcReduction="20000"/>
          </a:bodyPr>
          <a:lstStyle/>
          <a:p>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System.Linq</a:t>
            </a:r>
            <a:r>
              <a:rPr lang="en-IN" sz="1800" dirty="0">
                <a:solidFill>
                  <a:srgbClr val="000000"/>
                </a:solidFill>
                <a:highlight>
                  <a:srgbClr val="FFFFFF"/>
                </a:highlight>
                <a:latin typeface="Consolas" panose="020B0609020204030204" pitchFamily="49" charset="0"/>
              </a:rPr>
              <a:t>; //is a name space which has all </a:t>
            </a:r>
            <a:r>
              <a:rPr lang="en-IN" sz="1800" dirty="0" err="1">
                <a:solidFill>
                  <a:srgbClr val="000000"/>
                </a:solidFill>
                <a:highlight>
                  <a:srgbClr val="FFFFFF"/>
                </a:highlight>
                <a:latin typeface="Consolas" panose="020B0609020204030204" pitchFamily="49" charset="0"/>
              </a:rPr>
              <a:t>LinQ</a:t>
            </a:r>
            <a:r>
              <a:rPr lang="en-IN" sz="1800" dirty="0">
                <a:solidFill>
                  <a:srgbClr val="000000"/>
                </a:solidFill>
                <a:highlight>
                  <a:srgbClr val="FFFFFF"/>
                </a:highlight>
                <a:latin typeface="Consolas" panose="020B0609020204030204" pitchFamily="49" charset="0"/>
              </a:rPr>
              <a:t> related classes. </a:t>
            </a:r>
          </a:p>
          <a:p>
            <a:pPr marL="0" indent="0">
              <a:buNone/>
            </a:pPr>
            <a:r>
              <a:rPr lang="en-IN" sz="1800" dirty="0">
                <a:solidFill>
                  <a:srgbClr val="000000"/>
                </a:solidFill>
                <a:highlight>
                  <a:srgbClr val="FFFFFF"/>
                </a:highlight>
                <a:latin typeface="+mj-lt"/>
              </a:rPr>
              <a:t> </a:t>
            </a:r>
            <a:r>
              <a:rPr lang="en-IN" sz="1800" dirty="0">
                <a:solidFill>
                  <a:srgbClr val="0000FF"/>
                </a:solidFill>
                <a:highlight>
                  <a:srgbClr val="FFFFFF"/>
                </a:highlight>
                <a:latin typeface="+mj-lt"/>
              </a:rPr>
              <a:t>static</a:t>
            </a:r>
            <a:r>
              <a:rPr lang="en-IN" sz="1800" dirty="0">
                <a:solidFill>
                  <a:srgbClr val="000000"/>
                </a:solidFill>
                <a:highlight>
                  <a:srgbClr val="FFFFFF"/>
                </a:highlight>
                <a:latin typeface="+mj-lt"/>
              </a:rPr>
              <a:t> </a:t>
            </a:r>
            <a:r>
              <a:rPr lang="en-IN" sz="1800" dirty="0">
                <a:solidFill>
                  <a:srgbClr val="0000FF"/>
                </a:solidFill>
                <a:highlight>
                  <a:srgbClr val="FFFFFF"/>
                </a:highlight>
                <a:latin typeface="+mj-lt"/>
              </a:rPr>
              <a:t>void</a:t>
            </a:r>
            <a:r>
              <a:rPr lang="en-IN" sz="1800" dirty="0">
                <a:solidFill>
                  <a:srgbClr val="000000"/>
                </a:solidFill>
                <a:highlight>
                  <a:srgbClr val="FFFFFF"/>
                </a:highlight>
                <a:latin typeface="+mj-lt"/>
              </a:rPr>
              <a:t> </a:t>
            </a:r>
            <a:r>
              <a:rPr lang="en-IN" sz="1800" dirty="0" err="1">
                <a:solidFill>
                  <a:srgbClr val="000000"/>
                </a:solidFill>
                <a:highlight>
                  <a:srgbClr val="FFFFFF"/>
                </a:highlight>
                <a:latin typeface="+mj-lt"/>
              </a:rPr>
              <a:t>QueryOverStrings</a:t>
            </a:r>
            <a:r>
              <a:rPr lang="en-IN" sz="1800" dirty="0">
                <a:solidFill>
                  <a:srgbClr val="000000"/>
                </a:solidFill>
                <a:highlight>
                  <a:srgbClr val="FFFFFF"/>
                </a:highlight>
                <a:latin typeface="+mj-lt"/>
              </a:rPr>
              <a:t>()</a:t>
            </a:r>
          </a:p>
          <a:p>
            <a:pPr marL="0" indent="0">
              <a:buNone/>
            </a:pPr>
            <a:r>
              <a:rPr lang="en-IN" sz="1800" dirty="0">
                <a:solidFill>
                  <a:srgbClr val="000000"/>
                </a:solidFill>
                <a:highlight>
                  <a:srgbClr val="FFFFFF"/>
                </a:highlight>
                <a:latin typeface="+mj-lt"/>
              </a:rPr>
              <a:t>        {</a:t>
            </a:r>
          </a:p>
          <a:p>
            <a:pPr marL="0" indent="0">
              <a:buNone/>
            </a:pPr>
            <a:r>
              <a:rPr lang="en-US" sz="1800" dirty="0">
                <a:solidFill>
                  <a:srgbClr val="000000"/>
                </a:solidFill>
                <a:highlight>
                  <a:srgbClr val="FFFFFF"/>
                </a:highlight>
                <a:latin typeface="+mj-lt"/>
              </a:rPr>
              <a:t>            </a:t>
            </a:r>
            <a:r>
              <a:rPr lang="en-US" sz="1800" dirty="0">
                <a:solidFill>
                  <a:srgbClr val="008000"/>
                </a:solidFill>
                <a:highlight>
                  <a:srgbClr val="FFFFFF"/>
                </a:highlight>
                <a:latin typeface="+mj-lt"/>
              </a:rPr>
              <a:t>// Assume we have an array of strings.</a:t>
            </a:r>
            <a:endParaRPr lang="en-US" sz="1800" dirty="0">
              <a:solidFill>
                <a:srgbClr val="000000"/>
              </a:solidFill>
              <a:highlight>
                <a:srgbClr val="FFFFFF"/>
              </a:highlight>
              <a:latin typeface="+mj-lt"/>
            </a:endParaRPr>
          </a:p>
          <a:p>
            <a:pPr marL="0" indent="0">
              <a:buNone/>
            </a:pPr>
            <a:r>
              <a:rPr lang="en-US" sz="1800" dirty="0">
                <a:solidFill>
                  <a:srgbClr val="000000"/>
                </a:solidFill>
                <a:highlight>
                  <a:srgbClr val="FFFFFF"/>
                </a:highlight>
                <a:latin typeface="+mj-lt"/>
              </a:rPr>
              <a:t>            </a:t>
            </a:r>
            <a:r>
              <a:rPr lang="en-US" sz="1800" dirty="0">
                <a:solidFill>
                  <a:srgbClr val="0000FF"/>
                </a:solidFill>
                <a:highlight>
                  <a:srgbClr val="FFFFFF"/>
                </a:highlight>
                <a:latin typeface="+mj-lt"/>
              </a:rPr>
              <a:t>string</a:t>
            </a:r>
            <a:r>
              <a:rPr lang="en-US" sz="1800" dirty="0">
                <a:solidFill>
                  <a:srgbClr val="000000"/>
                </a:solidFill>
                <a:highlight>
                  <a:srgbClr val="FFFFFF"/>
                </a:highlight>
                <a:latin typeface="+mj-lt"/>
              </a:rPr>
              <a:t>[] </a:t>
            </a:r>
            <a:r>
              <a:rPr lang="en-US" sz="1800" dirty="0" err="1">
                <a:solidFill>
                  <a:srgbClr val="000000"/>
                </a:solidFill>
                <a:highlight>
                  <a:srgbClr val="FFFFFF"/>
                </a:highlight>
                <a:latin typeface="+mj-lt"/>
              </a:rPr>
              <a:t>currentVideoGames</a:t>
            </a:r>
            <a:r>
              <a:rPr lang="en-US" sz="1800" dirty="0">
                <a:solidFill>
                  <a:srgbClr val="000000"/>
                </a:solidFill>
                <a:highlight>
                  <a:srgbClr val="FFFFFF"/>
                </a:highlight>
                <a:latin typeface="+mj-lt"/>
              </a:rPr>
              <a:t> = { </a:t>
            </a:r>
            <a:r>
              <a:rPr lang="en-US" sz="1800" dirty="0">
                <a:solidFill>
                  <a:srgbClr val="A31515"/>
                </a:solidFill>
                <a:highlight>
                  <a:srgbClr val="FFFFFF"/>
                </a:highlight>
                <a:latin typeface="+mj-lt"/>
              </a:rPr>
              <a:t>"</a:t>
            </a:r>
            <a:r>
              <a:rPr lang="en-US" sz="1800" dirty="0" err="1">
                <a:solidFill>
                  <a:srgbClr val="A31515"/>
                </a:solidFill>
                <a:highlight>
                  <a:srgbClr val="FFFFFF"/>
                </a:highlight>
                <a:latin typeface="+mj-lt"/>
              </a:rPr>
              <a:t>Morrowind</a:t>
            </a:r>
            <a:r>
              <a:rPr lang="en-US" sz="1800" dirty="0">
                <a:solidFill>
                  <a:srgbClr val="A31515"/>
                </a:solidFill>
                <a:highlight>
                  <a:srgbClr val="FFFFFF"/>
                </a:highlight>
                <a:latin typeface="+mj-lt"/>
              </a:rPr>
              <a:t>"</a:t>
            </a:r>
            <a:r>
              <a:rPr lang="en-US" sz="1800" dirty="0">
                <a:solidFill>
                  <a:srgbClr val="000000"/>
                </a:solidFill>
                <a:highlight>
                  <a:srgbClr val="FFFFFF"/>
                </a:highlight>
                <a:latin typeface="+mj-lt"/>
              </a:rPr>
              <a:t>, </a:t>
            </a:r>
            <a:r>
              <a:rPr lang="en-US" sz="1800" dirty="0">
                <a:solidFill>
                  <a:srgbClr val="A31515"/>
                </a:solidFill>
                <a:highlight>
                  <a:srgbClr val="FFFFFF"/>
                </a:highlight>
                <a:latin typeface="+mj-lt"/>
              </a:rPr>
              <a:t>"Uncharted 2"</a:t>
            </a:r>
            <a:r>
              <a:rPr lang="en-US" sz="1800" dirty="0">
                <a:solidFill>
                  <a:srgbClr val="000000"/>
                </a:solidFill>
                <a:highlight>
                  <a:srgbClr val="FFFFFF"/>
                </a:highlight>
                <a:latin typeface="+mj-lt"/>
              </a:rPr>
              <a:t>, </a:t>
            </a:r>
            <a:r>
              <a:rPr lang="en-US" sz="1800" dirty="0">
                <a:solidFill>
                  <a:srgbClr val="A31515"/>
                </a:solidFill>
                <a:highlight>
                  <a:srgbClr val="FFFFFF"/>
                </a:highlight>
                <a:latin typeface="+mj-lt"/>
              </a:rPr>
              <a:t>"Fallout 3"</a:t>
            </a:r>
            <a:r>
              <a:rPr lang="en-US" sz="1800" dirty="0">
                <a:solidFill>
                  <a:srgbClr val="000000"/>
                </a:solidFill>
                <a:highlight>
                  <a:srgbClr val="FFFFFF"/>
                </a:highlight>
                <a:latin typeface="+mj-lt"/>
              </a:rPr>
              <a:t>, </a:t>
            </a:r>
            <a:r>
              <a:rPr lang="en-US" sz="1800" dirty="0">
                <a:solidFill>
                  <a:srgbClr val="A31515"/>
                </a:solidFill>
                <a:highlight>
                  <a:srgbClr val="FFFFFF"/>
                </a:highlight>
                <a:latin typeface="+mj-lt"/>
              </a:rPr>
              <a:t>"Daxter"</a:t>
            </a:r>
            <a:r>
              <a:rPr lang="en-US" sz="1800" dirty="0">
                <a:solidFill>
                  <a:srgbClr val="000000"/>
                </a:solidFill>
                <a:highlight>
                  <a:srgbClr val="FFFFFF"/>
                </a:highlight>
                <a:latin typeface="+mj-lt"/>
              </a:rPr>
              <a:t>, </a:t>
            </a:r>
            <a:r>
              <a:rPr lang="en-US" sz="1800" dirty="0">
                <a:solidFill>
                  <a:srgbClr val="A31515"/>
                </a:solidFill>
                <a:highlight>
                  <a:srgbClr val="FFFFFF"/>
                </a:highlight>
                <a:latin typeface="+mj-lt"/>
              </a:rPr>
              <a:t>"System Shock 2"</a:t>
            </a:r>
            <a:r>
              <a:rPr lang="en-US" sz="1800" dirty="0">
                <a:solidFill>
                  <a:srgbClr val="000000"/>
                </a:solidFill>
                <a:highlight>
                  <a:srgbClr val="FFFFFF"/>
                </a:highlight>
                <a:latin typeface="+mj-lt"/>
              </a:rPr>
              <a:t> };</a:t>
            </a:r>
          </a:p>
          <a:p>
            <a:pPr marL="0" indent="0">
              <a:buNone/>
            </a:pPr>
            <a:endParaRPr lang="en-IN" sz="1800" dirty="0">
              <a:solidFill>
                <a:srgbClr val="000000"/>
              </a:solidFill>
              <a:highlight>
                <a:srgbClr val="FFFFFF"/>
              </a:highlight>
              <a:latin typeface="+mj-lt"/>
            </a:endParaRPr>
          </a:p>
          <a:p>
            <a:pPr marL="0" indent="0">
              <a:buNone/>
            </a:pPr>
            <a:r>
              <a:rPr lang="en-US" sz="1800" dirty="0">
                <a:solidFill>
                  <a:srgbClr val="000000"/>
                </a:solidFill>
                <a:highlight>
                  <a:srgbClr val="FFFFFF"/>
                </a:highlight>
                <a:latin typeface="+mj-lt"/>
              </a:rPr>
              <a:t>            </a:t>
            </a:r>
            <a:r>
              <a:rPr lang="en-US" sz="1800" dirty="0">
                <a:solidFill>
                  <a:srgbClr val="008000"/>
                </a:solidFill>
                <a:highlight>
                  <a:srgbClr val="FFFFFF"/>
                </a:highlight>
                <a:latin typeface="+mj-lt"/>
              </a:rPr>
              <a:t>// Build a query expression to find the items in the array</a:t>
            </a:r>
            <a:endParaRPr lang="en-US" sz="1800" dirty="0">
              <a:solidFill>
                <a:srgbClr val="000000"/>
              </a:solidFill>
              <a:highlight>
                <a:srgbClr val="FFFFFF"/>
              </a:highlight>
              <a:latin typeface="+mj-lt"/>
            </a:endParaRPr>
          </a:p>
          <a:p>
            <a:pPr marL="0" indent="0">
              <a:buNone/>
            </a:pPr>
            <a:r>
              <a:rPr lang="en-US" sz="1800" dirty="0">
                <a:solidFill>
                  <a:srgbClr val="000000"/>
                </a:solidFill>
                <a:highlight>
                  <a:srgbClr val="FFFFFF"/>
                </a:highlight>
                <a:latin typeface="+mj-lt"/>
              </a:rPr>
              <a:t>            </a:t>
            </a:r>
            <a:r>
              <a:rPr lang="en-US" sz="1800" dirty="0">
                <a:solidFill>
                  <a:srgbClr val="008000"/>
                </a:solidFill>
                <a:highlight>
                  <a:srgbClr val="FFFFFF"/>
                </a:highlight>
                <a:latin typeface="+mj-lt"/>
              </a:rPr>
              <a:t>// that have an embedded space.</a:t>
            </a:r>
            <a:endParaRPr lang="en-US" sz="1800" dirty="0">
              <a:solidFill>
                <a:srgbClr val="000000"/>
              </a:solidFill>
              <a:highlight>
                <a:srgbClr val="FFFFFF"/>
              </a:highlight>
              <a:latin typeface="+mj-lt"/>
            </a:endParaRPr>
          </a:p>
          <a:p>
            <a:pPr marL="0" indent="0">
              <a:buNone/>
            </a:pPr>
            <a:endParaRPr lang="en-IN" sz="1800" dirty="0">
              <a:solidFill>
                <a:srgbClr val="000000"/>
              </a:solidFill>
              <a:highlight>
                <a:srgbClr val="FFFFFF"/>
              </a:highlight>
              <a:latin typeface="+mj-lt"/>
            </a:endParaRPr>
          </a:p>
          <a:p>
            <a:pPr marL="0" indent="0">
              <a:buNone/>
            </a:pPr>
            <a:r>
              <a:rPr lang="en-US" sz="1800" dirty="0">
                <a:solidFill>
                  <a:srgbClr val="000000"/>
                </a:solidFill>
                <a:highlight>
                  <a:srgbClr val="FFFFFF"/>
                </a:highlight>
                <a:latin typeface="+mj-lt"/>
              </a:rPr>
              <a:t>            </a:t>
            </a:r>
            <a:r>
              <a:rPr lang="en-US" sz="1800" dirty="0" err="1">
                <a:solidFill>
                  <a:srgbClr val="2B91AF"/>
                </a:solidFill>
                <a:highlight>
                  <a:srgbClr val="FFFFFF"/>
                </a:highlight>
                <a:latin typeface="+mj-lt"/>
              </a:rPr>
              <a:t>IEnumerable</a:t>
            </a:r>
            <a:r>
              <a:rPr lang="en-US" sz="1800" dirty="0">
                <a:solidFill>
                  <a:srgbClr val="000000"/>
                </a:solidFill>
                <a:highlight>
                  <a:srgbClr val="FFFFFF"/>
                </a:highlight>
                <a:latin typeface="+mj-lt"/>
              </a:rPr>
              <a:t>&lt;</a:t>
            </a:r>
            <a:r>
              <a:rPr lang="en-US" sz="1800" dirty="0">
                <a:solidFill>
                  <a:srgbClr val="0000FF"/>
                </a:solidFill>
                <a:highlight>
                  <a:srgbClr val="FFFFFF"/>
                </a:highlight>
                <a:latin typeface="+mj-lt"/>
              </a:rPr>
              <a:t>string</a:t>
            </a:r>
            <a:r>
              <a:rPr lang="en-US" sz="1800" dirty="0">
                <a:solidFill>
                  <a:srgbClr val="000000"/>
                </a:solidFill>
                <a:highlight>
                  <a:srgbClr val="FFFFFF"/>
                </a:highlight>
                <a:latin typeface="+mj-lt"/>
              </a:rPr>
              <a:t>&gt; subset = </a:t>
            </a:r>
            <a:r>
              <a:rPr lang="en-US" sz="1800" dirty="0">
                <a:solidFill>
                  <a:srgbClr val="0000FF"/>
                </a:solidFill>
                <a:highlight>
                  <a:srgbClr val="FFFFFF"/>
                </a:highlight>
                <a:latin typeface="+mj-lt"/>
              </a:rPr>
              <a:t>from</a:t>
            </a:r>
            <a:r>
              <a:rPr lang="en-US" sz="1800" dirty="0">
                <a:solidFill>
                  <a:srgbClr val="000000"/>
                </a:solidFill>
                <a:highlight>
                  <a:srgbClr val="FFFFFF"/>
                </a:highlight>
                <a:latin typeface="+mj-lt"/>
              </a:rPr>
              <a:t> g </a:t>
            </a:r>
            <a:r>
              <a:rPr lang="en-US" sz="1800" dirty="0">
                <a:solidFill>
                  <a:srgbClr val="0000FF"/>
                </a:solidFill>
                <a:highlight>
                  <a:srgbClr val="FFFFFF"/>
                </a:highlight>
                <a:latin typeface="+mj-lt"/>
              </a:rPr>
              <a:t>in</a:t>
            </a:r>
            <a:r>
              <a:rPr lang="en-US" sz="1800" dirty="0">
                <a:solidFill>
                  <a:srgbClr val="000000"/>
                </a:solidFill>
                <a:highlight>
                  <a:srgbClr val="FFFFFF"/>
                </a:highlight>
                <a:latin typeface="+mj-lt"/>
              </a:rPr>
              <a:t> </a:t>
            </a:r>
            <a:r>
              <a:rPr lang="en-US" sz="1800" dirty="0" err="1">
                <a:solidFill>
                  <a:srgbClr val="000000"/>
                </a:solidFill>
                <a:highlight>
                  <a:srgbClr val="FFFFFF"/>
                </a:highlight>
                <a:latin typeface="+mj-lt"/>
              </a:rPr>
              <a:t>currentVideoGames</a:t>
            </a:r>
            <a:endParaRPr lang="en-US" sz="1800" dirty="0">
              <a:solidFill>
                <a:srgbClr val="000000"/>
              </a:solidFill>
              <a:highlight>
                <a:srgbClr val="FFFFFF"/>
              </a:highlight>
              <a:latin typeface="+mj-lt"/>
            </a:endParaRPr>
          </a:p>
          <a:p>
            <a:pPr marL="0" indent="0">
              <a:buNone/>
            </a:pPr>
            <a:r>
              <a:rPr lang="en-IN" sz="1800" dirty="0">
                <a:solidFill>
                  <a:srgbClr val="000000"/>
                </a:solidFill>
                <a:highlight>
                  <a:srgbClr val="FFFFFF"/>
                </a:highlight>
                <a:latin typeface="+mj-lt"/>
              </a:rPr>
              <a:t>                                         </a:t>
            </a:r>
            <a:r>
              <a:rPr lang="en-IN" sz="1800" dirty="0">
                <a:solidFill>
                  <a:srgbClr val="0000FF"/>
                </a:solidFill>
                <a:highlight>
                  <a:srgbClr val="FFFFFF"/>
                </a:highlight>
                <a:latin typeface="+mj-lt"/>
              </a:rPr>
              <a:t>where</a:t>
            </a:r>
            <a:r>
              <a:rPr lang="en-IN" sz="1800" dirty="0">
                <a:solidFill>
                  <a:srgbClr val="000000"/>
                </a:solidFill>
                <a:highlight>
                  <a:srgbClr val="FFFFFF"/>
                </a:highlight>
                <a:latin typeface="+mj-lt"/>
              </a:rPr>
              <a:t> </a:t>
            </a:r>
            <a:r>
              <a:rPr lang="en-IN" sz="1800" dirty="0" err="1">
                <a:solidFill>
                  <a:srgbClr val="000000"/>
                </a:solidFill>
                <a:highlight>
                  <a:srgbClr val="FFFFFF"/>
                </a:highlight>
                <a:latin typeface="+mj-lt"/>
              </a:rPr>
              <a:t>g.Contains</a:t>
            </a:r>
            <a:r>
              <a:rPr lang="en-IN" sz="1800" dirty="0">
                <a:solidFill>
                  <a:srgbClr val="000000"/>
                </a:solidFill>
                <a:highlight>
                  <a:srgbClr val="FFFFFF"/>
                </a:highlight>
                <a:latin typeface="+mj-lt"/>
              </a:rPr>
              <a:t>(</a:t>
            </a:r>
            <a:r>
              <a:rPr lang="en-IN" sz="1800" dirty="0">
                <a:solidFill>
                  <a:srgbClr val="A31515"/>
                </a:solidFill>
                <a:highlight>
                  <a:srgbClr val="FFFFFF"/>
                </a:highlight>
                <a:latin typeface="+mj-lt"/>
              </a:rPr>
              <a:t>" "</a:t>
            </a:r>
            <a:r>
              <a:rPr lang="en-IN" sz="1800" dirty="0">
                <a:solidFill>
                  <a:srgbClr val="000000"/>
                </a:solidFill>
                <a:highlight>
                  <a:srgbClr val="FFFFFF"/>
                </a:highlight>
                <a:latin typeface="+mj-lt"/>
              </a:rPr>
              <a:t>)</a:t>
            </a:r>
          </a:p>
          <a:p>
            <a:pPr marL="0" indent="0">
              <a:buNone/>
            </a:pPr>
            <a:r>
              <a:rPr lang="en-IN" sz="1800" dirty="0">
                <a:solidFill>
                  <a:srgbClr val="000000"/>
                </a:solidFill>
                <a:highlight>
                  <a:srgbClr val="FFFFFF"/>
                </a:highlight>
                <a:latin typeface="+mj-lt"/>
              </a:rPr>
              <a:t>                                         </a:t>
            </a:r>
            <a:r>
              <a:rPr lang="en-IN" sz="1800" dirty="0" err="1">
                <a:solidFill>
                  <a:srgbClr val="0000FF"/>
                </a:solidFill>
                <a:highlight>
                  <a:srgbClr val="FFFFFF"/>
                </a:highlight>
                <a:latin typeface="+mj-lt"/>
              </a:rPr>
              <a:t>orderby</a:t>
            </a:r>
            <a:r>
              <a:rPr lang="en-IN" sz="1800" dirty="0">
                <a:solidFill>
                  <a:srgbClr val="000000"/>
                </a:solidFill>
                <a:highlight>
                  <a:srgbClr val="FFFFFF"/>
                </a:highlight>
                <a:latin typeface="+mj-lt"/>
              </a:rPr>
              <a:t> g</a:t>
            </a:r>
          </a:p>
          <a:p>
            <a:pPr marL="0" indent="0">
              <a:buNone/>
            </a:pPr>
            <a:r>
              <a:rPr lang="en-IN" sz="1800" dirty="0">
                <a:solidFill>
                  <a:srgbClr val="000000"/>
                </a:solidFill>
                <a:highlight>
                  <a:srgbClr val="FFFFFF"/>
                </a:highlight>
                <a:latin typeface="+mj-lt"/>
              </a:rPr>
              <a:t>                                         </a:t>
            </a:r>
            <a:r>
              <a:rPr lang="en-IN" sz="1800" dirty="0">
                <a:solidFill>
                  <a:srgbClr val="0000FF"/>
                </a:solidFill>
                <a:highlight>
                  <a:srgbClr val="FFFFFF"/>
                </a:highlight>
                <a:latin typeface="+mj-lt"/>
              </a:rPr>
              <a:t>select</a:t>
            </a:r>
            <a:r>
              <a:rPr lang="en-IN" sz="1800" dirty="0">
                <a:solidFill>
                  <a:srgbClr val="000000"/>
                </a:solidFill>
                <a:highlight>
                  <a:srgbClr val="FFFFFF"/>
                </a:highlight>
                <a:latin typeface="+mj-lt"/>
              </a:rPr>
              <a:t> g;</a:t>
            </a:r>
          </a:p>
          <a:p>
            <a:pPr marL="0" indent="0">
              <a:buNone/>
            </a:pPr>
            <a:endParaRPr lang="en-IN" sz="1800" dirty="0">
              <a:solidFill>
                <a:srgbClr val="000000"/>
              </a:solidFill>
              <a:highlight>
                <a:srgbClr val="FFFFFF"/>
              </a:highlight>
              <a:latin typeface="+mj-lt"/>
            </a:endParaRPr>
          </a:p>
          <a:p>
            <a:pPr marL="0" indent="0">
              <a:buNone/>
            </a:pPr>
            <a:endParaRPr lang="en-IN" sz="1800" dirty="0">
              <a:solidFill>
                <a:srgbClr val="000000"/>
              </a:solidFill>
              <a:highlight>
                <a:srgbClr val="FFFFFF"/>
              </a:highlight>
              <a:latin typeface="+mj-lt"/>
            </a:endParaRPr>
          </a:p>
          <a:p>
            <a:pPr marL="0" indent="0">
              <a:buNone/>
            </a:pPr>
            <a:r>
              <a:rPr lang="en-IN" sz="1800" dirty="0">
                <a:solidFill>
                  <a:srgbClr val="000000"/>
                </a:solidFill>
                <a:highlight>
                  <a:srgbClr val="FFFFFF"/>
                </a:highlight>
                <a:latin typeface="+mj-lt"/>
              </a:rPr>
              <a:t>            </a:t>
            </a:r>
            <a:r>
              <a:rPr lang="en-IN" sz="1800" dirty="0">
                <a:solidFill>
                  <a:srgbClr val="008000"/>
                </a:solidFill>
                <a:highlight>
                  <a:srgbClr val="FFFFFF"/>
                </a:highlight>
                <a:latin typeface="+mj-lt"/>
              </a:rPr>
              <a:t>// Print out the results.</a:t>
            </a:r>
            <a:endParaRPr lang="en-IN" sz="1800" dirty="0">
              <a:solidFill>
                <a:srgbClr val="000000"/>
              </a:solidFill>
              <a:highlight>
                <a:srgbClr val="FFFFFF"/>
              </a:highlight>
              <a:latin typeface="+mj-lt"/>
            </a:endParaRPr>
          </a:p>
          <a:p>
            <a:pPr marL="0" indent="0">
              <a:buNone/>
            </a:pPr>
            <a:r>
              <a:rPr lang="en-US" sz="1800" dirty="0">
                <a:solidFill>
                  <a:srgbClr val="000000"/>
                </a:solidFill>
                <a:highlight>
                  <a:srgbClr val="FFFFFF"/>
                </a:highlight>
                <a:latin typeface="+mj-lt"/>
              </a:rPr>
              <a:t>            </a:t>
            </a:r>
            <a:r>
              <a:rPr lang="en-US" sz="1800" dirty="0">
                <a:solidFill>
                  <a:srgbClr val="0000FF"/>
                </a:solidFill>
                <a:highlight>
                  <a:srgbClr val="FFFFFF"/>
                </a:highlight>
                <a:latin typeface="+mj-lt"/>
              </a:rPr>
              <a:t>foreach</a:t>
            </a:r>
            <a:r>
              <a:rPr lang="en-US" sz="1800" dirty="0">
                <a:solidFill>
                  <a:srgbClr val="000000"/>
                </a:solidFill>
                <a:highlight>
                  <a:srgbClr val="FFFFFF"/>
                </a:highlight>
                <a:latin typeface="+mj-lt"/>
              </a:rPr>
              <a:t> (</a:t>
            </a:r>
            <a:r>
              <a:rPr lang="en-US" sz="1800" dirty="0">
                <a:solidFill>
                  <a:srgbClr val="0000FF"/>
                </a:solidFill>
                <a:highlight>
                  <a:srgbClr val="FFFFFF"/>
                </a:highlight>
                <a:latin typeface="+mj-lt"/>
              </a:rPr>
              <a:t>string</a:t>
            </a:r>
            <a:r>
              <a:rPr lang="en-US" sz="1800" dirty="0">
                <a:solidFill>
                  <a:srgbClr val="000000"/>
                </a:solidFill>
                <a:highlight>
                  <a:srgbClr val="FFFFFF"/>
                </a:highlight>
                <a:latin typeface="+mj-lt"/>
              </a:rPr>
              <a:t> s </a:t>
            </a:r>
            <a:r>
              <a:rPr lang="en-US" sz="1800" dirty="0">
                <a:solidFill>
                  <a:srgbClr val="0000FF"/>
                </a:solidFill>
                <a:highlight>
                  <a:srgbClr val="FFFFFF"/>
                </a:highlight>
                <a:latin typeface="+mj-lt"/>
              </a:rPr>
              <a:t>in</a:t>
            </a:r>
            <a:r>
              <a:rPr lang="en-US" sz="1800" dirty="0">
                <a:solidFill>
                  <a:srgbClr val="000000"/>
                </a:solidFill>
                <a:highlight>
                  <a:srgbClr val="FFFFFF"/>
                </a:highlight>
                <a:latin typeface="+mj-lt"/>
              </a:rPr>
              <a:t> subset)</a:t>
            </a:r>
          </a:p>
          <a:p>
            <a:pPr marL="0" indent="0">
              <a:buNone/>
            </a:pPr>
            <a:r>
              <a:rPr lang="en-US" sz="1800" dirty="0">
                <a:solidFill>
                  <a:srgbClr val="000000"/>
                </a:solidFill>
                <a:highlight>
                  <a:srgbClr val="FFFFFF"/>
                </a:highlight>
                <a:latin typeface="+mj-lt"/>
              </a:rPr>
              <a:t>                </a:t>
            </a:r>
            <a:r>
              <a:rPr lang="en-US" sz="1800" dirty="0" err="1">
                <a:solidFill>
                  <a:srgbClr val="2B91AF"/>
                </a:solidFill>
                <a:highlight>
                  <a:srgbClr val="FFFFFF"/>
                </a:highlight>
                <a:latin typeface="+mj-lt"/>
              </a:rPr>
              <a:t>Console</a:t>
            </a:r>
            <a:r>
              <a:rPr lang="en-US" sz="1800" dirty="0" err="1">
                <a:solidFill>
                  <a:srgbClr val="000000"/>
                </a:solidFill>
                <a:highlight>
                  <a:srgbClr val="FFFFFF"/>
                </a:highlight>
                <a:latin typeface="+mj-lt"/>
              </a:rPr>
              <a:t>.WriteLine</a:t>
            </a:r>
            <a:r>
              <a:rPr lang="en-US" sz="1800" dirty="0">
                <a:solidFill>
                  <a:srgbClr val="000000"/>
                </a:solidFill>
                <a:highlight>
                  <a:srgbClr val="FFFFFF"/>
                </a:highlight>
                <a:latin typeface="+mj-lt"/>
              </a:rPr>
              <a:t>(</a:t>
            </a:r>
            <a:r>
              <a:rPr lang="en-US" sz="1800" dirty="0">
                <a:solidFill>
                  <a:srgbClr val="A31515"/>
                </a:solidFill>
                <a:highlight>
                  <a:srgbClr val="FFFFFF"/>
                </a:highlight>
                <a:latin typeface="+mj-lt"/>
              </a:rPr>
              <a:t>"Item: {0}"</a:t>
            </a:r>
            <a:r>
              <a:rPr lang="en-US" sz="1800" dirty="0">
                <a:solidFill>
                  <a:srgbClr val="000000"/>
                </a:solidFill>
                <a:highlight>
                  <a:srgbClr val="FFFFFF"/>
                </a:highlight>
                <a:latin typeface="+mj-lt"/>
              </a:rPr>
              <a:t>, s);</a:t>
            </a:r>
          </a:p>
          <a:p>
            <a:pPr marL="0" indent="0">
              <a:buNone/>
            </a:pPr>
            <a:r>
              <a:rPr lang="en-IN" sz="1800" dirty="0">
                <a:solidFill>
                  <a:srgbClr val="000000"/>
                </a:solidFill>
                <a:highlight>
                  <a:srgbClr val="FFFFFF"/>
                </a:highlight>
                <a:latin typeface="+mj-lt"/>
              </a:rPr>
              <a:t>        }</a:t>
            </a:r>
            <a:endParaRPr lang="en-IN" dirty="0">
              <a:latin typeface="+mj-lt"/>
            </a:endParaRPr>
          </a:p>
        </p:txBody>
      </p:sp>
      <p:sp>
        <p:nvSpPr>
          <p:cNvPr id="4" name="Freeform: Shape 3">
            <a:extLst>
              <a:ext uri="{FF2B5EF4-FFF2-40B4-BE49-F238E27FC236}">
                <a16:creationId xmlns:a16="http://schemas.microsoft.com/office/drawing/2014/main" xmlns="" id="{4641ADD9-AAC5-41DF-B8C7-A5BF634315FA}"/>
              </a:ext>
            </a:extLst>
          </p:cNvPr>
          <p:cNvSpPr/>
          <p:nvPr/>
        </p:nvSpPr>
        <p:spPr>
          <a:xfrm>
            <a:off x="4070213" y="3224981"/>
            <a:ext cx="934406" cy="442451"/>
          </a:xfrm>
          <a:custGeom>
            <a:avLst/>
            <a:gdLst>
              <a:gd name="connsiteX0" fmla="*/ 934406 w 934406"/>
              <a:gd name="connsiteY0" fmla="*/ 442451 h 442451"/>
              <a:gd name="connsiteX1" fmla="*/ 875413 w 934406"/>
              <a:gd name="connsiteY1" fmla="*/ 363793 h 442451"/>
              <a:gd name="connsiteX2" fmla="*/ 865581 w 934406"/>
              <a:gd name="connsiteY2" fmla="*/ 334296 h 442451"/>
              <a:gd name="connsiteX3" fmla="*/ 845916 w 934406"/>
              <a:gd name="connsiteY3" fmla="*/ 304800 h 442451"/>
              <a:gd name="connsiteX4" fmla="*/ 826252 w 934406"/>
              <a:gd name="connsiteY4" fmla="*/ 265471 h 442451"/>
              <a:gd name="connsiteX5" fmla="*/ 786922 w 934406"/>
              <a:gd name="connsiteY5" fmla="*/ 196645 h 442451"/>
              <a:gd name="connsiteX6" fmla="*/ 757426 w 934406"/>
              <a:gd name="connsiteY6" fmla="*/ 137651 h 442451"/>
              <a:gd name="connsiteX7" fmla="*/ 708264 w 934406"/>
              <a:gd name="connsiteY7" fmla="*/ 68825 h 442451"/>
              <a:gd name="connsiteX8" fmla="*/ 668935 w 934406"/>
              <a:gd name="connsiteY8" fmla="*/ 58993 h 442451"/>
              <a:gd name="connsiteX9" fmla="*/ 639439 w 934406"/>
              <a:gd name="connsiteY9" fmla="*/ 49161 h 442451"/>
              <a:gd name="connsiteX10" fmla="*/ 609942 w 934406"/>
              <a:gd name="connsiteY10" fmla="*/ 29496 h 442451"/>
              <a:gd name="connsiteX11" fmla="*/ 432961 w 934406"/>
              <a:gd name="connsiteY11" fmla="*/ 0 h 442451"/>
              <a:gd name="connsiteX12" fmla="*/ 236316 w 934406"/>
              <a:gd name="connsiteY12" fmla="*/ 9832 h 442451"/>
              <a:gd name="connsiteX13" fmla="*/ 177322 w 934406"/>
              <a:gd name="connsiteY13" fmla="*/ 29496 h 442451"/>
              <a:gd name="connsiteX14" fmla="*/ 118329 w 934406"/>
              <a:gd name="connsiteY14" fmla="*/ 78658 h 442451"/>
              <a:gd name="connsiteX15" fmla="*/ 59335 w 934406"/>
              <a:gd name="connsiteY15" fmla="*/ 127819 h 442451"/>
              <a:gd name="connsiteX16" fmla="*/ 29839 w 934406"/>
              <a:gd name="connsiteY16" fmla="*/ 186813 h 442451"/>
              <a:gd name="connsiteX17" fmla="*/ 10174 w 934406"/>
              <a:gd name="connsiteY17" fmla="*/ 216309 h 442451"/>
              <a:gd name="connsiteX18" fmla="*/ 342 w 934406"/>
              <a:gd name="connsiteY18" fmla="*/ 294967 h 442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4406" h="442451">
                <a:moveTo>
                  <a:pt x="934406" y="442451"/>
                </a:moveTo>
                <a:cubicBezTo>
                  <a:pt x="924755" y="430387"/>
                  <a:pt x="885849" y="384666"/>
                  <a:pt x="875413" y="363793"/>
                </a:cubicBezTo>
                <a:cubicBezTo>
                  <a:pt x="870778" y="354523"/>
                  <a:pt x="870216" y="343566"/>
                  <a:pt x="865581" y="334296"/>
                </a:cubicBezTo>
                <a:cubicBezTo>
                  <a:pt x="860296" y="323727"/>
                  <a:pt x="851779" y="315060"/>
                  <a:pt x="845916" y="304800"/>
                </a:cubicBezTo>
                <a:cubicBezTo>
                  <a:pt x="838644" y="292074"/>
                  <a:pt x="833524" y="278197"/>
                  <a:pt x="826252" y="265471"/>
                </a:cubicBezTo>
                <a:cubicBezTo>
                  <a:pt x="798039" y="216097"/>
                  <a:pt x="812390" y="256071"/>
                  <a:pt x="786922" y="196645"/>
                </a:cubicBezTo>
                <a:cubicBezTo>
                  <a:pt x="748292" y="106509"/>
                  <a:pt x="811413" y="232128"/>
                  <a:pt x="757426" y="137651"/>
                </a:cubicBezTo>
                <a:cubicBezTo>
                  <a:pt x="741332" y="109487"/>
                  <a:pt x="738838" y="86296"/>
                  <a:pt x="708264" y="68825"/>
                </a:cubicBezTo>
                <a:cubicBezTo>
                  <a:pt x="696531" y="62121"/>
                  <a:pt x="681928" y="62705"/>
                  <a:pt x="668935" y="58993"/>
                </a:cubicBezTo>
                <a:cubicBezTo>
                  <a:pt x="658970" y="56146"/>
                  <a:pt x="649271" y="52438"/>
                  <a:pt x="639439" y="49161"/>
                </a:cubicBezTo>
                <a:cubicBezTo>
                  <a:pt x="629607" y="42606"/>
                  <a:pt x="621236" y="32971"/>
                  <a:pt x="609942" y="29496"/>
                </a:cubicBezTo>
                <a:cubicBezTo>
                  <a:pt x="558943" y="13804"/>
                  <a:pt x="486887" y="6741"/>
                  <a:pt x="432961" y="0"/>
                </a:cubicBezTo>
                <a:cubicBezTo>
                  <a:pt x="367413" y="3277"/>
                  <a:pt x="301514" y="2309"/>
                  <a:pt x="236316" y="9832"/>
                </a:cubicBezTo>
                <a:cubicBezTo>
                  <a:pt x="215724" y="12208"/>
                  <a:pt x="177322" y="29496"/>
                  <a:pt x="177322" y="29496"/>
                </a:cubicBezTo>
                <a:cubicBezTo>
                  <a:pt x="104078" y="78328"/>
                  <a:pt x="194047" y="15560"/>
                  <a:pt x="118329" y="78658"/>
                </a:cubicBezTo>
                <a:cubicBezTo>
                  <a:pt x="76142" y="113813"/>
                  <a:pt x="98506" y="80813"/>
                  <a:pt x="59335" y="127819"/>
                </a:cubicBezTo>
                <a:cubicBezTo>
                  <a:pt x="24112" y="170088"/>
                  <a:pt x="52012" y="142467"/>
                  <a:pt x="29839" y="186813"/>
                </a:cubicBezTo>
                <a:cubicBezTo>
                  <a:pt x="24554" y="197382"/>
                  <a:pt x="16729" y="206477"/>
                  <a:pt x="10174" y="216309"/>
                </a:cubicBezTo>
                <a:cubicBezTo>
                  <a:pt x="-2837" y="268356"/>
                  <a:pt x="342" y="242125"/>
                  <a:pt x="342" y="29496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xmlns="" id="{D5AFAAD3-78C3-4ECE-825B-AC9556DBC611}"/>
              </a:ext>
            </a:extLst>
          </p:cNvPr>
          <p:cNvSpPr/>
          <p:nvPr/>
        </p:nvSpPr>
        <p:spPr>
          <a:xfrm rot="12045362">
            <a:off x="4038601" y="3356683"/>
            <a:ext cx="152400" cy="2286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17409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7FEF3B-4732-4EF6-A5FC-336D31E3F13E}"/>
              </a:ext>
            </a:extLst>
          </p:cNvPr>
          <p:cNvSpPr>
            <a:spLocks noGrp="1"/>
          </p:cNvSpPr>
          <p:nvPr>
            <p:ph type="title"/>
          </p:nvPr>
        </p:nvSpPr>
        <p:spPr>
          <a:xfrm>
            <a:off x="1143000" y="29497"/>
            <a:ext cx="7391400" cy="457199"/>
          </a:xfrm>
        </p:spPr>
        <p:txBody>
          <a:bodyPr>
            <a:normAutofit fontScale="90000"/>
          </a:bodyPr>
          <a:lstStyle/>
          <a:p>
            <a:r>
              <a:rPr lang="en-IN" dirty="0"/>
              <a:t>Lets see if you do not use </a:t>
            </a:r>
            <a:r>
              <a:rPr lang="en-IN" dirty="0" err="1"/>
              <a:t>linQ</a:t>
            </a:r>
            <a:r>
              <a:rPr lang="en-IN" dirty="0"/>
              <a:t> </a:t>
            </a:r>
          </a:p>
        </p:txBody>
      </p:sp>
      <p:sp>
        <p:nvSpPr>
          <p:cNvPr id="3" name="Content Placeholder 2">
            <a:extLst>
              <a:ext uri="{FF2B5EF4-FFF2-40B4-BE49-F238E27FC236}">
                <a16:creationId xmlns:a16="http://schemas.microsoft.com/office/drawing/2014/main" xmlns="" id="{87C8A69B-5986-4983-B98D-3541A2886FEB}"/>
              </a:ext>
            </a:extLst>
          </p:cNvPr>
          <p:cNvSpPr>
            <a:spLocks noGrp="1"/>
          </p:cNvSpPr>
          <p:nvPr>
            <p:ph idx="1"/>
          </p:nvPr>
        </p:nvSpPr>
        <p:spPr>
          <a:xfrm>
            <a:off x="152400" y="506361"/>
            <a:ext cx="8534400" cy="6477000"/>
          </a:xfrm>
        </p:spPr>
        <p:txBody>
          <a:bodyPr>
            <a:noAutofit/>
          </a:bodyPr>
          <a:lstStyle/>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System;</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System.Collections.Generic</a:t>
            </a:r>
            <a:r>
              <a:rPr lang="en-IN" sz="1100" dirty="0">
                <a:solidFill>
                  <a:srgbClr val="000000"/>
                </a:solidFill>
                <a:highlight>
                  <a:srgbClr val="FFFFFF"/>
                </a:highlight>
                <a:latin typeface="Consolas" panose="020B0609020204030204" pitchFamily="49" charset="0"/>
              </a:rPr>
              <a:t>;</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namespace</a:t>
            </a:r>
            <a:r>
              <a:rPr lang="en-IN" sz="1100" dirty="0">
                <a:solidFill>
                  <a:srgbClr val="000000"/>
                </a:solidFill>
                <a:highlight>
                  <a:srgbClr val="FFFFFF"/>
                </a:highlight>
                <a:latin typeface="Consolas" panose="020B0609020204030204" pitchFamily="49" charset="0"/>
              </a:rPr>
              <a:t> ConsoleApplication9</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Program</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static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Main(</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args</a:t>
            </a:r>
            <a:r>
              <a:rPr lang="en-US"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QueryOverStringsLongHand</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QueryOverStringsLongHand</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Assume we have an array of strings.</a:t>
            </a:r>
            <a:endParaRPr lang="en-US" sz="1100" dirty="0">
              <a:solidFill>
                <a:srgbClr val="000000"/>
              </a:solidFill>
              <a:highlight>
                <a:srgbClr val="FFFFFF"/>
              </a:highlight>
              <a:latin typeface="Consolas" panose="020B0609020204030204" pitchFamily="49" charset="0"/>
            </a:endParaRPr>
          </a:p>
          <a:p>
            <a:pPr marL="0" indent="0">
              <a:buNone/>
            </a:pP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currentVideoGames</a:t>
            </a:r>
            <a:r>
              <a:rPr lang="en-US" sz="1100" dirty="0">
                <a:solidFill>
                  <a:srgbClr val="000000"/>
                </a:solidFill>
                <a:highlight>
                  <a:srgbClr val="FFFFFF"/>
                </a:highlight>
                <a:latin typeface="Consolas" panose="020B0609020204030204" pitchFamily="49" charset="0"/>
              </a:rPr>
              <a:t> = {</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Morrowind</a:t>
            </a:r>
            <a:r>
              <a:rPr lang="en-US" sz="1100" dirty="0">
                <a:solidFill>
                  <a:srgbClr val="A31515"/>
                </a:solidFill>
                <a:highlight>
                  <a:srgbClr val="FFFFFF"/>
                </a:highlight>
                <a:latin typeface="Consolas" panose="020B0609020204030204" pitchFamily="49" charset="0"/>
              </a:rPr>
              <a:t>"</a:t>
            </a:r>
            <a:r>
              <a:rPr lang="en-US" sz="1100" dirty="0">
                <a:solidFill>
                  <a:srgbClr val="000000"/>
                </a:solidFill>
                <a:highlight>
                  <a:srgbClr val="FFFFFF"/>
                </a:highlight>
                <a:latin typeface="Consolas" panose="020B0609020204030204" pitchFamily="49" charset="0"/>
              </a:rPr>
              <a:t>, </a:t>
            </a:r>
            <a:r>
              <a:rPr lang="en-US" sz="1100" dirty="0">
                <a:solidFill>
                  <a:srgbClr val="A31515"/>
                </a:solidFill>
                <a:highlight>
                  <a:srgbClr val="FFFFFF"/>
                </a:highlight>
                <a:latin typeface="Consolas" panose="020B0609020204030204" pitchFamily="49" charset="0"/>
              </a:rPr>
              <a:t>"Uncharted 2"</a:t>
            </a:r>
            <a:r>
              <a:rPr lang="en-US"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"Fallout 3"</a:t>
            </a:r>
            <a:r>
              <a:rPr lang="en-IN" sz="1100" dirty="0">
                <a:solidFill>
                  <a:srgbClr val="000000"/>
                </a:solidFill>
                <a:highlight>
                  <a:srgbClr val="FFFFFF"/>
                </a:highlight>
                <a:latin typeface="Consolas" panose="020B0609020204030204" pitchFamily="49" charset="0"/>
              </a:rPr>
              <a:t>, </a:t>
            </a:r>
            <a:r>
              <a:rPr lang="en-IN" sz="1100" dirty="0">
                <a:solidFill>
                  <a:srgbClr val="A31515"/>
                </a:solidFill>
                <a:highlight>
                  <a:srgbClr val="FFFFFF"/>
                </a:highlight>
                <a:latin typeface="Consolas" panose="020B0609020204030204" pitchFamily="49" charset="0"/>
              </a:rPr>
              <a:t>"Daxter"</a:t>
            </a:r>
            <a:r>
              <a:rPr lang="en-IN" sz="1100" dirty="0">
                <a:solidFill>
                  <a:srgbClr val="000000"/>
                </a:solidFill>
                <a:highlight>
                  <a:srgbClr val="FFFFFF"/>
                </a:highlight>
                <a:latin typeface="Consolas" panose="020B0609020204030204" pitchFamily="49" charset="0"/>
              </a:rPr>
              <a:t>, </a:t>
            </a:r>
            <a:r>
              <a:rPr lang="en-IN" sz="1100" dirty="0">
                <a:solidFill>
                  <a:srgbClr val="A31515"/>
                </a:solidFill>
                <a:highlight>
                  <a:srgbClr val="FFFFFF"/>
                </a:highlight>
                <a:latin typeface="Consolas" panose="020B0609020204030204" pitchFamily="49" charset="0"/>
              </a:rPr>
              <a:t>"System Shock 2"</a:t>
            </a:r>
            <a:r>
              <a:rPr lang="en-IN" sz="1100" dirty="0">
                <a:solidFill>
                  <a:srgbClr val="000000"/>
                </a:solidFill>
                <a:highlight>
                  <a:srgbClr val="FFFFFF"/>
                </a:highlight>
                <a:latin typeface="Consolas" panose="020B0609020204030204" pitchFamily="49" charset="0"/>
              </a:rPr>
              <a:t>};</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gamesWithSpaces</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[5];</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for</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 0,j=0;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&lt; </a:t>
            </a:r>
            <a:r>
              <a:rPr lang="en-IN" sz="1100" dirty="0" err="1">
                <a:solidFill>
                  <a:srgbClr val="000000"/>
                </a:solidFill>
                <a:highlight>
                  <a:srgbClr val="FFFFFF"/>
                </a:highlight>
                <a:latin typeface="Consolas" panose="020B0609020204030204" pitchFamily="49" charset="0"/>
              </a:rPr>
              <a:t>currentVideoGames.Length</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if</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currentVideoGames</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].Contains(</a:t>
            </a:r>
            <a:r>
              <a:rPr lang="en-IN" sz="1100" dirty="0">
                <a:solidFill>
                  <a:srgbClr val="A31515"/>
                </a:solidFill>
                <a:highlight>
                  <a:srgbClr val="FFFFFF"/>
                </a:highlight>
                <a:latin typeface="Consolas" panose="020B0609020204030204" pitchFamily="49" charset="0"/>
              </a:rPr>
              <a:t>" "</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gamesWithSpaces</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j++</a:t>
            </a:r>
            <a:r>
              <a:rPr lang="en-IN" sz="1100" dirty="0">
                <a:solidFill>
                  <a:srgbClr val="000000"/>
                </a:solidFill>
                <a:highlight>
                  <a:srgbClr val="FFFFFF"/>
                </a:highlight>
                <a:latin typeface="Consolas" panose="020B0609020204030204" pitchFamily="49" charset="0"/>
              </a:rPr>
              <a:t>] = </a:t>
            </a:r>
            <a:r>
              <a:rPr lang="en-IN" sz="1100" dirty="0" err="1">
                <a:solidFill>
                  <a:srgbClr val="000000"/>
                </a:solidFill>
                <a:highlight>
                  <a:srgbClr val="FFFFFF"/>
                </a:highlight>
                <a:latin typeface="Consolas" panose="020B0609020204030204" pitchFamily="49" charset="0"/>
              </a:rPr>
              <a:t>currentVideoGames</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Now sort them.</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Array</a:t>
            </a:r>
            <a:r>
              <a:rPr lang="en-IN" sz="1100" dirty="0" err="1">
                <a:solidFill>
                  <a:srgbClr val="000000"/>
                </a:solidFill>
                <a:highlight>
                  <a:srgbClr val="FFFFFF"/>
                </a:highlight>
                <a:latin typeface="Consolas" panose="020B0609020204030204" pitchFamily="49" charset="0"/>
              </a:rPr>
              <a:t>.Sort</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gamesWithSpaces</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Print out the results.</a:t>
            </a:r>
            <a:endParaRPr lang="en-IN" sz="1100" dirty="0">
              <a:solidFill>
                <a:srgbClr val="000000"/>
              </a:solidFill>
              <a:highlight>
                <a:srgbClr val="FFFFFF"/>
              </a:highlight>
              <a:latin typeface="Consolas" panose="020B0609020204030204" pitchFamily="49" charset="0"/>
            </a:endParaRP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foreach</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s </a:t>
            </a:r>
            <a:r>
              <a:rPr lang="en-US" sz="1100" dirty="0">
                <a:solidFill>
                  <a:srgbClr val="0000FF"/>
                </a:solidFill>
                <a:highlight>
                  <a:srgbClr val="FFFFFF"/>
                </a:highlight>
                <a:latin typeface="Consolas" panose="020B0609020204030204" pitchFamily="49" charset="0"/>
              </a:rPr>
              <a:t>in</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gamesWithSpaces</a:t>
            </a:r>
            <a:r>
              <a:rPr lang="en-US"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if</a:t>
            </a:r>
            <a:r>
              <a:rPr lang="en-IN" sz="1100" dirty="0">
                <a:solidFill>
                  <a:srgbClr val="000000"/>
                </a:solidFill>
                <a:highlight>
                  <a:srgbClr val="FFFFFF"/>
                </a:highlight>
                <a:latin typeface="Consolas" panose="020B0609020204030204" pitchFamily="49" charset="0"/>
              </a:rPr>
              <a:t> (s != </a:t>
            </a:r>
            <a:r>
              <a:rPr lang="en-IN" sz="1100" dirty="0">
                <a:solidFill>
                  <a:srgbClr val="0000FF"/>
                </a:solidFill>
                <a:highlight>
                  <a:srgbClr val="FFFFFF"/>
                </a:highlight>
                <a:latin typeface="Consolas" panose="020B0609020204030204" pitchFamily="49" charset="0"/>
              </a:rPr>
              <a:t>null</a:t>
            </a:r>
            <a:r>
              <a:rPr lang="en-IN" sz="1100" dirty="0">
                <a:solidFill>
                  <a:srgbClr val="000000"/>
                </a:solidFill>
                <a:highlight>
                  <a:srgbClr val="FFFFFF"/>
                </a:highlight>
                <a:latin typeface="Consolas" panose="020B0609020204030204" pitchFamily="49" charset="0"/>
              </a:rPr>
              <a:t>)</a:t>
            </a:r>
          </a:p>
          <a:p>
            <a:pPr marL="0" indent="0">
              <a:buNone/>
            </a:pP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"Item: {0}"</a:t>
            </a:r>
            <a:r>
              <a:rPr lang="en-US" sz="1100" dirty="0">
                <a:solidFill>
                  <a:srgbClr val="000000"/>
                </a:solidFill>
                <a:highlight>
                  <a:srgbClr val="FFFFFF"/>
                </a:highlight>
                <a:latin typeface="Consolas" panose="020B0609020204030204" pitchFamily="49" charset="0"/>
              </a:rPr>
              <a:t>, s);</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    </a:t>
            </a:r>
          </a:p>
          <a:p>
            <a:pPr marL="0" indent="0">
              <a:buNone/>
            </a:pPr>
            <a:r>
              <a:rPr lang="en-IN" sz="1100" dirty="0">
                <a:solidFill>
                  <a:srgbClr val="000000"/>
                </a:solidFill>
                <a:highlight>
                  <a:srgbClr val="FFFFFF"/>
                </a:highlight>
                <a:latin typeface="Consolas" panose="020B0609020204030204" pitchFamily="49" charset="0"/>
              </a:rPr>
              <a:t> }</a:t>
            </a:r>
            <a:endParaRPr lang="en-IN" sz="1100" dirty="0"/>
          </a:p>
        </p:txBody>
      </p:sp>
      <p:sp>
        <p:nvSpPr>
          <p:cNvPr id="4" name="TextBox 3">
            <a:extLst>
              <a:ext uri="{FF2B5EF4-FFF2-40B4-BE49-F238E27FC236}">
                <a16:creationId xmlns:a16="http://schemas.microsoft.com/office/drawing/2014/main" xmlns="" id="{FDA8BD4C-52C0-4151-8008-729B58D17C09}"/>
              </a:ext>
            </a:extLst>
          </p:cNvPr>
          <p:cNvSpPr txBox="1"/>
          <p:nvPr/>
        </p:nvSpPr>
        <p:spPr>
          <a:xfrm>
            <a:off x="4156587" y="685800"/>
            <a:ext cx="4871884" cy="1200329"/>
          </a:xfrm>
          <a:prstGeom prst="rect">
            <a:avLst/>
          </a:prstGeom>
          <a:noFill/>
        </p:spPr>
        <p:txBody>
          <a:bodyPr wrap="square" rtlCol="0">
            <a:spAutoFit/>
          </a:bodyPr>
          <a:lstStyle/>
          <a:p>
            <a:r>
              <a:rPr lang="en-US" sz="1200" dirty="0"/>
              <a:t>To be sure, LINQ is never mandatory. If you so choose, you could have found the same result set by forgoing LINQ altogether and making use of programming primitives such as if statements and for loops.</a:t>
            </a:r>
          </a:p>
          <a:p>
            <a:r>
              <a:rPr lang="en-US" sz="1200" dirty="0"/>
              <a:t> Here is a method that yields the same result as the </a:t>
            </a:r>
            <a:r>
              <a:rPr lang="en-US" sz="1200" dirty="0" err="1"/>
              <a:t>QueryOverStrings</a:t>
            </a:r>
            <a:r>
              <a:rPr lang="en-US" sz="1200" dirty="0"/>
              <a:t>() method, but in a much more verbose manner:</a:t>
            </a:r>
            <a:endParaRPr lang="en-IN" sz="1200" dirty="0"/>
          </a:p>
        </p:txBody>
      </p:sp>
    </p:spTree>
    <p:extLst>
      <p:ext uri="{BB962C8B-B14F-4D97-AF65-F5344CB8AC3E}">
        <p14:creationId xmlns:p14="http://schemas.microsoft.com/office/powerpoint/2010/main" val="2789552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98AAEB-AD4E-481D-8866-334EE6D88AE2}"/>
              </a:ext>
            </a:extLst>
          </p:cNvPr>
          <p:cNvSpPr>
            <a:spLocks noGrp="1"/>
          </p:cNvSpPr>
          <p:nvPr>
            <p:ph type="title"/>
          </p:nvPr>
        </p:nvSpPr>
        <p:spPr>
          <a:xfrm>
            <a:off x="1248697" y="117321"/>
            <a:ext cx="7467600" cy="609600"/>
          </a:xfrm>
        </p:spPr>
        <p:txBody>
          <a:bodyPr>
            <a:normAutofit fontScale="90000"/>
          </a:bodyPr>
          <a:lstStyle/>
          <a:p>
            <a:r>
              <a:rPr lang="en-IN" dirty="0"/>
              <a:t>For better understanding</a:t>
            </a:r>
          </a:p>
        </p:txBody>
      </p:sp>
      <p:sp>
        <p:nvSpPr>
          <p:cNvPr id="3" name="Content Placeholder 2">
            <a:extLst>
              <a:ext uri="{FF2B5EF4-FFF2-40B4-BE49-F238E27FC236}">
                <a16:creationId xmlns:a16="http://schemas.microsoft.com/office/drawing/2014/main" xmlns="" id="{3D563D33-D590-42EA-97AE-6045309DA812}"/>
              </a:ext>
            </a:extLst>
          </p:cNvPr>
          <p:cNvSpPr>
            <a:spLocks noGrp="1"/>
          </p:cNvSpPr>
          <p:nvPr>
            <p:ph idx="1"/>
          </p:nvPr>
        </p:nvSpPr>
        <p:spPr>
          <a:xfrm>
            <a:off x="0" y="720879"/>
            <a:ext cx="9296400" cy="6019800"/>
          </a:xfrm>
        </p:spPr>
        <p:txBody>
          <a:bodyPr>
            <a:noAutofit/>
          </a:bodyPr>
          <a:lstStyle/>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QueryStringsWithEnumerableAndLambdas2()</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 Using Enumerable / Lambda Expressions (version 2) *****"</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currentVideoGames</a:t>
            </a:r>
            <a:r>
              <a:rPr lang="en-US" sz="1400" dirty="0">
                <a:solidFill>
                  <a:srgbClr val="000000"/>
                </a:solidFill>
                <a:highlight>
                  <a:srgbClr val="FFFFFF"/>
                </a:highlight>
                <a:latin typeface="Consolas" panose="020B0609020204030204" pitchFamily="49" charset="0"/>
              </a:rPr>
              <a:t> = {</a:t>
            </a:r>
            <a:r>
              <a:rPr lang="en-US" sz="1400" dirty="0">
                <a:solidFill>
                  <a:srgbClr val="A31515"/>
                </a:solidFill>
                <a:highlight>
                  <a:srgbClr val="FFFFFF"/>
                </a:highlight>
                <a:latin typeface="Consolas" panose="020B0609020204030204" pitchFamily="49" charset="0"/>
              </a:rPr>
              <a:t>"</a:t>
            </a:r>
            <a:r>
              <a:rPr lang="en-US" sz="1400" dirty="0" err="1">
                <a:solidFill>
                  <a:srgbClr val="A31515"/>
                </a:solidFill>
                <a:highlight>
                  <a:srgbClr val="FFFFFF"/>
                </a:highlight>
                <a:latin typeface="Consolas" panose="020B0609020204030204" pitchFamily="49" charset="0"/>
              </a:rPr>
              <a:t>Morrowind</a:t>
            </a:r>
            <a:r>
              <a:rPr lang="en-US" sz="1400" dirty="0">
                <a:solidFill>
                  <a:srgbClr val="A31515"/>
                </a:solidFill>
                <a:highlight>
                  <a:srgbClr val="FFFFFF"/>
                </a:highlight>
                <a:latin typeface="Consolas" panose="020B0609020204030204" pitchFamily="49" charset="0"/>
              </a:rPr>
              <a:t>"</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"Uncharted 2"</a:t>
            </a:r>
            <a:r>
              <a:rPr lang="en-US"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"Fallout 3"</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"Daxter"</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"System Shock 2"</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Break it down!</a:t>
            </a: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var</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gamesWithSpaces</a:t>
            </a:r>
            <a:r>
              <a:rPr lang="en-US" sz="1400" dirty="0">
                <a:solidFill>
                  <a:srgbClr val="000000"/>
                </a:solidFill>
                <a:highlight>
                  <a:srgbClr val="FFFFFF"/>
                </a:highlight>
                <a:latin typeface="Consolas" panose="020B0609020204030204" pitchFamily="49" charset="0"/>
              </a:rPr>
              <a:t> = </a:t>
            </a:r>
            <a:r>
              <a:rPr lang="en-US" sz="1400" dirty="0" err="1">
                <a:solidFill>
                  <a:srgbClr val="000000"/>
                </a:solidFill>
                <a:highlight>
                  <a:srgbClr val="FFFFFF"/>
                </a:highlight>
                <a:latin typeface="Consolas" panose="020B0609020204030204" pitchFamily="49" charset="0"/>
              </a:rPr>
              <a:t>currentVideoGames.Where</a:t>
            </a:r>
            <a:r>
              <a:rPr lang="en-US" sz="1400" dirty="0">
                <a:solidFill>
                  <a:srgbClr val="000000"/>
                </a:solidFill>
                <a:highlight>
                  <a:srgbClr val="FFFFFF"/>
                </a:highlight>
                <a:latin typeface="Consolas" panose="020B0609020204030204" pitchFamily="49" charset="0"/>
              </a:rPr>
              <a:t>(game =&gt; </a:t>
            </a:r>
            <a:r>
              <a:rPr lang="en-US" sz="1400" dirty="0" err="1">
                <a:solidFill>
                  <a:srgbClr val="000000"/>
                </a:solidFill>
                <a:highlight>
                  <a:srgbClr val="FFFFFF"/>
                </a:highlight>
                <a:latin typeface="Consolas" panose="020B0609020204030204" pitchFamily="49" charset="0"/>
              </a:rPr>
              <a:t>game.Contains</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"-----1"</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gamesWithSpaces</a:t>
            </a:r>
            <a:r>
              <a:rPr lang="en-IN" sz="1400" dirty="0">
                <a:solidFill>
                  <a:srgbClr val="000000"/>
                </a:solidFill>
                <a:highlight>
                  <a:srgbClr val="FFFFFF"/>
                </a:highlight>
                <a:latin typeface="Consolas" panose="020B0609020204030204" pitchFamily="49" charset="0"/>
              </a:rPr>
              <a:t>);</a:t>
            </a:r>
            <a:r>
              <a:rPr lang="en-IN" sz="1400" dirty="0">
                <a:solidFill>
                  <a:srgbClr val="008000"/>
                </a:solidFill>
                <a:highlight>
                  <a:srgbClr val="FFFFFF"/>
                </a:highlight>
                <a:latin typeface="Consolas" panose="020B0609020204030204" pitchFamily="49" charset="0"/>
              </a:rPr>
              <a:t>//-----1System.Linq.Enumerable+WhereArrayIterator`1[</a:t>
            </a:r>
            <a:r>
              <a:rPr lang="en-IN" sz="1400" dirty="0" err="1">
                <a:solidFill>
                  <a:srgbClr val="008000"/>
                </a:solidFill>
                <a:highlight>
                  <a:srgbClr val="FFFFFF"/>
                </a:highlight>
                <a:latin typeface="Consolas" panose="020B0609020204030204" pitchFamily="49" charset="0"/>
              </a:rPr>
              <a:t>System.String</a:t>
            </a:r>
            <a:r>
              <a:rPr lang="en-IN" sz="1400" dirty="0">
                <a:solidFill>
                  <a:srgbClr val="008000"/>
                </a:solidFill>
                <a:highlight>
                  <a:srgbClr val="FFFFFF"/>
                </a:highlight>
                <a:latin typeface="Consolas" panose="020B0609020204030204" pitchFamily="49" charset="0"/>
              </a:rPr>
              <a:t>]</a:t>
            </a:r>
            <a:endParaRPr lang="en-IN" sz="1400" dirty="0">
              <a:solidFill>
                <a:srgbClr val="000000"/>
              </a:solidFill>
              <a:highlight>
                <a:srgbClr val="FFFFFF"/>
              </a:highlight>
              <a:latin typeface="Consolas" panose="020B0609020204030204" pitchFamily="49" charset="0"/>
            </a:endParaRP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var</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orderedGames</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gamesWithSpaces.OrderBy</a:t>
            </a:r>
            <a:r>
              <a:rPr lang="en-IN" sz="1400" dirty="0">
                <a:solidFill>
                  <a:srgbClr val="000000"/>
                </a:solidFill>
                <a:highlight>
                  <a:srgbClr val="FFFFFF"/>
                </a:highlight>
                <a:latin typeface="Consolas" panose="020B0609020204030204" pitchFamily="49" charset="0"/>
              </a:rPr>
              <a:t>(game =&gt; game);</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"-----2"</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orderedGames</a:t>
            </a:r>
            <a:r>
              <a:rPr lang="en-IN" sz="1400" dirty="0">
                <a:solidFill>
                  <a:srgbClr val="000000"/>
                </a:solidFill>
                <a:highlight>
                  <a:srgbClr val="FFFFFF"/>
                </a:highlight>
                <a:latin typeface="Consolas" panose="020B0609020204030204" pitchFamily="49" charset="0"/>
              </a:rPr>
              <a:t>);</a:t>
            </a:r>
            <a:r>
              <a:rPr lang="en-IN" sz="1400" dirty="0">
                <a:solidFill>
                  <a:srgbClr val="008000"/>
                </a:solidFill>
                <a:highlight>
                  <a:srgbClr val="FFFFFF"/>
                </a:highlight>
                <a:latin typeface="Consolas" panose="020B0609020204030204" pitchFamily="49" charset="0"/>
              </a:rPr>
              <a:t>////-----2System.Linq.OrderedEnumerable`2[</a:t>
            </a:r>
            <a:r>
              <a:rPr lang="en-IN" sz="1400" dirty="0" err="1">
                <a:solidFill>
                  <a:srgbClr val="008000"/>
                </a:solidFill>
                <a:highlight>
                  <a:srgbClr val="FFFFFF"/>
                </a:highlight>
                <a:latin typeface="Consolas" panose="020B0609020204030204" pitchFamily="49" charset="0"/>
              </a:rPr>
              <a:t>System.String,System.String</a:t>
            </a:r>
            <a:r>
              <a:rPr lang="en-IN" sz="1400" dirty="0">
                <a:solidFill>
                  <a:srgbClr val="008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var</a:t>
            </a:r>
            <a:r>
              <a:rPr lang="en-IN" sz="1400" dirty="0">
                <a:solidFill>
                  <a:srgbClr val="000000"/>
                </a:solidFill>
                <a:highlight>
                  <a:srgbClr val="FFFFFF"/>
                </a:highlight>
                <a:latin typeface="Consolas" panose="020B0609020204030204" pitchFamily="49" charset="0"/>
              </a:rPr>
              <a:t> subset = </a:t>
            </a:r>
            <a:r>
              <a:rPr lang="en-IN" sz="1400" dirty="0" err="1">
                <a:solidFill>
                  <a:srgbClr val="000000"/>
                </a:solidFill>
                <a:highlight>
                  <a:srgbClr val="FFFFFF"/>
                </a:highlight>
                <a:latin typeface="Consolas" panose="020B0609020204030204" pitchFamily="49" charset="0"/>
              </a:rPr>
              <a:t>orderedGames.Select</a:t>
            </a:r>
            <a:r>
              <a:rPr lang="en-IN" sz="1400" dirty="0">
                <a:solidFill>
                  <a:srgbClr val="000000"/>
                </a:solidFill>
                <a:highlight>
                  <a:srgbClr val="FFFFFF"/>
                </a:highlight>
                <a:latin typeface="Consolas" panose="020B0609020204030204" pitchFamily="49" charset="0"/>
              </a:rPr>
              <a:t>(game =&gt; game);</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"-----3"</a:t>
            </a:r>
            <a:r>
              <a:rPr lang="en-IN" sz="1400" dirty="0">
                <a:solidFill>
                  <a:srgbClr val="000000"/>
                </a:solidFill>
                <a:highlight>
                  <a:srgbClr val="FFFFFF"/>
                </a:highlight>
                <a:latin typeface="Consolas" panose="020B0609020204030204" pitchFamily="49" charset="0"/>
              </a:rPr>
              <a:t> + subset);</a:t>
            </a:r>
            <a:r>
              <a:rPr lang="en-IN" sz="1400" dirty="0">
                <a:solidFill>
                  <a:srgbClr val="008000"/>
                </a:solidFill>
                <a:highlight>
                  <a:srgbClr val="FFFFFF"/>
                </a:highlight>
                <a:latin typeface="Consolas" panose="020B0609020204030204" pitchFamily="49" charset="0"/>
              </a:rPr>
              <a:t>//-----3System.Linq.Enumerable+WhereSelectEnumerableIterator`2[</a:t>
            </a:r>
            <a:r>
              <a:rPr lang="en-IN" sz="1400" dirty="0" err="1">
                <a:solidFill>
                  <a:srgbClr val="008000"/>
                </a:solidFill>
                <a:highlight>
                  <a:srgbClr val="FFFFFF"/>
                </a:highlight>
                <a:latin typeface="Consolas" panose="020B0609020204030204" pitchFamily="49" charset="0"/>
              </a:rPr>
              <a:t>System.String,System.String</a:t>
            </a:r>
            <a:r>
              <a:rPr lang="en-IN" sz="1400" dirty="0">
                <a:solidFill>
                  <a:srgbClr val="008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foreach</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var</a:t>
            </a:r>
            <a:r>
              <a:rPr lang="en-IN" sz="1400" dirty="0">
                <a:solidFill>
                  <a:srgbClr val="000000"/>
                </a:solidFill>
                <a:highlight>
                  <a:srgbClr val="FFFFFF"/>
                </a:highlight>
                <a:latin typeface="Consolas" panose="020B0609020204030204" pitchFamily="49" charset="0"/>
              </a:rPr>
              <a:t> game </a:t>
            </a:r>
            <a:r>
              <a:rPr lang="en-IN" sz="1400" dirty="0">
                <a:solidFill>
                  <a:srgbClr val="0000FF"/>
                </a:solidFill>
                <a:highlight>
                  <a:srgbClr val="FFFFFF"/>
                </a:highlight>
                <a:latin typeface="Consolas" panose="020B0609020204030204" pitchFamily="49" charset="0"/>
              </a:rPr>
              <a:t>in</a:t>
            </a:r>
            <a:r>
              <a:rPr lang="en-IN" sz="1400" dirty="0">
                <a:solidFill>
                  <a:srgbClr val="000000"/>
                </a:solidFill>
                <a:highlight>
                  <a:srgbClr val="FFFFFF"/>
                </a:highlight>
                <a:latin typeface="Consolas" panose="020B0609020204030204" pitchFamily="49" charset="0"/>
              </a:rPr>
              <a:t> subset)</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"Item: {0}"</a:t>
            </a:r>
            <a:r>
              <a:rPr lang="en-US" sz="1400" dirty="0">
                <a:solidFill>
                  <a:srgbClr val="000000"/>
                </a:solidFill>
                <a:highlight>
                  <a:srgbClr val="FFFFFF"/>
                </a:highlight>
                <a:latin typeface="Consolas" panose="020B0609020204030204" pitchFamily="49" charset="0"/>
              </a:rPr>
              <a:t>, game);</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endParaRPr lang="en-IN" sz="1400" dirty="0"/>
          </a:p>
        </p:txBody>
      </p:sp>
    </p:spTree>
    <p:extLst>
      <p:ext uri="{BB962C8B-B14F-4D97-AF65-F5344CB8AC3E}">
        <p14:creationId xmlns:p14="http://schemas.microsoft.com/office/powerpoint/2010/main" val="4044310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26EA91B7-9B81-8C07-8830-9499023C0A6B}"/>
              </a:ext>
            </a:extLst>
          </p:cNvPr>
          <p:cNvSpPr txBox="1"/>
          <p:nvPr/>
        </p:nvSpPr>
        <p:spPr>
          <a:xfrm>
            <a:off x="457200" y="3200400"/>
            <a:ext cx="4953000" cy="369332"/>
          </a:xfrm>
          <a:prstGeom prst="rect">
            <a:avLst/>
          </a:prstGeom>
          <a:noFill/>
        </p:spPr>
        <p:txBody>
          <a:bodyPr wrap="square">
            <a:spAutoFit/>
          </a:bodyPr>
          <a:lstStyle/>
          <a:p>
            <a:r>
              <a:rPr lang="en-US" sz="1800" dirty="0">
                <a:solidFill>
                  <a:srgbClr val="000000"/>
                </a:solidFill>
                <a:highlight>
                  <a:srgbClr val="FFFFFF"/>
                </a:highlight>
                <a:latin typeface="Consolas" panose="020B0609020204030204" pitchFamily="49" charset="0"/>
              </a:rPr>
              <a:t>Where(game =&gt; </a:t>
            </a:r>
            <a:r>
              <a:rPr lang="en-US" sz="1800" dirty="0" err="1">
                <a:solidFill>
                  <a:srgbClr val="000000"/>
                </a:solidFill>
                <a:highlight>
                  <a:srgbClr val="FFFFFF"/>
                </a:highlight>
                <a:latin typeface="Consolas" panose="020B0609020204030204" pitchFamily="49" charset="0"/>
              </a:rPr>
              <a:t>game.Contains</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 "</a:t>
            </a:r>
            <a:r>
              <a:rPr lang="en-US" sz="1800" dirty="0">
                <a:solidFill>
                  <a:srgbClr val="000000"/>
                </a:solidFill>
                <a:highlight>
                  <a:srgbClr val="FFFFFF"/>
                </a:highlight>
                <a:latin typeface="Consolas" panose="020B0609020204030204" pitchFamily="49" charset="0"/>
              </a:rPr>
              <a:t>));</a:t>
            </a:r>
            <a:endParaRPr lang="en-IN" dirty="0"/>
          </a:p>
        </p:txBody>
      </p:sp>
      <p:sp>
        <p:nvSpPr>
          <p:cNvPr id="6" name="TextBox 5">
            <a:extLst>
              <a:ext uri="{FF2B5EF4-FFF2-40B4-BE49-F238E27FC236}">
                <a16:creationId xmlns:a16="http://schemas.microsoft.com/office/drawing/2014/main" xmlns="" id="{A6CA3A6B-991F-E3F0-C5EB-C537F04F6900}"/>
              </a:ext>
            </a:extLst>
          </p:cNvPr>
          <p:cNvSpPr txBox="1"/>
          <p:nvPr/>
        </p:nvSpPr>
        <p:spPr>
          <a:xfrm>
            <a:off x="5562600" y="228600"/>
            <a:ext cx="3276600" cy="2585323"/>
          </a:xfrm>
          <a:prstGeom prst="rect">
            <a:avLst/>
          </a:prstGeom>
          <a:noFill/>
        </p:spPr>
        <p:txBody>
          <a:bodyPr wrap="square" rtlCol="0">
            <a:spAutoFit/>
          </a:bodyPr>
          <a:lstStyle/>
          <a:p>
            <a:r>
              <a:rPr lang="en-US" dirty="0"/>
              <a:t>Public  Where( predicate  )</a:t>
            </a:r>
          </a:p>
          <a:p>
            <a:r>
              <a:rPr lang="en-US" dirty="0"/>
              <a:t>{</a:t>
            </a:r>
          </a:p>
          <a:p>
            <a:endParaRPr lang="en-US" dirty="0"/>
          </a:p>
          <a:p>
            <a:endParaRPr lang="en-US" dirty="0"/>
          </a:p>
          <a:p>
            <a:endParaRPr lang="en-US" dirty="0"/>
          </a:p>
          <a:p>
            <a:r>
              <a:rPr lang="en-US" dirty="0"/>
              <a:t>If(predicate())</a:t>
            </a:r>
          </a:p>
          <a:p>
            <a:r>
              <a:rPr lang="en-US" dirty="0"/>
              <a:t>string [] </a:t>
            </a:r>
            <a:r>
              <a:rPr lang="en-US" dirty="0" err="1"/>
              <a:t>arr</a:t>
            </a:r>
            <a:r>
              <a:rPr lang="en-US" dirty="0"/>
              <a:t>=</a:t>
            </a:r>
          </a:p>
          <a:p>
            <a:endParaRPr lang="en-US" dirty="0"/>
          </a:p>
          <a:p>
            <a:r>
              <a:rPr lang="en-US" dirty="0"/>
              <a:t>}</a:t>
            </a:r>
            <a:endParaRPr lang="en-IN" dirty="0"/>
          </a:p>
        </p:txBody>
      </p:sp>
    </p:spTree>
    <p:extLst>
      <p:ext uri="{BB962C8B-B14F-4D97-AF65-F5344CB8AC3E}">
        <p14:creationId xmlns:p14="http://schemas.microsoft.com/office/powerpoint/2010/main" val="3756199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A23FC4-9521-49FE-8D12-F0EBF4AF7AC2}"/>
              </a:ext>
            </a:extLst>
          </p:cNvPr>
          <p:cNvSpPr>
            <a:spLocks noGrp="1"/>
          </p:cNvSpPr>
          <p:nvPr>
            <p:ph type="title"/>
          </p:nvPr>
        </p:nvSpPr>
        <p:spPr>
          <a:xfrm>
            <a:off x="685800" y="0"/>
            <a:ext cx="7924800" cy="533400"/>
          </a:xfrm>
        </p:spPr>
        <p:txBody>
          <a:bodyPr>
            <a:normAutofit/>
          </a:bodyPr>
          <a:lstStyle/>
          <a:p>
            <a:r>
              <a:rPr lang="en-IN" sz="1800" dirty="0"/>
              <a:t>Each method return collection of object you can chain it using dot operator</a:t>
            </a:r>
          </a:p>
        </p:txBody>
      </p:sp>
      <p:sp>
        <p:nvSpPr>
          <p:cNvPr id="3" name="Content Placeholder 2">
            <a:extLst>
              <a:ext uri="{FF2B5EF4-FFF2-40B4-BE49-F238E27FC236}">
                <a16:creationId xmlns:a16="http://schemas.microsoft.com/office/drawing/2014/main" xmlns="" id="{B330C2D3-4909-4A9B-9330-D4D9C8CDB840}"/>
              </a:ext>
            </a:extLst>
          </p:cNvPr>
          <p:cNvSpPr>
            <a:spLocks noGrp="1"/>
          </p:cNvSpPr>
          <p:nvPr>
            <p:ph idx="1"/>
          </p:nvPr>
        </p:nvSpPr>
        <p:spPr>
          <a:xfrm>
            <a:off x="228600" y="609600"/>
            <a:ext cx="8458200" cy="5867400"/>
          </a:xfrm>
        </p:spPr>
        <p:txBody>
          <a:bodyPr>
            <a:noAutofit/>
          </a:bodyPr>
          <a:lstStyle/>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QueryStringsWithEnumerableAndLambdas</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 Using Enumerable / Lambda Expressions *****"</a:t>
            </a:r>
            <a:r>
              <a:rPr lang="en-US"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currentVideoGames</a:t>
            </a:r>
            <a:r>
              <a:rPr lang="en-US" sz="1800" dirty="0">
                <a:solidFill>
                  <a:srgbClr val="000000"/>
                </a:solidFill>
                <a:highlight>
                  <a:srgbClr val="FFFFFF"/>
                </a:highlight>
                <a:latin typeface="Consolas" panose="020B0609020204030204" pitchFamily="49" charset="0"/>
              </a:rPr>
              <a:t> = {</a:t>
            </a:r>
            <a:r>
              <a:rPr lang="en-US" sz="1800" dirty="0">
                <a:solidFill>
                  <a:srgbClr val="A31515"/>
                </a:solidFill>
                <a:highlight>
                  <a:srgbClr val="FFFFFF"/>
                </a:highlight>
                <a:latin typeface="Consolas" panose="020B0609020204030204" pitchFamily="49" charset="0"/>
              </a:rPr>
              <a:t>"</a:t>
            </a:r>
            <a:r>
              <a:rPr lang="en-US" sz="1800" dirty="0" err="1">
                <a:solidFill>
                  <a:srgbClr val="A31515"/>
                </a:solidFill>
                <a:highlight>
                  <a:srgbClr val="FFFFFF"/>
                </a:highlight>
                <a:latin typeface="Consolas" panose="020B0609020204030204" pitchFamily="49" charset="0"/>
              </a:rPr>
              <a:t>Morrowind</a:t>
            </a:r>
            <a:r>
              <a:rPr lang="en-US" sz="1800" dirty="0">
                <a:solidFill>
                  <a:srgbClr val="A31515"/>
                </a:solidFill>
                <a:highlight>
                  <a:srgbClr val="FFFFFF"/>
                </a:highlight>
                <a:latin typeface="Consolas" panose="020B0609020204030204" pitchFamily="49" charset="0"/>
              </a:rPr>
              <a:t>"</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"Uncharted 2"</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A31515"/>
                </a:solidFill>
                <a:highlight>
                  <a:srgbClr val="FFFFFF"/>
                </a:highlight>
                <a:latin typeface="Consolas" panose="020B0609020204030204" pitchFamily="49" charset="0"/>
              </a:rPr>
              <a:t>"Fallout 3"</a:t>
            </a:r>
            <a:r>
              <a:rPr lang="en-IN" sz="1800" dirty="0">
                <a:solidFill>
                  <a:srgbClr val="000000"/>
                </a:solidFill>
                <a:highlight>
                  <a:srgbClr val="FFFFFF"/>
                </a:highlight>
                <a:latin typeface="Consolas" panose="020B0609020204030204" pitchFamily="49" charset="0"/>
              </a:rPr>
              <a:t>, </a:t>
            </a:r>
            <a:r>
              <a:rPr lang="en-IN" sz="1800" dirty="0">
                <a:solidFill>
                  <a:srgbClr val="A31515"/>
                </a:solidFill>
                <a:highlight>
                  <a:srgbClr val="FFFFFF"/>
                </a:highlight>
                <a:latin typeface="Consolas" panose="020B0609020204030204" pitchFamily="49" charset="0"/>
              </a:rPr>
              <a:t>"Daxter"</a:t>
            </a:r>
            <a:r>
              <a:rPr lang="en-IN" sz="1800" dirty="0">
                <a:solidFill>
                  <a:srgbClr val="000000"/>
                </a:solidFill>
                <a:highlight>
                  <a:srgbClr val="FFFFFF"/>
                </a:highlight>
                <a:latin typeface="Consolas" panose="020B0609020204030204" pitchFamily="49" charset="0"/>
              </a:rPr>
              <a:t>, </a:t>
            </a:r>
            <a:r>
              <a:rPr lang="en-IN" sz="1800" dirty="0">
                <a:solidFill>
                  <a:srgbClr val="A31515"/>
                </a:solidFill>
                <a:highlight>
                  <a:srgbClr val="FFFFFF"/>
                </a:highlight>
                <a:latin typeface="Consolas" panose="020B0609020204030204" pitchFamily="49" charset="0"/>
              </a:rPr>
              <a:t>"System Shock 2"</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Build a query expression using extension methods</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granted to the Array via the Enumerable type.</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var</a:t>
            </a:r>
            <a:r>
              <a:rPr lang="en-US" sz="1800" dirty="0">
                <a:solidFill>
                  <a:srgbClr val="000000"/>
                </a:solidFill>
                <a:highlight>
                  <a:srgbClr val="FFFFFF"/>
                </a:highlight>
                <a:latin typeface="Consolas" panose="020B0609020204030204" pitchFamily="49" charset="0"/>
              </a:rPr>
              <a:t> subset = </a:t>
            </a:r>
            <a:r>
              <a:rPr lang="en-US" sz="1800" dirty="0" err="1">
                <a:solidFill>
                  <a:srgbClr val="000000"/>
                </a:solidFill>
                <a:highlight>
                  <a:srgbClr val="FFFFFF"/>
                </a:highlight>
                <a:latin typeface="Consolas" panose="020B0609020204030204" pitchFamily="49" charset="0"/>
              </a:rPr>
              <a:t>currentVideoGames.Where</a:t>
            </a:r>
            <a:r>
              <a:rPr lang="en-US" sz="1800" dirty="0">
                <a:solidFill>
                  <a:srgbClr val="000000"/>
                </a:solidFill>
                <a:highlight>
                  <a:srgbClr val="FFFFFF"/>
                </a:highlight>
                <a:latin typeface="Consolas" panose="020B0609020204030204" pitchFamily="49" charset="0"/>
              </a:rPr>
              <a:t>(game =&gt; </a:t>
            </a:r>
            <a:r>
              <a:rPr lang="en-US" sz="1800" dirty="0" err="1">
                <a:solidFill>
                  <a:srgbClr val="000000"/>
                </a:solidFill>
                <a:highlight>
                  <a:srgbClr val="FFFFFF"/>
                </a:highlight>
                <a:latin typeface="Consolas" panose="020B0609020204030204" pitchFamily="49" charset="0"/>
              </a:rPr>
              <a:t>game.Contains</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 "</a:t>
            </a:r>
            <a:r>
              <a:rPr lang="en-US" sz="1800" dirty="0">
                <a:solidFill>
                  <a:srgbClr val="000000"/>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OrderBy</a:t>
            </a:r>
            <a:r>
              <a:rPr lang="en-US" sz="1800" dirty="0">
                <a:solidFill>
                  <a:srgbClr val="000000"/>
                </a:solidFill>
                <a:highlight>
                  <a:srgbClr val="FFFFFF"/>
                </a:highlight>
                <a:latin typeface="Consolas" panose="020B0609020204030204" pitchFamily="49" charset="0"/>
              </a:rPr>
              <a:t>(game =&gt; game).Select(game =&gt; game);</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8000"/>
                </a:solidFill>
                <a:highlight>
                  <a:srgbClr val="FFFFFF"/>
                </a:highlight>
                <a:latin typeface="Consolas" panose="020B0609020204030204" pitchFamily="49" charset="0"/>
              </a:rPr>
              <a:t>// Print out the results.</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foreach</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var</a:t>
            </a:r>
            <a:r>
              <a:rPr lang="en-IN" sz="1800" dirty="0">
                <a:solidFill>
                  <a:srgbClr val="000000"/>
                </a:solidFill>
                <a:highlight>
                  <a:srgbClr val="FFFFFF"/>
                </a:highlight>
                <a:latin typeface="Consolas" panose="020B0609020204030204" pitchFamily="49" charset="0"/>
              </a:rPr>
              <a:t> game </a:t>
            </a:r>
            <a:r>
              <a:rPr lang="en-IN" sz="1800" dirty="0">
                <a:solidFill>
                  <a:srgbClr val="0000FF"/>
                </a:solidFill>
                <a:highlight>
                  <a:srgbClr val="FFFFFF"/>
                </a:highlight>
                <a:latin typeface="Consolas" panose="020B0609020204030204" pitchFamily="49" charset="0"/>
              </a:rPr>
              <a:t>in</a:t>
            </a:r>
            <a:r>
              <a:rPr lang="en-IN" sz="1800" dirty="0">
                <a:solidFill>
                  <a:srgbClr val="000000"/>
                </a:solidFill>
                <a:highlight>
                  <a:srgbClr val="FFFFFF"/>
                </a:highlight>
                <a:latin typeface="Consolas" panose="020B0609020204030204" pitchFamily="49" charset="0"/>
              </a:rPr>
              <a:t> subset)</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"Item: {0}"</a:t>
            </a:r>
            <a:r>
              <a:rPr lang="en-US" sz="1800" dirty="0">
                <a:solidFill>
                  <a:srgbClr val="000000"/>
                </a:solidFill>
                <a:highlight>
                  <a:srgbClr val="FFFFFF"/>
                </a:highlight>
                <a:latin typeface="Consolas" panose="020B0609020204030204" pitchFamily="49" charset="0"/>
              </a:rPr>
              <a:t>, game);</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endParaRPr lang="en-IN" sz="1800" dirty="0"/>
          </a:p>
        </p:txBody>
      </p:sp>
    </p:spTree>
    <p:extLst>
      <p:ext uri="{BB962C8B-B14F-4D97-AF65-F5344CB8AC3E}">
        <p14:creationId xmlns:p14="http://schemas.microsoft.com/office/powerpoint/2010/main" val="542926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D19BD44-43D0-44CA-AE18-DF107AD21EE4}"/>
              </a:ext>
            </a:extLst>
          </p:cNvPr>
          <p:cNvSpPr>
            <a:spLocks noGrp="1"/>
          </p:cNvSpPr>
          <p:nvPr>
            <p:ph idx="1"/>
          </p:nvPr>
        </p:nvSpPr>
        <p:spPr>
          <a:xfrm>
            <a:off x="457200" y="685800"/>
            <a:ext cx="8229600" cy="5440363"/>
          </a:xfrm>
        </p:spPr>
        <p:txBody>
          <a:bodyPr>
            <a:normAutofit/>
          </a:bodyPr>
          <a:lstStyle/>
          <a:p>
            <a:pPr marL="0" indent="0">
              <a:buNone/>
            </a:pPr>
            <a:r>
              <a:rPr lang="en-IN" sz="1400" dirty="0"/>
              <a:t>So here we have understood that internally</a:t>
            </a:r>
          </a:p>
          <a:p>
            <a:pPr marL="0" indent="0">
              <a:buNone/>
            </a:pPr>
            <a:r>
              <a:rPr lang="en-IN" sz="1400" dirty="0"/>
              <a:t>Where, </a:t>
            </a:r>
            <a:r>
              <a:rPr lang="en-IN" sz="1400" dirty="0" err="1"/>
              <a:t>OrderBy</a:t>
            </a:r>
            <a:r>
              <a:rPr lang="en-IN" sz="1400" dirty="0"/>
              <a:t>, select are nothing but extension methods, </a:t>
            </a:r>
            <a:r>
              <a:rPr lang="en-IN" sz="1400" dirty="0" err="1"/>
              <a:t>linQ</a:t>
            </a:r>
            <a:r>
              <a:rPr lang="en-IN" sz="1400" dirty="0"/>
              <a:t> has given you a way to use it as operator.</a:t>
            </a:r>
          </a:p>
          <a:p>
            <a:pPr marL="0" indent="0">
              <a:buNone/>
            </a:pPr>
            <a:endParaRPr lang="en-IN" sz="1400" dirty="0"/>
          </a:p>
          <a:p>
            <a:pPr marL="0" indent="0">
              <a:buNone/>
            </a:pPr>
            <a:r>
              <a:rPr lang="en-IN" sz="1400" dirty="0"/>
              <a:t>You can use what ever syntax is easy for you.</a:t>
            </a:r>
          </a:p>
          <a:p>
            <a:pPr marL="0" indent="0">
              <a:buNone/>
            </a:pPr>
            <a:endParaRPr lang="en-IN" sz="1400" dirty="0"/>
          </a:p>
          <a:p>
            <a:pPr marL="0" indent="0">
              <a:buNone/>
            </a:pPr>
            <a:r>
              <a:rPr lang="en-IN" sz="1400" dirty="0"/>
              <a:t>Observe </a:t>
            </a:r>
            <a:r>
              <a:rPr lang="en-IN" sz="1400" b="1" dirty="0"/>
              <a:t>var</a:t>
            </a:r>
            <a:r>
              <a:rPr lang="en-IN" sz="1400" dirty="0"/>
              <a:t> key word , programmer do not have to worry about the return type of query as var key word able to resolves the type automatically.</a:t>
            </a:r>
          </a:p>
          <a:p>
            <a:pPr marL="0" indent="0">
              <a:buNone/>
            </a:pPr>
            <a:endParaRPr lang="en-IN" sz="1400" dirty="0"/>
          </a:p>
        </p:txBody>
      </p:sp>
    </p:spTree>
    <p:extLst>
      <p:ext uri="{BB962C8B-B14F-4D97-AF65-F5344CB8AC3E}">
        <p14:creationId xmlns:p14="http://schemas.microsoft.com/office/powerpoint/2010/main" val="1074670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2984DF-C7F1-4456-B38E-98A041F770B9}"/>
              </a:ext>
            </a:extLst>
          </p:cNvPr>
          <p:cNvSpPr>
            <a:spLocks noGrp="1"/>
          </p:cNvSpPr>
          <p:nvPr>
            <p:ph type="title"/>
          </p:nvPr>
        </p:nvSpPr>
        <p:spPr>
          <a:xfrm>
            <a:off x="533400" y="19665"/>
            <a:ext cx="8229600" cy="457199"/>
          </a:xfrm>
        </p:spPr>
        <p:txBody>
          <a:bodyPr>
            <a:normAutofit fontScale="90000"/>
          </a:bodyPr>
          <a:lstStyle/>
          <a:p>
            <a:r>
              <a:rPr lang="en-US" dirty="0"/>
              <a:t>The Role of Deferred Execution</a:t>
            </a:r>
            <a:endParaRPr lang="en-IN" dirty="0"/>
          </a:p>
        </p:txBody>
      </p:sp>
      <p:sp>
        <p:nvSpPr>
          <p:cNvPr id="3" name="Content Placeholder 2">
            <a:extLst>
              <a:ext uri="{FF2B5EF4-FFF2-40B4-BE49-F238E27FC236}">
                <a16:creationId xmlns:a16="http://schemas.microsoft.com/office/drawing/2014/main" xmlns="" id="{1A378248-083B-4999-BBD4-BE6FD54F1426}"/>
              </a:ext>
            </a:extLst>
          </p:cNvPr>
          <p:cNvSpPr>
            <a:spLocks noGrp="1"/>
          </p:cNvSpPr>
          <p:nvPr>
            <p:ph idx="1"/>
          </p:nvPr>
        </p:nvSpPr>
        <p:spPr>
          <a:xfrm>
            <a:off x="304800" y="685800"/>
            <a:ext cx="8382000" cy="5440363"/>
          </a:xfrm>
        </p:spPr>
        <p:txBody>
          <a:bodyPr>
            <a:normAutofit/>
          </a:bodyPr>
          <a:lstStyle/>
          <a:p>
            <a:r>
              <a:rPr lang="en-US" sz="1800" dirty="0"/>
              <a:t>Another important point regarding LINQ query expressions is that they are not actually evaluated until you iterate over the sequence. </a:t>
            </a:r>
          </a:p>
          <a:p>
            <a:endParaRPr lang="en-US" sz="1800" dirty="0"/>
          </a:p>
          <a:p>
            <a:r>
              <a:rPr lang="en-US" sz="1800" dirty="0"/>
              <a:t>Formally speaking, this is termed deferred execution. The benefit of this approach is that you are able to apply the same LINQ query multiple times to the same container, and rest assured you are obtaining the latest and greatest results. Consider the following update to the </a:t>
            </a:r>
            <a:r>
              <a:rPr lang="en-US" sz="1800" dirty="0" err="1"/>
              <a:t>QueryOverInts</a:t>
            </a:r>
            <a:r>
              <a:rPr lang="en-US" sz="1800" dirty="0"/>
              <a:t>() method:</a:t>
            </a:r>
            <a:endParaRPr lang="en-IN" sz="1800" dirty="0"/>
          </a:p>
        </p:txBody>
      </p:sp>
    </p:spTree>
    <p:extLst>
      <p:ext uri="{BB962C8B-B14F-4D97-AF65-F5344CB8AC3E}">
        <p14:creationId xmlns:p14="http://schemas.microsoft.com/office/powerpoint/2010/main" val="925934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9D6DD2-B9BA-4F9C-A885-2D9B4C88F446}"/>
              </a:ext>
            </a:extLst>
          </p:cNvPr>
          <p:cNvSpPr>
            <a:spLocks noGrp="1"/>
          </p:cNvSpPr>
          <p:nvPr>
            <p:ph type="title"/>
          </p:nvPr>
        </p:nvSpPr>
        <p:spPr>
          <a:xfrm>
            <a:off x="1219200" y="76200"/>
            <a:ext cx="7162800" cy="457199"/>
          </a:xfrm>
        </p:spPr>
        <p:txBody>
          <a:bodyPr>
            <a:normAutofit fontScale="90000"/>
          </a:bodyPr>
          <a:lstStyle/>
          <a:p>
            <a:r>
              <a:rPr lang="en-US" dirty="0"/>
              <a:t>Deferred Execution</a:t>
            </a:r>
            <a:endParaRPr lang="en-IN" dirty="0"/>
          </a:p>
        </p:txBody>
      </p:sp>
      <p:sp>
        <p:nvSpPr>
          <p:cNvPr id="3" name="Content Placeholder 2">
            <a:extLst>
              <a:ext uri="{FF2B5EF4-FFF2-40B4-BE49-F238E27FC236}">
                <a16:creationId xmlns:a16="http://schemas.microsoft.com/office/drawing/2014/main" xmlns="" id="{078C9CF5-7F61-4998-AF35-7F7429571751}"/>
              </a:ext>
            </a:extLst>
          </p:cNvPr>
          <p:cNvSpPr>
            <a:spLocks noGrp="1"/>
          </p:cNvSpPr>
          <p:nvPr>
            <p:ph idx="1"/>
          </p:nvPr>
        </p:nvSpPr>
        <p:spPr>
          <a:xfrm>
            <a:off x="4370437" y="685799"/>
            <a:ext cx="4697363" cy="4648201"/>
          </a:xfrm>
        </p:spPr>
        <p:txBody>
          <a:bodyPr>
            <a:noAutofit/>
          </a:bodyPr>
          <a:lstStyle/>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QueryOverInts</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FF"/>
                </a:solidFill>
                <a:highlight>
                  <a:srgbClr val="FFFFFF"/>
                </a:highlight>
                <a:latin typeface="Consolas" panose="020B0609020204030204" pitchFamily="49" charset="0"/>
              </a:rPr>
              <a:t>   int</a:t>
            </a:r>
            <a:r>
              <a:rPr lang="en-US" sz="1200" dirty="0">
                <a:solidFill>
                  <a:srgbClr val="000000"/>
                </a:solidFill>
                <a:highlight>
                  <a:srgbClr val="FFFFFF"/>
                </a:highlight>
                <a:latin typeface="Consolas" panose="020B0609020204030204" pitchFamily="49" charset="0"/>
              </a:rPr>
              <a:t>[] numbers = { 10, 20, 30, 40, 1, 2, 3, 8 };</a:t>
            </a:r>
          </a:p>
          <a:p>
            <a:pPr marL="0" indent="0">
              <a:buNone/>
            </a:pPr>
            <a:r>
              <a:rPr lang="en-US" sz="1200" dirty="0">
                <a:solidFill>
                  <a:srgbClr val="008000"/>
                </a:solidFill>
                <a:highlight>
                  <a:srgbClr val="FFFFFF"/>
                </a:highlight>
                <a:latin typeface="Consolas" panose="020B0609020204030204" pitchFamily="49" charset="0"/>
              </a:rPr>
              <a:t>// Get numbers less than ten.</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var subset = from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numbers where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&lt; 10 select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8000"/>
                </a:solidFill>
                <a:highlight>
                  <a:srgbClr val="FFFFFF"/>
                </a:highlight>
                <a:latin typeface="Consolas" panose="020B0609020204030204" pitchFamily="49" charset="0"/>
              </a:rPr>
              <a:t>// LINQ statement evaluated here!</a:t>
            </a:r>
            <a:endParaRPr lang="en-IN" sz="1200" dirty="0">
              <a:solidFill>
                <a:srgbClr val="000000"/>
              </a:solidFill>
              <a:highlight>
                <a:srgbClr val="FFFFFF"/>
              </a:highlight>
              <a:latin typeface="Consolas" panose="020B0609020204030204" pitchFamily="49" charset="0"/>
            </a:endParaRPr>
          </a:p>
          <a:p>
            <a:pPr marL="0" indent="0">
              <a:buNone/>
            </a:pPr>
            <a:r>
              <a:rPr lang="sv-SE" sz="1200" dirty="0">
                <a:solidFill>
                  <a:srgbClr val="0000FF"/>
                </a:solidFill>
                <a:highlight>
                  <a:srgbClr val="FFFFFF"/>
                </a:highlight>
                <a:latin typeface="Consolas" panose="020B0609020204030204" pitchFamily="49" charset="0"/>
              </a:rPr>
              <a:t>foreach</a:t>
            </a:r>
            <a:r>
              <a:rPr lang="sv-SE" sz="1200" dirty="0">
                <a:solidFill>
                  <a:srgbClr val="000000"/>
                </a:solidFill>
                <a:highlight>
                  <a:srgbClr val="FFFFFF"/>
                </a:highlight>
                <a:latin typeface="Consolas" panose="020B0609020204030204" pitchFamily="49" charset="0"/>
              </a:rPr>
              <a:t> (var i </a:t>
            </a:r>
            <a:r>
              <a:rPr lang="sv-SE" sz="1200" dirty="0">
                <a:solidFill>
                  <a:srgbClr val="0000FF"/>
                </a:solidFill>
                <a:highlight>
                  <a:srgbClr val="FFFFFF"/>
                </a:highlight>
                <a:latin typeface="Consolas" panose="020B0609020204030204" pitchFamily="49" charset="0"/>
              </a:rPr>
              <a:t>in</a:t>
            </a:r>
            <a:r>
              <a:rPr lang="sv-SE" sz="1200" dirty="0">
                <a:solidFill>
                  <a:srgbClr val="000000"/>
                </a:solidFill>
                <a:highlight>
                  <a:srgbClr val="FFFFFF"/>
                </a:highlight>
                <a:latin typeface="Consolas" panose="020B0609020204030204" pitchFamily="49" charset="0"/>
              </a:rPr>
              <a:t> subset)</a:t>
            </a:r>
          </a:p>
          <a:p>
            <a:pPr marL="0" indent="0">
              <a:buNone/>
            </a:pPr>
            <a:r>
              <a:rPr lang="en-IN" sz="1200" dirty="0" err="1">
                <a:solidFill>
                  <a:srgbClr val="000000"/>
                </a:solidFill>
                <a:highlight>
                  <a:srgbClr val="FFFFFF"/>
                </a:highlight>
                <a:latin typeface="Consolas" panose="020B0609020204030204" pitchFamily="49" charset="0"/>
              </a:rPr>
              <a:t>Console.WriteLine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&lt; 10"</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buNone/>
            </a:pPr>
            <a:r>
              <a:rPr lang="en-IN" sz="1200" dirty="0" err="1">
                <a:solidFill>
                  <a:srgbClr val="000000"/>
                </a:solidFill>
                <a:highlight>
                  <a:srgbClr val="FFFFFF"/>
                </a:highlight>
                <a:latin typeface="Consolas" panose="020B0609020204030204" pitchFamily="49" charset="0"/>
              </a:rPr>
              <a:t>Console.WriteLine</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8000"/>
                </a:solidFill>
                <a:highlight>
                  <a:srgbClr val="FFFFFF"/>
                </a:highlight>
                <a:latin typeface="Consolas" panose="020B0609020204030204" pitchFamily="49" charset="0"/>
              </a:rPr>
              <a:t>// Change some data in the array.</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numbers[0] = 4;</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8000"/>
                </a:solidFill>
                <a:highlight>
                  <a:srgbClr val="FFFFFF"/>
                </a:highlight>
                <a:latin typeface="Consolas" panose="020B0609020204030204" pitchFamily="49" charset="0"/>
              </a:rPr>
              <a:t>// Evaluated again!</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foreach</a:t>
            </a:r>
            <a:r>
              <a:rPr lang="en-IN" sz="1200" dirty="0">
                <a:solidFill>
                  <a:srgbClr val="000000"/>
                </a:solidFill>
                <a:highlight>
                  <a:srgbClr val="FFFFFF"/>
                </a:highlight>
                <a:latin typeface="Consolas" panose="020B0609020204030204" pitchFamily="49" charset="0"/>
              </a:rPr>
              <a:t> (var j </a:t>
            </a:r>
            <a:r>
              <a:rPr lang="en-IN" sz="1200" dirty="0">
                <a:solidFill>
                  <a:srgbClr val="0000FF"/>
                </a:solidFill>
                <a:highlight>
                  <a:srgbClr val="FFFFFF"/>
                </a:highlight>
                <a:latin typeface="Consolas" panose="020B0609020204030204" pitchFamily="49" charset="0"/>
              </a:rPr>
              <a:t>in</a:t>
            </a:r>
            <a:r>
              <a:rPr lang="en-IN" sz="1200" dirty="0">
                <a:solidFill>
                  <a:srgbClr val="000000"/>
                </a:solidFill>
                <a:highlight>
                  <a:srgbClr val="FFFFFF"/>
                </a:highlight>
                <a:latin typeface="Consolas" panose="020B0609020204030204" pitchFamily="49" charset="0"/>
              </a:rPr>
              <a:t> subset)</a:t>
            </a:r>
          </a:p>
          <a:p>
            <a:pPr marL="0" indent="0">
              <a:buNone/>
            </a:pPr>
            <a:r>
              <a:rPr lang="en-IN" sz="1200" dirty="0" err="1">
                <a:solidFill>
                  <a:srgbClr val="000000"/>
                </a:solidFill>
                <a:highlight>
                  <a:srgbClr val="FFFFFF"/>
                </a:highlight>
                <a:latin typeface="Consolas" panose="020B0609020204030204" pitchFamily="49" charset="0"/>
              </a:rPr>
              <a:t>Console.WriteLine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&lt; 10"</a:t>
            </a:r>
            <a:r>
              <a:rPr lang="en-IN" sz="1200" dirty="0">
                <a:solidFill>
                  <a:srgbClr val="000000"/>
                </a:solidFill>
                <a:highlight>
                  <a:srgbClr val="FFFFFF"/>
                </a:highlight>
                <a:latin typeface="Consolas" panose="020B0609020204030204" pitchFamily="49" charset="0"/>
              </a:rPr>
              <a:t>, j);</a:t>
            </a:r>
          </a:p>
          <a:p>
            <a:pPr marL="0" indent="0">
              <a:buNone/>
            </a:pPr>
            <a:r>
              <a:rPr lang="en-IN" sz="1200" dirty="0" err="1">
                <a:solidFill>
                  <a:srgbClr val="000000"/>
                </a:solidFill>
                <a:highlight>
                  <a:srgbClr val="FFFFFF"/>
                </a:highlight>
                <a:latin typeface="Consolas" panose="020B0609020204030204" pitchFamily="49" charset="0"/>
              </a:rPr>
              <a:t>Console.WriteLine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latin typeface="+mj-lt"/>
            </a:endParaRPr>
          </a:p>
        </p:txBody>
      </p:sp>
      <p:sp>
        <p:nvSpPr>
          <p:cNvPr id="4" name="TextBox 3">
            <a:extLst>
              <a:ext uri="{FF2B5EF4-FFF2-40B4-BE49-F238E27FC236}">
                <a16:creationId xmlns:a16="http://schemas.microsoft.com/office/drawing/2014/main" xmlns="" id="{4A5C0B33-89E5-4E87-AB80-CE6B109C82BC}"/>
              </a:ext>
            </a:extLst>
          </p:cNvPr>
          <p:cNvSpPr txBox="1"/>
          <p:nvPr/>
        </p:nvSpPr>
        <p:spPr>
          <a:xfrm>
            <a:off x="103238" y="805180"/>
            <a:ext cx="4038600" cy="6232475"/>
          </a:xfrm>
          <a:prstGeom prst="rect">
            <a:avLst/>
          </a:prstGeom>
          <a:noFill/>
        </p:spPr>
        <p:txBody>
          <a:bodyPr wrap="square" rtlCol="0">
            <a:spAutoFit/>
          </a:bodyPr>
          <a:lstStyle/>
          <a:p>
            <a:r>
              <a:rPr lang="en-IN" dirty="0"/>
              <a:t>Observe here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Following line of code will fire a query.</a:t>
            </a:r>
          </a:p>
          <a:p>
            <a:endParaRPr lang="en-IN" sz="1100" dirty="0"/>
          </a:p>
          <a:p>
            <a:pPr marL="0" indent="0">
              <a:buNone/>
            </a:pPr>
            <a:r>
              <a:rPr lang="sv-SE" sz="1100" dirty="0">
                <a:solidFill>
                  <a:srgbClr val="0000FF"/>
                </a:solidFill>
                <a:highlight>
                  <a:srgbClr val="FFFFFF"/>
                </a:highlight>
                <a:latin typeface="Consolas" panose="020B0609020204030204" pitchFamily="49" charset="0"/>
              </a:rPr>
              <a:t>foreach</a:t>
            </a:r>
            <a:r>
              <a:rPr lang="sv-SE" sz="1100" dirty="0">
                <a:solidFill>
                  <a:srgbClr val="000000"/>
                </a:solidFill>
                <a:highlight>
                  <a:srgbClr val="FFFFFF"/>
                </a:highlight>
                <a:latin typeface="Consolas" panose="020B0609020204030204" pitchFamily="49" charset="0"/>
              </a:rPr>
              <a:t> (var i </a:t>
            </a:r>
            <a:r>
              <a:rPr lang="sv-SE" sz="1100" dirty="0">
                <a:solidFill>
                  <a:srgbClr val="0000FF"/>
                </a:solidFill>
                <a:highlight>
                  <a:srgbClr val="FFFFFF"/>
                </a:highlight>
                <a:latin typeface="Consolas" panose="020B0609020204030204" pitchFamily="49" charset="0"/>
              </a:rPr>
              <a:t>in</a:t>
            </a:r>
            <a:r>
              <a:rPr lang="sv-SE" sz="1100" dirty="0">
                <a:solidFill>
                  <a:srgbClr val="000000"/>
                </a:solidFill>
                <a:highlight>
                  <a:srgbClr val="FFFFFF"/>
                </a:highlight>
                <a:latin typeface="Consolas" panose="020B0609020204030204" pitchFamily="49" charset="0"/>
              </a:rPr>
              <a:t> subset)</a:t>
            </a:r>
          </a:p>
          <a:p>
            <a:pPr marL="0" indent="0">
              <a:buNone/>
            </a:pPr>
            <a:r>
              <a:rPr lang="en-IN" sz="1100" dirty="0" err="1">
                <a:solidFill>
                  <a:srgbClr val="000000"/>
                </a:solidFill>
                <a:highlight>
                  <a:srgbClr val="FFFFFF"/>
                </a:highlight>
                <a:latin typeface="Consolas" panose="020B0609020204030204" pitchFamily="49" charset="0"/>
              </a:rPr>
              <a:t>Console.WriteLine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"{0} &lt; 10"</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numbers[0] = 4;</a:t>
            </a:r>
          </a:p>
          <a:p>
            <a:r>
              <a:rPr lang="en-IN" sz="1100" dirty="0">
                <a:solidFill>
                  <a:srgbClr val="000000"/>
                </a:solidFill>
                <a:highlight>
                  <a:srgbClr val="FFFFFF"/>
                </a:highlight>
                <a:latin typeface="Consolas" panose="020B0609020204030204" pitchFamily="49" charset="0"/>
              </a:rPr>
              <a:t>After this line 10 will be replace with 4.</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Observe you have not written query again.</a:t>
            </a:r>
          </a:p>
          <a:p>
            <a:r>
              <a:rPr lang="en-IN" sz="1100" dirty="0">
                <a:solidFill>
                  <a:srgbClr val="000000"/>
                </a:solidFill>
                <a:highlight>
                  <a:srgbClr val="FFFFFF"/>
                </a:highlight>
                <a:latin typeface="Consolas" panose="020B0609020204030204" pitchFamily="49" charset="0"/>
              </a:rPr>
              <a:t>Subset is pointing to data and when you iterate at that time only it fires the query. </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endParaRPr lang="en-IN" sz="1100" dirty="0">
              <a:solidFill>
                <a:srgbClr val="000000"/>
              </a:solidFill>
              <a:highlight>
                <a:srgbClr val="FFFFFF"/>
              </a:highlight>
              <a:latin typeface="Consolas" panose="020B0609020204030204" pitchFamily="49" charset="0"/>
            </a:endParaRPr>
          </a:p>
          <a:p>
            <a:endParaRPr lang="en-IN" dirty="0"/>
          </a:p>
        </p:txBody>
      </p:sp>
      <p:graphicFrame>
        <p:nvGraphicFramePr>
          <p:cNvPr id="5" name="Table 5">
            <a:extLst>
              <a:ext uri="{FF2B5EF4-FFF2-40B4-BE49-F238E27FC236}">
                <a16:creationId xmlns:a16="http://schemas.microsoft.com/office/drawing/2014/main" xmlns="" id="{991A5480-6FF3-4627-8E1B-243B11EE2563}"/>
              </a:ext>
            </a:extLst>
          </p:cNvPr>
          <p:cNvGraphicFramePr>
            <a:graphicFrameLocks noGrp="1"/>
          </p:cNvGraphicFramePr>
          <p:nvPr>
            <p:extLst>
              <p:ext uri="{D42A27DB-BD31-4B8C-83A1-F6EECF244321}">
                <p14:modId xmlns:p14="http://schemas.microsoft.com/office/powerpoint/2010/main" val="1184392153"/>
              </p:ext>
            </p:extLst>
          </p:nvPr>
        </p:nvGraphicFramePr>
        <p:xfrm>
          <a:off x="86032" y="1682343"/>
          <a:ext cx="4181168" cy="640080"/>
        </p:xfrm>
        <a:graphic>
          <a:graphicData uri="http://schemas.openxmlformats.org/drawingml/2006/table">
            <a:tbl>
              <a:tblPr firstRow="1" bandRow="1">
                <a:tableStyleId>{5C22544A-7EE6-4342-B048-85BDC9FD1C3A}</a:tableStyleId>
              </a:tblPr>
              <a:tblGrid>
                <a:gridCol w="522646">
                  <a:extLst>
                    <a:ext uri="{9D8B030D-6E8A-4147-A177-3AD203B41FA5}">
                      <a16:colId xmlns:a16="http://schemas.microsoft.com/office/drawing/2014/main" xmlns="" val="4086914973"/>
                    </a:ext>
                  </a:extLst>
                </a:gridCol>
                <a:gridCol w="522646">
                  <a:extLst>
                    <a:ext uri="{9D8B030D-6E8A-4147-A177-3AD203B41FA5}">
                      <a16:colId xmlns:a16="http://schemas.microsoft.com/office/drawing/2014/main" xmlns="" val="3466511470"/>
                    </a:ext>
                  </a:extLst>
                </a:gridCol>
                <a:gridCol w="522646">
                  <a:extLst>
                    <a:ext uri="{9D8B030D-6E8A-4147-A177-3AD203B41FA5}">
                      <a16:colId xmlns:a16="http://schemas.microsoft.com/office/drawing/2014/main" xmlns="" val="279339177"/>
                    </a:ext>
                  </a:extLst>
                </a:gridCol>
                <a:gridCol w="522646">
                  <a:extLst>
                    <a:ext uri="{9D8B030D-6E8A-4147-A177-3AD203B41FA5}">
                      <a16:colId xmlns:a16="http://schemas.microsoft.com/office/drawing/2014/main" xmlns="" val="3711411356"/>
                    </a:ext>
                  </a:extLst>
                </a:gridCol>
                <a:gridCol w="522646">
                  <a:extLst>
                    <a:ext uri="{9D8B030D-6E8A-4147-A177-3AD203B41FA5}">
                      <a16:colId xmlns:a16="http://schemas.microsoft.com/office/drawing/2014/main" xmlns="" val="2702665137"/>
                    </a:ext>
                  </a:extLst>
                </a:gridCol>
                <a:gridCol w="522646">
                  <a:extLst>
                    <a:ext uri="{9D8B030D-6E8A-4147-A177-3AD203B41FA5}">
                      <a16:colId xmlns:a16="http://schemas.microsoft.com/office/drawing/2014/main" xmlns="" val="3622893897"/>
                    </a:ext>
                  </a:extLst>
                </a:gridCol>
                <a:gridCol w="522646">
                  <a:extLst>
                    <a:ext uri="{9D8B030D-6E8A-4147-A177-3AD203B41FA5}">
                      <a16:colId xmlns:a16="http://schemas.microsoft.com/office/drawing/2014/main" xmlns="" val="1247392143"/>
                    </a:ext>
                  </a:extLst>
                </a:gridCol>
                <a:gridCol w="522646">
                  <a:extLst>
                    <a:ext uri="{9D8B030D-6E8A-4147-A177-3AD203B41FA5}">
                      <a16:colId xmlns:a16="http://schemas.microsoft.com/office/drawing/2014/main" xmlns="" val="2376667751"/>
                    </a:ext>
                  </a:extLst>
                </a:gridCol>
              </a:tblGrid>
              <a:tr h="457199">
                <a:tc>
                  <a:txBody>
                    <a:bodyPr/>
                    <a:lstStyle/>
                    <a:p>
                      <a:r>
                        <a:rPr lang="en-IN" dirty="0"/>
                        <a:t>10</a:t>
                      </a:r>
                    </a:p>
                    <a:p>
                      <a:r>
                        <a:rPr lang="en-IN" dirty="0"/>
                        <a:t>4</a:t>
                      </a:r>
                    </a:p>
                  </a:txBody>
                  <a:tcPr/>
                </a:tc>
                <a:tc>
                  <a:txBody>
                    <a:bodyPr/>
                    <a:lstStyle/>
                    <a:p>
                      <a:r>
                        <a:rPr lang="en-IN" dirty="0"/>
                        <a:t>20</a:t>
                      </a:r>
                    </a:p>
                  </a:txBody>
                  <a:tcPr/>
                </a:tc>
                <a:tc>
                  <a:txBody>
                    <a:bodyPr/>
                    <a:lstStyle/>
                    <a:p>
                      <a:r>
                        <a:rPr lang="en-IN" dirty="0"/>
                        <a:t>30</a:t>
                      </a:r>
                    </a:p>
                  </a:txBody>
                  <a:tcPr/>
                </a:tc>
                <a:tc>
                  <a:txBody>
                    <a:bodyPr/>
                    <a:lstStyle/>
                    <a:p>
                      <a:r>
                        <a:rPr lang="en-IN" dirty="0"/>
                        <a:t>40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8</a:t>
                      </a:r>
                    </a:p>
                  </a:txBody>
                  <a:tcPr/>
                </a:tc>
                <a:extLst>
                  <a:ext uri="{0D108BD9-81ED-4DB2-BD59-A6C34878D82A}">
                    <a16:rowId xmlns:a16="http://schemas.microsoft.com/office/drawing/2014/main" xmlns="" val="814576755"/>
                  </a:ext>
                </a:extLst>
              </a:tr>
            </a:tbl>
          </a:graphicData>
        </a:graphic>
      </p:graphicFrame>
      <p:sp>
        <p:nvSpPr>
          <p:cNvPr id="6" name="TextBox 5">
            <a:extLst>
              <a:ext uri="{FF2B5EF4-FFF2-40B4-BE49-F238E27FC236}">
                <a16:creationId xmlns:a16="http://schemas.microsoft.com/office/drawing/2014/main" xmlns="" id="{568B47C5-E332-4CF3-95DB-017FDFA8716A}"/>
              </a:ext>
            </a:extLst>
          </p:cNvPr>
          <p:cNvSpPr txBox="1"/>
          <p:nvPr/>
        </p:nvSpPr>
        <p:spPr>
          <a:xfrm>
            <a:off x="1" y="2508122"/>
            <a:ext cx="852948" cy="276999"/>
          </a:xfrm>
          <a:prstGeom prst="rect">
            <a:avLst/>
          </a:prstGeom>
          <a:noFill/>
        </p:spPr>
        <p:txBody>
          <a:bodyPr wrap="square" rtlCol="0">
            <a:spAutoFit/>
          </a:bodyPr>
          <a:lstStyle/>
          <a:p>
            <a:r>
              <a:rPr lang="en-IN" sz="1200" dirty="0"/>
              <a:t>subset</a:t>
            </a:r>
          </a:p>
        </p:txBody>
      </p:sp>
      <p:cxnSp>
        <p:nvCxnSpPr>
          <p:cNvPr id="8" name="Straight Connector 7">
            <a:extLst>
              <a:ext uri="{FF2B5EF4-FFF2-40B4-BE49-F238E27FC236}">
                <a16:creationId xmlns:a16="http://schemas.microsoft.com/office/drawing/2014/main" xmlns="" id="{80F6CE12-9B7A-4B79-9BAD-84FB83D6D6E5}"/>
              </a:ext>
            </a:extLst>
          </p:cNvPr>
          <p:cNvCxnSpPr/>
          <p:nvPr/>
        </p:nvCxnSpPr>
        <p:spPr>
          <a:xfrm>
            <a:off x="228600" y="1682343"/>
            <a:ext cx="152400" cy="375057"/>
          </a:xfrm>
          <a:prstGeom prst="line">
            <a:avLst/>
          </a:prstGeom>
        </p:spPr>
        <p:style>
          <a:lnRef idx="2">
            <a:schemeClr val="accent6"/>
          </a:lnRef>
          <a:fillRef idx="0">
            <a:schemeClr val="accent6"/>
          </a:fillRef>
          <a:effectRef idx="1">
            <a:schemeClr val="accent6"/>
          </a:effectRef>
          <a:fontRef idx="minor">
            <a:schemeClr val="tx1"/>
          </a:fontRef>
        </p:style>
      </p:cxnSp>
      <p:sp>
        <p:nvSpPr>
          <p:cNvPr id="9" name="TextBox 8">
            <a:extLst>
              <a:ext uri="{FF2B5EF4-FFF2-40B4-BE49-F238E27FC236}">
                <a16:creationId xmlns:a16="http://schemas.microsoft.com/office/drawing/2014/main" xmlns="" id="{7A10CEDE-993C-442E-9A15-3F3D58822830}"/>
              </a:ext>
            </a:extLst>
          </p:cNvPr>
          <p:cNvSpPr txBox="1"/>
          <p:nvPr/>
        </p:nvSpPr>
        <p:spPr>
          <a:xfrm>
            <a:off x="228600" y="1174512"/>
            <a:ext cx="1143000" cy="369332"/>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numbers</a:t>
            </a:r>
            <a:endParaRPr lang="en-IN" dirty="0"/>
          </a:p>
        </p:txBody>
      </p:sp>
      <p:sp>
        <p:nvSpPr>
          <p:cNvPr id="10" name="Rectangle 9">
            <a:extLst>
              <a:ext uri="{FF2B5EF4-FFF2-40B4-BE49-F238E27FC236}">
                <a16:creationId xmlns:a16="http://schemas.microsoft.com/office/drawing/2014/main" xmlns="" id="{9D2D3910-00F2-4D9B-8E4A-80C1BC7B8CB4}"/>
              </a:ext>
            </a:extLst>
          </p:cNvPr>
          <p:cNvSpPr/>
          <p:nvPr/>
        </p:nvSpPr>
        <p:spPr>
          <a:xfrm>
            <a:off x="1005348" y="2508122"/>
            <a:ext cx="3261852" cy="768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sz="1400" dirty="0">
                <a:solidFill>
                  <a:srgbClr val="000000"/>
                </a:solidFill>
                <a:highlight>
                  <a:srgbClr val="FFFFFF"/>
                </a:highlight>
                <a:latin typeface="Consolas" panose="020B0609020204030204" pitchFamily="49" charset="0"/>
              </a:rPr>
              <a:t>from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numbers where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 &lt; 10 select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a:t>
            </a:r>
          </a:p>
        </p:txBody>
      </p:sp>
      <p:cxnSp>
        <p:nvCxnSpPr>
          <p:cNvPr id="12" name="Straight Arrow Connector 11">
            <a:extLst>
              <a:ext uri="{FF2B5EF4-FFF2-40B4-BE49-F238E27FC236}">
                <a16:creationId xmlns:a16="http://schemas.microsoft.com/office/drawing/2014/main" xmlns="" id="{C4F80390-702B-4FF9-B308-C0C2436DBCE6}"/>
              </a:ext>
            </a:extLst>
          </p:cNvPr>
          <p:cNvCxnSpPr/>
          <p:nvPr/>
        </p:nvCxnSpPr>
        <p:spPr>
          <a:xfrm>
            <a:off x="714068" y="2667000"/>
            <a:ext cx="2777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xmlns="" id="{8B6CEDD3-F94D-419C-8B2A-83ECB1355D6B}"/>
              </a:ext>
            </a:extLst>
          </p:cNvPr>
          <p:cNvCxnSpPr/>
          <p:nvPr/>
        </p:nvCxnSpPr>
        <p:spPr>
          <a:xfrm>
            <a:off x="1005348" y="1445260"/>
            <a:ext cx="213852" cy="2370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7D01F290-905D-4ED8-AB08-782B84A9AC40}"/>
              </a:ext>
            </a:extLst>
          </p:cNvPr>
          <p:cNvSpPr txBox="1"/>
          <p:nvPr/>
        </p:nvSpPr>
        <p:spPr>
          <a:xfrm>
            <a:off x="3886200" y="5323260"/>
            <a:ext cx="4495800" cy="869469"/>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endParaRPr lang="en-IN" sz="1050" dirty="0">
              <a:solidFill>
                <a:srgbClr val="000000"/>
              </a:solidFill>
              <a:latin typeface="Consolas" panose="020B0609020204030204" pitchFamily="49" charset="0"/>
            </a:endParaRPr>
          </a:p>
          <a:p>
            <a:r>
              <a:rPr lang="en-IN" sz="2000" dirty="0">
                <a:solidFill>
                  <a:srgbClr val="000000"/>
                </a:solidFill>
                <a:latin typeface="Consolas" panose="020B0609020204030204" pitchFamily="49" charset="0"/>
              </a:rPr>
              <a:t>        </a:t>
            </a:r>
            <a:r>
              <a:rPr lang="en-IN" sz="2000" dirty="0" err="1">
                <a:solidFill>
                  <a:srgbClr val="000000"/>
                </a:solidFill>
                <a:latin typeface="Consolas" panose="020B0609020204030204" pitchFamily="49" charset="0"/>
              </a:rPr>
              <a:t>numbers.Where</a:t>
            </a:r>
            <a:r>
              <a:rPr lang="en-IN" sz="2000" dirty="0">
                <a:solidFill>
                  <a:srgbClr val="FF0000"/>
                </a:solidFill>
                <a:latin typeface="Consolas" panose="020B0609020204030204" pitchFamily="49" charset="0"/>
              </a:rPr>
              <a:t>(</a:t>
            </a:r>
            <a:r>
              <a:rPr lang="en-IN" sz="2000" dirty="0">
                <a:solidFill>
                  <a:srgbClr val="000000"/>
                </a:solidFill>
                <a:latin typeface="Consolas" panose="020B0609020204030204" pitchFamily="49" charset="0"/>
              </a:rPr>
              <a:t>(r) =&gt; r &lt; 10</a:t>
            </a:r>
            <a:r>
              <a:rPr lang="en-IN" sz="2000" dirty="0">
                <a:solidFill>
                  <a:srgbClr val="FF0000"/>
                </a:solidFill>
                <a:latin typeface="Consolas" panose="020B0609020204030204" pitchFamily="49" charset="0"/>
              </a:rPr>
              <a:t>)</a:t>
            </a:r>
            <a:r>
              <a:rPr lang="en-IN" sz="2000" dirty="0">
                <a:solidFill>
                  <a:srgbClr val="000000"/>
                </a:solidFill>
                <a:latin typeface="Consolas" panose="020B0609020204030204" pitchFamily="49" charset="0"/>
              </a:rPr>
              <a:t>.Select</a:t>
            </a:r>
            <a:r>
              <a:rPr lang="en-IN" sz="2000" dirty="0">
                <a:solidFill>
                  <a:schemeClr val="accent6">
                    <a:lumMod val="75000"/>
                  </a:schemeClr>
                </a:solidFill>
                <a:latin typeface="Consolas" panose="020B0609020204030204" pitchFamily="49" charset="0"/>
              </a:rPr>
              <a:t>(</a:t>
            </a:r>
            <a:r>
              <a:rPr lang="en-IN" sz="2000" dirty="0">
                <a:solidFill>
                  <a:srgbClr val="000000"/>
                </a:solidFill>
                <a:latin typeface="Consolas" panose="020B0609020204030204" pitchFamily="49" charset="0"/>
              </a:rPr>
              <a:t>(data) =&gt; data</a:t>
            </a:r>
            <a:r>
              <a:rPr lang="en-IN" sz="2000" dirty="0">
                <a:solidFill>
                  <a:schemeClr val="accent6">
                    <a:lumMod val="75000"/>
                  </a:schemeClr>
                </a:solidFill>
                <a:latin typeface="Consolas" panose="020B0609020204030204" pitchFamily="49" charset="0"/>
              </a:rPr>
              <a:t>)</a:t>
            </a:r>
            <a:r>
              <a:rPr lang="en-IN" sz="2000" dirty="0">
                <a:solidFill>
                  <a:srgbClr val="000000"/>
                </a:solidFill>
                <a:latin typeface="Consolas" panose="020B0609020204030204" pitchFamily="49" charset="0"/>
              </a:rPr>
              <a:t>;</a:t>
            </a:r>
            <a:endParaRPr lang="en-IN" sz="4800" dirty="0"/>
          </a:p>
        </p:txBody>
      </p:sp>
    </p:spTree>
    <p:extLst>
      <p:ext uri="{BB962C8B-B14F-4D97-AF65-F5344CB8AC3E}">
        <p14:creationId xmlns:p14="http://schemas.microsoft.com/office/powerpoint/2010/main" val="3278179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5A9B9F0-DA10-4371-9267-3E46439CFE4A}"/>
              </a:ext>
            </a:extLst>
          </p:cNvPr>
          <p:cNvSpPr>
            <a:spLocks noGrp="1"/>
          </p:cNvSpPr>
          <p:nvPr>
            <p:ph idx="1"/>
          </p:nvPr>
        </p:nvSpPr>
        <p:spPr>
          <a:xfrm>
            <a:off x="381000" y="838200"/>
            <a:ext cx="8305800" cy="4853781"/>
          </a:xfrm>
        </p:spPr>
        <p:txBody>
          <a:bodyPr>
            <a:normAutofit fontScale="92500" lnSpcReduction="20000"/>
          </a:bodyPr>
          <a:lstStyle/>
          <a:p>
            <a:pPr marL="0" indent="0">
              <a:buNone/>
            </a:pPr>
            <a:r>
              <a:rPr lang="en-IN" dirty="0"/>
              <a:t> int[] a={5,8,9,2,1};</a:t>
            </a:r>
          </a:p>
          <a:p>
            <a:pPr marL="0" indent="0">
              <a:buNone/>
            </a:pPr>
            <a:r>
              <a:rPr lang="en-IN" dirty="0"/>
              <a:t>Q1. display all number&lt;=5</a:t>
            </a:r>
          </a:p>
          <a:p>
            <a:pPr marL="0" indent="0">
              <a:buNone/>
            </a:pPr>
            <a:r>
              <a:rPr lang="en-IN" dirty="0"/>
              <a:t>Q2. display all even number</a:t>
            </a:r>
          </a:p>
          <a:p>
            <a:pPr marL="0" indent="0">
              <a:buNone/>
            </a:pPr>
            <a:r>
              <a:rPr lang="en-IN" sz="2200" dirty="0" err="1">
                <a:solidFill>
                  <a:srgbClr val="000000"/>
                </a:solidFill>
                <a:latin typeface="Consolas" panose="020B0609020204030204" pitchFamily="49" charset="0"/>
              </a:rPr>
              <a:t>numbers.Where</a:t>
            </a:r>
            <a:r>
              <a:rPr lang="en-IN" sz="2200" dirty="0">
                <a:solidFill>
                  <a:srgbClr val="FF0000"/>
                </a:solidFill>
                <a:latin typeface="Consolas" panose="020B0609020204030204" pitchFamily="49" charset="0"/>
              </a:rPr>
              <a:t>(</a:t>
            </a:r>
            <a:r>
              <a:rPr lang="en-IN" sz="2200" dirty="0">
                <a:solidFill>
                  <a:srgbClr val="000000"/>
                </a:solidFill>
                <a:latin typeface="Consolas" panose="020B0609020204030204" pitchFamily="49" charset="0"/>
              </a:rPr>
              <a:t>(r) =&gt; r %2==0</a:t>
            </a:r>
            <a:r>
              <a:rPr lang="en-IN" sz="2200" dirty="0">
                <a:solidFill>
                  <a:srgbClr val="FF0000"/>
                </a:solidFill>
                <a:latin typeface="Consolas" panose="020B0609020204030204" pitchFamily="49" charset="0"/>
              </a:rPr>
              <a:t>)</a:t>
            </a:r>
            <a:r>
              <a:rPr lang="en-IN" sz="2200" dirty="0">
                <a:solidFill>
                  <a:srgbClr val="000000"/>
                </a:solidFill>
                <a:latin typeface="Consolas" panose="020B0609020204030204" pitchFamily="49" charset="0"/>
              </a:rPr>
              <a:t>.Select</a:t>
            </a:r>
            <a:r>
              <a:rPr lang="en-IN" sz="2200" dirty="0">
                <a:solidFill>
                  <a:schemeClr val="accent6">
                    <a:lumMod val="75000"/>
                  </a:schemeClr>
                </a:solidFill>
                <a:latin typeface="Consolas" panose="020B0609020204030204" pitchFamily="49" charset="0"/>
              </a:rPr>
              <a:t>(</a:t>
            </a:r>
            <a:r>
              <a:rPr lang="en-IN" sz="2200" dirty="0">
                <a:solidFill>
                  <a:srgbClr val="000000"/>
                </a:solidFill>
                <a:latin typeface="Consolas" panose="020B0609020204030204" pitchFamily="49" charset="0"/>
              </a:rPr>
              <a:t>(data) =&gt; data</a:t>
            </a:r>
            <a:r>
              <a:rPr lang="en-IN" sz="2200" dirty="0">
                <a:solidFill>
                  <a:srgbClr val="FF0000"/>
                </a:solidFill>
                <a:latin typeface="Consolas" panose="020B0609020204030204" pitchFamily="49" charset="0"/>
              </a:rPr>
              <a:t>)</a:t>
            </a:r>
            <a:r>
              <a:rPr lang="en-IN" sz="2200" dirty="0">
                <a:solidFill>
                  <a:srgbClr val="000000"/>
                </a:solidFill>
                <a:latin typeface="Consolas" panose="020B0609020204030204" pitchFamily="49" charset="0"/>
              </a:rPr>
              <a:t>;</a:t>
            </a:r>
          </a:p>
          <a:p>
            <a:pPr marL="0" indent="0">
              <a:buNone/>
            </a:pPr>
            <a:endParaRPr lang="en-IN" sz="2200" dirty="0"/>
          </a:p>
          <a:p>
            <a:pPr marL="0" indent="0">
              <a:buNone/>
            </a:pPr>
            <a:r>
              <a:rPr lang="en-IN" sz="2200" dirty="0"/>
              <a:t>from g in number where g%2==0  select g;</a:t>
            </a:r>
          </a:p>
          <a:p>
            <a:pPr marL="0" indent="0">
              <a:buNone/>
            </a:pPr>
            <a:endParaRPr lang="en-IN" sz="2200" dirty="0"/>
          </a:p>
          <a:p>
            <a:pPr marL="0" indent="0">
              <a:buNone/>
            </a:pPr>
            <a:r>
              <a:rPr lang="en-IN" dirty="0"/>
              <a:t>Q3. display all odd number</a:t>
            </a:r>
          </a:p>
          <a:p>
            <a:pPr marL="0" indent="0">
              <a:buNone/>
            </a:pPr>
            <a:r>
              <a:rPr lang="en-IN" dirty="0"/>
              <a:t>Q4 display all number&gt;=8</a:t>
            </a:r>
          </a:p>
          <a:p>
            <a:pPr marL="0" indent="0">
              <a:buNone/>
            </a:pPr>
            <a:r>
              <a:rPr lang="en-IN" dirty="0"/>
              <a:t>String[] str={“</a:t>
            </a:r>
            <a:r>
              <a:rPr lang="en-IN" dirty="0" err="1"/>
              <a:t>hello”,”hi”,”go”,”bye</a:t>
            </a:r>
            <a:r>
              <a:rPr lang="en-IN" dirty="0"/>
              <a:t>”}</a:t>
            </a:r>
          </a:p>
          <a:p>
            <a:pPr marL="0" indent="0">
              <a:buNone/>
            </a:pPr>
            <a:r>
              <a:rPr lang="en-IN" dirty="0"/>
              <a:t>Q1. display all string starting with letter h</a:t>
            </a:r>
          </a:p>
        </p:txBody>
      </p:sp>
    </p:spTree>
    <p:extLst>
      <p:ext uri="{BB962C8B-B14F-4D97-AF65-F5344CB8AC3E}">
        <p14:creationId xmlns:p14="http://schemas.microsoft.com/office/powerpoint/2010/main" val="1157672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9C3AE3-6841-47B9-82D2-BA69D46B4676}"/>
              </a:ext>
            </a:extLst>
          </p:cNvPr>
          <p:cNvSpPr>
            <a:spLocks noGrp="1"/>
          </p:cNvSpPr>
          <p:nvPr>
            <p:ph type="title"/>
          </p:nvPr>
        </p:nvSpPr>
        <p:spPr>
          <a:xfrm>
            <a:off x="1219200" y="0"/>
            <a:ext cx="7772400" cy="457200"/>
          </a:xfrm>
        </p:spPr>
        <p:txBody>
          <a:bodyPr>
            <a:normAutofit fontScale="90000"/>
          </a:bodyPr>
          <a:lstStyle/>
          <a:p>
            <a:r>
              <a:rPr lang="en-US" dirty="0"/>
              <a:t>The Role of Immediate Execution</a:t>
            </a:r>
            <a:endParaRPr lang="en-IN" dirty="0"/>
          </a:p>
        </p:txBody>
      </p:sp>
      <p:sp>
        <p:nvSpPr>
          <p:cNvPr id="3" name="Content Placeholder 2">
            <a:extLst>
              <a:ext uri="{FF2B5EF4-FFF2-40B4-BE49-F238E27FC236}">
                <a16:creationId xmlns:a16="http://schemas.microsoft.com/office/drawing/2014/main" xmlns="" id="{E2EA68DC-AF20-4A4D-8FEC-D334704E8556}"/>
              </a:ext>
            </a:extLst>
          </p:cNvPr>
          <p:cNvSpPr>
            <a:spLocks noGrp="1"/>
          </p:cNvSpPr>
          <p:nvPr>
            <p:ph idx="1"/>
          </p:nvPr>
        </p:nvSpPr>
        <p:spPr>
          <a:xfrm>
            <a:off x="228600" y="990600"/>
            <a:ext cx="8458200" cy="5135563"/>
          </a:xfrm>
        </p:spPr>
        <p:txBody>
          <a:bodyPr>
            <a:normAutofit fontScale="92500" lnSpcReduction="10000"/>
          </a:bodyPr>
          <a:lstStyle/>
          <a:p>
            <a:pPr marL="0" indent="0">
              <a:buNone/>
            </a:pPr>
            <a:r>
              <a:rPr lang="en-US" sz="1600" dirty="0"/>
              <a:t>When you need to evaluate a LINQ expression from outside the confines of foreach logic, you are able to call any number of extension methods defined by the Enumerable type as</a:t>
            </a:r>
          </a:p>
          <a:p>
            <a:r>
              <a:rPr lang="en-US" sz="1600" dirty="0" err="1"/>
              <a:t>ToArray</a:t>
            </a:r>
            <a:r>
              <a:rPr lang="en-US" sz="1600" dirty="0"/>
              <a:t>&lt;T&gt;(),</a:t>
            </a:r>
          </a:p>
          <a:p>
            <a:r>
              <a:rPr lang="en-US" sz="1600" dirty="0" err="1"/>
              <a:t>ToDictionary</a:t>
            </a:r>
            <a:r>
              <a:rPr lang="en-US" sz="1600" dirty="0"/>
              <a:t>&lt;</a:t>
            </a:r>
            <a:r>
              <a:rPr lang="en-US" sz="1600" dirty="0" err="1"/>
              <a:t>TSource,TKey</a:t>
            </a:r>
            <a:r>
              <a:rPr lang="en-US" sz="1600" dirty="0"/>
              <a:t>&gt;(), and</a:t>
            </a:r>
          </a:p>
          <a:p>
            <a:r>
              <a:rPr lang="en-US" sz="1600" dirty="0" err="1"/>
              <a:t>ToList</a:t>
            </a:r>
            <a:r>
              <a:rPr lang="en-US" sz="1600" dirty="0"/>
              <a:t>&lt;T&gt;(). </a:t>
            </a:r>
          </a:p>
          <a:p>
            <a:r>
              <a:rPr lang="en-US" sz="1600" dirty="0"/>
              <a:t>These methods will cause a LINQ query to execute at the exact moment you call them, to obtain a snapshot of the data. </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ImmediateExecution</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int</a:t>
            </a:r>
            <a:r>
              <a:rPr lang="en-US" sz="1800" dirty="0">
                <a:solidFill>
                  <a:srgbClr val="000000"/>
                </a:solidFill>
                <a:highlight>
                  <a:srgbClr val="FFFFFF"/>
                </a:highlight>
                <a:latin typeface="Consolas" panose="020B0609020204030204" pitchFamily="49" charset="0"/>
              </a:rPr>
              <a:t>[] numbers = { 10, 20, 30, 40, 1, 2, 3, 8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Get data RIGHT NOW as int[].</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int</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subsetAsIntArray</a:t>
            </a:r>
            <a:r>
              <a:rPr lang="en-IN" sz="1800" dirty="0">
                <a:solidFill>
                  <a:srgbClr val="000000"/>
                </a:solidFill>
                <a:highlight>
                  <a:srgbClr val="FFFFFF"/>
                </a:highlight>
                <a:latin typeface="Consolas" panose="020B0609020204030204" pitchFamily="49" charset="0"/>
              </a:rPr>
              <a:t> =</a:t>
            </a:r>
          </a:p>
          <a:p>
            <a:pPr marL="0" indent="0">
              <a:buNone/>
            </a:pPr>
            <a:r>
              <a:rPr lang="en-US" sz="1800" b="1" dirty="0">
                <a:solidFill>
                  <a:srgbClr val="FF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from</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numbers </a:t>
            </a:r>
            <a:r>
              <a:rPr lang="en-US" sz="1800" dirty="0">
                <a:solidFill>
                  <a:srgbClr val="0000FF"/>
                </a:solidFill>
                <a:highlight>
                  <a:srgbClr val="FFFFFF"/>
                </a:highlight>
                <a:latin typeface="Consolas" panose="020B0609020204030204" pitchFamily="49" charset="0"/>
              </a:rPr>
              <a:t>where</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dirty="0">
                <a:solidFill>
                  <a:srgbClr val="000000"/>
                </a:solidFill>
                <a:highlight>
                  <a:srgbClr val="FFFFFF"/>
                </a:highlight>
                <a:latin typeface="Consolas" panose="020B0609020204030204" pitchFamily="49" charset="0"/>
              </a:rPr>
              <a:t> &lt; 10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b="1" dirty="0">
                <a:solidFill>
                  <a:srgbClr val="FF0000"/>
                </a:solidFill>
                <a:highlight>
                  <a:srgbClr val="FFFFFF"/>
                </a:highlight>
                <a:latin typeface="Consolas" panose="020B0609020204030204" pitchFamily="49" charset="0"/>
              </a:rPr>
              <a:t>)</a:t>
            </a:r>
            <a:r>
              <a:rPr lang="en-US" sz="1800" b="1" dirty="0">
                <a:solidFill>
                  <a:schemeClr val="tx2"/>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ToArray</a:t>
            </a:r>
            <a:r>
              <a:rPr lang="en-US" sz="1800" dirty="0">
                <a:solidFill>
                  <a:srgbClr val="000000"/>
                </a:solidFill>
                <a:highlight>
                  <a:srgbClr val="FFFFFF"/>
                </a:highlight>
                <a:latin typeface="Consolas" panose="020B0609020204030204" pitchFamily="49" charset="0"/>
              </a:rPr>
              <a:t>&lt;</a:t>
            </a:r>
            <a:r>
              <a:rPr lang="en-US" sz="1800" dirty="0">
                <a:solidFill>
                  <a:srgbClr val="0000FF"/>
                </a:solidFill>
                <a:highlight>
                  <a:srgbClr val="FFFFFF"/>
                </a:highlight>
                <a:latin typeface="Consolas" panose="020B0609020204030204" pitchFamily="49" charset="0"/>
              </a:rPr>
              <a:t>int</a:t>
            </a:r>
            <a:r>
              <a:rPr lang="en-US" sz="1800" dirty="0">
                <a:solidFill>
                  <a:srgbClr val="000000"/>
                </a:solidFill>
                <a:highlight>
                  <a:srgbClr val="FFFFFF"/>
                </a:highlight>
                <a:latin typeface="Consolas" panose="020B0609020204030204" pitchFamily="49" charset="0"/>
              </a:rPr>
              <a:t>&gt;();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Get data RIGHT NOW as List&lt;int&gt;.</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List</a:t>
            </a:r>
            <a:r>
              <a:rPr lang="en-IN" sz="1800" dirty="0">
                <a:solidFill>
                  <a:srgbClr val="000000"/>
                </a:solidFill>
                <a:highlight>
                  <a:srgbClr val="FFFFFF"/>
                </a:highlight>
                <a:latin typeface="Consolas" panose="020B0609020204030204" pitchFamily="49" charset="0"/>
              </a:rPr>
              <a:t>&lt;</a:t>
            </a:r>
            <a:r>
              <a:rPr lang="en-IN" sz="1800" dirty="0">
                <a:solidFill>
                  <a:srgbClr val="0000FF"/>
                </a:solidFill>
                <a:highlight>
                  <a:srgbClr val="FFFFFF"/>
                </a:highlight>
                <a:latin typeface="Consolas" panose="020B0609020204030204" pitchFamily="49" charset="0"/>
              </a:rPr>
              <a:t>int</a:t>
            </a:r>
            <a:r>
              <a:rPr lang="en-IN" sz="1800" dirty="0">
                <a:solidFill>
                  <a:srgbClr val="000000"/>
                </a:solidFill>
                <a:highlight>
                  <a:srgbClr val="FFFFFF"/>
                </a:highlight>
                <a:latin typeface="Consolas" panose="020B0609020204030204" pitchFamily="49" charset="0"/>
              </a:rPr>
              <a:t>&gt; </a:t>
            </a:r>
            <a:r>
              <a:rPr lang="en-IN" sz="1800" dirty="0" err="1">
                <a:solidFill>
                  <a:srgbClr val="000000"/>
                </a:solidFill>
                <a:highlight>
                  <a:srgbClr val="FFFFFF"/>
                </a:highlight>
                <a:latin typeface="Consolas" panose="020B0609020204030204" pitchFamily="49" charset="0"/>
              </a:rPr>
              <a:t>subsetAsListOfInts</a:t>
            </a: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b="1" dirty="0">
                <a:solidFill>
                  <a:srgbClr val="FF0000"/>
                </a:solidFill>
                <a:highlight>
                  <a:srgbClr val="FFFFFF"/>
                </a:highlight>
                <a:latin typeface="Consolas" panose="020B0609020204030204" pitchFamily="49" charset="0"/>
              </a:rPr>
              <a:t>(</a:t>
            </a:r>
            <a:r>
              <a:rPr lang="en-US" sz="1800" dirty="0">
                <a:solidFill>
                  <a:srgbClr val="0000FF"/>
                </a:solidFill>
                <a:highlight>
                  <a:srgbClr val="FFFFFF"/>
                </a:highlight>
                <a:latin typeface="Consolas" panose="020B0609020204030204" pitchFamily="49" charset="0"/>
              </a:rPr>
              <a:t>from</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numbers </a:t>
            </a:r>
            <a:r>
              <a:rPr lang="en-US" sz="1800" dirty="0">
                <a:solidFill>
                  <a:srgbClr val="0000FF"/>
                </a:solidFill>
                <a:highlight>
                  <a:srgbClr val="FFFFFF"/>
                </a:highlight>
                <a:latin typeface="Consolas" panose="020B0609020204030204" pitchFamily="49" charset="0"/>
              </a:rPr>
              <a:t>where</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dirty="0">
                <a:solidFill>
                  <a:srgbClr val="000000"/>
                </a:solidFill>
                <a:highlight>
                  <a:srgbClr val="FFFFFF"/>
                </a:highlight>
                <a:latin typeface="Consolas" panose="020B0609020204030204" pitchFamily="49" charset="0"/>
              </a:rPr>
              <a:t> &lt; 10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b="1" dirty="0">
                <a:solidFill>
                  <a:srgbClr val="FF0000"/>
                </a:solidFill>
                <a:highlight>
                  <a:srgbClr val="FFFFFF"/>
                </a:highlight>
                <a:latin typeface="Consolas" panose="020B0609020204030204" pitchFamily="49" charset="0"/>
              </a:rPr>
              <a:t>)</a:t>
            </a:r>
            <a:r>
              <a:rPr lang="en-US" sz="1800" b="1" dirty="0">
                <a:solidFill>
                  <a:schemeClr val="tx2"/>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ToList</a:t>
            </a:r>
            <a:r>
              <a:rPr lang="en-US" sz="1800" dirty="0">
                <a:solidFill>
                  <a:srgbClr val="000000"/>
                </a:solidFill>
                <a:highlight>
                  <a:srgbClr val="FFFFFF"/>
                </a:highlight>
                <a:latin typeface="Consolas" panose="020B0609020204030204" pitchFamily="49" charset="0"/>
              </a:rPr>
              <a:t>&lt;</a:t>
            </a:r>
            <a:r>
              <a:rPr lang="en-US" sz="1800" dirty="0">
                <a:solidFill>
                  <a:srgbClr val="0000FF"/>
                </a:solidFill>
                <a:highlight>
                  <a:srgbClr val="FFFFFF"/>
                </a:highlight>
                <a:latin typeface="Consolas" panose="020B0609020204030204" pitchFamily="49" charset="0"/>
              </a:rPr>
              <a:t>int</a:t>
            </a:r>
            <a:r>
              <a:rPr lang="en-US" sz="1800" dirty="0">
                <a:solidFill>
                  <a:srgbClr val="000000"/>
                </a:solidFill>
                <a:highlight>
                  <a:srgbClr val="FFFFFF"/>
                </a:highlight>
                <a:latin typeface="Consolas" panose="020B0609020204030204" pitchFamily="49" charset="0"/>
              </a:rPr>
              <a:t>&gt;();</a:t>
            </a:r>
          </a:p>
          <a:p>
            <a:pPr marL="0" indent="0">
              <a:buNone/>
            </a:pPr>
            <a:r>
              <a:rPr lang="en-IN" sz="1800" dirty="0">
                <a:solidFill>
                  <a:srgbClr val="000000"/>
                </a:solidFill>
                <a:highlight>
                  <a:srgbClr val="FFFFFF"/>
                </a:highlight>
                <a:latin typeface="Consolas" panose="020B0609020204030204" pitchFamily="49" charset="0"/>
              </a:rPr>
              <a:t>        }</a:t>
            </a:r>
            <a:endParaRPr lang="en-IN" sz="1600" dirty="0"/>
          </a:p>
        </p:txBody>
      </p:sp>
    </p:spTree>
    <p:extLst>
      <p:ext uri="{BB962C8B-B14F-4D97-AF65-F5344CB8AC3E}">
        <p14:creationId xmlns:p14="http://schemas.microsoft.com/office/powerpoint/2010/main" val="2050941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B1222C-8D31-40D4-B9B4-96AA395169E4}"/>
              </a:ext>
            </a:extLst>
          </p:cNvPr>
          <p:cNvSpPr>
            <a:spLocks noGrp="1"/>
          </p:cNvSpPr>
          <p:nvPr>
            <p:ph type="title"/>
          </p:nvPr>
        </p:nvSpPr>
        <p:spPr>
          <a:xfrm>
            <a:off x="1152832" y="152400"/>
            <a:ext cx="7696200" cy="2133600"/>
          </a:xfrm>
        </p:spPr>
        <p:txBody>
          <a:bodyPr>
            <a:noAutofit/>
          </a:bodyPr>
          <a:lstStyle/>
          <a:p>
            <a:pPr algn="l"/>
            <a:r>
              <a:rPr lang="en-US" sz="1400" dirty="0"/>
              <a:t>You might wonder exactly how you could return a query result to an external caller.</a:t>
            </a:r>
            <a:br>
              <a:rPr lang="en-US" sz="1400" dirty="0"/>
            </a:br>
            <a:r>
              <a:rPr lang="en-US" sz="1400" dirty="0"/>
              <a:t>The answer is, it depends. </a:t>
            </a:r>
            <a:br>
              <a:rPr lang="en-US" sz="1400" dirty="0"/>
            </a:br>
            <a:r>
              <a:rPr lang="en-US" sz="1400" dirty="0"/>
              <a:t/>
            </a:r>
            <a:br>
              <a:rPr lang="en-US" sz="1400" dirty="0"/>
            </a:br>
            <a:r>
              <a:rPr lang="en-US" sz="1400" dirty="0"/>
              <a:t>If you have a result set consisting of strongly typed data, such as</a:t>
            </a:r>
            <a:br>
              <a:rPr lang="en-US" sz="1400" dirty="0"/>
            </a:br>
            <a:r>
              <a:rPr lang="en-US" sz="1400" dirty="0"/>
              <a:t>  an array of strings or </a:t>
            </a:r>
            <a:br>
              <a:rPr lang="en-US" sz="1400" dirty="0"/>
            </a:br>
            <a:r>
              <a:rPr lang="en-US" sz="1400" dirty="0"/>
              <a:t>a List&lt;T&gt; of Cars,  </a:t>
            </a:r>
            <a:br>
              <a:rPr lang="en-US" sz="1400" dirty="0"/>
            </a:br>
            <a:r>
              <a:rPr lang="en-US" sz="1400" dirty="0"/>
              <a:t>you could abandon the use of the var keyword and use a proper </a:t>
            </a:r>
            <a:r>
              <a:rPr lang="en-US" sz="1400" dirty="0" err="1"/>
              <a:t>IEnumerable</a:t>
            </a:r>
            <a:r>
              <a:rPr lang="en-US" sz="1400" dirty="0"/>
              <a:t>&lt;T&gt; or </a:t>
            </a:r>
            <a:r>
              <a:rPr lang="en-US" sz="1400" dirty="0" err="1"/>
              <a:t>IEnumerable</a:t>
            </a:r>
            <a:r>
              <a:rPr lang="en-US" sz="1400" dirty="0"/>
              <a:t> type (again, as </a:t>
            </a:r>
            <a:r>
              <a:rPr lang="en-US" sz="1400" dirty="0" err="1"/>
              <a:t>IEnumerable</a:t>
            </a:r>
            <a:r>
              <a:rPr lang="en-US" sz="1400" dirty="0"/>
              <a:t>&lt;T&gt; extends </a:t>
            </a:r>
            <a:r>
              <a:rPr lang="en-US" sz="1400" dirty="0" err="1"/>
              <a:t>IEnumerable</a:t>
            </a:r>
            <a:r>
              <a:rPr lang="en-US" sz="1400" dirty="0"/>
              <a:t>). Consider the  following example for a new Console Application named </a:t>
            </a:r>
            <a:r>
              <a:rPr lang="en-US" sz="1400" dirty="0" err="1"/>
              <a:t>LinqRetValues</a:t>
            </a:r>
            <a:r>
              <a:rPr lang="en-US" sz="1400" dirty="0"/>
              <a:t>:</a:t>
            </a:r>
            <a:br>
              <a:rPr lang="en-US" sz="1400" dirty="0"/>
            </a:br>
            <a:endParaRPr lang="en-IN" sz="1400" dirty="0"/>
          </a:p>
        </p:txBody>
      </p:sp>
      <p:sp>
        <p:nvSpPr>
          <p:cNvPr id="3" name="Content Placeholder 2">
            <a:extLst>
              <a:ext uri="{FF2B5EF4-FFF2-40B4-BE49-F238E27FC236}">
                <a16:creationId xmlns:a16="http://schemas.microsoft.com/office/drawing/2014/main" xmlns="" id="{8A0E5A0E-E2A6-4AF6-8234-12967D908DB7}"/>
              </a:ext>
            </a:extLst>
          </p:cNvPr>
          <p:cNvSpPr>
            <a:spLocks noGrp="1"/>
          </p:cNvSpPr>
          <p:nvPr>
            <p:ph idx="1"/>
          </p:nvPr>
        </p:nvSpPr>
        <p:spPr>
          <a:xfrm>
            <a:off x="304800" y="2101645"/>
            <a:ext cx="8077200" cy="3613355"/>
          </a:xfrm>
        </p:spPr>
        <p:txBody>
          <a:bodyPr/>
          <a:lstStyle/>
          <a:p>
            <a:pPr marL="0" indent="0">
              <a:buNone/>
            </a:pP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IEnumerable</a:t>
            </a:r>
            <a:r>
              <a:rPr lang="en-IN" sz="1800" dirty="0">
                <a:solidFill>
                  <a:srgbClr val="000000"/>
                </a:solidFill>
                <a:highlight>
                  <a:srgbClr val="FFFFFF"/>
                </a:highlight>
                <a:latin typeface="Consolas" panose="020B0609020204030204" pitchFamily="49" charset="0"/>
              </a:rPr>
              <a:t>&lt;</a:t>
            </a:r>
            <a:r>
              <a:rPr lang="en-IN" sz="1800" dirty="0">
                <a:solidFill>
                  <a:srgbClr val="0000FF"/>
                </a:solidFill>
                <a:highlight>
                  <a:srgbClr val="FFFFFF"/>
                </a:highlight>
                <a:latin typeface="Consolas" panose="020B0609020204030204" pitchFamily="49" charset="0"/>
              </a:rPr>
              <a:t>string</a:t>
            </a:r>
            <a:r>
              <a:rPr lang="en-IN" sz="1800" dirty="0">
                <a:solidFill>
                  <a:srgbClr val="000000"/>
                </a:solidFill>
                <a:highlight>
                  <a:srgbClr val="FFFFFF"/>
                </a:highlight>
                <a:latin typeface="Consolas" panose="020B0609020204030204" pitchFamily="49" charset="0"/>
              </a:rPr>
              <a:t>&gt; </a:t>
            </a:r>
            <a:r>
              <a:rPr lang="en-IN" sz="1800" dirty="0" err="1">
                <a:solidFill>
                  <a:srgbClr val="000000"/>
                </a:solidFill>
                <a:highlight>
                  <a:srgbClr val="FFFFFF"/>
                </a:highlight>
                <a:latin typeface="Consolas" panose="020B0609020204030204" pitchFamily="49" charset="0"/>
              </a:rPr>
              <a:t>GetStringSubset</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colors = { </a:t>
            </a:r>
            <a:r>
              <a:rPr lang="en-US" sz="1800" dirty="0">
                <a:solidFill>
                  <a:srgbClr val="A31515"/>
                </a:solidFill>
                <a:highlight>
                  <a:srgbClr val="FFFFFF"/>
                </a:highlight>
                <a:latin typeface="Consolas" panose="020B0609020204030204" pitchFamily="49" charset="0"/>
              </a:rPr>
              <a:t>"Light Red"</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"Green"</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"Yellow"</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"Dark Red"</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"Red"</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"Purple"</a:t>
            </a:r>
            <a:r>
              <a:rPr lang="en-US"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Note subset is an </a:t>
            </a:r>
            <a:r>
              <a:rPr lang="en-US" sz="1800" dirty="0" err="1">
                <a:solidFill>
                  <a:srgbClr val="008000"/>
                </a:solidFill>
                <a:highlight>
                  <a:srgbClr val="FFFFFF"/>
                </a:highlight>
                <a:latin typeface="Consolas" panose="020B0609020204030204" pitchFamily="49" charset="0"/>
              </a:rPr>
              <a:t>IEnumerable</a:t>
            </a:r>
            <a:r>
              <a:rPr lang="en-US" sz="1800" dirty="0">
                <a:solidFill>
                  <a:srgbClr val="008000"/>
                </a:solidFill>
                <a:highlight>
                  <a:srgbClr val="FFFFFF"/>
                </a:highlight>
                <a:latin typeface="Consolas" panose="020B0609020204030204" pitchFamily="49" charset="0"/>
              </a:rPr>
              <a:t>&lt;string&gt;-compatible object.</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IEnumerable</a:t>
            </a:r>
            <a:r>
              <a:rPr lang="en-US" sz="1800" dirty="0">
                <a:solidFill>
                  <a:srgbClr val="000000"/>
                </a:solidFill>
                <a:highlight>
                  <a:srgbClr val="FFFFFF"/>
                </a:highlight>
                <a:latin typeface="Consolas" panose="020B0609020204030204" pitchFamily="49" charset="0"/>
              </a:rPr>
              <a:t>&lt;</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&gt; </a:t>
            </a:r>
            <a:r>
              <a:rPr lang="en-US" sz="1800" dirty="0" err="1">
                <a:solidFill>
                  <a:srgbClr val="000000"/>
                </a:solidFill>
                <a:highlight>
                  <a:srgbClr val="FFFFFF"/>
                </a:highlight>
                <a:latin typeface="Consolas" panose="020B0609020204030204" pitchFamily="49" charset="0"/>
              </a:rPr>
              <a:t>theRedColors</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from</a:t>
            </a:r>
            <a:r>
              <a:rPr lang="en-US" sz="1800" dirty="0">
                <a:solidFill>
                  <a:srgbClr val="000000"/>
                </a:solidFill>
                <a:highlight>
                  <a:srgbClr val="FFFFFF"/>
                </a:highlight>
                <a:latin typeface="Consolas" panose="020B0609020204030204" pitchFamily="49" charset="0"/>
              </a:rPr>
              <a:t> c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colors </a:t>
            </a:r>
            <a:r>
              <a:rPr lang="en-US" sz="1800" dirty="0">
                <a:solidFill>
                  <a:srgbClr val="0000FF"/>
                </a:solidFill>
                <a:highlight>
                  <a:srgbClr val="FFFFFF"/>
                </a:highlight>
                <a:latin typeface="Consolas" panose="020B0609020204030204" pitchFamily="49" charset="0"/>
              </a:rPr>
              <a:t>where</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c.Contains</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"Red"</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c;</a:t>
            </a:r>
          </a:p>
          <a:p>
            <a:pPr marL="0" indent="0">
              <a:buNone/>
            </a:pP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return</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theRedColors</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endParaRPr lang="en-IN" dirty="0"/>
          </a:p>
        </p:txBody>
      </p:sp>
      <p:sp>
        <p:nvSpPr>
          <p:cNvPr id="5" name="TextBox 4">
            <a:extLst>
              <a:ext uri="{FF2B5EF4-FFF2-40B4-BE49-F238E27FC236}">
                <a16:creationId xmlns:a16="http://schemas.microsoft.com/office/drawing/2014/main" xmlns="" id="{B835882A-56AD-458A-958C-C2BAB837403E}"/>
              </a:ext>
            </a:extLst>
          </p:cNvPr>
          <p:cNvSpPr txBox="1"/>
          <p:nvPr/>
        </p:nvSpPr>
        <p:spPr>
          <a:xfrm>
            <a:off x="381000" y="5715000"/>
            <a:ext cx="8305800" cy="538609"/>
          </a:xfrm>
          <a:prstGeom prst="rect">
            <a:avLst/>
          </a:prstGeom>
          <a:noFill/>
        </p:spPr>
        <p:txBody>
          <a:bodyPr wrap="square" rtlCol="0">
            <a:spAutoFit/>
          </a:bodyPr>
          <a:lstStyle/>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IEnumerable</a:t>
            </a:r>
            <a:r>
              <a:rPr lang="en-US" sz="1100" dirty="0">
                <a:solidFill>
                  <a:srgbClr val="000000"/>
                </a:solidFill>
                <a:highlight>
                  <a:srgbClr val="FFFFFF"/>
                </a:highlight>
                <a:latin typeface="Consolas" panose="020B0609020204030204" pitchFamily="49" charset="0"/>
              </a:rPr>
              <a:t>&lt;</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&gt; </a:t>
            </a:r>
            <a:r>
              <a:rPr lang="en-US" sz="1100" dirty="0" err="1">
                <a:solidFill>
                  <a:srgbClr val="000000"/>
                </a:solidFill>
                <a:highlight>
                  <a:srgbClr val="FFFFFF"/>
                </a:highlight>
                <a:latin typeface="Consolas" panose="020B0609020204030204" pitchFamily="49" charset="0"/>
              </a:rPr>
              <a:t>theRedColors</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from</a:t>
            </a:r>
            <a:r>
              <a:rPr lang="en-US" sz="1100" dirty="0">
                <a:solidFill>
                  <a:srgbClr val="000000"/>
                </a:solidFill>
                <a:highlight>
                  <a:srgbClr val="FFFFFF"/>
                </a:highlight>
                <a:latin typeface="Consolas" panose="020B0609020204030204" pitchFamily="49" charset="0"/>
              </a:rPr>
              <a:t> c </a:t>
            </a:r>
            <a:r>
              <a:rPr lang="en-US" sz="1100" dirty="0">
                <a:solidFill>
                  <a:srgbClr val="0000FF"/>
                </a:solidFill>
                <a:highlight>
                  <a:srgbClr val="FFFFFF"/>
                </a:highlight>
                <a:latin typeface="Consolas" panose="020B0609020204030204" pitchFamily="49" charset="0"/>
              </a:rPr>
              <a:t>in</a:t>
            </a:r>
            <a:r>
              <a:rPr lang="en-US" sz="1100" dirty="0">
                <a:solidFill>
                  <a:srgbClr val="000000"/>
                </a:solidFill>
                <a:highlight>
                  <a:srgbClr val="FFFFFF"/>
                </a:highlight>
                <a:latin typeface="Consolas" panose="020B0609020204030204" pitchFamily="49" charset="0"/>
              </a:rPr>
              <a:t> colors </a:t>
            </a:r>
            <a:r>
              <a:rPr lang="en-US" sz="1100" dirty="0">
                <a:solidFill>
                  <a:srgbClr val="0000FF"/>
                </a:solidFill>
                <a:highlight>
                  <a:srgbClr val="FFFFFF"/>
                </a:highlight>
                <a:latin typeface="Consolas" panose="020B0609020204030204" pitchFamily="49" charset="0"/>
              </a:rPr>
              <a:t>where</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c.Contains</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"Red"</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select</a:t>
            </a:r>
            <a:r>
              <a:rPr lang="en-US" sz="1100" dirty="0">
                <a:solidFill>
                  <a:srgbClr val="000000"/>
                </a:solidFill>
                <a:highlight>
                  <a:srgbClr val="FFFFFF"/>
                </a:highlight>
                <a:latin typeface="Consolas" panose="020B0609020204030204" pitchFamily="49" charset="0"/>
              </a:rPr>
              <a:t> c;</a:t>
            </a:r>
          </a:p>
          <a:p>
            <a:r>
              <a:rPr lang="en-IN" dirty="0"/>
              <a:t>Is this line firing query? No.</a:t>
            </a:r>
          </a:p>
        </p:txBody>
      </p:sp>
    </p:spTree>
    <p:extLst>
      <p:ext uri="{BB962C8B-B14F-4D97-AF65-F5344CB8AC3E}">
        <p14:creationId xmlns:p14="http://schemas.microsoft.com/office/powerpoint/2010/main" val="1872648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478BFE-D192-4FC2-BD86-DBD5ABC2D759}"/>
              </a:ext>
            </a:extLst>
          </p:cNvPr>
          <p:cNvSpPr>
            <a:spLocks noGrp="1"/>
          </p:cNvSpPr>
          <p:nvPr>
            <p:ph type="title"/>
          </p:nvPr>
        </p:nvSpPr>
        <p:spPr>
          <a:xfrm>
            <a:off x="1066800" y="160337"/>
            <a:ext cx="8229600" cy="1143000"/>
          </a:xfrm>
        </p:spPr>
        <p:txBody>
          <a:bodyPr>
            <a:noAutofit/>
          </a:bodyPr>
          <a:lstStyle/>
          <a:p>
            <a:pPr algn="l"/>
            <a:r>
              <a:rPr lang="en-US" sz="1400" dirty="0"/>
              <a:t>Because it is a bit inconvenient to operate on </a:t>
            </a:r>
            <a:r>
              <a:rPr lang="en-US" sz="1400" dirty="0" err="1"/>
              <a:t>IEnumerable</a:t>
            </a:r>
            <a:r>
              <a:rPr lang="en-US" sz="1400" dirty="0"/>
              <a:t>&lt;T&gt;, you could make use of immediate</a:t>
            </a:r>
            <a:br>
              <a:rPr lang="en-US" sz="1400" dirty="0"/>
            </a:br>
            <a:r>
              <a:rPr lang="en-US" sz="1400" dirty="0"/>
              <a:t>execution. For example, rather than returning </a:t>
            </a:r>
            <a:r>
              <a:rPr lang="en-US" sz="1400" dirty="0" err="1"/>
              <a:t>IEnumerable</a:t>
            </a:r>
            <a:r>
              <a:rPr lang="en-US" sz="1400" dirty="0"/>
              <a:t>&lt;string&gt;, you could simply return a string[],</a:t>
            </a:r>
            <a:br>
              <a:rPr lang="en-US" sz="1400" dirty="0"/>
            </a:br>
            <a:r>
              <a:rPr lang="en-US" sz="1400" dirty="0"/>
              <a:t>provided that you transform the sequence to a strongly typed array. Consider this new method of the</a:t>
            </a:r>
            <a:br>
              <a:rPr lang="en-US" sz="1400" dirty="0"/>
            </a:br>
            <a:r>
              <a:rPr lang="en-US" sz="1400" dirty="0"/>
              <a:t>Program class, which does this very thing:</a:t>
            </a:r>
            <a:br>
              <a:rPr lang="en-US" sz="1400" dirty="0"/>
            </a:br>
            <a:endParaRPr lang="en-IN" sz="1400" dirty="0"/>
          </a:p>
        </p:txBody>
      </p:sp>
      <p:sp>
        <p:nvSpPr>
          <p:cNvPr id="3" name="Content Placeholder 2">
            <a:extLst>
              <a:ext uri="{FF2B5EF4-FFF2-40B4-BE49-F238E27FC236}">
                <a16:creationId xmlns:a16="http://schemas.microsoft.com/office/drawing/2014/main" xmlns="" id="{F38FF435-47DE-4F19-A9B4-FD12BB458D39}"/>
              </a:ext>
            </a:extLst>
          </p:cNvPr>
          <p:cNvSpPr>
            <a:spLocks noGrp="1"/>
          </p:cNvSpPr>
          <p:nvPr>
            <p:ph idx="1"/>
          </p:nvPr>
        </p:nvSpPr>
        <p:spPr>
          <a:xfrm>
            <a:off x="304800" y="1066800"/>
            <a:ext cx="8382000" cy="5059363"/>
          </a:xfrm>
        </p:spPr>
        <p:txBody>
          <a:bodyPr/>
          <a:lstStyle/>
          <a:p>
            <a:pPr marL="0" indent="0">
              <a:buNone/>
            </a:pPr>
            <a:r>
              <a:rPr lang="en-IN" sz="18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GetStringSubsetAsArray</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colors = {</a:t>
            </a:r>
            <a:r>
              <a:rPr lang="en-US" sz="1200" dirty="0">
                <a:solidFill>
                  <a:srgbClr val="A31515"/>
                </a:solidFill>
                <a:highlight>
                  <a:srgbClr val="FFFFFF"/>
                </a:highlight>
                <a:latin typeface="Consolas" panose="020B0609020204030204" pitchFamily="49" charset="0"/>
              </a:rPr>
              <a:t>"Light Red"</a:t>
            </a:r>
            <a:r>
              <a:rPr lang="en-US" sz="1200" dirty="0">
                <a:solidFill>
                  <a:srgbClr val="000000"/>
                </a:solidFill>
                <a:highlight>
                  <a:srgbClr val="FFFFFF"/>
                </a:highlight>
                <a:latin typeface="Consolas" panose="020B0609020204030204" pitchFamily="49" charset="0"/>
              </a:rPr>
              <a:t>, </a:t>
            </a:r>
            <a:r>
              <a:rPr lang="en-US" sz="1200" dirty="0">
                <a:solidFill>
                  <a:srgbClr val="A31515"/>
                </a:solidFill>
                <a:highlight>
                  <a:srgbClr val="FFFFFF"/>
                </a:highlight>
                <a:latin typeface="Consolas" panose="020B0609020204030204" pitchFamily="49" charset="0"/>
              </a:rPr>
              <a:t>"Green"</a:t>
            </a:r>
            <a:r>
              <a:rPr lang="en-US"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"Yellow"</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"Dark Red"</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"Red"</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"Purple"</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var</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theRedColors</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from</a:t>
            </a:r>
            <a:r>
              <a:rPr lang="en-US" sz="1200" dirty="0">
                <a:solidFill>
                  <a:srgbClr val="000000"/>
                </a:solidFill>
                <a:highlight>
                  <a:srgbClr val="FFFFFF"/>
                </a:highlight>
                <a:latin typeface="Consolas" panose="020B0609020204030204" pitchFamily="49" charset="0"/>
              </a:rPr>
              <a:t> c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colors</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where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c.Contains</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"Red"</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select</a:t>
            </a:r>
            <a:r>
              <a:rPr lang="en-IN" sz="1200" dirty="0">
                <a:solidFill>
                  <a:srgbClr val="000000"/>
                </a:solidFill>
                <a:highlight>
                  <a:srgbClr val="FFFFFF"/>
                </a:highlight>
                <a:latin typeface="Consolas" panose="020B0609020204030204" pitchFamily="49" charset="0"/>
              </a:rPr>
              <a:t> c;</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Map results into an array.</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theRedColors.ToArray</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In the above code which line is firing Query?</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err="1">
                <a:solidFill>
                  <a:srgbClr val="000000"/>
                </a:solidFill>
                <a:highlight>
                  <a:srgbClr val="FFFFFF"/>
                </a:highlight>
                <a:latin typeface="Consolas" panose="020B0609020204030204" pitchFamily="49" charset="0"/>
              </a:rPr>
              <a:t>theRedColors.ToArray</a:t>
            </a:r>
            <a:r>
              <a:rPr lang="en-IN" sz="1200" dirty="0">
                <a:solidFill>
                  <a:srgbClr val="000000"/>
                </a:solidFill>
                <a:highlight>
                  <a:srgbClr val="FFFFFF"/>
                </a:highlight>
                <a:latin typeface="Consolas" panose="020B0609020204030204" pitchFamily="49" charset="0"/>
              </a:rPr>
              <a:t>(); yes</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t> </a:t>
            </a:r>
            <a:r>
              <a:rPr lang="en-US" sz="1200" dirty="0" err="1"/>
              <a:t>colors.Where</a:t>
            </a:r>
            <a:r>
              <a:rPr lang="en-US" sz="1200" dirty="0"/>
              <a:t>&lt;string&gt;((</a:t>
            </a:r>
            <a:r>
              <a:rPr lang="en-US" sz="1200" dirty="0" err="1"/>
              <a:t>str</a:t>
            </a:r>
            <a:r>
              <a:rPr lang="en-US" sz="1200" dirty="0"/>
              <a:t>)=&gt;</a:t>
            </a:r>
            <a:r>
              <a:rPr lang="en-US" sz="1200" dirty="0" err="1"/>
              <a:t>str.Contains</a:t>
            </a:r>
            <a:r>
              <a:rPr lang="en-US" sz="1200" dirty="0"/>
              <a:t>("Red")).Select(</a:t>
            </a:r>
            <a:r>
              <a:rPr lang="en-US" sz="1200" dirty="0" err="1"/>
              <a:t>str</a:t>
            </a:r>
            <a:r>
              <a:rPr lang="en-US" sz="1200" dirty="0"/>
              <a:t>=&gt;</a:t>
            </a:r>
            <a:r>
              <a:rPr lang="en-US" sz="1200" dirty="0" err="1"/>
              <a:t>str</a:t>
            </a:r>
            <a:r>
              <a:rPr lang="en-US" sz="1200" dirty="0"/>
              <a:t>);</a:t>
            </a:r>
            <a:r>
              <a:rPr lang="en-IN" sz="1200" dirty="0">
                <a:solidFill>
                  <a:srgbClr val="000000"/>
                </a:solidFill>
                <a:highlight>
                  <a:srgbClr val="FFFFFF"/>
                </a:highlight>
                <a:latin typeface="Consolas" panose="020B0609020204030204" pitchFamily="49" charset="0"/>
              </a:rPr>
              <a:t> this line will executer query and return Array of String. </a:t>
            </a:r>
            <a:endParaRPr lang="en-IN" sz="1200" dirty="0"/>
          </a:p>
        </p:txBody>
      </p:sp>
    </p:spTree>
    <p:extLst>
      <p:ext uri="{BB962C8B-B14F-4D97-AF65-F5344CB8AC3E}">
        <p14:creationId xmlns:p14="http://schemas.microsoft.com/office/powerpoint/2010/main" val="952759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3BD443A-5030-458B-BBD7-CC5C5B2EB07C}"/>
              </a:ext>
            </a:extLst>
          </p:cNvPr>
          <p:cNvSpPr>
            <a:spLocks noGrp="1"/>
          </p:cNvSpPr>
          <p:nvPr>
            <p:ph idx="1"/>
          </p:nvPr>
        </p:nvSpPr>
        <p:spPr>
          <a:xfrm>
            <a:off x="990600" y="0"/>
            <a:ext cx="8763000" cy="67818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System.Linq</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ProductInfo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Name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Description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NumberInStock</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err="1">
                <a:solidFill>
                  <a:srgbClr val="0000FF"/>
                </a:solidFill>
                <a:highlight>
                  <a:srgbClr val="FFFFFF"/>
                </a:highlight>
                <a:latin typeface="Consolas" panose="020B0609020204030204" pitchFamily="49" charset="0"/>
              </a:rPr>
              <a:t>string</a:t>
            </a:r>
            <a:r>
              <a:rPr lang="en-US" sz="1200" dirty="0" err="1">
                <a:solidFill>
                  <a:srgbClr val="000000"/>
                </a:solidFill>
                <a:highlight>
                  <a:srgbClr val="FFFFFF"/>
                </a:highlight>
                <a:latin typeface="Consolas" panose="020B0609020204030204" pitchFamily="49" charset="0"/>
              </a:rPr>
              <a:t>.Format</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"Name={0}, Description={1}, Number in Stock={2}"</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Name, Description,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entry</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 Fun with Query Expressions *****\n"</a:t>
            </a:r>
            <a:r>
              <a:rPr lang="en-US"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array will be the basis of our testing...</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ProductInfo</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itemsInStock</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Name = </a:t>
            </a:r>
            <a:r>
              <a:rPr lang="en-US" sz="1200" dirty="0">
                <a:solidFill>
                  <a:srgbClr val="A31515"/>
                </a:solidFill>
                <a:highlight>
                  <a:srgbClr val="FFFFFF"/>
                </a:highlight>
                <a:latin typeface="Consolas" panose="020B0609020204030204" pitchFamily="49" charset="0"/>
              </a:rPr>
              <a:t>"Mac's Coffee"</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Description = </a:t>
            </a:r>
            <a:r>
              <a:rPr lang="en-IN" sz="1200" dirty="0">
                <a:solidFill>
                  <a:srgbClr val="A31515"/>
                </a:solidFill>
                <a:highlight>
                  <a:srgbClr val="FFFFFF"/>
                </a:highlight>
                <a:latin typeface="Consolas" panose="020B0609020204030204" pitchFamily="49" charset="0"/>
              </a:rPr>
              <a:t>"Coffee with TEETH"</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24},</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 Name = </a:t>
            </a:r>
            <a:r>
              <a:rPr lang="en-US" sz="1200" dirty="0">
                <a:solidFill>
                  <a:srgbClr val="A31515"/>
                </a:solidFill>
                <a:highlight>
                  <a:srgbClr val="FFFFFF"/>
                </a:highlight>
                <a:latin typeface="Consolas" panose="020B0609020204030204" pitchFamily="49" charset="0"/>
              </a:rPr>
              <a:t>"Milk Maid Milk"</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Description = </a:t>
            </a:r>
            <a:r>
              <a:rPr lang="en-IN" sz="1200" dirty="0">
                <a:solidFill>
                  <a:srgbClr val="A31515"/>
                </a:solidFill>
                <a:highlight>
                  <a:srgbClr val="FFFFFF"/>
                </a:highlight>
                <a:latin typeface="Consolas" panose="020B0609020204030204" pitchFamily="49" charset="0"/>
              </a:rPr>
              <a:t>"Milk cow's love"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100},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Name = </a:t>
            </a:r>
            <a:r>
              <a:rPr lang="en-US" sz="1200" dirty="0">
                <a:solidFill>
                  <a:srgbClr val="A31515"/>
                </a:solidFill>
                <a:highlight>
                  <a:srgbClr val="FFFFFF"/>
                </a:highlight>
                <a:latin typeface="Consolas" panose="020B0609020204030204" pitchFamily="49" charset="0"/>
              </a:rPr>
              <a:t>"Pure Silk Tofu"</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Description = </a:t>
            </a:r>
            <a:r>
              <a:rPr lang="en-IN" sz="1200" dirty="0">
                <a:solidFill>
                  <a:srgbClr val="A31515"/>
                </a:solidFill>
                <a:highlight>
                  <a:srgbClr val="FFFFFF"/>
                </a:highlight>
                <a:latin typeface="Consolas" panose="020B0609020204030204" pitchFamily="49" charset="0"/>
              </a:rPr>
              <a:t>"Bland as Possible"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120},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Name = </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Cruchy</a:t>
            </a:r>
            <a:r>
              <a:rPr lang="en-US" sz="1200" dirty="0">
                <a:solidFill>
                  <a:srgbClr val="A31515"/>
                </a:solidFill>
                <a:highlight>
                  <a:srgbClr val="FFFFFF"/>
                </a:highlight>
                <a:latin typeface="Consolas" panose="020B0609020204030204" pitchFamily="49" charset="0"/>
              </a:rPr>
              <a:t> Pops"</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Description = </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Cheezy</a:t>
            </a:r>
            <a:r>
              <a:rPr lang="en-IN" sz="1200" dirty="0">
                <a:solidFill>
                  <a:srgbClr val="A31515"/>
                </a:solidFill>
                <a:highlight>
                  <a:srgbClr val="FFFFFF"/>
                </a:highlight>
                <a:latin typeface="Consolas" panose="020B0609020204030204" pitchFamily="49" charset="0"/>
              </a:rPr>
              <a:t>, peppery goodness"</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2},</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Name = </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RipOff</a:t>
            </a:r>
            <a:r>
              <a:rPr lang="en-US" sz="1200" dirty="0">
                <a:solidFill>
                  <a:srgbClr val="A31515"/>
                </a:solidFill>
                <a:highlight>
                  <a:srgbClr val="FFFFFF"/>
                </a:highlight>
                <a:latin typeface="Consolas" panose="020B0609020204030204" pitchFamily="49" charset="0"/>
              </a:rPr>
              <a:t> Water"</a:t>
            </a:r>
            <a:r>
              <a:rPr lang="en-US" sz="1200" dirty="0">
                <a:solidFill>
                  <a:srgbClr val="000000"/>
                </a:solidFill>
                <a:highlight>
                  <a:srgbClr val="FFFFFF"/>
                </a:highlight>
                <a:latin typeface="Consolas" panose="020B0609020204030204" pitchFamily="49" charset="0"/>
              </a:rPr>
              <a:t>,   Description = </a:t>
            </a:r>
            <a:r>
              <a:rPr lang="en-US" sz="1200" dirty="0">
                <a:solidFill>
                  <a:srgbClr val="A31515"/>
                </a:solidFill>
                <a:highlight>
                  <a:srgbClr val="FFFFFF"/>
                </a:highlight>
                <a:latin typeface="Consolas" panose="020B0609020204030204" pitchFamily="49" charset="0"/>
              </a:rPr>
              <a:t>"From the tap to your wallet"</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100},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Name = </a:t>
            </a:r>
            <a:r>
              <a:rPr lang="en-US" sz="1200" dirty="0">
                <a:solidFill>
                  <a:srgbClr val="A31515"/>
                </a:solidFill>
                <a:highlight>
                  <a:srgbClr val="FFFFFF"/>
                </a:highlight>
                <a:latin typeface="Consolas" panose="020B0609020204030204" pitchFamily="49" charset="0"/>
              </a:rPr>
              <a:t>"Classic Valpo Pizza"</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Description = </a:t>
            </a:r>
            <a:r>
              <a:rPr lang="en-IN" sz="1200" dirty="0">
                <a:solidFill>
                  <a:srgbClr val="A31515"/>
                </a:solidFill>
                <a:highlight>
                  <a:srgbClr val="FFFFFF"/>
                </a:highlight>
                <a:latin typeface="Consolas" panose="020B0609020204030204" pitchFamily="49" charset="0"/>
              </a:rPr>
              <a:t>"Everyone loves pizza!"</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73}</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Tree>
    <p:extLst>
      <p:ext uri="{BB962C8B-B14F-4D97-AF65-F5344CB8AC3E}">
        <p14:creationId xmlns:p14="http://schemas.microsoft.com/office/powerpoint/2010/main" val="985401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63E7A5-1312-4E02-B919-D7A3C7DAC50D}"/>
              </a:ext>
            </a:extLst>
          </p:cNvPr>
          <p:cNvSpPr>
            <a:spLocks noGrp="1"/>
          </p:cNvSpPr>
          <p:nvPr>
            <p:ph type="title"/>
          </p:nvPr>
        </p:nvSpPr>
        <p:spPr>
          <a:xfrm>
            <a:off x="1066799" y="19665"/>
            <a:ext cx="5943601" cy="666135"/>
          </a:xfrm>
        </p:spPr>
        <p:txBody>
          <a:bodyPr>
            <a:normAutofit/>
          </a:bodyPr>
          <a:lstStyle/>
          <a:p>
            <a:r>
              <a:rPr lang="en-IN" sz="2000" dirty="0"/>
              <a:t>Lets solve following query after reading above array data</a:t>
            </a:r>
          </a:p>
        </p:txBody>
      </p:sp>
      <p:sp>
        <p:nvSpPr>
          <p:cNvPr id="5" name="TextBox 4">
            <a:extLst>
              <a:ext uri="{FF2B5EF4-FFF2-40B4-BE49-F238E27FC236}">
                <a16:creationId xmlns:a16="http://schemas.microsoft.com/office/drawing/2014/main" xmlns="" id="{411DD663-181A-4FC0-8BE8-6F0668FCACE1}"/>
              </a:ext>
            </a:extLst>
          </p:cNvPr>
          <p:cNvSpPr txBox="1"/>
          <p:nvPr/>
        </p:nvSpPr>
        <p:spPr>
          <a:xfrm>
            <a:off x="381000" y="685800"/>
            <a:ext cx="8305800" cy="5232202"/>
          </a:xfrm>
          <a:prstGeom prst="rect">
            <a:avLst/>
          </a:prstGeom>
          <a:noFill/>
        </p:spPr>
        <p:txBody>
          <a:bodyPr wrap="square">
            <a:spAutoFit/>
          </a:bodyPr>
          <a:lstStyle/>
          <a:p>
            <a:pPr marL="0" indent="0">
              <a:spcBef>
                <a:spcPts val="600"/>
              </a:spcBef>
              <a:spcAft>
                <a:spcPts val="600"/>
              </a:spcAft>
              <a:buNone/>
            </a:pP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Q1. Display all product detail</a:t>
            </a:r>
          </a:p>
          <a:p>
            <a:pPr marL="0" indent="0">
              <a:spcBef>
                <a:spcPts val="600"/>
              </a:spcBef>
              <a:spcAft>
                <a:spcPts val="600"/>
              </a:spcAft>
              <a:buNone/>
            </a:pP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Q2. Display all product name</a:t>
            </a:r>
          </a:p>
          <a:p>
            <a:pPr marL="0" indent="0">
              <a:spcBef>
                <a:spcPts val="600"/>
              </a:spcBef>
              <a:spcAft>
                <a:spcPts val="600"/>
              </a:spcAft>
              <a:buNone/>
            </a:pPr>
            <a:r>
              <a:rPr lang="en-IN" dirty="0">
                <a:highlight>
                  <a:srgbClr val="FFFFFF"/>
                </a:highlight>
                <a:latin typeface="Consolas" panose="020B0609020204030204" pitchFamily="49" charset="0"/>
                <a:ea typeface="Calibri" panose="020F0502020204030204" pitchFamily="34" charset="0"/>
                <a:cs typeface="Consolas" panose="020B0609020204030204" pitchFamily="49" charset="0"/>
              </a:rPr>
              <a:t>Q3.</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 part of data as anonymous object</a:t>
            </a:r>
          </a:p>
          <a:p>
            <a:pPr>
              <a:spcBef>
                <a:spcPts val="600"/>
              </a:spcBef>
              <a:spcAft>
                <a:spcPts val="600"/>
              </a:spcAft>
            </a:pP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dirty="0" err="1">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b = </a:t>
            </a:r>
            <a:r>
              <a:rPr lang="en-IN"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{name=</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r.Name</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,des=</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r.Description</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spcBef>
                <a:spcPts val="600"/>
              </a:spcBef>
              <a:spcAft>
                <a:spcPts val="600"/>
              </a:spcAft>
              <a:buNone/>
            </a:pP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Q4.Display all product </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Name ,and Description</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 where </a:t>
            </a:r>
          </a:p>
          <a:p>
            <a:pPr marL="0" indent="0">
              <a:spcBef>
                <a:spcPts val="600"/>
              </a:spcBef>
              <a:spcAft>
                <a:spcPts val="600"/>
              </a:spcAft>
              <a:buNone/>
            </a:pP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=100 as anonymous object</a:t>
            </a:r>
          </a:p>
          <a:p>
            <a:pPr marL="0" indent="0">
              <a:spcBef>
                <a:spcPts val="600"/>
              </a:spcBef>
              <a:spcAft>
                <a:spcPts val="600"/>
              </a:spcAft>
              <a:buNone/>
            </a:pPr>
            <a:r>
              <a:rPr lang="en-IN" dirty="0">
                <a:highlight>
                  <a:srgbClr val="FFFFFF"/>
                </a:highlight>
                <a:latin typeface="Consolas" panose="020B0609020204030204" pitchFamily="49" charset="0"/>
                <a:ea typeface="Calibri" panose="020F0502020204030204" pitchFamily="34" charset="0"/>
                <a:cs typeface="Consolas" panose="020B0609020204030204" pitchFamily="49" charset="0"/>
              </a:rPr>
              <a:t>Q5.D</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isplay all product name having </a:t>
            </a:r>
            <a:r>
              <a:rPr lang="en-IN" sz="1800" dirty="0">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a:t>
            </a:r>
          </a:p>
          <a:p>
            <a:pPr marL="0" indent="0">
              <a:spcBef>
                <a:spcPts val="600"/>
              </a:spcBef>
              <a:spcAft>
                <a:spcPts val="600"/>
              </a:spcAft>
              <a:buNone/>
            </a:pPr>
            <a:r>
              <a:rPr lang="en-IN" sz="1800" dirty="0">
                <a:highlight>
                  <a:srgbClr val="FFFFFF"/>
                </a:highlight>
                <a:latin typeface="Consolas" panose="020B0609020204030204" pitchFamily="49" charset="0"/>
                <a:ea typeface="Calibri" panose="020F0502020204030204" pitchFamily="34" charset="0"/>
                <a:cs typeface="Consolas" panose="020B0609020204030204" pitchFamily="49" charset="0"/>
              </a:rPr>
              <a:t> ascending order</a:t>
            </a:r>
          </a:p>
          <a:p>
            <a:pPr marL="0" indent="0">
              <a:spcBef>
                <a:spcPts val="600"/>
              </a:spcBef>
              <a:spcAft>
                <a:spcPts val="600"/>
              </a:spcAft>
              <a:buNone/>
            </a:pPr>
            <a:r>
              <a:rPr lang="en-IN" dirty="0">
                <a:highlight>
                  <a:srgbClr val="FFFFFF"/>
                </a:highlight>
                <a:latin typeface="Consolas" panose="020B0609020204030204" pitchFamily="49" charset="0"/>
                <a:ea typeface="Calibri" panose="020F0502020204030204" pitchFamily="34" charset="0"/>
                <a:cs typeface="Consolas" panose="020B0609020204030204" pitchFamily="49" charset="0"/>
              </a:rPr>
              <a:t>Q6. D</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isplay all product name having </a:t>
            </a:r>
            <a:r>
              <a:rPr lang="en-IN" sz="1800" dirty="0">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 descending order</a:t>
            </a:r>
          </a:p>
          <a:p>
            <a:pPr marL="0" indent="0">
              <a:spcBef>
                <a:spcPts val="600"/>
              </a:spcBef>
              <a:spcAft>
                <a:spcPts val="600"/>
              </a:spcAft>
              <a:buNone/>
            </a:pPr>
            <a:r>
              <a:rPr lang="en-IN" dirty="0">
                <a:highlight>
                  <a:srgbClr val="FFFFFF"/>
                </a:highlight>
                <a:latin typeface="Consolas" panose="020B0609020204030204" pitchFamily="49" charset="0"/>
                <a:ea typeface="Calibri" panose="020F0502020204030204" pitchFamily="34" charset="0"/>
                <a:cs typeface="Consolas" panose="020B0609020204030204" pitchFamily="49" charset="0"/>
              </a:rPr>
              <a:t>Q7.</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count all product who’s stock is &lt; 100</a:t>
            </a:r>
          </a:p>
          <a:p>
            <a:pPr marL="0" indent="0">
              <a:spcBef>
                <a:spcPts val="600"/>
              </a:spcBef>
              <a:spcAft>
                <a:spcPts val="600"/>
              </a:spcAft>
              <a:buNone/>
            </a:pPr>
            <a:r>
              <a:rPr lang="en-IN" sz="1800" dirty="0">
                <a:highlight>
                  <a:srgbClr val="FFFFFF"/>
                </a:highlight>
                <a:latin typeface="Consolas" panose="020B0609020204030204" pitchFamily="49" charset="0"/>
                <a:ea typeface="Calibri" panose="020F0502020204030204" pitchFamily="34" charset="0"/>
                <a:cs typeface="Consolas" panose="020B0609020204030204" pitchFamily="49" charset="0"/>
              </a:rPr>
              <a:t>Q9. show max min and average value of </a:t>
            </a:r>
            <a:r>
              <a:rPr lang="en-IN" sz="1800" dirty="0" err="1">
                <a:highlight>
                  <a:srgbClr val="FFFFFF"/>
                </a:highlight>
                <a:latin typeface="Consolas" panose="020B0609020204030204" pitchFamily="49" charset="0"/>
                <a:ea typeface="Calibri" panose="020F0502020204030204" pitchFamily="34" charset="0"/>
                <a:cs typeface="Consolas" panose="020B0609020204030204" pitchFamily="49" charset="0"/>
              </a:rPr>
              <a:t>numerinstock</a:t>
            </a:r>
            <a:r>
              <a:rPr lang="en-IN" sz="1800" dirty="0">
                <a:highlight>
                  <a:srgbClr val="FFFFFF"/>
                </a:highlight>
                <a:latin typeface="Consolas" panose="020B0609020204030204" pitchFamily="49" charset="0"/>
                <a:ea typeface="Calibri" panose="020F0502020204030204" pitchFamily="34" charset="0"/>
                <a:cs typeface="Consolas" panose="020B0609020204030204" pitchFamily="49" charset="0"/>
              </a:rPr>
              <a:t>.</a:t>
            </a:r>
          </a:p>
        </p:txBody>
      </p:sp>
    </p:spTree>
    <p:extLst>
      <p:ext uri="{BB962C8B-B14F-4D97-AF65-F5344CB8AC3E}">
        <p14:creationId xmlns:p14="http://schemas.microsoft.com/office/powerpoint/2010/main" val="2029032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145EEBD-225F-451B-8392-67436C10BB52}"/>
              </a:ext>
            </a:extLst>
          </p:cNvPr>
          <p:cNvSpPr>
            <a:spLocks noGrp="1"/>
          </p:cNvSpPr>
          <p:nvPr>
            <p:ph idx="1"/>
          </p:nvPr>
        </p:nvSpPr>
        <p:spPr>
          <a:xfrm>
            <a:off x="76200" y="381000"/>
            <a:ext cx="8763000" cy="6553200"/>
          </a:xfrm>
        </p:spPr>
        <p:txBody>
          <a:bodyPr>
            <a:noAutofit/>
          </a:bodyPr>
          <a:lstStyle/>
          <a:p>
            <a:pPr marL="0" indent="0">
              <a:lnSpc>
                <a:spcPct val="107000"/>
              </a:lnSpc>
              <a:spcAft>
                <a:spcPts val="800"/>
              </a:spcAft>
              <a:buNone/>
            </a:pP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query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 name</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r.Name</a:t>
            </a:r>
            <a:endParaRPr lang="en-IN" sz="105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 part of data as anonymous object</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b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{name=</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r.Name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,des=</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r.Description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p>
          <a:p>
            <a:pPr marL="0" indent="0">
              <a:lnSpc>
                <a:spcPct val="107000"/>
              </a:lnSpc>
              <a:spcAft>
                <a:spcPts val="800"/>
              </a:spcAft>
              <a:buNone/>
            </a:pP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var</a:t>
            </a:r>
            <a:r>
              <a:rPr lang="en-IN" sz="1050" dirty="0">
                <a:solidFill>
                  <a:srgbClr val="000000"/>
                </a:solidFill>
                <a:latin typeface="Cascadia Mono" panose="020B0609020000020004" pitchFamily="49" charset="0"/>
              </a:rPr>
              <a:t> result=  </a:t>
            </a:r>
            <a:r>
              <a:rPr lang="en-IN" sz="1050" dirty="0" err="1">
                <a:solidFill>
                  <a:srgbClr val="000000"/>
                </a:solidFill>
                <a:latin typeface="Cascadia Mono" panose="020B0609020000020004" pitchFamily="49" charset="0"/>
              </a:rPr>
              <a:t>itemsInStock.Select</a:t>
            </a:r>
            <a:r>
              <a:rPr lang="en-IN" sz="1050" dirty="0">
                <a:solidFill>
                  <a:srgbClr val="000000"/>
                </a:solidFill>
                <a:latin typeface="Cascadia Mono" panose="020B0609020000020004" pitchFamily="49" charset="0"/>
              </a:rPr>
              <a:t>(data =&gt; </a:t>
            </a:r>
            <a:r>
              <a:rPr lang="en-IN" sz="1050" dirty="0">
                <a:solidFill>
                  <a:srgbClr val="0000FF"/>
                </a:solidFill>
                <a:latin typeface="Cascadia Mono" panose="020B0609020000020004" pitchFamily="49" charset="0"/>
              </a:rPr>
              <a:t>new</a:t>
            </a:r>
            <a:r>
              <a:rPr lang="en-IN" sz="1050" dirty="0">
                <a:solidFill>
                  <a:srgbClr val="000000"/>
                </a:solidFill>
                <a:latin typeface="Cascadia Mono" panose="020B0609020000020004" pitchFamily="49" charset="0"/>
              </a:rPr>
              <a:t> { name = </a:t>
            </a:r>
            <a:r>
              <a:rPr lang="en-IN" sz="1050" dirty="0" err="1">
                <a:solidFill>
                  <a:srgbClr val="000000"/>
                </a:solidFill>
                <a:latin typeface="Cascadia Mono" panose="020B0609020000020004" pitchFamily="49" charset="0"/>
              </a:rPr>
              <a:t>data.Name</a:t>
            </a:r>
            <a:r>
              <a:rPr lang="en-IN" sz="1050" dirty="0">
                <a:solidFill>
                  <a:srgbClr val="000000"/>
                </a:solidFill>
                <a:latin typeface="Cascadia Mono" panose="020B0609020000020004" pitchFamily="49" charset="0"/>
              </a:rPr>
              <a:t>, des = </a:t>
            </a:r>
            <a:r>
              <a:rPr lang="en-IN" sz="1050" dirty="0" err="1">
                <a:solidFill>
                  <a:srgbClr val="000000"/>
                </a:solidFill>
                <a:latin typeface="Cascadia Mono" panose="020B0609020000020004" pitchFamily="49" charset="0"/>
              </a:rPr>
              <a:t>data.Description</a:t>
            </a:r>
            <a:r>
              <a:rPr lang="en-IN" sz="1050" dirty="0">
                <a:solidFill>
                  <a:srgbClr val="000000"/>
                </a:solidFill>
                <a:latin typeface="Cascadia Mono" panose="020B0609020000020004" pitchFamily="49" charset="0"/>
              </a:rPr>
              <a:t> });</a:t>
            </a: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where  </a:t>
            </a:r>
            <a:r>
              <a:rPr lang="en-IN" sz="1050" dirty="0" err="1">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=100</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p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r.NumberInStock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 100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a:t>
            </a:r>
          </a:p>
          <a:p>
            <a:pPr marL="0" indent="0">
              <a:lnSpc>
                <a:spcPct val="107000"/>
              </a:lnSpc>
              <a:spcAft>
                <a:spcPts val="800"/>
              </a:spcAft>
              <a:buNone/>
            </a:pP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var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aob</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itemsInStock.Where</a:t>
            </a:r>
            <a:r>
              <a:rPr lang="en-IN" sz="1050" dirty="0">
                <a:solidFill>
                  <a:srgbClr val="000000"/>
                </a:solidFill>
                <a:latin typeface="Cascadia Mono" panose="020B0609020000020004" pitchFamily="49" charset="0"/>
              </a:rPr>
              <a:t>(data =&gt; </a:t>
            </a:r>
            <a:r>
              <a:rPr lang="en-IN" sz="1050" dirty="0" err="1">
                <a:solidFill>
                  <a:srgbClr val="000000"/>
                </a:solidFill>
                <a:latin typeface="Cascadia Mono" panose="020B0609020000020004" pitchFamily="49" charset="0"/>
              </a:rPr>
              <a:t>data.NumberInStock</a:t>
            </a:r>
            <a:r>
              <a:rPr lang="en-IN" sz="1050" dirty="0">
                <a:solidFill>
                  <a:srgbClr val="000000"/>
                </a:solidFill>
                <a:latin typeface="Cascadia Mono" panose="020B0609020000020004" pitchFamily="49" charset="0"/>
              </a:rPr>
              <a:t> == 100).Select(data =&gt; </a:t>
            </a:r>
            <a:r>
              <a:rPr lang="en-IN" sz="1050" dirty="0">
                <a:solidFill>
                  <a:srgbClr val="0000FF"/>
                </a:solidFill>
                <a:latin typeface="Cascadia Mono" panose="020B0609020000020004" pitchFamily="49" charset="0"/>
              </a:rPr>
              <a:t>new</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data.Name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data.Description</a:t>
            </a:r>
            <a:r>
              <a:rPr lang="en-IN" sz="1050" dirty="0">
                <a:solidFill>
                  <a:srgbClr val="000000"/>
                </a:solidFill>
                <a:latin typeface="Cascadia Mono" panose="020B0609020000020004" pitchFamily="49" charset="0"/>
              </a:rPr>
              <a:t> });</a:t>
            </a:r>
            <a:endPar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name having </a:t>
            </a:r>
            <a:r>
              <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 ascending order</a:t>
            </a: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g.Name.Contains</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A31515"/>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orderby</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a:t>
            </a: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name having </a:t>
            </a:r>
            <a:r>
              <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 </a:t>
            </a:r>
            <a:r>
              <a:rPr lang="en-IN" sz="1050" dirty="0" err="1">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decending</a:t>
            </a:r>
            <a:r>
              <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 order</a:t>
            </a:r>
          </a:p>
          <a:p>
            <a:pPr marL="0" indent="0">
              <a:lnSpc>
                <a:spcPct val="107000"/>
              </a:lnSpc>
              <a:spcAft>
                <a:spcPts val="800"/>
              </a:spcAft>
              <a:buNone/>
            </a:pP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q1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g.Name.Contains</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A31515"/>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orderby</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descending</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a:t>
            </a:r>
          </a:p>
          <a:p>
            <a:pPr marL="0" indent="0">
              <a:lnSpc>
                <a:spcPct val="107000"/>
              </a:lnSpc>
              <a:spcAft>
                <a:spcPts val="800"/>
              </a:spcAft>
              <a:buNone/>
            </a:pP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var</a:t>
            </a:r>
            <a:r>
              <a:rPr lang="en-IN" sz="1050" dirty="0">
                <a:solidFill>
                  <a:srgbClr val="000000"/>
                </a:solidFill>
                <a:latin typeface="Cascadia Mono" panose="020B0609020000020004" pitchFamily="49" charset="0"/>
              </a:rPr>
              <a:t> r1 = </a:t>
            </a:r>
            <a:r>
              <a:rPr lang="en-IN" sz="1050" dirty="0" err="1">
                <a:solidFill>
                  <a:srgbClr val="000000"/>
                </a:solidFill>
                <a:latin typeface="Cascadia Mono" panose="020B0609020000020004" pitchFamily="49" charset="0"/>
              </a:rPr>
              <a:t>itemsInStock.Where</a:t>
            </a:r>
            <a:r>
              <a:rPr lang="en-IN" sz="1050" dirty="0">
                <a:solidFill>
                  <a:srgbClr val="000000"/>
                </a:solidFill>
                <a:latin typeface="Cascadia Mono" panose="020B0609020000020004" pitchFamily="49" charset="0"/>
              </a:rPr>
              <a:t>(g =&gt; </a:t>
            </a:r>
            <a:r>
              <a:rPr lang="en-IN" sz="1050" dirty="0" err="1">
                <a:solidFill>
                  <a:srgbClr val="000000"/>
                </a:solidFill>
                <a:latin typeface="Cascadia Mono" panose="020B0609020000020004" pitchFamily="49" charset="0"/>
              </a:rPr>
              <a:t>g.Name.Contains</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"S"</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OrderByDescending</a:t>
            </a:r>
            <a:r>
              <a:rPr lang="en-IN" sz="1050" dirty="0">
                <a:solidFill>
                  <a:srgbClr val="000000"/>
                </a:solidFill>
                <a:latin typeface="Cascadia Mono" panose="020B0609020000020004" pitchFamily="49" charset="0"/>
              </a:rPr>
              <a:t>(G =&gt; </a:t>
            </a:r>
            <a:r>
              <a:rPr lang="en-IN" sz="1050" dirty="0" err="1">
                <a:solidFill>
                  <a:srgbClr val="000000"/>
                </a:solidFill>
                <a:latin typeface="Cascadia Mono" panose="020B0609020000020004" pitchFamily="49" charset="0"/>
              </a:rPr>
              <a:t>G.Name</a:t>
            </a:r>
            <a:r>
              <a:rPr lang="en-IN" sz="1050" dirty="0">
                <a:solidFill>
                  <a:srgbClr val="000000"/>
                </a:solidFill>
                <a:latin typeface="Cascadia Mono" panose="020B0609020000020004" pitchFamily="49" charset="0"/>
              </a:rPr>
              <a:t>).Select(g =&gt; g);</a:t>
            </a:r>
            <a:endParaRPr lang="en-IN" sz="1050" dirty="0">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/count all product who’s stock is &lt; 100</a:t>
            </a:r>
            <a:endPar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o = </a:t>
            </a:r>
            <a:r>
              <a:rPr lang="en-IN" sz="1050" b="1" dirty="0">
                <a:solidFill>
                  <a:srgbClr val="FF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&lt; 100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a:t>
            </a:r>
            <a:r>
              <a:rPr lang="en-IN" sz="1050" b="1" dirty="0">
                <a:solidFill>
                  <a:srgbClr val="FF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.Count();</a:t>
            </a:r>
          </a:p>
          <a:p>
            <a:pPr marL="0" indent="0">
              <a:lnSpc>
                <a:spcPct val="107000"/>
              </a:lnSpc>
              <a:spcAft>
                <a:spcPts val="800"/>
              </a:spcAft>
              <a:buNone/>
            </a:pP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var</a:t>
            </a:r>
            <a:r>
              <a:rPr lang="en-US" sz="1050" dirty="0">
                <a:solidFill>
                  <a:srgbClr val="000000"/>
                </a:solidFill>
                <a:latin typeface="Cascadia Mono" panose="020B0609020000020004" pitchFamily="49" charset="0"/>
              </a:rPr>
              <a:t> method = </a:t>
            </a:r>
            <a:r>
              <a:rPr lang="en-US" sz="1050" b="1" dirty="0">
                <a:solidFill>
                  <a:srgbClr val="FF0000"/>
                </a:solidFill>
                <a:highlight>
                  <a:srgbClr val="FFFFFF"/>
                </a:highlight>
                <a:latin typeface="Consolas" panose="020B0609020204030204" pitchFamily="49" charset="0"/>
              </a:rPr>
              <a:t>(</a:t>
            </a:r>
            <a:r>
              <a:rPr lang="en-US" sz="1050" dirty="0" err="1">
                <a:solidFill>
                  <a:srgbClr val="000000"/>
                </a:solidFill>
                <a:latin typeface="Cascadia Mono" panose="020B0609020000020004" pitchFamily="49" charset="0"/>
              </a:rPr>
              <a:t>itemsInStock.Where</a:t>
            </a:r>
            <a:r>
              <a:rPr lang="en-US" sz="1050" dirty="0">
                <a:solidFill>
                  <a:srgbClr val="00B050"/>
                </a:solidFill>
                <a:latin typeface="Cascadia Mono" panose="020B0609020000020004" pitchFamily="49" charset="0"/>
              </a:rPr>
              <a:t>(</a:t>
            </a:r>
            <a:r>
              <a:rPr lang="en-US" sz="1050" dirty="0">
                <a:solidFill>
                  <a:srgbClr val="000000"/>
                </a:solidFill>
                <a:latin typeface="Cascadia Mono" panose="020B0609020000020004" pitchFamily="49" charset="0"/>
              </a:rPr>
              <a:t>stock =&gt; </a:t>
            </a:r>
            <a:r>
              <a:rPr lang="en-US" sz="1050" dirty="0" err="1">
                <a:solidFill>
                  <a:srgbClr val="000000"/>
                </a:solidFill>
                <a:latin typeface="Cascadia Mono" panose="020B0609020000020004" pitchFamily="49" charset="0"/>
              </a:rPr>
              <a:t>stock.NumberInStock</a:t>
            </a:r>
            <a:r>
              <a:rPr lang="en-US" sz="1050" dirty="0">
                <a:solidFill>
                  <a:srgbClr val="000000"/>
                </a:solidFill>
                <a:latin typeface="Cascadia Mono" panose="020B0609020000020004" pitchFamily="49" charset="0"/>
              </a:rPr>
              <a:t> &lt; 100</a:t>
            </a:r>
            <a:r>
              <a:rPr lang="en-US" sz="1050" b="1" dirty="0">
                <a:solidFill>
                  <a:srgbClr val="00B050"/>
                </a:solidFill>
                <a:highlight>
                  <a:srgbClr val="FFFFFF"/>
                </a:highlight>
                <a:latin typeface="Consolas" panose="020B0609020204030204" pitchFamily="49" charset="0"/>
              </a:rPr>
              <a:t>)</a:t>
            </a:r>
            <a:r>
              <a:rPr lang="en-US" sz="1050" dirty="0">
                <a:solidFill>
                  <a:srgbClr val="000000"/>
                </a:solidFill>
                <a:latin typeface="Cascadia Mono" panose="020B0609020000020004" pitchFamily="49" charset="0"/>
              </a:rPr>
              <a:t>.Select(stock =&gt; stock)</a:t>
            </a:r>
            <a:r>
              <a:rPr lang="en-US" sz="1050" dirty="0">
                <a:solidFill>
                  <a:srgbClr val="FF0000"/>
                </a:solidFill>
                <a:latin typeface="Cascadia Mono" panose="020B0609020000020004" pitchFamily="49" charset="0"/>
              </a:rPr>
              <a:t>)</a:t>
            </a:r>
            <a:r>
              <a:rPr lang="en-US" sz="1050" dirty="0">
                <a:solidFill>
                  <a:srgbClr val="000000"/>
                </a:solidFill>
                <a:latin typeface="Cascadia Mono" panose="020B0609020000020004" pitchFamily="49" charset="0"/>
              </a:rPr>
              <a:t>.Count();</a:t>
            </a:r>
            <a:endPar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max min and average value of </a:t>
            </a:r>
            <a:r>
              <a:rPr lang="en-IN" sz="1050" dirty="0" err="1">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numerinstock</a:t>
            </a:r>
            <a:r>
              <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 variable.</a:t>
            </a: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 = </a:t>
            </a:r>
            <a:r>
              <a:rPr lang="en-IN" sz="1050" b="1" dirty="0">
                <a:solidFill>
                  <a:srgbClr val="FF0000"/>
                </a:solidFill>
                <a:highlight>
                  <a:srgbClr val="FFFFFF"/>
                </a:highlight>
                <a:latin typeface="Consolas" panose="020B0609020204030204" pitchFamily="49" charset="0"/>
              </a:rPr>
              <a:t>(</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b="1" dirty="0">
                <a:solidFill>
                  <a:srgbClr val="FF0000"/>
                </a:solidFill>
                <a:highlight>
                  <a:srgbClr val="FFFFFF"/>
                </a:highlight>
                <a:latin typeface="Consolas" panose="020B0609020204030204" pitchFamily="49" charset="0"/>
              </a:rPr>
              <a: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.Max();</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min = </a:t>
            </a:r>
            <a:r>
              <a:rPr lang="en-IN" sz="1050" b="1" dirty="0">
                <a:solidFill>
                  <a:srgbClr val="FF0000"/>
                </a:solidFill>
                <a:highlight>
                  <a:srgbClr val="FFFFFF"/>
                </a:highlight>
                <a:latin typeface="Consolas" panose="020B0609020204030204" pitchFamily="49" charset="0"/>
              </a:rPr>
              <a:t>(</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b="1" dirty="0">
                <a:solidFill>
                  <a:srgbClr val="FF0000"/>
                </a:solidFill>
                <a:highlight>
                  <a:srgbClr val="FFFFFF"/>
                </a:highlight>
                <a:latin typeface="Consolas" panose="020B0609020204030204" pitchFamily="49" charset="0"/>
              </a:rPr>
              <a: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Min();</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avg</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IN" sz="1050" b="1" dirty="0">
                <a:solidFill>
                  <a:srgbClr val="FF0000"/>
                </a:solidFill>
                <a:highlight>
                  <a:srgbClr val="FFFFFF"/>
                </a:highlight>
                <a:latin typeface="Consolas" panose="020B0609020204030204" pitchFamily="49" charset="0"/>
              </a:rPr>
              <a:t>(</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b="1" dirty="0">
                <a:solidFill>
                  <a:srgbClr val="FF0000"/>
                </a:solidFill>
                <a:highlight>
                  <a:srgbClr val="FFFFFF"/>
                </a:highlight>
                <a:latin typeface="Consolas" panose="020B0609020204030204" pitchFamily="49" charset="0"/>
              </a:rPr>
              <a: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.Average();</a:t>
            </a:r>
            <a:endParaRPr lang="en-IN" sz="1050" dirty="0"/>
          </a:p>
        </p:txBody>
      </p:sp>
    </p:spTree>
    <p:extLst>
      <p:ext uri="{BB962C8B-B14F-4D97-AF65-F5344CB8AC3E}">
        <p14:creationId xmlns:p14="http://schemas.microsoft.com/office/powerpoint/2010/main" val="2741977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0F506AAE-4893-458C-A3C7-600D280659BB}"/>
              </a:ext>
            </a:extLst>
          </p:cNvPr>
          <p:cNvSpPr txBox="1"/>
          <p:nvPr/>
        </p:nvSpPr>
        <p:spPr>
          <a:xfrm>
            <a:off x="381000" y="2590800"/>
            <a:ext cx="8382000" cy="2800767"/>
          </a:xfrm>
          <a:prstGeom prst="rect">
            <a:avLst/>
          </a:prstGeom>
          <a:noFill/>
        </p:spPr>
        <p:txBody>
          <a:bodyPr wrap="square">
            <a:spAutoFit/>
          </a:bodyPr>
          <a:lstStyle/>
          <a:p>
            <a:r>
              <a:rPr lang="en-US" dirty="0">
                <a:solidFill>
                  <a:srgbClr val="0000FF"/>
                </a:solidFill>
                <a:highlight>
                  <a:srgbClr val="FFFFFF"/>
                </a:highlight>
                <a:latin typeface="Consolas" panose="020B0609020204030204" pitchFamily="49" charset="0"/>
              </a:rPr>
              <a:t>var</a:t>
            </a:r>
            <a:r>
              <a:rPr lang="en-US" dirty="0">
                <a:solidFill>
                  <a:srgbClr val="000000"/>
                </a:solidFill>
                <a:highlight>
                  <a:srgbClr val="FFFFFF"/>
                </a:highlight>
                <a:latin typeface="Consolas" panose="020B0609020204030204" pitchFamily="49" charset="0"/>
              </a:rPr>
              <a:t> result= </a:t>
            </a:r>
            <a:r>
              <a:rPr lang="en-US" dirty="0" err="1">
                <a:solidFill>
                  <a:srgbClr val="000000"/>
                </a:solidFill>
                <a:highlight>
                  <a:srgbClr val="FFFFFF"/>
                </a:highlight>
                <a:latin typeface="Consolas" panose="020B0609020204030204" pitchFamily="49" charset="0"/>
              </a:rPr>
              <a:t>itemsInStock.Select</a:t>
            </a:r>
            <a:r>
              <a:rPr lang="en-US" dirty="0">
                <a:solidFill>
                  <a:srgbClr val="000000"/>
                </a:solidFill>
                <a:highlight>
                  <a:srgbClr val="FFFFFF"/>
                </a:highlight>
                <a:latin typeface="Consolas" panose="020B0609020204030204" pitchFamily="49" charset="0"/>
              </a:rPr>
              <a:t>(a=&gt;a);</a:t>
            </a:r>
          </a:p>
          <a:p>
            <a:endParaRPr lang="en-IN" sz="1800" dirty="0">
              <a:solidFill>
                <a:srgbClr val="000000"/>
              </a:solidFill>
              <a:highlight>
                <a:srgbClr val="FFFFFF"/>
              </a:highlight>
              <a:latin typeface="Consolas" panose="020B0609020204030204" pitchFamily="49" charset="0"/>
            </a:endParaRPr>
          </a:p>
          <a:p>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IEnumerable</a:t>
            </a:r>
            <a:r>
              <a:rPr lang="en-US" sz="1800" dirty="0">
                <a:solidFill>
                  <a:srgbClr val="000000"/>
                </a:solidFill>
                <a:highlight>
                  <a:srgbClr val="FFFFFF"/>
                </a:highlight>
                <a:latin typeface="Consolas" panose="020B0609020204030204" pitchFamily="49" charset="0"/>
              </a:rPr>
              <a:t>&lt;</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&gt; name=</a:t>
            </a:r>
            <a:r>
              <a:rPr lang="en-US" sz="1800" dirty="0" err="1">
                <a:solidFill>
                  <a:srgbClr val="000000"/>
                </a:solidFill>
                <a:highlight>
                  <a:srgbClr val="FFFFFF"/>
                </a:highlight>
                <a:latin typeface="Consolas" panose="020B0609020204030204" pitchFamily="49" charset="0"/>
              </a:rPr>
              <a:t>itemsInStock.Select</a:t>
            </a:r>
            <a:r>
              <a:rPr lang="en-US" sz="1800" dirty="0">
                <a:solidFill>
                  <a:srgbClr val="000000"/>
                </a:solidFill>
                <a:highlight>
                  <a:srgbClr val="FFFFFF"/>
                </a:highlight>
                <a:latin typeface="Consolas" panose="020B0609020204030204" pitchFamily="49" charset="0"/>
              </a:rPr>
              <a:t>(a =&gt; </a:t>
            </a:r>
            <a:r>
              <a:rPr lang="en-US" sz="1800" dirty="0" err="1">
                <a:solidFill>
                  <a:srgbClr val="000000"/>
                </a:solidFill>
                <a:highlight>
                  <a:srgbClr val="FFFFFF"/>
                </a:highlight>
                <a:latin typeface="Consolas" panose="020B0609020204030204" pitchFamily="49" charset="0"/>
              </a:rPr>
              <a:t>a.Name</a:t>
            </a:r>
            <a:r>
              <a:rPr lang="en-US" sz="1800" dirty="0">
                <a:solidFill>
                  <a:srgbClr val="000000"/>
                </a:solidFill>
                <a:highlight>
                  <a:srgbClr val="FFFFFF"/>
                </a:highlight>
                <a:latin typeface="Consolas" panose="020B0609020204030204" pitchFamily="49" charset="0"/>
              </a:rPr>
              <a:t>);</a:t>
            </a:r>
          </a:p>
          <a:p>
            <a:endParaRPr lang="en-US" sz="1800"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itemsInStock.Select</a:t>
            </a:r>
            <a:r>
              <a:rPr lang="en-US" sz="1800" dirty="0">
                <a:solidFill>
                  <a:srgbClr val="000000"/>
                </a:solidFill>
                <a:latin typeface="Consolas" panose="020B0609020204030204" pitchFamily="49" charset="0"/>
              </a:rPr>
              <a:t>((data) =&gt; data).Max();</a:t>
            </a:r>
          </a:p>
          <a:p>
            <a:endParaRPr lang="en-US" dirty="0">
              <a:solidFill>
                <a:srgbClr val="000000"/>
              </a:solidFill>
              <a:latin typeface="Consolas" panose="020B0609020204030204" pitchFamily="49" charset="0"/>
            </a:endParaRPr>
          </a:p>
          <a:p>
            <a:endParaRPr lang="en-US" sz="1800" dirty="0">
              <a:solidFill>
                <a:srgbClr val="000000"/>
              </a:solidFill>
              <a:latin typeface="Consolas" panose="020B0609020204030204" pitchFamily="49" charset="0"/>
            </a:endParaRPr>
          </a:p>
          <a:p>
            <a:endParaRPr lang="en-US" sz="1100" dirty="0">
              <a:solidFill>
                <a:srgbClr val="000000"/>
              </a:solidFill>
              <a:latin typeface="Consolas" panose="020B0609020204030204" pitchFamily="49" charset="0"/>
            </a:endParaRPr>
          </a:p>
          <a:p>
            <a:r>
              <a:rPr lang="en-IN" sz="1100" dirty="0" err="1">
                <a:solidFill>
                  <a:srgbClr val="000000"/>
                </a:solidFill>
                <a:latin typeface="Consolas" panose="020B0609020204030204" pitchFamily="49" charset="0"/>
              </a:rPr>
              <a:t>itemsInStock.Where</a:t>
            </a:r>
            <a:r>
              <a:rPr lang="en-IN" sz="1100" dirty="0">
                <a:solidFill>
                  <a:srgbClr val="000000"/>
                </a:solidFill>
                <a:latin typeface="Consolas" panose="020B0609020204030204" pitchFamily="49" charset="0"/>
              </a:rPr>
              <a:t>((</a:t>
            </a:r>
            <a:r>
              <a:rPr lang="en-IN" sz="1100" dirty="0" err="1">
                <a:solidFill>
                  <a:srgbClr val="000000"/>
                </a:solidFill>
                <a:latin typeface="Consolas" panose="020B0609020204030204" pitchFamily="49" charset="0"/>
              </a:rPr>
              <a:t>arr</a:t>
            </a:r>
            <a:r>
              <a:rPr lang="en-IN" sz="1100" dirty="0">
                <a:solidFill>
                  <a:srgbClr val="000000"/>
                </a:solidFill>
                <a:latin typeface="Consolas" panose="020B0609020204030204" pitchFamily="49" charset="0"/>
              </a:rPr>
              <a:t>) =&gt; </a:t>
            </a:r>
            <a:r>
              <a:rPr lang="en-IN" sz="1100" dirty="0" err="1">
                <a:solidFill>
                  <a:srgbClr val="000000"/>
                </a:solidFill>
                <a:latin typeface="Consolas" panose="020B0609020204030204" pitchFamily="49" charset="0"/>
              </a:rPr>
              <a:t>arr.Name.Contains</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's'</a:t>
            </a:r>
            <a:r>
              <a:rPr lang="en-IN" sz="1100" dirty="0">
                <a:solidFill>
                  <a:srgbClr val="000000"/>
                </a:solidFill>
                <a:latin typeface="Consolas" panose="020B0609020204030204" pitchFamily="49" charset="0"/>
              </a:rPr>
              <a:t>)).</a:t>
            </a:r>
            <a:r>
              <a:rPr lang="en-IN" sz="1100" dirty="0" err="1">
                <a:solidFill>
                  <a:srgbClr val="000000"/>
                </a:solidFill>
                <a:latin typeface="Consolas" panose="020B0609020204030204" pitchFamily="49" charset="0"/>
              </a:rPr>
              <a:t>OrderByDescending</a:t>
            </a:r>
            <a:r>
              <a:rPr lang="en-IN" sz="1100" dirty="0">
                <a:solidFill>
                  <a:srgbClr val="000000"/>
                </a:solidFill>
                <a:latin typeface="Consolas" panose="020B0609020204030204" pitchFamily="49" charset="0"/>
              </a:rPr>
              <a:t>((data) =&gt; data).Select((r) =&gt; r);</a:t>
            </a:r>
            <a:endParaRPr lang="en-US" sz="1100" dirty="0">
              <a:solidFill>
                <a:srgbClr val="000000"/>
              </a:solidFill>
              <a:highlight>
                <a:srgbClr val="FFFFFF"/>
              </a:highlight>
              <a:latin typeface="Consolas" panose="020B0609020204030204" pitchFamily="49" charset="0"/>
            </a:endParaRPr>
          </a:p>
          <a:p>
            <a:endParaRPr lang="en-US" sz="2800" dirty="0">
              <a:solidFill>
                <a:srgbClr val="000000"/>
              </a:solidFill>
              <a:highlight>
                <a:srgbClr val="FFFFFF"/>
              </a:highlight>
              <a:latin typeface="Consolas" panose="020B0609020204030204" pitchFamily="49" charset="0"/>
            </a:endParaRPr>
          </a:p>
        </p:txBody>
      </p:sp>
      <p:sp>
        <p:nvSpPr>
          <p:cNvPr id="6" name="TextBox 5">
            <a:extLst>
              <a:ext uri="{FF2B5EF4-FFF2-40B4-BE49-F238E27FC236}">
                <a16:creationId xmlns:a16="http://schemas.microsoft.com/office/drawing/2014/main" xmlns="" id="{40811698-A2F3-A29D-26E7-88F94BAA534A}"/>
              </a:ext>
            </a:extLst>
          </p:cNvPr>
          <p:cNvSpPr txBox="1"/>
          <p:nvPr/>
        </p:nvSpPr>
        <p:spPr>
          <a:xfrm>
            <a:off x="304800" y="740864"/>
            <a:ext cx="8382000" cy="117057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 =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Max</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data=&gt;data.</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min =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Min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data=&gt;data.</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avg</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Average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data=&gt;data.</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IN" dirty="0"/>
          </a:p>
        </p:txBody>
      </p:sp>
    </p:spTree>
    <p:extLst>
      <p:ext uri="{BB962C8B-B14F-4D97-AF65-F5344CB8AC3E}">
        <p14:creationId xmlns:p14="http://schemas.microsoft.com/office/powerpoint/2010/main" val="2079693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145EEBD-225F-451B-8392-67436C10BB52}"/>
              </a:ext>
            </a:extLst>
          </p:cNvPr>
          <p:cNvSpPr>
            <a:spLocks noGrp="1"/>
          </p:cNvSpPr>
          <p:nvPr>
            <p:ph idx="1"/>
          </p:nvPr>
        </p:nvSpPr>
        <p:spPr>
          <a:xfrm>
            <a:off x="76200" y="381000"/>
            <a:ext cx="8458200" cy="5668963"/>
          </a:xfrm>
        </p:spPr>
        <p:txBody>
          <a:bodyPr>
            <a:normAutofit fontScale="62500" lnSpcReduction="20000"/>
          </a:bodyPr>
          <a:lstStyle/>
          <a:p>
            <a:pPr marL="0" indent="0">
              <a:lnSpc>
                <a:spcPct val="107000"/>
              </a:lnSpc>
              <a:spcAft>
                <a:spcPts val="800"/>
              </a:spcAft>
              <a:buNone/>
            </a:pP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query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 name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r.Name</a:t>
            </a:r>
            <a:endParaRPr lang="en-IN" sz="18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 part of data as anonymous object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b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{name=</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r.Name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,des=</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r.Description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p>
          <a:p>
            <a:pPr marL="0" indent="0">
              <a:lnSpc>
                <a:spcPct val="107000"/>
              </a:lnSpc>
              <a:spcAft>
                <a:spcPts val="800"/>
              </a:spcAft>
              <a:buNone/>
            </a:pP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var</a:t>
            </a:r>
            <a:r>
              <a:rPr lang="en-IN" sz="1800" dirty="0">
                <a:solidFill>
                  <a:srgbClr val="000000"/>
                </a:solidFill>
                <a:latin typeface="Cascadia Mono" panose="020B0609020000020004" pitchFamily="49" charset="0"/>
              </a:rPr>
              <a:t> result=  </a:t>
            </a:r>
            <a:r>
              <a:rPr lang="en-IN" sz="1800" dirty="0" err="1">
                <a:solidFill>
                  <a:srgbClr val="000000"/>
                </a:solidFill>
                <a:latin typeface="Cascadia Mono" panose="020B0609020000020004" pitchFamily="49" charset="0"/>
              </a:rPr>
              <a:t>itemsInStock.Select</a:t>
            </a:r>
            <a:r>
              <a:rPr lang="en-IN" sz="1800" dirty="0">
                <a:solidFill>
                  <a:srgbClr val="000000"/>
                </a:solidFill>
                <a:latin typeface="Cascadia Mono" panose="020B0609020000020004" pitchFamily="49" charset="0"/>
              </a:rPr>
              <a:t>(data =&gt; </a:t>
            </a:r>
            <a:r>
              <a:rPr lang="en-IN" sz="1800" dirty="0">
                <a:solidFill>
                  <a:srgbClr val="0000FF"/>
                </a:solidFill>
                <a:latin typeface="Cascadia Mono" panose="020B0609020000020004" pitchFamily="49" charset="0"/>
              </a:rPr>
              <a:t>new</a:t>
            </a:r>
            <a:r>
              <a:rPr lang="en-IN" sz="1800" dirty="0">
                <a:solidFill>
                  <a:srgbClr val="000000"/>
                </a:solidFill>
                <a:latin typeface="Cascadia Mono" panose="020B0609020000020004" pitchFamily="49" charset="0"/>
              </a:rPr>
              <a:t> { name = </a:t>
            </a:r>
            <a:r>
              <a:rPr lang="en-IN" sz="1800" dirty="0" err="1">
                <a:solidFill>
                  <a:srgbClr val="000000"/>
                </a:solidFill>
                <a:latin typeface="Cascadia Mono" panose="020B0609020000020004" pitchFamily="49" charset="0"/>
              </a:rPr>
              <a:t>data.Name</a:t>
            </a:r>
            <a:r>
              <a:rPr lang="en-IN" sz="1800" dirty="0">
                <a:solidFill>
                  <a:srgbClr val="000000"/>
                </a:solidFill>
                <a:latin typeface="Cascadia Mono" panose="020B0609020000020004" pitchFamily="49" charset="0"/>
              </a:rPr>
              <a:t>, des = </a:t>
            </a:r>
            <a:r>
              <a:rPr lang="en-IN" sz="1800" dirty="0" err="1">
                <a:solidFill>
                  <a:srgbClr val="000000"/>
                </a:solidFill>
                <a:latin typeface="Cascadia Mono" panose="020B0609020000020004" pitchFamily="49" charset="0"/>
              </a:rPr>
              <a:t>data.Description</a:t>
            </a:r>
            <a:r>
              <a:rPr lang="en-IN" sz="1800" dirty="0">
                <a:solidFill>
                  <a:srgbClr val="000000"/>
                </a:solidFill>
                <a:latin typeface="Cascadia Mono" panose="020B0609020000020004" pitchFamily="49" charset="0"/>
              </a:rPr>
              <a:t> });</a:t>
            </a:r>
            <a:endPar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where  </a:t>
            </a:r>
            <a:r>
              <a:rPr lang="en-IN" sz="1800" dirty="0" err="1">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=100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p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 100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a:t>
            </a: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name having </a:t>
            </a:r>
            <a:r>
              <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 ascending order</a:t>
            </a: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g.Name.Contains</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A31515"/>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orderby</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a:t>
            </a: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name having </a:t>
            </a:r>
            <a:r>
              <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 </a:t>
            </a:r>
            <a:r>
              <a:rPr lang="en-IN" sz="1800" dirty="0" err="1">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decending</a:t>
            </a:r>
            <a:r>
              <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 order</a:t>
            </a:r>
          </a:p>
          <a:p>
            <a:pPr marL="0" indent="0">
              <a:lnSpc>
                <a:spcPct val="107000"/>
              </a:lnSpc>
              <a:spcAft>
                <a:spcPts val="800"/>
              </a:spcAft>
              <a:buNone/>
            </a:pP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q1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g.Name.Contains</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A31515"/>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orderby</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descending</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a:t>
            </a:r>
            <a:endParaRPr lang="en-IN" sz="1800" dirty="0">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/count all product who’s stock is &lt; 100</a:t>
            </a:r>
            <a:endPar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o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&lt; 100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g).Count();</a:t>
            </a: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max min and average value of </a:t>
            </a:r>
            <a:r>
              <a:rPr lang="en-IN" sz="1800" dirty="0" err="1">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numerinstock</a:t>
            </a:r>
            <a:r>
              <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 variable.</a:t>
            </a: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).Max();</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min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).Min();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avg</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).Average();</a:t>
            </a:r>
            <a:endParaRPr lang="en-IN" dirty="0"/>
          </a:p>
        </p:txBody>
      </p:sp>
    </p:spTree>
    <p:extLst>
      <p:ext uri="{BB962C8B-B14F-4D97-AF65-F5344CB8AC3E}">
        <p14:creationId xmlns:p14="http://schemas.microsoft.com/office/powerpoint/2010/main" val="3462833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6657EA6-53A8-4D00-A366-C47BDDE7A27F}"/>
              </a:ext>
            </a:extLst>
          </p:cNvPr>
          <p:cNvSpPr>
            <a:spLocks noGrp="1"/>
          </p:cNvSpPr>
          <p:nvPr>
            <p:ph idx="1"/>
          </p:nvPr>
        </p:nvSpPr>
        <p:spPr>
          <a:xfrm>
            <a:off x="0" y="1600200"/>
            <a:ext cx="9067800" cy="4525963"/>
          </a:xfrm>
        </p:spPr>
        <p:txBody>
          <a:bodyPr/>
          <a:lstStyle/>
          <a:p>
            <a:r>
              <a:rPr lang="en-IN" dirty="0"/>
              <a:t>Display name of product who’s  </a:t>
            </a:r>
            <a:r>
              <a:rPr lang="en-IN" sz="32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32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is max</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var</a:t>
            </a:r>
            <a:r>
              <a:rPr lang="en-US" sz="1800" dirty="0">
                <a:solidFill>
                  <a:srgbClr val="000000"/>
                </a:solidFill>
                <a:highlight>
                  <a:srgbClr val="FFFFFF"/>
                </a:highlight>
                <a:latin typeface="Consolas" panose="020B0609020204030204" pitchFamily="49" charset="0"/>
              </a:rPr>
              <a:t> result=  (</a:t>
            </a:r>
            <a:r>
              <a:rPr lang="en-US" sz="1800" dirty="0">
                <a:solidFill>
                  <a:srgbClr val="0000FF"/>
                </a:solidFill>
                <a:highlight>
                  <a:srgbClr val="FFFFFF"/>
                </a:highlight>
                <a:latin typeface="Consolas" panose="020B0609020204030204" pitchFamily="49" charset="0"/>
              </a:rPr>
              <a:t>from</a:t>
            </a:r>
            <a:r>
              <a:rPr lang="en-US" sz="1800" dirty="0">
                <a:solidFill>
                  <a:srgbClr val="000000"/>
                </a:solidFill>
                <a:highlight>
                  <a:srgbClr val="FFFFFF"/>
                </a:highlight>
                <a:latin typeface="Consolas" panose="020B0609020204030204" pitchFamily="49" charset="0"/>
              </a:rPr>
              <a:t> r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itemsInStock</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r.NumberInStock</a:t>
            </a:r>
            <a:r>
              <a:rPr lang="en-US" sz="1800" dirty="0">
                <a:solidFill>
                  <a:srgbClr val="000000"/>
                </a:solidFill>
                <a:highlight>
                  <a:srgbClr val="FFFFFF"/>
                </a:highlight>
                <a:latin typeface="Consolas" panose="020B0609020204030204" pitchFamily="49" charset="0"/>
              </a:rPr>
              <a:t>).Max();</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var</a:t>
            </a:r>
            <a:r>
              <a:rPr lang="en-US" sz="1800" dirty="0">
                <a:solidFill>
                  <a:srgbClr val="000000"/>
                </a:solidFill>
                <a:highlight>
                  <a:srgbClr val="FFFFFF"/>
                </a:highlight>
                <a:latin typeface="Consolas" panose="020B0609020204030204" pitchFamily="49" charset="0"/>
              </a:rPr>
              <a:t> emp = </a:t>
            </a:r>
            <a:r>
              <a:rPr lang="en-US" sz="1800" dirty="0">
                <a:solidFill>
                  <a:srgbClr val="0000FF"/>
                </a:solidFill>
                <a:highlight>
                  <a:srgbClr val="FFFFFF"/>
                </a:highlight>
                <a:latin typeface="Consolas" panose="020B0609020204030204" pitchFamily="49" charset="0"/>
              </a:rPr>
              <a:t>from</a:t>
            </a:r>
            <a:r>
              <a:rPr lang="en-US" sz="1800" dirty="0">
                <a:solidFill>
                  <a:srgbClr val="000000"/>
                </a:solidFill>
                <a:highlight>
                  <a:srgbClr val="FFFFFF"/>
                </a:highlight>
                <a:latin typeface="Consolas" panose="020B0609020204030204" pitchFamily="49" charset="0"/>
              </a:rPr>
              <a:t> r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itemsInStock</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where</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r.NumberInStock</a:t>
            </a:r>
            <a:r>
              <a:rPr lang="en-US" sz="1800" dirty="0">
                <a:solidFill>
                  <a:srgbClr val="000000"/>
                </a:solidFill>
                <a:highlight>
                  <a:srgbClr val="FFFFFF"/>
                </a:highlight>
                <a:latin typeface="Consolas" panose="020B0609020204030204" pitchFamily="49" charset="0"/>
              </a:rPr>
              <a:t> == result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r;</a:t>
            </a:r>
          </a:p>
          <a:p>
            <a:pPr marL="0" indent="0">
              <a:buNone/>
            </a:pPr>
            <a:r>
              <a:rPr lang="sv-SE" sz="1800" dirty="0">
                <a:solidFill>
                  <a:srgbClr val="000000"/>
                </a:solidFill>
                <a:highlight>
                  <a:srgbClr val="FFFFFF"/>
                </a:highlight>
                <a:latin typeface="Consolas" panose="020B0609020204030204" pitchFamily="49" charset="0"/>
              </a:rPr>
              <a:t>      </a:t>
            </a:r>
            <a:r>
              <a:rPr lang="sv-SE" sz="1800" dirty="0">
                <a:solidFill>
                  <a:srgbClr val="0000FF"/>
                </a:solidFill>
                <a:highlight>
                  <a:srgbClr val="FFFFFF"/>
                </a:highlight>
                <a:latin typeface="Consolas" panose="020B0609020204030204" pitchFamily="49" charset="0"/>
              </a:rPr>
              <a:t>foreach</a:t>
            </a:r>
            <a:r>
              <a:rPr lang="sv-SE" sz="1800" dirty="0">
                <a:solidFill>
                  <a:srgbClr val="000000"/>
                </a:solidFill>
                <a:highlight>
                  <a:srgbClr val="FFFFFF"/>
                </a:highlight>
                <a:latin typeface="Consolas" panose="020B0609020204030204" pitchFamily="49" charset="0"/>
              </a:rPr>
              <a:t> (</a:t>
            </a:r>
            <a:r>
              <a:rPr lang="sv-SE" sz="1800" dirty="0">
                <a:solidFill>
                  <a:srgbClr val="0000FF"/>
                </a:solidFill>
                <a:highlight>
                  <a:srgbClr val="FFFFFF"/>
                </a:highlight>
                <a:latin typeface="Consolas" panose="020B0609020204030204" pitchFamily="49" charset="0"/>
              </a:rPr>
              <a:t>var</a:t>
            </a:r>
            <a:r>
              <a:rPr lang="sv-SE" sz="1800" dirty="0">
                <a:solidFill>
                  <a:srgbClr val="000000"/>
                </a:solidFill>
                <a:highlight>
                  <a:srgbClr val="FFFFFF"/>
                </a:highlight>
                <a:latin typeface="Consolas" panose="020B0609020204030204" pitchFamily="49" charset="0"/>
              </a:rPr>
              <a:t> n </a:t>
            </a:r>
            <a:r>
              <a:rPr lang="sv-SE" sz="1800" dirty="0">
                <a:solidFill>
                  <a:srgbClr val="0000FF"/>
                </a:solidFill>
                <a:highlight>
                  <a:srgbClr val="FFFFFF"/>
                </a:highlight>
                <a:latin typeface="Consolas" panose="020B0609020204030204" pitchFamily="49" charset="0"/>
              </a:rPr>
              <a:t>in</a:t>
            </a:r>
            <a:r>
              <a:rPr lang="sv-SE" sz="1800" dirty="0">
                <a:solidFill>
                  <a:srgbClr val="000000"/>
                </a:solidFill>
                <a:highlight>
                  <a:srgbClr val="FFFFFF"/>
                </a:highlight>
                <a:latin typeface="Consolas" panose="020B0609020204030204" pitchFamily="49" charset="0"/>
              </a:rPr>
              <a:t> emp)</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"{0} {1} {2}"</a:t>
            </a:r>
            <a:r>
              <a:rPr lang="en-IN" sz="1800" dirty="0">
                <a:solidFill>
                  <a:srgbClr val="000000"/>
                </a:solidFill>
                <a:highlight>
                  <a:srgbClr val="FFFFFF"/>
                </a:highlight>
                <a:latin typeface="Consolas" panose="020B0609020204030204" pitchFamily="49" charset="0"/>
              </a:rPr>
              <a:t>,</a:t>
            </a:r>
            <a:r>
              <a:rPr lang="en-IN" sz="1800" dirty="0" err="1">
                <a:solidFill>
                  <a:srgbClr val="000000"/>
                </a:solidFill>
                <a:highlight>
                  <a:srgbClr val="FFFFFF"/>
                </a:highlight>
                <a:latin typeface="Consolas" panose="020B0609020204030204" pitchFamily="49" charset="0"/>
              </a:rPr>
              <a:t>n.Name</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n.NumberInStock</a:t>
            </a:r>
            <a:r>
              <a:rPr lang="en-IN" sz="1800" dirty="0">
                <a:solidFill>
                  <a:srgbClr val="000000"/>
                </a:solidFill>
                <a:highlight>
                  <a:srgbClr val="FFFFFF"/>
                </a:highlight>
                <a:latin typeface="Consolas" panose="020B0609020204030204" pitchFamily="49" charset="0"/>
              </a:rPr>
              <a:t>, result  );</a:t>
            </a:r>
            <a:endParaRPr lang="en-IN" dirty="0"/>
          </a:p>
        </p:txBody>
      </p:sp>
    </p:spTree>
    <p:extLst>
      <p:ext uri="{BB962C8B-B14F-4D97-AF65-F5344CB8AC3E}">
        <p14:creationId xmlns:p14="http://schemas.microsoft.com/office/powerpoint/2010/main" val="2242408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457200"/>
            <a:ext cx="8382000" cy="5287963"/>
          </a:xfrm>
        </p:spPr>
        <p:txBody>
          <a:bodyPr>
            <a:normAutofit fontScale="92500" lnSpcReduction="10000"/>
          </a:bodyPr>
          <a:lstStyle/>
          <a:p>
            <a:r>
              <a:rPr lang="en-US" sz="2400" dirty="0"/>
              <a:t>Create interface </a:t>
            </a:r>
            <a:r>
              <a:rPr lang="en-US" sz="2400" dirty="0" err="1"/>
              <a:t>Irepository</a:t>
            </a:r>
            <a:endParaRPr lang="en-US" sz="2400" dirty="0"/>
          </a:p>
          <a:p>
            <a:r>
              <a:rPr lang="en-US" sz="2400" dirty="0"/>
              <a:t> List&lt;Employee &gt; display()</a:t>
            </a:r>
          </a:p>
          <a:p>
            <a:r>
              <a:rPr lang="en-US" sz="2400" dirty="0"/>
              <a:t>void Add(Employee e)</a:t>
            </a:r>
          </a:p>
          <a:p>
            <a:r>
              <a:rPr lang="en-US" sz="2400" dirty="0"/>
              <a:t>void remove(</a:t>
            </a:r>
            <a:r>
              <a:rPr lang="en-US" sz="2400" dirty="0" err="1"/>
              <a:t>int</a:t>
            </a:r>
            <a:r>
              <a:rPr lang="en-US" sz="2400" dirty="0"/>
              <a:t> id);</a:t>
            </a:r>
          </a:p>
          <a:p>
            <a:r>
              <a:rPr lang="en-US" sz="2400" dirty="0"/>
              <a:t>Employee </a:t>
            </a:r>
            <a:r>
              <a:rPr lang="en-US" sz="2400" dirty="0" err="1"/>
              <a:t>Getemp</a:t>
            </a:r>
            <a:r>
              <a:rPr lang="en-US" sz="2400" dirty="0"/>
              <a:t>(</a:t>
            </a:r>
            <a:r>
              <a:rPr lang="en-US" sz="2400" dirty="0" err="1"/>
              <a:t>int</a:t>
            </a:r>
            <a:r>
              <a:rPr lang="en-US" sz="2400" dirty="0"/>
              <a:t> Id);</a:t>
            </a:r>
          </a:p>
          <a:p>
            <a:r>
              <a:rPr lang="en-US" sz="2400" dirty="0"/>
              <a:t>List&lt;Employee&gt; </a:t>
            </a:r>
            <a:r>
              <a:rPr lang="en-US" sz="2400" dirty="0" err="1"/>
              <a:t>Getemp</a:t>
            </a:r>
            <a:r>
              <a:rPr lang="en-US" sz="2400" dirty="0"/>
              <a:t>(string Name);</a:t>
            </a:r>
          </a:p>
          <a:p>
            <a:r>
              <a:rPr lang="en-US" sz="2400" dirty="0"/>
              <a:t>Void update(</a:t>
            </a:r>
            <a:r>
              <a:rPr lang="en-US" sz="2400" dirty="0" err="1"/>
              <a:t>int</a:t>
            </a:r>
            <a:r>
              <a:rPr lang="en-US" sz="2400" dirty="0"/>
              <a:t> </a:t>
            </a:r>
            <a:r>
              <a:rPr lang="en-US" sz="2400" dirty="0" err="1"/>
              <a:t>id,string</a:t>
            </a:r>
            <a:r>
              <a:rPr lang="en-US" sz="2400" dirty="0"/>
              <a:t> name);</a:t>
            </a:r>
          </a:p>
          <a:p>
            <a:r>
              <a:rPr lang="en-US" sz="2400" dirty="0"/>
              <a:t>Create class </a:t>
            </a:r>
            <a:r>
              <a:rPr lang="en-US" sz="2400" dirty="0" err="1"/>
              <a:t>EmployeeService</a:t>
            </a:r>
            <a:r>
              <a:rPr lang="en-US" sz="2400" dirty="0"/>
              <a:t> which will implement all the above method, This class has member </a:t>
            </a:r>
          </a:p>
          <a:p>
            <a:r>
              <a:rPr lang="en-US" sz="2400" dirty="0"/>
              <a:t>Public static List&lt;Employee&gt; </a:t>
            </a:r>
            <a:r>
              <a:rPr lang="en-US" sz="2400" dirty="0" err="1"/>
              <a:t>db</a:t>
            </a:r>
            <a:r>
              <a:rPr lang="en-US" sz="2400" dirty="0"/>
              <a:t>=new List &lt;Employee&gt; ();</a:t>
            </a:r>
          </a:p>
          <a:p>
            <a:r>
              <a:rPr lang="en-US" sz="2400" dirty="0"/>
              <a:t>Create Employee class with member Id, Name, Salary, Gender . Id should be auto increment.</a:t>
            </a:r>
          </a:p>
          <a:p>
            <a:r>
              <a:rPr lang="en-US" sz="2400" dirty="0"/>
              <a:t>Put employee class in folder Models</a:t>
            </a:r>
          </a:p>
          <a:p>
            <a:r>
              <a:rPr lang="en-US" sz="2400" dirty="0"/>
              <a:t>Put Service and repository class in Folder Service</a:t>
            </a: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1726437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1"/>
            <a:ext cx="8420100" cy="1752600"/>
          </a:xfrm>
        </p:spPr>
        <p:style>
          <a:lnRef idx="2">
            <a:schemeClr val="accent2"/>
          </a:lnRef>
          <a:fillRef idx="1">
            <a:schemeClr val="lt1"/>
          </a:fillRef>
          <a:effectRef idx="0">
            <a:schemeClr val="accent2"/>
          </a:effectRef>
          <a:fontRef idx="minor">
            <a:schemeClr val="dk1"/>
          </a:fontRef>
        </p:style>
        <p:txBody>
          <a:bodyPr>
            <a:normAutofit/>
          </a:bodyPr>
          <a:lstStyle/>
          <a:p>
            <a:pPr marL="0" indent="0">
              <a:buNone/>
            </a:pPr>
            <a:r>
              <a:rPr lang="en-US" sz="1800" b="1" dirty="0"/>
              <a:t>First()</a:t>
            </a:r>
            <a:endParaRPr lang="en-US" sz="1800" dirty="0"/>
          </a:p>
          <a:p>
            <a:pPr>
              <a:buFont typeface="+mj-lt"/>
              <a:buAutoNum type="arabicPeriod"/>
            </a:pPr>
            <a:r>
              <a:rPr lang="en-US" sz="1800" dirty="0"/>
              <a:t>It returns the first element of a sequence.</a:t>
            </a:r>
          </a:p>
          <a:p>
            <a:pPr>
              <a:buFont typeface="+mj-lt"/>
              <a:buAutoNum type="arabicPeriod"/>
            </a:pPr>
            <a:r>
              <a:rPr lang="en-US" sz="1800" dirty="0"/>
              <a:t>It throws an error when there is no element in the result, or </a:t>
            </a:r>
            <a:r>
              <a:rPr lang="en-US" sz="1800" b="1" dirty="0"/>
              <a:t>source is null.</a:t>
            </a:r>
          </a:p>
          <a:p>
            <a:pPr>
              <a:buFont typeface="+mj-lt"/>
              <a:buAutoNum type="arabicPeriod"/>
            </a:pPr>
            <a:r>
              <a:rPr lang="en-US" sz="1800" dirty="0"/>
              <a:t>We should use it if more than one element is expected and you want only the first element.</a:t>
            </a:r>
          </a:p>
          <a:p>
            <a:pPr marL="0" indent="0">
              <a:buNone/>
            </a:pPr>
            <a:endParaRPr lang="en-IN" sz="1800" dirty="0"/>
          </a:p>
        </p:txBody>
      </p:sp>
      <p:sp>
        <p:nvSpPr>
          <p:cNvPr id="6" name="Rectangle 5"/>
          <p:cNvSpPr/>
          <p:nvPr/>
        </p:nvSpPr>
        <p:spPr>
          <a:xfrm>
            <a:off x="304800" y="2743200"/>
            <a:ext cx="7848600" cy="1384995"/>
          </a:xfrm>
          <a:prstGeom prst="rect">
            <a:avLst/>
          </a:prstGeom>
        </p:spPr>
        <p:txBody>
          <a:bodyPr wrap="square">
            <a:spAutoFit/>
          </a:bodyPr>
          <a:lstStyle/>
          <a:p>
            <a:pPr>
              <a:buFont typeface="+mj-lt"/>
              <a:buAutoNum type="arabicPeriod"/>
            </a:pPr>
            <a:r>
              <a:rPr lang="en-IN" sz="1200" dirty="0">
                <a:solidFill>
                  <a:srgbClr val="5C5C5C"/>
                </a:solidFill>
                <a:latin typeface="consolas" panose="020B0609020204030204" pitchFamily="49" charset="0"/>
              </a:rPr>
              <a:t>List&lt;Employee&gt; </a:t>
            </a:r>
            <a:r>
              <a:rPr lang="en-IN" sz="1200" dirty="0" err="1">
                <a:solidFill>
                  <a:srgbClr val="5C5C5C"/>
                </a:solidFill>
                <a:latin typeface="consolas" panose="020B0609020204030204" pitchFamily="49" charset="0"/>
              </a:rPr>
              <a:t>employeeList</a:t>
            </a:r>
            <a:r>
              <a:rPr lang="en-IN" sz="1200" dirty="0">
                <a:solidFill>
                  <a:srgbClr val="5C5C5C"/>
                </a:solidFill>
                <a:latin typeface="consolas" panose="020B0609020204030204" pitchFamily="49" charset="0"/>
              </a:rPr>
              <a:t> = </a:t>
            </a:r>
            <a:r>
              <a:rPr lang="en-IN" sz="1200" b="1" dirty="0">
                <a:solidFill>
                  <a:srgbClr val="006699"/>
                </a:solidFill>
                <a:latin typeface="consolas" panose="020B0609020204030204" pitchFamily="49" charset="0"/>
              </a:rPr>
              <a:t>new</a:t>
            </a:r>
            <a:r>
              <a:rPr lang="en-IN" sz="1200" dirty="0">
                <a:solidFill>
                  <a:srgbClr val="5C5C5C"/>
                </a:solidFill>
                <a:latin typeface="consolas" panose="020B0609020204030204" pitchFamily="49" charset="0"/>
              </a:rPr>
              <a:t> List&lt;Employee&gt;(){</a:t>
            </a:r>
          </a:p>
          <a:p>
            <a:pPr>
              <a:buFont typeface="+mj-lt"/>
              <a:buAutoNum type="arabicPeriod"/>
            </a:pPr>
            <a:r>
              <a:rPr lang="en-IN" sz="1200" b="1" dirty="0">
                <a:solidFill>
                  <a:srgbClr val="006699"/>
                </a:solidFill>
                <a:latin typeface="consolas" panose="020B0609020204030204" pitchFamily="49" charset="0"/>
              </a:rPr>
              <a:t>   new</a:t>
            </a:r>
            <a:r>
              <a:rPr lang="en-IN" sz="1200" dirty="0">
                <a:solidFill>
                  <a:srgbClr val="5C5C5C"/>
                </a:solidFill>
                <a:latin typeface="consolas" panose="020B0609020204030204" pitchFamily="49" charset="0"/>
              </a:rPr>
              <a:t> Employee() { Id = 1, Name = </a:t>
            </a:r>
            <a:r>
              <a:rPr lang="en-IN" sz="1200" dirty="0">
                <a:solidFill>
                  <a:srgbClr val="0000FF"/>
                </a:solidFill>
                <a:latin typeface="consolas" panose="020B0609020204030204" pitchFamily="49" charset="0"/>
              </a:rPr>
              <a:t>"Sunny"</a:t>
            </a:r>
            <a:r>
              <a:rPr lang="en-IN" sz="1200" dirty="0">
                <a:solidFill>
                  <a:srgbClr val="5C5C5C"/>
                </a:solidFill>
                <a:latin typeface="consolas" panose="020B0609020204030204" pitchFamily="49" charset="0"/>
              </a:rPr>
              <a:t>, Department = </a:t>
            </a:r>
            <a:r>
              <a:rPr lang="en-IN" sz="1200" dirty="0">
                <a:solidFill>
                  <a:srgbClr val="0000FF"/>
                </a:solidFill>
                <a:latin typeface="consolas" panose="020B0609020204030204" pitchFamily="49" charset="0"/>
              </a:rPr>
              <a:t>"Technical"</a:t>
            </a:r>
            <a:r>
              <a:rPr lang="en-IN" sz="1200" dirty="0">
                <a:solidFill>
                  <a:srgbClr val="5C5C5C"/>
                </a:solidFill>
                <a:latin typeface="consolas" panose="020B0609020204030204" pitchFamily="49" charset="0"/>
              </a:rPr>
              <a:t> },</a:t>
            </a:r>
          </a:p>
          <a:p>
            <a:pPr>
              <a:buFont typeface="+mj-lt"/>
              <a:buAutoNum type="arabicPeriod"/>
            </a:pPr>
            <a:r>
              <a:rPr lang="en-IN" sz="1200" b="1" dirty="0">
                <a:solidFill>
                  <a:srgbClr val="006699"/>
                </a:solidFill>
                <a:latin typeface="consolas" panose="020B0609020204030204" pitchFamily="49" charset="0"/>
              </a:rPr>
              <a:t>   new</a:t>
            </a:r>
            <a:r>
              <a:rPr lang="en-IN" sz="1200" dirty="0">
                <a:solidFill>
                  <a:srgbClr val="5C5C5C"/>
                </a:solidFill>
                <a:latin typeface="consolas" panose="020B0609020204030204" pitchFamily="49" charset="0"/>
              </a:rPr>
              <a:t> Employee() { Id=2, Name=</a:t>
            </a:r>
            <a:r>
              <a:rPr lang="en-IN" sz="1200" dirty="0">
                <a:solidFill>
                  <a:srgbClr val="0000FF"/>
                </a:solidFill>
                <a:latin typeface="consolas" panose="020B0609020204030204" pitchFamily="49" charset="0"/>
              </a:rPr>
              <a:t>"</a:t>
            </a:r>
            <a:r>
              <a:rPr lang="en-IN" sz="1200" dirty="0" err="1">
                <a:solidFill>
                  <a:srgbClr val="0000FF"/>
                </a:solidFill>
                <a:latin typeface="consolas" panose="020B0609020204030204" pitchFamily="49" charset="0"/>
              </a:rPr>
              <a:t>Pinki</a:t>
            </a:r>
            <a:r>
              <a:rPr lang="en-IN" sz="1200" dirty="0">
                <a:solidFill>
                  <a:srgbClr val="0000FF"/>
                </a:solidFill>
                <a:latin typeface="consolas" panose="020B0609020204030204" pitchFamily="49" charset="0"/>
              </a:rPr>
              <a:t>"</a:t>
            </a:r>
            <a:r>
              <a:rPr lang="en-IN" sz="1200" dirty="0">
                <a:solidFill>
                  <a:srgbClr val="5C5C5C"/>
                </a:solidFill>
                <a:latin typeface="consolas" panose="020B0609020204030204" pitchFamily="49" charset="0"/>
              </a:rPr>
              <a:t>, Department =</a:t>
            </a:r>
            <a:r>
              <a:rPr lang="en-IN" sz="1200" dirty="0">
                <a:solidFill>
                  <a:srgbClr val="0000FF"/>
                </a:solidFill>
                <a:latin typeface="consolas" panose="020B0609020204030204" pitchFamily="49" charset="0"/>
              </a:rPr>
              <a:t>"HR"</a:t>
            </a:r>
            <a:r>
              <a:rPr lang="en-IN" sz="1200" dirty="0">
                <a:solidFill>
                  <a:srgbClr val="5C5C5C"/>
                </a:solidFill>
                <a:latin typeface="consolas" panose="020B0609020204030204" pitchFamily="49" charset="0"/>
              </a:rPr>
              <a:t>},</a:t>
            </a:r>
          </a:p>
          <a:p>
            <a:pPr>
              <a:buFont typeface="+mj-lt"/>
              <a:buAutoNum type="arabicPeriod"/>
            </a:pPr>
            <a:r>
              <a:rPr lang="en-IN" sz="1200" b="1" dirty="0">
                <a:solidFill>
                  <a:srgbClr val="006699"/>
                </a:solidFill>
                <a:latin typeface="consolas" panose="020B0609020204030204" pitchFamily="49" charset="0"/>
              </a:rPr>
              <a:t>   new</a:t>
            </a:r>
            <a:r>
              <a:rPr lang="en-IN" sz="1200" dirty="0">
                <a:solidFill>
                  <a:srgbClr val="5C5C5C"/>
                </a:solidFill>
                <a:latin typeface="consolas" panose="020B0609020204030204" pitchFamily="49" charset="0"/>
              </a:rPr>
              <a:t> Employee() { Id=3, Name=</a:t>
            </a:r>
            <a:r>
              <a:rPr lang="en-IN" sz="1200" dirty="0">
                <a:solidFill>
                  <a:srgbClr val="0000FF"/>
                </a:solidFill>
                <a:latin typeface="consolas" panose="020B0609020204030204" pitchFamily="49" charset="0"/>
              </a:rPr>
              <a:t>"</a:t>
            </a:r>
            <a:r>
              <a:rPr lang="en-IN" sz="1200" dirty="0" err="1">
                <a:solidFill>
                  <a:srgbClr val="0000FF"/>
                </a:solidFill>
                <a:latin typeface="consolas" panose="020B0609020204030204" pitchFamily="49" charset="0"/>
              </a:rPr>
              <a:t>Tensy</a:t>
            </a:r>
            <a:r>
              <a:rPr lang="en-IN" sz="1200" dirty="0">
                <a:solidFill>
                  <a:srgbClr val="0000FF"/>
                </a:solidFill>
                <a:latin typeface="consolas" panose="020B0609020204030204" pitchFamily="49" charset="0"/>
              </a:rPr>
              <a:t>"</a:t>
            </a:r>
            <a:r>
              <a:rPr lang="en-IN" sz="1200" dirty="0">
                <a:solidFill>
                  <a:srgbClr val="5C5C5C"/>
                </a:solidFill>
                <a:latin typeface="consolas" panose="020B0609020204030204" pitchFamily="49" charset="0"/>
              </a:rPr>
              <a:t>, Department =</a:t>
            </a:r>
            <a:r>
              <a:rPr lang="en-IN" sz="1200" dirty="0">
                <a:solidFill>
                  <a:srgbClr val="0000FF"/>
                </a:solidFill>
                <a:latin typeface="consolas" panose="020B0609020204030204" pitchFamily="49" charset="0"/>
              </a:rPr>
              <a:t>"Finance"</a:t>
            </a:r>
            <a:r>
              <a:rPr lang="en-IN" sz="1200" dirty="0">
                <a:solidFill>
                  <a:srgbClr val="5C5C5C"/>
                </a:solidFill>
                <a:latin typeface="consolas" panose="020B0609020204030204" pitchFamily="49" charset="0"/>
              </a:rPr>
              <a:t>},</a:t>
            </a:r>
          </a:p>
          <a:p>
            <a:pPr>
              <a:buFont typeface="+mj-lt"/>
              <a:buAutoNum type="arabicPeriod"/>
            </a:pPr>
            <a:r>
              <a:rPr lang="en-IN" sz="1200" b="1" dirty="0">
                <a:solidFill>
                  <a:srgbClr val="006699"/>
                </a:solidFill>
                <a:latin typeface="consolas" panose="020B0609020204030204" pitchFamily="49" charset="0"/>
              </a:rPr>
              <a:t>   new</a:t>
            </a:r>
            <a:r>
              <a:rPr lang="en-IN" sz="1200" dirty="0">
                <a:solidFill>
                  <a:srgbClr val="5C5C5C"/>
                </a:solidFill>
                <a:latin typeface="consolas" panose="020B0609020204030204" pitchFamily="49" charset="0"/>
              </a:rPr>
              <a:t> Employee() { Id=4, Name=</a:t>
            </a:r>
            <a:r>
              <a:rPr lang="en-IN" sz="1200" dirty="0">
                <a:solidFill>
                  <a:srgbClr val="0000FF"/>
                </a:solidFill>
                <a:latin typeface="consolas" panose="020B0609020204030204" pitchFamily="49" charset="0"/>
              </a:rPr>
              <a:t>"Bobby"</a:t>
            </a:r>
            <a:r>
              <a:rPr lang="en-IN" sz="1200" dirty="0">
                <a:solidFill>
                  <a:srgbClr val="5C5C5C"/>
                </a:solidFill>
                <a:latin typeface="consolas" panose="020B0609020204030204" pitchFamily="49" charset="0"/>
              </a:rPr>
              <a:t>, Department =</a:t>
            </a:r>
            <a:r>
              <a:rPr lang="en-IN" sz="1200" dirty="0">
                <a:solidFill>
                  <a:srgbClr val="0000FF"/>
                </a:solidFill>
                <a:latin typeface="consolas" panose="020B0609020204030204" pitchFamily="49" charset="0"/>
              </a:rPr>
              <a:t>"Technical"</a:t>
            </a:r>
            <a:r>
              <a:rPr lang="en-IN" sz="1200" dirty="0">
                <a:solidFill>
                  <a:srgbClr val="5C5C5C"/>
                </a:solidFill>
                <a:latin typeface="consolas" panose="020B0609020204030204" pitchFamily="49" charset="0"/>
              </a:rPr>
              <a:t>},</a:t>
            </a:r>
          </a:p>
          <a:p>
            <a:pPr>
              <a:buFont typeface="+mj-lt"/>
              <a:buAutoNum type="arabicPeriod"/>
            </a:pPr>
            <a:r>
              <a:rPr lang="en-IN" sz="1200" b="1" dirty="0">
                <a:solidFill>
                  <a:srgbClr val="006699"/>
                </a:solidFill>
                <a:latin typeface="consolas" panose="020B0609020204030204" pitchFamily="49" charset="0"/>
              </a:rPr>
              <a:t>   new</a:t>
            </a:r>
            <a:r>
              <a:rPr lang="en-IN" sz="1200" dirty="0">
                <a:solidFill>
                  <a:srgbClr val="5C5C5C"/>
                </a:solidFill>
                <a:latin typeface="consolas" panose="020B0609020204030204" pitchFamily="49" charset="0"/>
              </a:rPr>
              <a:t> Employee() { Id=5, Name=</a:t>
            </a:r>
            <a:r>
              <a:rPr lang="en-IN" sz="1200" dirty="0">
                <a:solidFill>
                  <a:srgbClr val="0000FF"/>
                </a:solidFill>
                <a:latin typeface="consolas" panose="020B0609020204030204" pitchFamily="49" charset="0"/>
              </a:rPr>
              <a:t>"</a:t>
            </a:r>
            <a:r>
              <a:rPr lang="en-IN" sz="1200" dirty="0" err="1">
                <a:solidFill>
                  <a:srgbClr val="0000FF"/>
                </a:solidFill>
                <a:latin typeface="consolas" panose="020B0609020204030204" pitchFamily="49" charset="0"/>
              </a:rPr>
              <a:t>Sweety</a:t>
            </a:r>
            <a:r>
              <a:rPr lang="en-IN" sz="1200" dirty="0">
                <a:solidFill>
                  <a:srgbClr val="0000FF"/>
                </a:solidFill>
                <a:latin typeface="consolas" panose="020B0609020204030204" pitchFamily="49" charset="0"/>
              </a:rPr>
              <a:t>"</a:t>
            </a:r>
            <a:r>
              <a:rPr lang="en-IN" sz="1200" dirty="0">
                <a:solidFill>
                  <a:srgbClr val="5C5C5C"/>
                </a:solidFill>
                <a:latin typeface="consolas" panose="020B0609020204030204" pitchFamily="49" charset="0"/>
              </a:rPr>
              <a:t>, Department =</a:t>
            </a:r>
            <a:r>
              <a:rPr lang="en-IN" sz="1200" dirty="0">
                <a:solidFill>
                  <a:srgbClr val="0000FF"/>
                </a:solidFill>
                <a:latin typeface="consolas" panose="020B0609020204030204" pitchFamily="49" charset="0"/>
              </a:rPr>
              <a:t>"HR"</a:t>
            </a:r>
            <a:r>
              <a:rPr lang="en-IN" sz="1200" dirty="0">
                <a:solidFill>
                  <a:srgbClr val="5C5C5C"/>
                </a:solidFill>
                <a:latin typeface="consolas" panose="020B0609020204030204" pitchFamily="49" charset="0"/>
              </a:rPr>
              <a:t>}</a:t>
            </a:r>
          </a:p>
          <a:p>
            <a:pPr>
              <a:buFont typeface="+mj-lt"/>
              <a:buAutoNum type="arabicPeriod"/>
            </a:pPr>
            <a:r>
              <a:rPr lang="en-IN" sz="1200" dirty="0">
                <a:solidFill>
                  <a:srgbClr val="5C5C5C"/>
                </a:solidFill>
                <a:latin typeface="consolas" panose="020B0609020204030204" pitchFamily="49" charset="0"/>
              </a:rPr>
              <a:t>};</a:t>
            </a:r>
            <a:endParaRPr lang="en-IN" sz="1200" b="0" i="0" dirty="0">
              <a:solidFill>
                <a:srgbClr val="5C5C5C"/>
              </a:solidFill>
              <a:effectLst/>
              <a:latin typeface="consolas" panose="020B0609020204030204" pitchFamily="49" charset="0"/>
            </a:endParaRPr>
          </a:p>
        </p:txBody>
      </p:sp>
      <p:sp>
        <p:nvSpPr>
          <p:cNvPr id="7" name="Rectangle 6"/>
          <p:cNvSpPr/>
          <p:nvPr/>
        </p:nvSpPr>
        <p:spPr>
          <a:xfrm>
            <a:off x="152400" y="4267200"/>
            <a:ext cx="8991600" cy="1938992"/>
          </a:xfrm>
          <a:prstGeom prst="rect">
            <a:avLst/>
          </a:prstGeom>
        </p:spPr>
        <p:txBody>
          <a:bodyPr wrap="square">
            <a:spAutoFit/>
          </a:bodyPr>
          <a:lstStyle/>
          <a:p>
            <a:r>
              <a:rPr lang="en-US" sz="1200" b="1" dirty="0">
                <a:solidFill>
                  <a:srgbClr val="212121"/>
                </a:solidFill>
                <a:latin typeface="open sans"/>
              </a:rPr>
              <a:t>Ex 1</a:t>
            </a:r>
            <a:endParaRPr lang="en-US" sz="1200" dirty="0">
              <a:solidFill>
                <a:srgbClr val="212121"/>
              </a:solidFill>
              <a:latin typeface="open sans"/>
            </a:endParaRPr>
          </a:p>
          <a:p>
            <a:pPr>
              <a:buFont typeface="+mj-lt"/>
              <a:buAutoNum type="arabicPeriod"/>
            </a:pPr>
            <a:r>
              <a:rPr lang="en-US" sz="1200" dirty="0" err="1">
                <a:solidFill>
                  <a:srgbClr val="5C5C5C"/>
                </a:solidFill>
                <a:latin typeface="consolas" panose="020B0609020204030204" pitchFamily="49" charset="0"/>
              </a:rPr>
              <a:t>var</a:t>
            </a:r>
            <a:r>
              <a:rPr lang="en-US" sz="1200" dirty="0">
                <a:solidFill>
                  <a:srgbClr val="5C5C5C"/>
                </a:solidFill>
                <a:latin typeface="consolas" panose="020B0609020204030204" pitchFamily="49" charset="0"/>
              </a:rPr>
              <a:t> result = </a:t>
            </a:r>
            <a:r>
              <a:rPr lang="en-US" sz="1200" dirty="0" err="1">
                <a:solidFill>
                  <a:srgbClr val="5C5C5C"/>
                </a:solidFill>
                <a:latin typeface="consolas" panose="020B0609020204030204" pitchFamily="49" charset="0"/>
              </a:rPr>
              <a:t>employeeList.First</a:t>
            </a:r>
            <a:r>
              <a:rPr lang="en-US" sz="1200" dirty="0">
                <a:solidFill>
                  <a:srgbClr val="5C5C5C"/>
                </a:solidFill>
                <a:latin typeface="consolas" panose="020B0609020204030204" pitchFamily="49" charset="0"/>
              </a:rPr>
              <a:t>();   </a:t>
            </a:r>
            <a:r>
              <a:rPr lang="en-US" sz="1200" dirty="0">
                <a:solidFill>
                  <a:srgbClr val="212121"/>
                </a:solidFill>
                <a:latin typeface="open sans"/>
              </a:rPr>
              <a:t>Will return  </a:t>
            </a:r>
            <a:r>
              <a:rPr lang="en-US" sz="1200" dirty="0">
                <a:solidFill>
                  <a:srgbClr val="5C5C5C"/>
                </a:solidFill>
                <a:latin typeface="consolas" panose="020B0609020204030204" pitchFamily="49" charset="0"/>
              </a:rPr>
              <a:t>{ Id = 1, Name = </a:t>
            </a:r>
            <a:r>
              <a:rPr lang="en-US" sz="1200" dirty="0">
                <a:solidFill>
                  <a:srgbClr val="0000FF"/>
                </a:solidFill>
                <a:latin typeface="consolas" panose="020B0609020204030204" pitchFamily="49" charset="0"/>
              </a:rPr>
              <a:t>"Sunny"</a:t>
            </a:r>
            <a:r>
              <a:rPr lang="en-US" sz="1200" dirty="0">
                <a:solidFill>
                  <a:srgbClr val="5C5C5C"/>
                </a:solidFill>
                <a:latin typeface="consolas" panose="020B0609020204030204" pitchFamily="49" charset="0"/>
              </a:rPr>
              <a:t>, Department = </a:t>
            </a:r>
            <a:r>
              <a:rPr lang="en-US" sz="1200" dirty="0">
                <a:solidFill>
                  <a:srgbClr val="0000FF"/>
                </a:solidFill>
                <a:latin typeface="consolas" panose="020B0609020204030204" pitchFamily="49" charset="0"/>
              </a:rPr>
              <a:t>"Technical"</a:t>
            </a:r>
            <a:r>
              <a:rPr lang="en-US" sz="1200" dirty="0">
                <a:solidFill>
                  <a:srgbClr val="5C5C5C"/>
                </a:solidFill>
                <a:latin typeface="consolas" panose="020B0609020204030204" pitchFamily="49" charset="0"/>
              </a:rPr>
              <a:t> }</a:t>
            </a:r>
          </a:p>
          <a:p>
            <a:endParaRPr lang="en-US" sz="1200" b="1" dirty="0">
              <a:solidFill>
                <a:srgbClr val="212121"/>
              </a:solidFill>
              <a:latin typeface="open sans"/>
            </a:endParaRPr>
          </a:p>
          <a:p>
            <a:r>
              <a:rPr lang="en-US" sz="1200" b="1" dirty="0">
                <a:solidFill>
                  <a:srgbClr val="212121"/>
                </a:solidFill>
                <a:latin typeface="open sans"/>
              </a:rPr>
              <a:t>Ex 2</a:t>
            </a:r>
            <a:endParaRPr lang="en-US" sz="1200" dirty="0">
              <a:solidFill>
                <a:srgbClr val="212121"/>
              </a:solidFill>
              <a:latin typeface="open sans"/>
            </a:endParaRPr>
          </a:p>
          <a:p>
            <a:pPr>
              <a:buFont typeface="+mj-lt"/>
              <a:buAutoNum type="arabicPeriod"/>
            </a:pPr>
            <a:r>
              <a:rPr lang="en-US" sz="1200" dirty="0" err="1">
                <a:solidFill>
                  <a:srgbClr val="5C5C5C"/>
                </a:solidFill>
                <a:latin typeface="consolas" panose="020B0609020204030204" pitchFamily="49" charset="0"/>
              </a:rPr>
              <a:t>var</a:t>
            </a:r>
            <a:r>
              <a:rPr lang="en-US" sz="1200" dirty="0">
                <a:solidFill>
                  <a:srgbClr val="5C5C5C"/>
                </a:solidFill>
                <a:latin typeface="consolas" panose="020B0609020204030204" pitchFamily="49" charset="0"/>
              </a:rPr>
              <a:t> result =</a:t>
            </a:r>
            <a:r>
              <a:rPr lang="en-US" sz="1200" dirty="0" err="1">
                <a:solidFill>
                  <a:srgbClr val="5C5C5C"/>
                </a:solidFill>
                <a:latin typeface="consolas" panose="020B0609020204030204" pitchFamily="49" charset="0"/>
              </a:rPr>
              <a:t>employeeList.First</a:t>
            </a:r>
            <a:r>
              <a:rPr lang="en-US" sz="1200" dirty="0">
                <a:solidFill>
                  <a:srgbClr val="5C5C5C"/>
                </a:solidFill>
                <a:latin typeface="consolas" panose="020B0609020204030204" pitchFamily="49" charset="0"/>
              </a:rPr>
              <a:t>(e=&gt;</a:t>
            </a:r>
            <a:r>
              <a:rPr lang="en-US" sz="1200" dirty="0" err="1">
                <a:solidFill>
                  <a:srgbClr val="5C5C5C"/>
                </a:solidFill>
                <a:latin typeface="consolas" panose="020B0609020204030204" pitchFamily="49" charset="0"/>
              </a:rPr>
              <a:t>e.</a:t>
            </a:r>
            <a:r>
              <a:rPr lang="en-US" sz="1200" dirty="0" err="1">
                <a:solidFill>
                  <a:srgbClr val="000000"/>
                </a:solidFill>
                <a:latin typeface="consolas" panose="020B0609020204030204" pitchFamily="49" charset="0"/>
              </a:rPr>
              <a:t>Department</a:t>
            </a:r>
            <a:r>
              <a:rPr lang="en-US" sz="1200" dirty="0">
                <a:solidFill>
                  <a:srgbClr val="5C5C5C"/>
                </a:solidFill>
                <a:latin typeface="consolas" panose="020B0609020204030204" pitchFamily="49" charset="0"/>
              </a:rPr>
              <a:t>== </a:t>
            </a:r>
            <a:r>
              <a:rPr lang="en-US" sz="1200" dirty="0">
                <a:solidFill>
                  <a:srgbClr val="0000FF"/>
                </a:solidFill>
                <a:latin typeface="consolas" panose="020B0609020204030204" pitchFamily="49" charset="0"/>
              </a:rPr>
              <a:t>"HR"</a:t>
            </a:r>
            <a:r>
              <a:rPr lang="en-US" sz="1200" dirty="0">
                <a:solidFill>
                  <a:srgbClr val="5C5C5C"/>
                </a:solidFill>
                <a:latin typeface="consolas" panose="020B0609020204030204" pitchFamily="49" charset="0"/>
              </a:rPr>
              <a:t>); W</a:t>
            </a:r>
            <a:r>
              <a:rPr lang="en-US" sz="1200" dirty="0">
                <a:solidFill>
                  <a:srgbClr val="212121"/>
                </a:solidFill>
                <a:latin typeface="open sans"/>
              </a:rPr>
              <a:t>ill return</a:t>
            </a:r>
            <a:r>
              <a:rPr lang="en-US" sz="1200" dirty="0">
                <a:solidFill>
                  <a:srgbClr val="5C5C5C"/>
                </a:solidFill>
                <a:latin typeface="consolas" panose="020B0609020204030204" pitchFamily="49" charset="0"/>
              </a:rPr>
              <a:t>{ Id=2, Name=</a:t>
            </a:r>
            <a:r>
              <a:rPr lang="en-US" sz="1200" dirty="0">
                <a:solidFill>
                  <a:srgbClr val="0000FF"/>
                </a:solidFill>
                <a:latin typeface="consolas" panose="020B0609020204030204" pitchFamily="49" charset="0"/>
              </a:rPr>
              <a:t>"</a:t>
            </a:r>
            <a:r>
              <a:rPr lang="en-US" sz="1200" dirty="0" err="1">
                <a:solidFill>
                  <a:srgbClr val="0000FF"/>
                </a:solidFill>
                <a:latin typeface="consolas" panose="020B0609020204030204" pitchFamily="49" charset="0"/>
              </a:rPr>
              <a:t>Pinki</a:t>
            </a:r>
            <a:r>
              <a:rPr lang="en-US" sz="1200" dirty="0">
                <a:solidFill>
                  <a:srgbClr val="0000FF"/>
                </a:solidFill>
                <a:latin typeface="consolas" panose="020B0609020204030204" pitchFamily="49" charset="0"/>
              </a:rPr>
              <a:t>"</a:t>
            </a:r>
            <a:r>
              <a:rPr lang="en-US" sz="1200" dirty="0">
                <a:solidFill>
                  <a:srgbClr val="5C5C5C"/>
                </a:solidFill>
                <a:latin typeface="consolas" panose="020B0609020204030204" pitchFamily="49" charset="0"/>
              </a:rPr>
              <a:t>, Department =</a:t>
            </a:r>
            <a:r>
              <a:rPr lang="en-US" sz="1200" dirty="0">
                <a:solidFill>
                  <a:srgbClr val="0000FF"/>
                </a:solidFill>
                <a:latin typeface="consolas" panose="020B0609020204030204" pitchFamily="49" charset="0"/>
              </a:rPr>
              <a:t>"HR"</a:t>
            </a:r>
            <a:r>
              <a:rPr lang="en-US" sz="1200" dirty="0">
                <a:solidFill>
                  <a:srgbClr val="5C5C5C"/>
                </a:solidFill>
                <a:latin typeface="consolas" panose="020B0609020204030204" pitchFamily="49" charset="0"/>
              </a:rPr>
              <a:t>}</a:t>
            </a:r>
          </a:p>
          <a:p>
            <a:endParaRPr lang="en-US" sz="1200" b="1" dirty="0">
              <a:solidFill>
                <a:srgbClr val="212121"/>
              </a:solidFill>
              <a:latin typeface="open sans"/>
            </a:endParaRPr>
          </a:p>
          <a:p>
            <a:r>
              <a:rPr lang="en-US" sz="1200" b="1" dirty="0">
                <a:solidFill>
                  <a:srgbClr val="212121"/>
                </a:solidFill>
                <a:latin typeface="open sans"/>
              </a:rPr>
              <a:t>Ex 3</a:t>
            </a:r>
            <a:endParaRPr lang="en-US" sz="1200" dirty="0">
              <a:solidFill>
                <a:srgbClr val="212121"/>
              </a:solidFill>
              <a:latin typeface="open sans"/>
            </a:endParaRPr>
          </a:p>
          <a:p>
            <a:pPr>
              <a:buFont typeface="+mj-lt"/>
              <a:buAutoNum type="arabicPeriod"/>
            </a:pPr>
            <a:r>
              <a:rPr lang="en-US" sz="1200" dirty="0" err="1">
                <a:solidFill>
                  <a:srgbClr val="5C5C5C"/>
                </a:solidFill>
                <a:latin typeface="consolas" panose="020B0609020204030204" pitchFamily="49" charset="0"/>
              </a:rPr>
              <a:t>var</a:t>
            </a:r>
            <a:r>
              <a:rPr lang="en-US" sz="1200" dirty="0">
                <a:solidFill>
                  <a:srgbClr val="5C5C5C"/>
                </a:solidFill>
                <a:latin typeface="consolas" panose="020B0609020204030204" pitchFamily="49" charset="0"/>
              </a:rPr>
              <a:t> result = </a:t>
            </a:r>
            <a:r>
              <a:rPr lang="en-US" sz="1200" dirty="0" err="1">
                <a:solidFill>
                  <a:srgbClr val="5C5C5C"/>
                </a:solidFill>
                <a:latin typeface="consolas" panose="020B0609020204030204" pitchFamily="49" charset="0"/>
              </a:rPr>
              <a:t>employeeList.First</a:t>
            </a:r>
            <a:r>
              <a:rPr lang="en-US" sz="1200" dirty="0">
                <a:solidFill>
                  <a:srgbClr val="5C5C5C"/>
                </a:solidFill>
                <a:latin typeface="consolas" panose="020B0609020204030204" pitchFamily="49" charset="0"/>
              </a:rPr>
              <a:t>(e=&gt;</a:t>
            </a:r>
            <a:r>
              <a:rPr lang="en-US" sz="1200" dirty="0" err="1">
                <a:solidFill>
                  <a:srgbClr val="5C5C5C"/>
                </a:solidFill>
                <a:latin typeface="consolas" panose="020B0609020204030204" pitchFamily="49" charset="0"/>
              </a:rPr>
              <a:t>e.Id</a:t>
            </a:r>
            <a:r>
              <a:rPr lang="en-US" sz="1200" dirty="0">
                <a:solidFill>
                  <a:srgbClr val="5C5C5C"/>
                </a:solidFill>
                <a:latin typeface="consolas" panose="020B0609020204030204" pitchFamily="49" charset="0"/>
              </a:rPr>
              <a:t> == 8);</a:t>
            </a:r>
          </a:p>
          <a:p>
            <a:pPr>
              <a:buFont typeface="+mj-lt"/>
              <a:buAutoNum type="arabicPeriod"/>
            </a:pPr>
            <a:endParaRPr lang="en-US" sz="1200" dirty="0">
              <a:solidFill>
                <a:srgbClr val="5C5C5C"/>
              </a:solidFill>
              <a:latin typeface="consolas" panose="020B0609020204030204" pitchFamily="49" charset="0"/>
            </a:endParaRPr>
          </a:p>
          <a:p>
            <a:r>
              <a:rPr lang="en-US" sz="1200" dirty="0">
                <a:solidFill>
                  <a:srgbClr val="212121"/>
                </a:solidFill>
                <a:latin typeface="open sans"/>
              </a:rPr>
              <a:t>This will </a:t>
            </a:r>
            <a:r>
              <a:rPr lang="en-US" sz="1200" dirty="0">
                <a:solidFill>
                  <a:srgbClr val="FF0000"/>
                </a:solidFill>
                <a:latin typeface="open sans"/>
              </a:rPr>
              <a:t>throw an error</a:t>
            </a:r>
            <a:r>
              <a:rPr lang="en-US" sz="1200" dirty="0">
                <a:solidFill>
                  <a:srgbClr val="212121"/>
                </a:solidFill>
                <a:latin typeface="open sans"/>
              </a:rPr>
              <a:t>, because employee with Id as 8 </a:t>
            </a:r>
            <a:r>
              <a:rPr lang="en-US" sz="1200" dirty="0">
                <a:solidFill>
                  <a:srgbClr val="FF0000"/>
                </a:solidFill>
                <a:latin typeface="open sans"/>
              </a:rPr>
              <a:t>does not exist </a:t>
            </a:r>
            <a:r>
              <a:rPr lang="en-US" sz="1200" dirty="0">
                <a:solidFill>
                  <a:srgbClr val="212121"/>
                </a:solidFill>
                <a:latin typeface="open sans"/>
              </a:rPr>
              <a:t>in the </a:t>
            </a:r>
            <a:r>
              <a:rPr lang="en-US" sz="1200" dirty="0" err="1">
                <a:solidFill>
                  <a:srgbClr val="212121"/>
                </a:solidFill>
                <a:latin typeface="open sans"/>
              </a:rPr>
              <a:t>employeeList</a:t>
            </a:r>
            <a:r>
              <a:rPr lang="en-US" sz="1200" dirty="0">
                <a:solidFill>
                  <a:srgbClr val="212121"/>
                </a:solidFill>
                <a:latin typeface="open sans"/>
              </a:rPr>
              <a:t>.</a:t>
            </a:r>
            <a:endParaRPr lang="en-US" sz="1200" b="0" i="0" dirty="0">
              <a:solidFill>
                <a:srgbClr val="212121"/>
              </a:solidFill>
              <a:effectLst/>
              <a:latin typeface="open sans"/>
            </a:endParaRPr>
          </a:p>
        </p:txBody>
      </p:sp>
    </p:spTree>
    <p:extLst>
      <p:ext uri="{BB962C8B-B14F-4D97-AF65-F5344CB8AC3E}">
        <p14:creationId xmlns:p14="http://schemas.microsoft.com/office/powerpoint/2010/main" val="3151053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6700" y="914400"/>
            <a:ext cx="8305800" cy="19205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spcBef>
                <a:spcPct val="20000"/>
              </a:spcBef>
            </a:pPr>
            <a:r>
              <a:rPr lang="en-US" dirty="0" err="1"/>
              <a:t>FirstOrDefault</a:t>
            </a:r>
            <a:r>
              <a:rPr lang="en-US" dirty="0"/>
              <a:t>()</a:t>
            </a:r>
          </a:p>
          <a:p>
            <a:pPr marL="342900" indent="-342900">
              <a:spcBef>
                <a:spcPct val="20000"/>
              </a:spcBef>
              <a:buFont typeface="+mj-lt"/>
              <a:buAutoNum type="arabicPeriod"/>
            </a:pPr>
            <a:r>
              <a:rPr lang="en-US" dirty="0"/>
              <a:t>It returns the first element of a sequence, or a default value if no element is found.</a:t>
            </a:r>
          </a:p>
          <a:p>
            <a:pPr marL="342900" indent="-342900">
              <a:spcBef>
                <a:spcPct val="20000"/>
              </a:spcBef>
              <a:buFont typeface="+mj-lt"/>
              <a:buAutoNum type="arabicPeriod"/>
            </a:pPr>
            <a:r>
              <a:rPr lang="en-US" dirty="0"/>
              <a:t>It throws an error only if the </a:t>
            </a:r>
            <a:r>
              <a:rPr lang="en-US" b="1" dirty="0"/>
              <a:t>source is null. (</a:t>
            </a:r>
            <a:r>
              <a:rPr lang="en-US" b="1" dirty="0" err="1"/>
              <a:t>ie</a:t>
            </a:r>
            <a:r>
              <a:rPr lang="en-US" b="1" dirty="0"/>
              <a:t>. List&lt;&gt; l=null)</a:t>
            </a:r>
          </a:p>
          <a:p>
            <a:pPr marL="342900" indent="-342900">
              <a:spcBef>
                <a:spcPct val="20000"/>
              </a:spcBef>
              <a:buFont typeface="+mj-lt"/>
              <a:buAutoNum type="arabicPeriod"/>
            </a:pPr>
            <a:r>
              <a:rPr lang="en-US" dirty="0"/>
              <a:t>We should use it if more than one element is expected and you want only the first element. It's also good if the result is empty.</a:t>
            </a:r>
          </a:p>
        </p:txBody>
      </p:sp>
      <p:sp>
        <p:nvSpPr>
          <p:cNvPr id="5" name="Rectangle 4"/>
          <p:cNvSpPr/>
          <p:nvPr/>
        </p:nvSpPr>
        <p:spPr>
          <a:xfrm>
            <a:off x="152400" y="4495800"/>
            <a:ext cx="8229600" cy="19205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342900" indent="-342900">
              <a:spcBef>
                <a:spcPct val="20000"/>
              </a:spcBef>
              <a:buFont typeface="+mj-lt"/>
              <a:buAutoNum type="arabicPeriod"/>
            </a:pPr>
            <a:r>
              <a:rPr lang="en-US" dirty="0">
                <a:solidFill>
                  <a:schemeClr val="dk1"/>
                </a:solidFill>
              </a:rPr>
              <a:t>Single()</a:t>
            </a:r>
          </a:p>
          <a:p>
            <a:pPr marL="342900" indent="-342900">
              <a:spcBef>
                <a:spcPct val="20000"/>
              </a:spcBef>
              <a:buFont typeface="+mj-lt"/>
              <a:buAutoNum type="arabicPeriod"/>
            </a:pPr>
            <a:r>
              <a:rPr lang="en-US" dirty="0">
                <a:solidFill>
                  <a:schemeClr val="dk1"/>
                </a:solidFill>
              </a:rPr>
              <a:t> It returns the only item of a sequence.</a:t>
            </a:r>
          </a:p>
          <a:p>
            <a:pPr marL="342900" indent="-342900">
              <a:spcBef>
                <a:spcPct val="20000"/>
              </a:spcBef>
              <a:buFont typeface="+mj-lt"/>
              <a:buAutoNum type="arabicPeriod"/>
            </a:pPr>
            <a:r>
              <a:rPr lang="en-US" dirty="0">
                <a:solidFill>
                  <a:schemeClr val="dk1"/>
                </a:solidFill>
              </a:rPr>
              <a:t>This will throw an exception if the result contains 0 or more than 1 elements.</a:t>
            </a:r>
          </a:p>
          <a:p>
            <a:pPr marL="342900" indent="-342900">
              <a:spcBef>
                <a:spcPct val="20000"/>
              </a:spcBef>
              <a:buFont typeface="+mj-lt"/>
              <a:buAutoNum type="arabicPeriod"/>
            </a:pPr>
            <a:r>
              <a:rPr lang="en-US" dirty="0">
                <a:solidFill>
                  <a:schemeClr val="dk1"/>
                </a:solidFill>
              </a:rPr>
              <a:t>We should use it, when we know that exactly one element is expected but neither 0 nor 2 or more</a:t>
            </a:r>
            <a:r>
              <a:rPr lang="en-US" dirty="0">
                <a:solidFill>
                  <a:srgbClr val="212121"/>
                </a:solidFill>
                <a:latin typeface="open sans"/>
              </a:rPr>
              <a:t>.</a:t>
            </a:r>
            <a:endParaRPr lang="en-US" b="0" i="0" dirty="0">
              <a:solidFill>
                <a:srgbClr val="212121"/>
              </a:solidFill>
              <a:effectLst/>
              <a:latin typeface="open sans"/>
            </a:endParaRPr>
          </a:p>
        </p:txBody>
      </p:sp>
    </p:spTree>
    <p:extLst>
      <p:ext uri="{BB962C8B-B14F-4D97-AF65-F5344CB8AC3E}">
        <p14:creationId xmlns:p14="http://schemas.microsoft.com/office/powerpoint/2010/main" val="4181568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6200" y="914400"/>
            <a:ext cx="4876800" cy="181588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sz="1400" dirty="0">
                <a:solidFill>
                  <a:srgbClr val="000000"/>
                </a:solidFill>
                <a:latin typeface="Cascadia Mono" panose="020B0609020000020004" pitchFamily="49" charset="0"/>
              </a:rPr>
              <a:t>internal class Employee</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public </a:t>
            </a:r>
            <a:r>
              <a:rPr lang="en-US" sz="1400" dirty="0" err="1">
                <a:solidFill>
                  <a:srgbClr val="000000"/>
                </a:solidFill>
                <a:latin typeface="Cascadia Mono" panose="020B0609020000020004" pitchFamily="49" charset="0"/>
              </a:rPr>
              <a:t>int</a:t>
            </a:r>
            <a:r>
              <a:rPr lang="en-US" sz="1400" dirty="0">
                <a:solidFill>
                  <a:srgbClr val="000000"/>
                </a:solidFill>
                <a:latin typeface="Cascadia Mono" panose="020B0609020000020004" pitchFamily="49" charset="0"/>
              </a:rPr>
              <a:t> Id { get; set; }</a:t>
            </a:r>
          </a:p>
          <a:p>
            <a:r>
              <a:rPr lang="en-US" sz="1400" dirty="0">
                <a:solidFill>
                  <a:srgbClr val="000000"/>
                </a:solidFill>
                <a:latin typeface="Cascadia Mono" panose="020B0609020000020004" pitchFamily="49" charset="0"/>
              </a:rPr>
              <a:t>        public string Name { get; set; }</a:t>
            </a:r>
          </a:p>
          <a:p>
            <a:r>
              <a:rPr lang="en-US" sz="1400" dirty="0">
                <a:solidFill>
                  <a:srgbClr val="000000"/>
                </a:solidFill>
                <a:latin typeface="Cascadia Mono" panose="020B0609020000020004" pitchFamily="49" charset="0"/>
              </a:rPr>
              <a:t>        public string Gender { get; set; }</a:t>
            </a:r>
          </a:p>
          <a:p>
            <a:r>
              <a:rPr lang="en-US" sz="1400" dirty="0">
                <a:solidFill>
                  <a:srgbClr val="000000"/>
                </a:solidFill>
                <a:latin typeface="Cascadia Mono" panose="020B0609020000020004" pitchFamily="49" charset="0"/>
              </a:rPr>
              <a:t>        public double Salary { get; set; }</a:t>
            </a:r>
          </a:p>
          <a:p>
            <a:r>
              <a:rPr lang="en-IN" sz="1400" dirty="0">
                <a:solidFill>
                  <a:srgbClr val="000000"/>
                </a:solidFill>
                <a:latin typeface="Cascadia Mono" panose="020B0609020000020004" pitchFamily="49" charset="0"/>
              </a:rPr>
              <a:t>    }</a:t>
            </a:r>
          </a:p>
          <a:p>
            <a:endParaRPr lang="en-IN" sz="1400" dirty="0">
              <a:solidFill>
                <a:srgbClr val="000000"/>
              </a:solidFill>
              <a:latin typeface="Cascadia Mono" panose="020B0609020000020004" pitchFamily="49" charset="0"/>
            </a:endParaRPr>
          </a:p>
        </p:txBody>
      </p:sp>
      <p:sp>
        <p:nvSpPr>
          <p:cNvPr id="6" name="Rectangle 5"/>
          <p:cNvSpPr/>
          <p:nvPr/>
        </p:nvSpPr>
        <p:spPr>
          <a:xfrm>
            <a:off x="76200" y="2971800"/>
            <a:ext cx="4572000" cy="1938992"/>
          </a:xfrm>
          <a:prstGeom prst="rect">
            <a:avLst/>
          </a:prstGeom>
        </p:spPr>
        <p:style>
          <a:lnRef idx="2">
            <a:schemeClr val="accent5"/>
          </a:lnRef>
          <a:fillRef idx="1">
            <a:schemeClr val="lt1"/>
          </a:fillRef>
          <a:effectRef idx="0">
            <a:schemeClr val="accent5"/>
          </a:effectRef>
          <a:fontRef idx="minor">
            <a:schemeClr val="dk1"/>
          </a:fontRef>
        </p:style>
        <p:txBody>
          <a:bodyPr>
            <a:spAutoFit/>
          </a:bodyPr>
          <a:lstStyle/>
          <a:p>
            <a:r>
              <a:rPr lang="en-IN" sz="900" dirty="0">
                <a:solidFill>
                  <a:srgbClr val="000000"/>
                </a:solidFill>
                <a:latin typeface="Cascadia Mono" panose="020B0609020000020004" pitchFamily="49" charset="0"/>
              </a:rPr>
              <a:t> </a:t>
            </a:r>
            <a:r>
              <a:rPr lang="en-IN" sz="1200" dirty="0">
                <a:solidFill>
                  <a:srgbClr val="000000"/>
                </a:solidFill>
                <a:latin typeface="Cascadia Mono" panose="020B0609020000020004" pitchFamily="49" charset="0"/>
              </a:rPr>
              <a:t>internal interface </a:t>
            </a:r>
            <a:r>
              <a:rPr lang="en-IN" sz="1200" dirty="0" err="1">
                <a:solidFill>
                  <a:srgbClr val="000000"/>
                </a:solidFill>
                <a:latin typeface="Cascadia Mono" panose="020B0609020000020004" pitchFamily="49" charset="0"/>
              </a:rPr>
              <a:t>Irepository</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List&lt;Employee&gt; display();</a:t>
            </a:r>
          </a:p>
          <a:p>
            <a:r>
              <a:rPr lang="en-IN" sz="1200" dirty="0">
                <a:solidFill>
                  <a:srgbClr val="000000"/>
                </a:solidFill>
                <a:latin typeface="Cascadia Mono" panose="020B0609020000020004" pitchFamily="49" charset="0"/>
              </a:rPr>
              <a:t>     void Add(Employee e);</a:t>
            </a:r>
          </a:p>
          <a:p>
            <a:r>
              <a:rPr lang="en-IN" sz="1200" dirty="0">
                <a:solidFill>
                  <a:srgbClr val="000000"/>
                </a:solidFill>
                <a:latin typeface="Cascadia Mono" panose="020B0609020000020004" pitchFamily="49" charset="0"/>
              </a:rPr>
              <a:t>     void remove(</a:t>
            </a:r>
            <a:r>
              <a:rPr lang="en-IN" sz="1200" dirty="0" err="1">
                <a:solidFill>
                  <a:srgbClr val="000000"/>
                </a:solidFill>
                <a:latin typeface="Cascadia Mono" panose="020B0609020000020004" pitchFamily="49" charset="0"/>
              </a:rPr>
              <a:t>int</a:t>
            </a:r>
            <a:r>
              <a:rPr lang="en-IN" sz="1200" dirty="0">
                <a:solidFill>
                  <a:srgbClr val="000000"/>
                </a:solidFill>
                <a:latin typeface="Cascadia Mono" panose="020B0609020000020004" pitchFamily="49" charset="0"/>
              </a:rPr>
              <a:t> id);</a:t>
            </a:r>
          </a:p>
          <a:p>
            <a:r>
              <a:rPr lang="en-IN" sz="1200" dirty="0">
                <a:solidFill>
                  <a:srgbClr val="000000"/>
                </a:solidFill>
                <a:latin typeface="Cascadia Mono" panose="020B0609020000020004" pitchFamily="49" charset="0"/>
              </a:rPr>
              <a:t>     Employee </a:t>
            </a:r>
            <a:r>
              <a:rPr lang="en-IN" sz="1200" dirty="0" err="1">
                <a:solidFill>
                  <a:srgbClr val="000000"/>
                </a:solidFill>
                <a:latin typeface="Cascadia Mono" panose="020B0609020000020004" pitchFamily="49" charset="0"/>
              </a:rPr>
              <a:t>Getemp</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int</a:t>
            </a:r>
            <a:r>
              <a:rPr lang="en-IN" sz="1200" dirty="0">
                <a:solidFill>
                  <a:srgbClr val="000000"/>
                </a:solidFill>
                <a:latin typeface="Cascadia Mono" panose="020B0609020000020004" pitchFamily="49" charset="0"/>
              </a:rPr>
              <a:t> Id);</a:t>
            </a:r>
          </a:p>
          <a:p>
            <a:r>
              <a:rPr lang="en-IN" sz="1200" dirty="0">
                <a:solidFill>
                  <a:srgbClr val="000000"/>
                </a:solidFill>
                <a:latin typeface="Cascadia Mono" panose="020B0609020000020004" pitchFamily="49" charset="0"/>
              </a:rPr>
              <a:t>     List&lt;Employee&gt; </a:t>
            </a:r>
            <a:r>
              <a:rPr lang="en-IN" sz="1200" dirty="0" err="1">
                <a:solidFill>
                  <a:srgbClr val="000000"/>
                </a:solidFill>
                <a:latin typeface="Cascadia Mono" panose="020B0609020000020004" pitchFamily="49" charset="0"/>
              </a:rPr>
              <a:t>Getemp</a:t>
            </a:r>
            <a:r>
              <a:rPr lang="en-IN" sz="1200" dirty="0">
                <a:solidFill>
                  <a:srgbClr val="000000"/>
                </a:solidFill>
                <a:latin typeface="Cascadia Mono" panose="020B0609020000020004" pitchFamily="49" charset="0"/>
              </a:rPr>
              <a:t>(string Name);</a:t>
            </a:r>
          </a:p>
          <a:p>
            <a:r>
              <a:rPr lang="en-IN" sz="1200" dirty="0">
                <a:solidFill>
                  <a:srgbClr val="000000"/>
                </a:solidFill>
                <a:latin typeface="Cascadia Mono" panose="020B0609020000020004" pitchFamily="49" charset="0"/>
              </a:rPr>
              <a:t>     void update(</a:t>
            </a:r>
            <a:r>
              <a:rPr lang="en-IN" sz="1200" dirty="0" err="1">
                <a:solidFill>
                  <a:srgbClr val="000000"/>
                </a:solidFill>
                <a:latin typeface="Cascadia Mono" panose="020B0609020000020004" pitchFamily="49" charset="0"/>
              </a:rPr>
              <a:t>int</a:t>
            </a:r>
            <a:r>
              <a:rPr lang="en-IN" sz="1200" dirty="0">
                <a:solidFill>
                  <a:srgbClr val="000000"/>
                </a:solidFill>
                <a:latin typeface="Cascadia Mono" panose="020B0609020000020004" pitchFamily="49" charset="0"/>
              </a:rPr>
              <a:t> id, string name);</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endParaRPr lang="en-IN" sz="3200" dirty="0"/>
          </a:p>
        </p:txBody>
      </p:sp>
    </p:spTree>
    <p:extLst>
      <p:ext uri="{BB962C8B-B14F-4D97-AF65-F5344CB8AC3E}">
        <p14:creationId xmlns:p14="http://schemas.microsoft.com/office/powerpoint/2010/main" val="39282793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304800"/>
            <a:ext cx="8915400" cy="6878806"/>
          </a:xfrm>
          <a:prstGeom prst="rect">
            <a:avLst/>
          </a:prstGeom>
        </p:spPr>
        <p:txBody>
          <a:bodyPr wrap="square">
            <a:spAutoFit/>
          </a:bodyPr>
          <a:lstStyle/>
          <a:p>
            <a:r>
              <a:rPr lang="en-IN" sz="1050" dirty="0">
                <a:solidFill>
                  <a:srgbClr val="000000"/>
                </a:solidFill>
                <a:latin typeface="Cascadia Mono" panose="020B0609020000020004" pitchFamily="49" charset="0"/>
              </a:rPr>
              <a:t>   	 internal class </a:t>
            </a:r>
            <a:r>
              <a:rPr lang="en-IN" sz="1050" dirty="0" err="1">
                <a:solidFill>
                  <a:srgbClr val="000000"/>
                </a:solidFill>
                <a:latin typeface="Cascadia Mono" panose="020B0609020000020004" pitchFamily="49" charset="0"/>
              </a:rPr>
              <a:t>EmployeeService</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Irepository</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public static List&lt;Employee&gt; </a:t>
            </a:r>
            <a:r>
              <a:rPr lang="en-US" sz="1050" dirty="0" err="1">
                <a:solidFill>
                  <a:srgbClr val="000000"/>
                </a:solidFill>
                <a:latin typeface="Cascadia Mono" panose="020B0609020000020004" pitchFamily="49" charset="0"/>
              </a:rPr>
              <a:t>db</a:t>
            </a:r>
            <a:r>
              <a:rPr lang="en-US" sz="1050" dirty="0">
                <a:solidFill>
                  <a:srgbClr val="000000"/>
                </a:solidFill>
                <a:latin typeface="Cascadia Mono" panose="020B0609020000020004" pitchFamily="49" charset="0"/>
              </a:rPr>
              <a:t>= new List&lt;Employee&gt;() {</a:t>
            </a:r>
          </a:p>
          <a:p>
            <a:r>
              <a:rPr lang="en-US" sz="1050" dirty="0">
                <a:solidFill>
                  <a:srgbClr val="000000"/>
                </a:solidFill>
                <a:latin typeface="Cascadia Mono" panose="020B0609020000020004" pitchFamily="49" charset="0"/>
              </a:rPr>
              <a:t>		new Employee() { Id = 1, Name = "Mary", Gender= "Female", Salary = 25000 } </a:t>
            </a:r>
          </a:p>
          <a:p>
            <a:r>
              <a:rPr lang="en-US"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public void Add(Employee e)</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e.Id</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db.Max</a:t>
            </a:r>
            <a:r>
              <a:rPr lang="en-IN" sz="1050" dirty="0">
                <a:solidFill>
                  <a:srgbClr val="000000"/>
                </a:solidFill>
                <a:latin typeface="Cascadia Mono" panose="020B0609020000020004" pitchFamily="49" charset="0"/>
              </a:rPr>
              <a:t>(e=&gt;</a:t>
            </a:r>
            <a:r>
              <a:rPr lang="en-IN" sz="1050" dirty="0" err="1">
                <a:solidFill>
                  <a:srgbClr val="000000"/>
                </a:solidFill>
                <a:latin typeface="Cascadia Mono" panose="020B0609020000020004" pitchFamily="49" charset="0"/>
              </a:rPr>
              <a:t>e.Id</a:t>
            </a:r>
            <a:r>
              <a:rPr lang="en-IN" sz="1050" dirty="0">
                <a:solidFill>
                  <a:srgbClr val="000000"/>
                </a:solidFill>
                <a:latin typeface="Cascadia Mono" panose="020B0609020000020004" pitchFamily="49" charset="0"/>
              </a:rPr>
              <a:t>)+1;</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db.Add</a:t>
            </a:r>
            <a:r>
              <a:rPr lang="en-IN" sz="1050" dirty="0">
                <a:solidFill>
                  <a:srgbClr val="000000"/>
                </a:solidFill>
                <a:latin typeface="Cascadia Mono" panose="020B0609020000020004" pitchFamily="49" charset="0"/>
              </a:rPr>
              <a:t>(e);</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public List&lt;Employee&gt; display()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return  </a:t>
            </a:r>
            <a:r>
              <a:rPr lang="en-IN" sz="1050" dirty="0" err="1">
                <a:solidFill>
                  <a:srgbClr val="000000"/>
                </a:solidFill>
                <a:latin typeface="Cascadia Mono" panose="020B0609020000020004" pitchFamily="49" charset="0"/>
              </a:rPr>
              <a:t>db.ToList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public Employee? </a:t>
            </a:r>
            <a:r>
              <a:rPr lang="en-IN" sz="1050" dirty="0" err="1">
                <a:solidFill>
                  <a:srgbClr val="000000"/>
                </a:solidFill>
                <a:latin typeface="Cascadia Mono" panose="020B0609020000020004" pitchFamily="49" charset="0"/>
              </a:rPr>
              <a:t>Getemp</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int</a:t>
            </a:r>
            <a:r>
              <a:rPr lang="en-IN" sz="1050" dirty="0">
                <a:solidFill>
                  <a:srgbClr val="000000"/>
                </a:solidFill>
                <a:latin typeface="Cascadia Mono" panose="020B0609020000020004" pitchFamily="49" charset="0"/>
              </a:rPr>
              <a:t> id)</a:t>
            </a:r>
          </a:p>
          <a:p>
            <a:r>
              <a:rPr lang="en-IN" sz="1050" dirty="0">
                <a:solidFill>
                  <a:srgbClr val="000000"/>
                </a:solidFill>
                <a:latin typeface="Cascadia Mono" panose="020B0609020000020004" pitchFamily="49" charset="0"/>
              </a:rPr>
              <a:t>        { </a:t>
            </a:r>
          </a:p>
          <a:p>
            <a:r>
              <a:rPr lang="en-US" sz="1050" dirty="0">
                <a:solidFill>
                  <a:srgbClr val="000000"/>
                </a:solidFill>
                <a:latin typeface="Cascadia Mono" panose="020B0609020000020004" pitchFamily="49" charset="0"/>
              </a:rPr>
              <a:t>         Employee </a:t>
            </a:r>
            <a:r>
              <a:rPr lang="en-US" sz="1050" dirty="0" err="1">
                <a:solidFill>
                  <a:srgbClr val="000000"/>
                </a:solidFill>
                <a:latin typeface="Cascadia Mono" panose="020B0609020000020004" pitchFamily="49" charset="0"/>
              </a:rPr>
              <a:t>employee</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db.Where</a:t>
            </a:r>
            <a:r>
              <a:rPr lang="en-US" sz="1050" dirty="0">
                <a:solidFill>
                  <a:srgbClr val="000000"/>
                </a:solidFill>
                <a:latin typeface="Cascadia Mono" panose="020B0609020000020004" pitchFamily="49" charset="0"/>
              </a:rPr>
              <a:t>&lt;Employee&gt;((e) =&gt; </a:t>
            </a:r>
            <a:r>
              <a:rPr lang="en-US" sz="1050" dirty="0" err="1">
                <a:solidFill>
                  <a:srgbClr val="000000"/>
                </a:solidFill>
                <a:latin typeface="Cascadia Mono" panose="020B0609020000020004" pitchFamily="49" charset="0"/>
              </a:rPr>
              <a:t>e.Id</a:t>
            </a:r>
            <a:r>
              <a:rPr lang="en-US" sz="1050" dirty="0">
                <a:solidFill>
                  <a:srgbClr val="000000"/>
                </a:solidFill>
                <a:latin typeface="Cascadia Mono" panose="020B0609020000020004" pitchFamily="49" charset="0"/>
              </a:rPr>
              <a:t> == id).</a:t>
            </a:r>
            <a:r>
              <a:rPr lang="en-US" sz="1050" dirty="0" err="1">
                <a:solidFill>
                  <a:srgbClr val="000000"/>
                </a:solidFill>
                <a:latin typeface="Cascadia Mono" panose="020B0609020000020004" pitchFamily="49" charset="0"/>
              </a:rPr>
              <a:t>SingleOrDefault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return employee;</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public List&lt;Employee&gt; </a:t>
            </a:r>
            <a:r>
              <a:rPr lang="en-IN" sz="1050" dirty="0" err="1">
                <a:solidFill>
                  <a:srgbClr val="000000"/>
                </a:solidFill>
                <a:latin typeface="Cascadia Mono" panose="020B0609020000020004" pitchFamily="49" charset="0"/>
              </a:rPr>
              <a:t>Getemp</a:t>
            </a:r>
            <a:r>
              <a:rPr lang="en-IN" sz="1050" dirty="0">
                <a:solidFill>
                  <a:srgbClr val="000000"/>
                </a:solidFill>
                <a:latin typeface="Cascadia Mono" panose="020B0609020000020004" pitchFamily="49" charset="0"/>
              </a:rPr>
              <a:t>(string Name)</a:t>
            </a:r>
          </a:p>
          <a:p>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var</a:t>
            </a:r>
            <a:r>
              <a:rPr lang="en-US" sz="1050" dirty="0">
                <a:solidFill>
                  <a:srgbClr val="000000"/>
                </a:solidFill>
                <a:latin typeface="Cascadia Mono" panose="020B0609020000020004" pitchFamily="49" charset="0"/>
              </a:rPr>
              <a:t> r= (from g in </a:t>
            </a:r>
            <a:r>
              <a:rPr lang="en-US" sz="1050" dirty="0" err="1">
                <a:solidFill>
                  <a:srgbClr val="000000"/>
                </a:solidFill>
                <a:latin typeface="Cascadia Mono" panose="020B0609020000020004" pitchFamily="49" charset="0"/>
              </a:rPr>
              <a:t>db</a:t>
            </a:r>
            <a:r>
              <a:rPr lang="en-US" sz="1050" dirty="0">
                <a:solidFill>
                  <a:srgbClr val="000000"/>
                </a:solidFill>
                <a:latin typeface="Cascadia Mono" panose="020B0609020000020004" pitchFamily="49" charset="0"/>
              </a:rPr>
              <a:t> where </a:t>
            </a:r>
            <a:r>
              <a:rPr lang="en-US" sz="1050" dirty="0" err="1">
                <a:solidFill>
                  <a:srgbClr val="000000"/>
                </a:solidFill>
                <a:latin typeface="Cascadia Mono" panose="020B0609020000020004" pitchFamily="49" charset="0"/>
              </a:rPr>
              <a:t>g.Name</a:t>
            </a:r>
            <a:r>
              <a:rPr lang="en-US" sz="1050" dirty="0">
                <a:solidFill>
                  <a:srgbClr val="000000"/>
                </a:solidFill>
                <a:latin typeface="Cascadia Mono" panose="020B0609020000020004" pitchFamily="49" charset="0"/>
              </a:rPr>
              <a:t> == Name select g).</a:t>
            </a:r>
            <a:r>
              <a:rPr lang="en-US" sz="1050" dirty="0" err="1">
                <a:solidFill>
                  <a:srgbClr val="000000"/>
                </a:solidFill>
                <a:latin typeface="Cascadia Mono" panose="020B0609020000020004" pitchFamily="49" charset="0"/>
              </a:rPr>
              <a:t>ToList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var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db.Where</a:t>
            </a:r>
            <a:r>
              <a:rPr lang="en-IN" sz="1050" dirty="0">
                <a:solidFill>
                  <a:srgbClr val="000000"/>
                </a:solidFill>
                <a:latin typeface="Cascadia Mono" panose="020B0609020000020004" pitchFamily="49" charset="0"/>
              </a:rPr>
              <a:t>((e)=&gt;</a:t>
            </a:r>
            <a:r>
              <a:rPr lang="en-IN" sz="1050" dirty="0" err="1">
                <a:solidFill>
                  <a:srgbClr val="000000"/>
                </a:solidFill>
                <a:latin typeface="Cascadia Mono" panose="020B0609020000020004" pitchFamily="49" charset="0"/>
              </a:rPr>
              <a:t>e.Name</a:t>
            </a:r>
            <a:r>
              <a:rPr lang="en-IN" sz="1050" dirty="0">
                <a:solidFill>
                  <a:srgbClr val="000000"/>
                </a:solidFill>
                <a:latin typeface="Cascadia Mono" panose="020B0609020000020004" pitchFamily="49" charset="0"/>
              </a:rPr>
              <a:t> == Name).</a:t>
            </a:r>
            <a:r>
              <a:rPr lang="en-IN" sz="1050" dirty="0" err="1">
                <a:solidFill>
                  <a:srgbClr val="000000"/>
                </a:solidFill>
                <a:latin typeface="Cascadia Mono" panose="020B0609020000020004" pitchFamily="49" charset="0"/>
              </a:rPr>
              <a:t>ToList</a:t>
            </a:r>
            <a:r>
              <a:rPr lang="en-IN"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List &lt; Employee &gt; </a:t>
            </a:r>
            <a:r>
              <a:rPr lang="en-US" sz="1050" dirty="0" err="1">
                <a:solidFill>
                  <a:srgbClr val="000000"/>
                </a:solidFill>
                <a:latin typeface="Cascadia Mono" panose="020B0609020000020004" pitchFamily="49" charset="0"/>
              </a:rPr>
              <a:t>listname</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db.FindAll</a:t>
            </a:r>
            <a:r>
              <a:rPr lang="en-US" sz="1050" dirty="0">
                <a:solidFill>
                  <a:srgbClr val="000000"/>
                </a:solidFill>
                <a:latin typeface="Cascadia Mono" panose="020B0609020000020004" pitchFamily="49" charset="0"/>
              </a:rPr>
              <a:t>(e =&gt; </a:t>
            </a:r>
            <a:r>
              <a:rPr lang="en-US" sz="1050" dirty="0" err="1">
                <a:solidFill>
                  <a:srgbClr val="000000"/>
                </a:solidFill>
                <a:latin typeface="Cascadia Mono" panose="020B0609020000020004" pitchFamily="49" charset="0"/>
              </a:rPr>
              <a:t>e.Name</a:t>
            </a:r>
            <a:r>
              <a:rPr lang="en-US" sz="1050" dirty="0">
                <a:solidFill>
                  <a:srgbClr val="000000"/>
                </a:solidFill>
                <a:latin typeface="Cascadia Mono" panose="020B0609020000020004" pitchFamily="49" charset="0"/>
              </a:rPr>
              <a:t> == Name);</a:t>
            </a:r>
          </a:p>
          <a:p>
            <a:r>
              <a:rPr lang="en-IN" sz="1050" dirty="0">
                <a:solidFill>
                  <a:srgbClr val="000000"/>
                </a:solidFill>
                <a:latin typeface="Cascadia Mono" panose="020B0609020000020004" pitchFamily="49" charset="0"/>
              </a:rPr>
              <a:t>            return </a:t>
            </a:r>
            <a:r>
              <a:rPr lang="en-IN" sz="1050" dirty="0" err="1">
                <a:solidFill>
                  <a:srgbClr val="000000"/>
                </a:solidFill>
                <a:latin typeface="Cascadia Mono" panose="020B0609020000020004" pitchFamily="49" charset="0"/>
              </a:rPr>
              <a:t>listname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public void remove(</a:t>
            </a:r>
            <a:r>
              <a:rPr lang="en-IN" sz="1050" dirty="0" err="1">
                <a:solidFill>
                  <a:srgbClr val="000000"/>
                </a:solidFill>
                <a:latin typeface="Cascadia Mono" panose="020B0609020000020004" pitchFamily="49" charset="0"/>
              </a:rPr>
              <a:t>int</a:t>
            </a:r>
            <a:r>
              <a:rPr lang="en-IN" sz="1050" dirty="0">
                <a:solidFill>
                  <a:srgbClr val="000000"/>
                </a:solidFill>
                <a:latin typeface="Cascadia Mono" panose="020B0609020000020004" pitchFamily="49" charset="0"/>
              </a:rPr>
              <a:t> id)</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var</a:t>
            </a:r>
            <a:r>
              <a:rPr lang="en-US" sz="1050" dirty="0">
                <a:solidFill>
                  <a:srgbClr val="000000"/>
                </a:solidFill>
                <a:latin typeface="Cascadia Mono" panose="020B0609020000020004" pitchFamily="49" charset="0"/>
              </a:rPr>
              <a:t> result=  (from g in </a:t>
            </a:r>
            <a:r>
              <a:rPr lang="en-US" sz="1050" dirty="0" err="1">
                <a:solidFill>
                  <a:srgbClr val="000000"/>
                </a:solidFill>
                <a:latin typeface="Cascadia Mono" panose="020B0609020000020004" pitchFamily="49" charset="0"/>
              </a:rPr>
              <a:t>db</a:t>
            </a:r>
            <a:r>
              <a:rPr lang="en-US" sz="1050" dirty="0">
                <a:solidFill>
                  <a:srgbClr val="000000"/>
                </a:solidFill>
                <a:latin typeface="Cascadia Mono" panose="020B0609020000020004" pitchFamily="49" charset="0"/>
              </a:rPr>
              <a:t> where </a:t>
            </a:r>
            <a:r>
              <a:rPr lang="en-US" sz="1050" dirty="0" err="1">
                <a:solidFill>
                  <a:srgbClr val="000000"/>
                </a:solidFill>
                <a:latin typeface="Cascadia Mono" panose="020B0609020000020004" pitchFamily="49" charset="0"/>
              </a:rPr>
              <a:t>g.Id</a:t>
            </a:r>
            <a:r>
              <a:rPr lang="en-US" sz="1050" dirty="0">
                <a:solidFill>
                  <a:srgbClr val="000000"/>
                </a:solidFill>
                <a:latin typeface="Cascadia Mono" panose="020B0609020000020004" pitchFamily="49" charset="0"/>
              </a:rPr>
              <a:t> == id select g).</a:t>
            </a:r>
            <a:r>
              <a:rPr lang="en-US" sz="1050" dirty="0" err="1">
                <a:solidFill>
                  <a:srgbClr val="000000"/>
                </a:solidFill>
                <a:latin typeface="Cascadia Mono" panose="020B0609020000020004" pitchFamily="49" charset="0"/>
              </a:rPr>
              <a:t>FirstOrDefault</a:t>
            </a:r>
            <a:r>
              <a:rPr lang="en-US"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var</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lresult</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db.Where</a:t>
            </a:r>
            <a:r>
              <a:rPr lang="en-US" sz="1050" dirty="0">
                <a:solidFill>
                  <a:srgbClr val="000000"/>
                </a:solidFill>
                <a:latin typeface="Cascadia Mono" panose="020B0609020000020004" pitchFamily="49" charset="0"/>
              </a:rPr>
              <a:t>&lt;Employee&gt;((e)=&gt;</a:t>
            </a:r>
            <a:r>
              <a:rPr lang="en-US" sz="1050" dirty="0" err="1">
                <a:solidFill>
                  <a:srgbClr val="000000"/>
                </a:solidFill>
                <a:latin typeface="Cascadia Mono" panose="020B0609020000020004" pitchFamily="49" charset="0"/>
              </a:rPr>
              <a:t>e.Id</a:t>
            </a:r>
            <a:r>
              <a:rPr lang="en-US" sz="1050" dirty="0">
                <a:solidFill>
                  <a:srgbClr val="000000"/>
                </a:solidFill>
                <a:latin typeface="Cascadia Mono" panose="020B0609020000020004" pitchFamily="49" charset="0"/>
              </a:rPr>
              <a:t> == id).</a:t>
            </a:r>
            <a:r>
              <a:rPr lang="en-US" sz="1050" dirty="0" err="1">
                <a:solidFill>
                  <a:srgbClr val="000000"/>
                </a:solidFill>
                <a:latin typeface="Cascadia Mono" panose="020B0609020000020004" pitchFamily="49" charset="0"/>
              </a:rPr>
              <a:t>FirstOrDefault</a:t>
            </a:r>
            <a:r>
              <a:rPr lang="en-US"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Employee </a:t>
            </a:r>
            <a:r>
              <a:rPr lang="en-US" sz="1050" dirty="0" err="1">
                <a:solidFill>
                  <a:srgbClr val="000000"/>
                </a:solidFill>
                <a:latin typeface="Cascadia Mono" panose="020B0609020000020004" pitchFamily="49" charset="0"/>
              </a:rPr>
              <a:t>employee</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db.Find</a:t>
            </a:r>
            <a:r>
              <a:rPr lang="en-US" sz="1050" dirty="0">
                <a:solidFill>
                  <a:srgbClr val="000000"/>
                </a:solidFill>
                <a:latin typeface="Cascadia Mono" panose="020B0609020000020004" pitchFamily="49" charset="0"/>
              </a:rPr>
              <a:t>(e =&gt; </a:t>
            </a:r>
            <a:r>
              <a:rPr lang="en-US" sz="1050" dirty="0" err="1">
                <a:solidFill>
                  <a:srgbClr val="000000"/>
                </a:solidFill>
                <a:latin typeface="Cascadia Mono" panose="020B0609020000020004" pitchFamily="49" charset="0"/>
              </a:rPr>
              <a:t>e.Id</a:t>
            </a:r>
            <a:r>
              <a:rPr lang="en-US" sz="1050" dirty="0">
                <a:solidFill>
                  <a:srgbClr val="000000"/>
                </a:solidFill>
                <a:latin typeface="Cascadia Mono" panose="020B0609020000020004" pitchFamily="49" charset="0"/>
              </a:rPr>
              <a:t> == id);</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db.Remove</a:t>
            </a:r>
            <a:r>
              <a:rPr lang="en-IN" sz="1050" dirty="0">
                <a:solidFill>
                  <a:srgbClr val="000000"/>
                </a:solidFill>
                <a:latin typeface="Cascadia Mono" panose="020B0609020000020004" pitchFamily="49" charset="0"/>
              </a:rPr>
              <a:t>(employee);</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public void update(</a:t>
            </a:r>
            <a:r>
              <a:rPr lang="en-US" sz="1050" dirty="0" err="1">
                <a:solidFill>
                  <a:srgbClr val="000000"/>
                </a:solidFill>
                <a:latin typeface="Cascadia Mono" panose="020B0609020000020004" pitchFamily="49" charset="0"/>
              </a:rPr>
              <a:t>int</a:t>
            </a:r>
            <a:r>
              <a:rPr lang="en-US" sz="1050" dirty="0">
                <a:solidFill>
                  <a:srgbClr val="000000"/>
                </a:solidFill>
                <a:latin typeface="Cascadia Mono" panose="020B0609020000020004" pitchFamily="49" charset="0"/>
              </a:rPr>
              <a:t> id, string name)</a:t>
            </a:r>
          </a:p>
          <a:p>
            <a:r>
              <a:rPr lang="en-IN" sz="1050" dirty="0">
                <a:solidFill>
                  <a:srgbClr val="000000"/>
                </a:solidFill>
                <a:latin typeface="Cascadia Mono" panose="020B0609020000020004" pitchFamily="49" charset="0"/>
              </a:rPr>
              <a:t>        {</a:t>
            </a:r>
            <a:r>
              <a:rPr lang="en-US" sz="1050" dirty="0">
                <a:solidFill>
                  <a:srgbClr val="000000"/>
                </a:solidFill>
                <a:latin typeface="Cascadia Mono" panose="020B0609020000020004" pitchFamily="49" charset="0"/>
              </a:rPr>
              <a:t>        Employee </a:t>
            </a:r>
            <a:r>
              <a:rPr lang="en-US" sz="1050" dirty="0" err="1">
                <a:solidFill>
                  <a:srgbClr val="000000"/>
                </a:solidFill>
                <a:latin typeface="Cascadia Mono" panose="020B0609020000020004" pitchFamily="49" charset="0"/>
              </a:rPr>
              <a:t>employee</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db.Find</a:t>
            </a:r>
            <a:r>
              <a:rPr lang="en-US" sz="1050" dirty="0">
                <a:solidFill>
                  <a:srgbClr val="000000"/>
                </a:solidFill>
                <a:latin typeface="Cascadia Mono" panose="020B0609020000020004" pitchFamily="49" charset="0"/>
              </a:rPr>
              <a:t>(e =&gt; </a:t>
            </a:r>
            <a:r>
              <a:rPr lang="en-US" sz="1050" dirty="0" err="1">
                <a:solidFill>
                  <a:srgbClr val="000000"/>
                </a:solidFill>
                <a:latin typeface="Cascadia Mono" panose="020B0609020000020004" pitchFamily="49" charset="0"/>
              </a:rPr>
              <a:t>e.Id</a:t>
            </a:r>
            <a:r>
              <a:rPr lang="en-US" sz="1050" dirty="0">
                <a:solidFill>
                  <a:srgbClr val="000000"/>
                </a:solidFill>
                <a:latin typeface="Cascadia Mono" panose="020B0609020000020004" pitchFamily="49" charset="0"/>
              </a:rPr>
              <a:t> == id);</a:t>
            </a:r>
          </a:p>
          <a:p>
            <a:r>
              <a:rPr lang="en-IN" sz="1050" dirty="0">
                <a:solidFill>
                  <a:srgbClr val="000000"/>
                </a:solidFill>
                <a:latin typeface="Cascadia Mono" panose="020B0609020000020004" pitchFamily="49" charset="0"/>
              </a:rPr>
              <a:t>            if (employee != null)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employee.Name</a:t>
            </a:r>
            <a:r>
              <a:rPr lang="en-IN" sz="1050" dirty="0">
                <a:solidFill>
                  <a:srgbClr val="000000"/>
                </a:solidFill>
                <a:latin typeface="Cascadia Mono" panose="020B0609020000020004" pitchFamily="49" charset="0"/>
              </a:rPr>
              <a:t> = name;</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endParaRPr lang="en-IN" sz="2400" dirty="0"/>
          </a:p>
        </p:txBody>
      </p:sp>
    </p:spTree>
    <p:extLst>
      <p:ext uri="{BB962C8B-B14F-4D97-AF65-F5344CB8AC3E}">
        <p14:creationId xmlns:p14="http://schemas.microsoft.com/office/powerpoint/2010/main" val="2518698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228600"/>
            <a:ext cx="8382000" cy="7040389"/>
          </a:xfrm>
          <a:prstGeom prst="rect">
            <a:avLst/>
          </a:prstGeom>
        </p:spPr>
        <p:txBody>
          <a:bodyPr wrap="square">
            <a:spAutoFit/>
          </a:bodyPr>
          <a:lstStyle/>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internal class Program</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public static </a:t>
            </a:r>
            <a:r>
              <a:rPr lang="en-US" sz="1050" dirty="0" err="1">
                <a:solidFill>
                  <a:srgbClr val="000000"/>
                </a:solidFill>
                <a:latin typeface="Cascadia Mono" panose="020B0609020000020004" pitchFamily="49" charset="0"/>
              </a:rPr>
              <a:t>EmployeeService</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EmployeeService</a:t>
            </a:r>
            <a:r>
              <a:rPr lang="en-US" sz="1050" dirty="0">
                <a:solidFill>
                  <a:srgbClr val="000000"/>
                </a:solidFill>
                <a:latin typeface="Cascadia Mono" panose="020B0609020000020004" pitchFamily="49" charset="0"/>
              </a:rPr>
              <a:t> = new </a:t>
            </a:r>
            <a:r>
              <a:rPr lang="en-US" sz="1050" dirty="0" err="1">
                <a:solidFill>
                  <a:srgbClr val="000000"/>
                </a:solidFill>
                <a:latin typeface="Cascadia Mono" panose="020B0609020000020004" pitchFamily="49" charset="0"/>
              </a:rPr>
              <a:t>EmployeeService</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static void Main(string[] </a:t>
            </a:r>
            <a:r>
              <a:rPr lang="en-IN" sz="1050" dirty="0" err="1">
                <a:solidFill>
                  <a:srgbClr val="000000"/>
                </a:solidFill>
                <a:latin typeface="Cascadia Mono" panose="020B0609020000020004" pitchFamily="49" charset="0"/>
              </a:rPr>
              <a:t>args</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("Hello, World!");</a:t>
            </a:r>
          </a:p>
          <a:p>
            <a:r>
              <a:rPr lang="en-US" sz="1050" dirty="0">
                <a:solidFill>
                  <a:srgbClr val="000000"/>
                </a:solidFill>
                <a:latin typeface="Cascadia Mono" panose="020B0609020000020004" pitchFamily="49" charset="0"/>
              </a:rPr>
              <a:t>            Employee e1 = new Employee { Name = "Raj", Gender = "Male", Salary = 50000 }; ;</a:t>
            </a:r>
          </a:p>
          <a:p>
            <a:r>
              <a:rPr lang="en-US" sz="1050" dirty="0">
                <a:solidFill>
                  <a:srgbClr val="000000"/>
                </a:solidFill>
                <a:latin typeface="Cascadia Mono" panose="020B0609020000020004" pitchFamily="49" charset="0"/>
              </a:rPr>
              <a:t>            Employee e2 = new Employee { Name = "Mona", Gender = "Female", Salary = 68900 };</a:t>
            </a:r>
          </a:p>
          <a:p>
            <a:r>
              <a:rPr lang="en-US" sz="1050" dirty="0">
                <a:solidFill>
                  <a:srgbClr val="000000"/>
                </a:solidFill>
                <a:latin typeface="Cascadia Mono" panose="020B0609020000020004" pitchFamily="49" charset="0"/>
              </a:rPr>
              <a:t>            Employee e3 = new Employee { Name = "Raj", Gender = "Male", Salary = 69800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EmployeeService.Add</a:t>
            </a:r>
            <a:r>
              <a:rPr lang="en-IN" sz="1050" dirty="0">
                <a:solidFill>
                  <a:srgbClr val="000000"/>
                </a:solidFill>
                <a:latin typeface="Cascadia Mono" panose="020B0609020000020004" pitchFamily="49" charset="0"/>
              </a:rPr>
              <a:t>(e1);</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EmployeeService.Add</a:t>
            </a:r>
            <a:r>
              <a:rPr lang="en-IN" sz="1050" dirty="0">
                <a:solidFill>
                  <a:srgbClr val="000000"/>
                </a:solidFill>
                <a:latin typeface="Cascadia Mono" panose="020B0609020000020004" pitchFamily="49" charset="0"/>
              </a:rPr>
              <a:t>(e2);</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EmployeeService.Add</a:t>
            </a:r>
            <a:r>
              <a:rPr lang="en-IN" sz="1050" dirty="0">
                <a:solidFill>
                  <a:srgbClr val="000000"/>
                </a:solidFill>
                <a:latin typeface="Cascadia Mono" panose="020B0609020000020004" pitchFamily="49" charset="0"/>
              </a:rPr>
              <a:t>(e3);</a:t>
            </a:r>
          </a:p>
          <a:p>
            <a:r>
              <a:rPr lang="en-IN" sz="1050" dirty="0">
                <a:solidFill>
                  <a:srgbClr val="000000"/>
                </a:solidFill>
                <a:latin typeface="Cascadia Mono" panose="020B0609020000020004" pitchFamily="49" charset="0"/>
              </a:rPr>
              <a:t>            display();</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displaybyname</a:t>
            </a:r>
            <a:r>
              <a:rPr lang="en-IN" sz="1050" dirty="0">
                <a:solidFill>
                  <a:srgbClr val="000000"/>
                </a:solidFill>
                <a:latin typeface="Cascadia Mono" panose="020B0609020000020004" pitchFamily="49" charset="0"/>
              </a:rPr>
              <a:t>("Raj");</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displaybyId</a:t>
            </a:r>
            <a:r>
              <a:rPr lang="en-IN" sz="1050" dirty="0">
                <a:solidFill>
                  <a:srgbClr val="000000"/>
                </a:solidFill>
                <a:latin typeface="Cascadia Mono" panose="020B0609020000020004" pitchFamily="49" charset="0"/>
              </a:rPr>
              <a:t>(9);</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EmployeeService.remove</a:t>
            </a:r>
            <a:r>
              <a:rPr lang="en-IN" sz="1050" dirty="0">
                <a:solidFill>
                  <a:srgbClr val="000000"/>
                </a:solidFill>
                <a:latin typeface="Cascadia Mono" panose="020B0609020000020004" pitchFamily="49" charset="0"/>
              </a:rPr>
              <a:t>(9);</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EmployeeService.update</a:t>
            </a:r>
            <a:r>
              <a:rPr lang="en-IN" sz="1050" dirty="0">
                <a:solidFill>
                  <a:srgbClr val="000000"/>
                </a:solidFill>
                <a:latin typeface="Cascadia Mono" panose="020B0609020000020004" pitchFamily="49" charset="0"/>
              </a:rPr>
              <a:t>(9,"Margarita");</a:t>
            </a:r>
          </a:p>
          <a:p>
            <a:r>
              <a:rPr lang="en-IN" sz="1050" dirty="0">
                <a:solidFill>
                  <a:srgbClr val="000000"/>
                </a:solidFill>
                <a:latin typeface="Cascadia Mono" panose="020B0609020000020004" pitchFamily="49" charset="0"/>
              </a:rPr>
              <a:t>            display();</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static void display()</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var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datalist</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EmployeeService.display</a:t>
            </a:r>
            <a:r>
              <a:rPr lang="en-IN" sz="1050" dirty="0">
                <a:solidFill>
                  <a:srgbClr val="000000"/>
                </a:solidFill>
                <a:latin typeface="Cascadia Mono" panose="020B0609020000020004" pitchFamily="49" charset="0"/>
              </a:rPr>
              <a:t>();</a:t>
            </a:r>
          </a:p>
          <a:p>
            <a:r>
              <a:rPr lang="sv-SE" sz="1050" dirty="0">
                <a:solidFill>
                  <a:srgbClr val="000000"/>
                </a:solidFill>
                <a:latin typeface="Cascadia Mono" panose="020B0609020000020004" pitchFamily="49" charset="0"/>
              </a:rPr>
              <a:t>            foreach (var d in datalist)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d.Id</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d.Name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d.Gender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d.Salary</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static void </a:t>
            </a:r>
            <a:r>
              <a:rPr lang="en-IN" sz="1050" dirty="0" err="1">
                <a:solidFill>
                  <a:srgbClr val="000000"/>
                </a:solidFill>
                <a:latin typeface="Cascadia Mono" panose="020B0609020000020004" pitchFamily="49" charset="0"/>
              </a:rPr>
              <a:t>displaybyname</a:t>
            </a:r>
            <a:r>
              <a:rPr lang="en-IN" sz="1050" dirty="0">
                <a:solidFill>
                  <a:srgbClr val="000000"/>
                </a:solidFill>
                <a:latin typeface="Cascadia Mono" panose="020B0609020000020004" pitchFamily="49" charset="0"/>
              </a:rPr>
              <a:t>(string name)</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List&lt;Employee&gt; list = </a:t>
            </a:r>
            <a:r>
              <a:rPr lang="en-IN" sz="1050" dirty="0" err="1">
                <a:solidFill>
                  <a:srgbClr val="000000"/>
                </a:solidFill>
                <a:latin typeface="Cascadia Mono" panose="020B0609020000020004" pitchFamily="49" charset="0"/>
              </a:rPr>
              <a:t>EmployeeService.Getemp</a:t>
            </a:r>
            <a:r>
              <a:rPr lang="en-IN" sz="1050" dirty="0">
                <a:solidFill>
                  <a:srgbClr val="000000"/>
                </a:solidFill>
                <a:latin typeface="Cascadia Mono" panose="020B0609020000020004" pitchFamily="49" charset="0"/>
              </a:rPr>
              <a:t>(name);</a:t>
            </a:r>
          </a:p>
          <a:p>
            <a:r>
              <a:rPr lang="sv-SE" sz="1050" dirty="0">
                <a:solidFill>
                  <a:srgbClr val="000000"/>
                </a:solidFill>
                <a:latin typeface="Cascadia Mono" panose="020B0609020000020004" pitchFamily="49" charset="0"/>
              </a:rPr>
              <a:t>            foreach (var d in list)</a:t>
            </a:r>
          </a:p>
          <a:p>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d.Id</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d.Name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d.Gender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d.Salary</a:t>
            </a:r>
            <a:r>
              <a:rPr lang="en-IN" sz="1050" dirty="0">
                <a:solidFill>
                  <a:srgbClr val="000000"/>
                </a:solidFill>
                <a:latin typeface="Cascadia Mono" panose="020B0609020000020004" pitchFamily="49" charset="0"/>
              </a:rPr>
              <a:t>}");</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static  void </a:t>
            </a:r>
            <a:r>
              <a:rPr lang="en-IN" sz="1050" dirty="0" err="1">
                <a:solidFill>
                  <a:srgbClr val="000000"/>
                </a:solidFill>
                <a:latin typeface="Cascadia Mono" panose="020B0609020000020004" pitchFamily="49" charset="0"/>
              </a:rPr>
              <a:t>displaybyId</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int</a:t>
            </a:r>
            <a:r>
              <a:rPr lang="en-IN" sz="1050" dirty="0">
                <a:solidFill>
                  <a:srgbClr val="000000"/>
                </a:solidFill>
                <a:latin typeface="Cascadia Mono" panose="020B0609020000020004" pitchFamily="49" charset="0"/>
              </a:rPr>
              <a:t> id)</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Employee d=</a:t>
            </a:r>
            <a:r>
              <a:rPr lang="en-IN" sz="1050" dirty="0" err="1">
                <a:solidFill>
                  <a:srgbClr val="000000"/>
                </a:solidFill>
                <a:latin typeface="Cascadia Mono" panose="020B0609020000020004" pitchFamily="49" charset="0"/>
              </a:rPr>
              <a:t>EmployeeService.Getemp</a:t>
            </a:r>
            <a:r>
              <a:rPr lang="en-IN" sz="1050" dirty="0">
                <a:solidFill>
                  <a:srgbClr val="000000"/>
                </a:solidFill>
                <a:latin typeface="Cascadia Mono" panose="020B0609020000020004" pitchFamily="49" charset="0"/>
              </a:rPr>
              <a:t>(id);</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d.Id</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d.Name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d.Gender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d.Salary</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endParaRPr lang="en-IN" sz="1050" dirty="0"/>
          </a:p>
        </p:txBody>
      </p:sp>
    </p:spTree>
    <p:extLst>
      <p:ext uri="{BB962C8B-B14F-4D97-AF65-F5344CB8AC3E}">
        <p14:creationId xmlns:p14="http://schemas.microsoft.com/office/powerpoint/2010/main" val="1007159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Trebuchet MS">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4490</TotalTime>
  <Words>3459</Words>
  <Application>Microsoft Office PowerPoint</Application>
  <PresentationFormat>On-screen Show (4:3)</PresentationFormat>
  <Paragraphs>547</Paragraphs>
  <Slides>30</Slides>
  <Notes>1</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PowerPoint Presentation</vt:lpstr>
      <vt:lpstr>LinQ</vt:lpstr>
      <vt:lpstr>PowerPoint Presentation</vt:lpstr>
      <vt:lpstr>Why extension method</vt:lpstr>
      <vt:lpstr>Extension method</vt:lpstr>
      <vt:lpstr>PowerPoint Presentation</vt:lpstr>
      <vt:lpstr>Demo1</vt:lpstr>
      <vt:lpstr>Lets see if you do not use linQ </vt:lpstr>
      <vt:lpstr>For better understanding</vt:lpstr>
      <vt:lpstr>PowerPoint Presentation</vt:lpstr>
      <vt:lpstr>Each method return collection of object you can chain it using dot operator</vt:lpstr>
      <vt:lpstr>PowerPoint Presentation</vt:lpstr>
      <vt:lpstr>The Role of Deferred Execution</vt:lpstr>
      <vt:lpstr>Deferred Execution</vt:lpstr>
      <vt:lpstr>PowerPoint Presentation</vt:lpstr>
      <vt:lpstr>The Role of Immediate Execution</vt:lpstr>
      <vt:lpstr>You might wonder exactly how you could return a query result to an external caller. The answer is, it depends.   If you have a result set consisting of strongly typed data, such as   an array of strings or  a List&lt;T&gt; of Cars,   you could abandon the use of the var keyword and use a proper IEnumerable&lt;T&gt; or IEnumerable type (again, as IEnumerable&lt;T&gt; extends IEnumerable). Consider the  following example for a new Console Application named LinqRetValues: </vt:lpstr>
      <vt:lpstr>Because it is a bit inconvenient to operate on IEnumerable&lt;T&gt;, you could make use of immediate execution. For example, rather than returning IEnumerable&lt;string&gt;, you could simply return a string[], provided that you transform the sequence to a strongly typed array. Consider this new method of the Program class, which does this very thing: </vt:lpstr>
      <vt:lpstr>PowerPoint Presentation</vt:lpstr>
      <vt:lpstr>Lets solve following query after reading above array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 Handelling</dc:title>
  <dc:creator>Theory</dc:creator>
  <cp:lastModifiedBy>DELL</cp:lastModifiedBy>
  <cp:revision>161</cp:revision>
  <dcterms:created xsi:type="dcterms:W3CDTF">2012-05-24T05:32:28Z</dcterms:created>
  <dcterms:modified xsi:type="dcterms:W3CDTF">2025-04-11T07:59:09Z</dcterms:modified>
</cp:coreProperties>
</file>