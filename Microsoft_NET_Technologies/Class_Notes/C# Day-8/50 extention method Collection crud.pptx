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7" r:id="rId2"/>
    <p:sldId id="271" r:id="rId3"/>
    <p:sldId id="270" r:id="rId4"/>
    <p:sldId id="272" r:id="rId5"/>
    <p:sldId id="273" r:id="rId6"/>
    <p:sldId id="274" r:id="rId7"/>
    <p:sldId id="275"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0" d="100"/>
          <a:sy n="90" d="100"/>
        </p:scale>
        <p:origin x="686" y="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548FC8-179F-4B2E-8A39-D3DD0F2C6554}" type="datetimeFigureOut">
              <a:rPr lang="en-IN" smtClean="0"/>
              <a:t>15-10-2024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D7305B-C6AF-4C59-B2E4-1F9F0FB5E7C6}" type="slidenum">
              <a:rPr lang="en-IN" smtClean="0"/>
              <a:t>‹#›</a:t>
            </a:fld>
            <a:endParaRPr lang="en-IN"/>
          </a:p>
        </p:txBody>
      </p:sp>
    </p:spTree>
    <p:extLst>
      <p:ext uri="{BB962C8B-B14F-4D97-AF65-F5344CB8AC3E}">
        <p14:creationId xmlns:p14="http://schemas.microsoft.com/office/powerpoint/2010/main" val="108626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IN" dirty="0"/>
          </a:p>
        </p:txBody>
      </p:sp>
      <p:sp>
        <p:nvSpPr>
          <p:cNvPr id="4" name="Slide Number Placeholder 3"/>
          <p:cNvSpPr>
            <a:spLocks noGrp="1"/>
          </p:cNvSpPr>
          <p:nvPr>
            <p:ph type="sldNum" sz="quarter" idx="10"/>
          </p:nvPr>
        </p:nvSpPr>
        <p:spPr/>
        <p:txBody>
          <a:bodyPr/>
          <a:lstStyle/>
          <a:p>
            <a:fld id="{51D7305B-C6AF-4C59-B2E4-1F9F0FB5E7C6}" type="slidenum">
              <a:rPr lang="en-IN" smtClean="0"/>
              <a:t>3</a:t>
            </a:fld>
            <a:endParaRPr lang="en-IN"/>
          </a:p>
        </p:txBody>
      </p:sp>
    </p:spTree>
    <p:extLst>
      <p:ext uri="{BB962C8B-B14F-4D97-AF65-F5344CB8AC3E}">
        <p14:creationId xmlns:p14="http://schemas.microsoft.com/office/powerpoint/2010/main" val="35789451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1143000"/>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49FE38-F050-47FC-972A-2C62A7FE0238}" type="datetimeFigureOut">
              <a:rPr lang="en-US" smtClean="0"/>
              <a:pPr/>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750578-D8D6-4767-8C49-4EFFCBD988B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49FE38-F050-47FC-972A-2C62A7FE0238}" type="datetimeFigureOut">
              <a:rPr lang="en-US" smtClean="0"/>
              <a:pPr/>
              <a:t>10/15/2024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50578-D8D6-4767-8C49-4EFFCBD988B0}" type="slidenum">
              <a:rPr lang="en-US" smtClean="0"/>
              <a:pPr/>
              <a:t>‹#›</a:t>
            </a:fld>
            <a:endParaRPr lang="en-US"/>
          </a:p>
        </p:txBody>
      </p:sp>
      <p:pic>
        <p:nvPicPr>
          <p:cNvPr id="8" name="Picture 7">
            <a:extLst>
              <a:ext uri="{FF2B5EF4-FFF2-40B4-BE49-F238E27FC236}">
                <a16:creationId xmlns:a16="http://schemas.microsoft.com/office/drawing/2014/main" id="{5F35BFC4-6EE2-4A43-98E9-146BD6B5190C}"/>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0" y="-126806"/>
            <a:ext cx="1282699" cy="857534"/>
          </a:xfrm>
          <a:prstGeom prst="rect">
            <a:avLst/>
          </a:prstGeom>
        </p:spPr>
      </p:pic>
      <p:sp>
        <p:nvSpPr>
          <p:cNvPr id="10" name="Rectangle 9">
            <a:extLst>
              <a:ext uri="{FF2B5EF4-FFF2-40B4-BE49-F238E27FC236}">
                <a16:creationId xmlns:a16="http://schemas.microsoft.com/office/drawing/2014/main" id="{1DC139F7-30EE-4C3C-BBF4-BAD32D2B5D66}"/>
              </a:ext>
            </a:extLst>
          </p:cNvPr>
          <p:cNvSpPr/>
          <p:nvPr userDrawn="1"/>
        </p:nvSpPr>
        <p:spPr>
          <a:xfrm>
            <a:off x="0" y="6567586"/>
            <a:ext cx="1219200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314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1543050" y="3886201"/>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25316-2227-4E4F-8115-27ECDC1B52FE}"/>
              </a:ext>
            </a:extLst>
          </p:cNvPr>
          <p:cNvSpPr>
            <a:spLocks noGrp="1"/>
          </p:cNvSpPr>
          <p:nvPr>
            <p:ph type="title"/>
          </p:nvPr>
        </p:nvSpPr>
        <p:spPr>
          <a:xfrm>
            <a:off x="1524000" y="0"/>
            <a:ext cx="6553200" cy="411162"/>
          </a:xfrm>
        </p:spPr>
        <p:txBody>
          <a:bodyPr>
            <a:normAutofit fontScale="90000"/>
          </a:bodyPr>
          <a:lstStyle/>
          <a:p>
            <a:r>
              <a:rPr lang="en-IN" dirty="0"/>
              <a:t>Why extension method</a:t>
            </a:r>
          </a:p>
        </p:txBody>
      </p:sp>
      <p:sp>
        <p:nvSpPr>
          <p:cNvPr id="3" name="Content Placeholder 2">
            <a:extLst>
              <a:ext uri="{FF2B5EF4-FFF2-40B4-BE49-F238E27FC236}">
                <a16:creationId xmlns:a16="http://schemas.microsoft.com/office/drawing/2014/main" id="{EF80D616-28D5-4107-9BA7-C7A4ABBECCDA}"/>
              </a:ext>
            </a:extLst>
          </p:cNvPr>
          <p:cNvSpPr>
            <a:spLocks noGrp="1"/>
          </p:cNvSpPr>
          <p:nvPr>
            <p:ph idx="1"/>
          </p:nvPr>
        </p:nvSpPr>
        <p:spPr>
          <a:xfrm>
            <a:off x="152400" y="990600"/>
            <a:ext cx="8534400" cy="5135563"/>
          </a:xfrm>
        </p:spPr>
        <p:txBody>
          <a:bodyPr>
            <a:normAutofit fontScale="85000" lnSpcReduction="10000"/>
          </a:bodyPr>
          <a:lstStyle/>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where might this be helpful?     Consider the following possibilities.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First off, say you have a given class that is in production. It becomes clear over time that this class should support a handful of new members. If you were to modify the current class definition directly, you risk the possibility of breaking backward compatibility with older code bases making use of it, as they might not have been compiled with the latest and greatest class definition. One way to ensure backward compatibility would be to create a new derived class from the existing parent; however, now you have two classes to maintain. As we all know, code maintenance is least glamorous part of a software engineer’s job description.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Now consider this situation. Let’s say you have a structure (or maybe a sealed class) and would like to add new members so that it behaves polymorphically in your system. Since structures and sealed classes cannot be extended, your only choice is to add the members to the type, once again risking backward compatibility!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Using extension methods, you are able to modify types without </a:t>
            </a:r>
            <a:r>
              <a:rPr lang="en-IN" sz="1800" dirty="0" err="1">
                <a:effectLst/>
                <a:latin typeface="Cambria" panose="02040503050406030204" pitchFamily="18" charset="0"/>
                <a:ea typeface="Calibri" panose="020F0502020204030204" pitchFamily="34" charset="0"/>
                <a:cs typeface="Utopia-Regular"/>
              </a:rPr>
              <a:t>subclassing</a:t>
            </a:r>
            <a:r>
              <a:rPr lang="en-IN" sz="1800" dirty="0">
                <a:effectLst/>
                <a:latin typeface="Cambria" panose="02040503050406030204" pitchFamily="18" charset="0"/>
                <a:ea typeface="Calibri" panose="020F0502020204030204" pitchFamily="34" charset="0"/>
                <a:cs typeface="Utopia-Regular"/>
              </a:rPr>
              <a:t> and without modifying the type directly.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To be sure, this technique is essentially a smoke and mirror show. The new functionality is only offered to a type if the extension methods have been referenced for use in your current project.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37540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A5BA3-B1C9-4968-B049-BBBA806B2072}"/>
              </a:ext>
            </a:extLst>
          </p:cNvPr>
          <p:cNvSpPr>
            <a:spLocks noGrp="1"/>
          </p:cNvSpPr>
          <p:nvPr>
            <p:ph type="title"/>
          </p:nvPr>
        </p:nvSpPr>
        <p:spPr>
          <a:xfrm>
            <a:off x="479323" y="-17206"/>
            <a:ext cx="8131277" cy="626806"/>
          </a:xfrm>
        </p:spPr>
        <p:txBody>
          <a:bodyPr>
            <a:normAutofit fontScale="90000"/>
          </a:bodyPr>
          <a:lstStyle/>
          <a:p>
            <a:r>
              <a:rPr lang="en-IN" dirty="0"/>
              <a:t>Extension method</a:t>
            </a:r>
          </a:p>
        </p:txBody>
      </p:sp>
      <p:sp>
        <p:nvSpPr>
          <p:cNvPr id="3" name="Content Placeholder 2">
            <a:extLst>
              <a:ext uri="{FF2B5EF4-FFF2-40B4-BE49-F238E27FC236}">
                <a16:creationId xmlns:a16="http://schemas.microsoft.com/office/drawing/2014/main" id="{7B9F2F0E-DD61-4DC1-9C52-B680E5556DC7}"/>
              </a:ext>
            </a:extLst>
          </p:cNvPr>
          <p:cNvSpPr>
            <a:spLocks noGrp="1"/>
          </p:cNvSpPr>
          <p:nvPr>
            <p:ph idx="1"/>
          </p:nvPr>
        </p:nvSpPr>
        <p:spPr>
          <a:xfrm>
            <a:off x="381000" y="838200"/>
            <a:ext cx="8305800" cy="5287963"/>
          </a:xfrm>
        </p:spPr>
        <p:txBody>
          <a:bodyPr/>
          <a:lstStyle/>
          <a:p>
            <a:r>
              <a:rPr lang="en-IN" sz="1800" dirty="0">
                <a:effectLst/>
                <a:latin typeface="Cambria" panose="02040503050406030204" pitchFamily="18" charset="0"/>
                <a:ea typeface="Calibri" panose="020F0502020204030204" pitchFamily="34" charset="0"/>
                <a:cs typeface="Utopia-Regular"/>
              </a:rPr>
              <a:t>.NET 3.5 introduced the concept of </a:t>
            </a:r>
            <a:r>
              <a:rPr lang="en-IN" sz="1800" i="1" dirty="0">
                <a:effectLst/>
                <a:latin typeface="Cambria" panose="02040503050406030204" pitchFamily="18" charset="0"/>
                <a:ea typeface="Calibri" panose="020F0502020204030204" pitchFamily="34" charset="0"/>
                <a:cs typeface="Utopia-Italic"/>
              </a:rPr>
              <a:t>extension methods</a:t>
            </a:r>
            <a:r>
              <a:rPr lang="en-IN" sz="1800" dirty="0">
                <a:effectLst/>
                <a:latin typeface="Cambria" panose="02040503050406030204" pitchFamily="18" charset="0"/>
                <a:ea typeface="Calibri" panose="020F0502020204030204" pitchFamily="34" charset="0"/>
                <a:cs typeface="Utopia-Regular"/>
              </a:rPr>
              <a:t>, which allow you to add new methods or properties to a class or structure, without modifying the original type in any direct manner. </a:t>
            </a:r>
          </a:p>
          <a:p>
            <a:pPr>
              <a:lnSpc>
                <a:spcPct val="115000"/>
              </a:lnSpc>
              <a:spcAft>
                <a:spcPts val="1000"/>
              </a:spcAft>
            </a:pPr>
            <a:r>
              <a:rPr lang="en-IN" sz="1800" b="1" dirty="0">
                <a:effectLst/>
                <a:latin typeface="Cambria" panose="02040503050406030204" pitchFamily="18" charset="0"/>
                <a:ea typeface="Calibri" panose="020F0502020204030204" pitchFamily="34" charset="0"/>
                <a:cs typeface="Utopia-Regular"/>
              </a:rPr>
              <a:t>Defining Extension Methods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When you define extension methods, the first restriction is that they must be defined within </a:t>
            </a:r>
            <a:r>
              <a:rPr lang="en-IN" sz="1800" b="1" dirty="0">
                <a:effectLst/>
                <a:latin typeface="Cambria" panose="02040503050406030204" pitchFamily="18" charset="0"/>
                <a:ea typeface="Calibri" panose="020F0502020204030204" pitchFamily="34" charset="0"/>
                <a:cs typeface="Utopia-Regular"/>
              </a:rPr>
              <a:t>a static class</a:t>
            </a:r>
            <a:r>
              <a:rPr lang="en-IN" sz="1800" dirty="0">
                <a:effectLst/>
                <a:latin typeface="Cambria" panose="02040503050406030204" pitchFamily="18" charset="0"/>
                <a:ea typeface="Calibri" panose="020F0502020204030204" pitchFamily="34" charset="0"/>
                <a:cs typeface="Utopia-Regular"/>
              </a:rPr>
              <a:t>, therefore, each extension method must be declared with the </a:t>
            </a:r>
            <a:r>
              <a:rPr lang="en-IN" sz="1800" dirty="0">
                <a:effectLst/>
                <a:latin typeface="Cambria" panose="02040503050406030204" pitchFamily="18" charset="0"/>
                <a:ea typeface="Calibri" panose="020F0502020204030204" pitchFamily="34" charset="0"/>
                <a:cs typeface="TheSansMonoConNormal"/>
              </a:rPr>
              <a:t>static </a:t>
            </a:r>
            <a:r>
              <a:rPr lang="en-IN" sz="1800" dirty="0">
                <a:effectLst/>
                <a:latin typeface="Cambria" panose="02040503050406030204" pitchFamily="18" charset="0"/>
                <a:ea typeface="Calibri" panose="020F0502020204030204" pitchFamily="34" charset="0"/>
                <a:cs typeface="Utopia-Regular"/>
              </a:rPr>
              <a:t>keyword.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  The second point is that all extension methods are marked as such by using </a:t>
            </a:r>
            <a:r>
              <a:rPr lang="en-IN" sz="1800" b="1" dirty="0">
                <a:effectLst/>
                <a:latin typeface="Cambria" panose="02040503050406030204" pitchFamily="18" charset="0"/>
                <a:ea typeface="Calibri" panose="020F0502020204030204" pitchFamily="34" charset="0"/>
                <a:cs typeface="Utopia-Regular"/>
              </a:rPr>
              <a:t>the </a:t>
            </a:r>
            <a:r>
              <a:rPr lang="en-IN" sz="1800" b="1" dirty="0">
                <a:effectLst/>
                <a:latin typeface="Cambria" panose="02040503050406030204" pitchFamily="18" charset="0"/>
                <a:ea typeface="Calibri" panose="020F0502020204030204" pitchFamily="34" charset="0"/>
                <a:cs typeface="TheSansMonoConNormal"/>
              </a:rPr>
              <a:t>this </a:t>
            </a:r>
            <a:r>
              <a:rPr lang="en-IN" sz="1800" b="1" dirty="0">
                <a:effectLst/>
                <a:latin typeface="Cambria" panose="02040503050406030204" pitchFamily="18" charset="0"/>
                <a:ea typeface="Calibri" panose="020F0502020204030204" pitchFamily="34" charset="0"/>
                <a:cs typeface="Utopia-Regular"/>
              </a:rPr>
              <a:t>keyword as a modifier </a:t>
            </a:r>
            <a:r>
              <a:rPr lang="en-IN" sz="1800" dirty="0">
                <a:effectLst/>
                <a:latin typeface="Cambria" panose="02040503050406030204" pitchFamily="18" charset="0"/>
                <a:ea typeface="Calibri" panose="020F0502020204030204" pitchFamily="34" charset="0"/>
                <a:cs typeface="Utopia-Regular"/>
              </a:rPr>
              <a:t>on the </a:t>
            </a:r>
            <a:r>
              <a:rPr lang="en-IN" sz="1800" b="1" dirty="0">
                <a:effectLst/>
                <a:latin typeface="Cambria" panose="02040503050406030204" pitchFamily="18" charset="0"/>
                <a:ea typeface="Calibri" panose="020F0502020204030204" pitchFamily="34" charset="0"/>
                <a:cs typeface="Utopia-Regular"/>
              </a:rPr>
              <a:t>first</a:t>
            </a:r>
            <a:r>
              <a:rPr lang="en-IN" sz="1800" dirty="0">
                <a:effectLst/>
                <a:latin typeface="Cambria" panose="02040503050406030204" pitchFamily="18" charset="0"/>
                <a:ea typeface="Calibri" panose="020F0502020204030204" pitchFamily="34" charset="0"/>
                <a:cs typeface="Utopia-Regular"/>
              </a:rPr>
              <a:t> (and only the first) parameter of the method in question.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IN" sz="1800" dirty="0">
                <a:effectLst/>
                <a:latin typeface="Cambria" panose="02040503050406030204" pitchFamily="18" charset="0"/>
                <a:ea typeface="Calibri" panose="020F0502020204030204" pitchFamily="34" charset="0"/>
                <a:cs typeface="Utopia-Regular"/>
              </a:rPr>
              <a:t>The “this qualified” parameter represents the item being extended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9599729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hought Bubble: Cloud 8">
            <a:extLst>
              <a:ext uri="{FF2B5EF4-FFF2-40B4-BE49-F238E27FC236}">
                <a16:creationId xmlns:a16="http://schemas.microsoft.com/office/drawing/2014/main" id="{75EAB015-21A0-4C52-8B32-5B22FF40C73E}"/>
              </a:ext>
            </a:extLst>
          </p:cNvPr>
          <p:cNvSpPr/>
          <p:nvPr/>
        </p:nvSpPr>
        <p:spPr>
          <a:xfrm>
            <a:off x="1981200" y="609600"/>
            <a:ext cx="1752600" cy="1861066"/>
          </a:xfrm>
          <a:prstGeom prst="cloud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A440C14E-1342-4A6C-B7F8-13A46481B80F}"/>
              </a:ext>
            </a:extLst>
          </p:cNvPr>
          <p:cNvSpPr>
            <a:spLocks noGrp="1"/>
          </p:cNvSpPr>
          <p:nvPr>
            <p:ph type="title"/>
          </p:nvPr>
        </p:nvSpPr>
        <p:spPr>
          <a:xfrm>
            <a:off x="1066800" y="0"/>
            <a:ext cx="7620000" cy="258762"/>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3C6C3582-C4CD-48D8-9B08-CF85FC8F8240}"/>
              </a:ext>
            </a:extLst>
          </p:cNvPr>
          <p:cNvSpPr>
            <a:spLocks noGrp="1"/>
          </p:cNvSpPr>
          <p:nvPr>
            <p:ph idx="1"/>
          </p:nvPr>
        </p:nvSpPr>
        <p:spPr>
          <a:xfrm>
            <a:off x="4191000" y="258762"/>
            <a:ext cx="5791200" cy="5943600"/>
          </a:xfrm>
        </p:spPr>
        <p:txBody>
          <a:bodyPr>
            <a:noAutofit/>
          </a:bodyPr>
          <a:lstStyle/>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System;</a:t>
            </a:r>
          </a:p>
          <a:p>
            <a:pPr marL="0" indent="0">
              <a:buNone/>
            </a:pPr>
            <a:r>
              <a:rPr lang="en-IN" sz="1400" dirty="0">
                <a:solidFill>
                  <a:srgbClr val="0000FF"/>
                </a:solidFill>
                <a:highlight>
                  <a:srgbClr val="FFFFFF"/>
                </a:highlight>
                <a:latin typeface="Consolas" panose="020B0609020204030204" pitchFamily="49" charset="0"/>
              </a:rPr>
              <a:t>using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System.Collections.Generic</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FF"/>
                </a:solidFill>
                <a:highlight>
                  <a:srgbClr val="FFFFFF"/>
                </a:highlight>
                <a:latin typeface="Consolas" panose="020B0609020204030204" pitchFamily="49" charset="0"/>
              </a:rPr>
              <a:t>namespace</a:t>
            </a:r>
            <a:r>
              <a:rPr lang="en-IN" sz="1400" dirty="0">
                <a:solidFill>
                  <a:srgbClr val="000000"/>
                </a:solidFill>
                <a:highlight>
                  <a:srgbClr val="FFFFFF"/>
                </a:highlight>
                <a:latin typeface="Consolas" panose="020B0609020204030204" pitchFamily="49" charset="0"/>
              </a:rPr>
              <a:t> ConsoleApplication20</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class</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Program</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static</a:t>
            </a:r>
            <a:r>
              <a:rPr lang="en-US" sz="1400" dirty="0">
                <a:solidFill>
                  <a:srgbClr val="000000"/>
                </a:solidFill>
                <a:highlight>
                  <a:srgbClr val="FFFFFF"/>
                </a:highlight>
                <a:latin typeface="Consolas" panose="020B0609020204030204" pitchFamily="49" charset="0"/>
              </a:rPr>
              <a:t> </a:t>
            </a:r>
            <a:r>
              <a:rPr lang="en-US" sz="1400" dirty="0">
                <a:solidFill>
                  <a:srgbClr val="0000FF"/>
                </a:solidFill>
                <a:highlight>
                  <a:srgbClr val="FFFFFF"/>
                </a:highlight>
                <a:latin typeface="Consolas" panose="020B0609020204030204" pitchFamily="49" charset="0"/>
              </a:rPr>
              <a:t>void</a:t>
            </a:r>
            <a:r>
              <a:rPr lang="en-US" sz="1400" dirty="0">
                <a:solidFill>
                  <a:srgbClr val="000000"/>
                </a:solidFill>
                <a:highlight>
                  <a:srgbClr val="FFFFFF"/>
                </a:highlight>
                <a:latin typeface="Consolas" panose="020B0609020204030204" pitchFamily="49" charset="0"/>
              </a:rPr>
              <a:t> Main(</a:t>
            </a:r>
            <a:r>
              <a:rPr lang="en-US" sz="1400" dirty="0">
                <a:solidFill>
                  <a:srgbClr val="0000FF"/>
                </a:solidFill>
                <a:highlight>
                  <a:srgbClr val="FFFFFF"/>
                </a:highlight>
                <a:latin typeface="Consolas" panose="020B0609020204030204" pitchFamily="49" charset="0"/>
              </a:rPr>
              <a:t>string</a:t>
            </a: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args</a:t>
            </a:r>
            <a:r>
              <a:rPr lang="en-US"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str = </a:t>
            </a:r>
            <a:r>
              <a:rPr lang="en-IN" sz="1400" dirty="0">
                <a:solidFill>
                  <a:srgbClr val="A31515"/>
                </a:solidFill>
                <a:highlight>
                  <a:srgbClr val="FFFFFF"/>
                </a:highlight>
                <a:latin typeface="Consolas" panose="020B0609020204030204" pitchFamily="49" charset="0"/>
              </a:rPr>
              <a:t>“</a:t>
            </a:r>
            <a:r>
              <a:rPr lang="en-IN" sz="1400" dirty="0" err="1">
                <a:solidFill>
                  <a:srgbClr val="A31515"/>
                </a:solidFill>
                <a:highlight>
                  <a:srgbClr val="FFFFFF"/>
                </a:highlight>
                <a:latin typeface="Consolas" panose="020B0609020204030204" pitchFamily="49" charset="0"/>
              </a:rPr>
              <a:t>edac</a:t>
            </a:r>
            <a:r>
              <a:rPr lang="en-IN" sz="1400" dirty="0">
                <a:solidFill>
                  <a:srgbClr val="A31515"/>
                </a:solidFill>
                <a:highlight>
                  <a:srgbClr val="FFFFFF"/>
                </a:highlight>
                <a:latin typeface="Consolas" panose="020B0609020204030204" pitchFamily="49" charset="0"/>
              </a:rPr>
              <a:t>"</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string</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 = </a:t>
            </a:r>
            <a:r>
              <a:rPr lang="en-IN" sz="1400" dirty="0" err="1">
                <a:solidFill>
                  <a:srgbClr val="000000"/>
                </a:solidFill>
                <a:highlight>
                  <a:srgbClr val="FFFFFF"/>
                </a:highlight>
                <a:latin typeface="Consolas" panose="020B0609020204030204" pitchFamily="49" charset="0"/>
              </a:rPr>
              <a:t>str.changefirstlett</a:t>
            </a:r>
            <a:r>
              <a:rPr lang="en-IN" sz="1400" dirty="0">
                <a:solidFill>
                  <a:srgbClr val="000000"/>
                </a:solidFill>
                <a:highlight>
                  <a:srgbClr val="FFFFFF"/>
                </a:highlight>
                <a:latin typeface="Consolas" panose="020B0609020204030204" pitchFamily="49" charset="0"/>
              </a:rPr>
              <a:t>(“hello”);</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.WriteLine</a:t>
            </a:r>
            <a:r>
              <a:rPr lang="en-IN" sz="1400" dirty="0">
                <a:solidFill>
                  <a:srgbClr val="000000"/>
                </a:solidFill>
                <a:highlight>
                  <a:srgbClr val="FFFFFF"/>
                </a:highlight>
                <a:latin typeface="Consolas" panose="020B0609020204030204" pitchFamily="49" charset="0"/>
              </a:rPr>
              <a:t>(</a:t>
            </a:r>
            <a:r>
              <a:rPr lang="en-IN" sz="1400" dirty="0" err="1">
                <a:solidFill>
                  <a:srgbClr val="000000"/>
                </a:solidFill>
                <a:highlight>
                  <a:srgbClr val="FFFFFF"/>
                </a:highlight>
                <a:latin typeface="Consolas" panose="020B0609020204030204" pitchFamily="49" charset="0"/>
              </a:rPr>
              <a:t>rs</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2B91AF"/>
                </a:solidFill>
                <a:highlight>
                  <a:srgbClr val="FFFFFF"/>
                </a:highlight>
                <a:latin typeface="Consolas" panose="020B0609020204030204" pitchFamily="49" charset="0"/>
              </a:rPr>
              <a:t>Console</a:t>
            </a:r>
            <a:r>
              <a:rPr lang="en-IN" sz="1400" dirty="0" err="1">
                <a:solidFill>
                  <a:srgbClr val="000000"/>
                </a:solidFill>
                <a:highlight>
                  <a:srgbClr val="FFFFFF"/>
                </a:highlight>
                <a:latin typeface="Consolas" panose="020B0609020204030204" pitchFamily="49" charset="0"/>
              </a:rPr>
              <a:t>.ReadLine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a:t>
            </a:r>
            <a:r>
              <a:rPr lang="en-US" sz="1400" dirty="0" err="1">
                <a:solidFill>
                  <a:srgbClr val="008000"/>
                </a:solidFill>
                <a:highlight>
                  <a:srgbClr val="FFFFFF"/>
                </a:highlight>
                <a:latin typeface="Consolas" panose="020B0609020204030204" pitchFamily="49" charset="0"/>
              </a:rPr>
              <a:t>obsereve</a:t>
            </a:r>
            <a:r>
              <a:rPr lang="en-US" sz="1400" dirty="0">
                <a:solidFill>
                  <a:srgbClr val="008000"/>
                </a:solidFill>
                <a:highlight>
                  <a:srgbClr val="FFFFFF"/>
                </a:highlight>
                <a:latin typeface="Consolas" panose="020B0609020204030204" pitchFamily="49" charset="0"/>
              </a:rPr>
              <a:t> class is  static and use of this key words</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endParaRPr lang="en-IN" sz="1400" dirty="0"/>
          </a:p>
        </p:txBody>
      </p:sp>
      <p:sp>
        <p:nvSpPr>
          <p:cNvPr id="4" name="TextBox 3">
            <a:extLst>
              <a:ext uri="{FF2B5EF4-FFF2-40B4-BE49-F238E27FC236}">
                <a16:creationId xmlns:a16="http://schemas.microsoft.com/office/drawing/2014/main" id="{A5F8BDCC-47CD-439F-8903-07B3CE2BCC33}"/>
              </a:ext>
            </a:extLst>
          </p:cNvPr>
          <p:cNvSpPr txBox="1"/>
          <p:nvPr/>
        </p:nvSpPr>
        <p:spPr>
          <a:xfrm>
            <a:off x="228600" y="4038600"/>
            <a:ext cx="8915400" cy="2862322"/>
          </a:xfrm>
          <a:prstGeom prst="rect">
            <a:avLst/>
          </a:prstGeom>
          <a:noFill/>
        </p:spPr>
        <p:txBody>
          <a:bodyPr wrap="square" rtlCol="0">
            <a:spAutoFit/>
          </a:bodyPr>
          <a:lstStyle/>
          <a:p>
            <a:pPr marL="0" indent="0">
              <a:buNone/>
            </a:pP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strhelp</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static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changefirstlett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this</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inp,string</a:t>
            </a:r>
            <a:r>
              <a:rPr lang="en-US" sz="1200" dirty="0">
                <a:solidFill>
                  <a:srgbClr val="000000"/>
                </a:solidFill>
                <a:highlight>
                  <a:srgbClr val="FFFFFF"/>
                </a:highlight>
                <a:latin typeface="Consolas" panose="020B0609020204030204" pitchFamily="49" charset="0"/>
              </a:rPr>
              <a:t> s)</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inp.Length</a:t>
            </a:r>
            <a:r>
              <a:rPr lang="en-IN" sz="1200" dirty="0">
                <a:solidFill>
                  <a:srgbClr val="000000"/>
                </a:solidFill>
                <a:highlight>
                  <a:srgbClr val="FFFFFF"/>
                </a:highlight>
                <a:latin typeface="Consolas" panose="020B0609020204030204" pitchFamily="49" charset="0"/>
              </a:rPr>
              <a:t> &gt; 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char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inp.ToCharArray</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.IsUpper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.ToLower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 : </a:t>
            </a:r>
            <a:r>
              <a:rPr lang="en-IN" sz="1200" dirty="0" err="1">
                <a:solidFill>
                  <a:srgbClr val="0000FF"/>
                </a:solidFill>
                <a:highlight>
                  <a:srgbClr val="FFFFFF"/>
                </a:highlight>
                <a:latin typeface="Consolas" panose="020B0609020204030204" pitchFamily="49" charset="0"/>
              </a:rPr>
              <a:t>char</a:t>
            </a:r>
            <a:r>
              <a:rPr lang="en-IN" sz="1200" dirty="0" err="1">
                <a:solidFill>
                  <a:srgbClr val="000000"/>
                </a:solidFill>
                <a:highlight>
                  <a:srgbClr val="FFFFFF"/>
                </a:highlight>
                <a:latin typeface="Consolas" panose="020B0609020204030204" pitchFamily="49" charset="0"/>
              </a:rPr>
              <a:t>.ToUpper</a:t>
            </a:r>
            <a:r>
              <a:rPr lang="en-IN" sz="1200" dirty="0">
                <a:solidFill>
                  <a:srgbClr val="000000"/>
                </a:solidFill>
                <a:highlight>
                  <a:srgbClr val="FFFFFF"/>
                </a:highlight>
                <a:latin typeface="Consolas" panose="020B0609020204030204" pitchFamily="49" charset="0"/>
              </a:rPr>
              <a:t>(</a:t>
            </a:r>
            <a:r>
              <a:rPr lang="en-IN" sz="1200" dirty="0" err="1">
                <a:solidFill>
                  <a:srgbClr val="000000"/>
                </a:solidFill>
                <a:highlight>
                  <a:srgbClr val="FFFFFF"/>
                </a:highlight>
                <a:latin typeface="Consolas" panose="020B0609020204030204" pitchFamily="49" charset="0"/>
              </a:rPr>
              <a:t>char_arr</a:t>
            </a:r>
            <a:r>
              <a:rPr lang="en-IN" sz="1200" dirty="0">
                <a:solidFill>
                  <a:srgbClr val="000000"/>
                </a:solidFill>
                <a:highlight>
                  <a:srgbClr val="FFFFFF"/>
                </a:highlight>
                <a:latin typeface="Consolas" panose="020B0609020204030204" pitchFamily="49" charset="0"/>
              </a:rPr>
              <a:t>[0]);</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return</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new</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a:t>
            </a:r>
            <a:r>
              <a:rPr lang="en-US" sz="1200" dirty="0" err="1">
                <a:solidFill>
                  <a:srgbClr val="000000"/>
                </a:solidFill>
                <a:highlight>
                  <a:srgbClr val="FFFFFF"/>
                </a:highlight>
                <a:latin typeface="Consolas" panose="020B0609020204030204" pitchFamily="49" charset="0"/>
              </a:rPr>
              <a:t>char_arr</a:t>
            </a:r>
            <a:r>
              <a:rPr lang="en-US" sz="1200" dirty="0">
                <a:solidFill>
                  <a:srgbClr val="000000"/>
                </a:solidFill>
                <a:highlight>
                  <a:srgbClr val="FFFFFF"/>
                </a:highlight>
                <a:latin typeface="Consolas" panose="020B0609020204030204" pitchFamily="49" charset="0"/>
              </a:rPr>
              <a:t>)+s;</a:t>
            </a:r>
          </a:p>
          <a:p>
            <a:pPr marL="0" indent="0">
              <a:buNone/>
            </a:pPr>
            <a:r>
              <a:rPr lang="en-IN" sz="1200" dirty="0">
                <a:solidFill>
                  <a:srgbClr val="000000"/>
                </a:solidFill>
                <a:highlight>
                  <a:srgbClr val="FFFFFF"/>
                </a:highlight>
                <a:latin typeface="Consolas" panose="020B0609020204030204" pitchFamily="49" charset="0"/>
              </a:rPr>
              <a:t>            }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inp</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a:t>
            </a:r>
          </a:p>
        </p:txBody>
      </p:sp>
      <p:sp>
        <p:nvSpPr>
          <p:cNvPr id="5" name="Rectangle 4">
            <a:extLst>
              <a:ext uri="{FF2B5EF4-FFF2-40B4-BE49-F238E27FC236}">
                <a16:creationId xmlns:a16="http://schemas.microsoft.com/office/drawing/2014/main" id="{989E9DA7-7265-4722-B6C6-EAD10C90D767}"/>
              </a:ext>
            </a:extLst>
          </p:cNvPr>
          <p:cNvSpPr/>
          <p:nvPr/>
        </p:nvSpPr>
        <p:spPr>
          <a:xfrm>
            <a:off x="2286000" y="958334"/>
            <a:ext cx="9906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sp>
        <p:nvSpPr>
          <p:cNvPr id="6" name="TextBox 5">
            <a:extLst>
              <a:ext uri="{FF2B5EF4-FFF2-40B4-BE49-F238E27FC236}">
                <a16:creationId xmlns:a16="http://schemas.microsoft.com/office/drawing/2014/main" id="{5D23E854-6094-4747-ADEC-F31F105E26B6}"/>
              </a:ext>
            </a:extLst>
          </p:cNvPr>
          <p:cNvSpPr txBox="1"/>
          <p:nvPr/>
        </p:nvSpPr>
        <p:spPr>
          <a:xfrm>
            <a:off x="685800" y="1143000"/>
            <a:ext cx="457200" cy="369332"/>
          </a:xfrm>
          <a:prstGeom prst="rect">
            <a:avLst/>
          </a:prstGeom>
          <a:noFill/>
        </p:spPr>
        <p:txBody>
          <a:bodyPr wrap="square" rtlCol="0">
            <a:spAutoFit/>
          </a:bodyPr>
          <a:lstStyle/>
          <a:p>
            <a:r>
              <a:rPr lang="en-IN" dirty="0"/>
              <a:t>str</a:t>
            </a:r>
          </a:p>
        </p:txBody>
      </p:sp>
      <p:cxnSp>
        <p:nvCxnSpPr>
          <p:cNvPr id="8" name="Straight Arrow Connector 7">
            <a:extLst>
              <a:ext uri="{FF2B5EF4-FFF2-40B4-BE49-F238E27FC236}">
                <a16:creationId xmlns:a16="http://schemas.microsoft.com/office/drawing/2014/main" id="{B4BF5334-C710-4B3E-A74E-D5155ECC436E}"/>
              </a:ext>
            </a:extLst>
          </p:cNvPr>
          <p:cNvCxnSpPr>
            <a:stCxn id="6" idx="3"/>
          </p:cNvCxnSpPr>
          <p:nvPr/>
        </p:nvCxnSpPr>
        <p:spPr>
          <a:xfrm>
            <a:off x="1143000" y="1327666"/>
            <a:ext cx="838200" cy="4393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82E328CC-4FEB-493F-AC3A-9421B98D98FE}"/>
              </a:ext>
            </a:extLst>
          </p:cNvPr>
          <p:cNvSpPr txBox="1"/>
          <p:nvPr/>
        </p:nvSpPr>
        <p:spPr>
          <a:xfrm>
            <a:off x="173295" y="2997465"/>
            <a:ext cx="1170038" cy="369332"/>
          </a:xfrm>
          <a:prstGeom prst="rect">
            <a:avLst/>
          </a:prstGeom>
          <a:noFill/>
        </p:spPr>
        <p:txBody>
          <a:bodyPr wrap="square" rtlCol="0">
            <a:spAutoFit/>
          </a:bodyPr>
          <a:lstStyle/>
          <a:p>
            <a:r>
              <a:rPr lang="en-IN" dirty="0" err="1"/>
              <a:t>Char_arr</a:t>
            </a:r>
            <a:endParaRPr lang="en-IN" dirty="0"/>
          </a:p>
        </p:txBody>
      </p:sp>
      <p:cxnSp>
        <p:nvCxnSpPr>
          <p:cNvPr id="11" name="Straight Arrow Connector 10">
            <a:extLst>
              <a:ext uri="{FF2B5EF4-FFF2-40B4-BE49-F238E27FC236}">
                <a16:creationId xmlns:a16="http://schemas.microsoft.com/office/drawing/2014/main" id="{BF5A7BCE-7AF3-4BAE-98BB-642E24856F0F}"/>
              </a:ext>
            </a:extLst>
          </p:cNvPr>
          <p:cNvCxnSpPr>
            <a:cxnSpLocks/>
          </p:cNvCxnSpPr>
          <p:nvPr/>
        </p:nvCxnSpPr>
        <p:spPr>
          <a:xfrm flipV="1">
            <a:off x="914400" y="1722438"/>
            <a:ext cx="914400" cy="3672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aphicFrame>
        <p:nvGraphicFramePr>
          <p:cNvPr id="15" name="Table 15">
            <a:extLst>
              <a:ext uri="{FF2B5EF4-FFF2-40B4-BE49-F238E27FC236}">
                <a16:creationId xmlns:a16="http://schemas.microsoft.com/office/drawing/2014/main" id="{6C284A05-2B36-4850-AE93-7D7CB934D8D1}"/>
              </a:ext>
            </a:extLst>
          </p:cNvPr>
          <p:cNvGraphicFramePr>
            <a:graphicFrameLocks noGrp="1"/>
          </p:cNvGraphicFramePr>
          <p:nvPr>
            <p:extLst>
              <p:ext uri="{D42A27DB-BD31-4B8C-83A1-F6EECF244321}">
                <p14:modId xmlns:p14="http://schemas.microsoft.com/office/powerpoint/2010/main" val="2884084582"/>
              </p:ext>
            </p:extLst>
          </p:nvPr>
        </p:nvGraphicFramePr>
        <p:xfrm>
          <a:off x="1424448" y="2939534"/>
          <a:ext cx="2918952" cy="485194"/>
        </p:xfrm>
        <a:graphic>
          <a:graphicData uri="http://schemas.openxmlformats.org/drawingml/2006/table">
            <a:tbl>
              <a:tblPr firstRow="1" bandRow="1"/>
              <a:tblGrid>
                <a:gridCol w="729738">
                  <a:extLst>
                    <a:ext uri="{9D8B030D-6E8A-4147-A177-3AD203B41FA5}">
                      <a16:colId xmlns:a16="http://schemas.microsoft.com/office/drawing/2014/main" val="1487814617"/>
                    </a:ext>
                  </a:extLst>
                </a:gridCol>
                <a:gridCol w="729738">
                  <a:extLst>
                    <a:ext uri="{9D8B030D-6E8A-4147-A177-3AD203B41FA5}">
                      <a16:colId xmlns:a16="http://schemas.microsoft.com/office/drawing/2014/main" val="1597005031"/>
                    </a:ext>
                  </a:extLst>
                </a:gridCol>
                <a:gridCol w="729738">
                  <a:extLst>
                    <a:ext uri="{9D8B030D-6E8A-4147-A177-3AD203B41FA5}">
                      <a16:colId xmlns:a16="http://schemas.microsoft.com/office/drawing/2014/main" val="1629979148"/>
                    </a:ext>
                  </a:extLst>
                </a:gridCol>
                <a:gridCol w="729738">
                  <a:extLst>
                    <a:ext uri="{9D8B030D-6E8A-4147-A177-3AD203B41FA5}">
                      <a16:colId xmlns:a16="http://schemas.microsoft.com/office/drawing/2014/main" val="1322463696"/>
                    </a:ext>
                  </a:extLst>
                </a:gridCol>
              </a:tblGrid>
              <a:tr h="485194">
                <a:tc>
                  <a:txBody>
                    <a:bodyPr/>
                    <a:lstStyle/>
                    <a:p>
                      <a:pPr algn="ctr"/>
                      <a:r>
                        <a:rPr lang="en-US" dirty="0"/>
                        <a:t>e   </a:t>
                      </a:r>
                      <a:r>
                        <a:rPr lang="en-US" dirty="0" err="1"/>
                        <a:t>E</a:t>
                      </a:r>
                      <a:r>
                        <a:rPr lang="en-US" dirty="0"/>
                        <a:t>   </a:t>
                      </a:r>
                      <a:endParaRPr lang="en-IN" dirty="0"/>
                    </a:p>
                  </a:txBody>
                  <a:tcPr/>
                </a:tc>
                <a:tc>
                  <a:txBody>
                    <a:bodyPr/>
                    <a:lstStyle/>
                    <a:p>
                      <a:r>
                        <a:rPr lang="en-IN" dirty="0"/>
                        <a:t>d</a:t>
                      </a:r>
                    </a:p>
                  </a:txBody>
                  <a:tcPr/>
                </a:tc>
                <a:tc>
                  <a:txBody>
                    <a:bodyPr/>
                    <a:lstStyle/>
                    <a:p>
                      <a:r>
                        <a:rPr lang="en-IN" dirty="0"/>
                        <a:t>a</a:t>
                      </a:r>
                    </a:p>
                  </a:txBody>
                  <a:tcPr/>
                </a:tc>
                <a:tc>
                  <a:txBody>
                    <a:bodyPr/>
                    <a:lstStyle/>
                    <a:p>
                      <a:r>
                        <a:rPr lang="en-IN" dirty="0"/>
                        <a:t>c</a:t>
                      </a:r>
                    </a:p>
                  </a:txBody>
                  <a:tcPr/>
                </a:tc>
                <a:extLst>
                  <a:ext uri="{0D108BD9-81ED-4DB2-BD59-A6C34878D82A}">
                    <a16:rowId xmlns:a16="http://schemas.microsoft.com/office/drawing/2014/main" val="3489730206"/>
                  </a:ext>
                </a:extLst>
              </a:tr>
            </a:tbl>
          </a:graphicData>
        </a:graphic>
      </p:graphicFrame>
      <p:sp>
        <p:nvSpPr>
          <p:cNvPr id="16" name="TextBox 15">
            <a:extLst>
              <a:ext uri="{FF2B5EF4-FFF2-40B4-BE49-F238E27FC236}">
                <a16:creationId xmlns:a16="http://schemas.microsoft.com/office/drawing/2014/main" id="{DE0A5016-9376-447E-B86A-9F047E3FE1AA}"/>
              </a:ext>
            </a:extLst>
          </p:cNvPr>
          <p:cNvSpPr txBox="1"/>
          <p:nvPr/>
        </p:nvSpPr>
        <p:spPr>
          <a:xfrm>
            <a:off x="561668" y="1916668"/>
            <a:ext cx="629265" cy="369332"/>
          </a:xfrm>
          <a:prstGeom prst="rect">
            <a:avLst/>
          </a:prstGeom>
          <a:noFill/>
        </p:spPr>
        <p:txBody>
          <a:bodyPr wrap="square" rtlCol="0">
            <a:spAutoFit/>
          </a:bodyPr>
          <a:lstStyle/>
          <a:p>
            <a:r>
              <a:rPr lang="en-IN" dirty="0" err="1"/>
              <a:t>inp</a:t>
            </a:r>
            <a:endParaRPr lang="en-IN" dirty="0"/>
          </a:p>
        </p:txBody>
      </p:sp>
      <p:sp>
        <p:nvSpPr>
          <p:cNvPr id="17" name="Rectangle 16">
            <a:extLst>
              <a:ext uri="{FF2B5EF4-FFF2-40B4-BE49-F238E27FC236}">
                <a16:creationId xmlns:a16="http://schemas.microsoft.com/office/drawing/2014/main" id="{09D8F843-58C1-48BF-82E4-C9ACF36C159D}"/>
              </a:ext>
            </a:extLst>
          </p:cNvPr>
          <p:cNvSpPr/>
          <p:nvPr/>
        </p:nvSpPr>
        <p:spPr>
          <a:xfrm>
            <a:off x="1190932" y="3581400"/>
            <a:ext cx="790267" cy="48519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Edac</a:t>
            </a:r>
            <a:endParaRPr lang="en-IN" dirty="0"/>
          </a:p>
        </p:txBody>
      </p:sp>
      <p:cxnSp>
        <p:nvCxnSpPr>
          <p:cNvPr id="19" name="Straight Arrow Connector 18">
            <a:extLst>
              <a:ext uri="{FF2B5EF4-FFF2-40B4-BE49-F238E27FC236}">
                <a16:creationId xmlns:a16="http://schemas.microsoft.com/office/drawing/2014/main" id="{5BE838F0-922D-480B-964E-2DAD605407D8}"/>
              </a:ext>
            </a:extLst>
          </p:cNvPr>
          <p:cNvCxnSpPr>
            <a:cxnSpLocks/>
          </p:cNvCxnSpPr>
          <p:nvPr/>
        </p:nvCxnSpPr>
        <p:spPr>
          <a:xfrm>
            <a:off x="381000" y="3810000"/>
            <a:ext cx="609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FB6B01F2-E063-47CA-B110-DAAB33E2329E}"/>
              </a:ext>
            </a:extLst>
          </p:cNvPr>
          <p:cNvSpPr txBox="1"/>
          <p:nvPr/>
        </p:nvSpPr>
        <p:spPr>
          <a:xfrm>
            <a:off x="52234" y="3440668"/>
            <a:ext cx="457200" cy="369332"/>
          </a:xfrm>
          <a:prstGeom prst="rect">
            <a:avLst/>
          </a:prstGeom>
          <a:noFill/>
        </p:spPr>
        <p:txBody>
          <a:bodyPr wrap="square" rtlCol="0">
            <a:spAutoFit/>
          </a:bodyPr>
          <a:lstStyle/>
          <a:p>
            <a:r>
              <a:rPr lang="en-IN" dirty="0" err="1"/>
              <a:t>rs</a:t>
            </a:r>
            <a:endParaRPr lang="en-IN" dirty="0"/>
          </a:p>
        </p:txBody>
      </p:sp>
      <p:cxnSp>
        <p:nvCxnSpPr>
          <p:cNvPr id="12" name="Straight Connector 11"/>
          <p:cNvCxnSpPr/>
          <p:nvPr/>
        </p:nvCxnSpPr>
        <p:spPr>
          <a:xfrm flipH="1">
            <a:off x="1447800" y="2895600"/>
            <a:ext cx="381000" cy="471197"/>
          </a:xfrm>
          <a:prstGeom prst="line">
            <a:avLst/>
          </a:prstGeom>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750431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6CB086D-B636-28D3-C3A6-D35893BC7E6E}"/>
              </a:ext>
            </a:extLst>
          </p:cNvPr>
          <p:cNvSpPr txBox="1"/>
          <p:nvPr/>
        </p:nvSpPr>
        <p:spPr>
          <a:xfrm>
            <a:off x="228600" y="1055132"/>
            <a:ext cx="6096000" cy="272382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err="1">
                <a:solidFill>
                  <a:srgbClr val="0000FF"/>
                </a:solidFill>
                <a:highlight>
                  <a:srgbClr val="FFFFFF"/>
                </a:highlight>
                <a:latin typeface="Cascadia Mono" panose="020B0609020000020004" pitchFamily="49" charset="0"/>
              </a:rPr>
              <a:t>enum</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Dept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HR,</a:t>
            </a:r>
          </a:p>
          <a:p>
            <a:r>
              <a:rPr lang="en-IN" sz="900" dirty="0">
                <a:solidFill>
                  <a:srgbClr val="000000"/>
                </a:solidFill>
                <a:highlight>
                  <a:srgbClr val="FFFFFF"/>
                </a:highlight>
                <a:latin typeface="Cascadia Mono" panose="020B0609020000020004" pitchFamily="49" charset="0"/>
              </a:rPr>
              <a:t>     Payroll,</a:t>
            </a:r>
          </a:p>
          <a:p>
            <a:r>
              <a:rPr lang="en-IN" sz="900" dirty="0">
                <a:solidFill>
                  <a:srgbClr val="000000"/>
                </a:solidFill>
                <a:highlight>
                  <a:srgbClr val="FFFFFF"/>
                </a:highlight>
                <a:latin typeface="Cascadia Mono" panose="020B0609020000020004" pitchFamily="49" charset="0"/>
              </a:rPr>
              <a:t>     IT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internal</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class</a:t>
            </a:r>
            <a:r>
              <a:rPr lang="en-IN" sz="900" dirty="0">
                <a:solidFill>
                  <a:srgbClr val="000000"/>
                </a:solidFill>
                <a:highlight>
                  <a:srgbClr val="FFFFFF"/>
                </a:highlight>
                <a:latin typeface="Cascadia Mono" panose="020B0609020000020004" pitchFamily="49" charset="0"/>
              </a:rPr>
              <a:t> </a:t>
            </a:r>
            <a:r>
              <a:rPr lang="en-IN" sz="900" dirty="0">
                <a:solidFill>
                  <a:srgbClr val="2B91AF"/>
                </a:solidFill>
                <a:highlight>
                  <a:srgbClr val="FFFFFF"/>
                </a:highlight>
                <a:latin typeface="Cascadia Mono" panose="020B0609020000020004" pitchFamily="49" charset="0"/>
              </a:rPr>
              <a:t>Employee</a:t>
            </a:r>
          </a:p>
          <a:p>
            <a:r>
              <a:rPr lang="en-IN" sz="900" dirty="0">
                <a:solidFill>
                  <a:srgbClr val="000000"/>
                </a:solidFill>
                <a:highlight>
                  <a:srgbClr val="FFFFFF"/>
                </a:highlight>
                <a:latin typeface="Cascadia Mono" panose="020B0609020000020004" pitchFamily="49" charset="0"/>
              </a:rPr>
              <a:t> {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Name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int</a:t>
            </a:r>
            <a:r>
              <a:rPr lang="en-US" sz="900" dirty="0">
                <a:solidFill>
                  <a:srgbClr val="000000"/>
                </a:solidFill>
                <a:highlight>
                  <a:srgbClr val="FFFFFF"/>
                </a:highlight>
                <a:latin typeface="Cascadia Mono" panose="020B0609020000020004" pitchFamily="49" charset="0"/>
              </a:rPr>
              <a:t> Id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string</a:t>
            </a:r>
            <a:r>
              <a:rPr lang="en-US" sz="900" dirty="0">
                <a:solidFill>
                  <a:srgbClr val="000000"/>
                </a:solidFill>
                <a:highlight>
                  <a:srgbClr val="FFFFFF"/>
                </a:highlight>
                <a:latin typeface="Cascadia Mono" panose="020B0609020000020004" pitchFamily="49" charset="0"/>
              </a:rPr>
              <a:t> Email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public</a:t>
            </a:r>
            <a:r>
              <a:rPr lang="en-US" sz="900" dirty="0">
                <a:solidFill>
                  <a:srgbClr val="000000"/>
                </a:solidFill>
                <a:highlight>
                  <a:srgbClr val="FFFFFF"/>
                </a:highlight>
                <a:latin typeface="Cascadia Mono" panose="020B0609020000020004" pitchFamily="49" charset="0"/>
              </a:rPr>
              <a:t> </a:t>
            </a:r>
            <a:r>
              <a:rPr lang="en-US" sz="900" dirty="0">
                <a:solidFill>
                  <a:srgbClr val="2B91AF"/>
                </a:solidFill>
                <a:highlight>
                  <a:srgbClr val="FFFFFF"/>
                </a:highlight>
                <a:latin typeface="Cascadia Mono" panose="020B0609020000020004" pitchFamily="49" charset="0"/>
              </a:rPr>
              <a:t>Dept</a:t>
            </a:r>
            <a:r>
              <a:rPr lang="en-US" sz="900" dirty="0">
                <a:solidFill>
                  <a:srgbClr val="000000"/>
                </a:solidFill>
                <a:highlight>
                  <a:srgbClr val="FFFFFF"/>
                </a:highlight>
                <a:latin typeface="Cascadia Mono" panose="020B0609020000020004" pitchFamily="49" charset="0"/>
              </a:rPr>
              <a:t>? Department { </a:t>
            </a:r>
            <a:r>
              <a:rPr lang="en-US" sz="900" dirty="0">
                <a:solidFill>
                  <a:srgbClr val="0000FF"/>
                </a:solidFill>
                <a:highlight>
                  <a:srgbClr val="FFFFFF"/>
                </a:highlight>
                <a:latin typeface="Cascadia Mono" panose="020B0609020000020004" pitchFamily="49" charset="0"/>
              </a:rPr>
              <a:t>get</a:t>
            </a:r>
            <a:r>
              <a:rPr lang="en-US" sz="900" dirty="0">
                <a:solidFill>
                  <a:srgbClr val="000000"/>
                </a:solidFill>
                <a:highlight>
                  <a:srgbClr val="FFFFFF"/>
                </a:highlight>
                <a:latin typeface="Cascadia Mono" panose="020B0609020000020004" pitchFamily="49" charset="0"/>
              </a:rPr>
              <a:t>; </a:t>
            </a:r>
            <a:r>
              <a:rPr lang="en-US" sz="900" dirty="0">
                <a:solidFill>
                  <a:srgbClr val="0000FF"/>
                </a:solidFill>
                <a:highlight>
                  <a:srgbClr val="FFFFFF"/>
                </a:highlight>
                <a:latin typeface="Cascadia Mono" panose="020B0609020000020004" pitchFamily="49" charset="0"/>
              </a:rPr>
              <a:t>set</a:t>
            </a:r>
            <a:r>
              <a:rPr lang="en-US"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public</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override</a:t>
            </a:r>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string</a:t>
            </a:r>
            <a:r>
              <a:rPr lang="en-IN" sz="900" dirty="0">
                <a:solidFill>
                  <a:srgbClr val="000000"/>
                </a:solidFill>
                <a:highlight>
                  <a:srgbClr val="FFFFFF"/>
                </a:highlight>
                <a:latin typeface="Cascadia Mono" panose="020B0609020000020004" pitchFamily="49" charset="0"/>
              </a:rPr>
              <a:t> </a:t>
            </a:r>
            <a:r>
              <a:rPr lang="en-IN" sz="900" dirty="0" err="1">
                <a:solidFill>
                  <a:srgbClr val="000000"/>
                </a:solidFill>
                <a:highlight>
                  <a:srgbClr val="FFFFFF"/>
                </a:highlight>
                <a:latin typeface="Cascadia Mono" panose="020B0609020000020004" pitchFamily="49" charset="0"/>
              </a:rPr>
              <a:t>ToString</a:t>
            </a:r>
            <a:r>
              <a:rPr lang="en-IN" sz="900" dirty="0">
                <a:solidFill>
                  <a:srgbClr val="000000"/>
                </a:solidFill>
                <a:highlight>
                  <a:srgbClr val="FFFFFF"/>
                </a:highlight>
                <a:latin typeface="Cascadia Mono" panose="020B0609020000020004" pitchFamily="49" charset="0"/>
              </a:rPr>
              <a: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r>
              <a:rPr lang="en-IN" sz="900" dirty="0">
                <a:solidFill>
                  <a:srgbClr val="0000FF"/>
                </a:solidFill>
                <a:highlight>
                  <a:srgbClr val="FFFFFF"/>
                </a:highlight>
                <a:latin typeface="Cascadia Mono" panose="020B0609020000020004" pitchFamily="49" charset="0"/>
              </a:rPr>
              <a:t>return</a:t>
            </a:r>
            <a:r>
              <a:rPr lang="en-IN" sz="900" dirty="0">
                <a:solidFill>
                  <a:srgbClr val="000000"/>
                </a:solidFill>
                <a:highlight>
                  <a:srgbClr val="FFFFFF"/>
                </a:highlight>
                <a:latin typeface="Cascadia Mono" panose="020B0609020000020004" pitchFamily="49" charset="0"/>
              </a:rPr>
              <a:t> </a:t>
            </a:r>
            <a:r>
              <a:rPr lang="en-IN" sz="900" dirty="0" err="1">
                <a:solidFill>
                  <a:srgbClr val="2B91AF"/>
                </a:solidFill>
                <a:highlight>
                  <a:srgbClr val="FFFFFF"/>
                </a:highlight>
                <a:latin typeface="Cascadia Mono" panose="020B0609020000020004" pitchFamily="49" charset="0"/>
              </a:rPr>
              <a:t>String</a:t>
            </a:r>
            <a:r>
              <a:rPr lang="en-IN" sz="900" dirty="0" err="1">
                <a:solidFill>
                  <a:srgbClr val="000000"/>
                </a:solidFill>
                <a:highlight>
                  <a:srgbClr val="FFFFFF"/>
                </a:highlight>
                <a:latin typeface="Cascadia Mono" panose="020B0609020000020004" pitchFamily="49" charset="0"/>
              </a:rPr>
              <a:t>.Format</a:t>
            </a:r>
            <a:r>
              <a:rPr lang="en-IN" sz="900" dirty="0">
                <a:solidFill>
                  <a:srgbClr val="000000"/>
                </a:solidFill>
                <a:highlight>
                  <a:srgbClr val="FFFFFF"/>
                </a:highlight>
                <a:latin typeface="Cascadia Mono" panose="020B0609020000020004" pitchFamily="49" charset="0"/>
              </a:rPr>
              <a:t>(</a:t>
            </a:r>
            <a:r>
              <a:rPr lang="en-IN" sz="900" dirty="0">
                <a:solidFill>
                  <a:srgbClr val="A31515"/>
                </a:solidFill>
                <a:highlight>
                  <a:srgbClr val="FFFFFF"/>
                </a:highlight>
                <a:latin typeface="Cascadia Mono" panose="020B0609020000020004" pitchFamily="49" charset="0"/>
              </a:rPr>
              <a:t>"{0} {1} {2} {3}"</a:t>
            </a:r>
            <a:r>
              <a:rPr lang="en-IN" sz="900" dirty="0">
                <a:solidFill>
                  <a:srgbClr val="000000"/>
                </a:solidFill>
                <a:highlight>
                  <a:srgbClr val="FFFFFF"/>
                </a:highlight>
                <a:latin typeface="Cascadia Mono" panose="020B0609020000020004" pitchFamily="49" charset="0"/>
              </a:rPr>
              <a:t>,Id , Name, Email, Department);</a:t>
            </a:r>
          </a:p>
          <a:p>
            <a:r>
              <a:rPr lang="en-IN" sz="900" dirty="0">
                <a:solidFill>
                  <a:srgbClr val="000000"/>
                </a:solidFill>
                <a:highlight>
                  <a:srgbClr val="FFFFFF"/>
                </a:highlight>
                <a:latin typeface="Cascadia Mono" panose="020B0609020000020004" pitchFamily="49" charset="0"/>
              </a:rPr>
              <a:t>         }</a:t>
            </a:r>
          </a:p>
          <a:p>
            <a:r>
              <a:rPr lang="en-IN" sz="900" dirty="0">
                <a:solidFill>
                  <a:srgbClr val="000000"/>
                </a:solidFill>
                <a:highlight>
                  <a:srgbClr val="FFFFFF"/>
                </a:highlight>
                <a:latin typeface="Cascadia Mono" panose="020B0609020000020004" pitchFamily="49" charset="0"/>
              </a:rPr>
              <a:t> }</a:t>
            </a:r>
            <a:endParaRPr lang="en-IN" sz="900" dirty="0"/>
          </a:p>
        </p:txBody>
      </p:sp>
      <p:sp>
        <p:nvSpPr>
          <p:cNvPr id="6" name="TextBox 5">
            <a:extLst>
              <a:ext uri="{FF2B5EF4-FFF2-40B4-BE49-F238E27FC236}">
                <a16:creationId xmlns:a16="http://schemas.microsoft.com/office/drawing/2014/main" id="{285417BD-3032-1CE9-77B9-8FBC5A7173BF}"/>
              </a:ext>
            </a:extLst>
          </p:cNvPr>
          <p:cNvSpPr txBox="1"/>
          <p:nvPr/>
        </p:nvSpPr>
        <p:spPr>
          <a:xfrm>
            <a:off x="1447800" y="0"/>
            <a:ext cx="6781800"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IN" dirty="0"/>
              <a:t>In </a:t>
            </a:r>
            <a:r>
              <a:rPr lang="en-IN" dirty="0" err="1"/>
              <a:t>Memoery</a:t>
            </a:r>
            <a:r>
              <a:rPr lang="en-IN" dirty="0"/>
              <a:t> CRUD Using Collection and Interface</a:t>
            </a:r>
          </a:p>
        </p:txBody>
      </p:sp>
      <p:sp>
        <p:nvSpPr>
          <p:cNvPr id="7" name="TextBox 6">
            <a:extLst>
              <a:ext uri="{FF2B5EF4-FFF2-40B4-BE49-F238E27FC236}">
                <a16:creationId xmlns:a16="http://schemas.microsoft.com/office/drawing/2014/main" id="{8C2AB3DC-9622-F689-0EE7-FA663A466835}"/>
              </a:ext>
            </a:extLst>
          </p:cNvPr>
          <p:cNvSpPr txBox="1"/>
          <p:nvPr/>
        </p:nvSpPr>
        <p:spPr>
          <a:xfrm>
            <a:off x="457200" y="685800"/>
            <a:ext cx="23622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Create Poco class.</a:t>
            </a:r>
          </a:p>
        </p:txBody>
      </p:sp>
      <p:sp>
        <p:nvSpPr>
          <p:cNvPr id="8" name="TextBox 7">
            <a:extLst>
              <a:ext uri="{FF2B5EF4-FFF2-40B4-BE49-F238E27FC236}">
                <a16:creationId xmlns:a16="http://schemas.microsoft.com/office/drawing/2014/main" id="{A06D5F19-9CA7-DDD7-64A9-33EC099F0164}"/>
              </a:ext>
            </a:extLst>
          </p:cNvPr>
          <p:cNvSpPr txBox="1"/>
          <p:nvPr/>
        </p:nvSpPr>
        <p:spPr>
          <a:xfrm>
            <a:off x="152400" y="3778955"/>
            <a:ext cx="36576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IN" dirty="0"/>
              <a:t>Create Interface</a:t>
            </a:r>
          </a:p>
        </p:txBody>
      </p:sp>
      <p:sp>
        <p:nvSpPr>
          <p:cNvPr id="10" name="TextBox 9">
            <a:extLst>
              <a:ext uri="{FF2B5EF4-FFF2-40B4-BE49-F238E27FC236}">
                <a16:creationId xmlns:a16="http://schemas.microsoft.com/office/drawing/2014/main" id="{D35B2D95-5C25-9187-389E-AC312E43D27C}"/>
              </a:ext>
            </a:extLst>
          </p:cNvPr>
          <p:cNvSpPr txBox="1"/>
          <p:nvPr/>
        </p:nvSpPr>
        <p:spPr>
          <a:xfrm>
            <a:off x="1295400" y="4148287"/>
            <a:ext cx="7467600"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internal</a:t>
            </a:r>
            <a:r>
              <a:rPr lang="en-IN" sz="1800" dirty="0">
                <a:solidFill>
                  <a:srgbClr val="000000"/>
                </a:solidFill>
                <a:highlight>
                  <a:srgbClr val="FFFFFF"/>
                </a:highlight>
                <a:latin typeface="Cascadia Mono" panose="020B0609020000020004" pitchFamily="49" charset="0"/>
              </a:rPr>
              <a:t> </a:t>
            </a:r>
            <a:r>
              <a:rPr lang="en-IN" sz="1800" dirty="0">
                <a:solidFill>
                  <a:srgbClr val="0000FF"/>
                </a:solidFill>
                <a:highlight>
                  <a:srgbClr val="FFFFFF"/>
                </a:highlight>
                <a:latin typeface="Cascadia Mono" panose="020B0609020000020004" pitchFamily="49" charset="0"/>
              </a:rPr>
              <a:t>interface</a:t>
            </a:r>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IEmpService</a:t>
            </a:r>
            <a:endParaRPr lang="en-IN" sz="1800" dirty="0">
              <a:solidFill>
                <a:srgbClr val="2B91AF"/>
              </a:solidFill>
              <a:highlight>
                <a:srgbClr val="FFFFFF"/>
              </a:highlight>
              <a:latin typeface="Cascadia Mono" panose="020B0609020000020004" pitchFamily="49" charset="0"/>
            </a:endParaRPr>
          </a:p>
          <a:p>
            <a:r>
              <a:rPr lang="en-IN" sz="1800" dirty="0">
                <a:solidFill>
                  <a:srgbClr val="000000"/>
                </a:solidFill>
                <a:highlight>
                  <a:srgbClr val="FFFFFF"/>
                </a:highlight>
                <a:latin typeface="Cascadia Mono" panose="020B0609020000020004" pitchFamily="49" charset="0"/>
              </a:rPr>
              <a:t> {</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a:t>
            </a:r>
            <a:r>
              <a:rPr lang="en-IN" sz="1800" dirty="0" err="1">
                <a:solidFill>
                  <a:srgbClr val="000000"/>
                </a:solidFill>
                <a:highlight>
                  <a:srgbClr val="FFFFFF"/>
                </a:highlight>
                <a:latin typeface="Cascadia Mono" panose="020B0609020000020004" pitchFamily="49" charset="0"/>
              </a:rPr>
              <a:t>GetEmployee</a:t>
            </a:r>
            <a:r>
              <a:rPr lang="en-IN" sz="1800" dirty="0">
                <a:solidFill>
                  <a:srgbClr val="000000"/>
                </a:solidFill>
                <a:highlight>
                  <a:srgbClr val="FFFFFF"/>
                </a:highlight>
                <a:latin typeface="Cascadia Mono" panose="020B0609020000020004" pitchFamily="49" charset="0"/>
              </a:rPr>
              <a:t>(</a:t>
            </a:r>
            <a:r>
              <a:rPr lang="en-IN" sz="1800" dirty="0">
                <a:solidFill>
                  <a:srgbClr val="0000FF"/>
                </a:solidFill>
                <a:highlight>
                  <a:srgbClr val="FFFFFF"/>
                </a:highlight>
                <a:latin typeface="Cascadia Mono" panose="020B0609020000020004" pitchFamily="49" charset="0"/>
              </a:rPr>
              <a:t>int</a:t>
            </a:r>
            <a:r>
              <a:rPr lang="en-IN" sz="1800" dirty="0">
                <a:solidFill>
                  <a:srgbClr val="000000"/>
                </a:solidFill>
                <a:highlight>
                  <a:srgbClr val="FFFFFF"/>
                </a:highlight>
                <a:latin typeface="Cascadia Mono" panose="020B0609020000020004" pitchFamily="49" charset="0"/>
              </a:rPr>
              <a:t> Id);</a:t>
            </a:r>
          </a:p>
          <a:p>
            <a:r>
              <a:rPr lang="en-US" sz="1800" dirty="0">
                <a:solidFill>
                  <a:srgbClr val="000000"/>
                </a:solidFill>
                <a:highlight>
                  <a:srgbClr val="FFFFFF"/>
                </a:highlight>
                <a:latin typeface="Cascadia Mono" panose="020B0609020000020004" pitchFamily="49" charset="0"/>
              </a:rPr>
              <a:t>     </a:t>
            </a:r>
            <a:r>
              <a:rPr lang="en-US" sz="1800" dirty="0" err="1">
                <a:solidFill>
                  <a:srgbClr val="2B91AF"/>
                </a:solidFill>
                <a:highlight>
                  <a:srgbClr val="FFFFFF"/>
                </a:highlight>
                <a:latin typeface="Cascadia Mono" panose="020B0609020000020004" pitchFamily="49" charset="0"/>
              </a:rPr>
              <a:t>IEnumerable</a:t>
            </a:r>
            <a:r>
              <a:rPr lang="en-US" sz="1800" dirty="0">
                <a:solidFill>
                  <a:srgbClr val="000000"/>
                </a:solidFill>
                <a:highlight>
                  <a:srgbClr val="FFFFFF"/>
                </a:highlight>
                <a:latin typeface="Cascadia Mono" panose="020B0609020000020004" pitchFamily="49" charset="0"/>
              </a:rPr>
              <a:t>&lt;</a:t>
            </a:r>
            <a:r>
              <a:rPr lang="en-US" sz="1800" dirty="0">
                <a:solidFill>
                  <a:srgbClr val="2B91AF"/>
                </a:solidFill>
                <a:highlight>
                  <a:srgbClr val="FFFFFF"/>
                </a:highlight>
                <a:latin typeface="Cascadia Mono" panose="020B0609020000020004" pitchFamily="49" charset="0"/>
              </a:rPr>
              <a:t>Employee</a:t>
            </a:r>
            <a:r>
              <a:rPr lang="en-US" sz="1800" dirty="0">
                <a:solidFill>
                  <a:srgbClr val="000000"/>
                </a:solidFill>
                <a:highlight>
                  <a:srgbClr val="FFFFFF"/>
                </a:highlight>
                <a:latin typeface="Cascadia Mono" panose="020B0609020000020004" pitchFamily="49" charset="0"/>
              </a:rPr>
              <a:t>&gt; </a:t>
            </a:r>
            <a:r>
              <a:rPr lang="en-US" sz="1800" dirty="0" err="1">
                <a:solidFill>
                  <a:srgbClr val="000000"/>
                </a:solidFill>
                <a:highlight>
                  <a:srgbClr val="FFFFFF"/>
                </a:highlight>
                <a:latin typeface="Cascadia Mono" panose="020B0609020000020004" pitchFamily="49" charset="0"/>
              </a:rPr>
              <a:t>GetEmployee</a:t>
            </a:r>
            <a:r>
              <a:rPr lang="en-US" sz="1800" dirty="0">
                <a:solidFill>
                  <a:srgbClr val="000000"/>
                </a:solidFill>
                <a:highlight>
                  <a:srgbClr val="FFFFFF"/>
                </a:highlight>
                <a:latin typeface="Cascadia Mono" panose="020B0609020000020004" pitchFamily="49" charset="0"/>
              </a:rPr>
              <a:t>(</a:t>
            </a:r>
            <a:r>
              <a:rPr lang="en-US" sz="1800" dirty="0">
                <a:solidFill>
                  <a:srgbClr val="0000FF"/>
                </a:solidFill>
                <a:highlight>
                  <a:srgbClr val="FFFFFF"/>
                </a:highlight>
                <a:latin typeface="Cascadia Mono" panose="020B0609020000020004" pitchFamily="49" charset="0"/>
              </a:rPr>
              <a:t>string</a:t>
            </a:r>
            <a:r>
              <a:rPr lang="en-US" sz="1800" dirty="0">
                <a:solidFill>
                  <a:srgbClr val="000000"/>
                </a:solidFill>
                <a:highlight>
                  <a:srgbClr val="FFFFFF"/>
                </a:highlight>
                <a:latin typeface="Cascadia Mono" panose="020B0609020000020004" pitchFamily="49" charset="0"/>
              </a:rPr>
              <a:t> name);</a:t>
            </a:r>
          </a:p>
          <a:p>
            <a:r>
              <a:rPr lang="en-IN" sz="1800" dirty="0">
                <a:solidFill>
                  <a:srgbClr val="000000"/>
                </a:solidFill>
                <a:highlight>
                  <a:srgbClr val="FFFFFF"/>
                </a:highlight>
                <a:latin typeface="Cascadia Mono" panose="020B0609020000020004" pitchFamily="49" charset="0"/>
              </a:rPr>
              <a:t>     </a:t>
            </a:r>
            <a:r>
              <a:rPr lang="en-IN" sz="1800" dirty="0" err="1">
                <a:solidFill>
                  <a:srgbClr val="2B91AF"/>
                </a:solidFill>
                <a:highlight>
                  <a:srgbClr val="FFFFFF"/>
                </a:highlight>
                <a:latin typeface="Cascadia Mono" panose="020B0609020000020004" pitchFamily="49" charset="0"/>
              </a:rPr>
              <a:t>IEnumerable</a:t>
            </a:r>
            <a:r>
              <a:rPr lang="en-IN" sz="1800" dirty="0">
                <a:solidFill>
                  <a:srgbClr val="000000"/>
                </a:solidFill>
                <a:highlight>
                  <a:srgbClr val="FFFFFF"/>
                </a:highlight>
                <a:latin typeface="Cascadia Mono" panose="020B0609020000020004" pitchFamily="49" charset="0"/>
              </a:rPr>
              <a:t>&lt;</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&gt; </a:t>
            </a:r>
            <a:r>
              <a:rPr lang="en-IN" sz="1800" dirty="0" err="1">
                <a:solidFill>
                  <a:srgbClr val="000000"/>
                </a:solidFill>
                <a:highlight>
                  <a:srgbClr val="FFFFFF"/>
                </a:highlight>
                <a:latin typeface="Cascadia Mono" panose="020B0609020000020004" pitchFamily="49" charset="0"/>
              </a:rPr>
              <a:t>GetAllEmployee</a:t>
            </a:r>
            <a:r>
              <a:rPr lang="en-IN" sz="1800" dirty="0">
                <a:solidFill>
                  <a:srgbClr val="000000"/>
                </a:solidFill>
                <a:highlight>
                  <a:srgbClr val="FFFFFF"/>
                </a:highlight>
                <a:latin typeface="Cascadia Mono" panose="020B0609020000020004" pitchFamily="49" charset="0"/>
              </a:rPr>
              <a:t>();</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Add(</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employee);</a:t>
            </a:r>
          </a:p>
          <a:p>
            <a:r>
              <a:rPr lang="en-IN" sz="1800" dirty="0">
                <a:solidFill>
                  <a:srgbClr val="000000"/>
                </a:solidFill>
                <a:highlight>
                  <a:srgbClr val="FFFFFF"/>
                </a:highlight>
                <a:latin typeface="Cascadia Mono" panose="020B0609020000020004" pitchFamily="49" charset="0"/>
              </a:rPr>
              <a:t>    </a:t>
            </a:r>
            <a:r>
              <a:rPr lang="en-IN" sz="1800" dirty="0">
                <a:solidFill>
                  <a:srgbClr val="2B91AF"/>
                </a:solidFill>
                <a:highlight>
                  <a:srgbClr val="FFFFFF"/>
                </a:highlight>
                <a:latin typeface="Cascadia Mono" panose="020B0609020000020004" pitchFamily="49" charset="0"/>
              </a:rPr>
              <a:t>Employee</a:t>
            </a:r>
            <a:r>
              <a:rPr lang="en-IN" sz="1800" dirty="0">
                <a:solidFill>
                  <a:srgbClr val="000000"/>
                </a:solidFill>
                <a:highlight>
                  <a:srgbClr val="FFFFFF"/>
                </a:highlight>
                <a:latin typeface="Cascadia Mono" panose="020B0609020000020004" pitchFamily="49" charset="0"/>
              </a:rPr>
              <a:t> Delete(</a:t>
            </a:r>
            <a:r>
              <a:rPr lang="en-IN" sz="1800" dirty="0">
                <a:solidFill>
                  <a:srgbClr val="0000FF"/>
                </a:solidFill>
                <a:highlight>
                  <a:srgbClr val="FFFFFF"/>
                </a:highlight>
                <a:latin typeface="Cascadia Mono" panose="020B0609020000020004" pitchFamily="49" charset="0"/>
              </a:rPr>
              <a:t>int</a:t>
            </a:r>
            <a:r>
              <a:rPr lang="en-IN" sz="1800" dirty="0">
                <a:solidFill>
                  <a:srgbClr val="000000"/>
                </a:solidFill>
                <a:highlight>
                  <a:srgbClr val="FFFFFF"/>
                </a:highlight>
                <a:latin typeface="Cascadia Mono" panose="020B0609020000020004" pitchFamily="49" charset="0"/>
              </a:rPr>
              <a:t> Id);</a:t>
            </a:r>
          </a:p>
          <a:p>
            <a:r>
              <a:rPr lang="en-IN" sz="1800" dirty="0">
                <a:solidFill>
                  <a:srgbClr val="000000"/>
                </a:solidFill>
                <a:highlight>
                  <a:srgbClr val="FFFFFF"/>
                </a:highlight>
                <a:latin typeface="Cascadia Mono" panose="020B0609020000020004" pitchFamily="49" charset="0"/>
              </a:rPr>
              <a:t> }</a:t>
            </a:r>
            <a:endParaRPr lang="en-IN" dirty="0"/>
          </a:p>
        </p:txBody>
      </p:sp>
    </p:spTree>
    <p:extLst>
      <p:ext uri="{BB962C8B-B14F-4D97-AF65-F5344CB8AC3E}">
        <p14:creationId xmlns:p14="http://schemas.microsoft.com/office/powerpoint/2010/main" val="1393165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510274F-7123-343D-67B7-CCB85B9A00DC}"/>
              </a:ext>
            </a:extLst>
          </p:cNvPr>
          <p:cNvSpPr txBox="1"/>
          <p:nvPr/>
        </p:nvSpPr>
        <p:spPr>
          <a:xfrm>
            <a:off x="1066800" y="0"/>
            <a:ext cx="7848600" cy="6878806"/>
          </a:xfrm>
          <a:prstGeom prst="rect">
            <a:avLst/>
          </a:prstGeom>
          <a:noFill/>
        </p:spPr>
        <p:txBody>
          <a:bodyPr wrap="square">
            <a:spAutoFit/>
          </a:bodyPr>
          <a:lstStyle/>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internal</a:t>
            </a:r>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class</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EmployeeService</a:t>
            </a:r>
            <a:r>
              <a:rPr lang="en-IN" sz="1050" dirty="0">
                <a:solidFill>
                  <a:srgbClr val="000000"/>
                </a:solidFill>
                <a:highlight>
                  <a:srgbClr val="FFFFFF"/>
                </a:highlight>
                <a:latin typeface="Cascadia Mono" panose="020B0609020000020004" pitchFamily="49" charset="0"/>
              </a:rPr>
              <a:t> : </a:t>
            </a:r>
            <a:r>
              <a:rPr lang="en-IN" sz="1050" dirty="0" err="1">
                <a:solidFill>
                  <a:srgbClr val="2B91AF"/>
                </a:solidFill>
                <a:highlight>
                  <a:srgbClr val="FFFFFF"/>
                </a:highlight>
                <a:latin typeface="Cascadia Mono" panose="020B0609020000020004" pitchFamily="49" charset="0"/>
              </a:rPr>
              <a:t>IEmpService</a:t>
            </a:r>
            <a:endParaRPr lang="en-IN" sz="1050" dirty="0">
              <a:solidFill>
                <a:srgbClr val="2B91AF"/>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private</a:t>
            </a:r>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static</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List</a:t>
            </a:r>
            <a:r>
              <a:rPr lang="en-US" sz="1050" dirty="0">
                <a:solidFill>
                  <a:srgbClr val="000000"/>
                </a:solidFill>
                <a:highlight>
                  <a:srgbClr val="FFFFFF"/>
                </a:highlight>
                <a:latin typeface="Cascadia Mono" panose="020B0609020000020004" pitchFamily="49" charset="0"/>
              </a:rPr>
              <a:t>&lt;</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&gt; _</a:t>
            </a:r>
            <a:r>
              <a:rPr lang="en-US" sz="1050" dirty="0" err="1">
                <a:solidFill>
                  <a:srgbClr val="000000"/>
                </a:solidFill>
                <a:highlight>
                  <a:srgbClr val="FFFFFF"/>
                </a:highlight>
                <a:latin typeface="Cascadia Mono" panose="020B0609020000020004" pitchFamily="49" charset="0"/>
              </a:rPr>
              <a:t>employeeList</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EmployeeService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_</a:t>
            </a:r>
            <a:r>
              <a:rPr lang="en-IN" sz="1050" dirty="0" err="1">
                <a:solidFill>
                  <a:srgbClr val="000000"/>
                </a:solidFill>
                <a:highlight>
                  <a:srgbClr val="FFFFFF"/>
                </a:highlight>
                <a:latin typeface="Cascadia Mono" panose="020B0609020000020004" pitchFamily="49" charset="0"/>
              </a:rPr>
              <a:t>employeeList</a:t>
            </a:r>
            <a:r>
              <a:rPr lang="en-IN" sz="1050" dirty="0">
                <a:solidFill>
                  <a:srgbClr val="000000"/>
                </a:solidFill>
                <a:highlight>
                  <a:srgbClr val="FFFFFF"/>
                </a:highlight>
                <a:latin typeface="Cascadia Mono" panose="020B0609020000020004" pitchFamily="49" charset="0"/>
              </a:rPr>
              <a:t> = </a:t>
            </a:r>
            <a:r>
              <a:rPr lang="en-IN" sz="1050" dirty="0">
                <a:solidFill>
                  <a:srgbClr val="0000FF"/>
                </a:solidFill>
                <a:highlight>
                  <a:srgbClr val="FFFFFF"/>
                </a:highlight>
                <a:latin typeface="Cascadia Mono" panose="020B0609020000020004" pitchFamily="49" charset="0"/>
              </a:rPr>
              <a:t>new</a:t>
            </a:r>
            <a:r>
              <a:rPr lang="en-IN" sz="1050" dirty="0">
                <a:solidFill>
                  <a:srgbClr val="000000"/>
                </a:solidFill>
                <a:highlight>
                  <a:srgbClr val="FFFFFF"/>
                </a:highlight>
                <a:latin typeface="Cascadia Mono" panose="020B0609020000020004" pitchFamily="49" charset="0"/>
              </a:rPr>
              <a:t> </a:t>
            </a:r>
            <a:r>
              <a:rPr lang="en-IN" sz="1050" dirty="0">
                <a:solidFill>
                  <a:srgbClr val="2B91AF"/>
                </a:solidFill>
                <a:highlight>
                  <a:srgbClr val="FFFFFF"/>
                </a:highlight>
                <a:latin typeface="Cascadia Mono" panose="020B0609020000020004" pitchFamily="49" charset="0"/>
              </a:rPr>
              <a:t>List</a:t>
            </a:r>
            <a:r>
              <a:rPr lang="en-IN" sz="1050" dirty="0">
                <a:solidFill>
                  <a:srgbClr val="000000"/>
                </a:solidFill>
                <a:highlight>
                  <a:srgbClr val="FFFFFF"/>
                </a:highlight>
                <a:latin typeface="Cascadia Mono" panose="020B0609020000020004" pitchFamily="49" charset="0"/>
              </a:rPr>
              <a:t>&lt;</a:t>
            </a:r>
            <a:r>
              <a:rPr lang="en-IN" sz="1050" dirty="0">
                <a:solidFill>
                  <a:srgbClr val="2B91AF"/>
                </a:solidFill>
                <a:highlight>
                  <a:srgbClr val="FFFFFF"/>
                </a:highlight>
                <a:latin typeface="Cascadia Mono" panose="020B0609020000020004" pitchFamily="49" charset="0"/>
              </a:rPr>
              <a:t>Employee</a:t>
            </a:r>
            <a:r>
              <a:rPr lang="en-IN" sz="1050" dirty="0">
                <a:solidFill>
                  <a:srgbClr val="000000"/>
                </a:solidFill>
                <a:highlight>
                  <a:srgbClr val="FFFFFF"/>
                </a:highlight>
                <a:latin typeface="Cascadia Mono" panose="020B0609020000020004" pitchFamily="49" charset="0"/>
              </a:rPr>
              <a:t>&gt;(){</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Id = 1, Name = </a:t>
            </a:r>
            <a:r>
              <a:rPr lang="en-US" sz="1050" dirty="0">
                <a:solidFill>
                  <a:srgbClr val="A31515"/>
                </a:solidFill>
                <a:highlight>
                  <a:srgbClr val="FFFFFF"/>
                </a:highlight>
                <a:latin typeface="Cascadia Mono" panose="020B0609020000020004" pitchFamily="49" charset="0"/>
              </a:rPr>
              <a:t>"Mary"</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.HR, Email = </a:t>
            </a:r>
            <a:r>
              <a:rPr lang="en-US" sz="1050" dirty="0">
                <a:solidFill>
                  <a:srgbClr val="A31515"/>
                </a:solidFill>
                <a:highlight>
                  <a:srgbClr val="FFFFFF"/>
                </a:highlight>
                <a:latin typeface="Cascadia Mono" panose="020B0609020000020004" pitchFamily="49" charset="0"/>
              </a:rPr>
              <a:t>"mary@CDACtech.com"</a:t>
            </a:r>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Id = 2, Name = </a:t>
            </a:r>
            <a:r>
              <a:rPr lang="en-US" sz="1050" dirty="0">
                <a:solidFill>
                  <a:srgbClr val="A31515"/>
                </a:solidFill>
                <a:highlight>
                  <a:srgbClr val="FFFFFF"/>
                </a:highlight>
                <a:latin typeface="Cascadia Mono" panose="020B0609020000020004" pitchFamily="49" charset="0"/>
              </a:rPr>
              <a:t>"John"</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.IT, Email = </a:t>
            </a:r>
            <a:r>
              <a:rPr lang="en-US" sz="1050" dirty="0">
                <a:solidFill>
                  <a:srgbClr val="A31515"/>
                </a:solidFill>
                <a:highlight>
                  <a:srgbClr val="FFFFFF"/>
                </a:highlight>
                <a:latin typeface="Cascadia Mono" panose="020B0609020000020004" pitchFamily="49" charset="0"/>
              </a:rPr>
              <a:t>"john@CDACtech.com"</a:t>
            </a:r>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Id = 3, Name = </a:t>
            </a:r>
            <a:r>
              <a:rPr lang="en-US" sz="1050" dirty="0">
                <a:solidFill>
                  <a:srgbClr val="A31515"/>
                </a:solidFill>
                <a:highlight>
                  <a:srgbClr val="FFFFFF"/>
                </a:highlight>
                <a:latin typeface="Cascadia Mono" panose="020B0609020000020004" pitchFamily="49" charset="0"/>
              </a:rPr>
              <a:t>"Sam"</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.IT, Email = </a:t>
            </a:r>
            <a:r>
              <a:rPr lang="en-US" sz="1050" dirty="0">
                <a:solidFill>
                  <a:srgbClr val="A31515"/>
                </a:solidFill>
                <a:highlight>
                  <a:srgbClr val="FFFFFF"/>
                </a:highlight>
                <a:latin typeface="Cascadia Mono" panose="020B0609020000020004" pitchFamily="49" charset="0"/>
              </a:rPr>
              <a:t>"sam@CDACtech.com"</a:t>
            </a:r>
            <a:r>
              <a:rPr lang="en-US"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Add(</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employee)</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employee.Id</a:t>
            </a:r>
            <a:r>
              <a:rPr lang="en-US" sz="1050" dirty="0">
                <a:solidFill>
                  <a:srgbClr val="000000"/>
                </a:solidFill>
                <a:highlight>
                  <a:srgbClr val="FFFFFF"/>
                </a:highlight>
                <a:latin typeface="Cascadia Mono" panose="020B0609020000020004" pitchFamily="49" charset="0"/>
              </a:rPr>
              <a:t> = _</a:t>
            </a:r>
            <a:r>
              <a:rPr lang="en-US" sz="1050" dirty="0" err="1">
                <a:solidFill>
                  <a:srgbClr val="000000"/>
                </a:solidFill>
                <a:highlight>
                  <a:srgbClr val="FFFFFF"/>
                </a:highlight>
                <a:latin typeface="Cascadia Mono" panose="020B0609020000020004" pitchFamily="49" charset="0"/>
              </a:rPr>
              <a:t>employeeList.Max</a:t>
            </a:r>
            <a:r>
              <a:rPr lang="en-US" sz="1050" dirty="0">
                <a:solidFill>
                  <a:srgbClr val="000000"/>
                </a:solidFill>
                <a:highlight>
                  <a:srgbClr val="FFFFFF"/>
                </a:highlight>
                <a:latin typeface="Cascadia Mono" panose="020B0609020000020004" pitchFamily="49" charset="0"/>
              </a:rPr>
              <a:t>(e =&gt; </a:t>
            </a:r>
            <a:r>
              <a:rPr lang="en-US" sz="1050" dirty="0" err="1">
                <a:solidFill>
                  <a:srgbClr val="000000"/>
                </a:solidFill>
                <a:highlight>
                  <a:srgbClr val="FFFFFF"/>
                </a:highlight>
                <a:latin typeface="Cascadia Mono" panose="020B0609020000020004" pitchFamily="49" charset="0"/>
              </a:rPr>
              <a:t>e.Id</a:t>
            </a:r>
            <a:r>
              <a:rPr lang="en-US" sz="1050" dirty="0">
                <a:solidFill>
                  <a:srgbClr val="000000"/>
                </a:solidFill>
                <a:highlight>
                  <a:srgbClr val="FFFFFF"/>
                </a:highlight>
                <a:latin typeface="Cascadia Mono" panose="020B0609020000020004" pitchFamily="49" charset="0"/>
              </a:rPr>
              <a:t>) + 1;</a:t>
            </a:r>
          </a:p>
          <a:p>
            <a:r>
              <a:rPr lang="en-IN" sz="1050" dirty="0">
                <a:solidFill>
                  <a:srgbClr val="000000"/>
                </a:solidFill>
                <a:highlight>
                  <a:srgbClr val="FFFFFF"/>
                </a:highlight>
                <a:latin typeface="Cascadia Mono" panose="020B0609020000020004" pitchFamily="49" charset="0"/>
              </a:rPr>
              <a:t>            _</a:t>
            </a:r>
            <a:r>
              <a:rPr lang="en-IN" sz="1050" dirty="0" err="1">
                <a:solidFill>
                  <a:srgbClr val="000000"/>
                </a:solidFill>
                <a:highlight>
                  <a:srgbClr val="FFFFFF"/>
                </a:highlight>
                <a:latin typeface="Cascadia Mono" panose="020B0609020000020004" pitchFamily="49" charset="0"/>
              </a:rPr>
              <a:t>employeeList.Add</a:t>
            </a:r>
            <a:r>
              <a:rPr lang="en-IN" sz="1050" dirty="0">
                <a:solidFill>
                  <a:srgbClr val="000000"/>
                </a:solidFill>
                <a:highlight>
                  <a:srgbClr val="FFFFFF"/>
                </a:highlight>
                <a:latin typeface="Cascadia Mono" panose="020B0609020000020004" pitchFamily="49" charset="0"/>
              </a:rPr>
              <a:t>(employee);</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employee;</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Delete(</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 Id)</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8000"/>
                </a:solidFill>
                <a:highlight>
                  <a:srgbClr val="FFFFFF"/>
                </a:highlight>
                <a:latin typeface="Cascadia Mono" panose="020B0609020000020004" pitchFamily="49" charset="0"/>
              </a:rPr>
              <a:t>// _</a:t>
            </a:r>
            <a:r>
              <a:rPr lang="en-US" sz="1050" dirty="0" err="1">
                <a:solidFill>
                  <a:srgbClr val="008000"/>
                </a:solidFill>
                <a:highlight>
                  <a:srgbClr val="FFFFFF"/>
                </a:highlight>
                <a:latin typeface="Cascadia Mono" panose="020B0609020000020004" pitchFamily="49" charset="0"/>
              </a:rPr>
              <a:t>employeeList.Find</a:t>
            </a:r>
            <a:r>
              <a:rPr lang="en-US" sz="1050" dirty="0">
                <a:solidFill>
                  <a:srgbClr val="008000"/>
                </a:solidFill>
                <a:highlight>
                  <a:srgbClr val="FFFFFF"/>
                </a:highlight>
                <a:latin typeface="Cascadia Mono" panose="020B0609020000020004" pitchFamily="49" charset="0"/>
              </a:rPr>
              <a:t>(e =&gt; </a:t>
            </a:r>
            <a:r>
              <a:rPr lang="en-US" sz="1050" dirty="0" err="1">
                <a:solidFill>
                  <a:srgbClr val="008000"/>
                </a:solidFill>
                <a:highlight>
                  <a:srgbClr val="FFFFFF"/>
                </a:highlight>
                <a:latin typeface="Cascadia Mono" panose="020B0609020000020004" pitchFamily="49" charset="0"/>
              </a:rPr>
              <a:t>e.Id</a:t>
            </a:r>
            <a:r>
              <a:rPr lang="en-US" sz="1050" dirty="0">
                <a:solidFill>
                  <a:srgbClr val="008000"/>
                </a:solidFill>
                <a:highlight>
                  <a:srgbClr val="FFFFFF"/>
                </a:highlight>
                <a:latin typeface="Cascadia Mono" panose="020B0609020000020004" pitchFamily="49" charset="0"/>
              </a:rPr>
              <a:t> == Id);</a:t>
            </a:r>
          </a:p>
          <a:p>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_</a:t>
            </a:r>
            <a:r>
              <a:rPr lang="en-US" sz="1050" dirty="0" err="1">
                <a:solidFill>
                  <a:srgbClr val="000000"/>
                </a:solidFill>
                <a:highlight>
                  <a:srgbClr val="FFFFFF"/>
                </a:highlight>
                <a:latin typeface="Cascadia Mono" panose="020B0609020000020004" pitchFamily="49" charset="0"/>
              </a:rPr>
              <a:t>employeeList.FirstOrDefault</a:t>
            </a:r>
            <a:r>
              <a:rPr lang="en-US" sz="1050" dirty="0">
                <a:solidFill>
                  <a:srgbClr val="000000"/>
                </a:solidFill>
                <a:highlight>
                  <a:srgbClr val="FFFFFF"/>
                </a:highlight>
                <a:latin typeface="Cascadia Mono" panose="020B0609020000020004" pitchFamily="49" charset="0"/>
              </a:rPr>
              <a:t>(e =&gt; </a:t>
            </a:r>
            <a:r>
              <a:rPr lang="en-US" sz="1050" dirty="0" err="1">
                <a:solidFill>
                  <a:srgbClr val="000000"/>
                </a:solidFill>
                <a:highlight>
                  <a:srgbClr val="FFFFFF"/>
                </a:highlight>
                <a:latin typeface="Cascadia Mono" panose="020B0609020000020004" pitchFamily="49" charset="0"/>
              </a:rPr>
              <a:t>e.Id</a:t>
            </a:r>
            <a:r>
              <a:rPr lang="en-US" sz="1050" dirty="0">
                <a:solidFill>
                  <a:srgbClr val="000000"/>
                </a:solidFill>
                <a:highlight>
                  <a:srgbClr val="FFFFFF"/>
                </a:highlight>
                <a:latin typeface="Cascadia Mono" panose="020B0609020000020004" pitchFamily="49" charset="0"/>
              </a:rPr>
              <a:t> == Id);</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if</a:t>
            </a:r>
            <a:r>
              <a:rPr lang="en-IN" sz="1050" dirty="0">
                <a:solidFill>
                  <a:srgbClr val="000000"/>
                </a:solidFill>
                <a:highlight>
                  <a:srgbClr val="FFFFFF"/>
                </a:highlight>
                <a:latin typeface="Cascadia Mono" panose="020B0609020000020004" pitchFamily="49" charset="0"/>
              </a:rPr>
              <a:t> (employee != </a:t>
            </a:r>
            <a:r>
              <a:rPr lang="en-IN" sz="1050" dirty="0">
                <a:solidFill>
                  <a:srgbClr val="0000FF"/>
                </a:solidFill>
                <a:highlight>
                  <a:srgbClr val="FFFFFF"/>
                </a:highlight>
                <a:latin typeface="Cascadia Mono" panose="020B0609020000020004" pitchFamily="49" charset="0"/>
              </a:rPr>
              <a:t>null</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_</a:t>
            </a:r>
            <a:r>
              <a:rPr lang="en-IN" sz="1050" dirty="0" err="1">
                <a:solidFill>
                  <a:srgbClr val="000000"/>
                </a:solidFill>
                <a:highlight>
                  <a:srgbClr val="FFFFFF"/>
                </a:highlight>
                <a:latin typeface="Cascadia Mono" panose="020B0609020000020004" pitchFamily="49" charset="0"/>
              </a:rPr>
              <a:t>employeeList.Remove</a:t>
            </a:r>
            <a:r>
              <a:rPr lang="en-IN" sz="1050" dirty="0">
                <a:solidFill>
                  <a:srgbClr val="000000"/>
                </a:solidFill>
                <a:highlight>
                  <a:srgbClr val="FFFFFF"/>
                </a:highlight>
                <a:latin typeface="Cascadia Mono" panose="020B0609020000020004" pitchFamily="49" charset="0"/>
              </a:rPr>
              <a:t>(employee);</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employee;</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public</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IEnumerable</a:t>
            </a:r>
            <a:r>
              <a:rPr lang="en-IN" sz="1050" dirty="0">
                <a:solidFill>
                  <a:srgbClr val="000000"/>
                </a:solidFill>
                <a:highlight>
                  <a:srgbClr val="FFFFFF"/>
                </a:highlight>
                <a:latin typeface="Cascadia Mono" panose="020B0609020000020004" pitchFamily="49" charset="0"/>
              </a:rPr>
              <a:t>&lt;</a:t>
            </a:r>
            <a:r>
              <a:rPr lang="en-IN" sz="1050" dirty="0">
                <a:solidFill>
                  <a:srgbClr val="2B91AF"/>
                </a:solidFill>
                <a:highlight>
                  <a:srgbClr val="FFFFFF"/>
                </a:highlight>
                <a:latin typeface="Cascadia Mono" panose="020B0609020000020004" pitchFamily="49" charset="0"/>
              </a:rPr>
              <a:t>Employee</a:t>
            </a:r>
            <a:r>
              <a:rPr lang="en-IN" sz="1050" dirty="0">
                <a:solidFill>
                  <a:srgbClr val="000000"/>
                </a:solidFill>
                <a:highlight>
                  <a:srgbClr val="FFFFFF"/>
                </a:highlight>
                <a:latin typeface="Cascadia Mono" panose="020B0609020000020004" pitchFamily="49" charset="0"/>
              </a:rPr>
              <a:t>&gt; </a:t>
            </a:r>
            <a:r>
              <a:rPr lang="en-IN" sz="1050" dirty="0" err="1">
                <a:solidFill>
                  <a:srgbClr val="000000"/>
                </a:solidFill>
                <a:highlight>
                  <a:srgbClr val="FFFFFF"/>
                </a:highlight>
                <a:latin typeface="Cascadia Mono" panose="020B0609020000020004" pitchFamily="49" charset="0"/>
              </a:rPr>
              <a:t>GetAllEmployee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return</a:t>
            </a:r>
            <a:r>
              <a:rPr lang="en-IN" sz="1050" dirty="0">
                <a:solidFill>
                  <a:srgbClr val="000000"/>
                </a:solidFill>
                <a:highlight>
                  <a:srgbClr val="FFFFFF"/>
                </a:highlight>
                <a:latin typeface="Cascadia Mono" panose="020B0609020000020004" pitchFamily="49" charset="0"/>
              </a:rPr>
              <a:t> _</a:t>
            </a:r>
            <a:r>
              <a:rPr lang="en-IN" sz="1050" dirty="0" err="1">
                <a:solidFill>
                  <a:srgbClr val="000000"/>
                </a:solidFill>
                <a:highlight>
                  <a:srgbClr val="FFFFFF"/>
                </a:highlight>
                <a:latin typeface="Cascadia Mono" panose="020B0609020000020004" pitchFamily="49" charset="0"/>
              </a:rPr>
              <a:t>employeeList</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a:t>
            </a:r>
            <a:r>
              <a:rPr lang="en-US" sz="1050" dirty="0" err="1">
                <a:solidFill>
                  <a:srgbClr val="000000"/>
                </a:solidFill>
                <a:highlight>
                  <a:srgbClr val="FFFFFF"/>
                </a:highlight>
                <a:latin typeface="Cascadia Mono" panose="020B0609020000020004" pitchFamily="49" charset="0"/>
              </a:rPr>
              <a:t>GetEmployee</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int</a:t>
            </a:r>
            <a:r>
              <a:rPr lang="en-US" sz="1050" dirty="0">
                <a:solidFill>
                  <a:srgbClr val="000000"/>
                </a:solidFill>
                <a:highlight>
                  <a:srgbClr val="FFFFFF"/>
                </a:highlight>
                <a:latin typeface="Cascadia Mono" panose="020B0609020000020004" pitchFamily="49" charset="0"/>
              </a:rPr>
              <a:t> Id)</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return</a:t>
            </a:r>
            <a:r>
              <a:rPr lang="en-US" sz="1050" dirty="0">
                <a:solidFill>
                  <a:srgbClr val="000000"/>
                </a:solidFill>
                <a:highlight>
                  <a:srgbClr val="FFFFFF"/>
                </a:highlight>
                <a:latin typeface="Cascadia Mono" panose="020B0609020000020004" pitchFamily="49" charset="0"/>
              </a:rPr>
              <a:t> _</a:t>
            </a:r>
            <a:r>
              <a:rPr lang="en-US" sz="1050" dirty="0" err="1">
                <a:solidFill>
                  <a:srgbClr val="000000"/>
                </a:solidFill>
                <a:highlight>
                  <a:srgbClr val="FFFFFF"/>
                </a:highlight>
                <a:latin typeface="Cascadia Mono" panose="020B0609020000020004" pitchFamily="49" charset="0"/>
              </a:rPr>
              <a:t>employeeList.FirstOrDefault</a:t>
            </a:r>
            <a:r>
              <a:rPr lang="en-US" sz="1050" dirty="0">
                <a:solidFill>
                  <a:srgbClr val="000000"/>
                </a:solidFill>
                <a:highlight>
                  <a:srgbClr val="FFFFFF"/>
                </a:highlight>
                <a:latin typeface="Cascadia Mono" panose="020B0609020000020004" pitchFamily="49" charset="0"/>
              </a:rPr>
              <a:t>(e =&gt; </a:t>
            </a:r>
            <a:r>
              <a:rPr lang="en-US" sz="1050" dirty="0" err="1">
                <a:solidFill>
                  <a:srgbClr val="000000"/>
                </a:solidFill>
                <a:highlight>
                  <a:srgbClr val="FFFFFF"/>
                </a:highlight>
                <a:latin typeface="Cascadia Mono" panose="020B0609020000020004" pitchFamily="49" charset="0"/>
              </a:rPr>
              <a:t>e.Id</a:t>
            </a:r>
            <a:r>
              <a:rPr lang="en-US" sz="1050" dirty="0">
                <a:solidFill>
                  <a:srgbClr val="000000"/>
                </a:solidFill>
                <a:highlight>
                  <a:srgbClr val="FFFFFF"/>
                </a:highlight>
                <a:latin typeface="Cascadia Mono" panose="020B0609020000020004" pitchFamily="49" charset="0"/>
              </a:rPr>
              <a:t> == Id);</a:t>
            </a:r>
          </a:p>
          <a:p>
            <a:r>
              <a:rPr lang="en-IN" sz="1050" dirty="0">
                <a:solidFill>
                  <a:srgbClr val="000000"/>
                </a:solidFill>
                <a:highlight>
                  <a:srgbClr val="FFFFFF"/>
                </a:highlight>
                <a:latin typeface="Cascadia Mono" panose="020B0609020000020004" pitchFamily="49" charset="0"/>
              </a:rPr>
              <a:t>        }</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public</a:t>
            </a:r>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IEnumerable</a:t>
            </a:r>
            <a:r>
              <a:rPr lang="en-US" sz="1050" dirty="0">
                <a:solidFill>
                  <a:srgbClr val="000000"/>
                </a:solidFill>
                <a:highlight>
                  <a:srgbClr val="FFFFFF"/>
                </a:highlight>
                <a:latin typeface="Cascadia Mono" panose="020B0609020000020004" pitchFamily="49" charset="0"/>
              </a:rPr>
              <a:t>&lt;</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&gt; </a:t>
            </a:r>
            <a:r>
              <a:rPr lang="en-US" sz="1050" dirty="0" err="1">
                <a:solidFill>
                  <a:srgbClr val="000000"/>
                </a:solidFill>
                <a:highlight>
                  <a:srgbClr val="FFFFFF"/>
                </a:highlight>
                <a:latin typeface="Cascadia Mono" panose="020B0609020000020004" pitchFamily="49" charset="0"/>
              </a:rPr>
              <a:t>GetEmployee</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string</a:t>
            </a:r>
            <a:r>
              <a:rPr lang="en-US" sz="1050" dirty="0">
                <a:solidFill>
                  <a:srgbClr val="000000"/>
                </a:solidFill>
                <a:highlight>
                  <a:srgbClr val="FFFFFF"/>
                </a:highlight>
                <a:latin typeface="Cascadia Mono" panose="020B0609020000020004" pitchFamily="49" charset="0"/>
              </a:rPr>
              <a:t> name)</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return</a:t>
            </a:r>
            <a:r>
              <a:rPr lang="en-US" sz="1050" dirty="0">
                <a:solidFill>
                  <a:srgbClr val="000000"/>
                </a:solidFill>
                <a:highlight>
                  <a:srgbClr val="FFFFFF"/>
                </a:highlight>
                <a:latin typeface="Cascadia Mono" panose="020B0609020000020004" pitchFamily="49" charset="0"/>
              </a:rPr>
              <a:t> _</a:t>
            </a:r>
            <a:r>
              <a:rPr lang="en-US" sz="1050" dirty="0" err="1">
                <a:solidFill>
                  <a:srgbClr val="000000"/>
                </a:solidFill>
                <a:highlight>
                  <a:srgbClr val="FFFFFF"/>
                </a:highlight>
                <a:latin typeface="Cascadia Mono" panose="020B0609020000020004" pitchFamily="49" charset="0"/>
              </a:rPr>
              <a:t>employeeList.FindAll</a:t>
            </a:r>
            <a:r>
              <a:rPr lang="en-US" sz="1050" dirty="0">
                <a:solidFill>
                  <a:srgbClr val="000000"/>
                </a:solidFill>
                <a:highlight>
                  <a:srgbClr val="FFFFFF"/>
                </a:highlight>
                <a:latin typeface="Cascadia Mono" panose="020B0609020000020004" pitchFamily="49" charset="0"/>
              </a:rPr>
              <a:t>(e =&gt; </a:t>
            </a:r>
            <a:r>
              <a:rPr lang="en-US" sz="1050" dirty="0" err="1">
                <a:solidFill>
                  <a:srgbClr val="000000"/>
                </a:solidFill>
                <a:highlight>
                  <a:srgbClr val="FFFFFF"/>
                </a:highlight>
                <a:latin typeface="Cascadia Mono" panose="020B0609020000020004" pitchFamily="49" charset="0"/>
              </a:rPr>
              <a:t>e.Name</a:t>
            </a:r>
            <a:r>
              <a:rPr lang="en-US" sz="1050" dirty="0">
                <a:solidFill>
                  <a:srgbClr val="000000"/>
                </a:solidFill>
                <a:highlight>
                  <a:srgbClr val="FFFFFF"/>
                </a:highlight>
                <a:latin typeface="Cascadia Mono" panose="020B0609020000020004" pitchFamily="49" charset="0"/>
              </a:rPr>
              <a:t> == name);</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endParaRPr lang="en-IN" sz="1050" dirty="0"/>
          </a:p>
        </p:txBody>
      </p:sp>
    </p:spTree>
    <p:extLst>
      <p:ext uri="{BB962C8B-B14F-4D97-AF65-F5344CB8AC3E}">
        <p14:creationId xmlns:p14="http://schemas.microsoft.com/office/powerpoint/2010/main" val="371133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AC1ADDF-A529-B6E6-BA85-ECC1B98EDEF1}"/>
              </a:ext>
            </a:extLst>
          </p:cNvPr>
          <p:cNvSpPr txBox="1"/>
          <p:nvPr/>
        </p:nvSpPr>
        <p:spPr>
          <a:xfrm>
            <a:off x="381000" y="685800"/>
            <a:ext cx="8686800" cy="5940088"/>
          </a:xfrm>
          <a:prstGeom prst="rect">
            <a:avLst/>
          </a:prstGeom>
          <a:noFill/>
        </p:spPr>
        <p:txBody>
          <a:bodyPr wrap="square">
            <a:spAutoFit/>
          </a:bodyPr>
          <a:lstStyle/>
          <a:p>
            <a:r>
              <a:rPr lang="en-IN" sz="1100" dirty="0">
                <a:solidFill>
                  <a:srgbClr val="0000FF"/>
                </a:solidFill>
                <a:highlight>
                  <a:srgbClr val="FFFFFF"/>
                </a:highlight>
                <a:latin typeface="Cascadia Mono" panose="020B0609020000020004" pitchFamily="49" charset="0"/>
              </a:rPr>
              <a:t>class</a:t>
            </a:r>
            <a:r>
              <a:rPr lang="en-IN" sz="1100" dirty="0">
                <a:solidFill>
                  <a:srgbClr val="000000"/>
                </a:solidFill>
                <a:highlight>
                  <a:srgbClr val="FFFFFF"/>
                </a:highlight>
                <a:latin typeface="Cascadia Mono" panose="020B0609020000020004" pitchFamily="49" charset="0"/>
              </a:rPr>
              <a:t> </a:t>
            </a:r>
            <a:r>
              <a:rPr lang="en-IN" sz="1100" dirty="0">
                <a:solidFill>
                  <a:srgbClr val="2B91AF"/>
                </a:solidFill>
                <a:highlight>
                  <a:srgbClr val="FFFFFF"/>
                </a:highlight>
                <a:latin typeface="Cascadia Mono" panose="020B0609020000020004" pitchFamily="49" charset="0"/>
              </a:rPr>
              <a:t>Program</a:t>
            </a:r>
          </a:p>
          <a:p>
            <a:r>
              <a:rPr lang="en-IN" sz="1100" dirty="0">
                <a:solidFill>
                  <a:srgbClr val="000000"/>
                </a:solidFill>
                <a:highlight>
                  <a:srgbClr val="FFFFFF"/>
                </a:highlight>
                <a:latin typeface="Cascadia Mono" panose="020B0609020000020004" pitchFamily="49" charset="0"/>
              </a:rPr>
              <a:t>{</a:t>
            </a:r>
          </a:p>
          <a:p>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static</a:t>
            </a:r>
            <a:r>
              <a:rPr lang="en-US" sz="1100" dirty="0">
                <a:solidFill>
                  <a:srgbClr val="000000"/>
                </a:solidFill>
                <a:highlight>
                  <a:srgbClr val="FFFFFF"/>
                </a:highlight>
                <a:latin typeface="Cascadia Mono" panose="020B0609020000020004" pitchFamily="49" charset="0"/>
              </a:rPr>
              <a:t> </a:t>
            </a:r>
            <a:r>
              <a:rPr lang="en-US" sz="1100" dirty="0">
                <a:solidFill>
                  <a:srgbClr val="0000FF"/>
                </a:solidFill>
                <a:highlight>
                  <a:srgbClr val="FFFFFF"/>
                </a:highlight>
                <a:latin typeface="Cascadia Mono" panose="020B0609020000020004" pitchFamily="49" charset="0"/>
              </a:rPr>
              <a:t>void</a:t>
            </a:r>
            <a:r>
              <a:rPr lang="en-US" sz="1100" dirty="0">
                <a:solidFill>
                  <a:srgbClr val="000000"/>
                </a:solidFill>
                <a:highlight>
                  <a:srgbClr val="FFFFFF"/>
                </a:highlight>
                <a:latin typeface="Cascadia Mono" panose="020B0609020000020004" pitchFamily="49" charset="0"/>
              </a:rPr>
              <a:t> Main(</a:t>
            </a:r>
            <a:r>
              <a:rPr lang="en-US" sz="1100" dirty="0">
                <a:solidFill>
                  <a:srgbClr val="0000FF"/>
                </a:solidFill>
                <a:highlight>
                  <a:srgbClr val="FFFFFF"/>
                </a:highlight>
                <a:latin typeface="Cascadia Mono" panose="020B0609020000020004" pitchFamily="49" charset="0"/>
              </a:rPr>
              <a:t>string</a:t>
            </a:r>
            <a:r>
              <a:rPr lang="en-US" sz="1100" dirty="0">
                <a:solidFill>
                  <a:srgbClr val="000000"/>
                </a:solidFill>
                <a:highlight>
                  <a:srgbClr val="FFFFFF"/>
                </a:highlight>
                <a:latin typeface="Cascadia Mono" panose="020B0609020000020004" pitchFamily="49" charset="0"/>
              </a:rPr>
              <a:t>[] </a:t>
            </a:r>
            <a:r>
              <a:rPr lang="en-US" sz="1100" dirty="0" err="1">
                <a:solidFill>
                  <a:srgbClr val="000000"/>
                </a:solidFill>
                <a:highlight>
                  <a:srgbClr val="FFFFFF"/>
                </a:highlight>
                <a:latin typeface="Cascadia Mono" panose="020B0609020000020004" pitchFamily="49" charset="0"/>
              </a:rPr>
              <a:t>args</a:t>
            </a:r>
            <a:r>
              <a:rPr lang="en-US" sz="1100" dirty="0">
                <a:solidFill>
                  <a:srgbClr val="000000"/>
                </a:solidFill>
                <a:highlight>
                  <a:srgbClr val="FFFFFF"/>
                </a:highlight>
                <a:latin typeface="Cascadia Mono" panose="020B0609020000020004" pitchFamily="49" charset="0"/>
              </a:rPr>
              <a:t>)</a:t>
            </a:r>
          </a:p>
          <a:p>
            <a:r>
              <a:rPr lang="en-IN" sz="1100" dirty="0">
                <a:solidFill>
                  <a:srgbClr val="000000"/>
                </a:solidFill>
                <a:highlight>
                  <a:srgbClr val="FFFFFF"/>
                </a:highlight>
                <a:latin typeface="Cascadia Mono" panose="020B0609020000020004" pitchFamily="49" charset="0"/>
              </a:rPr>
              <a:t>    {</a:t>
            </a:r>
            <a:endParaRPr lang="en-IN" sz="70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IEmpService</a:t>
            </a:r>
            <a:r>
              <a:rPr lang="en-IN" sz="1050" dirty="0">
                <a:solidFill>
                  <a:srgbClr val="000000"/>
                </a:solidFill>
                <a:highlight>
                  <a:srgbClr val="FFFFFF"/>
                </a:highlight>
                <a:latin typeface="Cascadia Mono" panose="020B0609020000020004" pitchFamily="49" charset="0"/>
              </a:rPr>
              <a:t> </a:t>
            </a:r>
            <a:r>
              <a:rPr lang="en-IN" sz="1050" dirty="0" err="1">
                <a:solidFill>
                  <a:srgbClr val="000000"/>
                </a:solidFill>
                <a:highlight>
                  <a:srgbClr val="FFFFFF"/>
                </a:highlight>
                <a:latin typeface="Cascadia Mono" panose="020B0609020000020004" pitchFamily="49" charset="0"/>
              </a:rPr>
              <a:t>empService</a:t>
            </a:r>
            <a:r>
              <a:rPr lang="en-IN" sz="1050" dirty="0">
                <a:solidFill>
                  <a:srgbClr val="000000"/>
                </a:solidFill>
                <a:highlight>
                  <a:srgbClr val="FFFFFF"/>
                </a:highlight>
                <a:latin typeface="Cascadia Mono" panose="020B0609020000020004" pitchFamily="49" charset="0"/>
              </a:rPr>
              <a:t> = </a:t>
            </a:r>
            <a:r>
              <a:rPr lang="en-IN" sz="1050" dirty="0">
                <a:solidFill>
                  <a:srgbClr val="0000FF"/>
                </a:solidFill>
                <a:highlight>
                  <a:srgbClr val="FFFFFF"/>
                </a:highlight>
                <a:latin typeface="Cascadia Mono" panose="020B0609020000020004" pitchFamily="49" charset="0"/>
              </a:rPr>
              <a:t>new</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EmployeeService</a:t>
            </a:r>
            <a:r>
              <a:rPr lang="en-IN"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e1= </a:t>
            </a:r>
            <a:r>
              <a:rPr lang="en-US" sz="1050" dirty="0" err="1">
                <a:solidFill>
                  <a:srgbClr val="000000"/>
                </a:solidFill>
                <a:highlight>
                  <a:srgbClr val="FFFFFF"/>
                </a:highlight>
                <a:latin typeface="Cascadia Mono" panose="020B0609020000020004" pitchFamily="49" charset="0"/>
              </a:rPr>
              <a:t>empService.Add</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Name = </a:t>
            </a:r>
            <a:r>
              <a:rPr lang="en-US" sz="1050" dirty="0">
                <a:solidFill>
                  <a:srgbClr val="A31515"/>
                </a:solidFill>
                <a:highlight>
                  <a:srgbClr val="FFFFFF"/>
                </a:highlight>
                <a:latin typeface="Cascadia Mono" panose="020B0609020000020004" pitchFamily="49" charset="0"/>
              </a:rPr>
              <a:t>"Sonam"</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.IT, Email = </a:t>
            </a:r>
            <a:r>
              <a:rPr lang="en-US" sz="1050" dirty="0">
                <a:solidFill>
                  <a:srgbClr val="A31515"/>
                </a:solidFill>
                <a:highlight>
                  <a:srgbClr val="FFFFFF"/>
                </a:highlight>
                <a:latin typeface="Cascadia Mono" panose="020B0609020000020004" pitchFamily="49" charset="0"/>
              </a:rPr>
              <a:t>"som@CDACtech.com"</a:t>
            </a:r>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{e1}</a:t>
            </a:r>
            <a:r>
              <a:rPr lang="en-US" sz="1050" dirty="0">
                <a:solidFill>
                  <a:srgbClr val="A31515"/>
                </a:solidFill>
                <a:highlight>
                  <a:srgbClr val="FFFFFF"/>
                </a:highlight>
                <a:latin typeface="Cascadia Mono" panose="020B0609020000020004" pitchFamily="49" charset="0"/>
              </a:rPr>
              <a:t> Added in </a:t>
            </a:r>
            <a:r>
              <a:rPr lang="en-US" sz="1050" dirty="0" err="1">
                <a:solidFill>
                  <a:srgbClr val="A31515"/>
                </a:solidFill>
                <a:highlight>
                  <a:srgbClr val="FFFFFF"/>
                </a:highlight>
                <a:latin typeface="Cascadia Mono" panose="020B0609020000020004" pitchFamily="49" charset="0"/>
              </a:rPr>
              <a:t>cpllection</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e1 = </a:t>
            </a:r>
            <a:r>
              <a:rPr lang="en-US" sz="1050" dirty="0" err="1">
                <a:solidFill>
                  <a:srgbClr val="000000"/>
                </a:solidFill>
                <a:highlight>
                  <a:srgbClr val="FFFFFF"/>
                </a:highlight>
                <a:latin typeface="Cascadia Mono" panose="020B0609020000020004" pitchFamily="49" charset="0"/>
              </a:rPr>
              <a:t>empService.Add</a:t>
            </a:r>
            <a:r>
              <a:rPr lang="en-US" sz="1050" dirty="0">
                <a:solidFill>
                  <a:srgbClr val="000000"/>
                </a:solidFill>
                <a:highlight>
                  <a:srgbClr val="FFFFFF"/>
                </a:highlight>
                <a:latin typeface="Cascadia Mono" panose="020B0609020000020004" pitchFamily="49" charset="0"/>
              </a:rPr>
              <a:t>(</a:t>
            </a:r>
            <a:r>
              <a:rPr lang="en-US" sz="1050" dirty="0">
                <a:solidFill>
                  <a:srgbClr val="0000FF"/>
                </a:solidFill>
                <a:highlight>
                  <a:srgbClr val="FFFFFF"/>
                </a:highlight>
                <a:latin typeface="Cascadia Mono" panose="020B0609020000020004" pitchFamily="49" charset="0"/>
              </a:rPr>
              <a:t>new</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 Name = </a:t>
            </a:r>
            <a:r>
              <a:rPr lang="en-US" sz="1050" dirty="0">
                <a:solidFill>
                  <a:srgbClr val="A31515"/>
                </a:solidFill>
                <a:highlight>
                  <a:srgbClr val="FFFFFF"/>
                </a:highlight>
                <a:latin typeface="Cascadia Mono" panose="020B0609020000020004" pitchFamily="49" charset="0"/>
              </a:rPr>
              <a:t>"Sonam"</a:t>
            </a:r>
            <a:r>
              <a:rPr lang="en-US" sz="1050" dirty="0">
                <a:solidFill>
                  <a:srgbClr val="000000"/>
                </a:solidFill>
                <a:highlight>
                  <a:srgbClr val="FFFFFF"/>
                </a:highlight>
                <a:latin typeface="Cascadia Mono" panose="020B0609020000020004" pitchFamily="49" charset="0"/>
              </a:rPr>
              <a:t>, Department = </a:t>
            </a:r>
            <a:r>
              <a:rPr lang="en-US" sz="1050" dirty="0">
                <a:solidFill>
                  <a:srgbClr val="2B91AF"/>
                </a:solidFill>
                <a:highlight>
                  <a:srgbClr val="FFFFFF"/>
                </a:highlight>
                <a:latin typeface="Cascadia Mono" panose="020B0609020000020004" pitchFamily="49" charset="0"/>
              </a:rPr>
              <a:t>Dept</a:t>
            </a:r>
            <a:r>
              <a:rPr lang="en-US" sz="1050" dirty="0">
                <a:solidFill>
                  <a:srgbClr val="000000"/>
                </a:solidFill>
                <a:highlight>
                  <a:srgbClr val="FFFFFF"/>
                </a:highlight>
                <a:latin typeface="Cascadia Mono" panose="020B0609020000020004" pitchFamily="49" charset="0"/>
              </a:rPr>
              <a:t>.HR , Email= </a:t>
            </a:r>
            <a:r>
              <a:rPr lang="en-US" sz="1050" dirty="0">
                <a:solidFill>
                  <a:srgbClr val="A31515"/>
                </a:solidFill>
                <a:highlight>
                  <a:srgbClr val="FFFFFF"/>
                </a:highlight>
                <a:latin typeface="Cascadia Mono" panose="020B0609020000020004" pitchFamily="49" charset="0"/>
              </a:rPr>
              <a:t>"sonam@CDACtech.com"</a:t>
            </a:r>
            <a:r>
              <a:rPr lang="en-US"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{e1}</a:t>
            </a:r>
            <a:r>
              <a:rPr lang="en-US" sz="1050" dirty="0">
                <a:solidFill>
                  <a:srgbClr val="A31515"/>
                </a:solidFill>
                <a:highlight>
                  <a:srgbClr val="FFFFFF"/>
                </a:highlight>
                <a:latin typeface="Cascadia Mono" panose="020B0609020000020004" pitchFamily="49" charset="0"/>
              </a:rPr>
              <a:t> Added in collection"</a:t>
            </a:r>
            <a:r>
              <a:rPr lang="en-US"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e1 = </a:t>
            </a:r>
            <a:r>
              <a:rPr lang="en-IN" sz="1050" dirty="0" err="1">
                <a:solidFill>
                  <a:srgbClr val="000000"/>
                </a:solidFill>
                <a:highlight>
                  <a:srgbClr val="FFFFFF"/>
                </a:highlight>
                <a:latin typeface="Cascadia Mono" panose="020B0609020000020004" pitchFamily="49" charset="0"/>
              </a:rPr>
              <a:t>empService.Delete</a:t>
            </a:r>
            <a:r>
              <a:rPr lang="en-IN" sz="1050" dirty="0">
                <a:solidFill>
                  <a:srgbClr val="000000"/>
                </a:solidFill>
                <a:highlight>
                  <a:srgbClr val="FFFFFF"/>
                </a:highlight>
                <a:latin typeface="Cascadia Mono" panose="020B0609020000020004" pitchFamily="49" charset="0"/>
              </a:rPr>
              <a:t>(3);</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{e1}</a:t>
            </a:r>
            <a:r>
              <a:rPr lang="en-US" sz="1050" dirty="0">
                <a:solidFill>
                  <a:srgbClr val="A31515"/>
                </a:solidFill>
                <a:highlight>
                  <a:srgbClr val="FFFFFF"/>
                </a:highlight>
                <a:latin typeface="Cascadia Mono" panose="020B0609020000020004" pitchFamily="49" charset="0"/>
              </a:rPr>
              <a:t> Deleted from n collection"</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e1 = </a:t>
            </a:r>
            <a:r>
              <a:rPr lang="en-IN" sz="1050" dirty="0" err="1">
                <a:solidFill>
                  <a:srgbClr val="000000"/>
                </a:solidFill>
                <a:highlight>
                  <a:srgbClr val="FFFFFF"/>
                </a:highlight>
                <a:latin typeface="Cascadia Mono" panose="020B0609020000020004" pitchFamily="49" charset="0"/>
              </a:rPr>
              <a:t>empService.GetEmployee</a:t>
            </a:r>
            <a:r>
              <a:rPr lang="en-IN" sz="1050" dirty="0">
                <a:solidFill>
                  <a:srgbClr val="000000"/>
                </a:solidFill>
                <a:highlight>
                  <a:srgbClr val="FFFFFF"/>
                </a:highlight>
                <a:latin typeface="Cascadia Mono" panose="020B0609020000020004" pitchFamily="49" charset="0"/>
              </a:rPr>
              <a:t>(1);</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$"record of </a:t>
            </a:r>
            <a:r>
              <a:rPr lang="en-US" sz="1050" dirty="0">
                <a:solidFill>
                  <a:srgbClr val="000000"/>
                </a:solidFill>
                <a:highlight>
                  <a:srgbClr val="FFFFFF"/>
                </a:highlight>
                <a:latin typeface="Cascadia Mono" panose="020B0609020000020004" pitchFamily="49" charset="0"/>
              </a:rPr>
              <a:t>{e1.Id}</a:t>
            </a:r>
            <a:r>
              <a:rPr lang="en-US" sz="1050" dirty="0">
                <a:solidFill>
                  <a:srgbClr val="A31515"/>
                </a:solidFill>
                <a:highlight>
                  <a:srgbClr val="FFFFFF"/>
                </a:highlight>
                <a:latin typeface="Cascadia Mono" panose="020B0609020000020004" pitchFamily="49" charset="0"/>
              </a:rPr>
              <a:t>==&gt;</a:t>
            </a:r>
            <a:r>
              <a:rPr lang="en-US" sz="1050" dirty="0">
                <a:solidFill>
                  <a:srgbClr val="000000"/>
                </a:solidFill>
                <a:highlight>
                  <a:srgbClr val="FFFFFF"/>
                </a:highlight>
                <a:latin typeface="Cascadia Mono" panose="020B0609020000020004" pitchFamily="49" charset="0"/>
              </a:rPr>
              <a:t>{e1}</a:t>
            </a:r>
            <a:r>
              <a:rPr lang="en-US" sz="1050" dirty="0">
                <a:solidFill>
                  <a:srgbClr val="A31515"/>
                </a:solidFill>
                <a:highlight>
                  <a:srgbClr val="FFFFFF"/>
                </a:highlight>
                <a:latin typeface="Cascadia Mono" panose="020B0609020000020004" pitchFamily="49" charset="0"/>
              </a:rPr>
              <a:t>"</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IEnumerable</a:t>
            </a:r>
            <a:r>
              <a:rPr lang="en-US" sz="1050" dirty="0">
                <a:solidFill>
                  <a:srgbClr val="000000"/>
                </a:solidFill>
                <a:highlight>
                  <a:srgbClr val="FFFFFF"/>
                </a:highlight>
                <a:latin typeface="Cascadia Mono" panose="020B0609020000020004" pitchFamily="49" charset="0"/>
              </a:rPr>
              <a:t>&lt;</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&gt; list = </a:t>
            </a:r>
            <a:r>
              <a:rPr lang="en-US" sz="1050" dirty="0" err="1">
                <a:solidFill>
                  <a:srgbClr val="000000"/>
                </a:solidFill>
                <a:highlight>
                  <a:srgbClr val="FFFFFF"/>
                </a:highlight>
                <a:latin typeface="Cascadia Mono" panose="020B0609020000020004" pitchFamily="49" charset="0"/>
              </a:rPr>
              <a:t>empService.GetEmployee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"Sonam"</a:t>
            </a:r>
            <a:r>
              <a:rPr lang="en-US" sz="1050" dirty="0">
                <a:solidFill>
                  <a:srgbClr val="000000"/>
                </a:solidFill>
                <a:highlight>
                  <a:srgbClr val="FFFFFF"/>
                </a:highlight>
                <a:latin typeface="Cascadia Mono" panose="020B0609020000020004" pitchFamily="49" charset="0"/>
              </a:rPr>
              <a:t>);</a:t>
            </a:r>
          </a:p>
          <a:p>
            <a:r>
              <a:rPr lang="en-US" sz="1050" dirty="0">
                <a:solidFill>
                  <a:srgbClr val="000000"/>
                </a:solidFill>
                <a:highlight>
                  <a:srgbClr val="FFFFFF"/>
                </a:highlight>
                <a:latin typeface="Cascadia Mono" panose="020B0609020000020004" pitchFamily="49" charset="0"/>
              </a:rPr>
              <a:t>            </a:t>
            </a:r>
            <a:r>
              <a:rPr lang="en-US" sz="1050" dirty="0" err="1">
                <a:solidFill>
                  <a:srgbClr val="2B91AF"/>
                </a:solidFill>
                <a:highlight>
                  <a:srgbClr val="FFFFFF"/>
                </a:highlight>
                <a:latin typeface="Cascadia Mono" panose="020B0609020000020004" pitchFamily="49" charset="0"/>
              </a:rPr>
              <a:t>Console</a:t>
            </a:r>
            <a:r>
              <a:rPr lang="en-US" sz="1050" dirty="0" err="1">
                <a:solidFill>
                  <a:srgbClr val="000000"/>
                </a:solidFill>
                <a:highlight>
                  <a:srgbClr val="FFFFFF"/>
                </a:highlight>
                <a:latin typeface="Cascadia Mono" panose="020B0609020000020004" pitchFamily="49" charset="0"/>
              </a:rPr>
              <a:t>.WriteLine</a:t>
            </a:r>
            <a:r>
              <a:rPr lang="en-US" sz="1050" dirty="0">
                <a:solidFill>
                  <a:srgbClr val="000000"/>
                </a:solidFill>
                <a:highlight>
                  <a:srgbClr val="FFFFFF"/>
                </a:highlight>
                <a:latin typeface="Cascadia Mono" panose="020B0609020000020004" pitchFamily="49" charset="0"/>
              </a:rPr>
              <a:t>(</a:t>
            </a:r>
            <a:r>
              <a:rPr lang="en-US" sz="1050" dirty="0">
                <a:solidFill>
                  <a:srgbClr val="A31515"/>
                </a:solidFill>
                <a:highlight>
                  <a:srgbClr val="FFFFFF"/>
                </a:highlight>
                <a:latin typeface="Cascadia Mono" panose="020B0609020000020004" pitchFamily="49" charset="0"/>
              </a:rPr>
              <a:t>$"record of with name Sonam"</a:t>
            </a:r>
            <a:r>
              <a:rPr lang="en-US" sz="1050" dirty="0">
                <a:solidFill>
                  <a:srgbClr val="000000"/>
                </a:solidFill>
                <a:highlight>
                  <a:srgbClr val="FFFFFF"/>
                </a:highlight>
                <a:latin typeface="Cascadia Mono" panose="020B0609020000020004" pitchFamily="49" charset="0"/>
              </a:rPr>
              <a:t>);</a:t>
            </a:r>
          </a:p>
          <a:p>
            <a:endParaRPr lang="en-IN" sz="1050" dirty="0">
              <a:solidFill>
                <a:srgbClr val="000000"/>
              </a:solidFill>
              <a:highlight>
                <a:srgbClr val="FFFFFF"/>
              </a:highlight>
              <a:latin typeface="Cascadia Mono" panose="020B0609020000020004" pitchFamily="49" charset="0"/>
            </a:endParaRP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foreach</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emp </a:t>
            </a:r>
            <a:r>
              <a:rPr lang="en-US" sz="1050" dirty="0">
                <a:solidFill>
                  <a:srgbClr val="0000FF"/>
                </a:solidFill>
                <a:highlight>
                  <a:srgbClr val="FFFFFF"/>
                </a:highlight>
                <a:latin typeface="Cascadia Mono" panose="020B0609020000020004" pitchFamily="49" charset="0"/>
              </a:rPr>
              <a:t>in</a:t>
            </a:r>
            <a:r>
              <a:rPr lang="en-US" sz="1050" dirty="0">
                <a:solidFill>
                  <a:srgbClr val="000000"/>
                </a:solidFill>
                <a:highlight>
                  <a:srgbClr val="FFFFFF"/>
                </a:highlight>
                <a:latin typeface="Cascadia Mono" panose="020B0609020000020004" pitchFamily="49" charset="0"/>
              </a:rPr>
              <a:t> list)</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Console</a:t>
            </a:r>
            <a:r>
              <a:rPr lang="en-IN" sz="1050" dirty="0" err="1">
                <a:solidFill>
                  <a:srgbClr val="000000"/>
                </a:solidFill>
                <a:highlight>
                  <a:srgbClr val="FFFFFF"/>
                </a:highlight>
                <a:latin typeface="Cascadia Mono" panose="020B0609020000020004" pitchFamily="49" charset="0"/>
              </a:rPr>
              <a:t>.WriteLine</a:t>
            </a:r>
            <a:r>
              <a:rPr lang="en-IN" sz="1050" dirty="0">
                <a:solidFill>
                  <a:srgbClr val="000000"/>
                </a:solidFill>
                <a:highlight>
                  <a:srgbClr val="FFFFFF"/>
                </a:highlight>
                <a:latin typeface="Cascadia Mono" panose="020B0609020000020004" pitchFamily="49" charset="0"/>
              </a:rPr>
              <a:t>(emp);</a:t>
            </a: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list = </a:t>
            </a:r>
            <a:r>
              <a:rPr lang="en-IN" sz="1050" dirty="0" err="1">
                <a:solidFill>
                  <a:srgbClr val="000000"/>
                </a:solidFill>
                <a:highlight>
                  <a:srgbClr val="FFFFFF"/>
                </a:highlight>
                <a:latin typeface="Cascadia Mono" panose="020B0609020000020004" pitchFamily="49" charset="0"/>
              </a:rPr>
              <a:t>empService.GetAllEmployee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r>
              <a:rPr lang="en-IN" sz="1050" dirty="0">
                <a:solidFill>
                  <a:srgbClr val="0000FF"/>
                </a:solidFill>
                <a:highlight>
                  <a:srgbClr val="FFFFFF"/>
                </a:highlight>
                <a:latin typeface="Cascadia Mono" panose="020B0609020000020004" pitchFamily="49" charset="0"/>
              </a:rPr>
              <a:t>var</a:t>
            </a:r>
            <a:r>
              <a:rPr lang="en-IN" sz="1050" dirty="0">
                <a:solidFill>
                  <a:srgbClr val="000000"/>
                </a:solidFill>
                <a:highlight>
                  <a:srgbClr val="FFFFFF"/>
                </a:highlight>
                <a:latin typeface="Cascadia Mono" panose="020B0609020000020004" pitchFamily="49" charset="0"/>
              </a:rPr>
              <a:t> options = </a:t>
            </a:r>
            <a:r>
              <a:rPr lang="en-IN" sz="1050" dirty="0">
                <a:solidFill>
                  <a:srgbClr val="0000FF"/>
                </a:solidFill>
                <a:highlight>
                  <a:srgbClr val="FFFFFF"/>
                </a:highlight>
                <a:latin typeface="Cascadia Mono" panose="020B0609020000020004" pitchFamily="49" charset="0"/>
              </a:rPr>
              <a:t>new</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JsonSerializerOptions</a:t>
            </a:r>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  </a:t>
            </a:r>
            <a:r>
              <a:rPr lang="en-IN" sz="1050" dirty="0" err="1">
                <a:solidFill>
                  <a:srgbClr val="000000"/>
                </a:solidFill>
                <a:highlight>
                  <a:srgbClr val="FFFFFF"/>
                </a:highlight>
                <a:latin typeface="Cascadia Mono" panose="020B0609020000020004" pitchFamily="49" charset="0"/>
              </a:rPr>
              <a:t>WriteIndented</a:t>
            </a:r>
            <a:r>
              <a:rPr lang="en-IN" sz="1050" dirty="0">
                <a:solidFill>
                  <a:srgbClr val="000000"/>
                </a:solidFill>
                <a:highlight>
                  <a:srgbClr val="FFFFFF"/>
                </a:highlight>
                <a:latin typeface="Cascadia Mono" panose="020B0609020000020004" pitchFamily="49" charset="0"/>
              </a:rPr>
              <a:t> = </a:t>
            </a:r>
            <a:r>
              <a:rPr lang="en-IN" sz="1050" dirty="0">
                <a:solidFill>
                  <a:srgbClr val="0000FF"/>
                </a:solidFill>
                <a:highlight>
                  <a:srgbClr val="FFFFFF"/>
                </a:highlight>
                <a:latin typeface="Cascadia Mono" panose="020B0609020000020004" pitchFamily="49" charset="0"/>
              </a:rPr>
              <a:t>true</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Converters = {</a:t>
            </a:r>
            <a:r>
              <a:rPr lang="en-IN" sz="1050" dirty="0">
                <a:solidFill>
                  <a:srgbClr val="0000FF"/>
                </a:solidFill>
                <a:highlight>
                  <a:srgbClr val="FFFFFF"/>
                </a:highlight>
                <a:latin typeface="Cascadia Mono" panose="020B0609020000020004" pitchFamily="49" charset="0"/>
              </a:rPr>
              <a:t>new</a:t>
            </a:r>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JsonStringEnumConverter</a:t>
            </a:r>
            <a:r>
              <a:rPr lang="en-IN" sz="1050" dirty="0">
                <a:solidFill>
                  <a:srgbClr val="000000"/>
                </a:solidFill>
                <a:highlight>
                  <a:srgbClr val="FFFFFF"/>
                </a:highlight>
                <a:latin typeface="Cascadia Mono" panose="020B0609020000020004" pitchFamily="49" charset="0"/>
              </a:rPr>
              <a:t>(</a:t>
            </a:r>
            <a:r>
              <a:rPr lang="en-IN" sz="1050" dirty="0" err="1">
                <a:solidFill>
                  <a:srgbClr val="2B91AF"/>
                </a:solidFill>
                <a:highlight>
                  <a:srgbClr val="FFFFFF"/>
                </a:highlight>
                <a:latin typeface="Cascadia Mono" panose="020B0609020000020004" pitchFamily="49" charset="0"/>
              </a:rPr>
              <a:t>JsonNamingPolicy</a:t>
            </a:r>
            <a:r>
              <a:rPr lang="en-IN" sz="1050" dirty="0" err="1">
                <a:solidFill>
                  <a:srgbClr val="000000"/>
                </a:solidFill>
                <a:highlight>
                  <a:srgbClr val="FFFFFF"/>
                </a:highlight>
                <a:latin typeface="Cascadia Mono" panose="020B0609020000020004" pitchFamily="49" charset="0"/>
              </a:rPr>
              <a:t>.CamelCase</a:t>
            </a:r>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p>
          <a:p>
            <a:r>
              <a:rPr lang="en-US" sz="1050" dirty="0">
                <a:solidFill>
                  <a:srgbClr val="000000"/>
                </a:solidFill>
                <a:highlight>
                  <a:srgbClr val="FFFFFF"/>
                </a:highlight>
                <a:latin typeface="Cascadia Mono" panose="020B0609020000020004" pitchFamily="49" charset="0"/>
              </a:rPr>
              <a:t>            </a:t>
            </a:r>
            <a:r>
              <a:rPr lang="en-US" sz="1050" dirty="0">
                <a:solidFill>
                  <a:srgbClr val="0000FF"/>
                </a:solidFill>
                <a:highlight>
                  <a:srgbClr val="FFFFFF"/>
                </a:highlight>
                <a:latin typeface="Cascadia Mono" panose="020B0609020000020004" pitchFamily="49" charset="0"/>
              </a:rPr>
              <a:t>foreach</a:t>
            </a:r>
            <a:r>
              <a:rPr lang="en-US" sz="1050" dirty="0">
                <a:solidFill>
                  <a:srgbClr val="000000"/>
                </a:solidFill>
                <a:highlight>
                  <a:srgbClr val="FFFFFF"/>
                </a:highlight>
                <a:latin typeface="Cascadia Mono" panose="020B0609020000020004" pitchFamily="49" charset="0"/>
              </a:rPr>
              <a:t> (</a:t>
            </a:r>
            <a:r>
              <a:rPr lang="en-US" sz="1050" dirty="0">
                <a:solidFill>
                  <a:srgbClr val="2B91AF"/>
                </a:solidFill>
                <a:highlight>
                  <a:srgbClr val="FFFFFF"/>
                </a:highlight>
                <a:latin typeface="Cascadia Mono" panose="020B0609020000020004" pitchFamily="49" charset="0"/>
              </a:rPr>
              <a:t>Employee</a:t>
            </a:r>
            <a:r>
              <a:rPr lang="en-US" sz="1050" dirty="0">
                <a:solidFill>
                  <a:srgbClr val="000000"/>
                </a:solidFill>
                <a:highlight>
                  <a:srgbClr val="FFFFFF"/>
                </a:highlight>
                <a:latin typeface="Cascadia Mono" panose="020B0609020000020004" pitchFamily="49" charset="0"/>
              </a:rPr>
              <a:t> emp </a:t>
            </a:r>
            <a:r>
              <a:rPr lang="en-US" sz="1050" dirty="0">
                <a:solidFill>
                  <a:srgbClr val="0000FF"/>
                </a:solidFill>
                <a:highlight>
                  <a:srgbClr val="FFFFFF"/>
                </a:highlight>
                <a:latin typeface="Cascadia Mono" panose="020B0609020000020004" pitchFamily="49" charset="0"/>
              </a:rPr>
              <a:t>in</a:t>
            </a:r>
            <a:r>
              <a:rPr lang="en-US" sz="1050" dirty="0">
                <a:solidFill>
                  <a:srgbClr val="000000"/>
                </a:solidFill>
                <a:highlight>
                  <a:srgbClr val="FFFFFF"/>
                </a:highlight>
                <a:latin typeface="Cascadia Mono" panose="020B0609020000020004" pitchFamily="49" charset="0"/>
              </a:rPr>
              <a:t> list)</a:t>
            </a:r>
          </a:p>
          <a:p>
            <a:r>
              <a:rPr lang="en-IN" sz="1050" dirty="0">
                <a:solidFill>
                  <a:srgbClr val="000000"/>
                </a:solidFill>
                <a:highlight>
                  <a:srgbClr val="FFFFFF"/>
                </a:highlight>
                <a:latin typeface="Cascadia Mono" panose="020B0609020000020004" pitchFamily="49" charset="0"/>
              </a:rPr>
              <a:t>            {                </a:t>
            </a:r>
          </a:p>
          <a:p>
            <a:r>
              <a:rPr lang="en-IN" sz="1050" dirty="0">
                <a:solidFill>
                  <a:srgbClr val="000000"/>
                </a:solidFill>
                <a:highlight>
                  <a:srgbClr val="FFFFFF"/>
                </a:highlight>
                <a:latin typeface="Cascadia Mono" panose="020B0609020000020004" pitchFamily="49" charset="0"/>
              </a:rPr>
              <a:t>                </a:t>
            </a:r>
            <a:r>
              <a:rPr lang="en-IN" sz="1050" dirty="0" err="1">
                <a:solidFill>
                  <a:srgbClr val="2B91AF"/>
                </a:solidFill>
                <a:highlight>
                  <a:srgbClr val="FFFFFF"/>
                </a:highlight>
                <a:latin typeface="Cascadia Mono" panose="020B0609020000020004" pitchFamily="49" charset="0"/>
              </a:rPr>
              <a:t>Console</a:t>
            </a:r>
            <a:r>
              <a:rPr lang="en-IN" sz="1050" dirty="0" err="1">
                <a:solidFill>
                  <a:srgbClr val="000000"/>
                </a:solidFill>
                <a:highlight>
                  <a:srgbClr val="FFFFFF"/>
                </a:highlight>
                <a:latin typeface="Cascadia Mono" panose="020B0609020000020004" pitchFamily="49" charset="0"/>
              </a:rPr>
              <a:t>.WriteLine</a:t>
            </a:r>
            <a:r>
              <a:rPr lang="en-IN" sz="1050" dirty="0">
                <a:solidFill>
                  <a:srgbClr val="000000"/>
                </a:solidFill>
                <a:highlight>
                  <a:srgbClr val="FFFFFF"/>
                </a:highlight>
                <a:latin typeface="Cascadia Mono" panose="020B0609020000020004" pitchFamily="49" charset="0"/>
              </a:rPr>
              <a:t>(</a:t>
            </a:r>
            <a:r>
              <a:rPr lang="en-IN" sz="1050" dirty="0" err="1">
                <a:solidFill>
                  <a:srgbClr val="2B91AF"/>
                </a:solidFill>
                <a:highlight>
                  <a:srgbClr val="FFFFFF"/>
                </a:highlight>
                <a:latin typeface="Cascadia Mono" panose="020B0609020000020004" pitchFamily="49" charset="0"/>
              </a:rPr>
              <a:t>JsonSerializer</a:t>
            </a:r>
            <a:r>
              <a:rPr lang="en-IN" sz="1050" dirty="0" err="1">
                <a:solidFill>
                  <a:srgbClr val="000000"/>
                </a:solidFill>
                <a:highlight>
                  <a:srgbClr val="FFFFFF"/>
                </a:highlight>
                <a:latin typeface="Cascadia Mono" panose="020B0609020000020004" pitchFamily="49" charset="0"/>
              </a:rPr>
              <a:t>.Serialize</a:t>
            </a:r>
            <a:r>
              <a:rPr lang="en-IN" sz="1050" dirty="0">
                <a:solidFill>
                  <a:srgbClr val="000000"/>
                </a:solidFill>
                <a:highlight>
                  <a:srgbClr val="FFFFFF"/>
                </a:highlight>
                <a:latin typeface="Cascadia Mono" panose="020B0609020000020004" pitchFamily="49" charset="0"/>
              </a:rPr>
              <a:t>(</a:t>
            </a:r>
            <a:r>
              <a:rPr lang="en-IN" sz="1050" dirty="0" err="1">
                <a:solidFill>
                  <a:srgbClr val="000000"/>
                </a:solidFill>
                <a:highlight>
                  <a:srgbClr val="FFFFFF"/>
                </a:highlight>
                <a:latin typeface="Cascadia Mono" panose="020B0609020000020004" pitchFamily="49" charset="0"/>
              </a:rPr>
              <a:t>emp,options</a:t>
            </a:r>
            <a:r>
              <a:rPr lang="en-IN" sz="1050" dirty="0">
                <a:solidFill>
                  <a:srgbClr val="000000"/>
                </a:solidFill>
                <a:highlight>
                  <a:srgbClr val="FFFFFF"/>
                </a:highlight>
                <a:latin typeface="Cascadia Mono" panose="020B0609020000020004" pitchFamily="49" charset="0"/>
              </a:rPr>
              <a:t>));</a:t>
            </a:r>
          </a:p>
          <a:p>
            <a:r>
              <a:rPr lang="en-IN" sz="1050" dirty="0">
                <a:solidFill>
                  <a:srgbClr val="000000"/>
                </a:solidFill>
                <a:highlight>
                  <a:srgbClr val="FFFFFF"/>
                </a:highlight>
                <a:latin typeface="Cascadia Mono" panose="020B0609020000020004" pitchFamily="49" charset="0"/>
              </a:rPr>
              <a:t>            }</a:t>
            </a:r>
          </a:p>
          <a:p>
            <a:endParaRPr lang="en-IN" sz="1050" dirty="0">
              <a:solidFill>
                <a:srgbClr val="000000"/>
              </a:solidFill>
              <a:highlight>
                <a:srgbClr val="FFFFFF"/>
              </a:highlight>
              <a:latin typeface="Cascadia Mono" panose="020B0609020000020004" pitchFamily="49" charset="0"/>
            </a:endParaRPr>
          </a:p>
          <a:p>
            <a:r>
              <a:rPr lang="en-IN" sz="1050" dirty="0">
                <a:solidFill>
                  <a:srgbClr val="000000"/>
                </a:solidFill>
                <a:highlight>
                  <a:srgbClr val="FFFFFF"/>
                </a:highlight>
                <a:latin typeface="Cascadia Mono" panose="020B0609020000020004" pitchFamily="49" charset="0"/>
              </a:rPr>
              <a:t>        }</a:t>
            </a:r>
          </a:p>
          <a:p>
            <a:r>
              <a:rPr lang="en-IN" sz="1050" dirty="0">
                <a:solidFill>
                  <a:srgbClr val="000000"/>
                </a:solidFill>
                <a:highlight>
                  <a:srgbClr val="FFFFFF"/>
                </a:highlight>
                <a:latin typeface="Cascadia Mono" panose="020B0609020000020004" pitchFamily="49" charset="0"/>
              </a:rPr>
              <a:t>    }</a:t>
            </a:r>
            <a:endParaRPr lang="en-IN" sz="1050" dirty="0"/>
          </a:p>
        </p:txBody>
      </p:sp>
    </p:spTree>
    <p:extLst>
      <p:ext uri="{BB962C8B-B14F-4D97-AF65-F5344CB8AC3E}">
        <p14:creationId xmlns:p14="http://schemas.microsoft.com/office/powerpoint/2010/main" val="41730909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Garamond-Trebuchet MS">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3858</TotalTime>
  <Words>1324</Words>
  <Application>Microsoft Office PowerPoint</Application>
  <PresentationFormat>On-screen Show (4:3)</PresentationFormat>
  <Paragraphs>167</Paragraphs>
  <Slides>7</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Arial</vt:lpstr>
      <vt:lpstr>Calibri</vt:lpstr>
      <vt:lpstr>Cambria</vt:lpstr>
      <vt:lpstr>Cascadia Mono</vt:lpstr>
      <vt:lpstr>Consolas</vt:lpstr>
      <vt:lpstr>Garamond</vt:lpstr>
      <vt:lpstr>Trebuchet MS</vt:lpstr>
      <vt:lpstr>Office Theme</vt:lpstr>
      <vt:lpstr>PowerPoint Presentation</vt:lpstr>
      <vt:lpstr>Why extension method</vt:lpstr>
      <vt:lpstr>Extension method</vt:lpstr>
      <vt:lpstr>PowerPoint Presentation</vt:lpstr>
      <vt:lpstr>PowerPoint Presentation</vt:lpstr>
      <vt:lpstr>PowerPoint Presentation</vt:lpstr>
      <vt:lpstr>PowerPoint Presentation</vt:lpstr>
    </vt:vector>
  </TitlesOfParts>
  <Company>University at Buffalo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Handelling</dc:title>
  <dc:creator>Theory</dc:creator>
  <cp:lastModifiedBy>sriram mantri vidyanidhi infotech academy</cp:lastModifiedBy>
  <cp:revision>159</cp:revision>
  <dcterms:created xsi:type="dcterms:W3CDTF">2012-05-24T05:32:28Z</dcterms:created>
  <dcterms:modified xsi:type="dcterms:W3CDTF">2024-10-15T16:36:17Z</dcterms:modified>
</cp:coreProperties>
</file>