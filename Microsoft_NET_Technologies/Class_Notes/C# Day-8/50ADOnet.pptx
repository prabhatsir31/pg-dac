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6" r:id="rId3"/>
    <p:sldId id="268" r:id="rId4"/>
    <p:sldId id="269" r:id="rId5"/>
    <p:sldId id="263" r:id="rId6"/>
    <p:sldId id="264" r:id="rId7"/>
    <p:sldId id="291" r:id="rId8"/>
    <p:sldId id="289" r:id="rId9"/>
    <p:sldId id="293" r:id="rId10"/>
    <p:sldId id="274" r:id="rId11"/>
    <p:sldId id="275" r:id="rId12"/>
    <p:sldId id="299" r:id="rId13"/>
    <p:sldId id="327" r:id="rId14"/>
    <p:sldId id="294" r:id="rId15"/>
    <p:sldId id="295" r:id="rId16"/>
    <p:sldId id="296" r:id="rId17"/>
    <p:sldId id="298" r:id="rId18"/>
    <p:sldId id="297" r:id="rId19"/>
    <p:sldId id="290" r:id="rId20"/>
    <p:sldId id="279" r:id="rId21"/>
    <p:sldId id="276" r:id="rId22"/>
    <p:sldId id="277" r:id="rId23"/>
    <p:sldId id="278" r:id="rId24"/>
    <p:sldId id="260" r:id="rId25"/>
    <p:sldId id="301" r:id="rId26"/>
    <p:sldId id="302" r:id="rId27"/>
    <p:sldId id="326" r:id="rId28"/>
    <p:sldId id="284" r:id="rId29"/>
    <p:sldId id="303" r:id="rId30"/>
    <p:sldId id="322" r:id="rId31"/>
    <p:sldId id="307" r:id="rId32"/>
    <p:sldId id="309" r:id="rId33"/>
    <p:sldId id="308" r:id="rId34"/>
    <p:sldId id="292" r:id="rId35"/>
    <p:sldId id="325" r:id="rId36"/>
    <p:sldId id="320" r:id="rId37"/>
    <p:sldId id="310" r:id="rId38"/>
    <p:sldId id="285" r:id="rId39"/>
    <p:sldId id="286" r:id="rId40"/>
    <p:sldId id="311" r:id="rId41"/>
    <p:sldId id="312" r:id="rId42"/>
    <p:sldId id="313" r:id="rId43"/>
    <p:sldId id="323" r:id="rId44"/>
    <p:sldId id="265" r:id="rId45"/>
    <p:sldId id="270" r:id="rId46"/>
    <p:sldId id="271" r:id="rId47"/>
    <p:sldId id="257" r:id="rId48"/>
    <p:sldId id="258" r:id="rId49"/>
    <p:sldId id="259" r:id="rId50"/>
    <p:sldId id="262" r:id="rId51"/>
    <p:sldId id="314" r:id="rId52"/>
    <p:sldId id="266" r:id="rId53"/>
    <p:sldId id="267" r:id="rId54"/>
    <p:sldId id="282" r:id="rId55"/>
    <p:sldId id="283" r:id="rId56"/>
    <p:sldId id="324" r:id="rId57"/>
    <p:sldId id="287" r:id="rId58"/>
    <p:sldId id="288" r:id="rId59"/>
    <p:sldId id="300" r:id="rId60"/>
    <p:sldId id="318" r:id="rId61"/>
    <p:sldId id="319" r:id="rId62"/>
    <p:sldId id="317" r:id="rId63"/>
    <p:sldId id="315" r:id="rId64"/>
    <p:sldId id="321"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686" y="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895DAE-8D40-48D8-9186-8F6E49074241}" type="datetimeFigureOut">
              <a:rPr lang="en-US" smtClean="0"/>
              <a:pPr/>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FD441-4FC9-4C6E-AD92-C68EB003C9E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895DAE-8D40-48D8-9186-8F6E49074241}" type="datetimeFigureOut">
              <a:rPr lang="en-US" smtClean="0"/>
              <a:pPr/>
              <a:t>10/20/2024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BFD441-4FC9-4C6E-AD92-C68EB003C9EA}" type="slidenum">
              <a:rPr lang="en-US" smtClean="0"/>
              <a:pPr/>
              <a:t>‹#›</a:t>
            </a:fld>
            <a:endParaRPr lang="en-US"/>
          </a:p>
        </p:txBody>
      </p:sp>
      <p:pic>
        <p:nvPicPr>
          <p:cNvPr id="8" name="Picture 7">
            <a:extLst>
              <a:ext uri="{FF2B5EF4-FFF2-40B4-BE49-F238E27FC236}">
                <a16:creationId xmlns:a16="http://schemas.microsoft.com/office/drawing/2014/main" id="{050431CD-A3E6-442B-BD2B-DD2408C4D7A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id="{05D7B965-42D1-4F1E-85FE-E4FD5F47E38B}"/>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1.bp.blogspot.com/-sJysro1bSzs/UIhWKjRUjRI/AAAAAAAAApI/Fc4Z2lIJAME/s400/What%2Bis%2BADO.NET.png"/>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1"/>
            <a:ext cx="7696200" cy="4800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4525963"/>
          </a:xfrm>
        </p:spPr>
        <p:txBody>
          <a:bodyPr/>
          <a:lstStyle/>
          <a:p>
            <a:pPr marL="0" indent="0">
              <a:buNone/>
            </a:pPr>
            <a:r>
              <a:rPr lang="en-IN" dirty="0">
                <a:latin typeface="+mj-lt"/>
              </a:rPr>
              <a:t>You can use the ADO.NET libraries in three conceptually unique manners: </a:t>
            </a:r>
          </a:p>
          <a:p>
            <a:pPr marL="0" indent="0">
              <a:buNone/>
            </a:pPr>
            <a:endParaRPr lang="en-IN" dirty="0">
              <a:latin typeface="+mj-lt"/>
            </a:endParaRPr>
          </a:p>
          <a:p>
            <a:r>
              <a:rPr lang="en-IN" dirty="0">
                <a:latin typeface="+mj-lt"/>
              </a:rPr>
              <a:t>connected, </a:t>
            </a:r>
          </a:p>
          <a:p>
            <a:r>
              <a:rPr lang="en-IN" dirty="0">
                <a:latin typeface="+mj-lt"/>
              </a:rPr>
              <a:t>disconnected, or</a:t>
            </a:r>
          </a:p>
          <a:p>
            <a:r>
              <a:rPr lang="en-IN" dirty="0">
                <a:latin typeface="+mj-lt"/>
              </a:rPr>
              <a:t>through the Entity Framework.</a:t>
            </a:r>
          </a:p>
        </p:txBody>
      </p:sp>
    </p:spTree>
    <p:extLst>
      <p:ext uri="{BB962C8B-B14F-4D97-AF65-F5344CB8AC3E}">
        <p14:creationId xmlns:p14="http://schemas.microsoft.com/office/powerpoint/2010/main" val="4125576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When you use the </a:t>
            </a:r>
            <a:r>
              <a:rPr lang="en-IN" i="1" dirty="0"/>
              <a:t>connected layer</a:t>
            </a:r>
            <a:endParaRPr lang="en-IN"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marL="0" indent="0">
              <a:buNone/>
            </a:pPr>
            <a:r>
              <a:rPr lang="en-IN" dirty="0"/>
              <a:t> </a:t>
            </a:r>
            <a:r>
              <a:rPr lang="en-IN" dirty="0">
                <a:latin typeface="+mj-lt"/>
              </a:rPr>
              <a:t>your code base explicitly connects to and disconnects from the underlying data store. </a:t>
            </a:r>
          </a:p>
          <a:p>
            <a:pPr marL="0" indent="0">
              <a:buNone/>
            </a:pPr>
            <a:endParaRPr lang="en-IN" dirty="0">
              <a:latin typeface="+mj-lt"/>
            </a:endParaRPr>
          </a:p>
          <a:p>
            <a:pPr marL="0" indent="0">
              <a:buNone/>
            </a:pPr>
            <a:r>
              <a:rPr lang="en-IN" dirty="0">
                <a:latin typeface="+mj-lt"/>
              </a:rPr>
              <a:t>When you use ADO.NET in this manner, you typically interact with the data store using </a:t>
            </a:r>
          </a:p>
          <a:p>
            <a:pPr marL="0" indent="0">
              <a:buNone/>
            </a:pPr>
            <a:endParaRPr lang="en-IN" dirty="0">
              <a:latin typeface="+mj-lt"/>
            </a:endParaRPr>
          </a:p>
          <a:p>
            <a:r>
              <a:rPr lang="en-IN" dirty="0">
                <a:latin typeface="+mj-lt"/>
              </a:rPr>
              <a:t>connection objects, </a:t>
            </a:r>
          </a:p>
          <a:p>
            <a:r>
              <a:rPr lang="en-IN" dirty="0">
                <a:latin typeface="+mj-lt"/>
              </a:rPr>
              <a:t>command objects, and</a:t>
            </a:r>
          </a:p>
          <a:p>
            <a:r>
              <a:rPr lang="en-IN" dirty="0">
                <a:latin typeface="+mj-lt"/>
              </a:rPr>
              <a:t>data reader objects</a:t>
            </a:r>
            <a:r>
              <a:rPr lang="en-IN" dirty="0"/>
              <a:t>.</a:t>
            </a:r>
          </a:p>
        </p:txBody>
      </p:sp>
    </p:spTree>
    <p:extLst>
      <p:ext uri="{BB962C8B-B14F-4D97-AF65-F5344CB8AC3E}">
        <p14:creationId xmlns:p14="http://schemas.microsoft.com/office/powerpoint/2010/main" val="2752673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a:t>
            </a:r>
          </a:p>
        </p:txBody>
      </p:sp>
      <p:sp>
        <p:nvSpPr>
          <p:cNvPr id="3" name="Content Placeholder 2"/>
          <p:cNvSpPr>
            <a:spLocks noGrp="1"/>
          </p:cNvSpPr>
          <p:nvPr>
            <p:ph idx="1"/>
          </p:nvPr>
        </p:nvSpPr>
        <p:spPr/>
        <p:txBody>
          <a:bodyPr>
            <a:normAutofit/>
          </a:bodyPr>
          <a:lstStyle/>
          <a:p>
            <a:r>
              <a:rPr lang="en-US" dirty="0">
                <a:latin typeface="+mj-lt"/>
              </a:rPr>
              <a:t>A command is, in its simplest form, a string of text containing SQL statements that is to be issued to the database. </a:t>
            </a:r>
          </a:p>
          <a:p>
            <a:r>
              <a:rPr lang="en-US" dirty="0">
                <a:latin typeface="+mj-lt"/>
              </a:rPr>
              <a:t>A command could also be a stored procedure, or the name of a table that will return all columns and all rows from that table (in other words, a SELECT * - style clause).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4400" dirty="0" err="1"/>
              <a:t>CommandType</a:t>
            </a:r>
            <a:endParaRPr lang="en-US" dirty="0"/>
          </a:p>
        </p:txBody>
      </p:sp>
      <p:sp>
        <p:nvSpPr>
          <p:cNvPr id="3" name="Content Placeholder 2"/>
          <p:cNvSpPr>
            <a:spLocks noGrp="1"/>
          </p:cNvSpPr>
          <p:nvPr>
            <p:ph idx="1"/>
          </p:nvPr>
        </p:nvSpPr>
        <p:spPr>
          <a:xfrm>
            <a:off x="457200" y="609600"/>
            <a:ext cx="8229600" cy="4525963"/>
          </a:xfrm>
        </p:spPr>
        <p:txBody>
          <a:bodyPr>
            <a:normAutofit/>
          </a:bodyPr>
          <a:lstStyle/>
          <a:p>
            <a:r>
              <a:rPr lang="en-US" sz="2400" dirty="0"/>
              <a:t>The &lt; provider &gt; Command classes have a property called </a:t>
            </a:r>
            <a:r>
              <a:rPr lang="en-US" sz="2400" dirty="0" err="1"/>
              <a:t>CommandType</a:t>
            </a:r>
            <a:r>
              <a:rPr lang="en-US" sz="2400" dirty="0"/>
              <a:t> , which is used to define whether the command is a SQL clause, a call to a stored procedure, or a full table statement (which simply selects all columns and rows from a given table). </a:t>
            </a:r>
            <a:r>
              <a:rPr lang="en-US" sz="2400" dirty="0" err="1"/>
              <a:t>CommandType</a:t>
            </a:r>
            <a:r>
              <a:rPr lang="en-US" sz="2400" dirty="0"/>
              <a:t> enumeration.</a:t>
            </a:r>
          </a:p>
        </p:txBody>
      </p:sp>
      <p:pic>
        <p:nvPicPr>
          <p:cNvPr id="1027" name="Picture 3"/>
          <p:cNvPicPr>
            <a:picLocks noChangeAspect="1" noChangeArrowheads="1"/>
          </p:cNvPicPr>
          <p:nvPr/>
        </p:nvPicPr>
        <p:blipFill>
          <a:blip r:embed="rId2"/>
          <a:srcRect/>
          <a:stretch>
            <a:fillRect/>
          </a:stretch>
        </p:blipFill>
        <p:spPr bwMode="auto">
          <a:xfrm>
            <a:off x="0" y="3505200"/>
            <a:ext cx="9144000" cy="322897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4938-4F17-4242-A70C-B597DA0A0D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76CF16-2D20-47C9-83E3-8D654367435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4219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8D5D0-E4CE-46DB-8DF7-3445AD89EE13}"/>
              </a:ext>
            </a:extLst>
          </p:cNvPr>
          <p:cNvSpPr>
            <a:spLocks noGrp="1"/>
          </p:cNvSpPr>
          <p:nvPr>
            <p:ph type="title"/>
          </p:nvPr>
        </p:nvSpPr>
        <p:spPr>
          <a:xfrm>
            <a:off x="1143000" y="-36871"/>
            <a:ext cx="8001000" cy="715962"/>
          </a:xfrm>
        </p:spPr>
        <p:txBody>
          <a:bodyPr>
            <a:normAutofit fontScale="90000"/>
          </a:bodyPr>
          <a:lstStyle/>
          <a:p>
            <a:r>
              <a:rPr lang="en-IN" dirty="0"/>
              <a:t>If you are working with </a:t>
            </a:r>
            <a:r>
              <a:rPr lang="en-IN" dirty="0" err="1"/>
              <a:t>.Net</a:t>
            </a:r>
            <a:r>
              <a:rPr lang="en-IN" dirty="0"/>
              <a:t> core then</a:t>
            </a:r>
          </a:p>
        </p:txBody>
      </p:sp>
      <p:sp>
        <p:nvSpPr>
          <p:cNvPr id="3" name="Content Placeholder 2">
            <a:extLst>
              <a:ext uri="{FF2B5EF4-FFF2-40B4-BE49-F238E27FC236}">
                <a16:creationId xmlns:a16="http://schemas.microsoft.com/office/drawing/2014/main" id="{A5631916-8DE2-4F25-8031-1FF5A9216545}"/>
              </a:ext>
            </a:extLst>
          </p:cNvPr>
          <p:cNvSpPr>
            <a:spLocks noGrp="1"/>
          </p:cNvSpPr>
          <p:nvPr>
            <p:ph idx="1"/>
          </p:nvPr>
        </p:nvSpPr>
        <p:spPr>
          <a:xfrm>
            <a:off x="228600" y="762000"/>
            <a:ext cx="8458200" cy="4525963"/>
          </a:xfrm>
        </p:spPr>
        <p:txBody>
          <a:bodyPr>
            <a:normAutofit/>
          </a:bodyPr>
          <a:lstStyle/>
          <a:p>
            <a:pPr marL="0" indent="0" algn="l">
              <a:buNone/>
            </a:pPr>
            <a:r>
              <a:rPr lang="en-IN" sz="1400" b="0" i="0" dirty="0">
                <a:solidFill>
                  <a:srgbClr val="212121"/>
                </a:solidFill>
                <a:effectLst/>
                <a:latin typeface="open sans" panose="020B0606030504020204" pitchFamily="34" charset="0"/>
              </a:rPr>
              <a:t>We are going to use NuGet to install the packages. Right-click on Project (“</a:t>
            </a:r>
            <a:r>
              <a:rPr lang="en-IN" sz="1400" b="0" i="0" dirty="0" err="1">
                <a:solidFill>
                  <a:srgbClr val="212121"/>
                </a:solidFill>
                <a:effectLst/>
                <a:latin typeface="open sans" panose="020B0606030504020204" pitchFamily="34" charset="0"/>
              </a:rPr>
              <a:t>ConsoleApp</a:t>
            </a:r>
            <a:r>
              <a:rPr lang="en-IN" sz="1400" b="0" i="0" dirty="0">
                <a:solidFill>
                  <a:srgbClr val="212121"/>
                </a:solidFill>
                <a:effectLst/>
                <a:latin typeface="open sans" panose="020B0606030504020204" pitchFamily="34" charset="0"/>
              </a:rPr>
              <a:t>”) and select "Manage NuGet Packages".</a:t>
            </a:r>
          </a:p>
          <a:p>
            <a:pPr algn="l"/>
            <a:r>
              <a:rPr lang="en-IN" sz="1400" b="0" i="0" dirty="0">
                <a:solidFill>
                  <a:srgbClr val="212121"/>
                </a:solidFill>
                <a:effectLst/>
                <a:latin typeface="open sans" panose="020B0606030504020204" pitchFamily="34" charset="0"/>
              </a:rPr>
              <a:t>Click on the "Browse" tab and search for the following packages.</a:t>
            </a:r>
          </a:p>
          <a:p>
            <a:pPr algn="l">
              <a:buFont typeface="Arial" panose="020B0604020202020204" pitchFamily="34" charset="0"/>
              <a:buChar char="•"/>
            </a:pPr>
            <a:r>
              <a:rPr lang="en-IN" sz="1400" dirty="0"/>
              <a:t>Install-package </a:t>
            </a:r>
            <a:r>
              <a:rPr lang="en-IN" sz="1400" b="0" i="0" dirty="0" err="1">
                <a:solidFill>
                  <a:srgbClr val="212121"/>
                </a:solidFill>
                <a:effectLst/>
                <a:latin typeface="open sans" panose="020B0606030504020204" pitchFamily="34" charset="0"/>
              </a:rPr>
              <a:t>Microsoft.Extensions.Configuration</a:t>
            </a:r>
            <a:r>
              <a:rPr lang="en-IN" sz="1400" b="0" i="0" dirty="0">
                <a:solidFill>
                  <a:srgbClr val="212121"/>
                </a:solidFill>
                <a:effectLst/>
                <a:latin typeface="open sans" panose="020B0606030504020204" pitchFamily="34" charset="0"/>
              </a:rPr>
              <a:t>;</a:t>
            </a:r>
          </a:p>
          <a:p>
            <a:pPr algn="l">
              <a:buFont typeface="Arial" panose="020B0604020202020204" pitchFamily="34" charset="0"/>
              <a:buChar char="•"/>
            </a:pPr>
            <a:r>
              <a:rPr lang="en-IN" sz="1400" dirty="0"/>
              <a:t>Install-package </a:t>
            </a:r>
            <a:r>
              <a:rPr lang="en-IN" sz="1400" b="0" i="0" dirty="0" err="1">
                <a:solidFill>
                  <a:srgbClr val="212121"/>
                </a:solidFill>
                <a:effectLst/>
                <a:latin typeface="open sans" panose="020B0606030504020204" pitchFamily="34" charset="0"/>
              </a:rPr>
              <a:t>Microsoft.Extensions.Configuration.FileExtensions</a:t>
            </a:r>
            <a:r>
              <a:rPr lang="en-IN" sz="1400" b="0" i="0" dirty="0">
                <a:solidFill>
                  <a:srgbClr val="212121"/>
                </a:solidFill>
                <a:effectLst/>
                <a:latin typeface="open sans" panose="020B0606030504020204" pitchFamily="34" charset="0"/>
              </a:rPr>
              <a:t>;</a:t>
            </a:r>
          </a:p>
          <a:p>
            <a:pPr algn="l">
              <a:buFont typeface="Arial" panose="020B0604020202020204" pitchFamily="34" charset="0"/>
              <a:buChar char="•"/>
            </a:pPr>
            <a:r>
              <a:rPr lang="en-IN" sz="1400" dirty="0"/>
              <a:t>Install-package </a:t>
            </a:r>
            <a:r>
              <a:rPr lang="en-IN" sz="1400" b="0" i="0" dirty="0" err="1">
                <a:solidFill>
                  <a:srgbClr val="212121"/>
                </a:solidFill>
                <a:effectLst/>
                <a:latin typeface="open sans" panose="020B0606030504020204" pitchFamily="34" charset="0"/>
              </a:rPr>
              <a:t>Microsoft.Extensions.Configuration.Json</a:t>
            </a:r>
            <a:r>
              <a:rPr lang="en-IN" sz="1400" b="0" i="0" dirty="0">
                <a:solidFill>
                  <a:srgbClr val="212121"/>
                </a:solidFill>
                <a:effectLst/>
                <a:latin typeface="open sans" panose="020B0606030504020204" pitchFamily="34" charset="0"/>
              </a:rPr>
              <a:t>;</a:t>
            </a:r>
          </a:p>
          <a:p>
            <a:pPr algn="l">
              <a:buFont typeface="Arial" panose="020B0604020202020204" pitchFamily="34" charset="0"/>
              <a:buChar char="•"/>
            </a:pPr>
            <a:r>
              <a:rPr lang="en-IN" sz="1400" dirty="0"/>
              <a:t>Install-package </a:t>
            </a:r>
            <a:r>
              <a:rPr lang="en-IN" sz="1400" b="0" i="0" dirty="0" err="1">
                <a:solidFill>
                  <a:srgbClr val="212121"/>
                </a:solidFill>
                <a:effectLst/>
                <a:latin typeface="open sans" panose="020B0606030504020204" pitchFamily="34" charset="0"/>
              </a:rPr>
              <a:t>System.Data.SqlClient</a:t>
            </a:r>
            <a:r>
              <a:rPr lang="en-IN" sz="1400" dirty="0">
                <a:solidFill>
                  <a:srgbClr val="212121"/>
                </a:solidFill>
                <a:latin typeface="open sans" panose="020B0606030504020204" pitchFamily="34" charset="0"/>
              </a:rPr>
              <a:t>;</a:t>
            </a:r>
            <a:endParaRPr lang="en-IN" sz="1400" b="0" i="0" dirty="0">
              <a:solidFill>
                <a:srgbClr val="212121"/>
              </a:solidFill>
              <a:effectLst/>
              <a:latin typeface="open sans" panose="020B0606030504020204" pitchFamily="34" charset="0"/>
            </a:endParaRPr>
          </a:p>
          <a:p>
            <a:pPr marL="0" indent="0">
              <a:buNone/>
            </a:pPr>
            <a:r>
              <a:rPr lang="en-IN" sz="1400" dirty="0"/>
              <a:t>Or type command</a:t>
            </a:r>
          </a:p>
          <a:p>
            <a:pPr marL="0" indent="0">
              <a:buNone/>
            </a:pPr>
            <a:r>
              <a:rPr lang="en-IN" sz="1400" dirty="0"/>
              <a:t>Install-packages name of </a:t>
            </a:r>
            <a:r>
              <a:rPr lang="en-IN" sz="1400" dirty="0" err="1"/>
              <a:t>dll</a:t>
            </a:r>
            <a:r>
              <a:rPr lang="en-IN" sz="1400" dirty="0"/>
              <a:t> file</a:t>
            </a:r>
          </a:p>
          <a:p>
            <a:pPr marL="0" indent="0">
              <a:buNone/>
            </a:pPr>
            <a:endParaRPr lang="en-IN" sz="1400" dirty="0"/>
          </a:p>
          <a:p>
            <a:r>
              <a:rPr lang="en-US" sz="1400" dirty="0"/>
              <a:t>Now, we need to add the </a:t>
            </a:r>
            <a:r>
              <a:rPr lang="en-US" sz="1400" dirty="0" err="1"/>
              <a:t>appsettings</a:t>
            </a:r>
            <a:r>
              <a:rPr lang="en-US" sz="1400" dirty="0"/>
              <a:t> file, where it contains our connection string to access the SQL Server Database.</a:t>
            </a:r>
          </a:p>
          <a:p>
            <a:pPr marL="0" indent="0">
              <a:buNone/>
            </a:pPr>
            <a:endParaRPr lang="en-US" sz="1400" dirty="0"/>
          </a:p>
          <a:p>
            <a:pPr marL="0" indent="0">
              <a:buNone/>
            </a:pPr>
            <a:r>
              <a:rPr lang="en-US" sz="1400" dirty="0"/>
              <a:t>Right-click on Project (“</a:t>
            </a:r>
            <a:r>
              <a:rPr lang="en-US" sz="1400" dirty="0" err="1"/>
              <a:t>ConsoleApp</a:t>
            </a:r>
            <a:r>
              <a:rPr lang="en-US" sz="1400" dirty="0"/>
              <a:t>”), go to Add, and click on "New Item".</a:t>
            </a:r>
          </a:p>
          <a:p>
            <a:pPr marL="0" indent="0">
              <a:buNone/>
            </a:pPr>
            <a:endParaRPr lang="en-US" sz="1400" dirty="0"/>
          </a:p>
          <a:p>
            <a:pPr marL="0" indent="0">
              <a:buNone/>
            </a:pPr>
            <a:r>
              <a:rPr lang="en-US" sz="1100" b="0" i="0" dirty="0">
                <a:solidFill>
                  <a:srgbClr val="212121"/>
                </a:solidFill>
                <a:effectLst/>
                <a:latin typeface="open sans" panose="020B0606030504020204" pitchFamily="34" charset="0"/>
              </a:rPr>
              <a:t>Now, let’s add our connection string to the database in </a:t>
            </a:r>
            <a:r>
              <a:rPr lang="en-US" sz="1400" b="1" i="1" u="sng" dirty="0" err="1">
                <a:solidFill>
                  <a:srgbClr val="212121"/>
                </a:solidFill>
                <a:effectLst/>
                <a:latin typeface="open sans" panose="020B0606030504020204" pitchFamily="34" charset="0"/>
              </a:rPr>
              <a:t>appsetings.json</a:t>
            </a:r>
            <a:r>
              <a:rPr lang="en-US" sz="1400" b="1" i="1" u="sng" dirty="0">
                <a:solidFill>
                  <a:srgbClr val="212121"/>
                </a:solidFill>
                <a:effectLst/>
                <a:latin typeface="open sans" panose="020B0606030504020204" pitchFamily="34" charset="0"/>
              </a:rPr>
              <a:t>.</a:t>
            </a:r>
            <a:endParaRPr lang="en-IN" sz="1800" b="1" i="1" u="sng" dirty="0"/>
          </a:p>
        </p:txBody>
      </p:sp>
      <p:sp>
        <p:nvSpPr>
          <p:cNvPr id="5" name="TextBox 4">
            <a:extLst>
              <a:ext uri="{FF2B5EF4-FFF2-40B4-BE49-F238E27FC236}">
                <a16:creationId xmlns:a16="http://schemas.microsoft.com/office/drawing/2014/main" id="{1AC1727F-8453-4CA2-B1E8-A1F2C076EDE0}"/>
              </a:ext>
            </a:extLst>
          </p:cNvPr>
          <p:cNvSpPr txBox="1"/>
          <p:nvPr/>
        </p:nvSpPr>
        <p:spPr>
          <a:xfrm>
            <a:off x="457200" y="4876800"/>
            <a:ext cx="8229600" cy="203132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800" dirty="0">
                <a:solidFill>
                  <a:srgbClr val="000000"/>
                </a:solidFill>
                <a:latin typeface="Cascadia Mono" panose="020B0609020000020004" pitchFamily="49" charset="0"/>
              </a:rPr>
              <a:t>{      </a:t>
            </a:r>
            <a:r>
              <a:rPr lang="en-IN" sz="1800" dirty="0">
                <a:solidFill>
                  <a:srgbClr val="2E75B6"/>
                </a:solidFill>
                <a:latin typeface="Cascadia Mono" panose="020B0609020000020004" pitchFamily="49" charset="0"/>
              </a:rPr>
              <a:t>"</a:t>
            </a:r>
            <a:r>
              <a:rPr lang="en-IN" sz="1800" dirty="0" err="1">
                <a:solidFill>
                  <a:srgbClr val="2E75B6"/>
                </a:solidFill>
                <a:latin typeface="Cascadia Mono" panose="020B0609020000020004" pitchFamily="49" charset="0"/>
              </a:rPr>
              <a:t>ConnectionString</a:t>
            </a:r>
            <a:r>
              <a:rPr lang="en-IN" sz="1800" dirty="0" err="1">
                <a:solidFill>
                  <a:srgbClr val="2E75B6"/>
                </a:solidFill>
                <a:highlight>
                  <a:srgbClr val="FFFF00"/>
                </a:highlight>
                <a:latin typeface="Cascadia Mono" panose="020B0609020000020004" pitchFamily="49" charset="0"/>
              </a:rPr>
              <a:t>s</a:t>
            </a:r>
            <a:r>
              <a:rPr lang="en-IN" sz="1800" dirty="0">
                <a:solidFill>
                  <a:srgbClr val="2E75B6"/>
                </a:solidFill>
                <a:latin typeface="Cascadia Mono" panose="020B0609020000020004" pitchFamily="49" charset="0"/>
              </a:rPr>
              <a:t>"</a:t>
            </a:r>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a:solidFill>
                  <a:srgbClr val="2E75B6"/>
                </a:solidFill>
                <a:latin typeface="Cascadia Mono" panose="020B0609020000020004" pitchFamily="49" charset="0"/>
              </a:rPr>
              <a:t>"</a:t>
            </a:r>
            <a:r>
              <a:rPr lang="en-IN" sz="1800" dirty="0">
                <a:solidFill>
                  <a:srgbClr val="2E75B6"/>
                </a:solidFill>
                <a:highlight>
                  <a:srgbClr val="00FF00"/>
                </a:highlight>
                <a:latin typeface="Cascadia Mono" panose="020B0609020000020004" pitchFamily="49" charset="0"/>
              </a:rPr>
              <a:t>Default</a:t>
            </a:r>
            <a:r>
              <a:rPr lang="en-IN" sz="1800" dirty="0">
                <a:solidFill>
                  <a:srgbClr val="2E75B6"/>
                </a:solidFill>
                <a:latin typeface="Cascadia Mono" panose="020B0609020000020004" pitchFamily="49" charset="0"/>
              </a:rPr>
              <a:t>"</a:t>
            </a:r>
            <a:r>
              <a:rPr lang="en-IN" sz="1800" dirty="0">
                <a:solidFill>
                  <a:srgbClr val="000000"/>
                </a:solidFill>
                <a:latin typeface="Cascadia Mono" panose="020B0609020000020004" pitchFamily="49" charset="0"/>
              </a:rPr>
              <a:t>: </a:t>
            </a:r>
            <a:r>
              <a:rPr lang="en-IN" sz="1800" dirty="0">
                <a:solidFill>
                  <a:srgbClr val="A31515"/>
                </a:solidFill>
                <a:latin typeface="Cascadia Mono" panose="020B0609020000020004" pitchFamily="49" charset="0"/>
              </a:rPr>
              <a:t>"Data Source=(</a:t>
            </a:r>
            <a:r>
              <a:rPr lang="en-IN" sz="1800" dirty="0" err="1">
                <a:solidFill>
                  <a:srgbClr val="A31515"/>
                </a:solidFill>
                <a:latin typeface="Cascadia Mono" panose="020B0609020000020004" pitchFamily="49" charset="0"/>
              </a:rPr>
              <a:t>localdb</a:t>
            </a:r>
            <a:r>
              <a:rPr lang="en-IN" sz="1800" dirty="0">
                <a:solidFill>
                  <a:srgbClr val="A31515"/>
                </a:solidFill>
                <a:latin typeface="Cascadia Mono" panose="020B0609020000020004" pitchFamily="49" charset="0"/>
              </a:rPr>
              <a:t>)\\</a:t>
            </a:r>
            <a:r>
              <a:rPr lang="en-IN" sz="1800" dirty="0" err="1">
                <a:solidFill>
                  <a:srgbClr val="A31515"/>
                </a:solidFill>
                <a:latin typeface="Cascadia Mono" panose="020B0609020000020004" pitchFamily="49" charset="0"/>
              </a:rPr>
              <a:t>ProjectModels;Initial</a:t>
            </a:r>
            <a:r>
              <a:rPr lang="en-IN" sz="1800" dirty="0">
                <a:solidFill>
                  <a:srgbClr val="A31515"/>
                </a:solidFill>
                <a:latin typeface="Cascadia Mono" panose="020B0609020000020004" pitchFamily="49" charset="0"/>
              </a:rPr>
              <a:t> </a:t>
            </a:r>
            <a:r>
              <a:rPr lang="en-IN" sz="1800" dirty="0" err="1">
                <a:solidFill>
                  <a:srgbClr val="A31515"/>
                </a:solidFill>
                <a:latin typeface="Cascadia Mono" panose="020B0609020000020004" pitchFamily="49" charset="0"/>
              </a:rPr>
              <a:t>Catalog</a:t>
            </a:r>
            <a:r>
              <a:rPr lang="en-IN" sz="1800" dirty="0">
                <a:solidFill>
                  <a:srgbClr val="A31515"/>
                </a:solidFill>
                <a:latin typeface="Cascadia Mono" panose="020B0609020000020004" pitchFamily="49" charset="0"/>
              </a:rPr>
              <a:t>=</a:t>
            </a:r>
            <a:r>
              <a:rPr lang="en-IN" sz="1800" dirty="0" err="1">
                <a:solidFill>
                  <a:srgbClr val="A31515"/>
                </a:solidFill>
                <a:latin typeface="Cascadia Mono" panose="020B0609020000020004" pitchFamily="49" charset="0"/>
              </a:rPr>
              <a:t>DemoData_Student;Integrated</a:t>
            </a:r>
            <a:r>
              <a:rPr lang="en-IN" sz="1800" dirty="0">
                <a:solidFill>
                  <a:srgbClr val="A31515"/>
                </a:solidFill>
                <a:latin typeface="Cascadia Mono" panose="020B0609020000020004" pitchFamily="49" charset="0"/>
              </a:rPr>
              <a:t> Security=True;"</a:t>
            </a:r>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a:t>
            </a:r>
          </a:p>
          <a:p>
            <a:endParaRPr lang="en-IN" dirty="0"/>
          </a:p>
        </p:txBody>
      </p:sp>
      <p:cxnSp>
        <p:nvCxnSpPr>
          <p:cNvPr id="6" name="Straight Arrow Connector 5">
            <a:extLst>
              <a:ext uri="{FF2B5EF4-FFF2-40B4-BE49-F238E27FC236}">
                <a16:creationId xmlns:a16="http://schemas.microsoft.com/office/drawing/2014/main" id="{6F7DFB29-15DC-753A-5164-264E8C66A471}"/>
              </a:ext>
            </a:extLst>
          </p:cNvPr>
          <p:cNvCxnSpPr/>
          <p:nvPr/>
        </p:nvCxnSpPr>
        <p:spPr>
          <a:xfrm flipV="1">
            <a:off x="2895600" y="4038600"/>
            <a:ext cx="41910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26BA11A-8ECA-FFB2-43A3-5AB840FD384F}"/>
              </a:ext>
            </a:extLst>
          </p:cNvPr>
          <p:cNvSpPr txBox="1"/>
          <p:nvPr/>
        </p:nvSpPr>
        <p:spPr>
          <a:xfrm>
            <a:off x="7086600" y="3508802"/>
            <a:ext cx="2209800" cy="1477328"/>
          </a:xfrm>
          <a:prstGeom prst="rect">
            <a:avLst/>
          </a:prstGeom>
          <a:noFill/>
        </p:spPr>
        <p:txBody>
          <a:bodyPr wrap="square" rtlCol="0">
            <a:spAutoFit/>
          </a:bodyPr>
          <a:lstStyle/>
          <a:p>
            <a:r>
              <a:rPr lang="en-US" dirty="0"/>
              <a:t>Observe no space</a:t>
            </a:r>
          </a:p>
          <a:p>
            <a:r>
              <a:rPr lang="en-US" dirty="0" err="1"/>
              <a:t>ConnectionStrings</a:t>
            </a:r>
            <a:r>
              <a:rPr lang="en-US" dirty="0"/>
              <a:t> is one word </a:t>
            </a:r>
          </a:p>
          <a:p>
            <a:r>
              <a:rPr lang="en-US" dirty="0">
                <a:highlight>
                  <a:srgbClr val="FFFF00"/>
                </a:highlight>
              </a:rPr>
              <a:t>s</a:t>
            </a:r>
          </a:p>
          <a:p>
            <a:r>
              <a:rPr lang="en-US" dirty="0"/>
              <a:t>CamelCase</a:t>
            </a:r>
            <a:endParaRPr lang="en-IN" dirty="0"/>
          </a:p>
        </p:txBody>
      </p:sp>
    </p:spTree>
    <p:extLst>
      <p:ext uri="{BB962C8B-B14F-4D97-AF65-F5344CB8AC3E}">
        <p14:creationId xmlns:p14="http://schemas.microsoft.com/office/powerpoint/2010/main" val="4030239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0E4B31F-C364-4807-AB9D-A568212FFF9D}"/>
              </a:ext>
            </a:extLst>
          </p:cNvPr>
          <p:cNvSpPr txBox="1"/>
          <p:nvPr/>
        </p:nvSpPr>
        <p:spPr>
          <a:xfrm>
            <a:off x="1066800" y="228600"/>
            <a:ext cx="8077200" cy="5924699"/>
          </a:xfrm>
          <a:prstGeom prst="rect">
            <a:avLst/>
          </a:prstGeom>
          <a:noFill/>
        </p:spPr>
        <p:txBody>
          <a:bodyPr wrap="square">
            <a:spAutoFit/>
          </a:bodyPr>
          <a:lstStyle/>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ConsoleApp_ADO.DAL</a:t>
            </a:r>
            <a:r>
              <a:rPr lang="en-IN" sz="1200" dirty="0">
                <a:solidFill>
                  <a:srgbClr val="000000"/>
                </a:solidFill>
                <a:latin typeface="Consolas" panose="020B0609020204030204" pitchFamily="49" charset="0"/>
              </a:rPr>
              <a:t>;</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Microsoft.Extensions.Configuration</a:t>
            </a:r>
            <a:r>
              <a:rPr lang="en-IN" sz="1200" dirty="0">
                <a:solidFill>
                  <a:srgbClr val="000000"/>
                </a:solidFill>
                <a:latin typeface="Consolas" panose="020B0609020204030204" pitchFamily="49" charset="0"/>
              </a:rPr>
              <a:t>;</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System.IO;</a:t>
            </a:r>
          </a:p>
          <a:p>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ConsoleApp_ADO</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a:solidFill>
                  <a:srgbClr val="2B91AF"/>
                </a:solidFill>
                <a:latin typeface="Consolas" panose="020B0609020204030204" pitchFamily="49" charset="0"/>
              </a:rPr>
              <a:t>Program</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private</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 </a:t>
            </a:r>
            <a:r>
              <a:rPr lang="en-IN" sz="1200" dirty="0">
                <a:solidFill>
                  <a:srgbClr val="000000"/>
                </a:solidFill>
                <a:highlight>
                  <a:srgbClr val="00FF00"/>
                </a:highlight>
                <a:latin typeface="Consolas" panose="020B0609020204030204" pitchFamily="49" charset="0"/>
              </a:rPr>
              <a:t>_</a:t>
            </a:r>
            <a:r>
              <a:rPr lang="en-IN" sz="1200" dirty="0" err="1">
                <a:solidFill>
                  <a:srgbClr val="000000"/>
                </a:solidFill>
                <a:highlight>
                  <a:srgbClr val="00FF00"/>
                </a:highlight>
                <a:latin typeface="Consolas" panose="020B0609020204030204" pitchFamily="49" charset="0"/>
              </a:rPr>
              <a:t>iconfiguration</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Main(</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args</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GetAppSettingsFile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PrintProduct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GetAppSettingsFile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var</a:t>
            </a:r>
            <a:r>
              <a:rPr lang="en-IN" sz="1200" dirty="0">
                <a:solidFill>
                  <a:srgbClr val="000000"/>
                </a:solidFill>
                <a:latin typeface="Consolas" panose="020B0609020204030204" pitchFamily="49" charset="0"/>
              </a:rPr>
              <a:t> builder = </a:t>
            </a:r>
            <a:r>
              <a:rPr lang="en-IN" sz="1200" dirty="0">
                <a:solidFill>
                  <a:srgbClr val="0000FF"/>
                </a:solidFill>
                <a:latin typeface="Consolas" panose="020B0609020204030204" pitchFamily="49" charset="0"/>
              </a:rPr>
              <a:t>new</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ConfigurationBuilder</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SetBasePath</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Directory.GetCurrentDirectory</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AddJsonFile</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a:t>
            </a:r>
            <a:r>
              <a:rPr lang="en-US" sz="1200" dirty="0" err="1">
                <a:solidFill>
                  <a:srgbClr val="A31515"/>
                </a:solidFill>
                <a:highlight>
                  <a:srgbClr val="FFFF00"/>
                </a:highlight>
                <a:latin typeface="Consolas" panose="020B0609020204030204" pitchFamily="49" charset="0"/>
              </a:rPr>
              <a:t>appsettings.json</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optional: </a:t>
            </a:r>
            <a:r>
              <a:rPr lang="en-US" sz="1200" dirty="0">
                <a:solidFill>
                  <a:srgbClr val="0000FF"/>
                </a:solidFill>
                <a:latin typeface="Consolas" panose="020B0609020204030204" pitchFamily="49" charset="0"/>
              </a:rPr>
              <a:t>false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reloadOnChange</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true</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a:solidFill>
                  <a:srgbClr val="000000"/>
                </a:solidFill>
                <a:highlight>
                  <a:srgbClr val="00FF00"/>
                </a:highlight>
                <a:latin typeface="Consolas" panose="020B0609020204030204" pitchFamily="49" charset="0"/>
              </a:rPr>
              <a:t>_</a:t>
            </a:r>
            <a:r>
              <a:rPr lang="en-IN" sz="1200" dirty="0" err="1">
                <a:solidFill>
                  <a:srgbClr val="000000"/>
                </a:solidFill>
                <a:highlight>
                  <a:srgbClr val="00FF00"/>
                </a:highlight>
                <a:latin typeface="Consolas" panose="020B0609020204030204" pitchFamily="49" charset="0"/>
              </a:rPr>
              <a:t>iconfiguration</a:t>
            </a:r>
            <a:r>
              <a:rPr lang="en-IN" sz="1200" dirty="0">
                <a:solidFill>
                  <a:srgbClr val="000000"/>
                </a:solidFill>
                <a:highlight>
                  <a:srgbClr val="00FF00"/>
                </a:highlight>
                <a:latin typeface="Consolas" panose="020B0609020204030204" pitchFamily="49" charset="0"/>
              </a:rPr>
              <a:t> </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builder.Build</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Printproduct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Productlayer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t>
            </a:r>
            <a:r>
              <a:rPr lang="en-IN" sz="1200" dirty="0">
                <a:solidFill>
                  <a:srgbClr val="000000"/>
                </a:solidFill>
                <a:highlight>
                  <a:srgbClr val="FFFFFF"/>
                </a:highlight>
                <a:latin typeface="Consolas" panose="020B0609020204030204" pitchFamily="49" charset="0"/>
              </a:rPr>
              <a:t>=new </a:t>
            </a:r>
            <a:r>
              <a:rPr lang="en-IN" sz="1200" dirty="0" err="1">
                <a:solidFill>
                  <a:srgbClr val="2B91AF"/>
                </a:solidFill>
                <a:highlight>
                  <a:srgbClr val="FFFFFF"/>
                </a:highlight>
                <a:latin typeface="Consolas" panose="020B0609020204030204" pitchFamily="49" charset="0"/>
              </a:rPr>
              <a:t>Productlayer</a:t>
            </a:r>
            <a:r>
              <a:rPr lang="en-IN" sz="1200" dirty="0">
                <a:solidFill>
                  <a:srgbClr val="000000"/>
                </a:solidFill>
                <a:highlight>
                  <a:srgbClr val="FFFFFF"/>
                </a:highlight>
                <a:latin typeface="Consolas" panose="020B0609020204030204" pitchFamily="49" charset="0"/>
              </a:rPr>
              <a:t>(</a:t>
            </a:r>
            <a:r>
              <a:rPr lang="en-IN" sz="1200" dirty="0">
                <a:solidFill>
                  <a:srgbClr val="000000"/>
                </a:solidFill>
                <a:latin typeface="Consolas" panose="020B0609020204030204" pitchFamily="49" charset="0"/>
              </a:rPr>
              <a:t>_ </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obj. Products()();</a:t>
            </a:r>
            <a:r>
              <a:rPr lang="en-IN" sz="1200" dirty="0">
                <a:solidFill>
                  <a:srgbClr val="000000"/>
                </a:solidFill>
                <a:highlight>
                  <a:srgbClr val="00FF00"/>
                </a:highlight>
                <a:latin typeface="Consolas" panose="020B0609020204030204" pitchFamily="49" charset="0"/>
              </a:rPr>
              <a:t> </a:t>
            </a:r>
            <a:r>
              <a:rPr lang="en-IN" sz="1200" dirty="0" err="1">
                <a:solidFill>
                  <a:srgbClr val="000000"/>
                </a:solidFill>
                <a:highlight>
                  <a:srgbClr val="00FF00"/>
                </a:highlight>
                <a:latin typeface="Consolas" panose="020B0609020204030204" pitchFamily="49" charset="0"/>
              </a:rPr>
              <a:t>iconfiguration</a:t>
            </a:r>
            <a:endParaRPr lang="en-IN" sz="1200" dirty="0">
              <a:solidFill>
                <a:srgbClr val="000000"/>
              </a:solidFill>
              <a:highlight>
                <a:srgbClr val="FFFFFF"/>
              </a:highlight>
              <a:latin typeface="Consolas" panose="020B0609020204030204" pitchFamily="49" charset="0"/>
            </a:endParaRP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pPr algn="l">
              <a:buFont typeface="+mj-lt"/>
              <a:buAutoNum type="arabicPeriod"/>
            </a:pPr>
            <a:endParaRPr lang="en-IN" sz="700" b="0" i="0" dirty="0">
              <a:solidFill>
                <a:srgbClr val="5C5C5C"/>
              </a:solidFill>
              <a:effectLst/>
              <a:latin typeface="Consolas" panose="020B0609020204030204" pitchFamily="49" charset="0"/>
            </a:endParaRPr>
          </a:p>
        </p:txBody>
      </p:sp>
      <p:pic>
        <p:nvPicPr>
          <p:cNvPr id="2" name="Picture 1"/>
          <p:cNvPicPr>
            <a:picLocks noChangeAspect="1"/>
          </p:cNvPicPr>
          <p:nvPr/>
        </p:nvPicPr>
        <p:blipFill>
          <a:blip r:embed="rId2"/>
          <a:stretch>
            <a:fillRect/>
          </a:stretch>
        </p:blipFill>
        <p:spPr>
          <a:xfrm>
            <a:off x="6400800" y="104849"/>
            <a:ext cx="3123432" cy="3086100"/>
          </a:xfrm>
          <a:prstGeom prst="rect">
            <a:avLst/>
          </a:prstGeom>
        </p:spPr>
      </p:pic>
    </p:spTree>
    <p:extLst>
      <p:ext uri="{BB962C8B-B14F-4D97-AF65-F5344CB8AC3E}">
        <p14:creationId xmlns:p14="http://schemas.microsoft.com/office/powerpoint/2010/main" val="216432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C697F-0CFF-4BCE-BB5A-E53B9B385A20}"/>
              </a:ext>
            </a:extLst>
          </p:cNvPr>
          <p:cNvSpPr>
            <a:spLocks noGrp="1"/>
          </p:cNvSpPr>
          <p:nvPr>
            <p:ph type="title"/>
          </p:nvPr>
        </p:nvSpPr>
        <p:spPr>
          <a:xfrm>
            <a:off x="1295400" y="-228600"/>
            <a:ext cx="7391400" cy="792162"/>
          </a:xfrm>
        </p:spPr>
        <p:txBody>
          <a:bodyPr/>
          <a:lstStyle/>
          <a:p>
            <a:r>
              <a:rPr lang="en-IN" dirty="0"/>
              <a:t>Demo connected layer</a:t>
            </a:r>
          </a:p>
        </p:txBody>
      </p:sp>
      <p:sp>
        <p:nvSpPr>
          <p:cNvPr id="3" name="Content Placeholder 2">
            <a:extLst>
              <a:ext uri="{FF2B5EF4-FFF2-40B4-BE49-F238E27FC236}">
                <a16:creationId xmlns:a16="http://schemas.microsoft.com/office/drawing/2014/main" id="{1BC2AD91-FEA0-4598-B7DB-6AD85E69918C}"/>
              </a:ext>
            </a:extLst>
          </p:cNvPr>
          <p:cNvSpPr>
            <a:spLocks noGrp="1"/>
          </p:cNvSpPr>
          <p:nvPr>
            <p:ph idx="1"/>
          </p:nvPr>
        </p:nvSpPr>
        <p:spPr>
          <a:xfrm>
            <a:off x="152400" y="381000"/>
            <a:ext cx="9144000" cy="7742238"/>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System.Data.SqlClient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ADO01_ConsoleApplication</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Productlayer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latin typeface="Consolas" panose="020B0609020204030204" pitchFamily="49" charset="0"/>
              </a:rPr>
              <a:t>private</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string</a:t>
            </a:r>
            <a:r>
              <a:rPr lang="en-IN" sz="1200" dirty="0">
                <a:solidFill>
                  <a:srgbClr val="000000"/>
                </a:solidFill>
                <a:latin typeface="Consolas" panose="020B0609020204030204" pitchFamily="49" charset="0"/>
              </a:rPr>
              <a:t> _</a:t>
            </a:r>
            <a:r>
              <a:rPr lang="en-IN" sz="1200" dirty="0" err="1">
                <a:solidFill>
                  <a:srgbClr val="000000"/>
                </a:solidFill>
                <a:latin typeface="Consolas" panose="020B0609020204030204" pitchFamily="49" charset="0"/>
              </a:rPr>
              <a:t>connectionString</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Productlayer</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p>
          <a:p>
            <a:pPr marL="0" indent="0">
              <a:buNone/>
            </a:pPr>
            <a:r>
              <a:rPr lang="en-IN" sz="1200" dirty="0">
                <a:solidFill>
                  <a:srgbClr val="000000"/>
                </a:solidFill>
                <a:latin typeface="Consolas" panose="020B0609020204030204" pitchFamily="49" charset="0"/>
              </a:rPr>
              <a:t>                </a:t>
            </a:r>
            <a:r>
              <a:rPr lang="en-IN" sz="1200" dirty="0">
                <a:solidFill>
                  <a:srgbClr val="000000"/>
                </a:solidFill>
                <a:highlight>
                  <a:srgbClr val="FFFF00"/>
                </a:highlight>
                <a:latin typeface="Consolas" panose="020B0609020204030204" pitchFamily="49" charset="0"/>
              </a:rPr>
              <a:t>_</a:t>
            </a:r>
            <a:r>
              <a:rPr lang="en-IN" sz="1200" dirty="0" err="1">
                <a:solidFill>
                  <a:srgbClr val="000000"/>
                </a:solidFill>
                <a:highlight>
                  <a:srgbClr val="FFFF00"/>
                </a:highlight>
                <a:latin typeface="Consolas" panose="020B0609020204030204" pitchFamily="49" charset="0"/>
              </a:rPr>
              <a:t>connectionString</a:t>
            </a:r>
            <a:r>
              <a:rPr lang="en-IN" sz="1200" dirty="0">
                <a:solidFill>
                  <a:srgbClr val="000000"/>
                </a:solidFill>
                <a:highlight>
                  <a:srgbClr val="FFFF00"/>
                </a:highlight>
                <a:latin typeface="Consolas" panose="020B0609020204030204" pitchFamily="49" charset="0"/>
              </a:rPr>
              <a:t> </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iconfiguration.GetConnectionString</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a:t>
            </a:r>
            <a:r>
              <a:rPr lang="en-IN" sz="1200" dirty="0">
                <a:solidFill>
                  <a:srgbClr val="A31515"/>
                </a:solidFill>
                <a:highlight>
                  <a:srgbClr val="00FF00"/>
                </a:highlight>
                <a:latin typeface="Consolas" panose="020B0609020204030204" pitchFamily="49" charset="0"/>
              </a:rPr>
              <a:t>Default</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Products()</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using</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SqlConnection</a:t>
            </a:r>
            <a:r>
              <a:rPr lang="en-US" sz="1200" dirty="0">
                <a:solidFill>
                  <a:srgbClr val="000000"/>
                </a:solidFill>
                <a:highlight>
                  <a:srgbClr val="FFFFFF"/>
                </a:highlight>
                <a:latin typeface="Consolas" panose="020B0609020204030204" pitchFamily="49" charset="0"/>
              </a:rPr>
              <a:t> con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SqlConnection</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00"/>
                </a:highlight>
                <a:latin typeface="Consolas" panose="020B0609020204030204" pitchFamily="49" charset="0"/>
              </a:rPr>
              <a:t>_</a:t>
            </a:r>
            <a:r>
              <a:rPr lang="en-IN" sz="1200" dirty="0" err="1">
                <a:solidFill>
                  <a:srgbClr val="000000"/>
                </a:solidFill>
                <a:highlight>
                  <a:srgbClr val="FFFF00"/>
                </a:highlight>
                <a:latin typeface="Consolas" panose="020B0609020204030204" pitchFamily="49" charset="0"/>
              </a:rPr>
              <a:t>connectionString</a:t>
            </a:r>
            <a:r>
              <a:rPr lang="en-IN" sz="1200" dirty="0">
                <a:solidFill>
                  <a:srgbClr val="000000"/>
                </a:solidFill>
                <a:highlight>
                  <a:srgbClr val="FFFF00"/>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Pass the connection to the command object, so the command object knows on which</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connection to execute the command</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SqlCommand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cmd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SqlCommand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"Select * from Product"</a:t>
            </a:r>
            <a:r>
              <a:rPr lang="en-US" sz="1200" dirty="0">
                <a:solidFill>
                  <a:srgbClr val="000000"/>
                </a:solidFill>
                <a:highlight>
                  <a:srgbClr val="FFFFFF"/>
                </a:highlight>
                <a:latin typeface="Consolas" panose="020B0609020204030204" pitchFamily="49" charset="0"/>
              </a:rPr>
              <a:t>, con);</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Open the connection. Otherwise you get a runtime error. An open connection is</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required to execute the command</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con.Open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"connected"</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SqlDataReader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rdr</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cmd.ExecuteReader</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//returns object of </a:t>
            </a:r>
            <a:r>
              <a:rPr lang="en-US" sz="1200" dirty="0" err="1">
                <a:solidFill>
                  <a:srgbClr val="008000"/>
                </a:solidFill>
                <a:highlight>
                  <a:srgbClr val="FFFFFF"/>
                </a:highlight>
                <a:latin typeface="Consolas" panose="020B0609020204030204" pitchFamily="49" charset="0"/>
              </a:rPr>
              <a:t>sqldatareder</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rdr.HasRows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rdr.Read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{1} {2} {3}"</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"Name"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"Price"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rdr</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"Qty"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103902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DD93616-C640-44F8-B026-B0FBFAF307BE}"/>
              </a:ext>
            </a:extLst>
          </p:cNvPr>
          <p:cNvSpPr/>
          <p:nvPr/>
        </p:nvSpPr>
        <p:spPr>
          <a:xfrm>
            <a:off x="3762736" y="4075300"/>
            <a:ext cx="1354238" cy="99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C481DC83-2594-4DE4-B19B-ED22D3110C1A}"/>
              </a:ext>
            </a:extLst>
          </p:cNvPr>
          <p:cNvSpPr>
            <a:spLocks noGrp="1"/>
          </p:cNvSpPr>
          <p:nvPr>
            <p:ph idx="1"/>
          </p:nvPr>
        </p:nvSpPr>
        <p:spPr>
          <a:xfrm>
            <a:off x="228600" y="457200"/>
            <a:ext cx="8458200" cy="5668963"/>
          </a:xfrm>
        </p:spPr>
        <p:txBody>
          <a:bodyPr>
            <a:normAutofit/>
          </a:bodyPr>
          <a:lstStyle/>
          <a:p>
            <a:pPr marL="0" indent="0">
              <a:buNone/>
            </a:pPr>
            <a:endParaRPr lang="en-US" sz="1800" dirty="0">
              <a:solidFill>
                <a:srgbClr val="2B91AF"/>
              </a:solidFill>
              <a:highlight>
                <a:srgbClr val="FFFFFF"/>
              </a:highlight>
              <a:latin typeface="Consolas" panose="020B0609020204030204" pitchFamily="49" charset="0"/>
            </a:endParaRPr>
          </a:p>
          <a:p>
            <a:pPr marL="0" indent="0">
              <a:buNone/>
            </a:pPr>
            <a:r>
              <a:rPr lang="en-US" sz="1800" dirty="0" err="1">
                <a:solidFill>
                  <a:srgbClr val="2B91AF"/>
                </a:solidFill>
                <a:highlight>
                  <a:srgbClr val="FFFFFF"/>
                </a:highlight>
                <a:latin typeface="Consolas" panose="020B0609020204030204" pitchFamily="49" charset="0"/>
              </a:rPr>
              <a:t>SqlConnection</a:t>
            </a:r>
            <a:r>
              <a:rPr lang="en-US" sz="1800" dirty="0">
                <a:solidFill>
                  <a:srgbClr val="000000"/>
                </a:solidFill>
                <a:highlight>
                  <a:srgbClr val="FFFFFF"/>
                </a:highlight>
                <a:latin typeface="Consolas" panose="020B0609020204030204" pitchFamily="49" charset="0"/>
              </a:rPr>
              <a:t> con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SqlConnection</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connectionString</a:t>
            </a:r>
            <a:r>
              <a:rPr lang="en-US" sz="1800" dirty="0">
                <a:solidFill>
                  <a:srgbClr val="000000"/>
                </a:solidFill>
                <a:highlight>
                  <a:srgbClr val="FFFFFF"/>
                </a:highlight>
                <a:latin typeface="Consolas" panose="020B0609020204030204" pitchFamily="49" charset="0"/>
              </a:rPr>
              <a:t>)</a:t>
            </a:r>
            <a:endParaRPr lang="en-IN" sz="1800" dirty="0"/>
          </a:p>
        </p:txBody>
      </p:sp>
      <p:sp>
        <p:nvSpPr>
          <p:cNvPr id="4" name="Rectangle 3">
            <a:extLst>
              <a:ext uri="{FF2B5EF4-FFF2-40B4-BE49-F238E27FC236}">
                <a16:creationId xmlns:a16="http://schemas.microsoft.com/office/drawing/2014/main" id="{19414671-30DE-45D8-AC24-6250720B6B84}"/>
              </a:ext>
            </a:extLst>
          </p:cNvPr>
          <p:cNvSpPr/>
          <p:nvPr/>
        </p:nvSpPr>
        <p:spPr>
          <a:xfrm>
            <a:off x="1981200" y="1066800"/>
            <a:ext cx="3962400" cy="723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ConnectionString</a:t>
            </a:r>
            <a:r>
              <a:rPr lang="en-IN" dirty="0"/>
              <a:t>=“”</a:t>
            </a:r>
          </a:p>
        </p:txBody>
      </p:sp>
      <p:sp>
        <p:nvSpPr>
          <p:cNvPr id="5" name="TextBox 4">
            <a:extLst>
              <a:ext uri="{FF2B5EF4-FFF2-40B4-BE49-F238E27FC236}">
                <a16:creationId xmlns:a16="http://schemas.microsoft.com/office/drawing/2014/main" id="{45FF6E7A-8A62-42DF-9B6C-37B4F4A492F3}"/>
              </a:ext>
            </a:extLst>
          </p:cNvPr>
          <p:cNvSpPr txBox="1"/>
          <p:nvPr/>
        </p:nvSpPr>
        <p:spPr>
          <a:xfrm>
            <a:off x="304800" y="1383268"/>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con</a:t>
            </a:r>
          </a:p>
        </p:txBody>
      </p:sp>
      <p:cxnSp>
        <p:nvCxnSpPr>
          <p:cNvPr id="7" name="Straight Arrow Connector 6">
            <a:extLst>
              <a:ext uri="{FF2B5EF4-FFF2-40B4-BE49-F238E27FC236}">
                <a16:creationId xmlns:a16="http://schemas.microsoft.com/office/drawing/2014/main" id="{80465ED1-B01A-4B22-B0FC-FB84B7AF29C2}"/>
              </a:ext>
            </a:extLst>
          </p:cNvPr>
          <p:cNvCxnSpPr>
            <a:stCxn id="5" idx="3"/>
          </p:cNvCxnSpPr>
          <p:nvPr/>
        </p:nvCxnSpPr>
        <p:spPr>
          <a:xfrm flipV="1">
            <a:off x="1219200" y="1453634"/>
            <a:ext cx="515073" cy="114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B2DA26-EFA4-47A0-BAFA-C59AD18B0724}"/>
              </a:ext>
            </a:extLst>
          </p:cNvPr>
          <p:cNvSpPr txBox="1"/>
          <p:nvPr/>
        </p:nvSpPr>
        <p:spPr>
          <a:xfrm>
            <a:off x="386788" y="5475158"/>
            <a:ext cx="8370424" cy="646331"/>
          </a:xfrm>
          <a:prstGeom prst="rect">
            <a:avLst/>
          </a:prstGeom>
          <a:noFill/>
        </p:spPr>
        <p:txBody>
          <a:bodyPr wrap="square">
            <a:spAutoFit/>
          </a:bodyPr>
          <a:lstStyle/>
          <a:p>
            <a:r>
              <a:rPr lang="en-US" sz="1800" dirty="0" err="1">
                <a:solidFill>
                  <a:srgbClr val="2B91AF"/>
                </a:solidFill>
                <a:highlight>
                  <a:srgbClr val="FFFFFF"/>
                </a:highlight>
                <a:latin typeface="Consolas" panose="020B0609020204030204" pitchFamily="49" charset="0"/>
              </a:rPr>
              <a:t>SqlCommand</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cmd</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SqlCommand</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"Select * from Product"</a:t>
            </a:r>
            <a:r>
              <a:rPr lang="en-US" sz="1800" dirty="0">
                <a:solidFill>
                  <a:srgbClr val="000000"/>
                </a:solidFill>
                <a:highlight>
                  <a:srgbClr val="FFFFFF"/>
                </a:highlight>
                <a:latin typeface="Consolas" panose="020B0609020204030204" pitchFamily="49" charset="0"/>
              </a:rPr>
              <a:t>, con);</a:t>
            </a:r>
          </a:p>
          <a:p>
            <a:r>
              <a:rPr lang="en-US" sz="1800" dirty="0" err="1">
                <a:solidFill>
                  <a:srgbClr val="2B91AF"/>
                </a:solidFill>
                <a:highlight>
                  <a:srgbClr val="FFFFFF"/>
                </a:highlight>
                <a:latin typeface="Consolas" panose="020B0609020204030204" pitchFamily="49" charset="0"/>
              </a:rPr>
              <a:t>SqlDataReader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rdr</a:t>
            </a:r>
            <a:r>
              <a:rPr lang="en-US" sz="1800" dirty="0">
                <a:solidFill>
                  <a:srgbClr val="000000"/>
                </a:solidFill>
                <a:highlight>
                  <a:srgbClr val="FFFFFF"/>
                </a:highlight>
                <a:latin typeface="Consolas" panose="020B0609020204030204" pitchFamily="49" charset="0"/>
              </a:rPr>
              <a:t> = </a:t>
            </a:r>
            <a:r>
              <a:rPr lang="en-US" sz="1800" dirty="0" err="1">
                <a:solidFill>
                  <a:srgbClr val="000000"/>
                </a:solidFill>
                <a:highlight>
                  <a:srgbClr val="FFFFFF"/>
                </a:highlight>
                <a:latin typeface="Consolas" panose="020B0609020204030204" pitchFamily="49" charset="0"/>
              </a:rPr>
              <a:t>cmd.ExecuteReader</a:t>
            </a:r>
            <a:r>
              <a:rPr lang="en-US" sz="1800" dirty="0">
                <a:solidFill>
                  <a:srgbClr val="000000"/>
                </a:solidFill>
                <a:highlight>
                  <a:srgbClr val="FFFFFF"/>
                </a:highlight>
                <a:latin typeface="Consolas" panose="020B0609020204030204" pitchFamily="49" charset="0"/>
              </a:rPr>
              <a:t>();</a:t>
            </a:r>
            <a:endParaRPr lang="en-IN" dirty="0"/>
          </a:p>
        </p:txBody>
      </p:sp>
      <p:sp>
        <p:nvSpPr>
          <p:cNvPr id="10" name="Rectangle 9">
            <a:extLst>
              <a:ext uri="{FF2B5EF4-FFF2-40B4-BE49-F238E27FC236}">
                <a16:creationId xmlns:a16="http://schemas.microsoft.com/office/drawing/2014/main" id="{19C9DDF4-2231-4DE0-AF88-1A4CCEED816B}"/>
              </a:ext>
            </a:extLst>
          </p:cNvPr>
          <p:cNvSpPr/>
          <p:nvPr/>
        </p:nvSpPr>
        <p:spPr>
          <a:xfrm>
            <a:off x="1752600" y="2413369"/>
            <a:ext cx="2865699" cy="146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err="1">
                <a:solidFill>
                  <a:srgbClr val="000000"/>
                </a:solidFill>
                <a:highlight>
                  <a:srgbClr val="FFFFFF"/>
                </a:highlight>
                <a:latin typeface="Consolas" panose="020B0609020204030204" pitchFamily="49" charset="0"/>
              </a:rPr>
              <a:t>CommandText</a:t>
            </a:r>
            <a:r>
              <a:rPr lang="en-IN" dirty="0"/>
              <a:t>=“Select * </a:t>
            </a:r>
            <a:r>
              <a:rPr lang="en-IN" dirty="0" err="1"/>
              <a:t>fromproduct</a:t>
            </a:r>
            <a:r>
              <a:rPr lang="en-IN" dirty="0"/>
              <a:t> ”</a:t>
            </a:r>
          </a:p>
        </p:txBody>
      </p:sp>
      <p:sp>
        <p:nvSpPr>
          <p:cNvPr id="11" name="TextBox 10">
            <a:extLst>
              <a:ext uri="{FF2B5EF4-FFF2-40B4-BE49-F238E27FC236}">
                <a16:creationId xmlns:a16="http://schemas.microsoft.com/office/drawing/2014/main" id="{5EED7734-AA65-4AFE-917E-D4D23F64315C}"/>
              </a:ext>
            </a:extLst>
          </p:cNvPr>
          <p:cNvSpPr txBox="1"/>
          <p:nvPr/>
        </p:nvSpPr>
        <p:spPr>
          <a:xfrm>
            <a:off x="304800" y="3288268"/>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err="1"/>
              <a:t>cmd</a:t>
            </a:r>
            <a:endParaRPr lang="en-IN" dirty="0"/>
          </a:p>
        </p:txBody>
      </p:sp>
      <p:cxnSp>
        <p:nvCxnSpPr>
          <p:cNvPr id="12" name="Straight Arrow Connector 11">
            <a:extLst>
              <a:ext uri="{FF2B5EF4-FFF2-40B4-BE49-F238E27FC236}">
                <a16:creationId xmlns:a16="http://schemas.microsoft.com/office/drawing/2014/main" id="{B7630496-1D6E-438E-87A4-B8B72C11F6CD}"/>
              </a:ext>
            </a:extLst>
          </p:cNvPr>
          <p:cNvCxnSpPr>
            <a:stCxn id="11" idx="3"/>
          </p:cNvCxnSpPr>
          <p:nvPr/>
        </p:nvCxnSpPr>
        <p:spPr>
          <a:xfrm flipV="1">
            <a:off x="1219200" y="3358634"/>
            <a:ext cx="515073" cy="114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7048F38-338D-430B-8398-6D9655E73948}"/>
              </a:ext>
            </a:extLst>
          </p:cNvPr>
          <p:cNvSpPr txBox="1"/>
          <p:nvPr/>
        </p:nvSpPr>
        <p:spPr>
          <a:xfrm>
            <a:off x="2050647" y="3510644"/>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con</a:t>
            </a:r>
          </a:p>
        </p:txBody>
      </p:sp>
      <p:cxnSp>
        <p:nvCxnSpPr>
          <p:cNvPr id="14" name="Straight Arrow Connector 13">
            <a:extLst>
              <a:ext uri="{FF2B5EF4-FFF2-40B4-BE49-F238E27FC236}">
                <a16:creationId xmlns:a16="http://schemas.microsoft.com/office/drawing/2014/main" id="{F18860C5-EBE4-4B29-9D58-1DB8DD3495A5}"/>
              </a:ext>
            </a:extLst>
          </p:cNvPr>
          <p:cNvCxnSpPr>
            <a:cxnSpLocks/>
          </p:cNvCxnSpPr>
          <p:nvPr/>
        </p:nvCxnSpPr>
        <p:spPr>
          <a:xfrm flipV="1">
            <a:off x="2965047" y="1949634"/>
            <a:ext cx="997353" cy="17651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Rectangle 15">
            <a:extLst>
              <a:ext uri="{FF2B5EF4-FFF2-40B4-BE49-F238E27FC236}">
                <a16:creationId xmlns:a16="http://schemas.microsoft.com/office/drawing/2014/main" id="{A0FE1EFA-F2C1-43C1-8BDE-C592491974C8}"/>
              </a:ext>
            </a:extLst>
          </p:cNvPr>
          <p:cNvSpPr/>
          <p:nvPr/>
        </p:nvSpPr>
        <p:spPr>
          <a:xfrm>
            <a:off x="6629400" y="1447800"/>
            <a:ext cx="10668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A601E14-3B66-4E12-A423-FF2D6039FA6A}"/>
              </a:ext>
            </a:extLst>
          </p:cNvPr>
          <p:cNvSpPr txBox="1"/>
          <p:nvPr/>
        </p:nvSpPr>
        <p:spPr>
          <a:xfrm>
            <a:off x="6705600" y="1066800"/>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Open()</a:t>
            </a:r>
          </a:p>
        </p:txBody>
      </p:sp>
      <p:sp>
        <p:nvSpPr>
          <p:cNvPr id="20" name="TextBox 19">
            <a:extLst>
              <a:ext uri="{FF2B5EF4-FFF2-40B4-BE49-F238E27FC236}">
                <a16:creationId xmlns:a16="http://schemas.microsoft.com/office/drawing/2014/main" id="{A6F7B25C-3E30-425B-A839-47490D156680}"/>
              </a:ext>
            </a:extLst>
          </p:cNvPr>
          <p:cNvSpPr txBox="1"/>
          <p:nvPr/>
        </p:nvSpPr>
        <p:spPr>
          <a:xfrm>
            <a:off x="4724400" y="2413369"/>
            <a:ext cx="237377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800">
                <a:solidFill>
                  <a:srgbClr val="000000"/>
                </a:solidFill>
                <a:highlight>
                  <a:srgbClr val="FFFFFF"/>
                </a:highlight>
                <a:latin typeface="Consolas" panose="020B0609020204030204" pitchFamily="49" charset="0"/>
              </a:rPr>
              <a:t>ExecuteReader();</a:t>
            </a:r>
            <a:endParaRPr lang="en-IN" dirty="0"/>
          </a:p>
        </p:txBody>
      </p:sp>
      <p:sp>
        <p:nvSpPr>
          <p:cNvPr id="24" name="Rectangle 23">
            <a:extLst>
              <a:ext uri="{FF2B5EF4-FFF2-40B4-BE49-F238E27FC236}">
                <a16:creationId xmlns:a16="http://schemas.microsoft.com/office/drawing/2014/main" id="{FDB1D883-59D5-4FAB-B9A3-F9E37AC9CC8F}"/>
              </a:ext>
            </a:extLst>
          </p:cNvPr>
          <p:cNvSpPr/>
          <p:nvPr/>
        </p:nvSpPr>
        <p:spPr>
          <a:xfrm>
            <a:off x="4800600" y="2811410"/>
            <a:ext cx="2373774" cy="10622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new </a:t>
            </a:r>
            <a:r>
              <a:rPr lang="en-US" sz="1800" dirty="0" err="1">
                <a:solidFill>
                  <a:srgbClr val="2B91AF"/>
                </a:solidFill>
                <a:highlight>
                  <a:srgbClr val="FFFFFF"/>
                </a:highlight>
                <a:latin typeface="Consolas" panose="020B0609020204030204" pitchFamily="49" charset="0"/>
              </a:rPr>
              <a:t>SqlDataReader</a:t>
            </a:r>
            <a:r>
              <a:rPr lang="en-US" sz="1800" dirty="0">
                <a:solidFill>
                  <a:srgbClr val="2B91AF"/>
                </a:solidFill>
                <a:highlight>
                  <a:srgbClr val="FFFFFF"/>
                </a:highlight>
                <a:latin typeface="Consolas" panose="020B0609020204030204" pitchFamily="49" charset="0"/>
              </a:rPr>
              <a:t>()</a:t>
            </a:r>
            <a:endParaRPr lang="en-IN" dirty="0"/>
          </a:p>
        </p:txBody>
      </p:sp>
      <p:sp>
        <p:nvSpPr>
          <p:cNvPr id="26" name="TextBox 25">
            <a:extLst>
              <a:ext uri="{FF2B5EF4-FFF2-40B4-BE49-F238E27FC236}">
                <a16:creationId xmlns:a16="http://schemas.microsoft.com/office/drawing/2014/main" id="{6B6E6EF6-F6F2-4CA8-8D72-E254DAD13739}"/>
              </a:ext>
            </a:extLst>
          </p:cNvPr>
          <p:cNvSpPr txBox="1"/>
          <p:nvPr/>
        </p:nvSpPr>
        <p:spPr>
          <a:xfrm>
            <a:off x="1933936" y="4483157"/>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err="1"/>
              <a:t>rdr</a:t>
            </a:r>
            <a:endParaRPr lang="en-IN" dirty="0"/>
          </a:p>
        </p:txBody>
      </p:sp>
      <p:cxnSp>
        <p:nvCxnSpPr>
          <p:cNvPr id="27" name="Straight Arrow Connector 26">
            <a:extLst>
              <a:ext uri="{FF2B5EF4-FFF2-40B4-BE49-F238E27FC236}">
                <a16:creationId xmlns:a16="http://schemas.microsoft.com/office/drawing/2014/main" id="{DA9F3F34-7247-43F3-A748-6705A91A23B6}"/>
              </a:ext>
            </a:extLst>
          </p:cNvPr>
          <p:cNvCxnSpPr>
            <a:cxnSpLocks/>
          </p:cNvCxnSpPr>
          <p:nvPr/>
        </p:nvCxnSpPr>
        <p:spPr>
          <a:xfrm flipV="1">
            <a:off x="2590800" y="4578942"/>
            <a:ext cx="685800" cy="88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Flowchart: Magnetic Disk 32">
            <a:extLst>
              <a:ext uri="{FF2B5EF4-FFF2-40B4-BE49-F238E27FC236}">
                <a16:creationId xmlns:a16="http://schemas.microsoft.com/office/drawing/2014/main" id="{77DB9897-2CE4-4687-84E8-7E500A42BA13}"/>
              </a:ext>
            </a:extLst>
          </p:cNvPr>
          <p:cNvSpPr/>
          <p:nvPr/>
        </p:nvSpPr>
        <p:spPr>
          <a:xfrm>
            <a:off x="7772400" y="2061926"/>
            <a:ext cx="1230774" cy="106227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997A41A2-5F17-41F0-9BC8-90D2F252F36D}"/>
              </a:ext>
            </a:extLst>
          </p:cNvPr>
          <p:cNvCxnSpPr>
            <a:endCxn id="33" idx="1"/>
          </p:cNvCxnSpPr>
          <p:nvPr/>
        </p:nvCxnSpPr>
        <p:spPr>
          <a:xfrm>
            <a:off x="7467600" y="1817132"/>
            <a:ext cx="920187" cy="24479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8390DEF8-ABEC-496C-81FF-92D1D793B5CB}"/>
              </a:ext>
            </a:extLst>
          </p:cNvPr>
          <p:cNvCxnSpPr>
            <a:cxnSpLocks/>
          </p:cNvCxnSpPr>
          <p:nvPr/>
        </p:nvCxnSpPr>
        <p:spPr>
          <a:xfrm flipV="1">
            <a:off x="6997378" y="2588420"/>
            <a:ext cx="811192" cy="8268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9" name="Straight Arrow Connector 48">
            <a:extLst>
              <a:ext uri="{FF2B5EF4-FFF2-40B4-BE49-F238E27FC236}">
                <a16:creationId xmlns:a16="http://schemas.microsoft.com/office/drawing/2014/main" id="{10356EB4-5520-449F-AFF3-442656E42935}"/>
              </a:ext>
            </a:extLst>
          </p:cNvPr>
          <p:cNvCxnSpPr>
            <a:cxnSpLocks/>
          </p:cNvCxnSpPr>
          <p:nvPr/>
        </p:nvCxnSpPr>
        <p:spPr>
          <a:xfrm flipH="1">
            <a:off x="7391400" y="3124200"/>
            <a:ext cx="697374" cy="93700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aphicFrame>
        <p:nvGraphicFramePr>
          <p:cNvPr id="39" name="Table 39">
            <a:extLst>
              <a:ext uri="{FF2B5EF4-FFF2-40B4-BE49-F238E27FC236}">
                <a16:creationId xmlns:a16="http://schemas.microsoft.com/office/drawing/2014/main" id="{C4399569-7D44-49C6-9139-4A6C013336A5}"/>
              </a:ext>
            </a:extLst>
          </p:cNvPr>
          <p:cNvGraphicFramePr>
            <a:graphicFrameLocks noGrp="1"/>
          </p:cNvGraphicFramePr>
          <p:nvPr>
            <p:extLst>
              <p:ext uri="{D42A27DB-BD31-4B8C-83A1-F6EECF244321}">
                <p14:modId xmlns:p14="http://schemas.microsoft.com/office/powerpoint/2010/main" val="3929432845"/>
              </p:ext>
            </p:extLst>
          </p:nvPr>
        </p:nvGraphicFramePr>
        <p:xfrm>
          <a:off x="4395487" y="4308661"/>
          <a:ext cx="2373774" cy="731520"/>
        </p:xfrm>
        <a:graphic>
          <a:graphicData uri="http://schemas.openxmlformats.org/drawingml/2006/table">
            <a:tbl>
              <a:tblPr firstRow="1" bandRow="1">
                <a:tableStyleId>{5C22544A-7EE6-4342-B048-85BDC9FD1C3A}</a:tableStyleId>
              </a:tblPr>
              <a:tblGrid>
                <a:gridCol w="791258">
                  <a:extLst>
                    <a:ext uri="{9D8B030D-6E8A-4147-A177-3AD203B41FA5}">
                      <a16:colId xmlns:a16="http://schemas.microsoft.com/office/drawing/2014/main" val="2716698633"/>
                    </a:ext>
                  </a:extLst>
                </a:gridCol>
                <a:gridCol w="791258">
                  <a:extLst>
                    <a:ext uri="{9D8B030D-6E8A-4147-A177-3AD203B41FA5}">
                      <a16:colId xmlns:a16="http://schemas.microsoft.com/office/drawing/2014/main" val="1377512075"/>
                    </a:ext>
                  </a:extLst>
                </a:gridCol>
                <a:gridCol w="791258">
                  <a:extLst>
                    <a:ext uri="{9D8B030D-6E8A-4147-A177-3AD203B41FA5}">
                      <a16:colId xmlns:a16="http://schemas.microsoft.com/office/drawing/2014/main" val="2759326469"/>
                    </a:ext>
                  </a:extLst>
                </a:gridCol>
              </a:tblGrid>
              <a:tr h="265569">
                <a:tc>
                  <a:txBody>
                    <a:bodyPr/>
                    <a:lstStyle/>
                    <a:p>
                      <a:r>
                        <a:rPr lang="en-IN" dirty="0"/>
                        <a:t>id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IN" dirty="0"/>
                        <a:t>name</a:t>
                      </a:r>
                    </a:p>
                  </a:txBody>
                  <a:tcPr>
                    <a:lnT w="12700" cap="flat" cmpd="sng" algn="ctr">
                      <a:solidFill>
                        <a:schemeClr val="tx1"/>
                      </a:solidFill>
                      <a:prstDash val="solid"/>
                      <a:round/>
                      <a:headEnd type="none" w="med" len="med"/>
                      <a:tailEnd type="none" w="med" len="med"/>
                    </a:lnT>
                  </a:tcPr>
                </a:tc>
                <a:tc>
                  <a:txBody>
                    <a:bodyPr/>
                    <a:lstStyle/>
                    <a:p>
                      <a:r>
                        <a:rPr lang="en-IN" dirty="0"/>
                        <a:t>price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99602702"/>
                  </a:ext>
                </a:extLst>
              </a:tr>
              <a:tr h="265569">
                <a:tc>
                  <a:txBody>
                    <a:bodyPr/>
                    <a:lstStyle/>
                    <a:p>
                      <a:endParaRPr lang="en-IN"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IN"/>
                    </a:p>
                  </a:txBody>
                  <a:tcPr>
                    <a:lnB w="12700" cap="flat" cmpd="sng" algn="ctr">
                      <a:solidFill>
                        <a:schemeClr val="tx1"/>
                      </a:solidFill>
                      <a:prstDash val="solid"/>
                      <a:round/>
                      <a:headEnd type="none" w="med" len="med"/>
                      <a:tailEnd type="none" w="med" len="med"/>
                    </a:lnB>
                  </a:tcPr>
                </a:tc>
                <a:tc>
                  <a:txBody>
                    <a:bodyPr/>
                    <a:lstStyle/>
                    <a:p>
                      <a:endParaRPr lang="en-IN"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8751162"/>
                  </a:ext>
                </a:extLst>
              </a:tr>
            </a:tbl>
          </a:graphicData>
        </a:graphic>
      </p:graphicFrame>
      <p:sp>
        <p:nvSpPr>
          <p:cNvPr id="53" name="Rectangle 52">
            <a:extLst>
              <a:ext uri="{FF2B5EF4-FFF2-40B4-BE49-F238E27FC236}">
                <a16:creationId xmlns:a16="http://schemas.microsoft.com/office/drawing/2014/main" id="{78BF2666-D1C3-4CD9-BBA3-A7E2FD2AF31C}"/>
              </a:ext>
            </a:extLst>
          </p:cNvPr>
          <p:cNvSpPr/>
          <p:nvPr/>
        </p:nvSpPr>
        <p:spPr>
          <a:xfrm>
            <a:off x="7098174" y="4483157"/>
            <a:ext cx="1131426" cy="45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075919C6-CA0B-4E8B-80F5-F8089E273B50}"/>
              </a:ext>
            </a:extLst>
          </p:cNvPr>
          <p:cNvSpPr txBox="1"/>
          <p:nvPr/>
        </p:nvSpPr>
        <p:spPr>
          <a:xfrm>
            <a:off x="7098174" y="4168090"/>
            <a:ext cx="1659038" cy="369332"/>
          </a:xfrm>
          <a:prstGeom prst="rect">
            <a:avLst/>
          </a:prstGeom>
          <a:noFill/>
        </p:spPr>
        <p:txBody>
          <a:bodyPr wrap="square" rtlCol="0">
            <a:spAutoFit/>
          </a:bodyPr>
          <a:lstStyle/>
          <a:p>
            <a:r>
              <a:rPr lang="en-IN" dirty="0"/>
              <a:t>bool read()</a:t>
            </a:r>
          </a:p>
        </p:txBody>
      </p:sp>
    </p:spTree>
    <p:extLst>
      <p:ext uri="{BB962C8B-B14F-4D97-AF65-F5344CB8AC3E}">
        <p14:creationId xmlns:p14="http://schemas.microsoft.com/office/powerpoint/2010/main" val="524198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259735B-D6C1-4D4A-8547-29309B3D7218}"/>
              </a:ext>
            </a:extLst>
          </p:cNvPr>
          <p:cNvSpPr txBox="1"/>
          <p:nvPr/>
        </p:nvSpPr>
        <p:spPr>
          <a:xfrm>
            <a:off x="1280652" y="609600"/>
            <a:ext cx="32766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a:t>
            </a:r>
            <a:endParaRPr kumimoji="0" lang="en-IN" sz="4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cxnSp>
        <p:nvCxnSpPr>
          <p:cNvPr id="11" name="Straight Arrow Connector 10">
            <a:extLst>
              <a:ext uri="{FF2B5EF4-FFF2-40B4-BE49-F238E27FC236}">
                <a16:creationId xmlns:a16="http://schemas.microsoft.com/office/drawing/2014/main" id="{74490826-7297-4E8A-AD18-3C226BC29F38}"/>
              </a:ext>
            </a:extLst>
          </p:cNvPr>
          <p:cNvCxnSpPr/>
          <p:nvPr/>
        </p:nvCxnSpPr>
        <p:spPr>
          <a:xfrm flipV="1">
            <a:off x="2133600" y="978932"/>
            <a:ext cx="0" cy="597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3770641-8A4B-4DE0-84E0-5855073500BA}"/>
              </a:ext>
            </a:extLst>
          </p:cNvPr>
          <p:cNvSpPr txBox="1"/>
          <p:nvPr/>
        </p:nvSpPr>
        <p:spPr>
          <a:xfrm>
            <a:off x="3733800" y="79280"/>
            <a:ext cx="5181600" cy="60324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namespace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Microsoft.Extensions.Configuration</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Summary:</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Used to build key/value based configuration settings for use in an application.</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uLnTx/>
                <a:uFillTx/>
                <a:latin typeface="Consolas" panose="020B0609020204030204" pitchFamily="49" charset="0"/>
                <a:ea typeface="+mn-ea"/>
                <a:cs typeface="+mn-cs"/>
              </a:rPr>
              <a:t>ConfigurationBuilder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IConfigurationBuilder</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uLnTx/>
                <a:uFillTx/>
                <a:latin typeface="Consolas" panose="020B0609020204030204" pitchFamily="49" charset="0"/>
                <a:ea typeface="+mn-ea"/>
                <a:cs typeface="+mn-cs"/>
              </a:rPr>
              <a:t>ConfigurationBuilder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IDictionary</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&lt;</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string</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object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&gt; Properties {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IConfigurationBuilder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Add(</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IConfigurationSource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source);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Summary:</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Builds an </a:t>
            </a:r>
            <a:r>
              <a:rPr kumimoji="0" lang="en-US" sz="12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Microsoft.Extensions.Configuration.IConfiguration</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with keys and values</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from the set of providers registered in Microsoft.Extensions.Configuration.ConfigurationBuilder.Sources.</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Returns:</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An </a:t>
            </a:r>
            <a:r>
              <a:rPr kumimoji="0" lang="en-US" sz="12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Microsoft.Extensions.Configuration.IConfigurationRoot</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with keys and values</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from the registered providers.</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IConfigurationRoot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Build();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kumimoji="0" lang="en-IN" sz="12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3" name="TextBox 2">
            <a:extLst>
              <a:ext uri="{FF2B5EF4-FFF2-40B4-BE49-F238E27FC236}">
                <a16:creationId xmlns:a16="http://schemas.microsoft.com/office/drawing/2014/main" id="{11232328-9E28-C8BB-B523-88AEBBEB651B}"/>
              </a:ext>
            </a:extLst>
          </p:cNvPr>
          <p:cNvSpPr txBox="1"/>
          <p:nvPr/>
        </p:nvSpPr>
        <p:spPr>
          <a:xfrm>
            <a:off x="990600" y="1509252"/>
            <a:ext cx="2667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IConfigurationRoot</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4" name="TextBox 3">
            <a:extLst>
              <a:ext uri="{FF2B5EF4-FFF2-40B4-BE49-F238E27FC236}">
                <a16:creationId xmlns:a16="http://schemas.microsoft.com/office/drawing/2014/main" id="{4C14E602-FE32-2C80-93E7-31EB215BCA7F}"/>
              </a:ext>
            </a:extLst>
          </p:cNvPr>
          <p:cNvSpPr txBox="1"/>
          <p:nvPr/>
        </p:nvSpPr>
        <p:spPr>
          <a:xfrm>
            <a:off x="226944" y="6296367"/>
            <a:ext cx="6097656" cy="369332"/>
          </a:xfrm>
          <a:prstGeom prst="rect">
            <a:avLst/>
          </a:prstGeom>
          <a:noFill/>
        </p:spPr>
        <p:txBody>
          <a:bodyPr wrap="square">
            <a:spAutoFit/>
          </a:bodyPr>
          <a:lstStyle/>
          <a:p>
            <a:r>
              <a:rPr lang="en-US" dirty="0"/>
              <a:t>D:\DOT NET\</a:t>
            </a:r>
            <a:r>
              <a:rPr lang="en-US" dirty="0" err="1"/>
              <a:t>c#new</a:t>
            </a:r>
            <a:r>
              <a:rPr lang="en-US" dirty="0"/>
              <a:t> Feature\c#_7_new feature</a:t>
            </a:r>
            <a:endParaRPr lang="en-IN" dirty="0"/>
          </a:p>
        </p:txBody>
      </p:sp>
    </p:spTree>
    <p:extLst>
      <p:ext uri="{BB962C8B-B14F-4D97-AF65-F5344CB8AC3E}">
        <p14:creationId xmlns:p14="http://schemas.microsoft.com/office/powerpoint/2010/main" val="3736176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2600" y="28575"/>
            <a:ext cx="6215163" cy="861774"/>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IN" sz="1400" dirty="0">
                <a:solidFill>
                  <a:srgbClr val="000000"/>
                </a:solidFill>
                <a:latin typeface="Cascadia Mono" panose="020B0609020000020004" pitchFamily="49" charset="0"/>
              </a:rPr>
              <a:t>public class </a:t>
            </a:r>
            <a:r>
              <a:rPr lang="en-IN" sz="1400" dirty="0" err="1">
                <a:solidFill>
                  <a:srgbClr val="000000"/>
                </a:solidFill>
                <a:latin typeface="Cascadia Mono" panose="020B0609020000020004" pitchFamily="49" charset="0"/>
              </a:rPr>
              <a:t>ConfigurationBuilder</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IConfigurationBuilder</a:t>
            </a:r>
            <a:endParaRPr lang="en-IN" sz="1400" dirty="0">
              <a:solidFill>
                <a:srgbClr val="000000"/>
              </a:solidFill>
              <a:latin typeface="Cascadia Mono" panose="020B0609020000020004" pitchFamily="49" charset="0"/>
            </a:endParaRPr>
          </a:p>
          <a:p>
            <a:r>
              <a:rPr lang="en-IN" sz="3600" dirty="0"/>
              <a:t> </a:t>
            </a:r>
            <a:r>
              <a:rPr lang="en-IN" sz="1400" dirty="0">
                <a:solidFill>
                  <a:srgbClr val="000000"/>
                </a:solidFill>
                <a:latin typeface="Cascadia Mono" panose="020B0609020000020004" pitchFamily="49" charset="0"/>
              </a:rPr>
              <a:t>return new </a:t>
            </a:r>
            <a:r>
              <a:rPr lang="en-IN" sz="1400" dirty="0" err="1">
                <a:solidFill>
                  <a:srgbClr val="000000"/>
                </a:solidFill>
                <a:latin typeface="Cascadia Mono" panose="020B0609020000020004" pitchFamily="49" charset="0"/>
              </a:rPr>
              <a:t>ConfigurationRoot</a:t>
            </a:r>
            <a:r>
              <a:rPr lang="en-IN" sz="1400" dirty="0">
                <a:solidFill>
                  <a:srgbClr val="000000"/>
                </a:solidFill>
                <a:latin typeface="Cascadia Mono" panose="020B0609020000020004" pitchFamily="49" charset="0"/>
              </a:rPr>
              <a:t>(list);</a:t>
            </a:r>
          </a:p>
        </p:txBody>
      </p:sp>
      <p:sp>
        <p:nvSpPr>
          <p:cNvPr id="5" name="Rectangle 4"/>
          <p:cNvSpPr/>
          <p:nvPr/>
        </p:nvSpPr>
        <p:spPr>
          <a:xfrm>
            <a:off x="0" y="970746"/>
            <a:ext cx="89916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solidFill>
                  <a:srgbClr val="000000"/>
                </a:solidFill>
                <a:latin typeface="Cascadia Mono" panose="020B0609020000020004" pitchFamily="49" charset="0"/>
              </a:rPr>
              <a:t> public class </a:t>
            </a:r>
            <a:r>
              <a:rPr lang="en-IN" dirty="0" err="1">
                <a:solidFill>
                  <a:srgbClr val="000000"/>
                </a:solidFill>
                <a:latin typeface="Cascadia Mono" panose="020B0609020000020004" pitchFamily="49" charset="0"/>
              </a:rPr>
              <a:t>ConfigurationRoot</a:t>
            </a:r>
            <a:r>
              <a:rPr lang="en-IN" dirty="0">
                <a:solidFill>
                  <a:srgbClr val="000000"/>
                </a:solidFill>
                <a:latin typeface="Cascadia Mono" panose="020B0609020000020004" pitchFamily="49" charset="0"/>
              </a:rPr>
              <a:t> : </a:t>
            </a:r>
            <a:r>
              <a:rPr lang="en-IN" dirty="0" err="1">
                <a:solidFill>
                  <a:srgbClr val="000000"/>
                </a:solidFill>
                <a:latin typeface="Cascadia Mono" panose="020B0609020000020004" pitchFamily="49" charset="0"/>
              </a:rPr>
              <a:t>IConfigurationRoot</a:t>
            </a:r>
            <a:r>
              <a:rPr lang="en-IN" dirty="0">
                <a:solidFill>
                  <a:srgbClr val="000000"/>
                </a:solidFill>
                <a:latin typeface="Cascadia Mono" panose="020B0609020000020004" pitchFamily="49" charset="0"/>
              </a:rPr>
              <a:t>, </a:t>
            </a:r>
            <a:r>
              <a:rPr lang="en-IN" dirty="0" err="1">
                <a:solidFill>
                  <a:srgbClr val="000000"/>
                </a:solidFill>
                <a:latin typeface="Cascadia Mono" panose="020B0609020000020004" pitchFamily="49" charset="0"/>
              </a:rPr>
              <a:t>IDisposable</a:t>
            </a:r>
            <a:endParaRPr lang="en-IN" dirty="0"/>
          </a:p>
        </p:txBody>
      </p:sp>
      <p:sp>
        <p:nvSpPr>
          <p:cNvPr id="6" name="Rectangle 5"/>
          <p:cNvSpPr/>
          <p:nvPr/>
        </p:nvSpPr>
        <p:spPr>
          <a:xfrm>
            <a:off x="152400" y="1420475"/>
            <a:ext cx="8305800"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a:solidFill>
                  <a:srgbClr val="000000"/>
                </a:solidFill>
                <a:latin typeface="Cascadia Mono" panose="020B0609020000020004" pitchFamily="49" charset="0"/>
              </a:rPr>
              <a:t>public interface </a:t>
            </a:r>
            <a:r>
              <a:rPr lang="en-IN" dirty="0" err="1">
                <a:solidFill>
                  <a:srgbClr val="000000"/>
                </a:solidFill>
                <a:latin typeface="Cascadia Mono" panose="020B0609020000020004" pitchFamily="49" charset="0"/>
              </a:rPr>
              <a:t>IConfigurationRoot</a:t>
            </a:r>
            <a:r>
              <a:rPr lang="en-IN" dirty="0">
                <a:solidFill>
                  <a:srgbClr val="000000"/>
                </a:solidFill>
                <a:latin typeface="Cascadia Mono" panose="020B0609020000020004" pitchFamily="49" charset="0"/>
              </a:rPr>
              <a:t> : </a:t>
            </a:r>
            <a:r>
              <a:rPr lang="en-IN" dirty="0" err="1">
                <a:solidFill>
                  <a:srgbClr val="000000"/>
                </a:solidFill>
                <a:latin typeface="Cascadia Mono" panose="020B0609020000020004" pitchFamily="49" charset="0"/>
              </a:rPr>
              <a:t>IConfiguration</a:t>
            </a:r>
            <a:endParaRPr lang="en-IN" dirty="0"/>
          </a:p>
        </p:txBody>
      </p:sp>
      <p:sp>
        <p:nvSpPr>
          <p:cNvPr id="2" name="Rectangle 1"/>
          <p:cNvSpPr/>
          <p:nvPr/>
        </p:nvSpPr>
        <p:spPr>
          <a:xfrm>
            <a:off x="-9525" y="1870204"/>
            <a:ext cx="9229725" cy="264315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07000"/>
              </a:lnSpc>
              <a:spcAft>
                <a:spcPts val="800"/>
              </a:spcAft>
            </a:pPr>
            <a:r>
              <a:rPr lang="en-IN"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public static class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FileConfigurationExtensions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public static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IConfigurationBuilder</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SetBasePath</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(this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IConfigurationBuilder</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builder, string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basePath</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public static class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JsonConfigurationExtensions</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public static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IConfigurationBuilder</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AddJsonFile</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(this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IConfigurationBuilder</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builder, string path, bool optional)</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return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builder.AddJsonFile</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(null, path, optional, </a:t>
            </a:r>
            <a:r>
              <a:rPr lang="en-IN" sz="14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reloadOnChange</a:t>
            </a: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false);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19050" y="4638861"/>
            <a:ext cx="9391650" cy="220008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public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IConfigurationRoot</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Build()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var</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providers = new List&lt;</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IConfigurationProvider</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&gt;();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foreach</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IConfigurationSource</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source in Sources)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IConfigurationProvider</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provider =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source.Build</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(this);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providers.Add</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(provider);</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    return new </a:t>
            </a:r>
            <a:r>
              <a:rPr lang="en-IN" sz="1600" dirty="0" err="1">
                <a:solidFill>
                  <a:srgbClr val="000000"/>
                </a:solidFill>
                <a:latin typeface="Cascadia Mono" panose="020B0609020000020004" pitchFamily="49" charset="0"/>
                <a:ea typeface="Calibri" panose="020F0502020204030204" pitchFamily="34" charset="0"/>
                <a:cs typeface="Times New Roman" panose="02020603050405020304" pitchFamily="18" charset="0"/>
              </a:rPr>
              <a:t>ConfigurationRoot</a:t>
            </a: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(providers);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dirty="0">
                <a:solidFill>
                  <a:srgbClr val="000000"/>
                </a:solidFill>
                <a:latin typeface="Cascadia Mono" panose="020B0609020000020004" pitchFamily="49"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932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486A33-9D97-4AA3-A71E-0C5186DCF85A}"/>
              </a:ext>
            </a:extLst>
          </p:cNvPr>
          <p:cNvSpPr txBox="1"/>
          <p:nvPr/>
        </p:nvSpPr>
        <p:spPr>
          <a:xfrm>
            <a:off x="1219200" y="-152400"/>
            <a:ext cx="762000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The </a:t>
            </a:r>
            <a:r>
              <a:rPr kumimoji="0" lang="en-IN" sz="1800" b="1" i="1" u="none" strike="noStrike" kern="1200" cap="none" spc="0" normalizeH="0" baseline="0" noProof="0" dirty="0" err="1">
                <a:ln>
                  <a:noFill/>
                </a:ln>
                <a:solidFill>
                  <a:prstClr val="black"/>
                </a:solidFill>
                <a:effectLst/>
                <a:uLnTx/>
                <a:uFillTx/>
                <a:latin typeface="Trebuchet MS" panose="020B0603020202020204"/>
                <a:ea typeface="+mn-ea"/>
                <a:cs typeface="+mn-cs"/>
              </a:rPr>
              <a:t>SetBasePath</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extension method is defined in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Config.FileExtensions</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You need to add a reference to the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Microsoft.Extensions.Configuration.FileExtensions</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package.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To resolve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AddJsonFile</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add a reference to the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Microsoft.Extensions.Configuration.Json</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package.</a:t>
            </a:r>
          </a:p>
        </p:txBody>
      </p:sp>
      <p:sp>
        <p:nvSpPr>
          <p:cNvPr id="7" name="TextBox 6">
            <a:extLst>
              <a:ext uri="{FF2B5EF4-FFF2-40B4-BE49-F238E27FC236}">
                <a16:creationId xmlns:a16="http://schemas.microsoft.com/office/drawing/2014/main" id="{828AFADD-E157-484D-B467-0D8B6E49CFF3}"/>
              </a:ext>
            </a:extLst>
          </p:cNvPr>
          <p:cNvSpPr txBox="1"/>
          <p:nvPr/>
        </p:nvSpPr>
        <p:spPr>
          <a:xfrm>
            <a:off x="130277" y="2438400"/>
            <a:ext cx="8883445"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ASP.NET Core supports many methods of configuration. In ASP.NET Core application, the configuration is stored in name-value pairs and it can be read at runtime from various parts of the application. The name-value pairs may be grouped into a multi-level hierarchy. The application configuration data may come from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File, such as JSON, XML, INI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Environment variables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Command Line arguments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An in-memory collection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Custom providers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Configuration System in ASP.NET Core is restructured from the older version of ASP.NET. The older version uses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System.Configuration</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namespace and is able to read XML configuration files such as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web.config</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The new configuration model can be accessed to the key/value-based settings and it can retrieve various sources, such as JSON, XML, and INI.</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143294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094816D-76C0-4FEF-B0A1-8FEC086ACA61}"/>
              </a:ext>
            </a:extLst>
          </p:cNvPr>
          <p:cNvSpPr txBox="1"/>
          <p:nvPr/>
        </p:nvSpPr>
        <p:spPr>
          <a:xfrm>
            <a:off x="152400" y="990600"/>
            <a:ext cx="8839200"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Class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Definition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Namespace: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Assembly: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Microsoft.Extensions.Configuration.dll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mn-cs"/>
              </a:rPr>
              <a:t>Used to build key/value based configuration settings for use in an application.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public class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 </a:t>
            </a:r>
            <a:r>
              <a:rPr kumimoji="0" lang="en-IN" sz="14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Microsoft.Extensions.Configuration.IConfigurationBuilder</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Inheritance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Object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Implements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IConfigurationBuilder</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Box 7">
            <a:extLst>
              <a:ext uri="{FF2B5EF4-FFF2-40B4-BE49-F238E27FC236}">
                <a16:creationId xmlns:a16="http://schemas.microsoft.com/office/drawing/2014/main" id="{604E60A4-92B6-4E7C-B76B-7B6404D58C68}"/>
              </a:ext>
            </a:extLst>
          </p:cNvPr>
          <p:cNvSpPr txBox="1"/>
          <p:nvPr/>
        </p:nvSpPr>
        <p:spPr>
          <a:xfrm>
            <a:off x="2438400" y="7620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1" u="none" strike="noStrike" kern="1200" cap="none" spc="0" normalizeH="0" baseline="0" noProof="0" dirty="0" err="1">
                <a:ln>
                  <a:noFill/>
                </a:ln>
                <a:solidFill>
                  <a:srgbClr val="1F497D">
                    <a:lumMod val="60000"/>
                    <a:lumOff val="40000"/>
                  </a:srgbClr>
                </a:solidFill>
                <a:effectLst/>
                <a:uLnTx/>
                <a:uFillTx/>
                <a:latin typeface="Trebuchet MS" panose="020B0603020202020204"/>
                <a:ea typeface="+mn-ea"/>
                <a:cs typeface="+mn-cs"/>
              </a:rPr>
              <a:t>ConfigurationBuilder</a:t>
            </a:r>
            <a:r>
              <a:rPr kumimoji="0" lang="en-IN" sz="1800" b="1" i="1"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rPr>
              <a:t> Class</a:t>
            </a:r>
          </a:p>
        </p:txBody>
      </p:sp>
    </p:spTree>
    <p:extLst>
      <p:ext uri="{BB962C8B-B14F-4D97-AF65-F5344CB8AC3E}">
        <p14:creationId xmlns:p14="http://schemas.microsoft.com/office/powerpoint/2010/main" val="3426904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4557F6-E48F-4161-B5F3-E1ECEAEB0D0A}"/>
              </a:ext>
            </a:extLst>
          </p:cNvPr>
          <p:cNvSpPr txBox="1"/>
          <p:nvPr/>
        </p:nvSpPr>
        <p:spPr>
          <a:xfrm>
            <a:off x="1752600" y="15240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0" u="none" strike="noStrike" kern="1200" cap="none" spc="0" normalizeH="0" baseline="0" noProof="0" dirty="0" err="1">
                <a:ln>
                  <a:noFill/>
                </a:ln>
                <a:solidFill>
                  <a:srgbClr val="1F497D">
                    <a:lumMod val="60000"/>
                    <a:lumOff val="40000"/>
                  </a:srgbClr>
                </a:solidFill>
                <a:effectLst/>
                <a:uLnTx/>
                <a:uFillTx/>
                <a:latin typeface="Trebuchet MS" panose="020B0603020202020204"/>
                <a:ea typeface="+mn-ea"/>
                <a:cs typeface="+mn-cs"/>
              </a:rPr>
              <a:t>SetBasePath</a:t>
            </a:r>
            <a:r>
              <a:rPr kumimoji="0" lang="en-IN" sz="1800" b="0" i="0"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rPr>
              <a:t>(</a:t>
            </a:r>
            <a:r>
              <a:rPr kumimoji="0" lang="en-IN" sz="1800" b="0" i="0" u="none" strike="noStrike" kern="1200" cap="none" spc="0" normalizeH="0" baseline="0" noProof="0" dirty="0" err="1">
                <a:ln>
                  <a:noFill/>
                </a:ln>
                <a:solidFill>
                  <a:srgbClr val="1F497D">
                    <a:lumMod val="60000"/>
                    <a:lumOff val="40000"/>
                  </a:srgbClr>
                </a:solidFill>
                <a:effectLst/>
                <a:uLnTx/>
                <a:uFillTx/>
                <a:latin typeface="Trebuchet MS" panose="020B0603020202020204"/>
                <a:ea typeface="+mn-ea"/>
                <a:cs typeface="+mn-cs"/>
              </a:rPr>
              <a:t>Directory.GetCurrentDirectory</a:t>
            </a:r>
            <a:r>
              <a:rPr kumimoji="0" lang="en-IN" sz="1800" b="0" i="0"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rPr>
              <a:t>()) </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p>
        </p:txBody>
      </p:sp>
      <p:sp>
        <p:nvSpPr>
          <p:cNvPr id="7" name="TextBox 6">
            <a:extLst>
              <a:ext uri="{FF2B5EF4-FFF2-40B4-BE49-F238E27FC236}">
                <a16:creationId xmlns:a16="http://schemas.microsoft.com/office/drawing/2014/main" id="{04470B55-9989-4E50-92D7-6184FAED0E85}"/>
              </a:ext>
            </a:extLst>
          </p:cNvPr>
          <p:cNvSpPr txBox="1"/>
          <p:nvPr/>
        </p:nvSpPr>
        <p:spPr>
          <a:xfrm>
            <a:off x="324678" y="695800"/>
            <a:ext cx="8839200"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FileConfigurationExtensions.SetBasePath</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IConfigurationBuilder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String)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rPr>
              <a:t>Definition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rPr>
              <a:t>Namespace: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rPr>
              <a:t>Assembly: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Microsoft.Extensions.Configuration.FileExtensions.dll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Sets the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FileProvider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for file-based providers to </a:t>
            </a:r>
            <a:r>
              <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rPr>
              <a:t>a </a:t>
            </a:r>
            <a:r>
              <a:rPr kumimoji="0" lang="en-IN" sz="1800" b="1" i="0" u="none" strike="noStrike" kern="1200" cap="none" spc="0" normalizeH="0" baseline="0" noProof="0" dirty="0" err="1">
                <a:ln>
                  <a:noFill/>
                </a:ln>
                <a:solidFill>
                  <a:prstClr val="black"/>
                </a:solidFill>
                <a:effectLst/>
                <a:uLnTx/>
                <a:uFillTx/>
                <a:latin typeface="Trebuchet MS" panose="020B0603020202020204"/>
                <a:ea typeface="+mn-ea"/>
                <a:cs typeface="+mn-cs"/>
              </a:rPr>
              <a:t>PhysicalFileProvider</a:t>
            </a:r>
            <a:r>
              <a:rPr kumimoji="0" lang="en-IN" sz="1800" b="1"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with the base path.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public static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Microsoft.Extensions.Configuration.IConfigurationBuilder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SetBasePath</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1" u="none" strike="noStrike" kern="1200" cap="none" spc="0" normalizeH="0" baseline="0" noProof="0" dirty="0">
                <a:ln>
                  <a:noFill/>
                </a:ln>
                <a:solidFill>
                  <a:prstClr val="black"/>
                </a:solidFill>
                <a:effectLst/>
                <a:uLnTx/>
                <a:uFillTx/>
                <a:latin typeface="Trebuchet MS" panose="020B0603020202020204"/>
                <a:ea typeface="+mn-ea"/>
                <a:cs typeface="+mn-cs"/>
              </a:rPr>
              <a:t>this</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Microsoft.Extensions.Configuration.IConfigurationBuilder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builder, string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basePath</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t>
            </a:r>
          </a:p>
        </p:txBody>
      </p:sp>
      <p:sp>
        <p:nvSpPr>
          <p:cNvPr id="9" name="TextBox 8">
            <a:extLst>
              <a:ext uri="{FF2B5EF4-FFF2-40B4-BE49-F238E27FC236}">
                <a16:creationId xmlns:a16="http://schemas.microsoft.com/office/drawing/2014/main" id="{D84BE430-6AE4-4E26-89CF-D05DE181A88F}"/>
              </a:ext>
            </a:extLst>
          </p:cNvPr>
          <p:cNvSpPr txBox="1"/>
          <p:nvPr/>
        </p:nvSpPr>
        <p:spPr>
          <a:xfrm>
            <a:off x="228600" y="5156941"/>
            <a:ext cx="792480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basePath</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String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The </a:t>
            </a:r>
            <a:r>
              <a:rPr kumimoji="0" lang="en-US" sz="1800" b="0" i="0" u="none" strike="noStrike" kern="1200" cap="none" spc="0" normalizeH="0" baseline="0" noProof="0" dirty="0">
                <a:ln>
                  <a:noFill/>
                </a:ln>
                <a:solidFill>
                  <a:srgbClr val="FF0000"/>
                </a:solidFill>
                <a:effectLst/>
                <a:uLnTx/>
                <a:uFillTx/>
                <a:latin typeface="Trebuchet MS" panose="020B0603020202020204"/>
                <a:ea typeface="+mn-ea"/>
                <a:cs typeface="+mn-cs"/>
              </a:rPr>
              <a:t>absolute path </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of file-based providers.</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440846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E08FA3-9336-410B-8B58-2DDB652DDA1B}"/>
              </a:ext>
            </a:extLst>
          </p:cNvPr>
          <p:cNvSpPr txBox="1"/>
          <p:nvPr/>
        </p:nvSpPr>
        <p:spPr>
          <a:xfrm>
            <a:off x="1295400" y="0"/>
            <a:ext cx="69342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1F497D">
                    <a:lumMod val="60000"/>
                    <a:lumOff val="40000"/>
                  </a:srgbClr>
                </a:solidFill>
                <a:effectLst/>
                <a:uLnTx/>
                <a:uFillTx/>
                <a:latin typeface="Trebuchet MS" panose="020B0603020202020204"/>
                <a:ea typeface="+mn-ea"/>
                <a:cs typeface="+mn-cs"/>
              </a:rPr>
              <a:t>AddJsonFile</a:t>
            </a:r>
            <a:r>
              <a:rPr kumimoji="0" lang="en-US" sz="1800" b="1" i="1"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rPr>
              <a:t>(</a:t>
            </a:r>
            <a:r>
              <a:rPr kumimoji="0" lang="en-US" sz="1800" b="1" i="1" u="none" strike="noStrike" kern="1200" cap="none" spc="0" normalizeH="0" baseline="0" noProof="0" dirty="0" err="1">
                <a:ln>
                  <a:noFill/>
                </a:ln>
                <a:solidFill>
                  <a:srgbClr val="1F497D">
                    <a:lumMod val="60000"/>
                    <a:lumOff val="40000"/>
                  </a:srgbClr>
                </a:solidFill>
                <a:effectLst/>
                <a:uLnTx/>
                <a:uFillTx/>
                <a:latin typeface="Trebuchet MS" panose="020B0603020202020204"/>
                <a:ea typeface="+mn-ea"/>
                <a:cs typeface="+mn-cs"/>
              </a:rPr>
              <a:t>IConfigurationBuilder</a:t>
            </a:r>
            <a:r>
              <a:rPr kumimoji="0" lang="en-US" sz="1800" b="1" i="1"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rPr>
              <a:t>, String, Boolean, Boolean)</a:t>
            </a:r>
            <a:endParaRPr kumimoji="0" lang="en-IN" sz="1800" b="1" i="1" u="none" strike="noStrike" kern="1200" cap="none" spc="0" normalizeH="0" baseline="0" noProof="0" dirty="0">
              <a:ln>
                <a:noFill/>
              </a:ln>
              <a:solidFill>
                <a:srgbClr val="1F497D">
                  <a:lumMod val="60000"/>
                  <a:lumOff val="40000"/>
                </a:srgbClr>
              </a:solidFill>
              <a:effectLst/>
              <a:uLnTx/>
              <a:uFillTx/>
              <a:latin typeface="Trebuchet MS" panose="020B0603020202020204"/>
              <a:ea typeface="+mn-ea"/>
              <a:cs typeface="+mn-cs"/>
            </a:endParaRPr>
          </a:p>
        </p:txBody>
      </p:sp>
      <p:sp>
        <p:nvSpPr>
          <p:cNvPr id="7" name="TextBox 6">
            <a:extLst>
              <a:ext uri="{FF2B5EF4-FFF2-40B4-BE49-F238E27FC236}">
                <a16:creationId xmlns:a16="http://schemas.microsoft.com/office/drawing/2014/main" id="{491288CC-B510-4C0C-B564-2E3C60246F6C}"/>
              </a:ext>
            </a:extLst>
          </p:cNvPr>
          <p:cNvSpPr txBox="1"/>
          <p:nvPr/>
        </p:nvSpPr>
        <p:spPr>
          <a:xfrm>
            <a:off x="152400" y="91440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Adds the JSON configuration provider at path to builder.</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extBox 8">
            <a:extLst>
              <a:ext uri="{FF2B5EF4-FFF2-40B4-BE49-F238E27FC236}">
                <a16:creationId xmlns:a16="http://schemas.microsoft.com/office/drawing/2014/main" id="{894F518D-CD62-45CC-A66D-3E3FD5992D77}"/>
              </a:ext>
            </a:extLst>
          </p:cNvPr>
          <p:cNvSpPr txBox="1"/>
          <p:nvPr/>
        </p:nvSpPr>
        <p:spPr>
          <a:xfrm>
            <a:off x="186812" y="1371600"/>
            <a:ext cx="8728587"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public static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Microsoft.Extensions.Configuration.IConfigurationBuilder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AddJsonFile</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(this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Microsoft.Extensions.Configuration.IConfigurationBuilder</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builder</a:t>
            </a:r>
            <a:r>
              <a:rPr kumimoji="0" lang="en-IN" sz="1800" b="0" i="0" u="none" strike="noStrike" kern="1200" cap="none" spc="0" normalizeH="0" baseline="0" noProof="0" dirty="0">
                <a:ln>
                  <a:noFill/>
                </a:ln>
                <a:solidFill>
                  <a:srgbClr val="FF0000"/>
                </a:solidFill>
                <a:effectLst/>
                <a:uLnTx/>
                <a:uFillTx/>
                <a:latin typeface="Trebuchet MS" panose="020B0603020202020204"/>
                <a:ea typeface="+mn-ea"/>
                <a:cs typeface="+mn-cs"/>
              </a:rPr>
              <a:t>,</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string path</a:t>
            </a:r>
            <a:r>
              <a:rPr kumimoji="0" lang="en-IN" sz="1800" b="0" i="0" u="none" strike="noStrike" kern="1200" cap="none" spc="0" normalizeH="0" baseline="0" noProof="0" dirty="0">
                <a:ln>
                  <a:noFill/>
                </a:ln>
                <a:solidFill>
                  <a:srgbClr val="FF0000"/>
                </a:solidFill>
                <a:effectLst/>
                <a:uLnTx/>
                <a:uFillTx/>
                <a:latin typeface="Trebuchet MS" panose="020B0603020202020204"/>
                <a:ea typeface="+mn-ea"/>
                <a:cs typeface="+mn-cs"/>
              </a:rPr>
              <a:t>,</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bool optional</a:t>
            </a:r>
            <a:r>
              <a:rPr kumimoji="0" lang="en-IN" sz="1800" b="0" i="0" u="none" strike="noStrike" kern="1200" cap="none" spc="0" normalizeH="0" baseline="0" noProof="0" dirty="0">
                <a:ln>
                  <a:noFill/>
                </a:ln>
                <a:solidFill>
                  <a:srgbClr val="FF0000"/>
                </a:solidFill>
                <a:effectLst/>
                <a:uLnTx/>
                <a:uFillTx/>
                <a:latin typeface="Trebuchet MS" panose="020B0603020202020204"/>
                <a:ea typeface="+mn-ea"/>
                <a:cs typeface="+mn-cs"/>
              </a:rPr>
              <a:t>,</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 bool </a:t>
            </a:r>
            <a:r>
              <a:rPr kumimoji="0" lang="en-IN" sz="1800" b="0" i="0" u="none" strike="noStrike" kern="1200" cap="none" spc="0" normalizeH="0" baseline="0" noProof="0" dirty="0" err="1">
                <a:ln>
                  <a:noFill/>
                </a:ln>
                <a:solidFill>
                  <a:prstClr val="black"/>
                </a:solidFill>
                <a:effectLst/>
                <a:uLnTx/>
                <a:uFillTx/>
                <a:latin typeface="Trebuchet MS" panose="020B0603020202020204"/>
                <a:ea typeface="+mn-ea"/>
                <a:cs typeface="+mn-cs"/>
              </a:rPr>
              <a:t>reloadOnChange</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t>
            </a:r>
          </a:p>
        </p:txBody>
      </p:sp>
      <p:sp>
        <p:nvSpPr>
          <p:cNvPr id="11" name="TextBox 10">
            <a:extLst>
              <a:ext uri="{FF2B5EF4-FFF2-40B4-BE49-F238E27FC236}">
                <a16:creationId xmlns:a16="http://schemas.microsoft.com/office/drawing/2014/main" id="{0C494BBF-F0BD-4A33-9905-FA18F148A43C}"/>
              </a:ext>
            </a:extLst>
          </p:cNvPr>
          <p:cNvSpPr txBox="1"/>
          <p:nvPr/>
        </p:nvSpPr>
        <p:spPr>
          <a:xfrm>
            <a:off x="228600" y="2294930"/>
            <a:ext cx="8153399"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Parameters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builder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IConfigurationBuilder</a:t>
            </a:r>
            <a:endPar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IConfigurationBuilder</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to add 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Path  </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String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Path relative to the base path stored in Properties of builder.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Optional  </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Boolean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Whether the file is optional.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rebuchet MS" panose="020B0603020202020204"/>
                <a:ea typeface="+mn-ea"/>
                <a:cs typeface="+mn-cs"/>
              </a:rPr>
              <a:t>reloadOnChange</a:t>
            </a: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Boolean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Whether the configuration should be reloaded if the file changes.</a:t>
            </a: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436987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382D3-C508-4508-8BF5-86B3583AC3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BE0DDA-A4AE-441B-8B96-A5A70AFBE21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9404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B94E0-05E9-46E4-B3D5-DEA067B45BF5}"/>
              </a:ext>
            </a:extLst>
          </p:cNvPr>
          <p:cNvSpPr>
            <a:spLocks noGrp="1"/>
          </p:cNvSpPr>
          <p:nvPr>
            <p:ph type="title"/>
          </p:nvPr>
        </p:nvSpPr>
        <p:spPr>
          <a:xfrm>
            <a:off x="990600" y="0"/>
            <a:ext cx="7848600" cy="685800"/>
          </a:xfrm>
        </p:spPr>
        <p:txBody>
          <a:bodyPr>
            <a:normAutofit fontScale="90000"/>
          </a:bodyPr>
          <a:lstStyle/>
          <a:p>
            <a:r>
              <a:rPr lang="en-IN" dirty="0"/>
              <a:t>If you are working with </a:t>
            </a:r>
            <a:r>
              <a:rPr lang="en-IN" dirty="0" err="1"/>
              <a:t>.Net</a:t>
            </a:r>
            <a:r>
              <a:rPr lang="en-IN" dirty="0"/>
              <a:t> core then</a:t>
            </a:r>
          </a:p>
        </p:txBody>
      </p:sp>
      <p:sp>
        <p:nvSpPr>
          <p:cNvPr id="3" name="Content Placeholder 2">
            <a:extLst>
              <a:ext uri="{FF2B5EF4-FFF2-40B4-BE49-F238E27FC236}">
                <a16:creationId xmlns:a16="http://schemas.microsoft.com/office/drawing/2014/main" id="{5307B797-29BA-4FA0-9B2A-B08F026B2364}"/>
              </a:ext>
            </a:extLst>
          </p:cNvPr>
          <p:cNvSpPr>
            <a:spLocks noGrp="1"/>
          </p:cNvSpPr>
          <p:nvPr>
            <p:ph idx="1"/>
          </p:nvPr>
        </p:nvSpPr>
        <p:spPr>
          <a:xfrm>
            <a:off x="152400" y="838200"/>
            <a:ext cx="8382000" cy="685800"/>
          </a:xfrm>
        </p:spPr>
        <p:txBody>
          <a:bodyPr>
            <a:normAutofit/>
          </a:bodyPr>
          <a:lstStyle/>
          <a:p>
            <a:r>
              <a:rPr lang="en-US" sz="1800" b="0" i="0" dirty="0">
                <a:solidFill>
                  <a:srgbClr val="212121"/>
                </a:solidFill>
                <a:effectLst/>
                <a:latin typeface="open sans" panose="020B0606030504020204" pitchFamily="34" charset="0"/>
              </a:rPr>
              <a:t>This step is very important. We need copy </a:t>
            </a:r>
            <a:r>
              <a:rPr lang="en-US" sz="1800" b="0" i="0" dirty="0" err="1">
                <a:solidFill>
                  <a:srgbClr val="212121"/>
                </a:solidFill>
                <a:effectLst/>
                <a:latin typeface="open sans" panose="020B0606030504020204" pitchFamily="34" charset="0"/>
              </a:rPr>
              <a:t>appsetings.json</a:t>
            </a:r>
            <a:r>
              <a:rPr lang="en-US" sz="1800" b="0" i="0" dirty="0">
                <a:solidFill>
                  <a:srgbClr val="212121"/>
                </a:solidFill>
                <a:effectLst/>
                <a:latin typeface="open sans" panose="020B0606030504020204" pitchFamily="34" charset="0"/>
              </a:rPr>
              <a:t> to Directory where the application will run.</a:t>
            </a:r>
            <a:endParaRPr lang="en-IN" sz="1800" dirty="0"/>
          </a:p>
        </p:txBody>
      </p:sp>
      <p:pic>
        <p:nvPicPr>
          <p:cNvPr id="4" name="Picture 3">
            <a:extLst>
              <a:ext uri="{FF2B5EF4-FFF2-40B4-BE49-F238E27FC236}">
                <a16:creationId xmlns:a16="http://schemas.microsoft.com/office/drawing/2014/main" id="{D8B3A2D7-24EF-41D1-9040-F9C22EF95630}"/>
              </a:ext>
            </a:extLst>
          </p:cNvPr>
          <p:cNvPicPr>
            <a:picLocks noChangeAspect="1"/>
          </p:cNvPicPr>
          <p:nvPr/>
        </p:nvPicPr>
        <p:blipFill>
          <a:blip r:embed="rId2"/>
          <a:stretch>
            <a:fillRect/>
          </a:stretch>
        </p:blipFill>
        <p:spPr>
          <a:xfrm>
            <a:off x="152400" y="1828800"/>
            <a:ext cx="4505325" cy="4705350"/>
          </a:xfrm>
          <a:prstGeom prst="rect">
            <a:avLst/>
          </a:prstGeom>
        </p:spPr>
      </p:pic>
      <p:sp>
        <p:nvSpPr>
          <p:cNvPr id="6" name="TextBox 5">
            <a:extLst>
              <a:ext uri="{FF2B5EF4-FFF2-40B4-BE49-F238E27FC236}">
                <a16:creationId xmlns:a16="http://schemas.microsoft.com/office/drawing/2014/main" id="{C2C71E96-1972-4DA2-96C3-F53CA40403A6}"/>
              </a:ext>
            </a:extLst>
          </p:cNvPr>
          <p:cNvSpPr txBox="1"/>
          <p:nvPr/>
        </p:nvSpPr>
        <p:spPr>
          <a:xfrm>
            <a:off x="5029200" y="1828800"/>
            <a:ext cx="3810000" cy="3416320"/>
          </a:xfrm>
          <a:prstGeom prst="rect">
            <a:avLst/>
          </a:prstGeom>
          <a:noFill/>
        </p:spPr>
        <p:txBody>
          <a:bodyPr wrap="square">
            <a:spAutoFit/>
          </a:bodyPr>
          <a:lstStyle/>
          <a:p>
            <a:r>
              <a:rPr lang="en-US" dirty="0"/>
              <a:t>Step 5</a:t>
            </a:r>
          </a:p>
          <a:p>
            <a:endParaRPr lang="en-US" dirty="0"/>
          </a:p>
          <a:p>
            <a:r>
              <a:rPr lang="en-US" dirty="0"/>
              <a:t>Now, we will create 2 Folders ( “</a:t>
            </a:r>
            <a:r>
              <a:rPr lang="en-US" dirty="0">
                <a:highlight>
                  <a:srgbClr val="FFFF00"/>
                </a:highlight>
              </a:rPr>
              <a:t>MODELS”</a:t>
            </a:r>
            <a:r>
              <a:rPr lang="en-US" dirty="0"/>
              <a:t>“ and DAL”). After that, we will create a class named “</a:t>
            </a:r>
            <a:r>
              <a:rPr lang="en-US" dirty="0" err="1"/>
              <a:t>ProductModel</a:t>
            </a:r>
            <a:r>
              <a:rPr lang="en-US" dirty="0"/>
              <a:t> “ within Model folder and a class named “</a:t>
            </a:r>
            <a:r>
              <a:rPr lang="en-US" dirty="0" err="1"/>
              <a:t>ProductDAL</a:t>
            </a:r>
            <a:r>
              <a:rPr lang="en-US" dirty="0"/>
              <a:t>” within DAL folder.</a:t>
            </a:r>
          </a:p>
          <a:p>
            <a:endParaRPr lang="en-US" dirty="0"/>
          </a:p>
          <a:p>
            <a:r>
              <a:rPr lang="en-US" dirty="0" err="1"/>
              <a:t>ProductModel.cs</a:t>
            </a:r>
            <a:r>
              <a:rPr lang="en-US" dirty="0"/>
              <a:t> represents our data model and </a:t>
            </a:r>
            <a:r>
              <a:rPr lang="en-US" dirty="0" err="1"/>
              <a:t>ProductDAL.cs</a:t>
            </a:r>
            <a:r>
              <a:rPr lang="en-US" dirty="0"/>
              <a:t> </a:t>
            </a:r>
            <a:r>
              <a:rPr lang="en-US" dirty="0" err="1"/>
              <a:t>representes</a:t>
            </a:r>
            <a:r>
              <a:rPr lang="en-US" dirty="0"/>
              <a:t> our data access layer.</a:t>
            </a:r>
            <a:endParaRPr lang="en-IN" dirty="0"/>
          </a:p>
        </p:txBody>
      </p:sp>
      <p:sp>
        <p:nvSpPr>
          <p:cNvPr id="5" name="TextBox 4">
            <a:extLst>
              <a:ext uri="{FF2B5EF4-FFF2-40B4-BE49-F238E27FC236}">
                <a16:creationId xmlns:a16="http://schemas.microsoft.com/office/drawing/2014/main" id="{061C72BE-7320-821E-E61E-17592D884805}"/>
              </a:ext>
            </a:extLst>
          </p:cNvPr>
          <p:cNvSpPr txBox="1"/>
          <p:nvPr/>
        </p:nvSpPr>
        <p:spPr>
          <a:xfrm>
            <a:off x="5029200" y="5486400"/>
            <a:ext cx="3276600" cy="646331"/>
          </a:xfrm>
          <a:prstGeom prst="rect">
            <a:avLst/>
          </a:prstGeom>
          <a:noFill/>
        </p:spPr>
        <p:txBody>
          <a:bodyPr wrap="square" rtlCol="0">
            <a:spAutoFit/>
          </a:bodyPr>
          <a:lstStyle/>
          <a:p>
            <a:r>
              <a:rPr lang="en-US" dirty="0" err="1"/>
              <a:t>TableName</a:t>
            </a:r>
            <a:r>
              <a:rPr lang="en-US" dirty="0"/>
              <a:t>==</a:t>
            </a:r>
            <a:r>
              <a:rPr lang="en-US" dirty="0" err="1"/>
              <a:t>Classname</a:t>
            </a:r>
            <a:endParaRPr lang="en-US" dirty="0"/>
          </a:p>
          <a:p>
            <a:r>
              <a:rPr lang="en-US" dirty="0" err="1"/>
              <a:t>Columnname</a:t>
            </a:r>
            <a:r>
              <a:rPr lang="en-US" dirty="0"/>
              <a:t>==class Property</a:t>
            </a:r>
            <a:endParaRPr lang="en-IN" dirty="0"/>
          </a:p>
        </p:txBody>
      </p:sp>
    </p:spTree>
    <p:extLst>
      <p:ext uri="{BB962C8B-B14F-4D97-AF65-F5344CB8AC3E}">
        <p14:creationId xmlns:p14="http://schemas.microsoft.com/office/powerpoint/2010/main" val="2185593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ADA71-3BA3-41E1-AB2C-598E2317D0C7}"/>
              </a:ext>
            </a:extLst>
          </p:cNvPr>
          <p:cNvSpPr>
            <a:spLocks noGrp="1"/>
          </p:cNvSpPr>
          <p:nvPr>
            <p:ph type="title"/>
          </p:nvPr>
        </p:nvSpPr>
        <p:spPr>
          <a:xfrm>
            <a:off x="457200" y="274638"/>
            <a:ext cx="8229600" cy="715962"/>
          </a:xfrm>
        </p:spPr>
        <p:txBody>
          <a:bodyPr>
            <a:noAutofit/>
          </a:bodyPr>
          <a:lstStyle/>
          <a:p>
            <a:r>
              <a:rPr lang="en-US" sz="2400" dirty="0"/>
              <a:t>SSPI stands for Security Support Provider Interface.</a:t>
            </a:r>
            <a:br>
              <a:rPr lang="en-US" sz="2400" dirty="0"/>
            </a:br>
            <a:br>
              <a:rPr lang="en-US" sz="2400" dirty="0"/>
            </a:br>
            <a:endParaRPr lang="en-IN" sz="2400" dirty="0"/>
          </a:p>
        </p:txBody>
      </p:sp>
      <p:sp>
        <p:nvSpPr>
          <p:cNvPr id="3" name="Content Placeholder 2">
            <a:extLst>
              <a:ext uri="{FF2B5EF4-FFF2-40B4-BE49-F238E27FC236}">
                <a16:creationId xmlns:a16="http://schemas.microsoft.com/office/drawing/2014/main" id="{EED80AF6-35CB-4677-A68B-11CCC95C97A9}"/>
              </a:ext>
            </a:extLst>
          </p:cNvPr>
          <p:cNvSpPr>
            <a:spLocks noGrp="1"/>
          </p:cNvSpPr>
          <p:nvPr>
            <p:ph idx="1"/>
          </p:nvPr>
        </p:nvSpPr>
        <p:spPr>
          <a:xfrm>
            <a:off x="304800" y="1166018"/>
            <a:ext cx="8229600" cy="4525963"/>
          </a:xfrm>
        </p:spPr>
        <p:txBody>
          <a:bodyPr>
            <a:normAutofit fontScale="85000" lnSpcReduction="20000"/>
          </a:bodyPr>
          <a:lstStyle/>
          <a:p>
            <a:r>
              <a:rPr lang="en-US" dirty="0">
                <a:latin typeface="+mj-lt"/>
              </a:rPr>
              <a:t>The SSPI allows an application to use any of the available security packages on a system without changing the interface to use security services. The SSPI does not establish logon credentials because that is generally a privileged operation handled by the operating system.</a:t>
            </a:r>
          </a:p>
          <a:p>
            <a:endParaRPr lang="en-US" dirty="0">
              <a:latin typeface="+mj-lt"/>
            </a:endParaRPr>
          </a:p>
          <a:p>
            <a:endParaRPr lang="en-US" dirty="0">
              <a:latin typeface="+mj-lt"/>
            </a:endParaRPr>
          </a:p>
          <a:p>
            <a:r>
              <a:rPr lang="en-US" dirty="0">
                <a:latin typeface="+mj-lt"/>
              </a:rPr>
              <a:t>Other than SSPI you can also use "true". Integrated Security actually ensures that you are connecting with SQL Server using Windows Authentication, not SQL Authentication; which requires username and password to be provided with the connecting string.</a:t>
            </a:r>
            <a:endParaRPr lang="en-IN" dirty="0">
              <a:latin typeface="+mj-lt"/>
            </a:endParaRPr>
          </a:p>
        </p:txBody>
      </p:sp>
    </p:spTree>
    <p:extLst>
      <p:ext uri="{BB962C8B-B14F-4D97-AF65-F5344CB8AC3E}">
        <p14:creationId xmlns:p14="http://schemas.microsoft.com/office/powerpoint/2010/main" val="4086887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B86F3-9D39-4132-8047-FC8A217AC859}"/>
              </a:ext>
            </a:extLst>
          </p:cNvPr>
          <p:cNvSpPr>
            <a:spLocks noGrp="1"/>
          </p:cNvSpPr>
          <p:nvPr>
            <p:ph type="title"/>
          </p:nvPr>
        </p:nvSpPr>
        <p:spPr>
          <a:xfrm>
            <a:off x="228600" y="731837"/>
            <a:ext cx="8763000" cy="868362"/>
          </a:xfrm>
        </p:spPr>
        <p:txBody>
          <a:bodyPr>
            <a:normAutofit fontScale="90000"/>
          </a:bodyPr>
          <a:lstStyle/>
          <a:p>
            <a:r>
              <a:rPr lang="en-IN" dirty="0" err="1"/>
              <a:t>Intialised</a:t>
            </a:r>
            <a:r>
              <a:rPr lang="en-IN" dirty="0"/>
              <a:t> using construct or through set property</a:t>
            </a:r>
          </a:p>
        </p:txBody>
      </p:sp>
      <p:sp>
        <p:nvSpPr>
          <p:cNvPr id="3" name="Content Placeholder 2">
            <a:extLst>
              <a:ext uri="{FF2B5EF4-FFF2-40B4-BE49-F238E27FC236}">
                <a16:creationId xmlns:a16="http://schemas.microsoft.com/office/drawing/2014/main" id="{F38C45AD-7592-4847-BC6F-6645EC09E9F8}"/>
              </a:ext>
            </a:extLst>
          </p:cNvPr>
          <p:cNvSpPr>
            <a:spLocks noGrp="1"/>
          </p:cNvSpPr>
          <p:nvPr>
            <p:ph idx="1"/>
          </p:nvPr>
        </p:nvSpPr>
        <p:spPr/>
        <p:txBody>
          <a:bodyPr/>
          <a:lstStyle/>
          <a:p>
            <a:pPr marL="0" indent="0">
              <a:buNone/>
            </a:pPr>
            <a:endParaRPr lang="en-US" sz="1800" dirty="0">
              <a:solidFill>
                <a:srgbClr val="2B91AF"/>
              </a:solidFill>
              <a:highlight>
                <a:srgbClr val="FFFFFF"/>
              </a:highlight>
              <a:latin typeface="Consolas" panose="020B0609020204030204" pitchFamily="49" charset="0"/>
            </a:endParaRPr>
          </a:p>
          <a:p>
            <a:pPr marL="0" indent="0">
              <a:buNone/>
            </a:pPr>
            <a:r>
              <a:rPr lang="en-US" sz="1800" dirty="0" err="1">
                <a:solidFill>
                  <a:srgbClr val="2B91AF"/>
                </a:solidFill>
                <a:highlight>
                  <a:srgbClr val="FFFFFF"/>
                </a:highlight>
                <a:latin typeface="Consolas" panose="020B0609020204030204" pitchFamily="49" charset="0"/>
              </a:rPr>
              <a:t>SqlConnection</a:t>
            </a:r>
            <a:r>
              <a:rPr lang="en-US" sz="1800" dirty="0">
                <a:solidFill>
                  <a:srgbClr val="000000"/>
                </a:solidFill>
                <a:highlight>
                  <a:srgbClr val="FFFFFF"/>
                </a:highlight>
                <a:latin typeface="Consolas" panose="020B0609020204030204" pitchFamily="49" charset="0"/>
              </a:rPr>
              <a:t> con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SqlConnection</a:t>
            </a:r>
            <a:r>
              <a:rPr lang="en-US" sz="1800" dirty="0">
                <a:solidFill>
                  <a:srgbClr val="000000"/>
                </a:solidFill>
                <a:highlight>
                  <a:srgbClr val="FFFFFF"/>
                </a:highlight>
                <a:latin typeface="Consolas" panose="020B0609020204030204" pitchFamily="49" charset="0"/>
              </a:rPr>
              <a:t>(</a:t>
            </a:r>
            <a:r>
              <a:rPr lang="en-IN" sz="1800" dirty="0">
                <a:solidFill>
                  <a:srgbClr val="000000"/>
                </a:solidFill>
                <a:latin typeface="Consolas" panose="020B0609020204030204" pitchFamily="49" charset="0"/>
              </a:rPr>
              <a:t>_</a:t>
            </a:r>
            <a:r>
              <a:rPr lang="en-IN" sz="1800" dirty="0" err="1">
                <a:solidFill>
                  <a:srgbClr val="000000"/>
                </a:solidFill>
                <a:latin typeface="Consolas" panose="020B0609020204030204" pitchFamily="49" charset="0"/>
              </a:rPr>
              <a:t>connectionString</a:t>
            </a:r>
            <a:r>
              <a:rPr lang="en-IN" sz="1800" dirty="0">
                <a:solidFill>
                  <a:srgbClr val="000000"/>
                </a:solidFill>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endParaRPr lang="en-US" sz="1800" dirty="0">
              <a:solidFill>
                <a:srgbClr val="2B91AF"/>
              </a:solidFill>
              <a:highlight>
                <a:srgbClr val="FFFFFF"/>
              </a:highlight>
              <a:latin typeface="Consolas" panose="020B0609020204030204" pitchFamily="49" charset="0"/>
            </a:endParaRPr>
          </a:p>
          <a:p>
            <a:pPr marL="0" indent="0">
              <a:buNone/>
            </a:pPr>
            <a:endParaRPr lang="en-US" sz="1800" dirty="0">
              <a:solidFill>
                <a:srgbClr val="2B91AF"/>
              </a:solidFill>
              <a:highlight>
                <a:srgbClr val="FFFFFF"/>
              </a:highlight>
              <a:latin typeface="Consolas" panose="020B0609020204030204" pitchFamily="49" charset="0"/>
            </a:endParaRPr>
          </a:p>
          <a:p>
            <a:pPr marL="0" indent="0">
              <a:buNone/>
            </a:pPr>
            <a:endParaRPr lang="en-US" sz="1800" dirty="0">
              <a:solidFill>
                <a:srgbClr val="2B91AF"/>
              </a:solidFill>
              <a:highlight>
                <a:srgbClr val="FFFFFF"/>
              </a:highlight>
              <a:latin typeface="Consolas" panose="020B0609020204030204" pitchFamily="49" charset="0"/>
            </a:endParaRPr>
          </a:p>
          <a:p>
            <a:pPr marL="0" indent="0">
              <a:buNone/>
            </a:pPr>
            <a:endParaRPr lang="en-US" sz="1800" dirty="0">
              <a:solidFill>
                <a:srgbClr val="2B91AF"/>
              </a:solidFill>
              <a:highlight>
                <a:srgbClr val="FFFFFF"/>
              </a:highlight>
              <a:latin typeface="Consolas" panose="020B0609020204030204" pitchFamily="49" charset="0"/>
            </a:endParaRPr>
          </a:p>
          <a:p>
            <a:pPr marL="0" indent="0">
              <a:buNone/>
            </a:pPr>
            <a:endParaRPr lang="en-IN" sz="1800" dirty="0">
              <a:solidFill>
                <a:srgbClr val="2B91AF"/>
              </a:solidFill>
              <a:highlight>
                <a:srgbClr val="FFFFFF"/>
              </a:highlight>
              <a:latin typeface="Consolas" panose="020B0609020204030204" pitchFamily="49" charset="0"/>
            </a:endParaRPr>
          </a:p>
          <a:p>
            <a:pPr marL="0" indent="0">
              <a:buNone/>
            </a:pPr>
            <a:endParaRPr lang="en-IN" sz="1800" dirty="0">
              <a:solidFill>
                <a:srgbClr val="2B91AF"/>
              </a:solidFill>
              <a:highlight>
                <a:srgbClr val="FFFFFF"/>
              </a:highlight>
              <a:latin typeface="Consolas" panose="020B0609020204030204" pitchFamily="49" charset="0"/>
            </a:endParaRPr>
          </a:p>
          <a:p>
            <a:pPr marL="0" indent="0">
              <a:buNone/>
            </a:pPr>
            <a:r>
              <a:rPr lang="en-IN" sz="1800" dirty="0" err="1">
                <a:solidFill>
                  <a:srgbClr val="2B91AF"/>
                </a:solidFill>
                <a:highlight>
                  <a:srgbClr val="FFFFFF"/>
                </a:highlight>
                <a:latin typeface="Consolas" panose="020B0609020204030204" pitchFamily="49" charset="0"/>
              </a:rPr>
              <a:t>SqlConnection</a:t>
            </a:r>
            <a:r>
              <a:rPr lang="en-IN" sz="1800" dirty="0">
                <a:solidFill>
                  <a:srgbClr val="000000"/>
                </a:solidFill>
                <a:highlight>
                  <a:srgbClr val="FFFFFF"/>
                </a:highlight>
                <a:latin typeface="Consolas" panose="020B0609020204030204" pitchFamily="49" charset="0"/>
              </a:rPr>
              <a:t> connection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SqlConnection</a:t>
            </a:r>
            <a:r>
              <a:rPr lang="en-IN" sz="1800" dirty="0">
                <a:solidFill>
                  <a:srgbClr val="000000"/>
                </a:solidFill>
                <a:highlight>
                  <a:srgbClr val="FFFFFF"/>
                </a:highlight>
                <a:latin typeface="Consolas" panose="020B0609020204030204" pitchFamily="49" charset="0"/>
              </a:rPr>
              <a:t>();</a:t>
            </a:r>
          </a:p>
          <a:p>
            <a:pPr marL="0" indent="0">
              <a:buNone/>
            </a:pPr>
            <a:r>
              <a:rPr lang="en-IN" sz="1800" dirty="0" err="1">
                <a:solidFill>
                  <a:srgbClr val="000000"/>
                </a:solidFill>
                <a:highlight>
                  <a:srgbClr val="FFFFFF"/>
                </a:highlight>
                <a:latin typeface="Consolas" panose="020B0609020204030204" pitchFamily="49" charset="0"/>
              </a:rPr>
              <a:t>connection.ConnectionString</a:t>
            </a:r>
            <a:r>
              <a:rPr lang="en-IN" sz="1800" dirty="0">
                <a:solidFill>
                  <a:srgbClr val="000000"/>
                </a:solidFill>
                <a:highlight>
                  <a:srgbClr val="FFFFFF"/>
                </a:highlight>
                <a:latin typeface="Consolas" panose="020B0609020204030204" pitchFamily="49" charset="0"/>
              </a:rPr>
              <a:t> = </a:t>
            </a:r>
            <a:r>
              <a:rPr lang="en-IN" sz="1800" dirty="0">
                <a:solidFill>
                  <a:srgbClr val="000000"/>
                </a:solidFill>
                <a:latin typeface="Consolas" panose="020B0609020204030204" pitchFamily="49" charset="0"/>
              </a:rPr>
              <a:t> _</a:t>
            </a:r>
            <a:r>
              <a:rPr lang="en-IN" sz="1800" dirty="0" err="1">
                <a:solidFill>
                  <a:srgbClr val="000000"/>
                </a:solidFill>
                <a:latin typeface="Consolas" panose="020B0609020204030204" pitchFamily="49" charset="0"/>
              </a:rPr>
              <a:t>connectionString</a:t>
            </a:r>
            <a:r>
              <a:rPr lang="en-IN" sz="1800" dirty="0">
                <a:solidFill>
                  <a:srgbClr val="000000"/>
                </a:solidFill>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In above line we are using setter property to set connection string.</a:t>
            </a:r>
            <a:endParaRPr lang="en-IN" dirty="0"/>
          </a:p>
        </p:txBody>
      </p:sp>
      <p:cxnSp>
        <p:nvCxnSpPr>
          <p:cNvPr id="5" name="Straight Connector 4">
            <a:extLst>
              <a:ext uri="{FF2B5EF4-FFF2-40B4-BE49-F238E27FC236}">
                <a16:creationId xmlns:a16="http://schemas.microsoft.com/office/drawing/2014/main" id="{292C93CF-1AE2-4417-8271-CDFB27C562F2}"/>
              </a:ext>
            </a:extLst>
          </p:cNvPr>
          <p:cNvCxnSpPr/>
          <p:nvPr/>
        </p:nvCxnSpPr>
        <p:spPr>
          <a:xfrm>
            <a:off x="457200" y="3352800"/>
            <a:ext cx="82296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213074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93201-670D-46DD-8305-B11114EAA115}"/>
              </a:ext>
            </a:extLst>
          </p:cNvPr>
          <p:cNvSpPr>
            <a:spLocks noGrp="1"/>
          </p:cNvSpPr>
          <p:nvPr>
            <p:ph type="title"/>
          </p:nvPr>
        </p:nvSpPr>
        <p:spPr>
          <a:xfrm>
            <a:off x="924046" y="160337"/>
            <a:ext cx="8229600" cy="1143000"/>
          </a:xfrm>
        </p:spPr>
        <p:txBody>
          <a:bodyPr>
            <a:normAutofit fontScale="90000"/>
          </a:bodyPr>
          <a:lstStyle/>
          <a:p>
            <a:r>
              <a:rPr lang="en-IN" dirty="0" err="1"/>
              <a:t>Intialised</a:t>
            </a:r>
            <a:r>
              <a:rPr lang="en-IN" dirty="0"/>
              <a:t> using constructor through set property</a:t>
            </a:r>
          </a:p>
        </p:txBody>
      </p:sp>
      <p:sp>
        <p:nvSpPr>
          <p:cNvPr id="3" name="Content Placeholder 2">
            <a:extLst>
              <a:ext uri="{FF2B5EF4-FFF2-40B4-BE49-F238E27FC236}">
                <a16:creationId xmlns:a16="http://schemas.microsoft.com/office/drawing/2014/main" id="{60695230-2367-4F05-B1F7-B2BB4ADC6F98}"/>
              </a:ext>
            </a:extLst>
          </p:cNvPr>
          <p:cNvSpPr>
            <a:spLocks noGrp="1"/>
          </p:cNvSpPr>
          <p:nvPr>
            <p:ph idx="1"/>
          </p:nvPr>
        </p:nvSpPr>
        <p:spPr/>
        <p:txBody>
          <a:bodyPr/>
          <a:lstStyle/>
          <a:p>
            <a:pPr marL="0" indent="0">
              <a:buNone/>
            </a:pPr>
            <a:r>
              <a:rPr lang="en-US" sz="1800" dirty="0" err="1">
                <a:solidFill>
                  <a:srgbClr val="2B91AF"/>
                </a:solidFill>
                <a:highlight>
                  <a:srgbClr val="FFFFFF"/>
                </a:highlight>
                <a:latin typeface="Consolas" panose="020B0609020204030204" pitchFamily="49" charset="0"/>
              </a:rPr>
              <a:t>SqlCommand</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cmd</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SqlCommand</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"Select * from Product"</a:t>
            </a:r>
            <a:r>
              <a:rPr lang="en-US" sz="1800" dirty="0">
                <a:solidFill>
                  <a:srgbClr val="000000"/>
                </a:solidFill>
                <a:highlight>
                  <a:srgbClr val="FFFFFF"/>
                </a:highlight>
                <a:latin typeface="Consolas" panose="020B0609020204030204" pitchFamily="49" charset="0"/>
              </a:rPr>
              <a:t>, con);</a:t>
            </a: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r>
              <a:rPr lang="en-IN" sz="1800" dirty="0" err="1">
                <a:solidFill>
                  <a:srgbClr val="2B91AF"/>
                </a:solidFill>
                <a:highlight>
                  <a:srgbClr val="FFFFFF"/>
                </a:highlight>
                <a:latin typeface="Consolas" panose="020B0609020204030204" pitchFamily="49" charset="0"/>
              </a:rPr>
              <a:t>SqlCommand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cmd</a:t>
            </a: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SqlComand</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cmd.CommandText</a:t>
            </a:r>
            <a:r>
              <a:rPr lang="en-US" sz="1800" dirty="0">
                <a:solidFill>
                  <a:srgbClr val="000000"/>
                </a:solidFill>
                <a:highlight>
                  <a:srgbClr val="FFFFFF"/>
                </a:highlight>
                <a:latin typeface="Consolas" panose="020B0609020204030204" pitchFamily="49" charset="0"/>
              </a:rPr>
              <a:t> = </a:t>
            </a:r>
            <a:r>
              <a:rPr lang="en-US" sz="1800" dirty="0">
                <a:solidFill>
                  <a:srgbClr val="A31515"/>
                </a:solidFill>
                <a:highlight>
                  <a:srgbClr val="FFFFFF"/>
                </a:highlight>
                <a:latin typeface="Consolas" panose="020B0609020204030204" pitchFamily="49" charset="0"/>
              </a:rPr>
              <a:t>"select * from </a:t>
            </a:r>
            <a:r>
              <a:rPr lang="en-US" sz="1800" dirty="0" err="1">
                <a:solidFill>
                  <a:srgbClr val="A31515"/>
                </a:solidFill>
                <a:highlight>
                  <a:srgbClr val="FFFFFF"/>
                </a:highlight>
                <a:latin typeface="Consolas" panose="020B0609020204030204" pitchFamily="49" charset="0"/>
              </a:rPr>
              <a:t>tblproduct</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cmd.CommandType</a:t>
            </a:r>
            <a:r>
              <a:rPr lang="en-IN" sz="1800" dirty="0">
                <a:solidFill>
                  <a:srgbClr val="000000"/>
                </a:solidFill>
                <a:latin typeface="Cascadia Mono" panose="020B0609020000020004" pitchFamily="49" charset="0"/>
              </a:rPr>
              <a:t> = </a:t>
            </a:r>
            <a:r>
              <a:rPr lang="en-IN" sz="1800" dirty="0" err="1">
                <a:solidFill>
                  <a:srgbClr val="000000"/>
                </a:solidFill>
                <a:latin typeface="Cascadia Mono" panose="020B0609020000020004" pitchFamily="49" charset="0"/>
              </a:rPr>
              <a:t>CommandType.StoredProcedure</a:t>
            </a:r>
            <a:r>
              <a:rPr lang="en-IN" sz="1800" dirty="0">
                <a:solidFill>
                  <a:srgbClr val="000000"/>
                </a:solidFill>
                <a:latin typeface="Cascadia Mono" panose="020B0609020000020004" pitchFamily="49" charset="0"/>
              </a:rPr>
              <a: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cmd.Connection</a:t>
            </a:r>
            <a:r>
              <a:rPr lang="en-IN" sz="1800" dirty="0">
                <a:solidFill>
                  <a:srgbClr val="000000"/>
                </a:solidFill>
                <a:highlight>
                  <a:srgbClr val="FFFFFF"/>
                </a:highlight>
                <a:latin typeface="Consolas" panose="020B0609020204030204" pitchFamily="49" charset="0"/>
              </a:rPr>
              <a:t> = con;</a:t>
            </a:r>
            <a:endParaRPr lang="en-IN" dirty="0"/>
          </a:p>
        </p:txBody>
      </p:sp>
      <p:cxnSp>
        <p:nvCxnSpPr>
          <p:cNvPr id="4" name="Straight Connector 3">
            <a:extLst>
              <a:ext uri="{FF2B5EF4-FFF2-40B4-BE49-F238E27FC236}">
                <a16:creationId xmlns:a16="http://schemas.microsoft.com/office/drawing/2014/main" id="{B2F44EE5-0E1D-42B0-BAC1-95A9DC98FA5F}"/>
              </a:ext>
            </a:extLst>
          </p:cNvPr>
          <p:cNvCxnSpPr/>
          <p:nvPr/>
        </p:nvCxnSpPr>
        <p:spPr>
          <a:xfrm>
            <a:off x="457200" y="3048000"/>
            <a:ext cx="82296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32241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C4775-9144-451E-8AF1-EE7624D0242E}"/>
              </a:ext>
            </a:extLst>
          </p:cNvPr>
          <p:cNvSpPr>
            <a:spLocks noGrp="1"/>
          </p:cNvSpPr>
          <p:nvPr>
            <p:ph type="title"/>
          </p:nvPr>
        </p:nvSpPr>
        <p:spPr>
          <a:xfrm>
            <a:off x="1143964" y="92075"/>
            <a:ext cx="7771435" cy="639762"/>
          </a:xfrm>
        </p:spPr>
        <p:txBody>
          <a:bodyPr>
            <a:noAutofit/>
          </a:bodyPr>
          <a:lstStyle/>
          <a:p>
            <a:r>
              <a:rPr lang="en-US" sz="2000" b="1" dirty="0"/>
              <a:t>There are 2 issues with hard coding the connection strings in application code</a:t>
            </a:r>
            <a:br>
              <a:rPr lang="en-IN" sz="2000" b="1" dirty="0"/>
            </a:br>
            <a:endParaRPr lang="en-IN" sz="2000" b="1" dirty="0"/>
          </a:p>
        </p:txBody>
      </p:sp>
      <p:sp>
        <p:nvSpPr>
          <p:cNvPr id="3" name="Content Placeholder 2">
            <a:extLst>
              <a:ext uri="{FF2B5EF4-FFF2-40B4-BE49-F238E27FC236}">
                <a16:creationId xmlns:a16="http://schemas.microsoft.com/office/drawing/2014/main" id="{003C387A-8E1E-484D-A83B-8C90F1D41E36}"/>
              </a:ext>
            </a:extLst>
          </p:cNvPr>
          <p:cNvSpPr>
            <a:spLocks noGrp="1"/>
          </p:cNvSpPr>
          <p:nvPr>
            <p:ph idx="1"/>
          </p:nvPr>
        </p:nvSpPr>
        <p:spPr>
          <a:xfrm>
            <a:off x="152400" y="734731"/>
            <a:ext cx="8610600" cy="5513669"/>
          </a:xfrm>
        </p:spPr>
        <p:txBody>
          <a:bodyPr>
            <a:normAutofit fontScale="70000" lnSpcReduction="20000"/>
          </a:bodyPr>
          <a:lstStyle/>
          <a:p>
            <a:pPr marL="0" indent="0">
              <a:buNone/>
            </a:pPr>
            <a:endParaRPr lang="en-US" dirty="0">
              <a:latin typeface="+mj-lt"/>
            </a:endParaRPr>
          </a:p>
          <a:p>
            <a:pPr marL="0" indent="0">
              <a:buNone/>
            </a:pPr>
            <a:r>
              <a:rPr lang="en-US" dirty="0">
                <a:latin typeface="+mj-lt"/>
              </a:rPr>
              <a:t>1. For some reason, if we want to point our application to a different database server, we will have to change the application code. If you change application code, the application requires a re-build and a re-deployment which is a time waster.</a:t>
            </a:r>
          </a:p>
          <a:p>
            <a:pPr marL="0" indent="0">
              <a:buNone/>
            </a:pPr>
            <a:endParaRPr lang="en-US" dirty="0">
              <a:latin typeface="+mj-lt"/>
            </a:endParaRPr>
          </a:p>
          <a:p>
            <a:pPr marL="0" indent="0">
              <a:buNone/>
            </a:pPr>
            <a:r>
              <a:rPr lang="en-US" dirty="0">
                <a:latin typeface="+mj-lt"/>
              </a:rPr>
              <a:t>2. All the pages that has the connection string hard coded needs to change. This adds to the maintenance overhead and is also error prone.</a:t>
            </a:r>
          </a:p>
          <a:p>
            <a:pPr marL="0" indent="0">
              <a:buNone/>
            </a:pPr>
            <a:endParaRPr lang="en-US" dirty="0">
              <a:latin typeface="+mj-lt"/>
            </a:endParaRPr>
          </a:p>
          <a:p>
            <a:pPr marL="0" indent="0">
              <a:buNone/>
            </a:pPr>
            <a:r>
              <a:rPr lang="en-US" dirty="0">
                <a:latin typeface="+mj-lt"/>
              </a:rPr>
              <a:t>In real time, we may point our applications from time to time, from Development database to testing database .</a:t>
            </a:r>
          </a:p>
          <a:p>
            <a:pPr marL="0" indent="0">
              <a:buNone/>
            </a:pPr>
            <a:endParaRPr lang="en-US" dirty="0">
              <a:latin typeface="+mj-lt"/>
            </a:endParaRPr>
          </a:p>
          <a:p>
            <a:pPr marL="0" indent="0">
              <a:buNone/>
            </a:pPr>
            <a:r>
              <a:rPr lang="en-US" dirty="0">
                <a:latin typeface="+mj-lt"/>
              </a:rPr>
              <a:t>Because of these issues, the best practice is to store the connection in the configuration file, from which all the pages can read and use it. This way we have only one place to change, and we don't have to re-build and re-deploy our application. This saves a lot of time.</a:t>
            </a:r>
          </a:p>
          <a:p>
            <a:pPr marL="0" indent="0">
              <a:buNone/>
            </a:pPr>
            <a:endParaRPr lang="en-IN" dirty="0">
              <a:latin typeface="+mj-lt"/>
            </a:endParaRPr>
          </a:p>
        </p:txBody>
      </p:sp>
    </p:spTree>
    <p:extLst>
      <p:ext uri="{BB962C8B-B14F-4D97-AF65-F5344CB8AC3E}">
        <p14:creationId xmlns:p14="http://schemas.microsoft.com/office/powerpoint/2010/main" val="163938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1800" b="1" dirty="0"/>
              <a:t>&lt; provider &gt; Command classes provide the following execute methods:</a:t>
            </a:r>
            <a:br>
              <a:rPr lang="en-US" sz="1800" b="1" dirty="0"/>
            </a:br>
            <a:endParaRPr lang="en-US" sz="1800" b="1" dirty="0"/>
          </a:p>
        </p:txBody>
      </p:sp>
      <p:sp>
        <p:nvSpPr>
          <p:cNvPr id="3" name="Content Placeholder 2"/>
          <p:cNvSpPr>
            <a:spLocks noGrp="1"/>
          </p:cNvSpPr>
          <p:nvPr>
            <p:ph idx="1"/>
          </p:nvPr>
        </p:nvSpPr>
        <p:spPr>
          <a:xfrm>
            <a:off x="457200" y="762000"/>
            <a:ext cx="8229600" cy="4953000"/>
          </a:xfrm>
        </p:spPr>
        <p:txBody>
          <a:bodyPr>
            <a:normAutofit fontScale="55000" lnSpcReduction="20000"/>
          </a:bodyPr>
          <a:lstStyle/>
          <a:p>
            <a:r>
              <a:rPr lang="en-US" dirty="0" err="1"/>
              <a:t>ExecuteNonQuery</a:t>
            </a:r>
            <a:r>
              <a:rPr lang="en-US" dirty="0"/>
              <a:t>() — Executes the command but does not return any output returns the number of rows affected by the command as an </a:t>
            </a:r>
            <a:r>
              <a:rPr lang="en-US" dirty="0">
                <a:solidFill>
                  <a:srgbClr val="FF0000"/>
                </a:solidFill>
              </a:rPr>
              <a:t>int</a:t>
            </a:r>
            <a:r>
              <a:rPr lang="en-US" dirty="0"/>
              <a:t> </a:t>
            </a:r>
            <a:r>
              <a:rPr lang="en-US" dirty="0" err="1"/>
              <a:t>eg:insert,update,delete</a:t>
            </a:r>
            <a:endParaRPr lang="en-US" dirty="0"/>
          </a:p>
          <a:p>
            <a:endParaRPr lang="en-US" dirty="0"/>
          </a:p>
          <a:p>
            <a:r>
              <a:rPr lang="en-US" dirty="0" err="1"/>
              <a:t>ExecuteReader</a:t>
            </a:r>
            <a:r>
              <a:rPr lang="en-US" dirty="0"/>
              <a:t>() — Executes the command and returns a typed </a:t>
            </a:r>
            <a:r>
              <a:rPr lang="en-US" dirty="0" err="1">
                <a:solidFill>
                  <a:srgbClr val="FF0000"/>
                </a:solidFill>
              </a:rPr>
              <a:t>IDataReader</a:t>
            </a:r>
            <a:r>
              <a:rPr lang="en-US" dirty="0">
                <a:solidFill>
                  <a:srgbClr val="FF0000"/>
                </a:solidFill>
              </a:rPr>
              <a:t> </a:t>
            </a:r>
            <a:r>
              <a:rPr lang="en-US" dirty="0"/>
              <a:t>This method executes the command and returns a typed data reader object, depending on the provider in use</a:t>
            </a:r>
          </a:p>
          <a:p>
            <a:pPr>
              <a:buNone/>
            </a:pPr>
            <a:r>
              <a:rPr lang="en-US" dirty="0"/>
              <a:t>	 </a:t>
            </a:r>
            <a:r>
              <a:rPr lang="en-US" dirty="0" err="1"/>
              <a:t>eg:select</a:t>
            </a:r>
            <a:endParaRPr lang="en-US" dirty="0"/>
          </a:p>
          <a:p>
            <a:pPr>
              <a:buNone/>
            </a:pPr>
            <a:endParaRPr lang="en-US" dirty="0"/>
          </a:p>
          <a:p>
            <a:r>
              <a:rPr lang="en-US" dirty="0" err="1"/>
              <a:t>ExecuteScalar</a:t>
            </a:r>
            <a:r>
              <a:rPr lang="en-US" dirty="0"/>
              <a:t>() — Executes the command and returns a single value. return a single result from a SQL statement, such as the count of records in a given table, or the current date/time on the server </a:t>
            </a:r>
          </a:p>
          <a:p>
            <a:pPr>
              <a:buNone/>
            </a:pPr>
            <a:r>
              <a:rPr lang="en-US" dirty="0"/>
              <a:t>	</a:t>
            </a:r>
            <a:r>
              <a:rPr lang="en-US" dirty="0" err="1"/>
              <a:t>eg:count,sum,etc</a:t>
            </a:r>
            <a:r>
              <a:rPr lang="en-US" dirty="0"/>
              <a:t> </a:t>
            </a:r>
            <a:r>
              <a:rPr lang="en-US" dirty="0">
                <a:solidFill>
                  <a:srgbClr val="FF0000"/>
                </a:solidFill>
              </a:rPr>
              <a:t>Object</a:t>
            </a:r>
          </a:p>
          <a:p>
            <a:pPr>
              <a:buNone/>
            </a:pPr>
            <a:endParaRPr lang="en-US" dirty="0"/>
          </a:p>
          <a:p>
            <a:r>
              <a:rPr lang="en-US" dirty="0" err="1"/>
              <a:t>ExecuteXmlReader</a:t>
            </a:r>
            <a:r>
              <a:rPr lang="en-US" dirty="0"/>
              <a:t>() — Executes the command and returns an </a:t>
            </a:r>
            <a:r>
              <a:rPr lang="en-US" dirty="0" err="1">
                <a:solidFill>
                  <a:srgbClr val="FF0000"/>
                </a:solidFill>
              </a:rPr>
              <a:t>XmlReader</a:t>
            </a:r>
            <a:r>
              <a:rPr lang="en-US" dirty="0">
                <a:solidFill>
                  <a:srgbClr val="FF0000"/>
                </a:solidFill>
              </a:rPr>
              <a:t> </a:t>
            </a:r>
            <a:r>
              <a:rPr lang="en-US" dirty="0"/>
              <a:t>object, which can be used to traverse the XML fragment returned from the database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3255E8-657A-25B0-1180-3BFBF4B0AC47}"/>
              </a:ext>
            </a:extLst>
          </p:cNvPr>
          <p:cNvSpPr txBox="1"/>
          <p:nvPr/>
        </p:nvSpPr>
        <p:spPr>
          <a:xfrm>
            <a:off x="76200" y="474345"/>
            <a:ext cx="7620000" cy="6463308"/>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System.Configuration</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System.Data.SqlClient</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ADO_3_scallerConsoleApplication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Productcount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pPr marL="0" indent="0">
              <a:buNone/>
            </a:pPr>
            <a:r>
              <a:rPr lang="en-IN" sz="900" dirty="0">
                <a:solidFill>
                  <a:srgbClr val="0000FF"/>
                </a:solidFill>
                <a:latin typeface="Consolas" panose="020B0609020204030204" pitchFamily="49" charset="0"/>
              </a:rPr>
              <a:t>private</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connectionString</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2B91AF"/>
                </a:solidFill>
                <a:latin typeface="Cascadia Mono" panose="020B0609020000020004" pitchFamily="49" charset="0"/>
              </a:rPr>
              <a:t>Productcount</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IConfiguration</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iconfiguration</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p>
          <a:p>
            <a:pPr marL="0" indent="0">
              <a:buNone/>
            </a:pP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connectionString</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iconfiguration.GetConnectionString</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"Default"</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Product_cnt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get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FF"/>
                </a:solidFill>
                <a:latin typeface="Cascadia Mono" panose="020B0609020000020004" pitchFamily="49" charset="0"/>
              </a:rPr>
              <a:t>	int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TotalRows</a:t>
            </a:r>
            <a:r>
              <a:rPr lang="en-IN" sz="900" dirty="0">
                <a:solidFill>
                  <a:srgbClr val="000000"/>
                </a:solidFill>
                <a:latin typeface="Cascadia Mono" panose="020B0609020000020004" pitchFamily="49" charset="0"/>
              </a:rPr>
              <a:t> = 0;</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using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connection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a:t>
            </a:r>
            <a:r>
              <a:rPr lang="en-IN" sz="900" dirty="0">
                <a:solidFill>
                  <a:srgbClr val="000000"/>
                </a:solidFill>
                <a:latin typeface="Consolas" panose="020B0609020204030204" pitchFamily="49" charset="0"/>
              </a:rPr>
              <a:t>_</a:t>
            </a:r>
            <a:r>
              <a:rPr lang="en-IN" sz="900" dirty="0" err="1">
                <a:solidFill>
                  <a:srgbClr val="000000"/>
                </a:solidFill>
                <a:latin typeface="Consolas" panose="020B0609020204030204" pitchFamily="49" charset="0"/>
              </a:rPr>
              <a:t>connectionString</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"Select Count(Id) from Dept"</a:t>
            </a:r>
            <a:r>
              <a:rPr lang="en-US" sz="900" dirty="0">
                <a:solidFill>
                  <a:srgbClr val="000000"/>
                </a:solidFill>
                <a:latin typeface="Cascadia Mono" panose="020B0609020000020004" pitchFamily="49" charset="0"/>
              </a:rPr>
              <a:t>, connection);</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connection.Open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//As the T-SQL statement that we want to execute return a single value,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//use </a:t>
            </a:r>
            <a:r>
              <a:rPr lang="en-US" sz="900" dirty="0" err="1">
                <a:solidFill>
                  <a:srgbClr val="008000"/>
                </a:solidFill>
                <a:latin typeface="Cascadia Mono" panose="020B0609020000020004" pitchFamily="49" charset="0"/>
              </a:rPr>
              <a:t>ExecuteScalar</a:t>
            </a:r>
            <a:r>
              <a:rPr lang="en-US" sz="900" dirty="0">
                <a:solidFill>
                  <a:srgbClr val="008000"/>
                </a:solidFill>
                <a:latin typeface="Cascadia Mono" panose="020B0609020000020004" pitchFamily="49" charset="0"/>
              </a:rPr>
              <a:t>() method of the command object.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//Since the return type of </a:t>
            </a:r>
            <a:r>
              <a:rPr lang="en-US" sz="900" dirty="0" err="1">
                <a:solidFill>
                  <a:srgbClr val="008000"/>
                </a:solidFill>
                <a:latin typeface="Cascadia Mono" panose="020B0609020000020004" pitchFamily="49" charset="0"/>
              </a:rPr>
              <a:t>ExecuteScalar</a:t>
            </a:r>
            <a:r>
              <a:rPr lang="en-US" sz="900" dirty="0">
                <a:solidFill>
                  <a:srgbClr val="008000"/>
                </a:solidFill>
                <a:latin typeface="Cascadia Mono" panose="020B0609020000020004" pitchFamily="49" charset="0"/>
              </a:rPr>
              <a:t>() is object, we are type casting to int datatype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TotalRows</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cmd.ExecuteScalar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(Exception 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Handle Exceptions, if any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ex.Message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TotalRows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endParaRPr lang="en-IN" dirty="0"/>
          </a:p>
        </p:txBody>
      </p:sp>
      <p:sp>
        <p:nvSpPr>
          <p:cNvPr id="7" name="TextBox 6">
            <a:extLst>
              <a:ext uri="{FF2B5EF4-FFF2-40B4-BE49-F238E27FC236}">
                <a16:creationId xmlns:a16="http://schemas.microsoft.com/office/drawing/2014/main" id="{CC25AEA0-4E2A-88A2-662E-F9540F8A3B97}"/>
              </a:ext>
            </a:extLst>
          </p:cNvPr>
          <p:cNvSpPr txBox="1"/>
          <p:nvPr/>
        </p:nvSpPr>
        <p:spPr>
          <a:xfrm>
            <a:off x="1905000" y="152400"/>
            <a:ext cx="6096000" cy="523220"/>
          </a:xfrm>
          <a:prstGeom prst="rect">
            <a:avLst/>
          </a:prstGeom>
          <a:noFill/>
        </p:spPr>
        <p:txBody>
          <a:bodyPr wrap="square">
            <a:spAutoFit/>
          </a:bodyPr>
          <a:lstStyle/>
          <a:p>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ExecuteScalar</a:t>
            </a: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is used when you are using </a:t>
            </a:r>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aggrigate</a:t>
            </a: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function</a:t>
            </a:r>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sym typeface="Wingdings" panose="05000000000000000000" pitchFamily="2" charset="2"/>
              </a:rPr>
              <a:t>return</a:t>
            </a: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sym typeface="Wingdings" panose="05000000000000000000" pitchFamily="2" charset="2"/>
              </a:rPr>
              <a:t> type is Object</a:t>
            </a:r>
            <a:endParaRPr lang="en-IN" sz="3600" dirty="0"/>
          </a:p>
        </p:txBody>
      </p:sp>
    </p:spTree>
    <p:extLst>
      <p:ext uri="{BB962C8B-B14F-4D97-AF65-F5344CB8AC3E}">
        <p14:creationId xmlns:p14="http://schemas.microsoft.com/office/powerpoint/2010/main" val="3145807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F97F55-049E-D6C8-7453-E317F87B5782}"/>
              </a:ext>
            </a:extLst>
          </p:cNvPr>
          <p:cNvSpPr txBox="1"/>
          <p:nvPr/>
        </p:nvSpPr>
        <p:spPr>
          <a:xfrm>
            <a:off x="533400" y="609600"/>
            <a:ext cx="7696200" cy="6878806"/>
          </a:xfrm>
          <a:prstGeom prst="rect">
            <a:avLst/>
          </a:prstGeom>
          <a:noFill/>
        </p:spPr>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Productinsert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pPr marL="0" indent="0">
              <a:buNone/>
            </a:pPr>
            <a:r>
              <a:rPr lang="en-IN" sz="900" dirty="0">
                <a:solidFill>
                  <a:srgbClr val="0000FF"/>
                </a:solidFill>
                <a:latin typeface="Consolas" panose="020B0609020204030204" pitchFamily="49" charset="0"/>
              </a:rPr>
              <a:t>private</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connectionString</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2B91AF"/>
                </a:solidFill>
                <a:latin typeface="Cascadia Mono" panose="020B0609020000020004" pitchFamily="49" charset="0"/>
              </a:rPr>
              <a:t>Productinsert</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IConfiguration</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iconfiguration</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p>
          <a:p>
            <a:pPr marL="0" indent="0">
              <a:buNone/>
            </a:pP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connectionString</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iconfiguration.GetConnectionString</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"Default"</a:t>
            </a:r>
            <a:r>
              <a:rPr lang="en-IN" sz="900" dirty="0">
                <a:solidFill>
                  <a:srgbClr val="000000"/>
                </a:solidFill>
                <a:latin typeface="Consolas" panose="020B0609020204030204" pitchFamily="49" charset="0"/>
              </a:rPr>
              <a:t>);</a:t>
            </a:r>
          </a:p>
          <a:p>
            <a:pPr marL="0" indent="0">
              <a:buNone/>
            </a:pPr>
            <a:r>
              <a:rPr lang="en-IN" sz="900" dirty="0">
                <a:solidFill>
                  <a:srgbClr val="000000"/>
                </a:solidFill>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product_insert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FF"/>
                </a:solidFill>
                <a:latin typeface="Cascadia Mono" panose="020B0609020000020004" pitchFamily="49" charset="0"/>
              </a:rPr>
              <a:t>using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connection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a:t>
            </a:r>
            <a:r>
              <a:rPr lang="en-IN" sz="900" dirty="0">
                <a:solidFill>
                  <a:srgbClr val="000000"/>
                </a:solidFill>
                <a:latin typeface="Consolas" panose="020B0609020204030204" pitchFamily="49" charset="0"/>
              </a:rPr>
              <a:t>_</a:t>
            </a:r>
            <a:r>
              <a:rPr lang="en-IN" sz="900" dirty="0" err="1">
                <a:solidFill>
                  <a:srgbClr val="000000"/>
                </a:solidFill>
                <a:latin typeface="Consolas" panose="020B0609020204030204" pitchFamily="49" charset="0"/>
              </a:rPr>
              <a:t>connectionString</a:t>
            </a:r>
            <a:r>
              <a:rPr lang="en-IN" sz="900" dirty="0">
                <a:solidFill>
                  <a:srgbClr val="000000"/>
                </a:solidFill>
                <a:latin typeface="Consolas" panose="020B0609020204030204" pitchFamily="49" charset="0"/>
              </a:rPr>
              <a:t> </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//Create an instance of </a:t>
            </a:r>
            <a:r>
              <a:rPr lang="en-US" sz="900" dirty="0" err="1">
                <a:solidFill>
                  <a:srgbClr val="008000"/>
                </a:solidFill>
                <a:latin typeface="Cascadia Mono" panose="020B0609020000020004" pitchFamily="49" charset="0"/>
              </a:rPr>
              <a:t>SqlCommand</a:t>
            </a:r>
            <a:r>
              <a:rPr lang="en-US" sz="900" dirty="0">
                <a:solidFill>
                  <a:srgbClr val="008000"/>
                </a:solidFill>
                <a:latin typeface="Cascadia Mono" panose="020B0609020000020004" pitchFamily="49" charset="0"/>
              </a:rPr>
              <a:t> class, specifying the T-SQL command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//that we want to execute, and the connection object.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"insert into Product values (1, '</a:t>
            </a:r>
            <a:r>
              <a:rPr lang="en-US" sz="900" dirty="0" err="1">
                <a:solidFill>
                  <a:srgbClr val="A31515"/>
                </a:solidFill>
                <a:latin typeface="Cascadia Mono" panose="020B0609020000020004" pitchFamily="49" charset="0"/>
              </a:rPr>
              <a:t>Iphone</a:t>
            </a:r>
            <a:r>
              <a:rPr lang="en-US" sz="900" dirty="0">
                <a:solidFill>
                  <a:srgbClr val="A31515"/>
                </a:solidFill>
                <a:latin typeface="Cascadia Mono" panose="020B0609020000020004" pitchFamily="49" charset="0"/>
              </a:rPr>
              <a:t>', 750000, 2)"</a:t>
            </a:r>
            <a:r>
              <a:rPr lang="en-US" sz="900" dirty="0">
                <a:solidFill>
                  <a:srgbClr val="000000"/>
                </a:solidFill>
                <a:latin typeface="Cascadia Mono" panose="020B0609020000020004" pitchFamily="49" charset="0"/>
              </a:rPr>
              <a:t>, connection);</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connection.Open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//Since we are performing an insert operation, use </a:t>
            </a:r>
            <a:r>
              <a:rPr lang="en-US" sz="900" dirty="0" err="1">
                <a:solidFill>
                  <a:srgbClr val="008000"/>
                </a:solidFill>
                <a:latin typeface="Cascadia Mono" panose="020B0609020000020004" pitchFamily="49" charset="0"/>
              </a:rPr>
              <a:t>ExecuteNonQuery</a:t>
            </a:r>
            <a:r>
              <a:rPr lang="en-US" sz="900" dirty="0">
                <a:solidFill>
                  <a:srgbClr val="008000"/>
                </a:solidFill>
                <a:latin typeface="Cascadia Mono" panose="020B0609020000020004" pitchFamily="49" charset="0"/>
              </a:rPr>
              <a:t>()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//method of the command object. </a:t>
            </a:r>
            <a:r>
              <a:rPr lang="en-US" sz="900" dirty="0" err="1">
                <a:solidFill>
                  <a:srgbClr val="008000"/>
                </a:solidFill>
                <a:latin typeface="Cascadia Mono" panose="020B0609020000020004" pitchFamily="49" charset="0"/>
              </a:rPr>
              <a:t>ExecuteNonQuery</a:t>
            </a:r>
            <a:r>
              <a:rPr lang="en-US" sz="900" dirty="0">
                <a:solidFill>
                  <a:srgbClr val="008000"/>
                </a:solidFill>
                <a:latin typeface="Cascadia Mono" panose="020B0609020000020004" pitchFamily="49" charset="0"/>
              </a:rPr>
              <a:t>() method returns an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//integer, which specifies the number of rows inserted</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rowsAffected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cmd.ExecuteNonQuery</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"Inserted Rows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rowsAffected</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//Set to </a:t>
            </a:r>
            <a:r>
              <a:rPr lang="en-US" sz="900" dirty="0" err="1">
                <a:solidFill>
                  <a:srgbClr val="008000"/>
                </a:solidFill>
                <a:latin typeface="Cascadia Mono" panose="020B0609020000020004" pitchFamily="49" charset="0"/>
              </a:rPr>
              <a:t>CommandText</a:t>
            </a:r>
            <a:r>
              <a:rPr lang="en-US" sz="900" dirty="0">
                <a:solidFill>
                  <a:srgbClr val="008000"/>
                </a:solidFill>
                <a:latin typeface="Cascadia Mono" panose="020B0609020000020004" pitchFamily="49" charset="0"/>
              </a:rPr>
              <a:t> to the update query. We are reusing the command object,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//instead of creating a new command object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cmd.CommandText</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"update Product set Price= 15000 where Id = 2"</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//use </a:t>
            </a:r>
            <a:r>
              <a:rPr lang="en-US" sz="900" dirty="0" err="1">
                <a:solidFill>
                  <a:srgbClr val="008000"/>
                </a:solidFill>
                <a:latin typeface="Cascadia Mono" panose="020B0609020000020004" pitchFamily="49" charset="0"/>
              </a:rPr>
              <a:t>ExecuteNonQuery</a:t>
            </a:r>
            <a:r>
              <a:rPr lang="en-US" sz="900" dirty="0">
                <a:solidFill>
                  <a:srgbClr val="008000"/>
                </a:solidFill>
                <a:latin typeface="Cascadia Mono" panose="020B0609020000020004" pitchFamily="49" charset="0"/>
              </a:rPr>
              <a:t>() method to execute the update statement on the database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rowsAffected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cmd.ExecuteNonQuery</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"Updated Rows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rowsAffected</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//Set to </a:t>
            </a:r>
            <a:r>
              <a:rPr lang="en-US" sz="900" dirty="0" err="1">
                <a:solidFill>
                  <a:srgbClr val="008000"/>
                </a:solidFill>
                <a:latin typeface="Cascadia Mono" panose="020B0609020000020004" pitchFamily="49" charset="0"/>
              </a:rPr>
              <a:t>CommandText</a:t>
            </a:r>
            <a:r>
              <a:rPr lang="en-US" sz="900" dirty="0">
                <a:solidFill>
                  <a:srgbClr val="008000"/>
                </a:solidFill>
                <a:latin typeface="Cascadia Mono" panose="020B0609020000020004" pitchFamily="49" charset="0"/>
              </a:rPr>
              <a:t> to the delete query. We are reusing the command object,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//instead of creating a new command object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cmd.CommandText</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"Delete from Product where Id = 1002"</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//use </a:t>
            </a:r>
            <a:r>
              <a:rPr lang="en-US" sz="900" dirty="0" err="1">
                <a:solidFill>
                  <a:srgbClr val="008000"/>
                </a:solidFill>
                <a:latin typeface="Cascadia Mono" panose="020B0609020000020004" pitchFamily="49" charset="0"/>
              </a:rPr>
              <a:t>ExecuteNonQuery</a:t>
            </a:r>
            <a:r>
              <a:rPr lang="en-US" sz="900" dirty="0">
                <a:solidFill>
                  <a:srgbClr val="008000"/>
                </a:solidFill>
                <a:latin typeface="Cascadia Mono" panose="020B0609020000020004" pitchFamily="49" charset="0"/>
              </a:rPr>
              <a:t>() method to delete the row from the database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rowsAffected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cmd.ExecuteNonQuery</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"Deleted Rows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rowsAffected</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(Exception 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Handle Exceptions, if any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ex.Message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endParaRPr lang="en-IN" dirty="0"/>
          </a:p>
        </p:txBody>
      </p:sp>
      <p:sp>
        <p:nvSpPr>
          <p:cNvPr id="7" name="TextBox 6">
            <a:extLst>
              <a:ext uri="{FF2B5EF4-FFF2-40B4-BE49-F238E27FC236}">
                <a16:creationId xmlns:a16="http://schemas.microsoft.com/office/drawing/2014/main" id="{B9FEBCD7-6FA0-50A0-0D59-99EF22CCA3E2}"/>
              </a:ext>
            </a:extLst>
          </p:cNvPr>
          <p:cNvSpPr txBox="1"/>
          <p:nvPr/>
        </p:nvSpPr>
        <p:spPr>
          <a:xfrm>
            <a:off x="1524000" y="0"/>
            <a:ext cx="7620000" cy="369332"/>
          </a:xfrm>
          <a:prstGeom prst="rect">
            <a:avLst/>
          </a:prstGeom>
          <a:noFill/>
        </p:spPr>
        <p:txBody>
          <a:bodyPr wrap="square">
            <a:spAutoFit/>
          </a:bodyPr>
          <a:lstStyle/>
          <a:p>
            <a:r>
              <a:rPr lang="en-IN" sz="1800" dirty="0" err="1">
                <a:solidFill>
                  <a:srgbClr val="000000"/>
                </a:solidFill>
                <a:latin typeface="Cascadia Mono" panose="020B0609020000020004" pitchFamily="49" charset="0"/>
              </a:rPr>
              <a:t>ExecuteNonQuery</a:t>
            </a:r>
            <a:r>
              <a:rPr lang="en-IN" sz="1800" dirty="0">
                <a:solidFill>
                  <a:srgbClr val="000000"/>
                </a:solidFill>
                <a:latin typeface="Cascadia Mono" panose="020B0609020000020004" pitchFamily="49" charset="0"/>
              </a:rPr>
              <a:t>();[Insert, Update, Delete] return==&gt;int</a:t>
            </a:r>
            <a:endParaRPr lang="en-IN" dirty="0"/>
          </a:p>
        </p:txBody>
      </p:sp>
      <p:sp>
        <p:nvSpPr>
          <p:cNvPr id="2" name="TextBox 1">
            <a:extLst>
              <a:ext uri="{FF2B5EF4-FFF2-40B4-BE49-F238E27FC236}">
                <a16:creationId xmlns:a16="http://schemas.microsoft.com/office/drawing/2014/main" id="{CC2F528F-07BE-0057-606A-D557394F92D3}"/>
              </a:ext>
            </a:extLst>
          </p:cNvPr>
          <p:cNvSpPr txBox="1"/>
          <p:nvPr/>
        </p:nvSpPr>
        <p:spPr>
          <a:xfrm>
            <a:off x="7239000" y="1828800"/>
            <a:ext cx="1784931" cy="646331"/>
          </a:xfrm>
          <a:prstGeom prst="rect">
            <a:avLst/>
          </a:prstGeom>
          <a:noFill/>
        </p:spPr>
        <p:txBody>
          <a:bodyPr wrap="square" rtlCol="0">
            <a:spAutoFit/>
          </a:bodyPr>
          <a:lstStyle/>
          <a:p>
            <a:r>
              <a:rPr lang="en-US" dirty="0"/>
              <a:t>Id name price qty</a:t>
            </a:r>
            <a:endParaRPr lang="en-IN" dirty="0"/>
          </a:p>
        </p:txBody>
      </p:sp>
    </p:spTree>
    <p:extLst>
      <p:ext uri="{BB962C8B-B14F-4D97-AF65-F5344CB8AC3E}">
        <p14:creationId xmlns:p14="http://schemas.microsoft.com/office/powerpoint/2010/main" val="3664352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734616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769B-BC74-4539-819C-119F2E7B2E6E}"/>
              </a:ext>
            </a:extLst>
          </p:cNvPr>
          <p:cNvSpPr>
            <a:spLocks noGrp="1"/>
          </p:cNvSpPr>
          <p:nvPr>
            <p:ph type="title"/>
          </p:nvPr>
        </p:nvSpPr>
        <p:spPr>
          <a:xfrm>
            <a:off x="609600" y="-17206"/>
            <a:ext cx="7772400" cy="334962"/>
          </a:xfrm>
        </p:spPr>
        <p:txBody>
          <a:bodyPr>
            <a:normAutofit fontScale="90000"/>
          </a:bodyPr>
          <a:lstStyle/>
          <a:p>
            <a:r>
              <a:rPr lang="en-IN" dirty="0"/>
              <a:t>SQL Injection</a:t>
            </a:r>
          </a:p>
        </p:txBody>
      </p:sp>
      <p:sp>
        <p:nvSpPr>
          <p:cNvPr id="3" name="Content Placeholder 2">
            <a:extLst>
              <a:ext uri="{FF2B5EF4-FFF2-40B4-BE49-F238E27FC236}">
                <a16:creationId xmlns:a16="http://schemas.microsoft.com/office/drawing/2014/main" id="{95F3D410-9904-43CB-9F9D-29AC8BC4041B}"/>
              </a:ext>
            </a:extLst>
          </p:cNvPr>
          <p:cNvSpPr>
            <a:spLocks noGrp="1"/>
          </p:cNvSpPr>
          <p:nvPr>
            <p:ph idx="1"/>
          </p:nvPr>
        </p:nvSpPr>
        <p:spPr>
          <a:xfrm>
            <a:off x="152400" y="685800"/>
            <a:ext cx="8763000" cy="4906963"/>
          </a:xfrm>
        </p:spPr>
        <p:txBody>
          <a:bodyPr>
            <a:normAutofit/>
          </a:bodyPr>
          <a:lstStyle/>
          <a:p>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s=</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D';delete</a:t>
            </a:r>
            <a:r>
              <a:rPr lang="en-US" sz="1800" dirty="0">
                <a:solidFill>
                  <a:srgbClr val="A31515"/>
                </a:solidFill>
                <a:highlight>
                  <a:srgbClr val="FFFFFF"/>
                </a:highlight>
                <a:latin typeface="Consolas" panose="020B0609020204030204" pitchFamily="49" charset="0"/>
              </a:rPr>
              <a:t> from </a:t>
            </a:r>
            <a:r>
              <a:rPr lang="en-US" sz="1800" dirty="0" err="1">
                <a:solidFill>
                  <a:srgbClr val="A31515"/>
                </a:solidFill>
                <a:highlight>
                  <a:srgbClr val="FFFFFF"/>
                </a:highlight>
                <a:latin typeface="Consolas" panose="020B0609020204030204" pitchFamily="49" charset="0"/>
              </a:rPr>
              <a:t>Product;Select</a:t>
            </a:r>
            <a:r>
              <a:rPr lang="en-US" sz="1800" dirty="0">
                <a:solidFill>
                  <a:srgbClr val="A31515"/>
                </a:solidFill>
                <a:highlight>
                  <a:srgbClr val="FFFFFF"/>
                </a:highlight>
                <a:latin typeface="Consolas" panose="020B0609020204030204" pitchFamily="49" charset="0"/>
              </a:rPr>
              <a:t> * from Product where Name like ‘d”</a:t>
            </a:r>
            <a:r>
              <a:rPr lang="en-US" sz="1800" dirty="0">
                <a:solidFill>
                  <a:srgbClr val="000000"/>
                </a:solidFill>
                <a:highlight>
                  <a:srgbClr val="FFFFFF"/>
                </a:highlight>
                <a:latin typeface="Consolas" panose="020B0609020204030204" pitchFamily="49" charset="0"/>
              </a:rPr>
              <a:t>;</a:t>
            </a:r>
          </a:p>
          <a:p>
            <a:endParaRPr lang="en-US" sz="1800" dirty="0">
              <a:solidFill>
                <a:srgbClr val="000000"/>
              </a:solidFill>
              <a:highlight>
                <a:srgbClr val="FFFFFF"/>
              </a:highlight>
              <a:latin typeface="Consolas" panose="020B0609020204030204" pitchFamily="49" charset="0"/>
            </a:endParaRPr>
          </a:p>
          <a:p>
            <a:r>
              <a:rPr lang="en-US" sz="1800" dirty="0">
                <a:solidFill>
                  <a:srgbClr val="A31515"/>
                </a:solidFill>
                <a:latin typeface="Consolas" panose="020B0609020204030204" pitchFamily="49" charset="0"/>
              </a:rPr>
              <a:t>"Select * from Product where Name like '"</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pname</a:t>
            </a:r>
            <a:r>
              <a:rPr lang="en-US" sz="1800" dirty="0">
                <a:solidFill>
                  <a:srgbClr val="000000"/>
                </a:solidFill>
                <a:latin typeface="Consolas" panose="020B0609020204030204" pitchFamily="49" charset="0"/>
              </a:rPr>
              <a:t> + </a:t>
            </a:r>
            <a:r>
              <a:rPr lang="en-US" sz="1800" dirty="0">
                <a:solidFill>
                  <a:srgbClr val="A31515"/>
                </a:solidFill>
                <a:latin typeface="Consolas" panose="020B0609020204030204" pitchFamily="49" charset="0"/>
              </a:rPr>
              <a:t>“  %’ "</a:t>
            </a:r>
            <a:endParaRPr lang="en-US" sz="1800" dirty="0">
              <a:solidFill>
                <a:srgbClr val="2B91AF"/>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p>
          <a:p>
            <a:endParaRPr lang="en-IN" sz="10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"Select * from Product where Name like '"</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D';delete</a:t>
            </a:r>
            <a:r>
              <a:rPr lang="en-US" sz="1400" dirty="0">
                <a:solidFill>
                  <a:srgbClr val="A31515"/>
                </a:solidFill>
                <a:highlight>
                  <a:srgbClr val="FFFFFF"/>
                </a:highlight>
                <a:latin typeface="Consolas" panose="020B0609020204030204" pitchFamily="49" charset="0"/>
              </a:rPr>
              <a:t> from </a:t>
            </a:r>
            <a:r>
              <a:rPr lang="en-US" sz="1400" dirty="0" err="1">
                <a:solidFill>
                  <a:srgbClr val="A31515"/>
                </a:solidFill>
                <a:highlight>
                  <a:srgbClr val="FFFFFF"/>
                </a:highlight>
                <a:latin typeface="Consolas" panose="020B0609020204030204" pitchFamily="49" charset="0"/>
              </a:rPr>
              <a:t>Product;Select</a:t>
            </a:r>
            <a:r>
              <a:rPr lang="en-US" sz="1400" dirty="0">
                <a:solidFill>
                  <a:srgbClr val="A31515"/>
                </a:solidFill>
                <a:highlight>
                  <a:srgbClr val="FFFFFF"/>
                </a:highlight>
                <a:latin typeface="Consolas" panose="020B0609020204030204" pitchFamily="49" charset="0"/>
              </a:rPr>
              <a:t> * from Product where Name like ‘d”</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a:t>
            </a:r>
          </a:p>
          <a:p>
            <a:endParaRPr lang="en-US" sz="1400" dirty="0">
              <a:solidFill>
                <a:srgbClr val="A31515"/>
              </a:solidFill>
              <a:highlight>
                <a:srgbClr val="FFFFFF"/>
              </a:highlight>
              <a:latin typeface="Consolas" panose="020B0609020204030204" pitchFamily="49" charset="0"/>
            </a:endParaRPr>
          </a:p>
          <a:p>
            <a:endParaRPr lang="en-US" sz="1400" dirty="0">
              <a:solidFill>
                <a:srgbClr val="A31515"/>
              </a:solidFill>
              <a:highlight>
                <a:srgbClr val="FFFFFF"/>
              </a:highlight>
              <a:latin typeface="Consolas" panose="020B0609020204030204" pitchFamily="49" charset="0"/>
            </a:endParaRPr>
          </a:p>
          <a:p>
            <a:endParaRPr lang="en-US" sz="1400" dirty="0">
              <a:solidFill>
                <a:srgbClr val="A31515"/>
              </a:solidFill>
              <a:highlight>
                <a:srgbClr val="FFFFFF"/>
              </a:highlight>
              <a:latin typeface="Consolas" panose="020B0609020204030204" pitchFamily="49" charset="0"/>
            </a:endParaRPr>
          </a:p>
          <a:p>
            <a:r>
              <a:rPr lang="en-US" sz="1400" dirty="0">
                <a:solidFill>
                  <a:srgbClr val="A31515"/>
                </a:solidFill>
                <a:highlight>
                  <a:srgbClr val="FFFFFF"/>
                </a:highlight>
                <a:latin typeface="Consolas" panose="020B0609020204030204" pitchFamily="49" charset="0"/>
              </a:rPr>
              <a:t>Select * from Product where Name like ‘”</a:t>
            </a:r>
            <a:r>
              <a:rPr lang="en-US" sz="1400" dirty="0">
                <a:solidFill>
                  <a:srgbClr val="000000"/>
                </a:solidFill>
                <a:highlight>
                  <a:srgbClr val="FFFFFF"/>
                </a:highlight>
                <a:latin typeface="Consolas" panose="020B0609020204030204" pitchFamily="49" charset="0"/>
              </a:rPr>
              <a:t> +</a:t>
            </a:r>
            <a:r>
              <a:rPr lang="en-US" sz="2400" dirty="0">
                <a:solidFill>
                  <a:schemeClr val="accent1"/>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D';delete</a:t>
            </a:r>
            <a:r>
              <a:rPr lang="en-US" sz="1400" dirty="0">
                <a:solidFill>
                  <a:srgbClr val="A31515"/>
                </a:solidFill>
                <a:highlight>
                  <a:srgbClr val="FFFFFF"/>
                </a:highlight>
                <a:latin typeface="Consolas" panose="020B0609020204030204" pitchFamily="49" charset="0"/>
              </a:rPr>
              <a:t> from </a:t>
            </a:r>
            <a:r>
              <a:rPr lang="en-US" sz="1400" dirty="0" err="1">
                <a:solidFill>
                  <a:srgbClr val="A31515"/>
                </a:solidFill>
                <a:highlight>
                  <a:srgbClr val="FFFFFF"/>
                </a:highlight>
                <a:latin typeface="Consolas" panose="020B0609020204030204" pitchFamily="49" charset="0"/>
              </a:rPr>
              <a:t>Product;Select</a:t>
            </a:r>
            <a:r>
              <a:rPr lang="en-US" sz="1400" dirty="0">
                <a:solidFill>
                  <a:srgbClr val="A31515"/>
                </a:solidFill>
                <a:highlight>
                  <a:srgbClr val="FFFFFF"/>
                </a:highlight>
                <a:latin typeface="Consolas" panose="020B0609020204030204" pitchFamily="49" charset="0"/>
              </a:rPr>
              <a:t> * from Product where Name like ‘d”</a:t>
            </a:r>
            <a:r>
              <a:rPr lang="en-US" sz="1400" dirty="0">
                <a:solidFill>
                  <a:srgbClr val="000000"/>
                </a:solidFill>
                <a:highlight>
                  <a:srgbClr val="FFFFFF"/>
                </a:highlight>
                <a:latin typeface="Consolas" panose="020B0609020204030204" pitchFamily="49" charset="0"/>
              </a:rPr>
              <a:t> </a:t>
            </a:r>
            <a:r>
              <a:rPr lang="en-US" sz="2000" dirty="0">
                <a:solidFill>
                  <a:schemeClr val="accent1"/>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a:t>
            </a:r>
          </a:p>
          <a:p>
            <a:endParaRPr lang="en-US" sz="1400" dirty="0">
              <a:solidFill>
                <a:srgbClr val="A31515"/>
              </a:solidFill>
              <a:highlight>
                <a:srgbClr val="FFFFFF"/>
              </a:highlight>
              <a:latin typeface="Consolas" panose="020B0609020204030204" pitchFamily="49" charset="0"/>
            </a:endParaRPr>
          </a:p>
          <a:p>
            <a:r>
              <a:rPr lang="nl-NL" sz="1800" dirty="0">
                <a:solidFill>
                  <a:srgbClr val="000000"/>
                </a:solidFill>
                <a:highlight>
                  <a:srgbClr val="FFFFFF"/>
                </a:highlight>
                <a:latin typeface="Consolas" panose="020B0609020204030204" pitchFamily="49" charset="0"/>
              </a:rPr>
              <a:t>cmd.Parameters.AddWithValue(</a:t>
            </a:r>
            <a:r>
              <a:rPr lang="nl-NL" sz="1800" dirty="0">
                <a:solidFill>
                  <a:srgbClr val="A31515"/>
                </a:solidFill>
                <a:highlight>
                  <a:srgbClr val="FFFFFF"/>
                </a:highlight>
                <a:latin typeface="Consolas" panose="020B0609020204030204" pitchFamily="49" charset="0"/>
              </a:rPr>
              <a:t>"@ProductName"</a:t>
            </a:r>
            <a:r>
              <a:rPr lang="nl-NL" sz="1800" dirty="0">
                <a:solidFill>
                  <a:srgbClr val="000000"/>
                </a:solidFill>
                <a:highlight>
                  <a:srgbClr val="FFFFFF"/>
                </a:highlight>
                <a:latin typeface="Consolas" panose="020B0609020204030204" pitchFamily="49" charset="0"/>
              </a:rPr>
              <a:t>, pname + </a:t>
            </a:r>
            <a:r>
              <a:rPr lang="nl-NL" sz="1800" dirty="0">
                <a:solidFill>
                  <a:srgbClr val="A31515"/>
                </a:solidFill>
                <a:highlight>
                  <a:srgbClr val="FFFFFF"/>
                </a:highlight>
                <a:latin typeface="Consolas" panose="020B0609020204030204" pitchFamily="49" charset="0"/>
              </a:rPr>
              <a:t>"%"</a:t>
            </a:r>
            <a:r>
              <a:rPr lang="nl-NL" sz="1800" dirty="0">
                <a:solidFill>
                  <a:srgbClr val="000000"/>
                </a:solidFill>
                <a:highlight>
                  <a:srgbClr val="FFFFFF"/>
                </a:highlight>
                <a:latin typeface="Consolas" panose="020B0609020204030204" pitchFamily="49" charset="0"/>
              </a:rPr>
              <a:t>);</a:t>
            </a:r>
            <a:endParaRPr lang="en-IN" sz="1400" dirty="0"/>
          </a:p>
        </p:txBody>
      </p:sp>
      <p:sp>
        <p:nvSpPr>
          <p:cNvPr id="4" name="Freeform: Shape 3">
            <a:extLst>
              <a:ext uri="{FF2B5EF4-FFF2-40B4-BE49-F238E27FC236}">
                <a16:creationId xmlns:a16="http://schemas.microsoft.com/office/drawing/2014/main" id="{DB41EE59-F5B2-47F7-B0DD-A840AE1492B6}"/>
              </a:ext>
            </a:extLst>
          </p:cNvPr>
          <p:cNvSpPr/>
          <p:nvPr/>
        </p:nvSpPr>
        <p:spPr>
          <a:xfrm>
            <a:off x="725424" y="2133600"/>
            <a:ext cx="4007798" cy="432816"/>
          </a:xfrm>
          <a:custGeom>
            <a:avLst/>
            <a:gdLst>
              <a:gd name="connsiteX0" fmla="*/ 0 w 4007798"/>
              <a:gd name="connsiteY0" fmla="*/ 420624 h 432816"/>
              <a:gd name="connsiteX1" fmla="*/ 36576 w 4007798"/>
              <a:gd name="connsiteY1" fmla="*/ 158496 h 432816"/>
              <a:gd name="connsiteX2" fmla="*/ 60960 w 4007798"/>
              <a:gd name="connsiteY2" fmla="*/ 121920 h 432816"/>
              <a:gd name="connsiteX3" fmla="*/ 402336 w 4007798"/>
              <a:gd name="connsiteY3" fmla="*/ 134112 h 432816"/>
              <a:gd name="connsiteX4" fmla="*/ 981456 w 4007798"/>
              <a:gd name="connsiteY4" fmla="*/ 146304 h 432816"/>
              <a:gd name="connsiteX5" fmla="*/ 2182368 w 4007798"/>
              <a:gd name="connsiteY5" fmla="*/ 140208 h 432816"/>
              <a:gd name="connsiteX6" fmla="*/ 2243328 w 4007798"/>
              <a:gd name="connsiteY6" fmla="*/ 128016 h 432816"/>
              <a:gd name="connsiteX7" fmla="*/ 2310384 w 4007798"/>
              <a:gd name="connsiteY7" fmla="*/ 121920 h 432816"/>
              <a:gd name="connsiteX8" fmla="*/ 2353056 w 4007798"/>
              <a:gd name="connsiteY8" fmla="*/ 103632 h 432816"/>
              <a:gd name="connsiteX9" fmla="*/ 2450592 w 4007798"/>
              <a:gd name="connsiteY9" fmla="*/ 85344 h 432816"/>
              <a:gd name="connsiteX10" fmla="*/ 2590800 w 4007798"/>
              <a:gd name="connsiteY10" fmla="*/ 67056 h 432816"/>
              <a:gd name="connsiteX11" fmla="*/ 2609088 w 4007798"/>
              <a:gd name="connsiteY11" fmla="*/ 60960 h 432816"/>
              <a:gd name="connsiteX12" fmla="*/ 2694432 w 4007798"/>
              <a:gd name="connsiteY12" fmla="*/ 48768 h 432816"/>
              <a:gd name="connsiteX13" fmla="*/ 2718816 w 4007798"/>
              <a:gd name="connsiteY13" fmla="*/ 42672 h 432816"/>
              <a:gd name="connsiteX14" fmla="*/ 2737104 w 4007798"/>
              <a:gd name="connsiteY14" fmla="*/ 36576 h 432816"/>
              <a:gd name="connsiteX15" fmla="*/ 2846832 w 4007798"/>
              <a:gd name="connsiteY15" fmla="*/ 24384 h 432816"/>
              <a:gd name="connsiteX16" fmla="*/ 2871216 w 4007798"/>
              <a:gd name="connsiteY16" fmla="*/ 12192 h 432816"/>
              <a:gd name="connsiteX17" fmla="*/ 2919984 w 4007798"/>
              <a:gd name="connsiteY17" fmla="*/ 6096 h 432816"/>
              <a:gd name="connsiteX18" fmla="*/ 2938272 w 4007798"/>
              <a:gd name="connsiteY18" fmla="*/ 0 h 432816"/>
              <a:gd name="connsiteX19" fmla="*/ 3230880 w 4007798"/>
              <a:gd name="connsiteY19" fmla="*/ 12192 h 432816"/>
              <a:gd name="connsiteX20" fmla="*/ 3291840 w 4007798"/>
              <a:gd name="connsiteY20" fmla="*/ 18288 h 432816"/>
              <a:gd name="connsiteX21" fmla="*/ 3334512 w 4007798"/>
              <a:gd name="connsiteY21" fmla="*/ 36576 h 432816"/>
              <a:gd name="connsiteX22" fmla="*/ 3419856 w 4007798"/>
              <a:gd name="connsiteY22" fmla="*/ 54864 h 432816"/>
              <a:gd name="connsiteX23" fmla="*/ 3462528 w 4007798"/>
              <a:gd name="connsiteY23" fmla="*/ 73152 h 432816"/>
              <a:gd name="connsiteX24" fmla="*/ 3493008 w 4007798"/>
              <a:gd name="connsiteY24" fmla="*/ 79248 h 432816"/>
              <a:gd name="connsiteX25" fmla="*/ 3541776 w 4007798"/>
              <a:gd name="connsiteY25" fmla="*/ 91440 h 432816"/>
              <a:gd name="connsiteX26" fmla="*/ 3608832 w 4007798"/>
              <a:gd name="connsiteY26" fmla="*/ 103632 h 432816"/>
              <a:gd name="connsiteX27" fmla="*/ 3657600 w 4007798"/>
              <a:gd name="connsiteY27" fmla="*/ 121920 h 432816"/>
              <a:gd name="connsiteX28" fmla="*/ 3681984 w 4007798"/>
              <a:gd name="connsiteY28" fmla="*/ 128016 h 432816"/>
              <a:gd name="connsiteX29" fmla="*/ 3761232 w 4007798"/>
              <a:gd name="connsiteY29" fmla="*/ 140208 h 432816"/>
              <a:gd name="connsiteX30" fmla="*/ 3816096 w 4007798"/>
              <a:gd name="connsiteY30" fmla="*/ 158496 h 432816"/>
              <a:gd name="connsiteX31" fmla="*/ 3834384 w 4007798"/>
              <a:gd name="connsiteY31" fmla="*/ 164592 h 432816"/>
              <a:gd name="connsiteX32" fmla="*/ 3858768 w 4007798"/>
              <a:gd name="connsiteY32" fmla="*/ 176784 h 432816"/>
              <a:gd name="connsiteX33" fmla="*/ 3925824 w 4007798"/>
              <a:gd name="connsiteY33" fmla="*/ 182880 h 432816"/>
              <a:gd name="connsiteX34" fmla="*/ 3962400 w 4007798"/>
              <a:gd name="connsiteY34" fmla="*/ 188976 h 432816"/>
              <a:gd name="connsiteX35" fmla="*/ 3980688 w 4007798"/>
              <a:gd name="connsiteY35" fmla="*/ 201168 h 432816"/>
              <a:gd name="connsiteX36" fmla="*/ 4005072 w 4007798"/>
              <a:gd name="connsiteY36" fmla="*/ 207264 h 432816"/>
              <a:gd name="connsiteX37" fmla="*/ 3998976 w 4007798"/>
              <a:gd name="connsiteY37" fmla="*/ 365760 h 432816"/>
              <a:gd name="connsiteX38" fmla="*/ 3974592 w 4007798"/>
              <a:gd name="connsiteY38" fmla="*/ 414528 h 432816"/>
              <a:gd name="connsiteX39" fmla="*/ 3968496 w 4007798"/>
              <a:gd name="connsiteY39" fmla="*/ 432816 h 43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007798" h="432816">
                <a:moveTo>
                  <a:pt x="0" y="420624"/>
                </a:moveTo>
                <a:cubicBezTo>
                  <a:pt x="12192" y="333248"/>
                  <a:pt x="23580" y="245756"/>
                  <a:pt x="36576" y="158496"/>
                </a:cubicBezTo>
                <a:cubicBezTo>
                  <a:pt x="40915" y="129360"/>
                  <a:pt x="38791" y="136699"/>
                  <a:pt x="60960" y="121920"/>
                </a:cubicBezTo>
                <a:lnTo>
                  <a:pt x="402336" y="134112"/>
                </a:lnTo>
                <a:cubicBezTo>
                  <a:pt x="587858" y="139910"/>
                  <a:pt x="798684" y="142981"/>
                  <a:pt x="981456" y="146304"/>
                </a:cubicBezTo>
                <a:lnTo>
                  <a:pt x="2182368" y="140208"/>
                </a:lnTo>
                <a:cubicBezTo>
                  <a:pt x="2203088" y="139908"/>
                  <a:pt x="2222691" y="129892"/>
                  <a:pt x="2243328" y="128016"/>
                </a:cubicBezTo>
                <a:lnTo>
                  <a:pt x="2310384" y="121920"/>
                </a:lnTo>
                <a:cubicBezTo>
                  <a:pt x="2339398" y="102577"/>
                  <a:pt x="2317270" y="114368"/>
                  <a:pt x="2353056" y="103632"/>
                </a:cubicBezTo>
                <a:cubicBezTo>
                  <a:pt x="2422975" y="82656"/>
                  <a:pt x="2354646" y="96415"/>
                  <a:pt x="2450592" y="85344"/>
                </a:cubicBezTo>
                <a:cubicBezTo>
                  <a:pt x="2523258" y="76959"/>
                  <a:pt x="2532851" y="75334"/>
                  <a:pt x="2590800" y="67056"/>
                </a:cubicBezTo>
                <a:cubicBezTo>
                  <a:pt x="2596896" y="65024"/>
                  <a:pt x="2602766" y="62109"/>
                  <a:pt x="2609088" y="60960"/>
                </a:cubicBezTo>
                <a:cubicBezTo>
                  <a:pt x="2732703" y="38485"/>
                  <a:pt x="2594480" y="68758"/>
                  <a:pt x="2694432" y="48768"/>
                </a:cubicBezTo>
                <a:cubicBezTo>
                  <a:pt x="2702647" y="47125"/>
                  <a:pt x="2710760" y="44974"/>
                  <a:pt x="2718816" y="42672"/>
                </a:cubicBezTo>
                <a:cubicBezTo>
                  <a:pt x="2724995" y="40907"/>
                  <a:pt x="2730743" y="37485"/>
                  <a:pt x="2737104" y="36576"/>
                </a:cubicBezTo>
                <a:cubicBezTo>
                  <a:pt x="2773535" y="31372"/>
                  <a:pt x="2846832" y="24384"/>
                  <a:pt x="2846832" y="24384"/>
                </a:cubicBezTo>
                <a:cubicBezTo>
                  <a:pt x="2854960" y="20320"/>
                  <a:pt x="2862400" y="14396"/>
                  <a:pt x="2871216" y="12192"/>
                </a:cubicBezTo>
                <a:cubicBezTo>
                  <a:pt x="2887109" y="8219"/>
                  <a:pt x="2903866" y="9027"/>
                  <a:pt x="2919984" y="6096"/>
                </a:cubicBezTo>
                <a:cubicBezTo>
                  <a:pt x="2926306" y="4947"/>
                  <a:pt x="2932176" y="2032"/>
                  <a:pt x="2938272" y="0"/>
                </a:cubicBezTo>
                <a:lnTo>
                  <a:pt x="3230880" y="12192"/>
                </a:lnTo>
                <a:cubicBezTo>
                  <a:pt x="3251274" y="13247"/>
                  <a:pt x="3271656" y="15183"/>
                  <a:pt x="3291840" y="18288"/>
                </a:cubicBezTo>
                <a:cubicBezTo>
                  <a:pt x="3314859" y="21829"/>
                  <a:pt x="3309883" y="29187"/>
                  <a:pt x="3334512" y="36576"/>
                </a:cubicBezTo>
                <a:cubicBezTo>
                  <a:pt x="3366996" y="46321"/>
                  <a:pt x="3387051" y="38462"/>
                  <a:pt x="3419856" y="54864"/>
                </a:cubicBezTo>
                <a:cubicBezTo>
                  <a:pt x="3437302" y="63587"/>
                  <a:pt x="3444589" y="68667"/>
                  <a:pt x="3462528" y="73152"/>
                </a:cubicBezTo>
                <a:cubicBezTo>
                  <a:pt x="3472580" y="75665"/>
                  <a:pt x="3482912" y="76918"/>
                  <a:pt x="3493008" y="79248"/>
                </a:cubicBezTo>
                <a:cubicBezTo>
                  <a:pt x="3509335" y="83016"/>
                  <a:pt x="3525248" y="88685"/>
                  <a:pt x="3541776" y="91440"/>
                </a:cubicBezTo>
                <a:cubicBezTo>
                  <a:pt x="3558081" y="94157"/>
                  <a:pt x="3591792" y="99372"/>
                  <a:pt x="3608832" y="103632"/>
                </a:cubicBezTo>
                <a:cubicBezTo>
                  <a:pt x="3625954" y="107912"/>
                  <a:pt x="3640819" y="116326"/>
                  <a:pt x="3657600" y="121920"/>
                </a:cubicBezTo>
                <a:cubicBezTo>
                  <a:pt x="3665548" y="124569"/>
                  <a:pt x="3673805" y="126199"/>
                  <a:pt x="3681984" y="128016"/>
                </a:cubicBezTo>
                <a:cubicBezTo>
                  <a:pt x="3717890" y="135995"/>
                  <a:pt x="3719004" y="134930"/>
                  <a:pt x="3761232" y="140208"/>
                </a:cubicBezTo>
                <a:cubicBezTo>
                  <a:pt x="3793050" y="161420"/>
                  <a:pt x="3766818" y="147545"/>
                  <a:pt x="3816096" y="158496"/>
                </a:cubicBezTo>
                <a:cubicBezTo>
                  <a:pt x="3822369" y="159890"/>
                  <a:pt x="3828478" y="162061"/>
                  <a:pt x="3834384" y="164592"/>
                </a:cubicBezTo>
                <a:cubicBezTo>
                  <a:pt x="3842737" y="168172"/>
                  <a:pt x="3849857" y="175002"/>
                  <a:pt x="3858768" y="176784"/>
                </a:cubicBezTo>
                <a:cubicBezTo>
                  <a:pt x="3880776" y="181186"/>
                  <a:pt x="3903534" y="180258"/>
                  <a:pt x="3925824" y="182880"/>
                </a:cubicBezTo>
                <a:cubicBezTo>
                  <a:pt x="3938100" y="184324"/>
                  <a:pt x="3950208" y="186944"/>
                  <a:pt x="3962400" y="188976"/>
                </a:cubicBezTo>
                <a:cubicBezTo>
                  <a:pt x="3968496" y="193040"/>
                  <a:pt x="3973954" y="198282"/>
                  <a:pt x="3980688" y="201168"/>
                </a:cubicBezTo>
                <a:cubicBezTo>
                  <a:pt x="3988389" y="204468"/>
                  <a:pt x="4004147" y="198937"/>
                  <a:pt x="4005072" y="207264"/>
                </a:cubicBezTo>
                <a:cubicBezTo>
                  <a:pt x="4010911" y="259812"/>
                  <a:pt x="4006668" y="313452"/>
                  <a:pt x="3998976" y="365760"/>
                </a:cubicBezTo>
                <a:cubicBezTo>
                  <a:pt x="3996332" y="383741"/>
                  <a:pt x="3980339" y="397286"/>
                  <a:pt x="3974592" y="414528"/>
                </a:cubicBezTo>
                <a:lnTo>
                  <a:pt x="3968496" y="432816"/>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reeform: Shape 4">
            <a:extLst>
              <a:ext uri="{FF2B5EF4-FFF2-40B4-BE49-F238E27FC236}">
                <a16:creationId xmlns:a16="http://schemas.microsoft.com/office/drawing/2014/main" id="{BA45A8A9-16FC-4059-8F0F-E51F373A06D0}"/>
              </a:ext>
            </a:extLst>
          </p:cNvPr>
          <p:cNvSpPr/>
          <p:nvPr/>
        </p:nvSpPr>
        <p:spPr>
          <a:xfrm>
            <a:off x="4554106" y="1981200"/>
            <a:ext cx="752140" cy="373520"/>
          </a:xfrm>
          <a:custGeom>
            <a:avLst/>
            <a:gdLst>
              <a:gd name="connsiteX0" fmla="*/ 0 w 752140"/>
              <a:gd name="connsiteY0" fmla="*/ 373520 h 373520"/>
              <a:gd name="connsiteX1" fmla="*/ 6096 w 752140"/>
              <a:gd name="connsiteY1" fmla="*/ 288176 h 373520"/>
              <a:gd name="connsiteX2" fmla="*/ 18288 w 752140"/>
              <a:gd name="connsiteY2" fmla="*/ 251600 h 373520"/>
              <a:gd name="connsiteX3" fmla="*/ 24384 w 752140"/>
              <a:gd name="connsiteY3" fmla="*/ 208928 h 373520"/>
              <a:gd name="connsiteX4" fmla="*/ 36576 w 752140"/>
              <a:gd name="connsiteY4" fmla="*/ 74816 h 373520"/>
              <a:gd name="connsiteX5" fmla="*/ 42672 w 752140"/>
              <a:gd name="connsiteY5" fmla="*/ 56528 h 373520"/>
              <a:gd name="connsiteX6" fmla="*/ 54864 w 752140"/>
              <a:gd name="connsiteY6" fmla="*/ 7760 h 373520"/>
              <a:gd name="connsiteX7" fmla="*/ 146304 w 752140"/>
              <a:gd name="connsiteY7" fmla="*/ 1664 h 373520"/>
              <a:gd name="connsiteX8" fmla="*/ 548640 w 752140"/>
              <a:gd name="connsiteY8" fmla="*/ 13856 h 373520"/>
              <a:gd name="connsiteX9" fmla="*/ 579120 w 752140"/>
              <a:gd name="connsiteY9" fmla="*/ 19952 h 373520"/>
              <a:gd name="connsiteX10" fmla="*/ 640080 w 752140"/>
              <a:gd name="connsiteY10" fmla="*/ 26048 h 373520"/>
              <a:gd name="connsiteX11" fmla="*/ 664464 w 752140"/>
              <a:gd name="connsiteY11" fmla="*/ 38240 h 373520"/>
              <a:gd name="connsiteX12" fmla="*/ 749808 w 752140"/>
              <a:gd name="connsiteY12" fmla="*/ 50432 h 373520"/>
              <a:gd name="connsiteX13" fmla="*/ 737616 w 752140"/>
              <a:gd name="connsiteY13" fmla="*/ 306464 h 373520"/>
              <a:gd name="connsiteX14" fmla="*/ 725424 w 752140"/>
              <a:gd name="connsiteY14" fmla="*/ 343040 h 373520"/>
              <a:gd name="connsiteX15" fmla="*/ 719328 w 752140"/>
              <a:gd name="connsiteY15" fmla="*/ 355232 h 37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2140" h="373520">
                <a:moveTo>
                  <a:pt x="0" y="373520"/>
                </a:moveTo>
                <a:cubicBezTo>
                  <a:pt x="2032" y="345072"/>
                  <a:pt x="1865" y="316381"/>
                  <a:pt x="6096" y="288176"/>
                </a:cubicBezTo>
                <a:cubicBezTo>
                  <a:pt x="8002" y="275467"/>
                  <a:pt x="15398" y="264122"/>
                  <a:pt x="18288" y="251600"/>
                </a:cubicBezTo>
                <a:cubicBezTo>
                  <a:pt x="21519" y="237600"/>
                  <a:pt x="22954" y="223225"/>
                  <a:pt x="24384" y="208928"/>
                </a:cubicBezTo>
                <a:cubicBezTo>
                  <a:pt x="27779" y="174976"/>
                  <a:pt x="30410" y="111811"/>
                  <a:pt x="36576" y="74816"/>
                </a:cubicBezTo>
                <a:cubicBezTo>
                  <a:pt x="37632" y="68478"/>
                  <a:pt x="40981" y="62727"/>
                  <a:pt x="42672" y="56528"/>
                </a:cubicBezTo>
                <a:cubicBezTo>
                  <a:pt x="47081" y="40362"/>
                  <a:pt x="40055" y="15600"/>
                  <a:pt x="54864" y="7760"/>
                </a:cubicBezTo>
                <a:cubicBezTo>
                  <a:pt x="81862" y="-6533"/>
                  <a:pt x="115824" y="3696"/>
                  <a:pt x="146304" y="1664"/>
                </a:cubicBezTo>
                <a:lnTo>
                  <a:pt x="548640" y="13856"/>
                </a:lnTo>
                <a:cubicBezTo>
                  <a:pt x="558984" y="14447"/>
                  <a:pt x="568850" y="18583"/>
                  <a:pt x="579120" y="19952"/>
                </a:cubicBezTo>
                <a:cubicBezTo>
                  <a:pt x="599362" y="22651"/>
                  <a:pt x="619760" y="24016"/>
                  <a:pt x="640080" y="26048"/>
                </a:cubicBezTo>
                <a:cubicBezTo>
                  <a:pt x="648208" y="30112"/>
                  <a:pt x="655955" y="35049"/>
                  <a:pt x="664464" y="38240"/>
                </a:cubicBezTo>
                <a:cubicBezTo>
                  <a:pt x="688571" y="47280"/>
                  <a:pt x="729477" y="48399"/>
                  <a:pt x="749808" y="50432"/>
                </a:cubicBezTo>
                <a:cubicBezTo>
                  <a:pt x="747894" y="123166"/>
                  <a:pt x="761969" y="225289"/>
                  <a:pt x="737616" y="306464"/>
                </a:cubicBezTo>
                <a:cubicBezTo>
                  <a:pt x="733923" y="318774"/>
                  <a:pt x="731171" y="331545"/>
                  <a:pt x="725424" y="343040"/>
                </a:cubicBezTo>
                <a:lnTo>
                  <a:pt x="719328" y="355232"/>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6" name="Freeform: Shape 5">
            <a:extLst>
              <a:ext uri="{FF2B5EF4-FFF2-40B4-BE49-F238E27FC236}">
                <a16:creationId xmlns:a16="http://schemas.microsoft.com/office/drawing/2014/main" id="{73B483CB-101F-4DD5-8646-0A1AB38F37D6}"/>
              </a:ext>
            </a:extLst>
          </p:cNvPr>
          <p:cNvSpPr/>
          <p:nvPr/>
        </p:nvSpPr>
        <p:spPr>
          <a:xfrm>
            <a:off x="3224784" y="2871216"/>
            <a:ext cx="1883738" cy="420624"/>
          </a:xfrm>
          <a:custGeom>
            <a:avLst/>
            <a:gdLst>
              <a:gd name="connsiteX0" fmla="*/ 1859280 w 1883738"/>
              <a:gd name="connsiteY0" fmla="*/ 0 h 420624"/>
              <a:gd name="connsiteX1" fmla="*/ 1865376 w 1883738"/>
              <a:gd name="connsiteY1" fmla="*/ 286512 h 420624"/>
              <a:gd name="connsiteX2" fmla="*/ 1871472 w 1883738"/>
              <a:gd name="connsiteY2" fmla="*/ 304800 h 420624"/>
              <a:gd name="connsiteX3" fmla="*/ 1883664 w 1883738"/>
              <a:gd name="connsiteY3" fmla="*/ 323088 h 420624"/>
              <a:gd name="connsiteX4" fmla="*/ 1877568 w 1883738"/>
              <a:gd name="connsiteY4" fmla="*/ 353568 h 420624"/>
              <a:gd name="connsiteX5" fmla="*/ 603504 w 1883738"/>
              <a:gd name="connsiteY5" fmla="*/ 359664 h 420624"/>
              <a:gd name="connsiteX6" fmla="*/ 554736 w 1883738"/>
              <a:gd name="connsiteY6" fmla="*/ 365760 h 420624"/>
              <a:gd name="connsiteX7" fmla="*/ 432816 w 1883738"/>
              <a:gd name="connsiteY7" fmla="*/ 377952 h 420624"/>
              <a:gd name="connsiteX8" fmla="*/ 298704 w 1883738"/>
              <a:gd name="connsiteY8" fmla="*/ 384048 h 420624"/>
              <a:gd name="connsiteX9" fmla="*/ 213360 w 1883738"/>
              <a:gd name="connsiteY9" fmla="*/ 396240 h 420624"/>
              <a:gd name="connsiteX10" fmla="*/ 140208 w 1883738"/>
              <a:gd name="connsiteY10" fmla="*/ 408432 h 420624"/>
              <a:gd name="connsiteX11" fmla="*/ 91440 w 1883738"/>
              <a:gd name="connsiteY11" fmla="*/ 420624 h 420624"/>
              <a:gd name="connsiteX12" fmla="*/ 60960 w 1883738"/>
              <a:gd name="connsiteY12" fmla="*/ 384048 h 420624"/>
              <a:gd name="connsiteX13" fmla="*/ 48768 w 1883738"/>
              <a:gd name="connsiteY13" fmla="*/ 347472 h 420624"/>
              <a:gd name="connsiteX14" fmla="*/ 30480 w 1883738"/>
              <a:gd name="connsiteY14" fmla="*/ 329184 h 420624"/>
              <a:gd name="connsiteX15" fmla="*/ 6096 w 1883738"/>
              <a:gd name="connsiteY15" fmla="*/ 274320 h 420624"/>
              <a:gd name="connsiteX16" fmla="*/ 0 w 1883738"/>
              <a:gd name="connsiteY16" fmla="*/ 225552 h 42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83738" h="420624">
                <a:moveTo>
                  <a:pt x="1859280" y="0"/>
                </a:moveTo>
                <a:cubicBezTo>
                  <a:pt x="1861312" y="95504"/>
                  <a:pt x="1861558" y="191063"/>
                  <a:pt x="1865376" y="286512"/>
                </a:cubicBezTo>
                <a:cubicBezTo>
                  <a:pt x="1865633" y="292933"/>
                  <a:pt x="1868598" y="299053"/>
                  <a:pt x="1871472" y="304800"/>
                </a:cubicBezTo>
                <a:cubicBezTo>
                  <a:pt x="1874749" y="311353"/>
                  <a:pt x="1879600" y="316992"/>
                  <a:pt x="1883664" y="323088"/>
                </a:cubicBezTo>
                <a:cubicBezTo>
                  <a:pt x="1881632" y="333248"/>
                  <a:pt x="1887925" y="353272"/>
                  <a:pt x="1877568" y="353568"/>
                </a:cubicBezTo>
                <a:cubicBezTo>
                  <a:pt x="1453048" y="365697"/>
                  <a:pt x="1028179" y="355750"/>
                  <a:pt x="603504" y="359664"/>
                </a:cubicBezTo>
                <a:cubicBezTo>
                  <a:pt x="587122" y="359815"/>
                  <a:pt x="571025" y="364015"/>
                  <a:pt x="554736" y="365760"/>
                </a:cubicBezTo>
                <a:cubicBezTo>
                  <a:pt x="514126" y="370111"/>
                  <a:pt x="473555" y="375042"/>
                  <a:pt x="432816" y="377952"/>
                </a:cubicBezTo>
                <a:cubicBezTo>
                  <a:pt x="388180" y="381140"/>
                  <a:pt x="343408" y="382016"/>
                  <a:pt x="298704" y="384048"/>
                </a:cubicBezTo>
                <a:cubicBezTo>
                  <a:pt x="257800" y="397683"/>
                  <a:pt x="291438" y="388021"/>
                  <a:pt x="213360" y="396240"/>
                </a:cubicBezTo>
                <a:cubicBezTo>
                  <a:pt x="147206" y="403204"/>
                  <a:pt x="185125" y="398450"/>
                  <a:pt x="140208" y="408432"/>
                </a:cubicBezTo>
                <a:cubicBezTo>
                  <a:pt x="96071" y="418240"/>
                  <a:pt x="124120" y="409731"/>
                  <a:pt x="91440" y="420624"/>
                </a:cubicBezTo>
                <a:cubicBezTo>
                  <a:pt x="68992" y="405659"/>
                  <a:pt x="72210" y="412173"/>
                  <a:pt x="60960" y="384048"/>
                </a:cubicBezTo>
                <a:cubicBezTo>
                  <a:pt x="56187" y="372116"/>
                  <a:pt x="57855" y="356559"/>
                  <a:pt x="48768" y="347472"/>
                </a:cubicBezTo>
                <a:lnTo>
                  <a:pt x="30480" y="329184"/>
                </a:lnTo>
                <a:cubicBezTo>
                  <a:pt x="15971" y="285657"/>
                  <a:pt x="25417" y="303301"/>
                  <a:pt x="6096" y="274320"/>
                </a:cubicBezTo>
                <a:lnTo>
                  <a:pt x="0" y="225552"/>
                </a:lnTo>
              </a:path>
            </a:pathLst>
          </a:cu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n-IN"/>
          </a:p>
        </p:txBody>
      </p:sp>
      <p:sp>
        <p:nvSpPr>
          <p:cNvPr id="7" name="Freeform: Shape 6">
            <a:extLst>
              <a:ext uri="{FF2B5EF4-FFF2-40B4-BE49-F238E27FC236}">
                <a16:creationId xmlns:a16="http://schemas.microsoft.com/office/drawing/2014/main" id="{22341028-DFE9-416D-810F-A02349FD351E}"/>
              </a:ext>
            </a:extLst>
          </p:cNvPr>
          <p:cNvSpPr/>
          <p:nvPr/>
        </p:nvSpPr>
        <p:spPr>
          <a:xfrm>
            <a:off x="2978512" y="3070860"/>
            <a:ext cx="923257" cy="487680"/>
          </a:xfrm>
          <a:custGeom>
            <a:avLst/>
            <a:gdLst>
              <a:gd name="connsiteX0" fmla="*/ 23768 w 923257"/>
              <a:gd name="connsiteY0" fmla="*/ 22860 h 487680"/>
              <a:gd name="connsiteX1" fmla="*/ 8528 w 923257"/>
              <a:gd name="connsiteY1" fmla="*/ 76200 h 487680"/>
              <a:gd name="connsiteX2" fmla="*/ 8528 w 923257"/>
              <a:gd name="connsiteY2" fmla="*/ 487680 h 487680"/>
              <a:gd name="connsiteX3" fmla="*/ 107588 w 923257"/>
              <a:gd name="connsiteY3" fmla="*/ 480060 h 487680"/>
              <a:gd name="connsiteX4" fmla="*/ 313328 w 923257"/>
              <a:gd name="connsiteY4" fmla="*/ 464820 h 487680"/>
              <a:gd name="connsiteX5" fmla="*/ 389528 w 923257"/>
              <a:gd name="connsiteY5" fmla="*/ 441960 h 487680"/>
              <a:gd name="connsiteX6" fmla="*/ 465728 w 923257"/>
              <a:gd name="connsiteY6" fmla="*/ 426720 h 487680"/>
              <a:gd name="connsiteX7" fmla="*/ 488588 w 923257"/>
              <a:gd name="connsiteY7" fmla="*/ 411480 h 487680"/>
              <a:gd name="connsiteX8" fmla="*/ 534308 w 923257"/>
              <a:gd name="connsiteY8" fmla="*/ 396240 h 487680"/>
              <a:gd name="connsiteX9" fmla="*/ 587648 w 923257"/>
              <a:gd name="connsiteY9" fmla="*/ 381000 h 487680"/>
              <a:gd name="connsiteX10" fmla="*/ 610508 w 923257"/>
              <a:gd name="connsiteY10" fmla="*/ 358140 h 487680"/>
              <a:gd name="connsiteX11" fmla="*/ 633368 w 923257"/>
              <a:gd name="connsiteY11" fmla="*/ 350520 h 487680"/>
              <a:gd name="connsiteX12" fmla="*/ 717188 w 923257"/>
              <a:gd name="connsiteY12" fmla="*/ 335280 h 487680"/>
              <a:gd name="connsiteX13" fmla="*/ 747668 w 923257"/>
              <a:gd name="connsiteY13" fmla="*/ 320040 h 487680"/>
              <a:gd name="connsiteX14" fmla="*/ 793388 w 923257"/>
              <a:gd name="connsiteY14" fmla="*/ 312420 h 487680"/>
              <a:gd name="connsiteX15" fmla="*/ 831488 w 923257"/>
              <a:gd name="connsiteY15" fmla="*/ 304800 h 487680"/>
              <a:gd name="connsiteX16" fmla="*/ 907688 w 923257"/>
              <a:gd name="connsiteY16" fmla="*/ 281940 h 487680"/>
              <a:gd name="connsiteX17" fmla="*/ 922928 w 923257"/>
              <a:gd name="connsiteY17" fmla="*/ 259080 h 487680"/>
              <a:gd name="connsiteX18" fmla="*/ 900068 w 923257"/>
              <a:gd name="connsiteY18" fmla="*/ 167640 h 487680"/>
              <a:gd name="connsiteX19" fmla="*/ 869588 w 923257"/>
              <a:gd name="connsiteY19" fmla="*/ 121920 h 487680"/>
              <a:gd name="connsiteX20" fmla="*/ 846728 w 923257"/>
              <a:gd name="connsiteY20" fmla="*/ 76200 h 487680"/>
              <a:gd name="connsiteX21" fmla="*/ 839108 w 923257"/>
              <a:gd name="connsiteY21" fmla="*/ 53340 h 487680"/>
              <a:gd name="connsiteX22" fmla="*/ 823868 w 923257"/>
              <a:gd name="connsiteY22" fmla="*/ 30480 h 487680"/>
              <a:gd name="connsiteX23" fmla="*/ 816248 w 923257"/>
              <a:gd name="connsiteY23" fmla="*/ 0 h 48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23257" h="487680">
                <a:moveTo>
                  <a:pt x="23768" y="22860"/>
                </a:moveTo>
                <a:cubicBezTo>
                  <a:pt x="18688" y="40640"/>
                  <a:pt x="9946" y="57763"/>
                  <a:pt x="8528" y="76200"/>
                </a:cubicBezTo>
                <a:cubicBezTo>
                  <a:pt x="-5924" y="264079"/>
                  <a:pt x="713" y="315757"/>
                  <a:pt x="8528" y="487680"/>
                </a:cubicBezTo>
                <a:lnTo>
                  <a:pt x="107588" y="480060"/>
                </a:lnTo>
                <a:cubicBezTo>
                  <a:pt x="145085" y="477854"/>
                  <a:pt x="254849" y="479440"/>
                  <a:pt x="313328" y="464820"/>
                </a:cubicBezTo>
                <a:cubicBezTo>
                  <a:pt x="428185" y="436106"/>
                  <a:pt x="304868" y="460101"/>
                  <a:pt x="389528" y="441960"/>
                </a:cubicBezTo>
                <a:cubicBezTo>
                  <a:pt x="414856" y="436533"/>
                  <a:pt x="465728" y="426720"/>
                  <a:pt x="465728" y="426720"/>
                </a:cubicBezTo>
                <a:cubicBezTo>
                  <a:pt x="473348" y="421640"/>
                  <a:pt x="480219" y="415199"/>
                  <a:pt x="488588" y="411480"/>
                </a:cubicBezTo>
                <a:cubicBezTo>
                  <a:pt x="503268" y="404956"/>
                  <a:pt x="519068" y="401320"/>
                  <a:pt x="534308" y="396240"/>
                </a:cubicBezTo>
                <a:cubicBezTo>
                  <a:pt x="567103" y="385308"/>
                  <a:pt x="549376" y="390568"/>
                  <a:pt x="587648" y="381000"/>
                </a:cubicBezTo>
                <a:cubicBezTo>
                  <a:pt x="595268" y="373380"/>
                  <a:pt x="601542" y="364118"/>
                  <a:pt x="610508" y="358140"/>
                </a:cubicBezTo>
                <a:cubicBezTo>
                  <a:pt x="617191" y="353685"/>
                  <a:pt x="625576" y="352468"/>
                  <a:pt x="633368" y="350520"/>
                </a:cubicBezTo>
                <a:cubicBezTo>
                  <a:pt x="654668" y="345195"/>
                  <a:pt x="696807" y="338677"/>
                  <a:pt x="717188" y="335280"/>
                </a:cubicBezTo>
                <a:cubicBezTo>
                  <a:pt x="727348" y="330200"/>
                  <a:pt x="736788" y="323304"/>
                  <a:pt x="747668" y="320040"/>
                </a:cubicBezTo>
                <a:cubicBezTo>
                  <a:pt x="762467" y="315600"/>
                  <a:pt x="778187" y="315184"/>
                  <a:pt x="793388" y="312420"/>
                </a:cubicBezTo>
                <a:cubicBezTo>
                  <a:pt x="806131" y="310103"/>
                  <a:pt x="818923" y="307941"/>
                  <a:pt x="831488" y="304800"/>
                </a:cubicBezTo>
                <a:cubicBezTo>
                  <a:pt x="866381" y="296077"/>
                  <a:pt x="878653" y="291618"/>
                  <a:pt x="907688" y="281940"/>
                </a:cubicBezTo>
                <a:cubicBezTo>
                  <a:pt x="912768" y="274320"/>
                  <a:pt x="922017" y="268193"/>
                  <a:pt x="922928" y="259080"/>
                </a:cubicBezTo>
                <a:cubicBezTo>
                  <a:pt x="925479" y="233572"/>
                  <a:pt x="912759" y="190907"/>
                  <a:pt x="900068" y="167640"/>
                </a:cubicBezTo>
                <a:cubicBezTo>
                  <a:pt x="891297" y="151560"/>
                  <a:pt x="875380" y="139296"/>
                  <a:pt x="869588" y="121920"/>
                </a:cubicBezTo>
                <a:cubicBezTo>
                  <a:pt x="850435" y="64461"/>
                  <a:pt x="876271" y="135286"/>
                  <a:pt x="846728" y="76200"/>
                </a:cubicBezTo>
                <a:cubicBezTo>
                  <a:pt x="843136" y="69016"/>
                  <a:pt x="842700" y="60524"/>
                  <a:pt x="839108" y="53340"/>
                </a:cubicBezTo>
                <a:cubicBezTo>
                  <a:pt x="835012" y="45149"/>
                  <a:pt x="827964" y="38671"/>
                  <a:pt x="823868" y="30480"/>
                </a:cubicBezTo>
                <a:cubicBezTo>
                  <a:pt x="815445" y="13634"/>
                  <a:pt x="816248" y="12989"/>
                  <a:pt x="816248" y="0"/>
                </a:cubicBezTo>
              </a:path>
            </a:pathLst>
          </a:cu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a:p>
        </p:txBody>
      </p:sp>
      <p:sp>
        <p:nvSpPr>
          <p:cNvPr id="8" name="Freeform: Shape 7">
            <a:extLst>
              <a:ext uri="{FF2B5EF4-FFF2-40B4-BE49-F238E27FC236}">
                <a16:creationId xmlns:a16="http://schemas.microsoft.com/office/drawing/2014/main" id="{DE5A16BC-8369-4BB5-B01E-E042EEDBB916}"/>
              </a:ext>
            </a:extLst>
          </p:cNvPr>
          <p:cNvSpPr/>
          <p:nvPr/>
        </p:nvSpPr>
        <p:spPr>
          <a:xfrm>
            <a:off x="5227320" y="4480560"/>
            <a:ext cx="1158240" cy="426720"/>
          </a:xfrm>
          <a:custGeom>
            <a:avLst/>
            <a:gdLst>
              <a:gd name="connsiteX0" fmla="*/ 1158240 w 1158240"/>
              <a:gd name="connsiteY0" fmla="*/ 426720 h 426720"/>
              <a:gd name="connsiteX1" fmla="*/ 1150620 w 1158240"/>
              <a:gd name="connsiteY1" fmla="*/ 274320 h 426720"/>
              <a:gd name="connsiteX2" fmla="*/ 1143000 w 1158240"/>
              <a:gd name="connsiteY2" fmla="*/ 251460 h 426720"/>
              <a:gd name="connsiteX3" fmla="*/ 1135380 w 1158240"/>
              <a:gd name="connsiteY3" fmla="*/ 220980 h 426720"/>
              <a:gd name="connsiteX4" fmla="*/ 1104900 w 1158240"/>
              <a:gd name="connsiteY4" fmla="*/ 175260 h 426720"/>
              <a:gd name="connsiteX5" fmla="*/ 1089660 w 1158240"/>
              <a:gd name="connsiteY5" fmla="*/ 152400 h 426720"/>
              <a:gd name="connsiteX6" fmla="*/ 1021080 w 1158240"/>
              <a:gd name="connsiteY6" fmla="*/ 91440 h 426720"/>
              <a:gd name="connsiteX7" fmla="*/ 990600 w 1158240"/>
              <a:gd name="connsiteY7" fmla="*/ 76200 h 426720"/>
              <a:gd name="connsiteX8" fmla="*/ 944880 w 1158240"/>
              <a:gd name="connsiteY8" fmla="*/ 60960 h 426720"/>
              <a:gd name="connsiteX9" fmla="*/ 922020 w 1158240"/>
              <a:gd name="connsiteY9" fmla="*/ 53340 h 426720"/>
              <a:gd name="connsiteX10" fmla="*/ 883920 w 1158240"/>
              <a:gd name="connsiteY10" fmla="*/ 45720 h 426720"/>
              <a:gd name="connsiteX11" fmla="*/ 838200 w 1158240"/>
              <a:gd name="connsiteY11" fmla="*/ 30480 h 426720"/>
              <a:gd name="connsiteX12" fmla="*/ 800100 w 1158240"/>
              <a:gd name="connsiteY12" fmla="*/ 15240 h 426720"/>
              <a:gd name="connsiteX13" fmla="*/ 716280 w 1158240"/>
              <a:gd name="connsiteY13" fmla="*/ 7620 h 426720"/>
              <a:gd name="connsiteX14" fmla="*/ 670560 w 1158240"/>
              <a:gd name="connsiteY14" fmla="*/ 0 h 426720"/>
              <a:gd name="connsiteX15" fmla="*/ 320040 w 1158240"/>
              <a:gd name="connsiteY15" fmla="*/ 15240 h 426720"/>
              <a:gd name="connsiteX16" fmla="*/ 289560 w 1158240"/>
              <a:gd name="connsiteY16" fmla="*/ 22860 h 426720"/>
              <a:gd name="connsiteX17" fmla="*/ 266700 w 1158240"/>
              <a:gd name="connsiteY17" fmla="*/ 45720 h 426720"/>
              <a:gd name="connsiteX18" fmla="*/ 220980 w 1158240"/>
              <a:gd name="connsiteY18" fmla="*/ 68580 h 426720"/>
              <a:gd name="connsiteX19" fmla="*/ 190500 w 1158240"/>
              <a:gd name="connsiteY19" fmla="*/ 91440 h 426720"/>
              <a:gd name="connsiteX20" fmla="*/ 121920 w 1158240"/>
              <a:gd name="connsiteY20" fmla="*/ 167640 h 426720"/>
              <a:gd name="connsiteX21" fmla="*/ 91440 w 1158240"/>
              <a:gd name="connsiteY21" fmla="*/ 213360 h 426720"/>
              <a:gd name="connsiteX22" fmla="*/ 83820 w 1158240"/>
              <a:gd name="connsiteY22" fmla="*/ 236220 h 426720"/>
              <a:gd name="connsiteX23" fmla="*/ 30480 w 1158240"/>
              <a:gd name="connsiteY23" fmla="*/ 312420 h 426720"/>
              <a:gd name="connsiteX24" fmla="*/ 15240 w 1158240"/>
              <a:gd name="connsiteY24" fmla="*/ 335280 h 426720"/>
              <a:gd name="connsiteX25" fmla="*/ 0 w 1158240"/>
              <a:gd name="connsiteY25" fmla="*/ 36576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58240" h="426720">
                <a:moveTo>
                  <a:pt x="1158240" y="426720"/>
                </a:moveTo>
                <a:cubicBezTo>
                  <a:pt x="1155700" y="375920"/>
                  <a:pt x="1155026" y="324992"/>
                  <a:pt x="1150620" y="274320"/>
                </a:cubicBezTo>
                <a:cubicBezTo>
                  <a:pt x="1149924" y="266318"/>
                  <a:pt x="1145207" y="259183"/>
                  <a:pt x="1143000" y="251460"/>
                </a:cubicBezTo>
                <a:cubicBezTo>
                  <a:pt x="1140123" y="241390"/>
                  <a:pt x="1140064" y="230347"/>
                  <a:pt x="1135380" y="220980"/>
                </a:cubicBezTo>
                <a:cubicBezTo>
                  <a:pt x="1127189" y="204597"/>
                  <a:pt x="1115060" y="190500"/>
                  <a:pt x="1104900" y="175260"/>
                </a:cubicBezTo>
                <a:cubicBezTo>
                  <a:pt x="1099820" y="167640"/>
                  <a:pt x="1096136" y="158876"/>
                  <a:pt x="1089660" y="152400"/>
                </a:cubicBezTo>
                <a:cubicBezTo>
                  <a:pt x="1058798" y="121538"/>
                  <a:pt x="1052808" y="109570"/>
                  <a:pt x="1021080" y="91440"/>
                </a:cubicBezTo>
                <a:cubicBezTo>
                  <a:pt x="1011217" y="85804"/>
                  <a:pt x="1001147" y="80419"/>
                  <a:pt x="990600" y="76200"/>
                </a:cubicBezTo>
                <a:cubicBezTo>
                  <a:pt x="975685" y="70234"/>
                  <a:pt x="960120" y="66040"/>
                  <a:pt x="944880" y="60960"/>
                </a:cubicBezTo>
                <a:cubicBezTo>
                  <a:pt x="937260" y="58420"/>
                  <a:pt x="929896" y="54915"/>
                  <a:pt x="922020" y="53340"/>
                </a:cubicBezTo>
                <a:cubicBezTo>
                  <a:pt x="909320" y="50800"/>
                  <a:pt x="896415" y="49128"/>
                  <a:pt x="883920" y="45720"/>
                </a:cubicBezTo>
                <a:cubicBezTo>
                  <a:pt x="868422" y="41493"/>
                  <a:pt x="853115" y="36446"/>
                  <a:pt x="838200" y="30480"/>
                </a:cubicBezTo>
                <a:cubicBezTo>
                  <a:pt x="825500" y="25400"/>
                  <a:pt x="813544" y="17761"/>
                  <a:pt x="800100" y="15240"/>
                </a:cubicBezTo>
                <a:cubicBezTo>
                  <a:pt x="772525" y="10070"/>
                  <a:pt x="744143" y="10898"/>
                  <a:pt x="716280" y="7620"/>
                </a:cubicBezTo>
                <a:cubicBezTo>
                  <a:pt x="700936" y="5815"/>
                  <a:pt x="685800" y="2540"/>
                  <a:pt x="670560" y="0"/>
                </a:cubicBezTo>
                <a:lnTo>
                  <a:pt x="320040" y="15240"/>
                </a:lnTo>
                <a:cubicBezTo>
                  <a:pt x="309586" y="15867"/>
                  <a:pt x="298653" y="17664"/>
                  <a:pt x="289560" y="22860"/>
                </a:cubicBezTo>
                <a:cubicBezTo>
                  <a:pt x="280204" y="28207"/>
                  <a:pt x="274979" y="38821"/>
                  <a:pt x="266700" y="45720"/>
                </a:cubicBezTo>
                <a:cubicBezTo>
                  <a:pt x="247005" y="62133"/>
                  <a:pt x="243891" y="60943"/>
                  <a:pt x="220980" y="68580"/>
                </a:cubicBezTo>
                <a:cubicBezTo>
                  <a:pt x="210820" y="76200"/>
                  <a:pt x="199940" y="82944"/>
                  <a:pt x="190500" y="91440"/>
                </a:cubicBezTo>
                <a:cubicBezTo>
                  <a:pt x="148423" y="129309"/>
                  <a:pt x="150273" y="129836"/>
                  <a:pt x="121920" y="167640"/>
                </a:cubicBezTo>
                <a:cubicBezTo>
                  <a:pt x="103802" y="221995"/>
                  <a:pt x="129493" y="156281"/>
                  <a:pt x="91440" y="213360"/>
                </a:cubicBezTo>
                <a:cubicBezTo>
                  <a:pt x="86985" y="220043"/>
                  <a:pt x="87721" y="229199"/>
                  <a:pt x="83820" y="236220"/>
                </a:cubicBezTo>
                <a:cubicBezTo>
                  <a:pt x="66302" y="267752"/>
                  <a:pt x="50457" y="284452"/>
                  <a:pt x="30480" y="312420"/>
                </a:cubicBezTo>
                <a:cubicBezTo>
                  <a:pt x="25157" y="319872"/>
                  <a:pt x="19336" y="327089"/>
                  <a:pt x="15240" y="335280"/>
                </a:cubicBezTo>
                <a:cubicBezTo>
                  <a:pt x="-2272" y="370304"/>
                  <a:pt x="17215" y="348545"/>
                  <a:pt x="0" y="36576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Isosceles Triangle 8">
            <a:extLst>
              <a:ext uri="{FF2B5EF4-FFF2-40B4-BE49-F238E27FC236}">
                <a16:creationId xmlns:a16="http://schemas.microsoft.com/office/drawing/2014/main" id="{2771402E-95F5-4ACC-AA82-09DBCBDF527F}"/>
              </a:ext>
            </a:extLst>
          </p:cNvPr>
          <p:cNvSpPr/>
          <p:nvPr/>
        </p:nvSpPr>
        <p:spPr>
          <a:xfrm rot="13641490">
            <a:off x="5049841" y="4748917"/>
            <a:ext cx="381000" cy="152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2934EAF-CB34-476A-AE76-EBB6257DE1EF}"/>
              </a:ext>
            </a:extLst>
          </p:cNvPr>
          <p:cNvSpPr txBox="1"/>
          <p:nvPr/>
        </p:nvSpPr>
        <p:spPr>
          <a:xfrm>
            <a:off x="5425442" y="4509254"/>
            <a:ext cx="1219200" cy="369332"/>
          </a:xfrm>
          <a:prstGeom prst="rect">
            <a:avLst/>
          </a:prstGeom>
          <a:noFill/>
        </p:spPr>
        <p:txBody>
          <a:bodyPr wrap="square" rtlCol="0">
            <a:spAutoFit/>
          </a:bodyPr>
          <a:lstStyle/>
          <a:p>
            <a:r>
              <a:rPr lang="en-IN" dirty="0"/>
              <a:t>String</a:t>
            </a:r>
          </a:p>
        </p:txBody>
      </p:sp>
      <p:sp>
        <p:nvSpPr>
          <p:cNvPr id="12" name="TextBox 11">
            <a:extLst>
              <a:ext uri="{FF2B5EF4-FFF2-40B4-BE49-F238E27FC236}">
                <a16:creationId xmlns:a16="http://schemas.microsoft.com/office/drawing/2014/main" id="{63BEDCD1-5FC8-480C-8564-86AA3C04CDD4}"/>
              </a:ext>
            </a:extLst>
          </p:cNvPr>
          <p:cNvSpPr txBox="1"/>
          <p:nvPr/>
        </p:nvSpPr>
        <p:spPr>
          <a:xfrm>
            <a:off x="219075" y="5237690"/>
            <a:ext cx="6096000" cy="144655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100" dirty="0">
                <a:solidFill>
                  <a:srgbClr val="0000FF"/>
                </a:solidFill>
                <a:latin typeface="Cascadia Mono" panose="020B0609020000020004" pitchFamily="49" charset="0"/>
              </a:rPr>
              <a:t>Create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Procedure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spGetProductsByName</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@ProductName </a:t>
            </a:r>
            <a:r>
              <a:rPr lang="en-IN" sz="1100" dirty="0" err="1">
                <a:solidFill>
                  <a:srgbClr val="0000FF"/>
                </a:solidFill>
                <a:latin typeface="Cascadia Mono" panose="020B0609020000020004" pitchFamily="49" charset="0"/>
              </a:rPr>
              <a:t>nvarchar</a:t>
            </a:r>
            <a:r>
              <a:rPr lang="en-IN" sz="1100" dirty="0">
                <a:solidFill>
                  <a:srgbClr val="808080"/>
                </a:solidFill>
                <a:latin typeface="Cascadia Mono" panose="020B0609020000020004" pitchFamily="49" charset="0"/>
              </a:rPr>
              <a:t>(</a:t>
            </a:r>
            <a:r>
              <a:rPr lang="en-IN" sz="1100" dirty="0">
                <a:solidFill>
                  <a:srgbClr val="000000"/>
                </a:solidFill>
                <a:latin typeface="Cascadia Mono" panose="020B0609020000020004" pitchFamily="49" charset="0"/>
              </a:rPr>
              <a:t>50</a:t>
            </a:r>
            <a:r>
              <a:rPr lang="en-IN" sz="1100" dirty="0">
                <a:solidFill>
                  <a:srgbClr val="80808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as</a:t>
            </a:r>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Begin</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Select</a:t>
            </a:r>
            <a:r>
              <a:rPr lang="en-IN" sz="1100" dirty="0">
                <a:solidFill>
                  <a:srgbClr val="000000"/>
                </a:solidFill>
                <a:latin typeface="Cascadia Mono" panose="020B0609020000020004" pitchFamily="49" charset="0"/>
              </a:rPr>
              <a:t> </a:t>
            </a:r>
            <a:r>
              <a:rPr lang="en-IN" sz="1100" dirty="0">
                <a:solidFill>
                  <a:srgbClr val="808080"/>
                </a:solidFill>
                <a:latin typeface="Cascadia Mono" panose="020B0609020000020004" pitchFamily="49" charset="0"/>
              </a:rPr>
              <a:t>*</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from</a:t>
            </a:r>
            <a:r>
              <a:rPr lang="en-IN" sz="1100" dirty="0">
                <a:solidFill>
                  <a:srgbClr val="000000"/>
                </a:solidFill>
                <a:latin typeface="Cascadia Mono" panose="020B0609020000020004" pitchFamily="49" charset="0"/>
              </a:rPr>
              <a:t> Employees</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where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Name</a:t>
            </a:r>
            <a:r>
              <a:rPr lang="en-IN" sz="1100" dirty="0">
                <a:solidFill>
                  <a:srgbClr val="000000"/>
                </a:solidFill>
                <a:latin typeface="Cascadia Mono" panose="020B0609020000020004" pitchFamily="49" charset="0"/>
              </a:rPr>
              <a:t> </a:t>
            </a:r>
            <a:r>
              <a:rPr lang="en-IN" sz="1100" dirty="0">
                <a:solidFill>
                  <a:srgbClr val="808080"/>
                </a:solidFill>
                <a:latin typeface="Cascadia Mono" panose="020B0609020000020004" pitchFamily="49" charset="0"/>
              </a:rPr>
              <a:t>like</a:t>
            </a:r>
            <a:r>
              <a:rPr lang="en-IN" sz="1100" dirty="0">
                <a:solidFill>
                  <a:srgbClr val="000000"/>
                </a:solidFill>
                <a:latin typeface="Cascadia Mono" panose="020B0609020000020004" pitchFamily="49" charset="0"/>
              </a:rPr>
              <a:t> @ProductName </a:t>
            </a:r>
            <a:r>
              <a:rPr lang="en-IN" sz="1100" dirty="0">
                <a:solidFill>
                  <a:srgbClr val="808080"/>
                </a:solidFill>
                <a:latin typeface="Cascadia Mono" panose="020B0609020000020004" pitchFamily="49" charset="0"/>
              </a:rPr>
              <a:t>+</a:t>
            </a:r>
            <a:r>
              <a:rPr lang="en-IN" sz="1100" dirty="0">
                <a:solidFill>
                  <a:srgbClr val="000000"/>
                </a:solidFill>
                <a:latin typeface="Cascadia Mono" panose="020B0609020000020004" pitchFamily="49" charset="0"/>
              </a:rPr>
              <a:t> </a:t>
            </a:r>
            <a:r>
              <a:rPr lang="en-IN" sz="1100" dirty="0">
                <a:solidFill>
                  <a:srgbClr val="FF0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End</a:t>
            </a:r>
            <a:endParaRPr lang="en-IN" sz="5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085486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461EA1-AC2F-C3CD-D7E7-3F9310982843}"/>
              </a:ext>
            </a:extLst>
          </p:cNvPr>
          <p:cNvSpPr txBox="1"/>
          <p:nvPr/>
        </p:nvSpPr>
        <p:spPr>
          <a:xfrm>
            <a:off x="1219200" y="76200"/>
            <a:ext cx="7696200" cy="7848302"/>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ConsoleAppADONETSTUDENTS.Model</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Microsoft.Extensions.Configuration</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System; </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System.Data.SqlClient</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System.Data</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ConsoleAppADONETSTUDENTS.DAL</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internal</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EmpDAL</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EmpDAL</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iconfiguration.GetConnectionString</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"Default"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void</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displayproduct</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pname</a:t>
            </a:r>
            <a:r>
              <a:rPr lang="en-US" sz="1050" dirty="0">
                <a:solidFill>
                  <a:srgbClr val="000000"/>
                </a:solidFill>
                <a:latin typeface="Cascadia Mono" panose="020B0609020000020004" pitchFamily="49" charset="0"/>
              </a:rPr>
              <a:t>)</a:t>
            </a:r>
            <a:r>
              <a:rPr lang="en-US" sz="1050" dirty="0">
                <a:solidFill>
                  <a:srgbClr val="008000"/>
                </a:solidFill>
                <a:latin typeface="Cascadia Mono" panose="020B0609020000020004" pitchFamily="49" charset="0"/>
              </a:rPr>
              <a:t>//"T"</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using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SqlConnection</a:t>
            </a:r>
            <a:r>
              <a:rPr lang="en-US" sz="1050" dirty="0">
                <a:solidFill>
                  <a:srgbClr val="000000"/>
                </a:solidFill>
                <a:latin typeface="Cascadia Mono" panose="020B0609020000020004" pitchFamily="49" charset="0"/>
              </a:rPr>
              <a:t> connection =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SqlConnection</a:t>
            </a:r>
            <a:r>
              <a:rPr lang="en-US" sz="1050" dirty="0">
                <a:solidFill>
                  <a:srgbClr val="000000"/>
                </a:solidFill>
                <a:latin typeface="Cascadia Mono" panose="020B0609020000020004" pitchFamily="49" charset="0"/>
              </a:rPr>
              <a:t>(_</a:t>
            </a:r>
            <a:r>
              <a:rPr lang="en-US" sz="1050" dirty="0" err="1">
                <a:solidFill>
                  <a:srgbClr val="000000"/>
                </a:solidFill>
                <a:latin typeface="Cascadia Mono" panose="020B0609020000020004" pitchFamily="49" charset="0"/>
              </a:rPr>
              <a:t>connectionString</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try</a:t>
            </a:r>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  </a:t>
            </a:r>
            <a:r>
              <a:rPr lang="en-US" sz="1050" dirty="0">
                <a:solidFill>
                  <a:srgbClr val="008000"/>
                </a:solidFill>
                <a:latin typeface="Cascadia Mono" panose="020B0609020000020004" pitchFamily="49" charset="0"/>
              </a:rPr>
              <a:t>//"v'; Delete from </a:t>
            </a:r>
            <a:r>
              <a:rPr lang="en-US" sz="1050" dirty="0" err="1">
                <a:solidFill>
                  <a:srgbClr val="008000"/>
                </a:solidFill>
                <a:latin typeface="Cascadia Mono" panose="020B0609020000020004" pitchFamily="49" charset="0"/>
              </a:rPr>
              <a:t>Product;Select</a:t>
            </a:r>
            <a:r>
              <a:rPr lang="en-US" sz="1050" dirty="0">
                <a:solidFill>
                  <a:srgbClr val="008000"/>
                </a:solidFill>
                <a:latin typeface="Cascadia Mono" panose="020B0609020000020004" pitchFamily="49" charset="0"/>
              </a:rPr>
              <a:t> * from Product where Name like 'v"</a:t>
            </a:r>
            <a:endParaRPr lang="en-US" sz="1050" dirty="0">
              <a:solidFill>
                <a:srgbClr val="000000"/>
              </a:solidFill>
              <a:latin typeface="Cascadia Mono" panose="020B0609020000020004" pitchFamily="49" charset="0"/>
            </a:endParaRP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//Build the query dynamically, by concatenating the text, that the user has </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//typed into the </a:t>
            </a:r>
            <a:r>
              <a:rPr lang="en-US" sz="1050" dirty="0" err="1">
                <a:solidFill>
                  <a:srgbClr val="008000"/>
                </a:solidFill>
                <a:latin typeface="Cascadia Mono" panose="020B0609020000020004" pitchFamily="49" charset="0"/>
              </a:rPr>
              <a:t>ProductNameTextBox</a:t>
            </a:r>
            <a:r>
              <a:rPr lang="en-US" sz="1050" dirty="0">
                <a:solidFill>
                  <a:srgbClr val="008000"/>
                </a:solidFill>
                <a:latin typeface="Cascadia Mono" panose="020B0609020000020004" pitchFamily="49" charset="0"/>
              </a:rPr>
              <a:t>. This is a bad way of constructing</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//queries. This line of code will open doors for </a:t>
            </a:r>
            <a:r>
              <a:rPr lang="en-US" sz="1050" dirty="0" err="1">
                <a:solidFill>
                  <a:srgbClr val="008000"/>
                </a:solidFill>
                <a:latin typeface="Cascadia Mono" panose="020B0609020000020004" pitchFamily="49" charset="0"/>
              </a:rPr>
              <a:t>sql</a:t>
            </a:r>
            <a:r>
              <a:rPr lang="en-US" sz="1050" dirty="0">
                <a:solidFill>
                  <a:srgbClr val="008000"/>
                </a:solidFill>
                <a:latin typeface="Cascadia Mono" panose="020B0609020000020004" pitchFamily="49" charset="0"/>
              </a:rPr>
              <a:t> injection attack</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Select* from Product where Name like 'T%';</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SqlCommand</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cmd</a:t>
            </a:r>
            <a:r>
              <a:rPr lang="en-US" sz="1050" dirty="0">
                <a:solidFill>
                  <a:srgbClr val="000000"/>
                </a:solidFill>
                <a:latin typeface="Cascadia Mono" panose="020B0609020000020004" pitchFamily="49" charset="0"/>
              </a:rPr>
              <a:t> =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SqlCommand</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"Select * from Employees where Name like '"</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pname</a:t>
            </a:r>
            <a:r>
              <a:rPr lang="en-US" sz="1050" dirty="0">
                <a:solidFill>
                  <a:srgbClr val="000000"/>
                </a:solidFill>
                <a:latin typeface="Cascadia Mono" panose="020B0609020000020004" pitchFamily="49" charset="0"/>
              </a:rPr>
              <a:t> + </a:t>
            </a:r>
            <a:r>
              <a:rPr lang="en-US" sz="1050" dirty="0">
                <a:solidFill>
                  <a:srgbClr val="A31515"/>
                </a:solidFill>
                <a:latin typeface="Cascadia Mono" panose="020B0609020000020004" pitchFamily="49" charset="0"/>
              </a:rPr>
              <a:t>"%'"</a:t>
            </a:r>
            <a:r>
              <a:rPr lang="en-US" sz="1050" dirty="0">
                <a:solidFill>
                  <a:srgbClr val="000000"/>
                </a:solidFill>
                <a:latin typeface="Cascadia Mono" panose="020B0609020000020004" pitchFamily="49" charset="0"/>
              </a:rPr>
              <a:t>, connection);</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connection.Open</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SqlDataReader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cmd.ExecuteReader</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while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rd.Read</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"{0} {1} {2}"</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"Id"</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catch</a:t>
            </a:r>
            <a:r>
              <a:rPr lang="en-IN" sz="1050" dirty="0">
                <a:solidFill>
                  <a:srgbClr val="000000"/>
                </a:solidFill>
                <a:latin typeface="Cascadia Mono" panose="020B0609020000020004" pitchFamily="49" charset="0"/>
              </a:rPr>
              <a:t> (Exception ex)</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ex.Message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p:txBody>
      </p:sp>
    </p:spTree>
    <p:extLst>
      <p:ext uri="{BB962C8B-B14F-4D97-AF65-F5344CB8AC3E}">
        <p14:creationId xmlns:p14="http://schemas.microsoft.com/office/powerpoint/2010/main" val="1545931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5D9C04-2E38-280B-588E-B79A51C504F9}"/>
              </a:ext>
            </a:extLst>
          </p:cNvPr>
          <p:cNvSpPr txBox="1"/>
          <p:nvPr/>
        </p:nvSpPr>
        <p:spPr>
          <a:xfrm>
            <a:off x="990600" y="228600"/>
            <a:ext cx="7467600" cy="5216813"/>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ConsoleAppADONETSTUDENTS.DAL</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Microsoft.Extensions.Configuration</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GetAppSettingsFile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PrintCountries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GetAppSettingsFile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ConfigurationBuilder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SetBasePath</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Directory.GetCurrentDirectory</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AddJsonFile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appsettings.json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optional: </a:t>
            </a:r>
            <a:r>
              <a:rPr lang="en-US" sz="900" dirty="0">
                <a:solidFill>
                  <a:srgbClr val="0000FF"/>
                </a:solidFill>
                <a:latin typeface="Cascadia Mono" panose="020B0609020000020004" pitchFamily="49" charset="0"/>
              </a:rPr>
              <a:t>false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reloadOnChange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true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mypath</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ConfigurationBuilder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SetBasePath</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Directory.GetCurrentDirectory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Directory.GetCurrentDirectory</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ConfigurationBuilder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SetBasePath</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Directory.GetCurrentDirectory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PrintCountries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string s = "R";</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s = </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R';delete</a:t>
            </a:r>
            <a:r>
              <a:rPr lang="en-US" sz="900" dirty="0">
                <a:solidFill>
                  <a:srgbClr val="A31515"/>
                </a:solidFill>
                <a:latin typeface="Cascadia Mono" panose="020B0609020000020004" pitchFamily="49" charset="0"/>
              </a:rPr>
              <a:t> from </a:t>
            </a:r>
            <a:r>
              <a:rPr lang="en-US" sz="900" dirty="0" err="1">
                <a:solidFill>
                  <a:srgbClr val="A31515"/>
                </a:solidFill>
                <a:latin typeface="Cascadia Mono" panose="020B0609020000020004" pitchFamily="49" charset="0"/>
              </a:rPr>
              <a:t>Employees;Select</a:t>
            </a:r>
            <a:r>
              <a:rPr lang="en-US" sz="900" dirty="0">
                <a:solidFill>
                  <a:srgbClr val="A31515"/>
                </a:solidFill>
                <a:latin typeface="Cascadia Mono" panose="020B0609020000020004" pitchFamily="49" charset="0"/>
              </a:rPr>
              <a:t> * from Employees where Name like 'R"</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EmpDAL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EmpDAL</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EmpDAL</a:t>
            </a:r>
            <a:r>
              <a:rPr lang="en-US" sz="900" dirty="0">
                <a:solidFill>
                  <a:srgbClr val="000000"/>
                </a:solidFill>
                <a:latin typeface="Cascadia Mono" panose="020B0609020000020004" pitchFamily="49" charset="0"/>
              </a:rPr>
              <a:t>(_</a:t>
            </a:r>
            <a:r>
              <a:rPr lang="en-US" sz="900" dirty="0" err="1">
                <a:solidFill>
                  <a:srgbClr val="000000"/>
                </a:solidFill>
                <a:latin typeface="Cascadia Mono" panose="020B0609020000020004" pitchFamily="49" charset="0"/>
              </a:rPr>
              <a:t>iconfiguration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EmpDAL.displayproduct</a:t>
            </a:r>
            <a:r>
              <a:rPr lang="en-IN" sz="900" dirty="0">
                <a:solidFill>
                  <a:srgbClr val="000000"/>
                </a:solidFill>
                <a:latin typeface="Cascadia Mono" panose="020B0609020000020004" pitchFamily="49" charset="0"/>
              </a:rPr>
              <a:t>(s);</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"Press any key to stop."</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Console.ReadKey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98920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0CE2F6-C61F-E484-B49D-F7B6F5310B03}"/>
              </a:ext>
            </a:extLst>
          </p:cNvPr>
          <p:cNvSpPr txBox="1"/>
          <p:nvPr/>
        </p:nvSpPr>
        <p:spPr>
          <a:xfrm>
            <a:off x="381000" y="152400"/>
            <a:ext cx="8534400" cy="7879080"/>
          </a:xfrm>
          <a:prstGeom prst="rect">
            <a:avLst/>
          </a:prstGeom>
          <a:noFill/>
        </p:spPr>
        <p:txBody>
          <a:bodyPr wrap="square">
            <a:spAutoFit/>
          </a:bodyPr>
          <a:lstStyle/>
          <a:p>
            <a:r>
              <a:rPr lang="en-IN" sz="1100" dirty="0">
                <a:solidFill>
                  <a:srgbClr val="0000FF"/>
                </a:solidFill>
                <a:latin typeface="Cascadia Mono" panose="020B0609020000020004" pitchFamily="49" charset="0"/>
              </a:rPr>
              <a:t>	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ConsoleAppADONETSTUDENTS.Model</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	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Microsoft.Extensions.Configuration</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	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System.Data.SqlClient</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ConsoleAppADONETSTUDENTS.DAL</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EmpDAL</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private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string</a:t>
            </a:r>
            <a:r>
              <a:rPr lang="en-IN" sz="1100" dirty="0">
                <a:solidFill>
                  <a:srgbClr val="000000"/>
                </a:solidFill>
                <a:latin typeface="Cascadia Mono" panose="020B0609020000020004" pitchFamily="49" charset="0"/>
              </a:rPr>
              <a:t> _</a:t>
            </a:r>
            <a:r>
              <a:rPr lang="en-IN" sz="1100" dirty="0" err="1">
                <a:solidFill>
                  <a:srgbClr val="000000"/>
                </a:solidFill>
                <a:latin typeface="Cascadia Mono" panose="020B0609020000020004" pitchFamily="49" charset="0"/>
              </a:rPr>
              <a:t>connectionString</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EmpDAL</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IConfiguration</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iconfiguration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_</a:t>
            </a:r>
            <a:r>
              <a:rPr lang="en-IN" sz="1100" dirty="0" err="1">
                <a:solidFill>
                  <a:srgbClr val="000000"/>
                </a:solidFill>
                <a:latin typeface="Cascadia Mono" panose="020B0609020000020004" pitchFamily="49" charset="0"/>
              </a:rPr>
              <a:t>connectionString</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iconfiguration.GetConnectionString</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"Default"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displayproduct</a:t>
            </a:r>
            <a:r>
              <a:rPr lang="en-US" sz="1100" dirty="0">
                <a:solidFill>
                  <a:srgbClr val="000000"/>
                </a:solidFill>
                <a:latin typeface="Cascadia Mono" panose="020B0609020000020004" pitchFamily="49" charset="0"/>
              </a:rPr>
              <a:t>(</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pname</a:t>
            </a:r>
            <a:r>
              <a:rPr lang="en-US" sz="1100" dirty="0">
                <a:solidFill>
                  <a:srgbClr val="000000"/>
                </a:solidFill>
                <a:latin typeface="Cascadia Mono" panose="020B0609020000020004" pitchFamily="49" charset="0"/>
              </a:rPr>
              <a:t>)</a:t>
            </a:r>
            <a:r>
              <a:rPr lang="en-US" sz="1100" dirty="0">
                <a:solidFill>
                  <a:srgbClr val="008000"/>
                </a:solidFill>
                <a:latin typeface="Cascadia Mono" panose="020B0609020000020004" pitchFamily="49" charset="0"/>
              </a:rPr>
              <a:t>//"T"</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using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SqlConnection</a:t>
            </a:r>
            <a:r>
              <a:rPr lang="en-US" sz="1100" dirty="0">
                <a:solidFill>
                  <a:srgbClr val="000000"/>
                </a:solidFill>
                <a:latin typeface="Cascadia Mono" panose="020B0609020000020004" pitchFamily="49" charset="0"/>
              </a:rPr>
              <a:t> connection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SqlConnection</a:t>
            </a:r>
            <a:r>
              <a:rPr lang="en-US" sz="1100" dirty="0">
                <a:solidFill>
                  <a:srgbClr val="000000"/>
                </a:solidFill>
                <a:latin typeface="Cascadia Mono" panose="020B0609020000020004" pitchFamily="49" charset="0"/>
              </a:rPr>
              <a:t>(_</a:t>
            </a:r>
            <a:r>
              <a:rPr lang="en-US" sz="1100" dirty="0" err="1">
                <a:solidFill>
                  <a:srgbClr val="000000"/>
                </a:solidFill>
                <a:latin typeface="Cascadia Mono" panose="020B0609020000020004" pitchFamily="49" charset="0"/>
              </a:rPr>
              <a:t>connectionString</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try</a:t>
            </a:r>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  </a:t>
            </a:r>
            <a:r>
              <a:rPr lang="en-US" sz="1100" dirty="0">
                <a:solidFill>
                  <a:srgbClr val="008000"/>
                </a:solidFill>
                <a:latin typeface="Cascadia Mono" panose="020B0609020000020004" pitchFamily="49" charset="0"/>
              </a:rPr>
              <a:t>//"v'; Delete from </a:t>
            </a:r>
            <a:r>
              <a:rPr lang="en-US" sz="1100" dirty="0" err="1">
                <a:solidFill>
                  <a:srgbClr val="008000"/>
                </a:solidFill>
                <a:latin typeface="Cascadia Mono" panose="020B0609020000020004" pitchFamily="49" charset="0"/>
              </a:rPr>
              <a:t>Product;Select</a:t>
            </a:r>
            <a:r>
              <a:rPr lang="en-US" sz="1100" dirty="0">
                <a:solidFill>
                  <a:srgbClr val="008000"/>
                </a:solidFill>
                <a:latin typeface="Cascadia Mono" panose="020B0609020000020004" pitchFamily="49" charset="0"/>
              </a:rPr>
              <a:t> * from Product where Name like 'v"</a:t>
            </a:r>
            <a:endParaRPr lang="en-US"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//Build the query dynamically, by concatenating the text, that the user has </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//typed into the </a:t>
            </a:r>
            <a:r>
              <a:rPr lang="en-US" sz="1100" dirty="0" err="1">
                <a:solidFill>
                  <a:srgbClr val="008000"/>
                </a:solidFill>
                <a:latin typeface="Cascadia Mono" panose="020B0609020000020004" pitchFamily="49" charset="0"/>
              </a:rPr>
              <a:t>ProductNameTextBox</a:t>
            </a:r>
            <a:r>
              <a:rPr lang="en-US" sz="1100" dirty="0">
                <a:solidFill>
                  <a:srgbClr val="008000"/>
                </a:solidFill>
                <a:latin typeface="Cascadia Mono" panose="020B0609020000020004" pitchFamily="49" charset="0"/>
              </a:rPr>
              <a:t>. This is a bad way of constructing</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//queries. This line of code will open doors for </a:t>
            </a:r>
            <a:r>
              <a:rPr lang="en-US" sz="1100" dirty="0" err="1">
                <a:solidFill>
                  <a:srgbClr val="008000"/>
                </a:solidFill>
                <a:latin typeface="Cascadia Mono" panose="020B0609020000020004" pitchFamily="49" charset="0"/>
              </a:rPr>
              <a:t>sql</a:t>
            </a:r>
            <a:r>
              <a:rPr lang="en-US" sz="1100" dirty="0">
                <a:solidFill>
                  <a:srgbClr val="008000"/>
                </a:solidFill>
                <a:latin typeface="Cascadia Mono" panose="020B0609020000020004" pitchFamily="49" charset="0"/>
              </a:rPr>
              <a:t> injection attack</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Select* from Product where Name like 'T%';</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SqlCommand</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cmd</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SqlCommand</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"Select * from Employees where Name like </a:t>
            </a:r>
            <a:r>
              <a:rPr lang="en-US" sz="1100" dirty="0">
                <a:solidFill>
                  <a:srgbClr val="A31515"/>
                </a:solidFill>
                <a:highlight>
                  <a:srgbClr val="FFFF00"/>
                </a:highlight>
                <a:latin typeface="Cascadia Mono" panose="020B0609020000020004" pitchFamily="49" charset="0"/>
              </a:rPr>
              <a:t>@ProductName</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 connection);</a:t>
            </a:r>
          </a:p>
          <a:p>
            <a:r>
              <a:rPr lang="nl-NL" sz="1100" dirty="0">
                <a:solidFill>
                  <a:srgbClr val="000000"/>
                </a:solidFill>
                <a:latin typeface="Cascadia Mono" panose="020B0609020000020004" pitchFamily="49" charset="0"/>
              </a:rPr>
              <a:t>                    </a:t>
            </a:r>
            <a:r>
              <a:rPr lang="nl-NL" sz="1100" dirty="0">
                <a:solidFill>
                  <a:srgbClr val="000000"/>
                </a:solidFill>
                <a:highlight>
                  <a:srgbClr val="FFFF00"/>
                </a:highlight>
                <a:latin typeface="Cascadia Mono" panose="020B0609020000020004" pitchFamily="49" charset="0"/>
              </a:rPr>
              <a:t>cmd.Parameters.AddWithValue(</a:t>
            </a:r>
            <a:r>
              <a:rPr lang="nl-NL" sz="1100" dirty="0">
                <a:solidFill>
                  <a:srgbClr val="A31515"/>
                </a:solidFill>
                <a:highlight>
                  <a:srgbClr val="FFFF00"/>
                </a:highlight>
                <a:latin typeface="Cascadia Mono" panose="020B0609020000020004" pitchFamily="49" charset="0"/>
              </a:rPr>
              <a:t>"@ProductName"</a:t>
            </a:r>
            <a:r>
              <a:rPr lang="nl-NL" sz="1100" dirty="0">
                <a:solidFill>
                  <a:srgbClr val="000000"/>
                </a:solidFill>
                <a:highlight>
                  <a:srgbClr val="FFFF00"/>
                </a:highlight>
                <a:latin typeface="Cascadia Mono" panose="020B0609020000020004" pitchFamily="49" charset="0"/>
              </a:rPr>
              <a:t>, pname + </a:t>
            </a:r>
            <a:r>
              <a:rPr lang="nl-NL" sz="1100" dirty="0">
                <a:solidFill>
                  <a:srgbClr val="A31515"/>
                </a:solidFill>
                <a:highlight>
                  <a:srgbClr val="FFFF00"/>
                </a:highlight>
                <a:latin typeface="Cascadia Mono" panose="020B0609020000020004" pitchFamily="49" charset="0"/>
              </a:rPr>
              <a:t>"%"</a:t>
            </a:r>
            <a:r>
              <a:rPr lang="nl-NL" sz="1100" dirty="0">
                <a:solidFill>
                  <a:srgbClr val="000000"/>
                </a:solidFill>
                <a:highlight>
                  <a:srgbClr val="FFFF00"/>
                </a:highlight>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connection.Open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SqlDataReader</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rd</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cmd.ExecuteReader</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while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rd.Read</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"{0} {1} {2}"</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rd</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"Id"</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rd</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"Name"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rd</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"Salary"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catch</a:t>
            </a:r>
            <a:r>
              <a:rPr lang="en-IN" sz="1100" dirty="0">
                <a:solidFill>
                  <a:srgbClr val="000000"/>
                </a:solidFill>
                <a:latin typeface="Cascadia Mono" panose="020B0609020000020004" pitchFamily="49" charset="0"/>
              </a:rPr>
              <a:t> (Exception ex)</a:t>
            </a:r>
          </a:p>
          <a:p>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Console.Write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ex.Message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p:txBody>
      </p:sp>
      <p:sp>
        <p:nvSpPr>
          <p:cNvPr id="2" name="TextBox 1">
            <a:extLst>
              <a:ext uri="{FF2B5EF4-FFF2-40B4-BE49-F238E27FC236}">
                <a16:creationId xmlns:a16="http://schemas.microsoft.com/office/drawing/2014/main" id="{C4FAD59E-10D9-49DE-5093-4B227C22A7C0}"/>
              </a:ext>
            </a:extLst>
          </p:cNvPr>
          <p:cNvSpPr txBox="1"/>
          <p:nvPr/>
        </p:nvSpPr>
        <p:spPr>
          <a:xfrm>
            <a:off x="5486400" y="0"/>
            <a:ext cx="32766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Parameterized Query</a:t>
            </a:r>
            <a:endParaRPr lang="en-IN" dirty="0"/>
          </a:p>
        </p:txBody>
      </p:sp>
      <p:sp>
        <p:nvSpPr>
          <p:cNvPr id="5" name="TextBox 4">
            <a:extLst>
              <a:ext uri="{FF2B5EF4-FFF2-40B4-BE49-F238E27FC236}">
                <a16:creationId xmlns:a16="http://schemas.microsoft.com/office/drawing/2014/main" id="{1D298199-4181-70E3-B54C-E724CE4889A5}"/>
              </a:ext>
            </a:extLst>
          </p:cNvPr>
          <p:cNvSpPr txBox="1"/>
          <p:nvPr/>
        </p:nvSpPr>
        <p:spPr>
          <a:xfrm>
            <a:off x="5486400" y="685800"/>
            <a:ext cx="3352800" cy="1615827"/>
          </a:xfrm>
          <a:prstGeom prst="rect">
            <a:avLst/>
          </a:prstGeom>
          <a:noFill/>
        </p:spPr>
        <p:txBody>
          <a:bodyPr wrap="square">
            <a:spAutoFit/>
          </a:bodyPr>
          <a:lstStyle/>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printdata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"\"vidya\""</a:t>
            </a:r>
            <a:r>
              <a:rPr lang="en-IN" sz="900" dirty="0">
                <a:solidFill>
                  <a:srgbClr val="000000"/>
                </a:solidFill>
                <a:latin typeface="Cascadia Mono" panose="020B0609020000020004" pitchFamily="49" charset="0"/>
              </a:rPr>
              <a:t>); //method call</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//call without \” character</a:t>
            </a:r>
          </a:p>
          <a:p>
            <a:endParaRPr lang="en-IN" sz="900" dirty="0">
              <a:solidFill>
                <a:srgbClr val="000000"/>
              </a:solidFill>
              <a:latin typeface="Cascadia Mono" panose="020B0609020000020004" pitchFamily="49" charset="0"/>
            </a:endParaRPr>
          </a:p>
          <a:p>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printdata</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s)</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(s); //”vidya”</a:t>
            </a:r>
          </a:p>
          <a:p>
            <a:r>
              <a:rPr lang="en-IN" sz="900" dirty="0">
                <a:solidFill>
                  <a:srgbClr val="000000"/>
                </a:solidFill>
                <a:latin typeface="Cascadia Mono" panose="020B0609020000020004" pitchFamily="49" charset="0"/>
              </a:rPr>
              <a:t>//vidya</a:t>
            </a:r>
          </a:p>
          <a:p>
            <a:r>
              <a:rPr lang="en-IN" sz="900" dirty="0">
                <a:solidFill>
                  <a:srgbClr val="000000"/>
                </a:solidFill>
                <a:latin typeface="Cascadia Mono" panose="020B0609020000020004" pitchFamily="49" charset="0"/>
              </a:rPr>
              <a:t>        }</a:t>
            </a:r>
          </a:p>
          <a:p>
            <a:endParaRPr lang="en-IN" dirty="0"/>
          </a:p>
        </p:txBody>
      </p:sp>
    </p:spTree>
    <p:extLst>
      <p:ext uri="{BB962C8B-B14F-4D97-AF65-F5344CB8AC3E}">
        <p14:creationId xmlns:p14="http://schemas.microsoft.com/office/powerpoint/2010/main" val="2107071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5EEA12-5516-B2ED-63A5-B3D924DA65BE}"/>
              </a:ext>
            </a:extLst>
          </p:cNvPr>
          <p:cNvSpPr txBox="1"/>
          <p:nvPr/>
        </p:nvSpPr>
        <p:spPr>
          <a:xfrm>
            <a:off x="1371600" y="-76200"/>
            <a:ext cx="7772400" cy="6463308"/>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ConsoleAppADONETSTUDENTS.Model</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Microsoft.Extensions.Configuration</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System.Data.SqlClient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ConsoleAppADONETSTUDENTS.DAL</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iconfiguration.GetConnectionString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displayproduct</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pname</a:t>
            </a:r>
            <a:r>
              <a:rPr lang="en-US" sz="900" dirty="0">
                <a:solidFill>
                  <a:srgbClr val="000000"/>
                </a:solidFill>
                <a:latin typeface="Cascadia Mono" panose="020B0609020000020004" pitchFamily="49" charset="0"/>
              </a:rPr>
              <a:t>)</a:t>
            </a:r>
            <a:r>
              <a:rPr lang="en-US" sz="900" dirty="0">
                <a:solidFill>
                  <a:srgbClr val="008000"/>
                </a:solidFill>
                <a:latin typeface="Cascadia Mono" panose="020B0609020000020004" pitchFamily="49" charset="0"/>
              </a:rPr>
              <a:t>//"T"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using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connection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(_</a:t>
            </a:r>
            <a:r>
              <a:rPr lang="en-US" sz="900" dirty="0" err="1">
                <a:solidFill>
                  <a:srgbClr val="000000"/>
                </a:solidFill>
                <a:latin typeface="Cascadia Mono" panose="020B0609020000020004" pitchFamily="49" charset="0"/>
              </a:rPr>
              <a:t>connectionString</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  </a:t>
            </a:r>
            <a:r>
              <a:rPr lang="en-US" sz="900" dirty="0">
                <a:solidFill>
                  <a:srgbClr val="008000"/>
                </a:solidFill>
                <a:latin typeface="Cascadia Mono" panose="020B0609020000020004" pitchFamily="49" charset="0"/>
              </a:rPr>
              <a:t>//"v'; Delete from </a:t>
            </a:r>
            <a:r>
              <a:rPr lang="en-US" sz="900" dirty="0" err="1">
                <a:solidFill>
                  <a:srgbClr val="008000"/>
                </a:solidFill>
                <a:latin typeface="Cascadia Mono" panose="020B0609020000020004" pitchFamily="49" charset="0"/>
              </a:rPr>
              <a:t>Product;Select</a:t>
            </a:r>
            <a:r>
              <a:rPr lang="en-US" sz="900" dirty="0">
                <a:solidFill>
                  <a:srgbClr val="008000"/>
                </a:solidFill>
                <a:latin typeface="Cascadia Mono" panose="020B0609020000020004" pitchFamily="49" charset="0"/>
              </a:rPr>
              <a:t> * from Product where Name like 'v"</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//Build the query dynamically, by concatenating the text, that the user has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//typed into the </a:t>
            </a:r>
            <a:r>
              <a:rPr lang="en-US" sz="900" dirty="0" err="1">
                <a:solidFill>
                  <a:srgbClr val="008000"/>
                </a:solidFill>
                <a:latin typeface="Cascadia Mono" panose="020B0609020000020004" pitchFamily="49" charset="0"/>
              </a:rPr>
              <a:t>ProductNameTextBox</a:t>
            </a:r>
            <a:r>
              <a:rPr lang="en-US" sz="900" dirty="0">
                <a:solidFill>
                  <a:srgbClr val="008000"/>
                </a:solidFill>
                <a:latin typeface="Cascadia Mono" panose="020B0609020000020004" pitchFamily="49" charset="0"/>
              </a:rPr>
              <a:t>. This is a bad way of constructing</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//queries. This line of code will open doors for </a:t>
            </a:r>
            <a:r>
              <a:rPr lang="en-US" sz="900" dirty="0" err="1">
                <a:solidFill>
                  <a:srgbClr val="008000"/>
                </a:solidFill>
                <a:latin typeface="Cascadia Mono" panose="020B0609020000020004" pitchFamily="49" charset="0"/>
              </a:rPr>
              <a:t>sql</a:t>
            </a:r>
            <a:r>
              <a:rPr lang="en-US" sz="900" dirty="0">
                <a:solidFill>
                  <a:srgbClr val="008000"/>
                </a:solidFill>
                <a:latin typeface="Cascadia Mono" panose="020B0609020000020004" pitchFamily="49" charset="0"/>
              </a:rPr>
              <a:t> injection attack</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Select* from Product where Name like 'T%';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spGetProductsByName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connection);</a:t>
            </a:r>
          </a:p>
          <a:p>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cmd.CommandType</a:t>
            </a:r>
            <a:r>
              <a:rPr lang="en-IN" sz="900" dirty="0">
                <a:solidFill>
                  <a:srgbClr val="000000"/>
                </a:solidFill>
                <a:highlight>
                  <a:srgbClr val="FFFF00"/>
                </a:highlight>
                <a:latin typeface="Cascadia Mono" panose="020B0609020000020004" pitchFamily="49" charset="0"/>
              </a:rPr>
              <a:t> = </a:t>
            </a:r>
            <a:r>
              <a:rPr lang="en-IN" sz="900" dirty="0" err="1">
                <a:solidFill>
                  <a:srgbClr val="000000"/>
                </a:solidFill>
                <a:highlight>
                  <a:srgbClr val="FFFF00"/>
                </a:highlight>
                <a:latin typeface="Cascadia Mono" panose="020B0609020000020004" pitchFamily="49" charset="0"/>
              </a:rPr>
              <a:t>CommandType.StoredProcedure</a:t>
            </a:r>
            <a:r>
              <a:rPr lang="en-IN" sz="900" dirty="0">
                <a:solidFill>
                  <a:srgbClr val="000000"/>
                </a:solidFill>
                <a:highlight>
                  <a:srgbClr val="FFFF00"/>
                </a:highlight>
                <a:latin typeface="Cascadia Mono" panose="020B0609020000020004" pitchFamily="49" charset="0"/>
              </a:rPr>
              <a:t>;</a:t>
            </a:r>
          </a:p>
          <a:p>
            <a:r>
              <a:rPr lang="nl-NL" sz="900" dirty="0">
                <a:solidFill>
                  <a:srgbClr val="000000"/>
                </a:solidFill>
                <a:highlight>
                  <a:srgbClr val="FFFF00"/>
                </a:highlight>
                <a:latin typeface="Cascadia Mono" panose="020B0609020000020004" pitchFamily="49" charset="0"/>
              </a:rPr>
              <a:t>                    cmd.Parameters.AddWithValue(</a:t>
            </a:r>
            <a:r>
              <a:rPr lang="nl-NL" sz="900" dirty="0">
                <a:solidFill>
                  <a:srgbClr val="A31515"/>
                </a:solidFill>
                <a:highlight>
                  <a:srgbClr val="FFFF00"/>
                </a:highlight>
                <a:latin typeface="Cascadia Mono" panose="020B0609020000020004" pitchFamily="49" charset="0"/>
              </a:rPr>
              <a:t>"@ProductName"</a:t>
            </a:r>
            <a:r>
              <a:rPr lang="nl-NL" sz="900" dirty="0">
                <a:solidFill>
                  <a:srgbClr val="000000"/>
                </a:solidFill>
                <a:highlight>
                  <a:srgbClr val="FFFF00"/>
                </a:highlight>
                <a:latin typeface="Cascadia Mono" panose="020B0609020000020004" pitchFamily="49" charset="0"/>
              </a:rPr>
              <a:t>, pname + </a:t>
            </a:r>
            <a:r>
              <a:rPr lang="nl-NL" sz="900" dirty="0">
                <a:solidFill>
                  <a:srgbClr val="A31515"/>
                </a:solidFill>
                <a:highlight>
                  <a:srgbClr val="FFFF00"/>
                </a:highlight>
                <a:latin typeface="Cascadia Mono" panose="020B0609020000020004" pitchFamily="49" charset="0"/>
              </a:rPr>
              <a:t>"%"</a:t>
            </a:r>
            <a:r>
              <a:rPr lang="nl-NL"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connection.Open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SqlDataReader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cmd.ExecuteReader</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while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rd.Read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"{0} {1} {2}"</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"Name"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"Salary"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(Exception 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ex.Message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p:txBody>
      </p:sp>
      <p:sp>
        <p:nvSpPr>
          <p:cNvPr id="2" name="TextBox 1">
            <a:extLst>
              <a:ext uri="{FF2B5EF4-FFF2-40B4-BE49-F238E27FC236}">
                <a16:creationId xmlns:a16="http://schemas.microsoft.com/office/drawing/2014/main" id="{ED58FD12-E284-5F70-53C4-699E3199147E}"/>
              </a:ext>
            </a:extLst>
          </p:cNvPr>
          <p:cNvSpPr txBox="1"/>
          <p:nvPr/>
        </p:nvSpPr>
        <p:spPr>
          <a:xfrm>
            <a:off x="5486400" y="0"/>
            <a:ext cx="32766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err="1"/>
              <a:t>StoreProcedure</a:t>
            </a:r>
            <a:endParaRPr lang="en-IN" dirty="0"/>
          </a:p>
        </p:txBody>
      </p:sp>
    </p:spTree>
    <p:extLst>
      <p:ext uri="{BB962C8B-B14F-4D97-AF65-F5344CB8AC3E}">
        <p14:creationId xmlns:p14="http://schemas.microsoft.com/office/powerpoint/2010/main" val="2377570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DF590C-167B-8F1A-7D49-0AB4757EE8EC}"/>
              </a:ext>
            </a:extLst>
          </p:cNvPr>
          <p:cNvSpPr txBox="1"/>
          <p:nvPr/>
        </p:nvSpPr>
        <p:spPr>
          <a:xfrm>
            <a:off x="990600" y="990600"/>
            <a:ext cx="6096000" cy="2308324"/>
          </a:xfrm>
          <a:prstGeom prst="rect">
            <a:avLst/>
          </a:prstGeom>
          <a:noFill/>
        </p:spPr>
        <p:txBody>
          <a:bodyPr wrap="square">
            <a:spAutoFit/>
          </a:bodyPr>
          <a:lstStyle/>
          <a:p>
            <a:r>
              <a:rPr lang="en-IN" sz="1800" dirty="0">
                <a:solidFill>
                  <a:srgbClr val="0000FF"/>
                </a:solidFill>
                <a:latin typeface="Cascadia Mono" panose="020B0609020000020004" pitchFamily="49" charset="0"/>
              </a:rPr>
              <a:t>Create</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Procedure</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spGetProductsByName</a:t>
            </a:r>
            <a:endParaRPr lang="en-IN" sz="1800" dirty="0">
              <a:solidFill>
                <a:srgbClr val="000000"/>
              </a:solidFill>
              <a:latin typeface="Cascadia Mono" panose="020B0609020000020004" pitchFamily="49" charset="0"/>
            </a:endParaRPr>
          </a:p>
          <a:p>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@ProductName </a:t>
            </a:r>
            <a:r>
              <a:rPr lang="en-IN" sz="1800" dirty="0" err="1">
                <a:solidFill>
                  <a:srgbClr val="0000FF"/>
                </a:solidFill>
                <a:latin typeface="Cascadia Mono" panose="020B0609020000020004" pitchFamily="49" charset="0"/>
              </a:rPr>
              <a:t>nvarchar</a:t>
            </a:r>
            <a:r>
              <a:rPr lang="en-IN" sz="1800" dirty="0">
                <a:solidFill>
                  <a:srgbClr val="808080"/>
                </a:solidFill>
                <a:latin typeface="Cascadia Mono" panose="020B0609020000020004" pitchFamily="49" charset="0"/>
              </a:rPr>
              <a:t>(</a:t>
            </a:r>
            <a:r>
              <a:rPr lang="en-IN" sz="1800" dirty="0">
                <a:solidFill>
                  <a:srgbClr val="000000"/>
                </a:solidFill>
                <a:latin typeface="Cascadia Mono" panose="020B0609020000020004" pitchFamily="49" charset="0"/>
              </a:rPr>
              <a:t>Max</a:t>
            </a:r>
            <a:r>
              <a:rPr lang="en-IN" sz="1800" dirty="0">
                <a:solidFill>
                  <a:srgbClr val="808080"/>
                </a:solidFill>
                <a:latin typeface="Cascadia Mono" panose="020B0609020000020004" pitchFamily="49" charset="0"/>
              </a:rPr>
              <a:t>)</a:t>
            </a:r>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as</a:t>
            </a:r>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Begin</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Select</a:t>
            </a:r>
            <a:r>
              <a:rPr lang="en-IN" sz="1800" dirty="0">
                <a:solidFill>
                  <a:srgbClr val="000000"/>
                </a:solidFill>
                <a:latin typeface="Cascadia Mono" panose="020B0609020000020004" pitchFamily="49" charset="0"/>
              </a:rPr>
              <a:t> </a:t>
            </a:r>
            <a:r>
              <a:rPr lang="en-IN" sz="1800" dirty="0">
                <a:solidFill>
                  <a:srgbClr val="808080"/>
                </a:solidFill>
                <a:latin typeface="Cascadia Mono" panose="020B0609020000020004" pitchFamily="49" charset="0"/>
              </a:rPr>
              <a:t>*</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from</a:t>
            </a:r>
            <a:r>
              <a:rPr lang="en-IN" sz="1800" dirty="0">
                <a:solidFill>
                  <a:srgbClr val="000000"/>
                </a:solidFill>
                <a:latin typeface="Cascadia Mono" panose="020B0609020000020004" pitchFamily="49" charset="0"/>
              </a:rPr>
              <a:t> Product</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where</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Name</a:t>
            </a:r>
            <a:r>
              <a:rPr lang="en-IN" sz="1800" dirty="0">
                <a:solidFill>
                  <a:srgbClr val="000000"/>
                </a:solidFill>
                <a:latin typeface="Cascadia Mono" panose="020B0609020000020004" pitchFamily="49" charset="0"/>
              </a:rPr>
              <a:t> </a:t>
            </a:r>
            <a:r>
              <a:rPr lang="en-IN" sz="1800" dirty="0">
                <a:solidFill>
                  <a:srgbClr val="808080"/>
                </a:solidFill>
                <a:latin typeface="Cascadia Mono" panose="020B0609020000020004" pitchFamily="49" charset="0"/>
              </a:rPr>
              <a:t>like</a:t>
            </a:r>
            <a:r>
              <a:rPr lang="en-IN" sz="1800" dirty="0">
                <a:solidFill>
                  <a:srgbClr val="000000"/>
                </a:solidFill>
                <a:latin typeface="Cascadia Mono" panose="020B0609020000020004" pitchFamily="49" charset="0"/>
              </a:rPr>
              <a:t> @ProductName </a:t>
            </a:r>
            <a:r>
              <a:rPr lang="en-IN" sz="1800" dirty="0">
                <a:solidFill>
                  <a:srgbClr val="808080"/>
                </a:solidFill>
                <a:latin typeface="Cascadia Mono" panose="020B0609020000020004" pitchFamily="49" charset="0"/>
              </a:rPr>
              <a:t>+</a:t>
            </a:r>
            <a:r>
              <a:rPr lang="en-IN" sz="1800" dirty="0">
                <a:solidFill>
                  <a:srgbClr val="000000"/>
                </a:solidFill>
                <a:latin typeface="Cascadia Mono" panose="020B0609020000020004" pitchFamily="49" charset="0"/>
              </a:rPr>
              <a:t> </a:t>
            </a:r>
            <a:r>
              <a:rPr lang="en-IN" sz="1800" dirty="0">
                <a:solidFill>
                  <a:srgbClr val="FF0000"/>
                </a:solidFill>
                <a:latin typeface="Cascadia Mono" panose="020B0609020000020004" pitchFamily="49" charset="0"/>
              </a:rPr>
              <a:t>'%'</a:t>
            </a:r>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End</a:t>
            </a:r>
            <a:endParaRPr lang="en-IN" sz="18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1392325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644A9C-96BF-44DF-AE45-EB485AEECEC1}"/>
              </a:ext>
            </a:extLst>
          </p:cNvPr>
          <p:cNvSpPr txBox="1"/>
          <p:nvPr/>
        </p:nvSpPr>
        <p:spPr>
          <a:xfrm>
            <a:off x="1295400" y="2458"/>
            <a:ext cx="2286000" cy="369332"/>
          </a:xfrm>
          <a:prstGeom prst="rect">
            <a:avLst/>
          </a:prstGeom>
          <a:noFill/>
        </p:spPr>
        <p:txBody>
          <a:bodyPr wrap="square">
            <a:spAutoFit/>
          </a:bodyPr>
          <a:lstStyle/>
          <a:p>
            <a:r>
              <a:rPr lang="en-IN" dirty="0" err="1"/>
              <a:t>EmpDAL.cs</a:t>
            </a:r>
            <a:endParaRPr lang="en-IN" dirty="0"/>
          </a:p>
        </p:txBody>
      </p:sp>
      <p:sp>
        <p:nvSpPr>
          <p:cNvPr id="7" name="TextBox 6">
            <a:extLst>
              <a:ext uri="{FF2B5EF4-FFF2-40B4-BE49-F238E27FC236}">
                <a16:creationId xmlns:a16="http://schemas.microsoft.com/office/drawing/2014/main" id="{073C0F77-9506-4A92-BD39-BB5BBDC7BA64}"/>
              </a:ext>
            </a:extLst>
          </p:cNvPr>
          <p:cNvSpPr txBox="1"/>
          <p:nvPr/>
        </p:nvSpPr>
        <p:spPr>
          <a:xfrm>
            <a:off x="2971800" y="0"/>
            <a:ext cx="6019800" cy="7063472"/>
          </a:xfrm>
          <a:prstGeom prst="rect">
            <a:avLst/>
          </a:prstGeom>
          <a:noFill/>
        </p:spPr>
        <p:txBody>
          <a:bodyPr wrap="square">
            <a:spAutoFit/>
          </a:bodyPr>
          <a:lstStyle/>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System;</a:t>
            </a:r>
          </a:p>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System.Collections.Generic</a:t>
            </a:r>
            <a:r>
              <a:rPr lang="en-IN" sz="1000" dirty="0">
                <a:solidFill>
                  <a:srgbClr val="000000"/>
                </a:solidFill>
                <a:latin typeface="Consolas" panose="020B0609020204030204" pitchFamily="49" charset="0"/>
              </a:rPr>
              <a:t>;</a:t>
            </a:r>
          </a:p>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ConsoleApp_ADO.Model</a:t>
            </a:r>
            <a:r>
              <a:rPr lang="en-IN" sz="1000" dirty="0">
                <a:solidFill>
                  <a:srgbClr val="000000"/>
                </a:solidFill>
                <a:latin typeface="Consolas" panose="020B0609020204030204" pitchFamily="49" charset="0"/>
              </a:rPr>
              <a:t>;</a:t>
            </a:r>
          </a:p>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Microsoft.Extensions.Configuration</a:t>
            </a:r>
            <a:r>
              <a:rPr lang="en-IN" sz="1000" dirty="0">
                <a:solidFill>
                  <a:srgbClr val="000000"/>
                </a:solidFill>
                <a:latin typeface="Consolas" panose="020B0609020204030204" pitchFamily="49" charset="0"/>
              </a:rPr>
              <a:t>;</a:t>
            </a:r>
          </a:p>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System.Data</a:t>
            </a:r>
            <a:r>
              <a:rPr lang="en-IN" sz="1000" dirty="0">
                <a:solidFill>
                  <a:srgbClr val="000000"/>
                </a:solidFill>
                <a:latin typeface="Consolas" panose="020B0609020204030204" pitchFamily="49" charset="0"/>
              </a:rPr>
              <a:t>;</a:t>
            </a:r>
          </a:p>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System.Data.SqlClient</a:t>
            </a:r>
            <a:r>
              <a:rPr lang="en-IN" sz="1000" dirty="0">
                <a:solidFill>
                  <a:srgbClr val="000000"/>
                </a:solidFill>
                <a:latin typeface="Consolas" panose="020B0609020204030204" pitchFamily="49" charset="0"/>
              </a:rPr>
              <a:t>;</a:t>
            </a:r>
          </a:p>
          <a:p>
            <a:r>
              <a:rPr lang="en-IN" sz="1000" dirty="0">
                <a:solidFill>
                  <a:srgbClr val="0000FF"/>
                </a:solidFill>
                <a:latin typeface="Consolas" panose="020B0609020204030204" pitchFamily="49" charset="0"/>
              </a:rPr>
              <a:t>namespace</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ConsoleApp_ADO.DAL</a:t>
            </a:r>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class</a:t>
            </a:r>
            <a:r>
              <a:rPr lang="en-IN" sz="1000" dirty="0">
                <a:solidFill>
                  <a:srgbClr val="000000"/>
                </a:solidFill>
                <a:latin typeface="Consolas" panose="020B0609020204030204" pitchFamily="49" charset="0"/>
              </a:rPr>
              <a:t> </a:t>
            </a:r>
            <a:r>
              <a:rPr lang="en-IN" sz="1000" dirty="0" err="1">
                <a:solidFill>
                  <a:srgbClr val="2B91AF"/>
                </a:solidFill>
                <a:latin typeface="Consolas" panose="020B0609020204030204" pitchFamily="49" charset="0"/>
              </a:rPr>
              <a:t>EmpDAL</a:t>
            </a:r>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private</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string</a:t>
            </a:r>
            <a:r>
              <a:rPr lang="en-IN" sz="1000" dirty="0">
                <a:solidFill>
                  <a:srgbClr val="000000"/>
                </a:solidFill>
                <a:latin typeface="Consolas" panose="020B0609020204030204" pitchFamily="49" charset="0"/>
              </a:rPr>
              <a:t> _</a:t>
            </a:r>
            <a:r>
              <a:rPr lang="en-IN" sz="1000" dirty="0" err="1">
                <a:solidFill>
                  <a:srgbClr val="000000"/>
                </a:solidFill>
                <a:latin typeface="Consolas" panose="020B0609020204030204" pitchFamily="49" charset="0"/>
              </a:rPr>
              <a:t>connectionString</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a:t>
            </a:r>
            <a:r>
              <a:rPr lang="en-IN" sz="1000" dirty="0" err="1">
                <a:solidFill>
                  <a:srgbClr val="2B91AF"/>
                </a:solidFill>
                <a:latin typeface="Consolas" panose="020B0609020204030204" pitchFamily="49" charset="0"/>
              </a:rPr>
              <a:t>EmpDAL</a:t>
            </a:r>
            <a:r>
              <a:rPr lang="en-IN" sz="1000" dirty="0">
                <a:solidFill>
                  <a:srgbClr val="000000"/>
                </a:solidFill>
                <a:latin typeface="Consolas" panose="020B0609020204030204" pitchFamily="49" charset="0"/>
              </a:rPr>
              <a:t>(</a:t>
            </a:r>
            <a:r>
              <a:rPr lang="en-IN" sz="1000" dirty="0" err="1">
                <a:solidFill>
                  <a:srgbClr val="000000"/>
                </a:solidFill>
                <a:latin typeface="Consolas" panose="020B0609020204030204" pitchFamily="49" charset="0"/>
              </a:rPr>
              <a:t>IConfiguration</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iconfiguration</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_</a:t>
            </a:r>
            <a:r>
              <a:rPr lang="en-IN" sz="1000" dirty="0" err="1">
                <a:solidFill>
                  <a:srgbClr val="000000"/>
                </a:solidFill>
                <a:latin typeface="Consolas" panose="020B0609020204030204" pitchFamily="49" charset="0"/>
              </a:rPr>
              <a:t>connectionString</a:t>
            </a:r>
            <a:r>
              <a:rPr lang="en-IN" sz="1000" dirty="0">
                <a:solidFill>
                  <a:srgbClr val="000000"/>
                </a:solidFill>
                <a:latin typeface="Consolas" panose="020B0609020204030204" pitchFamily="49" charset="0"/>
              </a:rPr>
              <a:t> = </a:t>
            </a:r>
            <a:r>
              <a:rPr lang="en-IN" sz="1000" dirty="0" err="1">
                <a:solidFill>
                  <a:srgbClr val="000000"/>
                </a:solidFill>
                <a:latin typeface="Consolas" panose="020B0609020204030204" pitchFamily="49" charset="0"/>
              </a:rPr>
              <a:t>iconfiguration.GetConnectionString</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"Default"</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List&lt;Employee&gt; </a:t>
            </a:r>
            <a:r>
              <a:rPr lang="en-IN" sz="1000" dirty="0" err="1">
                <a:solidFill>
                  <a:srgbClr val="000000"/>
                </a:solidFill>
                <a:latin typeface="Consolas" panose="020B0609020204030204" pitchFamily="49" charset="0"/>
              </a:rPr>
              <a:t>GetList</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US" sz="1200" b="1" dirty="0">
                <a:solidFill>
                  <a:srgbClr val="000000"/>
                </a:solidFill>
                <a:latin typeface="Consolas" panose="020B0609020204030204" pitchFamily="49" charset="0"/>
              </a:rPr>
              <a:t>                </a:t>
            </a:r>
            <a:r>
              <a:rPr lang="en-US" sz="1200" b="1" dirty="0">
                <a:solidFill>
                  <a:srgbClr val="0000FF"/>
                </a:solidFill>
                <a:latin typeface="Consolas" panose="020B0609020204030204" pitchFamily="49" charset="0"/>
              </a:rPr>
              <a:t>var</a:t>
            </a:r>
            <a:r>
              <a:rPr lang="en-US" sz="1200" b="1" dirty="0">
                <a:solidFill>
                  <a:srgbClr val="000000"/>
                </a:solidFill>
                <a:latin typeface="Consolas" panose="020B0609020204030204" pitchFamily="49" charset="0"/>
              </a:rPr>
              <a:t> </a:t>
            </a:r>
            <a:r>
              <a:rPr lang="en-US" sz="1200" b="1" dirty="0" err="1">
                <a:solidFill>
                  <a:srgbClr val="000000"/>
                </a:solidFill>
                <a:latin typeface="Consolas" panose="020B0609020204030204" pitchFamily="49" charset="0"/>
              </a:rPr>
              <a:t>listEmployee</a:t>
            </a:r>
            <a:r>
              <a:rPr lang="en-US" sz="1200" b="1" dirty="0">
                <a:solidFill>
                  <a:srgbClr val="000000"/>
                </a:solidFill>
                <a:latin typeface="Consolas" panose="020B0609020204030204" pitchFamily="49" charset="0"/>
              </a:rPr>
              <a:t> = </a:t>
            </a:r>
            <a:r>
              <a:rPr lang="en-US" sz="1200" b="1" dirty="0">
                <a:solidFill>
                  <a:srgbClr val="0000FF"/>
                </a:solidFill>
                <a:latin typeface="Consolas" panose="020B0609020204030204" pitchFamily="49" charset="0"/>
              </a:rPr>
              <a:t>new</a:t>
            </a:r>
            <a:r>
              <a:rPr lang="en-US" sz="1200" b="1" dirty="0">
                <a:solidFill>
                  <a:srgbClr val="000000"/>
                </a:solidFill>
                <a:latin typeface="Consolas" panose="020B0609020204030204" pitchFamily="49" charset="0"/>
              </a:rPr>
              <a:t> List&lt;Employee&gt;();</a:t>
            </a:r>
          </a:p>
          <a:p>
            <a:r>
              <a:rPr lang="en-IN" sz="1000" b="1" dirty="0">
                <a:solidFill>
                  <a:srgbClr val="000000"/>
                </a:solidFill>
                <a:latin typeface="Consolas" panose="020B0609020204030204" pitchFamily="49" charset="0"/>
              </a:rPr>
              <a:t>                </a:t>
            </a:r>
            <a:r>
              <a:rPr lang="en-IN" sz="1000" b="1" dirty="0">
                <a:solidFill>
                  <a:srgbClr val="0000FF"/>
                </a:solidFill>
                <a:latin typeface="Consolas" panose="020B0609020204030204" pitchFamily="49" charset="0"/>
              </a:rPr>
              <a:t>try</a:t>
            </a:r>
            <a:endParaRPr lang="en-IN" sz="1000" b="1"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using</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SqlConnection</a:t>
            </a:r>
            <a:r>
              <a:rPr lang="en-US" sz="1000" dirty="0">
                <a:solidFill>
                  <a:srgbClr val="000000"/>
                </a:solidFill>
                <a:latin typeface="Consolas" panose="020B0609020204030204" pitchFamily="49" charset="0"/>
              </a:rPr>
              <a:t> con = </a:t>
            </a:r>
            <a:r>
              <a:rPr lang="en-US" sz="1000" dirty="0">
                <a:solidFill>
                  <a:srgbClr val="0000FF"/>
                </a:solidFill>
                <a:latin typeface="Consolas" panose="020B0609020204030204" pitchFamily="49" charset="0"/>
              </a:rPr>
              <a:t>new</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SqlConnection</a:t>
            </a:r>
            <a:r>
              <a:rPr lang="en-US" sz="1000" dirty="0">
                <a:solidFill>
                  <a:srgbClr val="000000"/>
                </a:solidFill>
                <a:latin typeface="Consolas" panose="020B0609020204030204" pitchFamily="49" charset="0"/>
              </a:rPr>
              <a:t>(_</a:t>
            </a:r>
            <a:r>
              <a:rPr lang="en-US" sz="1000" dirty="0" err="1">
                <a:solidFill>
                  <a:srgbClr val="000000"/>
                </a:solidFill>
                <a:latin typeface="Consolas" panose="020B0609020204030204" pitchFamily="49" charset="0"/>
              </a:rPr>
              <a:t>connectionString</a:t>
            </a:r>
            <a:r>
              <a:rPr lang="en-US"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SqlCommand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cmd</a:t>
            </a:r>
            <a:r>
              <a:rPr lang="en-US" sz="1000" dirty="0">
                <a:solidFill>
                  <a:srgbClr val="000000"/>
                </a:solidFill>
                <a:latin typeface="Consolas" panose="020B0609020204030204" pitchFamily="49" charset="0"/>
              </a:rPr>
              <a:t> = </a:t>
            </a:r>
            <a:r>
              <a:rPr lang="en-US" sz="1000" dirty="0">
                <a:solidFill>
                  <a:srgbClr val="0000FF"/>
                </a:solidFill>
                <a:latin typeface="Consolas" panose="020B0609020204030204" pitchFamily="49" charset="0"/>
              </a:rPr>
              <a:t>new</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SqlCommand</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a:t>
            </a:r>
            <a:r>
              <a:rPr lang="en-US" sz="1000" dirty="0" err="1">
                <a:solidFill>
                  <a:srgbClr val="A31515"/>
                </a:solidFill>
                <a:latin typeface="Consolas" panose="020B0609020204030204" pitchFamily="49" charset="0"/>
              </a:rPr>
              <a:t>SP_emp_GET_LIST</a:t>
            </a:r>
            <a:r>
              <a:rPr lang="en-US" sz="1000" dirty="0">
                <a:solidFill>
                  <a:srgbClr val="A31515"/>
                </a:solidFill>
                <a:latin typeface="Consolas" panose="020B0609020204030204" pitchFamily="49" charset="0"/>
              </a:rPr>
              <a:t>"</a:t>
            </a:r>
            <a:r>
              <a:rPr lang="en-US" sz="1000" dirty="0">
                <a:solidFill>
                  <a:srgbClr val="000000"/>
                </a:solidFill>
                <a:latin typeface="Consolas" panose="020B0609020204030204" pitchFamily="49" charset="0"/>
              </a:rPr>
              <a:t>, con);</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cmd.CommandType</a:t>
            </a:r>
            <a:r>
              <a:rPr lang="en-IN" sz="1000" dirty="0">
                <a:solidFill>
                  <a:srgbClr val="000000"/>
                </a:solidFill>
                <a:latin typeface="Consolas" panose="020B0609020204030204" pitchFamily="49" charset="0"/>
              </a:rPr>
              <a:t> = </a:t>
            </a:r>
            <a:r>
              <a:rPr lang="en-IN" sz="1000" dirty="0" err="1">
                <a:solidFill>
                  <a:srgbClr val="000000"/>
                </a:solidFill>
                <a:latin typeface="Consolas" panose="020B0609020204030204" pitchFamily="49" charset="0"/>
              </a:rPr>
              <a:t>CommandType.StoredProcedure</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con.Open</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SqlDataReader</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rdr</a:t>
            </a:r>
            <a:r>
              <a:rPr lang="en-IN" sz="1000" dirty="0">
                <a:solidFill>
                  <a:srgbClr val="000000"/>
                </a:solidFill>
                <a:latin typeface="Consolas" panose="020B0609020204030204" pitchFamily="49" charset="0"/>
              </a:rPr>
              <a:t> = </a:t>
            </a:r>
            <a:r>
              <a:rPr lang="en-IN" sz="1000" dirty="0" err="1">
                <a:solidFill>
                  <a:srgbClr val="000000"/>
                </a:solidFill>
                <a:latin typeface="Consolas" panose="020B0609020204030204" pitchFamily="49" charset="0"/>
              </a:rPr>
              <a:t>cmd.ExecuteReader</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while</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rdr.Read</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listEmployee.Add</a:t>
            </a:r>
            <a:r>
              <a:rPr lang="en-IN" sz="1000" dirty="0">
                <a:solidFill>
                  <a:srgbClr val="000000"/>
                </a:solidFill>
                <a:latin typeface="Consolas" panose="020B0609020204030204" pitchFamily="49" charset="0"/>
              </a:rPr>
              <a:t>(</a:t>
            </a:r>
            <a:r>
              <a:rPr lang="en-IN" sz="1000" dirty="0">
                <a:solidFill>
                  <a:srgbClr val="0000FF"/>
                </a:solidFill>
                <a:latin typeface="Consolas" panose="020B0609020204030204" pitchFamily="49" charset="0"/>
              </a:rPr>
              <a:t>new</a:t>
            </a:r>
            <a:r>
              <a:rPr lang="en-IN" sz="1000" dirty="0">
                <a:solidFill>
                  <a:srgbClr val="000000"/>
                </a:solidFill>
                <a:latin typeface="Consolas" panose="020B0609020204030204" pitchFamily="49" charset="0"/>
              </a:rPr>
              <a:t> Employee</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id = Convert.ToInt32(</a:t>
            </a:r>
            <a:r>
              <a:rPr lang="en-IN" sz="1000" dirty="0" err="1">
                <a:solidFill>
                  <a:srgbClr val="000000"/>
                </a:solidFill>
                <a:latin typeface="Consolas" panose="020B0609020204030204" pitchFamily="49" charset="0"/>
              </a:rPr>
              <a:t>rdr</a:t>
            </a:r>
            <a:r>
              <a:rPr lang="en-IN" sz="1000" dirty="0">
                <a:solidFill>
                  <a:srgbClr val="000000"/>
                </a:solidFill>
                <a:latin typeface="Consolas" panose="020B0609020204030204" pitchFamily="49" charset="0"/>
              </a:rPr>
              <a:t>[0]),</a:t>
            </a:r>
          </a:p>
          <a:p>
            <a:r>
              <a:rPr lang="en-IN" sz="1000" dirty="0">
                <a:solidFill>
                  <a:srgbClr val="000000"/>
                </a:solidFill>
                <a:latin typeface="Consolas" panose="020B0609020204030204" pitchFamily="49" charset="0"/>
              </a:rPr>
              <a:t>                                name = </a:t>
            </a:r>
            <a:r>
              <a:rPr lang="en-IN" sz="1000" dirty="0" err="1">
                <a:solidFill>
                  <a:srgbClr val="000000"/>
                </a:solidFill>
                <a:latin typeface="Consolas" panose="020B0609020204030204" pitchFamily="49" charset="0"/>
              </a:rPr>
              <a:t>rdr</a:t>
            </a:r>
            <a:r>
              <a:rPr lang="en-IN" sz="1000" dirty="0">
                <a:solidFill>
                  <a:srgbClr val="000000"/>
                </a:solidFill>
                <a:latin typeface="Consolas" panose="020B0609020204030204" pitchFamily="49" charset="0"/>
              </a:rPr>
              <a:t>[1].</a:t>
            </a:r>
            <a:r>
              <a:rPr lang="en-IN" sz="1000" dirty="0" err="1">
                <a:solidFill>
                  <a:srgbClr val="000000"/>
                </a:solidFill>
                <a:latin typeface="Consolas" panose="020B0609020204030204" pitchFamily="49" charset="0"/>
              </a:rPr>
              <a:t>ToString</a:t>
            </a:r>
            <a:r>
              <a:rPr lang="en-IN"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salary = </a:t>
            </a:r>
            <a:r>
              <a:rPr lang="en-US" sz="1000" dirty="0" err="1">
                <a:solidFill>
                  <a:srgbClr val="000000"/>
                </a:solidFill>
                <a:latin typeface="Consolas" panose="020B0609020204030204" pitchFamily="49" charset="0"/>
              </a:rPr>
              <a:t>Convert.ToSingle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rdr</a:t>
            </a:r>
            <a:r>
              <a:rPr lang="en-US" sz="1000" dirty="0">
                <a:solidFill>
                  <a:srgbClr val="000000"/>
                </a:solidFill>
                <a:latin typeface="Consolas" panose="020B0609020204030204" pitchFamily="49" charset="0"/>
              </a:rPr>
              <a:t>[2])</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catch</a:t>
            </a:r>
            <a:r>
              <a:rPr lang="en-IN" sz="1000" dirty="0">
                <a:solidFill>
                  <a:srgbClr val="000000"/>
                </a:solidFill>
                <a:latin typeface="Consolas" panose="020B0609020204030204" pitchFamily="49" charset="0"/>
              </a:rPr>
              <a:t> (Exception ex)</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throw</a:t>
            </a:r>
            <a:r>
              <a:rPr lang="en-IN" sz="1000" dirty="0">
                <a:solidFill>
                  <a:srgbClr val="000000"/>
                </a:solidFill>
                <a:latin typeface="Consolas" panose="020B0609020204030204" pitchFamily="49" charset="0"/>
              </a:rPr>
              <a:t> ex;</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return</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listEmployee</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pPr algn="l"/>
            <a:endParaRPr lang="en-IN" sz="300" b="0" i="0" dirty="0">
              <a:solidFill>
                <a:srgbClr val="5C5C5C"/>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4CDD50B4-3869-458F-8E4A-BC740A034A10}"/>
              </a:ext>
            </a:extLst>
          </p:cNvPr>
          <p:cNvSpPr txBox="1"/>
          <p:nvPr/>
        </p:nvSpPr>
        <p:spPr>
          <a:xfrm>
            <a:off x="61452" y="1123930"/>
            <a:ext cx="2984090" cy="2123658"/>
          </a:xfrm>
          <a:prstGeom prst="rect">
            <a:avLst/>
          </a:prstGeom>
          <a:noFill/>
        </p:spPr>
        <p:txBody>
          <a:bodyPr wrap="square">
            <a:spAutoFit/>
          </a:bodyPr>
          <a:lstStyle/>
          <a:p>
            <a:endParaRPr lang="en-IN" sz="1100" dirty="0">
              <a:solidFill>
                <a:srgbClr val="000000"/>
              </a:solidFill>
              <a:latin typeface="Consolas" panose="020B0609020204030204" pitchFamily="49" charset="0"/>
            </a:endParaRPr>
          </a:p>
          <a:p>
            <a:r>
              <a:rPr lang="en-IN" sz="1100" dirty="0">
                <a:solidFill>
                  <a:srgbClr val="0000FF"/>
                </a:solidFill>
                <a:latin typeface="Consolas" panose="020B0609020204030204" pitchFamily="49" charset="0"/>
              </a:rPr>
              <a:t>namespace</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ConsoleApp_ADO.Model</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public</a:t>
            </a:r>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class</a:t>
            </a:r>
            <a:r>
              <a:rPr lang="en-IN" sz="1100" dirty="0">
                <a:solidFill>
                  <a:srgbClr val="000000"/>
                </a:solidFill>
                <a:latin typeface="Consolas" panose="020B0609020204030204" pitchFamily="49" charset="0"/>
              </a:rPr>
              <a:t> </a:t>
            </a:r>
            <a:r>
              <a:rPr lang="en-IN" sz="1100" dirty="0">
                <a:solidFill>
                  <a:srgbClr val="2B91AF"/>
                </a:solidFill>
                <a:latin typeface="Consolas" panose="020B0609020204030204" pitchFamily="49" charset="0"/>
              </a:rPr>
              <a:t>Employee</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id { </a:t>
            </a:r>
            <a:r>
              <a:rPr lang="en-US" sz="1100" dirty="0">
                <a:solidFill>
                  <a:srgbClr val="0000FF"/>
                </a:solidFill>
                <a:latin typeface="Consolas" panose="020B0609020204030204" pitchFamily="49" charset="0"/>
              </a:rPr>
              <a:t>get</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set</a:t>
            </a:r>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name { </a:t>
            </a:r>
            <a:r>
              <a:rPr lang="en-US" sz="1100" dirty="0">
                <a:solidFill>
                  <a:srgbClr val="0000FF"/>
                </a:solidFill>
                <a:latin typeface="Consolas" panose="020B0609020204030204" pitchFamily="49" charset="0"/>
              </a:rPr>
              <a:t>get</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set</a:t>
            </a:r>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double</a:t>
            </a:r>
            <a:r>
              <a:rPr lang="en-US" sz="1100" dirty="0">
                <a:solidFill>
                  <a:srgbClr val="000000"/>
                </a:solidFill>
                <a:latin typeface="Consolas" panose="020B0609020204030204" pitchFamily="49" charset="0"/>
              </a:rPr>
              <a:t> salary { </a:t>
            </a:r>
            <a:r>
              <a:rPr lang="en-US" sz="1100" dirty="0">
                <a:solidFill>
                  <a:srgbClr val="0000FF"/>
                </a:solidFill>
                <a:latin typeface="Consolas" panose="020B0609020204030204" pitchFamily="49" charset="0"/>
              </a:rPr>
              <a:t>get</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set</a:t>
            </a:r>
            <a:r>
              <a:rPr lang="en-US"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US" sz="900" b="0" i="0" dirty="0">
                <a:solidFill>
                  <a:srgbClr val="000000"/>
                </a:solidFill>
                <a:effectLst/>
                <a:latin typeface="Consolas" panose="020B0609020204030204" pitchFamily="49" charset="0"/>
              </a:rPr>
              <a:t> </a:t>
            </a:r>
            <a:endParaRPr lang="en-US" sz="900" b="0" i="0" dirty="0">
              <a:solidFill>
                <a:srgbClr val="5C5C5C"/>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C9EE419C-A75E-48D9-B76B-2974477FABCA}"/>
              </a:ext>
            </a:extLst>
          </p:cNvPr>
          <p:cNvSpPr txBox="1"/>
          <p:nvPr/>
        </p:nvSpPr>
        <p:spPr>
          <a:xfrm>
            <a:off x="304800" y="3216500"/>
            <a:ext cx="2227006" cy="369332"/>
          </a:xfrm>
          <a:prstGeom prst="rect">
            <a:avLst/>
          </a:prstGeom>
          <a:noFill/>
        </p:spPr>
        <p:txBody>
          <a:bodyPr wrap="square">
            <a:spAutoFit/>
          </a:bodyPr>
          <a:lstStyle/>
          <a:p>
            <a:r>
              <a:rPr lang="en-IN" b="1" i="0" dirty="0" err="1">
                <a:solidFill>
                  <a:srgbClr val="212121"/>
                </a:solidFill>
                <a:effectLst/>
                <a:latin typeface="open sans" panose="020B0606030504020204" pitchFamily="34" charset="0"/>
              </a:rPr>
              <a:t>Employee.cs</a:t>
            </a:r>
            <a:endParaRPr lang="en-IN" dirty="0"/>
          </a:p>
        </p:txBody>
      </p:sp>
      <p:sp>
        <p:nvSpPr>
          <p:cNvPr id="15" name="TextBox 14">
            <a:extLst>
              <a:ext uri="{FF2B5EF4-FFF2-40B4-BE49-F238E27FC236}">
                <a16:creationId xmlns:a16="http://schemas.microsoft.com/office/drawing/2014/main" id="{A8F34A90-2016-4587-825B-9D82FB3FCBEB}"/>
              </a:ext>
            </a:extLst>
          </p:cNvPr>
          <p:cNvSpPr txBox="1"/>
          <p:nvPr/>
        </p:nvSpPr>
        <p:spPr>
          <a:xfrm>
            <a:off x="135194" y="4317614"/>
            <a:ext cx="3217606" cy="1754326"/>
          </a:xfrm>
          <a:prstGeom prst="rect">
            <a:avLst/>
          </a:prstGeom>
          <a:noFill/>
        </p:spPr>
        <p:txBody>
          <a:bodyPr wrap="square">
            <a:spAutoFit/>
          </a:bodyPr>
          <a:lstStyle/>
          <a:p>
            <a:r>
              <a:rPr lang="en-US" sz="1200" dirty="0"/>
              <a:t>CREATE PROCEDURE [</a:t>
            </a:r>
            <a:r>
              <a:rPr lang="en-US" sz="1200" dirty="0" err="1"/>
              <a:t>dbo</a:t>
            </a:r>
            <a:r>
              <a:rPr lang="en-US" sz="1200" dirty="0"/>
              <a:t>].[</a:t>
            </a:r>
            <a:r>
              <a:rPr lang="en-US" sz="1200" dirty="0" err="1"/>
              <a:t>SP_emp_GET_LIST</a:t>
            </a:r>
            <a:r>
              <a:rPr lang="en-US" sz="1200" dirty="0"/>
              <a:t>]  </a:t>
            </a:r>
          </a:p>
          <a:p>
            <a:r>
              <a:rPr lang="en-US" sz="1200" dirty="0"/>
              <a:t>AS  </a:t>
            </a:r>
          </a:p>
          <a:p>
            <a:r>
              <a:rPr lang="en-US" sz="1200" dirty="0"/>
              <a:t>   BEGIN  </a:t>
            </a:r>
          </a:p>
          <a:p>
            <a:r>
              <a:rPr lang="en-US" sz="1200" dirty="0"/>
              <a:t>   SELECT id  </a:t>
            </a:r>
          </a:p>
          <a:p>
            <a:r>
              <a:rPr lang="en-US" sz="1200" dirty="0"/>
              <a:t>                  ,name  </a:t>
            </a:r>
          </a:p>
          <a:p>
            <a:r>
              <a:rPr lang="en-US" sz="1200" dirty="0"/>
              <a:t>                 ,salary</a:t>
            </a:r>
          </a:p>
          <a:p>
            <a:r>
              <a:rPr lang="en-US" sz="1200" dirty="0"/>
              <a:t>   FROM Employees</a:t>
            </a:r>
          </a:p>
          <a:p>
            <a:r>
              <a:rPr lang="en-US" sz="1200" dirty="0"/>
              <a:t>END</a:t>
            </a:r>
            <a:endParaRPr lang="en-IN" sz="1200" dirty="0"/>
          </a:p>
        </p:txBody>
      </p:sp>
      <p:sp>
        <p:nvSpPr>
          <p:cNvPr id="2" name="TextBox 1">
            <a:extLst>
              <a:ext uri="{FF2B5EF4-FFF2-40B4-BE49-F238E27FC236}">
                <a16:creationId xmlns:a16="http://schemas.microsoft.com/office/drawing/2014/main" id="{310F9D70-C88A-6269-E101-84212D096830}"/>
              </a:ext>
            </a:extLst>
          </p:cNvPr>
          <p:cNvSpPr txBox="1"/>
          <p:nvPr/>
        </p:nvSpPr>
        <p:spPr>
          <a:xfrm>
            <a:off x="5486400" y="12397"/>
            <a:ext cx="3886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Strongly type select</a:t>
            </a:r>
          </a:p>
        </p:txBody>
      </p:sp>
    </p:spTree>
    <p:extLst>
      <p:ext uri="{BB962C8B-B14F-4D97-AF65-F5344CB8AC3E}">
        <p14:creationId xmlns:p14="http://schemas.microsoft.com/office/powerpoint/2010/main" val="2690414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0E4B31F-C364-4807-AB9D-A568212FFF9D}"/>
              </a:ext>
            </a:extLst>
          </p:cNvPr>
          <p:cNvSpPr txBox="1"/>
          <p:nvPr/>
        </p:nvSpPr>
        <p:spPr>
          <a:xfrm>
            <a:off x="1066800" y="228600"/>
            <a:ext cx="8077200" cy="6863417"/>
          </a:xfrm>
          <a:prstGeom prst="rect">
            <a:avLst/>
          </a:prstGeom>
          <a:noFill/>
        </p:spPr>
        <p:txBody>
          <a:bodyPr wrap="square">
            <a:spAutoFit/>
          </a:bodyPr>
          <a:lstStyle/>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ConsoleApp_ADO.DAL</a:t>
            </a:r>
            <a:r>
              <a:rPr lang="en-IN" sz="1200" dirty="0">
                <a:solidFill>
                  <a:srgbClr val="000000"/>
                </a:solidFill>
                <a:latin typeface="Consolas" panose="020B0609020204030204" pitchFamily="49" charset="0"/>
              </a:rPr>
              <a:t>;</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Microsoft.Extensions.Configuration</a:t>
            </a:r>
            <a:r>
              <a:rPr lang="en-IN" sz="1200" dirty="0">
                <a:solidFill>
                  <a:srgbClr val="000000"/>
                </a:solidFill>
                <a:latin typeface="Consolas" panose="020B0609020204030204" pitchFamily="49" charset="0"/>
              </a:rPr>
              <a:t>;</a:t>
            </a:r>
          </a:p>
          <a:p>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System.IO;</a:t>
            </a:r>
          </a:p>
          <a:p>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ConsoleApp_ADO</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a:solidFill>
                  <a:srgbClr val="2B91AF"/>
                </a:solidFill>
                <a:latin typeface="Consolas" panose="020B0609020204030204" pitchFamily="49" charset="0"/>
              </a:rPr>
              <a:t>Program</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private</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 _</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Main(</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args</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GetAppSettingsFile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PrintCountries</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GetAppSettingsFile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var</a:t>
            </a:r>
            <a:r>
              <a:rPr lang="en-IN" sz="1200" dirty="0">
                <a:solidFill>
                  <a:srgbClr val="000000"/>
                </a:solidFill>
                <a:latin typeface="Consolas" panose="020B0609020204030204" pitchFamily="49" charset="0"/>
              </a:rPr>
              <a:t> builder = </a:t>
            </a:r>
            <a:r>
              <a:rPr lang="en-IN" sz="1200" dirty="0">
                <a:solidFill>
                  <a:srgbClr val="0000FF"/>
                </a:solidFill>
                <a:latin typeface="Consolas" panose="020B0609020204030204" pitchFamily="49" charset="0"/>
              </a:rPr>
              <a:t>new</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ConfigurationBuilder</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SetBasePath</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Directory.GetCurrentDirectory</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AddJsonFile</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a:t>
            </a:r>
            <a:r>
              <a:rPr lang="en-US" sz="1200" dirty="0" err="1">
                <a:solidFill>
                  <a:srgbClr val="A31515"/>
                </a:solidFill>
                <a:latin typeface="Consolas" panose="020B0609020204030204" pitchFamily="49" charset="0"/>
              </a:rPr>
              <a:t>appsettings.json</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optional: </a:t>
            </a:r>
            <a:r>
              <a:rPr lang="en-US" sz="1200" dirty="0">
                <a:solidFill>
                  <a:srgbClr val="0000FF"/>
                </a:solidFill>
                <a:latin typeface="Consolas" panose="020B0609020204030204" pitchFamily="49" charset="0"/>
              </a:rPr>
              <a:t>false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reloadOnChange</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true</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_</a:t>
            </a:r>
            <a:r>
              <a:rPr lang="en-IN" sz="1200" dirty="0" err="1">
                <a:solidFill>
                  <a:srgbClr val="000000"/>
                </a:solidFill>
                <a:latin typeface="Consolas" panose="020B0609020204030204" pitchFamily="49" charset="0"/>
              </a:rPr>
              <a:t>iconfiguration</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builder.Build</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PrintCountries</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var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EmpDAL</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EmpDAL</a:t>
            </a:r>
            <a:r>
              <a:rPr lang="en-US" sz="1200" dirty="0">
                <a:solidFill>
                  <a:srgbClr val="000000"/>
                </a:solidFill>
                <a:latin typeface="Consolas" panose="020B0609020204030204" pitchFamily="49" charset="0"/>
              </a:rPr>
              <a:t>(_</a:t>
            </a:r>
            <a:r>
              <a:rPr lang="en-US" sz="1200" dirty="0" err="1">
                <a:solidFill>
                  <a:srgbClr val="000000"/>
                </a:solidFill>
                <a:latin typeface="Consolas" panose="020B0609020204030204" pitchFamily="49" charset="0"/>
              </a:rPr>
              <a:t>iconfiguration</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var</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listCountryModel</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EmpDAL.GetList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listCountryModel.ForEach</a:t>
            </a:r>
            <a:r>
              <a:rPr lang="en-IN" sz="1200" dirty="0">
                <a:solidFill>
                  <a:srgbClr val="000000"/>
                </a:solidFill>
                <a:latin typeface="Consolas" panose="020B0609020204030204" pitchFamily="49" charset="0"/>
              </a:rPr>
              <a:t>(item =&gt;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Console.WriteLine</a:t>
            </a:r>
            <a:r>
              <a:rPr lang="en-IN" sz="1200" dirty="0">
                <a:solidFill>
                  <a:srgbClr val="000000"/>
                </a:solidFill>
                <a:latin typeface="Consolas" panose="020B0609020204030204" pitchFamily="49" charset="0"/>
              </a:rPr>
              <a:t>(item.name);</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Console.WriteLine</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"Press any key to stop."</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Console.ReadKey</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pPr algn="l">
              <a:buFont typeface="+mj-lt"/>
              <a:buAutoNum type="arabicPeriod"/>
            </a:pPr>
            <a:endParaRPr lang="en-IN" sz="700"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9546684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3AB633-3FE8-5E9C-0F32-C14A27B7E11C}"/>
              </a:ext>
            </a:extLst>
          </p:cNvPr>
          <p:cNvSpPr txBox="1"/>
          <p:nvPr/>
        </p:nvSpPr>
        <p:spPr>
          <a:xfrm>
            <a:off x="1085850" y="152400"/>
            <a:ext cx="3581400" cy="261610"/>
          </a:xfrm>
          <a:prstGeom prst="rect">
            <a:avLst/>
          </a:prstGeom>
          <a:noFill/>
        </p:spPr>
        <p:txBody>
          <a:bodyPr wrap="square">
            <a:spAutoFit/>
          </a:bodyPr>
          <a:lstStyle/>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var</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EmpDAL</a:t>
            </a:r>
            <a:r>
              <a:rPr lang="en-US" sz="1100" dirty="0">
                <a:solidFill>
                  <a:srgbClr val="000000"/>
                </a:solidFill>
                <a:latin typeface="Consolas" panose="020B0609020204030204" pitchFamily="49" charset="0"/>
              </a:rPr>
              <a:t> = </a:t>
            </a:r>
            <a:r>
              <a:rPr lang="en-US" sz="1100" dirty="0">
                <a:solidFill>
                  <a:srgbClr val="0000FF"/>
                </a:solidFill>
                <a:latin typeface="Consolas" panose="020B0609020204030204" pitchFamily="49" charset="0"/>
              </a:rPr>
              <a:t>new</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EmpDAL</a:t>
            </a:r>
            <a:r>
              <a:rPr lang="en-US" sz="1100" dirty="0">
                <a:solidFill>
                  <a:srgbClr val="000000"/>
                </a:solidFill>
                <a:latin typeface="Consolas" panose="020B0609020204030204" pitchFamily="49" charset="0"/>
              </a:rPr>
              <a:t>(_</a:t>
            </a:r>
            <a:r>
              <a:rPr lang="en-US" sz="1100" dirty="0" err="1">
                <a:solidFill>
                  <a:srgbClr val="000000"/>
                </a:solidFill>
                <a:latin typeface="Consolas" panose="020B0609020204030204" pitchFamily="49" charset="0"/>
              </a:rPr>
              <a:t>iconfiguration</a:t>
            </a:r>
            <a:r>
              <a:rPr lang="en-US" sz="1100" dirty="0">
                <a:solidFill>
                  <a:srgbClr val="000000"/>
                </a:solidFill>
                <a:latin typeface="Consolas" panose="020B0609020204030204" pitchFamily="49" charset="0"/>
              </a:rPr>
              <a:t>);</a:t>
            </a:r>
            <a:endParaRPr lang="en-IN" sz="1100" dirty="0"/>
          </a:p>
        </p:txBody>
      </p:sp>
      <p:sp>
        <p:nvSpPr>
          <p:cNvPr id="6" name="TextBox 5">
            <a:extLst>
              <a:ext uri="{FF2B5EF4-FFF2-40B4-BE49-F238E27FC236}">
                <a16:creationId xmlns:a16="http://schemas.microsoft.com/office/drawing/2014/main" id="{1C5A4F8F-F568-AABC-D381-E138ED953D8E}"/>
              </a:ext>
            </a:extLst>
          </p:cNvPr>
          <p:cNvSpPr txBox="1"/>
          <p:nvPr/>
        </p:nvSpPr>
        <p:spPr>
          <a:xfrm>
            <a:off x="228600" y="1066800"/>
            <a:ext cx="1066800" cy="381000"/>
          </a:xfrm>
          <a:prstGeom prst="rect">
            <a:avLst/>
          </a:prstGeom>
          <a:noFill/>
        </p:spPr>
        <p:txBody>
          <a:bodyPr wrap="square" rtlCol="0">
            <a:spAutoFit/>
          </a:bodyPr>
          <a:lstStyle/>
          <a:p>
            <a:r>
              <a:rPr lang="en-US" dirty="0" err="1"/>
              <a:t>EmpDAL</a:t>
            </a:r>
            <a:endParaRPr lang="en-IN" dirty="0"/>
          </a:p>
        </p:txBody>
      </p:sp>
      <p:cxnSp>
        <p:nvCxnSpPr>
          <p:cNvPr id="9" name="Straight Arrow Connector 8">
            <a:extLst>
              <a:ext uri="{FF2B5EF4-FFF2-40B4-BE49-F238E27FC236}">
                <a16:creationId xmlns:a16="http://schemas.microsoft.com/office/drawing/2014/main" id="{826E474D-80F4-4F3D-84B8-95E5842CCDF8}"/>
              </a:ext>
            </a:extLst>
          </p:cNvPr>
          <p:cNvCxnSpPr>
            <a:cxnSpLocks/>
          </p:cNvCxnSpPr>
          <p:nvPr/>
        </p:nvCxnSpPr>
        <p:spPr>
          <a:xfrm flipV="1">
            <a:off x="1295400" y="1143491"/>
            <a:ext cx="228600" cy="19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6CB13FB-58B3-C0F0-1BCF-F5B2784C00AD}"/>
              </a:ext>
            </a:extLst>
          </p:cNvPr>
          <p:cNvSpPr/>
          <p:nvPr/>
        </p:nvSpPr>
        <p:spPr>
          <a:xfrm>
            <a:off x="1524000" y="512921"/>
            <a:ext cx="2286000" cy="1638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000000"/>
                </a:solidFill>
                <a:latin typeface="Cascadia Mono" panose="020B0609020000020004" pitchFamily="49" charset="0"/>
              </a:rPr>
              <a:t>_</a:t>
            </a:r>
            <a:r>
              <a:rPr lang="en-IN" sz="1200" dirty="0" err="1">
                <a:solidFill>
                  <a:srgbClr val="000000"/>
                </a:solidFill>
                <a:latin typeface="Cascadia Mono" panose="020B0609020000020004" pitchFamily="49" charset="0"/>
              </a:rPr>
              <a:t>connectionString</a:t>
            </a:r>
            <a:endParaRPr lang="en-IN" sz="1200" dirty="0"/>
          </a:p>
        </p:txBody>
      </p:sp>
      <p:cxnSp>
        <p:nvCxnSpPr>
          <p:cNvPr id="13" name="Straight Arrow Connector 12">
            <a:extLst>
              <a:ext uri="{FF2B5EF4-FFF2-40B4-BE49-F238E27FC236}">
                <a16:creationId xmlns:a16="http://schemas.microsoft.com/office/drawing/2014/main" id="{C49FF068-BBF5-D724-4071-1BD9369F4E01}"/>
              </a:ext>
            </a:extLst>
          </p:cNvPr>
          <p:cNvCxnSpPr/>
          <p:nvPr/>
        </p:nvCxnSpPr>
        <p:spPr>
          <a:xfrm flipV="1">
            <a:off x="3267075" y="904161"/>
            <a:ext cx="13716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CC03A90-39AD-2EF5-3146-28B8EE5D19BE}"/>
              </a:ext>
            </a:extLst>
          </p:cNvPr>
          <p:cNvSpPr txBox="1"/>
          <p:nvPr/>
        </p:nvSpPr>
        <p:spPr>
          <a:xfrm>
            <a:off x="4572000" y="337007"/>
            <a:ext cx="3352800" cy="923330"/>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ConnectionStrings</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"Default"</a:t>
            </a:r>
            <a:r>
              <a:rPr lang="en-IN" sz="900" dirty="0">
                <a:solidFill>
                  <a:srgbClr val="000000"/>
                </a:solidFill>
                <a:latin typeface="Cascadia Mono" panose="020B0609020000020004" pitchFamily="49" charset="0"/>
              </a:rPr>
              <a:t>: </a:t>
            </a:r>
            <a:r>
              <a:rPr lang="en-IN" sz="900" dirty="0">
                <a:solidFill>
                  <a:srgbClr val="A31515"/>
                </a:solidFill>
                <a:latin typeface="Cascadia Mono" panose="020B0609020000020004" pitchFamily="49" charset="0"/>
              </a:rPr>
              <a:t>"Data Source=(</a:t>
            </a:r>
            <a:r>
              <a:rPr lang="en-IN" sz="900" dirty="0" err="1">
                <a:solidFill>
                  <a:srgbClr val="A31515"/>
                </a:solidFill>
                <a:latin typeface="Cascadia Mono" panose="020B0609020000020004" pitchFamily="49" charset="0"/>
              </a:rPr>
              <a:t>localdb</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ProjectModels;Initial</a:t>
            </a:r>
            <a:r>
              <a:rPr lang="en-IN" sz="900" dirty="0">
                <a:solidFill>
                  <a:srgbClr val="A31515"/>
                </a:solidFill>
                <a:latin typeface="Cascadia Mono" panose="020B0609020000020004" pitchFamily="49" charset="0"/>
              </a:rPr>
              <a:t> </a:t>
            </a:r>
            <a:r>
              <a:rPr lang="en-IN" sz="900" dirty="0" err="1">
                <a:solidFill>
                  <a:srgbClr val="A31515"/>
                </a:solidFill>
                <a:latin typeface="Cascadia Mono" panose="020B0609020000020004" pitchFamily="49" charset="0"/>
              </a:rPr>
              <a:t>Catalog</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StudentData;Integrated</a:t>
            </a:r>
            <a:r>
              <a:rPr lang="en-IN" sz="900" dirty="0">
                <a:solidFill>
                  <a:srgbClr val="A31515"/>
                </a:solidFill>
                <a:latin typeface="Cascadia Mono" panose="020B0609020000020004" pitchFamily="49" charset="0"/>
              </a:rPr>
              <a:t> Security=True;"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endParaRPr lang="en-IN" dirty="0"/>
          </a:p>
        </p:txBody>
      </p:sp>
      <p:sp>
        <p:nvSpPr>
          <p:cNvPr id="17" name="TextBox 16">
            <a:extLst>
              <a:ext uri="{FF2B5EF4-FFF2-40B4-BE49-F238E27FC236}">
                <a16:creationId xmlns:a16="http://schemas.microsoft.com/office/drawing/2014/main" id="{E5F71673-EE9C-CD8D-9BF2-A036911833B7}"/>
              </a:ext>
            </a:extLst>
          </p:cNvPr>
          <p:cNvSpPr txBox="1"/>
          <p:nvPr/>
        </p:nvSpPr>
        <p:spPr>
          <a:xfrm>
            <a:off x="3810000" y="1905000"/>
            <a:ext cx="3733800" cy="246221"/>
          </a:xfrm>
          <a:prstGeom prst="rect">
            <a:avLst/>
          </a:prstGeom>
          <a:noFill/>
        </p:spPr>
        <p:txBody>
          <a:bodyPr wrap="square">
            <a:spAutoFit/>
          </a:bodyPr>
          <a:lstStyle/>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listCountryModel</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EmpDAL.GetList</a:t>
            </a:r>
            <a:r>
              <a:rPr lang="en-IN" sz="1000" dirty="0">
                <a:solidFill>
                  <a:srgbClr val="000000"/>
                </a:solidFill>
                <a:latin typeface="Cascadia Mono" panose="020B0609020000020004" pitchFamily="49" charset="0"/>
              </a:rPr>
              <a:t>();</a:t>
            </a:r>
            <a:endParaRPr lang="en-IN" sz="1000" dirty="0"/>
          </a:p>
        </p:txBody>
      </p:sp>
      <p:sp>
        <p:nvSpPr>
          <p:cNvPr id="20" name="TextBox 19">
            <a:extLst>
              <a:ext uri="{FF2B5EF4-FFF2-40B4-BE49-F238E27FC236}">
                <a16:creationId xmlns:a16="http://schemas.microsoft.com/office/drawing/2014/main" id="{DA1C3180-53F2-9744-9834-F1ADF50DC2E4}"/>
              </a:ext>
            </a:extLst>
          </p:cNvPr>
          <p:cNvSpPr txBox="1"/>
          <p:nvPr/>
        </p:nvSpPr>
        <p:spPr>
          <a:xfrm>
            <a:off x="1600200" y="2249438"/>
            <a:ext cx="2286000" cy="200055"/>
          </a:xfrm>
          <a:prstGeom prst="rect">
            <a:avLst/>
          </a:prstGeom>
          <a:noFill/>
        </p:spPr>
        <p:txBody>
          <a:bodyPr wrap="square">
            <a:spAutoFit/>
          </a:bodyPr>
          <a:lstStyle/>
          <a:p>
            <a:r>
              <a:rPr lang="en-US" sz="700" dirty="0">
                <a:solidFill>
                  <a:srgbClr val="0000FF"/>
                </a:solidFill>
                <a:latin typeface="Cascadia Mono" panose="020B0609020000020004" pitchFamily="49" charset="0"/>
              </a:rPr>
              <a:t>var</a:t>
            </a:r>
            <a:r>
              <a:rPr lang="en-US" sz="700" dirty="0">
                <a:solidFill>
                  <a:srgbClr val="000000"/>
                </a:solidFill>
                <a:latin typeface="Cascadia Mono" panose="020B0609020000020004" pitchFamily="49" charset="0"/>
              </a:rPr>
              <a:t> </a:t>
            </a:r>
            <a:r>
              <a:rPr lang="en-US" sz="700" dirty="0" err="1">
                <a:solidFill>
                  <a:srgbClr val="000000"/>
                </a:solidFill>
                <a:latin typeface="Cascadia Mono" panose="020B0609020000020004" pitchFamily="49" charset="0"/>
              </a:rPr>
              <a:t>listEmployee</a:t>
            </a:r>
            <a:r>
              <a:rPr lang="en-US" sz="700" dirty="0">
                <a:solidFill>
                  <a:srgbClr val="000000"/>
                </a:solidFill>
                <a:latin typeface="Cascadia Mono" panose="020B0609020000020004" pitchFamily="49" charset="0"/>
              </a:rPr>
              <a:t> = </a:t>
            </a:r>
            <a:r>
              <a:rPr lang="en-US" sz="700" dirty="0">
                <a:solidFill>
                  <a:srgbClr val="0000FF"/>
                </a:solidFill>
                <a:latin typeface="Cascadia Mono" panose="020B0609020000020004" pitchFamily="49" charset="0"/>
              </a:rPr>
              <a:t>new</a:t>
            </a:r>
            <a:r>
              <a:rPr lang="en-US" sz="700" dirty="0">
                <a:solidFill>
                  <a:srgbClr val="000000"/>
                </a:solidFill>
                <a:latin typeface="Cascadia Mono" panose="020B0609020000020004" pitchFamily="49" charset="0"/>
              </a:rPr>
              <a:t> List&lt;Employee&gt;();</a:t>
            </a:r>
            <a:endParaRPr lang="en-IN" sz="700" dirty="0"/>
          </a:p>
        </p:txBody>
      </p:sp>
      <p:graphicFrame>
        <p:nvGraphicFramePr>
          <p:cNvPr id="21" name="Table 21">
            <a:extLst>
              <a:ext uri="{FF2B5EF4-FFF2-40B4-BE49-F238E27FC236}">
                <a16:creationId xmlns:a16="http://schemas.microsoft.com/office/drawing/2014/main" id="{00F3B94F-A278-3AC1-88D1-1FC6CF1314D4}"/>
              </a:ext>
            </a:extLst>
          </p:cNvPr>
          <p:cNvGraphicFramePr>
            <a:graphicFrameLocks noGrp="1"/>
          </p:cNvGraphicFramePr>
          <p:nvPr/>
        </p:nvGraphicFramePr>
        <p:xfrm>
          <a:off x="3810000" y="2176700"/>
          <a:ext cx="2514600" cy="73152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1476293121"/>
                    </a:ext>
                  </a:extLst>
                </a:gridCol>
                <a:gridCol w="838200">
                  <a:extLst>
                    <a:ext uri="{9D8B030D-6E8A-4147-A177-3AD203B41FA5}">
                      <a16:colId xmlns:a16="http://schemas.microsoft.com/office/drawing/2014/main" val="2307186708"/>
                    </a:ext>
                  </a:extLst>
                </a:gridCol>
                <a:gridCol w="838200">
                  <a:extLst>
                    <a:ext uri="{9D8B030D-6E8A-4147-A177-3AD203B41FA5}">
                      <a16:colId xmlns:a16="http://schemas.microsoft.com/office/drawing/2014/main" val="4174886234"/>
                    </a:ext>
                  </a:extLst>
                </a:gridCol>
              </a:tblGrid>
              <a:tr h="288087">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714097461"/>
                  </a:ext>
                </a:extLst>
              </a:tr>
              <a:tr h="288087">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90635872"/>
                  </a:ext>
                </a:extLst>
              </a:tr>
            </a:tbl>
          </a:graphicData>
        </a:graphic>
      </p:graphicFrame>
      <p:sp>
        <p:nvSpPr>
          <p:cNvPr id="23" name="TextBox 22">
            <a:extLst>
              <a:ext uri="{FF2B5EF4-FFF2-40B4-BE49-F238E27FC236}">
                <a16:creationId xmlns:a16="http://schemas.microsoft.com/office/drawing/2014/main" id="{38DF20D7-1F8B-9854-F144-1F65FEFDBF15}"/>
              </a:ext>
            </a:extLst>
          </p:cNvPr>
          <p:cNvSpPr txBox="1"/>
          <p:nvPr/>
        </p:nvSpPr>
        <p:spPr>
          <a:xfrm>
            <a:off x="247650" y="2899752"/>
            <a:ext cx="6096000" cy="276999"/>
          </a:xfrm>
          <a:prstGeom prst="rect">
            <a:avLst/>
          </a:prstGeom>
          <a:noFill/>
        </p:spPr>
        <p:txBody>
          <a:bodyPr wrap="square">
            <a:spAutoFit/>
          </a:bodyPr>
          <a:lstStyle/>
          <a:p>
            <a:r>
              <a:rPr lang="en-US" sz="1200" dirty="0" err="1">
                <a:solidFill>
                  <a:srgbClr val="000000"/>
                </a:solidFill>
                <a:latin typeface="Cascadia Mono" panose="020B0609020000020004" pitchFamily="49" charset="0"/>
              </a:rPr>
              <a:t>SqlConnection</a:t>
            </a:r>
            <a:r>
              <a:rPr lang="en-US" sz="1200" dirty="0">
                <a:solidFill>
                  <a:srgbClr val="000000"/>
                </a:solidFill>
                <a:latin typeface="Cascadia Mono" panose="020B0609020000020004" pitchFamily="49" charset="0"/>
              </a:rPr>
              <a:t> con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SqlConnection</a:t>
            </a:r>
            <a:r>
              <a:rPr lang="en-US" sz="1200" dirty="0">
                <a:solidFill>
                  <a:srgbClr val="000000"/>
                </a:solidFill>
                <a:latin typeface="Cascadia Mono" panose="020B0609020000020004" pitchFamily="49" charset="0"/>
              </a:rPr>
              <a:t>(_</a:t>
            </a:r>
            <a:r>
              <a:rPr lang="en-US" sz="1200" dirty="0" err="1">
                <a:solidFill>
                  <a:srgbClr val="000000"/>
                </a:solidFill>
                <a:latin typeface="Cascadia Mono" panose="020B0609020000020004" pitchFamily="49" charset="0"/>
              </a:rPr>
              <a:t>connectionString</a:t>
            </a:r>
            <a:r>
              <a:rPr lang="en-US" sz="1200" dirty="0">
                <a:solidFill>
                  <a:srgbClr val="000000"/>
                </a:solidFill>
                <a:latin typeface="Cascadia Mono" panose="020B0609020000020004" pitchFamily="49" charset="0"/>
              </a:rPr>
              <a:t>)</a:t>
            </a:r>
            <a:endParaRPr lang="en-IN" sz="1200" dirty="0"/>
          </a:p>
        </p:txBody>
      </p:sp>
      <p:sp>
        <p:nvSpPr>
          <p:cNvPr id="24" name="Rectangle 23">
            <a:extLst>
              <a:ext uri="{FF2B5EF4-FFF2-40B4-BE49-F238E27FC236}">
                <a16:creationId xmlns:a16="http://schemas.microsoft.com/office/drawing/2014/main" id="{7C53F86F-1AD5-F7A0-ED15-705D57242866}"/>
              </a:ext>
            </a:extLst>
          </p:cNvPr>
          <p:cNvSpPr/>
          <p:nvPr/>
        </p:nvSpPr>
        <p:spPr>
          <a:xfrm>
            <a:off x="2667000" y="3158260"/>
            <a:ext cx="2362200" cy="350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latin typeface="Cascadia Mono" panose="020B0609020000020004" pitchFamily="49" charset="0"/>
              </a:rPr>
              <a:t>_</a:t>
            </a:r>
            <a:r>
              <a:rPr lang="en-US" sz="1200" dirty="0" err="1">
                <a:solidFill>
                  <a:srgbClr val="000000"/>
                </a:solidFill>
                <a:latin typeface="Cascadia Mono" panose="020B0609020000020004" pitchFamily="49" charset="0"/>
              </a:rPr>
              <a:t>connectionString</a:t>
            </a:r>
            <a:endParaRPr lang="en-IN" sz="1200" dirty="0"/>
          </a:p>
        </p:txBody>
      </p:sp>
      <p:cxnSp>
        <p:nvCxnSpPr>
          <p:cNvPr id="26" name="Straight Arrow Connector 25">
            <a:extLst>
              <a:ext uri="{FF2B5EF4-FFF2-40B4-BE49-F238E27FC236}">
                <a16:creationId xmlns:a16="http://schemas.microsoft.com/office/drawing/2014/main" id="{C56D0E14-1379-FFF1-5F1D-20A0023323F8}"/>
              </a:ext>
            </a:extLst>
          </p:cNvPr>
          <p:cNvCxnSpPr>
            <a:cxnSpLocks/>
          </p:cNvCxnSpPr>
          <p:nvPr/>
        </p:nvCxnSpPr>
        <p:spPr>
          <a:xfrm flipV="1">
            <a:off x="4191000" y="1358554"/>
            <a:ext cx="914400" cy="181819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8" name="TextBox 27">
            <a:extLst>
              <a:ext uri="{FF2B5EF4-FFF2-40B4-BE49-F238E27FC236}">
                <a16:creationId xmlns:a16="http://schemas.microsoft.com/office/drawing/2014/main" id="{3038C14F-C31A-F5CA-3033-2524715E46F8}"/>
              </a:ext>
            </a:extLst>
          </p:cNvPr>
          <p:cNvSpPr txBox="1"/>
          <p:nvPr/>
        </p:nvSpPr>
        <p:spPr>
          <a:xfrm>
            <a:off x="114300" y="3693722"/>
            <a:ext cx="4229100" cy="369332"/>
          </a:xfrm>
          <a:prstGeom prst="rect">
            <a:avLst/>
          </a:prstGeom>
          <a:noFill/>
        </p:spPr>
        <p:txBody>
          <a:bodyPr wrap="square">
            <a:spAutoFit/>
          </a:bodyPr>
          <a:lstStyle/>
          <a:p>
            <a:r>
              <a:rPr lang="en-US" sz="18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SP_emp_GET_LIST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con);</a:t>
            </a:r>
            <a:endParaRPr lang="en-IN" dirty="0"/>
          </a:p>
        </p:txBody>
      </p:sp>
      <p:cxnSp>
        <p:nvCxnSpPr>
          <p:cNvPr id="31" name="Straight Arrow Connector 30">
            <a:extLst>
              <a:ext uri="{FF2B5EF4-FFF2-40B4-BE49-F238E27FC236}">
                <a16:creationId xmlns:a16="http://schemas.microsoft.com/office/drawing/2014/main" id="{E78A275A-8CBC-536B-74AF-2F019F9323B5}"/>
              </a:ext>
            </a:extLst>
          </p:cNvPr>
          <p:cNvCxnSpPr>
            <a:cxnSpLocks/>
          </p:cNvCxnSpPr>
          <p:nvPr/>
        </p:nvCxnSpPr>
        <p:spPr>
          <a:xfrm flipV="1">
            <a:off x="3886200" y="1358554"/>
            <a:ext cx="752475" cy="296065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3" name="TextBox 32">
            <a:extLst>
              <a:ext uri="{FF2B5EF4-FFF2-40B4-BE49-F238E27FC236}">
                <a16:creationId xmlns:a16="http://schemas.microsoft.com/office/drawing/2014/main" id="{88062348-EDB6-5765-7129-343032800999}"/>
              </a:ext>
            </a:extLst>
          </p:cNvPr>
          <p:cNvSpPr txBox="1"/>
          <p:nvPr/>
        </p:nvSpPr>
        <p:spPr>
          <a:xfrm>
            <a:off x="7924800" y="3917320"/>
            <a:ext cx="2362200" cy="477054"/>
          </a:xfrm>
          <a:prstGeom prst="rect">
            <a:avLst/>
          </a:prstGeom>
          <a:noFill/>
        </p:spPr>
        <p:txBody>
          <a:bodyPr wrap="square">
            <a:spAutoFit/>
          </a:bodyPr>
          <a:lstStyle/>
          <a:p>
            <a:r>
              <a:rPr lang="en-US" sz="500" dirty="0">
                <a:solidFill>
                  <a:srgbClr val="0000FF"/>
                </a:solidFill>
                <a:latin typeface="Cascadia Mono" panose="020B0609020000020004" pitchFamily="49" charset="0"/>
              </a:rPr>
              <a:t>CREATE</a:t>
            </a:r>
            <a:r>
              <a:rPr lang="en-US" sz="500" dirty="0">
                <a:solidFill>
                  <a:srgbClr val="000000"/>
                </a:solidFill>
                <a:latin typeface="Cascadia Mono" panose="020B0609020000020004" pitchFamily="49" charset="0"/>
              </a:rPr>
              <a:t> </a:t>
            </a:r>
            <a:r>
              <a:rPr lang="en-US" sz="500" dirty="0">
                <a:solidFill>
                  <a:srgbClr val="0000FF"/>
                </a:solidFill>
                <a:latin typeface="Cascadia Mono" panose="020B0609020000020004" pitchFamily="49" charset="0"/>
              </a:rPr>
              <a:t>PROCEDURE</a:t>
            </a:r>
            <a:r>
              <a:rPr lang="en-US" sz="500" dirty="0">
                <a:solidFill>
                  <a:srgbClr val="000000"/>
                </a:solidFill>
                <a:latin typeface="Cascadia Mono" panose="020B0609020000020004" pitchFamily="49" charset="0"/>
              </a:rPr>
              <a:t> [</a:t>
            </a:r>
            <a:r>
              <a:rPr lang="en-US" sz="500" dirty="0" err="1">
                <a:solidFill>
                  <a:srgbClr val="000000"/>
                </a:solidFill>
                <a:latin typeface="Cascadia Mono" panose="020B0609020000020004" pitchFamily="49" charset="0"/>
              </a:rPr>
              <a:t>dbo</a:t>
            </a:r>
            <a:r>
              <a:rPr lang="en-US" sz="500" dirty="0">
                <a:solidFill>
                  <a:srgbClr val="000000"/>
                </a:solidFill>
                <a:latin typeface="Cascadia Mono" panose="020B0609020000020004" pitchFamily="49" charset="0"/>
              </a:rPr>
              <a:t>]</a:t>
            </a:r>
            <a:r>
              <a:rPr lang="en-US" sz="500" dirty="0">
                <a:solidFill>
                  <a:srgbClr val="808080"/>
                </a:solidFill>
                <a:latin typeface="Cascadia Mono" panose="020B0609020000020004" pitchFamily="49" charset="0"/>
              </a:rPr>
              <a:t>.</a:t>
            </a:r>
            <a:r>
              <a:rPr lang="en-US" sz="500" dirty="0">
                <a:solidFill>
                  <a:srgbClr val="000000"/>
                </a:solidFill>
                <a:latin typeface="Cascadia Mono" panose="020B0609020000020004" pitchFamily="49" charset="0"/>
              </a:rPr>
              <a:t>[</a:t>
            </a:r>
            <a:r>
              <a:rPr lang="en-US" sz="500" dirty="0" err="1">
                <a:solidFill>
                  <a:srgbClr val="000000"/>
                </a:solidFill>
                <a:latin typeface="Cascadia Mono" panose="020B0609020000020004" pitchFamily="49" charset="0"/>
              </a:rPr>
              <a:t>SP_emp_GET_LIST</a:t>
            </a:r>
            <a:r>
              <a:rPr lang="en-US" sz="500" dirty="0">
                <a:solidFill>
                  <a:srgbClr val="000000"/>
                </a:solidFill>
                <a:latin typeface="Cascadia Mono" panose="020B0609020000020004" pitchFamily="49" charset="0"/>
              </a:rPr>
              <a:t>]  </a:t>
            </a:r>
          </a:p>
          <a:p>
            <a:r>
              <a:rPr lang="en-IN" sz="500" dirty="0">
                <a:solidFill>
                  <a:srgbClr val="0000FF"/>
                </a:solidFill>
                <a:latin typeface="Cascadia Mono" panose="020B0609020000020004" pitchFamily="49" charset="0"/>
              </a:rPr>
              <a:t>AS</a:t>
            </a:r>
            <a:r>
              <a:rPr lang="en-IN" sz="500" dirty="0">
                <a:solidFill>
                  <a:srgbClr val="000000"/>
                </a:solidFill>
                <a:latin typeface="Cascadia Mono" panose="020B0609020000020004" pitchFamily="49" charset="0"/>
              </a:rPr>
              <a:t>  </a:t>
            </a:r>
          </a:p>
          <a:p>
            <a:r>
              <a:rPr lang="en-IN" sz="500" dirty="0">
                <a:solidFill>
                  <a:srgbClr val="000000"/>
                </a:solidFill>
                <a:latin typeface="Cascadia Mono" panose="020B0609020000020004" pitchFamily="49" charset="0"/>
              </a:rPr>
              <a:t>   </a:t>
            </a:r>
            <a:r>
              <a:rPr lang="en-IN" sz="500" dirty="0">
                <a:solidFill>
                  <a:srgbClr val="0000FF"/>
                </a:solidFill>
                <a:latin typeface="Cascadia Mono" panose="020B0609020000020004" pitchFamily="49" charset="0"/>
              </a:rPr>
              <a:t>BEGIN</a:t>
            </a:r>
            <a:r>
              <a:rPr lang="en-IN" sz="500" dirty="0">
                <a:solidFill>
                  <a:srgbClr val="000000"/>
                </a:solidFill>
                <a:latin typeface="Cascadia Mono" panose="020B0609020000020004" pitchFamily="49" charset="0"/>
              </a:rPr>
              <a:t>  </a:t>
            </a:r>
          </a:p>
          <a:p>
            <a:r>
              <a:rPr lang="en-US" sz="500" dirty="0">
                <a:solidFill>
                  <a:srgbClr val="000000"/>
                </a:solidFill>
                <a:latin typeface="Cascadia Mono" panose="020B0609020000020004" pitchFamily="49" charset="0"/>
              </a:rPr>
              <a:t>   </a:t>
            </a:r>
            <a:r>
              <a:rPr lang="en-US" sz="500" dirty="0">
                <a:solidFill>
                  <a:srgbClr val="0000FF"/>
                </a:solidFill>
                <a:latin typeface="Cascadia Mono" panose="020B0609020000020004" pitchFamily="49" charset="0"/>
              </a:rPr>
              <a:t>SELECT</a:t>
            </a:r>
            <a:r>
              <a:rPr lang="en-US" sz="500" dirty="0">
                <a:solidFill>
                  <a:srgbClr val="000000"/>
                </a:solidFill>
                <a:latin typeface="Cascadia Mono" panose="020B0609020000020004" pitchFamily="49" charset="0"/>
              </a:rPr>
              <a:t> Id </a:t>
            </a:r>
            <a:r>
              <a:rPr lang="en-US" sz="500" dirty="0">
                <a:solidFill>
                  <a:srgbClr val="808080"/>
                </a:solidFill>
                <a:latin typeface="Cascadia Mono" panose="020B0609020000020004" pitchFamily="49" charset="0"/>
              </a:rPr>
              <a:t>,</a:t>
            </a:r>
            <a:r>
              <a:rPr lang="en-US" sz="500" dirty="0" err="1">
                <a:solidFill>
                  <a:srgbClr val="0000FF"/>
                </a:solidFill>
                <a:latin typeface="Cascadia Mono" panose="020B0609020000020004" pitchFamily="49" charset="0"/>
              </a:rPr>
              <a:t>Name</a:t>
            </a:r>
            <a:r>
              <a:rPr lang="en-US" sz="500" dirty="0" err="1">
                <a:solidFill>
                  <a:srgbClr val="808080"/>
                </a:solidFill>
                <a:latin typeface="Cascadia Mono" panose="020B0609020000020004" pitchFamily="49" charset="0"/>
              </a:rPr>
              <a:t>,</a:t>
            </a:r>
            <a:r>
              <a:rPr lang="en-US" sz="500" dirty="0" err="1">
                <a:solidFill>
                  <a:srgbClr val="000000"/>
                </a:solidFill>
                <a:latin typeface="Cascadia Mono" panose="020B0609020000020004" pitchFamily="49" charset="0"/>
              </a:rPr>
              <a:t>Salary</a:t>
            </a:r>
            <a:r>
              <a:rPr lang="en-US" sz="500" dirty="0">
                <a:solidFill>
                  <a:srgbClr val="000000"/>
                </a:solidFill>
                <a:latin typeface="Cascadia Mono" panose="020B0609020000020004" pitchFamily="49" charset="0"/>
              </a:rPr>
              <a:t> </a:t>
            </a:r>
            <a:r>
              <a:rPr lang="en-US" sz="500" dirty="0">
                <a:solidFill>
                  <a:srgbClr val="0000FF"/>
                </a:solidFill>
                <a:latin typeface="Cascadia Mono" panose="020B0609020000020004" pitchFamily="49" charset="0"/>
              </a:rPr>
              <a:t>FROM</a:t>
            </a:r>
            <a:r>
              <a:rPr lang="en-US" sz="500" dirty="0">
                <a:solidFill>
                  <a:srgbClr val="000000"/>
                </a:solidFill>
                <a:latin typeface="Cascadia Mono" panose="020B0609020000020004" pitchFamily="49" charset="0"/>
              </a:rPr>
              <a:t> Employees</a:t>
            </a:r>
          </a:p>
          <a:p>
            <a:r>
              <a:rPr lang="en-IN" sz="500" dirty="0">
                <a:solidFill>
                  <a:srgbClr val="0000FF"/>
                </a:solidFill>
                <a:latin typeface="Cascadia Mono" panose="020B0609020000020004" pitchFamily="49" charset="0"/>
              </a:rPr>
              <a:t>END</a:t>
            </a:r>
            <a:endParaRPr lang="en-IN" sz="500" dirty="0"/>
          </a:p>
        </p:txBody>
      </p:sp>
      <p:cxnSp>
        <p:nvCxnSpPr>
          <p:cNvPr id="35" name="Straight Arrow Connector 34">
            <a:extLst>
              <a:ext uri="{FF2B5EF4-FFF2-40B4-BE49-F238E27FC236}">
                <a16:creationId xmlns:a16="http://schemas.microsoft.com/office/drawing/2014/main" id="{E64F3C6B-AA92-30CF-09B3-643C9460E0DB}"/>
              </a:ext>
            </a:extLst>
          </p:cNvPr>
          <p:cNvCxnSpPr>
            <a:cxnSpLocks/>
          </p:cNvCxnSpPr>
          <p:nvPr/>
        </p:nvCxnSpPr>
        <p:spPr>
          <a:xfrm>
            <a:off x="2876550" y="4006466"/>
            <a:ext cx="4972050" cy="241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593BDDA-6764-3199-1985-E72046E181AB}"/>
              </a:ext>
            </a:extLst>
          </p:cNvPr>
          <p:cNvSpPr/>
          <p:nvPr/>
        </p:nvSpPr>
        <p:spPr>
          <a:xfrm>
            <a:off x="1981200" y="4063054"/>
            <a:ext cx="2133600" cy="6794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A31515"/>
                </a:solidFill>
                <a:latin typeface="Cascadia Mono" panose="020B0609020000020004" pitchFamily="49" charset="0"/>
              </a:rPr>
              <a:t>"</a:t>
            </a:r>
            <a:r>
              <a:rPr lang="en-US" sz="1100" dirty="0" err="1">
                <a:solidFill>
                  <a:srgbClr val="A31515"/>
                </a:solidFill>
                <a:latin typeface="Cascadia Mono" panose="020B0609020000020004" pitchFamily="49" charset="0"/>
              </a:rPr>
              <a:t>SP_emp_GET_LIST</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 con</a:t>
            </a:r>
            <a:endParaRPr lang="en-IN" sz="1100" dirty="0"/>
          </a:p>
        </p:txBody>
      </p:sp>
      <p:sp>
        <p:nvSpPr>
          <p:cNvPr id="39" name="TextBox 38">
            <a:extLst>
              <a:ext uri="{FF2B5EF4-FFF2-40B4-BE49-F238E27FC236}">
                <a16:creationId xmlns:a16="http://schemas.microsoft.com/office/drawing/2014/main" id="{87370520-BC21-A852-966B-FDA802B367FF}"/>
              </a:ext>
            </a:extLst>
          </p:cNvPr>
          <p:cNvSpPr txBox="1"/>
          <p:nvPr/>
        </p:nvSpPr>
        <p:spPr>
          <a:xfrm>
            <a:off x="114300" y="5030508"/>
            <a:ext cx="3695700" cy="400110"/>
          </a:xfrm>
          <a:prstGeom prst="rect">
            <a:avLst/>
          </a:prstGeom>
          <a:noFill/>
        </p:spPr>
        <p:txBody>
          <a:bodyPr wrap="square">
            <a:spAutoFit/>
          </a:bodyPr>
          <a:lstStyle/>
          <a:p>
            <a:r>
              <a:rPr lang="en-IN" sz="1000" dirty="0" err="1">
                <a:solidFill>
                  <a:srgbClr val="000000"/>
                </a:solidFill>
                <a:latin typeface="Cascadia Mono" panose="020B0609020000020004" pitchFamily="49" charset="0"/>
              </a:rPr>
              <a:t>cmd.CommandType</a:t>
            </a:r>
            <a:r>
              <a:rPr lang="en-IN" sz="1000" dirty="0">
                <a:solidFill>
                  <a:srgbClr val="000000"/>
                </a:solidFill>
                <a:latin typeface="Cascadia Mono" panose="020B0609020000020004" pitchFamily="49" charset="0"/>
              </a:rPr>
              <a:t> = </a:t>
            </a:r>
            <a:r>
              <a:rPr lang="en-IN" sz="1000" dirty="0" err="1">
                <a:solidFill>
                  <a:srgbClr val="000000"/>
                </a:solidFill>
                <a:highlight>
                  <a:srgbClr val="FFFF00"/>
                </a:highlight>
                <a:latin typeface="Cascadia Mono" panose="020B0609020000020004" pitchFamily="49" charset="0"/>
              </a:rPr>
              <a:t>CommandType.StoredProcedure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con.Open</a:t>
            </a:r>
            <a:r>
              <a:rPr lang="en-IN" sz="1000" dirty="0">
                <a:solidFill>
                  <a:srgbClr val="000000"/>
                </a:solidFill>
                <a:latin typeface="Cascadia Mono" panose="020B0609020000020004" pitchFamily="49" charset="0"/>
              </a:rPr>
              <a:t>();</a:t>
            </a:r>
            <a:endParaRPr lang="en-IN" sz="1000" dirty="0"/>
          </a:p>
        </p:txBody>
      </p:sp>
      <p:sp>
        <p:nvSpPr>
          <p:cNvPr id="41" name="TextBox 40">
            <a:extLst>
              <a:ext uri="{FF2B5EF4-FFF2-40B4-BE49-F238E27FC236}">
                <a16:creationId xmlns:a16="http://schemas.microsoft.com/office/drawing/2014/main" id="{F955F918-1081-D05A-8270-E68E98870F05}"/>
              </a:ext>
            </a:extLst>
          </p:cNvPr>
          <p:cNvSpPr txBox="1"/>
          <p:nvPr/>
        </p:nvSpPr>
        <p:spPr>
          <a:xfrm>
            <a:off x="5143500" y="3176751"/>
            <a:ext cx="1943100" cy="365760"/>
          </a:xfrm>
          <a:prstGeom prst="rect">
            <a:avLst/>
          </a:prstGeom>
          <a:noFill/>
        </p:spPr>
        <p:txBody>
          <a:bodyPr wrap="square">
            <a:spAutoFit/>
          </a:bodyPr>
          <a:lstStyle/>
          <a:p>
            <a:r>
              <a:rPr lang="en-IN" sz="1800" dirty="0">
                <a:solidFill>
                  <a:srgbClr val="000000"/>
                </a:solidFill>
                <a:latin typeface="Cascadia Mono" panose="020B0609020000020004" pitchFamily="49" charset="0"/>
              </a:rPr>
              <a:t>.Open();</a:t>
            </a:r>
            <a:endParaRPr lang="en-IN" dirty="0"/>
          </a:p>
        </p:txBody>
      </p:sp>
      <p:sp>
        <p:nvSpPr>
          <p:cNvPr id="42" name="Flowchart: Magnetic Disk 41">
            <a:extLst>
              <a:ext uri="{FF2B5EF4-FFF2-40B4-BE49-F238E27FC236}">
                <a16:creationId xmlns:a16="http://schemas.microsoft.com/office/drawing/2014/main" id="{F2ACABFA-B909-2D44-08FA-E0A6533254E4}"/>
              </a:ext>
            </a:extLst>
          </p:cNvPr>
          <p:cNvSpPr/>
          <p:nvPr/>
        </p:nvSpPr>
        <p:spPr>
          <a:xfrm>
            <a:off x="7124700" y="2349465"/>
            <a:ext cx="1809750" cy="1596048"/>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a:extLst>
              <a:ext uri="{FF2B5EF4-FFF2-40B4-BE49-F238E27FC236}">
                <a16:creationId xmlns:a16="http://schemas.microsoft.com/office/drawing/2014/main" id="{5698D6F0-B1F0-59ED-2FDB-C0F2C070A0A8}"/>
              </a:ext>
            </a:extLst>
          </p:cNvPr>
          <p:cNvCxnSpPr>
            <a:cxnSpLocks/>
          </p:cNvCxnSpPr>
          <p:nvPr/>
        </p:nvCxnSpPr>
        <p:spPr>
          <a:xfrm flipV="1">
            <a:off x="6248400" y="3176751"/>
            <a:ext cx="609600" cy="152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FA9DCAF-A0AF-9BA9-2D6F-F7745B4896F7}"/>
              </a:ext>
            </a:extLst>
          </p:cNvPr>
          <p:cNvSpPr txBox="1"/>
          <p:nvPr/>
        </p:nvSpPr>
        <p:spPr>
          <a:xfrm>
            <a:off x="4181475" y="4360364"/>
            <a:ext cx="3352800" cy="253916"/>
          </a:xfrm>
          <a:prstGeom prst="rect">
            <a:avLst/>
          </a:prstGeom>
          <a:noFill/>
        </p:spPr>
        <p:txBody>
          <a:bodyPr wrap="square">
            <a:spAutoFit/>
          </a:bodyPr>
          <a:lstStyle/>
          <a:p>
            <a:r>
              <a:rPr lang="en-IN" sz="1050" dirty="0" err="1">
                <a:solidFill>
                  <a:srgbClr val="000000"/>
                </a:solidFill>
                <a:latin typeface="Cascadia Mono" panose="020B0609020000020004" pitchFamily="49" charset="0"/>
              </a:rPr>
              <a:t>SqlDataReader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rdr</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cmd.ExecuteReader</a:t>
            </a:r>
            <a:r>
              <a:rPr lang="en-IN" sz="1050" dirty="0">
                <a:solidFill>
                  <a:srgbClr val="000000"/>
                </a:solidFill>
                <a:latin typeface="Cascadia Mono" panose="020B0609020000020004" pitchFamily="49" charset="0"/>
              </a:rPr>
              <a:t>();</a:t>
            </a:r>
            <a:endParaRPr lang="en-IN" sz="1050" dirty="0"/>
          </a:p>
        </p:txBody>
      </p:sp>
      <p:cxnSp>
        <p:nvCxnSpPr>
          <p:cNvPr id="49" name="Straight Arrow Connector 48">
            <a:extLst>
              <a:ext uri="{FF2B5EF4-FFF2-40B4-BE49-F238E27FC236}">
                <a16:creationId xmlns:a16="http://schemas.microsoft.com/office/drawing/2014/main" id="{961B2D76-4C51-C232-9214-27EAC33CC71C}"/>
              </a:ext>
            </a:extLst>
          </p:cNvPr>
          <p:cNvCxnSpPr/>
          <p:nvPr/>
        </p:nvCxnSpPr>
        <p:spPr>
          <a:xfrm flipV="1">
            <a:off x="6553200" y="3826917"/>
            <a:ext cx="457200" cy="614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1D74C903-C424-B432-0105-BCAD90002F36}"/>
              </a:ext>
            </a:extLst>
          </p:cNvPr>
          <p:cNvSpPr/>
          <p:nvPr/>
        </p:nvSpPr>
        <p:spPr>
          <a:xfrm>
            <a:off x="5867400" y="4583154"/>
            <a:ext cx="1676400" cy="570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bg1"/>
                </a:solidFill>
                <a:latin typeface="Cascadia Mono" panose="020B0609020000020004" pitchFamily="49" charset="0"/>
              </a:rPr>
              <a:t>New </a:t>
            </a:r>
            <a:r>
              <a:rPr lang="en-IN" sz="1100" dirty="0" err="1">
                <a:solidFill>
                  <a:schemeClr val="bg1"/>
                </a:solidFill>
                <a:latin typeface="Cascadia Mono" panose="020B0609020000020004" pitchFamily="49" charset="0"/>
              </a:rPr>
              <a:t>SqlDataReader</a:t>
            </a:r>
            <a:r>
              <a:rPr lang="en-IN" sz="1100" dirty="0">
                <a:solidFill>
                  <a:schemeClr val="bg1"/>
                </a:solidFill>
                <a:latin typeface="Cascadia Mono" panose="020B0609020000020004" pitchFamily="49" charset="0"/>
              </a:rPr>
              <a:t>()</a:t>
            </a:r>
            <a:endParaRPr lang="en-IN" sz="1100" dirty="0">
              <a:solidFill>
                <a:schemeClr val="bg1"/>
              </a:solidFill>
            </a:endParaRPr>
          </a:p>
        </p:txBody>
      </p:sp>
      <p:graphicFrame>
        <p:nvGraphicFramePr>
          <p:cNvPr id="52" name="Table 52">
            <a:extLst>
              <a:ext uri="{FF2B5EF4-FFF2-40B4-BE49-F238E27FC236}">
                <a16:creationId xmlns:a16="http://schemas.microsoft.com/office/drawing/2014/main" id="{08BB0A36-0E38-E3DA-539E-9759679379C8}"/>
              </a:ext>
            </a:extLst>
          </p:cNvPr>
          <p:cNvGraphicFramePr>
            <a:graphicFrameLocks noGrp="1"/>
          </p:cNvGraphicFramePr>
          <p:nvPr/>
        </p:nvGraphicFramePr>
        <p:xfrm>
          <a:off x="4829175" y="5270865"/>
          <a:ext cx="3200400" cy="1123554"/>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177786049"/>
                    </a:ext>
                  </a:extLst>
                </a:gridCol>
                <a:gridCol w="1066800">
                  <a:extLst>
                    <a:ext uri="{9D8B030D-6E8A-4147-A177-3AD203B41FA5}">
                      <a16:colId xmlns:a16="http://schemas.microsoft.com/office/drawing/2014/main" val="1649516995"/>
                    </a:ext>
                  </a:extLst>
                </a:gridCol>
                <a:gridCol w="1066800">
                  <a:extLst>
                    <a:ext uri="{9D8B030D-6E8A-4147-A177-3AD203B41FA5}">
                      <a16:colId xmlns:a16="http://schemas.microsoft.com/office/drawing/2014/main" val="3392756778"/>
                    </a:ext>
                  </a:extLst>
                </a:gridCol>
              </a:tblGrid>
              <a:tr h="374518">
                <a:tc>
                  <a:txBody>
                    <a:bodyPr/>
                    <a:lstStyle/>
                    <a:p>
                      <a:r>
                        <a:rPr lang="en-US" dirty="0"/>
                        <a:t>0 ID</a:t>
                      </a:r>
                      <a:endParaRPr lang="en-IN" dirty="0"/>
                    </a:p>
                  </a:txBody>
                  <a:tcPr/>
                </a:tc>
                <a:tc>
                  <a:txBody>
                    <a:bodyPr/>
                    <a:lstStyle/>
                    <a:p>
                      <a:r>
                        <a:rPr lang="en-US" dirty="0"/>
                        <a:t>1 Name </a:t>
                      </a:r>
                      <a:endParaRPr lang="en-IN" dirty="0"/>
                    </a:p>
                  </a:txBody>
                  <a:tcPr/>
                </a:tc>
                <a:tc>
                  <a:txBody>
                    <a:bodyPr/>
                    <a:lstStyle/>
                    <a:p>
                      <a:r>
                        <a:rPr lang="en-US" dirty="0"/>
                        <a:t>2 Salary</a:t>
                      </a:r>
                      <a:endParaRPr lang="en-IN" dirty="0"/>
                    </a:p>
                  </a:txBody>
                  <a:tcPr/>
                </a:tc>
                <a:extLst>
                  <a:ext uri="{0D108BD9-81ED-4DB2-BD59-A6C34878D82A}">
                    <a16:rowId xmlns:a16="http://schemas.microsoft.com/office/drawing/2014/main" val="1481525270"/>
                  </a:ext>
                </a:extLst>
              </a:tr>
              <a:tr h="374518">
                <a:tc>
                  <a:txBody>
                    <a:bodyPr/>
                    <a:lstStyle/>
                    <a:p>
                      <a:r>
                        <a:rPr lang="en-US" dirty="0"/>
                        <a:t>1</a:t>
                      </a:r>
                      <a:endParaRPr lang="en-IN" dirty="0"/>
                    </a:p>
                  </a:txBody>
                  <a:tcPr/>
                </a:tc>
                <a:tc>
                  <a:txBody>
                    <a:bodyPr/>
                    <a:lstStyle/>
                    <a:p>
                      <a:r>
                        <a:rPr lang="en-US" dirty="0"/>
                        <a:t>Raj</a:t>
                      </a:r>
                      <a:endParaRPr lang="en-IN" dirty="0"/>
                    </a:p>
                  </a:txBody>
                  <a:tcPr/>
                </a:tc>
                <a:tc>
                  <a:txBody>
                    <a:bodyPr/>
                    <a:lstStyle/>
                    <a:p>
                      <a:r>
                        <a:rPr lang="en-US" dirty="0"/>
                        <a:t>3000</a:t>
                      </a:r>
                      <a:endParaRPr lang="en-IN" dirty="0"/>
                    </a:p>
                  </a:txBody>
                  <a:tcPr/>
                </a:tc>
                <a:extLst>
                  <a:ext uri="{0D108BD9-81ED-4DB2-BD59-A6C34878D82A}">
                    <a16:rowId xmlns:a16="http://schemas.microsoft.com/office/drawing/2014/main" val="2393632715"/>
                  </a:ext>
                </a:extLst>
              </a:tr>
              <a:tr h="374518">
                <a:tc>
                  <a:txBody>
                    <a:bodyPr/>
                    <a:lstStyle/>
                    <a:p>
                      <a:r>
                        <a:rPr lang="en-US" dirty="0"/>
                        <a:t>2</a:t>
                      </a:r>
                      <a:endParaRPr lang="en-IN" dirty="0"/>
                    </a:p>
                  </a:txBody>
                  <a:tcPr/>
                </a:tc>
                <a:tc>
                  <a:txBody>
                    <a:bodyPr/>
                    <a:lstStyle/>
                    <a:p>
                      <a:r>
                        <a:rPr lang="en-US" dirty="0"/>
                        <a:t>Mona</a:t>
                      </a:r>
                      <a:endParaRPr lang="en-IN" dirty="0"/>
                    </a:p>
                  </a:txBody>
                  <a:tcPr/>
                </a:tc>
                <a:tc>
                  <a:txBody>
                    <a:bodyPr/>
                    <a:lstStyle/>
                    <a:p>
                      <a:r>
                        <a:rPr lang="en-US" dirty="0"/>
                        <a:t>75000</a:t>
                      </a:r>
                      <a:endParaRPr lang="en-IN" dirty="0"/>
                    </a:p>
                  </a:txBody>
                  <a:tcPr/>
                </a:tc>
                <a:extLst>
                  <a:ext uri="{0D108BD9-81ED-4DB2-BD59-A6C34878D82A}">
                    <a16:rowId xmlns:a16="http://schemas.microsoft.com/office/drawing/2014/main" val="1188098372"/>
                  </a:ext>
                </a:extLst>
              </a:tr>
            </a:tbl>
          </a:graphicData>
        </a:graphic>
      </p:graphicFrame>
      <p:cxnSp>
        <p:nvCxnSpPr>
          <p:cNvPr id="54" name="Straight Arrow Connector 53">
            <a:extLst>
              <a:ext uri="{FF2B5EF4-FFF2-40B4-BE49-F238E27FC236}">
                <a16:creationId xmlns:a16="http://schemas.microsoft.com/office/drawing/2014/main" id="{5960D3BC-2E84-C9D0-5901-A6769CDAFD37}"/>
              </a:ext>
            </a:extLst>
          </p:cNvPr>
          <p:cNvCxnSpPr/>
          <p:nvPr/>
        </p:nvCxnSpPr>
        <p:spPr>
          <a:xfrm>
            <a:off x="5362575" y="4568041"/>
            <a:ext cx="314325" cy="702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01218FB4-47AF-E0AF-2605-950A9969FA4D}"/>
              </a:ext>
            </a:extLst>
          </p:cNvPr>
          <p:cNvCxnSpPr/>
          <p:nvPr/>
        </p:nvCxnSpPr>
        <p:spPr>
          <a:xfrm flipV="1">
            <a:off x="7010400" y="4694044"/>
            <a:ext cx="1057275" cy="173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B1DF8D04-5E60-6A2A-054F-EB4665C77DAD}"/>
              </a:ext>
            </a:extLst>
          </p:cNvPr>
          <p:cNvSpPr/>
          <p:nvPr/>
        </p:nvSpPr>
        <p:spPr>
          <a:xfrm>
            <a:off x="7991475" y="4533888"/>
            <a:ext cx="609600" cy="494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Box 57">
            <a:extLst>
              <a:ext uri="{FF2B5EF4-FFF2-40B4-BE49-F238E27FC236}">
                <a16:creationId xmlns:a16="http://schemas.microsoft.com/office/drawing/2014/main" id="{A6C881E3-0D8B-0EF6-B14F-96BA416203BC}"/>
              </a:ext>
            </a:extLst>
          </p:cNvPr>
          <p:cNvSpPr txBox="1"/>
          <p:nvPr/>
        </p:nvSpPr>
        <p:spPr>
          <a:xfrm>
            <a:off x="3962400" y="5345557"/>
            <a:ext cx="838200" cy="307777"/>
          </a:xfrm>
          <a:prstGeom prst="rect">
            <a:avLst/>
          </a:prstGeom>
          <a:noFill/>
        </p:spPr>
        <p:txBody>
          <a:bodyPr wrap="square" rtlCol="0">
            <a:spAutoFit/>
          </a:bodyPr>
          <a:lstStyle/>
          <a:p>
            <a:r>
              <a:rPr lang="en-US" sz="1400" dirty="0"/>
              <a:t>Read()</a:t>
            </a:r>
            <a:endParaRPr lang="en-IN" sz="1400" dirty="0"/>
          </a:p>
        </p:txBody>
      </p:sp>
      <p:cxnSp>
        <p:nvCxnSpPr>
          <p:cNvPr id="60" name="Straight Arrow Connector 59">
            <a:extLst>
              <a:ext uri="{FF2B5EF4-FFF2-40B4-BE49-F238E27FC236}">
                <a16:creationId xmlns:a16="http://schemas.microsoft.com/office/drawing/2014/main" id="{EC9327CF-5797-916C-8ABB-DBBAB0D4C928}"/>
              </a:ext>
            </a:extLst>
          </p:cNvPr>
          <p:cNvCxnSpPr/>
          <p:nvPr/>
        </p:nvCxnSpPr>
        <p:spPr>
          <a:xfrm flipV="1">
            <a:off x="3900487" y="5771162"/>
            <a:ext cx="766763" cy="6148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1" name="Rectangle 60">
            <a:extLst>
              <a:ext uri="{FF2B5EF4-FFF2-40B4-BE49-F238E27FC236}">
                <a16:creationId xmlns:a16="http://schemas.microsoft.com/office/drawing/2014/main" id="{EE7FF966-EAD1-F996-D36B-AC5B142D8FA9}"/>
              </a:ext>
            </a:extLst>
          </p:cNvPr>
          <p:cNvSpPr/>
          <p:nvPr/>
        </p:nvSpPr>
        <p:spPr>
          <a:xfrm>
            <a:off x="1295400" y="5808714"/>
            <a:ext cx="1295400" cy="744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500" dirty="0">
                <a:solidFill>
                  <a:srgbClr val="000000"/>
                </a:solidFill>
                <a:latin typeface="Cascadia Mono" panose="020B0609020000020004" pitchFamily="49" charset="0"/>
              </a:rPr>
              <a:t>Id = Convert.ToInt32(</a:t>
            </a:r>
            <a:r>
              <a:rPr lang="en-US" sz="500" dirty="0" err="1">
                <a:solidFill>
                  <a:srgbClr val="000000"/>
                </a:solidFill>
                <a:latin typeface="Cascadia Mono" panose="020B0609020000020004" pitchFamily="49" charset="0"/>
              </a:rPr>
              <a:t>rdr</a:t>
            </a:r>
            <a:r>
              <a:rPr lang="en-US" sz="500" dirty="0">
                <a:solidFill>
                  <a:srgbClr val="000000"/>
                </a:solidFill>
                <a:latin typeface="Cascadia Mono" panose="020B0609020000020004" pitchFamily="49" charset="0"/>
              </a:rPr>
              <a:t>[</a:t>
            </a:r>
            <a:r>
              <a:rPr lang="en-US" sz="500" dirty="0">
                <a:solidFill>
                  <a:srgbClr val="A31515"/>
                </a:solidFill>
                <a:latin typeface="Cascadia Mono" panose="020B0609020000020004" pitchFamily="49" charset="0"/>
              </a:rPr>
              <a:t>"Id"</a:t>
            </a:r>
            <a:r>
              <a:rPr lang="en-US" sz="500" dirty="0">
                <a:solidFill>
                  <a:srgbClr val="000000"/>
                </a:solidFill>
                <a:latin typeface="Cascadia Mono" panose="020B0609020000020004" pitchFamily="49" charset="0"/>
              </a:rPr>
              <a:t>]),</a:t>
            </a:r>
          </a:p>
          <a:p>
            <a:r>
              <a:rPr lang="en-IN" sz="500" dirty="0">
                <a:solidFill>
                  <a:srgbClr val="000000"/>
                </a:solidFill>
                <a:latin typeface="Cascadia Mono" panose="020B0609020000020004" pitchFamily="49" charset="0"/>
              </a:rPr>
              <a:t>                                Name = </a:t>
            </a:r>
            <a:r>
              <a:rPr lang="en-IN" sz="500" dirty="0" err="1">
                <a:solidFill>
                  <a:srgbClr val="000000"/>
                </a:solidFill>
                <a:latin typeface="Cascadia Mono" panose="020B0609020000020004" pitchFamily="49" charset="0"/>
              </a:rPr>
              <a:t>rdr</a:t>
            </a:r>
            <a:r>
              <a:rPr lang="en-IN" sz="500" dirty="0">
                <a:solidFill>
                  <a:srgbClr val="000000"/>
                </a:solidFill>
                <a:latin typeface="Cascadia Mono" panose="020B0609020000020004" pitchFamily="49" charset="0"/>
              </a:rPr>
              <a:t>[1].</a:t>
            </a:r>
            <a:r>
              <a:rPr lang="en-IN" sz="500" dirty="0" err="1">
                <a:solidFill>
                  <a:srgbClr val="000000"/>
                </a:solidFill>
                <a:latin typeface="Cascadia Mono" panose="020B0609020000020004" pitchFamily="49" charset="0"/>
              </a:rPr>
              <a:t>ToString</a:t>
            </a:r>
            <a:r>
              <a:rPr lang="en-IN" sz="500" dirty="0">
                <a:solidFill>
                  <a:srgbClr val="000000"/>
                </a:solidFill>
                <a:latin typeface="Cascadia Mono" panose="020B0609020000020004" pitchFamily="49" charset="0"/>
              </a:rPr>
              <a:t>(),</a:t>
            </a:r>
          </a:p>
          <a:p>
            <a:r>
              <a:rPr lang="en-US" sz="500" dirty="0">
                <a:solidFill>
                  <a:srgbClr val="000000"/>
                </a:solidFill>
                <a:latin typeface="Cascadia Mono" panose="020B0609020000020004" pitchFamily="49" charset="0"/>
              </a:rPr>
              <a:t>                                Salary = </a:t>
            </a:r>
            <a:r>
              <a:rPr lang="en-US" sz="500" dirty="0" err="1">
                <a:solidFill>
                  <a:srgbClr val="000000"/>
                </a:solidFill>
                <a:latin typeface="Cascadia Mono" panose="020B0609020000020004" pitchFamily="49" charset="0"/>
              </a:rPr>
              <a:t>Convert.ToSingle</a:t>
            </a:r>
            <a:r>
              <a:rPr lang="en-US" sz="500" dirty="0">
                <a:solidFill>
                  <a:srgbClr val="000000"/>
                </a:solidFill>
                <a:latin typeface="Cascadia Mono" panose="020B0609020000020004" pitchFamily="49" charset="0"/>
              </a:rPr>
              <a:t>(</a:t>
            </a:r>
            <a:r>
              <a:rPr lang="en-US" sz="500" dirty="0" err="1">
                <a:solidFill>
                  <a:srgbClr val="000000"/>
                </a:solidFill>
                <a:latin typeface="Cascadia Mono" panose="020B0609020000020004" pitchFamily="49" charset="0"/>
              </a:rPr>
              <a:t>rdr</a:t>
            </a:r>
            <a:r>
              <a:rPr lang="en-US" sz="500" dirty="0">
                <a:solidFill>
                  <a:srgbClr val="000000"/>
                </a:solidFill>
                <a:latin typeface="Cascadia Mono" panose="020B0609020000020004" pitchFamily="49" charset="0"/>
              </a:rPr>
              <a:t>[2])</a:t>
            </a:r>
          </a:p>
        </p:txBody>
      </p:sp>
      <p:sp>
        <p:nvSpPr>
          <p:cNvPr id="63" name="TextBox 62">
            <a:extLst>
              <a:ext uri="{FF2B5EF4-FFF2-40B4-BE49-F238E27FC236}">
                <a16:creationId xmlns:a16="http://schemas.microsoft.com/office/drawing/2014/main" id="{3A64B5E1-4B0B-B472-4467-CE3B23751D43}"/>
              </a:ext>
            </a:extLst>
          </p:cNvPr>
          <p:cNvSpPr txBox="1"/>
          <p:nvPr/>
        </p:nvSpPr>
        <p:spPr>
          <a:xfrm>
            <a:off x="762000" y="5408604"/>
            <a:ext cx="6096000" cy="507831"/>
          </a:xfrm>
          <a:prstGeom prst="rect">
            <a:avLst/>
          </a:prstGeom>
          <a:noFill/>
        </p:spPr>
        <p:txBody>
          <a:bodyPr wrap="square">
            <a:spAutoFit/>
          </a:bodyPr>
          <a:lstStyle/>
          <a:p>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Employee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sz="900" dirty="0"/>
          </a:p>
        </p:txBody>
      </p:sp>
      <p:cxnSp>
        <p:nvCxnSpPr>
          <p:cNvPr id="65" name="Straight Arrow Connector 64">
            <a:extLst>
              <a:ext uri="{FF2B5EF4-FFF2-40B4-BE49-F238E27FC236}">
                <a16:creationId xmlns:a16="http://schemas.microsoft.com/office/drawing/2014/main" id="{1BB3D7EC-B31D-5339-070C-610F2DFB74B8}"/>
              </a:ext>
            </a:extLst>
          </p:cNvPr>
          <p:cNvCxnSpPr/>
          <p:nvPr/>
        </p:nvCxnSpPr>
        <p:spPr>
          <a:xfrm flipV="1">
            <a:off x="2362200" y="2714700"/>
            <a:ext cx="1600200" cy="3201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538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A96358-0ED8-A3F1-5503-5B0C526AFE19}"/>
              </a:ext>
            </a:extLst>
          </p:cNvPr>
          <p:cNvSpPr txBox="1"/>
          <p:nvPr/>
        </p:nvSpPr>
        <p:spPr>
          <a:xfrm>
            <a:off x="0" y="685800"/>
            <a:ext cx="3276600" cy="1338828"/>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Product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float</a:t>
            </a:r>
            <a:r>
              <a:rPr lang="en-US" sz="900" dirty="0">
                <a:solidFill>
                  <a:srgbClr val="000000"/>
                </a:solidFill>
                <a:latin typeface="Cascadia Mono" panose="020B0609020000020004" pitchFamily="49" charset="0"/>
              </a:rPr>
              <a:t> Price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Qty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endParaRPr lang="en-IN" dirty="0"/>
          </a:p>
        </p:txBody>
      </p:sp>
      <p:sp>
        <p:nvSpPr>
          <p:cNvPr id="6" name="TextBox 5">
            <a:extLst>
              <a:ext uri="{FF2B5EF4-FFF2-40B4-BE49-F238E27FC236}">
                <a16:creationId xmlns:a16="http://schemas.microsoft.com/office/drawing/2014/main" id="{FD2F484C-B2BA-1EF3-1A2F-76CED9FEF9B1}"/>
              </a:ext>
            </a:extLst>
          </p:cNvPr>
          <p:cNvSpPr txBox="1"/>
          <p:nvPr/>
        </p:nvSpPr>
        <p:spPr>
          <a:xfrm>
            <a:off x="2362200" y="152400"/>
            <a:ext cx="3886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Strongly type select</a:t>
            </a:r>
          </a:p>
        </p:txBody>
      </p:sp>
      <p:sp>
        <p:nvSpPr>
          <p:cNvPr id="8" name="TextBox 7">
            <a:extLst>
              <a:ext uri="{FF2B5EF4-FFF2-40B4-BE49-F238E27FC236}">
                <a16:creationId xmlns:a16="http://schemas.microsoft.com/office/drawing/2014/main" id="{EADD9D53-00D4-6E96-9822-29DD437528C8}"/>
              </a:ext>
            </a:extLst>
          </p:cNvPr>
          <p:cNvSpPr txBox="1"/>
          <p:nvPr/>
        </p:nvSpPr>
        <p:spPr>
          <a:xfrm>
            <a:off x="2743200" y="552863"/>
            <a:ext cx="6400800" cy="6186309"/>
          </a:xfrm>
          <a:prstGeom prst="rect">
            <a:avLst/>
          </a:prstGeom>
          <a:noFill/>
        </p:spPr>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Productlayer</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Productlayer</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iconfiguration.GetConnectionString</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"Default"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endParaRPr lang="en-IN" sz="4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List&lt;Product&gt; Products</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get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List&lt;Product&gt; products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List&lt;Product&gt;();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using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con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a:t>
            </a:r>
            <a:r>
              <a:rPr lang="en-IN" sz="900" dirty="0">
                <a:solidFill>
                  <a:srgbClr val="000000"/>
                </a:solidFill>
                <a:latin typeface="Cascadia Mono" panose="020B0609020000020004" pitchFamily="49" charset="0"/>
              </a:rPr>
              <a:t>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 </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Pass the connection to the command object, so the command object knows on which</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connection to execute the command</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"Select * from Product"</a:t>
            </a:r>
            <a:r>
              <a:rPr lang="en-US" sz="900" dirty="0">
                <a:solidFill>
                  <a:srgbClr val="000000"/>
                </a:solidFill>
                <a:latin typeface="Cascadia Mono" panose="020B0609020000020004" pitchFamily="49" charset="0"/>
              </a:rPr>
              <a:t>, con);</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Open the connection. Otherwise you get a runtime error. An open connection is</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required to execute the command</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con.Open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"connected"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SqlDataReader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rdr</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cmd.ExecuteReader</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//returns object of </a:t>
            </a:r>
            <a:r>
              <a:rPr lang="en-US" sz="900" dirty="0" err="1">
                <a:solidFill>
                  <a:srgbClr val="008000"/>
                </a:solidFill>
                <a:latin typeface="Cascadia Mono" panose="020B0609020000020004" pitchFamily="49" charset="0"/>
              </a:rPr>
              <a:t>sqldatareder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while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rdr.Read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Product pd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Product();</a:t>
            </a:r>
          </a:p>
          <a:p>
            <a:r>
              <a:rPr lang="en-US" sz="900" dirty="0">
                <a:solidFill>
                  <a:srgbClr val="000000"/>
                </a:solidFill>
                <a:latin typeface="Cascadia Mono" panose="020B0609020000020004" pitchFamily="49" charset="0"/>
              </a:rPr>
              <a:t>                        pd.ID = Convert.ToInt32(</a:t>
            </a:r>
            <a:r>
              <a:rPr lang="en-US" sz="900" dirty="0" err="1">
                <a:solidFill>
                  <a:srgbClr val="000000"/>
                </a:solidFill>
                <a:latin typeface="Cascadia Mono" panose="020B0609020000020004" pitchFamily="49" charset="0"/>
              </a:rPr>
              <a:t>rdr</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pd.Name</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rdr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"Name"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pd.Price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Convert.ToSingle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rdr</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"Price"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pd.Qty</a:t>
            </a:r>
            <a:r>
              <a:rPr lang="en-IN" sz="900" dirty="0">
                <a:solidFill>
                  <a:srgbClr val="000000"/>
                </a:solidFill>
                <a:latin typeface="Cascadia Mono" panose="020B0609020000020004" pitchFamily="49" charset="0"/>
              </a:rPr>
              <a:t> = Convert.ToInt32(</a:t>
            </a:r>
            <a:r>
              <a:rPr lang="en-IN" sz="900" dirty="0" err="1">
                <a:solidFill>
                  <a:srgbClr val="000000"/>
                </a:solidFill>
                <a:latin typeface="Cascadia Mono" panose="020B0609020000020004" pitchFamily="49" charset="0"/>
              </a:rPr>
              <a:t>rdr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"Qty"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products.Add</a:t>
            </a:r>
            <a:r>
              <a:rPr lang="en-IN" sz="900" dirty="0">
                <a:solidFill>
                  <a:srgbClr val="000000"/>
                </a:solidFill>
                <a:latin typeface="Cascadia Mono" panose="020B0609020000020004" pitchFamily="49" charset="0"/>
              </a:rPr>
              <a:t>(pd);</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products;</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19200822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978B61-5912-48CD-86F8-DECBA846138D}"/>
              </a:ext>
            </a:extLst>
          </p:cNvPr>
          <p:cNvSpPr txBox="1"/>
          <p:nvPr/>
        </p:nvSpPr>
        <p:spPr>
          <a:xfrm>
            <a:off x="-30480" y="381000"/>
            <a:ext cx="3463413" cy="1277273"/>
          </a:xfrm>
          <a:prstGeom prst="rect">
            <a:avLst/>
          </a:prstGeom>
          <a:noFill/>
        </p:spPr>
        <p:txBody>
          <a:bodyPr wrap="square">
            <a:spAutoFit/>
          </a:bodyPr>
          <a:lstStyle/>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Employee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Id { </a:t>
            </a:r>
            <a:r>
              <a:rPr lang="en-US" sz="1100" dirty="0">
                <a:solidFill>
                  <a:srgbClr val="0000FF"/>
                </a:solidFill>
                <a:highlight>
                  <a:srgbClr val="FFFFFF"/>
                </a:highlight>
                <a:latin typeface="Consolas" panose="020B0609020204030204" pitchFamily="49" charset="0"/>
              </a:rPr>
              <a:t>get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set</a:t>
            </a:r>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 { </a:t>
            </a:r>
            <a:r>
              <a:rPr lang="en-US" sz="1100" dirty="0">
                <a:solidFill>
                  <a:srgbClr val="0000FF"/>
                </a:solidFill>
                <a:highlight>
                  <a:srgbClr val="FFFFFF"/>
                </a:highlight>
                <a:latin typeface="Consolas" panose="020B0609020204030204" pitchFamily="49" charset="0"/>
              </a:rPr>
              <a:t>get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set</a:t>
            </a:r>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float</a:t>
            </a:r>
            <a:r>
              <a:rPr lang="en-US" sz="1100" dirty="0">
                <a:solidFill>
                  <a:srgbClr val="000000"/>
                </a:solidFill>
                <a:highlight>
                  <a:srgbClr val="FFFFFF"/>
                </a:highlight>
                <a:latin typeface="Consolas" panose="020B0609020204030204" pitchFamily="49" charset="0"/>
              </a:rPr>
              <a:t> Salary { </a:t>
            </a:r>
            <a:r>
              <a:rPr lang="en-US" sz="1100" dirty="0">
                <a:solidFill>
                  <a:srgbClr val="0000FF"/>
                </a:solidFill>
                <a:highlight>
                  <a:srgbClr val="FFFFFF"/>
                </a:highlight>
                <a:latin typeface="Consolas" panose="020B0609020204030204" pitchFamily="49" charset="0"/>
              </a:rPr>
              <a:t>get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set</a:t>
            </a:r>
            <a:r>
              <a:rPr lang="en-US"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endParaRPr lang="en-IN" sz="1100" dirty="0"/>
          </a:p>
        </p:txBody>
      </p:sp>
      <p:sp>
        <p:nvSpPr>
          <p:cNvPr id="9" name="TextBox 8">
            <a:extLst>
              <a:ext uri="{FF2B5EF4-FFF2-40B4-BE49-F238E27FC236}">
                <a16:creationId xmlns:a16="http://schemas.microsoft.com/office/drawing/2014/main" id="{F3F0514C-541B-4803-AA8B-FA2EEE2C3E0E}"/>
              </a:ext>
            </a:extLst>
          </p:cNvPr>
          <p:cNvSpPr txBox="1"/>
          <p:nvPr/>
        </p:nvSpPr>
        <p:spPr>
          <a:xfrm>
            <a:off x="-30480" y="2133600"/>
            <a:ext cx="4606413" cy="4247317"/>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Program</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Main(</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args</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endParaRPr lang="en-IN"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Employee</a:t>
            </a:r>
            <a:r>
              <a:rPr lang="en-US" sz="900" dirty="0">
                <a:solidFill>
                  <a:srgbClr val="000000"/>
                </a:solidFill>
                <a:highlight>
                  <a:srgbClr val="FFFFFF"/>
                </a:highlight>
                <a:latin typeface="Consolas" panose="020B0609020204030204" pitchFamily="49" charset="0"/>
              </a:rPr>
              <a:t> p1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Employee</a:t>
            </a:r>
            <a:r>
              <a:rPr lang="en-US" sz="900" dirty="0">
                <a:solidFill>
                  <a:srgbClr val="000000"/>
                </a:solidFill>
                <a:highlight>
                  <a:srgbClr val="FFFFFF"/>
                </a:highlight>
                <a:latin typeface="Consolas" panose="020B0609020204030204" pitchFamily="49" charset="0"/>
              </a:rPr>
              <a:t> {Id=5, Name = </a:t>
            </a:r>
            <a:r>
              <a:rPr lang="en-US" sz="900" dirty="0">
                <a:solidFill>
                  <a:srgbClr val="A31515"/>
                </a:solidFill>
                <a:highlight>
                  <a:srgbClr val="FFFFFF"/>
                </a:highlight>
                <a:latin typeface="Consolas" panose="020B0609020204030204" pitchFamily="49" charset="0"/>
              </a:rPr>
              <a:t>"LCD"</a:t>
            </a:r>
            <a:r>
              <a:rPr lang="en-US" sz="900" dirty="0">
                <a:solidFill>
                  <a:srgbClr val="000000"/>
                </a:solidFill>
                <a:highlight>
                  <a:srgbClr val="FFFFFF"/>
                </a:highlight>
                <a:latin typeface="Consolas" panose="020B0609020204030204" pitchFamily="49" charset="0"/>
              </a:rPr>
              <a:t>, Salary = 90000};</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insertData</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indata</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insertData</a:t>
            </a:r>
            <a:r>
              <a:rPr lang="en-IN" sz="900" dirty="0">
                <a:solidFill>
                  <a:srgbClr val="000000"/>
                </a:solidFill>
                <a:highlight>
                  <a:srgbClr val="FFFFFF"/>
                </a:highlight>
                <a:latin typeface="Consolas" panose="020B0609020204030204" pitchFamily="49" charset="0"/>
              </a:rPr>
              <a:t>();</a:t>
            </a:r>
          </a:p>
          <a:p>
            <a:r>
              <a:rPr lang="it-IT" sz="900" dirty="0">
                <a:solidFill>
                  <a:srgbClr val="000000"/>
                </a:solidFill>
                <a:highlight>
                  <a:srgbClr val="FFFFFF"/>
                </a:highlight>
                <a:latin typeface="Consolas" panose="020B0609020204030204" pitchFamily="49" charset="0"/>
              </a:rPr>
              <a:t>            </a:t>
            </a:r>
            <a:r>
              <a:rPr lang="it-IT" sz="900" dirty="0">
                <a:solidFill>
                  <a:srgbClr val="0000FF"/>
                </a:solidFill>
                <a:highlight>
                  <a:srgbClr val="FFFFFF"/>
                </a:highlight>
                <a:latin typeface="Consolas" panose="020B0609020204030204" pitchFamily="49" charset="0"/>
              </a:rPr>
              <a:t>int</a:t>
            </a:r>
            <a:r>
              <a:rPr lang="it-IT" sz="900" dirty="0">
                <a:solidFill>
                  <a:srgbClr val="000000"/>
                </a:solidFill>
                <a:highlight>
                  <a:srgbClr val="FFFFFF"/>
                </a:highlight>
                <a:latin typeface="Consolas" panose="020B0609020204030204" pitchFamily="49" charset="0"/>
              </a:rPr>
              <a:t> a=indata.AddData(p1);</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"{0}"</a:t>
            </a:r>
            <a:r>
              <a:rPr lang="en-IN" sz="900" dirty="0">
                <a:solidFill>
                  <a:srgbClr val="000000"/>
                </a:solidFill>
                <a:highlight>
                  <a:srgbClr val="FFFFFF"/>
                </a:highlight>
                <a:latin typeface="Consolas" panose="020B0609020204030204" pitchFamily="49" charset="0"/>
              </a:rPr>
              <a:t>, a);</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a:t>
            </a:r>
            <a:r>
              <a:rPr lang="en-IN"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Product</a:t>
            </a:r>
            <a:r>
              <a:rPr lang="en-US" sz="900" dirty="0">
                <a:solidFill>
                  <a:srgbClr val="000000"/>
                </a:solidFill>
                <a:highlight>
                  <a:srgbClr val="FFFFFF"/>
                </a:highlight>
                <a:latin typeface="Consolas" panose="020B0609020204030204" pitchFamily="49" charset="0"/>
              </a:rPr>
              <a:t> r = </a:t>
            </a:r>
            <a:r>
              <a:rPr lang="en-US" sz="900" dirty="0" err="1">
                <a:solidFill>
                  <a:srgbClr val="000000"/>
                </a:solidFill>
                <a:highlight>
                  <a:srgbClr val="FFFFFF"/>
                </a:highlight>
                <a:latin typeface="Consolas" panose="020B0609020204030204" pitchFamily="49" charset="0"/>
              </a:rPr>
              <a:t>indata.search</a:t>
            </a:r>
            <a:r>
              <a:rPr lang="en-US" sz="900" dirty="0">
                <a:solidFill>
                  <a:srgbClr val="000000"/>
                </a:solidFill>
                <a:highlight>
                  <a:srgbClr val="FFFFFF"/>
                </a:highlight>
                <a:latin typeface="Consolas" panose="020B0609020204030204" pitchFamily="49" charset="0"/>
              </a:rPr>
              <a:t>(1007);</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"{0}{1}{2}"</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r.Id</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r.Name</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r.Price</a:t>
            </a:r>
            <a:r>
              <a:rPr lang="en-IN" sz="900" dirty="0">
                <a:solidFill>
                  <a:srgbClr val="000000"/>
                </a:solidFill>
                <a:highlight>
                  <a:srgbClr val="FFFFFF"/>
                </a:highlight>
                <a:latin typeface="Consolas" panose="020B0609020204030204" pitchFamily="49" charset="0"/>
              </a:rPr>
              <a:t>);</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a:t>
            </a:r>
            <a:r>
              <a:rPr lang="en-IN"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List</a:t>
            </a:r>
            <a:r>
              <a:rPr lang="en-US" sz="900" dirty="0">
                <a:solidFill>
                  <a:srgbClr val="000000"/>
                </a:solidFill>
                <a:highlight>
                  <a:srgbClr val="FFFFFF"/>
                </a:highlight>
                <a:latin typeface="Consolas" panose="020B0609020204030204" pitchFamily="49" charset="0"/>
              </a:rPr>
              <a:t>&lt;</a:t>
            </a:r>
            <a:r>
              <a:rPr lang="en-US" sz="900" dirty="0">
                <a:solidFill>
                  <a:srgbClr val="2B91AF"/>
                </a:solidFill>
                <a:highlight>
                  <a:srgbClr val="FFFFFF"/>
                </a:highlight>
                <a:latin typeface="Consolas" panose="020B0609020204030204" pitchFamily="49" charset="0"/>
              </a:rPr>
              <a:t>Product</a:t>
            </a:r>
            <a:r>
              <a:rPr lang="en-US" sz="900" dirty="0">
                <a:solidFill>
                  <a:srgbClr val="000000"/>
                </a:solidFill>
                <a:highlight>
                  <a:srgbClr val="FFFFFF"/>
                </a:highlight>
                <a:latin typeface="Consolas" panose="020B0609020204030204" pitchFamily="49" charset="0"/>
              </a:rPr>
              <a:t>&gt; pl= </a:t>
            </a:r>
            <a:r>
              <a:rPr lang="en-US" sz="900" dirty="0" err="1">
                <a:solidFill>
                  <a:srgbClr val="000000"/>
                </a:solidFill>
                <a:highlight>
                  <a:srgbClr val="FFFFFF"/>
                </a:highlight>
                <a:latin typeface="Consolas" panose="020B0609020204030204" pitchFamily="49" charset="0"/>
              </a:rPr>
              <a:t>indata.search</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TVvv</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if</a:t>
            </a:r>
            <a:r>
              <a:rPr lang="en-IN" sz="900" dirty="0">
                <a:solidFill>
                  <a:srgbClr val="000000"/>
                </a:solidFill>
                <a:highlight>
                  <a:srgbClr val="FFFFFF"/>
                </a:highlight>
                <a:latin typeface="Consolas" panose="020B0609020204030204" pitchFamily="49" charset="0"/>
              </a:rPr>
              <a:t> (pl != </a:t>
            </a:r>
            <a:r>
              <a:rPr lang="en-IN" sz="900" dirty="0">
                <a:solidFill>
                  <a:srgbClr val="0000FF"/>
                </a:solidFill>
                <a:highlight>
                  <a:srgbClr val="FFFFFF"/>
                </a:highlight>
                <a:latin typeface="Consolas" panose="020B0609020204030204" pitchFamily="49" charset="0"/>
              </a:rPr>
              <a:t>null</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sv-SE" sz="900" dirty="0">
                <a:solidFill>
                  <a:srgbClr val="000000"/>
                </a:solidFill>
                <a:highlight>
                  <a:srgbClr val="FFFFFF"/>
                </a:highlight>
                <a:latin typeface="Consolas" panose="020B0609020204030204" pitchFamily="49" charset="0"/>
              </a:rPr>
              <a:t>                </a:t>
            </a:r>
            <a:r>
              <a:rPr lang="sv-SE" sz="900" dirty="0">
                <a:solidFill>
                  <a:srgbClr val="0000FF"/>
                </a:solidFill>
                <a:highlight>
                  <a:srgbClr val="FFFFFF"/>
                </a:highlight>
                <a:latin typeface="Consolas" panose="020B0609020204030204" pitchFamily="49" charset="0"/>
              </a:rPr>
              <a:t>foreach</a:t>
            </a:r>
            <a:r>
              <a:rPr lang="sv-SE" sz="900" dirty="0">
                <a:solidFill>
                  <a:srgbClr val="000000"/>
                </a:solidFill>
                <a:highlight>
                  <a:srgbClr val="FFFFFF"/>
                </a:highlight>
                <a:latin typeface="Consolas" panose="020B0609020204030204" pitchFamily="49" charset="0"/>
              </a:rPr>
              <a:t> (</a:t>
            </a:r>
            <a:r>
              <a:rPr lang="sv-SE" sz="900" dirty="0">
                <a:solidFill>
                  <a:srgbClr val="0000FF"/>
                </a:solidFill>
                <a:highlight>
                  <a:srgbClr val="FFFFFF"/>
                </a:highlight>
                <a:latin typeface="Consolas" panose="020B0609020204030204" pitchFamily="49" charset="0"/>
              </a:rPr>
              <a:t>var</a:t>
            </a:r>
            <a:r>
              <a:rPr lang="sv-SE" sz="900" dirty="0">
                <a:solidFill>
                  <a:srgbClr val="000000"/>
                </a:solidFill>
                <a:highlight>
                  <a:srgbClr val="FFFFFF"/>
                </a:highlight>
                <a:latin typeface="Consolas" panose="020B0609020204030204" pitchFamily="49" charset="0"/>
              </a:rPr>
              <a:t> x </a:t>
            </a:r>
            <a:r>
              <a:rPr lang="sv-SE" sz="900" dirty="0">
                <a:solidFill>
                  <a:srgbClr val="0000FF"/>
                </a:solidFill>
                <a:highlight>
                  <a:srgbClr val="FFFFFF"/>
                </a:highlight>
                <a:latin typeface="Consolas" panose="020B0609020204030204" pitchFamily="49" charset="0"/>
              </a:rPr>
              <a:t>in</a:t>
            </a:r>
            <a:r>
              <a:rPr lang="sv-SE" sz="900" dirty="0">
                <a:solidFill>
                  <a:srgbClr val="000000"/>
                </a:solidFill>
                <a:highlight>
                  <a:srgbClr val="FFFFFF"/>
                </a:highlight>
                <a:latin typeface="Consolas" panose="020B0609020204030204" pitchFamily="49" charset="0"/>
              </a:rPr>
              <a:t> pl)</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"{0}{1}{2}"</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x.Id</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x.Name</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x.Price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else</a:t>
            </a:r>
            <a:r>
              <a:rPr lang="en-US" sz="900" dirty="0">
                <a:solidFill>
                  <a:srgbClr val="000000"/>
                </a:solidFill>
                <a:highlight>
                  <a:srgbClr val="FFFFFF"/>
                </a:highlight>
                <a:latin typeface="Consolas" panose="020B0609020204030204" pitchFamily="49" charset="0"/>
              </a:rPr>
              <a:t> { </a:t>
            </a:r>
            <a:r>
              <a:rPr lang="en-US" sz="900" dirty="0" err="1">
                <a:solidFill>
                  <a:srgbClr val="2B91AF"/>
                </a:solidFill>
                <a:highlight>
                  <a:srgbClr val="FFFFFF"/>
                </a:highlight>
                <a:latin typeface="Consolas" panose="020B0609020204030204" pitchFamily="49" charset="0"/>
              </a:rPr>
              <a:t>Console</a:t>
            </a:r>
            <a:r>
              <a:rPr lang="en-US" sz="900" dirty="0" err="1">
                <a:solidFill>
                  <a:srgbClr val="000000"/>
                </a:solidFill>
                <a:highlight>
                  <a:srgbClr val="FFFFFF"/>
                </a:highlight>
                <a:latin typeface="Consolas" panose="020B0609020204030204" pitchFamily="49" charset="0"/>
              </a:rPr>
              <a:t>.WriteLine</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"record with </a:t>
            </a:r>
            <a:r>
              <a:rPr lang="en-US" sz="900" dirty="0" err="1">
                <a:solidFill>
                  <a:srgbClr val="A31515"/>
                </a:solidFill>
                <a:highlight>
                  <a:srgbClr val="FFFFFF"/>
                </a:highlight>
                <a:latin typeface="Consolas" panose="020B0609020204030204" pitchFamily="49" charset="0"/>
              </a:rPr>
              <a:t>TVvv</a:t>
            </a:r>
            <a:r>
              <a:rPr lang="en-US" sz="900" dirty="0">
                <a:solidFill>
                  <a:srgbClr val="A31515"/>
                </a:solidFill>
                <a:highlight>
                  <a:srgbClr val="FFFFFF"/>
                </a:highlight>
                <a:latin typeface="Consolas" panose="020B0609020204030204" pitchFamily="49" charset="0"/>
              </a:rPr>
              <a:t> not found"</a:t>
            </a:r>
            <a:r>
              <a:rPr lang="en-US"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no = </a:t>
            </a:r>
            <a:r>
              <a:rPr lang="en-IN" sz="900" dirty="0" err="1">
                <a:solidFill>
                  <a:srgbClr val="000000"/>
                </a:solidFill>
                <a:highlight>
                  <a:srgbClr val="FFFFFF"/>
                </a:highlight>
                <a:latin typeface="Consolas" panose="020B0609020204030204" pitchFamily="49" charset="0"/>
              </a:rPr>
              <a:t>indata.Del</a:t>
            </a:r>
            <a:r>
              <a:rPr lang="en-IN" sz="900" dirty="0">
                <a:solidFill>
                  <a:srgbClr val="000000"/>
                </a:solidFill>
                <a:highlight>
                  <a:srgbClr val="FFFFFF"/>
                </a:highlight>
                <a:latin typeface="Consolas" panose="020B0609020204030204" pitchFamily="49" charset="0"/>
              </a:rPr>
              <a:t>(2002);</a:t>
            </a:r>
          </a:p>
          <a:p>
            <a:r>
              <a:rPr lang="it-IT" sz="900" dirty="0">
                <a:solidFill>
                  <a:srgbClr val="000000"/>
                </a:solidFill>
                <a:highlight>
                  <a:srgbClr val="FFFFFF"/>
                </a:highlight>
                <a:latin typeface="Consolas" panose="020B0609020204030204" pitchFamily="49" charset="0"/>
              </a:rPr>
              <a:t>            </a:t>
            </a:r>
            <a:r>
              <a:rPr lang="it-IT" sz="900" dirty="0">
                <a:solidFill>
                  <a:srgbClr val="2B91AF"/>
                </a:solidFill>
                <a:highlight>
                  <a:srgbClr val="FFFFFF"/>
                </a:highlight>
                <a:latin typeface="Consolas" panose="020B0609020204030204" pitchFamily="49" charset="0"/>
              </a:rPr>
              <a:t>Console</a:t>
            </a:r>
            <a:r>
              <a:rPr lang="it-IT" sz="900" dirty="0">
                <a:solidFill>
                  <a:srgbClr val="000000"/>
                </a:solidFill>
                <a:highlight>
                  <a:srgbClr val="FFFFFF"/>
                </a:highlight>
                <a:latin typeface="Consolas" panose="020B0609020204030204" pitchFamily="49" charset="0"/>
              </a:rPr>
              <a:t>.WriteLine(</a:t>
            </a:r>
            <a:r>
              <a:rPr lang="it-IT" sz="900" dirty="0">
                <a:solidFill>
                  <a:srgbClr val="A31515"/>
                </a:solidFill>
                <a:highlight>
                  <a:srgbClr val="FFFFFF"/>
                </a:highlight>
                <a:latin typeface="Consolas" panose="020B0609020204030204" pitchFamily="49" charset="0"/>
              </a:rPr>
              <a:t>"deleted {0}"</a:t>
            </a:r>
            <a:r>
              <a:rPr lang="it-IT" sz="900" dirty="0">
                <a:solidFill>
                  <a:srgbClr val="000000"/>
                </a:solidFill>
                <a:highlight>
                  <a:srgbClr val="FFFFFF"/>
                </a:highlight>
                <a:latin typeface="Consolas" panose="020B0609020204030204" pitchFamily="49" charset="0"/>
              </a:rPr>
              <a:t>, no);</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.ReadLine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endParaRPr lang="en-IN" dirty="0"/>
          </a:p>
        </p:txBody>
      </p:sp>
      <p:sp>
        <p:nvSpPr>
          <p:cNvPr id="11" name="TextBox 10">
            <a:extLst>
              <a:ext uri="{FF2B5EF4-FFF2-40B4-BE49-F238E27FC236}">
                <a16:creationId xmlns:a16="http://schemas.microsoft.com/office/drawing/2014/main" id="{DD5DB1E3-75CA-4B5F-B28A-656E9DAC3951}"/>
              </a:ext>
            </a:extLst>
          </p:cNvPr>
          <p:cNvSpPr txBox="1"/>
          <p:nvPr/>
        </p:nvSpPr>
        <p:spPr>
          <a:xfrm>
            <a:off x="3200400" y="165556"/>
            <a:ext cx="5334000" cy="261610"/>
          </a:xfrm>
          <a:prstGeom prst="rect">
            <a:avLst/>
          </a:prstGeom>
          <a:noFill/>
        </p:spPr>
        <p:txBody>
          <a:bodyPr wrap="square">
            <a:spAutoFit/>
          </a:bodyPr>
          <a:lstStyle/>
          <a:p>
            <a:r>
              <a:rPr lang="en-US" sz="1100" dirty="0">
                <a:solidFill>
                  <a:srgbClr val="2B91AF"/>
                </a:solidFill>
                <a:highlight>
                  <a:srgbClr val="FFFFFF"/>
                </a:highlight>
                <a:latin typeface="Consolas" panose="020B0609020204030204" pitchFamily="49" charset="0"/>
              </a:rPr>
              <a:t>Product</a:t>
            </a:r>
            <a:r>
              <a:rPr lang="en-US" sz="1100" dirty="0">
                <a:solidFill>
                  <a:srgbClr val="000000"/>
                </a:solidFill>
                <a:highlight>
                  <a:srgbClr val="FFFFFF"/>
                </a:highlight>
                <a:latin typeface="Consolas" panose="020B0609020204030204" pitchFamily="49" charset="0"/>
              </a:rPr>
              <a:t> p1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Product</a:t>
            </a:r>
            <a:r>
              <a:rPr lang="en-US" sz="1100" dirty="0">
                <a:solidFill>
                  <a:srgbClr val="000000"/>
                </a:solidFill>
                <a:highlight>
                  <a:srgbClr val="FFFFFF"/>
                </a:highlight>
                <a:latin typeface="Consolas" panose="020B0609020204030204" pitchFamily="49" charset="0"/>
              </a:rPr>
              <a:t> { Name = </a:t>
            </a:r>
            <a:r>
              <a:rPr lang="en-US" sz="1100" dirty="0">
                <a:solidFill>
                  <a:srgbClr val="A31515"/>
                </a:solidFill>
                <a:highlight>
                  <a:srgbClr val="FFFFFF"/>
                </a:highlight>
                <a:latin typeface="Consolas" panose="020B0609020204030204" pitchFamily="49" charset="0"/>
              </a:rPr>
              <a:t>"LCD"</a:t>
            </a:r>
            <a:r>
              <a:rPr lang="en-US" sz="1100" dirty="0">
                <a:solidFill>
                  <a:srgbClr val="000000"/>
                </a:solidFill>
                <a:highlight>
                  <a:srgbClr val="FFFFFF"/>
                </a:highlight>
                <a:latin typeface="Consolas" panose="020B0609020204030204" pitchFamily="49" charset="0"/>
              </a:rPr>
              <a:t>, Price = 90000, Qty = 5 };</a:t>
            </a:r>
          </a:p>
        </p:txBody>
      </p:sp>
      <p:sp>
        <p:nvSpPr>
          <p:cNvPr id="12" name="Rectangle 11">
            <a:extLst>
              <a:ext uri="{FF2B5EF4-FFF2-40B4-BE49-F238E27FC236}">
                <a16:creationId xmlns:a16="http://schemas.microsoft.com/office/drawing/2014/main" id="{371D54D0-1009-469D-9608-71E3ED86CD92}"/>
              </a:ext>
            </a:extLst>
          </p:cNvPr>
          <p:cNvSpPr/>
          <p:nvPr/>
        </p:nvSpPr>
        <p:spPr>
          <a:xfrm>
            <a:off x="4038600" y="762000"/>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61B5EA3-0940-4BAA-B1D1-F2763DB4DA51}"/>
              </a:ext>
            </a:extLst>
          </p:cNvPr>
          <p:cNvSpPr txBox="1"/>
          <p:nvPr/>
        </p:nvSpPr>
        <p:spPr>
          <a:xfrm>
            <a:off x="3886200" y="477083"/>
            <a:ext cx="685800" cy="369332"/>
          </a:xfrm>
          <a:prstGeom prst="rect">
            <a:avLst/>
          </a:prstGeom>
          <a:noFill/>
        </p:spPr>
        <p:txBody>
          <a:bodyPr wrap="square" rtlCol="0">
            <a:spAutoFit/>
          </a:bodyPr>
          <a:lstStyle/>
          <a:p>
            <a:r>
              <a:rPr lang="en-IN" dirty="0"/>
              <a:t>p1</a:t>
            </a:r>
          </a:p>
        </p:txBody>
      </p:sp>
      <p:cxnSp>
        <p:nvCxnSpPr>
          <p:cNvPr id="15" name="Straight Arrow Connector 14">
            <a:extLst>
              <a:ext uri="{FF2B5EF4-FFF2-40B4-BE49-F238E27FC236}">
                <a16:creationId xmlns:a16="http://schemas.microsoft.com/office/drawing/2014/main" id="{2CACF29C-6423-45F1-94E3-788783B815E5}"/>
              </a:ext>
            </a:extLst>
          </p:cNvPr>
          <p:cNvCxnSpPr/>
          <p:nvPr/>
        </p:nvCxnSpPr>
        <p:spPr>
          <a:xfrm flipV="1">
            <a:off x="4648200" y="846415"/>
            <a:ext cx="914400" cy="220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90489EA-C165-4FC0-B07F-BBDC9C42A2BB}"/>
              </a:ext>
            </a:extLst>
          </p:cNvPr>
          <p:cNvSpPr/>
          <p:nvPr/>
        </p:nvSpPr>
        <p:spPr>
          <a:xfrm>
            <a:off x="5867400" y="477083"/>
            <a:ext cx="1371600" cy="1123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Id</a:t>
            </a:r>
          </a:p>
          <a:p>
            <a:pPr algn="ctr"/>
            <a:r>
              <a:rPr lang="en-IN" sz="1400" dirty="0"/>
              <a:t>Name=LCD</a:t>
            </a:r>
          </a:p>
          <a:p>
            <a:pPr algn="ctr"/>
            <a:r>
              <a:rPr lang="en-IN" sz="1400" dirty="0"/>
              <a:t>Salary=90000</a:t>
            </a:r>
          </a:p>
        </p:txBody>
      </p:sp>
      <p:sp>
        <p:nvSpPr>
          <p:cNvPr id="18" name="TextBox 17">
            <a:extLst>
              <a:ext uri="{FF2B5EF4-FFF2-40B4-BE49-F238E27FC236}">
                <a16:creationId xmlns:a16="http://schemas.microsoft.com/office/drawing/2014/main" id="{08ECE513-6934-48D6-8211-D9449649B58C}"/>
              </a:ext>
            </a:extLst>
          </p:cNvPr>
          <p:cNvSpPr txBox="1"/>
          <p:nvPr/>
        </p:nvSpPr>
        <p:spPr>
          <a:xfrm>
            <a:off x="4002466" y="1775445"/>
            <a:ext cx="3120268" cy="261610"/>
          </a:xfrm>
          <a:prstGeom prst="rect">
            <a:avLst/>
          </a:prstGeom>
          <a:noFill/>
        </p:spPr>
        <p:txBody>
          <a:bodyPr wrap="square">
            <a:spAutoFit/>
          </a:bodyPr>
          <a:lstStyle/>
          <a:p>
            <a:r>
              <a:rPr lang="en-IN" sz="1100" dirty="0" err="1">
                <a:solidFill>
                  <a:srgbClr val="2B91AF"/>
                </a:solidFill>
                <a:highlight>
                  <a:srgbClr val="FFFFFF"/>
                </a:highlight>
                <a:latin typeface="Consolas" panose="020B0609020204030204" pitchFamily="49" charset="0"/>
              </a:rPr>
              <a:t>insertData</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indata</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insertData</a:t>
            </a:r>
            <a:r>
              <a:rPr lang="en-IN" sz="1100" dirty="0">
                <a:solidFill>
                  <a:srgbClr val="000000"/>
                </a:solidFill>
                <a:highlight>
                  <a:srgbClr val="FFFFFF"/>
                </a:highlight>
                <a:latin typeface="Consolas" panose="020B0609020204030204" pitchFamily="49" charset="0"/>
              </a:rPr>
              <a:t>();</a:t>
            </a:r>
            <a:endParaRPr lang="en-IN" sz="1100" dirty="0"/>
          </a:p>
        </p:txBody>
      </p:sp>
      <p:sp>
        <p:nvSpPr>
          <p:cNvPr id="19" name="Rectangle 18">
            <a:extLst>
              <a:ext uri="{FF2B5EF4-FFF2-40B4-BE49-F238E27FC236}">
                <a16:creationId xmlns:a16="http://schemas.microsoft.com/office/drawing/2014/main" id="{8C346F67-3DC8-46B2-8CC0-6B1FCFADFB6D}"/>
              </a:ext>
            </a:extLst>
          </p:cNvPr>
          <p:cNvSpPr/>
          <p:nvPr/>
        </p:nvSpPr>
        <p:spPr>
          <a:xfrm>
            <a:off x="4648200" y="2504212"/>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72E170B2-1B1A-4A1A-8E10-EBEBA8F5F84C}"/>
              </a:ext>
            </a:extLst>
          </p:cNvPr>
          <p:cNvSpPr txBox="1"/>
          <p:nvPr/>
        </p:nvSpPr>
        <p:spPr>
          <a:xfrm>
            <a:off x="4495800" y="2219295"/>
            <a:ext cx="914400" cy="369332"/>
          </a:xfrm>
          <a:prstGeom prst="rect">
            <a:avLst/>
          </a:prstGeom>
          <a:noFill/>
        </p:spPr>
        <p:txBody>
          <a:bodyPr wrap="square" rtlCol="0">
            <a:spAutoFit/>
          </a:bodyPr>
          <a:lstStyle/>
          <a:p>
            <a:r>
              <a:rPr lang="en-IN" dirty="0" err="1"/>
              <a:t>indata</a:t>
            </a:r>
            <a:endParaRPr lang="en-IN" dirty="0"/>
          </a:p>
        </p:txBody>
      </p:sp>
      <p:cxnSp>
        <p:nvCxnSpPr>
          <p:cNvPr id="21" name="Straight Arrow Connector 20">
            <a:extLst>
              <a:ext uri="{FF2B5EF4-FFF2-40B4-BE49-F238E27FC236}">
                <a16:creationId xmlns:a16="http://schemas.microsoft.com/office/drawing/2014/main" id="{EBE2AE31-5C02-4974-8A66-8AA0AF643E28}"/>
              </a:ext>
            </a:extLst>
          </p:cNvPr>
          <p:cNvCxnSpPr>
            <a:cxnSpLocks/>
          </p:cNvCxnSpPr>
          <p:nvPr/>
        </p:nvCxnSpPr>
        <p:spPr>
          <a:xfrm flipV="1">
            <a:off x="5257800" y="2694712"/>
            <a:ext cx="609600" cy="114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8F27897-68B7-482A-AB45-4C17458C6C89}"/>
              </a:ext>
            </a:extLst>
          </p:cNvPr>
          <p:cNvSpPr/>
          <p:nvPr/>
        </p:nvSpPr>
        <p:spPr>
          <a:xfrm>
            <a:off x="5867400" y="2117258"/>
            <a:ext cx="914400" cy="76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24" name="TextBox 23">
            <a:extLst>
              <a:ext uri="{FF2B5EF4-FFF2-40B4-BE49-F238E27FC236}">
                <a16:creationId xmlns:a16="http://schemas.microsoft.com/office/drawing/2014/main" id="{49146D48-67FE-479A-953B-370D934321EE}"/>
              </a:ext>
            </a:extLst>
          </p:cNvPr>
          <p:cNvSpPr txBox="1"/>
          <p:nvPr/>
        </p:nvSpPr>
        <p:spPr>
          <a:xfrm>
            <a:off x="4320540" y="3308688"/>
            <a:ext cx="2918460" cy="369332"/>
          </a:xfrm>
          <a:prstGeom prst="rect">
            <a:avLst/>
          </a:prstGeom>
          <a:noFill/>
        </p:spPr>
        <p:txBody>
          <a:bodyPr wrap="square">
            <a:spAutoFit/>
          </a:bodyPr>
          <a:lstStyle/>
          <a:p>
            <a:r>
              <a:rPr lang="it-IT" sz="900" dirty="0">
                <a:solidFill>
                  <a:srgbClr val="000000"/>
                </a:solidFill>
                <a:highlight>
                  <a:srgbClr val="FFFFFF"/>
                </a:highlight>
                <a:latin typeface="Consolas" panose="020B0609020204030204" pitchFamily="49" charset="0"/>
              </a:rPr>
              <a:t> </a:t>
            </a:r>
            <a:r>
              <a:rPr lang="it-IT" sz="900" dirty="0">
                <a:solidFill>
                  <a:srgbClr val="0000FF"/>
                </a:solidFill>
                <a:highlight>
                  <a:srgbClr val="FFFFFF"/>
                </a:highlight>
                <a:latin typeface="Consolas" panose="020B0609020204030204" pitchFamily="49" charset="0"/>
              </a:rPr>
              <a:t>int</a:t>
            </a:r>
            <a:r>
              <a:rPr lang="it-IT" sz="900" dirty="0">
                <a:solidFill>
                  <a:srgbClr val="000000"/>
                </a:solidFill>
                <a:highlight>
                  <a:srgbClr val="FFFFFF"/>
                </a:highlight>
                <a:latin typeface="Consolas" panose="020B0609020204030204" pitchFamily="49" charset="0"/>
              </a:rPr>
              <a:t> a=indata.AddData(p1);</a:t>
            </a:r>
          </a:p>
          <a:p>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"{0}"</a:t>
            </a:r>
            <a:r>
              <a:rPr lang="en-IN" sz="900" dirty="0">
                <a:solidFill>
                  <a:srgbClr val="000000"/>
                </a:solidFill>
                <a:highlight>
                  <a:srgbClr val="FFFFFF"/>
                </a:highlight>
                <a:latin typeface="Consolas" panose="020B0609020204030204" pitchFamily="49" charset="0"/>
              </a:rPr>
              <a:t>, a);</a:t>
            </a:r>
            <a:endParaRPr lang="en-IN" sz="900" dirty="0"/>
          </a:p>
        </p:txBody>
      </p:sp>
      <p:sp>
        <p:nvSpPr>
          <p:cNvPr id="27" name="TextBox 26">
            <a:extLst>
              <a:ext uri="{FF2B5EF4-FFF2-40B4-BE49-F238E27FC236}">
                <a16:creationId xmlns:a16="http://schemas.microsoft.com/office/drawing/2014/main" id="{00A44C00-BE6E-4AFB-B192-5FD12593C74D}"/>
              </a:ext>
            </a:extLst>
          </p:cNvPr>
          <p:cNvSpPr txBox="1"/>
          <p:nvPr/>
        </p:nvSpPr>
        <p:spPr>
          <a:xfrm>
            <a:off x="6934200" y="1767825"/>
            <a:ext cx="1897380" cy="430887"/>
          </a:xfrm>
          <a:prstGeom prst="rect">
            <a:avLst/>
          </a:prstGeom>
          <a:noFill/>
        </p:spPr>
        <p:txBody>
          <a:bodyPr wrap="square">
            <a:spAutoFit/>
          </a:bodyPr>
          <a:lstStyle/>
          <a:p>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SqlConnection</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getconnection</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endParaRPr lang="en-IN" dirty="0"/>
          </a:p>
        </p:txBody>
      </p:sp>
      <p:sp>
        <p:nvSpPr>
          <p:cNvPr id="28" name="Rectangle 27">
            <a:extLst>
              <a:ext uri="{FF2B5EF4-FFF2-40B4-BE49-F238E27FC236}">
                <a16:creationId xmlns:a16="http://schemas.microsoft.com/office/drawing/2014/main" id="{65C5BD73-5C29-497C-BA51-62C7A3A79CFD}"/>
              </a:ext>
            </a:extLst>
          </p:cNvPr>
          <p:cNvSpPr/>
          <p:nvPr/>
        </p:nvSpPr>
        <p:spPr>
          <a:xfrm>
            <a:off x="7162800" y="2320261"/>
            <a:ext cx="1447800" cy="268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C491050-BB24-4F0A-B307-EE3B812D55B1}"/>
              </a:ext>
            </a:extLst>
          </p:cNvPr>
          <p:cNvSpPr txBox="1"/>
          <p:nvPr/>
        </p:nvSpPr>
        <p:spPr>
          <a:xfrm>
            <a:off x="6423660" y="2966085"/>
            <a:ext cx="2918460" cy="261610"/>
          </a:xfrm>
          <a:prstGeom prst="rect">
            <a:avLst/>
          </a:prstGeom>
          <a:noFill/>
        </p:spPr>
        <p:txBody>
          <a:bodyPr wrap="square">
            <a:spAutoFit/>
          </a:bodyPr>
          <a:lstStyle/>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AddData</a:t>
            </a:r>
            <a:r>
              <a:rPr lang="en-IN" sz="1100" dirty="0">
                <a:solidFill>
                  <a:srgbClr val="000000"/>
                </a:solidFill>
                <a:highlight>
                  <a:srgbClr val="FFFFFF"/>
                </a:highlight>
                <a:latin typeface="Consolas" panose="020B0609020204030204" pitchFamily="49" charset="0"/>
              </a:rPr>
              <a:t>(</a:t>
            </a:r>
            <a:r>
              <a:rPr lang="en-IN" sz="1100" dirty="0">
                <a:solidFill>
                  <a:srgbClr val="2B91AF"/>
                </a:solidFill>
                <a:highlight>
                  <a:srgbClr val="FFFFFF"/>
                </a:highlight>
                <a:latin typeface="Consolas" panose="020B0609020204030204" pitchFamily="49" charset="0"/>
              </a:rPr>
              <a:t>Product</a:t>
            </a:r>
            <a:r>
              <a:rPr lang="en-IN" sz="1100" dirty="0">
                <a:solidFill>
                  <a:srgbClr val="000000"/>
                </a:solidFill>
                <a:highlight>
                  <a:srgbClr val="FFFFFF"/>
                </a:highlight>
                <a:latin typeface="Consolas" panose="020B0609020204030204" pitchFamily="49" charset="0"/>
              </a:rPr>
              <a:t> e)</a:t>
            </a:r>
            <a:endParaRPr lang="en-IN" sz="1100" dirty="0"/>
          </a:p>
        </p:txBody>
      </p:sp>
      <p:sp>
        <p:nvSpPr>
          <p:cNvPr id="31" name="Rectangle 30">
            <a:extLst>
              <a:ext uri="{FF2B5EF4-FFF2-40B4-BE49-F238E27FC236}">
                <a16:creationId xmlns:a16="http://schemas.microsoft.com/office/drawing/2014/main" id="{0136356F-BE4A-4B97-A07C-4A18033E6142}"/>
              </a:ext>
            </a:extLst>
          </p:cNvPr>
          <p:cNvSpPr/>
          <p:nvPr/>
        </p:nvSpPr>
        <p:spPr>
          <a:xfrm>
            <a:off x="7162800" y="3361940"/>
            <a:ext cx="1447800" cy="268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A31FB895-AD64-48BA-B174-64595C883762}"/>
              </a:ext>
            </a:extLst>
          </p:cNvPr>
          <p:cNvCxnSpPr>
            <a:cxnSpLocks/>
          </p:cNvCxnSpPr>
          <p:nvPr/>
        </p:nvCxnSpPr>
        <p:spPr>
          <a:xfrm flipH="1" flipV="1">
            <a:off x="6705600" y="1705683"/>
            <a:ext cx="1367667" cy="1069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48BFE96-7DF3-4B99-B556-D9BEB72BCDC1}"/>
              </a:ext>
            </a:extLst>
          </p:cNvPr>
          <p:cNvSpPr/>
          <p:nvPr/>
        </p:nvSpPr>
        <p:spPr>
          <a:xfrm>
            <a:off x="8229600" y="2694712"/>
            <a:ext cx="457200"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0398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4C6EF2-0F43-4F02-BE92-0CC6035FD0F0}"/>
              </a:ext>
            </a:extLst>
          </p:cNvPr>
          <p:cNvSpPr txBox="1"/>
          <p:nvPr/>
        </p:nvSpPr>
        <p:spPr>
          <a:xfrm>
            <a:off x="7620" y="457200"/>
            <a:ext cx="6096000" cy="7494359"/>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ConsoleAppADONETSTUDENTS.Model</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Microsoft.Extensions.Configuration</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System.Data.SqlClient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ConsoleAppADONETSTUDENTS.DAL</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iconfiguration.GetConnectionString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getconnection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sqlconn.ConnectionString</a:t>
            </a:r>
            <a:r>
              <a:rPr lang="en-IN" sz="900" dirty="0">
                <a:solidFill>
                  <a:srgbClr val="000000"/>
                </a:solidFill>
                <a:latin typeface="Cascadia Mono" panose="020B0609020000020004" pitchFamily="49" charset="0"/>
              </a:rPr>
              <a:t> =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AddData</a:t>
            </a:r>
            <a:r>
              <a:rPr lang="en-US" sz="900" dirty="0">
                <a:solidFill>
                  <a:srgbClr val="000000"/>
                </a:solidFill>
                <a:latin typeface="Cascadia Mono" panose="020B0609020000020004" pitchFamily="49" charset="0"/>
              </a:rPr>
              <a:t>(Employee 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 record = 0;</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getconnection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storedata</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sqlcmd.CommandType</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CommandType.StoredProcedure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sqlcmd.Parameters.Add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SqlDbType.Int</a:t>
            </a:r>
            <a:r>
              <a:rPr lang="en-IN" sz="900" dirty="0">
                <a:solidFill>
                  <a:srgbClr val="000000"/>
                </a:solidFill>
                <a:latin typeface="Cascadia Mono" panose="020B0609020000020004" pitchFamily="49" charset="0"/>
              </a:rPr>
              <a:t>).Value = </a:t>
            </a:r>
            <a:r>
              <a:rPr lang="en-IN" sz="900" dirty="0" err="1">
                <a:solidFill>
                  <a:srgbClr val="000000"/>
                </a:solidFill>
                <a:latin typeface="Cascadia Mono" panose="020B0609020000020004" pitchFamily="49" charset="0"/>
              </a:rPr>
              <a:t>e.Id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sqlcmd.Parameters.Add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pname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SqlDbType.NVarChar</a:t>
            </a:r>
            <a:r>
              <a:rPr lang="en-IN" sz="900" dirty="0">
                <a:solidFill>
                  <a:srgbClr val="000000"/>
                </a:solidFill>
                <a:latin typeface="Cascadia Mono" panose="020B0609020000020004" pitchFamily="49" charset="0"/>
              </a:rPr>
              <a:t>).Value = </a:t>
            </a:r>
            <a:r>
              <a:rPr lang="en-IN" sz="900" dirty="0" err="1">
                <a:solidFill>
                  <a:srgbClr val="000000"/>
                </a:solidFill>
                <a:latin typeface="Cascadia Mono" panose="020B0609020000020004" pitchFamily="49" charset="0"/>
              </a:rPr>
              <a:t>e.Name</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sqlcmd.Parameters</a:t>
            </a:r>
            <a:r>
              <a:rPr lang="en-US" sz="900" dirty="0" err="1">
                <a:solidFill>
                  <a:srgbClr val="000000"/>
                </a:solidFill>
                <a:highlight>
                  <a:srgbClr val="FF0000"/>
                </a:highlight>
                <a:latin typeface="Cascadia Mono" panose="020B0609020000020004" pitchFamily="49" charset="0"/>
              </a:rPr>
              <a:t>.AddWithValue</a:t>
            </a:r>
            <a:r>
              <a:rPr lang="en-US" sz="900" dirty="0">
                <a:solidFill>
                  <a:srgbClr val="000000"/>
                </a:solidFill>
                <a:highlight>
                  <a:srgbClr val="FF0000"/>
                </a:highlight>
                <a:latin typeface="Cascadia Mono" panose="020B0609020000020004" pitchFamily="49" charset="0"/>
              </a:rPr>
              <a:t>(</a:t>
            </a:r>
            <a:r>
              <a:rPr lang="en-US" sz="900" dirty="0">
                <a:solidFill>
                  <a:srgbClr val="A31515"/>
                </a:solidFill>
                <a:highlight>
                  <a:srgbClr val="FF0000"/>
                </a:highlight>
                <a:latin typeface="Cascadia Mono" panose="020B0609020000020004" pitchFamily="49" charset="0"/>
              </a:rPr>
              <a:t>"@</a:t>
            </a:r>
            <a:r>
              <a:rPr lang="en-US" sz="900" dirty="0" err="1">
                <a:solidFill>
                  <a:srgbClr val="A31515"/>
                </a:solidFill>
                <a:highlight>
                  <a:srgbClr val="FF0000"/>
                </a:highlight>
                <a:latin typeface="Cascadia Mono" panose="020B0609020000020004" pitchFamily="49" charset="0"/>
              </a:rPr>
              <a:t>psalary</a:t>
            </a:r>
            <a:r>
              <a:rPr lang="en-US" sz="900" dirty="0">
                <a:solidFill>
                  <a:srgbClr val="A31515"/>
                </a:solidFill>
                <a:highlight>
                  <a:srgbClr val="FF0000"/>
                </a:highlight>
                <a:latin typeface="Cascadia Mono" panose="020B0609020000020004" pitchFamily="49" charset="0"/>
              </a:rPr>
              <a:t>"</a:t>
            </a:r>
            <a:r>
              <a:rPr lang="en-US" sz="900" dirty="0">
                <a:solidFill>
                  <a:srgbClr val="000000"/>
                </a:solidFill>
                <a:highlight>
                  <a:srgbClr val="FF0000"/>
                </a:highlight>
                <a:latin typeface="Cascadia Mono" panose="020B0609020000020004" pitchFamily="49" charset="0"/>
              </a:rPr>
              <a:t>, </a:t>
            </a:r>
            <a:r>
              <a:rPr lang="en-US" sz="900" dirty="0" err="1">
                <a:solidFill>
                  <a:srgbClr val="000000"/>
                </a:solidFill>
                <a:highlight>
                  <a:srgbClr val="FF0000"/>
                </a:highlight>
                <a:latin typeface="Cascadia Mono" panose="020B0609020000020004" pitchFamily="49" charset="0"/>
              </a:rPr>
              <a:t>SqlDbType.Float</a:t>
            </a:r>
            <a:r>
              <a:rPr lang="en-US" sz="900" dirty="0">
                <a:solidFill>
                  <a:srgbClr val="000000"/>
                </a:solidFill>
                <a:highlight>
                  <a:srgbClr val="FF0000"/>
                </a:highlight>
                <a:latin typeface="Cascadia Mono" panose="020B0609020000020004" pitchFamily="49" charset="0"/>
              </a:rPr>
              <a:t>).Va</a:t>
            </a:r>
            <a:r>
              <a:rPr lang="en-US" sz="900" dirty="0">
                <a:solidFill>
                  <a:srgbClr val="000000"/>
                </a:solidFill>
                <a:latin typeface="Cascadia Mono" panose="020B0609020000020004" pitchFamily="49" charset="0"/>
              </a:rPr>
              <a:t>lue = </a:t>
            </a:r>
            <a:r>
              <a:rPr lang="en-US" sz="900" dirty="0" err="1">
                <a:solidFill>
                  <a:srgbClr val="000000"/>
                </a:solidFill>
                <a:latin typeface="Cascadia Mono" panose="020B0609020000020004" pitchFamily="49" charset="0"/>
              </a:rPr>
              <a:t>e.Salary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sqlconn.Open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record = </a:t>
            </a:r>
            <a:r>
              <a:rPr lang="en-IN" sz="900" dirty="0" err="1">
                <a:solidFill>
                  <a:srgbClr val="000000"/>
                </a:solidFill>
                <a:latin typeface="Cascadia Mono" panose="020B0609020000020004" pitchFamily="49" charset="0"/>
              </a:rPr>
              <a:t>sqlcmd.ExecuteNonQuery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SqlException</a:t>
            </a:r>
            <a:r>
              <a:rPr lang="en-IN" sz="900" dirty="0">
                <a:solidFill>
                  <a:srgbClr val="000000"/>
                </a:solidFill>
                <a:latin typeface="Cascadia Mono" panose="020B0609020000020004" pitchFamily="49" charset="0"/>
              </a:rPr>
              <a:t> se)</a:t>
            </a:r>
          </a:p>
          <a:p>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se.Message</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finally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sqlconn.Close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record;</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endParaRPr lang="en-IN" sz="500" dirty="0"/>
          </a:p>
        </p:txBody>
      </p:sp>
      <p:sp>
        <p:nvSpPr>
          <p:cNvPr id="6" name="Rectangle 5">
            <a:extLst>
              <a:ext uri="{FF2B5EF4-FFF2-40B4-BE49-F238E27FC236}">
                <a16:creationId xmlns:a16="http://schemas.microsoft.com/office/drawing/2014/main" id="{A805B69B-3BD4-411A-A11E-F06068BFF113}"/>
              </a:ext>
            </a:extLst>
          </p:cNvPr>
          <p:cNvSpPr/>
          <p:nvPr/>
        </p:nvSpPr>
        <p:spPr>
          <a:xfrm>
            <a:off x="6858000" y="636255"/>
            <a:ext cx="762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a:solidFill>
                  <a:srgbClr val="000000"/>
                </a:solidFill>
                <a:highlight>
                  <a:srgbClr val="FFFFFF"/>
                </a:highlight>
                <a:latin typeface="Consolas" panose="020B0609020204030204" pitchFamily="49" charset="0"/>
              </a:rPr>
              <a:t>connstring</a:t>
            </a:r>
            <a:endParaRPr lang="en-IN" sz="700" dirty="0"/>
          </a:p>
        </p:txBody>
      </p:sp>
      <p:sp>
        <p:nvSpPr>
          <p:cNvPr id="7" name="TextBox 6">
            <a:extLst>
              <a:ext uri="{FF2B5EF4-FFF2-40B4-BE49-F238E27FC236}">
                <a16:creationId xmlns:a16="http://schemas.microsoft.com/office/drawing/2014/main" id="{1915D5D5-C606-4EA9-8230-E2FA6CE8C939}"/>
              </a:ext>
            </a:extLst>
          </p:cNvPr>
          <p:cNvSpPr txBox="1"/>
          <p:nvPr/>
        </p:nvSpPr>
        <p:spPr>
          <a:xfrm>
            <a:off x="5562600" y="609600"/>
            <a:ext cx="762000" cy="261610"/>
          </a:xfrm>
          <a:prstGeom prst="rect">
            <a:avLst/>
          </a:prstGeom>
          <a:noFill/>
        </p:spPr>
        <p:txBody>
          <a:bodyPr wrap="square" rtlCol="0">
            <a:spAutoFit/>
          </a:bodyPr>
          <a:lstStyle/>
          <a:p>
            <a:r>
              <a:rPr lang="en-IN" sz="1050" dirty="0" err="1"/>
              <a:t>sqlconn</a:t>
            </a:r>
            <a:endParaRPr lang="en-IN" sz="1050" dirty="0"/>
          </a:p>
        </p:txBody>
      </p:sp>
      <p:sp>
        <p:nvSpPr>
          <p:cNvPr id="8" name="Rectangle 7">
            <a:extLst>
              <a:ext uri="{FF2B5EF4-FFF2-40B4-BE49-F238E27FC236}">
                <a16:creationId xmlns:a16="http://schemas.microsoft.com/office/drawing/2014/main" id="{40B767D8-796E-4892-8AE4-77661F3BFFA5}"/>
              </a:ext>
            </a:extLst>
          </p:cNvPr>
          <p:cNvSpPr/>
          <p:nvPr/>
        </p:nvSpPr>
        <p:spPr>
          <a:xfrm>
            <a:off x="5836920" y="871210"/>
            <a:ext cx="457200" cy="347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6C4178A-2E15-4780-8D3F-C003E5F404E9}"/>
              </a:ext>
            </a:extLst>
          </p:cNvPr>
          <p:cNvCxnSpPr>
            <a:cxnSpLocks/>
            <a:stCxn id="8" idx="3"/>
          </p:cNvCxnSpPr>
          <p:nvPr/>
        </p:nvCxnSpPr>
        <p:spPr>
          <a:xfrm flipV="1">
            <a:off x="6294120" y="958207"/>
            <a:ext cx="487680" cy="8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481EB37-93E8-4502-A599-B68B66574C14}"/>
              </a:ext>
            </a:extLst>
          </p:cNvPr>
          <p:cNvSpPr txBox="1"/>
          <p:nvPr/>
        </p:nvSpPr>
        <p:spPr>
          <a:xfrm>
            <a:off x="6103620" y="195707"/>
            <a:ext cx="1813560" cy="261610"/>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SqlConnection</a:t>
            </a:r>
            <a:r>
              <a:rPr lang="en-IN" sz="1100" dirty="0">
                <a:solidFill>
                  <a:srgbClr val="000000"/>
                </a:solidFill>
                <a:highlight>
                  <a:srgbClr val="FFFFFF"/>
                </a:highlight>
                <a:latin typeface="Consolas" panose="020B0609020204030204" pitchFamily="49" charset="0"/>
              </a:rPr>
              <a:t>();</a:t>
            </a:r>
            <a:endParaRPr lang="en-IN" sz="1100" dirty="0"/>
          </a:p>
        </p:txBody>
      </p:sp>
      <p:sp>
        <p:nvSpPr>
          <p:cNvPr id="15" name="TextBox 14">
            <a:extLst>
              <a:ext uri="{FF2B5EF4-FFF2-40B4-BE49-F238E27FC236}">
                <a16:creationId xmlns:a16="http://schemas.microsoft.com/office/drawing/2014/main" id="{A705E99C-AD4D-4149-8407-C627CB68EBF6}"/>
              </a:ext>
            </a:extLst>
          </p:cNvPr>
          <p:cNvSpPr txBox="1"/>
          <p:nvPr/>
        </p:nvSpPr>
        <p:spPr>
          <a:xfrm>
            <a:off x="7174230" y="1245855"/>
            <a:ext cx="1752600" cy="369332"/>
          </a:xfrm>
          <a:prstGeom prst="rect">
            <a:avLst/>
          </a:prstGeom>
          <a:noFill/>
        </p:spPr>
        <p:txBody>
          <a:bodyPr wrap="square">
            <a:spAutoFit/>
          </a:bodyPr>
          <a:lstStyle/>
          <a:p>
            <a:r>
              <a:rPr lang="en-IN" sz="900" dirty="0" err="1">
                <a:solidFill>
                  <a:srgbClr val="000000"/>
                </a:solidFill>
                <a:highlight>
                  <a:srgbClr val="FFFFFF"/>
                </a:highlight>
                <a:latin typeface="Consolas" panose="020B0609020204030204" pitchFamily="49" charset="0"/>
              </a:rPr>
              <a:t>sqlconn.ConnectionString</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connstring</a:t>
            </a:r>
            <a:r>
              <a:rPr lang="en-IN" sz="900" dirty="0">
                <a:solidFill>
                  <a:srgbClr val="000000"/>
                </a:solidFill>
                <a:highlight>
                  <a:srgbClr val="FFFFFF"/>
                </a:highlight>
                <a:latin typeface="Consolas" panose="020B0609020204030204" pitchFamily="49" charset="0"/>
              </a:rPr>
              <a:t>;</a:t>
            </a:r>
            <a:endParaRPr lang="en-IN" sz="900" dirty="0"/>
          </a:p>
        </p:txBody>
      </p:sp>
      <p:sp>
        <p:nvSpPr>
          <p:cNvPr id="16" name="Rectangle 15">
            <a:extLst>
              <a:ext uri="{FF2B5EF4-FFF2-40B4-BE49-F238E27FC236}">
                <a16:creationId xmlns:a16="http://schemas.microsoft.com/office/drawing/2014/main" id="{1B172B9B-FCD4-49C0-8A70-39FF9776BFDC}"/>
              </a:ext>
            </a:extLst>
          </p:cNvPr>
          <p:cNvSpPr/>
          <p:nvPr/>
        </p:nvSpPr>
        <p:spPr>
          <a:xfrm>
            <a:off x="7620000" y="1635729"/>
            <a:ext cx="1066800" cy="201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F41DA1F-0342-4EF1-8112-5372BE8A1224}"/>
              </a:ext>
            </a:extLst>
          </p:cNvPr>
          <p:cNvSpPr txBox="1"/>
          <p:nvPr/>
        </p:nvSpPr>
        <p:spPr>
          <a:xfrm>
            <a:off x="4663440" y="2618504"/>
            <a:ext cx="2552700" cy="253916"/>
          </a:xfrm>
          <a:prstGeom prst="rect">
            <a:avLst/>
          </a:prstGeom>
          <a:noFill/>
        </p:spPr>
        <p:txBody>
          <a:bodyPr wrap="square">
            <a:spAutoFit/>
          </a:bodyPr>
          <a:lstStyle/>
          <a:p>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sqlconn</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getconnection</a:t>
            </a:r>
            <a:r>
              <a:rPr lang="en-IN" sz="1050" dirty="0">
                <a:solidFill>
                  <a:srgbClr val="000000"/>
                </a:solidFill>
                <a:highlight>
                  <a:srgbClr val="FFFFFF"/>
                </a:highlight>
                <a:latin typeface="Consolas" panose="020B0609020204030204" pitchFamily="49" charset="0"/>
              </a:rPr>
              <a:t>();</a:t>
            </a:r>
            <a:endParaRPr lang="en-IN" sz="1050" dirty="0"/>
          </a:p>
        </p:txBody>
      </p:sp>
      <p:sp>
        <p:nvSpPr>
          <p:cNvPr id="19" name="TextBox 18">
            <a:extLst>
              <a:ext uri="{FF2B5EF4-FFF2-40B4-BE49-F238E27FC236}">
                <a16:creationId xmlns:a16="http://schemas.microsoft.com/office/drawing/2014/main" id="{BA6B334F-9695-4C38-92F7-16BBFFDCD8FD}"/>
              </a:ext>
            </a:extLst>
          </p:cNvPr>
          <p:cNvSpPr txBox="1"/>
          <p:nvPr/>
        </p:nvSpPr>
        <p:spPr>
          <a:xfrm>
            <a:off x="5181600" y="1888272"/>
            <a:ext cx="762000" cy="261610"/>
          </a:xfrm>
          <a:prstGeom prst="rect">
            <a:avLst/>
          </a:prstGeom>
          <a:noFill/>
        </p:spPr>
        <p:txBody>
          <a:bodyPr wrap="square" rtlCol="0">
            <a:spAutoFit/>
          </a:bodyPr>
          <a:lstStyle/>
          <a:p>
            <a:r>
              <a:rPr lang="en-IN" sz="1050" dirty="0" err="1"/>
              <a:t>sqlconn</a:t>
            </a:r>
            <a:endParaRPr lang="en-IN" sz="1050" dirty="0"/>
          </a:p>
        </p:txBody>
      </p:sp>
      <p:sp>
        <p:nvSpPr>
          <p:cNvPr id="20" name="Rectangle 19">
            <a:extLst>
              <a:ext uri="{FF2B5EF4-FFF2-40B4-BE49-F238E27FC236}">
                <a16:creationId xmlns:a16="http://schemas.microsoft.com/office/drawing/2014/main" id="{F61A6ED2-9414-4FD3-80B5-DC1FAE1C0453}"/>
              </a:ext>
            </a:extLst>
          </p:cNvPr>
          <p:cNvSpPr/>
          <p:nvPr/>
        </p:nvSpPr>
        <p:spPr>
          <a:xfrm>
            <a:off x="5181600" y="2149882"/>
            <a:ext cx="457200" cy="347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516F2290-B52C-47E6-B4BD-3FE2C4719FE4}"/>
              </a:ext>
            </a:extLst>
          </p:cNvPr>
          <p:cNvCxnSpPr>
            <a:cxnSpLocks/>
            <a:stCxn id="20" idx="3"/>
          </p:cNvCxnSpPr>
          <p:nvPr/>
        </p:nvCxnSpPr>
        <p:spPr>
          <a:xfrm flipV="1">
            <a:off x="5638800" y="1351471"/>
            <a:ext cx="784860" cy="972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1019E9C-AD7F-49F8-B21C-BAFE85E99E3C}"/>
              </a:ext>
            </a:extLst>
          </p:cNvPr>
          <p:cNvSpPr txBox="1"/>
          <p:nvPr/>
        </p:nvSpPr>
        <p:spPr>
          <a:xfrm>
            <a:off x="6065520" y="1888272"/>
            <a:ext cx="762000" cy="261610"/>
          </a:xfrm>
          <a:prstGeom prst="rect">
            <a:avLst/>
          </a:prstGeom>
          <a:noFill/>
        </p:spPr>
        <p:txBody>
          <a:bodyPr wrap="square" rtlCol="0">
            <a:spAutoFit/>
          </a:bodyPr>
          <a:lstStyle/>
          <a:p>
            <a:r>
              <a:rPr lang="en-IN" sz="1050" dirty="0" err="1"/>
              <a:t>sqlcmd</a:t>
            </a:r>
            <a:endParaRPr lang="en-IN" sz="1050" dirty="0"/>
          </a:p>
        </p:txBody>
      </p:sp>
      <p:sp>
        <p:nvSpPr>
          <p:cNvPr id="25" name="Rectangle 24">
            <a:extLst>
              <a:ext uri="{FF2B5EF4-FFF2-40B4-BE49-F238E27FC236}">
                <a16:creationId xmlns:a16="http://schemas.microsoft.com/office/drawing/2014/main" id="{C0A3C122-4A53-4EA6-AE9E-EF8A7DA98F87}"/>
              </a:ext>
            </a:extLst>
          </p:cNvPr>
          <p:cNvSpPr/>
          <p:nvPr/>
        </p:nvSpPr>
        <p:spPr>
          <a:xfrm>
            <a:off x="6339840" y="2149882"/>
            <a:ext cx="457200" cy="347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863389D-B2B8-4EDB-9FD0-DC478A57B4D2}"/>
              </a:ext>
            </a:extLst>
          </p:cNvPr>
          <p:cNvCxnSpPr>
            <a:cxnSpLocks/>
          </p:cNvCxnSpPr>
          <p:nvPr/>
        </p:nvCxnSpPr>
        <p:spPr>
          <a:xfrm flipV="1">
            <a:off x="6736080" y="2268166"/>
            <a:ext cx="487680" cy="8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C2FCCC96-9720-4018-AACF-B05C938C48E0}"/>
              </a:ext>
            </a:extLst>
          </p:cNvPr>
          <p:cNvSpPr/>
          <p:nvPr/>
        </p:nvSpPr>
        <p:spPr>
          <a:xfrm>
            <a:off x="7280910" y="2249978"/>
            <a:ext cx="762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solidFill>
                  <a:srgbClr val="000000"/>
                </a:solidFill>
                <a:highlight>
                  <a:srgbClr val="FFFFFF"/>
                </a:highlight>
                <a:latin typeface="Consolas" panose="020B0609020204030204" pitchFamily="49" charset="0"/>
              </a:rPr>
              <a:t>sqlconn</a:t>
            </a:r>
            <a:endParaRPr lang="en-IN" sz="700" dirty="0"/>
          </a:p>
        </p:txBody>
      </p:sp>
      <p:sp>
        <p:nvSpPr>
          <p:cNvPr id="29" name="TextBox 28">
            <a:extLst>
              <a:ext uri="{FF2B5EF4-FFF2-40B4-BE49-F238E27FC236}">
                <a16:creationId xmlns:a16="http://schemas.microsoft.com/office/drawing/2014/main" id="{FEF15191-05E4-4F68-8ADD-635967A598B1}"/>
              </a:ext>
            </a:extLst>
          </p:cNvPr>
          <p:cNvSpPr txBox="1"/>
          <p:nvPr/>
        </p:nvSpPr>
        <p:spPr>
          <a:xfrm>
            <a:off x="6858000" y="1943441"/>
            <a:ext cx="2895600" cy="246221"/>
          </a:xfrm>
          <a:prstGeom prst="rect">
            <a:avLst/>
          </a:prstGeom>
          <a:noFill/>
        </p:spPr>
        <p:txBody>
          <a:bodyPr wrap="square">
            <a:spAutoFit/>
          </a:bodyPr>
          <a:lstStyle/>
          <a:p>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SqlCommand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a:t>
            </a:r>
            <a:r>
              <a:rPr lang="en-US" sz="1000" dirty="0" err="1">
                <a:solidFill>
                  <a:srgbClr val="A31515"/>
                </a:solidFill>
                <a:highlight>
                  <a:srgbClr val="FFFFFF"/>
                </a:highlight>
                <a:latin typeface="Consolas" panose="020B0609020204030204" pitchFamily="49" charset="0"/>
              </a:rPr>
              <a:t>storedata</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sqlconn</a:t>
            </a:r>
            <a:r>
              <a:rPr lang="en-US" sz="1000" dirty="0">
                <a:solidFill>
                  <a:srgbClr val="000000"/>
                </a:solidFill>
                <a:highlight>
                  <a:srgbClr val="FFFFFF"/>
                </a:highlight>
                <a:latin typeface="Consolas" panose="020B0609020204030204" pitchFamily="49" charset="0"/>
              </a:rPr>
              <a:t>);</a:t>
            </a:r>
          </a:p>
        </p:txBody>
      </p:sp>
      <p:cxnSp>
        <p:nvCxnSpPr>
          <p:cNvPr id="30" name="Straight Arrow Connector 29">
            <a:extLst>
              <a:ext uri="{FF2B5EF4-FFF2-40B4-BE49-F238E27FC236}">
                <a16:creationId xmlns:a16="http://schemas.microsoft.com/office/drawing/2014/main" id="{687DF664-6704-4038-A5D1-1C77897A2838}"/>
              </a:ext>
            </a:extLst>
          </p:cNvPr>
          <p:cNvCxnSpPr>
            <a:cxnSpLocks/>
          </p:cNvCxnSpPr>
          <p:nvPr/>
        </p:nvCxnSpPr>
        <p:spPr>
          <a:xfrm flipH="1" flipV="1">
            <a:off x="7109460" y="1366487"/>
            <a:ext cx="358140" cy="1045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0B56933-062A-489F-8826-50CFA312E19E}"/>
              </a:ext>
            </a:extLst>
          </p:cNvPr>
          <p:cNvSpPr/>
          <p:nvPr/>
        </p:nvSpPr>
        <p:spPr>
          <a:xfrm>
            <a:off x="7840980" y="3465716"/>
            <a:ext cx="1085850" cy="44564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1050" dirty="0"/>
              <a:t>@pname</a:t>
            </a:r>
          </a:p>
          <a:p>
            <a:pPr algn="ctr"/>
            <a:r>
              <a:rPr lang="en-IN" sz="1050" dirty="0"/>
              <a:t>@pprice</a:t>
            </a:r>
          </a:p>
          <a:p>
            <a:pPr algn="ctr"/>
            <a:r>
              <a:rPr lang="en-IN" sz="1050" dirty="0"/>
              <a:t>@Qty</a:t>
            </a:r>
          </a:p>
        </p:txBody>
      </p:sp>
      <p:sp>
        <p:nvSpPr>
          <p:cNvPr id="34" name="Flowchart: Magnetic Disk 33">
            <a:extLst>
              <a:ext uri="{FF2B5EF4-FFF2-40B4-BE49-F238E27FC236}">
                <a16:creationId xmlns:a16="http://schemas.microsoft.com/office/drawing/2014/main" id="{3FA98003-201A-417A-9510-666CEF3E9985}"/>
              </a:ext>
            </a:extLst>
          </p:cNvPr>
          <p:cNvSpPr/>
          <p:nvPr/>
        </p:nvSpPr>
        <p:spPr>
          <a:xfrm>
            <a:off x="8622030" y="703535"/>
            <a:ext cx="304800" cy="471187"/>
          </a:xfrm>
          <a:prstGeom prst="flowChartMagneticDisk">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2F3EB1F4-122A-4355-8B58-8C79B4CBEEA5}"/>
              </a:ext>
            </a:extLst>
          </p:cNvPr>
          <p:cNvSpPr txBox="1"/>
          <p:nvPr/>
        </p:nvSpPr>
        <p:spPr>
          <a:xfrm>
            <a:off x="7738110" y="664802"/>
            <a:ext cx="1272540" cy="276999"/>
          </a:xfrm>
          <a:prstGeom prst="rect">
            <a:avLst/>
          </a:prstGeom>
          <a:noFill/>
        </p:spPr>
        <p:txBody>
          <a:bodyPr wrap="square" rtlCol="0">
            <a:spAutoFit/>
          </a:bodyPr>
          <a:lstStyle/>
          <a:p>
            <a:r>
              <a:rPr lang="en-IN" sz="1200" dirty="0">
                <a:solidFill>
                  <a:srgbClr val="000000"/>
                </a:solidFill>
                <a:highlight>
                  <a:srgbClr val="FFFFFF"/>
                </a:highlight>
                <a:latin typeface="Consolas" panose="020B0609020204030204" pitchFamily="49" charset="0"/>
              </a:rPr>
              <a:t>.Open();</a:t>
            </a:r>
            <a:endParaRPr lang="en-IN" sz="1200" dirty="0"/>
          </a:p>
        </p:txBody>
      </p:sp>
      <p:cxnSp>
        <p:nvCxnSpPr>
          <p:cNvPr id="37" name="Straight Arrow Connector 36">
            <a:extLst>
              <a:ext uri="{FF2B5EF4-FFF2-40B4-BE49-F238E27FC236}">
                <a16:creationId xmlns:a16="http://schemas.microsoft.com/office/drawing/2014/main" id="{111DBA45-A3CE-487D-B078-E105AE71F65A}"/>
              </a:ext>
            </a:extLst>
          </p:cNvPr>
          <p:cNvCxnSpPr/>
          <p:nvPr/>
        </p:nvCxnSpPr>
        <p:spPr>
          <a:xfrm>
            <a:off x="8183880" y="958207"/>
            <a:ext cx="438150" cy="181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A76631D-F24D-437B-8D6A-AB19AABFD31B}"/>
              </a:ext>
            </a:extLst>
          </p:cNvPr>
          <p:cNvSpPr txBox="1"/>
          <p:nvPr/>
        </p:nvSpPr>
        <p:spPr>
          <a:xfrm>
            <a:off x="8042910" y="2256948"/>
            <a:ext cx="1344930" cy="253916"/>
          </a:xfrm>
          <a:prstGeom prst="rect">
            <a:avLst/>
          </a:prstGeom>
          <a:noFill/>
        </p:spPr>
        <p:txBody>
          <a:bodyPr wrap="square">
            <a:spAutoFit/>
          </a:bodyPr>
          <a:lstStyle/>
          <a:p>
            <a:r>
              <a:rPr lang="en-IN" sz="1050" dirty="0" err="1">
                <a:solidFill>
                  <a:srgbClr val="000000"/>
                </a:solidFill>
                <a:highlight>
                  <a:srgbClr val="FFFFFF"/>
                </a:highlight>
                <a:latin typeface="Consolas" panose="020B0609020204030204" pitchFamily="49" charset="0"/>
              </a:rPr>
              <a:t>CommandType</a:t>
            </a:r>
            <a:endParaRPr lang="en-IN" sz="1050" dirty="0"/>
          </a:p>
        </p:txBody>
      </p:sp>
      <p:sp>
        <p:nvSpPr>
          <p:cNvPr id="40" name="Rectangle 39">
            <a:extLst>
              <a:ext uri="{FF2B5EF4-FFF2-40B4-BE49-F238E27FC236}">
                <a16:creationId xmlns:a16="http://schemas.microsoft.com/office/drawing/2014/main" id="{B5DAB89E-CA33-46F8-93C0-191F8D90CD68}"/>
              </a:ext>
            </a:extLst>
          </p:cNvPr>
          <p:cNvSpPr/>
          <p:nvPr/>
        </p:nvSpPr>
        <p:spPr>
          <a:xfrm>
            <a:off x="8229600" y="2497907"/>
            <a:ext cx="621030" cy="2118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BAFA84C4-CD21-4579-9155-09BA1B8698EE}"/>
              </a:ext>
            </a:extLst>
          </p:cNvPr>
          <p:cNvSpPr/>
          <p:nvPr/>
        </p:nvSpPr>
        <p:spPr>
          <a:xfrm>
            <a:off x="7402830" y="4368396"/>
            <a:ext cx="1371600" cy="1123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Id</a:t>
            </a:r>
          </a:p>
          <a:p>
            <a:pPr algn="ctr"/>
            <a:r>
              <a:rPr lang="en-IN" sz="1400" dirty="0"/>
              <a:t>Name=LCD</a:t>
            </a:r>
          </a:p>
          <a:p>
            <a:pPr algn="ctr"/>
            <a:r>
              <a:rPr lang="en-IN" sz="1400" dirty="0"/>
              <a:t>Salary=90000</a:t>
            </a:r>
          </a:p>
          <a:p>
            <a:pPr algn="ctr"/>
            <a:endParaRPr lang="en-IN" sz="1400" dirty="0"/>
          </a:p>
        </p:txBody>
      </p:sp>
      <p:cxnSp>
        <p:nvCxnSpPr>
          <p:cNvPr id="43" name="Straight Arrow Connector 42">
            <a:extLst>
              <a:ext uri="{FF2B5EF4-FFF2-40B4-BE49-F238E27FC236}">
                <a16:creationId xmlns:a16="http://schemas.microsoft.com/office/drawing/2014/main" id="{4CA1F435-DCB9-434F-86DF-C6145002BFE1}"/>
              </a:ext>
            </a:extLst>
          </p:cNvPr>
          <p:cNvCxnSpPr>
            <a:cxnSpLocks/>
          </p:cNvCxnSpPr>
          <p:nvPr/>
        </p:nvCxnSpPr>
        <p:spPr>
          <a:xfrm>
            <a:off x="4876800" y="4755057"/>
            <a:ext cx="2293620" cy="1125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5" name="Straight Arrow Connector 44">
            <a:extLst>
              <a:ext uri="{FF2B5EF4-FFF2-40B4-BE49-F238E27FC236}">
                <a16:creationId xmlns:a16="http://schemas.microsoft.com/office/drawing/2014/main" id="{96A3BE72-8EC6-4C9B-883F-D84E229E1B39}"/>
              </a:ext>
            </a:extLst>
          </p:cNvPr>
          <p:cNvCxnSpPr>
            <a:cxnSpLocks/>
          </p:cNvCxnSpPr>
          <p:nvPr/>
        </p:nvCxnSpPr>
        <p:spPr>
          <a:xfrm>
            <a:off x="5414010" y="4964590"/>
            <a:ext cx="1874520" cy="5629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8" name="Straight Arrow Connector 47">
            <a:extLst>
              <a:ext uri="{FF2B5EF4-FFF2-40B4-BE49-F238E27FC236}">
                <a16:creationId xmlns:a16="http://schemas.microsoft.com/office/drawing/2014/main" id="{CC9BF3FC-CEA0-4782-B056-A7C3C09CAD85}"/>
              </a:ext>
            </a:extLst>
          </p:cNvPr>
          <p:cNvCxnSpPr>
            <a:cxnSpLocks/>
          </p:cNvCxnSpPr>
          <p:nvPr/>
        </p:nvCxnSpPr>
        <p:spPr>
          <a:xfrm>
            <a:off x="4627304" y="5115051"/>
            <a:ext cx="2543116" cy="10093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3" name="TextBox 52">
            <a:extLst>
              <a:ext uri="{FF2B5EF4-FFF2-40B4-BE49-F238E27FC236}">
                <a16:creationId xmlns:a16="http://schemas.microsoft.com/office/drawing/2014/main" id="{99347AA7-54DE-45A9-A92C-6CB91B8BB9B5}"/>
              </a:ext>
            </a:extLst>
          </p:cNvPr>
          <p:cNvSpPr txBox="1"/>
          <p:nvPr/>
        </p:nvSpPr>
        <p:spPr>
          <a:xfrm>
            <a:off x="8042910" y="2792525"/>
            <a:ext cx="1253490" cy="184666"/>
          </a:xfrm>
          <a:prstGeom prst="rect">
            <a:avLst/>
          </a:prstGeom>
          <a:noFill/>
        </p:spPr>
        <p:txBody>
          <a:bodyPr wrap="square">
            <a:spAutoFit/>
          </a:bodyPr>
          <a:lstStyle/>
          <a:p>
            <a:r>
              <a:rPr lang="en-IN" sz="600" dirty="0" err="1">
                <a:solidFill>
                  <a:srgbClr val="000000"/>
                </a:solidFill>
                <a:highlight>
                  <a:srgbClr val="FFFFFF"/>
                </a:highlight>
                <a:latin typeface="Consolas" panose="020B0609020204030204" pitchFamily="49" charset="0"/>
              </a:rPr>
              <a:t>sqlcmd.ExecuteNonQuery</a:t>
            </a:r>
            <a:r>
              <a:rPr lang="en-IN" sz="600" dirty="0">
                <a:solidFill>
                  <a:srgbClr val="000000"/>
                </a:solidFill>
                <a:highlight>
                  <a:srgbClr val="FFFFFF"/>
                </a:highlight>
                <a:latin typeface="Consolas" panose="020B0609020204030204" pitchFamily="49" charset="0"/>
              </a:rPr>
              <a:t>();</a:t>
            </a:r>
            <a:endParaRPr lang="en-IN" sz="600" dirty="0"/>
          </a:p>
        </p:txBody>
      </p:sp>
      <p:sp>
        <p:nvSpPr>
          <p:cNvPr id="54" name="Rectangle 53">
            <a:extLst>
              <a:ext uri="{FF2B5EF4-FFF2-40B4-BE49-F238E27FC236}">
                <a16:creationId xmlns:a16="http://schemas.microsoft.com/office/drawing/2014/main" id="{87AC6D13-7DC5-441B-95B2-23EDDD8253B1}"/>
              </a:ext>
            </a:extLst>
          </p:cNvPr>
          <p:cNvSpPr/>
          <p:nvPr/>
        </p:nvSpPr>
        <p:spPr>
          <a:xfrm>
            <a:off x="8267700" y="2999389"/>
            <a:ext cx="544830" cy="1662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Freeform: Shape 54">
            <a:extLst>
              <a:ext uri="{FF2B5EF4-FFF2-40B4-BE49-F238E27FC236}">
                <a16:creationId xmlns:a16="http://schemas.microsoft.com/office/drawing/2014/main" id="{F7AA52F8-5419-4EAF-BC2A-A11F87988CEE}"/>
              </a:ext>
            </a:extLst>
          </p:cNvPr>
          <p:cNvSpPr/>
          <p:nvPr/>
        </p:nvSpPr>
        <p:spPr>
          <a:xfrm>
            <a:off x="8793480" y="3108960"/>
            <a:ext cx="106680" cy="327660"/>
          </a:xfrm>
          <a:custGeom>
            <a:avLst/>
            <a:gdLst>
              <a:gd name="connsiteX0" fmla="*/ 60960 w 106680"/>
              <a:gd name="connsiteY0" fmla="*/ 0 h 327660"/>
              <a:gd name="connsiteX1" fmla="*/ 68580 w 106680"/>
              <a:gd name="connsiteY1" fmla="*/ 53340 h 327660"/>
              <a:gd name="connsiteX2" fmla="*/ 83820 w 106680"/>
              <a:gd name="connsiteY2" fmla="*/ 83820 h 327660"/>
              <a:gd name="connsiteX3" fmla="*/ 106680 w 106680"/>
              <a:gd name="connsiteY3" fmla="*/ 167640 h 327660"/>
              <a:gd name="connsiteX4" fmla="*/ 99060 w 106680"/>
              <a:gd name="connsiteY4" fmla="*/ 274320 h 327660"/>
              <a:gd name="connsiteX5" fmla="*/ 76200 w 106680"/>
              <a:gd name="connsiteY5" fmla="*/ 297180 h 327660"/>
              <a:gd name="connsiteX6" fmla="*/ 22860 w 106680"/>
              <a:gd name="connsiteY6" fmla="*/ 320040 h 327660"/>
              <a:gd name="connsiteX7" fmla="*/ 0 w 106680"/>
              <a:gd name="connsiteY7"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680" h="327660">
                <a:moveTo>
                  <a:pt x="60960" y="0"/>
                </a:moveTo>
                <a:cubicBezTo>
                  <a:pt x="63500" y="17780"/>
                  <a:pt x="63854" y="36012"/>
                  <a:pt x="68580" y="53340"/>
                </a:cubicBezTo>
                <a:cubicBezTo>
                  <a:pt x="71569" y="64299"/>
                  <a:pt x="79601" y="73273"/>
                  <a:pt x="83820" y="83820"/>
                </a:cubicBezTo>
                <a:cubicBezTo>
                  <a:pt x="99289" y="122491"/>
                  <a:pt x="99027" y="129376"/>
                  <a:pt x="106680" y="167640"/>
                </a:cubicBezTo>
                <a:cubicBezTo>
                  <a:pt x="104140" y="203200"/>
                  <a:pt x="107225" y="239617"/>
                  <a:pt x="99060" y="274320"/>
                </a:cubicBezTo>
                <a:cubicBezTo>
                  <a:pt x="96592" y="284810"/>
                  <a:pt x="84479" y="290281"/>
                  <a:pt x="76200" y="297180"/>
                </a:cubicBezTo>
                <a:cubicBezTo>
                  <a:pt x="51991" y="317354"/>
                  <a:pt x="53803" y="311199"/>
                  <a:pt x="22860" y="320040"/>
                </a:cubicBezTo>
                <a:cubicBezTo>
                  <a:pt x="15137" y="322247"/>
                  <a:pt x="0" y="327660"/>
                  <a:pt x="0" y="32766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7" name="Straight Arrow Connector 56">
            <a:extLst>
              <a:ext uri="{FF2B5EF4-FFF2-40B4-BE49-F238E27FC236}">
                <a16:creationId xmlns:a16="http://schemas.microsoft.com/office/drawing/2014/main" id="{4A085D7C-73D8-494F-AB1A-FBAA3A366012}"/>
              </a:ext>
            </a:extLst>
          </p:cNvPr>
          <p:cNvCxnSpPr>
            <a:endCxn id="34" idx="3"/>
          </p:cNvCxnSpPr>
          <p:nvPr/>
        </p:nvCxnSpPr>
        <p:spPr>
          <a:xfrm flipV="1">
            <a:off x="8153400" y="1174722"/>
            <a:ext cx="621030" cy="229099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9" name="TextBox 58">
            <a:extLst>
              <a:ext uri="{FF2B5EF4-FFF2-40B4-BE49-F238E27FC236}">
                <a16:creationId xmlns:a16="http://schemas.microsoft.com/office/drawing/2014/main" id="{9B0F532C-AE75-4C61-8CB1-801902DC3536}"/>
              </a:ext>
            </a:extLst>
          </p:cNvPr>
          <p:cNvSpPr txBox="1"/>
          <p:nvPr/>
        </p:nvSpPr>
        <p:spPr>
          <a:xfrm>
            <a:off x="3670934" y="5297439"/>
            <a:ext cx="5930265" cy="135421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00" dirty="0">
                <a:solidFill>
                  <a:srgbClr val="0000FF"/>
                </a:solidFill>
                <a:highlight>
                  <a:srgbClr val="FFFFFF"/>
                </a:highlight>
                <a:latin typeface="Consolas" panose="020B0609020204030204" pitchFamily="49" charset="0"/>
              </a:rPr>
              <a:t>CREATE</a:t>
            </a:r>
            <a:r>
              <a:rPr lang="en-IN" sz="100" dirty="0">
                <a:solidFill>
                  <a:srgbClr val="000000"/>
                </a:solidFill>
                <a:highlight>
                  <a:srgbClr val="FFFFFF"/>
                </a:highlight>
                <a:latin typeface="Consolas" panose="020B0609020204030204" pitchFamily="49" charset="0"/>
              </a:rPr>
              <a:t> </a:t>
            </a:r>
            <a:r>
              <a:rPr lang="en-IN" sz="100" dirty="0">
                <a:solidFill>
                  <a:srgbClr val="0000FF"/>
                </a:solidFill>
                <a:highlight>
                  <a:srgbClr val="FFFFFF"/>
                </a:highlight>
                <a:latin typeface="Consolas" panose="020B0609020204030204" pitchFamily="49" charset="0"/>
              </a:rPr>
              <a:t>PROCEDURE</a:t>
            </a:r>
            <a:r>
              <a:rPr lang="en-IN" sz="100" dirty="0">
                <a:solidFill>
                  <a:srgbClr val="000000"/>
                </a:solidFill>
                <a:highlight>
                  <a:srgbClr val="FFFFFF"/>
                </a:highlight>
                <a:latin typeface="Consolas" panose="020B0609020204030204" pitchFamily="49" charset="0"/>
              </a:rPr>
              <a:t> </a:t>
            </a:r>
            <a:r>
              <a:rPr lang="en-IN" sz="100" dirty="0" err="1">
                <a:solidFill>
                  <a:srgbClr val="000000"/>
                </a:solidFill>
                <a:highlight>
                  <a:srgbClr val="FFFFFF"/>
                </a:highlight>
                <a:latin typeface="Consolas" panose="020B0609020204030204" pitchFamily="49" charset="0"/>
              </a:rPr>
              <a:t>storedata</a:t>
            </a:r>
            <a:endParaRPr lang="en-IN" sz="100" dirty="0">
              <a:solidFill>
                <a:srgbClr val="000000"/>
              </a:solidFill>
              <a:highlight>
                <a:srgbClr val="FFFFFF"/>
              </a:highlight>
              <a:latin typeface="Consolas" panose="020B0609020204030204" pitchFamily="49" charset="0"/>
            </a:endParaRPr>
          </a:p>
          <a:p>
            <a:r>
              <a:rPr lang="en-IN" sz="900" dirty="0">
                <a:solidFill>
                  <a:srgbClr val="0000FF"/>
                </a:solidFill>
                <a:latin typeface="Cascadia Mono" panose="020B0609020000020004" pitchFamily="49" charset="0"/>
              </a:rPr>
              <a:t>CREATE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PROCEDURE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storedata</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@id     </a:t>
            </a:r>
            <a:r>
              <a:rPr lang="en-IN" sz="900" dirty="0">
                <a:solidFill>
                  <a:srgbClr val="0000FF"/>
                </a:solidFill>
                <a:latin typeface="Cascadia Mono" panose="020B0609020000020004" pitchFamily="49" charset="0"/>
              </a:rPr>
              <a:t>int</a:t>
            </a:r>
            <a:r>
              <a:rPr lang="en-IN" sz="900" dirty="0">
                <a:solidFill>
                  <a:srgbClr val="808080"/>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@pname     </a:t>
            </a:r>
            <a:r>
              <a:rPr lang="en-IN" sz="900" dirty="0">
                <a:solidFill>
                  <a:srgbClr val="0000FF"/>
                </a:solidFill>
                <a:latin typeface="Cascadia Mono" panose="020B0609020000020004" pitchFamily="49" charset="0"/>
              </a:rPr>
              <a:t>NVARCHAR</a:t>
            </a:r>
            <a:r>
              <a:rPr lang="en-IN" sz="900" dirty="0">
                <a:solidFill>
                  <a:srgbClr val="808080"/>
                </a:solidFill>
                <a:latin typeface="Cascadia Mono" panose="020B0609020000020004" pitchFamily="49" charset="0"/>
              </a:rPr>
              <a:t>(</a:t>
            </a:r>
            <a:r>
              <a:rPr lang="en-IN" sz="900" dirty="0">
                <a:solidFill>
                  <a:srgbClr val="FF00FF"/>
                </a:solidFill>
                <a:latin typeface="Cascadia Mono" panose="020B0609020000020004" pitchFamily="49" charset="0"/>
              </a:rPr>
              <a:t>Max</a:t>
            </a:r>
            <a:r>
              <a:rPr lang="en-IN" sz="900" dirty="0">
                <a:solidFill>
                  <a:srgbClr val="808080"/>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@psalary    </a:t>
            </a:r>
            <a:r>
              <a:rPr lang="en-IN" sz="900" dirty="0">
                <a:solidFill>
                  <a:srgbClr val="0000FF"/>
                </a:solidFill>
                <a:latin typeface="Cascadia Mono" panose="020B0609020000020004" pitchFamily="49" charset="0"/>
              </a:rPr>
              <a:t>float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FF"/>
                </a:solidFill>
                <a:latin typeface="Cascadia Mono" panose="020B0609020000020004" pitchFamily="49" charset="0"/>
              </a:rPr>
              <a:t>AS</a:t>
            </a:r>
            <a:r>
              <a:rPr lang="en-IN" sz="900" dirty="0">
                <a:solidFill>
                  <a:srgbClr val="000000"/>
                </a:solidFill>
                <a:latin typeface="Cascadia Mono" panose="020B0609020000020004" pitchFamily="49" charset="0"/>
              </a:rPr>
              <a:t> </a:t>
            </a:r>
          </a:p>
          <a:p>
            <a:r>
              <a:rPr lang="en-IN" sz="900" dirty="0">
                <a:solidFill>
                  <a:srgbClr val="0000FF"/>
                </a:solidFill>
                <a:latin typeface="Cascadia Mono" panose="020B0609020000020004" pitchFamily="49" charset="0"/>
              </a:rPr>
              <a:t>BEGIN</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INSERT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INTO</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dbo</a:t>
            </a:r>
            <a:r>
              <a:rPr lang="en-US" sz="900" dirty="0" err="1">
                <a:solidFill>
                  <a:srgbClr val="808080"/>
                </a:solidFill>
                <a:latin typeface="Cascadia Mono" panose="020B0609020000020004" pitchFamily="49" charset="0"/>
              </a:rPr>
              <a:t>.</a:t>
            </a:r>
            <a:r>
              <a:rPr lang="en-US" sz="900" dirty="0" err="1">
                <a:solidFill>
                  <a:srgbClr val="000000"/>
                </a:solidFill>
                <a:latin typeface="Cascadia Mono" panose="020B0609020000020004" pitchFamily="49" charset="0"/>
              </a:rPr>
              <a:t>Employees</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Id</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Name</a:t>
            </a:r>
            <a:r>
              <a:rPr lang="en-US" sz="900" dirty="0">
                <a:solidFill>
                  <a:srgbClr val="000000"/>
                </a:solidFill>
                <a:latin typeface="Cascadia Mono" panose="020B0609020000020004" pitchFamily="49" charset="0"/>
              </a:rPr>
              <a:t> </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Salary</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VALUES </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@id</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@pname </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@psalary  </a:t>
            </a:r>
            <a:r>
              <a:rPr lang="en-US" sz="900" dirty="0">
                <a:solidFill>
                  <a:srgbClr val="80808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End</a:t>
            </a:r>
            <a:endParaRPr lang="en-IN" sz="800" dirty="0"/>
          </a:p>
        </p:txBody>
      </p:sp>
      <p:graphicFrame>
        <p:nvGraphicFramePr>
          <p:cNvPr id="3" name="Table 2"/>
          <p:cNvGraphicFramePr>
            <a:graphicFrameLocks noGrp="1"/>
          </p:cNvGraphicFramePr>
          <p:nvPr>
            <p:extLst>
              <p:ext uri="{D42A27DB-BD31-4B8C-83A1-F6EECF244321}">
                <p14:modId xmlns:p14="http://schemas.microsoft.com/office/powerpoint/2010/main" val="4293687240"/>
              </p:ext>
            </p:extLst>
          </p:nvPr>
        </p:nvGraphicFramePr>
        <p:xfrm>
          <a:off x="5676900" y="3181370"/>
          <a:ext cx="1725930" cy="1187026"/>
        </p:xfrm>
        <a:graphic>
          <a:graphicData uri="http://schemas.openxmlformats.org/drawingml/2006/table">
            <a:tbl>
              <a:tblPr firstRow="1" firstCol="1" bandRow="1"/>
              <a:tblGrid>
                <a:gridCol w="1725930">
                  <a:extLst>
                    <a:ext uri="{9D8B030D-6E8A-4147-A177-3AD203B41FA5}">
                      <a16:colId xmlns:a16="http://schemas.microsoft.com/office/drawing/2014/main" val="20000"/>
                    </a:ext>
                  </a:extLst>
                </a:gridCol>
              </a:tblGrid>
              <a:tr h="309922">
                <a:tc>
                  <a:txBody>
                    <a:bodyPr/>
                    <a:lstStyle/>
                    <a:p>
                      <a:pPr>
                        <a:lnSpc>
                          <a:spcPct val="107000"/>
                        </a:lnSpc>
                        <a:spcAft>
                          <a:spcPts val="0"/>
                        </a:spcAft>
                      </a:pPr>
                      <a:r>
                        <a:rPr lang="en-IN" sz="11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SqlParametercollection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92368">
                <a:tc>
                  <a:txBody>
                    <a:bodyPr/>
                    <a:lstStyle/>
                    <a:p>
                      <a:pPr>
                        <a:lnSpc>
                          <a:spcPct val="107000"/>
                        </a:lnSpc>
                        <a:spcAft>
                          <a:spcPts val="0"/>
                        </a:spcAft>
                      </a:pPr>
                      <a:r>
                        <a:rPr lang="en-IN" sz="1100" b="1">
                          <a:effectLst/>
                          <a:latin typeface="Calibri" panose="020F0502020204030204" pitchFamily="34" charset="0"/>
                          <a:ea typeface="Calibri" panose="020F0502020204030204" pitchFamily="34" charset="0"/>
                          <a:cs typeface="Times New Roman" panose="02020603050405020304" pitchFamily="18" charset="0"/>
                        </a:rPr>
                        <a:t>@Id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F4B083"/>
                      </a:solidFill>
                      <a:prstDash val="solid"/>
                      <a:round/>
                      <a:headEnd type="none" w="med" len="med"/>
                      <a:tailEnd type="none" w="med" len="med"/>
                    </a:lnB>
                    <a:solidFill>
                      <a:srgbClr val="FBE4D5"/>
                    </a:solidFill>
                  </a:tcPr>
                </a:tc>
                <a:extLst>
                  <a:ext uri="{0D108BD9-81ED-4DB2-BD59-A6C34878D82A}">
                    <a16:rowId xmlns:a16="http://schemas.microsoft.com/office/drawing/2014/main" val="10001"/>
                  </a:ext>
                </a:extLst>
              </a:tr>
              <a:tr h="292368">
                <a:tc>
                  <a:txBody>
                    <a:bodyPr/>
                    <a:lstStyle/>
                    <a:p>
                      <a:pPr>
                        <a:lnSpc>
                          <a:spcPct val="107000"/>
                        </a:lnSpc>
                        <a:spcAft>
                          <a:spcPts val="0"/>
                        </a:spcAft>
                      </a:pPr>
                      <a:r>
                        <a:rPr lang="en-IN" sz="1100" b="1">
                          <a:effectLst/>
                          <a:latin typeface="Calibri" panose="020F0502020204030204" pitchFamily="34" charset="0"/>
                          <a:ea typeface="Calibri" panose="020F0502020204030204" pitchFamily="34" charset="0"/>
                          <a:cs typeface="Times New Roman" panose="02020603050405020304" pitchFamily="18" charset="0"/>
                        </a:rPr>
                        <a:t>@pname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4B083"/>
                      </a:solidFill>
                      <a:prstDash val="solid"/>
                      <a:round/>
                      <a:headEnd type="none" w="med" len="med"/>
                      <a:tailEnd type="none" w="med" len="med"/>
                    </a:lnT>
                    <a:lnB w="12700" cap="flat" cmpd="sng" algn="ctr">
                      <a:solidFill>
                        <a:srgbClr val="F4B083"/>
                      </a:solidFill>
                      <a:prstDash val="solid"/>
                      <a:round/>
                      <a:headEnd type="none" w="med" len="med"/>
                      <a:tailEnd type="none" w="med" len="med"/>
                    </a:lnB>
                  </a:tcPr>
                </a:tc>
                <a:extLst>
                  <a:ext uri="{0D108BD9-81ED-4DB2-BD59-A6C34878D82A}">
                    <a16:rowId xmlns:a16="http://schemas.microsoft.com/office/drawing/2014/main" val="10002"/>
                  </a:ext>
                </a:extLst>
              </a:tr>
              <a:tr h="292368">
                <a:tc>
                  <a:txBody>
                    <a:bodyPr/>
                    <a:lstStyle/>
                    <a:p>
                      <a:pPr>
                        <a:lnSpc>
                          <a:spcPct val="107000"/>
                        </a:lnSpc>
                        <a:spcAft>
                          <a:spcPts val="0"/>
                        </a:spcAft>
                      </a:pPr>
                      <a:r>
                        <a:rPr lang="en-IN" sz="1100" b="1" dirty="0">
                          <a:effectLst/>
                          <a:latin typeface="Calibri" panose="020F0502020204030204" pitchFamily="34" charset="0"/>
                          <a:ea typeface="Calibri" panose="020F0502020204030204" pitchFamily="34" charset="0"/>
                          <a:cs typeface="Times New Roman" panose="02020603050405020304" pitchFamily="18" charset="0"/>
                        </a:rPr>
                        <a:t>@</a:t>
                      </a:r>
                      <a:r>
                        <a:rPr lang="en-IN" sz="1100" b="1" dirty="0" err="1">
                          <a:effectLst/>
                          <a:latin typeface="Calibri" panose="020F0502020204030204" pitchFamily="34" charset="0"/>
                          <a:ea typeface="Calibri" panose="020F0502020204030204" pitchFamily="34" charset="0"/>
                          <a:cs typeface="Times New Roman" panose="02020603050405020304" pitchFamily="18" charset="0"/>
                        </a:rPr>
                        <a:t>psalary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4B083"/>
                      </a:solidFill>
                      <a:prstDash val="solid"/>
                      <a:round/>
                      <a:headEnd type="none" w="med" len="med"/>
                      <a:tailEnd type="none" w="med" len="med"/>
                    </a:lnT>
                    <a:lnB w="12700" cap="flat" cmpd="sng" algn="ctr">
                      <a:solidFill>
                        <a:srgbClr val="F4B083"/>
                      </a:solidFill>
                      <a:prstDash val="solid"/>
                      <a:round/>
                      <a:headEnd type="none" w="med" len="med"/>
                      <a:tailEnd type="none" w="med" len="med"/>
                    </a:lnB>
                    <a:solidFill>
                      <a:srgbClr val="FBE4D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67542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ECC147-B8C1-A70E-1D50-CF8725E27288}"/>
              </a:ext>
            </a:extLst>
          </p:cNvPr>
          <p:cNvSpPr txBox="1"/>
          <p:nvPr/>
        </p:nvSpPr>
        <p:spPr>
          <a:xfrm>
            <a:off x="609600" y="685800"/>
            <a:ext cx="7620000" cy="5355312"/>
          </a:xfrm>
          <a:prstGeom prst="rect">
            <a:avLst/>
          </a:prstGeom>
          <a:noFill/>
        </p:spPr>
        <p:txBody>
          <a:bodyPr wrap="square">
            <a:spAutoFit/>
          </a:bodyPr>
          <a:lstStyle/>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Product search(</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Product p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getconnection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sqlconn.Open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"select * from Product where id=@pid"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sqlcmd.Parameters.AddWithValue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pid</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SqlDataReader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sqlcmd.ExecuteReader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rd.HasRows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while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rd.Read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t>
            </a:r>
            <a:r>
              <a:rPr lang="en-US" sz="900" dirty="0" err="1">
                <a:solidFill>
                  <a:srgbClr val="008000"/>
                </a:solidFill>
                <a:latin typeface="Cascadia Mono" panose="020B0609020000020004" pitchFamily="49" charset="0"/>
              </a:rPr>
              <a:t>int.TryParse</a:t>
            </a:r>
            <a:r>
              <a:rPr lang="en-US" sz="900" dirty="0">
                <a:solidFill>
                  <a:srgbClr val="008000"/>
                </a:solidFill>
                <a:latin typeface="Cascadia Mono" panose="020B0609020000020004" pitchFamily="49" charset="0"/>
              </a:rPr>
              <a:t>("</a:t>
            </a:r>
            <a:r>
              <a:rPr lang="en-US" sz="900" dirty="0" err="1">
                <a:solidFill>
                  <a:srgbClr val="008000"/>
                </a:solidFill>
                <a:latin typeface="Cascadia Mono" panose="020B0609020000020004" pitchFamily="49" charset="0"/>
              </a:rPr>
              <a:t>rd</a:t>
            </a:r>
            <a:r>
              <a:rPr lang="en-US" sz="900" dirty="0">
                <a:solidFill>
                  <a:srgbClr val="008000"/>
                </a:solidFill>
                <a:latin typeface="Cascadia Mono" panose="020B0609020000020004" pitchFamily="49" charset="0"/>
              </a:rPr>
              <a:t>[Id"]", out r) ;</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p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Employee();</a:t>
            </a:r>
          </a:p>
          <a:p>
            <a:r>
              <a:rPr lang="en-US" sz="900" dirty="0">
                <a:solidFill>
                  <a:srgbClr val="000000"/>
                </a:solidFill>
                <a:latin typeface="Cascadia Mono" panose="020B0609020000020004" pitchFamily="49" charset="0"/>
              </a:rPr>
              <a:t>                        p.ID = Convert.ToInt32(</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p.Name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"Name"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ToString</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p.Salary</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Convert.ToSingle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“Salary"</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break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SqlException</a:t>
            </a:r>
            <a:r>
              <a:rPr lang="en-IN" sz="900" dirty="0">
                <a:solidFill>
                  <a:srgbClr val="000000"/>
                </a:solidFill>
                <a:latin typeface="Cascadia Mono" panose="020B0609020000020004" pitchFamily="49" charset="0"/>
              </a:rPr>
              <a:t> se)</a:t>
            </a:r>
          </a:p>
          <a:p>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se.Message</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finally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sqlconn.Close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p;</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6" name="TextBox 5">
            <a:extLst>
              <a:ext uri="{FF2B5EF4-FFF2-40B4-BE49-F238E27FC236}">
                <a16:creationId xmlns:a16="http://schemas.microsoft.com/office/drawing/2014/main" id="{F0C3B666-A3DC-2D34-F2B9-A84E916A33D1}"/>
              </a:ext>
            </a:extLst>
          </p:cNvPr>
          <p:cNvSpPr txBox="1"/>
          <p:nvPr/>
        </p:nvSpPr>
        <p:spPr>
          <a:xfrm>
            <a:off x="2286000" y="152400"/>
            <a:ext cx="4800600" cy="369332"/>
          </a:xfrm>
          <a:prstGeom prst="rect">
            <a:avLst/>
          </a:prstGeom>
          <a:noFill/>
        </p:spPr>
        <p:txBody>
          <a:bodyPr wrap="square" rtlCol="0">
            <a:spAutoFit/>
          </a:bodyPr>
          <a:lstStyle/>
          <a:p>
            <a:r>
              <a:rPr lang="en-IN" dirty="0"/>
              <a:t>Search Overload Method[int ID]</a:t>
            </a:r>
          </a:p>
        </p:txBody>
      </p:sp>
    </p:spTree>
    <p:extLst>
      <p:ext uri="{BB962C8B-B14F-4D97-AF65-F5344CB8AC3E}">
        <p14:creationId xmlns:p14="http://schemas.microsoft.com/office/powerpoint/2010/main" val="1470275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4D28BC-FEAE-4B62-F817-5C81F3BC6CEE}"/>
              </a:ext>
            </a:extLst>
          </p:cNvPr>
          <p:cNvSpPr txBox="1"/>
          <p:nvPr/>
        </p:nvSpPr>
        <p:spPr>
          <a:xfrm>
            <a:off x="381000" y="751344"/>
            <a:ext cx="6096000" cy="5078313"/>
          </a:xfrm>
          <a:prstGeom prst="rect">
            <a:avLst/>
          </a:prstGeom>
          <a:noFill/>
        </p:spPr>
        <p:txBody>
          <a:bodyPr wrap="square">
            <a:spAutoFit/>
          </a:bodyPr>
          <a:lstStyle/>
          <a:p>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List&lt;Product&gt; search(</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name)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List&lt;Product&gt; pl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getconnection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sqlconn.Open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sqlcmd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"select * from Product where name=@pid"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sqlcmd.Parameters.AddWithValue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pid</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name);</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SqlDataReader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sqlcmd.ExecuteReader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rd.HasRows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pl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List&lt;Product&gt;();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while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rd.Read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p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Employee();</a:t>
            </a:r>
          </a:p>
          <a:p>
            <a:r>
              <a:rPr lang="en-US" sz="900" dirty="0">
                <a:solidFill>
                  <a:srgbClr val="000000"/>
                </a:solidFill>
                <a:latin typeface="Cascadia Mono" panose="020B0609020000020004" pitchFamily="49" charset="0"/>
              </a:rPr>
              <a:t>                        p.ID = Convert.ToInt32(</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p.Name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"Name"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ToString</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p.Salary</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Convert.ToSingle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“Salary"</a:t>
            </a:r>
            <a:r>
              <a:rPr lang="en-US"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pl.Add</a:t>
            </a:r>
            <a:r>
              <a:rPr lang="en-IN" sz="900" dirty="0">
                <a:solidFill>
                  <a:srgbClr val="000000"/>
                </a:solidFill>
                <a:latin typeface="Cascadia Mono" panose="020B0609020000020004" pitchFamily="49" charset="0"/>
              </a:rPr>
              <a:t>(p);</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SqlException</a:t>
            </a:r>
            <a:r>
              <a:rPr lang="en-IN" sz="900" dirty="0">
                <a:solidFill>
                  <a:srgbClr val="000000"/>
                </a:solidFill>
                <a:latin typeface="Cascadia Mono" panose="020B0609020000020004" pitchFamily="49" charset="0"/>
              </a:rPr>
              <a:t> se)</a:t>
            </a:r>
          </a:p>
          <a:p>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se.Message</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finally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sqlconn.Close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pl;</a:t>
            </a:r>
          </a:p>
          <a:p>
            <a:r>
              <a:rPr lang="en-IN" sz="900" dirty="0">
                <a:solidFill>
                  <a:srgbClr val="000000"/>
                </a:solidFill>
                <a:latin typeface="Cascadia Mono" panose="020B0609020000020004" pitchFamily="49" charset="0"/>
              </a:rPr>
              <a:t>        }</a:t>
            </a:r>
            <a:endParaRPr lang="en-IN" dirty="0"/>
          </a:p>
        </p:txBody>
      </p:sp>
      <p:sp>
        <p:nvSpPr>
          <p:cNvPr id="6" name="TextBox 5">
            <a:extLst>
              <a:ext uri="{FF2B5EF4-FFF2-40B4-BE49-F238E27FC236}">
                <a16:creationId xmlns:a16="http://schemas.microsoft.com/office/drawing/2014/main" id="{1FBB130C-04B8-4E23-CFF1-89C768DF486C}"/>
              </a:ext>
            </a:extLst>
          </p:cNvPr>
          <p:cNvSpPr txBox="1"/>
          <p:nvPr/>
        </p:nvSpPr>
        <p:spPr>
          <a:xfrm>
            <a:off x="2286000" y="152400"/>
            <a:ext cx="4800600" cy="369332"/>
          </a:xfrm>
          <a:prstGeom prst="rect">
            <a:avLst/>
          </a:prstGeom>
          <a:noFill/>
        </p:spPr>
        <p:txBody>
          <a:bodyPr wrap="square" rtlCol="0">
            <a:spAutoFit/>
          </a:bodyPr>
          <a:lstStyle/>
          <a:p>
            <a:r>
              <a:rPr lang="en-IN" dirty="0"/>
              <a:t>Search Overload Method[string name]</a:t>
            </a:r>
          </a:p>
        </p:txBody>
      </p:sp>
      <p:sp>
        <p:nvSpPr>
          <p:cNvPr id="8" name="TextBox 7">
            <a:extLst>
              <a:ext uri="{FF2B5EF4-FFF2-40B4-BE49-F238E27FC236}">
                <a16:creationId xmlns:a16="http://schemas.microsoft.com/office/drawing/2014/main" id="{C4868975-114E-81C8-D5FE-B9A3B965194B}"/>
              </a:ext>
            </a:extLst>
          </p:cNvPr>
          <p:cNvSpPr txBox="1"/>
          <p:nvPr/>
        </p:nvSpPr>
        <p:spPr>
          <a:xfrm>
            <a:off x="5029200" y="4495800"/>
            <a:ext cx="3733800" cy="10618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900" dirty="0">
                <a:solidFill>
                  <a:srgbClr val="0000FF"/>
                </a:solidFill>
                <a:latin typeface="Cascadia Mono" panose="020B0609020000020004" pitchFamily="49" charset="0"/>
              </a:rPr>
              <a:t>From the list returning 1</a:t>
            </a:r>
            <a:r>
              <a:rPr lang="en-US" sz="900" baseline="30000" dirty="0">
                <a:solidFill>
                  <a:srgbClr val="0000FF"/>
                </a:solidFill>
                <a:latin typeface="Cascadia Mono" panose="020B0609020000020004" pitchFamily="49" charset="0"/>
              </a:rPr>
              <a:t>st</a:t>
            </a:r>
            <a:r>
              <a:rPr lang="en-US" sz="900" dirty="0">
                <a:solidFill>
                  <a:srgbClr val="0000FF"/>
                </a:solidFill>
                <a:latin typeface="Cascadia Mono" panose="020B0609020000020004" pitchFamily="49" charset="0"/>
              </a:rPr>
              <a:t> record</a:t>
            </a:r>
          </a:p>
          <a:p>
            <a:endParaRPr lang="en-US" sz="900" dirty="0">
              <a:solidFill>
                <a:srgbClr val="0000FF"/>
              </a:solidFill>
              <a:latin typeface="Cascadia Mono" panose="020B0609020000020004" pitchFamily="49" charset="0"/>
            </a:endParaRPr>
          </a:p>
          <a:p>
            <a:endParaRPr lang="en-US" sz="900" dirty="0">
              <a:solidFill>
                <a:srgbClr val="0000FF"/>
              </a:solidFill>
              <a:latin typeface="Cascadia Mono" panose="020B0609020000020004" pitchFamily="49" charset="0"/>
            </a:endParaRPr>
          </a:p>
          <a:p>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Product search(</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name)</a:t>
            </a:r>
          </a:p>
          <a:p>
            <a:r>
              <a:rPr lang="en-IN" sz="900" dirty="0">
                <a:solidFill>
                  <a:srgbClr val="000000"/>
                </a:solidFill>
                <a:latin typeface="Cascadia Mono" panose="020B0609020000020004" pitchFamily="49" charset="0"/>
              </a:rPr>
              <a:t>        {</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Product one= </a:t>
            </a:r>
            <a:r>
              <a:rPr lang="en-US" sz="900" dirty="0" err="1">
                <a:solidFill>
                  <a:srgbClr val="000000"/>
                </a:solidFill>
                <a:latin typeface="Cascadia Mono" panose="020B0609020000020004" pitchFamily="49" charset="0"/>
              </a:rPr>
              <a:t>pl.Select</a:t>
            </a:r>
            <a:r>
              <a:rPr lang="en-US" sz="900" dirty="0">
                <a:solidFill>
                  <a:srgbClr val="000000"/>
                </a:solidFill>
                <a:latin typeface="Cascadia Mono" panose="020B0609020000020004" pitchFamily="49" charset="0"/>
              </a:rPr>
              <a:t> (data=&gt;data).First();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one;</a:t>
            </a:r>
            <a:endParaRPr lang="en-IN" dirty="0"/>
          </a:p>
        </p:txBody>
      </p:sp>
    </p:spTree>
    <p:extLst>
      <p:ext uri="{BB962C8B-B14F-4D97-AF65-F5344CB8AC3E}">
        <p14:creationId xmlns:p14="http://schemas.microsoft.com/office/powerpoint/2010/main" val="14043184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3365FE-BCA6-4D7E-1DD6-E537FEA4916C}"/>
              </a:ext>
            </a:extLst>
          </p:cNvPr>
          <p:cNvSpPr txBox="1"/>
          <p:nvPr/>
        </p:nvSpPr>
        <p:spPr>
          <a:xfrm>
            <a:off x="457200" y="1066800"/>
            <a:ext cx="8305800" cy="4154984"/>
          </a:xfrm>
          <a:prstGeom prst="rect">
            <a:avLst/>
          </a:prstGeom>
          <a:noFill/>
        </p:spPr>
        <p:txBody>
          <a:bodyPr wrap="square">
            <a:spAutoFit/>
          </a:bodyPr>
          <a:lstStyle/>
          <a:p>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Del(</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SqlConnection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sqlconn</a:t>
            </a: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null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SqlCommand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sqlcmd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no = 0;</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sqlconn</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getconnection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try</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sqlconn.Open</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sqlcmd</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SqlCommand</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"delete from Employee where id=@pid"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sqlconn</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sqlcmd.Parameters.AddWithValue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a:t>
            </a:r>
            <a:r>
              <a:rPr lang="en-IN" sz="1200" dirty="0" err="1">
                <a:solidFill>
                  <a:srgbClr val="A31515"/>
                </a:solidFill>
                <a:latin typeface="Cascadia Mono" panose="020B0609020000020004" pitchFamily="49" charset="0"/>
              </a:rPr>
              <a:t>pid</a:t>
            </a:r>
            <a:r>
              <a:rPr lang="en-IN" sz="1200" dirty="0">
                <a:solidFill>
                  <a:srgbClr val="A31515"/>
                </a:solidFill>
                <a:latin typeface="Cascadia Mono" panose="020B0609020000020004" pitchFamily="49" charset="0"/>
              </a:rPr>
              <a: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no = </a:t>
            </a:r>
            <a:r>
              <a:rPr lang="en-IN" sz="1200" dirty="0" err="1">
                <a:solidFill>
                  <a:srgbClr val="000000"/>
                </a:solidFill>
                <a:latin typeface="Cascadia Mono" panose="020B0609020000020004" pitchFamily="49" charset="0"/>
              </a:rPr>
              <a:t>sqlcmd.ExecuteNonQuery</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catch</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SqlException</a:t>
            </a:r>
            <a:r>
              <a:rPr lang="en-IN" sz="1200" dirty="0">
                <a:solidFill>
                  <a:srgbClr val="000000"/>
                </a:solidFill>
                <a:latin typeface="Cascadia Mono" panose="020B0609020000020004" pitchFamily="49" charset="0"/>
              </a:rPr>
              <a:t> se)</a:t>
            </a:r>
          </a:p>
          <a:p>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se.Message</a:t>
            </a:r>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no;</a:t>
            </a:r>
          </a:p>
          <a:p>
            <a:r>
              <a:rPr lang="en-IN" sz="1200" dirty="0">
                <a:solidFill>
                  <a:srgbClr val="000000"/>
                </a:solidFill>
                <a:latin typeface="Cascadia Mono" panose="020B0609020000020004" pitchFamily="49" charset="0"/>
              </a:rPr>
              <a:t>        }</a:t>
            </a:r>
            <a:endParaRPr lang="en-IN" sz="3200" dirty="0"/>
          </a:p>
        </p:txBody>
      </p:sp>
    </p:spTree>
    <p:extLst>
      <p:ext uri="{BB962C8B-B14F-4D97-AF65-F5344CB8AC3E}">
        <p14:creationId xmlns:p14="http://schemas.microsoft.com/office/powerpoint/2010/main" val="375468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79512-23F1-A111-7BE7-8E176C6DDF86}"/>
              </a:ext>
            </a:extLst>
          </p:cNvPr>
          <p:cNvSpPr>
            <a:spLocks noGrp="1"/>
          </p:cNvSpPr>
          <p:nvPr>
            <p:ph type="title"/>
          </p:nvPr>
        </p:nvSpPr>
        <p:spPr>
          <a:xfrm>
            <a:off x="1066800" y="274638"/>
            <a:ext cx="7620000" cy="563562"/>
          </a:xfrm>
        </p:spPr>
        <p:txBody>
          <a:bodyPr>
            <a:normAutofit fontScale="90000"/>
          </a:bodyPr>
          <a:lstStyle/>
          <a:p>
            <a:r>
              <a:rPr lang="en-US" dirty="0"/>
              <a:t>TASK</a:t>
            </a:r>
            <a:endParaRPr lang="en-IN" dirty="0"/>
          </a:p>
        </p:txBody>
      </p:sp>
      <p:sp>
        <p:nvSpPr>
          <p:cNvPr id="3" name="Content Placeholder 2">
            <a:extLst>
              <a:ext uri="{FF2B5EF4-FFF2-40B4-BE49-F238E27FC236}">
                <a16:creationId xmlns:a16="http://schemas.microsoft.com/office/drawing/2014/main" id="{0F2211D3-E51C-7723-F22E-95EB326BC5CD}"/>
              </a:ext>
            </a:extLst>
          </p:cNvPr>
          <p:cNvSpPr>
            <a:spLocks noGrp="1"/>
          </p:cNvSpPr>
          <p:nvPr>
            <p:ph idx="1"/>
          </p:nvPr>
        </p:nvSpPr>
        <p:spPr>
          <a:xfrm>
            <a:off x="228600" y="847725"/>
            <a:ext cx="8610600" cy="4525963"/>
          </a:xfrm>
        </p:spPr>
        <p:txBody>
          <a:bodyPr>
            <a:normAutofit/>
          </a:bodyPr>
          <a:lstStyle/>
          <a:p>
            <a:r>
              <a:rPr lang="en-US" dirty="0"/>
              <a:t>Create Table Employee with column name</a:t>
            </a:r>
          </a:p>
          <a:p>
            <a:r>
              <a:rPr lang="en-US" dirty="0"/>
              <a:t>Id Name </a:t>
            </a:r>
            <a:r>
              <a:rPr lang="en-US" dirty="0" err="1"/>
              <a:t>Salary</a:t>
            </a:r>
            <a:r>
              <a:rPr lang="en-US" dirty="0" err="1">
                <a:sym typeface="Wingdings" panose="05000000000000000000" pitchFamily="2" charset="2"/>
              </a:rPr>
              <a:t>store</a:t>
            </a:r>
            <a:r>
              <a:rPr lang="en-US" dirty="0">
                <a:sym typeface="Wingdings" panose="05000000000000000000" pitchFamily="2" charset="2"/>
              </a:rPr>
              <a:t> data</a:t>
            </a:r>
          </a:p>
          <a:p>
            <a:r>
              <a:rPr lang="en-US" dirty="0">
                <a:sym typeface="Wingdings" panose="05000000000000000000" pitchFamily="2" charset="2"/>
              </a:rPr>
              <a:t>Write DAL with Following Methods</a:t>
            </a:r>
          </a:p>
          <a:p>
            <a:r>
              <a:rPr lang="en-US" dirty="0">
                <a:sym typeface="Wingdings" panose="05000000000000000000" pitchFamily="2" charset="2"/>
              </a:rPr>
              <a:t>Public Employee Search(int Id)</a:t>
            </a:r>
          </a:p>
          <a:p>
            <a:r>
              <a:rPr lang="en-US" dirty="0">
                <a:sym typeface="Wingdings" panose="05000000000000000000" pitchFamily="2" charset="2"/>
              </a:rPr>
              <a:t>Public List&lt;Employee&gt; Search(String name)</a:t>
            </a:r>
          </a:p>
          <a:p>
            <a:r>
              <a:rPr lang="en-US" dirty="0">
                <a:sym typeface="Wingdings" panose="05000000000000000000" pitchFamily="2" charset="2"/>
              </a:rPr>
              <a:t>Public int </a:t>
            </a:r>
            <a:r>
              <a:rPr lang="en-US" dirty="0" err="1">
                <a:sym typeface="Wingdings" panose="05000000000000000000" pitchFamily="2" charset="2"/>
              </a:rPr>
              <a:t>Deletedata</a:t>
            </a:r>
            <a:r>
              <a:rPr lang="en-US" dirty="0">
                <a:sym typeface="Wingdings" panose="05000000000000000000" pitchFamily="2" charset="2"/>
              </a:rPr>
              <a:t>(int Id)</a:t>
            </a:r>
          </a:p>
          <a:p>
            <a:r>
              <a:rPr lang="en-US" dirty="0">
                <a:sym typeface="Wingdings" panose="05000000000000000000" pitchFamily="2" charset="2"/>
              </a:rPr>
              <a:t>Public int </a:t>
            </a:r>
            <a:r>
              <a:rPr lang="en-US" dirty="0" err="1">
                <a:sym typeface="Wingdings" panose="05000000000000000000" pitchFamily="2" charset="2"/>
              </a:rPr>
              <a:t>Updatedata</a:t>
            </a:r>
            <a:r>
              <a:rPr lang="en-US" dirty="0">
                <a:sym typeface="Wingdings" panose="05000000000000000000" pitchFamily="2" charset="2"/>
              </a:rPr>
              <a:t>(int id ,Employee e)</a:t>
            </a:r>
            <a:endParaRPr lang="en-IN" dirty="0"/>
          </a:p>
          <a:p>
            <a:endParaRPr lang="en-IN" dirty="0"/>
          </a:p>
          <a:p>
            <a:endParaRPr lang="en-IN" dirty="0"/>
          </a:p>
        </p:txBody>
      </p:sp>
    </p:spTree>
    <p:extLst>
      <p:ext uri="{BB962C8B-B14F-4D97-AF65-F5344CB8AC3E}">
        <p14:creationId xmlns:p14="http://schemas.microsoft.com/office/powerpoint/2010/main" val="3562539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8229600" cy="1143000"/>
          </a:xfrm>
        </p:spPr>
        <p:txBody>
          <a:bodyPr/>
          <a:lstStyle/>
          <a:p>
            <a:r>
              <a:rPr lang="en-US" dirty="0"/>
              <a:t>Fast Data Access: The Data Reader</a:t>
            </a:r>
          </a:p>
        </p:txBody>
      </p:sp>
      <p:sp>
        <p:nvSpPr>
          <p:cNvPr id="3" name="Content Placeholder 2"/>
          <p:cNvSpPr>
            <a:spLocks noGrp="1"/>
          </p:cNvSpPr>
          <p:nvPr>
            <p:ph idx="1"/>
          </p:nvPr>
        </p:nvSpPr>
        <p:spPr>
          <a:xfrm>
            <a:off x="457200" y="990600"/>
            <a:ext cx="8229600" cy="4525963"/>
          </a:xfrm>
        </p:spPr>
        <p:txBody>
          <a:bodyPr>
            <a:normAutofit/>
          </a:bodyPr>
          <a:lstStyle/>
          <a:p>
            <a:r>
              <a:rPr lang="en-US" sz="2600" dirty="0">
                <a:latin typeface="+mj-lt"/>
              </a:rPr>
              <a:t>it is also the least capable. You cannot directly instantiate a data reader object — an instance is returned from the appropriate database ’ s command object (such as </a:t>
            </a:r>
            <a:r>
              <a:rPr lang="en-US" sz="2600" dirty="0" err="1">
                <a:latin typeface="+mj-lt"/>
              </a:rPr>
              <a:t>SqlCommand</a:t>
            </a:r>
            <a:r>
              <a:rPr lang="en-US" sz="2600" dirty="0">
                <a:latin typeface="+mj-lt"/>
              </a:rPr>
              <a:t> ) after having called the </a:t>
            </a:r>
            <a:r>
              <a:rPr lang="en-US" sz="2600" dirty="0" err="1">
                <a:latin typeface="+mj-lt"/>
              </a:rPr>
              <a:t>ExecuteReader</a:t>
            </a:r>
            <a:r>
              <a:rPr lang="en-US" sz="2600" dirty="0">
                <a:latin typeface="+mj-lt"/>
              </a:rPr>
              <a:t>() method.</a:t>
            </a:r>
          </a:p>
          <a:p>
            <a:r>
              <a:rPr lang="en-US" sz="2600" dirty="0" err="1">
                <a:latin typeface="+mj-lt"/>
              </a:rPr>
              <a:t>DataReader</a:t>
            </a:r>
            <a:r>
              <a:rPr lang="en-US" sz="2600" dirty="0">
                <a:latin typeface="+mj-lt"/>
              </a:rPr>
              <a:t> is a forward - only “ connected ” cursor. In other words, you can only traverse the records returned in one direction, and the database connection used is kept open until the data reader has been closed</a:t>
            </a:r>
            <a:r>
              <a:rPr lang="en-US" dirty="0"/>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IN" dirty="0"/>
              <a:t>The </a:t>
            </a:r>
            <a:r>
              <a:rPr lang="en-IN" i="1" dirty="0"/>
              <a:t>disconnected layer</a:t>
            </a:r>
            <a:endParaRPr lang="en-IN" dirty="0"/>
          </a:p>
        </p:txBody>
      </p:sp>
      <p:sp>
        <p:nvSpPr>
          <p:cNvPr id="3" name="Content Placeholder 2"/>
          <p:cNvSpPr>
            <a:spLocks noGrp="1"/>
          </p:cNvSpPr>
          <p:nvPr>
            <p:ph idx="1"/>
          </p:nvPr>
        </p:nvSpPr>
        <p:spPr>
          <a:xfrm>
            <a:off x="457200" y="1219200"/>
            <a:ext cx="8229600" cy="4525963"/>
          </a:xfrm>
        </p:spPr>
        <p:txBody>
          <a:bodyPr>
            <a:normAutofit fontScale="92500" lnSpcReduction="10000"/>
          </a:bodyPr>
          <a:lstStyle/>
          <a:p>
            <a:r>
              <a:rPr lang="en-IN" dirty="0">
                <a:latin typeface="+mj-lt"/>
              </a:rPr>
              <a:t>It allows you to manipulate a set of </a:t>
            </a:r>
            <a:r>
              <a:rPr lang="en-IN" dirty="0" err="1">
                <a:latin typeface="+mj-lt"/>
              </a:rPr>
              <a:t>DataTable</a:t>
            </a:r>
            <a:r>
              <a:rPr lang="en-IN" dirty="0">
                <a:latin typeface="+mj-lt"/>
              </a:rPr>
              <a:t> objects (contained within a </a:t>
            </a:r>
            <a:r>
              <a:rPr lang="en-IN" dirty="0" err="1">
                <a:latin typeface="+mj-lt"/>
              </a:rPr>
              <a:t>DataSet</a:t>
            </a:r>
            <a:r>
              <a:rPr lang="en-IN" dirty="0">
                <a:latin typeface="+mj-lt"/>
              </a:rPr>
              <a:t>) that functions as a client-side copy of the external data. When you obtain a </a:t>
            </a:r>
            <a:r>
              <a:rPr lang="en-IN" dirty="0" err="1">
                <a:latin typeface="+mj-lt"/>
              </a:rPr>
              <a:t>DataSet</a:t>
            </a:r>
            <a:r>
              <a:rPr lang="en-IN" dirty="0">
                <a:latin typeface="+mj-lt"/>
              </a:rPr>
              <a:t> using a related </a:t>
            </a:r>
            <a:r>
              <a:rPr lang="en-IN" b="1" dirty="0">
                <a:latin typeface="+mj-lt"/>
              </a:rPr>
              <a:t>data adapter </a:t>
            </a:r>
            <a:r>
              <a:rPr lang="en-IN" dirty="0">
                <a:latin typeface="+mj-lt"/>
              </a:rPr>
              <a:t>object, the connection is automatically opened and closed on your behalf.</a:t>
            </a:r>
          </a:p>
          <a:p>
            <a:r>
              <a:rPr lang="en-IN" dirty="0">
                <a:latin typeface="+mj-lt"/>
              </a:rPr>
              <a:t>As you would guess, this approach helps free up connections for other callers quickly and goes a long way toward increasing the scalability of your systems</a:t>
            </a:r>
          </a:p>
        </p:txBody>
      </p:sp>
    </p:spTree>
    <p:extLst>
      <p:ext uri="{BB962C8B-B14F-4D97-AF65-F5344CB8AC3E}">
        <p14:creationId xmlns:p14="http://schemas.microsoft.com/office/powerpoint/2010/main" val="1145551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t>Entity Framework</a:t>
            </a:r>
            <a:endParaRPr lang="en-IN" dirty="0"/>
          </a:p>
        </p:txBody>
      </p:sp>
      <p:sp>
        <p:nvSpPr>
          <p:cNvPr id="3" name="Content Placeholder 2"/>
          <p:cNvSpPr>
            <a:spLocks noGrp="1"/>
          </p:cNvSpPr>
          <p:nvPr>
            <p:ph idx="1"/>
          </p:nvPr>
        </p:nvSpPr>
        <p:spPr/>
        <p:txBody>
          <a:bodyPr>
            <a:normAutofit/>
          </a:bodyPr>
          <a:lstStyle/>
          <a:p>
            <a:r>
              <a:rPr lang="en-IN" dirty="0">
                <a:latin typeface="+mj-lt"/>
              </a:rPr>
              <a:t>Using EF, you are able to interact with a relational database using client-side objects that encapsulate a number of low-level database specifics from view. </a:t>
            </a:r>
          </a:p>
          <a:p>
            <a:r>
              <a:rPr lang="en-IN" dirty="0">
                <a:latin typeface="+mj-lt"/>
              </a:rPr>
              <a:t>As well, the EF programming model allows you to interact with relational databases using strongly typed LINQ queries, using the grammar of LINQ to Entities.</a:t>
            </a:r>
          </a:p>
        </p:txBody>
      </p:sp>
    </p:spTree>
    <p:extLst>
      <p:ext uri="{BB962C8B-B14F-4D97-AF65-F5344CB8AC3E}">
        <p14:creationId xmlns:p14="http://schemas.microsoft.com/office/powerpoint/2010/main" val="2565798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ADO.NET ships with four database client namespaces: </a:t>
            </a:r>
            <a:br>
              <a:rPr lang="en-US" dirty="0"/>
            </a:br>
            <a:endParaRPr lang="en-US" dirty="0"/>
          </a:p>
        </p:txBody>
      </p:sp>
      <p:sp>
        <p:nvSpPr>
          <p:cNvPr id="3" name="Content Placeholder 2"/>
          <p:cNvSpPr>
            <a:spLocks noGrp="1"/>
          </p:cNvSpPr>
          <p:nvPr>
            <p:ph idx="1"/>
          </p:nvPr>
        </p:nvSpPr>
        <p:spPr/>
        <p:txBody>
          <a:bodyPr>
            <a:normAutofit/>
          </a:bodyPr>
          <a:lstStyle/>
          <a:p>
            <a:r>
              <a:rPr lang="en-US" dirty="0"/>
              <a:t>SQL Server, </a:t>
            </a:r>
          </a:p>
          <a:p>
            <a:r>
              <a:rPr lang="en-US" dirty="0"/>
              <a:t> Oracle,</a:t>
            </a:r>
          </a:p>
          <a:p>
            <a:r>
              <a:rPr lang="en-US" dirty="0"/>
              <a:t> ODBC data sources,</a:t>
            </a:r>
          </a:p>
          <a:p>
            <a:r>
              <a:rPr lang="en-US" dirty="0"/>
              <a:t>any database exposed through OLE DB. </a:t>
            </a:r>
          </a:p>
          <a:p>
            <a:r>
              <a:rPr lang="en-US" dirty="0"/>
              <a:t>If your database of choice is not SQL Server or Oracle, use the OLE DB route unless you have no other choice than to use ODBC</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Namespaces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8600" y="1828800"/>
            <a:ext cx="8605129" cy="4294981"/>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Shared Classes</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76200" y="1524000"/>
            <a:ext cx="8860247" cy="47244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28600" y="228600"/>
            <a:ext cx="9067485" cy="66294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36D2E1-4B08-FB61-3501-3685256C95CE}"/>
              </a:ext>
            </a:extLst>
          </p:cNvPr>
          <p:cNvSpPr txBox="1"/>
          <p:nvPr/>
        </p:nvSpPr>
        <p:spPr>
          <a:xfrm>
            <a:off x="2438400" y="152400"/>
            <a:ext cx="2743200" cy="369332"/>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MarshalByRefObject</a:t>
            </a:r>
            <a:endParaRPr lang="en-IN" dirty="0"/>
          </a:p>
        </p:txBody>
      </p:sp>
      <p:sp>
        <p:nvSpPr>
          <p:cNvPr id="7" name="TextBox 6">
            <a:extLst>
              <a:ext uri="{FF2B5EF4-FFF2-40B4-BE49-F238E27FC236}">
                <a16:creationId xmlns:a16="http://schemas.microsoft.com/office/drawing/2014/main" id="{6B402E3D-EC82-1121-6BE4-D568534816F1}"/>
              </a:ext>
            </a:extLst>
          </p:cNvPr>
          <p:cNvSpPr txBox="1"/>
          <p:nvPr/>
        </p:nvSpPr>
        <p:spPr>
          <a:xfrm>
            <a:off x="3048000" y="721667"/>
            <a:ext cx="2362200" cy="276999"/>
          </a:xfrm>
          <a:prstGeom prst="rect">
            <a:avLst/>
          </a:prstGeom>
          <a:noFill/>
        </p:spPr>
        <p:txBody>
          <a:bodyPr wrap="square">
            <a:spAutoFit/>
          </a:bodyPr>
          <a:lstStyle/>
          <a:p>
            <a:r>
              <a:rPr lang="en-IN" sz="1200" dirty="0">
                <a:solidFill>
                  <a:srgbClr val="2B91AF"/>
                </a:solidFill>
                <a:latin typeface="Cascadia Mono" panose="020B0609020000020004" pitchFamily="49" charset="0"/>
              </a:rPr>
              <a:t>Component</a:t>
            </a:r>
            <a:r>
              <a:rPr lang="en-IN" sz="1200" dirty="0">
                <a:solidFill>
                  <a:srgbClr val="000000"/>
                </a:solidFill>
                <a:latin typeface="Cascadia Mono" panose="020B0609020000020004" pitchFamily="49" charset="0"/>
              </a:rPr>
              <a:t> </a:t>
            </a:r>
            <a:endParaRPr lang="en-IN" sz="3200" dirty="0"/>
          </a:p>
        </p:txBody>
      </p:sp>
      <p:sp>
        <p:nvSpPr>
          <p:cNvPr id="9" name="TextBox 8">
            <a:extLst>
              <a:ext uri="{FF2B5EF4-FFF2-40B4-BE49-F238E27FC236}">
                <a16:creationId xmlns:a16="http://schemas.microsoft.com/office/drawing/2014/main" id="{64266BB8-4B87-EA50-6E93-89AFFB22FCBF}"/>
              </a:ext>
            </a:extLst>
          </p:cNvPr>
          <p:cNvSpPr txBox="1"/>
          <p:nvPr/>
        </p:nvSpPr>
        <p:spPr>
          <a:xfrm>
            <a:off x="3048000" y="1371600"/>
            <a:ext cx="1600200" cy="307777"/>
          </a:xfrm>
          <a:prstGeom prst="rect">
            <a:avLst/>
          </a:prstGeom>
          <a:noFill/>
        </p:spPr>
        <p:txBody>
          <a:bodyPr wrap="square">
            <a:spAutoFit/>
          </a:bodyPr>
          <a:lstStyle/>
          <a:p>
            <a:r>
              <a:rPr lang="en-IN" sz="1400" dirty="0" err="1">
                <a:solidFill>
                  <a:srgbClr val="2B91AF"/>
                </a:solidFill>
                <a:latin typeface="Cascadia Mono" panose="020B0609020000020004" pitchFamily="49" charset="0"/>
              </a:rPr>
              <a:t>DbCommand</a:t>
            </a:r>
            <a:endParaRPr lang="en-IN" sz="1400" dirty="0"/>
          </a:p>
        </p:txBody>
      </p:sp>
      <p:sp>
        <p:nvSpPr>
          <p:cNvPr id="11" name="TextBox 10">
            <a:extLst>
              <a:ext uri="{FF2B5EF4-FFF2-40B4-BE49-F238E27FC236}">
                <a16:creationId xmlns:a16="http://schemas.microsoft.com/office/drawing/2014/main" id="{AC517B7D-554E-4E6B-DAAD-09A95E3B351E}"/>
              </a:ext>
            </a:extLst>
          </p:cNvPr>
          <p:cNvSpPr txBox="1"/>
          <p:nvPr/>
        </p:nvSpPr>
        <p:spPr>
          <a:xfrm>
            <a:off x="228600" y="1867645"/>
            <a:ext cx="2209800" cy="369332"/>
          </a:xfrm>
          <a:prstGeom prst="rect">
            <a:avLst/>
          </a:prstGeom>
          <a:noFill/>
        </p:spPr>
        <p:txBody>
          <a:bodyPr wrap="square">
            <a:spAutoFit/>
          </a:bodyPr>
          <a:lstStyle/>
          <a:p>
            <a:r>
              <a:rPr lang="en-IN" sz="1800" dirty="0" err="1">
                <a:solidFill>
                  <a:srgbClr val="2B91AF"/>
                </a:solidFill>
                <a:latin typeface="Cascadia Mono" panose="020B0609020000020004" pitchFamily="49" charset="0"/>
              </a:rPr>
              <a:t>OracleCommand</a:t>
            </a:r>
            <a:endParaRPr lang="en-IN" dirty="0"/>
          </a:p>
        </p:txBody>
      </p:sp>
      <p:sp>
        <p:nvSpPr>
          <p:cNvPr id="17" name="TextBox 16">
            <a:extLst>
              <a:ext uri="{FF2B5EF4-FFF2-40B4-BE49-F238E27FC236}">
                <a16:creationId xmlns:a16="http://schemas.microsoft.com/office/drawing/2014/main" id="{67F63CD4-027C-11CD-8691-5E6165A9C997}"/>
              </a:ext>
            </a:extLst>
          </p:cNvPr>
          <p:cNvSpPr txBox="1"/>
          <p:nvPr/>
        </p:nvSpPr>
        <p:spPr>
          <a:xfrm>
            <a:off x="2112707" y="1860851"/>
            <a:ext cx="1523997" cy="369330"/>
          </a:xfrm>
          <a:prstGeom prst="rect">
            <a:avLst/>
          </a:prstGeom>
          <a:noFill/>
        </p:spPr>
        <p:txBody>
          <a:bodyPr wrap="square">
            <a:spAutoFit/>
          </a:bodyPr>
          <a:lstStyle/>
          <a:p>
            <a:r>
              <a:rPr lang="en-IN" sz="1800" dirty="0" err="1">
                <a:solidFill>
                  <a:srgbClr val="000000"/>
                </a:solidFill>
                <a:latin typeface="Cascadia Mono" panose="020B0609020000020004" pitchFamily="49" charset="0"/>
              </a:rPr>
              <a:t>SqlCommand</a:t>
            </a:r>
            <a:endParaRPr lang="en-IN" dirty="0"/>
          </a:p>
        </p:txBody>
      </p:sp>
      <p:cxnSp>
        <p:nvCxnSpPr>
          <p:cNvPr id="19" name="Straight Arrow Connector 18">
            <a:extLst>
              <a:ext uri="{FF2B5EF4-FFF2-40B4-BE49-F238E27FC236}">
                <a16:creationId xmlns:a16="http://schemas.microsoft.com/office/drawing/2014/main" id="{40C02142-A04C-CD6D-33DA-7E93F34047E1}"/>
              </a:ext>
            </a:extLst>
          </p:cNvPr>
          <p:cNvCxnSpPr/>
          <p:nvPr/>
        </p:nvCxnSpPr>
        <p:spPr>
          <a:xfrm>
            <a:off x="3505200" y="521732"/>
            <a:ext cx="0" cy="338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13BF07D-7497-5A3E-C006-48941C3F2158}"/>
              </a:ext>
            </a:extLst>
          </p:cNvPr>
          <p:cNvCxnSpPr/>
          <p:nvPr/>
        </p:nvCxnSpPr>
        <p:spPr>
          <a:xfrm>
            <a:off x="3505200" y="998666"/>
            <a:ext cx="0" cy="372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770F039-C0E6-52F1-8588-454D9A3959D4}"/>
              </a:ext>
            </a:extLst>
          </p:cNvPr>
          <p:cNvCxnSpPr/>
          <p:nvPr/>
        </p:nvCxnSpPr>
        <p:spPr>
          <a:xfrm>
            <a:off x="1524000" y="1679377"/>
            <a:ext cx="0" cy="372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BF64FCD-213C-E7E9-1FB6-93733F5F4D63}"/>
              </a:ext>
            </a:extLst>
          </p:cNvPr>
          <p:cNvCxnSpPr>
            <a:cxnSpLocks/>
          </p:cNvCxnSpPr>
          <p:nvPr/>
        </p:nvCxnSpPr>
        <p:spPr>
          <a:xfrm>
            <a:off x="2759181" y="1679376"/>
            <a:ext cx="0" cy="301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934A96-4198-D793-0CE4-C09329A544CC}"/>
              </a:ext>
            </a:extLst>
          </p:cNvPr>
          <p:cNvCxnSpPr>
            <a:cxnSpLocks/>
          </p:cNvCxnSpPr>
          <p:nvPr/>
        </p:nvCxnSpPr>
        <p:spPr>
          <a:xfrm>
            <a:off x="1524000" y="1679377"/>
            <a:ext cx="3104535" cy="230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69F1C71-4070-788F-FD02-86CB9B89E94B}"/>
              </a:ext>
            </a:extLst>
          </p:cNvPr>
          <p:cNvCxnSpPr/>
          <p:nvPr/>
        </p:nvCxnSpPr>
        <p:spPr>
          <a:xfrm>
            <a:off x="4038600" y="1782751"/>
            <a:ext cx="0" cy="454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05D5BA0-DB7D-4B54-E546-30A670D7E7CA}"/>
              </a:ext>
            </a:extLst>
          </p:cNvPr>
          <p:cNvCxnSpPr/>
          <p:nvPr/>
        </p:nvCxnSpPr>
        <p:spPr>
          <a:xfrm>
            <a:off x="4628535" y="1702397"/>
            <a:ext cx="0" cy="557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8BD1F48-CAC1-D13F-229B-9434AC269D5D}"/>
              </a:ext>
            </a:extLst>
          </p:cNvPr>
          <p:cNvCxnSpPr>
            <a:cxnSpLocks/>
          </p:cNvCxnSpPr>
          <p:nvPr/>
        </p:nvCxnSpPr>
        <p:spPr>
          <a:xfrm>
            <a:off x="5562600" y="1750831"/>
            <a:ext cx="0" cy="372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64FAA61-D1BB-5509-679A-50241240B766}"/>
              </a:ext>
            </a:extLst>
          </p:cNvPr>
          <p:cNvCxnSpPr>
            <a:cxnSpLocks/>
          </p:cNvCxnSpPr>
          <p:nvPr/>
        </p:nvCxnSpPr>
        <p:spPr>
          <a:xfrm>
            <a:off x="3505200" y="998666"/>
            <a:ext cx="35052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0D7AF65-381E-4156-FF76-74DADAA70E32}"/>
              </a:ext>
            </a:extLst>
          </p:cNvPr>
          <p:cNvSpPr txBox="1"/>
          <p:nvPr/>
        </p:nvSpPr>
        <p:spPr>
          <a:xfrm>
            <a:off x="6018571" y="2063045"/>
            <a:ext cx="1600200" cy="276999"/>
          </a:xfrm>
          <a:prstGeom prst="rect">
            <a:avLst/>
          </a:prstGeom>
          <a:noFill/>
        </p:spPr>
        <p:txBody>
          <a:bodyPr wrap="square">
            <a:spAutoFit/>
          </a:bodyPr>
          <a:lstStyle/>
          <a:p>
            <a:r>
              <a:rPr lang="en-IN" sz="1200" dirty="0" err="1">
                <a:solidFill>
                  <a:srgbClr val="2B91AF"/>
                </a:solidFill>
                <a:latin typeface="Cascadia Mono" panose="020B0609020000020004" pitchFamily="49" charset="0"/>
              </a:rPr>
              <a:t>SqlConnection</a:t>
            </a:r>
            <a:endParaRPr lang="en-IN" sz="1200" dirty="0"/>
          </a:p>
        </p:txBody>
      </p:sp>
      <p:cxnSp>
        <p:nvCxnSpPr>
          <p:cNvPr id="45" name="Straight Arrow Connector 44">
            <a:extLst>
              <a:ext uri="{FF2B5EF4-FFF2-40B4-BE49-F238E27FC236}">
                <a16:creationId xmlns:a16="http://schemas.microsoft.com/office/drawing/2014/main" id="{C12FADBC-934D-1D43-D0C8-6357C2A7BE6E}"/>
              </a:ext>
            </a:extLst>
          </p:cNvPr>
          <p:cNvCxnSpPr/>
          <p:nvPr/>
        </p:nvCxnSpPr>
        <p:spPr>
          <a:xfrm>
            <a:off x="7315200" y="1773213"/>
            <a:ext cx="0" cy="395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2A8AA7C-CB8E-1B22-E662-311D8F06DDE9}"/>
              </a:ext>
            </a:extLst>
          </p:cNvPr>
          <p:cNvCxnSpPr/>
          <p:nvPr/>
        </p:nvCxnSpPr>
        <p:spPr>
          <a:xfrm>
            <a:off x="6722805" y="1794574"/>
            <a:ext cx="0" cy="326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9955366-3104-FF65-2548-BC6F4BAC9CEC}"/>
              </a:ext>
            </a:extLst>
          </p:cNvPr>
          <p:cNvSpPr txBox="1"/>
          <p:nvPr/>
        </p:nvSpPr>
        <p:spPr>
          <a:xfrm>
            <a:off x="5007079" y="1196166"/>
            <a:ext cx="1981198" cy="369332"/>
          </a:xfrm>
          <a:prstGeom prst="rect">
            <a:avLst/>
          </a:prstGeom>
          <a:noFill/>
        </p:spPr>
        <p:txBody>
          <a:bodyPr wrap="square">
            <a:spAutoFit/>
          </a:bodyPr>
          <a:lstStyle/>
          <a:p>
            <a:r>
              <a:rPr lang="en-IN" sz="1800" dirty="0" err="1">
                <a:solidFill>
                  <a:srgbClr val="000000"/>
                </a:solidFill>
                <a:latin typeface="Cascadia Mono" panose="020B0609020000020004" pitchFamily="49" charset="0"/>
              </a:rPr>
              <a:t>DbConnection</a:t>
            </a:r>
            <a:endParaRPr lang="en-IN" dirty="0"/>
          </a:p>
        </p:txBody>
      </p:sp>
      <p:cxnSp>
        <p:nvCxnSpPr>
          <p:cNvPr id="55" name="Straight Arrow Connector 54">
            <a:extLst>
              <a:ext uri="{FF2B5EF4-FFF2-40B4-BE49-F238E27FC236}">
                <a16:creationId xmlns:a16="http://schemas.microsoft.com/office/drawing/2014/main" id="{545678D3-6E16-9CB2-8EC4-BB8C02D6EA25}"/>
              </a:ext>
            </a:extLst>
          </p:cNvPr>
          <p:cNvCxnSpPr/>
          <p:nvPr/>
        </p:nvCxnSpPr>
        <p:spPr>
          <a:xfrm>
            <a:off x="5791200" y="998666"/>
            <a:ext cx="0" cy="27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77A426E-0DA6-B013-E0C4-339F7D97F086}"/>
              </a:ext>
            </a:extLst>
          </p:cNvPr>
          <p:cNvCxnSpPr/>
          <p:nvPr/>
        </p:nvCxnSpPr>
        <p:spPr>
          <a:xfrm flipV="1">
            <a:off x="5562600" y="1773213"/>
            <a:ext cx="1981200" cy="9538"/>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0CEC723-DB5B-4237-2E7E-11218F30A19F}"/>
              </a:ext>
            </a:extLst>
          </p:cNvPr>
          <p:cNvSpPr txBox="1"/>
          <p:nvPr/>
        </p:nvSpPr>
        <p:spPr>
          <a:xfrm>
            <a:off x="4742835" y="2121497"/>
            <a:ext cx="1696066" cy="276999"/>
          </a:xfrm>
          <a:prstGeom prst="rect">
            <a:avLst/>
          </a:prstGeom>
          <a:noFill/>
        </p:spPr>
        <p:txBody>
          <a:bodyPr wrap="square">
            <a:spAutoFit/>
          </a:bodyPr>
          <a:lstStyle/>
          <a:p>
            <a:r>
              <a:rPr lang="en-IN" sz="1200" dirty="0" err="1">
                <a:solidFill>
                  <a:srgbClr val="2B91AF"/>
                </a:solidFill>
                <a:latin typeface="Cascadia Mono" panose="020B0609020000020004" pitchFamily="49" charset="0"/>
              </a:rPr>
              <a:t>OracleConnection</a:t>
            </a:r>
            <a:endParaRPr lang="en-IN" sz="1200" dirty="0"/>
          </a:p>
        </p:txBody>
      </p:sp>
    </p:spTree>
    <p:extLst>
      <p:ext uri="{BB962C8B-B14F-4D97-AF65-F5344CB8AC3E}">
        <p14:creationId xmlns:p14="http://schemas.microsoft.com/office/powerpoint/2010/main" val="31201301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DataSet</a:t>
            </a:r>
            <a:r>
              <a:rPr lang="en-US" dirty="0"/>
              <a:t> Class</a:t>
            </a:r>
          </a:p>
        </p:txBody>
      </p:sp>
      <p:sp>
        <p:nvSpPr>
          <p:cNvPr id="3" name="Content Placeholder 2"/>
          <p:cNvSpPr>
            <a:spLocks noGrp="1"/>
          </p:cNvSpPr>
          <p:nvPr>
            <p:ph idx="1"/>
          </p:nvPr>
        </p:nvSpPr>
        <p:spPr>
          <a:xfrm>
            <a:off x="457200" y="1295400"/>
            <a:ext cx="8229600" cy="4525963"/>
          </a:xfrm>
        </p:spPr>
        <p:txBody>
          <a:bodyPr/>
          <a:lstStyle/>
          <a:p>
            <a:r>
              <a:rPr lang="en-US" dirty="0">
                <a:latin typeface="+mj-lt"/>
              </a:rPr>
              <a:t>A </a:t>
            </a:r>
            <a:r>
              <a:rPr lang="en-US" dirty="0" err="1">
                <a:latin typeface="+mj-lt"/>
              </a:rPr>
              <a:t>DataSet</a:t>
            </a:r>
            <a:r>
              <a:rPr lang="en-US" dirty="0">
                <a:latin typeface="+mj-lt"/>
              </a:rPr>
              <a:t> class consists of a set of data tables, each of which will have a set of data columns and data rows</a:t>
            </a:r>
          </a:p>
        </p:txBody>
      </p:sp>
      <p:pic>
        <p:nvPicPr>
          <p:cNvPr id="2050" name="Picture 2"/>
          <p:cNvPicPr>
            <a:picLocks noChangeAspect="1" noChangeArrowheads="1"/>
          </p:cNvPicPr>
          <p:nvPr/>
        </p:nvPicPr>
        <p:blipFill>
          <a:blip r:embed="rId2"/>
          <a:srcRect/>
          <a:stretch>
            <a:fillRect/>
          </a:stretch>
        </p:blipFill>
        <p:spPr bwMode="auto">
          <a:xfrm>
            <a:off x="1524000" y="2971800"/>
            <a:ext cx="5410200" cy="2619375"/>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Data Tables</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395403" y="2043113"/>
            <a:ext cx="6795972" cy="3595687"/>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5F4E-53FE-4D87-B8D4-8B211EA6B4B2}"/>
              </a:ext>
            </a:extLst>
          </p:cNvPr>
          <p:cNvSpPr>
            <a:spLocks noGrp="1"/>
          </p:cNvSpPr>
          <p:nvPr>
            <p:ph type="title"/>
          </p:nvPr>
        </p:nvSpPr>
        <p:spPr>
          <a:xfrm>
            <a:off x="533400" y="-381000"/>
            <a:ext cx="8229600" cy="1143000"/>
          </a:xfrm>
        </p:spPr>
        <p:txBody>
          <a:bodyPr/>
          <a:lstStyle/>
          <a:p>
            <a:r>
              <a:rPr lang="en-IN" dirty="0"/>
              <a:t>Disconnected Architecture</a:t>
            </a:r>
          </a:p>
        </p:txBody>
      </p:sp>
      <p:sp>
        <p:nvSpPr>
          <p:cNvPr id="3" name="Content Placeholder 2">
            <a:extLst>
              <a:ext uri="{FF2B5EF4-FFF2-40B4-BE49-F238E27FC236}">
                <a16:creationId xmlns:a16="http://schemas.microsoft.com/office/drawing/2014/main" id="{425B650E-F767-44A1-94D9-FF00848D5369}"/>
              </a:ext>
            </a:extLst>
          </p:cNvPr>
          <p:cNvSpPr>
            <a:spLocks noGrp="1"/>
          </p:cNvSpPr>
          <p:nvPr>
            <p:ph idx="1"/>
          </p:nvPr>
        </p:nvSpPr>
        <p:spPr>
          <a:xfrm>
            <a:off x="381000" y="762000"/>
            <a:ext cx="8686800" cy="5791200"/>
          </a:xfrm>
        </p:spPr>
        <p:txBody>
          <a:bodyPr>
            <a:noAutofit/>
          </a:bodyPr>
          <a:lstStyle/>
          <a:p>
            <a:pPr marL="0" indent="0">
              <a:buNone/>
            </a:pPr>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ConsoleAppADONETSTUDENTS.Model</a:t>
            </a:r>
            <a:r>
              <a:rPr lang="en-IN" sz="1050" dirty="0">
                <a:solidFill>
                  <a:srgbClr val="000000"/>
                </a:solidFill>
                <a:latin typeface="Cascadia Mono" panose="020B0609020000020004" pitchFamily="49" charset="0"/>
              </a:rPr>
              <a:t>;</a:t>
            </a:r>
          </a:p>
          <a:p>
            <a:pPr marL="0" indent="0">
              <a:buNone/>
            </a:pPr>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Microsoft.Extensions.Configuration</a:t>
            </a:r>
            <a:r>
              <a:rPr lang="en-IN" sz="1050" dirty="0">
                <a:solidFill>
                  <a:srgbClr val="000000"/>
                </a:solidFill>
                <a:latin typeface="Cascadia Mono" panose="020B0609020000020004" pitchFamily="49" charset="0"/>
              </a:rPr>
              <a:t>;</a:t>
            </a:r>
          </a:p>
          <a:p>
            <a:pPr marL="0" indent="0">
              <a:buNone/>
            </a:pPr>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System.Data.SqlClient</a:t>
            </a:r>
            <a:r>
              <a:rPr lang="en-IN" sz="1050" dirty="0">
                <a:solidFill>
                  <a:srgbClr val="000000"/>
                </a:solidFill>
                <a:latin typeface="Cascadia Mono" panose="020B0609020000020004" pitchFamily="49" charset="0"/>
              </a:rPr>
              <a:t>;</a:t>
            </a:r>
          </a:p>
          <a:p>
            <a:pPr marL="0" indent="0">
              <a:buNone/>
            </a:pPr>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System.Data</a:t>
            </a:r>
            <a:r>
              <a:rPr lang="en-IN" sz="1050" dirty="0">
                <a:solidFill>
                  <a:srgbClr val="000000"/>
                </a:solidFill>
                <a:latin typeface="Cascadia Mono" panose="020B0609020000020004" pitchFamily="49" charset="0"/>
              </a:rPr>
              <a:t>;</a:t>
            </a:r>
          </a:p>
          <a:p>
            <a:pPr marL="0" indent="0">
              <a:buNone/>
            </a:pPr>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ConsoleAppADONETSTUDENTS.DAL</a:t>
            </a:r>
            <a:endParaRPr lang="en-IN" sz="1050" dirty="0">
              <a:solidFill>
                <a:srgbClr val="000000"/>
              </a:solidFill>
              <a:latin typeface="Cascadia Mono" panose="020B0609020000020004" pitchFamily="49" charset="0"/>
            </a:endParaRPr>
          </a:p>
          <a:p>
            <a:pPr marL="0" indent="0">
              <a:buNone/>
            </a:pP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internal</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EmpDAL</a:t>
            </a:r>
            <a:endParaRPr lang="en-IN" sz="1050" dirty="0">
              <a:solidFill>
                <a:srgbClr val="000000"/>
              </a:solidFill>
              <a:latin typeface="Cascadia Mono" panose="020B0609020000020004" pitchFamily="49" charset="0"/>
            </a:endParaRPr>
          </a:p>
          <a:p>
            <a:pPr marL="0" indent="0">
              <a:buNone/>
            </a:pPr>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EmpDAL</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iconfiguration</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          _</a:t>
            </a:r>
            <a:r>
              <a:rPr lang="en-IN" sz="1050" dirty="0" err="1">
                <a:solidFill>
                  <a:srgbClr val="000000"/>
                </a:solidFill>
                <a:latin typeface="Cascadia Mono" panose="020B0609020000020004" pitchFamily="49" charset="0"/>
              </a:rPr>
              <a:t>connectionString</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iconfiguration.GetConnectionString</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"Default"</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p>
          <a:p>
            <a:pPr marL="0" indent="0">
              <a:buNone/>
            </a:pPr>
            <a:r>
              <a:rPr lang="en-US" sz="1050" dirty="0">
                <a:solidFill>
                  <a:srgbClr val="008000"/>
                </a:solidFill>
                <a:latin typeface="Cascadia Mono" panose="020B0609020000020004" pitchFamily="49" charset="0"/>
              </a:rPr>
              <a:t>// Create an instance of </a:t>
            </a:r>
            <a:r>
              <a:rPr lang="en-US" sz="1050" dirty="0" err="1">
                <a:solidFill>
                  <a:srgbClr val="008000"/>
                </a:solidFill>
                <a:latin typeface="Cascadia Mono" panose="020B0609020000020004" pitchFamily="49" charset="0"/>
              </a:rPr>
              <a:t>DataSet</a:t>
            </a:r>
            <a:r>
              <a:rPr lang="en-US" sz="1050" dirty="0">
                <a:solidFill>
                  <a:srgbClr val="008000"/>
                </a:solidFill>
                <a:latin typeface="Cascadia Mono" panose="020B0609020000020004" pitchFamily="49" charset="0"/>
              </a:rPr>
              <a:t>, which is an in-memory datastore for storing tables</a:t>
            </a:r>
            <a:endParaRPr lang="en-US" sz="1050" dirty="0">
              <a:solidFill>
                <a:srgbClr val="000000"/>
              </a:solidFill>
              <a:latin typeface="Cascadia Mono" panose="020B0609020000020004" pitchFamily="49" charset="0"/>
            </a:endParaRPr>
          </a:p>
          <a:p>
            <a:pPr marL="0" indent="0">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displayproduct</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Create an instance of </a:t>
            </a:r>
            <a:r>
              <a:rPr lang="en-US" sz="1050" dirty="0" err="1">
                <a:solidFill>
                  <a:srgbClr val="008000"/>
                </a:solidFill>
                <a:latin typeface="Cascadia Mono" panose="020B0609020000020004" pitchFamily="49" charset="0"/>
              </a:rPr>
              <a:t>SqlDataAdapter</a:t>
            </a:r>
            <a:r>
              <a:rPr lang="en-US" sz="1050" dirty="0">
                <a:solidFill>
                  <a:srgbClr val="008000"/>
                </a:solidFill>
                <a:latin typeface="Cascadia Mono" panose="020B0609020000020004" pitchFamily="49" charset="0"/>
              </a:rPr>
              <a:t>. </a:t>
            </a:r>
            <a:r>
              <a:rPr lang="en-US" sz="1050" dirty="0" err="1">
                <a:solidFill>
                  <a:srgbClr val="008000"/>
                </a:solidFill>
                <a:latin typeface="Cascadia Mono" panose="020B0609020000020004" pitchFamily="49" charset="0"/>
              </a:rPr>
              <a:t>Spcify</a:t>
            </a:r>
            <a:r>
              <a:rPr lang="en-US" sz="1050" dirty="0">
                <a:solidFill>
                  <a:srgbClr val="008000"/>
                </a:solidFill>
                <a:latin typeface="Cascadia Mono" panose="020B0609020000020004" pitchFamily="49" charset="0"/>
              </a:rPr>
              <a:t> the command and the connection</a:t>
            </a:r>
            <a:endParaRPr lang="en-US" sz="1050" dirty="0">
              <a:solidFill>
                <a:srgbClr val="000000"/>
              </a:solidFill>
              <a:latin typeface="Cascadia Mono" panose="020B0609020000020004" pitchFamily="49" charset="0"/>
            </a:endParaRPr>
          </a:p>
          <a:p>
            <a:pPr marL="0" indent="0">
              <a:buNone/>
            </a:pP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SqlConnection</a:t>
            </a:r>
            <a:r>
              <a:rPr lang="en-US" sz="1050" dirty="0">
                <a:solidFill>
                  <a:srgbClr val="000000"/>
                </a:solidFill>
                <a:latin typeface="Cascadia Mono" panose="020B0609020000020004" pitchFamily="49" charset="0"/>
              </a:rPr>
              <a:t> connection =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SqlConnection</a:t>
            </a:r>
            <a:r>
              <a:rPr lang="en-US" sz="1050" dirty="0">
                <a:solidFill>
                  <a:srgbClr val="000000"/>
                </a:solidFill>
                <a:latin typeface="Cascadia Mono" panose="020B0609020000020004" pitchFamily="49" charset="0"/>
              </a:rPr>
              <a:t>(_</a:t>
            </a:r>
            <a:r>
              <a:rPr lang="en-US" sz="1050" dirty="0" err="1">
                <a:solidFill>
                  <a:srgbClr val="000000"/>
                </a:solidFill>
                <a:latin typeface="Cascadia Mono" panose="020B0609020000020004" pitchFamily="49" charset="0"/>
              </a:rPr>
              <a:t>connectionString</a:t>
            </a:r>
            <a:r>
              <a:rPr lang="en-US" sz="1050" dirty="0">
                <a:solidFill>
                  <a:srgbClr val="000000"/>
                </a:solidFill>
                <a:latin typeface="Cascadia Mono" panose="020B0609020000020004" pitchFamily="49" charset="0"/>
              </a:rPr>
              <a:t>);</a:t>
            </a:r>
          </a:p>
          <a:p>
            <a:pPr marL="0" indent="0">
              <a:buNone/>
            </a:pP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SqlDataAdapter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dataAdapter</a:t>
            </a:r>
            <a:r>
              <a:rPr lang="en-US" sz="1050" dirty="0">
                <a:solidFill>
                  <a:srgbClr val="000000"/>
                </a:solidFill>
                <a:latin typeface="Cascadia Mono" panose="020B0609020000020004" pitchFamily="49" charset="0"/>
              </a:rPr>
              <a:t> =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SqlDataAdapter</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"select * from Employees"</a:t>
            </a:r>
            <a:r>
              <a:rPr lang="en-US" sz="1050" dirty="0">
                <a:solidFill>
                  <a:srgbClr val="000000"/>
                </a:solidFill>
                <a:latin typeface="Cascadia Mono" panose="020B0609020000020004" pitchFamily="49" charset="0"/>
              </a:rPr>
              <a:t>, connection);</a:t>
            </a:r>
          </a:p>
          <a:p>
            <a:pPr marL="0" indent="0">
              <a:buNone/>
            </a:pPr>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Create an instance of </a:t>
            </a:r>
            <a:r>
              <a:rPr lang="en-US" sz="1050" dirty="0" err="1">
                <a:solidFill>
                  <a:srgbClr val="008000"/>
                </a:solidFill>
                <a:latin typeface="Cascadia Mono" panose="020B0609020000020004" pitchFamily="49" charset="0"/>
              </a:rPr>
              <a:t>DataSet</a:t>
            </a:r>
            <a:r>
              <a:rPr lang="en-US" sz="1050" dirty="0">
                <a:solidFill>
                  <a:srgbClr val="008000"/>
                </a:solidFill>
                <a:latin typeface="Cascadia Mono" panose="020B0609020000020004" pitchFamily="49" charset="0"/>
              </a:rPr>
              <a:t>, which is an in-memory datastore for storing tables</a:t>
            </a:r>
            <a:endParaRPr lang="en-US" sz="1050" dirty="0">
              <a:solidFill>
                <a:srgbClr val="000000"/>
              </a:solidFill>
              <a:latin typeface="Cascadia Mono" panose="020B0609020000020004" pitchFamily="49" charset="0"/>
            </a:endParaRP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DataSet</a:t>
            </a:r>
            <a:r>
              <a:rPr lang="en-IN" sz="1050" dirty="0">
                <a:solidFill>
                  <a:srgbClr val="000000"/>
                </a:solidFill>
                <a:latin typeface="Cascadia Mono" panose="020B0609020000020004" pitchFamily="49" charset="0"/>
              </a:rPr>
              <a:t> dataset =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DataSet</a:t>
            </a:r>
            <a:r>
              <a:rPr lang="en-IN" sz="1050" dirty="0">
                <a:solidFill>
                  <a:srgbClr val="000000"/>
                </a:solidFill>
                <a:latin typeface="Cascadia Mono" panose="020B0609020000020004" pitchFamily="49" charset="0"/>
              </a:rPr>
              <a:t>();</a:t>
            </a:r>
          </a:p>
          <a:p>
            <a:pPr marL="0" indent="0">
              <a:buNone/>
            </a:pPr>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Call the Fill() methods, which automatically opens the connection, executes the command </a:t>
            </a:r>
            <a:endParaRPr lang="en-US" sz="1050" dirty="0">
              <a:solidFill>
                <a:srgbClr val="000000"/>
              </a:solidFill>
              <a:latin typeface="Cascadia Mono" panose="020B0609020000020004" pitchFamily="49" charset="0"/>
            </a:endParaRPr>
          </a:p>
          <a:p>
            <a:pPr marL="0" indent="0">
              <a:buNone/>
            </a:pPr>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and fills the dataset with data, and finally closes the connection.   //no open method</a:t>
            </a:r>
            <a:endParaRPr lang="en-US" sz="1050" dirty="0">
              <a:solidFill>
                <a:srgbClr val="000000"/>
              </a:solidFill>
              <a:latin typeface="Cascadia Mono" panose="020B0609020000020004" pitchFamily="49" charset="0"/>
            </a:endParaRP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dataAdapter.Fill</a:t>
            </a:r>
            <a:r>
              <a:rPr lang="en-IN" sz="1050" dirty="0">
                <a:solidFill>
                  <a:srgbClr val="000000"/>
                </a:solidFill>
                <a:latin typeface="Cascadia Mono" panose="020B0609020000020004" pitchFamily="49" charset="0"/>
              </a:rPr>
              <a:t>(dataset);</a:t>
            </a: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dataset.GetXml</a:t>
            </a:r>
            <a:r>
              <a:rPr lang="en-IN" sz="1050" dirty="0">
                <a:solidFill>
                  <a:srgbClr val="000000"/>
                </a:solidFill>
                <a:latin typeface="Cascadia Mono" panose="020B0609020000020004" pitchFamily="49" charset="0"/>
              </a:rPr>
              <a:t>());</a:t>
            </a:r>
          </a:p>
          <a:p>
            <a:pPr marL="0" indent="0">
              <a:buNone/>
            </a:pP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dataset.Tables</a:t>
            </a:r>
            <a:r>
              <a:rPr lang="en-US" sz="1050" dirty="0">
                <a:solidFill>
                  <a:srgbClr val="000000"/>
                </a:solidFill>
                <a:latin typeface="Cascadia Mono" panose="020B0609020000020004" pitchFamily="49" charset="0"/>
              </a:rPr>
              <a:t>[0].</a:t>
            </a:r>
            <a:r>
              <a:rPr lang="en-US" sz="1050" dirty="0" err="1">
                <a:solidFill>
                  <a:srgbClr val="000000"/>
                </a:solidFill>
                <a:latin typeface="Cascadia Mono" panose="020B0609020000020004" pitchFamily="49" charset="0"/>
              </a:rPr>
              <a:t>TableName</a:t>
            </a:r>
            <a:r>
              <a:rPr lang="en-US" sz="1050" dirty="0">
                <a:solidFill>
                  <a:srgbClr val="000000"/>
                </a:solidFill>
                <a:latin typeface="Cascadia Mono" panose="020B0609020000020004" pitchFamily="49" charset="0"/>
              </a:rPr>
              <a:t> = </a:t>
            </a:r>
            <a:r>
              <a:rPr lang="en-US" sz="1050" dirty="0">
                <a:solidFill>
                  <a:srgbClr val="A31515"/>
                </a:solidFill>
                <a:latin typeface="Cascadia Mono" panose="020B0609020000020004" pitchFamily="49" charset="0"/>
              </a:rPr>
              <a:t>"Employees"</a:t>
            </a:r>
            <a:r>
              <a:rPr lang="en-US"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DataTable</a:t>
            </a:r>
            <a:r>
              <a:rPr lang="en-IN" sz="1050" dirty="0">
                <a:solidFill>
                  <a:srgbClr val="000000"/>
                </a:solidFill>
                <a:latin typeface="Cascadia Mono" panose="020B0609020000020004" pitchFamily="49" charset="0"/>
              </a:rPr>
              <a:t> dt = </a:t>
            </a:r>
            <a:r>
              <a:rPr lang="en-IN" sz="1050" dirty="0" err="1">
                <a:solidFill>
                  <a:srgbClr val="000000"/>
                </a:solidFill>
                <a:latin typeface="Cascadia Mono" panose="020B0609020000020004" pitchFamily="49" charset="0"/>
              </a:rPr>
              <a:t>dataset.Tables</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"Employees"</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a:solidFill>
                  <a:srgbClr val="008000"/>
                </a:solidFill>
                <a:latin typeface="Cascadia Mono" panose="020B0609020000020004" pitchFamily="49" charset="0"/>
              </a:rPr>
              <a:t>// </a:t>
            </a:r>
            <a:r>
              <a:rPr lang="en-IN" sz="1050" dirty="0" err="1">
                <a:solidFill>
                  <a:srgbClr val="008000"/>
                </a:solidFill>
                <a:latin typeface="Cascadia Mono" panose="020B0609020000020004" pitchFamily="49" charset="0"/>
              </a:rPr>
              <a:t>DataTable</a:t>
            </a:r>
            <a:r>
              <a:rPr lang="en-IN" sz="1050" dirty="0">
                <a:solidFill>
                  <a:srgbClr val="008000"/>
                </a:solidFill>
                <a:latin typeface="Cascadia Mono" panose="020B0609020000020004" pitchFamily="49" charset="0"/>
              </a:rPr>
              <a:t> dt = </a:t>
            </a:r>
            <a:r>
              <a:rPr lang="en-IN" sz="1050" dirty="0" err="1">
                <a:solidFill>
                  <a:srgbClr val="008000"/>
                </a:solidFill>
                <a:latin typeface="Cascadia Mono" panose="020B0609020000020004" pitchFamily="49" charset="0"/>
              </a:rPr>
              <a:t>dataset.Tables</a:t>
            </a:r>
            <a:r>
              <a:rPr lang="en-IN" sz="1050" dirty="0">
                <a:solidFill>
                  <a:srgbClr val="008000"/>
                </a:solidFill>
                <a:latin typeface="Cascadia Mono" panose="020B0609020000020004" pitchFamily="49" charset="0"/>
              </a:rPr>
              <a:t>[0];</a:t>
            </a:r>
            <a:endParaRPr lang="en-IN" sz="1050" dirty="0">
              <a:solidFill>
                <a:srgbClr val="000000"/>
              </a:solidFill>
              <a:latin typeface="Cascadia Mono" panose="020B0609020000020004" pitchFamily="49" charset="0"/>
            </a:endParaRPr>
          </a:p>
          <a:p>
            <a:pPr marL="0" indent="0">
              <a:buNone/>
            </a:pP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foreach</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DataRow</a:t>
            </a:r>
            <a:r>
              <a:rPr lang="en-US" sz="1050" dirty="0">
                <a:solidFill>
                  <a:srgbClr val="000000"/>
                </a:solidFill>
                <a:latin typeface="Cascadia Mono" panose="020B0609020000020004" pitchFamily="49" charset="0"/>
              </a:rPr>
              <a:t> row </a:t>
            </a:r>
            <a:r>
              <a:rPr lang="en-US" sz="1050" dirty="0">
                <a:solidFill>
                  <a:srgbClr val="0000FF"/>
                </a:solidFill>
                <a:latin typeface="Cascadia Mono" panose="020B0609020000020004" pitchFamily="49" charset="0"/>
              </a:rPr>
              <a:t>in</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dt.Rows</a:t>
            </a:r>
            <a:r>
              <a:rPr lang="en-US"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foreach</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DataColumn</a:t>
            </a:r>
            <a:r>
              <a:rPr lang="en-IN" sz="1050" dirty="0">
                <a:solidFill>
                  <a:srgbClr val="000000"/>
                </a:solidFill>
                <a:latin typeface="Cascadia Mono" panose="020B0609020000020004" pitchFamily="49" charset="0"/>
              </a:rPr>
              <a:t> col </a:t>
            </a:r>
            <a:r>
              <a:rPr lang="en-IN" sz="1050" dirty="0">
                <a:solidFill>
                  <a:srgbClr val="0000FF"/>
                </a:solidFill>
                <a:latin typeface="Cascadia Mono" panose="020B0609020000020004" pitchFamily="49" charset="0"/>
              </a:rPr>
              <a:t>in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dt.Columns</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a:t>
            </a:r>
            <a:r>
              <a:rPr lang="en-IN" sz="1050" dirty="0">
                <a:solidFill>
                  <a:srgbClr val="000000"/>
                </a:solidFill>
                <a:latin typeface="Cascadia Mono" panose="020B0609020000020004" pitchFamily="49" charset="0"/>
              </a:rPr>
              <a:t>(row[col] + </a:t>
            </a:r>
            <a:r>
              <a:rPr lang="en-IN" sz="1050" dirty="0">
                <a:solidFill>
                  <a:srgbClr val="A31515"/>
                </a:solidFill>
                <a:latin typeface="Cascadia Mono" panose="020B0609020000020004" pitchFamily="49" charset="0"/>
              </a:rPr>
              <a:t>" "</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pPr marL="0" indent="0">
              <a:buNone/>
            </a:pPr>
            <a:r>
              <a:rPr lang="en-IN" sz="1050" dirty="0">
                <a:solidFill>
                  <a:srgbClr val="000000"/>
                </a:solidFill>
                <a:latin typeface="Cascadia Mono" panose="020B0609020000020004" pitchFamily="49" charset="0"/>
              </a:rPr>
              <a:t>            }</a:t>
            </a:r>
          </a:p>
          <a:p>
            <a:pPr marL="0" indent="0">
              <a:buNone/>
            </a:pPr>
            <a:r>
              <a:rPr lang="en-IN" sz="1050" dirty="0">
                <a:solidFill>
                  <a:srgbClr val="000000"/>
                </a:solidFill>
                <a:latin typeface="Cascadia Mono" panose="020B0609020000020004" pitchFamily="49" charset="0"/>
              </a:rPr>
              <a:t>        }</a:t>
            </a:r>
          </a:p>
          <a:p>
            <a:pPr marL="0" indent="0">
              <a:buNone/>
            </a:pPr>
            <a:r>
              <a:rPr lang="en-IN" sz="1050" dirty="0">
                <a:solidFill>
                  <a:srgbClr val="000000"/>
                </a:solidFill>
                <a:latin typeface="Cascadia Mono" panose="020B0609020000020004" pitchFamily="49" charset="0"/>
              </a:rPr>
              <a:t>}</a:t>
            </a:r>
            <a:endParaRPr lang="en-IN" sz="1050" dirty="0"/>
          </a:p>
        </p:txBody>
      </p:sp>
    </p:spTree>
    <p:extLst>
      <p:ext uri="{BB962C8B-B14F-4D97-AF65-F5344CB8AC3E}">
        <p14:creationId xmlns:p14="http://schemas.microsoft.com/office/powerpoint/2010/main" val="40294571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A0ED8-A0F6-4EEB-87DF-C33F735E7375}"/>
              </a:ext>
            </a:extLst>
          </p:cNvPr>
          <p:cNvSpPr>
            <a:spLocks noGrp="1"/>
          </p:cNvSpPr>
          <p:nvPr>
            <p:ph idx="1"/>
          </p:nvPr>
        </p:nvSpPr>
        <p:spPr>
          <a:xfrm>
            <a:off x="457200" y="381000"/>
            <a:ext cx="8229600" cy="5745163"/>
          </a:xfrm>
        </p:spPr>
        <p:txBody>
          <a:bodyPr>
            <a:normAutofit/>
          </a:bodyPr>
          <a:lstStyle/>
          <a:p>
            <a:pPr marL="0" indent="0">
              <a:buNone/>
            </a:pPr>
            <a:r>
              <a:rPr lang="en-US" sz="1600" dirty="0">
                <a:solidFill>
                  <a:srgbClr val="000000"/>
                </a:solidFill>
                <a:highlight>
                  <a:srgbClr val="FFFFFF"/>
                </a:highlight>
                <a:latin typeface="Consolas" panose="020B0609020204030204" pitchFamily="49" charset="0"/>
              </a:rPr>
              <a:t> </a:t>
            </a:r>
            <a:r>
              <a:rPr lang="en-US" sz="1600" dirty="0" err="1">
                <a:solidFill>
                  <a:srgbClr val="2B91AF"/>
                </a:solidFill>
                <a:highlight>
                  <a:srgbClr val="FFFFFF"/>
                </a:highlight>
                <a:latin typeface="Consolas" panose="020B0609020204030204" pitchFamily="49" charset="0"/>
              </a:rPr>
              <a:t>SqlConnection</a:t>
            </a:r>
            <a:r>
              <a:rPr lang="en-US" sz="1600" dirty="0">
                <a:solidFill>
                  <a:srgbClr val="000000"/>
                </a:solidFill>
                <a:highlight>
                  <a:srgbClr val="FFFFFF"/>
                </a:highlight>
                <a:latin typeface="Consolas" panose="020B0609020204030204" pitchFamily="49" charset="0"/>
              </a:rPr>
              <a:t> connection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err="1">
                <a:solidFill>
                  <a:srgbClr val="2B91AF"/>
                </a:solidFill>
                <a:highlight>
                  <a:srgbClr val="FFFFFF"/>
                </a:highlight>
                <a:latin typeface="Consolas" panose="020B0609020204030204" pitchFamily="49" charset="0"/>
              </a:rPr>
              <a:t>SqlConnection</a:t>
            </a:r>
            <a:r>
              <a:rPr lang="en-US" sz="1600" dirty="0">
                <a:solidFill>
                  <a:srgbClr val="000000"/>
                </a:solidFill>
                <a:highlight>
                  <a:srgbClr val="FFFFFF"/>
                </a:highlight>
                <a:latin typeface="Consolas" panose="020B0609020204030204" pitchFamily="49" charset="0"/>
              </a:rPr>
              <a:t>(</a:t>
            </a:r>
            <a:r>
              <a:rPr lang="en-US" sz="1600" dirty="0">
                <a:solidFill>
                  <a:srgbClr val="000000"/>
                </a:solidFill>
                <a:latin typeface="Cascadia Mono" panose="020B0609020000020004" pitchFamily="49" charset="0"/>
              </a:rPr>
              <a:t>_</a:t>
            </a:r>
            <a:r>
              <a:rPr lang="en-US" sz="1600" dirty="0" err="1">
                <a:solidFill>
                  <a:srgbClr val="000000"/>
                </a:solidFill>
                <a:latin typeface="Cascadia Mono" panose="020B0609020000020004" pitchFamily="49" charset="0"/>
              </a:rPr>
              <a:t>connectionString</a:t>
            </a:r>
            <a:r>
              <a:rPr lang="en-US" sz="1600" dirty="0">
                <a:solidFill>
                  <a:srgbClr val="000000"/>
                </a:solidFill>
                <a:highlight>
                  <a:srgbClr val="FFFFFF"/>
                </a:highlight>
                <a:latin typeface="Consolas" panose="020B0609020204030204" pitchFamily="49" charset="0"/>
              </a:rPr>
              <a:t>)</a:t>
            </a:r>
            <a:endParaRPr lang="en-IN" sz="1600" dirty="0"/>
          </a:p>
        </p:txBody>
      </p:sp>
      <p:sp>
        <p:nvSpPr>
          <p:cNvPr id="4" name="Rectangle 3">
            <a:extLst>
              <a:ext uri="{FF2B5EF4-FFF2-40B4-BE49-F238E27FC236}">
                <a16:creationId xmlns:a16="http://schemas.microsoft.com/office/drawing/2014/main" id="{082E0247-4436-4C92-B17E-6C03E19E9EB0}"/>
              </a:ext>
            </a:extLst>
          </p:cNvPr>
          <p:cNvSpPr/>
          <p:nvPr/>
        </p:nvSpPr>
        <p:spPr>
          <a:xfrm>
            <a:off x="2045826" y="2646436"/>
            <a:ext cx="2068973" cy="563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"select * from Product"</a:t>
            </a:r>
            <a:r>
              <a:rPr lang="en-US" sz="1050" dirty="0">
                <a:solidFill>
                  <a:srgbClr val="000000"/>
                </a:solidFill>
                <a:highlight>
                  <a:srgbClr val="FFFFFF"/>
                </a:highlight>
                <a:latin typeface="Consolas" panose="020B0609020204030204" pitchFamily="49" charset="0"/>
              </a:rPr>
              <a:t>,</a:t>
            </a:r>
          </a:p>
          <a:p>
            <a:pPr algn="ctr"/>
            <a:endParaRPr lang="en-US" sz="1050" dirty="0">
              <a:solidFill>
                <a:srgbClr val="000000"/>
              </a:solidFill>
              <a:highlight>
                <a:srgbClr val="FFFFFF"/>
              </a:highlight>
              <a:latin typeface="Consolas" panose="020B0609020204030204" pitchFamily="49" charset="0"/>
            </a:endParaRPr>
          </a:p>
          <a:p>
            <a:pPr algn="ctr"/>
            <a:r>
              <a:rPr lang="en-US" sz="1050" dirty="0">
                <a:solidFill>
                  <a:srgbClr val="000000"/>
                </a:solidFill>
                <a:highlight>
                  <a:srgbClr val="FFFFFF"/>
                </a:highlight>
                <a:latin typeface="Consolas" panose="020B0609020204030204" pitchFamily="49" charset="0"/>
              </a:rPr>
              <a:t>connection </a:t>
            </a:r>
            <a:endParaRPr lang="en-IN" sz="1050" dirty="0"/>
          </a:p>
        </p:txBody>
      </p:sp>
      <p:sp>
        <p:nvSpPr>
          <p:cNvPr id="5" name="Rectangle 4">
            <a:extLst>
              <a:ext uri="{FF2B5EF4-FFF2-40B4-BE49-F238E27FC236}">
                <a16:creationId xmlns:a16="http://schemas.microsoft.com/office/drawing/2014/main" id="{651DF9AB-E34C-4CA6-AA9C-98A3512045E8}"/>
              </a:ext>
            </a:extLst>
          </p:cNvPr>
          <p:cNvSpPr/>
          <p:nvPr/>
        </p:nvSpPr>
        <p:spPr>
          <a:xfrm>
            <a:off x="1924230" y="1142300"/>
            <a:ext cx="3962400" cy="723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ConnectionString</a:t>
            </a:r>
            <a:r>
              <a:rPr lang="en-IN" dirty="0"/>
              <a:t>=“”</a:t>
            </a:r>
          </a:p>
        </p:txBody>
      </p:sp>
      <p:sp>
        <p:nvSpPr>
          <p:cNvPr id="6" name="TextBox 5">
            <a:extLst>
              <a:ext uri="{FF2B5EF4-FFF2-40B4-BE49-F238E27FC236}">
                <a16:creationId xmlns:a16="http://schemas.microsoft.com/office/drawing/2014/main" id="{6254EB61-9F7F-41E5-B613-1C264C49170E}"/>
              </a:ext>
            </a:extLst>
          </p:cNvPr>
          <p:cNvSpPr txBox="1"/>
          <p:nvPr/>
        </p:nvSpPr>
        <p:spPr>
          <a:xfrm>
            <a:off x="609600" y="1244084"/>
            <a:ext cx="914400" cy="25391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50" dirty="0">
                <a:solidFill>
                  <a:srgbClr val="000000"/>
                </a:solidFill>
                <a:highlight>
                  <a:srgbClr val="FFFFFF"/>
                </a:highlight>
                <a:latin typeface="Consolas" panose="020B0609020204030204" pitchFamily="49" charset="0"/>
              </a:rPr>
              <a:t>connection</a:t>
            </a:r>
            <a:endParaRPr lang="en-IN" sz="1050" dirty="0"/>
          </a:p>
        </p:txBody>
      </p:sp>
      <p:sp>
        <p:nvSpPr>
          <p:cNvPr id="8" name="TextBox 7">
            <a:extLst>
              <a:ext uri="{FF2B5EF4-FFF2-40B4-BE49-F238E27FC236}">
                <a16:creationId xmlns:a16="http://schemas.microsoft.com/office/drawing/2014/main" id="{7CF7DEB3-47B7-4AA6-AD43-A79FABFBCBF1}"/>
              </a:ext>
            </a:extLst>
          </p:cNvPr>
          <p:cNvSpPr txBox="1"/>
          <p:nvPr/>
        </p:nvSpPr>
        <p:spPr>
          <a:xfrm>
            <a:off x="335323" y="2694641"/>
            <a:ext cx="160598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800" dirty="0" err="1">
                <a:solidFill>
                  <a:srgbClr val="000000"/>
                </a:solidFill>
                <a:highlight>
                  <a:srgbClr val="FFFFFF"/>
                </a:highlight>
                <a:latin typeface="Consolas" panose="020B0609020204030204" pitchFamily="49" charset="0"/>
              </a:rPr>
              <a:t>dataAdapter</a:t>
            </a:r>
            <a:endParaRPr lang="en-IN" dirty="0"/>
          </a:p>
        </p:txBody>
      </p:sp>
      <p:sp>
        <p:nvSpPr>
          <p:cNvPr id="15" name="TextBox 14">
            <a:extLst>
              <a:ext uri="{FF2B5EF4-FFF2-40B4-BE49-F238E27FC236}">
                <a16:creationId xmlns:a16="http://schemas.microsoft.com/office/drawing/2014/main" id="{49EC3B6C-8629-4BC9-9464-5FDD0B5ECE99}"/>
              </a:ext>
            </a:extLst>
          </p:cNvPr>
          <p:cNvSpPr txBox="1"/>
          <p:nvPr/>
        </p:nvSpPr>
        <p:spPr>
          <a:xfrm>
            <a:off x="1447800" y="4483158"/>
            <a:ext cx="132576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800" dirty="0">
                <a:solidFill>
                  <a:srgbClr val="000000"/>
                </a:solidFill>
                <a:highlight>
                  <a:srgbClr val="FFFFFF"/>
                </a:highlight>
                <a:latin typeface="Consolas" panose="020B0609020204030204" pitchFamily="49" charset="0"/>
              </a:rPr>
              <a:t>dataset</a:t>
            </a:r>
            <a:endParaRPr lang="en-IN" dirty="0"/>
          </a:p>
        </p:txBody>
      </p:sp>
      <p:cxnSp>
        <p:nvCxnSpPr>
          <p:cNvPr id="16" name="Straight Arrow Connector 15">
            <a:extLst>
              <a:ext uri="{FF2B5EF4-FFF2-40B4-BE49-F238E27FC236}">
                <a16:creationId xmlns:a16="http://schemas.microsoft.com/office/drawing/2014/main" id="{F0F90C4E-95DE-4A1C-BA16-52E72D81C5BA}"/>
              </a:ext>
            </a:extLst>
          </p:cNvPr>
          <p:cNvCxnSpPr>
            <a:cxnSpLocks/>
          </p:cNvCxnSpPr>
          <p:nvPr/>
        </p:nvCxnSpPr>
        <p:spPr>
          <a:xfrm flipV="1">
            <a:off x="2590800" y="4578942"/>
            <a:ext cx="685800" cy="88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lowchart: Magnetic Disk 16">
            <a:extLst>
              <a:ext uri="{FF2B5EF4-FFF2-40B4-BE49-F238E27FC236}">
                <a16:creationId xmlns:a16="http://schemas.microsoft.com/office/drawing/2014/main" id="{D73E22DA-BA38-4708-B891-7BC4F1A8BD40}"/>
              </a:ext>
            </a:extLst>
          </p:cNvPr>
          <p:cNvSpPr/>
          <p:nvPr/>
        </p:nvSpPr>
        <p:spPr>
          <a:xfrm>
            <a:off x="7772400" y="2061926"/>
            <a:ext cx="1230774" cy="106227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1CB164A-1429-461C-9B3F-59C5373A5C89}"/>
              </a:ext>
            </a:extLst>
          </p:cNvPr>
          <p:cNvCxnSpPr>
            <a:cxnSpLocks/>
          </p:cNvCxnSpPr>
          <p:nvPr/>
        </p:nvCxnSpPr>
        <p:spPr>
          <a:xfrm flipV="1">
            <a:off x="7289903" y="3033963"/>
            <a:ext cx="853665" cy="566737"/>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C6401BA8-B11C-45E6-A9DB-A323E42977A7}"/>
              </a:ext>
            </a:extLst>
          </p:cNvPr>
          <p:cNvCxnSpPr/>
          <p:nvPr/>
        </p:nvCxnSpPr>
        <p:spPr>
          <a:xfrm flipV="1">
            <a:off x="1600200" y="1371600"/>
            <a:ext cx="293226" cy="64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CED49B2-3EB4-4824-81C1-1F2CFBF3D9A2}"/>
              </a:ext>
            </a:extLst>
          </p:cNvPr>
          <p:cNvSpPr txBox="1"/>
          <p:nvPr/>
        </p:nvSpPr>
        <p:spPr>
          <a:xfrm>
            <a:off x="-91665" y="1988084"/>
            <a:ext cx="9094839"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SqlDataAdapter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dataAdapter</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SqlDataAdapter</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"select * from Product"</a:t>
            </a:r>
            <a:r>
              <a:rPr lang="en-US" sz="1400" dirty="0">
                <a:solidFill>
                  <a:srgbClr val="000000"/>
                </a:solidFill>
                <a:highlight>
                  <a:srgbClr val="FFFFFF"/>
                </a:highlight>
                <a:latin typeface="Consolas" panose="020B0609020204030204" pitchFamily="49" charset="0"/>
              </a:rPr>
              <a:t>, connection);</a:t>
            </a:r>
            <a:endParaRPr lang="en-IN" dirty="0"/>
          </a:p>
        </p:txBody>
      </p:sp>
      <p:sp>
        <p:nvSpPr>
          <p:cNvPr id="26" name="TextBox 25">
            <a:extLst>
              <a:ext uri="{FF2B5EF4-FFF2-40B4-BE49-F238E27FC236}">
                <a16:creationId xmlns:a16="http://schemas.microsoft.com/office/drawing/2014/main" id="{58B561A2-2C5C-4EB6-AAB4-81B11C09BC3A}"/>
              </a:ext>
            </a:extLst>
          </p:cNvPr>
          <p:cNvSpPr txBox="1"/>
          <p:nvPr/>
        </p:nvSpPr>
        <p:spPr>
          <a:xfrm>
            <a:off x="4870042" y="3185888"/>
            <a:ext cx="2373774" cy="3808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Fill(dataset)</a:t>
            </a:r>
          </a:p>
        </p:txBody>
      </p:sp>
      <p:sp>
        <p:nvSpPr>
          <p:cNvPr id="27" name="Rectangle 26">
            <a:extLst>
              <a:ext uri="{FF2B5EF4-FFF2-40B4-BE49-F238E27FC236}">
                <a16:creationId xmlns:a16="http://schemas.microsoft.com/office/drawing/2014/main" id="{46EB92E8-9B3C-4997-AC1D-7FC4ED25085F}"/>
              </a:ext>
            </a:extLst>
          </p:cNvPr>
          <p:cNvSpPr/>
          <p:nvPr/>
        </p:nvSpPr>
        <p:spPr>
          <a:xfrm>
            <a:off x="6177016" y="3548365"/>
            <a:ext cx="10668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81FAFC50-53DC-41F1-8525-F3AA928448AD}"/>
              </a:ext>
            </a:extLst>
          </p:cNvPr>
          <p:cNvCxnSpPr>
            <a:cxnSpLocks/>
          </p:cNvCxnSpPr>
          <p:nvPr/>
        </p:nvCxnSpPr>
        <p:spPr>
          <a:xfrm flipV="1">
            <a:off x="3276600" y="1988084"/>
            <a:ext cx="609600" cy="1045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8E64FE2-556C-4056-B9CC-5834F7714212}"/>
              </a:ext>
            </a:extLst>
          </p:cNvPr>
          <p:cNvSpPr/>
          <p:nvPr/>
        </p:nvSpPr>
        <p:spPr>
          <a:xfrm>
            <a:off x="3429000" y="3925277"/>
            <a:ext cx="2209800" cy="1942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5" name="Table 39">
            <a:extLst>
              <a:ext uri="{FF2B5EF4-FFF2-40B4-BE49-F238E27FC236}">
                <a16:creationId xmlns:a16="http://schemas.microsoft.com/office/drawing/2014/main" id="{CE932899-233A-4F34-8EBA-7EA0644D9248}"/>
              </a:ext>
            </a:extLst>
          </p:cNvPr>
          <p:cNvGraphicFramePr>
            <a:graphicFrameLocks noGrp="1"/>
          </p:cNvGraphicFramePr>
          <p:nvPr>
            <p:extLst>
              <p:ext uri="{D42A27DB-BD31-4B8C-83A1-F6EECF244321}">
                <p14:modId xmlns:p14="http://schemas.microsoft.com/office/powerpoint/2010/main" val="2466714900"/>
              </p:ext>
            </p:extLst>
          </p:nvPr>
        </p:nvGraphicFramePr>
        <p:xfrm>
          <a:off x="4154129" y="4058095"/>
          <a:ext cx="2373774" cy="1463040"/>
        </p:xfrm>
        <a:graphic>
          <a:graphicData uri="http://schemas.openxmlformats.org/drawingml/2006/table">
            <a:tbl>
              <a:tblPr firstRow="1" bandRow="1">
                <a:tableStyleId>{5C22544A-7EE6-4342-B048-85BDC9FD1C3A}</a:tableStyleId>
              </a:tblPr>
              <a:tblGrid>
                <a:gridCol w="791258">
                  <a:extLst>
                    <a:ext uri="{9D8B030D-6E8A-4147-A177-3AD203B41FA5}">
                      <a16:colId xmlns:a16="http://schemas.microsoft.com/office/drawing/2014/main" val="2716698633"/>
                    </a:ext>
                  </a:extLst>
                </a:gridCol>
                <a:gridCol w="791258">
                  <a:extLst>
                    <a:ext uri="{9D8B030D-6E8A-4147-A177-3AD203B41FA5}">
                      <a16:colId xmlns:a16="http://schemas.microsoft.com/office/drawing/2014/main" val="1377512075"/>
                    </a:ext>
                  </a:extLst>
                </a:gridCol>
                <a:gridCol w="791258">
                  <a:extLst>
                    <a:ext uri="{9D8B030D-6E8A-4147-A177-3AD203B41FA5}">
                      <a16:colId xmlns:a16="http://schemas.microsoft.com/office/drawing/2014/main" val="2759326469"/>
                    </a:ext>
                  </a:extLst>
                </a:gridCol>
              </a:tblGrid>
              <a:tr h="265569">
                <a:tc>
                  <a:txBody>
                    <a:bodyPr/>
                    <a:lstStyle/>
                    <a:p>
                      <a:r>
                        <a:rPr lang="en-IN" dirty="0"/>
                        <a:t>id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IN" dirty="0"/>
                        <a:t>name</a:t>
                      </a:r>
                    </a:p>
                  </a:txBody>
                  <a:tcPr>
                    <a:lnT w="12700" cap="flat" cmpd="sng" algn="ctr">
                      <a:solidFill>
                        <a:schemeClr val="tx1"/>
                      </a:solidFill>
                      <a:prstDash val="solid"/>
                      <a:round/>
                      <a:headEnd type="none" w="med" len="med"/>
                      <a:tailEnd type="none" w="med" len="med"/>
                    </a:lnT>
                  </a:tcPr>
                </a:tc>
                <a:tc>
                  <a:txBody>
                    <a:bodyPr/>
                    <a:lstStyle/>
                    <a:p>
                      <a:r>
                        <a:rPr lang="en-IN" dirty="0"/>
                        <a:t>price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99602702"/>
                  </a:ext>
                </a:extLst>
              </a:tr>
              <a:tr h="265569">
                <a:tc>
                  <a:txBody>
                    <a:bodyPr/>
                    <a:lstStyle/>
                    <a:p>
                      <a:endParaRPr lang="en-IN" dirty="0"/>
                    </a:p>
                  </a:txBody>
                  <a:tcPr>
                    <a:lnL w="12700" cap="flat" cmpd="sng" algn="ctr">
                      <a:solidFill>
                        <a:schemeClr val="tx1"/>
                      </a:solidFill>
                      <a:prstDash val="solid"/>
                      <a:round/>
                      <a:headEnd type="none" w="med" len="med"/>
                      <a:tailEnd type="none" w="med" len="med"/>
                    </a:lnL>
                  </a:tcPr>
                </a:tc>
                <a:tc>
                  <a:txBody>
                    <a:bodyPr/>
                    <a:lstStyle/>
                    <a:p>
                      <a:endParaRPr lang="en-IN"/>
                    </a:p>
                  </a:txBody>
                  <a:tcPr/>
                </a:tc>
                <a:tc>
                  <a:txBody>
                    <a:bodyPr/>
                    <a:lstStyle/>
                    <a:p>
                      <a:endParaRPr lang="en-IN"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68751162"/>
                  </a:ext>
                </a:extLst>
              </a:tr>
              <a:tr h="265569">
                <a:tc>
                  <a:txBody>
                    <a:bodyPr/>
                    <a:lstStyle/>
                    <a:p>
                      <a:endParaRPr lang="en-IN" dirty="0"/>
                    </a:p>
                  </a:txBody>
                  <a:tcPr>
                    <a:lnL w="12700" cap="flat" cmpd="sng" algn="ctr">
                      <a:solidFill>
                        <a:schemeClr val="tx1"/>
                      </a:solidFill>
                      <a:prstDash val="solid"/>
                      <a:round/>
                      <a:headEnd type="none" w="med" len="med"/>
                      <a:tailEnd type="none" w="med" len="med"/>
                    </a:lnL>
                  </a:tcPr>
                </a:tc>
                <a:tc>
                  <a:txBody>
                    <a:bodyPr/>
                    <a:lstStyle/>
                    <a:p>
                      <a:endParaRPr lang="en-IN" dirty="0"/>
                    </a:p>
                  </a:txBody>
                  <a:tcPr/>
                </a:tc>
                <a:tc>
                  <a:txBody>
                    <a:bodyPr/>
                    <a:lstStyle/>
                    <a:p>
                      <a:endParaRPr lang="en-IN"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17013267"/>
                  </a:ext>
                </a:extLst>
              </a:tr>
              <a:tr h="265569">
                <a:tc>
                  <a:txBody>
                    <a:bodyPr/>
                    <a:lstStyle/>
                    <a:p>
                      <a:endParaRPr lang="en-IN"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IN" dirty="0"/>
                    </a:p>
                  </a:txBody>
                  <a:tcPr>
                    <a:lnB w="12700" cap="flat" cmpd="sng" algn="ctr">
                      <a:solidFill>
                        <a:schemeClr val="tx1"/>
                      </a:solidFill>
                      <a:prstDash val="solid"/>
                      <a:round/>
                      <a:headEnd type="none" w="med" len="med"/>
                      <a:tailEnd type="none" w="med" len="med"/>
                    </a:lnB>
                  </a:tcPr>
                </a:tc>
                <a:tc>
                  <a:txBody>
                    <a:bodyPr/>
                    <a:lstStyle/>
                    <a:p>
                      <a:endParaRPr lang="en-IN"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3057425"/>
                  </a:ext>
                </a:extLst>
              </a:tr>
            </a:tbl>
          </a:graphicData>
        </a:graphic>
      </p:graphicFrame>
      <p:cxnSp>
        <p:nvCxnSpPr>
          <p:cNvPr id="36" name="Straight Arrow Connector 35">
            <a:extLst>
              <a:ext uri="{FF2B5EF4-FFF2-40B4-BE49-F238E27FC236}">
                <a16:creationId xmlns:a16="http://schemas.microsoft.com/office/drawing/2014/main" id="{0E2879E9-34A9-41D7-8746-E880DF1FAE7B}"/>
              </a:ext>
            </a:extLst>
          </p:cNvPr>
          <p:cNvCxnSpPr>
            <a:cxnSpLocks/>
          </p:cNvCxnSpPr>
          <p:nvPr/>
        </p:nvCxnSpPr>
        <p:spPr>
          <a:xfrm flipH="1">
            <a:off x="6291416" y="4096637"/>
            <a:ext cx="682113" cy="75585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AB329F8A-A05D-3FC7-D348-AE01DDE795FF}"/>
              </a:ext>
            </a:extLst>
          </p:cNvPr>
          <p:cNvSpPr txBox="1"/>
          <p:nvPr/>
        </p:nvSpPr>
        <p:spPr>
          <a:xfrm>
            <a:off x="3429000" y="3840975"/>
            <a:ext cx="1295400" cy="369332"/>
          </a:xfrm>
          <a:prstGeom prst="rect">
            <a:avLst/>
          </a:prstGeom>
          <a:noFill/>
        </p:spPr>
        <p:txBody>
          <a:bodyPr wrap="square" rtlCol="0">
            <a:spAutoFit/>
          </a:bodyPr>
          <a:lstStyle/>
          <a:p>
            <a:r>
              <a:rPr lang="en-IN" dirty="0">
                <a:solidFill>
                  <a:schemeClr val="bg1"/>
                </a:solidFill>
              </a:rPr>
              <a:t>Tables[0]</a:t>
            </a:r>
          </a:p>
        </p:txBody>
      </p:sp>
    </p:spTree>
    <p:extLst>
      <p:ext uri="{BB962C8B-B14F-4D97-AF65-F5344CB8AC3E}">
        <p14:creationId xmlns:p14="http://schemas.microsoft.com/office/powerpoint/2010/main" val="318842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5F4E-53FE-4D87-B8D4-8B211EA6B4B2}"/>
              </a:ext>
            </a:extLst>
          </p:cNvPr>
          <p:cNvSpPr>
            <a:spLocks noGrp="1"/>
          </p:cNvSpPr>
          <p:nvPr>
            <p:ph type="title"/>
          </p:nvPr>
        </p:nvSpPr>
        <p:spPr>
          <a:xfrm>
            <a:off x="533400" y="-381000"/>
            <a:ext cx="8229600" cy="1143000"/>
          </a:xfrm>
        </p:spPr>
        <p:txBody>
          <a:bodyPr/>
          <a:lstStyle/>
          <a:p>
            <a:r>
              <a:rPr lang="en-IN" dirty="0"/>
              <a:t>Disconnected Architecture</a:t>
            </a:r>
          </a:p>
        </p:txBody>
      </p:sp>
      <p:sp>
        <p:nvSpPr>
          <p:cNvPr id="3" name="Content Placeholder 2">
            <a:extLst>
              <a:ext uri="{FF2B5EF4-FFF2-40B4-BE49-F238E27FC236}">
                <a16:creationId xmlns:a16="http://schemas.microsoft.com/office/drawing/2014/main" id="{425B650E-F767-44A1-94D9-FF00848D5369}"/>
              </a:ext>
            </a:extLst>
          </p:cNvPr>
          <p:cNvSpPr>
            <a:spLocks noGrp="1"/>
          </p:cNvSpPr>
          <p:nvPr>
            <p:ph idx="1"/>
          </p:nvPr>
        </p:nvSpPr>
        <p:spPr>
          <a:xfrm>
            <a:off x="381000" y="762000"/>
            <a:ext cx="8686800" cy="5791200"/>
          </a:xfrm>
        </p:spPr>
        <p:txBody>
          <a:bodyPr>
            <a:noAutofit/>
          </a:bodyPr>
          <a:lstStyle/>
          <a:p>
            <a:pPr marL="0" indent="0">
              <a:buNone/>
            </a:pP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Microsoft.Extensions.Configuration</a:t>
            </a:r>
            <a:r>
              <a:rPr lang="en-IN" sz="900" dirty="0">
                <a:solidFill>
                  <a:srgbClr val="000000"/>
                </a:solidFill>
                <a:latin typeface="Cascadia Mono" panose="020B0609020000020004" pitchFamily="49" charset="0"/>
              </a:rPr>
              <a:t>;</a:t>
            </a:r>
          </a:p>
          <a:p>
            <a:pPr marL="0" indent="0">
              <a:buNone/>
            </a:pP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System.Data.SqlClient</a:t>
            </a:r>
            <a:r>
              <a:rPr lang="en-IN" sz="900" dirty="0">
                <a:solidFill>
                  <a:srgbClr val="000000"/>
                </a:solidFill>
                <a:latin typeface="Cascadia Mono" panose="020B0609020000020004" pitchFamily="49" charset="0"/>
              </a:rPr>
              <a:t>;</a:t>
            </a:r>
          </a:p>
          <a:p>
            <a:pPr marL="0" indent="0">
              <a:buNone/>
            </a:pP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a:t>
            </a:r>
            <a:r>
              <a:rPr lang="en-IN" sz="900" dirty="0">
                <a:solidFill>
                  <a:srgbClr val="000000"/>
                </a:solidFill>
                <a:latin typeface="Cascadia Mono" panose="020B0609020000020004" pitchFamily="49" charset="0"/>
              </a:rPr>
              <a:t>;</a:t>
            </a:r>
          </a:p>
          <a:p>
            <a:pPr marL="0" indent="0">
              <a:buNone/>
            </a:pPr>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ConsoleAppADONETSTUDENTS.DAL</a:t>
            </a:r>
            <a:endParaRPr lang="en-IN"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EmpDALDisconnect</a:t>
            </a:r>
            <a:endParaRPr lang="en-IN"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      </a:t>
            </a:r>
          </a:p>
          <a:p>
            <a:pPr marL="0" indent="0">
              <a:buNone/>
            </a:pP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SqlDataAdapter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dataAdapter</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DataSet</a:t>
            </a:r>
            <a:r>
              <a:rPr lang="en-IN" sz="900" dirty="0">
                <a:solidFill>
                  <a:srgbClr val="000000"/>
                </a:solidFill>
                <a:latin typeface="Cascadia Mono" panose="020B0609020000020004" pitchFamily="49" charset="0"/>
              </a:rPr>
              <a:t> dataset;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 connection;</a:t>
            </a:r>
          </a:p>
          <a:p>
            <a:pPr marL="0" indent="0">
              <a:buNone/>
            </a:pP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EmpDALDisconnect</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p>
          <a:p>
            <a:pPr marL="0" indent="0">
              <a:buNone/>
            </a:pP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iconfiguration.GetConnectionString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p>
          <a:p>
            <a:pPr marL="0" indent="0">
              <a:buNone/>
            </a:pP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Create an instance of </a:t>
            </a:r>
            <a:r>
              <a:rPr lang="en-US" sz="900" dirty="0" err="1">
                <a:solidFill>
                  <a:srgbClr val="008000"/>
                </a:solidFill>
                <a:latin typeface="Cascadia Mono" panose="020B0609020000020004" pitchFamily="49" charset="0"/>
              </a:rPr>
              <a:t>DataSet</a:t>
            </a:r>
            <a:r>
              <a:rPr lang="en-US" sz="900" dirty="0">
                <a:solidFill>
                  <a:srgbClr val="008000"/>
                </a:solidFill>
                <a:latin typeface="Cascadia Mono" panose="020B0609020000020004" pitchFamily="49" charset="0"/>
              </a:rPr>
              <a:t>, which is an in-memory datastore for storing tables</a:t>
            </a:r>
            <a:endParaRPr lang="en-US"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displayproduct</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Create an instance of </a:t>
            </a:r>
            <a:r>
              <a:rPr lang="en-US" sz="900" dirty="0" err="1">
                <a:solidFill>
                  <a:srgbClr val="008000"/>
                </a:solidFill>
                <a:latin typeface="Cascadia Mono" panose="020B0609020000020004" pitchFamily="49" charset="0"/>
              </a:rPr>
              <a:t>SqlDataAdapter</a:t>
            </a:r>
            <a:r>
              <a:rPr lang="en-US" sz="900" dirty="0">
                <a:solidFill>
                  <a:srgbClr val="008000"/>
                </a:solidFill>
                <a:latin typeface="Cascadia Mono" panose="020B0609020000020004" pitchFamily="49" charset="0"/>
              </a:rPr>
              <a:t>. </a:t>
            </a:r>
            <a:r>
              <a:rPr lang="en-US" sz="900" dirty="0" err="1">
                <a:solidFill>
                  <a:srgbClr val="008000"/>
                </a:solidFill>
                <a:latin typeface="Cascadia Mono" panose="020B0609020000020004" pitchFamily="49" charset="0"/>
              </a:rPr>
              <a:t>Spcify</a:t>
            </a:r>
            <a:r>
              <a:rPr lang="en-US" sz="900" dirty="0">
                <a:solidFill>
                  <a:srgbClr val="008000"/>
                </a:solidFill>
                <a:latin typeface="Cascadia Mono" panose="020B0609020000020004" pitchFamily="49" charset="0"/>
              </a:rPr>
              <a:t> the command and the connection</a:t>
            </a:r>
            <a:endParaRPr lang="en-US" sz="900" dirty="0">
              <a:solidFill>
                <a:srgbClr val="000000"/>
              </a:solidFill>
              <a:latin typeface="Cascadia Mono" panose="020B0609020000020004" pitchFamily="49" charset="0"/>
            </a:endParaRPr>
          </a:p>
          <a:p>
            <a:pPr marL="0" indent="0">
              <a:buNone/>
            </a:pP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Call the Fill() methods, which automatically 0opens the connection, executes the command </a:t>
            </a:r>
            <a:endParaRPr lang="en-US" sz="900" dirty="0">
              <a:solidFill>
                <a:srgbClr val="000000"/>
              </a:solidFill>
              <a:latin typeface="Cascadia Mono" panose="020B0609020000020004" pitchFamily="49" charset="0"/>
            </a:endParaRPr>
          </a:p>
          <a:p>
            <a:pPr marL="0" indent="0">
              <a:buNone/>
            </a:pP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and fills the dataset with data, and finally closes the connection.</a:t>
            </a:r>
            <a:endParaRPr lang="en-US"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//no open method</a:t>
            </a:r>
            <a:endParaRPr lang="en-IN"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connection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a:t>
            </a:r>
            <a:r>
              <a:rPr lang="en-IN" sz="900" dirty="0">
                <a:solidFill>
                  <a:srgbClr val="000000"/>
                </a:solidFill>
                <a:latin typeface="Cascadia Mono" panose="020B0609020000020004" pitchFamily="49" charset="0"/>
              </a:rPr>
              <a:t>(_</a:t>
            </a:r>
            <a:r>
              <a:rPr lang="en-IN" sz="900" dirty="0" err="1">
                <a:solidFill>
                  <a:srgbClr val="000000"/>
                </a:solidFill>
                <a:latin typeface="Cascadia Mono" panose="020B0609020000020004" pitchFamily="49" charset="0"/>
              </a:rPr>
              <a:t>connectionString</a:t>
            </a:r>
            <a:r>
              <a:rPr lang="en-IN" sz="900" dirty="0">
                <a:solidFill>
                  <a:srgbClr val="000000"/>
                </a:solidFill>
                <a:latin typeface="Cascadia Mono" panose="020B0609020000020004" pitchFamily="49" charset="0"/>
              </a:rPr>
              <a:t>);</a:t>
            </a:r>
          </a:p>
          <a:p>
            <a:pPr marL="0" indent="0">
              <a:buNone/>
            </a:pPr>
            <a:endParaRPr lang="en-IN" sz="900" dirty="0">
              <a:solidFill>
                <a:srgbClr val="000000"/>
              </a:solidFill>
              <a:latin typeface="Cascadia Mono" panose="020B0609020000020004" pitchFamily="49" charset="0"/>
            </a:endParaRPr>
          </a:p>
          <a:p>
            <a:pPr marL="0" indent="0">
              <a:buNone/>
            </a:pP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dataAdapter</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SqlDataAdapter</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"select * from Employees"</a:t>
            </a:r>
            <a:r>
              <a:rPr lang="en-US" sz="900" dirty="0">
                <a:solidFill>
                  <a:srgbClr val="000000"/>
                </a:solidFill>
                <a:latin typeface="Cascadia Mono" panose="020B0609020000020004" pitchFamily="49" charset="0"/>
              </a:rPr>
              <a:t>, connection);</a:t>
            </a:r>
          </a:p>
          <a:p>
            <a:pPr marL="0" indent="0">
              <a:buNone/>
            </a:pPr>
            <a:r>
              <a:rPr lang="en-IN" sz="900" dirty="0">
                <a:solidFill>
                  <a:srgbClr val="000000"/>
                </a:solidFill>
                <a:latin typeface="Cascadia Mono" panose="020B0609020000020004" pitchFamily="49" charset="0"/>
              </a:rPr>
              <a:t>                dataset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DataSet</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dataAdapter.SelectCommand.CommandText</a:t>
            </a:r>
            <a:r>
              <a:rPr lang="en-IN" sz="900" dirty="0">
                <a:solidFill>
                  <a:srgbClr val="008000"/>
                </a:solidFill>
                <a:latin typeface="Cascadia Mono" panose="020B0609020000020004" pitchFamily="49" charset="0"/>
              </a:rPr>
              <a:t> = "";</a:t>
            </a:r>
            <a:endParaRPr lang="en-IN" sz="900" dirty="0">
              <a:solidFill>
                <a:srgbClr val="000000"/>
              </a:solidFill>
              <a:latin typeface="Cascadia Mono" panose="020B0609020000020004" pitchFamily="49" charset="0"/>
            </a:endParaRPr>
          </a:p>
          <a:p>
            <a:pPr marL="0" indent="0">
              <a:buNone/>
            </a:pPr>
            <a:endParaRPr lang="en-IN"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dataAdapter.FillSchema</a:t>
            </a:r>
            <a:r>
              <a:rPr lang="en-IN" sz="900" dirty="0">
                <a:solidFill>
                  <a:srgbClr val="000000"/>
                </a:solidFill>
                <a:highlight>
                  <a:srgbClr val="FFFF00"/>
                </a:highlight>
                <a:latin typeface="Cascadia Mono" panose="020B0609020000020004" pitchFamily="49" charset="0"/>
              </a:rPr>
              <a:t>(dataset, </a:t>
            </a:r>
            <a:r>
              <a:rPr lang="en-IN" sz="900" dirty="0" err="1">
                <a:solidFill>
                  <a:srgbClr val="000000"/>
                </a:solidFill>
                <a:highlight>
                  <a:srgbClr val="FFFF00"/>
                </a:highlight>
                <a:latin typeface="Cascadia Mono" panose="020B0609020000020004" pitchFamily="49" charset="0"/>
              </a:rPr>
              <a:t>SchemaType.Source</a:t>
            </a:r>
            <a:r>
              <a:rPr lang="en-IN" sz="900" dirty="0">
                <a:solidFill>
                  <a:srgbClr val="000000"/>
                </a:solidFill>
                <a:highlight>
                  <a:srgbClr val="FFFF00"/>
                </a:highlight>
                <a:latin typeface="Cascadia Mono" panose="020B0609020000020004" pitchFamily="49" charset="0"/>
              </a:rPr>
              <a:t>, </a:t>
            </a:r>
            <a:r>
              <a:rPr lang="en-IN" sz="900" dirty="0">
                <a:solidFill>
                  <a:srgbClr val="A31515"/>
                </a:solidFill>
                <a:highlight>
                  <a:srgbClr val="FFFF00"/>
                </a:highlight>
                <a:latin typeface="Cascadia Mono" panose="020B0609020000020004" pitchFamily="49" charset="0"/>
              </a:rPr>
              <a:t>"Employees"</a:t>
            </a:r>
            <a:r>
              <a:rPr lang="en-IN" sz="900" dirty="0">
                <a:solidFill>
                  <a:srgbClr val="000000"/>
                </a:solidFill>
                <a:highlight>
                  <a:srgbClr val="FFFF00"/>
                </a:highlight>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dataAdapter.Fill</a:t>
            </a:r>
            <a:r>
              <a:rPr lang="en-IN" sz="900" dirty="0">
                <a:solidFill>
                  <a:srgbClr val="000000"/>
                </a:solidFill>
                <a:latin typeface="Cascadia Mono" panose="020B0609020000020004" pitchFamily="49" charset="0"/>
              </a:rPr>
              <a:t>(dataset, </a:t>
            </a:r>
            <a:r>
              <a:rPr lang="en-IN" sz="900" dirty="0">
                <a:solidFill>
                  <a:srgbClr val="A31515"/>
                </a:solidFill>
                <a:latin typeface="Cascadia Mono" panose="020B0609020000020004" pitchFamily="49" charset="0"/>
              </a:rPr>
              <a:t>"Employees"</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DataTable</a:t>
            </a:r>
            <a:r>
              <a:rPr lang="en-IN" sz="900" dirty="0">
                <a:solidFill>
                  <a:srgbClr val="000000"/>
                </a:solidFill>
                <a:latin typeface="Cascadia Mono" panose="020B0609020000020004" pitchFamily="49" charset="0"/>
              </a:rPr>
              <a:t> dt = </a:t>
            </a:r>
            <a:r>
              <a:rPr lang="en-IN" sz="900" dirty="0" err="1">
                <a:solidFill>
                  <a:srgbClr val="000000"/>
                </a:solidFill>
                <a:latin typeface="Cascadia Mono" panose="020B0609020000020004" pitchFamily="49" charset="0"/>
              </a:rPr>
              <a:t>dataset.Tables</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"Employees"</a:t>
            </a:r>
            <a:r>
              <a:rPr lang="en-IN" sz="900" dirty="0">
                <a:solidFill>
                  <a:srgbClr val="000000"/>
                </a:solidFill>
                <a:latin typeface="Cascadia Mono" panose="020B0609020000020004" pitchFamily="49" charset="0"/>
              </a:rPr>
              <a:t>];</a:t>
            </a:r>
          </a:p>
          <a:p>
            <a:pPr marL="0" indent="0">
              <a:buNone/>
            </a:pP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DataRow</a:t>
            </a:r>
            <a:r>
              <a:rPr lang="en-US" sz="900" dirty="0">
                <a:solidFill>
                  <a:srgbClr val="000000"/>
                </a:solidFill>
                <a:latin typeface="Cascadia Mono" panose="020B0609020000020004" pitchFamily="49" charset="0"/>
              </a:rPr>
              <a:t> row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dt.Rows</a:t>
            </a:r>
            <a:r>
              <a:rPr lang="en-US"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p>
          <a:p>
            <a:pPr marL="0" indent="0">
              <a:buNone/>
            </a:pP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foreach</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DataColumn</a:t>
            </a:r>
            <a:r>
              <a:rPr lang="en-IN" sz="900" dirty="0">
                <a:solidFill>
                  <a:srgbClr val="000000"/>
                </a:solidFill>
                <a:latin typeface="Cascadia Mono" panose="020B0609020000020004" pitchFamily="49" charset="0"/>
              </a:rPr>
              <a:t> col </a:t>
            </a:r>
            <a:r>
              <a:rPr lang="en-IN" sz="900" dirty="0">
                <a:solidFill>
                  <a:srgbClr val="0000FF"/>
                </a:solidFill>
                <a:latin typeface="Cascadia Mono" panose="020B0609020000020004" pitchFamily="49" charset="0"/>
              </a:rPr>
              <a:t>in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dt.Columns</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(row[col] + </a:t>
            </a:r>
            <a:r>
              <a:rPr lang="en-IN" sz="900" dirty="0">
                <a:solidFill>
                  <a:srgbClr val="A31515"/>
                </a:solidFill>
                <a:latin typeface="Cascadia Mono" panose="020B0609020000020004" pitchFamily="49" charset="0"/>
              </a:rPr>
              <a:t>" "</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pPr marL="0" indent="0">
              <a:buNone/>
            </a:pPr>
            <a:r>
              <a:rPr lang="en-IN" sz="900" dirty="0">
                <a:solidFill>
                  <a:srgbClr val="000000"/>
                </a:solidFill>
                <a:latin typeface="Cascadia Mono" panose="020B0609020000020004" pitchFamily="49" charset="0"/>
              </a:rPr>
              <a:t>                }</a:t>
            </a:r>
          </a:p>
          <a:p>
            <a:pPr marL="0" indent="0">
              <a:buNone/>
            </a:pPr>
            <a:endParaRPr lang="en-IN" sz="900" dirty="0">
              <a:solidFill>
                <a:srgbClr val="000000"/>
              </a:solidFill>
              <a:latin typeface="Cascadia Mono" panose="020B0609020000020004" pitchFamily="49" charset="0"/>
            </a:endParaRPr>
          </a:p>
          <a:p>
            <a:pPr marL="0" indent="0">
              <a:buNone/>
            </a:pPr>
            <a:endParaRPr lang="en-IN" sz="900" dirty="0">
              <a:solidFill>
                <a:srgbClr val="000000"/>
              </a:solidFill>
              <a:latin typeface="Cascadia Mono" panose="020B0609020000020004" pitchFamily="49" charset="0"/>
            </a:endParaRPr>
          </a:p>
          <a:p>
            <a:pPr marL="0" indent="0">
              <a:buNone/>
            </a:pPr>
            <a:r>
              <a:rPr lang="en-IN" sz="900" dirty="0">
                <a:solidFill>
                  <a:srgbClr val="000000"/>
                </a:solidFill>
                <a:latin typeface="Cascadia Mono" panose="020B0609020000020004" pitchFamily="49" charset="0"/>
              </a:rPr>
              <a:t>            }</a:t>
            </a:r>
            <a:endParaRPr lang="en-IN" sz="200" dirty="0"/>
          </a:p>
        </p:txBody>
      </p:sp>
    </p:spTree>
    <p:extLst>
      <p:ext uri="{BB962C8B-B14F-4D97-AF65-F5344CB8AC3E}">
        <p14:creationId xmlns:p14="http://schemas.microsoft.com/office/powerpoint/2010/main" val="24071730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7A4DF2-47DF-4AC2-AE77-6F7E73A43E46}"/>
              </a:ext>
            </a:extLst>
          </p:cNvPr>
          <p:cNvSpPr txBox="1"/>
          <p:nvPr/>
        </p:nvSpPr>
        <p:spPr>
          <a:xfrm>
            <a:off x="6932" y="697468"/>
            <a:ext cx="4734232" cy="4818307"/>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addindataset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DataRow</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drCurrent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dataset.Tables</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"Employees"</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NewRow</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drCurrent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"Id"</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 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drCurrent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"Name"</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 </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Ravina</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drCurrent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"Salary"</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 90000;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dataset.Tables</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"Employees"</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Rows.Add</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drCurrent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Console.WriteLine</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"Add was successful, Click any key to continue!!"</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SqlCommandBuilder</a:t>
            </a:r>
            <a:r>
              <a:rPr lang="en-IN" sz="1100" dirty="0">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 co = </a:t>
            </a:r>
            <a:r>
              <a:rPr lang="en-IN" sz="1100" dirty="0">
                <a:solidFill>
                  <a:srgbClr val="0000FF"/>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new</a:t>
            </a:r>
            <a:r>
              <a:rPr lang="en-IN" sz="1100" dirty="0">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SqlCommandBuilder</a:t>
            </a:r>
            <a:r>
              <a:rPr lang="en-IN" sz="1100" dirty="0">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dataAdapter</a:t>
            </a:r>
            <a:r>
              <a:rPr lang="en-IN" sz="1100" dirty="0">
                <a:solidFill>
                  <a:srgbClr val="000000"/>
                </a:solidFill>
                <a:effectLst/>
                <a:highlight>
                  <a:srgbClr val="FFFF00"/>
                </a:highligh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dataAdapter.Update</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(dataset, </a:t>
            </a:r>
            <a:r>
              <a:rPr lang="en-IN" sz="1100" dirty="0">
                <a:solidFill>
                  <a:srgbClr val="A31515"/>
                </a:solidFill>
                <a:effectLst/>
                <a:latin typeface="Cascadia Mono" panose="020B0609020000020004" pitchFamily="49" charset="0"/>
                <a:ea typeface="Calibri" panose="020F0502020204030204" pitchFamily="34" charset="0"/>
                <a:cs typeface="Times New Roman" panose="02020603050405020304" pitchFamily="18" charset="0"/>
              </a:rPr>
              <a:t>"Employees"</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Console.WriteLine</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co.GetInsertCommand</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r>
              <a:rPr lang="en-IN" sz="1100" dirty="0" err="1">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CommandText</a:t>
            </a: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solidFill>
                  <a:srgbClr val="000000"/>
                </a:solidFill>
                <a:effectLst/>
                <a:latin typeface="Cascadia Mono" panose="020B0609020000020004" pitchFamily="49" charset="0"/>
                <a:ea typeface="Calibri" panose="020F0502020204030204" pitchFamily="34" charset="0"/>
                <a:cs typeface="Times New Roman" panose="02020603050405020304" pitchFamily="18"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endParaRPr lang="en-IN" sz="900" dirty="0"/>
          </a:p>
        </p:txBody>
      </p:sp>
      <p:sp>
        <p:nvSpPr>
          <p:cNvPr id="6" name="Rectangle 5">
            <a:extLst>
              <a:ext uri="{FF2B5EF4-FFF2-40B4-BE49-F238E27FC236}">
                <a16:creationId xmlns:a16="http://schemas.microsoft.com/office/drawing/2014/main" id="{B71077CE-9802-4351-AE72-21A271911F16}"/>
              </a:ext>
            </a:extLst>
          </p:cNvPr>
          <p:cNvSpPr/>
          <p:nvPr/>
        </p:nvSpPr>
        <p:spPr>
          <a:xfrm>
            <a:off x="4572000" y="1524276"/>
            <a:ext cx="2819400" cy="1295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82124FEE-CD20-478D-9B84-A6177CA175F1}"/>
              </a:ext>
            </a:extLst>
          </p:cNvPr>
          <p:cNvSpPr txBox="1"/>
          <p:nvPr/>
        </p:nvSpPr>
        <p:spPr>
          <a:xfrm>
            <a:off x="5105400" y="1066800"/>
            <a:ext cx="762000" cy="261610"/>
          </a:xfrm>
          <a:prstGeom prst="rect">
            <a:avLst/>
          </a:prstGeom>
          <a:noFill/>
        </p:spPr>
        <p:txBody>
          <a:bodyPr wrap="square" rtlCol="0">
            <a:spAutoFit/>
          </a:bodyPr>
          <a:lstStyle/>
          <a:p>
            <a:r>
              <a:rPr lang="en-IN" sz="1100" dirty="0"/>
              <a:t>dataset</a:t>
            </a:r>
          </a:p>
        </p:txBody>
      </p:sp>
      <p:sp>
        <p:nvSpPr>
          <p:cNvPr id="9" name="TextBox 8">
            <a:extLst>
              <a:ext uri="{FF2B5EF4-FFF2-40B4-BE49-F238E27FC236}">
                <a16:creationId xmlns:a16="http://schemas.microsoft.com/office/drawing/2014/main" id="{85CBE25A-2FC9-4CBB-9C0C-D5042AEED417}"/>
              </a:ext>
            </a:extLst>
          </p:cNvPr>
          <p:cNvSpPr txBox="1"/>
          <p:nvPr/>
        </p:nvSpPr>
        <p:spPr>
          <a:xfrm>
            <a:off x="5129784" y="2918364"/>
            <a:ext cx="1956816" cy="215444"/>
          </a:xfrm>
          <a:prstGeom prst="rect">
            <a:avLst/>
          </a:prstGeom>
          <a:noFill/>
        </p:spPr>
        <p:txBody>
          <a:bodyPr wrap="square">
            <a:spAutoFit/>
          </a:bodyPr>
          <a:lstStyle/>
          <a:p>
            <a:r>
              <a:rPr lang="en-IN" sz="800" dirty="0" err="1">
                <a:solidFill>
                  <a:srgbClr val="000000"/>
                </a:solidFill>
                <a:highlight>
                  <a:srgbClr val="FFFFFF"/>
                </a:highlight>
                <a:latin typeface="Consolas" panose="020B0609020204030204" pitchFamily="49" charset="0"/>
              </a:rPr>
              <a:t>dataset.Tables</a:t>
            </a:r>
            <a:r>
              <a:rPr lang="en-IN" sz="800" dirty="0">
                <a:solidFill>
                  <a:srgbClr val="000000"/>
                </a:solidFill>
                <a:highlight>
                  <a:srgbClr val="FFFFFF"/>
                </a:highlight>
                <a:latin typeface="Consolas" panose="020B0609020204030204" pitchFamily="49" charset="0"/>
              </a:rPr>
              <a:t>[</a:t>
            </a:r>
            <a:r>
              <a:rPr lang="en-IN" sz="800" dirty="0">
                <a:solidFill>
                  <a:srgbClr val="A31515"/>
                </a:solidFill>
                <a:highlight>
                  <a:srgbClr val="FFFFFF"/>
                </a:highlight>
                <a:latin typeface="Consolas" panose="020B0609020204030204" pitchFamily="49" charset="0"/>
              </a:rPr>
              <a:t>"emp"</a:t>
            </a:r>
            <a:r>
              <a:rPr lang="en-IN" sz="800" dirty="0">
                <a:solidFill>
                  <a:srgbClr val="000000"/>
                </a:solidFill>
                <a:highlight>
                  <a:srgbClr val="FFFFFF"/>
                </a:highlight>
                <a:latin typeface="Consolas" panose="020B0609020204030204" pitchFamily="49" charset="0"/>
              </a:rPr>
              <a:t>].</a:t>
            </a:r>
            <a:r>
              <a:rPr lang="en-IN" sz="800" dirty="0" err="1">
                <a:solidFill>
                  <a:srgbClr val="000000"/>
                </a:solidFill>
                <a:highlight>
                  <a:srgbClr val="FFFFFF"/>
                </a:highlight>
                <a:latin typeface="Consolas" panose="020B0609020204030204" pitchFamily="49" charset="0"/>
              </a:rPr>
              <a:t>NewRow</a:t>
            </a:r>
            <a:r>
              <a:rPr lang="en-IN" sz="800" dirty="0">
                <a:solidFill>
                  <a:srgbClr val="000000"/>
                </a:solidFill>
                <a:highlight>
                  <a:srgbClr val="FFFFFF"/>
                </a:highlight>
                <a:latin typeface="Consolas" panose="020B0609020204030204" pitchFamily="49" charset="0"/>
              </a:rPr>
              <a:t>();</a:t>
            </a:r>
            <a:endParaRPr lang="en-IN" sz="800" dirty="0"/>
          </a:p>
        </p:txBody>
      </p:sp>
      <p:graphicFrame>
        <p:nvGraphicFramePr>
          <p:cNvPr id="10" name="Table 10">
            <a:extLst>
              <a:ext uri="{FF2B5EF4-FFF2-40B4-BE49-F238E27FC236}">
                <a16:creationId xmlns:a16="http://schemas.microsoft.com/office/drawing/2014/main" id="{2CB7385C-EED1-454D-BE77-64CFD59C9B3D}"/>
              </a:ext>
            </a:extLst>
          </p:cNvPr>
          <p:cNvGraphicFramePr>
            <a:graphicFrameLocks noGrp="1"/>
          </p:cNvGraphicFramePr>
          <p:nvPr>
            <p:extLst>
              <p:ext uri="{D42A27DB-BD31-4B8C-83A1-F6EECF244321}">
                <p14:modId xmlns:p14="http://schemas.microsoft.com/office/powerpoint/2010/main" val="413127690"/>
              </p:ext>
            </p:extLst>
          </p:nvPr>
        </p:nvGraphicFramePr>
        <p:xfrm>
          <a:off x="5257800" y="3200400"/>
          <a:ext cx="2628900" cy="636896"/>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478737014"/>
                    </a:ext>
                  </a:extLst>
                </a:gridCol>
                <a:gridCol w="1075963">
                  <a:extLst>
                    <a:ext uri="{9D8B030D-6E8A-4147-A177-3AD203B41FA5}">
                      <a16:colId xmlns:a16="http://schemas.microsoft.com/office/drawing/2014/main" val="4028873601"/>
                    </a:ext>
                  </a:extLst>
                </a:gridCol>
                <a:gridCol w="676637">
                  <a:extLst>
                    <a:ext uri="{9D8B030D-6E8A-4147-A177-3AD203B41FA5}">
                      <a16:colId xmlns:a16="http://schemas.microsoft.com/office/drawing/2014/main" val="4161023431"/>
                    </a:ext>
                  </a:extLst>
                </a:gridCol>
              </a:tblGrid>
              <a:tr h="318448">
                <a:tc>
                  <a:txBody>
                    <a:bodyPr/>
                    <a:lstStyle/>
                    <a:p>
                      <a:r>
                        <a:rPr lang="en-IN" sz="1100" dirty="0"/>
                        <a:t>Id</a:t>
                      </a:r>
                    </a:p>
                  </a:txBody>
                  <a:tcPr/>
                </a:tc>
                <a:tc>
                  <a:txBody>
                    <a:bodyPr/>
                    <a:lstStyle/>
                    <a:p>
                      <a:r>
                        <a:rPr lang="en-IN" sz="1100" dirty="0"/>
                        <a:t>Name</a:t>
                      </a:r>
                    </a:p>
                  </a:txBody>
                  <a:tcPr/>
                </a:tc>
                <a:tc>
                  <a:txBody>
                    <a:bodyPr/>
                    <a:lstStyle/>
                    <a:p>
                      <a:r>
                        <a:rPr lang="en-IN" sz="1100" dirty="0"/>
                        <a:t>Salary</a:t>
                      </a:r>
                    </a:p>
                  </a:txBody>
                  <a:tcPr/>
                </a:tc>
                <a:extLst>
                  <a:ext uri="{0D108BD9-81ED-4DB2-BD59-A6C34878D82A}">
                    <a16:rowId xmlns:a16="http://schemas.microsoft.com/office/drawing/2014/main" val="1880301119"/>
                  </a:ext>
                </a:extLst>
              </a:tr>
              <a:tr h="318448">
                <a:tc>
                  <a:txBody>
                    <a:bodyPr/>
                    <a:lstStyle/>
                    <a:p>
                      <a:r>
                        <a:rPr lang="en-US" sz="1100" dirty="0"/>
                        <a:t>8</a:t>
                      </a:r>
                      <a:endParaRPr lang="en-IN" sz="1100" dirty="0"/>
                    </a:p>
                  </a:txBody>
                  <a:tcPr/>
                </a:tc>
                <a:tc>
                  <a:txBody>
                    <a:bodyPr/>
                    <a:lstStyle/>
                    <a:p>
                      <a:r>
                        <a:rPr lang="en-IN" sz="1100" dirty="0"/>
                        <a:t>Raveena</a:t>
                      </a:r>
                    </a:p>
                  </a:txBody>
                  <a:tcPr/>
                </a:tc>
                <a:tc>
                  <a:txBody>
                    <a:bodyPr/>
                    <a:lstStyle/>
                    <a:p>
                      <a:r>
                        <a:rPr lang="en-IN" sz="1100" dirty="0"/>
                        <a:t>9000</a:t>
                      </a:r>
                    </a:p>
                  </a:txBody>
                  <a:tcPr/>
                </a:tc>
                <a:extLst>
                  <a:ext uri="{0D108BD9-81ED-4DB2-BD59-A6C34878D82A}">
                    <a16:rowId xmlns:a16="http://schemas.microsoft.com/office/drawing/2014/main" val="3113065302"/>
                  </a:ext>
                </a:extLst>
              </a:tr>
            </a:tbl>
          </a:graphicData>
        </a:graphic>
      </p:graphicFrame>
      <p:sp>
        <p:nvSpPr>
          <p:cNvPr id="12" name="TextBox 11">
            <a:extLst>
              <a:ext uri="{FF2B5EF4-FFF2-40B4-BE49-F238E27FC236}">
                <a16:creationId xmlns:a16="http://schemas.microsoft.com/office/drawing/2014/main" id="{46845216-243B-4164-9543-D7713E4783A3}"/>
              </a:ext>
            </a:extLst>
          </p:cNvPr>
          <p:cNvSpPr txBox="1"/>
          <p:nvPr/>
        </p:nvSpPr>
        <p:spPr>
          <a:xfrm>
            <a:off x="7162800" y="2887587"/>
            <a:ext cx="963168" cy="246221"/>
          </a:xfrm>
          <a:prstGeom prst="rect">
            <a:avLst/>
          </a:prstGeom>
          <a:noFill/>
        </p:spPr>
        <p:txBody>
          <a:bodyPr wrap="square">
            <a:spAutoFit/>
          </a:bodyPr>
          <a:lstStyle/>
          <a:p>
            <a:r>
              <a:rPr lang="en-IN" sz="1000" dirty="0" err="1">
                <a:solidFill>
                  <a:srgbClr val="000000"/>
                </a:solidFill>
                <a:highlight>
                  <a:srgbClr val="FFFFFF"/>
                </a:highlight>
                <a:latin typeface="Consolas" panose="020B0609020204030204" pitchFamily="49" charset="0"/>
              </a:rPr>
              <a:t>drCurrent</a:t>
            </a:r>
            <a:endParaRPr lang="en-IN" sz="1000" dirty="0"/>
          </a:p>
        </p:txBody>
      </p:sp>
      <p:graphicFrame>
        <p:nvGraphicFramePr>
          <p:cNvPr id="13" name="Table 13">
            <a:extLst>
              <a:ext uri="{FF2B5EF4-FFF2-40B4-BE49-F238E27FC236}">
                <a16:creationId xmlns:a16="http://schemas.microsoft.com/office/drawing/2014/main" id="{634605AD-4F65-4DA1-8038-6D5B568C53FC}"/>
              </a:ext>
            </a:extLst>
          </p:cNvPr>
          <p:cNvGraphicFramePr>
            <a:graphicFrameLocks noGrp="1"/>
          </p:cNvGraphicFramePr>
          <p:nvPr>
            <p:extLst>
              <p:ext uri="{D42A27DB-BD31-4B8C-83A1-F6EECF244321}">
                <p14:modId xmlns:p14="http://schemas.microsoft.com/office/powerpoint/2010/main" val="3339573356"/>
              </p:ext>
            </p:extLst>
          </p:nvPr>
        </p:nvGraphicFramePr>
        <p:xfrm>
          <a:off x="4914900" y="1594146"/>
          <a:ext cx="1685925" cy="1158240"/>
        </p:xfrm>
        <a:graphic>
          <a:graphicData uri="http://schemas.openxmlformats.org/drawingml/2006/table">
            <a:tbl>
              <a:tblPr firstRow="1" bandRow="1">
                <a:tableStyleId>{5C22544A-7EE6-4342-B048-85BDC9FD1C3A}</a:tableStyleId>
              </a:tblPr>
              <a:tblGrid>
                <a:gridCol w="561975">
                  <a:extLst>
                    <a:ext uri="{9D8B030D-6E8A-4147-A177-3AD203B41FA5}">
                      <a16:colId xmlns:a16="http://schemas.microsoft.com/office/drawing/2014/main" val="1531681891"/>
                    </a:ext>
                  </a:extLst>
                </a:gridCol>
                <a:gridCol w="561975">
                  <a:extLst>
                    <a:ext uri="{9D8B030D-6E8A-4147-A177-3AD203B41FA5}">
                      <a16:colId xmlns:a16="http://schemas.microsoft.com/office/drawing/2014/main" val="1887292471"/>
                    </a:ext>
                  </a:extLst>
                </a:gridCol>
                <a:gridCol w="561975">
                  <a:extLst>
                    <a:ext uri="{9D8B030D-6E8A-4147-A177-3AD203B41FA5}">
                      <a16:colId xmlns:a16="http://schemas.microsoft.com/office/drawing/2014/main" val="1149386776"/>
                    </a:ext>
                  </a:extLst>
                </a:gridCol>
              </a:tblGrid>
              <a:tr h="25400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945046446"/>
                  </a:ext>
                </a:extLst>
              </a:tr>
              <a:tr h="254000">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2455585163"/>
                  </a:ext>
                </a:extLst>
              </a:tr>
              <a:tr h="254000">
                <a:tc>
                  <a:txBody>
                    <a:bodyPr/>
                    <a:lstStyle/>
                    <a:p>
                      <a:r>
                        <a:rPr lang="en-US" sz="1100" dirty="0"/>
                        <a:t>8</a:t>
                      </a:r>
                      <a:endParaRPr lang="en-IN" sz="1100" dirty="0"/>
                    </a:p>
                  </a:txBody>
                  <a:tcPr/>
                </a:tc>
                <a:tc>
                  <a:txBody>
                    <a:bodyPr/>
                    <a:lstStyle/>
                    <a:p>
                      <a:r>
                        <a:rPr lang="en-IN" sz="1100" dirty="0"/>
                        <a:t>Raveena</a:t>
                      </a:r>
                    </a:p>
                  </a:txBody>
                  <a:tcPr/>
                </a:tc>
                <a:tc>
                  <a:txBody>
                    <a:bodyPr/>
                    <a:lstStyle/>
                    <a:p>
                      <a:r>
                        <a:rPr lang="en-IN" sz="1100" dirty="0"/>
                        <a:t>90000</a:t>
                      </a:r>
                    </a:p>
                  </a:txBody>
                  <a:tcPr/>
                </a:tc>
                <a:extLst>
                  <a:ext uri="{0D108BD9-81ED-4DB2-BD59-A6C34878D82A}">
                    <a16:rowId xmlns:a16="http://schemas.microsoft.com/office/drawing/2014/main" val="442190789"/>
                  </a:ext>
                </a:extLst>
              </a:tr>
            </a:tbl>
          </a:graphicData>
        </a:graphic>
      </p:graphicFrame>
      <p:sp>
        <p:nvSpPr>
          <p:cNvPr id="15" name="TextBox 14">
            <a:extLst>
              <a:ext uri="{FF2B5EF4-FFF2-40B4-BE49-F238E27FC236}">
                <a16:creationId xmlns:a16="http://schemas.microsoft.com/office/drawing/2014/main" id="{9BFE3BF8-4E69-468C-923B-64B0DF9D88FB}"/>
              </a:ext>
            </a:extLst>
          </p:cNvPr>
          <p:cNvSpPr txBox="1"/>
          <p:nvPr/>
        </p:nvSpPr>
        <p:spPr>
          <a:xfrm>
            <a:off x="4485132" y="1524276"/>
            <a:ext cx="429768" cy="256514"/>
          </a:xfrm>
          <a:prstGeom prst="rect">
            <a:avLst/>
          </a:prstGeom>
          <a:noFill/>
        </p:spPr>
        <p:txBody>
          <a:bodyPr wrap="square">
            <a:spAutoFit/>
          </a:bodyPr>
          <a:lstStyle/>
          <a:p>
            <a:r>
              <a:rPr lang="en-IN" sz="1050" dirty="0">
                <a:solidFill>
                  <a:srgbClr val="A31515"/>
                </a:solidFill>
                <a:highlight>
                  <a:srgbClr val="FFFFFF"/>
                </a:highlight>
                <a:latin typeface="Consolas" panose="020B0609020204030204" pitchFamily="49" charset="0"/>
              </a:rPr>
              <a:t>emp</a:t>
            </a:r>
            <a:endParaRPr lang="en-IN" dirty="0"/>
          </a:p>
        </p:txBody>
      </p:sp>
      <p:sp>
        <p:nvSpPr>
          <p:cNvPr id="16" name="Flowchart: Magnetic Disk 15">
            <a:extLst>
              <a:ext uri="{FF2B5EF4-FFF2-40B4-BE49-F238E27FC236}">
                <a16:creationId xmlns:a16="http://schemas.microsoft.com/office/drawing/2014/main" id="{2F12C389-FA3B-4E42-B0A3-AE7E62CEFA8B}"/>
              </a:ext>
            </a:extLst>
          </p:cNvPr>
          <p:cNvSpPr/>
          <p:nvPr/>
        </p:nvSpPr>
        <p:spPr>
          <a:xfrm>
            <a:off x="8001000" y="1676400"/>
            <a:ext cx="963168" cy="8382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B148090-4302-4853-B7F0-4A6E09323FDA}"/>
              </a:ext>
            </a:extLst>
          </p:cNvPr>
          <p:cNvSpPr txBox="1"/>
          <p:nvPr/>
        </p:nvSpPr>
        <p:spPr>
          <a:xfrm>
            <a:off x="7609332" y="697468"/>
            <a:ext cx="1066800" cy="369332"/>
          </a:xfrm>
          <a:prstGeom prst="rect">
            <a:avLst/>
          </a:prstGeom>
          <a:noFill/>
        </p:spPr>
        <p:txBody>
          <a:bodyPr wrap="square">
            <a:spAutoFit/>
          </a:bodyPr>
          <a:lstStyle/>
          <a:p>
            <a:r>
              <a:rPr lang="en-IN" sz="1800" dirty="0">
                <a:solidFill>
                  <a:srgbClr val="000000"/>
                </a:solidFill>
                <a:highlight>
                  <a:srgbClr val="FFFFFF"/>
                </a:highlight>
                <a:latin typeface="Consolas" panose="020B0609020204030204" pitchFamily="49" charset="0"/>
              </a:rPr>
              <a:t>Update</a:t>
            </a:r>
            <a:endParaRPr lang="en-IN" dirty="0"/>
          </a:p>
        </p:txBody>
      </p:sp>
      <p:sp>
        <p:nvSpPr>
          <p:cNvPr id="20" name="TextBox 19">
            <a:extLst>
              <a:ext uri="{FF2B5EF4-FFF2-40B4-BE49-F238E27FC236}">
                <a16:creationId xmlns:a16="http://schemas.microsoft.com/office/drawing/2014/main" id="{8A5C92C7-6899-4069-A2DA-C8EB8CF3C0A3}"/>
              </a:ext>
            </a:extLst>
          </p:cNvPr>
          <p:cNvSpPr txBox="1"/>
          <p:nvPr/>
        </p:nvSpPr>
        <p:spPr>
          <a:xfrm>
            <a:off x="6396228" y="473820"/>
            <a:ext cx="1533144" cy="261610"/>
          </a:xfrm>
          <a:prstGeom prst="rect">
            <a:avLst/>
          </a:prstGeom>
          <a:noFill/>
        </p:spPr>
        <p:txBody>
          <a:bodyPr wrap="square">
            <a:spAutoFit/>
          </a:bodyPr>
          <a:lstStyle/>
          <a:p>
            <a:r>
              <a:rPr lang="en-US" sz="1050" dirty="0" err="1">
                <a:solidFill>
                  <a:srgbClr val="2B91AF"/>
                </a:solidFill>
                <a:highlight>
                  <a:srgbClr val="FFFFFF"/>
                </a:highlight>
                <a:latin typeface="Consolas" panose="020B0609020204030204" pitchFamily="49" charset="0"/>
              </a:rPr>
              <a:t>SqlCommandBuilder</a:t>
            </a:r>
            <a:endParaRPr lang="en-IN" sz="1050" dirty="0"/>
          </a:p>
        </p:txBody>
      </p:sp>
      <p:sp>
        <p:nvSpPr>
          <p:cNvPr id="21" name="Rectangle 20">
            <a:extLst>
              <a:ext uri="{FF2B5EF4-FFF2-40B4-BE49-F238E27FC236}">
                <a16:creationId xmlns:a16="http://schemas.microsoft.com/office/drawing/2014/main" id="{CBBFFA08-09AE-478E-AB25-F3BC6676D7A0}"/>
              </a:ext>
            </a:extLst>
          </p:cNvPr>
          <p:cNvSpPr/>
          <p:nvPr/>
        </p:nvSpPr>
        <p:spPr>
          <a:xfrm>
            <a:off x="5786628" y="638491"/>
            <a:ext cx="457200" cy="322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a:t>
            </a:r>
          </a:p>
        </p:txBody>
      </p:sp>
      <p:sp>
        <p:nvSpPr>
          <p:cNvPr id="22" name="Rectangle 21">
            <a:extLst>
              <a:ext uri="{FF2B5EF4-FFF2-40B4-BE49-F238E27FC236}">
                <a16:creationId xmlns:a16="http://schemas.microsoft.com/office/drawing/2014/main" id="{29A4F25B-0956-492C-BD17-3BA488BC7D39}"/>
              </a:ext>
            </a:extLst>
          </p:cNvPr>
          <p:cNvSpPr/>
          <p:nvPr/>
        </p:nvSpPr>
        <p:spPr>
          <a:xfrm>
            <a:off x="6629400" y="735430"/>
            <a:ext cx="762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5EB52E30-ACAF-48B6-AB75-4997A53D5C0D}"/>
              </a:ext>
            </a:extLst>
          </p:cNvPr>
          <p:cNvCxnSpPr/>
          <p:nvPr/>
        </p:nvCxnSpPr>
        <p:spPr>
          <a:xfrm>
            <a:off x="7929372" y="1104762"/>
            <a:ext cx="385572" cy="547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499FA32-67DF-4C10-91CB-D6836415CFEC}"/>
              </a:ext>
            </a:extLst>
          </p:cNvPr>
          <p:cNvCxnSpPr/>
          <p:nvPr/>
        </p:nvCxnSpPr>
        <p:spPr>
          <a:xfrm flipV="1">
            <a:off x="7200900" y="1097531"/>
            <a:ext cx="762000" cy="647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3DE9C00C-DB49-1CAE-915F-F050F4E57727}"/>
              </a:ext>
            </a:extLst>
          </p:cNvPr>
          <p:cNvCxnSpPr/>
          <p:nvPr/>
        </p:nvCxnSpPr>
        <p:spPr>
          <a:xfrm>
            <a:off x="2819400" y="3837296"/>
            <a:ext cx="3048000" cy="963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702E186-30E3-5C8D-6C1C-00A0537C017A}"/>
              </a:ext>
            </a:extLst>
          </p:cNvPr>
          <p:cNvSpPr txBox="1"/>
          <p:nvPr/>
        </p:nvSpPr>
        <p:spPr>
          <a:xfrm>
            <a:off x="6096000" y="4419600"/>
            <a:ext cx="2971800" cy="1477328"/>
          </a:xfrm>
          <a:prstGeom prst="rect">
            <a:avLst/>
          </a:prstGeom>
          <a:noFill/>
        </p:spPr>
        <p:txBody>
          <a:bodyPr wrap="square" rtlCol="0">
            <a:spAutoFit/>
          </a:bodyPr>
          <a:lstStyle/>
          <a:p>
            <a:r>
              <a:rPr lang="en-US" dirty="0"/>
              <a:t>This class is responsible to write query.</a:t>
            </a:r>
          </a:p>
          <a:p>
            <a:endParaRPr lang="en-US" dirty="0"/>
          </a:p>
          <a:p>
            <a:r>
              <a:rPr lang="en-US" dirty="0"/>
              <a:t>Is this line require?</a:t>
            </a:r>
          </a:p>
          <a:p>
            <a:r>
              <a:rPr lang="en-US" dirty="0">
                <a:highlight>
                  <a:srgbClr val="FFFF00"/>
                </a:highlight>
              </a:rPr>
              <a:t>Yes</a:t>
            </a:r>
            <a:endParaRPr lang="en-IN" dirty="0">
              <a:highlight>
                <a:srgbClr val="FFFF00"/>
              </a:highlight>
            </a:endParaRPr>
          </a:p>
        </p:txBody>
      </p:sp>
    </p:spTree>
    <p:extLst>
      <p:ext uri="{BB962C8B-B14F-4D97-AF65-F5344CB8AC3E}">
        <p14:creationId xmlns:p14="http://schemas.microsoft.com/office/powerpoint/2010/main" val="3295293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971CDB-FEE3-4FF3-8529-2E989A0F5F33}"/>
              </a:ext>
            </a:extLst>
          </p:cNvPr>
          <p:cNvSpPr txBox="1"/>
          <p:nvPr/>
        </p:nvSpPr>
        <p:spPr>
          <a:xfrm>
            <a:off x="1143000" y="342698"/>
            <a:ext cx="7010400" cy="2462213"/>
          </a:xfrm>
          <a:prstGeom prst="rect">
            <a:avLst/>
          </a:prstGeom>
          <a:noFill/>
        </p:spPr>
        <p:txBody>
          <a:bodyPr wrap="square">
            <a:spAutoFit/>
          </a:bodyPr>
          <a:lstStyle/>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deletebyid</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id)</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DataRow</a:t>
            </a:r>
            <a:r>
              <a:rPr lang="en-US" sz="1100" dirty="0">
                <a:solidFill>
                  <a:srgbClr val="000000"/>
                </a:solidFill>
                <a:latin typeface="Cascadia Mono" panose="020B0609020000020004" pitchFamily="49" charset="0"/>
              </a:rPr>
              <a:t> dd = </a:t>
            </a:r>
            <a:r>
              <a:rPr lang="en-US" sz="1100" dirty="0" err="1">
                <a:solidFill>
                  <a:srgbClr val="000000"/>
                </a:solidFill>
                <a:latin typeface="Cascadia Mono" panose="020B0609020000020004" pitchFamily="49" charset="0"/>
              </a:rPr>
              <a:t>dataset.Tables</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"Employees"</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Rows.Find</a:t>
            </a:r>
            <a:r>
              <a:rPr lang="en-US" sz="1100" dirty="0">
                <a:solidFill>
                  <a:srgbClr val="000000"/>
                </a:solidFill>
                <a:latin typeface="Cascadia Mono" panose="020B0609020000020004" pitchFamily="49" charset="0"/>
              </a:rPr>
              <a:t>(id);</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dataset.Tables</a:t>
            </a:r>
            <a:r>
              <a:rPr lang="en-IN" sz="1100" dirty="0">
                <a:solidFill>
                  <a:srgbClr val="008000"/>
                </a:solidFill>
                <a:latin typeface="Cascadia Mono" panose="020B0609020000020004" pitchFamily="49" charset="0"/>
              </a:rPr>
              <a:t>["emp"].Rows.;</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dd.Delete</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a:t>
            </a:r>
            <a:r>
              <a:rPr lang="en-US" sz="1100" dirty="0" err="1">
                <a:solidFill>
                  <a:srgbClr val="008000"/>
                </a:solidFill>
                <a:latin typeface="Cascadia Mono" panose="020B0609020000020004" pitchFamily="49" charset="0"/>
              </a:rPr>
              <a:t>SqlCommandBuilder</a:t>
            </a:r>
            <a:r>
              <a:rPr lang="en-US" sz="1100" dirty="0">
                <a:solidFill>
                  <a:srgbClr val="008000"/>
                </a:solidFill>
                <a:latin typeface="Cascadia Mono" panose="020B0609020000020004" pitchFamily="49" charset="0"/>
              </a:rPr>
              <a:t> co = new </a:t>
            </a:r>
            <a:r>
              <a:rPr lang="en-US" sz="1100" dirty="0" err="1">
                <a:solidFill>
                  <a:srgbClr val="008000"/>
                </a:solidFill>
                <a:latin typeface="Cascadia Mono" panose="020B0609020000020004" pitchFamily="49" charset="0"/>
              </a:rPr>
              <a:t>SqlCommandBuilder</a:t>
            </a:r>
            <a:r>
              <a:rPr lang="en-US" sz="1100" dirty="0">
                <a:solidFill>
                  <a:srgbClr val="008000"/>
                </a:solidFill>
                <a:latin typeface="Cascadia Mono" panose="020B0609020000020004" pitchFamily="49" charset="0"/>
              </a:rPr>
              <a:t>(</a:t>
            </a:r>
            <a:r>
              <a:rPr lang="en-US" sz="1100" dirty="0" err="1">
                <a:solidFill>
                  <a:srgbClr val="008000"/>
                </a:solidFill>
                <a:latin typeface="Cascadia Mono" panose="020B0609020000020004" pitchFamily="49" charset="0"/>
              </a:rPr>
              <a:t>dataAdapter</a:t>
            </a:r>
            <a:r>
              <a:rPr lang="en-US" sz="1100" dirty="0">
                <a:solidFill>
                  <a:srgbClr val="008000"/>
                </a:solidFill>
                <a:latin typeface="Cascadia Mono" panose="020B0609020000020004" pitchFamily="49" charset="0"/>
              </a:rPr>
              <a:t>);</a:t>
            </a:r>
            <a:endParaRPr lang="en-US"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dataAdapter.Update</a:t>
            </a:r>
            <a:r>
              <a:rPr lang="en-IN" sz="1100" dirty="0">
                <a:solidFill>
                  <a:srgbClr val="000000"/>
                </a:solidFill>
                <a:latin typeface="Cascadia Mono" panose="020B0609020000020004" pitchFamily="49" charset="0"/>
              </a:rPr>
              <a:t>(dataset, </a:t>
            </a:r>
            <a:r>
              <a:rPr lang="en-IN" sz="1100" dirty="0">
                <a:solidFill>
                  <a:srgbClr val="A31515"/>
                </a:solidFill>
                <a:latin typeface="Cascadia Mono" panose="020B0609020000020004" pitchFamily="49" charset="0"/>
              </a:rPr>
              <a:t>"Employees"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Console.WriteLine</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co.GetDeleteCommand</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CommandText</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endParaRPr lang="en-IN" sz="1100" dirty="0"/>
          </a:p>
        </p:txBody>
      </p:sp>
      <p:sp>
        <p:nvSpPr>
          <p:cNvPr id="7" name="TextBox 6">
            <a:extLst>
              <a:ext uri="{FF2B5EF4-FFF2-40B4-BE49-F238E27FC236}">
                <a16:creationId xmlns:a16="http://schemas.microsoft.com/office/drawing/2014/main" id="{0AA605ED-6C7B-484C-9490-71FD9084412D}"/>
              </a:ext>
            </a:extLst>
          </p:cNvPr>
          <p:cNvSpPr txBox="1"/>
          <p:nvPr/>
        </p:nvSpPr>
        <p:spPr>
          <a:xfrm>
            <a:off x="76200" y="2793325"/>
            <a:ext cx="7772400" cy="4031873"/>
          </a:xfrm>
          <a:prstGeom prst="rect">
            <a:avLst/>
          </a:prstGeom>
          <a:noFill/>
        </p:spPr>
        <p:txBody>
          <a:bodyPr wrap="square">
            <a:spAutoFit/>
          </a:bodyPr>
          <a:lstStyle/>
          <a:p>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void</a:t>
            </a:r>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updatedata</a:t>
            </a:r>
            <a:r>
              <a:rPr lang="en-IN" sz="1600" dirty="0">
                <a:solidFill>
                  <a:srgbClr val="000000"/>
                </a:solidFill>
                <a:latin typeface="Cascadia Mono" panose="020B0609020000020004" pitchFamily="49" charset="0"/>
              </a:rPr>
              <a:t>(</a:t>
            </a:r>
            <a:r>
              <a:rPr lang="en-IN" sz="1600" dirty="0">
                <a:solidFill>
                  <a:srgbClr val="0000FF"/>
                </a:solidFill>
                <a:latin typeface="Cascadia Mono" panose="020B0609020000020004" pitchFamily="49" charset="0"/>
              </a:rPr>
              <a:t>int</a:t>
            </a:r>
            <a:r>
              <a:rPr lang="en-IN" sz="1600" dirty="0">
                <a:solidFill>
                  <a:srgbClr val="000000"/>
                </a:solidFill>
                <a:latin typeface="Cascadia Mono" panose="020B0609020000020004" pitchFamily="49" charset="0"/>
              </a:rPr>
              <a:t> id)</a:t>
            </a: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DataRow</a:t>
            </a:r>
            <a:r>
              <a:rPr lang="en-US" sz="1600" dirty="0">
                <a:solidFill>
                  <a:srgbClr val="000000"/>
                </a:solidFill>
                <a:latin typeface="Cascadia Mono" panose="020B0609020000020004" pitchFamily="49" charset="0"/>
              </a:rPr>
              <a:t> dd = </a:t>
            </a:r>
            <a:r>
              <a:rPr lang="en-US" sz="1600" dirty="0" err="1">
                <a:solidFill>
                  <a:srgbClr val="000000"/>
                </a:solidFill>
                <a:latin typeface="Cascadia Mono" panose="020B0609020000020004" pitchFamily="49" charset="0"/>
              </a:rPr>
              <a:t>dataset.Tables</a:t>
            </a:r>
            <a:r>
              <a:rPr lang="en-US" sz="1600" dirty="0">
                <a:solidFill>
                  <a:srgbClr val="000000"/>
                </a:solidFill>
                <a:latin typeface="Cascadia Mono" panose="020B0609020000020004" pitchFamily="49" charset="0"/>
              </a:rPr>
              <a:t>[</a:t>
            </a:r>
            <a:r>
              <a:rPr lang="en-US" sz="1600" dirty="0">
                <a:solidFill>
                  <a:srgbClr val="A31515"/>
                </a:solidFill>
                <a:latin typeface="Cascadia Mono" panose="020B0609020000020004" pitchFamily="49" charset="0"/>
              </a:rPr>
              <a:t>"Employees"</a:t>
            </a:r>
            <a:r>
              <a:rPr lang="en-US" sz="1600" dirty="0">
                <a:solidFill>
                  <a:srgbClr val="000000"/>
                </a:solidFill>
                <a:latin typeface="Cascadia Mono" panose="020B0609020000020004" pitchFamily="49" charset="0"/>
              </a:rPr>
              <a:t>].</a:t>
            </a:r>
            <a:r>
              <a:rPr lang="en-US" sz="1600" dirty="0" err="1">
                <a:solidFill>
                  <a:srgbClr val="000000"/>
                </a:solidFill>
                <a:latin typeface="Cascadia Mono" panose="020B0609020000020004" pitchFamily="49" charset="0"/>
              </a:rPr>
              <a:t>Rows.Find</a:t>
            </a:r>
            <a:r>
              <a:rPr lang="en-US" sz="1600" dirty="0">
                <a:solidFill>
                  <a:srgbClr val="000000"/>
                </a:solidFill>
                <a:latin typeface="Cascadia Mono" panose="020B0609020000020004" pitchFamily="49" charset="0"/>
              </a:rPr>
              <a:t>(id);</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dd[</a:t>
            </a:r>
            <a:r>
              <a:rPr lang="en-IN" sz="1600" dirty="0">
                <a:solidFill>
                  <a:srgbClr val="A31515"/>
                </a:solidFill>
                <a:latin typeface="Cascadia Mono" panose="020B0609020000020004" pitchFamily="49" charset="0"/>
              </a:rPr>
              <a:t>"Name"</a:t>
            </a:r>
            <a:r>
              <a:rPr lang="en-IN" sz="1600" dirty="0">
                <a:solidFill>
                  <a:srgbClr val="000000"/>
                </a:solidFill>
                <a:latin typeface="Cascadia Mono" panose="020B0609020000020004" pitchFamily="49" charset="0"/>
              </a:rPr>
              <a:t>] = </a:t>
            </a:r>
            <a:r>
              <a:rPr lang="en-IN" sz="1600" dirty="0">
                <a:solidFill>
                  <a:srgbClr val="A31515"/>
                </a:solidFill>
                <a:latin typeface="Cascadia Mono" panose="020B0609020000020004" pitchFamily="49" charset="0"/>
              </a:rPr>
              <a:t>"Vidya"</a:t>
            </a:r>
            <a:r>
              <a:rPr lang="en-IN" sz="1600" dirty="0">
                <a:solidFill>
                  <a:srgbClr val="000000"/>
                </a:solidFill>
                <a:latin typeface="Cascadia Mono" panose="020B0609020000020004" pitchFamily="49" charset="0"/>
              </a:rPr>
              <a:t>;</a:t>
            </a:r>
          </a:p>
          <a:p>
            <a:endParaRPr lang="en-IN" sz="1600" dirty="0">
              <a:solidFill>
                <a:srgbClr val="000000"/>
              </a:solidFill>
              <a:latin typeface="Cascadia Mono" panose="020B0609020000020004" pitchFamily="49" charset="0"/>
            </a:endParaRPr>
          </a:p>
          <a:p>
            <a:r>
              <a:rPr lang="en-US" sz="1600" dirty="0">
                <a:solidFill>
                  <a:srgbClr val="000000"/>
                </a:solidFill>
                <a:latin typeface="Cascadia Mono" panose="020B0609020000020004" pitchFamily="49" charset="0"/>
              </a:rPr>
              <a:t>              </a:t>
            </a:r>
            <a:r>
              <a:rPr lang="en-US" sz="1600" dirty="0" err="1">
                <a:solidFill>
                  <a:srgbClr val="008000"/>
                </a:solidFill>
                <a:latin typeface="Cascadia Mono" panose="020B0609020000020004" pitchFamily="49" charset="0"/>
              </a:rPr>
              <a:t>SqlCommandBuilder</a:t>
            </a:r>
            <a:r>
              <a:rPr lang="en-US" sz="1600" dirty="0">
                <a:solidFill>
                  <a:srgbClr val="008000"/>
                </a:solidFill>
                <a:latin typeface="Cascadia Mono" panose="020B0609020000020004" pitchFamily="49" charset="0"/>
              </a:rPr>
              <a:t> co = new </a:t>
            </a:r>
            <a:r>
              <a:rPr lang="en-US" sz="1600" dirty="0" err="1">
                <a:solidFill>
                  <a:srgbClr val="008000"/>
                </a:solidFill>
                <a:latin typeface="Cascadia Mono" panose="020B0609020000020004" pitchFamily="49" charset="0"/>
              </a:rPr>
              <a:t>SqlCommandBuilder</a:t>
            </a:r>
            <a:r>
              <a:rPr lang="en-US" sz="1600" dirty="0">
                <a:solidFill>
                  <a:srgbClr val="008000"/>
                </a:solidFill>
                <a:latin typeface="Cascadia Mono" panose="020B0609020000020004" pitchFamily="49" charset="0"/>
              </a:rPr>
              <a:t>(</a:t>
            </a:r>
            <a:r>
              <a:rPr lang="en-US" sz="1600" dirty="0" err="1">
                <a:solidFill>
                  <a:srgbClr val="008000"/>
                </a:solidFill>
                <a:latin typeface="Cascadia Mono" panose="020B0609020000020004" pitchFamily="49" charset="0"/>
              </a:rPr>
              <a:t>dataAdapter</a:t>
            </a:r>
            <a:r>
              <a:rPr lang="en-US" sz="1600" dirty="0">
                <a:solidFill>
                  <a:srgbClr val="008000"/>
                </a:solidFill>
                <a:latin typeface="Cascadia Mono" panose="020B0609020000020004" pitchFamily="49" charset="0"/>
              </a:rPr>
              <a:t>);</a:t>
            </a:r>
            <a:endParaRPr lang="en-US"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dataAdapter.Update</a:t>
            </a:r>
            <a:r>
              <a:rPr lang="en-IN" sz="1600" dirty="0">
                <a:solidFill>
                  <a:srgbClr val="000000"/>
                </a:solidFill>
                <a:latin typeface="Cascadia Mono" panose="020B0609020000020004" pitchFamily="49" charset="0"/>
              </a:rPr>
              <a:t>(dataset, </a:t>
            </a:r>
            <a:r>
              <a:rPr lang="en-IN" sz="1600" dirty="0">
                <a:solidFill>
                  <a:srgbClr val="A31515"/>
                </a:solidFill>
                <a:latin typeface="Cascadia Mono" panose="020B0609020000020004" pitchFamily="49" charset="0"/>
              </a:rPr>
              <a:t>"Employees"</a:t>
            </a:r>
            <a:r>
              <a:rPr lang="en-IN" sz="1600" dirty="0">
                <a:solidFill>
                  <a:srgbClr val="000000"/>
                </a:solidFill>
                <a:latin typeface="Cascadia Mono" panose="020B0609020000020004" pitchFamily="49" charset="0"/>
              </a:rPr>
              <a:t>);</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a:solidFill>
                  <a:srgbClr val="008000"/>
                </a:solidFill>
                <a:latin typeface="Cascadia Mono" panose="020B0609020000020004" pitchFamily="49" charset="0"/>
              </a:rPr>
              <a:t>// </a:t>
            </a:r>
            <a:r>
              <a:rPr lang="en-IN" sz="1600" dirty="0" err="1">
                <a:solidFill>
                  <a:srgbClr val="008000"/>
                </a:solidFill>
                <a:latin typeface="Cascadia Mono" panose="020B0609020000020004" pitchFamily="49" charset="0"/>
              </a:rPr>
              <a:t>Console.WriteLine</a:t>
            </a:r>
            <a:r>
              <a:rPr lang="en-IN" sz="1600" dirty="0">
                <a:solidFill>
                  <a:srgbClr val="008000"/>
                </a:solidFill>
                <a:latin typeface="Cascadia Mono" panose="020B0609020000020004" pitchFamily="49" charset="0"/>
              </a:rPr>
              <a:t>(</a:t>
            </a:r>
            <a:r>
              <a:rPr lang="en-IN" sz="1600" dirty="0" err="1">
                <a:solidFill>
                  <a:srgbClr val="008000"/>
                </a:solidFill>
                <a:latin typeface="Cascadia Mono" panose="020B0609020000020004" pitchFamily="49" charset="0"/>
              </a:rPr>
              <a:t>co.GetUpdateCommand</a:t>
            </a:r>
            <a:r>
              <a:rPr lang="en-IN" sz="1600" dirty="0">
                <a:solidFill>
                  <a:srgbClr val="008000"/>
                </a:solidFill>
                <a:latin typeface="Cascadia Mono" panose="020B0609020000020004" pitchFamily="49" charset="0"/>
              </a:rPr>
              <a:t>().</a:t>
            </a:r>
            <a:r>
              <a:rPr lang="en-IN" sz="1600" dirty="0" err="1">
                <a:solidFill>
                  <a:srgbClr val="008000"/>
                </a:solidFill>
                <a:latin typeface="Cascadia Mono" panose="020B0609020000020004" pitchFamily="49" charset="0"/>
              </a:rPr>
              <a:t>CommandText</a:t>
            </a:r>
            <a:r>
              <a:rPr lang="en-IN" sz="1600" dirty="0">
                <a:solidFill>
                  <a:srgbClr val="008000"/>
                </a:solidFill>
                <a:latin typeface="Cascadia Mono" panose="020B0609020000020004" pitchFamily="49" charset="0"/>
              </a:rPr>
              <a:t>);</a:t>
            </a:r>
            <a:endParaRPr lang="en-IN" sz="1600" dirty="0">
              <a:solidFill>
                <a:srgbClr val="000000"/>
              </a:solidFill>
              <a:latin typeface="Cascadia Mono" panose="020B0609020000020004" pitchFamily="49" charset="0"/>
            </a:endParaRPr>
          </a:p>
          <a:p>
            <a:endParaRPr lang="en-IN" sz="1600" dirty="0">
              <a:solidFill>
                <a:srgbClr val="000000"/>
              </a:solidFill>
              <a:latin typeface="Cascadia Mono" panose="020B0609020000020004" pitchFamily="49" charset="0"/>
            </a:endParaRP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endParaRPr lang="en-IN" sz="1200" dirty="0"/>
          </a:p>
        </p:txBody>
      </p:sp>
      <p:sp>
        <p:nvSpPr>
          <p:cNvPr id="6" name="TextBox 5">
            <a:extLst>
              <a:ext uri="{FF2B5EF4-FFF2-40B4-BE49-F238E27FC236}">
                <a16:creationId xmlns:a16="http://schemas.microsoft.com/office/drawing/2014/main" id="{8FA9A7D5-48B4-361E-F15D-50853F11833A}"/>
              </a:ext>
            </a:extLst>
          </p:cNvPr>
          <p:cNvSpPr txBox="1"/>
          <p:nvPr/>
        </p:nvSpPr>
        <p:spPr>
          <a:xfrm>
            <a:off x="4038600" y="5867400"/>
            <a:ext cx="6096000" cy="646331"/>
          </a:xfrm>
          <a:prstGeom prst="rect">
            <a:avLst/>
          </a:prstGeom>
          <a:noFill/>
        </p:spPr>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displayxml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dataset.GetXml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1184620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86E69C-D463-478A-8A51-9E3DA79AB8A9}"/>
              </a:ext>
            </a:extLst>
          </p:cNvPr>
          <p:cNvSpPr txBox="1"/>
          <p:nvPr/>
        </p:nvSpPr>
        <p:spPr>
          <a:xfrm>
            <a:off x="304800" y="914400"/>
            <a:ext cx="8458200" cy="5078313"/>
          </a:xfrm>
          <a:prstGeom prst="rect">
            <a:avLst/>
          </a:prstGeom>
          <a:noFill/>
        </p:spPr>
        <p:txBody>
          <a:bodyPr wrap="square" rtlCol="0">
            <a:spAutoFit/>
          </a:bodyPr>
          <a:lstStyle/>
          <a:p>
            <a:r>
              <a:rPr lang="en-US" dirty="0"/>
              <a:t>Q1.create table user with id name password.</a:t>
            </a:r>
          </a:p>
          <a:p>
            <a:r>
              <a:rPr lang="en-US" dirty="0"/>
              <a:t>Create poco class user with column Id, </a:t>
            </a:r>
            <a:r>
              <a:rPr lang="en-US" dirty="0" err="1"/>
              <a:t>name,Password</a:t>
            </a:r>
            <a:endParaRPr lang="en-US" dirty="0"/>
          </a:p>
          <a:p>
            <a:r>
              <a:rPr lang="en-IN" dirty="0"/>
              <a:t>Store id name password in database.</a:t>
            </a:r>
          </a:p>
          <a:p>
            <a:r>
              <a:rPr lang="en-IN" dirty="0"/>
              <a:t>When you load application print message welcome to crimson</a:t>
            </a:r>
          </a:p>
          <a:p>
            <a:r>
              <a:rPr lang="en-IN" dirty="0"/>
              <a:t>Enter:</a:t>
            </a:r>
          </a:p>
          <a:p>
            <a:r>
              <a:rPr lang="en-IN" dirty="0"/>
              <a:t>Name:</a:t>
            </a:r>
          </a:p>
          <a:p>
            <a:r>
              <a:rPr lang="en-IN" dirty="0"/>
              <a:t>Password:</a:t>
            </a:r>
          </a:p>
          <a:p>
            <a:r>
              <a:rPr lang="en-IN" dirty="0"/>
              <a:t>Validate the user </a:t>
            </a:r>
            <a:r>
              <a:rPr lang="en-IN" dirty="0" err="1"/>
              <a:t>ie</a:t>
            </a:r>
            <a:r>
              <a:rPr lang="en-IN" dirty="0"/>
              <a:t> check if user name is there in table or not if yes display employee details.</a:t>
            </a:r>
          </a:p>
          <a:p>
            <a:endParaRPr lang="en-IN" dirty="0"/>
          </a:p>
          <a:p>
            <a:r>
              <a:rPr lang="en-IN" dirty="0"/>
              <a:t>For this you need to have employee table having detail id name salary gender.</a:t>
            </a:r>
          </a:p>
          <a:p>
            <a:r>
              <a:rPr lang="en-IN" dirty="0"/>
              <a:t>Create poco class Employee with id name salary gender.</a:t>
            </a:r>
          </a:p>
          <a:p>
            <a:endParaRPr lang="en-IN" dirty="0"/>
          </a:p>
          <a:p>
            <a:r>
              <a:rPr lang="en-IN" dirty="0"/>
              <a:t>Use connected architecture</a:t>
            </a:r>
          </a:p>
          <a:p>
            <a:r>
              <a:rPr lang="en-IN" dirty="0"/>
              <a:t>Use store procedure.</a:t>
            </a:r>
          </a:p>
          <a:p>
            <a:endParaRPr lang="en-IN" dirty="0"/>
          </a:p>
          <a:p>
            <a:endParaRPr lang="en-IN" dirty="0"/>
          </a:p>
          <a:p>
            <a:endParaRPr lang="en-IN" dirty="0"/>
          </a:p>
        </p:txBody>
      </p:sp>
    </p:spTree>
    <p:extLst>
      <p:ext uri="{BB962C8B-B14F-4D97-AF65-F5344CB8AC3E}">
        <p14:creationId xmlns:p14="http://schemas.microsoft.com/office/powerpoint/2010/main" val="2397608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08898C-43A0-E92C-E595-E30D3CD338BF}"/>
              </a:ext>
            </a:extLst>
          </p:cNvPr>
          <p:cNvSpPr txBox="1"/>
          <p:nvPr/>
        </p:nvSpPr>
        <p:spPr>
          <a:xfrm>
            <a:off x="304800" y="609600"/>
            <a:ext cx="8763000" cy="6186309"/>
          </a:xfrm>
          <a:prstGeom prst="rect">
            <a:avLst/>
          </a:prstGeom>
          <a:noFill/>
        </p:spPr>
        <p:txBody>
          <a:bodyPr wrap="square">
            <a:spAutoFit/>
          </a:bodyPr>
          <a:lstStyle/>
          <a:p>
            <a:r>
              <a:rPr lang="en-US" sz="1100" b="1" dirty="0"/>
              <a:t>A transaction </a:t>
            </a:r>
            <a:r>
              <a:rPr lang="en-US" sz="1100" dirty="0"/>
              <a:t>allows you to execute two or more SQL commands in such a way that if any one of the statements fail, then no other statement will change the database. Either all operations in the transaction are performed, or none.</a:t>
            </a:r>
          </a:p>
          <a:p>
            <a:endParaRPr lang="en-US" sz="1100" dirty="0"/>
          </a:p>
          <a:p>
            <a:r>
              <a:rPr lang="en-US" sz="1100" dirty="0"/>
              <a:t>Now let us consider a situation. First the customer is going to transfer $10 from your account to a second customer account. Now how it can be done? There are two steps that can be involved in it.</a:t>
            </a:r>
          </a:p>
          <a:p>
            <a:endParaRPr lang="en-US" sz="1100" dirty="0"/>
          </a:p>
          <a:p>
            <a:r>
              <a:rPr lang="en-US" sz="1100" dirty="0"/>
              <a:t>The first customer will deduct $10 from the account</a:t>
            </a:r>
          </a:p>
          <a:p>
            <a:r>
              <a:rPr lang="en-US" sz="1100" dirty="0"/>
              <a:t>The second customer will add $100 to the account</a:t>
            </a:r>
          </a:p>
          <a:p>
            <a:r>
              <a:rPr lang="en-US" sz="1100" dirty="0"/>
              <a:t>Now think, after completion of step1, something bad happens or some error happens for which step 2 didn't complete. What will occur? $10 will be deduced from the first customer's account but it will not be added to the second customer account. $10 will be missing. Transactions help to avoid these types of problems by ensuring that if any one of the statements fail, then no other statement will be able to change. If step 2 fails, then the changes made by step 1 will not be committed to the database.</a:t>
            </a:r>
          </a:p>
          <a:p>
            <a:endParaRPr lang="en-US" sz="1100" dirty="0"/>
          </a:p>
          <a:p>
            <a:r>
              <a:rPr lang="en-US" sz="1100" dirty="0"/>
              <a:t>ACID properties</a:t>
            </a:r>
          </a:p>
          <a:p>
            <a:endParaRPr lang="en-US" sz="1100" dirty="0"/>
          </a:p>
          <a:p>
            <a:r>
              <a:rPr lang="en-US" sz="1100" dirty="0"/>
              <a:t>A transaction is a way to group SQL statements together so that, when executed, the transaction obeys the ACID principles. In a perfect transaction world, a transaction must contain a series of properties known as ACID. These properties are:</a:t>
            </a:r>
          </a:p>
          <a:p>
            <a:endParaRPr lang="en-US" sz="1100" dirty="0"/>
          </a:p>
          <a:p>
            <a:r>
              <a:rPr lang="en-US" sz="1100" dirty="0"/>
              <a:t>Atomicity</a:t>
            </a:r>
          </a:p>
          <a:p>
            <a:endParaRPr lang="en-US" sz="1100" dirty="0"/>
          </a:p>
          <a:p>
            <a:r>
              <a:rPr lang="en-US" sz="1100" dirty="0"/>
              <a:t>The Atomicity property of the transaction defines that a transaction is an atomic unit of work or collection of separate operations. In electronic transactions, the transaction needs to be done either by 100% or 0%. This property ensures that the transaction is successful and if by chance the transaction can not be done fully, it brings the system in previous state or rollback.</a:t>
            </a:r>
          </a:p>
          <a:p>
            <a:endParaRPr lang="en-US" sz="1100" dirty="0"/>
          </a:p>
          <a:p>
            <a:r>
              <a:rPr lang="en-US" sz="1100" dirty="0"/>
              <a:t>Consistency</a:t>
            </a:r>
          </a:p>
          <a:p>
            <a:endParaRPr lang="en-US" sz="1100" dirty="0"/>
          </a:p>
          <a:p>
            <a:r>
              <a:rPr lang="en-US" sz="1100" dirty="0"/>
              <a:t>A transaction must leave the database into a consistent state whether or not it is completed successfully. The data modified by the transaction must comply with all the constraints in order to maintain integrity.</a:t>
            </a:r>
          </a:p>
          <a:p>
            <a:endParaRPr lang="en-US" sz="1100" dirty="0"/>
          </a:p>
          <a:p>
            <a:r>
              <a:rPr lang="en-US" sz="1100" dirty="0"/>
              <a:t>Isolation</a:t>
            </a:r>
          </a:p>
          <a:p>
            <a:endParaRPr lang="en-US" sz="1100" dirty="0"/>
          </a:p>
          <a:p>
            <a:r>
              <a:rPr lang="en-US" sz="1100" dirty="0"/>
              <a:t>One transaction does not interfere with another running at the same time. In case of only one transaction, it does not matter.</a:t>
            </a:r>
          </a:p>
          <a:p>
            <a:endParaRPr lang="en-US" sz="1100" dirty="0"/>
          </a:p>
          <a:p>
            <a:r>
              <a:rPr lang="en-US" sz="1100" dirty="0"/>
              <a:t>Durability</a:t>
            </a:r>
          </a:p>
          <a:p>
            <a:endParaRPr lang="en-US" sz="1100" dirty="0"/>
          </a:p>
          <a:p>
            <a:r>
              <a:rPr lang="en-US" sz="1100" dirty="0"/>
              <a:t>A committed transaction will not be lost. If the system fails later on, the data can be retrieved. </a:t>
            </a:r>
            <a:endParaRPr lang="en-IN" sz="1100" dirty="0"/>
          </a:p>
        </p:txBody>
      </p:sp>
    </p:spTree>
    <p:extLst>
      <p:ext uri="{BB962C8B-B14F-4D97-AF65-F5344CB8AC3E}">
        <p14:creationId xmlns:p14="http://schemas.microsoft.com/office/powerpoint/2010/main" val="702618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623993-C886-95A2-CFF2-3C224BE214D5}"/>
              </a:ext>
            </a:extLst>
          </p:cNvPr>
          <p:cNvSpPr txBox="1"/>
          <p:nvPr/>
        </p:nvSpPr>
        <p:spPr>
          <a:xfrm>
            <a:off x="152400" y="612844"/>
            <a:ext cx="8610600" cy="4801314"/>
          </a:xfrm>
          <a:prstGeom prst="rect">
            <a:avLst/>
          </a:prstGeom>
          <a:noFill/>
        </p:spPr>
        <p:txBody>
          <a:bodyPr wrap="square">
            <a:spAutoFit/>
          </a:bodyPr>
          <a:lstStyle/>
          <a:p>
            <a:r>
              <a:rPr lang="en-US" dirty="0"/>
              <a:t>Creating Transactions</a:t>
            </a:r>
          </a:p>
          <a:p>
            <a:endParaRPr lang="en-US" dirty="0"/>
          </a:p>
          <a:p>
            <a:r>
              <a:rPr lang="en-US" dirty="0"/>
              <a:t>Call the </a:t>
            </a:r>
            <a:r>
              <a:rPr lang="en-US" dirty="0" err="1"/>
              <a:t>BeginTransaction</a:t>
            </a:r>
            <a:r>
              <a:rPr lang="en-US" dirty="0"/>
              <a:t> method of the Connection object to mark the start of the transaction. The </a:t>
            </a:r>
            <a:r>
              <a:rPr lang="en-US" dirty="0" err="1"/>
              <a:t>BeginTransaction</a:t>
            </a:r>
            <a:r>
              <a:rPr lang="en-US" dirty="0"/>
              <a:t> method returns a reference to the Transaction. This reference is assigned to the Command objects that are enlisted in the transaction.</a:t>
            </a:r>
          </a:p>
          <a:p>
            <a:endParaRPr lang="en-US" dirty="0"/>
          </a:p>
          <a:p>
            <a:r>
              <a:rPr lang="en-US" b="1" dirty="0" err="1"/>
              <a:t>BeginTransaction</a:t>
            </a:r>
            <a:r>
              <a:rPr lang="en-US" b="1" dirty="0"/>
              <a:t>() </a:t>
            </a:r>
            <a:r>
              <a:rPr lang="en-US" dirty="0"/>
              <a:t>- To Begin a database transaction</a:t>
            </a:r>
          </a:p>
          <a:p>
            <a:endParaRPr lang="en-US" dirty="0"/>
          </a:p>
          <a:p>
            <a:r>
              <a:rPr lang="en-US" dirty="0"/>
              <a:t>You may use the following methods to work with the transaction.</a:t>
            </a:r>
          </a:p>
          <a:p>
            <a:endParaRPr lang="en-US" dirty="0"/>
          </a:p>
          <a:p>
            <a:r>
              <a:rPr lang="en-US" b="1" dirty="0"/>
              <a:t>Commit Transaction </a:t>
            </a:r>
            <a:r>
              <a:rPr lang="en-US" dirty="0"/>
              <a:t>- This ensures the successful end of a transaction. It passes signals to the database to save the work.</a:t>
            </a:r>
          </a:p>
          <a:p>
            <a:endParaRPr lang="en-US" dirty="0"/>
          </a:p>
          <a:p>
            <a:r>
              <a:rPr lang="en-US" b="1" dirty="0"/>
              <a:t>Rollback Transaction </a:t>
            </a:r>
            <a:r>
              <a:rPr lang="en-US" dirty="0"/>
              <a:t>- This denotes that a transaction has not been successful and passes signals to the database to roll back to the state it was in before starting of the transaction.</a:t>
            </a:r>
            <a:endParaRPr lang="en-IN" dirty="0"/>
          </a:p>
        </p:txBody>
      </p:sp>
    </p:spTree>
    <p:extLst>
      <p:ext uri="{BB962C8B-B14F-4D97-AF65-F5344CB8AC3E}">
        <p14:creationId xmlns:p14="http://schemas.microsoft.com/office/powerpoint/2010/main" val="720179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AF4177-5F84-525A-01EF-A3F8CC67E8CB}"/>
              </a:ext>
            </a:extLst>
          </p:cNvPr>
          <p:cNvSpPr txBox="1"/>
          <p:nvPr/>
        </p:nvSpPr>
        <p:spPr>
          <a:xfrm>
            <a:off x="685800" y="838200"/>
            <a:ext cx="8077200" cy="5216813"/>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System.Configuration</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System.Data.SqlClient</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TSqlDemo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TsqlMethod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SqlConnection</a:t>
            </a:r>
            <a:r>
              <a:rPr lang="en-US" sz="900" dirty="0">
                <a:solidFill>
                  <a:srgbClr val="000000"/>
                </a:solidFill>
                <a:latin typeface="Cascadia Mono" panose="020B0609020000020004" pitchFamily="49" charset="0"/>
              </a:rPr>
              <a:t>(_</a:t>
            </a:r>
            <a:r>
              <a:rPr lang="en-US" sz="900" dirty="0" err="1">
                <a:solidFill>
                  <a:srgbClr val="000000"/>
                </a:solidFill>
                <a:latin typeface="Cascadia Mono" panose="020B0609020000020004" pitchFamily="49" charset="0"/>
              </a:rPr>
              <a:t>connectionString</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sqlConnection.Open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SqlTransaction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sqlTransaction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sqlConnection.BeginTransaction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sqlCommand.Transaction</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sqlTransaction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sqlCommand.CommandText</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"Insert into Product (</a:t>
            </a:r>
            <a:r>
              <a:rPr lang="en-US" sz="900" dirty="0" err="1">
                <a:solidFill>
                  <a:srgbClr val="A31515"/>
                </a:solidFill>
                <a:latin typeface="Cascadia Mono" panose="020B0609020000020004" pitchFamily="49" charset="0"/>
              </a:rPr>
              <a:t>Name,Price,Qty</a:t>
            </a:r>
            <a:r>
              <a:rPr lang="en-US" sz="900" dirty="0">
                <a:solidFill>
                  <a:srgbClr val="A31515"/>
                </a:solidFill>
                <a:latin typeface="Cascadia Mono" panose="020B0609020000020004" pitchFamily="49" charset="0"/>
              </a:rPr>
              <a:t>) VALUES ('Joydip',5000,50)"</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sqlCommand.ExecuteNonQuery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//make some error</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sqlCommand.CommandText</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"Insert into Product (</a:t>
            </a:r>
            <a:r>
              <a:rPr lang="en-US" sz="900" dirty="0" err="1">
                <a:solidFill>
                  <a:srgbClr val="A31515"/>
                </a:solidFill>
                <a:latin typeface="Cascadia Mono" panose="020B0609020000020004" pitchFamily="49" charset="0"/>
              </a:rPr>
              <a:t>Name,Price,Qty</a:t>
            </a:r>
            <a:r>
              <a:rPr lang="en-US" sz="900" dirty="0">
                <a:solidFill>
                  <a:srgbClr val="A31515"/>
                </a:solidFill>
                <a:latin typeface="Cascadia Mono" panose="020B0609020000020004" pitchFamily="49" charset="0"/>
              </a:rPr>
              <a:t>) VALUES ('Software',40000, 1)"</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sqlCommand.ExecuteNonQuery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sqlTransaction.Commit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//Usual code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r>
              <a:rPr lang="en-IN" sz="900" dirty="0">
                <a:solidFill>
                  <a:srgbClr val="000000"/>
                </a:solidFill>
                <a:latin typeface="Cascadia Mono" panose="020B0609020000020004" pitchFamily="49" charset="0"/>
              </a:rPr>
              <a:t> (Exception 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sqlTransaction.Rollback</a:t>
            </a:r>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//Usual</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finally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sqlConnection.Close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5659891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91324B-DF4D-ECB3-74AC-E661AAB7FDA6}"/>
              </a:ext>
            </a:extLst>
          </p:cNvPr>
          <p:cNvSpPr>
            <a:spLocks noGrp="1"/>
          </p:cNvSpPr>
          <p:nvPr>
            <p:ph idx="1"/>
          </p:nvPr>
        </p:nvSpPr>
        <p:spPr/>
        <p:txBody>
          <a:bodyPr/>
          <a:lstStyle/>
          <a:p>
            <a:r>
              <a:rPr lang="en-IN" dirty="0"/>
              <a:t>SQL Server start?</a:t>
            </a:r>
          </a:p>
          <a:p>
            <a:r>
              <a:rPr lang="en-IN" dirty="0"/>
              <a:t>Services</a:t>
            </a:r>
          </a:p>
          <a:p>
            <a:r>
              <a:rPr lang="en-IN" dirty="0"/>
              <a:t>Window key type services</a:t>
            </a:r>
          </a:p>
          <a:p>
            <a:r>
              <a:rPr lang="en-IN" dirty="0"/>
              <a:t>Start[MSSQL]</a:t>
            </a:r>
          </a:p>
        </p:txBody>
      </p:sp>
    </p:spTree>
    <p:extLst>
      <p:ext uri="{BB962C8B-B14F-4D97-AF65-F5344CB8AC3E}">
        <p14:creationId xmlns:p14="http://schemas.microsoft.com/office/powerpoint/2010/main" val="34257816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B3E39-573A-0562-83AF-CE0B03887E18}"/>
              </a:ext>
            </a:extLst>
          </p:cNvPr>
          <p:cNvSpPr>
            <a:spLocks noGrp="1"/>
          </p:cNvSpPr>
          <p:nvPr>
            <p:ph idx="1"/>
          </p:nvPr>
        </p:nvSpPr>
        <p:spPr>
          <a:xfrm>
            <a:off x="228600" y="1066800"/>
            <a:ext cx="8229600" cy="4525963"/>
          </a:xfrm>
        </p:spPr>
        <p:txBody>
          <a:bodyPr>
            <a:normAutofit/>
          </a:bodyPr>
          <a:lstStyle/>
          <a:p>
            <a:pPr marL="0" indent="0">
              <a:buNone/>
            </a:pPr>
            <a:r>
              <a:rPr lang="en-US" sz="1800" dirty="0"/>
              <a:t>Which class is responsible to load </a:t>
            </a:r>
            <a:r>
              <a:rPr lang="en-US" sz="1800" dirty="0" err="1"/>
              <a:t>Appsetings.Json</a:t>
            </a:r>
            <a:r>
              <a:rPr lang="en-US" sz="1800" dirty="0"/>
              <a:t> file and read key</a:t>
            </a:r>
          </a:p>
          <a:p>
            <a:pPr marL="0" indent="0">
              <a:buNone/>
            </a:pPr>
            <a:r>
              <a:rPr lang="en-US" sz="1800" dirty="0"/>
              <a:t>[</a:t>
            </a:r>
            <a:r>
              <a:rPr lang="en-IN" sz="1800" dirty="0" err="1">
                <a:solidFill>
                  <a:srgbClr val="000000"/>
                </a:solidFill>
                <a:latin typeface="Cascadia Mono" panose="020B0609020000020004" pitchFamily="49" charset="0"/>
              </a:rPr>
              <a:t>ConfigurationBuilder</a:t>
            </a:r>
            <a:r>
              <a:rPr lang="en-US" sz="1800" dirty="0"/>
              <a:t>]</a:t>
            </a:r>
          </a:p>
          <a:p>
            <a:pPr marL="0" indent="0">
              <a:buNone/>
            </a:pPr>
            <a:r>
              <a:rPr lang="en-US" sz="1800" dirty="0"/>
              <a:t>Which class is responsible to initialized connection string</a:t>
            </a:r>
          </a:p>
          <a:p>
            <a:pPr marL="0" indent="0">
              <a:buNone/>
            </a:pPr>
            <a:r>
              <a:rPr lang="en-US" sz="1800" dirty="0"/>
              <a:t>Which class is responsible to initialized </a:t>
            </a:r>
            <a:r>
              <a:rPr lang="en-US" sz="1800" dirty="0" err="1"/>
              <a:t>sql</a:t>
            </a:r>
            <a:r>
              <a:rPr lang="en-US" sz="1800" dirty="0"/>
              <a:t> query string</a:t>
            </a:r>
          </a:p>
          <a:p>
            <a:pPr marL="0" indent="0">
              <a:buNone/>
            </a:pPr>
            <a:r>
              <a:rPr lang="en-US" sz="1800" dirty="0" err="1"/>
              <a:t>CommandType</a:t>
            </a:r>
            <a:r>
              <a:rPr lang="en-US" sz="1800" dirty="0"/>
              <a:t>=</a:t>
            </a:r>
          </a:p>
          <a:p>
            <a:pPr marL="0" indent="0">
              <a:buNone/>
            </a:pPr>
            <a:r>
              <a:rPr lang="en-US" sz="1800" dirty="0"/>
              <a:t>Which class is responsible to open connection </a:t>
            </a:r>
          </a:p>
          <a:p>
            <a:pPr marL="0" indent="0">
              <a:buNone/>
            </a:pPr>
            <a:endParaRPr lang="en-IN" sz="1800" dirty="0"/>
          </a:p>
          <a:p>
            <a:pPr marL="0" indent="0">
              <a:buNone/>
            </a:pPr>
            <a:r>
              <a:rPr lang="en-US" sz="1800" dirty="0"/>
              <a:t>Which class is responsible to fire the query </a:t>
            </a:r>
          </a:p>
          <a:p>
            <a:pPr marL="0" indent="0">
              <a:buNone/>
            </a:pPr>
            <a:r>
              <a:rPr lang="en-US" sz="1800" dirty="0"/>
              <a:t>What is the return type of execute reader methods</a:t>
            </a:r>
          </a:p>
          <a:p>
            <a:pPr marL="0" indent="0">
              <a:buNone/>
            </a:pPr>
            <a:r>
              <a:rPr lang="en-US" sz="1800" dirty="0"/>
              <a:t>Which method indicate about data in memory </a:t>
            </a:r>
          </a:p>
          <a:p>
            <a:pPr marL="0" indent="0">
              <a:buNone/>
            </a:pPr>
            <a:r>
              <a:rPr lang="en-US" sz="1800" dirty="0"/>
              <a:t>Read method is in which class</a:t>
            </a:r>
          </a:p>
          <a:p>
            <a:pPr marL="0" indent="0">
              <a:buNone/>
            </a:pPr>
            <a:endParaRPr lang="en-IN" sz="1800" dirty="0"/>
          </a:p>
        </p:txBody>
      </p:sp>
      <p:sp>
        <p:nvSpPr>
          <p:cNvPr id="2" name="TextBox 1">
            <a:extLst>
              <a:ext uri="{FF2B5EF4-FFF2-40B4-BE49-F238E27FC236}">
                <a16:creationId xmlns:a16="http://schemas.microsoft.com/office/drawing/2014/main" id="{6BE23523-9E5B-78AA-25A6-11DCA7BDE8CF}"/>
              </a:ext>
            </a:extLst>
          </p:cNvPr>
          <p:cNvSpPr txBox="1"/>
          <p:nvPr/>
        </p:nvSpPr>
        <p:spPr>
          <a:xfrm>
            <a:off x="1600200" y="152400"/>
            <a:ext cx="5105400" cy="369332"/>
          </a:xfrm>
          <a:prstGeom prst="rect">
            <a:avLst/>
          </a:prstGeom>
          <a:noFill/>
        </p:spPr>
        <p:txBody>
          <a:bodyPr wrap="square" rtlCol="0">
            <a:spAutoFit/>
          </a:bodyPr>
          <a:lstStyle/>
          <a:p>
            <a:r>
              <a:rPr lang="en-US"/>
              <a:t>Q/A</a:t>
            </a:r>
            <a:endParaRPr lang="en-IN"/>
          </a:p>
        </p:txBody>
      </p:sp>
    </p:spTree>
    <p:extLst>
      <p:ext uri="{BB962C8B-B14F-4D97-AF65-F5344CB8AC3E}">
        <p14:creationId xmlns:p14="http://schemas.microsoft.com/office/powerpoint/2010/main" val="1326197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13873</TotalTime>
  <Words>8247</Words>
  <Application>Microsoft Office PowerPoint</Application>
  <PresentationFormat>On-screen Show (4:3)</PresentationFormat>
  <Paragraphs>1312</Paragraphs>
  <Slides>64</Slides>
  <Notes>0</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Calibri</vt:lpstr>
      <vt:lpstr>Cambria</vt:lpstr>
      <vt:lpstr>Cascadia Mono</vt:lpstr>
      <vt:lpstr>Consolas</vt:lpstr>
      <vt:lpstr>Garamond</vt:lpstr>
      <vt:lpstr>open sans</vt:lpstr>
      <vt:lpstr>Trebuchet MS</vt:lpstr>
      <vt:lpstr>Wingdings</vt:lpstr>
      <vt:lpstr>Office Theme</vt:lpstr>
      <vt:lpstr>PowerPoint Presentation</vt:lpstr>
      <vt:lpstr>PowerPoint Presentation</vt:lpstr>
      <vt:lpstr>PowerPoint Presentation</vt:lpstr>
      <vt:lpstr>When you use the connected layer</vt:lpstr>
      <vt:lpstr>Command</vt:lpstr>
      <vt:lpstr>CommandType</vt:lpstr>
      <vt:lpstr>PowerPoint Presentation</vt:lpstr>
      <vt:lpstr>If you are working with .Net core then</vt:lpstr>
      <vt:lpstr>PowerPoint Presentation</vt:lpstr>
      <vt:lpstr>Demo connected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If you are working with .Net core then</vt:lpstr>
      <vt:lpstr>SSPI stands for Security Support Provider Interface.  </vt:lpstr>
      <vt:lpstr>Intialised using construct or through set property</vt:lpstr>
      <vt:lpstr>Intialised using constructor through set property</vt:lpstr>
      <vt:lpstr>There are 2 issues with hard coding the connection strings in application code </vt:lpstr>
      <vt:lpstr>&lt; provider &gt; Command classes provide the following execute methods: </vt:lpstr>
      <vt:lpstr>PowerPoint Presentation</vt:lpstr>
      <vt:lpstr>PowerPoint Presentation</vt:lpstr>
      <vt:lpstr>PowerPoint Presentation</vt:lpstr>
      <vt:lpstr>SQL Injection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vt:lpstr>
      <vt:lpstr>Fast Data Access: The Data Reader</vt:lpstr>
      <vt:lpstr>The disconnected layer</vt:lpstr>
      <vt:lpstr>Entity Framework</vt:lpstr>
      <vt:lpstr>ADO.NET ships with four database client namespaces:  </vt:lpstr>
      <vt:lpstr>Namespaces</vt:lpstr>
      <vt:lpstr>Shared Classes</vt:lpstr>
      <vt:lpstr>PowerPoint Presentation</vt:lpstr>
      <vt:lpstr>PowerPoint Presentation</vt:lpstr>
      <vt:lpstr>DataSet Class</vt:lpstr>
      <vt:lpstr>Data Tables</vt:lpstr>
      <vt:lpstr>Disconnected Architecture</vt:lpstr>
      <vt:lpstr>PowerPoint Presentation</vt:lpstr>
      <vt:lpstr>Disconnected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Theory</dc:creator>
  <cp:lastModifiedBy>sriram mantri vidyanidhi infotech academy</cp:lastModifiedBy>
  <cp:revision>200</cp:revision>
  <dcterms:created xsi:type="dcterms:W3CDTF">2012-05-23T09:27:36Z</dcterms:created>
  <dcterms:modified xsi:type="dcterms:W3CDTF">2024-10-20T03:27:51Z</dcterms:modified>
</cp:coreProperties>
</file>