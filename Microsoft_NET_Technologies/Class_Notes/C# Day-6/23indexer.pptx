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0" r:id="rId2"/>
    <p:sldId id="256" r:id="rId3"/>
    <p:sldId id="257" r:id="rId4"/>
    <p:sldId id="258" r:id="rId5"/>
    <p:sldId id="259" r:id="rId6"/>
    <p:sldId id="261" r:id="rId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0" d="100"/>
          <a:sy n="90" d="100"/>
        </p:scale>
        <p:origin x="1234" y="13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6D2B0-4A09-4077-A16F-47EF53C7B9AB}"/>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F999B8F7-FB15-4E52-99EA-D5C8DA45F0CB}"/>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92A00E3-0B9B-461E-8769-6733F6B06C82}"/>
              </a:ext>
            </a:extLst>
          </p:cNvPr>
          <p:cNvSpPr>
            <a:spLocks noGrp="1"/>
          </p:cNvSpPr>
          <p:nvPr>
            <p:ph type="dt" sz="half" idx="10"/>
          </p:nvPr>
        </p:nvSpPr>
        <p:spPr/>
        <p:txBody>
          <a:bodyPr/>
          <a:lstStyle/>
          <a:p>
            <a:fld id="{CA63E55B-20EA-41BC-BD1C-971839B344EB}" type="datetimeFigureOut">
              <a:rPr lang="en-US" smtClean="0"/>
              <a:t>4/8/2025</a:t>
            </a:fld>
            <a:endParaRPr lang="en-US"/>
          </a:p>
        </p:txBody>
      </p:sp>
      <p:sp>
        <p:nvSpPr>
          <p:cNvPr id="5" name="Footer Placeholder 4">
            <a:extLst>
              <a:ext uri="{FF2B5EF4-FFF2-40B4-BE49-F238E27FC236}">
                <a16:creationId xmlns:a16="http://schemas.microsoft.com/office/drawing/2014/main" id="{EB2DB9E8-792D-48AB-B5DC-6339AF8C50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AE14BD-A444-4EE6-9F1F-9FDA24758213}"/>
              </a:ext>
            </a:extLst>
          </p:cNvPr>
          <p:cNvSpPr>
            <a:spLocks noGrp="1"/>
          </p:cNvSpPr>
          <p:nvPr>
            <p:ph type="sldNum" sz="quarter" idx="12"/>
          </p:nvPr>
        </p:nvSpPr>
        <p:spPr/>
        <p:txBody>
          <a:bodyPr/>
          <a:lstStyle/>
          <a:p>
            <a:fld id="{4D6E2103-0152-4525-945D-993C97345546}" type="slidenum">
              <a:rPr lang="en-US" smtClean="0"/>
              <a:t>‹#›</a:t>
            </a:fld>
            <a:endParaRPr lang="en-US"/>
          </a:p>
        </p:txBody>
      </p:sp>
      <p:sp>
        <p:nvSpPr>
          <p:cNvPr id="8" name="Rectangle 7">
            <a:extLst>
              <a:ext uri="{FF2B5EF4-FFF2-40B4-BE49-F238E27FC236}">
                <a16:creationId xmlns:a16="http://schemas.microsoft.com/office/drawing/2014/main" id="{BABFEB1C-F450-428A-83D7-340C83DC860D}"/>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16902907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9AC40-2D59-4D63-A85F-88A1B05AB55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5236B28-72B5-448B-9EB7-D6B17A3D6163}"/>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62D14418-9775-4183-8BED-2D31C2F1878C}"/>
              </a:ext>
            </a:extLst>
          </p:cNvPr>
          <p:cNvSpPr>
            <a:spLocks noGrp="1"/>
          </p:cNvSpPr>
          <p:nvPr>
            <p:ph type="dt" sz="half" idx="10"/>
          </p:nvPr>
        </p:nvSpPr>
        <p:spPr/>
        <p:txBody>
          <a:bodyPr/>
          <a:lstStyle/>
          <a:p>
            <a:fld id="{CA63E55B-20EA-41BC-BD1C-971839B344EB}" type="datetimeFigureOut">
              <a:rPr lang="en-US" smtClean="0"/>
              <a:t>4/8/2025</a:t>
            </a:fld>
            <a:endParaRPr lang="en-US"/>
          </a:p>
        </p:txBody>
      </p:sp>
      <p:sp>
        <p:nvSpPr>
          <p:cNvPr id="5" name="Footer Placeholder 4">
            <a:extLst>
              <a:ext uri="{FF2B5EF4-FFF2-40B4-BE49-F238E27FC236}">
                <a16:creationId xmlns:a16="http://schemas.microsoft.com/office/drawing/2014/main" id="{8AB95571-159D-4E16-9442-1A64A5950E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78B35A-86EE-4F1D-B326-E2422DD54D04}"/>
              </a:ext>
            </a:extLst>
          </p:cNvPr>
          <p:cNvSpPr>
            <a:spLocks noGrp="1"/>
          </p:cNvSpPr>
          <p:nvPr>
            <p:ph type="sldNum" sz="quarter" idx="12"/>
          </p:nvPr>
        </p:nvSpPr>
        <p:spPr/>
        <p:txBody>
          <a:bodyPr/>
          <a:lstStyle/>
          <a:p>
            <a:fld id="{4D6E2103-0152-4525-945D-993C97345546}" type="slidenum">
              <a:rPr lang="en-US" smtClean="0"/>
              <a:t>‹#›</a:t>
            </a:fld>
            <a:endParaRPr lang="en-US"/>
          </a:p>
        </p:txBody>
      </p:sp>
      <p:sp>
        <p:nvSpPr>
          <p:cNvPr id="10" name="Rectangle 9">
            <a:extLst>
              <a:ext uri="{FF2B5EF4-FFF2-40B4-BE49-F238E27FC236}">
                <a16:creationId xmlns:a16="http://schemas.microsoft.com/office/drawing/2014/main" id="{B441817B-44DC-4B7A-A4C7-D59F40D65C9C}"/>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2382042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additive="base">
                                        <p:cTn id="2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2" presetClass="entr" presetSubtype="4" fill="hold" nodeType="click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with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with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with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5">
            <p:tnLst>
              <p:par>
                <p:cTn presetID="2" presetClass="entr" presetSubtype="4" fill="hold" nodeType="with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B270A-6F8F-4629-BAF7-7FD05F1541E8}"/>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7F87B2F-F56F-4E5D-9CBE-9507142DA187}"/>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1206FFD-1B08-439C-A38C-0E7806B715BD}"/>
              </a:ext>
            </a:extLst>
          </p:cNvPr>
          <p:cNvSpPr>
            <a:spLocks noGrp="1"/>
          </p:cNvSpPr>
          <p:nvPr>
            <p:ph type="dt" sz="half" idx="10"/>
          </p:nvPr>
        </p:nvSpPr>
        <p:spPr/>
        <p:txBody>
          <a:bodyPr/>
          <a:lstStyle/>
          <a:p>
            <a:fld id="{CA63E55B-20EA-41BC-BD1C-971839B344EB}" type="datetimeFigureOut">
              <a:rPr lang="en-US" smtClean="0"/>
              <a:t>4/8/2025</a:t>
            </a:fld>
            <a:endParaRPr lang="en-US"/>
          </a:p>
        </p:txBody>
      </p:sp>
      <p:sp>
        <p:nvSpPr>
          <p:cNvPr id="5" name="Footer Placeholder 4">
            <a:extLst>
              <a:ext uri="{FF2B5EF4-FFF2-40B4-BE49-F238E27FC236}">
                <a16:creationId xmlns:a16="http://schemas.microsoft.com/office/drawing/2014/main" id="{4674952C-2D91-4955-807D-D44B144062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5896C4-BDA4-4F8B-B0CB-A3F2D6DF2912}"/>
              </a:ext>
            </a:extLst>
          </p:cNvPr>
          <p:cNvSpPr>
            <a:spLocks noGrp="1"/>
          </p:cNvSpPr>
          <p:nvPr>
            <p:ph type="sldNum" sz="quarter" idx="12"/>
          </p:nvPr>
        </p:nvSpPr>
        <p:spPr/>
        <p:txBody>
          <a:bodyPr/>
          <a:lstStyle/>
          <a:p>
            <a:fld id="{4D6E2103-0152-4525-945D-993C97345546}" type="slidenum">
              <a:rPr lang="en-US" smtClean="0"/>
              <a:t>‹#›</a:t>
            </a:fld>
            <a:endParaRPr lang="en-US"/>
          </a:p>
        </p:txBody>
      </p:sp>
      <p:sp>
        <p:nvSpPr>
          <p:cNvPr id="10" name="Rectangle 9">
            <a:extLst>
              <a:ext uri="{FF2B5EF4-FFF2-40B4-BE49-F238E27FC236}">
                <a16:creationId xmlns:a16="http://schemas.microsoft.com/office/drawing/2014/main" id="{2C19E40E-1E09-4FBD-93DB-5D61896E4676}"/>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4018065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53CCB-2FA4-4084-BD4F-FA292A024FB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9E53C5E-BCDC-4D34-9F70-040FD30B4319}"/>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84DEE8A-AA47-4E02-ACE2-30603FDF4642}"/>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A2DF106-7445-4B25-88A6-F8375332AE0D}"/>
              </a:ext>
            </a:extLst>
          </p:cNvPr>
          <p:cNvSpPr>
            <a:spLocks noGrp="1"/>
          </p:cNvSpPr>
          <p:nvPr>
            <p:ph type="dt" sz="half" idx="10"/>
          </p:nvPr>
        </p:nvSpPr>
        <p:spPr/>
        <p:txBody>
          <a:bodyPr/>
          <a:lstStyle/>
          <a:p>
            <a:fld id="{CA63E55B-20EA-41BC-BD1C-971839B344EB}" type="datetimeFigureOut">
              <a:rPr lang="en-US" smtClean="0"/>
              <a:t>4/8/2025</a:t>
            </a:fld>
            <a:endParaRPr lang="en-US"/>
          </a:p>
        </p:txBody>
      </p:sp>
      <p:sp>
        <p:nvSpPr>
          <p:cNvPr id="6" name="Footer Placeholder 5">
            <a:extLst>
              <a:ext uri="{FF2B5EF4-FFF2-40B4-BE49-F238E27FC236}">
                <a16:creationId xmlns:a16="http://schemas.microsoft.com/office/drawing/2014/main" id="{A886E2C9-014B-4C9D-865C-277DE17797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D34B14-67D2-4200-A9A1-E02FB5F859D0}"/>
              </a:ext>
            </a:extLst>
          </p:cNvPr>
          <p:cNvSpPr>
            <a:spLocks noGrp="1"/>
          </p:cNvSpPr>
          <p:nvPr>
            <p:ph type="sldNum" sz="quarter" idx="12"/>
          </p:nvPr>
        </p:nvSpPr>
        <p:spPr/>
        <p:txBody>
          <a:bodyPr/>
          <a:lstStyle/>
          <a:p>
            <a:fld id="{4D6E2103-0152-4525-945D-993C97345546}" type="slidenum">
              <a:rPr lang="en-US" smtClean="0"/>
              <a:t>‹#›</a:t>
            </a:fld>
            <a:endParaRPr lang="en-US"/>
          </a:p>
        </p:txBody>
      </p:sp>
      <p:sp>
        <p:nvSpPr>
          <p:cNvPr id="11" name="Rectangle 10">
            <a:extLst>
              <a:ext uri="{FF2B5EF4-FFF2-40B4-BE49-F238E27FC236}">
                <a16:creationId xmlns:a16="http://schemas.microsoft.com/office/drawing/2014/main" id="{632970CB-1007-426F-8BAF-20E17DC48EBB}"/>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42761711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803A8-E3C2-4521-BAB0-EEA84642CD60}"/>
              </a:ext>
            </a:extLst>
          </p:cNvPr>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305B118-C53A-4E78-BEC8-3F4EAA240CA0}"/>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16045913-94E8-4A79-8EF4-F9C118ED014D}"/>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D531397-8C84-4B9B-B5B8-CEEEFC58857E}"/>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4FDF4B68-3FC3-4FB2-A053-7B0FCDAFFEAC}"/>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958C094-6BBF-4769-B9C8-0267561CC4F6}"/>
              </a:ext>
            </a:extLst>
          </p:cNvPr>
          <p:cNvSpPr>
            <a:spLocks noGrp="1"/>
          </p:cNvSpPr>
          <p:nvPr>
            <p:ph type="dt" sz="half" idx="10"/>
          </p:nvPr>
        </p:nvSpPr>
        <p:spPr/>
        <p:txBody>
          <a:bodyPr/>
          <a:lstStyle/>
          <a:p>
            <a:fld id="{CA63E55B-20EA-41BC-BD1C-971839B344EB}" type="datetimeFigureOut">
              <a:rPr lang="en-US" smtClean="0"/>
              <a:t>4/8/2025</a:t>
            </a:fld>
            <a:endParaRPr lang="en-US"/>
          </a:p>
        </p:txBody>
      </p:sp>
      <p:sp>
        <p:nvSpPr>
          <p:cNvPr id="8" name="Footer Placeholder 7">
            <a:extLst>
              <a:ext uri="{FF2B5EF4-FFF2-40B4-BE49-F238E27FC236}">
                <a16:creationId xmlns:a16="http://schemas.microsoft.com/office/drawing/2014/main" id="{F65B6ED7-A64A-4564-A7BC-AF2199FEF3D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5FDBFF9-C2DC-47A6-A290-9D0B53D2A49B}"/>
              </a:ext>
            </a:extLst>
          </p:cNvPr>
          <p:cNvSpPr>
            <a:spLocks noGrp="1"/>
          </p:cNvSpPr>
          <p:nvPr>
            <p:ph type="sldNum" sz="quarter" idx="12"/>
          </p:nvPr>
        </p:nvSpPr>
        <p:spPr/>
        <p:txBody>
          <a:bodyPr/>
          <a:lstStyle/>
          <a:p>
            <a:fld id="{4D6E2103-0152-4525-945D-993C97345546}" type="slidenum">
              <a:rPr lang="en-US" smtClean="0"/>
              <a:t>‹#›</a:t>
            </a:fld>
            <a:endParaRPr lang="en-US"/>
          </a:p>
        </p:txBody>
      </p:sp>
      <p:sp>
        <p:nvSpPr>
          <p:cNvPr id="13" name="Rectangle 12">
            <a:extLst>
              <a:ext uri="{FF2B5EF4-FFF2-40B4-BE49-F238E27FC236}">
                <a16:creationId xmlns:a16="http://schemas.microsoft.com/office/drawing/2014/main" id="{5ADFB1EB-EA8A-4B40-B65B-E5F97A5BDEA6}"/>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16717160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18B92-803A-43F1-96E0-15B5A9CB286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F67875B-CA21-4A34-815A-AC8E46B65D10}"/>
              </a:ext>
            </a:extLst>
          </p:cNvPr>
          <p:cNvSpPr>
            <a:spLocks noGrp="1"/>
          </p:cNvSpPr>
          <p:nvPr>
            <p:ph type="dt" sz="half" idx="10"/>
          </p:nvPr>
        </p:nvSpPr>
        <p:spPr/>
        <p:txBody>
          <a:bodyPr/>
          <a:lstStyle/>
          <a:p>
            <a:fld id="{CA63E55B-20EA-41BC-BD1C-971839B344EB}" type="datetimeFigureOut">
              <a:rPr lang="en-US" smtClean="0"/>
              <a:t>4/8/2025</a:t>
            </a:fld>
            <a:endParaRPr lang="en-US"/>
          </a:p>
        </p:txBody>
      </p:sp>
      <p:sp>
        <p:nvSpPr>
          <p:cNvPr id="4" name="Footer Placeholder 3">
            <a:extLst>
              <a:ext uri="{FF2B5EF4-FFF2-40B4-BE49-F238E27FC236}">
                <a16:creationId xmlns:a16="http://schemas.microsoft.com/office/drawing/2014/main" id="{22051392-43F0-4389-8EE8-963F90F1AC5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99F3021-3732-4E7B-B105-8D53733AED62}"/>
              </a:ext>
            </a:extLst>
          </p:cNvPr>
          <p:cNvSpPr>
            <a:spLocks noGrp="1"/>
          </p:cNvSpPr>
          <p:nvPr>
            <p:ph type="sldNum" sz="quarter" idx="12"/>
          </p:nvPr>
        </p:nvSpPr>
        <p:spPr/>
        <p:txBody>
          <a:bodyPr/>
          <a:lstStyle/>
          <a:p>
            <a:fld id="{4D6E2103-0152-4525-945D-993C97345546}" type="slidenum">
              <a:rPr lang="en-US" smtClean="0"/>
              <a:t>‹#›</a:t>
            </a:fld>
            <a:endParaRPr lang="en-US"/>
          </a:p>
        </p:txBody>
      </p:sp>
    </p:spTree>
    <p:extLst>
      <p:ext uri="{BB962C8B-B14F-4D97-AF65-F5344CB8AC3E}">
        <p14:creationId xmlns:p14="http://schemas.microsoft.com/office/powerpoint/2010/main" val="2959284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105B1C-D14F-4038-92D6-2AD4B375CE08}"/>
              </a:ext>
            </a:extLst>
          </p:cNvPr>
          <p:cNvSpPr>
            <a:spLocks noGrp="1"/>
          </p:cNvSpPr>
          <p:nvPr>
            <p:ph type="dt" sz="half" idx="10"/>
          </p:nvPr>
        </p:nvSpPr>
        <p:spPr/>
        <p:txBody>
          <a:bodyPr/>
          <a:lstStyle/>
          <a:p>
            <a:fld id="{CA63E55B-20EA-41BC-BD1C-971839B344EB}" type="datetimeFigureOut">
              <a:rPr lang="en-US" smtClean="0"/>
              <a:t>4/8/2025</a:t>
            </a:fld>
            <a:endParaRPr lang="en-US"/>
          </a:p>
        </p:txBody>
      </p:sp>
      <p:sp>
        <p:nvSpPr>
          <p:cNvPr id="3" name="Footer Placeholder 2">
            <a:extLst>
              <a:ext uri="{FF2B5EF4-FFF2-40B4-BE49-F238E27FC236}">
                <a16:creationId xmlns:a16="http://schemas.microsoft.com/office/drawing/2014/main" id="{8439ADE9-7ED1-44FE-9A63-2DF37671EAE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4E109B7-7EF5-44C2-8821-DFB5084812E5}"/>
              </a:ext>
            </a:extLst>
          </p:cNvPr>
          <p:cNvSpPr>
            <a:spLocks noGrp="1"/>
          </p:cNvSpPr>
          <p:nvPr>
            <p:ph type="sldNum" sz="quarter" idx="12"/>
          </p:nvPr>
        </p:nvSpPr>
        <p:spPr/>
        <p:txBody>
          <a:bodyPr/>
          <a:lstStyle/>
          <a:p>
            <a:fld id="{4D6E2103-0152-4525-945D-993C97345546}" type="slidenum">
              <a:rPr lang="en-US" smtClean="0"/>
              <a:t>‹#›</a:t>
            </a:fld>
            <a:endParaRPr lang="en-US"/>
          </a:p>
        </p:txBody>
      </p:sp>
    </p:spTree>
    <p:extLst>
      <p:ext uri="{BB962C8B-B14F-4D97-AF65-F5344CB8AC3E}">
        <p14:creationId xmlns:p14="http://schemas.microsoft.com/office/powerpoint/2010/main" val="40733229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8C241-CE34-485A-B25B-5B17F6196392}"/>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86EDE76-2F56-4722-A19F-90CF92396944}"/>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792879C-E670-44C6-B777-E4CC693E3ADC}"/>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F2F925B6-8CF3-455D-B73D-119D0B4E441A}"/>
              </a:ext>
            </a:extLst>
          </p:cNvPr>
          <p:cNvSpPr>
            <a:spLocks noGrp="1"/>
          </p:cNvSpPr>
          <p:nvPr>
            <p:ph type="dt" sz="half" idx="10"/>
          </p:nvPr>
        </p:nvSpPr>
        <p:spPr/>
        <p:txBody>
          <a:bodyPr/>
          <a:lstStyle/>
          <a:p>
            <a:fld id="{CA63E55B-20EA-41BC-BD1C-971839B344EB}" type="datetimeFigureOut">
              <a:rPr lang="en-US" smtClean="0"/>
              <a:t>4/8/2025</a:t>
            </a:fld>
            <a:endParaRPr lang="en-US"/>
          </a:p>
        </p:txBody>
      </p:sp>
      <p:sp>
        <p:nvSpPr>
          <p:cNvPr id="6" name="Footer Placeholder 5">
            <a:extLst>
              <a:ext uri="{FF2B5EF4-FFF2-40B4-BE49-F238E27FC236}">
                <a16:creationId xmlns:a16="http://schemas.microsoft.com/office/drawing/2014/main" id="{DC7BEC62-2B2D-47D8-814E-CEB11FBDE0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4B180D-9A69-407A-B767-849DC3F09309}"/>
              </a:ext>
            </a:extLst>
          </p:cNvPr>
          <p:cNvSpPr>
            <a:spLocks noGrp="1"/>
          </p:cNvSpPr>
          <p:nvPr>
            <p:ph type="sldNum" sz="quarter" idx="12"/>
          </p:nvPr>
        </p:nvSpPr>
        <p:spPr/>
        <p:txBody>
          <a:bodyPr/>
          <a:lstStyle/>
          <a:p>
            <a:fld id="{4D6E2103-0152-4525-945D-993C97345546}" type="slidenum">
              <a:rPr lang="en-US" smtClean="0"/>
              <a:t>‹#›</a:t>
            </a:fld>
            <a:endParaRPr lang="en-US"/>
          </a:p>
        </p:txBody>
      </p:sp>
    </p:spTree>
    <p:extLst>
      <p:ext uri="{BB962C8B-B14F-4D97-AF65-F5344CB8AC3E}">
        <p14:creationId xmlns:p14="http://schemas.microsoft.com/office/powerpoint/2010/main" val="2303496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2B198-AFEA-40C2-BE37-C68CFDF483DD}"/>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A7B8C5B-9A98-470A-8110-499A6518DD56}"/>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F09FA6F1-1813-4B57-B473-833646D2E825}"/>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BB4D1A94-0748-4E41-9D2F-C83D9F732710}"/>
              </a:ext>
            </a:extLst>
          </p:cNvPr>
          <p:cNvSpPr>
            <a:spLocks noGrp="1"/>
          </p:cNvSpPr>
          <p:nvPr>
            <p:ph type="dt" sz="half" idx="10"/>
          </p:nvPr>
        </p:nvSpPr>
        <p:spPr/>
        <p:txBody>
          <a:bodyPr/>
          <a:lstStyle/>
          <a:p>
            <a:fld id="{CA63E55B-20EA-41BC-BD1C-971839B344EB}" type="datetimeFigureOut">
              <a:rPr lang="en-US" smtClean="0"/>
              <a:t>4/8/2025</a:t>
            </a:fld>
            <a:endParaRPr lang="en-US"/>
          </a:p>
        </p:txBody>
      </p:sp>
      <p:sp>
        <p:nvSpPr>
          <p:cNvPr id="6" name="Footer Placeholder 5">
            <a:extLst>
              <a:ext uri="{FF2B5EF4-FFF2-40B4-BE49-F238E27FC236}">
                <a16:creationId xmlns:a16="http://schemas.microsoft.com/office/drawing/2014/main" id="{34FA210D-43D8-47ED-9949-2CED61B4BA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342B31-3A2B-4E1F-B426-BCF9E3DD68BE}"/>
              </a:ext>
            </a:extLst>
          </p:cNvPr>
          <p:cNvSpPr>
            <a:spLocks noGrp="1"/>
          </p:cNvSpPr>
          <p:nvPr>
            <p:ph type="sldNum" sz="quarter" idx="12"/>
          </p:nvPr>
        </p:nvSpPr>
        <p:spPr/>
        <p:txBody>
          <a:bodyPr/>
          <a:lstStyle/>
          <a:p>
            <a:fld id="{4D6E2103-0152-4525-945D-993C97345546}" type="slidenum">
              <a:rPr lang="en-US" smtClean="0"/>
              <a:t>‹#›</a:t>
            </a:fld>
            <a:endParaRPr lang="en-US"/>
          </a:p>
        </p:txBody>
      </p:sp>
    </p:spTree>
    <p:extLst>
      <p:ext uri="{BB962C8B-B14F-4D97-AF65-F5344CB8AC3E}">
        <p14:creationId xmlns:p14="http://schemas.microsoft.com/office/powerpoint/2010/main" val="20083490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A8523-61C0-453B-8977-7E823EDCC31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DB0E370-F9F6-4D63-86BA-0C0C7ABB2E9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D7AF5E7-A24A-4D4F-9251-D3C3CD538475}"/>
              </a:ext>
            </a:extLst>
          </p:cNvPr>
          <p:cNvSpPr>
            <a:spLocks noGrp="1"/>
          </p:cNvSpPr>
          <p:nvPr>
            <p:ph type="dt" sz="half" idx="10"/>
          </p:nvPr>
        </p:nvSpPr>
        <p:spPr/>
        <p:txBody>
          <a:bodyPr/>
          <a:lstStyle/>
          <a:p>
            <a:fld id="{CA63E55B-20EA-41BC-BD1C-971839B344EB}" type="datetimeFigureOut">
              <a:rPr lang="en-US" smtClean="0"/>
              <a:t>4/8/2025</a:t>
            </a:fld>
            <a:endParaRPr lang="en-US"/>
          </a:p>
        </p:txBody>
      </p:sp>
      <p:sp>
        <p:nvSpPr>
          <p:cNvPr id="5" name="Footer Placeholder 4">
            <a:extLst>
              <a:ext uri="{FF2B5EF4-FFF2-40B4-BE49-F238E27FC236}">
                <a16:creationId xmlns:a16="http://schemas.microsoft.com/office/drawing/2014/main" id="{A5469C26-5F35-4403-BB25-270B7A428F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C1B4A1-1332-4B3D-9570-914A118EEFE5}"/>
              </a:ext>
            </a:extLst>
          </p:cNvPr>
          <p:cNvSpPr>
            <a:spLocks noGrp="1"/>
          </p:cNvSpPr>
          <p:nvPr>
            <p:ph type="sldNum" sz="quarter" idx="12"/>
          </p:nvPr>
        </p:nvSpPr>
        <p:spPr/>
        <p:txBody>
          <a:bodyPr/>
          <a:lstStyle/>
          <a:p>
            <a:fld id="{4D6E2103-0152-4525-945D-993C97345546}" type="slidenum">
              <a:rPr lang="en-US" smtClean="0"/>
              <a:t>‹#›</a:t>
            </a:fld>
            <a:endParaRPr lang="en-US"/>
          </a:p>
        </p:txBody>
      </p:sp>
    </p:spTree>
    <p:extLst>
      <p:ext uri="{BB962C8B-B14F-4D97-AF65-F5344CB8AC3E}">
        <p14:creationId xmlns:p14="http://schemas.microsoft.com/office/powerpoint/2010/main" val="27617857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D866256-29E0-4FB4-B70D-23F0615B4331}"/>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E49EE83-F08B-4085-92DD-887191E74932}"/>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4C09255-745E-47C1-A734-54C4277C6AAF}"/>
              </a:ext>
            </a:extLst>
          </p:cNvPr>
          <p:cNvSpPr>
            <a:spLocks noGrp="1"/>
          </p:cNvSpPr>
          <p:nvPr>
            <p:ph type="dt" sz="half" idx="10"/>
          </p:nvPr>
        </p:nvSpPr>
        <p:spPr/>
        <p:txBody>
          <a:bodyPr/>
          <a:lstStyle/>
          <a:p>
            <a:fld id="{CA63E55B-20EA-41BC-BD1C-971839B344EB}" type="datetimeFigureOut">
              <a:rPr lang="en-US" smtClean="0"/>
              <a:t>4/8/2025</a:t>
            </a:fld>
            <a:endParaRPr lang="en-US"/>
          </a:p>
        </p:txBody>
      </p:sp>
      <p:sp>
        <p:nvSpPr>
          <p:cNvPr id="5" name="Footer Placeholder 4">
            <a:extLst>
              <a:ext uri="{FF2B5EF4-FFF2-40B4-BE49-F238E27FC236}">
                <a16:creationId xmlns:a16="http://schemas.microsoft.com/office/drawing/2014/main" id="{6FEE1911-73E7-44C4-8A47-7A3E73020D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76C518-9C28-479C-BDDC-CCEAD9D83CC2}"/>
              </a:ext>
            </a:extLst>
          </p:cNvPr>
          <p:cNvSpPr>
            <a:spLocks noGrp="1"/>
          </p:cNvSpPr>
          <p:nvPr>
            <p:ph type="sldNum" sz="quarter" idx="12"/>
          </p:nvPr>
        </p:nvSpPr>
        <p:spPr/>
        <p:txBody>
          <a:bodyPr/>
          <a:lstStyle/>
          <a:p>
            <a:fld id="{4D6E2103-0152-4525-945D-993C97345546}" type="slidenum">
              <a:rPr lang="en-US" smtClean="0"/>
              <a:t>‹#›</a:t>
            </a:fld>
            <a:endParaRPr lang="en-US"/>
          </a:p>
        </p:txBody>
      </p:sp>
    </p:spTree>
    <p:extLst>
      <p:ext uri="{BB962C8B-B14F-4D97-AF65-F5344CB8AC3E}">
        <p14:creationId xmlns:p14="http://schemas.microsoft.com/office/powerpoint/2010/main" val="33176668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A40FBA-4B31-4400-8703-448B6BB92946}"/>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A55A2560-6694-4066-9BBE-CDBCA9527119}"/>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BCE10E3E-5C9C-477B-9737-59527A0399B4}"/>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A63E55B-20EA-41BC-BD1C-971839B344EB}" type="datetimeFigureOut">
              <a:rPr lang="en-US" smtClean="0"/>
              <a:t>4/8/2025</a:t>
            </a:fld>
            <a:endParaRPr lang="en-US"/>
          </a:p>
        </p:txBody>
      </p:sp>
      <p:sp>
        <p:nvSpPr>
          <p:cNvPr id="5" name="Footer Placeholder 4">
            <a:extLst>
              <a:ext uri="{FF2B5EF4-FFF2-40B4-BE49-F238E27FC236}">
                <a16:creationId xmlns:a16="http://schemas.microsoft.com/office/drawing/2014/main" id="{3D5B4180-7DA2-4E7A-9EAC-CB2B7A99B58B}"/>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85689F4-61E0-46DF-9DC0-37CC35E22E28}"/>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D6E2103-0152-4525-945D-993C97345546}" type="slidenum">
              <a:rPr lang="en-US" smtClean="0"/>
              <a:t>‹#›</a:t>
            </a:fld>
            <a:endParaRPr lang="en-US"/>
          </a:p>
        </p:txBody>
      </p:sp>
    </p:spTree>
    <p:extLst>
      <p:ext uri="{BB962C8B-B14F-4D97-AF65-F5344CB8AC3E}">
        <p14:creationId xmlns:p14="http://schemas.microsoft.com/office/powerpoint/2010/main" val="70078449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228600" y="152400"/>
            <a:ext cx="8458200" cy="67056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533400" y="4038600"/>
            <a:ext cx="3276600" cy="1200329"/>
          </a:xfrm>
          <a:prstGeom prst="rect">
            <a:avLst/>
          </a:prstGeom>
          <a:noFill/>
        </p:spPr>
        <p:txBody>
          <a:bodyPr wrap="square" rtlCol="0">
            <a:spAutoFit/>
          </a:bodyPr>
          <a:lstStyle/>
          <a:p>
            <a:r>
              <a:rPr lang="en-IN" dirty="0" err="1"/>
              <a:t>Ketki</a:t>
            </a:r>
            <a:r>
              <a:rPr lang="en-IN" dirty="0"/>
              <a:t> Acharya</a:t>
            </a:r>
          </a:p>
          <a:p>
            <a:r>
              <a:rPr lang="en-IN" dirty="0"/>
              <a:t>From: SM VITA ATC of CDAC</a:t>
            </a:r>
          </a:p>
          <a:p>
            <a:r>
              <a:rPr lang="en-IN" dirty="0"/>
              <a:t>9769201036</a:t>
            </a:r>
          </a:p>
          <a:p>
            <a:r>
              <a:rPr lang="en-IN" dirty="0"/>
              <a:t>ketkiacharya.net@gmail.com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2013"/>
            <a:ext cx="7772400" cy="1470025"/>
          </a:xfrm>
        </p:spPr>
        <p:txBody>
          <a:bodyPr/>
          <a:lstStyle/>
          <a:p>
            <a:pPr algn="l" fontAlgn="base">
              <a:spcAft>
                <a:spcPts val="1500"/>
              </a:spcAft>
            </a:pPr>
            <a:r>
              <a:rPr lang="en-US" b="1" i="0" dirty="0">
                <a:solidFill>
                  <a:srgbClr val="000000"/>
                </a:solidFill>
                <a:effectLst/>
                <a:latin typeface="arial" panose="020B0604020202020204" pitchFamily="34" charset="0"/>
              </a:rPr>
              <a:t>What are Indexers in C#?</a:t>
            </a:r>
            <a:endParaRPr lang="en-US" b="1" i="0" dirty="0">
              <a:solidFill>
                <a:srgbClr val="3A3A3A"/>
              </a:solidFill>
              <a:effectLst/>
              <a:latin typeface="-apple-system"/>
            </a:endParaRPr>
          </a:p>
        </p:txBody>
      </p:sp>
      <p:sp>
        <p:nvSpPr>
          <p:cNvPr id="5" name="Subtitle 4">
            <a:extLst>
              <a:ext uri="{FF2B5EF4-FFF2-40B4-BE49-F238E27FC236}">
                <a16:creationId xmlns:a16="http://schemas.microsoft.com/office/drawing/2014/main" id="{814B19D9-5EA4-F5A8-B284-82048A7850B0}"/>
              </a:ext>
            </a:extLst>
          </p:cNvPr>
          <p:cNvSpPr>
            <a:spLocks noGrp="1"/>
          </p:cNvSpPr>
          <p:nvPr>
            <p:ph type="subTitle" idx="1"/>
          </p:nvPr>
        </p:nvSpPr>
        <p:spPr/>
        <p:txBody>
          <a:bodyPr/>
          <a:lstStyle/>
          <a:p>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CA43E4-E180-ED12-98C0-876B128A4AF1}"/>
              </a:ext>
            </a:extLst>
          </p:cNvPr>
          <p:cNvSpPr txBox="1"/>
          <p:nvPr/>
        </p:nvSpPr>
        <p:spPr>
          <a:xfrm>
            <a:off x="76200" y="76200"/>
            <a:ext cx="4572000" cy="277678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nSpc>
                <a:spcPts val="1425"/>
              </a:lnSpc>
              <a:buNone/>
            </a:pPr>
            <a:r>
              <a:rPr lang="en-IN" sz="1100" b="0" dirty="0">
                <a:solidFill>
                  <a:srgbClr val="0000FF"/>
                </a:solidFill>
                <a:effectLst/>
                <a:latin typeface="Consolas" panose="020B0609020204030204" pitchFamily="49" charset="0"/>
              </a:rPr>
              <a:t>namespace</a:t>
            </a:r>
            <a:r>
              <a:rPr lang="en-IN" sz="1100" b="0" dirty="0">
                <a:solidFill>
                  <a:srgbClr val="3B3B3B"/>
                </a:solidFill>
                <a:effectLst/>
                <a:latin typeface="Consolas" panose="020B0609020204030204" pitchFamily="49" charset="0"/>
              </a:rPr>
              <a:t> </a:t>
            </a:r>
            <a:r>
              <a:rPr lang="en-IN" sz="1100" b="0" dirty="0" err="1">
                <a:solidFill>
                  <a:srgbClr val="267F99"/>
                </a:solidFill>
                <a:effectLst/>
                <a:latin typeface="Consolas" panose="020B0609020204030204" pitchFamily="49" charset="0"/>
              </a:rPr>
              <a:t>IndexersDemo</a:t>
            </a:r>
            <a:endParaRPr lang="en-IN" sz="1100" b="0" dirty="0">
              <a:solidFill>
                <a:srgbClr val="3B3B3B"/>
              </a:solidFill>
              <a:effectLst/>
              <a:latin typeface="Consolas" panose="020B0609020204030204" pitchFamily="49" charset="0"/>
            </a:endParaRPr>
          </a:p>
          <a:p>
            <a:pPr>
              <a:lnSpc>
                <a:spcPts val="1425"/>
              </a:lnSpc>
              <a:buNone/>
            </a:pPr>
            <a:r>
              <a:rPr lang="en-IN" sz="1100" b="0" dirty="0">
                <a:solidFill>
                  <a:srgbClr val="3B3B3B"/>
                </a:solidFill>
                <a:effectLst/>
                <a:latin typeface="Consolas" panose="020B0609020204030204" pitchFamily="49" charset="0"/>
              </a:rPr>
              <a:t>{</a:t>
            </a:r>
          </a:p>
          <a:p>
            <a:pPr>
              <a:lnSpc>
                <a:spcPts val="1425"/>
              </a:lnSpc>
              <a:buNone/>
            </a:pPr>
            <a:r>
              <a:rPr lang="en-IN" sz="1100" b="0" dirty="0">
                <a:solidFill>
                  <a:srgbClr val="3B3B3B"/>
                </a:solidFill>
                <a:effectLst/>
                <a:latin typeface="Consolas" panose="020B0609020204030204" pitchFamily="49" charset="0"/>
              </a:rPr>
              <a:t>    </a:t>
            </a:r>
            <a:r>
              <a:rPr lang="en-IN" sz="1100" b="0" dirty="0">
                <a:solidFill>
                  <a:srgbClr val="0000FF"/>
                </a:solidFill>
                <a:effectLst/>
                <a:latin typeface="Consolas" panose="020B0609020204030204" pitchFamily="49" charset="0"/>
              </a:rPr>
              <a:t>public</a:t>
            </a:r>
            <a:r>
              <a:rPr lang="en-IN" sz="1100" b="0" dirty="0">
                <a:solidFill>
                  <a:srgbClr val="3B3B3B"/>
                </a:solidFill>
                <a:effectLst/>
                <a:latin typeface="Consolas" panose="020B0609020204030204" pitchFamily="49" charset="0"/>
              </a:rPr>
              <a:t> </a:t>
            </a:r>
            <a:r>
              <a:rPr lang="en-IN" sz="1100" b="0" dirty="0">
                <a:solidFill>
                  <a:srgbClr val="0000FF"/>
                </a:solidFill>
                <a:effectLst/>
                <a:latin typeface="Consolas" panose="020B0609020204030204" pitchFamily="49" charset="0"/>
              </a:rPr>
              <a:t>class</a:t>
            </a:r>
            <a:r>
              <a:rPr lang="en-IN" sz="1100" b="0" dirty="0">
                <a:solidFill>
                  <a:srgbClr val="3B3B3B"/>
                </a:solidFill>
                <a:effectLst/>
                <a:latin typeface="Consolas" panose="020B0609020204030204" pitchFamily="49" charset="0"/>
              </a:rPr>
              <a:t> </a:t>
            </a:r>
            <a:r>
              <a:rPr lang="en-IN" sz="1100" b="0" dirty="0">
                <a:solidFill>
                  <a:srgbClr val="267F99"/>
                </a:solidFill>
                <a:effectLst/>
                <a:latin typeface="Consolas" panose="020B0609020204030204" pitchFamily="49" charset="0"/>
              </a:rPr>
              <a:t>Employee</a:t>
            </a:r>
            <a:endParaRPr lang="en-IN" sz="1100" b="0" dirty="0">
              <a:solidFill>
                <a:srgbClr val="3B3B3B"/>
              </a:solidFill>
              <a:effectLst/>
              <a:latin typeface="Consolas" panose="020B0609020204030204" pitchFamily="49" charset="0"/>
            </a:endParaRPr>
          </a:p>
          <a:p>
            <a:pPr>
              <a:lnSpc>
                <a:spcPts val="1425"/>
              </a:lnSpc>
              <a:buNone/>
            </a:pPr>
            <a:r>
              <a:rPr lang="en-IN" sz="1100" b="0" dirty="0">
                <a:solidFill>
                  <a:srgbClr val="3B3B3B"/>
                </a:solidFill>
                <a:effectLst/>
                <a:latin typeface="Consolas" panose="020B0609020204030204" pitchFamily="49" charset="0"/>
              </a:rPr>
              <a:t>    {</a:t>
            </a:r>
          </a:p>
          <a:p>
            <a:pPr>
              <a:lnSpc>
                <a:spcPts val="1425"/>
              </a:lnSpc>
              <a:buNone/>
            </a:pPr>
            <a:r>
              <a:rPr lang="en-IN" sz="1100" b="0" dirty="0">
                <a:solidFill>
                  <a:srgbClr val="008000"/>
                </a:solidFill>
                <a:effectLst/>
                <a:latin typeface="Consolas" panose="020B0609020204030204" pitchFamily="49" charset="0"/>
              </a:rPr>
              <a:t>        //Declare the Properties</a:t>
            </a:r>
            <a:endParaRPr lang="en-IN" sz="1100" b="0" dirty="0">
              <a:solidFill>
                <a:srgbClr val="3B3B3B"/>
              </a:solidFill>
              <a:effectLst/>
              <a:latin typeface="Consolas" panose="020B0609020204030204" pitchFamily="49" charset="0"/>
            </a:endParaRPr>
          </a:p>
          <a:p>
            <a:pPr>
              <a:lnSpc>
                <a:spcPts val="1425"/>
              </a:lnSpc>
              <a:buNone/>
            </a:pPr>
            <a:r>
              <a:rPr lang="en-IN" sz="1100" b="0" dirty="0">
                <a:solidFill>
                  <a:srgbClr val="3B3B3B"/>
                </a:solidFill>
                <a:effectLst/>
                <a:latin typeface="Consolas" panose="020B0609020204030204" pitchFamily="49" charset="0"/>
              </a:rPr>
              <a:t>        </a:t>
            </a:r>
            <a:r>
              <a:rPr lang="en-IN" sz="1100" b="0" dirty="0">
                <a:solidFill>
                  <a:srgbClr val="0000FF"/>
                </a:solidFill>
                <a:effectLst/>
                <a:latin typeface="Consolas" panose="020B0609020204030204" pitchFamily="49" charset="0"/>
              </a:rPr>
              <a:t>public</a:t>
            </a:r>
            <a:r>
              <a:rPr lang="en-IN" sz="1100" b="0" dirty="0">
                <a:solidFill>
                  <a:srgbClr val="3B3B3B"/>
                </a:solidFill>
                <a:effectLst/>
                <a:latin typeface="Consolas" panose="020B0609020204030204" pitchFamily="49" charset="0"/>
              </a:rPr>
              <a:t> </a:t>
            </a:r>
            <a:r>
              <a:rPr lang="en-IN" sz="1100" b="0" dirty="0">
                <a:solidFill>
                  <a:srgbClr val="0000FF"/>
                </a:solidFill>
                <a:effectLst/>
                <a:latin typeface="Consolas" panose="020B0609020204030204" pitchFamily="49" charset="0"/>
              </a:rPr>
              <a:t>int</a:t>
            </a:r>
            <a:r>
              <a:rPr lang="en-IN" sz="1100" b="0" dirty="0">
                <a:solidFill>
                  <a:srgbClr val="3B3B3B"/>
                </a:solidFill>
                <a:effectLst/>
                <a:latin typeface="Consolas" panose="020B0609020204030204" pitchFamily="49" charset="0"/>
              </a:rPr>
              <a:t> </a:t>
            </a:r>
            <a:r>
              <a:rPr lang="en-IN" sz="1100" b="0" dirty="0">
                <a:solidFill>
                  <a:srgbClr val="001080"/>
                </a:solidFill>
                <a:effectLst/>
                <a:latin typeface="Consolas" panose="020B0609020204030204" pitchFamily="49" charset="0"/>
              </a:rPr>
              <a:t>ID</a:t>
            </a:r>
            <a:r>
              <a:rPr lang="en-IN" sz="1100" b="0" dirty="0">
                <a:solidFill>
                  <a:srgbClr val="3B3B3B"/>
                </a:solidFill>
                <a:effectLst/>
                <a:latin typeface="Consolas" panose="020B0609020204030204" pitchFamily="49" charset="0"/>
              </a:rPr>
              <a:t> { </a:t>
            </a:r>
            <a:r>
              <a:rPr lang="en-IN" sz="1100" b="0" dirty="0">
                <a:solidFill>
                  <a:srgbClr val="0000FF"/>
                </a:solidFill>
                <a:effectLst/>
                <a:latin typeface="Consolas" panose="020B0609020204030204" pitchFamily="49" charset="0"/>
              </a:rPr>
              <a:t>get</a:t>
            </a:r>
            <a:r>
              <a:rPr lang="en-IN" sz="1100" b="0" dirty="0">
                <a:solidFill>
                  <a:srgbClr val="3B3B3B"/>
                </a:solidFill>
                <a:effectLst/>
                <a:latin typeface="Consolas" panose="020B0609020204030204" pitchFamily="49" charset="0"/>
              </a:rPr>
              <a:t>; </a:t>
            </a:r>
            <a:r>
              <a:rPr lang="en-IN" sz="1100" b="0" dirty="0">
                <a:solidFill>
                  <a:srgbClr val="0000FF"/>
                </a:solidFill>
                <a:effectLst/>
                <a:latin typeface="Consolas" panose="020B0609020204030204" pitchFamily="49" charset="0"/>
              </a:rPr>
              <a:t>set</a:t>
            </a:r>
            <a:r>
              <a:rPr lang="en-IN" sz="1100" b="0" dirty="0">
                <a:solidFill>
                  <a:srgbClr val="3B3B3B"/>
                </a:solidFill>
                <a:effectLst/>
                <a:latin typeface="Consolas" panose="020B0609020204030204" pitchFamily="49" charset="0"/>
              </a:rPr>
              <a:t>; }</a:t>
            </a:r>
          </a:p>
          <a:p>
            <a:pPr>
              <a:lnSpc>
                <a:spcPts val="1425"/>
              </a:lnSpc>
              <a:buNone/>
            </a:pPr>
            <a:r>
              <a:rPr lang="en-IN" sz="1100" b="0" dirty="0">
                <a:solidFill>
                  <a:srgbClr val="3B3B3B"/>
                </a:solidFill>
                <a:effectLst/>
                <a:latin typeface="Consolas" panose="020B0609020204030204" pitchFamily="49" charset="0"/>
              </a:rPr>
              <a:t>        </a:t>
            </a:r>
            <a:r>
              <a:rPr lang="en-IN" sz="1100" b="0" dirty="0">
                <a:solidFill>
                  <a:srgbClr val="0000FF"/>
                </a:solidFill>
                <a:effectLst/>
                <a:latin typeface="Consolas" panose="020B0609020204030204" pitchFamily="49" charset="0"/>
              </a:rPr>
              <a:t>public</a:t>
            </a:r>
            <a:r>
              <a:rPr lang="en-IN" sz="1100" b="0" dirty="0">
                <a:solidFill>
                  <a:srgbClr val="3B3B3B"/>
                </a:solidFill>
                <a:effectLst/>
                <a:latin typeface="Consolas" panose="020B0609020204030204" pitchFamily="49" charset="0"/>
              </a:rPr>
              <a:t> </a:t>
            </a:r>
            <a:r>
              <a:rPr lang="en-IN" sz="1100" b="0" dirty="0">
                <a:solidFill>
                  <a:srgbClr val="0000FF"/>
                </a:solidFill>
                <a:effectLst/>
                <a:latin typeface="Consolas" panose="020B0609020204030204" pitchFamily="49" charset="0"/>
              </a:rPr>
              <a:t>string</a:t>
            </a:r>
            <a:r>
              <a:rPr lang="en-IN" sz="1100" b="0" dirty="0">
                <a:solidFill>
                  <a:srgbClr val="3B3B3B"/>
                </a:solidFill>
                <a:effectLst/>
                <a:latin typeface="Consolas" panose="020B0609020204030204" pitchFamily="49" charset="0"/>
              </a:rPr>
              <a:t> </a:t>
            </a:r>
            <a:r>
              <a:rPr lang="en-IN" sz="1100" b="0" dirty="0">
                <a:solidFill>
                  <a:srgbClr val="001080"/>
                </a:solidFill>
                <a:effectLst/>
                <a:latin typeface="Consolas" panose="020B0609020204030204" pitchFamily="49" charset="0"/>
              </a:rPr>
              <a:t>Name</a:t>
            </a:r>
            <a:r>
              <a:rPr lang="en-IN" sz="1100" b="0" dirty="0">
                <a:solidFill>
                  <a:srgbClr val="3B3B3B"/>
                </a:solidFill>
                <a:effectLst/>
                <a:latin typeface="Consolas" panose="020B0609020204030204" pitchFamily="49" charset="0"/>
              </a:rPr>
              <a:t> { </a:t>
            </a:r>
            <a:r>
              <a:rPr lang="en-IN" sz="1100" b="0" dirty="0">
                <a:solidFill>
                  <a:srgbClr val="0000FF"/>
                </a:solidFill>
                <a:effectLst/>
                <a:latin typeface="Consolas" panose="020B0609020204030204" pitchFamily="49" charset="0"/>
              </a:rPr>
              <a:t>get</a:t>
            </a:r>
            <a:r>
              <a:rPr lang="en-IN" sz="1100" b="0" dirty="0">
                <a:solidFill>
                  <a:srgbClr val="3B3B3B"/>
                </a:solidFill>
                <a:effectLst/>
                <a:latin typeface="Consolas" panose="020B0609020204030204" pitchFamily="49" charset="0"/>
              </a:rPr>
              <a:t>; </a:t>
            </a:r>
            <a:r>
              <a:rPr lang="en-IN" sz="1100" b="0" dirty="0">
                <a:solidFill>
                  <a:srgbClr val="0000FF"/>
                </a:solidFill>
                <a:effectLst/>
                <a:latin typeface="Consolas" panose="020B0609020204030204" pitchFamily="49" charset="0"/>
              </a:rPr>
              <a:t>set</a:t>
            </a:r>
            <a:r>
              <a:rPr lang="en-IN" sz="1100" b="0" dirty="0">
                <a:solidFill>
                  <a:srgbClr val="3B3B3B"/>
                </a:solidFill>
                <a:effectLst/>
                <a:latin typeface="Consolas" panose="020B0609020204030204" pitchFamily="49" charset="0"/>
              </a:rPr>
              <a:t>; }</a:t>
            </a:r>
          </a:p>
          <a:p>
            <a:pPr>
              <a:lnSpc>
                <a:spcPts val="1425"/>
              </a:lnSpc>
              <a:buNone/>
            </a:pPr>
            <a:r>
              <a:rPr lang="en-IN" sz="1100" b="0" dirty="0">
                <a:solidFill>
                  <a:srgbClr val="008000"/>
                </a:solidFill>
                <a:effectLst/>
                <a:latin typeface="Consolas" panose="020B0609020204030204" pitchFamily="49" charset="0"/>
              </a:rPr>
              <a:t>        //Initialize the Properties through Constructor</a:t>
            </a:r>
            <a:endParaRPr lang="en-IN" sz="1100" b="0" dirty="0">
              <a:solidFill>
                <a:srgbClr val="3B3B3B"/>
              </a:solidFill>
              <a:effectLst/>
              <a:latin typeface="Consolas" panose="020B0609020204030204" pitchFamily="49" charset="0"/>
            </a:endParaRPr>
          </a:p>
          <a:p>
            <a:pPr>
              <a:lnSpc>
                <a:spcPts val="1425"/>
              </a:lnSpc>
              <a:buNone/>
            </a:pPr>
            <a:r>
              <a:rPr lang="en-IN" sz="1100" b="0" dirty="0">
                <a:solidFill>
                  <a:srgbClr val="3B3B3B"/>
                </a:solidFill>
                <a:effectLst/>
                <a:latin typeface="Consolas" panose="020B0609020204030204" pitchFamily="49" charset="0"/>
              </a:rPr>
              <a:t>        </a:t>
            </a:r>
            <a:r>
              <a:rPr lang="en-IN" sz="1100" b="0" dirty="0">
                <a:solidFill>
                  <a:srgbClr val="0000FF"/>
                </a:solidFill>
                <a:effectLst/>
                <a:latin typeface="Consolas" panose="020B0609020204030204" pitchFamily="49" charset="0"/>
              </a:rPr>
              <a:t>public</a:t>
            </a:r>
            <a:r>
              <a:rPr lang="en-IN" sz="1100" b="0" dirty="0">
                <a:solidFill>
                  <a:srgbClr val="3B3B3B"/>
                </a:solidFill>
                <a:effectLst/>
                <a:latin typeface="Consolas" panose="020B0609020204030204" pitchFamily="49" charset="0"/>
              </a:rPr>
              <a:t> </a:t>
            </a:r>
            <a:r>
              <a:rPr lang="en-IN" sz="1100" b="0" dirty="0">
                <a:solidFill>
                  <a:srgbClr val="267F99"/>
                </a:solidFill>
                <a:effectLst/>
                <a:latin typeface="Consolas" panose="020B0609020204030204" pitchFamily="49" charset="0"/>
              </a:rPr>
              <a:t>Employee</a:t>
            </a:r>
            <a:r>
              <a:rPr lang="en-IN" sz="1100" b="0" dirty="0">
                <a:solidFill>
                  <a:srgbClr val="3B3B3B"/>
                </a:solidFill>
                <a:effectLst/>
                <a:latin typeface="Consolas" panose="020B0609020204030204" pitchFamily="49" charset="0"/>
              </a:rPr>
              <a:t>(</a:t>
            </a:r>
            <a:r>
              <a:rPr lang="en-IN" sz="1100" b="0" dirty="0">
                <a:solidFill>
                  <a:srgbClr val="0000FF"/>
                </a:solidFill>
                <a:effectLst/>
                <a:latin typeface="Consolas" panose="020B0609020204030204" pitchFamily="49" charset="0"/>
              </a:rPr>
              <a:t>int</a:t>
            </a:r>
            <a:r>
              <a:rPr lang="en-IN" sz="1100" b="0" dirty="0">
                <a:solidFill>
                  <a:srgbClr val="3B3B3B"/>
                </a:solidFill>
                <a:effectLst/>
                <a:latin typeface="Consolas" panose="020B0609020204030204" pitchFamily="49" charset="0"/>
              </a:rPr>
              <a:t> </a:t>
            </a:r>
            <a:r>
              <a:rPr lang="en-IN" sz="1100" b="0" dirty="0">
                <a:solidFill>
                  <a:srgbClr val="001080"/>
                </a:solidFill>
                <a:effectLst/>
                <a:latin typeface="Consolas" panose="020B0609020204030204" pitchFamily="49" charset="0"/>
              </a:rPr>
              <a:t>ID</a:t>
            </a:r>
            <a:r>
              <a:rPr lang="en-IN" sz="1100" b="0" dirty="0">
                <a:solidFill>
                  <a:srgbClr val="3B3B3B"/>
                </a:solidFill>
                <a:effectLst/>
                <a:latin typeface="Consolas" panose="020B0609020204030204" pitchFamily="49" charset="0"/>
              </a:rPr>
              <a:t>, </a:t>
            </a:r>
            <a:r>
              <a:rPr lang="en-IN" sz="1100" b="0" dirty="0">
                <a:solidFill>
                  <a:srgbClr val="0000FF"/>
                </a:solidFill>
                <a:effectLst/>
                <a:latin typeface="Consolas" panose="020B0609020204030204" pitchFamily="49" charset="0"/>
              </a:rPr>
              <a:t>string</a:t>
            </a:r>
            <a:r>
              <a:rPr lang="en-IN" sz="1100" b="0" dirty="0">
                <a:solidFill>
                  <a:srgbClr val="3B3B3B"/>
                </a:solidFill>
                <a:effectLst/>
                <a:latin typeface="Consolas" panose="020B0609020204030204" pitchFamily="49" charset="0"/>
              </a:rPr>
              <a:t> </a:t>
            </a:r>
            <a:r>
              <a:rPr lang="en-IN" sz="1100" b="0" dirty="0">
                <a:solidFill>
                  <a:srgbClr val="001080"/>
                </a:solidFill>
                <a:effectLst/>
                <a:latin typeface="Consolas" panose="020B0609020204030204" pitchFamily="49" charset="0"/>
              </a:rPr>
              <a:t>Name</a:t>
            </a:r>
            <a:r>
              <a:rPr lang="en-IN" sz="1100" b="0" dirty="0">
                <a:solidFill>
                  <a:srgbClr val="3B3B3B"/>
                </a:solidFill>
                <a:effectLst/>
                <a:latin typeface="Consolas" panose="020B0609020204030204" pitchFamily="49" charset="0"/>
              </a:rPr>
              <a:t>)</a:t>
            </a:r>
          </a:p>
          <a:p>
            <a:pPr>
              <a:lnSpc>
                <a:spcPts val="1425"/>
              </a:lnSpc>
              <a:buNone/>
            </a:pPr>
            <a:r>
              <a:rPr lang="en-IN" sz="1100" b="0" dirty="0">
                <a:solidFill>
                  <a:srgbClr val="3B3B3B"/>
                </a:solidFill>
                <a:effectLst/>
                <a:latin typeface="Consolas" panose="020B0609020204030204" pitchFamily="49" charset="0"/>
              </a:rPr>
              <a:t>        {</a:t>
            </a:r>
          </a:p>
          <a:p>
            <a:pPr>
              <a:lnSpc>
                <a:spcPts val="1425"/>
              </a:lnSpc>
              <a:buNone/>
            </a:pPr>
            <a:r>
              <a:rPr lang="en-IN" sz="1100" b="0" dirty="0">
                <a:solidFill>
                  <a:srgbClr val="3B3B3B"/>
                </a:solidFill>
                <a:effectLst/>
                <a:latin typeface="Consolas" panose="020B0609020204030204" pitchFamily="49" charset="0"/>
              </a:rPr>
              <a:t>            </a:t>
            </a:r>
            <a:r>
              <a:rPr lang="en-IN" sz="1100" b="0" dirty="0">
                <a:solidFill>
                  <a:srgbClr val="0000FF"/>
                </a:solidFill>
                <a:effectLst/>
                <a:latin typeface="Consolas" panose="020B0609020204030204" pitchFamily="49" charset="0"/>
              </a:rPr>
              <a:t>this</a:t>
            </a:r>
            <a:r>
              <a:rPr lang="en-IN" sz="1100" b="0" dirty="0">
                <a:solidFill>
                  <a:srgbClr val="000000"/>
                </a:solidFill>
                <a:effectLst/>
                <a:latin typeface="Consolas" panose="020B0609020204030204" pitchFamily="49" charset="0"/>
              </a:rPr>
              <a:t>.</a:t>
            </a:r>
            <a:r>
              <a:rPr lang="en-IN" sz="1100" b="0" dirty="0">
                <a:solidFill>
                  <a:srgbClr val="001080"/>
                </a:solidFill>
                <a:effectLst/>
                <a:latin typeface="Consolas" panose="020B0609020204030204" pitchFamily="49" charset="0"/>
              </a:rPr>
              <a:t>ID</a:t>
            </a:r>
            <a:r>
              <a:rPr lang="en-IN" sz="1100" b="0" dirty="0">
                <a:solidFill>
                  <a:srgbClr val="3B3B3B"/>
                </a:solidFill>
                <a:effectLst/>
                <a:latin typeface="Consolas" panose="020B0609020204030204" pitchFamily="49" charset="0"/>
              </a:rPr>
              <a:t> </a:t>
            </a:r>
            <a:r>
              <a:rPr lang="en-IN" sz="1100" b="0" dirty="0">
                <a:solidFill>
                  <a:srgbClr val="000000"/>
                </a:solidFill>
                <a:effectLst/>
                <a:latin typeface="Consolas" panose="020B0609020204030204" pitchFamily="49" charset="0"/>
              </a:rPr>
              <a:t>=</a:t>
            </a:r>
            <a:r>
              <a:rPr lang="en-IN" sz="1100" b="0" dirty="0">
                <a:solidFill>
                  <a:srgbClr val="3B3B3B"/>
                </a:solidFill>
                <a:effectLst/>
                <a:latin typeface="Consolas" panose="020B0609020204030204" pitchFamily="49" charset="0"/>
              </a:rPr>
              <a:t> </a:t>
            </a:r>
            <a:r>
              <a:rPr lang="en-IN" sz="1100" b="0" dirty="0">
                <a:solidFill>
                  <a:srgbClr val="001080"/>
                </a:solidFill>
                <a:effectLst/>
                <a:latin typeface="Consolas" panose="020B0609020204030204" pitchFamily="49" charset="0"/>
              </a:rPr>
              <a:t>ID</a:t>
            </a:r>
            <a:r>
              <a:rPr lang="en-IN" sz="1100" b="0" dirty="0">
                <a:solidFill>
                  <a:srgbClr val="3B3B3B"/>
                </a:solidFill>
                <a:effectLst/>
                <a:latin typeface="Consolas" panose="020B0609020204030204" pitchFamily="49" charset="0"/>
              </a:rPr>
              <a:t>;</a:t>
            </a:r>
          </a:p>
          <a:p>
            <a:pPr>
              <a:lnSpc>
                <a:spcPts val="1425"/>
              </a:lnSpc>
              <a:buNone/>
            </a:pPr>
            <a:r>
              <a:rPr lang="en-IN" sz="1100" b="0" dirty="0">
                <a:solidFill>
                  <a:srgbClr val="3B3B3B"/>
                </a:solidFill>
                <a:effectLst/>
                <a:latin typeface="Consolas" panose="020B0609020204030204" pitchFamily="49" charset="0"/>
              </a:rPr>
              <a:t>            </a:t>
            </a:r>
            <a:r>
              <a:rPr lang="en-IN" sz="1100" b="0" dirty="0" err="1">
                <a:solidFill>
                  <a:srgbClr val="0000FF"/>
                </a:solidFill>
                <a:effectLst/>
                <a:latin typeface="Consolas" panose="020B0609020204030204" pitchFamily="49" charset="0"/>
              </a:rPr>
              <a:t>this</a:t>
            </a:r>
            <a:r>
              <a:rPr lang="en-IN" sz="1100" b="0" dirty="0" err="1">
                <a:solidFill>
                  <a:srgbClr val="000000"/>
                </a:solidFill>
                <a:effectLst/>
                <a:latin typeface="Consolas" panose="020B0609020204030204" pitchFamily="49" charset="0"/>
              </a:rPr>
              <a:t>.</a:t>
            </a:r>
            <a:r>
              <a:rPr lang="en-IN" sz="1100" b="0" dirty="0" err="1">
                <a:solidFill>
                  <a:srgbClr val="001080"/>
                </a:solidFill>
                <a:effectLst/>
                <a:latin typeface="Consolas" panose="020B0609020204030204" pitchFamily="49" charset="0"/>
              </a:rPr>
              <a:t>Name</a:t>
            </a:r>
            <a:r>
              <a:rPr lang="en-IN" sz="1100" b="0" dirty="0">
                <a:solidFill>
                  <a:srgbClr val="3B3B3B"/>
                </a:solidFill>
                <a:effectLst/>
                <a:latin typeface="Consolas" panose="020B0609020204030204" pitchFamily="49" charset="0"/>
              </a:rPr>
              <a:t> </a:t>
            </a:r>
            <a:r>
              <a:rPr lang="en-IN" sz="1100" b="0" dirty="0">
                <a:solidFill>
                  <a:srgbClr val="000000"/>
                </a:solidFill>
                <a:effectLst/>
                <a:latin typeface="Consolas" panose="020B0609020204030204" pitchFamily="49" charset="0"/>
              </a:rPr>
              <a:t>=</a:t>
            </a:r>
            <a:r>
              <a:rPr lang="en-IN" sz="1100" b="0" dirty="0">
                <a:solidFill>
                  <a:srgbClr val="3B3B3B"/>
                </a:solidFill>
                <a:effectLst/>
                <a:latin typeface="Consolas" panose="020B0609020204030204" pitchFamily="49" charset="0"/>
              </a:rPr>
              <a:t> </a:t>
            </a:r>
            <a:r>
              <a:rPr lang="en-IN" sz="1100" b="0" dirty="0">
                <a:solidFill>
                  <a:srgbClr val="001080"/>
                </a:solidFill>
                <a:effectLst/>
                <a:latin typeface="Consolas" panose="020B0609020204030204" pitchFamily="49" charset="0"/>
              </a:rPr>
              <a:t>Name</a:t>
            </a:r>
            <a:r>
              <a:rPr lang="en-IN" sz="1100" b="0" dirty="0">
                <a:solidFill>
                  <a:srgbClr val="3B3B3B"/>
                </a:solidFill>
                <a:effectLst/>
                <a:latin typeface="Consolas" panose="020B0609020204030204" pitchFamily="49" charset="0"/>
              </a:rPr>
              <a:t>;</a:t>
            </a:r>
          </a:p>
          <a:p>
            <a:pPr>
              <a:lnSpc>
                <a:spcPts val="1425"/>
              </a:lnSpc>
              <a:buNone/>
            </a:pPr>
            <a:r>
              <a:rPr lang="en-IN" sz="1100" b="0" dirty="0">
                <a:solidFill>
                  <a:srgbClr val="3B3B3B"/>
                </a:solidFill>
                <a:effectLst/>
                <a:latin typeface="Consolas" panose="020B0609020204030204" pitchFamily="49" charset="0"/>
              </a:rPr>
              <a:t>                    }</a:t>
            </a:r>
          </a:p>
          <a:p>
            <a:pPr>
              <a:lnSpc>
                <a:spcPts val="1425"/>
              </a:lnSpc>
              <a:buNone/>
            </a:pPr>
            <a:r>
              <a:rPr lang="en-IN" sz="1100" b="0" dirty="0">
                <a:solidFill>
                  <a:srgbClr val="3B3B3B"/>
                </a:solidFill>
                <a:effectLst/>
                <a:latin typeface="Consolas" panose="020B0609020204030204" pitchFamily="49" charset="0"/>
              </a:rPr>
              <a:t>    }</a:t>
            </a:r>
          </a:p>
          <a:p>
            <a:pPr>
              <a:lnSpc>
                <a:spcPts val="1425"/>
              </a:lnSpc>
            </a:pPr>
            <a:r>
              <a:rPr lang="en-IN" sz="1100" b="0" dirty="0">
                <a:solidFill>
                  <a:srgbClr val="3B3B3B"/>
                </a:solidFill>
                <a:effectLst/>
                <a:latin typeface="Consolas" panose="020B0609020204030204" pitchFamily="49" charset="0"/>
              </a:rPr>
              <a:t>}</a:t>
            </a:r>
          </a:p>
        </p:txBody>
      </p:sp>
      <p:sp>
        <p:nvSpPr>
          <p:cNvPr id="11" name="TextBox 10">
            <a:extLst>
              <a:ext uri="{FF2B5EF4-FFF2-40B4-BE49-F238E27FC236}">
                <a16:creationId xmlns:a16="http://schemas.microsoft.com/office/drawing/2014/main" id="{D8695B46-F25A-68B9-C188-B5497E20F50A}"/>
              </a:ext>
            </a:extLst>
          </p:cNvPr>
          <p:cNvSpPr txBox="1"/>
          <p:nvPr/>
        </p:nvSpPr>
        <p:spPr>
          <a:xfrm>
            <a:off x="152400" y="3988082"/>
            <a:ext cx="9067800" cy="646331"/>
          </a:xfrm>
          <a:prstGeom prst="rect">
            <a:avLst/>
          </a:prstGeom>
          <a:noFill/>
        </p:spPr>
        <p:txBody>
          <a:bodyPr wrap="square">
            <a:spAutoFit/>
          </a:bodyPr>
          <a:lstStyle/>
          <a:p>
            <a:r>
              <a:rPr lang="en-US" dirty="0"/>
              <a:t>Let’s try to create an instance of the above Employee class and let’s try to consume the employee object like an array. </a:t>
            </a:r>
            <a:endParaRPr lang="en-IN" dirty="0"/>
          </a:p>
        </p:txBody>
      </p:sp>
      <p:sp>
        <p:nvSpPr>
          <p:cNvPr id="13" name="TextBox 12">
            <a:extLst>
              <a:ext uri="{FF2B5EF4-FFF2-40B4-BE49-F238E27FC236}">
                <a16:creationId xmlns:a16="http://schemas.microsoft.com/office/drawing/2014/main" id="{30991576-C292-D7A0-48DE-BFFF7A60833B}"/>
              </a:ext>
            </a:extLst>
          </p:cNvPr>
          <p:cNvSpPr txBox="1"/>
          <p:nvPr/>
        </p:nvSpPr>
        <p:spPr>
          <a:xfrm>
            <a:off x="4550833" y="345504"/>
            <a:ext cx="4635500" cy="331539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nSpc>
                <a:spcPts val="1425"/>
              </a:lnSpc>
              <a:buNone/>
            </a:pPr>
            <a:r>
              <a:rPr lang="en-IN" sz="1100" b="0" dirty="0">
                <a:solidFill>
                  <a:srgbClr val="0000FF"/>
                </a:solidFill>
                <a:effectLst/>
                <a:latin typeface="Consolas" panose="020B0609020204030204" pitchFamily="49" charset="0"/>
              </a:rPr>
              <a:t>using</a:t>
            </a:r>
            <a:r>
              <a:rPr lang="en-IN" sz="1100" b="0" dirty="0">
                <a:solidFill>
                  <a:srgbClr val="3B3B3B"/>
                </a:solidFill>
                <a:effectLst/>
                <a:latin typeface="Consolas" panose="020B0609020204030204" pitchFamily="49" charset="0"/>
              </a:rPr>
              <a:t> </a:t>
            </a:r>
            <a:r>
              <a:rPr lang="en-IN" sz="1100" b="0" dirty="0">
                <a:solidFill>
                  <a:srgbClr val="267F99"/>
                </a:solidFill>
                <a:effectLst/>
                <a:latin typeface="Consolas" panose="020B0609020204030204" pitchFamily="49" charset="0"/>
              </a:rPr>
              <a:t>System</a:t>
            </a:r>
            <a:r>
              <a:rPr lang="en-IN" sz="1100" b="0" dirty="0">
                <a:solidFill>
                  <a:srgbClr val="3B3B3B"/>
                </a:solidFill>
                <a:effectLst/>
                <a:latin typeface="Consolas" panose="020B0609020204030204" pitchFamily="49" charset="0"/>
              </a:rPr>
              <a:t>;</a:t>
            </a:r>
          </a:p>
          <a:p>
            <a:pPr>
              <a:lnSpc>
                <a:spcPts val="1425"/>
              </a:lnSpc>
              <a:buNone/>
            </a:pPr>
            <a:r>
              <a:rPr lang="en-IN" sz="1100" b="0" dirty="0">
                <a:solidFill>
                  <a:srgbClr val="0000FF"/>
                </a:solidFill>
                <a:effectLst/>
                <a:latin typeface="Consolas" panose="020B0609020204030204" pitchFamily="49" charset="0"/>
              </a:rPr>
              <a:t>namespace</a:t>
            </a:r>
            <a:r>
              <a:rPr lang="en-IN" sz="1100" b="0" dirty="0">
                <a:solidFill>
                  <a:srgbClr val="3B3B3B"/>
                </a:solidFill>
                <a:effectLst/>
                <a:latin typeface="Consolas" panose="020B0609020204030204" pitchFamily="49" charset="0"/>
              </a:rPr>
              <a:t> </a:t>
            </a:r>
            <a:r>
              <a:rPr lang="en-IN" sz="1100" b="0" dirty="0" err="1">
                <a:solidFill>
                  <a:srgbClr val="267F99"/>
                </a:solidFill>
                <a:effectLst/>
                <a:latin typeface="Consolas" panose="020B0609020204030204" pitchFamily="49" charset="0"/>
              </a:rPr>
              <a:t>IndexersDemo</a:t>
            </a:r>
            <a:endParaRPr lang="en-IN" sz="1100" b="0" dirty="0">
              <a:solidFill>
                <a:srgbClr val="3B3B3B"/>
              </a:solidFill>
              <a:effectLst/>
              <a:latin typeface="Consolas" panose="020B0609020204030204" pitchFamily="49" charset="0"/>
            </a:endParaRPr>
          </a:p>
          <a:p>
            <a:pPr>
              <a:lnSpc>
                <a:spcPts val="1425"/>
              </a:lnSpc>
              <a:buNone/>
            </a:pPr>
            <a:r>
              <a:rPr lang="en-IN" sz="1100" b="0" dirty="0">
                <a:solidFill>
                  <a:srgbClr val="3B3B3B"/>
                </a:solidFill>
                <a:effectLst/>
                <a:latin typeface="Consolas" panose="020B0609020204030204" pitchFamily="49" charset="0"/>
              </a:rPr>
              <a:t>{</a:t>
            </a:r>
          </a:p>
          <a:p>
            <a:pPr>
              <a:lnSpc>
                <a:spcPts val="1425"/>
              </a:lnSpc>
              <a:buNone/>
            </a:pPr>
            <a:r>
              <a:rPr lang="en-IN" sz="1100" b="0" dirty="0">
                <a:solidFill>
                  <a:srgbClr val="3B3B3B"/>
                </a:solidFill>
                <a:effectLst/>
                <a:latin typeface="Consolas" panose="020B0609020204030204" pitchFamily="49" charset="0"/>
              </a:rPr>
              <a:t>    </a:t>
            </a:r>
            <a:r>
              <a:rPr lang="en-IN" sz="1100" b="0" dirty="0">
                <a:solidFill>
                  <a:srgbClr val="0000FF"/>
                </a:solidFill>
                <a:effectLst/>
                <a:latin typeface="Consolas" panose="020B0609020204030204" pitchFamily="49" charset="0"/>
              </a:rPr>
              <a:t>class</a:t>
            </a:r>
            <a:r>
              <a:rPr lang="en-IN" sz="1100" b="0" dirty="0">
                <a:solidFill>
                  <a:srgbClr val="3B3B3B"/>
                </a:solidFill>
                <a:effectLst/>
                <a:latin typeface="Consolas" panose="020B0609020204030204" pitchFamily="49" charset="0"/>
              </a:rPr>
              <a:t> </a:t>
            </a:r>
            <a:r>
              <a:rPr lang="en-IN" sz="1100" b="0" dirty="0">
                <a:solidFill>
                  <a:srgbClr val="267F99"/>
                </a:solidFill>
                <a:effectLst/>
                <a:latin typeface="Consolas" panose="020B0609020204030204" pitchFamily="49" charset="0"/>
              </a:rPr>
              <a:t>Program</a:t>
            </a:r>
            <a:endParaRPr lang="en-IN" sz="1100" b="0" dirty="0">
              <a:solidFill>
                <a:srgbClr val="3B3B3B"/>
              </a:solidFill>
              <a:effectLst/>
              <a:latin typeface="Consolas" panose="020B0609020204030204" pitchFamily="49" charset="0"/>
            </a:endParaRPr>
          </a:p>
          <a:p>
            <a:pPr>
              <a:lnSpc>
                <a:spcPts val="1425"/>
              </a:lnSpc>
              <a:buNone/>
            </a:pPr>
            <a:r>
              <a:rPr lang="en-IN" sz="1100" b="0" dirty="0">
                <a:solidFill>
                  <a:srgbClr val="3B3B3B"/>
                </a:solidFill>
                <a:effectLst/>
                <a:latin typeface="Consolas" panose="020B0609020204030204" pitchFamily="49" charset="0"/>
              </a:rPr>
              <a:t>    {</a:t>
            </a:r>
          </a:p>
          <a:p>
            <a:pPr>
              <a:lnSpc>
                <a:spcPts val="1425"/>
              </a:lnSpc>
              <a:buNone/>
            </a:pPr>
            <a:r>
              <a:rPr lang="en-IN" sz="1100" b="0" dirty="0">
                <a:solidFill>
                  <a:srgbClr val="3B3B3B"/>
                </a:solidFill>
                <a:effectLst/>
                <a:latin typeface="Consolas" panose="020B0609020204030204" pitchFamily="49" charset="0"/>
              </a:rPr>
              <a:t>        </a:t>
            </a:r>
            <a:r>
              <a:rPr lang="en-IN" sz="1100" b="0" dirty="0">
                <a:solidFill>
                  <a:srgbClr val="0000FF"/>
                </a:solidFill>
                <a:effectLst/>
                <a:latin typeface="Consolas" panose="020B0609020204030204" pitchFamily="49" charset="0"/>
              </a:rPr>
              <a:t>static</a:t>
            </a:r>
            <a:r>
              <a:rPr lang="en-IN" sz="1100" b="0" dirty="0">
                <a:solidFill>
                  <a:srgbClr val="3B3B3B"/>
                </a:solidFill>
                <a:effectLst/>
                <a:latin typeface="Consolas" panose="020B0609020204030204" pitchFamily="49" charset="0"/>
              </a:rPr>
              <a:t> </a:t>
            </a:r>
            <a:r>
              <a:rPr lang="en-IN" sz="1100" b="0" dirty="0">
                <a:solidFill>
                  <a:srgbClr val="0000FF"/>
                </a:solidFill>
                <a:effectLst/>
                <a:latin typeface="Consolas" panose="020B0609020204030204" pitchFamily="49" charset="0"/>
              </a:rPr>
              <a:t>void</a:t>
            </a:r>
            <a:r>
              <a:rPr lang="en-IN" sz="1100" b="0" dirty="0">
                <a:solidFill>
                  <a:srgbClr val="3B3B3B"/>
                </a:solidFill>
                <a:effectLst/>
                <a:latin typeface="Consolas" panose="020B0609020204030204" pitchFamily="49" charset="0"/>
              </a:rPr>
              <a:t> </a:t>
            </a:r>
            <a:r>
              <a:rPr lang="en-IN" sz="1100" b="0" dirty="0">
                <a:solidFill>
                  <a:srgbClr val="795E26"/>
                </a:solidFill>
                <a:effectLst/>
                <a:latin typeface="Consolas" panose="020B0609020204030204" pitchFamily="49" charset="0"/>
              </a:rPr>
              <a:t>Main</a:t>
            </a:r>
            <a:r>
              <a:rPr lang="en-IN" sz="1100" b="0" dirty="0">
                <a:solidFill>
                  <a:srgbClr val="3B3B3B"/>
                </a:solidFill>
                <a:effectLst/>
                <a:latin typeface="Consolas" panose="020B0609020204030204" pitchFamily="49" charset="0"/>
              </a:rPr>
              <a:t>(</a:t>
            </a:r>
            <a:r>
              <a:rPr lang="en-IN" sz="1100" b="0" dirty="0">
                <a:solidFill>
                  <a:srgbClr val="0000FF"/>
                </a:solidFill>
                <a:effectLst/>
                <a:latin typeface="Consolas" panose="020B0609020204030204" pitchFamily="49" charset="0"/>
              </a:rPr>
              <a:t>string</a:t>
            </a:r>
            <a:r>
              <a:rPr lang="en-IN" sz="1100" b="0" dirty="0">
                <a:solidFill>
                  <a:srgbClr val="3B3B3B"/>
                </a:solidFill>
                <a:effectLst/>
                <a:latin typeface="Consolas" panose="020B0609020204030204" pitchFamily="49" charset="0"/>
              </a:rPr>
              <a:t>[] </a:t>
            </a:r>
            <a:r>
              <a:rPr lang="en-IN" sz="1100" b="0" dirty="0" err="1">
                <a:solidFill>
                  <a:srgbClr val="001080"/>
                </a:solidFill>
                <a:effectLst/>
                <a:latin typeface="Consolas" panose="020B0609020204030204" pitchFamily="49" charset="0"/>
              </a:rPr>
              <a:t>args</a:t>
            </a:r>
            <a:r>
              <a:rPr lang="en-IN" sz="1100" b="0" dirty="0">
                <a:solidFill>
                  <a:srgbClr val="3B3B3B"/>
                </a:solidFill>
                <a:effectLst/>
                <a:latin typeface="Consolas" panose="020B0609020204030204" pitchFamily="49" charset="0"/>
              </a:rPr>
              <a:t>)</a:t>
            </a:r>
          </a:p>
          <a:p>
            <a:pPr>
              <a:lnSpc>
                <a:spcPts val="1425"/>
              </a:lnSpc>
              <a:buNone/>
            </a:pPr>
            <a:r>
              <a:rPr lang="en-IN" sz="1100" b="0" dirty="0">
                <a:solidFill>
                  <a:srgbClr val="3B3B3B"/>
                </a:solidFill>
                <a:effectLst/>
                <a:latin typeface="Consolas" panose="020B0609020204030204" pitchFamily="49" charset="0"/>
              </a:rPr>
              <a:t>        {</a:t>
            </a:r>
          </a:p>
          <a:p>
            <a:pPr>
              <a:lnSpc>
                <a:spcPts val="1425"/>
              </a:lnSpc>
              <a:buNone/>
            </a:pPr>
            <a:r>
              <a:rPr lang="en-IN" sz="1100" b="0" dirty="0">
                <a:solidFill>
                  <a:srgbClr val="008000"/>
                </a:solidFill>
                <a:effectLst/>
                <a:latin typeface="Consolas" panose="020B0609020204030204" pitchFamily="49" charset="0"/>
              </a:rPr>
              <a:t>            //Creating the Employee instance</a:t>
            </a:r>
            <a:endParaRPr lang="en-IN" sz="1100" b="0" dirty="0">
              <a:solidFill>
                <a:srgbClr val="3B3B3B"/>
              </a:solidFill>
              <a:effectLst/>
              <a:latin typeface="Consolas" panose="020B0609020204030204" pitchFamily="49" charset="0"/>
            </a:endParaRPr>
          </a:p>
          <a:p>
            <a:pPr>
              <a:lnSpc>
                <a:spcPts val="1425"/>
              </a:lnSpc>
              <a:buNone/>
            </a:pPr>
            <a:r>
              <a:rPr lang="en-IN" sz="1100" b="0" dirty="0">
                <a:solidFill>
                  <a:srgbClr val="3B3B3B"/>
                </a:solidFill>
                <a:effectLst/>
                <a:latin typeface="Consolas" panose="020B0609020204030204" pitchFamily="49" charset="0"/>
              </a:rPr>
              <a:t>            </a:t>
            </a:r>
            <a:r>
              <a:rPr lang="en-IN" sz="1100" b="0" dirty="0">
                <a:solidFill>
                  <a:srgbClr val="267F99"/>
                </a:solidFill>
                <a:effectLst/>
                <a:latin typeface="Consolas" panose="020B0609020204030204" pitchFamily="49" charset="0"/>
              </a:rPr>
              <a:t>Employee</a:t>
            </a:r>
            <a:r>
              <a:rPr lang="en-IN" sz="1100" b="0" dirty="0">
                <a:solidFill>
                  <a:srgbClr val="3B3B3B"/>
                </a:solidFill>
                <a:effectLst/>
                <a:latin typeface="Consolas" panose="020B0609020204030204" pitchFamily="49" charset="0"/>
              </a:rPr>
              <a:t> </a:t>
            </a:r>
            <a:r>
              <a:rPr lang="en-IN" sz="1100" b="0" dirty="0">
                <a:solidFill>
                  <a:srgbClr val="001080"/>
                </a:solidFill>
                <a:effectLst/>
                <a:latin typeface="Consolas" panose="020B0609020204030204" pitchFamily="49" charset="0"/>
              </a:rPr>
              <a:t>emp</a:t>
            </a:r>
            <a:r>
              <a:rPr lang="en-IN" sz="1100" b="0" dirty="0">
                <a:solidFill>
                  <a:srgbClr val="3B3B3B"/>
                </a:solidFill>
                <a:effectLst/>
                <a:latin typeface="Consolas" panose="020B0609020204030204" pitchFamily="49" charset="0"/>
              </a:rPr>
              <a:t> </a:t>
            </a:r>
            <a:r>
              <a:rPr lang="en-IN" sz="1100" b="0" dirty="0">
                <a:solidFill>
                  <a:srgbClr val="000000"/>
                </a:solidFill>
                <a:effectLst/>
                <a:latin typeface="Consolas" panose="020B0609020204030204" pitchFamily="49" charset="0"/>
              </a:rPr>
              <a:t>=</a:t>
            </a:r>
            <a:r>
              <a:rPr lang="en-IN" sz="1100" b="0" dirty="0">
                <a:solidFill>
                  <a:srgbClr val="3B3B3B"/>
                </a:solidFill>
                <a:effectLst/>
                <a:latin typeface="Consolas" panose="020B0609020204030204" pitchFamily="49" charset="0"/>
              </a:rPr>
              <a:t> </a:t>
            </a:r>
            <a:r>
              <a:rPr lang="en-IN" sz="1100" b="0" dirty="0">
                <a:solidFill>
                  <a:srgbClr val="0000FF"/>
                </a:solidFill>
                <a:effectLst/>
                <a:latin typeface="Consolas" panose="020B0609020204030204" pitchFamily="49" charset="0"/>
              </a:rPr>
              <a:t>new</a:t>
            </a:r>
            <a:r>
              <a:rPr lang="en-IN" sz="1100" b="0" dirty="0">
                <a:solidFill>
                  <a:srgbClr val="3B3B3B"/>
                </a:solidFill>
                <a:effectLst/>
                <a:latin typeface="Consolas" panose="020B0609020204030204" pitchFamily="49" charset="0"/>
              </a:rPr>
              <a:t> </a:t>
            </a:r>
            <a:r>
              <a:rPr lang="en-IN" sz="1100" b="0" dirty="0">
                <a:solidFill>
                  <a:srgbClr val="267F99"/>
                </a:solidFill>
                <a:effectLst/>
                <a:latin typeface="Consolas" panose="020B0609020204030204" pitchFamily="49" charset="0"/>
              </a:rPr>
              <a:t>Employee</a:t>
            </a:r>
            <a:r>
              <a:rPr lang="en-IN" sz="1100" b="0" dirty="0">
                <a:solidFill>
                  <a:srgbClr val="3B3B3B"/>
                </a:solidFill>
                <a:effectLst/>
                <a:latin typeface="Consolas" panose="020B0609020204030204" pitchFamily="49" charset="0"/>
              </a:rPr>
              <a:t>(</a:t>
            </a:r>
            <a:r>
              <a:rPr lang="en-IN" sz="1100" b="0" dirty="0">
                <a:solidFill>
                  <a:srgbClr val="098658"/>
                </a:solidFill>
                <a:effectLst/>
                <a:latin typeface="Consolas" panose="020B0609020204030204" pitchFamily="49" charset="0"/>
              </a:rPr>
              <a:t>101</a:t>
            </a:r>
            <a:r>
              <a:rPr lang="en-IN" sz="1100" b="0" dirty="0">
                <a:solidFill>
                  <a:srgbClr val="3B3B3B"/>
                </a:solidFill>
                <a:effectLst/>
                <a:latin typeface="Consolas" panose="020B0609020204030204" pitchFamily="49" charset="0"/>
              </a:rPr>
              <a:t>, </a:t>
            </a:r>
            <a:r>
              <a:rPr lang="en-IN" sz="1100" b="0" dirty="0">
                <a:solidFill>
                  <a:srgbClr val="A31515"/>
                </a:solidFill>
                <a:effectLst/>
                <a:latin typeface="Consolas" panose="020B0609020204030204" pitchFamily="49" charset="0"/>
              </a:rPr>
              <a:t>“Vita"</a:t>
            </a:r>
            <a:r>
              <a:rPr lang="en-IN" sz="1100" b="0" dirty="0">
                <a:solidFill>
                  <a:srgbClr val="3B3B3B"/>
                </a:solidFill>
                <a:effectLst/>
                <a:latin typeface="Consolas" panose="020B0609020204030204" pitchFamily="49" charset="0"/>
              </a:rPr>
              <a:t>);</a:t>
            </a:r>
          </a:p>
          <a:p>
            <a:pPr>
              <a:lnSpc>
                <a:spcPts val="1425"/>
              </a:lnSpc>
              <a:buNone/>
            </a:pPr>
            <a:r>
              <a:rPr lang="en-IN" sz="1100" b="0" dirty="0">
                <a:solidFill>
                  <a:srgbClr val="008000"/>
                </a:solidFill>
                <a:effectLst/>
                <a:latin typeface="Consolas" panose="020B0609020204030204" pitchFamily="49" charset="0"/>
              </a:rPr>
              <a:t>            //Accessing Employee Properties using Indexers i.e. using Index positions</a:t>
            </a:r>
            <a:endParaRPr lang="en-IN" sz="1100" b="0" dirty="0">
              <a:solidFill>
                <a:srgbClr val="3B3B3B"/>
              </a:solidFill>
              <a:effectLst/>
              <a:latin typeface="Consolas" panose="020B0609020204030204" pitchFamily="49" charset="0"/>
            </a:endParaRPr>
          </a:p>
          <a:p>
            <a:pPr>
              <a:lnSpc>
                <a:spcPts val="1425"/>
              </a:lnSpc>
              <a:buNone/>
            </a:pPr>
            <a:r>
              <a:rPr lang="en-IN" sz="1100" b="0" dirty="0">
                <a:solidFill>
                  <a:srgbClr val="3B3B3B"/>
                </a:solidFill>
                <a:effectLst/>
                <a:latin typeface="Consolas" panose="020B0609020204030204" pitchFamily="49" charset="0"/>
              </a:rPr>
              <a:t>            </a:t>
            </a:r>
            <a:r>
              <a:rPr lang="en-IN" sz="1100" b="0" dirty="0" err="1">
                <a:solidFill>
                  <a:srgbClr val="267F99"/>
                </a:solidFill>
                <a:effectLst/>
                <a:latin typeface="Consolas" panose="020B0609020204030204" pitchFamily="49" charset="0"/>
              </a:rPr>
              <a:t>Console</a:t>
            </a:r>
            <a:r>
              <a:rPr lang="en-IN" sz="1100" b="0" dirty="0" err="1">
                <a:solidFill>
                  <a:srgbClr val="000000"/>
                </a:solidFill>
                <a:effectLst/>
                <a:latin typeface="Consolas" panose="020B0609020204030204" pitchFamily="49" charset="0"/>
              </a:rPr>
              <a:t>.</a:t>
            </a:r>
            <a:r>
              <a:rPr lang="en-IN" sz="1100" b="0" dirty="0" err="1">
                <a:solidFill>
                  <a:srgbClr val="795E26"/>
                </a:solidFill>
                <a:effectLst/>
                <a:latin typeface="Consolas" panose="020B0609020204030204" pitchFamily="49" charset="0"/>
              </a:rPr>
              <a:t>WriteLine</a:t>
            </a:r>
            <a:r>
              <a:rPr lang="en-IN" sz="1100" b="0" dirty="0">
                <a:solidFill>
                  <a:srgbClr val="3B3B3B"/>
                </a:solidFill>
                <a:effectLst/>
                <a:latin typeface="Consolas" panose="020B0609020204030204" pitchFamily="49" charset="0"/>
              </a:rPr>
              <a:t>(</a:t>
            </a:r>
            <a:r>
              <a:rPr lang="en-IN" sz="1100" b="0" dirty="0">
                <a:solidFill>
                  <a:srgbClr val="A31515"/>
                </a:solidFill>
                <a:effectLst/>
                <a:latin typeface="Consolas" panose="020B0609020204030204" pitchFamily="49" charset="0"/>
              </a:rPr>
              <a:t>"EID = "</a:t>
            </a:r>
            <a:r>
              <a:rPr lang="en-IN" sz="1100" b="0" dirty="0">
                <a:solidFill>
                  <a:srgbClr val="3B3B3B"/>
                </a:solidFill>
                <a:effectLst/>
                <a:latin typeface="Consolas" panose="020B0609020204030204" pitchFamily="49" charset="0"/>
              </a:rPr>
              <a:t> </a:t>
            </a:r>
            <a:r>
              <a:rPr lang="en-IN" sz="1100" b="0" dirty="0">
                <a:solidFill>
                  <a:srgbClr val="000000"/>
                </a:solidFill>
                <a:effectLst/>
                <a:latin typeface="Consolas" panose="020B0609020204030204" pitchFamily="49" charset="0"/>
              </a:rPr>
              <a:t>+</a:t>
            </a:r>
            <a:r>
              <a:rPr lang="en-IN" sz="1100" b="0" dirty="0">
                <a:solidFill>
                  <a:srgbClr val="3B3B3B"/>
                </a:solidFill>
                <a:effectLst/>
                <a:latin typeface="Consolas" panose="020B0609020204030204" pitchFamily="49" charset="0"/>
              </a:rPr>
              <a:t> </a:t>
            </a:r>
            <a:r>
              <a:rPr lang="en-IN" sz="1100" b="0" dirty="0">
                <a:solidFill>
                  <a:srgbClr val="001080"/>
                </a:solidFill>
                <a:effectLst/>
                <a:latin typeface="Consolas" panose="020B0609020204030204" pitchFamily="49" charset="0"/>
              </a:rPr>
              <a:t>emp</a:t>
            </a:r>
            <a:r>
              <a:rPr lang="en-IN" sz="1100" b="0" dirty="0">
                <a:solidFill>
                  <a:srgbClr val="3B3B3B"/>
                </a:solidFill>
                <a:effectLst/>
                <a:latin typeface="Consolas" panose="020B0609020204030204" pitchFamily="49" charset="0"/>
              </a:rPr>
              <a:t>[</a:t>
            </a:r>
            <a:r>
              <a:rPr lang="en-IN" sz="1100" b="0" dirty="0">
                <a:solidFill>
                  <a:srgbClr val="098658"/>
                </a:solidFill>
                <a:effectLst/>
                <a:latin typeface="Consolas" panose="020B0609020204030204" pitchFamily="49" charset="0"/>
              </a:rPr>
              <a:t>0</a:t>
            </a:r>
            <a:r>
              <a:rPr lang="en-IN" sz="1100" b="0" dirty="0">
                <a:solidFill>
                  <a:srgbClr val="3B3B3B"/>
                </a:solidFill>
                <a:effectLst/>
                <a:latin typeface="Consolas" panose="020B0609020204030204" pitchFamily="49" charset="0"/>
              </a:rPr>
              <a:t>]);</a:t>
            </a:r>
          </a:p>
          <a:p>
            <a:pPr>
              <a:lnSpc>
                <a:spcPts val="1425"/>
              </a:lnSpc>
              <a:buNone/>
            </a:pPr>
            <a:r>
              <a:rPr lang="en-IN" sz="1100" b="0" dirty="0">
                <a:solidFill>
                  <a:srgbClr val="3B3B3B"/>
                </a:solidFill>
                <a:effectLst/>
                <a:latin typeface="Consolas" panose="020B0609020204030204" pitchFamily="49" charset="0"/>
              </a:rPr>
              <a:t>            </a:t>
            </a:r>
            <a:r>
              <a:rPr lang="en-IN" sz="1100" b="0" dirty="0" err="1">
                <a:solidFill>
                  <a:srgbClr val="267F99"/>
                </a:solidFill>
                <a:effectLst/>
                <a:latin typeface="Consolas" panose="020B0609020204030204" pitchFamily="49" charset="0"/>
              </a:rPr>
              <a:t>Console</a:t>
            </a:r>
            <a:r>
              <a:rPr lang="en-IN" sz="1100" b="0" dirty="0" err="1">
                <a:solidFill>
                  <a:srgbClr val="000000"/>
                </a:solidFill>
                <a:effectLst/>
                <a:latin typeface="Consolas" panose="020B0609020204030204" pitchFamily="49" charset="0"/>
              </a:rPr>
              <a:t>.</a:t>
            </a:r>
            <a:r>
              <a:rPr lang="en-IN" sz="1100" b="0" dirty="0" err="1">
                <a:solidFill>
                  <a:srgbClr val="795E26"/>
                </a:solidFill>
                <a:effectLst/>
                <a:latin typeface="Consolas" panose="020B0609020204030204" pitchFamily="49" charset="0"/>
              </a:rPr>
              <a:t>WriteLine</a:t>
            </a:r>
            <a:r>
              <a:rPr lang="en-IN" sz="1100" b="0" dirty="0">
                <a:solidFill>
                  <a:srgbClr val="3B3B3B"/>
                </a:solidFill>
                <a:effectLst/>
                <a:latin typeface="Consolas" panose="020B0609020204030204" pitchFamily="49" charset="0"/>
              </a:rPr>
              <a:t>(</a:t>
            </a:r>
            <a:r>
              <a:rPr lang="en-IN" sz="1100" b="0" dirty="0">
                <a:solidFill>
                  <a:srgbClr val="A31515"/>
                </a:solidFill>
                <a:effectLst/>
                <a:latin typeface="Consolas" panose="020B0609020204030204" pitchFamily="49" charset="0"/>
              </a:rPr>
              <a:t>"Name = "</a:t>
            </a:r>
            <a:r>
              <a:rPr lang="en-IN" sz="1100" b="0" dirty="0">
                <a:solidFill>
                  <a:srgbClr val="3B3B3B"/>
                </a:solidFill>
                <a:effectLst/>
                <a:latin typeface="Consolas" panose="020B0609020204030204" pitchFamily="49" charset="0"/>
              </a:rPr>
              <a:t> </a:t>
            </a:r>
            <a:r>
              <a:rPr lang="en-IN" sz="1100" b="0" dirty="0">
                <a:solidFill>
                  <a:srgbClr val="000000"/>
                </a:solidFill>
                <a:effectLst/>
                <a:latin typeface="Consolas" panose="020B0609020204030204" pitchFamily="49" charset="0"/>
              </a:rPr>
              <a:t>+</a:t>
            </a:r>
            <a:r>
              <a:rPr lang="en-IN" sz="1100" b="0" dirty="0">
                <a:solidFill>
                  <a:srgbClr val="3B3B3B"/>
                </a:solidFill>
                <a:effectLst/>
                <a:latin typeface="Consolas" panose="020B0609020204030204" pitchFamily="49" charset="0"/>
              </a:rPr>
              <a:t> </a:t>
            </a:r>
            <a:r>
              <a:rPr lang="en-IN" sz="1100" b="0" dirty="0">
                <a:solidFill>
                  <a:srgbClr val="001080"/>
                </a:solidFill>
                <a:effectLst/>
                <a:latin typeface="Consolas" panose="020B0609020204030204" pitchFamily="49" charset="0"/>
              </a:rPr>
              <a:t>emp</a:t>
            </a:r>
            <a:r>
              <a:rPr lang="en-IN" sz="1100" b="0" dirty="0">
                <a:solidFill>
                  <a:srgbClr val="3B3B3B"/>
                </a:solidFill>
                <a:effectLst/>
                <a:latin typeface="Consolas" panose="020B0609020204030204" pitchFamily="49" charset="0"/>
              </a:rPr>
              <a:t>[</a:t>
            </a:r>
            <a:r>
              <a:rPr lang="en-IN" sz="1100" b="0" dirty="0">
                <a:solidFill>
                  <a:srgbClr val="098658"/>
                </a:solidFill>
                <a:effectLst/>
                <a:latin typeface="Consolas" panose="020B0609020204030204" pitchFamily="49" charset="0"/>
              </a:rPr>
              <a:t>1</a:t>
            </a:r>
            <a:r>
              <a:rPr lang="en-IN" sz="1100" b="0" dirty="0">
                <a:solidFill>
                  <a:srgbClr val="3B3B3B"/>
                </a:solidFill>
                <a:effectLst/>
                <a:latin typeface="Consolas" panose="020B0609020204030204" pitchFamily="49" charset="0"/>
              </a:rPr>
              <a:t>]);</a:t>
            </a:r>
          </a:p>
          <a:p>
            <a:pPr>
              <a:lnSpc>
                <a:spcPts val="1425"/>
              </a:lnSpc>
              <a:buNone/>
            </a:pPr>
            <a:r>
              <a:rPr lang="en-IN" sz="1100" b="0" dirty="0">
                <a:solidFill>
                  <a:srgbClr val="3B3B3B"/>
                </a:solidFill>
                <a:effectLst/>
                <a:latin typeface="Consolas" panose="020B0609020204030204" pitchFamily="49" charset="0"/>
              </a:rPr>
              <a:t>                        </a:t>
            </a:r>
            <a:r>
              <a:rPr lang="en-IN" sz="1100" b="0" dirty="0">
                <a:solidFill>
                  <a:srgbClr val="001080"/>
                </a:solidFill>
                <a:effectLst/>
                <a:latin typeface="Consolas" panose="020B0609020204030204" pitchFamily="49" charset="0"/>
              </a:rPr>
              <a:t>emp</a:t>
            </a:r>
            <a:r>
              <a:rPr lang="en-IN" sz="1100" b="0" dirty="0">
                <a:solidFill>
                  <a:srgbClr val="3B3B3B"/>
                </a:solidFill>
                <a:effectLst/>
                <a:latin typeface="Consolas" panose="020B0609020204030204" pitchFamily="49" charset="0"/>
              </a:rPr>
              <a:t>[</a:t>
            </a:r>
            <a:r>
              <a:rPr lang="en-IN" sz="1100" b="0" dirty="0">
                <a:solidFill>
                  <a:srgbClr val="098658"/>
                </a:solidFill>
                <a:effectLst/>
                <a:latin typeface="Consolas" panose="020B0609020204030204" pitchFamily="49" charset="0"/>
              </a:rPr>
              <a:t>0</a:t>
            </a:r>
            <a:r>
              <a:rPr lang="en-IN" sz="1100" b="0" dirty="0">
                <a:solidFill>
                  <a:srgbClr val="3B3B3B"/>
                </a:solidFill>
                <a:effectLst/>
                <a:latin typeface="Consolas" panose="020B0609020204030204" pitchFamily="49" charset="0"/>
              </a:rPr>
              <a:t>]=“202”</a:t>
            </a:r>
          </a:p>
          <a:p>
            <a:pPr>
              <a:lnSpc>
                <a:spcPts val="1425"/>
              </a:lnSpc>
              <a:buNone/>
            </a:pPr>
            <a:r>
              <a:rPr lang="en-IN" sz="1100" b="0" dirty="0">
                <a:solidFill>
                  <a:srgbClr val="3B3B3B"/>
                </a:solidFill>
                <a:effectLst/>
                <a:latin typeface="Consolas" panose="020B0609020204030204" pitchFamily="49" charset="0"/>
              </a:rPr>
              <a:t>            </a:t>
            </a:r>
            <a:r>
              <a:rPr lang="en-IN" sz="1100" b="0" dirty="0" err="1">
                <a:solidFill>
                  <a:srgbClr val="267F99"/>
                </a:solidFill>
                <a:effectLst/>
                <a:latin typeface="Consolas" panose="020B0609020204030204" pitchFamily="49" charset="0"/>
              </a:rPr>
              <a:t>Console</a:t>
            </a:r>
            <a:r>
              <a:rPr lang="en-IN" sz="1100" b="0" dirty="0" err="1">
                <a:solidFill>
                  <a:srgbClr val="000000"/>
                </a:solidFill>
                <a:effectLst/>
                <a:latin typeface="Consolas" panose="020B0609020204030204" pitchFamily="49" charset="0"/>
              </a:rPr>
              <a:t>.</a:t>
            </a:r>
            <a:r>
              <a:rPr lang="en-IN" sz="1100" b="0" dirty="0" err="1">
                <a:solidFill>
                  <a:srgbClr val="795E26"/>
                </a:solidFill>
                <a:effectLst/>
                <a:latin typeface="Consolas" panose="020B0609020204030204" pitchFamily="49" charset="0"/>
              </a:rPr>
              <a:t>ReadLine</a:t>
            </a:r>
            <a:r>
              <a:rPr lang="en-IN" sz="1100" b="0" dirty="0">
                <a:solidFill>
                  <a:srgbClr val="3B3B3B"/>
                </a:solidFill>
                <a:effectLst/>
                <a:latin typeface="Consolas" panose="020B0609020204030204" pitchFamily="49" charset="0"/>
              </a:rPr>
              <a:t>();</a:t>
            </a:r>
          </a:p>
          <a:p>
            <a:pPr>
              <a:lnSpc>
                <a:spcPts val="1425"/>
              </a:lnSpc>
              <a:buNone/>
            </a:pPr>
            <a:r>
              <a:rPr lang="en-IN" sz="1100" b="0" dirty="0">
                <a:solidFill>
                  <a:srgbClr val="3B3B3B"/>
                </a:solidFill>
                <a:effectLst/>
                <a:latin typeface="Consolas" panose="020B0609020204030204" pitchFamily="49" charset="0"/>
              </a:rPr>
              <a:t>        }</a:t>
            </a:r>
          </a:p>
          <a:p>
            <a:pPr>
              <a:lnSpc>
                <a:spcPts val="1425"/>
              </a:lnSpc>
              <a:buNone/>
            </a:pPr>
            <a:r>
              <a:rPr lang="en-IN" sz="1100" b="0" dirty="0">
                <a:solidFill>
                  <a:srgbClr val="3B3B3B"/>
                </a:solidFill>
                <a:effectLst/>
                <a:latin typeface="Consolas" panose="020B0609020204030204" pitchFamily="49" charset="0"/>
              </a:rPr>
              <a:t>    }</a:t>
            </a:r>
          </a:p>
          <a:p>
            <a:pPr>
              <a:lnSpc>
                <a:spcPts val="1425"/>
              </a:lnSpc>
            </a:pPr>
            <a:r>
              <a:rPr lang="en-IN" sz="1100" b="0" dirty="0">
                <a:solidFill>
                  <a:srgbClr val="3B3B3B"/>
                </a:solidFill>
                <a:effectLst/>
                <a:latin typeface="Consolas" panose="020B0609020204030204" pitchFamily="49" charset="0"/>
              </a:rPr>
              <a:t>}</a:t>
            </a:r>
          </a:p>
        </p:txBody>
      </p:sp>
      <p:pic>
        <p:nvPicPr>
          <p:cNvPr id="3" name="Picture 2">
            <a:extLst>
              <a:ext uri="{FF2B5EF4-FFF2-40B4-BE49-F238E27FC236}">
                <a16:creationId xmlns:a16="http://schemas.microsoft.com/office/drawing/2014/main" id="{71C67A9E-9E8C-E4A9-40BB-669E2C2B0824}"/>
              </a:ext>
            </a:extLst>
          </p:cNvPr>
          <p:cNvPicPr>
            <a:picLocks noChangeAspect="1"/>
          </p:cNvPicPr>
          <p:nvPr/>
        </p:nvPicPr>
        <p:blipFill>
          <a:blip r:embed="rId2"/>
          <a:stretch>
            <a:fillRect/>
          </a:stretch>
        </p:blipFill>
        <p:spPr>
          <a:xfrm>
            <a:off x="152400" y="4961596"/>
            <a:ext cx="9067800" cy="126035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2AE5200-3CA5-A1CE-C191-B9E314F5DA00}"/>
              </a:ext>
            </a:extLst>
          </p:cNvPr>
          <p:cNvSpPr txBox="1"/>
          <p:nvPr/>
        </p:nvSpPr>
        <p:spPr>
          <a:xfrm>
            <a:off x="0" y="514909"/>
            <a:ext cx="4876800" cy="2123658"/>
          </a:xfrm>
          <a:prstGeom prst="rect">
            <a:avLst/>
          </a:prstGeom>
          <a:noFill/>
        </p:spPr>
        <p:txBody>
          <a:bodyPr wrap="square">
            <a:spAutoFit/>
          </a:bodyPr>
          <a:lstStyle/>
          <a:p>
            <a:pPr algn="just" fontAlgn="base">
              <a:buNone/>
            </a:pPr>
            <a:r>
              <a:rPr lang="en-US" sz="1200" b="0" i="0" dirty="0">
                <a:solidFill>
                  <a:srgbClr val="000000"/>
                </a:solidFill>
                <a:effectLst/>
                <a:latin typeface="arial" panose="020B0604020202020204" pitchFamily="34" charset="0"/>
              </a:rPr>
              <a:t>This is because we cannot apply indexing directly to a class. We can do indexing on an array but we cannot do the same thing with a user-defined class like Employee. An array is a predefined class and all the logic is implemented in that class for indexing so that we can access them using indexes. But Employee is a user-defined class and we have not implemented any logic to access the class like an array.</a:t>
            </a:r>
            <a:endParaRPr lang="en-US" sz="1200" b="0" i="0" dirty="0">
              <a:solidFill>
                <a:srgbClr val="3A3A3A"/>
              </a:solidFill>
              <a:effectLst/>
              <a:latin typeface="-apple-system"/>
            </a:endParaRPr>
          </a:p>
          <a:p>
            <a:pPr algn="just" fontAlgn="base"/>
            <a:r>
              <a:rPr lang="en-US" sz="1200" b="0" i="0" dirty="0">
                <a:solidFill>
                  <a:srgbClr val="000000"/>
                </a:solidFill>
                <a:effectLst/>
                <a:latin typeface="arial" panose="020B0604020202020204" pitchFamily="34" charset="0"/>
              </a:rPr>
              <a:t>If you want to access the class like an array, then first you need to define an indexer in the class. Once you define an indexer in the class, then only you can start accessing the values of the class by using the Indexer.</a:t>
            </a:r>
            <a:endParaRPr lang="en-US" sz="1200" b="0" i="0" dirty="0">
              <a:solidFill>
                <a:srgbClr val="3A3A3A"/>
              </a:solidFill>
              <a:effectLst/>
              <a:latin typeface="-apple-system"/>
            </a:endParaRPr>
          </a:p>
        </p:txBody>
      </p:sp>
      <p:pic>
        <p:nvPicPr>
          <p:cNvPr id="10" name="Picture 9">
            <a:extLst>
              <a:ext uri="{FF2B5EF4-FFF2-40B4-BE49-F238E27FC236}">
                <a16:creationId xmlns:a16="http://schemas.microsoft.com/office/drawing/2014/main" id="{5798C0FB-7ED2-9D40-29AF-942811B5E68B}"/>
              </a:ext>
            </a:extLst>
          </p:cNvPr>
          <p:cNvPicPr>
            <a:picLocks noChangeAspect="1"/>
          </p:cNvPicPr>
          <p:nvPr/>
        </p:nvPicPr>
        <p:blipFill>
          <a:blip r:embed="rId2"/>
          <a:stretch>
            <a:fillRect/>
          </a:stretch>
        </p:blipFill>
        <p:spPr>
          <a:xfrm>
            <a:off x="0" y="2770453"/>
            <a:ext cx="4972050" cy="1295400"/>
          </a:xfrm>
          <a:prstGeom prst="rect">
            <a:avLst/>
          </a:prstGeom>
        </p:spPr>
      </p:pic>
      <p:sp>
        <p:nvSpPr>
          <p:cNvPr id="12" name="TextBox 11">
            <a:extLst>
              <a:ext uri="{FF2B5EF4-FFF2-40B4-BE49-F238E27FC236}">
                <a16:creationId xmlns:a16="http://schemas.microsoft.com/office/drawing/2014/main" id="{8FA55035-5349-DC09-F2D9-31950C1D7AB8}"/>
              </a:ext>
            </a:extLst>
          </p:cNvPr>
          <p:cNvSpPr txBox="1"/>
          <p:nvPr/>
        </p:nvSpPr>
        <p:spPr>
          <a:xfrm>
            <a:off x="152400" y="4197740"/>
            <a:ext cx="8839200" cy="2677656"/>
          </a:xfrm>
          <a:prstGeom prst="rect">
            <a:avLst/>
          </a:prstGeom>
          <a:noFill/>
        </p:spPr>
        <p:txBody>
          <a:bodyPr wrap="square">
            <a:spAutoFit/>
          </a:bodyPr>
          <a:lstStyle/>
          <a:p>
            <a:pPr algn="l" fontAlgn="base">
              <a:buNone/>
            </a:pPr>
            <a:r>
              <a:rPr lang="en-US" sz="1400" b="0" i="0" dirty="0">
                <a:solidFill>
                  <a:srgbClr val="000000"/>
                </a:solidFill>
                <a:effectLst/>
                <a:latin typeface="arial" panose="020B0604020202020204" pitchFamily="34" charset="0"/>
              </a:rPr>
              <a:t>Let us understand the above syntax:</a:t>
            </a:r>
            <a:endParaRPr lang="en-US" sz="1400" b="0" i="0" dirty="0">
              <a:solidFill>
                <a:srgbClr val="3A3A3A"/>
              </a:solidFill>
              <a:effectLst/>
              <a:latin typeface="-apple-system"/>
            </a:endParaRPr>
          </a:p>
          <a:p>
            <a:pPr algn="just" fontAlgn="base">
              <a:buFont typeface="+mj-lt"/>
              <a:buAutoNum type="arabicPeriod"/>
            </a:pPr>
            <a:r>
              <a:rPr lang="en-US" sz="1400" b="1" i="0" dirty="0">
                <a:solidFill>
                  <a:srgbClr val="000000"/>
                </a:solidFill>
                <a:effectLst/>
                <a:latin typeface="arial" panose="020B0604020202020204" pitchFamily="34" charset="0"/>
              </a:rPr>
              <a:t>Modifiers</a:t>
            </a:r>
            <a:r>
              <a:rPr lang="en-US" sz="1400" b="0" i="0" dirty="0">
                <a:solidFill>
                  <a:srgbClr val="000000"/>
                </a:solidFill>
                <a:effectLst/>
                <a:latin typeface="arial" panose="020B0604020202020204" pitchFamily="34" charset="0"/>
              </a:rPr>
              <a:t>: The Modifiers are nothing but the access specifiers such as public, private, protected, internal, etc.</a:t>
            </a:r>
            <a:endParaRPr lang="en-US" sz="1400" b="0" i="0" dirty="0">
              <a:solidFill>
                <a:srgbClr val="3A3A3A"/>
              </a:solidFill>
              <a:effectLst/>
              <a:latin typeface="-apple-system"/>
            </a:endParaRPr>
          </a:p>
          <a:p>
            <a:pPr algn="just" fontAlgn="base">
              <a:buFont typeface="+mj-lt"/>
              <a:buAutoNum type="arabicPeriod"/>
            </a:pPr>
            <a:r>
              <a:rPr lang="en-US" sz="1400" b="1" i="0" dirty="0">
                <a:solidFill>
                  <a:srgbClr val="000000"/>
                </a:solidFill>
                <a:effectLst/>
                <a:latin typeface="arial" panose="020B0604020202020204" pitchFamily="34" charset="0"/>
              </a:rPr>
              <a:t>Type</a:t>
            </a:r>
            <a:r>
              <a:rPr lang="en-US" sz="1400" b="0" i="0" dirty="0">
                <a:solidFill>
                  <a:srgbClr val="000000"/>
                </a:solidFill>
                <a:effectLst/>
                <a:latin typeface="arial" panose="020B0604020202020204" pitchFamily="34" charset="0"/>
              </a:rPr>
              <a:t>: In our class, as we are dealing with the integer (ID), string (Name, Job, Department, Location, and Gender), and double (Salary) type of values. So, here we need to use the type as an Object because the Object type can return any type of values.</a:t>
            </a:r>
            <a:endParaRPr lang="en-US" sz="1400" b="0" i="0" dirty="0">
              <a:solidFill>
                <a:srgbClr val="3A3A3A"/>
              </a:solidFill>
              <a:effectLst/>
              <a:latin typeface="-apple-system"/>
            </a:endParaRPr>
          </a:p>
          <a:p>
            <a:pPr algn="just" fontAlgn="base">
              <a:buFont typeface="+mj-lt"/>
              <a:buAutoNum type="arabicPeriod"/>
            </a:pPr>
            <a:r>
              <a:rPr lang="en-US" sz="1400" b="1" i="0" dirty="0">
                <a:solidFill>
                  <a:srgbClr val="000000"/>
                </a:solidFill>
                <a:effectLst/>
                <a:latin typeface="arial" panose="020B0604020202020204" pitchFamily="34" charset="0"/>
              </a:rPr>
              <a:t>This</a:t>
            </a:r>
            <a:r>
              <a:rPr lang="en-US" sz="1400" b="0" i="0" dirty="0">
                <a:solidFill>
                  <a:srgbClr val="000000"/>
                </a:solidFill>
                <a:effectLst/>
                <a:latin typeface="arial" panose="020B0604020202020204" pitchFamily="34" charset="0"/>
              </a:rPr>
              <a:t>: This keyword tells that we are defining an indexer on the current class, in this case, the current class is Employee.</a:t>
            </a:r>
            <a:endParaRPr lang="en-US" sz="1400" b="0" i="0" dirty="0">
              <a:solidFill>
                <a:srgbClr val="3A3A3A"/>
              </a:solidFill>
              <a:effectLst/>
              <a:latin typeface="-apple-system"/>
            </a:endParaRPr>
          </a:p>
          <a:p>
            <a:pPr algn="just" fontAlgn="base">
              <a:buFont typeface="+mj-lt"/>
              <a:buAutoNum type="arabicPeriod"/>
            </a:pPr>
            <a:r>
              <a:rPr lang="en-US" sz="1400" b="1" i="0" dirty="0">
                <a:solidFill>
                  <a:srgbClr val="000000"/>
                </a:solidFill>
                <a:effectLst/>
                <a:latin typeface="arial" panose="020B0604020202020204" pitchFamily="34" charset="0"/>
              </a:rPr>
              <a:t>Int index or String name:</a:t>
            </a:r>
            <a:r>
              <a:rPr lang="en-US" sz="1400" b="0" i="0" dirty="0">
                <a:solidFill>
                  <a:srgbClr val="000000"/>
                </a:solidFill>
                <a:effectLst/>
                <a:latin typeface="arial" panose="020B0604020202020204" pitchFamily="34" charset="0"/>
              </a:rPr>
              <a:t> The int index or string name is used to specify whether you want to access the values by using its integer index position or by using the string name.</a:t>
            </a:r>
            <a:endParaRPr lang="en-US" sz="1400" b="0" i="0" dirty="0">
              <a:solidFill>
                <a:srgbClr val="3A3A3A"/>
              </a:solidFill>
              <a:effectLst/>
              <a:latin typeface="-apple-system"/>
            </a:endParaRPr>
          </a:p>
          <a:p>
            <a:pPr algn="just" fontAlgn="base">
              <a:buFont typeface="+mj-lt"/>
              <a:buAutoNum type="arabicPeriod"/>
            </a:pPr>
            <a:r>
              <a:rPr lang="en-US" sz="1400" b="1" i="0" dirty="0">
                <a:solidFill>
                  <a:srgbClr val="000000"/>
                </a:solidFill>
                <a:effectLst/>
                <a:latin typeface="arial" panose="020B0604020202020204" pitchFamily="34" charset="0"/>
              </a:rPr>
              <a:t>Get and Set:</a:t>
            </a:r>
            <a:r>
              <a:rPr lang="en-US" sz="1400" b="0" i="0" dirty="0">
                <a:solidFill>
                  <a:srgbClr val="000000"/>
                </a:solidFill>
                <a:effectLst/>
                <a:latin typeface="arial" panose="020B0604020202020204" pitchFamily="34" charset="0"/>
              </a:rPr>
              <a:t> The get accessor is used for returning the value and the set accessor is used for assigning the value.</a:t>
            </a:r>
            <a:endParaRPr lang="en-US" sz="1400" b="0" i="0" dirty="0">
              <a:solidFill>
                <a:srgbClr val="3A3A3A"/>
              </a:solidFill>
              <a:effectLst/>
              <a:latin typeface="-apple-system"/>
            </a:endParaRPr>
          </a:p>
        </p:txBody>
      </p:sp>
      <p:sp>
        <p:nvSpPr>
          <p:cNvPr id="13" name="TextBox 12">
            <a:extLst>
              <a:ext uri="{FF2B5EF4-FFF2-40B4-BE49-F238E27FC236}">
                <a16:creationId xmlns:a16="http://schemas.microsoft.com/office/drawing/2014/main" id="{C31BCA8B-0A69-CC9A-15B4-B35E44530EE5}"/>
              </a:ext>
            </a:extLst>
          </p:cNvPr>
          <p:cNvSpPr txBox="1"/>
          <p:nvPr/>
        </p:nvSpPr>
        <p:spPr>
          <a:xfrm>
            <a:off x="2362200" y="12300"/>
            <a:ext cx="4648200"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dirty="0"/>
              <a:t>How to define Indexer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05C285A2-730B-B1F0-2474-86AF7FB51EFB}"/>
              </a:ext>
            </a:extLst>
          </p:cNvPr>
          <p:cNvSpPr txBox="1"/>
          <p:nvPr/>
        </p:nvSpPr>
        <p:spPr>
          <a:xfrm>
            <a:off x="334433" y="990600"/>
            <a:ext cx="8475133" cy="4050019"/>
          </a:xfrm>
          <a:prstGeom prst="rect">
            <a:avLst/>
          </a:prstGeom>
          <a:noFill/>
        </p:spPr>
        <p:txBody>
          <a:bodyPr wrap="square">
            <a:spAutoFit/>
          </a:bodyPr>
          <a:lstStyle/>
          <a:p>
            <a:pPr>
              <a:lnSpc>
                <a:spcPts val="1425"/>
              </a:lnSpc>
              <a:buNone/>
            </a:pPr>
            <a:r>
              <a:rPr lang="en-US" sz="1600" b="0" dirty="0">
                <a:solidFill>
                  <a:srgbClr val="3B3B3B"/>
                </a:solidFill>
                <a:effectLst/>
                <a:latin typeface="Consolas" panose="020B0609020204030204" pitchFamily="49" charset="0"/>
              </a:rPr>
              <a:t>  </a:t>
            </a:r>
            <a:r>
              <a:rPr lang="en-US" sz="1600" b="0" dirty="0">
                <a:solidFill>
                  <a:srgbClr val="0000FF"/>
                </a:solidFill>
                <a:effectLst/>
                <a:latin typeface="Consolas" panose="020B0609020204030204" pitchFamily="49" charset="0"/>
              </a:rPr>
              <a:t>public</a:t>
            </a:r>
            <a:r>
              <a:rPr lang="en-US" sz="1600" b="0" dirty="0">
                <a:solidFill>
                  <a:srgbClr val="3B3B3B"/>
                </a:solidFill>
                <a:effectLst/>
                <a:latin typeface="Consolas" panose="020B0609020204030204" pitchFamily="49" charset="0"/>
              </a:rPr>
              <a:t> </a:t>
            </a:r>
            <a:r>
              <a:rPr lang="en-US" sz="1600" b="0" dirty="0">
                <a:solidFill>
                  <a:srgbClr val="0000FF"/>
                </a:solidFill>
                <a:effectLst/>
                <a:latin typeface="Consolas" panose="020B0609020204030204" pitchFamily="49" charset="0"/>
              </a:rPr>
              <a:t>object</a:t>
            </a:r>
            <a:r>
              <a:rPr lang="en-US" sz="1600" b="0" dirty="0">
                <a:solidFill>
                  <a:srgbClr val="3B3B3B"/>
                </a:solidFill>
                <a:effectLst/>
                <a:latin typeface="Consolas" panose="020B0609020204030204" pitchFamily="49" charset="0"/>
              </a:rPr>
              <a:t> </a:t>
            </a:r>
            <a:r>
              <a:rPr lang="en-US" sz="1600" b="0" dirty="0">
                <a:solidFill>
                  <a:srgbClr val="0000FF"/>
                </a:solidFill>
                <a:effectLst/>
                <a:latin typeface="Consolas" panose="020B0609020204030204" pitchFamily="49" charset="0"/>
              </a:rPr>
              <a:t>this</a:t>
            </a:r>
            <a:r>
              <a:rPr lang="en-US" sz="1600" b="0" dirty="0">
                <a:solidFill>
                  <a:srgbClr val="3B3B3B"/>
                </a:solidFill>
                <a:effectLst/>
                <a:latin typeface="Consolas" panose="020B0609020204030204" pitchFamily="49" charset="0"/>
              </a:rPr>
              <a:t>[</a:t>
            </a:r>
            <a:r>
              <a:rPr lang="en-US" sz="1600" b="0" dirty="0">
                <a:solidFill>
                  <a:srgbClr val="0000FF"/>
                </a:solidFill>
                <a:effectLst/>
                <a:latin typeface="Consolas" panose="020B0609020204030204" pitchFamily="49" charset="0"/>
              </a:rPr>
              <a:t>int</a:t>
            </a:r>
            <a:r>
              <a:rPr lang="en-US" sz="1600" b="0" dirty="0">
                <a:solidFill>
                  <a:srgbClr val="3B3B3B"/>
                </a:solidFill>
                <a:effectLst/>
                <a:latin typeface="Consolas" panose="020B0609020204030204" pitchFamily="49" charset="0"/>
              </a:rPr>
              <a:t> </a:t>
            </a:r>
            <a:r>
              <a:rPr lang="en-US" sz="1600" b="0" dirty="0">
                <a:solidFill>
                  <a:srgbClr val="001080"/>
                </a:solidFill>
                <a:effectLst/>
                <a:latin typeface="Consolas" panose="020B0609020204030204" pitchFamily="49" charset="0"/>
              </a:rPr>
              <a:t>index</a:t>
            </a:r>
            <a:r>
              <a:rPr lang="en-US" sz="1600" b="0" dirty="0">
                <a:solidFill>
                  <a:srgbClr val="3B3B3B"/>
                </a:solidFill>
                <a:effectLst/>
                <a:latin typeface="Consolas" panose="020B0609020204030204" pitchFamily="49" charset="0"/>
              </a:rPr>
              <a:t>]</a:t>
            </a:r>
          </a:p>
          <a:p>
            <a:pPr>
              <a:lnSpc>
                <a:spcPts val="1425"/>
              </a:lnSpc>
              <a:buNone/>
            </a:pPr>
            <a:r>
              <a:rPr lang="en-US" sz="1600" b="0" dirty="0">
                <a:solidFill>
                  <a:srgbClr val="3B3B3B"/>
                </a:solidFill>
                <a:effectLst/>
                <a:latin typeface="Consolas" panose="020B0609020204030204" pitchFamily="49" charset="0"/>
              </a:rPr>
              <a:t>        {</a:t>
            </a:r>
            <a:r>
              <a:rPr lang="en-US" sz="1600" b="0" dirty="0">
                <a:solidFill>
                  <a:srgbClr val="008000"/>
                </a:solidFill>
                <a:effectLst/>
                <a:latin typeface="Consolas" panose="020B0609020204030204" pitchFamily="49" charset="0"/>
              </a:rPr>
              <a:t>            //Get accessor is used for returning a value</a:t>
            </a:r>
            <a:endParaRPr lang="en-US" sz="1600" b="0" dirty="0">
              <a:solidFill>
                <a:srgbClr val="3B3B3B"/>
              </a:solidFill>
              <a:effectLst/>
              <a:latin typeface="Consolas" panose="020B0609020204030204" pitchFamily="49" charset="0"/>
            </a:endParaRPr>
          </a:p>
          <a:p>
            <a:pPr>
              <a:lnSpc>
                <a:spcPts val="1425"/>
              </a:lnSpc>
              <a:buNone/>
            </a:pPr>
            <a:r>
              <a:rPr lang="en-US" sz="1600" b="0" dirty="0">
                <a:solidFill>
                  <a:srgbClr val="3B3B3B"/>
                </a:solidFill>
                <a:effectLst/>
                <a:latin typeface="Consolas" panose="020B0609020204030204" pitchFamily="49" charset="0"/>
              </a:rPr>
              <a:t>            </a:t>
            </a:r>
            <a:r>
              <a:rPr lang="en-US" sz="1600" b="0" dirty="0">
                <a:solidFill>
                  <a:srgbClr val="0000FF"/>
                </a:solidFill>
                <a:effectLst/>
                <a:latin typeface="Consolas" panose="020B0609020204030204" pitchFamily="49" charset="0"/>
              </a:rPr>
              <a:t>get</a:t>
            </a:r>
            <a:endParaRPr lang="en-US" sz="1600" b="0" dirty="0">
              <a:solidFill>
                <a:srgbClr val="3B3B3B"/>
              </a:solidFill>
              <a:effectLst/>
              <a:latin typeface="Consolas" panose="020B0609020204030204" pitchFamily="49" charset="0"/>
            </a:endParaRPr>
          </a:p>
          <a:p>
            <a:pPr>
              <a:lnSpc>
                <a:spcPts val="1425"/>
              </a:lnSpc>
              <a:buNone/>
            </a:pPr>
            <a:r>
              <a:rPr lang="en-US" sz="1600" b="0" dirty="0">
                <a:solidFill>
                  <a:srgbClr val="3B3B3B"/>
                </a:solidFill>
                <a:effectLst/>
                <a:latin typeface="Consolas" panose="020B0609020204030204" pitchFamily="49" charset="0"/>
              </a:rPr>
              <a:t>            {</a:t>
            </a:r>
            <a:r>
              <a:rPr lang="en-US" sz="1600" b="0" dirty="0">
                <a:solidFill>
                  <a:srgbClr val="008000"/>
                </a:solidFill>
                <a:effectLst/>
                <a:latin typeface="Consolas" panose="020B0609020204030204" pitchFamily="49" charset="0"/>
              </a:rPr>
              <a:t>                //based in the index position, return the appropriate property value</a:t>
            </a:r>
            <a:endParaRPr lang="en-US" sz="1600" b="0" dirty="0">
              <a:solidFill>
                <a:srgbClr val="3B3B3B"/>
              </a:solidFill>
              <a:effectLst/>
              <a:latin typeface="Consolas" panose="020B0609020204030204" pitchFamily="49" charset="0"/>
            </a:endParaRPr>
          </a:p>
          <a:p>
            <a:pPr>
              <a:lnSpc>
                <a:spcPts val="1425"/>
              </a:lnSpc>
              <a:buNone/>
            </a:pPr>
            <a:r>
              <a:rPr lang="en-US" sz="1600" b="0" dirty="0">
                <a:solidFill>
                  <a:srgbClr val="3B3B3B"/>
                </a:solidFill>
                <a:effectLst/>
                <a:latin typeface="Consolas" panose="020B0609020204030204" pitchFamily="49" charset="0"/>
              </a:rPr>
              <a:t>                </a:t>
            </a:r>
            <a:r>
              <a:rPr lang="en-US" sz="1600" b="0" dirty="0">
                <a:solidFill>
                  <a:srgbClr val="AF00DB"/>
                </a:solidFill>
                <a:effectLst/>
                <a:latin typeface="Consolas" panose="020B0609020204030204" pitchFamily="49" charset="0"/>
              </a:rPr>
              <a:t>if</a:t>
            </a:r>
            <a:r>
              <a:rPr lang="en-US" sz="1600" b="0" dirty="0">
                <a:solidFill>
                  <a:srgbClr val="3B3B3B"/>
                </a:solidFill>
                <a:effectLst/>
                <a:latin typeface="Consolas" panose="020B0609020204030204" pitchFamily="49" charset="0"/>
              </a:rPr>
              <a:t> (</a:t>
            </a:r>
            <a:r>
              <a:rPr lang="en-US" sz="1600" b="0" dirty="0">
                <a:solidFill>
                  <a:srgbClr val="001080"/>
                </a:solidFill>
                <a:effectLst/>
                <a:latin typeface="Consolas" panose="020B0609020204030204" pitchFamily="49" charset="0"/>
              </a:rPr>
              <a:t>index</a:t>
            </a:r>
            <a:r>
              <a:rPr lang="en-US" sz="1600" b="0" dirty="0">
                <a:solidFill>
                  <a:srgbClr val="3B3B3B"/>
                </a:solidFill>
                <a:effectLst/>
                <a:latin typeface="Consolas" panose="020B0609020204030204" pitchFamily="49" charset="0"/>
              </a:rPr>
              <a:t> </a:t>
            </a:r>
            <a:r>
              <a:rPr lang="en-US" sz="1600" b="0" dirty="0">
                <a:solidFill>
                  <a:srgbClr val="000000"/>
                </a:solidFill>
                <a:effectLst/>
                <a:latin typeface="Consolas" panose="020B0609020204030204" pitchFamily="49" charset="0"/>
              </a:rPr>
              <a:t>==</a:t>
            </a:r>
            <a:r>
              <a:rPr lang="en-US" sz="1600" b="0" dirty="0">
                <a:solidFill>
                  <a:srgbClr val="3B3B3B"/>
                </a:solidFill>
                <a:effectLst/>
                <a:latin typeface="Consolas" panose="020B0609020204030204" pitchFamily="49" charset="0"/>
              </a:rPr>
              <a:t> </a:t>
            </a:r>
            <a:r>
              <a:rPr lang="en-US" sz="1600" b="0" dirty="0">
                <a:solidFill>
                  <a:srgbClr val="098658"/>
                </a:solidFill>
                <a:effectLst/>
                <a:latin typeface="Consolas" panose="020B0609020204030204" pitchFamily="49" charset="0"/>
              </a:rPr>
              <a:t>0</a:t>
            </a:r>
            <a:r>
              <a:rPr lang="en-US" sz="1600" b="0" dirty="0">
                <a:solidFill>
                  <a:srgbClr val="3B3B3B"/>
                </a:solidFill>
                <a:effectLst/>
                <a:latin typeface="Consolas" panose="020B0609020204030204" pitchFamily="49" charset="0"/>
              </a:rPr>
              <a:t>)</a:t>
            </a:r>
          </a:p>
          <a:p>
            <a:pPr>
              <a:lnSpc>
                <a:spcPts val="1425"/>
              </a:lnSpc>
              <a:buNone/>
            </a:pPr>
            <a:r>
              <a:rPr lang="en-US" sz="1600" b="0" dirty="0">
                <a:solidFill>
                  <a:srgbClr val="3B3B3B"/>
                </a:solidFill>
                <a:effectLst/>
                <a:latin typeface="Consolas" panose="020B0609020204030204" pitchFamily="49" charset="0"/>
              </a:rPr>
              <a:t>                    </a:t>
            </a:r>
            <a:r>
              <a:rPr lang="en-US" sz="1600" b="0" dirty="0">
                <a:solidFill>
                  <a:srgbClr val="AF00DB"/>
                </a:solidFill>
                <a:effectLst/>
                <a:latin typeface="Consolas" panose="020B0609020204030204" pitchFamily="49" charset="0"/>
              </a:rPr>
              <a:t>return</a:t>
            </a:r>
            <a:r>
              <a:rPr lang="en-US" sz="1600" b="0" dirty="0">
                <a:solidFill>
                  <a:srgbClr val="3B3B3B"/>
                </a:solidFill>
                <a:effectLst/>
                <a:latin typeface="Consolas" panose="020B0609020204030204" pitchFamily="49" charset="0"/>
              </a:rPr>
              <a:t> </a:t>
            </a:r>
            <a:r>
              <a:rPr lang="en-US" sz="1600" b="0" dirty="0">
                <a:solidFill>
                  <a:srgbClr val="001080"/>
                </a:solidFill>
                <a:effectLst/>
                <a:latin typeface="Consolas" panose="020B0609020204030204" pitchFamily="49" charset="0"/>
              </a:rPr>
              <a:t>ID</a:t>
            </a:r>
            <a:r>
              <a:rPr lang="en-US" sz="1600" b="0" dirty="0">
                <a:solidFill>
                  <a:srgbClr val="3B3B3B"/>
                </a:solidFill>
                <a:effectLst/>
                <a:latin typeface="Consolas" panose="020B0609020204030204" pitchFamily="49" charset="0"/>
              </a:rPr>
              <a:t>;</a:t>
            </a:r>
          </a:p>
          <a:p>
            <a:pPr>
              <a:lnSpc>
                <a:spcPts val="1425"/>
              </a:lnSpc>
              <a:buNone/>
            </a:pPr>
            <a:r>
              <a:rPr lang="en-US" sz="1600" b="0" dirty="0">
                <a:solidFill>
                  <a:srgbClr val="3B3B3B"/>
                </a:solidFill>
                <a:effectLst/>
                <a:latin typeface="Consolas" panose="020B0609020204030204" pitchFamily="49" charset="0"/>
              </a:rPr>
              <a:t>                </a:t>
            </a:r>
            <a:r>
              <a:rPr lang="en-US" sz="1600" b="0" dirty="0">
                <a:solidFill>
                  <a:srgbClr val="AF00DB"/>
                </a:solidFill>
                <a:effectLst/>
                <a:latin typeface="Consolas" panose="020B0609020204030204" pitchFamily="49" charset="0"/>
              </a:rPr>
              <a:t>else</a:t>
            </a:r>
            <a:r>
              <a:rPr lang="en-US" sz="1600" b="0" dirty="0">
                <a:solidFill>
                  <a:srgbClr val="3B3B3B"/>
                </a:solidFill>
                <a:effectLst/>
                <a:latin typeface="Consolas" panose="020B0609020204030204" pitchFamily="49" charset="0"/>
              </a:rPr>
              <a:t> </a:t>
            </a:r>
            <a:r>
              <a:rPr lang="en-US" sz="1600" b="0" dirty="0">
                <a:solidFill>
                  <a:srgbClr val="AF00DB"/>
                </a:solidFill>
                <a:effectLst/>
                <a:latin typeface="Consolas" panose="020B0609020204030204" pitchFamily="49" charset="0"/>
              </a:rPr>
              <a:t>if</a:t>
            </a:r>
            <a:r>
              <a:rPr lang="en-US" sz="1600" b="0" dirty="0">
                <a:solidFill>
                  <a:srgbClr val="3B3B3B"/>
                </a:solidFill>
                <a:effectLst/>
                <a:latin typeface="Consolas" panose="020B0609020204030204" pitchFamily="49" charset="0"/>
              </a:rPr>
              <a:t> (</a:t>
            </a:r>
            <a:r>
              <a:rPr lang="en-US" sz="1600" b="0" dirty="0">
                <a:solidFill>
                  <a:srgbClr val="001080"/>
                </a:solidFill>
                <a:effectLst/>
                <a:latin typeface="Consolas" panose="020B0609020204030204" pitchFamily="49" charset="0"/>
              </a:rPr>
              <a:t>index</a:t>
            </a:r>
            <a:r>
              <a:rPr lang="en-US" sz="1600" b="0" dirty="0">
                <a:solidFill>
                  <a:srgbClr val="3B3B3B"/>
                </a:solidFill>
                <a:effectLst/>
                <a:latin typeface="Consolas" panose="020B0609020204030204" pitchFamily="49" charset="0"/>
              </a:rPr>
              <a:t> </a:t>
            </a:r>
            <a:r>
              <a:rPr lang="en-US" sz="1600" b="0" dirty="0">
                <a:solidFill>
                  <a:srgbClr val="000000"/>
                </a:solidFill>
                <a:effectLst/>
                <a:latin typeface="Consolas" panose="020B0609020204030204" pitchFamily="49" charset="0"/>
              </a:rPr>
              <a:t>==</a:t>
            </a:r>
            <a:r>
              <a:rPr lang="en-US" sz="1600" b="0" dirty="0">
                <a:solidFill>
                  <a:srgbClr val="3B3B3B"/>
                </a:solidFill>
                <a:effectLst/>
                <a:latin typeface="Consolas" panose="020B0609020204030204" pitchFamily="49" charset="0"/>
              </a:rPr>
              <a:t> </a:t>
            </a:r>
            <a:r>
              <a:rPr lang="en-US" sz="1600" b="0" dirty="0">
                <a:solidFill>
                  <a:srgbClr val="098658"/>
                </a:solidFill>
                <a:effectLst/>
                <a:latin typeface="Consolas" panose="020B0609020204030204" pitchFamily="49" charset="0"/>
              </a:rPr>
              <a:t>1</a:t>
            </a:r>
            <a:r>
              <a:rPr lang="en-US" sz="1600" b="0" dirty="0">
                <a:solidFill>
                  <a:srgbClr val="3B3B3B"/>
                </a:solidFill>
                <a:effectLst/>
                <a:latin typeface="Consolas" panose="020B0609020204030204" pitchFamily="49" charset="0"/>
              </a:rPr>
              <a:t>)</a:t>
            </a:r>
          </a:p>
          <a:p>
            <a:pPr>
              <a:lnSpc>
                <a:spcPts val="1425"/>
              </a:lnSpc>
              <a:buNone/>
            </a:pPr>
            <a:r>
              <a:rPr lang="en-US" sz="1600" b="0" dirty="0">
                <a:solidFill>
                  <a:srgbClr val="3B3B3B"/>
                </a:solidFill>
                <a:effectLst/>
                <a:latin typeface="Consolas" panose="020B0609020204030204" pitchFamily="49" charset="0"/>
              </a:rPr>
              <a:t>                    </a:t>
            </a:r>
            <a:r>
              <a:rPr lang="en-US" sz="1600" b="0" dirty="0">
                <a:solidFill>
                  <a:srgbClr val="AF00DB"/>
                </a:solidFill>
                <a:effectLst/>
                <a:latin typeface="Consolas" panose="020B0609020204030204" pitchFamily="49" charset="0"/>
              </a:rPr>
              <a:t>return</a:t>
            </a:r>
            <a:r>
              <a:rPr lang="en-US" sz="1600" b="0" dirty="0">
                <a:solidFill>
                  <a:srgbClr val="3B3B3B"/>
                </a:solidFill>
                <a:effectLst/>
                <a:latin typeface="Consolas" panose="020B0609020204030204" pitchFamily="49" charset="0"/>
              </a:rPr>
              <a:t> </a:t>
            </a:r>
            <a:r>
              <a:rPr lang="en-US" sz="1600" b="0" dirty="0">
                <a:solidFill>
                  <a:srgbClr val="001080"/>
                </a:solidFill>
                <a:effectLst/>
                <a:latin typeface="Consolas" panose="020B0609020204030204" pitchFamily="49" charset="0"/>
              </a:rPr>
              <a:t>Name</a:t>
            </a:r>
            <a:r>
              <a:rPr lang="en-US" sz="1600" b="0" dirty="0">
                <a:solidFill>
                  <a:srgbClr val="3B3B3B"/>
                </a:solidFill>
                <a:effectLst/>
                <a:latin typeface="Consolas" panose="020B0609020204030204" pitchFamily="49" charset="0"/>
              </a:rPr>
              <a:t>;</a:t>
            </a:r>
          </a:p>
          <a:p>
            <a:pPr>
              <a:lnSpc>
                <a:spcPts val="1425"/>
              </a:lnSpc>
              <a:buNone/>
            </a:pPr>
            <a:r>
              <a:rPr lang="en-US" sz="1600" b="0" dirty="0">
                <a:solidFill>
                  <a:srgbClr val="3B3B3B"/>
                </a:solidFill>
                <a:effectLst/>
                <a:latin typeface="Consolas" panose="020B0609020204030204" pitchFamily="49" charset="0"/>
              </a:rPr>
              <a:t>                </a:t>
            </a:r>
            <a:r>
              <a:rPr lang="en-US" sz="1600" b="0" dirty="0">
                <a:solidFill>
                  <a:srgbClr val="AF00DB"/>
                </a:solidFill>
                <a:effectLst/>
                <a:latin typeface="Consolas" panose="020B0609020204030204" pitchFamily="49" charset="0"/>
              </a:rPr>
              <a:t>else</a:t>
            </a:r>
            <a:endParaRPr lang="en-US" sz="1600" b="0" dirty="0">
              <a:solidFill>
                <a:srgbClr val="3B3B3B"/>
              </a:solidFill>
              <a:effectLst/>
              <a:latin typeface="Consolas" panose="020B0609020204030204" pitchFamily="49" charset="0"/>
            </a:endParaRPr>
          </a:p>
          <a:p>
            <a:pPr>
              <a:lnSpc>
                <a:spcPts val="1425"/>
              </a:lnSpc>
              <a:buNone/>
            </a:pPr>
            <a:r>
              <a:rPr lang="en-US" sz="1600" b="0" dirty="0">
                <a:solidFill>
                  <a:srgbClr val="3B3B3B"/>
                </a:solidFill>
                <a:effectLst/>
                <a:latin typeface="Consolas" panose="020B0609020204030204" pitchFamily="49" charset="0"/>
              </a:rPr>
              <a:t>                    </a:t>
            </a:r>
            <a:r>
              <a:rPr lang="en-US" sz="1600" b="0" dirty="0">
                <a:solidFill>
                  <a:srgbClr val="AF00DB"/>
                </a:solidFill>
                <a:effectLst/>
                <a:latin typeface="Consolas" panose="020B0609020204030204" pitchFamily="49" charset="0"/>
              </a:rPr>
              <a:t>return</a:t>
            </a:r>
            <a:r>
              <a:rPr lang="en-US" sz="1600" b="0" dirty="0">
                <a:solidFill>
                  <a:srgbClr val="3B3B3B"/>
                </a:solidFill>
                <a:effectLst/>
                <a:latin typeface="Consolas" panose="020B0609020204030204" pitchFamily="49" charset="0"/>
              </a:rPr>
              <a:t> </a:t>
            </a:r>
            <a:r>
              <a:rPr lang="en-US" sz="1600" b="0" dirty="0">
                <a:solidFill>
                  <a:srgbClr val="0000FF"/>
                </a:solidFill>
                <a:effectLst/>
                <a:latin typeface="Consolas" panose="020B0609020204030204" pitchFamily="49" charset="0"/>
              </a:rPr>
              <a:t>null</a:t>
            </a:r>
            <a:r>
              <a:rPr lang="en-US" sz="1600" b="0" dirty="0">
                <a:solidFill>
                  <a:srgbClr val="3B3B3B"/>
                </a:solidFill>
                <a:effectLst/>
                <a:latin typeface="Consolas" panose="020B0609020204030204" pitchFamily="49" charset="0"/>
              </a:rPr>
              <a:t>;</a:t>
            </a:r>
          </a:p>
          <a:p>
            <a:pPr>
              <a:lnSpc>
                <a:spcPts val="1425"/>
              </a:lnSpc>
              <a:buNone/>
            </a:pPr>
            <a:r>
              <a:rPr lang="en-US" sz="1600" b="0" dirty="0">
                <a:solidFill>
                  <a:srgbClr val="3B3B3B"/>
                </a:solidFill>
                <a:effectLst/>
                <a:latin typeface="Consolas" panose="020B0609020204030204" pitchFamily="49" charset="0"/>
              </a:rPr>
              <a:t>            }</a:t>
            </a:r>
          </a:p>
          <a:p>
            <a:pPr>
              <a:lnSpc>
                <a:spcPts val="1425"/>
              </a:lnSpc>
              <a:buNone/>
            </a:pPr>
            <a:r>
              <a:rPr lang="en-US" sz="1600" b="0" dirty="0">
                <a:solidFill>
                  <a:srgbClr val="008000"/>
                </a:solidFill>
                <a:effectLst/>
                <a:latin typeface="Consolas" panose="020B0609020204030204" pitchFamily="49" charset="0"/>
              </a:rPr>
              <a:t>            //Set accessor is used to assigning a value</a:t>
            </a:r>
            <a:endParaRPr lang="en-US" sz="1600" b="0" dirty="0">
              <a:solidFill>
                <a:srgbClr val="3B3B3B"/>
              </a:solidFill>
              <a:effectLst/>
              <a:latin typeface="Consolas" panose="020B0609020204030204" pitchFamily="49" charset="0"/>
            </a:endParaRPr>
          </a:p>
          <a:p>
            <a:pPr>
              <a:lnSpc>
                <a:spcPts val="1425"/>
              </a:lnSpc>
              <a:buNone/>
            </a:pPr>
            <a:r>
              <a:rPr lang="en-US" sz="1600" b="0" dirty="0">
                <a:solidFill>
                  <a:srgbClr val="3B3B3B"/>
                </a:solidFill>
                <a:effectLst/>
                <a:latin typeface="Consolas" panose="020B0609020204030204" pitchFamily="49" charset="0"/>
              </a:rPr>
              <a:t>            </a:t>
            </a:r>
            <a:r>
              <a:rPr lang="en-US" sz="1600" b="0" dirty="0">
                <a:solidFill>
                  <a:srgbClr val="0000FF"/>
                </a:solidFill>
                <a:effectLst/>
                <a:latin typeface="Consolas" panose="020B0609020204030204" pitchFamily="49" charset="0"/>
              </a:rPr>
              <a:t>set</a:t>
            </a:r>
            <a:endParaRPr lang="en-US" sz="1600" b="0" dirty="0">
              <a:solidFill>
                <a:srgbClr val="3B3B3B"/>
              </a:solidFill>
              <a:effectLst/>
              <a:latin typeface="Consolas" panose="020B0609020204030204" pitchFamily="49" charset="0"/>
            </a:endParaRPr>
          </a:p>
          <a:p>
            <a:pPr>
              <a:lnSpc>
                <a:spcPts val="1425"/>
              </a:lnSpc>
              <a:buNone/>
            </a:pPr>
            <a:r>
              <a:rPr lang="en-US" sz="1600" b="0" dirty="0">
                <a:solidFill>
                  <a:srgbClr val="3B3B3B"/>
                </a:solidFill>
                <a:effectLst/>
                <a:latin typeface="Consolas" panose="020B0609020204030204" pitchFamily="49" charset="0"/>
              </a:rPr>
              <a:t>            {</a:t>
            </a:r>
            <a:r>
              <a:rPr lang="en-US" sz="1600" b="0" dirty="0">
                <a:solidFill>
                  <a:srgbClr val="008000"/>
                </a:solidFill>
                <a:effectLst/>
                <a:latin typeface="Consolas" panose="020B0609020204030204" pitchFamily="49" charset="0"/>
              </a:rPr>
              <a:t>                //based in the index position, set the appropriate property value</a:t>
            </a:r>
            <a:endParaRPr lang="en-US" sz="1600" b="0" dirty="0">
              <a:solidFill>
                <a:srgbClr val="3B3B3B"/>
              </a:solidFill>
              <a:effectLst/>
              <a:latin typeface="Consolas" panose="020B0609020204030204" pitchFamily="49" charset="0"/>
            </a:endParaRPr>
          </a:p>
          <a:p>
            <a:pPr>
              <a:lnSpc>
                <a:spcPts val="1425"/>
              </a:lnSpc>
              <a:buNone/>
            </a:pPr>
            <a:r>
              <a:rPr lang="en-US" sz="1600" b="0" dirty="0">
                <a:solidFill>
                  <a:srgbClr val="3B3B3B"/>
                </a:solidFill>
                <a:effectLst/>
                <a:latin typeface="Consolas" panose="020B0609020204030204" pitchFamily="49" charset="0"/>
              </a:rPr>
              <a:t>                </a:t>
            </a:r>
            <a:r>
              <a:rPr lang="en-US" sz="1600" b="0" dirty="0">
                <a:solidFill>
                  <a:srgbClr val="AF00DB"/>
                </a:solidFill>
                <a:effectLst/>
                <a:latin typeface="Consolas" panose="020B0609020204030204" pitchFamily="49" charset="0"/>
              </a:rPr>
              <a:t>if</a:t>
            </a:r>
            <a:r>
              <a:rPr lang="en-US" sz="1600" b="0" dirty="0">
                <a:solidFill>
                  <a:srgbClr val="3B3B3B"/>
                </a:solidFill>
                <a:effectLst/>
                <a:latin typeface="Consolas" panose="020B0609020204030204" pitchFamily="49" charset="0"/>
              </a:rPr>
              <a:t> (</a:t>
            </a:r>
            <a:r>
              <a:rPr lang="en-US" sz="1600" b="0" dirty="0">
                <a:solidFill>
                  <a:srgbClr val="001080"/>
                </a:solidFill>
                <a:effectLst/>
                <a:latin typeface="Consolas" panose="020B0609020204030204" pitchFamily="49" charset="0"/>
              </a:rPr>
              <a:t>index</a:t>
            </a:r>
            <a:r>
              <a:rPr lang="en-US" sz="1600" b="0" dirty="0">
                <a:solidFill>
                  <a:srgbClr val="3B3B3B"/>
                </a:solidFill>
                <a:effectLst/>
                <a:latin typeface="Consolas" panose="020B0609020204030204" pitchFamily="49" charset="0"/>
              </a:rPr>
              <a:t> </a:t>
            </a:r>
            <a:r>
              <a:rPr lang="en-US" sz="1600" b="0" dirty="0">
                <a:solidFill>
                  <a:srgbClr val="000000"/>
                </a:solidFill>
                <a:effectLst/>
                <a:latin typeface="Consolas" panose="020B0609020204030204" pitchFamily="49" charset="0"/>
              </a:rPr>
              <a:t>==</a:t>
            </a:r>
            <a:r>
              <a:rPr lang="en-US" sz="1600" b="0" dirty="0">
                <a:solidFill>
                  <a:srgbClr val="3B3B3B"/>
                </a:solidFill>
                <a:effectLst/>
                <a:latin typeface="Consolas" panose="020B0609020204030204" pitchFamily="49" charset="0"/>
              </a:rPr>
              <a:t> </a:t>
            </a:r>
            <a:r>
              <a:rPr lang="en-US" sz="1600" b="0" dirty="0">
                <a:solidFill>
                  <a:srgbClr val="098658"/>
                </a:solidFill>
                <a:effectLst/>
                <a:latin typeface="Consolas" panose="020B0609020204030204" pitchFamily="49" charset="0"/>
              </a:rPr>
              <a:t>0</a:t>
            </a:r>
            <a:r>
              <a:rPr lang="en-US" sz="1600" b="0" dirty="0">
                <a:solidFill>
                  <a:srgbClr val="3B3B3B"/>
                </a:solidFill>
                <a:effectLst/>
                <a:latin typeface="Consolas" panose="020B0609020204030204" pitchFamily="49" charset="0"/>
              </a:rPr>
              <a:t>)</a:t>
            </a:r>
          </a:p>
          <a:p>
            <a:pPr>
              <a:lnSpc>
                <a:spcPts val="1425"/>
              </a:lnSpc>
              <a:buNone/>
            </a:pPr>
            <a:r>
              <a:rPr lang="en-US" sz="1600" b="0" dirty="0">
                <a:solidFill>
                  <a:srgbClr val="3B3B3B"/>
                </a:solidFill>
                <a:effectLst/>
                <a:latin typeface="Consolas" panose="020B0609020204030204" pitchFamily="49" charset="0"/>
              </a:rPr>
              <a:t>                    </a:t>
            </a:r>
            <a:r>
              <a:rPr lang="en-US" sz="1600" b="0" dirty="0">
                <a:solidFill>
                  <a:srgbClr val="001080"/>
                </a:solidFill>
                <a:effectLst/>
                <a:latin typeface="Consolas" panose="020B0609020204030204" pitchFamily="49" charset="0"/>
              </a:rPr>
              <a:t>ID</a:t>
            </a:r>
            <a:r>
              <a:rPr lang="en-US" sz="1600" b="0" dirty="0">
                <a:solidFill>
                  <a:srgbClr val="3B3B3B"/>
                </a:solidFill>
                <a:effectLst/>
                <a:latin typeface="Consolas" panose="020B0609020204030204" pitchFamily="49" charset="0"/>
              </a:rPr>
              <a:t> </a:t>
            </a:r>
            <a:r>
              <a:rPr lang="en-US" sz="1600" b="0" dirty="0">
                <a:solidFill>
                  <a:srgbClr val="000000"/>
                </a:solidFill>
                <a:effectLst/>
                <a:latin typeface="Consolas" panose="020B0609020204030204" pitchFamily="49" charset="0"/>
              </a:rPr>
              <a:t>=</a:t>
            </a:r>
            <a:r>
              <a:rPr lang="en-US" sz="1600" b="0" dirty="0">
                <a:solidFill>
                  <a:srgbClr val="3B3B3B"/>
                </a:solidFill>
                <a:effectLst/>
                <a:latin typeface="Consolas" panose="020B0609020204030204" pitchFamily="49" charset="0"/>
              </a:rPr>
              <a:t> </a:t>
            </a:r>
            <a:r>
              <a:rPr lang="en-US" sz="1600" b="0" dirty="0">
                <a:solidFill>
                  <a:srgbClr val="267F99"/>
                </a:solidFill>
                <a:effectLst/>
                <a:latin typeface="Consolas" panose="020B0609020204030204" pitchFamily="49" charset="0"/>
              </a:rPr>
              <a:t>Convert</a:t>
            </a:r>
            <a:r>
              <a:rPr lang="en-US" sz="1600" b="0" dirty="0">
                <a:solidFill>
                  <a:srgbClr val="000000"/>
                </a:solidFill>
                <a:effectLst/>
                <a:latin typeface="Consolas" panose="020B0609020204030204" pitchFamily="49" charset="0"/>
              </a:rPr>
              <a:t>.</a:t>
            </a:r>
            <a:r>
              <a:rPr lang="en-US" sz="1600" b="0" dirty="0">
                <a:solidFill>
                  <a:srgbClr val="795E26"/>
                </a:solidFill>
                <a:effectLst/>
                <a:latin typeface="Consolas" panose="020B0609020204030204" pitchFamily="49" charset="0"/>
              </a:rPr>
              <a:t>ToInt32</a:t>
            </a:r>
            <a:r>
              <a:rPr lang="en-US" sz="1600" b="0" dirty="0">
                <a:solidFill>
                  <a:srgbClr val="3B3B3B"/>
                </a:solidFill>
                <a:effectLst/>
                <a:latin typeface="Consolas" panose="020B0609020204030204" pitchFamily="49" charset="0"/>
              </a:rPr>
              <a:t>(</a:t>
            </a:r>
            <a:r>
              <a:rPr lang="en-US" sz="1600" b="0" dirty="0">
                <a:solidFill>
                  <a:srgbClr val="0000FF"/>
                </a:solidFill>
                <a:effectLst/>
                <a:latin typeface="Consolas" panose="020B0609020204030204" pitchFamily="49" charset="0"/>
              </a:rPr>
              <a:t>value</a:t>
            </a:r>
            <a:r>
              <a:rPr lang="en-US" sz="1600" b="0" dirty="0">
                <a:solidFill>
                  <a:srgbClr val="3B3B3B"/>
                </a:solidFill>
                <a:effectLst/>
                <a:latin typeface="Consolas" panose="020B0609020204030204" pitchFamily="49" charset="0"/>
              </a:rPr>
              <a:t>);</a:t>
            </a:r>
          </a:p>
          <a:p>
            <a:pPr>
              <a:lnSpc>
                <a:spcPts val="1425"/>
              </a:lnSpc>
              <a:buNone/>
            </a:pPr>
            <a:r>
              <a:rPr lang="en-US" sz="1600" b="0" dirty="0">
                <a:solidFill>
                  <a:srgbClr val="3B3B3B"/>
                </a:solidFill>
                <a:effectLst/>
                <a:latin typeface="Consolas" panose="020B0609020204030204" pitchFamily="49" charset="0"/>
              </a:rPr>
              <a:t>                </a:t>
            </a:r>
            <a:r>
              <a:rPr lang="en-US" sz="1600" b="0" dirty="0">
                <a:solidFill>
                  <a:srgbClr val="AF00DB"/>
                </a:solidFill>
                <a:effectLst/>
                <a:latin typeface="Consolas" panose="020B0609020204030204" pitchFamily="49" charset="0"/>
              </a:rPr>
              <a:t>else</a:t>
            </a:r>
            <a:r>
              <a:rPr lang="en-US" sz="1600" b="0" dirty="0">
                <a:solidFill>
                  <a:srgbClr val="3B3B3B"/>
                </a:solidFill>
                <a:effectLst/>
                <a:latin typeface="Consolas" panose="020B0609020204030204" pitchFamily="49" charset="0"/>
              </a:rPr>
              <a:t> </a:t>
            </a:r>
            <a:r>
              <a:rPr lang="en-US" sz="1600" b="0" dirty="0">
                <a:solidFill>
                  <a:srgbClr val="AF00DB"/>
                </a:solidFill>
                <a:effectLst/>
                <a:latin typeface="Consolas" panose="020B0609020204030204" pitchFamily="49" charset="0"/>
              </a:rPr>
              <a:t>if</a:t>
            </a:r>
            <a:r>
              <a:rPr lang="en-US" sz="1600" b="0" dirty="0">
                <a:solidFill>
                  <a:srgbClr val="3B3B3B"/>
                </a:solidFill>
                <a:effectLst/>
                <a:latin typeface="Consolas" panose="020B0609020204030204" pitchFamily="49" charset="0"/>
              </a:rPr>
              <a:t> (</a:t>
            </a:r>
            <a:r>
              <a:rPr lang="en-US" sz="1600" b="0" dirty="0">
                <a:solidFill>
                  <a:srgbClr val="001080"/>
                </a:solidFill>
                <a:effectLst/>
                <a:latin typeface="Consolas" panose="020B0609020204030204" pitchFamily="49" charset="0"/>
              </a:rPr>
              <a:t>index</a:t>
            </a:r>
            <a:r>
              <a:rPr lang="en-US" sz="1600" b="0" dirty="0">
                <a:solidFill>
                  <a:srgbClr val="3B3B3B"/>
                </a:solidFill>
                <a:effectLst/>
                <a:latin typeface="Consolas" panose="020B0609020204030204" pitchFamily="49" charset="0"/>
              </a:rPr>
              <a:t> </a:t>
            </a:r>
            <a:r>
              <a:rPr lang="en-US" sz="1600" b="0" dirty="0">
                <a:solidFill>
                  <a:srgbClr val="000000"/>
                </a:solidFill>
                <a:effectLst/>
                <a:latin typeface="Consolas" panose="020B0609020204030204" pitchFamily="49" charset="0"/>
              </a:rPr>
              <a:t>==</a:t>
            </a:r>
            <a:r>
              <a:rPr lang="en-US" sz="1600" b="0" dirty="0">
                <a:solidFill>
                  <a:srgbClr val="3B3B3B"/>
                </a:solidFill>
                <a:effectLst/>
                <a:latin typeface="Consolas" panose="020B0609020204030204" pitchFamily="49" charset="0"/>
              </a:rPr>
              <a:t> </a:t>
            </a:r>
            <a:r>
              <a:rPr lang="en-US" sz="1600" b="0" dirty="0">
                <a:solidFill>
                  <a:srgbClr val="098658"/>
                </a:solidFill>
                <a:effectLst/>
                <a:latin typeface="Consolas" panose="020B0609020204030204" pitchFamily="49" charset="0"/>
              </a:rPr>
              <a:t>1</a:t>
            </a:r>
            <a:r>
              <a:rPr lang="en-US" sz="1600" b="0" dirty="0">
                <a:solidFill>
                  <a:srgbClr val="3B3B3B"/>
                </a:solidFill>
                <a:effectLst/>
                <a:latin typeface="Consolas" panose="020B0609020204030204" pitchFamily="49" charset="0"/>
              </a:rPr>
              <a:t>)</a:t>
            </a:r>
          </a:p>
          <a:p>
            <a:pPr>
              <a:lnSpc>
                <a:spcPts val="1425"/>
              </a:lnSpc>
              <a:buNone/>
            </a:pPr>
            <a:r>
              <a:rPr lang="en-US" sz="1600" b="0" dirty="0">
                <a:solidFill>
                  <a:srgbClr val="3B3B3B"/>
                </a:solidFill>
                <a:effectLst/>
                <a:latin typeface="Consolas" panose="020B0609020204030204" pitchFamily="49" charset="0"/>
              </a:rPr>
              <a:t>                    </a:t>
            </a:r>
            <a:r>
              <a:rPr lang="en-US" sz="1600" b="0" dirty="0">
                <a:solidFill>
                  <a:srgbClr val="001080"/>
                </a:solidFill>
                <a:effectLst/>
                <a:latin typeface="Consolas" panose="020B0609020204030204" pitchFamily="49" charset="0"/>
              </a:rPr>
              <a:t>Name</a:t>
            </a:r>
            <a:r>
              <a:rPr lang="en-US" sz="1600" b="0" dirty="0">
                <a:solidFill>
                  <a:srgbClr val="3B3B3B"/>
                </a:solidFill>
                <a:effectLst/>
                <a:latin typeface="Consolas" panose="020B0609020204030204" pitchFamily="49" charset="0"/>
              </a:rPr>
              <a:t> </a:t>
            </a:r>
            <a:r>
              <a:rPr lang="en-US" sz="1600" b="0" dirty="0">
                <a:solidFill>
                  <a:srgbClr val="000000"/>
                </a:solidFill>
                <a:effectLst/>
                <a:latin typeface="Consolas" panose="020B0609020204030204" pitchFamily="49" charset="0"/>
              </a:rPr>
              <a:t>=</a:t>
            </a:r>
            <a:r>
              <a:rPr lang="en-US" sz="1600" b="0" dirty="0">
                <a:solidFill>
                  <a:srgbClr val="3B3B3B"/>
                </a:solidFill>
                <a:effectLst/>
                <a:latin typeface="Consolas" panose="020B0609020204030204" pitchFamily="49" charset="0"/>
              </a:rPr>
              <a:t> </a:t>
            </a:r>
            <a:r>
              <a:rPr lang="en-US" sz="1600" b="0" dirty="0" err="1">
                <a:solidFill>
                  <a:srgbClr val="0000FF"/>
                </a:solidFill>
                <a:effectLst/>
                <a:latin typeface="Consolas" panose="020B0609020204030204" pitchFamily="49" charset="0"/>
              </a:rPr>
              <a:t>value</a:t>
            </a:r>
            <a:r>
              <a:rPr lang="en-US" sz="1600" b="0" dirty="0" err="1">
                <a:solidFill>
                  <a:srgbClr val="000000"/>
                </a:solidFill>
                <a:effectLst/>
                <a:latin typeface="Consolas" panose="020B0609020204030204" pitchFamily="49" charset="0"/>
              </a:rPr>
              <a:t>.</a:t>
            </a:r>
            <a:r>
              <a:rPr lang="en-US" sz="1600" b="0" dirty="0" err="1">
                <a:solidFill>
                  <a:srgbClr val="795E26"/>
                </a:solidFill>
                <a:effectLst/>
                <a:latin typeface="Consolas" panose="020B0609020204030204" pitchFamily="49" charset="0"/>
              </a:rPr>
              <a:t>ToString</a:t>
            </a:r>
            <a:r>
              <a:rPr lang="en-US" sz="1600" b="0" dirty="0">
                <a:solidFill>
                  <a:srgbClr val="3B3B3B"/>
                </a:solidFill>
                <a:effectLst/>
                <a:latin typeface="Consolas" panose="020B0609020204030204" pitchFamily="49" charset="0"/>
              </a:rPr>
              <a:t>();</a:t>
            </a:r>
          </a:p>
          <a:p>
            <a:pPr>
              <a:lnSpc>
                <a:spcPts val="1425"/>
              </a:lnSpc>
              <a:buNone/>
            </a:pPr>
            <a:r>
              <a:rPr lang="en-US" sz="1600" b="0" dirty="0">
                <a:solidFill>
                  <a:srgbClr val="3B3B3B"/>
                </a:solidFill>
                <a:effectLst/>
                <a:latin typeface="Consolas" panose="020B0609020204030204" pitchFamily="49" charset="0"/>
              </a:rPr>
              <a:t>            }</a:t>
            </a:r>
          </a:p>
          <a:p>
            <a:pPr>
              <a:lnSpc>
                <a:spcPts val="1425"/>
              </a:lnSpc>
            </a:pPr>
            <a:r>
              <a:rPr lang="en-US" sz="1600" b="0" dirty="0">
                <a:solidFill>
                  <a:srgbClr val="3B3B3B"/>
                </a:solidFill>
                <a:effectLst/>
                <a:latin typeface="Consolas" panose="020B0609020204030204" pitchFamily="49" charset="0"/>
              </a:rPr>
              <a:t>        }</a:t>
            </a:r>
          </a:p>
        </p:txBody>
      </p:sp>
      <p:sp>
        <p:nvSpPr>
          <p:cNvPr id="2" name="TextBox 1">
            <a:extLst>
              <a:ext uri="{FF2B5EF4-FFF2-40B4-BE49-F238E27FC236}">
                <a16:creationId xmlns:a16="http://schemas.microsoft.com/office/drawing/2014/main" id="{7AE55626-D0CB-AB7D-66F2-4145168A2C40}"/>
              </a:ext>
            </a:extLst>
          </p:cNvPr>
          <p:cNvSpPr txBox="1"/>
          <p:nvPr/>
        </p:nvSpPr>
        <p:spPr>
          <a:xfrm>
            <a:off x="2133600" y="381000"/>
            <a:ext cx="4495800" cy="369332"/>
          </a:xfrm>
          <a:prstGeom prst="rect">
            <a:avLst/>
          </a:prstGeom>
          <a:noFill/>
        </p:spPr>
        <p:txBody>
          <a:bodyPr wrap="square" rtlCol="0">
            <a:spAutoFit/>
          </a:bodyPr>
          <a:lstStyle/>
          <a:p>
            <a:r>
              <a:rPr lang="en-IN" dirty="0"/>
              <a:t>Put bellow code in Employee class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BF6870-884C-D29C-DBFE-0AFF0A7E5C89}"/>
              </a:ext>
            </a:extLst>
          </p:cNvPr>
          <p:cNvSpPr txBox="1"/>
          <p:nvPr/>
        </p:nvSpPr>
        <p:spPr>
          <a:xfrm>
            <a:off x="0" y="1447800"/>
            <a:ext cx="3733800" cy="4385816"/>
          </a:xfrm>
          <a:prstGeom prst="rect">
            <a:avLst/>
          </a:prstGeom>
          <a:noFill/>
        </p:spPr>
        <p:txBody>
          <a:bodyPr wrap="square">
            <a:spAutoFit/>
          </a:bodyPr>
          <a:lstStyle/>
          <a:p>
            <a:r>
              <a:rPr lang="en-IN" sz="900" b="1" dirty="0">
                <a:solidFill>
                  <a:srgbClr val="FF0000"/>
                </a:solidFill>
                <a:highlight>
                  <a:srgbClr val="FFFFFF"/>
                </a:highlight>
                <a:latin typeface="Cascadia Mono" panose="020B0609020000020004" pitchFamily="49" charset="0"/>
              </a:rPr>
              <a:t>You will get error</a:t>
            </a:r>
          </a:p>
          <a:p>
            <a:r>
              <a:rPr lang="en-IN" sz="900" dirty="0">
                <a:solidFill>
                  <a:srgbClr val="000000"/>
                </a:solidFill>
                <a:highlight>
                  <a:srgbClr val="FFFFFF"/>
                </a:highlight>
                <a:latin typeface="Cascadia Mono" panose="020B0609020000020004" pitchFamily="49" charset="0"/>
              </a:rPr>
              <a:t> </a:t>
            </a:r>
          </a:p>
          <a:p>
            <a:r>
              <a:rPr lang="en-IN" sz="900" dirty="0">
                <a:solidFill>
                  <a:srgbClr val="0000FF"/>
                </a:solidFill>
                <a:highlight>
                  <a:srgbClr val="FFFFFF"/>
                </a:highlight>
                <a:latin typeface="Cascadia Mono" panose="020B0609020000020004" pitchFamily="49" charset="0"/>
              </a:rPr>
              <a:t>public</a:t>
            </a:r>
            <a:r>
              <a:rPr lang="en-IN" sz="900" dirty="0">
                <a:solidFill>
                  <a:srgbClr val="000000"/>
                </a:solidFill>
                <a:highlight>
                  <a:srgbClr val="FFFFFF"/>
                </a:highlight>
                <a:latin typeface="Cascadia Mono" panose="020B0609020000020004" pitchFamily="49" charset="0"/>
              </a:rPr>
              <a:t> </a:t>
            </a:r>
            <a:r>
              <a:rPr lang="en-IN" sz="900" dirty="0">
                <a:solidFill>
                  <a:srgbClr val="0000FF"/>
                </a:solidFill>
                <a:highlight>
                  <a:srgbClr val="FFFFFF"/>
                </a:highlight>
                <a:latin typeface="Cascadia Mono" panose="020B0609020000020004" pitchFamily="49" charset="0"/>
              </a:rPr>
              <a:t>class</a:t>
            </a:r>
            <a:r>
              <a:rPr lang="en-IN" sz="900" dirty="0">
                <a:solidFill>
                  <a:srgbClr val="000000"/>
                </a:solidFill>
                <a:highlight>
                  <a:srgbClr val="FFFFFF"/>
                </a:highlight>
                <a:latin typeface="Cascadia Mono" panose="020B0609020000020004" pitchFamily="49" charset="0"/>
              </a:rPr>
              <a:t> </a:t>
            </a:r>
            <a:r>
              <a:rPr lang="en-IN" sz="900" dirty="0">
                <a:solidFill>
                  <a:srgbClr val="2B91AF"/>
                </a:solidFill>
                <a:highlight>
                  <a:srgbClr val="FFFFFF"/>
                </a:highlight>
                <a:latin typeface="Cascadia Mono" panose="020B0609020000020004" pitchFamily="49" charset="0"/>
              </a:rPr>
              <a:t>Employee</a:t>
            </a:r>
            <a:endParaRPr lang="en-IN" sz="900" dirty="0">
              <a:solidFill>
                <a:srgbClr val="000000"/>
              </a:solidFill>
              <a:highlight>
                <a:srgbClr val="FFFFFF"/>
              </a:highlight>
              <a:latin typeface="Cascadia Mono" panose="020B0609020000020004" pitchFamily="49" charset="0"/>
            </a:endParaRPr>
          </a:p>
          <a:p>
            <a:r>
              <a:rPr lang="en-IN" sz="900" dirty="0">
                <a:solidFill>
                  <a:srgbClr val="000000"/>
                </a:solidFill>
                <a:highlight>
                  <a:srgbClr val="FFFFFF"/>
                </a:highlight>
                <a:latin typeface="Cascadia Mono" panose="020B0609020000020004" pitchFamily="49" charset="0"/>
              </a:rPr>
              <a:t>{</a:t>
            </a:r>
          </a:p>
          <a:p>
            <a:r>
              <a:rPr lang="en-IN" sz="900" dirty="0">
                <a:solidFill>
                  <a:srgbClr val="000000"/>
                </a:solidFill>
                <a:highlight>
                  <a:srgbClr val="FFFFFF"/>
                </a:highlight>
                <a:latin typeface="Cascadia Mono" panose="020B0609020000020004" pitchFamily="49" charset="0"/>
              </a:rPr>
              <a:t>    </a:t>
            </a:r>
            <a:r>
              <a:rPr lang="en-IN" sz="900" dirty="0">
                <a:solidFill>
                  <a:srgbClr val="008000"/>
                </a:solidFill>
                <a:highlight>
                  <a:srgbClr val="FFFFFF"/>
                </a:highlight>
                <a:latin typeface="Cascadia Mono" panose="020B0609020000020004" pitchFamily="49" charset="0"/>
              </a:rPr>
              <a:t>//Declare the Properties</a:t>
            </a:r>
            <a:endParaRPr lang="en-IN" sz="900" dirty="0">
              <a:solidFill>
                <a:srgbClr val="000000"/>
              </a:solidFill>
              <a:highlight>
                <a:srgbClr val="FFFFFF"/>
              </a:highlight>
              <a:latin typeface="Cascadia Mono" panose="020B0609020000020004" pitchFamily="49" charset="0"/>
            </a:endParaRPr>
          </a:p>
          <a:p>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public</a:t>
            </a:r>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int</a:t>
            </a:r>
            <a:r>
              <a:rPr lang="en-US" sz="900" dirty="0">
                <a:solidFill>
                  <a:srgbClr val="000000"/>
                </a:solidFill>
                <a:highlight>
                  <a:srgbClr val="FFFFFF"/>
                </a:highlight>
                <a:latin typeface="Cascadia Mono" panose="020B0609020000020004" pitchFamily="49" charset="0"/>
              </a:rPr>
              <a:t> ID { </a:t>
            </a:r>
            <a:r>
              <a:rPr lang="en-US" sz="900" dirty="0">
                <a:solidFill>
                  <a:srgbClr val="0000FF"/>
                </a:solidFill>
                <a:highlight>
                  <a:srgbClr val="FFFFFF"/>
                </a:highlight>
                <a:latin typeface="Cascadia Mono" panose="020B0609020000020004" pitchFamily="49" charset="0"/>
              </a:rPr>
              <a:t>get</a:t>
            </a:r>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set</a:t>
            </a:r>
            <a:r>
              <a:rPr lang="en-US" sz="900" dirty="0">
                <a:solidFill>
                  <a:srgbClr val="000000"/>
                </a:solidFill>
                <a:highlight>
                  <a:srgbClr val="FFFFFF"/>
                </a:highlight>
                <a:latin typeface="Cascadia Mono" panose="020B0609020000020004" pitchFamily="49" charset="0"/>
              </a:rPr>
              <a:t>; }</a:t>
            </a:r>
          </a:p>
          <a:p>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public</a:t>
            </a:r>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string</a:t>
            </a:r>
            <a:r>
              <a:rPr lang="en-US" sz="900" dirty="0">
                <a:solidFill>
                  <a:srgbClr val="000000"/>
                </a:solidFill>
                <a:highlight>
                  <a:srgbClr val="FFFFFF"/>
                </a:highlight>
                <a:latin typeface="Cascadia Mono" panose="020B0609020000020004" pitchFamily="49" charset="0"/>
              </a:rPr>
              <a:t> Name { </a:t>
            </a:r>
            <a:r>
              <a:rPr lang="en-US" sz="900" dirty="0">
                <a:solidFill>
                  <a:srgbClr val="0000FF"/>
                </a:solidFill>
                <a:highlight>
                  <a:srgbClr val="FFFFFF"/>
                </a:highlight>
                <a:latin typeface="Cascadia Mono" panose="020B0609020000020004" pitchFamily="49" charset="0"/>
              </a:rPr>
              <a:t>get</a:t>
            </a:r>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set</a:t>
            </a:r>
            <a:r>
              <a:rPr lang="en-US" sz="900" dirty="0">
                <a:solidFill>
                  <a:srgbClr val="000000"/>
                </a:solidFill>
                <a:highlight>
                  <a:srgbClr val="FFFFFF"/>
                </a:highlight>
                <a:latin typeface="Cascadia Mono" panose="020B0609020000020004" pitchFamily="49" charset="0"/>
              </a:rPr>
              <a:t>; }</a:t>
            </a:r>
          </a:p>
          <a:p>
            <a:r>
              <a:rPr lang="en-US" sz="900" dirty="0">
                <a:solidFill>
                  <a:srgbClr val="000000"/>
                </a:solidFill>
                <a:highlight>
                  <a:srgbClr val="FFFFFF"/>
                </a:highlight>
                <a:latin typeface="Cascadia Mono" panose="020B0609020000020004" pitchFamily="49" charset="0"/>
              </a:rPr>
              <a:t>    </a:t>
            </a:r>
            <a:r>
              <a:rPr lang="en-US" sz="900" dirty="0">
                <a:solidFill>
                  <a:srgbClr val="008000"/>
                </a:solidFill>
                <a:highlight>
                  <a:srgbClr val="FFFFFF"/>
                </a:highlight>
                <a:latin typeface="Cascadia Mono" panose="020B0609020000020004" pitchFamily="49" charset="0"/>
              </a:rPr>
              <a:t>//Initialize the Properties through Constructor</a:t>
            </a:r>
            <a:endParaRPr lang="en-US" sz="900" dirty="0">
              <a:solidFill>
                <a:srgbClr val="000000"/>
              </a:solidFill>
              <a:highlight>
                <a:srgbClr val="FFFFFF"/>
              </a:highlight>
              <a:latin typeface="Cascadia Mono" panose="020B0609020000020004" pitchFamily="49" charset="0"/>
            </a:endParaRPr>
          </a:p>
          <a:p>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public</a:t>
            </a:r>
            <a:r>
              <a:rPr lang="en-US" sz="900" dirty="0">
                <a:solidFill>
                  <a:srgbClr val="000000"/>
                </a:solidFill>
                <a:highlight>
                  <a:srgbClr val="FFFFFF"/>
                </a:highlight>
                <a:latin typeface="Cascadia Mono" panose="020B0609020000020004" pitchFamily="49" charset="0"/>
              </a:rPr>
              <a:t> </a:t>
            </a:r>
            <a:r>
              <a:rPr lang="en-US" sz="900" dirty="0">
                <a:solidFill>
                  <a:srgbClr val="2B91AF"/>
                </a:solidFill>
                <a:highlight>
                  <a:srgbClr val="FFFFFF"/>
                </a:highlight>
                <a:latin typeface="Cascadia Mono" panose="020B0609020000020004" pitchFamily="49" charset="0"/>
              </a:rPr>
              <a:t>Employee</a:t>
            </a:r>
            <a:r>
              <a:rPr lang="en-US" sz="900" dirty="0">
                <a:solidFill>
                  <a:srgbClr val="000000"/>
                </a:solidFill>
                <a:highlight>
                  <a:srgbClr val="FFFFFF"/>
                </a:highlight>
                <a:latin typeface="Cascadia Mono" panose="020B0609020000020004" pitchFamily="49" charset="0"/>
              </a:rPr>
              <a:t>(</a:t>
            </a:r>
            <a:r>
              <a:rPr lang="en-US" sz="900" dirty="0">
                <a:solidFill>
                  <a:srgbClr val="0000FF"/>
                </a:solidFill>
                <a:highlight>
                  <a:srgbClr val="FFFFFF"/>
                </a:highlight>
                <a:latin typeface="Cascadia Mono" panose="020B0609020000020004" pitchFamily="49" charset="0"/>
              </a:rPr>
              <a:t>int</a:t>
            </a:r>
            <a:r>
              <a:rPr lang="en-US" sz="900" dirty="0">
                <a:solidFill>
                  <a:srgbClr val="000000"/>
                </a:solidFill>
                <a:highlight>
                  <a:srgbClr val="FFFFFF"/>
                </a:highlight>
                <a:latin typeface="Cascadia Mono" panose="020B0609020000020004" pitchFamily="49" charset="0"/>
              </a:rPr>
              <a:t> ID, </a:t>
            </a:r>
            <a:r>
              <a:rPr lang="en-US" sz="900" dirty="0">
                <a:solidFill>
                  <a:srgbClr val="0000FF"/>
                </a:solidFill>
                <a:highlight>
                  <a:srgbClr val="FFFFFF"/>
                </a:highlight>
                <a:latin typeface="Cascadia Mono" panose="020B0609020000020004" pitchFamily="49" charset="0"/>
              </a:rPr>
              <a:t>string</a:t>
            </a:r>
            <a:r>
              <a:rPr lang="en-US" sz="900" dirty="0">
                <a:solidFill>
                  <a:srgbClr val="000000"/>
                </a:solidFill>
                <a:highlight>
                  <a:srgbClr val="FFFFFF"/>
                </a:highlight>
                <a:latin typeface="Cascadia Mono" panose="020B0609020000020004" pitchFamily="49" charset="0"/>
              </a:rPr>
              <a:t> Name)</a:t>
            </a:r>
          </a:p>
          <a:p>
            <a:r>
              <a:rPr lang="en-IN" sz="900" dirty="0">
                <a:solidFill>
                  <a:srgbClr val="000000"/>
                </a:solidFill>
                <a:highlight>
                  <a:srgbClr val="FFFFFF"/>
                </a:highlight>
                <a:latin typeface="Cascadia Mono" panose="020B0609020000020004" pitchFamily="49" charset="0"/>
              </a:rPr>
              <a:t>    {</a:t>
            </a:r>
          </a:p>
          <a:p>
            <a:r>
              <a:rPr lang="en-IN" sz="900" dirty="0">
                <a:solidFill>
                  <a:srgbClr val="000000"/>
                </a:solidFill>
                <a:highlight>
                  <a:srgbClr val="FFFFFF"/>
                </a:highlight>
                <a:latin typeface="Cascadia Mono" panose="020B0609020000020004" pitchFamily="49" charset="0"/>
              </a:rPr>
              <a:t>        </a:t>
            </a:r>
            <a:r>
              <a:rPr lang="en-IN" sz="900" dirty="0">
                <a:solidFill>
                  <a:srgbClr val="0000FF"/>
                </a:solidFill>
                <a:highlight>
                  <a:srgbClr val="FFFFFF"/>
                </a:highlight>
                <a:latin typeface="Cascadia Mono" panose="020B0609020000020004" pitchFamily="49" charset="0"/>
              </a:rPr>
              <a:t>this</a:t>
            </a:r>
            <a:r>
              <a:rPr lang="en-IN" sz="900" dirty="0">
                <a:solidFill>
                  <a:srgbClr val="000000"/>
                </a:solidFill>
                <a:highlight>
                  <a:srgbClr val="FFFFFF"/>
                </a:highlight>
                <a:latin typeface="Cascadia Mono" panose="020B0609020000020004" pitchFamily="49" charset="0"/>
              </a:rPr>
              <a:t>.ID = ID;</a:t>
            </a:r>
          </a:p>
          <a:p>
            <a:r>
              <a:rPr lang="en-IN" sz="900" dirty="0">
                <a:solidFill>
                  <a:srgbClr val="000000"/>
                </a:solidFill>
                <a:highlight>
                  <a:srgbClr val="FFFFFF"/>
                </a:highlight>
                <a:latin typeface="Cascadia Mono" panose="020B0609020000020004" pitchFamily="49" charset="0"/>
              </a:rPr>
              <a:t>        </a:t>
            </a:r>
            <a:r>
              <a:rPr lang="en-IN" sz="900" dirty="0" err="1">
                <a:solidFill>
                  <a:srgbClr val="0000FF"/>
                </a:solidFill>
                <a:highlight>
                  <a:srgbClr val="FFFFFF"/>
                </a:highlight>
                <a:latin typeface="Cascadia Mono" panose="020B0609020000020004" pitchFamily="49" charset="0"/>
              </a:rPr>
              <a:t>this</a:t>
            </a:r>
            <a:r>
              <a:rPr lang="en-IN" sz="900" dirty="0" err="1">
                <a:solidFill>
                  <a:srgbClr val="000000"/>
                </a:solidFill>
                <a:highlight>
                  <a:srgbClr val="FFFFFF"/>
                </a:highlight>
                <a:latin typeface="Cascadia Mono" panose="020B0609020000020004" pitchFamily="49" charset="0"/>
              </a:rPr>
              <a:t>.Name</a:t>
            </a:r>
            <a:r>
              <a:rPr lang="en-IN" sz="900" dirty="0">
                <a:solidFill>
                  <a:srgbClr val="000000"/>
                </a:solidFill>
                <a:highlight>
                  <a:srgbClr val="FFFFFF"/>
                </a:highlight>
                <a:latin typeface="Cascadia Mono" panose="020B0609020000020004" pitchFamily="49" charset="0"/>
              </a:rPr>
              <a:t> = Name;</a:t>
            </a:r>
          </a:p>
          <a:p>
            <a:r>
              <a:rPr lang="en-IN" sz="900" dirty="0">
                <a:solidFill>
                  <a:srgbClr val="000000"/>
                </a:solidFill>
                <a:highlight>
                  <a:srgbClr val="FFFFFF"/>
                </a:highlight>
                <a:latin typeface="Cascadia Mono" panose="020B0609020000020004" pitchFamily="49" charset="0"/>
              </a:rPr>
              <a:t>    }</a:t>
            </a:r>
          </a:p>
          <a:p>
            <a:r>
              <a:rPr lang="en-IN" sz="900" dirty="0">
                <a:solidFill>
                  <a:srgbClr val="000000"/>
                </a:solidFill>
                <a:highlight>
                  <a:srgbClr val="FFFFFF"/>
                </a:highlight>
                <a:latin typeface="Cascadia Mono" panose="020B0609020000020004" pitchFamily="49" charset="0"/>
              </a:rPr>
              <a:t>}</a:t>
            </a:r>
          </a:p>
          <a:p>
            <a:endParaRPr lang="en-IN" sz="900" dirty="0">
              <a:solidFill>
                <a:srgbClr val="000000"/>
              </a:solidFill>
              <a:highlight>
                <a:srgbClr val="FFFFFF"/>
              </a:highlight>
              <a:latin typeface="Cascadia Mono" panose="020B0609020000020004" pitchFamily="49" charset="0"/>
            </a:endParaRPr>
          </a:p>
          <a:p>
            <a:endParaRPr lang="en-IN" sz="900" dirty="0">
              <a:solidFill>
                <a:srgbClr val="000000"/>
              </a:solidFill>
              <a:highlight>
                <a:srgbClr val="FFFFFF"/>
              </a:highlight>
              <a:latin typeface="Cascadia Mono" panose="020B0609020000020004" pitchFamily="49" charset="0"/>
            </a:endParaRPr>
          </a:p>
          <a:p>
            <a:r>
              <a:rPr lang="en-IN" sz="900" dirty="0">
                <a:solidFill>
                  <a:srgbClr val="000000"/>
                </a:solidFill>
                <a:highlight>
                  <a:srgbClr val="FFFFFF"/>
                </a:highlight>
                <a:latin typeface="Cascadia Mono" panose="020B0609020000020004" pitchFamily="49" charset="0"/>
              </a:rPr>
              <a:t>    </a:t>
            </a:r>
            <a:r>
              <a:rPr lang="en-IN" sz="900" dirty="0">
                <a:solidFill>
                  <a:srgbClr val="0000FF"/>
                </a:solidFill>
                <a:highlight>
                  <a:srgbClr val="FFFFFF"/>
                </a:highlight>
                <a:latin typeface="Cascadia Mono" panose="020B0609020000020004" pitchFamily="49" charset="0"/>
              </a:rPr>
              <a:t>class</a:t>
            </a:r>
            <a:r>
              <a:rPr lang="en-IN" sz="900" dirty="0">
                <a:solidFill>
                  <a:srgbClr val="000000"/>
                </a:solidFill>
                <a:highlight>
                  <a:srgbClr val="FFFFFF"/>
                </a:highlight>
                <a:latin typeface="Cascadia Mono" panose="020B0609020000020004" pitchFamily="49" charset="0"/>
              </a:rPr>
              <a:t> </a:t>
            </a:r>
            <a:r>
              <a:rPr lang="en-IN" sz="900" dirty="0">
                <a:solidFill>
                  <a:srgbClr val="2B91AF"/>
                </a:solidFill>
                <a:highlight>
                  <a:srgbClr val="FFFFFF"/>
                </a:highlight>
                <a:latin typeface="Cascadia Mono" panose="020B0609020000020004" pitchFamily="49" charset="0"/>
              </a:rPr>
              <a:t>Program</a:t>
            </a:r>
            <a:endParaRPr lang="en-IN" sz="900" dirty="0">
              <a:solidFill>
                <a:srgbClr val="000000"/>
              </a:solidFill>
              <a:highlight>
                <a:srgbClr val="FFFFFF"/>
              </a:highlight>
              <a:latin typeface="Cascadia Mono" panose="020B0609020000020004" pitchFamily="49" charset="0"/>
            </a:endParaRPr>
          </a:p>
          <a:p>
            <a:r>
              <a:rPr lang="en-IN" sz="900" dirty="0">
                <a:solidFill>
                  <a:srgbClr val="000000"/>
                </a:solidFill>
                <a:highlight>
                  <a:srgbClr val="FFFFFF"/>
                </a:highlight>
                <a:latin typeface="Cascadia Mono" panose="020B0609020000020004" pitchFamily="49" charset="0"/>
              </a:rPr>
              <a:t>    {</a:t>
            </a:r>
          </a:p>
          <a:p>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static</a:t>
            </a:r>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void</a:t>
            </a:r>
            <a:r>
              <a:rPr lang="en-US" sz="900" dirty="0">
                <a:solidFill>
                  <a:srgbClr val="000000"/>
                </a:solidFill>
                <a:highlight>
                  <a:srgbClr val="FFFFFF"/>
                </a:highlight>
                <a:latin typeface="Cascadia Mono" panose="020B0609020000020004" pitchFamily="49" charset="0"/>
              </a:rPr>
              <a:t> Main(</a:t>
            </a:r>
            <a:r>
              <a:rPr lang="en-US" sz="900" dirty="0">
                <a:solidFill>
                  <a:srgbClr val="0000FF"/>
                </a:solidFill>
                <a:highlight>
                  <a:srgbClr val="FFFFFF"/>
                </a:highlight>
                <a:latin typeface="Cascadia Mono" panose="020B0609020000020004" pitchFamily="49" charset="0"/>
              </a:rPr>
              <a:t>string</a:t>
            </a:r>
            <a:r>
              <a:rPr lang="en-US" sz="900" dirty="0">
                <a:solidFill>
                  <a:srgbClr val="000000"/>
                </a:solidFill>
                <a:highlight>
                  <a:srgbClr val="FFFFFF"/>
                </a:highlight>
                <a:latin typeface="Cascadia Mono" panose="020B0609020000020004" pitchFamily="49" charset="0"/>
              </a:rPr>
              <a:t>[] </a:t>
            </a:r>
            <a:r>
              <a:rPr lang="en-US" sz="900" dirty="0" err="1">
                <a:solidFill>
                  <a:srgbClr val="000000"/>
                </a:solidFill>
                <a:highlight>
                  <a:srgbClr val="FFFFFF"/>
                </a:highlight>
                <a:latin typeface="Cascadia Mono" panose="020B0609020000020004" pitchFamily="49" charset="0"/>
              </a:rPr>
              <a:t>args</a:t>
            </a:r>
            <a:r>
              <a:rPr lang="en-US" sz="900" dirty="0">
                <a:solidFill>
                  <a:srgbClr val="000000"/>
                </a:solidFill>
                <a:highlight>
                  <a:srgbClr val="FFFFFF"/>
                </a:highlight>
                <a:latin typeface="Cascadia Mono" panose="020B0609020000020004" pitchFamily="49" charset="0"/>
              </a:rPr>
              <a:t>)</a:t>
            </a:r>
          </a:p>
          <a:p>
            <a:r>
              <a:rPr lang="en-IN" sz="900" dirty="0">
                <a:solidFill>
                  <a:srgbClr val="000000"/>
                </a:solidFill>
                <a:highlight>
                  <a:srgbClr val="FFFFFF"/>
                </a:highlight>
                <a:latin typeface="Cascadia Mono" panose="020B0609020000020004" pitchFamily="49" charset="0"/>
              </a:rPr>
              <a:t>        {</a:t>
            </a:r>
          </a:p>
          <a:p>
            <a:r>
              <a:rPr lang="en-IN" sz="900" dirty="0">
                <a:solidFill>
                  <a:srgbClr val="000000"/>
                </a:solidFill>
                <a:highlight>
                  <a:srgbClr val="FFFFFF"/>
                </a:highlight>
                <a:latin typeface="Cascadia Mono" panose="020B0609020000020004" pitchFamily="49" charset="0"/>
              </a:rPr>
              <a:t>            </a:t>
            </a:r>
            <a:r>
              <a:rPr lang="en-IN" sz="900" dirty="0">
                <a:solidFill>
                  <a:srgbClr val="008000"/>
                </a:solidFill>
                <a:highlight>
                  <a:srgbClr val="FFFFFF"/>
                </a:highlight>
                <a:latin typeface="Cascadia Mono" panose="020B0609020000020004" pitchFamily="49" charset="0"/>
              </a:rPr>
              <a:t>//Creating the Employee instance</a:t>
            </a:r>
            <a:endParaRPr lang="en-IN" sz="900" dirty="0">
              <a:solidFill>
                <a:srgbClr val="000000"/>
              </a:solidFill>
              <a:highlight>
                <a:srgbClr val="FFFFFF"/>
              </a:highlight>
              <a:latin typeface="Cascadia Mono" panose="020B0609020000020004" pitchFamily="49" charset="0"/>
            </a:endParaRPr>
          </a:p>
          <a:p>
            <a:r>
              <a:rPr lang="en-US" sz="900" dirty="0">
                <a:solidFill>
                  <a:srgbClr val="000000"/>
                </a:solidFill>
                <a:highlight>
                  <a:srgbClr val="FFFFFF"/>
                </a:highlight>
                <a:latin typeface="Cascadia Mono" panose="020B0609020000020004" pitchFamily="49" charset="0"/>
              </a:rPr>
              <a:t>            </a:t>
            </a:r>
            <a:r>
              <a:rPr lang="en-US" sz="900" dirty="0">
                <a:solidFill>
                  <a:srgbClr val="2B91AF"/>
                </a:solidFill>
                <a:highlight>
                  <a:srgbClr val="FFFFFF"/>
                </a:highlight>
                <a:latin typeface="Cascadia Mono" panose="020B0609020000020004" pitchFamily="49" charset="0"/>
              </a:rPr>
              <a:t>Employee</a:t>
            </a:r>
            <a:r>
              <a:rPr lang="en-US" sz="900" dirty="0">
                <a:solidFill>
                  <a:srgbClr val="000000"/>
                </a:solidFill>
                <a:highlight>
                  <a:srgbClr val="FFFFFF"/>
                </a:highlight>
                <a:latin typeface="Cascadia Mono" panose="020B0609020000020004" pitchFamily="49" charset="0"/>
              </a:rPr>
              <a:t> emp = </a:t>
            </a:r>
            <a:r>
              <a:rPr lang="en-US" sz="900" dirty="0">
                <a:solidFill>
                  <a:srgbClr val="0000FF"/>
                </a:solidFill>
                <a:highlight>
                  <a:srgbClr val="FFFFFF"/>
                </a:highlight>
                <a:latin typeface="Cascadia Mono" panose="020B0609020000020004" pitchFamily="49" charset="0"/>
              </a:rPr>
              <a:t>new</a:t>
            </a:r>
            <a:r>
              <a:rPr lang="en-US" sz="900" dirty="0">
                <a:solidFill>
                  <a:srgbClr val="000000"/>
                </a:solidFill>
                <a:highlight>
                  <a:srgbClr val="FFFFFF"/>
                </a:highlight>
                <a:latin typeface="Cascadia Mono" panose="020B0609020000020004" pitchFamily="49" charset="0"/>
              </a:rPr>
              <a:t> </a:t>
            </a:r>
            <a:r>
              <a:rPr lang="en-US" sz="900" dirty="0">
                <a:solidFill>
                  <a:srgbClr val="2B91AF"/>
                </a:solidFill>
                <a:highlight>
                  <a:srgbClr val="FFFFFF"/>
                </a:highlight>
                <a:latin typeface="Cascadia Mono" panose="020B0609020000020004" pitchFamily="49" charset="0"/>
              </a:rPr>
              <a:t>Employee</a:t>
            </a:r>
            <a:r>
              <a:rPr lang="en-US" sz="900" dirty="0">
                <a:solidFill>
                  <a:srgbClr val="000000"/>
                </a:solidFill>
                <a:highlight>
                  <a:srgbClr val="FFFFFF"/>
                </a:highlight>
                <a:latin typeface="Cascadia Mono" panose="020B0609020000020004" pitchFamily="49" charset="0"/>
              </a:rPr>
              <a:t>(101, </a:t>
            </a:r>
            <a:r>
              <a:rPr lang="en-US" sz="900" dirty="0">
                <a:solidFill>
                  <a:srgbClr val="A31515"/>
                </a:solidFill>
                <a:highlight>
                  <a:srgbClr val="FFFFFF"/>
                </a:highlight>
                <a:latin typeface="Cascadia Mono" panose="020B0609020000020004" pitchFamily="49" charset="0"/>
              </a:rPr>
              <a:t>"Vita"</a:t>
            </a:r>
            <a:r>
              <a:rPr lang="en-US" sz="900" dirty="0">
                <a:solidFill>
                  <a:srgbClr val="000000"/>
                </a:solidFill>
                <a:highlight>
                  <a:srgbClr val="FFFFFF"/>
                </a:highlight>
                <a:latin typeface="Cascadia Mono" panose="020B0609020000020004" pitchFamily="49" charset="0"/>
              </a:rPr>
              <a:t>);</a:t>
            </a:r>
          </a:p>
          <a:p>
            <a:r>
              <a:rPr lang="en-US" sz="900" dirty="0">
                <a:solidFill>
                  <a:srgbClr val="000000"/>
                </a:solidFill>
                <a:highlight>
                  <a:srgbClr val="FFFFFF"/>
                </a:highlight>
                <a:latin typeface="Cascadia Mono" panose="020B0609020000020004" pitchFamily="49" charset="0"/>
              </a:rPr>
              <a:t>            </a:t>
            </a:r>
            <a:r>
              <a:rPr lang="en-US" sz="900" dirty="0">
                <a:solidFill>
                  <a:srgbClr val="008000"/>
                </a:solidFill>
                <a:highlight>
                  <a:srgbClr val="FFFFFF"/>
                </a:highlight>
                <a:latin typeface="Cascadia Mono" panose="020B0609020000020004" pitchFamily="49" charset="0"/>
              </a:rPr>
              <a:t>//Accessing Employee Properties using Indexers i.e. using Index positions</a:t>
            </a:r>
            <a:endParaRPr lang="en-US" sz="900" dirty="0">
              <a:solidFill>
                <a:srgbClr val="000000"/>
              </a:solidFill>
              <a:highlight>
                <a:srgbClr val="FFFFFF"/>
              </a:highlight>
              <a:latin typeface="Cascadia Mono" panose="020B0609020000020004" pitchFamily="49" charset="0"/>
            </a:endParaRPr>
          </a:p>
          <a:p>
            <a:r>
              <a:rPr lang="en-IN" sz="900" dirty="0">
                <a:solidFill>
                  <a:srgbClr val="000000"/>
                </a:solidFill>
                <a:highlight>
                  <a:srgbClr val="FFFFFF"/>
                </a:highlight>
                <a:latin typeface="Cascadia Mono" panose="020B0609020000020004" pitchFamily="49" charset="0"/>
              </a:rPr>
              <a:t>            </a:t>
            </a:r>
            <a:r>
              <a:rPr lang="en-IN" sz="900" dirty="0" err="1">
                <a:solidFill>
                  <a:srgbClr val="2B91AF"/>
                </a:solidFill>
                <a:highlight>
                  <a:srgbClr val="FFFFFF"/>
                </a:highlight>
                <a:latin typeface="Cascadia Mono" panose="020B0609020000020004" pitchFamily="49" charset="0"/>
              </a:rPr>
              <a:t>Console</a:t>
            </a:r>
            <a:r>
              <a:rPr lang="en-IN" sz="900" dirty="0" err="1">
                <a:solidFill>
                  <a:srgbClr val="000000"/>
                </a:solidFill>
                <a:highlight>
                  <a:srgbClr val="FFFFFF"/>
                </a:highlight>
                <a:latin typeface="Cascadia Mono" panose="020B0609020000020004" pitchFamily="49" charset="0"/>
              </a:rPr>
              <a:t>.WriteLine</a:t>
            </a:r>
            <a:r>
              <a:rPr lang="en-IN" sz="900" dirty="0">
                <a:solidFill>
                  <a:srgbClr val="000000"/>
                </a:solidFill>
                <a:highlight>
                  <a:srgbClr val="FFFFFF"/>
                </a:highlight>
                <a:latin typeface="Cascadia Mono" panose="020B0609020000020004" pitchFamily="49" charset="0"/>
              </a:rPr>
              <a:t>(</a:t>
            </a:r>
            <a:r>
              <a:rPr lang="en-IN" sz="900" dirty="0">
                <a:solidFill>
                  <a:srgbClr val="A31515"/>
                </a:solidFill>
                <a:highlight>
                  <a:srgbClr val="FFFFFF"/>
                </a:highlight>
                <a:latin typeface="Cascadia Mono" panose="020B0609020000020004" pitchFamily="49" charset="0"/>
              </a:rPr>
              <a:t>"EID = "</a:t>
            </a:r>
            <a:r>
              <a:rPr lang="en-IN" sz="900" dirty="0">
                <a:solidFill>
                  <a:srgbClr val="000000"/>
                </a:solidFill>
                <a:highlight>
                  <a:srgbClr val="FFFFFF"/>
                </a:highlight>
                <a:latin typeface="Cascadia Mono" panose="020B0609020000020004" pitchFamily="49" charset="0"/>
              </a:rPr>
              <a:t> + emp[0]);</a:t>
            </a:r>
          </a:p>
          <a:p>
            <a:r>
              <a:rPr lang="en-US" sz="900" dirty="0">
                <a:solidFill>
                  <a:srgbClr val="000000"/>
                </a:solidFill>
                <a:highlight>
                  <a:srgbClr val="FFFFFF"/>
                </a:highlight>
                <a:latin typeface="Cascadia Mono" panose="020B0609020000020004" pitchFamily="49" charset="0"/>
              </a:rPr>
              <a:t>            </a:t>
            </a:r>
            <a:r>
              <a:rPr lang="en-US" sz="900" dirty="0" err="1">
                <a:solidFill>
                  <a:srgbClr val="2B91AF"/>
                </a:solidFill>
                <a:highlight>
                  <a:srgbClr val="FFFFFF"/>
                </a:highlight>
                <a:latin typeface="Cascadia Mono" panose="020B0609020000020004" pitchFamily="49" charset="0"/>
              </a:rPr>
              <a:t>Console</a:t>
            </a:r>
            <a:r>
              <a:rPr lang="en-US" sz="900" dirty="0" err="1">
                <a:solidFill>
                  <a:srgbClr val="000000"/>
                </a:solidFill>
                <a:highlight>
                  <a:srgbClr val="FFFFFF"/>
                </a:highlight>
                <a:latin typeface="Cascadia Mono" panose="020B0609020000020004" pitchFamily="49" charset="0"/>
              </a:rPr>
              <a:t>.WriteLine</a:t>
            </a:r>
            <a:r>
              <a:rPr lang="en-US" sz="900" dirty="0">
                <a:solidFill>
                  <a:srgbClr val="000000"/>
                </a:solidFill>
                <a:highlight>
                  <a:srgbClr val="FFFFFF"/>
                </a:highlight>
                <a:latin typeface="Cascadia Mono" panose="020B0609020000020004" pitchFamily="49" charset="0"/>
              </a:rPr>
              <a:t>(</a:t>
            </a:r>
            <a:r>
              <a:rPr lang="en-US" sz="900" dirty="0">
                <a:solidFill>
                  <a:srgbClr val="A31515"/>
                </a:solidFill>
                <a:highlight>
                  <a:srgbClr val="FFFFFF"/>
                </a:highlight>
                <a:latin typeface="Cascadia Mono" panose="020B0609020000020004" pitchFamily="49" charset="0"/>
              </a:rPr>
              <a:t>"Name = "</a:t>
            </a:r>
            <a:r>
              <a:rPr lang="en-US" sz="900" dirty="0">
                <a:solidFill>
                  <a:srgbClr val="000000"/>
                </a:solidFill>
                <a:highlight>
                  <a:srgbClr val="FFFFFF"/>
                </a:highlight>
                <a:latin typeface="Cascadia Mono" panose="020B0609020000020004" pitchFamily="49" charset="0"/>
              </a:rPr>
              <a:t> + emp[1]);</a:t>
            </a:r>
          </a:p>
          <a:p>
            <a:r>
              <a:rPr lang="en-IN" sz="900" dirty="0">
                <a:solidFill>
                  <a:srgbClr val="000000"/>
                </a:solidFill>
                <a:highlight>
                  <a:srgbClr val="FFFFFF"/>
                </a:highlight>
                <a:latin typeface="Cascadia Mono" panose="020B0609020000020004" pitchFamily="49" charset="0"/>
              </a:rPr>
              <a:t>            emp[0] =</a:t>
            </a:r>
            <a:r>
              <a:rPr lang="en-IN" sz="900" dirty="0">
                <a:solidFill>
                  <a:srgbClr val="A31515"/>
                </a:solidFill>
                <a:highlight>
                  <a:srgbClr val="FFFFFF"/>
                </a:highlight>
                <a:latin typeface="Cascadia Mono" panose="020B0609020000020004" pitchFamily="49" charset="0"/>
              </a:rPr>
              <a:t>"202"</a:t>
            </a:r>
            <a:endParaRPr lang="en-IN" sz="900" dirty="0">
              <a:solidFill>
                <a:srgbClr val="000000"/>
              </a:solidFill>
              <a:highlight>
                <a:srgbClr val="FFFFFF"/>
              </a:highlight>
              <a:latin typeface="Cascadia Mono" panose="020B0609020000020004" pitchFamily="49" charset="0"/>
            </a:endParaRPr>
          </a:p>
          <a:p>
            <a:r>
              <a:rPr lang="en-IN" sz="900" dirty="0">
                <a:solidFill>
                  <a:srgbClr val="000000"/>
                </a:solidFill>
                <a:highlight>
                  <a:srgbClr val="FFFFFF"/>
                </a:highlight>
                <a:latin typeface="Cascadia Mono" panose="020B0609020000020004" pitchFamily="49" charset="0"/>
              </a:rPr>
              <a:t>            </a:t>
            </a:r>
            <a:r>
              <a:rPr lang="en-IN" sz="900" dirty="0" err="1">
                <a:solidFill>
                  <a:srgbClr val="2B91AF"/>
                </a:solidFill>
                <a:highlight>
                  <a:srgbClr val="FFFFFF"/>
                </a:highlight>
                <a:latin typeface="Cascadia Mono" panose="020B0609020000020004" pitchFamily="49" charset="0"/>
              </a:rPr>
              <a:t>Console</a:t>
            </a:r>
            <a:r>
              <a:rPr lang="en-IN" sz="900" dirty="0" err="1">
                <a:solidFill>
                  <a:srgbClr val="000000"/>
                </a:solidFill>
                <a:highlight>
                  <a:srgbClr val="FFFFFF"/>
                </a:highlight>
                <a:latin typeface="Cascadia Mono" panose="020B0609020000020004" pitchFamily="49" charset="0"/>
              </a:rPr>
              <a:t>.ReadLine</a:t>
            </a:r>
            <a:r>
              <a:rPr lang="en-IN" sz="900" dirty="0">
                <a:solidFill>
                  <a:srgbClr val="000000"/>
                </a:solidFill>
                <a:highlight>
                  <a:srgbClr val="FFFFFF"/>
                </a:highlight>
                <a:latin typeface="Cascadia Mono" panose="020B0609020000020004" pitchFamily="49" charset="0"/>
              </a:rPr>
              <a:t>();</a:t>
            </a:r>
          </a:p>
          <a:p>
            <a:r>
              <a:rPr lang="en-IN" sz="900" dirty="0">
                <a:solidFill>
                  <a:srgbClr val="000000"/>
                </a:solidFill>
                <a:highlight>
                  <a:srgbClr val="FFFFFF"/>
                </a:highlight>
                <a:latin typeface="Cascadia Mono" panose="020B0609020000020004" pitchFamily="49" charset="0"/>
              </a:rPr>
              <a:t>        }</a:t>
            </a:r>
          </a:p>
          <a:p>
            <a:r>
              <a:rPr lang="en-IN" sz="900" dirty="0">
                <a:solidFill>
                  <a:srgbClr val="000000"/>
                </a:solidFill>
                <a:highlight>
                  <a:srgbClr val="FFFFFF"/>
                </a:highlight>
                <a:latin typeface="Cascadia Mono" panose="020B0609020000020004" pitchFamily="49" charset="0"/>
              </a:rPr>
              <a:t>    }</a:t>
            </a:r>
          </a:p>
          <a:p>
            <a:endParaRPr lang="en-IN" sz="900" dirty="0">
              <a:solidFill>
                <a:srgbClr val="000000"/>
              </a:solidFill>
              <a:highlight>
                <a:srgbClr val="FFFFFF"/>
              </a:highlight>
              <a:latin typeface="Cascadia Mono" panose="020B0609020000020004" pitchFamily="49" charset="0"/>
            </a:endParaRPr>
          </a:p>
        </p:txBody>
      </p:sp>
      <p:sp>
        <p:nvSpPr>
          <p:cNvPr id="7" name="TextBox 6">
            <a:extLst>
              <a:ext uri="{FF2B5EF4-FFF2-40B4-BE49-F238E27FC236}">
                <a16:creationId xmlns:a16="http://schemas.microsoft.com/office/drawing/2014/main" id="{D84020C8-41C5-52B4-F041-F1DEBA1C9B96}"/>
              </a:ext>
            </a:extLst>
          </p:cNvPr>
          <p:cNvSpPr txBox="1"/>
          <p:nvPr/>
        </p:nvSpPr>
        <p:spPr>
          <a:xfrm>
            <a:off x="4343400" y="-152400"/>
            <a:ext cx="4572000" cy="7432804"/>
          </a:xfrm>
          <a:prstGeom prst="rect">
            <a:avLst/>
          </a:prstGeom>
          <a:noFill/>
        </p:spPr>
        <p:txBody>
          <a:bodyPr wrap="square">
            <a:spAutoFit/>
          </a:bodyPr>
          <a:lstStyle/>
          <a:p>
            <a:endParaRPr lang="en-IN" sz="900" dirty="0">
              <a:solidFill>
                <a:srgbClr val="000000"/>
              </a:solidFill>
              <a:highlight>
                <a:srgbClr val="FFFFFF"/>
              </a:highlight>
              <a:latin typeface="Cascadia Mono" panose="020B0609020000020004" pitchFamily="49" charset="0"/>
            </a:endParaRPr>
          </a:p>
          <a:p>
            <a:r>
              <a:rPr lang="en-IN" sz="900" dirty="0">
                <a:solidFill>
                  <a:srgbClr val="000000"/>
                </a:solidFill>
                <a:highlight>
                  <a:srgbClr val="FFFFFF"/>
                </a:highlight>
                <a:latin typeface="Cascadia Mono" panose="020B0609020000020004" pitchFamily="49" charset="0"/>
              </a:rPr>
              <a:t>  </a:t>
            </a:r>
            <a:r>
              <a:rPr lang="en-IN" sz="900" dirty="0">
                <a:solidFill>
                  <a:srgbClr val="0000FF"/>
                </a:solidFill>
                <a:highlight>
                  <a:srgbClr val="FFFFFF"/>
                </a:highlight>
                <a:latin typeface="Cascadia Mono" panose="020B0609020000020004" pitchFamily="49" charset="0"/>
              </a:rPr>
              <a:t>public</a:t>
            </a:r>
            <a:r>
              <a:rPr lang="en-IN" sz="900" dirty="0">
                <a:solidFill>
                  <a:srgbClr val="000000"/>
                </a:solidFill>
                <a:highlight>
                  <a:srgbClr val="FFFFFF"/>
                </a:highlight>
                <a:latin typeface="Cascadia Mono" panose="020B0609020000020004" pitchFamily="49" charset="0"/>
              </a:rPr>
              <a:t> </a:t>
            </a:r>
            <a:r>
              <a:rPr lang="en-IN" sz="900" dirty="0">
                <a:solidFill>
                  <a:srgbClr val="0000FF"/>
                </a:solidFill>
                <a:highlight>
                  <a:srgbClr val="FFFFFF"/>
                </a:highlight>
                <a:latin typeface="Cascadia Mono" panose="020B0609020000020004" pitchFamily="49" charset="0"/>
              </a:rPr>
              <a:t>class</a:t>
            </a:r>
            <a:r>
              <a:rPr lang="en-IN" sz="900" dirty="0">
                <a:solidFill>
                  <a:srgbClr val="000000"/>
                </a:solidFill>
                <a:highlight>
                  <a:srgbClr val="FFFFFF"/>
                </a:highlight>
                <a:latin typeface="Cascadia Mono" panose="020B0609020000020004" pitchFamily="49" charset="0"/>
              </a:rPr>
              <a:t> </a:t>
            </a:r>
            <a:r>
              <a:rPr lang="en-IN" sz="900" dirty="0">
                <a:solidFill>
                  <a:srgbClr val="2B91AF"/>
                </a:solidFill>
                <a:highlight>
                  <a:srgbClr val="FFFFFF"/>
                </a:highlight>
                <a:latin typeface="Cascadia Mono" panose="020B0609020000020004" pitchFamily="49" charset="0"/>
              </a:rPr>
              <a:t>Employee</a:t>
            </a:r>
            <a:endParaRPr lang="en-IN" sz="900" dirty="0">
              <a:solidFill>
                <a:srgbClr val="000000"/>
              </a:solidFill>
              <a:highlight>
                <a:srgbClr val="FFFFFF"/>
              </a:highlight>
              <a:latin typeface="Cascadia Mono" panose="020B0609020000020004" pitchFamily="49" charset="0"/>
            </a:endParaRPr>
          </a:p>
          <a:p>
            <a:r>
              <a:rPr lang="en-IN" sz="900" dirty="0">
                <a:solidFill>
                  <a:srgbClr val="000000"/>
                </a:solidFill>
                <a:highlight>
                  <a:srgbClr val="FFFFFF"/>
                </a:highlight>
                <a:latin typeface="Cascadia Mono" panose="020B0609020000020004" pitchFamily="49" charset="0"/>
              </a:rPr>
              <a:t>{</a:t>
            </a:r>
          </a:p>
          <a:p>
            <a:r>
              <a:rPr lang="en-IN" sz="900" dirty="0">
                <a:solidFill>
                  <a:srgbClr val="000000"/>
                </a:solidFill>
                <a:highlight>
                  <a:srgbClr val="FFFFFF"/>
                </a:highlight>
                <a:latin typeface="Cascadia Mono" panose="020B0609020000020004" pitchFamily="49" charset="0"/>
              </a:rPr>
              <a:t>    </a:t>
            </a:r>
            <a:r>
              <a:rPr lang="en-IN" sz="900" dirty="0">
                <a:solidFill>
                  <a:srgbClr val="008000"/>
                </a:solidFill>
                <a:highlight>
                  <a:srgbClr val="FFFFFF"/>
                </a:highlight>
                <a:latin typeface="Cascadia Mono" panose="020B0609020000020004" pitchFamily="49" charset="0"/>
              </a:rPr>
              <a:t>//Declare the Properties</a:t>
            </a:r>
            <a:endParaRPr lang="en-IN" sz="900" dirty="0">
              <a:solidFill>
                <a:srgbClr val="000000"/>
              </a:solidFill>
              <a:highlight>
                <a:srgbClr val="FFFFFF"/>
              </a:highlight>
              <a:latin typeface="Cascadia Mono" panose="020B0609020000020004" pitchFamily="49" charset="0"/>
            </a:endParaRPr>
          </a:p>
          <a:p>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public</a:t>
            </a:r>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int</a:t>
            </a:r>
            <a:r>
              <a:rPr lang="en-US" sz="900" dirty="0">
                <a:solidFill>
                  <a:srgbClr val="000000"/>
                </a:solidFill>
                <a:highlight>
                  <a:srgbClr val="FFFFFF"/>
                </a:highlight>
                <a:latin typeface="Cascadia Mono" panose="020B0609020000020004" pitchFamily="49" charset="0"/>
              </a:rPr>
              <a:t> ID { </a:t>
            </a:r>
            <a:r>
              <a:rPr lang="en-US" sz="900" dirty="0">
                <a:solidFill>
                  <a:srgbClr val="0000FF"/>
                </a:solidFill>
                <a:highlight>
                  <a:srgbClr val="FFFFFF"/>
                </a:highlight>
                <a:latin typeface="Cascadia Mono" panose="020B0609020000020004" pitchFamily="49" charset="0"/>
              </a:rPr>
              <a:t>get</a:t>
            </a:r>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set</a:t>
            </a:r>
            <a:r>
              <a:rPr lang="en-US" sz="900" dirty="0">
                <a:solidFill>
                  <a:srgbClr val="000000"/>
                </a:solidFill>
                <a:highlight>
                  <a:srgbClr val="FFFFFF"/>
                </a:highlight>
                <a:latin typeface="Cascadia Mono" panose="020B0609020000020004" pitchFamily="49" charset="0"/>
              </a:rPr>
              <a:t>; }</a:t>
            </a:r>
          </a:p>
          <a:p>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public</a:t>
            </a:r>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string</a:t>
            </a:r>
            <a:r>
              <a:rPr lang="en-US" sz="900" dirty="0">
                <a:solidFill>
                  <a:srgbClr val="000000"/>
                </a:solidFill>
                <a:highlight>
                  <a:srgbClr val="FFFFFF"/>
                </a:highlight>
                <a:latin typeface="Cascadia Mono" panose="020B0609020000020004" pitchFamily="49" charset="0"/>
              </a:rPr>
              <a:t> Name { </a:t>
            </a:r>
            <a:r>
              <a:rPr lang="en-US" sz="900" dirty="0">
                <a:solidFill>
                  <a:srgbClr val="0000FF"/>
                </a:solidFill>
                <a:highlight>
                  <a:srgbClr val="FFFFFF"/>
                </a:highlight>
                <a:latin typeface="Cascadia Mono" panose="020B0609020000020004" pitchFamily="49" charset="0"/>
              </a:rPr>
              <a:t>get</a:t>
            </a:r>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set</a:t>
            </a:r>
            <a:r>
              <a:rPr lang="en-US" sz="900" dirty="0">
                <a:solidFill>
                  <a:srgbClr val="000000"/>
                </a:solidFill>
                <a:highlight>
                  <a:srgbClr val="FFFFFF"/>
                </a:highlight>
                <a:latin typeface="Cascadia Mono" panose="020B0609020000020004" pitchFamily="49" charset="0"/>
              </a:rPr>
              <a:t>; }</a:t>
            </a:r>
          </a:p>
          <a:p>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00FFFF"/>
                </a:highlight>
                <a:latin typeface="Cascadia Mono" panose="020B0609020000020004" pitchFamily="49" charset="0"/>
              </a:rPr>
              <a:t>public</a:t>
            </a:r>
            <a:r>
              <a:rPr lang="en-US" sz="900" dirty="0">
                <a:solidFill>
                  <a:srgbClr val="000000"/>
                </a:solidFill>
                <a:highlight>
                  <a:srgbClr val="00FFFF"/>
                </a:highlight>
                <a:latin typeface="Cascadia Mono" panose="020B0609020000020004" pitchFamily="49" charset="0"/>
              </a:rPr>
              <a:t> </a:t>
            </a:r>
            <a:r>
              <a:rPr lang="en-US" sz="900" dirty="0">
                <a:solidFill>
                  <a:srgbClr val="0000FF"/>
                </a:solidFill>
                <a:highlight>
                  <a:srgbClr val="00FFFF"/>
                </a:highlight>
                <a:latin typeface="Cascadia Mono" panose="020B0609020000020004" pitchFamily="49" charset="0"/>
              </a:rPr>
              <a:t>object</a:t>
            </a:r>
            <a:r>
              <a:rPr lang="en-US" sz="900" dirty="0">
                <a:solidFill>
                  <a:srgbClr val="000000"/>
                </a:solidFill>
                <a:highlight>
                  <a:srgbClr val="00FFFF"/>
                </a:highlight>
                <a:latin typeface="Cascadia Mono" panose="020B0609020000020004" pitchFamily="49" charset="0"/>
              </a:rPr>
              <a:t> </a:t>
            </a:r>
            <a:r>
              <a:rPr lang="en-US" sz="900" dirty="0">
                <a:solidFill>
                  <a:srgbClr val="0000FF"/>
                </a:solidFill>
                <a:highlight>
                  <a:srgbClr val="00FFFF"/>
                </a:highlight>
                <a:latin typeface="Cascadia Mono" panose="020B0609020000020004" pitchFamily="49" charset="0"/>
              </a:rPr>
              <a:t>this</a:t>
            </a:r>
            <a:r>
              <a:rPr lang="en-US" sz="900" dirty="0">
                <a:solidFill>
                  <a:srgbClr val="000000"/>
                </a:solidFill>
                <a:highlight>
                  <a:srgbClr val="00FFFF"/>
                </a:highlight>
                <a:latin typeface="Cascadia Mono" panose="020B0609020000020004" pitchFamily="49" charset="0"/>
              </a:rPr>
              <a:t>[</a:t>
            </a:r>
            <a:r>
              <a:rPr lang="en-US" sz="900" dirty="0">
                <a:solidFill>
                  <a:srgbClr val="0000FF"/>
                </a:solidFill>
                <a:highlight>
                  <a:srgbClr val="00FFFF"/>
                </a:highlight>
                <a:latin typeface="Cascadia Mono" panose="020B0609020000020004" pitchFamily="49" charset="0"/>
              </a:rPr>
              <a:t>int</a:t>
            </a:r>
            <a:r>
              <a:rPr lang="en-US" sz="900" dirty="0">
                <a:solidFill>
                  <a:srgbClr val="000000"/>
                </a:solidFill>
                <a:highlight>
                  <a:srgbClr val="00FFFF"/>
                </a:highlight>
                <a:latin typeface="Cascadia Mono" panose="020B0609020000020004" pitchFamily="49" charset="0"/>
              </a:rPr>
              <a:t> index]</a:t>
            </a:r>
          </a:p>
          <a:p>
            <a:r>
              <a:rPr lang="en-US" sz="900" dirty="0">
                <a:solidFill>
                  <a:srgbClr val="000000"/>
                </a:solidFill>
                <a:highlight>
                  <a:srgbClr val="00FFFF"/>
                </a:highlight>
                <a:latin typeface="Cascadia Mono" panose="020B0609020000020004" pitchFamily="49" charset="0"/>
              </a:rPr>
              <a:t>    {            </a:t>
            </a:r>
            <a:r>
              <a:rPr lang="en-US" sz="900" dirty="0">
                <a:solidFill>
                  <a:srgbClr val="008000"/>
                </a:solidFill>
                <a:highlight>
                  <a:srgbClr val="00FFFF"/>
                </a:highlight>
                <a:latin typeface="Cascadia Mono" panose="020B0609020000020004" pitchFamily="49" charset="0"/>
              </a:rPr>
              <a:t>//Get accessor is used for returning a value</a:t>
            </a:r>
            <a:endParaRPr lang="en-US" sz="900" dirty="0">
              <a:solidFill>
                <a:srgbClr val="000000"/>
              </a:solidFill>
              <a:highlight>
                <a:srgbClr val="00FFFF"/>
              </a:highlight>
              <a:latin typeface="Cascadia Mono" panose="020B0609020000020004" pitchFamily="49" charset="0"/>
            </a:endParaRPr>
          </a:p>
          <a:p>
            <a:r>
              <a:rPr lang="en-IN" sz="900" dirty="0">
                <a:solidFill>
                  <a:srgbClr val="000000"/>
                </a:solidFill>
                <a:highlight>
                  <a:srgbClr val="00FFFF"/>
                </a:highlight>
                <a:latin typeface="Cascadia Mono" panose="020B0609020000020004" pitchFamily="49" charset="0"/>
              </a:rPr>
              <a:t>        </a:t>
            </a:r>
            <a:r>
              <a:rPr lang="en-IN" sz="900" dirty="0">
                <a:solidFill>
                  <a:srgbClr val="0000FF"/>
                </a:solidFill>
                <a:highlight>
                  <a:srgbClr val="00FFFF"/>
                </a:highlight>
                <a:latin typeface="Cascadia Mono" panose="020B0609020000020004" pitchFamily="49" charset="0"/>
              </a:rPr>
              <a:t>get</a:t>
            </a:r>
            <a:endParaRPr lang="en-IN" sz="900" dirty="0">
              <a:solidFill>
                <a:srgbClr val="000000"/>
              </a:solidFill>
              <a:highlight>
                <a:srgbClr val="00FFFF"/>
              </a:highlight>
              <a:latin typeface="Cascadia Mono" panose="020B0609020000020004" pitchFamily="49" charset="0"/>
            </a:endParaRPr>
          </a:p>
          <a:p>
            <a:r>
              <a:rPr lang="en-US" sz="900" dirty="0">
                <a:solidFill>
                  <a:srgbClr val="000000"/>
                </a:solidFill>
                <a:highlight>
                  <a:srgbClr val="00FFFF"/>
                </a:highlight>
                <a:latin typeface="Cascadia Mono" panose="020B0609020000020004" pitchFamily="49" charset="0"/>
              </a:rPr>
              <a:t>        {                </a:t>
            </a:r>
            <a:r>
              <a:rPr lang="en-US" sz="900" dirty="0">
                <a:solidFill>
                  <a:srgbClr val="008000"/>
                </a:solidFill>
                <a:highlight>
                  <a:srgbClr val="00FFFF"/>
                </a:highlight>
                <a:latin typeface="Cascadia Mono" panose="020B0609020000020004" pitchFamily="49" charset="0"/>
              </a:rPr>
              <a:t>//based in the index position, return the appropriate property value</a:t>
            </a:r>
            <a:endParaRPr lang="en-US" sz="900" dirty="0">
              <a:solidFill>
                <a:srgbClr val="000000"/>
              </a:solidFill>
              <a:highlight>
                <a:srgbClr val="00FFFF"/>
              </a:highlight>
              <a:latin typeface="Cascadia Mono" panose="020B0609020000020004" pitchFamily="49" charset="0"/>
            </a:endParaRPr>
          </a:p>
          <a:p>
            <a:r>
              <a:rPr lang="en-IN" sz="900" dirty="0">
                <a:solidFill>
                  <a:srgbClr val="000000"/>
                </a:solidFill>
                <a:highlight>
                  <a:srgbClr val="00FFFF"/>
                </a:highlight>
                <a:latin typeface="Cascadia Mono" panose="020B0609020000020004" pitchFamily="49" charset="0"/>
              </a:rPr>
              <a:t>            </a:t>
            </a:r>
            <a:r>
              <a:rPr lang="en-IN" sz="900" dirty="0">
                <a:solidFill>
                  <a:srgbClr val="0000FF"/>
                </a:solidFill>
                <a:highlight>
                  <a:srgbClr val="00FFFF"/>
                </a:highlight>
                <a:latin typeface="Cascadia Mono" panose="020B0609020000020004" pitchFamily="49" charset="0"/>
              </a:rPr>
              <a:t>if</a:t>
            </a:r>
            <a:r>
              <a:rPr lang="en-IN" sz="900" dirty="0">
                <a:solidFill>
                  <a:srgbClr val="000000"/>
                </a:solidFill>
                <a:highlight>
                  <a:srgbClr val="00FFFF"/>
                </a:highlight>
                <a:latin typeface="Cascadia Mono" panose="020B0609020000020004" pitchFamily="49" charset="0"/>
              </a:rPr>
              <a:t> (index == 0)</a:t>
            </a:r>
          </a:p>
          <a:p>
            <a:r>
              <a:rPr lang="en-IN" sz="900" dirty="0">
                <a:solidFill>
                  <a:srgbClr val="000000"/>
                </a:solidFill>
                <a:highlight>
                  <a:srgbClr val="00FFFF"/>
                </a:highlight>
                <a:latin typeface="Cascadia Mono" panose="020B0609020000020004" pitchFamily="49" charset="0"/>
              </a:rPr>
              <a:t>                </a:t>
            </a:r>
            <a:r>
              <a:rPr lang="en-IN" sz="900" dirty="0">
                <a:solidFill>
                  <a:srgbClr val="0000FF"/>
                </a:solidFill>
                <a:highlight>
                  <a:srgbClr val="00FFFF"/>
                </a:highlight>
                <a:latin typeface="Cascadia Mono" panose="020B0609020000020004" pitchFamily="49" charset="0"/>
              </a:rPr>
              <a:t>return</a:t>
            </a:r>
            <a:r>
              <a:rPr lang="en-IN" sz="900" dirty="0">
                <a:solidFill>
                  <a:srgbClr val="000000"/>
                </a:solidFill>
                <a:highlight>
                  <a:srgbClr val="00FFFF"/>
                </a:highlight>
                <a:latin typeface="Cascadia Mono" panose="020B0609020000020004" pitchFamily="49" charset="0"/>
              </a:rPr>
              <a:t> ID;</a:t>
            </a:r>
          </a:p>
          <a:p>
            <a:r>
              <a:rPr lang="en-IN" sz="900" dirty="0">
                <a:solidFill>
                  <a:srgbClr val="000000"/>
                </a:solidFill>
                <a:highlight>
                  <a:srgbClr val="00FFFF"/>
                </a:highlight>
                <a:latin typeface="Cascadia Mono" panose="020B0609020000020004" pitchFamily="49" charset="0"/>
              </a:rPr>
              <a:t>            </a:t>
            </a:r>
            <a:r>
              <a:rPr lang="en-IN" sz="900" dirty="0">
                <a:solidFill>
                  <a:srgbClr val="0000FF"/>
                </a:solidFill>
                <a:highlight>
                  <a:srgbClr val="00FFFF"/>
                </a:highlight>
                <a:latin typeface="Cascadia Mono" panose="020B0609020000020004" pitchFamily="49" charset="0"/>
              </a:rPr>
              <a:t>else</a:t>
            </a:r>
            <a:r>
              <a:rPr lang="en-IN" sz="900" dirty="0">
                <a:solidFill>
                  <a:srgbClr val="000000"/>
                </a:solidFill>
                <a:highlight>
                  <a:srgbClr val="00FFFF"/>
                </a:highlight>
                <a:latin typeface="Cascadia Mono" panose="020B0609020000020004" pitchFamily="49" charset="0"/>
              </a:rPr>
              <a:t> </a:t>
            </a:r>
            <a:r>
              <a:rPr lang="en-IN" sz="900" dirty="0">
                <a:solidFill>
                  <a:srgbClr val="0000FF"/>
                </a:solidFill>
                <a:highlight>
                  <a:srgbClr val="00FFFF"/>
                </a:highlight>
                <a:latin typeface="Cascadia Mono" panose="020B0609020000020004" pitchFamily="49" charset="0"/>
              </a:rPr>
              <a:t>if</a:t>
            </a:r>
            <a:r>
              <a:rPr lang="en-IN" sz="900" dirty="0">
                <a:solidFill>
                  <a:srgbClr val="000000"/>
                </a:solidFill>
                <a:highlight>
                  <a:srgbClr val="00FFFF"/>
                </a:highlight>
                <a:latin typeface="Cascadia Mono" panose="020B0609020000020004" pitchFamily="49" charset="0"/>
              </a:rPr>
              <a:t> (index == 1)</a:t>
            </a:r>
          </a:p>
          <a:p>
            <a:r>
              <a:rPr lang="en-IN" sz="900" dirty="0">
                <a:solidFill>
                  <a:srgbClr val="000000"/>
                </a:solidFill>
                <a:highlight>
                  <a:srgbClr val="00FFFF"/>
                </a:highlight>
                <a:latin typeface="Cascadia Mono" panose="020B0609020000020004" pitchFamily="49" charset="0"/>
              </a:rPr>
              <a:t>                </a:t>
            </a:r>
            <a:r>
              <a:rPr lang="en-IN" sz="900" dirty="0">
                <a:solidFill>
                  <a:srgbClr val="0000FF"/>
                </a:solidFill>
                <a:highlight>
                  <a:srgbClr val="00FFFF"/>
                </a:highlight>
                <a:latin typeface="Cascadia Mono" panose="020B0609020000020004" pitchFamily="49" charset="0"/>
              </a:rPr>
              <a:t>return</a:t>
            </a:r>
            <a:r>
              <a:rPr lang="en-IN" sz="900" dirty="0">
                <a:solidFill>
                  <a:srgbClr val="000000"/>
                </a:solidFill>
                <a:highlight>
                  <a:srgbClr val="00FFFF"/>
                </a:highlight>
                <a:latin typeface="Cascadia Mono" panose="020B0609020000020004" pitchFamily="49" charset="0"/>
              </a:rPr>
              <a:t> Name;</a:t>
            </a:r>
          </a:p>
          <a:p>
            <a:r>
              <a:rPr lang="en-IN" sz="900" dirty="0">
                <a:solidFill>
                  <a:srgbClr val="000000"/>
                </a:solidFill>
                <a:highlight>
                  <a:srgbClr val="00FFFF"/>
                </a:highlight>
                <a:latin typeface="Cascadia Mono" panose="020B0609020000020004" pitchFamily="49" charset="0"/>
              </a:rPr>
              <a:t>            </a:t>
            </a:r>
            <a:r>
              <a:rPr lang="en-IN" sz="900" dirty="0">
                <a:solidFill>
                  <a:srgbClr val="0000FF"/>
                </a:solidFill>
                <a:highlight>
                  <a:srgbClr val="00FFFF"/>
                </a:highlight>
                <a:latin typeface="Cascadia Mono" panose="020B0609020000020004" pitchFamily="49" charset="0"/>
              </a:rPr>
              <a:t>else</a:t>
            </a:r>
            <a:endParaRPr lang="en-IN" sz="900" dirty="0">
              <a:solidFill>
                <a:srgbClr val="000000"/>
              </a:solidFill>
              <a:highlight>
                <a:srgbClr val="00FFFF"/>
              </a:highlight>
              <a:latin typeface="Cascadia Mono" panose="020B0609020000020004" pitchFamily="49" charset="0"/>
            </a:endParaRPr>
          </a:p>
          <a:p>
            <a:r>
              <a:rPr lang="en-IN" sz="900" dirty="0">
                <a:solidFill>
                  <a:srgbClr val="000000"/>
                </a:solidFill>
                <a:highlight>
                  <a:srgbClr val="00FFFF"/>
                </a:highlight>
                <a:latin typeface="Cascadia Mono" panose="020B0609020000020004" pitchFamily="49" charset="0"/>
              </a:rPr>
              <a:t>                </a:t>
            </a:r>
            <a:r>
              <a:rPr lang="en-IN" sz="900" dirty="0">
                <a:solidFill>
                  <a:srgbClr val="0000FF"/>
                </a:solidFill>
                <a:highlight>
                  <a:srgbClr val="00FFFF"/>
                </a:highlight>
                <a:latin typeface="Cascadia Mono" panose="020B0609020000020004" pitchFamily="49" charset="0"/>
              </a:rPr>
              <a:t>return</a:t>
            </a:r>
            <a:r>
              <a:rPr lang="en-IN" sz="900" dirty="0">
                <a:solidFill>
                  <a:srgbClr val="000000"/>
                </a:solidFill>
                <a:highlight>
                  <a:srgbClr val="00FFFF"/>
                </a:highlight>
                <a:latin typeface="Cascadia Mono" panose="020B0609020000020004" pitchFamily="49" charset="0"/>
              </a:rPr>
              <a:t> </a:t>
            </a:r>
            <a:r>
              <a:rPr lang="en-IN" sz="900" dirty="0">
                <a:solidFill>
                  <a:srgbClr val="0000FF"/>
                </a:solidFill>
                <a:highlight>
                  <a:srgbClr val="00FFFF"/>
                </a:highlight>
                <a:latin typeface="Cascadia Mono" panose="020B0609020000020004" pitchFamily="49" charset="0"/>
              </a:rPr>
              <a:t>null</a:t>
            </a:r>
            <a:r>
              <a:rPr lang="en-IN" sz="900" dirty="0">
                <a:solidFill>
                  <a:srgbClr val="000000"/>
                </a:solidFill>
                <a:highlight>
                  <a:srgbClr val="00FFFF"/>
                </a:highlight>
                <a:latin typeface="Cascadia Mono" panose="020B0609020000020004" pitchFamily="49" charset="0"/>
              </a:rPr>
              <a:t>;</a:t>
            </a:r>
          </a:p>
          <a:p>
            <a:r>
              <a:rPr lang="en-IN" sz="900" dirty="0">
                <a:solidFill>
                  <a:srgbClr val="000000"/>
                </a:solidFill>
                <a:highlight>
                  <a:srgbClr val="00FFFF"/>
                </a:highlight>
                <a:latin typeface="Cascadia Mono" panose="020B0609020000020004" pitchFamily="49" charset="0"/>
              </a:rPr>
              <a:t>        }</a:t>
            </a:r>
          </a:p>
          <a:p>
            <a:r>
              <a:rPr lang="en-US" sz="900" dirty="0">
                <a:solidFill>
                  <a:srgbClr val="000000"/>
                </a:solidFill>
                <a:highlight>
                  <a:srgbClr val="00FFFF"/>
                </a:highlight>
                <a:latin typeface="Cascadia Mono" panose="020B0609020000020004" pitchFamily="49" charset="0"/>
              </a:rPr>
              <a:t>        </a:t>
            </a:r>
            <a:r>
              <a:rPr lang="en-US" sz="900" dirty="0">
                <a:solidFill>
                  <a:srgbClr val="008000"/>
                </a:solidFill>
                <a:highlight>
                  <a:srgbClr val="00FFFF"/>
                </a:highlight>
                <a:latin typeface="Cascadia Mono" panose="020B0609020000020004" pitchFamily="49" charset="0"/>
              </a:rPr>
              <a:t>//Set accessor is used to assigning a value</a:t>
            </a:r>
            <a:endParaRPr lang="en-US" sz="900" dirty="0">
              <a:solidFill>
                <a:srgbClr val="000000"/>
              </a:solidFill>
              <a:highlight>
                <a:srgbClr val="00FFFF"/>
              </a:highlight>
              <a:latin typeface="Cascadia Mono" panose="020B0609020000020004" pitchFamily="49" charset="0"/>
            </a:endParaRPr>
          </a:p>
          <a:p>
            <a:r>
              <a:rPr lang="en-IN" sz="900" dirty="0">
                <a:solidFill>
                  <a:srgbClr val="000000"/>
                </a:solidFill>
                <a:highlight>
                  <a:srgbClr val="00FFFF"/>
                </a:highlight>
                <a:latin typeface="Cascadia Mono" panose="020B0609020000020004" pitchFamily="49" charset="0"/>
              </a:rPr>
              <a:t>        </a:t>
            </a:r>
            <a:r>
              <a:rPr lang="en-IN" sz="900" dirty="0">
                <a:solidFill>
                  <a:srgbClr val="0000FF"/>
                </a:solidFill>
                <a:highlight>
                  <a:srgbClr val="00FFFF"/>
                </a:highlight>
                <a:latin typeface="Cascadia Mono" panose="020B0609020000020004" pitchFamily="49" charset="0"/>
              </a:rPr>
              <a:t>set</a:t>
            </a:r>
            <a:endParaRPr lang="en-IN" sz="900" dirty="0">
              <a:solidFill>
                <a:srgbClr val="000000"/>
              </a:solidFill>
              <a:highlight>
                <a:srgbClr val="00FFFF"/>
              </a:highlight>
              <a:latin typeface="Cascadia Mono" panose="020B0609020000020004" pitchFamily="49" charset="0"/>
            </a:endParaRPr>
          </a:p>
          <a:p>
            <a:r>
              <a:rPr lang="en-US" sz="900" dirty="0">
                <a:solidFill>
                  <a:srgbClr val="000000"/>
                </a:solidFill>
                <a:highlight>
                  <a:srgbClr val="00FFFF"/>
                </a:highlight>
                <a:latin typeface="Cascadia Mono" panose="020B0609020000020004" pitchFamily="49" charset="0"/>
              </a:rPr>
              <a:t>        {                </a:t>
            </a:r>
            <a:r>
              <a:rPr lang="en-US" sz="900" dirty="0">
                <a:solidFill>
                  <a:srgbClr val="008000"/>
                </a:solidFill>
                <a:highlight>
                  <a:srgbClr val="00FFFF"/>
                </a:highlight>
                <a:latin typeface="Cascadia Mono" panose="020B0609020000020004" pitchFamily="49" charset="0"/>
              </a:rPr>
              <a:t>//based in the index position, set the appropriate property value</a:t>
            </a:r>
            <a:endParaRPr lang="en-US" sz="900" dirty="0">
              <a:solidFill>
                <a:srgbClr val="000000"/>
              </a:solidFill>
              <a:highlight>
                <a:srgbClr val="00FFFF"/>
              </a:highlight>
              <a:latin typeface="Cascadia Mono" panose="020B0609020000020004" pitchFamily="49" charset="0"/>
            </a:endParaRPr>
          </a:p>
          <a:p>
            <a:r>
              <a:rPr lang="en-IN" sz="900" dirty="0">
                <a:solidFill>
                  <a:srgbClr val="000000"/>
                </a:solidFill>
                <a:highlight>
                  <a:srgbClr val="00FFFF"/>
                </a:highlight>
                <a:latin typeface="Cascadia Mono" panose="020B0609020000020004" pitchFamily="49" charset="0"/>
              </a:rPr>
              <a:t>            </a:t>
            </a:r>
            <a:r>
              <a:rPr lang="en-IN" sz="900" dirty="0">
                <a:solidFill>
                  <a:srgbClr val="0000FF"/>
                </a:solidFill>
                <a:highlight>
                  <a:srgbClr val="00FFFF"/>
                </a:highlight>
                <a:latin typeface="Cascadia Mono" panose="020B0609020000020004" pitchFamily="49" charset="0"/>
              </a:rPr>
              <a:t>if</a:t>
            </a:r>
            <a:r>
              <a:rPr lang="en-IN" sz="900" dirty="0">
                <a:solidFill>
                  <a:srgbClr val="000000"/>
                </a:solidFill>
                <a:highlight>
                  <a:srgbClr val="00FFFF"/>
                </a:highlight>
                <a:latin typeface="Cascadia Mono" panose="020B0609020000020004" pitchFamily="49" charset="0"/>
              </a:rPr>
              <a:t> (index == 0)</a:t>
            </a:r>
          </a:p>
          <a:p>
            <a:r>
              <a:rPr lang="en-IN" sz="900" dirty="0">
                <a:solidFill>
                  <a:srgbClr val="000000"/>
                </a:solidFill>
                <a:highlight>
                  <a:srgbClr val="00FFFF"/>
                </a:highlight>
                <a:latin typeface="Cascadia Mono" panose="020B0609020000020004" pitchFamily="49" charset="0"/>
              </a:rPr>
              <a:t>                ID = </a:t>
            </a:r>
            <a:r>
              <a:rPr lang="en-IN" sz="900" dirty="0">
                <a:solidFill>
                  <a:srgbClr val="2B91AF"/>
                </a:solidFill>
                <a:highlight>
                  <a:srgbClr val="00FFFF"/>
                </a:highlight>
                <a:latin typeface="Cascadia Mono" panose="020B0609020000020004" pitchFamily="49" charset="0"/>
              </a:rPr>
              <a:t>Convert</a:t>
            </a:r>
            <a:r>
              <a:rPr lang="en-IN" sz="900" dirty="0">
                <a:solidFill>
                  <a:srgbClr val="000000"/>
                </a:solidFill>
                <a:highlight>
                  <a:srgbClr val="00FFFF"/>
                </a:highlight>
                <a:latin typeface="Cascadia Mono" panose="020B0609020000020004" pitchFamily="49" charset="0"/>
              </a:rPr>
              <a:t>.ToInt32(</a:t>
            </a:r>
            <a:r>
              <a:rPr lang="en-IN" sz="900" dirty="0">
                <a:solidFill>
                  <a:srgbClr val="0000FF"/>
                </a:solidFill>
                <a:highlight>
                  <a:srgbClr val="00FFFF"/>
                </a:highlight>
                <a:latin typeface="Cascadia Mono" panose="020B0609020000020004" pitchFamily="49" charset="0"/>
              </a:rPr>
              <a:t>value</a:t>
            </a:r>
            <a:r>
              <a:rPr lang="en-IN" sz="900" dirty="0">
                <a:solidFill>
                  <a:srgbClr val="000000"/>
                </a:solidFill>
                <a:highlight>
                  <a:srgbClr val="00FFFF"/>
                </a:highlight>
                <a:latin typeface="Cascadia Mono" panose="020B0609020000020004" pitchFamily="49" charset="0"/>
              </a:rPr>
              <a:t>);</a:t>
            </a:r>
          </a:p>
          <a:p>
            <a:r>
              <a:rPr lang="en-IN" sz="900" dirty="0">
                <a:solidFill>
                  <a:srgbClr val="000000"/>
                </a:solidFill>
                <a:highlight>
                  <a:srgbClr val="00FFFF"/>
                </a:highlight>
                <a:latin typeface="Cascadia Mono" panose="020B0609020000020004" pitchFamily="49" charset="0"/>
              </a:rPr>
              <a:t>            </a:t>
            </a:r>
            <a:r>
              <a:rPr lang="en-IN" sz="900" dirty="0">
                <a:solidFill>
                  <a:srgbClr val="0000FF"/>
                </a:solidFill>
                <a:highlight>
                  <a:srgbClr val="00FFFF"/>
                </a:highlight>
                <a:latin typeface="Cascadia Mono" panose="020B0609020000020004" pitchFamily="49" charset="0"/>
              </a:rPr>
              <a:t>else</a:t>
            </a:r>
            <a:r>
              <a:rPr lang="en-IN" sz="900" dirty="0">
                <a:solidFill>
                  <a:srgbClr val="000000"/>
                </a:solidFill>
                <a:highlight>
                  <a:srgbClr val="00FFFF"/>
                </a:highlight>
                <a:latin typeface="Cascadia Mono" panose="020B0609020000020004" pitchFamily="49" charset="0"/>
              </a:rPr>
              <a:t> </a:t>
            </a:r>
            <a:r>
              <a:rPr lang="en-IN" sz="900" dirty="0">
                <a:solidFill>
                  <a:srgbClr val="0000FF"/>
                </a:solidFill>
                <a:highlight>
                  <a:srgbClr val="00FFFF"/>
                </a:highlight>
                <a:latin typeface="Cascadia Mono" panose="020B0609020000020004" pitchFamily="49" charset="0"/>
              </a:rPr>
              <a:t>if</a:t>
            </a:r>
            <a:r>
              <a:rPr lang="en-IN" sz="900" dirty="0">
                <a:solidFill>
                  <a:srgbClr val="000000"/>
                </a:solidFill>
                <a:highlight>
                  <a:srgbClr val="00FFFF"/>
                </a:highlight>
                <a:latin typeface="Cascadia Mono" panose="020B0609020000020004" pitchFamily="49" charset="0"/>
              </a:rPr>
              <a:t> (index == 1)</a:t>
            </a:r>
          </a:p>
          <a:p>
            <a:r>
              <a:rPr lang="en-IN" sz="900" dirty="0">
                <a:solidFill>
                  <a:srgbClr val="000000"/>
                </a:solidFill>
                <a:highlight>
                  <a:srgbClr val="00FFFF"/>
                </a:highlight>
                <a:latin typeface="Cascadia Mono" panose="020B0609020000020004" pitchFamily="49" charset="0"/>
              </a:rPr>
              <a:t>                Name = </a:t>
            </a:r>
            <a:r>
              <a:rPr lang="en-IN" sz="900" dirty="0" err="1">
                <a:solidFill>
                  <a:srgbClr val="0000FF"/>
                </a:solidFill>
                <a:highlight>
                  <a:srgbClr val="00FFFF"/>
                </a:highlight>
                <a:latin typeface="Cascadia Mono" panose="020B0609020000020004" pitchFamily="49" charset="0"/>
              </a:rPr>
              <a:t>value</a:t>
            </a:r>
            <a:r>
              <a:rPr lang="en-IN" sz="900" dirty="0" err="1">
                <a:solidFill>
                  <a:srgbClr val="000000"/>
                </a:solidFill>
                <a:highlight>
                  <a:srgbClr val="00FFFF"/>
                </a:highlight>
                <a:latin typeface="Cascadia Mono" panose="020B0609020000020004" pitchFamily="49" charset="0"/>
              </a:rPr>
              <a:t>.ToString</a:t>
            </a:r>
            <a:r>
              <a:rPr lang="en-IN" sz="900" dirty="0">
                <a:solidFill>
                  <a:srgbClr val="000000"/>
                </a:solidFill>
                <a:highlight>
                  <a:srgbClr val="00FFFF"/>
                </a:highlight>
                <a:latin typeface="Cascadia Mono" panose="020B0609020000020004" pitchFamily="49" charset="0"/>
              </a:rPr>
              <a:t>();</a:t>
            </a:r>
          </a:p>
          <a:p>
            <a:r>
              <a:rPr lang="en-IN" sz="900" dirty="0">
                <a:solidFill>
                  <a:srgbClr val="000000"/>
                </a:solidFill>
                <a:highlight>
                  <a:srgbClr val="00FFFF"/>
                </a:highlight>
                <a:latin typeface="Cascadia Mono" panose="020B0609020000020004" pitchFamily="49" charset="0"/>
              </a:rPr>
              <a:t>        }</a:t>
            </a:r>
          </a:p>
          <a:p>
            <a:r>
              <a:rPr lang="en-IN" sz="900" dirty="0">
                <a:solidFill>
                  <a:srgbClr val="000000"/>
                </a:solidFill>
                <a:highlight>
                  <a:srgbClr val="FFFFFF"/>
                </a:highlight>
                <a:latin typeface="Cascadia Mono" panose="020B0609020000020004" pitchFamily="49" charset="0"/>
              </a:rPr>
              <a:t>    }</a:t>
            </a:r>
          </a:p>
          <a:p>
            <a:endParaRPr lang="en-IN" sz="900" dirty="0">
              <a:solidFill>
                <a:srgbClr val="000000"/>
              </a:solidFill>
              <a:highlight>
                <a:srgbClr val="FFFFFF"/>
              </a:highlight>
              <a:latin typeface="Cascadia Mono" panose="020B0609020000020004" pitchFamily="49" charset="0"/>
            </a:endParaRPr>
          </a:p>
          <a:p>
            <a:r>
              <a:rPr lang="en-US" sz="900" dirty="0">
                <a:solidFill>
                  <a:srgbClr val="000000"/>
                </a:solidFill>
                <a:highlight>
                  <a:srgbClr val="FFFFFF"/>
                </a:highlight>
                <a:latin typeface="Cascadia Mono" panose="020B0609020000020004" pitchFamily="49" charset="0"/>
              </a:rPr>
              <a:t>    </a:t>
            </a:r>
            <a:r>
              <a:rPr lang="en-US" sz="900" dirty="0">
                <a:solidFill>
                  <a:srgbClr val="008000"/>
                </a:solidFill>
                <a:highlight>
                  <a:srgbClr val="FFFFFF"/>
                </a:highlight>
                <a:latin typeface="Cascadia Mono" panose="020B0609020000020004" pitchFamily="49" charset="0"/>
              </a:rPr>
              <a:t>//Initialize the Properties through Constructor</a:t>
            </a:r>
            <a:endParaRPr lang="en-US" sz="900" dirty="0">
              <a:solidFill>
                <a:srgbClr val="000000"/>
              </a:solidFill>
              <a:highlight>
                <a:srgbClr val="FFFFFF"/>
              </a:highlight>
              <a:latin typeface="Cascadia Mono" panose="020B0609020000020004" pitchFamily="49" charset="0"/>
            </a:endParaRPr>
          </a:p>
          <a:p>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public</a:t>
            </a:r>
            <a:r>
              <a:rPr lang="en-US" sz="900" dirty="0">
                <a:solidFill>
                  <a:srgbClr val="000000"/>
                </a:solidFill>
                <a:highlight>
                  <a:srgbClr val="FFFFFF"/>
                </a:highlight>
                <a:latin typeface="Cascadia Mono" panose="020B0609020000020004" pitchFamily="49" charset="0"/>
              </a:rPr>
              <a:t> </a:t>
            </a:r>
            <a:r>
              <a:rPr lang="en-US" sz="900" dirty="0">
                <a:solidFill>
                  <a:srgbClr val="2B91AF"/>
                </a:solidFill>
                <a:highlight>
                  <a:srgbClr val="FFFFFF"/>
                </a:highlight>
                <a:latin typeface="Cascadia Mono" panose="020B0609020000020004" pitchFamily="49" charset="0"/>
              </a:rPr>
              <a:t>Employee</a:t>
            </a:r>
            <a:r>
              <a:rPr lang="en-US" sz="900" dirty="0">
                <a:solidFill>
                  <a:srgbClr val="000000"/>
                </a:solidFill>
                <a:highlight>
                  <a:srgbClr val="FFFFFF"/>
                </a:highlight>
                <a:latin typeface="Cascadia Mono" panose="020B0609020000020004" pitchFamily="49" charset="0"/>
              </a:rPr>
              <a:t>(</a:t>
            </a:r>
            <a:r>
              <a:rPr lang="en-US" sz="900" dirty="0">
                <a:solidFill>
                  <a:srgbClr val="0000FF"/>
                </a:solidFill>
                <a:highlight>
                  <a:srgbClr val="FFFFFF"/>
                </a:highlight>
                <a:latin typeface="Cascadia Mono" panose="020B0609020000020004" pitchFamily="49" charset="0"/>
              </a:rPr>
              <a:t>int</a:t>
            </a:r>
            <a:r>
              <a:rPr lang="en-US" sz="900" dirty="0">
                <a:solidFill>
                  <a:srgbClr val="000000"/>
                </a:solidFill>
                <a:highlight>
                  <a:srgbClr val="FFFFFF"/>
                </a:highlight>
                <a:latin typeface="Cascadia Mono" panose="020B0609020000020004" pitchFamily="49" charset="0"/>
              </a:rPr>
              <a:t> ID, </a:t>
            </a:r>
            <a:r>
              <a:rPr lang="en-US" sz="900" dirty="0">
                <a:solidFill>
                  <a:srgbClr val="0000FF"/>
                </a:solidFill>
                <a:highlight>
                  <a:srgbClr val="FFFFFF"/>
                </a:highlight>
                <a:latin typeface="Cascadia Mono" panose="020B0609020000020004" pitchFamily="49" charset="0"/>
              </a:rPr>
              <a:t>string</a:t>
            </a:r>
            <a:r>
              <a:rPr lang="en-US" sz="900" dirty="0">
                <a:solidFill>
                  <a:srgbClr val="000000"/>
                </a:solidFill>
                <a:highlight>
                  <a:srgbClr val="FFFFFF"/>
                </a:highlight>
                <a:latin typeface="Cascadia Mono" panose="020B0609020000020004" pitchFamily="49" charset="0"/>
              </a:rPr>
              <a:t> Name)</a:t>
            </a:r>
          </a:p>
          <a:p>
            <a:r>
              <a:rPr lang="en-IN" sz="900" dirty="0">
                <a:solidFill>
                  <a:srgbClr val="000000"/>
                </a:solidFill>
                <a:highlight>
                  <a:srgbClr val="FFFFFF"/>
                </a:highlight>
                <a:latin typeface="Cascadia Mono" panose="020B0609020000020004" pitchFamily="49" charset="0"/>
              </a:rPr>
              <a:t>    {</a:t>
            </a:r>
          </a:p>
          <a:p>
            <a:r>
              <a:rPr lang="en-IN" sz="900" dirty="0">
                <a:solidFill>
                  <a:srgbClr val="000000"/>
                </a:solidFill>
                <a:highlight>
                  <a:srgbClr val="FFFFFF"/>
                </a:highlight>
                <a:latin typeface="Cascadia Mono" panose="020B0609020000020004" pitchFamily="49" charset="0"/>
              </a:rPr>
              <a:t>        </a:t>
            </a:r>
            <a:r>
              <a:rPr lang="en-IN" sz="900" dirty="0">
                <a:solidFill>
                  <a:srgbClr val="0000FF"/>
                </a:solidFill>
                <a:highlight>
                  <a:srgbClr val="FFFFFF"/>
                </a:highlight>
                <a:latin typeface="Cascadia Mono" panose="020B0609020000020004" pitchFamily="49" charset="0"/>
              </a:rPr>
              <a:t>this</a:t>
            </a:r>
            <a:r>
              <a:rPr lang="en-IN" sz="900" dirty="0">
                <a:solidFill>
                  <a:srgbClr val="000000"/>
                </a:solidFill>
                <a:highlight>
                  <a:srgbClr val="FFFFFF"/>
                </a:highlight>
                <a:latin typeface="Cascadia Mono" panose="020B0609020000020004" pitchFamily="49" charset="0"/>
              </a:rPr>
              <a:t>.ID = ID;</a:t>
            </a:r>
          </a:p>
          <a:p>
            <a:r>
              <a:rPr lang="en-IN" sz="900" dirty="0">
                <a:solidFill>
                  <a:srgbClr val="000000"/>
                </a:solidFill>
                <a:highlight>
                  <a:srgbClr val="FFFFFF"/>
                </a:highlight>
                <a:latin typeface="Cascadia Mono" panose="020B0609020000020004" pitchFamily="49" charset="0"/>
              </a:rPr>
              <a:t>        </a:t>
            </a:r>
            <a:r>
              <a:rPr lang="en-IN" sz="900" dirty="0" err="1">
                <a:solidFill>
                  <a:srgbClr val="0000FF"/>
                </a:solidFill>
                <a:highlight>
                  <a:srgbClr val="FFFFFF"/>
                </a:highlight>
                <a:latin typeface="Cascadia Mono" panose="020B0609020000020004" pitchFamily="49" charset="0"/>
              </a:rPr>
              <a:t>this</a:t>
            </a:r>
            <a:r>
              <a:rPr lang="en-IN" sz="900" dirty="0" err="1">
                <a:solidFill>
                  <a:srgbClr val="000000"/>
                </a:solidFill>
                <a:highlight>
                  <a:srgbClr val="FFFFFF"/>
                </a:highlight>
                <a:latin typeface="Cascadia Mono" panose="020B0609020000020004" pitchFamily="49" charset="0"/>
              </a:rPr>
              <a:t>.Name</a:t>
            </a:r>
            <a:r>
              <a:rPr lang="en-IN" sz="900" dirty="0">
                <a:solidFill>
                  <a:srgbClr val="000000"/>
                </a:solidFill>
                <a:highlight>
                  <a:srgbClr val="FFFFFF"/>
                </a:highlight>
                <a:latin typeface="Cascadia Mono" panose="020B0609020000020004" pitchFamily="49" charset="0"/>
              </a:rPr>
              <a:t> = Name;</a:t>
            </a:r>
          </a:p>
          <a:p>
            <a:r>
              <a:rPr lang="en-IN" sz="900" dirty="0">
                <a:solidFill>
                  <a:srgbClr val="000000"/>
                </a:solidFill>
                <a:highlight>
                  <a:srgbClr val="FFFFFF"/>
                </a:highlight>
                <a:latin typeface="Cascadia Mono" panose="020B0609020000020004" pitchFamily="49" charset="0"/>
              </a:rPr>
              <a:t>    }</a:t>
            </a:r>
          </a:p>
          <a:p>
            <a:r>
              <a:rPr lang="en-IN" sz="900" dirty="0">
                <a:solidFill>
                  <a:srgbClr val="000000"/>
                </a:solidFill>
                <a:highlight>
                  <a:srgbClr val="FFFFFF"/>
                </a:highlight>
                <a:latin typeface="Cascadia Mono" panose="020B0609020000020004" pitchFamily="49" charset="0"/>
              </a:rPr>
              <a:t>}</a:t>
            </a:r>
          </a:p>
          <a:p>
            <a:r>
              <a:rPr lang="en-IN" sz="900" dirty="0">
                <a:solidFill>
                  <a:srgbClr val="000000"/>
                </a:solidFill>
                <a:highlight>
                  <a:srgbClr val="FFFFFF"/>
                </a:highlight>
                <a:latin typeface="Cascadia Mono" panose="020B0609020000020004" pitchFamily="49" charset="0"/>
              </a:rPr>
              <a:t>   </a:t>
            </a:r>
            <a:r>
              <a:rPr lang="en-IN" sz="900" dirty="0">
                <a:solidFill>
                  <a:srgbClr val="0000FF"/>
                </a:solidFill>
                <a:highlight>
                  <a:srgbClr val="FFFFFF"/>
                </a:highlight>
                <a:latin typeface="Cascadia Mono" panose="020B0609020000020004" pitchFamily="49" charset="0"/>
              </a:rPr>
              <a:t>class</a:t>
            </a:r>
            <a:r>
              <a:rPr lang="en-IN" sz="900" dirty="0">
                <a:solidFill>
                  <a:srgbClr val="000000"/>
                </a:solidFill>
                <a:highlight>
                  <a:srgbClr val="FFFFFF"/>
                </a:highlight>
                <a:latin typeface="Cascadia Mono" panose="020B0609020000020004" pitchFamily="49" charset="0"/>
              </a:rPr>
              <a:t> </a:t>
            </a:r>
            <a:r>
              <a:rPr lang="en-IN" sz="900" dirty="0">
                <a:solidFill>
                  <a:srgbClr val="2B91AF"/>
                </a:solidFill>
                <a:highlight>
                  <a:srgbClr val="FFFFFF"/>
                </a:highlight>
                <a:latin typeface="Cascadia Mono" panose="020B0609020000020004" pitchFamily="49" charset="0"/>
              </a:rPr>
              <a:t>Program</a:t>
            </a:r>
            <a:endParaRPr lang="en-IN" sz="900" dirty="0">
              <a:solidFill>
                <a:srgbClr val="000000"/>
              </a:solidFill>
              <a:highlight>
                <a:srgbClr val="FFFFFF"/>
              </a:highlight>
              <a:latin typeface="Cascadia Mono" panose="020B0609020000020004" pitchFamily="49" charset="0"/>
            </a:endParaRPr>
          </a:p>
          <a:p>
            <a:r>
              <a:rPr lang="en-IN" sz="900" dirty="0">
                <a:solidFill>
                  <a:srgbClr val="000000"/>
                </a:solidFill>
                <a:highlight>
                  <a:srgbClr val="FFFFFF"/>
                </a:highlight>
                <a:latin typeface="Cascadia Mono" panose="020B0609020000020004" pitchFamily="49" charset="0"/>
              </a:rPr>
              <a:t>    {</a:t>
            </a:r>
          </a:p>
          <a:p>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static</a:t>
            </a:r>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void</a:t>
            </a:r>
            <a:r>
              <a:rPr lang="en-US" sz="900" dirty="0">
                <a:solidFill>
                  <a:srgbClr val="000000"/>
                </a:solidFill>
                <a:highlight>
                  <a:srgbClr val="FFFFFF"/>
                </a:highlight>
                <a:latin typeface="Cascadia Mono" panose="020B0609020000020004" pitchFamily="49" charset="0"/>
              </a:rPr>
              <a:t> Main(</a:t>
            </a:r>
            <a:r>
              <a:rPr lang="en-US" sz="900" dirty="0">
                <a:solidFill>
                  <a:srgbClr val="0000FF"/>
                </a:solidFill>
                <a:highlight>
                  <a:srgbClr val="FFFFFF"/>
                </a:highlight>
                <a:latin typeface="Cascadia Mono" panose="020B0609020000020004" pitchFamily="49" charset="0"/>
              </a:rPr>
              <a:t>string</a:t>
            </a:r>
            <a:r>
              <a:rPr lang="en-US" sz="900" dirty="0">
                <a:solidFill>
                  <a:srgbClr val="000000"/>
                </a:solidFill>
                <a:highlight>
                  <a:srgbClr val="FFFFFF"/>
                </a:highlight>
                <a:latin typeface="Cascadia Mono" panose="020B0609020000020004" pitchFamily="49" charset="0"/>
              </a:rPr>
              <a:t>[] </a:t>
            </a:r>
            <a:r>
              <a:rPr lang="en-US" sz="900" dirty="0" err="1">
                <a:solidFill>
                  <a:srgbClr val="000000"/>
                </a:solidFill>
                <a:highlight>
                  <a:srgbClr val="FFFFFF"/>
                </a:highlight>
                <a:latin typeface="Cascadia Mono" panose="020B0609020000020004" pitchFamily="49" charset="0"/>
              </a:rPr>
              <a:t>args</a:t>
            </a:r>
            <a:r>
              <a:rPr lang="en-US" sz="900" dirty="0">
                <a:solidFill>
                  <a:srgbClr val="000000"/>
                </a:solidFill>
                <a:highlight>
                  <a:srgbClr val="FFFFFF"/>
                </a:highlight>
                <a:latin typeface="Cascadia Mono" panose="020B0609020000020004" pitchFamily="49" charset="0"/>
              </a:rPr>
              <a:t>)</a:t>
            </a:r>
          </a:p>
          <a:p>
            <a:r>
              <a:rPr lang="en-IN" sz="900" dirty="0">
                <a:solidFill>
                  <a:srgbClr val="000000"/>
                </a:solidFill>
                <a:highlight>
                  <a:srgbClr val="FFFFFF"/>
                </a:highlight>
                <a:latin typeface="Cascadia Mono" panose="020B0609020000020004" pitchFamily="49" charset="0"/>
              </a:rPr>
              <a:t>        {</a:t>
            </a:r>
          </a:p>
          <a:p>
            <a:r>
              <a:rPr lang="en-IN" sz="900" dirty="0">
                <a:solidFill>
                  <a:srgbClr val="000000"/>
                </a:solidFill>
                <a:highlight>
                  <a:srgbClr val="FFFFFF"/>
                </a:highlight>
                <a:latin typeface="Cascadia Mono" panose="020B0609020000020004" pitchFamily="49" charset="0"/>
              </a:rPr>
              <a:t>            </a:t>
            </a:r>
            <a:r>
              <a:rPr lang="en-IN" sz="900" dirty="0">
                <a:solidFill>
                  <a:srgbClr val="008000"/>
                </a:solidFill>
                <a:highlight>
                  <a:srgbClr val="FFFFFF"/>
                </a:highlight>
                <a:latin typeface="Cascadia Mono" panose="020B0609020000020004" pitchFamily="49" charset="0"/>
              </a:rPr>
              <a:t>//Creating the Employee instance</a:t>
            </a:r>
            <a:endParaRPr lang="en-IN" sz="900" dirty="0">
              <a:solidFill>
                <a:srgbClr val="000000"/>
              </a:solidFill>
              <a:highlight>
                <a:srgbClr val="FFFFFF"/>
              </a:highlight>
              <a:latin typeface="Cascadia Mono" panose="020B0609020000020004" pitchFamily="49" charset="0"/>
            </a:endParaRPr>
          </a:p>
          <a:p>
            <a:r>
              <a:rPr lang="en-US" sz="900" dirty="0">
                <a:solidFill>
                  <a:srgbClr val="000000"/>
                </a:solidFill>
                <a:highlight>
                  <a:srgbClr val="FFFFFF"/>
                </a:highlight>
                <a:latin typeface="Cascadia Mono" panose="020B0609020000020004" pitchFamily="49" charset="0"/>
              </a:rPr>
              <a:t>            </a:t>
            </a:r>
            <a:r>
              <a:rPr lang="en-US" sz="900" dirty="0">
                <a:solidFill>
                  <a:srgbClr val="2B91AF"/>
                </a:solidFill>
                <a:highlight>
                  <a:srgbClr val="FFFFFF"/>
                </a:highlight>
                <a:latin typeface="Cascadia Mono" panose="020B0609020000020004" pitchFamily="49" charset="0"/>
              </a:rPr>
              <a:t>Employee</a:t>
            </a:r>
            <a:r>
              <a:rPr lang="en-US" sz="900" dirty="0">
                <a:solidFill>
                  <a:srgbClr val="000000"/>
                </a:solidFill>
                <a:highlight>
                  <a:srgbClr val="FFFFFF"/>
                </a:highlight>
                <a:latin typeface="Cascadia Mono" panose="020B0609020000020004" pitchFamily="49" charset="0"/>
              </a:rPr>
              <a:t> emp = </a:t>
            </a:r>
            <a:r>
              <a:rPr lang="en-US" sz="900" dirty="0">
                <a:solidFill>
                  <a:srgbClr val="0000FF"/>
                </a:solidFill>
                <a:highlight>
                  <a:srgbClr val="FFFFFF"/>
                </a:highlight>
                <a:latin typeface="Cascadia Mono" panose="020B0609020000020004" pitchFamily="49" charset="0"/>
              </a:rPr>
              <a:t>new</a:t>
            </a:r>
            <a:r>
              <a:rPr lang="en-US" sz="900" dirty="0">
                <a:solidFill>
                  <a:srgbClr val="000000"/>
                </a:solidFill>
                <a:highlight>
                  <a:srgbClr val="FFFFFF"/>
                </a:highlight>
                <a:latin typeface="Cascadia Mono" panose="020B0609020000020004" pitchFamily="49" charset="0"/>
              </a:rPr>
              <a:t> </a:t>
            </a:r>
            <a:r>
              <a:rPr lang="en-US" sz="900" dirty="0">
                <a:solidFill>
                  <a:srgbClr val="2B91AF"/>
                </a:solidFill>
                <a:highlight>
                  <a:srgbClr val="FFFFFF"/>
                </a:highlight>
                <a:latin typeface="Cascadia Mono" panose="020B0609020000020004" pitchFamily="49" charset="0"/>
              </a:rPr>
              <a:t>Employee</a:t>
            </a:r>
            <a:r>
              <a:rPr lang="en-US" sz="900" dirty="0">
                <a:solidFill>
                  <a:srgbClr val="000000"/>
                </a:solidFill>
                <a:highlight>
                  <a:srgbClr val="FFFFFF"/>
                </a:highlight>
                <a:latin typeface="Cascadia Mono" panose="020B0609020000020004" pitchFamily="49" charset="0"/>
              </a:rPr>
              <a:t>(101, </a:t>
            </a:r>
            <a:r>
              <a:rPr lang="en-US" sz="900" dirty="0">
                <a:solidFill>
                  <a:srgbClr val="A31515"/>
                </a:solidFill>
                <a:highlight>
                  <a:srgbClr val="FFFFFF"/>
                </a:highlight>
                <a:latin typeface="Cascadia Mono" panose="020B0609020000020004" pitchFamily="49" charset="0"/>
              </a:rPr>
              <a:t>"Vita"</a:t>
            </a:r>
            <a:r>
              <a:rPr lang="en-US" sz="900" dirty="0">
                <a:solidFill>
                  <a:srgbClr val="000000"/>
                </a:solidFill>
                <a:highlight>
                  <a:srgbClr val="FFFFFF"/>
                </a:highlight>
                <a:latin typeface="Cascadia Mono" panose="020B0609020000020004" pitchFamily="49" charset="0"/>
              </a:rPr>
              <a:t>);</a:t>
            </a:r>
          </a:p>
          <a:p>
            <a:r>
              <a:rPr lang="en-US" sz="900" dirty="0">
                <a:solidFill>
                  <a:srgbClr val="000000"/>
                </a:solidFill>
                <a:highlight>
                  <a:srgbClr val="FFFFFF"/>
                </a:highlight>
                <a:latin typeface="Cascadia Mono" panose="020B0609020000020004" pitchFamily="49" charset="0"/>
              </a:rPr>
              <a:t>            </a:t>
            </a:r>
            <a:r>
              <a:rPr lang="en-US" sz="900" dirty="0">
                <a:solidFill>
                  <a:srgbClr val="008000"/>
                </a:solidFill>
                <a:highlight>
                  <a:srgbClr val="FFFFFF"/>
                </a:highlight>
                <a:latin typeface="Cascadia Mono" panose="020B0609020000020004" pitchFamily="49" charset="0"/>
              </a:rPr>
              <a:t>//Accessing Employee Properties using Indexers i.e. using Index positions</a:t>
            </a:r>
            <a:endParaRPr lang="en-US" sz="900" dirty="0">
              <a:solidFill>
                <a:srgbClr val="000000"/>
              </a:solidFill>
              <a:highlight>
                <a:srgbClr val="FFFFFF"/>
              </a:highlight>
              <a:latin typeface="Cascadia Mono" panose="020B0609020000020004" pitchFamily="49" charset="0"/>
            </a:endParaRPr>
          </a:p>
          <a:p>
            <a:r>
              <a:rPr lang="en-IN" sz="900" dirty="0">
                <a:solidFill>
                  <a:srgbClr val="000000"/>
                </a:solidFill>
                <a:highlight>
                  <a:srgbClr val="FFFFFF"/>
                </a:highlight>
                <a:latin typeface="Cascadia Mono" panose="020B0609020000020004" pitchFamily="49" charset="0"/>
              </a:rPr>
              <a:t>            </a:t>
            </a:r>
            <a:r>
              <a:rPr lang="en-IN" sz="900" dirty="0" err="1">
                <a:solidFill>
                  <a:srgbClr val="2B91AF"/>
                </a:solidFill>
                <a:highlight>
                  <a:srgbClr val="FFFFFF"/>
                </a:highlight>
                <a:latin typeface="Cascadia Mono" panose="020B0609020000020004" pitchFamily="49" charset="0"/>
              </a:rPr>
              <a:t>Console</a:t>
            </a:r>
            <a:r>
              <a:rPr lang="en-IN" sz="900" dirty="0" err="1">
                <a:solidFill>
                  <a:srgbClr val="000000"/>
                </a:solidFill>
                <a:highlight>
                  <a:srgbClr val="FFFFFF"/>
                </a:highlight>
                <a:latin typeface="Cascadia Mono" panose="020B0609020000020004" pitchFamily="49" charset="0"/>
              </a:rPr>
              <a:t>.WriteLine</a:t>
            </a:r>
            <a:r>
              <a:rPr lang="en-IN" sz="900" dirty="0">
                <a:solidFill>
                  <a:srgbClr val="000000"/>
                </a:solidFill>
                <a:highlight>
                  <a:srgbClr val="FFFFFF"/>
                </a:highlight>
                <a:latin typeface="Cascadia Mono" panose="020B0609020000020004" pitchFamily="49" charset="0"/>
              </a:rPr>
              <a:t>(</a:t>
            </a:r>
            <a:r>
              <a:rPr lang="en-IN" sz="900" dirty="0">
                <a:solidFill>
                  <a:srgbClr val="A31515"/>
                </a:solidFill>
                <a:highlight>
                  <a:srgbClr val="FFFFFF"/>
                </a:highlight>
                <a:latin typeface="Cascadia Mono" panose="020B0609020000020004" pitchFamily="49" charset="0"/>
              </a:rPr>
              <a:t>"EID = "</a:t>
            </a:r>
            <a:r>
              <a:rPr lang="en-IN" sz="900" dirty="0">
                <a:solidFill>
                  <a:srgbClr val="000000"/>
                </a:solidFill>
                <a:highlight>
                  <a:srgbClr val="FFFFFF"/>
                </a:highlight>
                <a:latin typeface="Cascadia Mono" panose="020B0609020000020004" pitchFamily="49" charset="0"/>
              </a:rPr>
              <a:t> + emp[0]);</a:t>
            </a:r>
          </a:p>
          <a:p>
            <a:r>
              <a:rPr lang="en-US" sz="900" dirty="0">
                <a:solidFill>
                  <a:srgbClr val="000000"/>
                </a:solidFill>
                <a:highlight>
                  <a:srgbClr val="FFFFFF"/>
                </a:highlight>
                <a:latin typeface="Cascadia Mono" panose="020B0609020000020004" pitchFamily="49" charset="0"/>
              </a:rPr>
              <a:t>            </a:t>
            </a:r>
            <a:r>
              <a:rPr lang="en-US" sz="900" dirty="0" err="1">
                <a:solidFill>
                  <a:srgbClr val="2B91AF"/>
                </a:solidFill>
                <a:highlight>
                  <a:srgbClr val="FFFFFF"/>
                </a:highlight>
                <a:latin typeface="Cascadia Mono" panose="020B0609020000020004" pitchFamily="49" charset="0"/>
              </a:rPr>
              <a:t>Console</a:t>
            </a:r>
            <a:r>
              <a:rPr lang="en-US" sz="900" dirty="0" err="1">
                <a:solidFill>
                  <a:srgbClr val="000000"/>
                </a:solidFill>
                <a:highlight>
                  <a:srgbClr val="FFFFFF"/>
                </a:highlight>
                <a:latin typeface="Cascadia Mono" panose="020B0609020000020004" pitchFamily="49" charset="0"/>
              </a:rPr>
              <a:t>.WriteLine</a:t>
            </a:r>
            <a:r>
              <a:rPr lang="en-US" sz="900" dirty="0">
                <a:solidFill>
                  <a:srgbClr val="000000"/>
                </a:solidFill>
                <a:highlight>
                  <a:srgbClr val="FFFFFF"/>
                </a:highlight>
                <a:latin typeface="Cascadia Mono" panose="020B0609020000020004" pitchFamily="49" charset="0"/>
              </a:rPr>
              <a:t>(</a:t>
            </a:r>
            <a:r>
              <a:rPr lang="en-US" sz="900" dirty="0">
                <a:solidFill>
                  <a:srgbClr val="A31515"/>
                </a:solidFill>
                <a:highlight>
                  <a:srgbClr val="FFFFFF"/>
                </a:highlight>
                <a:latin typeface="Cascadia Mono" panose="020B0609020000020004" pitchFamily="49" charset="0"/>
              </a:rPr>
              <a:t>"Name = "</a:t>
            </a:r>
            <a:r>
              <a:rPr lang="en-US" sz="900" dirty="0">
                <a:solidFill>
                  <a:srgbClr val="000000"/>
                </a:solidFill>
                <a:highlight>
                  <a:srgbClr val="FFFFFF"/>
                </a:highlight>
                <a:latin typeface="Cascadia Mono" panose="020B0609020000020004" pitchFamily="49" charset="0"/>
              </a:rPr>
              <a:t> + emp[1]);</a:t>
            </a:r>
          </a:p>
          <a:p>
            <a:r>
              <a:rPr lang="en-IN" sz="900" dirty="0">
                <a:solidFill>
                  <a:srgbClr val="000000"/>
                </a:solidFill>
                <a:highlight>
                  <a:srgbClr val="FFFFFF"/>
                </a:highlight>
                <a:latin typeface="Cascadia Mono" panose="020B0609020000020004" pitchFamily="49" charset="0"/>
              </a:rPr>
              <a:t>        emp[0] = </a:t>
            </a:r>
            <a:r>
              <a:rPr lang="en-IN" sz="900" dirty="0">
                <a:solidFill>
                  <a:srgbClr val="A31515"/>
                </a:solidFill>
                <a:highlight>
                  <a:srgbClr val="FFFFFF"/>
                </a:highlight>
                <a:latin typeface="Cascadia Mono" panose="020B0609020000020004" pitchFamily="49" charset="0"/>
              </a:rPr>
              <a:t>"202"</a:t>
            </a:r>
            <a:r>
              <a:rPr lang="en-IN" sz="900" dirty="0">
                <a:solidFill>
                  <a:srgbClr val="000000"/>
                </a:solidFill>
                <a:highlight>
                  <a:srgbClr val="FFFFFF"/>
                </a:highlight>
                <a:latin typeface="Cascadia Mono" panose="020B0609020000020004" pitchFamily="49" charset="0"/>
              </a:rPr>
              <a:t>;</a:t>
            </a:r>
          </a:p>
          <a:p>
            <a:r>
              <a:rPr lang="en-IN" sz="900" dirty="0">
                <a:solidFill>
                  <a:srgbClr val="000000"/>
                </a:solidFill>
                <a:highlight>
                  <a:srgbClr val="FFFFFF"/>
                </a:highlight>
                <a:latin typeface="Cascadia Mono" panose="020B0609020000020004" pitchFamily="49" charset="0"/>
              </a:rPr>
              <a:t>            </a:t>
            </a:r>
            <a:r>
              <a:rPr lang="en-IN" sz="900" dirty="0" err="1">
                <a:solidFill>
                  <a:srgbClr val="2B91AF"/>
                </a:solidFill>
                <a:highlight>
                  <a:srgbClr val="FFFFFF"/>
                </a:highlight>
                <a:latin typeface="Cascadia Mono" panose="020B0609020000020004" pitchFamily="49" charset="0"/>
              </a:rPr>
              <a:t>Console</a:t>
            </a:r>
            <a:r>
              <a:rPr lang="en-IN" sz="900" dirty="0" err="1">
                <a:solidFill>
                  <a:srgbClr val="000000"/>
                </a:solidFill>
                <a:highlight>
                  <a:srgbClr val="FFFFFF"/>
                </a:highlight>
                <a:latin typeface="Cascadia Mono" panose="020B0609020000020004" pitchFamily="49" charset="0"/>
              </a:rPr>
              <a:t>.ReadLine</a:t>
            </a:r>
            <a:r>
              <a:rPr lang="en-IN" sz="900" dirty="0">
                <a:solidFill>
                  <a:srgbClr val="000000"/>
                </a:solidFill>
                <a:highlight>
                  <a:srgbClr val="FFFFFF"/>
                </a:highlight>
                <a:latin typeface="Cascadia Mono" panose="020B0609020000020004" pitchFamily="49" charset="0"/>
              </a:rPr>
              <a:t>();</a:t>
            </a:r>
          </a:p>
          <a:p>
            <a:r>
              <a:rPr lang="en-IN" sz="900" dirty="0">
                <a:solidFill>
                  <a:srgbClr val="000000"/>
                </a:solidFill>
                <a:highlight>
                  <a:srgbClr val="FFFFFF"/>
                </a:highlight>
                <a:latin typeface="Cascadia Mono" panose="020B0609020000020004" pitchFamily="49" charset="0"/>
              </a:rPr>
              <a:t>        }</a:t>
            </a:r>
          </a:p>
          <a:p>
            <a:r>
              <a:rPr lang="en-IN" sz="900" dirty="0">
                <a:solidFill>
                  <a:srgbClr val="000000"/>
                </a:solidFill>
                <a:highlight>
                  <a:srgbClr val="FFFFFF"/>
                </a:highlight>
                <a:latin typeface="Cascadia Mono" panose="020B0609020000020004" pitchFamily="49" charset="0"/>
              </a:rPr>
              <a:t>    }</a:t>
            </a:r>
          </a:p>
          <a:p>
            <a:endParaRPr lang="en-IN" sz="900" dirty="0">
              <a:solidFill>
                <a:srgbClr val="000000"/>
              </a:solidFill>
              <a:highlight>
                <a:srgbClr val="FFFFFF"/>
              </a:highlight>
              <a:latin typeface="Cascadia Mono" panose="020B0609020000020004" pitchFamily="49" charset="0"/>
            </a:endParaRPr>
          </a:p>
        </p:txBody>
      </p:sp>
      <p:sp>
        <p:nvSpPr>
          <p:cNvPr id="8" name="TextBox 7">
            <a:extLst>
              <a:ext uri="{FF2B5EF4-FFF2-40B4-BE49-F238E27FC236}">
                <a16:creationId xmlns:a16="http://schemas.microsoft.com/office/drawing/2014/main" id="{DCB50FF7-BB93-85E5-77C6-5E7A2CA34296}"/>
              </a:ext>
            </a:extLst>
          </p:cNvPr>
          <p:cNvSpPr txBox="1"/>
          <p:nvPr/>
        </p:nvSpPr>
        <p:spPr>
          <a:xfrm>
            <a:off x="7391400" y="304800"/>
            <a:ext cx="1066800"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dirty="0"/>
              <a:t>No error</a:t>
            </a:r>
          </a:p>
        </p:txBody>
      </p:sp>
    </p:spTree>
    <p:extLst>
      <p:ext uri="{BB962C8B-B14F-4D97-AF65-F5344CB8AC3E}">
        <p14:creationId xmlns:p14="http://schemas.microsoft.com/office/powerpoint/2010/main" val="24367846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214</TotalTime>
  <Words>1119</Words>
  <Application>Microsoft Office PowerPoint</Application>
  <PresentationFormat>On-screen Show (4:3)</PresentationFormat>
  <Paragraphs>147</Paragraphs>
  <Slides>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vt:i4>
      </vt:variant>
    </vt:vector>
  </HeadingPairs>
  <TitlesOfParts>
    <vt:vector size="14" baseType="lpstr">
      <vt:lpstr>-apple-system</vt:lpstr>
      <vt:lpstr>Arial</vt:lpstr>
      <vt:lpstr>Arial</vt:lpstr>
      <vt:lpstr>Cambria</vt:lpstr>
      <vt:lpstr>Cascadia Mono</vt:lpstr>
      <vt:lpstr>Consolas</vt:lpstr>
      <vt:lpstr>Garamond</vt:lpstr>
      <vt:lpstr>Office Theme</vt:lpstr>
      <vt:lpstr>PowerPoint Presentation</vt:lpstr>
      <vt:lpstr>What are Indexers in C#?</vt:lpstr>
      <vt:lpstr>PowerPoint Presentation</vt:lpstr>
      <vt:lpstr>PowerPoint Presentation</vt:lpstr>
      <vt:lpstr>PowerPoint Presentation</vt:lpstr>
      <vt:lpstr>PowerPoint Presentation</vt:lpstr>
    </vt:vector>
  </TitlesOfParts>
  <Company>University at Buffalo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Why .NET</dc:title>
  <dc:creator>Theory</dc:creator>
  <cp:lastModifiedBy>sriram mantri vidyanidhi infotech academy</cp:lastModifiedBy>
  <cp:revision>47</cp:revision>
  <dcterms:created xsi:type="dcterms:W3CDTF">2012-07-28T05:50:39Z</dcterms:created>
  <dcterms:modified xsi:type="dcterms:W3CDTF">2025-04-08T14:35:00Z</dcterms:modified>
</cp:coreProperties>
</file>