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9" r:id="rId3"/>
    <p:sldId id="270" r:id="rId4"/>
    <p:sldId id="268" r:id="rId5"/>
    <p:sldId id="278" r:id="rId6"/>
    <p:sldId id="279" r:id="rId7"/>
    <p:sldId id="280" r:id="rId8"/>
    <p:sldId id="271" r:id="rId9"/>
    <p:sldId id="272" r:id="rId10"/>
    <p:sldId id="273" r:id="rId11"/>
    <p:sldId id="275" r:id="rId12"/>
    <p:sldId id="274" r:id="rId13"/>
    <p:sldId id="276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73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FE38-F050-47FC-972A-2C62A7FE0238}" type="datetimeFigureOut">
              <a:rPr lang="en-US" smtClean="0"/>
              <a:pPr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5BFC4-6EE2-4A43-98E9-146BD6B5190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36" y="-120068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DC139F7-30EE-4C3C-BBF4-BAD32D2B5D66}"/>
              </a:ext>
            </a:extLst>
          </p:cNvPr>
          <p:cNvSpPr/>
          <p:nvPr userDrawn="1"/>
        </p:nvSpPr>
        <p:spPr>
          <a:xfrm>
            <a:off x="-73900" y="6568695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/>
              <a:t>ketkiacharya</a:t>
            </a:r>
            <a:r>
              <a:rPr lang="en-IN" sz="1350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A6AF8-DF1E-496E-814F-37CE4D963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762000"/>
            <a:ext cx="8229600" cy="480060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As you know, C# data types have a fixed range and are represented as a type in the 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System 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namespace.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 For example, the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System.Boolean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data type can be assigned a value from the set 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{true, false}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Now, recall that all of the numerical data types (as well as the 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Boolean 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data type) are </a:t>
            </a:r>
            <a:r>
              <a:rPr lang="en-IN" sz="1400" i="1" dirty="0">
                <a:effectLst/>
                <a:latin typeface="Utopia-Italic"/>
                <a:ea typeface="Calibri" panose="020F0502020204030204" pitchFamily="34" charset="0"/>
                <a:cs typeface="Utopia-Italic"/>
              </a:rPr>
              <a:t>value types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. Value types can never be assigned the value of 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null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, as that is used to establish an empty object reference: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 static void Main(string[]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args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{    // Compiler errors!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 // Value types cannot be set to null!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bool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myBool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= null;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int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myInt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= null;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 // OK! Strings are reference types.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string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myString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= null;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099765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049A2-BC25-4004-A822-78F1367FC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7848600" cy="5440363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C# supports the concept of </a:t>
            </a:r>
            <a:r>
              <a:rPr lang="en-IN" sz="1400" i="1" dirty="0">
                <a:effectLst/>
                <a:latin typeface="Utopia-Italic"/>
                <a:ea typeface="Calibri" panose="020F0502020204030204" pitchFamily="34" charset="0"/>
                <a:cs typeface="Utopia-Italic"/>
              </a:rPr>
              <a:t>nullable data types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. Simply put, a nullable type can represent all the values of its underlying type, plus the value 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null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.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 Thus, if we declare a nullable 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bool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, it could be assigned a value from the set </a:t>
            </a:r>
            <a:r>
              <a:rPr lang="en-IN" sz="1400" b="1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{true, false, null}</a:t>
            </a:r>
            <a:r>
              <a:rPr lang="en-IN" sz="1400" b="1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 This can be extremely helpful when working </a:t>
            </a:r>
            <a:r>
              <a:rPr lang="en-IN" sz="1400" b="1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with relational databases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, given that it is quite common to encounter undefined columns in database tables. Without the concept of a nullable data type, there is no convenient manner in C# to represent a numerical data point with no value.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To define a nullable variable type, the question mark symbol (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?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) is suffixed to the underlying data type.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  Do note that this syntax is only legal when applied </a:t>
            </a:r>
            <a:r>
              <a:rPr lang="en-IN" sz="1400" b="1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to value types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. If you attempt to create a nullable reference type (including 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string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s), you are issued a compile-time error. Like a </a:t>
            </a:r>
            <a:r>
              <a:rPr lang="en-IN" sz="1400" dirty="0" err="1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nonnullable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 variable, local nullable variables must be assigned an initial value before you can use them: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78746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DDC80-3382-4F42-8AEB-33FBEBC8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set null to value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D5DD-347B-4B99-82C9-8C25AE457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static void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LocalNullableVariables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{  // Define some local nullable variables.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  int?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nullableInt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= 10;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   double?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nullableDouble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= 3.14;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  bool?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nullableBool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= null;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 char?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nullableChar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= 'a’;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    int?[] </a:t>
            </a:r>
            <a:r>
              <a:rPr lang="en-IN" sz="1400" dirty="0" err="1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arrayOfNullableInts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 = new int?[10];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highlight>
                  <a:srgbClr val="FF0000"/>
                </a:highlight>
                <a:latin typeface="TheSansMonoConNormal"/>
                <a:ea typeface="Calibri" panose="020F0502020204030204" pitchFamily="34" charset="0"/>
                <a:cs typeface="TheSansMonoConNormal"/>
              </a:rPr>
              <a:t>// Error! Strings are reference types! 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//true for framework 4.8.7 (older version)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// string? s = "oops";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Nullable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a =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In C#, the </a:t>
            </a:r>
            <a:r>
              <a:rPr lang="en-IN" sz="1400" dirty="0">
                <a:effectLst/>
                <a:latin typeface="TheSansMonoConNormal"/>
                <a:ea typeface="Calibri" panose="020F0502020204030204" pitchFamily="34" charset="0"/>
                <a:cs typeface="TheSansMonoConNormal"/>
              </a:rPr>
              <a:t>? </a:t>
            </a:r>
            <a:r>
              <a:rPr lang="en-IN" sz="1400" dirty="0">
                <a:effectLst/>
                <a:latin typeface="Utopia-Regular"/>
                <a:ea typeface="Calibri" panose="020F0502020204030204" pitchFamily="34" charset="0"/>
                <a:cs typeface="Utopia-Regular"/>
              </a:rPr>
              <a:t>suffix notation is a shorthand for creating an instance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88717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0B1D44-DAFC-78B2-93F8-8463FE48AC5F}"/>
              </a:ext>
            </a:extLst>
          </p:cNvPr>
          <p:cNvSpPr txBox="1"/>
          <p:nvPr/>
        </p:nvSpPr>
        <p:spPr>
          <a:xfrm>
            <a:off x="1219200" y="228600"/>
            <a:ext cx="769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Nullable reference types  introduce in C#8.0</a:t>
            </a:r>
          </a:p>
          <a:p>
            <a:r>
              <a:rPr lang="en-US" sz="1200" dirty="0"/>
              <a:t>The nullable reference types feature intends to warn you about null-unsafe behavior in the code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B6629-10CA-94BE-4070-2D2F6419DC0D}"/>
              </a:ext>
            </a:extLst>
          </p:cNvPr>
          <p:cNvSpPr txBox="1"/>
          <p:nvPr/>
        </p:nvSpPr>
        <p:spPr>
          <a:xfrm>
            <a:off x="152400" y="1066800"/>
            <a:ext cx="46482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s =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WriteLine(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$"The first letter of 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{s}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 is 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{s[0]}</a:t>
            </a:r>
            <a:r>
              <a:rPr lang="en-US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47918F-C891-81CF-0464-297DA8F9B1ED}"/>
              </a:ext>
            </a:extLst>
          </p:cNvPr>
          <p:cNvSpPr txBox="1"/>
          <p:nvPr/>
        </p:nvSpPr>
        <p:spPr>
          <a:xfrm>
            <a:off x="152400" y="2590800"/>
            <a:ext cx="50292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If you run it you get, of course, a </a:t>
            </a:r>
            <a:r>
              <a:rPr lang="en-US" sz="1100" dirty="0">
                <a:highlight>
                  <a:srgbClr val="FFFF00"/>
                </a:highlight>
              </a:rPr>
              <a:t>null reference exception</a:t>
            </a:r>
            <a:r>
              <a:rPr lang="en-US" sz="1100" dirty="0"/>
              <a:t>. You’ve fallen into the black hole! How were you supposed to know not to dereference s in that particular place? </a:t>
            </a:r>
            <a:endParaRPr lang="en-IN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297DE8-907F-52B2-2D60-345FCE496C79}"/>
              </a:ext>
            </a:extLst>
          </p:cNvPr>
          <p:cNvSpPr txBox="1"/>
          <p:nvPr/>
        </p:nvSpPr>
        <p:spPr>
          <a:xfrm>
            <a:off x="131975" y="3162543"/>
            <a:ext cx="19254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 =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49EC9C-A83E-C02B-3ED1-DE1BB2F3CBC5}"/>
              </a:ext>
            </a:extLst>
          </p:cNvPr>
          <p:cNvSpPr txBox="1"/>
          <p:nvPr/>
        </p:nvSpPr>
        <p:spPr>
          <a:xfrm>
            <a:off x="228600" y="3521335"/>
            <a:ext cx="5029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It complains that you are assigning null to a “non-nullable type”: </a:t>
            </a:r>
            <a:r>
              <a:rPr lang="en-US" sz="1200" dirty="0" err="1"/>
              <a:t>Whaaat</a:t>
            </a:r>
            <a:r>
              <a:rPr lang="en-US" sz="1200" dirty="0"/>
              <a:t>?!? When the feature is turned on nulls are no longer welcome in ordinary reference types such as string! Because, you know what, null is not a string! We’ve been pretending for the last fifty years of object-oriented programming, but actually null is in fact not an object: That’s why everything explodes whenever you try to treat it like one! So no more of that: null is verboten, unless you ask for it.</a:t>
            </a:r>
          </a:p>
          <a:p>
            <a:endParaRPr lang="en-US" sz="1200" dirty="0"/>
          </a:p>
          <a:p>
            <a:r>
              <a:rPr lang="en-US" sz="1200" dirty="0"/>
              <a:t>How do you ask for it? By using a nullable reference type, such as string?. The trailing question mark signals that null is allowed:</a:t>
            </a:r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72860-7B0A-2EDD-A07A-ACB0E8296B90}"/>
              </a:ext>
            </a:extLst>
          </p:cNvPr>
          <p:cNvSpPr txBox="1"/>
          <p:nvPr/>
        </p:nvSpPr>
        <p:spPr>
          <a:xfrm>
            <a:off x="131975" y="5542120"/>
            <a:ext cx="335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? s =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IN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BB2175-B3F1-CC66-1FE2-143B2C5AFAB7}"/>
              </a:ext>
            </a:extLst>
          </p:cNvPr>
          <p:cNvSpPr txBox="1"/>
          <p:nvPr/>
        </p:nvSpPr>
        <p:spPr>
          <a:xfrm>
            <a:off x="131975" y="5959975"/>
            <a:ext cx="609914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The warning goes away: we have explicitly expressed the intent for this variable to hold null, so now it’s fine.</a:t>
            </a:r>
          </a:p>
          <a:p>
            <a:pPr algn="l"/>
            <a:r>
              <a:rPr lang="en-US" sz="105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Until the next line of code! On the line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7AF653-70DC-1329-B7F8-25ACFD494D50}"/>
              </a:ext>
            </a:extLst>
          </p:cNvPr>
          <p:cNvSpPr txBox="1"/>
          <p:nvPr/>
        </p:nvSpPr>
        <p:spPr>
          <a:xfrm>
            <a:off x="217602" y="6493308"/>
            <a:ext cx="60991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2B91AF"/>
                </a:solidFill>
                <a:latin typeface="Cascadia Mono" panose="020B0609020000020004" pitchFamily="49" charset="0"/>
              </a:rPr>
              <a:t>WriteLine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($"The first letter of {s} is {s[0]}");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9F7C73-6B2E-B36D-EF64-DC5EB4F2009B}"/>
              </a:ext>
            </a:extLst>
          </p:cNvPr>
          <p:cNvSpPr txBox="1"/>
          <p:nvPr/>
        </p:nvSpPr>
        <p:spPr>
          <a:xfrm>
            <a:off x="5257800" y="816487"/>
            <a:ext cx="38862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It complains about the s in s[0] that you may be dereferencing a null reference. And sure enough: you are! Well done, compiler! How do you fix it, though? Well that’s pretty much up to you – whichever way you would always have fixed it! Let’s try for starters to only execute the line when s is not null:</a:t>
            </a:r>
            <a:endParaRPr lang="en-IN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CC0762-7527-23F4-CB68-C004BA28C36F}"/>
              </a:ext>
            </a:extLst>
          </p:cNvPr>
          <p:cNvSpPr txBox="1"/>
          <p:nvPr/>
        </p:nvSpPr>
        <p:spPr>
          <a:xfrm>
            <a:off x="5410200" y="1921134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(s !=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WriteLine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($"The first letter of {s} is {s[0]}");</a:t>
            </a:r>
            <a:endParaRPr lang="en-IN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260761-06C2-D82F-A649-7BE3A6C4442F}"/>
              </a:ext>
            </a:extLst>
          </p:cNvPr>
          <p:cNvSpPr txBox="1"/>
          <p:nvPr/>
        </p:nvSpPr>
        <p:spPr>
          <a:xfrm>
            <a:off x="5410200" y="2674325"/>
            <a:ext cx="36018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The warning goes away! Why? Because the compiler can see that you only go to the offending code when s is not null. It actually does a full flow analysis, tracking every variable across every line of code to keep tabs on where it might be null and where it probably won’t be</a:t>
            </a:r>
            <a:endParaRPr lang="en-IN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9DE271-8E3A-25C5-8025-197DF57ABE18}"/>
              </a:ext>
            </a:extLst>
          </p:cNvPr>
          <p:cNvSpPr txBox="1"/>
          <p:nvPr/>
        </p:nvSpPr>
        <p:spPr>
          <a:xfrm>
            <a:off x="5270369" y="4033260"/>
            <a:ext cx="364503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Another feature to help upgrade is that you can turn the feature on or off “locally” in your code, using compiler directives #nullable enable and #nullable disable. That way you can go through your project and deal with annotations and warnings gradually, piece by piece.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0946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5C58-CE4D-E48D-D04F-1B9A6A94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?? And ??=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DC19E4-B478-6CF2-EF59-6EFC8C8B8A6B}"/>
              </a:ext>
            </a:extLst>
          </p:cNvPr>
          <p:cNvSpPr txBox="1"/>
          <p:nvPr/>
        </p:nvSpPr>
        <p:spPr>
          <a:xfrm>
            <a:off x="533400" y="1086055"/>
            <a:ext cx="4038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? s =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(s ?? 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O/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  <a:sym typeface="Wingdings" panose="05000000000000000000" pitchFamily="2" charset="2"/>
              </a:rPr>
              <a:t>Hello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109D1B-F5CA-F522-8F78-2BB14601A4E9}"/>
              </a:ext>
            </a:extLst>
          </p:cNvPr>
          <p:cNvSpPr txBox="1"/>
          <p:nvPr/>
        </p:nvSpPr>
        <p:spPr>
          <a:xfrm>
            <a:off x="448559" y="2143460"/>
            <a:ext cx="8153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null-coalescing operator ?? returns the value of its left-hand operand if it isn't null; otherwise, it evaluates the right-hand operand and returns its result. The ?? operator doesn't evaluate its right-hand operand if the left-hand operand evaluates to non-null.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566E4-8FD4-6E61-C0FF-2882E3622A60}"/>
              </a:ext>
            </a:extLst>
          </p:cNvPr>
          <p:cNvSpPr txBox="1"/>
          <p:nvPr/>
        </p:nvSpPr>
        <p:spPr>
          <a:xfrm>
            <a:off x="481159" y="3039782"/>
            <a:ext cx="3733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? s = 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"Bye"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(s ?? 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O/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  <a:sym typeface="Wingdings" panose="05000000000000000000" pitchFamily="2" charset="2"/>
              </a:rPr>
              <a:t>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Bye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1347D6-7949-7996-EE8E-8742069FC913}"/>
              </a:ext>
            </a:extLst>
          </p:cNvPr>
          <p:cNvSpPr txBox="1"/>
          <p:nvPr/>
        </p:nvSpPr>
        <p:spPr>
          <a:xfrm>
            <a:off x="379822" y="4023262"/>
            <a:ext cx="41454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You can use the ??= operator to replace the code of the form</a:t>
            </a:r>
            <a:endParaRPr lang="en-IN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906EE-3B04-CDC9-84E1-19BED8308162}"/>
              </a:ext>
            </a:extLst>
          </p:cNvPr>
          <p:cNvSpPr txBox="1"/>
          <p:nvPr/>
        </p:nvSpPr>
        <p:spPr>
          <a:xfrm>
            <a:off x="488229" y="4488697"/>
            <a:ext cx="3039359" cy="7848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? s =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(s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is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s = </a:t>
            </a:r>
            <a:r>
              <a:rPr lang="en-IN" sz="9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}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17B787-AC19-0F7E-3F59-C73EAED6D4FB}"/>
              </a:ext>
            </a:extLst>
          </p:cNvPr>
          <p:cNvSpPr txBox="1"/>
          <p:nvPr/>
        </p:nvSpPr>
        <p:spPr>
          <a:xfrm>
            <a:off x="152400" y="5779953"/>
            <a:ext cx="3039359" cy="5770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? s = </a:t>
            </a:r>
            <a:r>
              <a:rPr lang="en-IN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s ??= </a:t>
            </a:r>
            <a:r>
              <a:rPr lang="en-IN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05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  <a:endParaRPr lang="en-IN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377F18-4D18-E69B-94FC-FBBAB8EB6D3F}"/>
              </a:ext>
            </a:extLst>
          </p:cNvPr>
          <p:cNvSpPr txBox="1"/>
          <p:nvPr/>
        </p:nvSpPr>
        <p:spPr>
          <a:xfrm>
            <a:off x="546755" y="5496139"/>
            <a:ext cx="2372412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b="0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with the following code:</a:t>
            </a: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FAF25-9865-3364-3EE3-D8E3767651C7}"/>
              </a:ext>
            </a:extLst>
          </p:cNvPr>
          <p:cNvSpPr txBox="1"/>
          <p:nvPr/>
        </p:nvSpPr>
        <p:spPr>
          <a:xfrm>
            <a:off x="3810000" y="4419600"/>
            <a:ext cx="5334001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	int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a, b;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a = 5;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b = 6;</a:t>
            </a:r>
          </a:p>
          <a:p>
            <a:r>
              <a:rPr lang="it-IT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Console.WriteLine(</a:t>
            </a:r>
            <a:r>
              <a:rPr lang="it-IT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it-IT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+a+b);</a:t>
            </a:r>
          </a:p>
          <a:p>
            <a:r>
              <a:rPr lang="it-IT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Console.WriteLine(a+b+</a:t>
            </a:r>
            <a:r>
              <a:rPr lang="it-IT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it-IT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);</a:t>
            </a:r>
          </a:p>
          <a:p>
            <a:r>
              <a:rPr lang="it-IT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Console.WriteLine(</a:t>
            </a:r>
            <a:r>
              <a:rPr lang="it-IT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it-IT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+( a + b));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9468C-0D6E-D08A-EFE9-431DBED77DBA}"/>
              </a:ext>
            </a:extLst>
          </p:cNvPr>
          <p:cNvSpPr txBox="1"/>
          <p:nvPr/>
        </p:nvSpPr>
        <p:spPr>
          <a:xfrm>
            <a:off x="6629400" y="8382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S|”hello</a:t>
            </a:r>
            <a:r>
              <a:rPr lang="en-US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8789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DD8A50-A6B7-0FBE-FB52-167CBF7965A2}"/>
              </a:ext>
            </a:extLst>
          </p:cNvPr>
          <p:cNvSpPr txBox="1"/>
          <p:nvPr/>
        </p:nvSpPr>
        <p:spPr>
          <a:xfrm>
            <a:off x="2133600" y="3048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?. </a:t>
            </a:r>
            <a:r>
              <a:rPr lang="en-US" sz="4000"/>
              <a:t>And ?[]</a:t>
            </a:r>
            <a:endParaRPr lang="en-IN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86FBDB-CC42-2B5F-DB65-052AAF6B1E3C}"/>
              </a:ext>
            </a:extLst>
          </p:cNvPr>
          <p:cNvSpPr txBox="1"/>
          <p:nvPr/>
        </p:nvSpPr>
        <p:spPr>
          <a:xfrm>
            <a:off x="152400" y="1371600"/>
            <a:ext cx="3962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? s =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s.Length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//run time error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58134-1F05-A77C-C0A8-5D16551BA28E}"/>
              </a:ext>
            </a:extLst>
          </p:cNvPr>
          <p:cNvSpPr txBox="1"/>
          <p:nvPr/>
        </p:nvSpPr>
        <p:spPr>
          <a:xfrm>
            <a:off x="381000" y="2499955"/>
            <a:ext cx="48768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? s =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s?.Length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//No if s is null it will not try to read Length property error</a:t>
            </a:r>
            <a:endParaRPr lang="en-IN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F9C1C4-4799-99FE-70D7-A7AC9D3DF6F6}"/>
              </a:ext>
            </a:extLst>
          </p:cNvPr>
          <p:cNvSpPr txBox="1"/>
          <p:nvPr/>
        </p:nvSpPr>
        <p:spPr>
          <a:xfrm>
            <a:off x="362932" y="4191000"/>
            <a:ext cx="60991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? s =</a:t>
            </a:r>
            <a:r>
              <a:rPr lang="en-IN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"vita"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(s?[0]); //v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s =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(s?[0]);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//print null and no run time error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332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3A10F-111A-4FD2-98C4-AF477F15A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276" y="1"/>
            <a:ext cx="8327923" cy="533400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181717"/>
                </a:solidFill>
                <a:effectLst/>
                <a:latin typeface="Segoe UI" panose="020B0502040204020203" pitchFamily="34" charset="0"/>
              </a:rPr>
              <a:t> Partial Classes and Methods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531F66-0C51-4829-B104-A31710EC68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406" y="609600"/>
            <a:ext cx="9030555" cy="9233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In C#, you can split the implementation of a class, a struct, a method, or an interface in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181717"/>
                </a:solidFill>
                <a:latin typeface="Verdana" panose="020B060403050404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 multiple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.cs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 files using the 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partial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7BFF"/>
                </a:solidFill>
                <a:effectLst/>
                <a:latin typeface="Verdana" panose="020B0604030504040204" pitchFamily="34" charset="0"/>
              </a:rPr>
              <a:t>keyword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181717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The compiler will combine all the implementation from multiple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.cs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 files when the program is compiled.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4A991-327D-4E27-8B22-5C4EED55DA49}"/>
              </a:ext>
            </a:extLst>
          </p:cNvPr>
          <p:cNvSpPr txBox="1"/>
          <p:nvPr/>
        </p:nvSpPr>
        <p:spPr>
          <a:xfrm>
            <a:off x="3505200" y="1532930"/>
            <a:ext cx="6096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 </a:t>
            </a:r>
            <a:r>
              <a:rPr lang="en-IN" sz="1200" b="1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emp.cs</a:t>
            </a:r>
            <a:endParaRPr lang="en-IN" sz="1200" b="1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demop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partial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Employee(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Id,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.EmpId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Id;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.FirstName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= name;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DisplayEmployeeInfo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.EmpId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.FirstName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.LastName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Save(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firstName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"Saved!"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56361D-A4C3-4010-A355-C2D54B9D511E}"/>
              </a:ext>
            </a:extLst>
          </p:cNvPr>
          <p:cNvSpPr txBox="1"/>
          <p:nvPr/>
        </p:nvSpPr>
        <p:spPr>
          <a:xfrm>
            <a:off x="0" y="1828800"/>
            <a:ext cx="381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 </a:t>
            </a:r>
            <a:r>
              <a:rPr lang="en-IN" sz="1200" b="1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emprop.cs</a:t>
            </a:r>
            <a:endParaRPr lang="en-IN" sz="12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demop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partial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FirstName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Age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200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0FEE307-8A55-4528-9D9A-3C5E8D3AA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06" y="4105169"/>
            <a:ext cx="3190194" cy="25853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 err="1">
                <a:solidFill>
                  <a:srgbClr val="181717"/>
                </a:solidFill>
                <a:latin typeface="Verdana" panose="020B0604030504040204" pitchFamily="34" charset="0"/>
              </a:rPr>
              <a:t>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mprop.cs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 contains properties of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181717"/>
              </a:solidFill>
              <a:latin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Employee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 class, and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181717"/>
              </a:solidFill>
              <a:latin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 err="1">
                <a:solidFill>
                  <a:srgbClr val="000000"/>
                </a:solidFill>
                <a:latin typeface="SFMono-Regular"/>
              </a:rPr>
              <a:t>emp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.cs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 contains all the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181717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methods of the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Employee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 class.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181717"/>
              </a:solidFill>
              <a:latin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181717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181717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 These will be compiled as one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Employee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 class.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181717"/>
              </a:solidFill>
              <a:latin typeface="Verdana" panose="020B060403050404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719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62499-1A50-4D4D-9169-4F4377F18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0"/>
            <a:ext cx="8229600" cy="4525963"/>
          </a:xfrm>
        </p:spPr>
        <p:txBody>
          <a:bodyPr>
            <a:norm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Rule of partial class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sz="1200" b="1" i="0" dirty="0">
              <a:solidFill>
                <a:srgbClr val="181717"/>
              </a:solidFill>
              <a:effectLst/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All the partial class definitions must be in the same assembly and </a:t>
            </a:r>
            <a:r>
              <a:rPr lang="en-US" sz="1200" b="0" i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namespace.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200" b="0" i="0" dirty="0">
              <a:solidFill>
                <a:srgbClr val="181717"/>
              </a:solidFill>
              <a:effectLst/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All the parts must have the same accessibility like public or private, etc.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51941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4E630-CB12-4813-8728-2914DCDF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99103"/>
            <a:ext cx="8534400" cy="884903"/>
          </a:xfrm>
        </p:spPr>
        <p:txBody>
          <a:bodyPr/>
          <a:lstStyle/>
          <a:p>
            <a:r>
              <a:rPr lang="en-IN" dirty="0"/>
              <a:t>dynamic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7ABE3-FDE6-432F-9343-F7D252BF8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+mj-lt"/>
              </a:rPr>
              <a:t>.NET 4.0 introduced a new keyword to the C# language, specifically, dynamic.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 This keyword allows you to incorporate scripting-like behaviors into the strongly typed world of type safety, semicolons, and curly brackets.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 Using this loose typing, you can greatly simplify some complex coding tasks and also gain the ability to interoperate with a number of dynamic languages (such as </a:t>
            </a:r>
            <a:r>
              <a:rPr lang="en-US" sz="1600" dirty="0" err="1">
                <a:latin typeface="+mj-lt"/>
              </a:rPr>
              <a:t>IronRuby</a:t>
            </a:r>
            <a:r>
              <a:rPr lang="en-US" sz="1600" dirty="0">
                <a:latin typeface="+mj-lt"/>
              </a:rPr>
              <a:t> or </a:t>
            </a:r>
            <a:r>
              <a:rPr lang="en-US" sz="1600" dirty="0" err="1">
                <a:latin typeface="+mj-lt"/>
              </a:rPr>
              <a:t>IronPython</a:t>
            </a:r>
            <a:r>
              <a:rPr lang="en-US" sz="1600" dirty="0">
                <a:latin typeface="+mj-lt"/>
              </a:rPr>
              <a:t>), which are .NET savvy.</a:t>
            </a:r>
          </a:p>
          <a:p>
            <a:r>
              <a:rPr lang="en-US" sz="1600" dirty="0">
                <a:latin typeface="+mj-lt"/>
              </a:rPr>
              <a:t>It resolves at runtime.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string </a:t>
            </a:r>
            <a:r>
              <a:rPr lang="en-US" sz="1600" dirty="0" err="1">
                <a:latin typeface="+mj-lt"/>
              </a:rPr>
              <a:t>firstName</a:t>
            </a:r>
            <a:r>
              <a:rPr lang="en-US" sz="1600" dirty="0">
                <a:latin typeface="+mj-lt"/>
              </a:rPr>
              <a:t>="Vita";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 err="1">
                <a:latin typeface="+mj-lt"/>
              </a:rPr>
              <a:t>firstName.ToUpper</a:t>
            </a:r>
            <a:r>
              <a:rPr lang="en-US" sz="1600" dirty="0">
                <a:latin typeface="+mj-lt"/>
              </a:rPr>
              <a:t>() //this  is library function convert string  to uppercase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Now </a:t>
            </a:r>
          </a:p>
          <a:p>
            <a:r>
              <a:rPr lang="en-US" sz="1600" dirty="0">
                <a:latin typeface="+mj-lt"/>
              </a:rPr>
              <a:t> </a:t>
            </a:r>
            <a:r>
              <a:rPr lang="en-US" sz="1600" b="1" dirty="0">
                <a:latin typeface="+mj-lt"/>
              </a:rPr>
              <a:t>dynamic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firstName</a:t>
            </a:r>
            <a:r>
              <a:rPr lang="en-US" sz="1600" dirty="0">
                <a:latin typeface="+mj-lt"/>
              </a:rPr>
              <a:t>="Vita";</a:t>
            </a:r>
          </a:p>
          <a:p>
            <a:r>
              <a:rPr lang="en-US" sz="1600" dirty="0" err="1">
                <a:latin typeface="+mj-lt"/>
              </a:rPr>
              <a:t>firstName.Toupper</a:t>
            </a:r>
            <a:r>
              <a:rPr lang="en-US" sz="1600" dirty="0">
                <a:latin typeface="+mj-lt"/>
              </a:rPr>
              <a:t>() //observe U small case ,raise only runtime error as this will resolves at runtime</a:t>
            </a:r>
          </a:p>
          <a:p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03982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26C6E-EB6B-405A-85D4-5FA666C47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dirty="0"/>
              <a:t>Dynamic languages/runtimes </a:t>
            </a:r>
            <a:r>
              <a:rPr lang="en-US" sz="2400" dirty="0" err="1"/>
              <a:t>doprovide</a:t>
            </a:r>
            <a:r>
              <a:rPr lang="en-US" sz="2400" dirty="0"/>
              <a:t> some interesting features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672CC-770F-4D5B-B62F-A969DEEB2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07806"/>
            <a:ext cx="8763000" cy="4525963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dirty="0"/>
              <a:t> An extremely flexible code base. You can refactor code without making numerous changes to data types.</a:t>
            </a:r>
          </a:p>
          <a:p>
            <a:endParaRPr lang="en-US" dirty="0"/>
          </a:p>
          <a:p>
            <a:r>
              <a:rPr lang="en-US" dirty="0"/>
              <a:t> A very simple way to interoperate with diverse object types built in different platforms and programming languages.</a:t>
            </a:r>
          </a:p>
          <a:p>
            <a:endParaRPr lang="en-US" dirty="0"/>
          </a:p>
          <a:p>
            <a:r>
              <a:rPr lang="en-US" dirty="0"/>
              <a:t>A way to add or remove members to a type, in memory, at runtime.</a:t>
            </a:r>
          </a:p>
          <a:p>
            <a:endParaRPr lang="en-US" dirty="0"/>
          </a:p>
          <a:p>
            <a:r>
              <a:rPr lang="en-US" dirty="0"/>
              <a:t>One role of the DLR is to enable various dynamic languages to run with the .NET runtime and give them a way to interoperate with other .NET code. </a:t>
            </a:r>
          </a:p>
          <a:p>
            <a:endParaRPr lang="en-US" dirty="0"/>
          </a:p>
          <a:p>
            <a:r>
              <a:rPr lang="en-US" dirty="0"/>
              <a:t>Two popular dynamic languages that make use of the DLR are </a:t>
            </a:r>
            <a:r>
              <a:rPr lang="en-US" dirty="0" err="1"/>
              <a:t>IronPython</a:t>
            </a:r>
            <a:r>
              <a:rPr lang="en-US" dirty="0"/>
              <a:t> and </a:t>
            </a:r>
            <a:r>
              <a:rPr lang="en-US" dirty="0" err="1"/>
              <a:t>IronRuby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These languages live in a dynamic universe, where type is discovered solely at runtime. And yet, these languages have access to the richness of the .NET base class libraries.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Even better, their codebases can interoperate with C# (or vice versa), thanks to the inclusion of the           dynamic keyword.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3011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039E0-74BD-430F-BC2F-F83B2D2C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j-lt"/>
              </a:rPr>
              <a:t>Limitations of the dynamic Keyword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3E79-669D-4DEC-B9CA-FEB1F1056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200" dirty="0">
                <a:latin typeface="+mj-lt"/>
              </a:rPr>
              <a:t>Limitations of the dynamic Keyword While a great many things can be defined using the dynamic keyword, there are some limitations regarding its usage. While they are not show-stoppers, do know that a dynamic data item cannot make use of lambda expressions or C# anonymous methods when calling a method. </a:t>
            </a:r>
          </a:p>
          <a:p>
            <a:endParaRPr lang="en-US" sz="3200" dirty="0">
              <a:latin typeface="+mj-lt"/>
            </a:endParaRPr>
          </a:p>
          <a:p>
            <a:r>
              <a:rPr lang="en-US" sz="3200" dirty="0">
                <a:latin typeface="+mj-lt"/>
              </a:rPr>
              <a:t>For example, the  :following code will always result in errors, even if the target method does indeed take a delegate  parameter that takes a string value and returns void.</a:t>
            </a:r>
          </a:p>
          <a:p>
            <a:r>
              <a:rPr lang="en-US" sz="3200" dirty="0">
                <a:latin typeface="+mj-lt"/>
              </a:rPr>
              <a:t> dynamic a = </a:t>
            </a:r>
            <a:r>
              <a:rPr lang="en-US" sz="3200" dirty="0" err="1">
                <a:latin typeface="+mj-lt"/>
              </a:rPr>
              <a:t>GetDynamicObject</a:t>
            </a:r>
            <a:r>
              <a:rPr lang="en-US" sz="3200" dirty="0">
                <a:latin typeface="+mj-lt"/>
              </a:rPr>
              <a:t>();</a:t>
            </a:r>
          </a:p>
          <a:p>
            <a:r>
              <a:rPr lang="en-US" sz="3200" dirty="0">
                <a:latin typeface="+mj-lt"/>
              </a:rPr>
              <a:t>// Error! Methods on dynamic data can't use lambdas!</a:t>
            </a:r>
          </a:p>
          <a:p>
            <a:r>
              <a:rPr lang="en-US" sz="3200" dirty="0" err="1">
                <a:latin typeface="+mj-lt"/>
              </a:rPr>
              <a:t>a.Method</a:t>
            </a:r>
            <a:r>
              <a:rPr lang="en-US" sz="3200" dirty="0">
                <a:latin typeface="+mj-lt"/>
              </a:rPr>
              <a:t>(</a:t>
            </a:r>
            <a:r>
              <a:rPr lang="en-US" sz="3200" dirty="0" err="1">
                <a:latin typeface="+mj-lt"/>
              </a:rPr>
              <a:t>arg</a:t>
            </a:r>
            <a:r>
              <a:rPr lang="en-US" sz="3200" dirty="0">
                <a:latin typeface="+mj-lt"/>
              </a:rPr>
              <a:t> =&gt; </a:t>
            </a:r>
            <a:r>
              <a:rPr lang="en-US" sz="3200" dirty="0" err="1">
                <a:latin typeface="+mj-lt"/>
              </a:rPr>
              <a:t>Console.WriteLine</a:t>
            </a:r>
            <a:r>
              <a:rPr lang="en-US" sz="3200" dirty="0">
                <a:latin typeface="+mj-lt"/>
              </a:rPr>
              <a:t>(</a:t>
            </a:r>
            <a:r>
              <a:rPr lang="en-US" sz="3200" dirty="0" err="1">
                <a:latin typeface="+mj-lt"/>
              </a:rPr>
              <a:t>arg</a:t>
            </a:r>
            <a:r>
              <a:rPr lang="en-US" sz="3200" dirty="0">
                <a:latin typeface="+mj-lt"/>
              </a:rPr>
              <a:t>));</a:t>
            </a:r>
            <a:endParaRPr lang="en-IN" sz="3200" dirty="0">
              <a:latin typeface="+mj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525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F07D-1DAD-42FC-8BE6-41810443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60337"/>
            <a:ext cx="8305800" cy="571500"/>
          </a:xfrm>
        </p:spPr>
        <p:txBody>
          <a:bodyPr>
            <a:normAutofit fontScale="90000"/>
          </a:bodyPr>
          <a:lstStyle/>
          <a:p>
            <a:r>
              <a:rPr lang="en-IN" dirty="0"/>
              <a:t>Dynamic var Object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CE97E74-F4A2-4411-8CF8-573F39628A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002234"/>
              </p:ext>
            </p:extLst>
          </p:nvPr>
        </p:nvGraphicFramePr>
        <p:xfrm>
          <a:off x="0" y="824610"/>
          <a:ext cx="9525000" cy="5761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878756785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898643957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580112016"/>
                    </a:ext>
                  </a:extLst>
                </a:gridCol>
              </a:tblGrid>
              <a:tr h="383388">
                <a:tc>
                  <a:txBody>
                    <a:bodyPr/>
                    <a:lstStyle/>
                    <a:p>
                      <a:r>
                        <a:rPr lang="en-IN" sz="1200" dirty="0"/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dynamic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748638"/>
                  </a:ext>
                </a:extLst>
              </a:tr>
              <a:tr h="897687">
                <a:tc>
                  <a:txBody>
                    <a:bodyPr/>
                    <a:lstStyle/>
                    <a:p>
                      <a:r>
                        <a:rPr lang="en-IN" sz="1200" dirty="0"/>
                        <a:t>Resolves </a:t>
                      </a:r>
                      <a:r>
                        <a:rPr lang="en-IN" sz="1200" dirty="0" err="1"/>
                        <a:t>dtatatype</a:t>
                      </a:r>
                      <a:r>
                        <a:rPr lang="en-IN" sz="1200" dirty="0"/>
                        <a:t> at compile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Resolves data type at compile time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Resolves at Runtime time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008745"/>
                  </a:ext>
                </a:extLst>
              </a:tr>
              <a:tr h="383388">
                <a:tc>
                  <a:txBody>
                    <a:bodyPr/>
                    <a:lstStyle/>
                    <a:p>
                      <a:r>
                        <a:rPr lang="en-IN" sz="1200" dirty="0"/>
                        <a:t>Can point to any data but once assign can not change datatype.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Can point to any data and once assign can point to any </a:t>
                      </a:r>
                      <a:r>
                        <a:rPr lang="en-IN" sz="1200" dirty="0" err="1"/>
                        <a:t>anothr</a:t>
                      </a:r>
                      <a:r>
                        <a:rPr lang="en-IN" sz="1200" dirty="0"/>
                        <a:t> data  as it is parent of all types.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Can point to any data and once assign can change and hold </a:t>
                      </a:r>
                      <a:r>
                        <a:rPr lang="en-IN" sz="1200" dirty="0" err="1"/>
                        <a:t>aother</a:t>
                      </a:r>
                      <a:r>
                        <a:rPr lang="en-IN" sz="1200" dirty="0"/>
                        <a:t> type of data also as it resolves at run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282651"/>
                  </a:ext>
                </a:extLst>
              </a:tr>
              <a:tr h="383388">
                <a:tc>
                  <a:txBody>
                    <a:bodyPr/>
                    <a:lstStyle/>
                    <a:p>
                      <a:r>
                        <a:rPr lang="en-IN" sz="1200" dirty="0" err="1"/>
                        <a:t>Eg.</a:t>
                      </a:r>
                      <a:r>
                        <a:rPr lang="en-IN" sz="1200" dirty="0"/>
                        <a:t> var a=5;</a:t>
                      </a:r>
                    </a:p>
                    <a:p>
                      <a:r>
                        <a:rPr lang="en-IN" sz="1200" dirty="0"/>
                        <a:t>a=9; //allowed</a:t>
                      </a:r>
                    </a:p>
                    <a:p>
                      <a:r>
                        <a:rPr lang="en-IN" sz="1200" dirty="0"/>
                        <a:t>a=“hi” //error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Object </a:t>
                      </a:r>
                      <a:r>
                        <a:rPr lang="en-IN" sz="1200" dirty="0" err="1"/>
                        <a:t>ob</a:t>
                      </a:r>
                      <a:r>
                        <a:rPr lang="en-IN" sz="1200" dirty="0"/>
                        <a:t>=new Emp();</a:t>
                      </a:r>
                    </a:p>
                    <a:p>
                      <a:r>
                        <a:rPr lang="en-IN" sz="1200" dirty="0"/>
                        <a:t>Ob=99;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Dynamic dd=“hi”;</a:t>
                      </a:r>
                    </a:p>
                    <a:p>
                      <a:r>
                        <a:rPr lang="en-IN" sz="1200" dirty="0"/>
                        <a:t>dd=99; //allowed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831600"/>
                  </a:ext>
                </a:extLst>
              </a:tr>
              <a:tr h="383388">
                <a:tc>
                  <a:txBody>
                    <a:bodyPr/>
                    <a:lstStyle/>
                    <a:p>
                      <a:r>
                        <a:rPr lang="en-IN" sz="1200" dirty="0"/>
                        <a:t>Only local variable can be declare as var</a:t>
                      </a:r>
                    </a:p>
                    <a:p>
                      <a:r>
                        <a:rPr lang="en-IN" sz="1200" dirty="0"/>
                        <a:t>It can not be used for</a:t>
                      </a:r>
                    </a:p>
                    <a:p>
                      <a:r>
                        <a:rPr lang="en-IN" sz="1200" dirty="0"/>
                        <a:t>Method parameter, return type</a:t>
                      </a:r>
                    </a:p>
                    <a:p>
                      <a:r>
                        <a:rPr lang="en-IN" sz="1200" dirty="0"/>
                        <a:t>Instance member,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Can be used every where </a:t>
                      </a:r>
                      <a:r>
                        <a:rPr lang="en-IN" sz="1200" dirty="0" err="1"/>
                        <a:t>ie</a:t>
                      </a:r>
                      <a:r>
                        <a:rPr lang="en-IN" sz="1200" dirty="0"/>
                        <a:t>. Instance member, local variable,</a:t>
                      </a:r>
                    </a:p>
                    <a:p>
                      <a:r>
                        <a:rPr lang="en-IN" sz="1200" dirty="0"/>
                        <a:t>Method return type etc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Can be used every where.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741725"/>
                  </a:ext>
                </a:extLst>
              </a:tr>
              <a:tr h="383388">
                <a:tc>
                  <a:txBody>
                    <a:bodyPr/>
                    <a:lstStyle/>
                    <a:p>
                      <a:r>
                        <a:rPr lang="en-IN" sz="1200" dirty="0"/>
                        <a:t>When you use . DOT operator intelligence will display list of method associated with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When you use . DOT operator intelligence will display list of method associated with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When you use . DOT operator intelligence will not  display list of method associated with it as it read data at run time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893294"/>
                  </a:ext>
                </a:extLst>
              </a:tr>
              <a:tr h="383388">
                <a:tc>
                  <a:txBody>
                    <a:bodyPr/>
                    <a:lstStyle/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116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006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88C9B-33F8-4540-A42C-56D33BE980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66" t="45555" r="65000" b="24815"/>
          <a:stretch/>
        </p:blipFill>
        <p:spPr>
          <a:xfrm>
            <a:off x="4262284" y="0"/>
            <a:ext cx="4663440" cy="25207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01BCAB-47B9-44D4-B43A-EAB92C2EE7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00" t="47037" r="46667" b="32222"/>
          <a:stretch/>
        </p:blipFill>
        <p:spPr>
          <a:xfrm>
            <a:off x="218276" y="2520778"/>
            <a:ext cx="6324600" cy="17027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857873-EFC7-4125-BF2C-B496399735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00" t="47037" r="61667" b="35185"/>
          <a:stretch/>
        </p:blipFill>
        <p:spPr>
          <a:xfrm>
            <a:off x="904076" y="4522177"/>
            <a:ext cx="5638800" cy="1828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674C50-0BC2-43F0-A66B-C022E5672668}"/>
              </a:ext>
            </a:extLst>
          </p:cNvPr>
          <p:cNvSpPr txBox="1"/>
          <p:nvPr/>
        </p:nvSpPr>
        <p:spPr>
          <a:xfrm>
            <a:off x="6781800" y="441960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dynamic c=“hi”</a:t>
            </a:r>
          </a:p>
          <a:p>
            <a:r>
              <a:rPr lang="en-IN" dirty="0"/>
              <a:t>c=9;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10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2186</Words>
  <Application>Microsoft Office PowerPoint</Application>
  <PresentationFormat>On-screen Show (4:3)</PresentationFormat>
  <Paragraphs>229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Arial</vt:lpstr>
      <vt:lpstr>Calibri</vt:lpstr>
      <vt:lpstr>Cambria</vt:lpstr>
      <vt:lpstr>Cascadia Mono</vt:lpstr>
      <vt:lpstr>Consolas</vt:lpstr>
      <vt:lpstr>Garamond</vt:lpstr>
      <vt:lpstr>Segoe UI</vt:lpstr>
      <vt:lpstr>SFMono-Regular</vt:lpstr>
      <vt:lpstr>TheSansMonoConNormal</vt:lpstr>
      <vt:lpstr>Trebuchet MS</vt:lpstr>
      <vt:lpstr>Utopia-Italic</vt:lpstr>
      <vt:lpstr>Utopia-Regular</vt:lpstr>
      <vt:lpstr>Verdana</vt:lpstr>
      <vt:lpstr>Office Theme</vt:lpstr>
      <vt:lpstr>PowerPoint Presentation</vt:lpstr>
      <vt:lpstr>PowerPoint Presentation</vt:lpstr>
      <vt:lpstr>PowerPoint Presentation</vt:lpstr>
      <vt:lpstr>How to set null to value type</vt:lpstr>
      <vt:lpstr>PowerPoint Presentation</vt:lpstr>
      <vt:lpstr>?? And ??=</vt:lpstr>
      <vt:lpstr>PowerPoint Presentation</vt:lpstr>
      <vt:lpstr> Partial Classes and Methods</vt:lpstr>
      <vt:lpstr>PowerPoint Presentation</vt:lpstr>
      <vt:lpstr>dynamic</vt:lpstr>
      <vt:lpstr>Dynamic languages/runtimes doprovide some interesting features</vt:lpstr>
      <vt:lpstr>Limitations of the dynamic Keyword</vt:lpstr>
      <vt:lpstr>Dynamic var Object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Handelling</dc:title>
  <dc:creator>Theory</dc:creator>
  <cp:lastModifiedBy>sriram mantri vidyanidhi infotech academy</cp:lastModifiedBy>
  <cp:revision>96</cp:revision>
  <dcterms:created xsi:type="dcterms:W3CDTF">2012-05-24T05:32:28Z</dcterms:created>
  <dcterms:modified xsi:type="dcterms:W3CDTF">2024-10-16T09:10:41Z</dcterms:modified>
</cp:coreProperties>
</file>