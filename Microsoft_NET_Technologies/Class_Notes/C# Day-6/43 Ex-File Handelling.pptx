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67" r:id="rId2"/>
    <p:sldId id="268" r:id="rId3"/>
    <p:sldId id="269" r:id="rId4"/>
    <p:sldId id="270" r:id="rId5"/>
    <p:sldId id="271" r:id="rId6"/>
    <p:sldId id="272" r:id="rId7"/>
    <p:sldId id="273" r:id="rId8"/>
    <p:sldId id="274" r:id="rId9"/>
    <p:sldId id="283" r:id="rId10"/>
    <p:sldId id="275" r:id="rId11"/>
    <p:sldId id="284" r:id="rId12"/>
    <p:sldId id="276" r:id="rId13"/>
    <p:sldId id="277" r:id="rId14"/>
    <p:sldId id="278" r:id="rId15"/>
    <p:sldId id="279" r:id="rId16"/>
    <p:sldId id="280" r:id="rId17"/>
    <p:sldId id="281" r:id="rId18"/>
    <p:sldId id="282" r:id="rId19"/>
    <p:sldId id="285" r:id="rId20"/>
    <p:sldId id="286"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7" d="100"/>
          <a:sy n="77" d="100"/>
        </p:scale>
        <p:origin x="1546" y="10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D91DD8-6337-4152-9341-6B1C5BDA1CFB}" type="datetimeFigureOut">
              <a:rPr lang="en-IN" smtClean="0"/>
              <a:t>29-10-2023</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C705A2-80DE-4E4C-B55B-F8D389912FBC}" type="slidenum">
              <a:rPr lang="en-IN" smtClean="0"/>
              <a:t>‹#›</a:t>
            </a:fld>
            <a:endParaRPr lang="en-IN"/>
          </a:p>
        </p:txBody>
      </p:sp>
    </p:spTree>
    <p:extLst>
      <p:ext uri="{BB962C8B-B14F-4D97-AF65-F5344CB8AC3E}">
        <p14:creationId xmlns:p14="http://schemas.microsoft.com/office/powerpoint/2010/main" val="26326982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6C705A2-80DE-4E4C-B55B-F8D389912FBC}" type="slidenum">
              <a:rPr lang="en-IN" smtClean="0"/>
              <a:t>10</a:t>
            </a:fld>
            <a:endParaRPr lang="en-IN"/>
          </a:p>
        </p:txBody>
      </p:sp>
    </p:spTree>
    <p:extLst>
      <p:ext uri="{BB962C8B-B14F-4D97-AF65-F5344CB8AC3E}">
        <p14:creationId xmlns:p14="http://schemas.microsoft.com/office/powerpoint/2010/main" val="8184672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6C705A2-80DE-4E4C-B55B-F8D389912FBC}" type="slidenum">
              <a:rPr lang="en-IN" smtClean="0"/>
              <a:t>12</a:t>
            </a:fld>
            <a:endParaRPr lang="en-IN"/>
          </a:p>
        </p:txBody>
      </p:sp>
    </p:spTree>
    <p:extLst>
      <p:ext uri="{BB962C8B-B14F-4D97-AF65-F5344CB8AC3E}">
        <p14:creationId xmlns:p14="http://schemas.microsoft.com/office/powerpoint/2010/main" val="14052091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049FE38-F050-47FC-972A-2C62A7FE0238}" type="datetimeFigureOut">
              <a:rPr lang="en-US" smtClean="0"/>
              <a:pPr/>
              <a:t>10/29/2023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49FE38-F050-47FC-972A-2C62A7FE0238}" type="datetimeFigureOut">
              <a:rPr lang="en-US" smtClean="0"/>
              <a:pPr/>
              <a:t>10/29/2023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49FE38-F050-47FC-972A-2C62A7FE0238}" type="datetimeFigureOut">
              <a:rPr lang="en-US" smtClean="0"/>
              <a:pPr/>
              <a:t>10/29/2023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049FE38-F050-47FC-972A-2C62A7FE0238}" type="datetimeFigureOut">
              <a:rPr lang="en-US" smtClean="0"/>
              <a:pPr/>
              <a:t>10/29/2023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049FE38-F050-47FC-972A-2C62A7FE0238}" type="datetimeFigureOut">
              <a:rPr lang="en-US" smtClean="0"/>
              <a:pPr/>
              <a:t>10/29/2023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049FE38-F050-47FC-972A-2C62A7FE0238}" type="datetimeFigureOut">
              <a:rPr lang="en-US" smtClean="0"/>
              <a:pPr/>
              <a:t>10/29/2023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49FE38-F050-47FC-972A-2C62A7FE0238}" type="datetimeFigureOut">
              <a:rPr lang="en-US" smtClean="0"/>
              <a:pPr/>
              <a:t>10/29/2023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49FE38-F050-47FC-972A-2C62A7FE0238}" type="datetimeFigureOut">
              <a:rPr lang="en-US" smtClean="0"/>
              <a:pPr/>
              <a:t>10/29/2023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49FE38-F050-47FC-972A-2C62A7FE0238}" type="datetimeFigureOut">
              <a:rPr lang="en-US" smtClean="0"/>
              <a:pPr/>
              <a:t>10/29/2023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49FE38-F050-47FC-972A-2C62A7FE0238}" type="datetimeFigureOut">
              <a:rPr lang="en-US" smtClean="0"/>
              <a:pPr/>
              <a:t>10/29/2023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49FE38-F050-47FC-972A-2C62A7FE0238}" type="datetimeFigureOut">
              <a:rPr lang="en-US" smtClean="0"/>
              <a:pPr/>
              <a:t>10/29/2023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49FE38-F050-47FC-972A-2C62A7FE0238}" type="datetimeFigureOut">
              <a:rPr lang="en-US" smtClean="0"/>
              <a:pPr/>
              <a:t>10/29/2023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750578-D8D6-4767-8C49-4EFFCBD988B0}" type="slidenum">
              <a:rPr lang="en-US" smtClean="0"/>
              <a:pPr/>
              <a:t>‹#›</a:t>
            </a:fld>
            <a:endParaRPr lang="en-US"/>
          </a:p>
        </p:txBody>
      </p:sp>
      <p:pic>
        <p:nvPicPr>
          <p:cNvPr id="8" name="Picture 7">
            <a:extLst>
              <a:ext uri="{FF2B5EF4-FFF2-40B4-BE49-F238E27FC236}">
                <a16:creationId xmlns:a16="http://schemas.microsoft.com/office/drawing/2014/main" id="{5F35BFC4-6EE2-4A43-98E9-146BD6B5190C}"/>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136" y="-120068"/>
            <a:ext cx="1282699" cy="857534"/>
          </a:xfrm>
          <a:prstGeom prst="rect">
            <a:avLst/>
          </a:prstGeom>
        </p:spPr>
      </p:pic>
      <p:sp>
        <p:nvSpPr>
          <p:cNvPr id="10" name="Rectangle 9">
            <a:extLst>
              <a:ext uri="{FF2B5EF4-FFF2-40B4-BE49-F238E27FC236}">
                <a16:creationId xmlns:a16="http://schemas.microsoft.com/office/drawing/2014/main" id="{1DC139F7-30EE-4C3C-BBF4-BAD32D2B5D66}"/>
              </a:ext>
            </a:extLst>
          </p:cNvPr>
          <p:cNvSpPr/>
          <p:nvPr userDrawn="1"/>
        </p:nvSpPr>
        <p:spPr>
          <a:xfrm>
            <a:off x="-73900" y="6568695"/>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314450" y="97155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1543050" y="3886201"/>
            <a:ext cx="2457450" cy="715581"/>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a:t>ketkiacharya</a:t>
            </a:r>
            <a:r>
              <a:rPr lang="en-IN" sz="1350" dirty="0"/>
              <a:t>.net@gmail.com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0DE3DB92-D65E-478F-8E15-08E985838432}"/>
              </a:ext>
            </a:extLst>
          </p:cNvPr>
          <p:cNvGrpSpPr/>
          <p:nvPr/>
        </p:nvGrpSpPr>
        <p:grpSpPr>
          <a:xfrm>
            <a:off x="990600" y="304800"/>
            <a:ext cx="6577668" cy="3371215"/>
            <a:chOff x="0" y="0"/>
            <a:chExt cx="5457599" cy="2674818"/>
          </a:xfrm>
        </p:grpSpPr>
        <p:sp>
          <p:nvSpPr>
            <p:cNvPr id="5" name="Rectangle 4">
              <a:extLst>
                <a:ext uri="{FF2B5EF4-FFF2-40B4-BE49-F238E27FC236}">
                  <a16:creationId xmlns:a16="http://schemas.microsoft.com/office/drawing/2014/main" id="{65F3F98A-4D48-45D3-A0F5-A117BBE68DE8}"/>
                </a:ext>
              </a:extLst>
            </p:cNvPr>
            <p:cNvSpPr/>
            <p:nvPr/>
          </p:nvSpPr>
          <p:spPr>
            <a:xfrm>
              <a:off x="0" y="200151"/>
              <a:ext cx="42144"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 </a:t>
              </a:r>
            </a:p>
          </p:txBody>
        </p:sp>
        <p:sp>
          <p:nvSpPr>
            <p:cNvPr id="6" name="Rectangle 5">
              <a:extLst>
                <a:ext uri="{FF2B5EF4-FFF2-40B4-BE49-F238E27FC236}">
                  <a16:creationId xmlns:a16="http://schemas.microsoft.com/office/drawing/2014/main" id="{AA966A82-1F21-4E70-814A-F0857F32A487}"/>
                </a:ext>
              </a:extLst>
            </p:cNvPr>
            <p:cNvSpPr/>
            <p:nvPr/>
          </p:nvSpPr>
          <p:spPr>
            <a:xfrm>
              <a:off x="0" y="485393"/>
              <a:ext cx="42144"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 </a:t>
              </a:r>
            </a:p>
          </p:txBody>
        </p:sp>
        <p:sp>
          <p:nvSpPr>
            <p:cNvPr id="7" name="Rectangle 6">
              <a:extLst>
                <a:ext uri="{FF2B5EF4-FFF2-40B4-BE49-F238E27FC236}">
                  <a16:creationId xmlns:a16="http://schemas.microsoft.com/office/drawing/2014/main" id="{5CB52950-8553-44FE-A743-F09D0E746EE8}"/>
                </a:ext>
              </a:extLst>
            </p:cNvPr>
            <p:cNvSpPr/>
            <p:nvPr/>
          </p:nvSpPr>
          <p:spPr>
            <a:xfrm>
              <a:off x="0" y="771905"/>
              <a:ext cx="42144"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 </a:t>
              </a:r>
            </a:p>
          </p:txBody>
        </p:sp>
        <p:sp>
          <p:nvSpPr>
            <p:cNvPr id="8" name="Rectangle 7">
              <a:extLst>
                <a:ext uri="{FF2B5EF4-FFF2-40B4-BE49-F238E27FC236}">
                  <a16:creationId xmlns:a16="http://schemas.microsoft.com/office/drawing/2014/main" id="{8332A7EC-B4FC-401B-8868-3FE5FB2F6E62}"/>
                </a:ext>
              </a:extLst>
            </p:cNvPr>
            <p:cNvSpPr/>
            <p:nvPr/>
          </p:nvSpPr>
          <p:spPr>
            <a:xfrm>
              <a:off x="0" y="1056893"/>
              <a:ext cx="42144"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 </a:t>
              </a:r>
            </a:p>
          </p:txBody>
        </p:sp>
        <p:sp>
          <p:nvSpPr>
            <p:cNvPr id="9" name="Rectangle 8">
              <a:extLst>
                <a:ext uri="{FF2B5EF4-FFF2-40B4-BE49-F238E27FC236}">
                  <a16:creationId xmlns:a16="http://schemas.microsoft.com/office/drawing/2014/main" id="{F8C0CE4B-CD35-4776-A405-34D0F004F086}"/>
                </a:ext>
              </a:extLst>
            </p:cNvPr>
            <p:cNvSpPr/>
            <p:nvPr/>
          </p:nvSpPr>
          <p:spPr>
            <a:xfrm>
              <a:off x="0" y="1343405"/>
              <a:ext cx="42144"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 </a:t>
              </a:r>
            </a:p>
          </p:txBody>
        </p:sp>
        <p:sp>
          <p:nvSpPr>
            <p:cNvPr id="10" name="Rectangle 9">
              <a:extLst>
                <a:ext uri="{FF2B5EF4-FFF2-40B4-BE49-F238E27FC236}">
                  <a16:creationId xmlns:a16="http://schemas.microsoft.com/office/drawing/2014/main" id="{6C123423-8D9E-4323-B29B-2AB765327BE5}"/>
                </a:ext>
              </a:extLst>
            </p:cNvPr>
            <p:cNvSpPr/>
            <p:nvPr/>
          </p:nvSpPr>
          <p:spPr>
            <a:xfrm>
              <a:off x="0" y="1628393"/>
              <a:ext cx="42144"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 </a:t>
              </a:r>
            </a:p>
          </p:txBody>
        </p:sp>
        <p:sp>
          <p:nvSpPr>
            <p:cNvPr id="11" name="Rectangle 10">
              <a:extLst>
                <a:ext uri="{FF2B5EF4-FFF2-40B4-BE49-F238E27FC236}">
                  <a16:creationId xmlns:a16="http://schemas.microsoft.com/office/drawing/2014/main" id="{9CC8146C-B8EE-4989-87DC-CC14B70E2970}"/>
                </a:ext>
              </a:extLst>
            </p:cNvPr>
            <p:cNvSpPr/>
            <p:nvPr/>
          </p:nvSpPr>
          <p:spPr>
            <a:xfrm>
              <a:off x="0" y="1914905"/>
              <a:ext cx="42144"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 </a:t>
              </a:r>
            </a:p>
          </p:txBody>
        </p:sp>
        <p:sp>
          <p:nvSpPr>
            <p:cNvPr id="12" name="Rectangle 11">
              <a:extLst>
                <a:ext uri="{FF2B5EF4-FFF2-40B4-BE49-F238E27FC236}">
                  <a16:creationId xmlns:a16="http://schemas.microsoft.com/office/drawing/2014/main" id="{0F03AA95-49C4-4BA3-8CCE-D443F5503564}"/>
                </a:ext>
              </a:extLst>
            </p:cNvPr>
            <p:cNvSpPr/>
            <p:nvPr/>
          </p:nvSpPr>
          <p:spPr>
            <a:xfrm>
              <a:off x="0" y="2199893"/>
              <a:ext cx="42144"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 </a:t>
              </a:r>
            </a:p>
          </p:txBody>
        </p:sp>
        <p:sp>
          <p:nvSpPr>
            <p:cNvPr id="13" name="Rectangle 12">
              <a:extLst>
                <a:ext uri="{FF2B5EF4-FFF2-40B4-BE49-F238E27FC236}">
                  <a16:creationId xmlns:a16="http://schemas.microsoft.com/office/drawing/2014/main" id="{FFED88E8-14C9-4AB5-9F9F-E0DFE2B44566}"/>
                </a:ext>
              </a:extLst>
            </p:cNvPr>
            <p:cNvSpPr/>
            <p:nvPr/>
          </p:nvSpPr>
          <p:spPr>
            <a:xfrm>
              <a:off x="0" y="2484881"/>
              <a:ext cx="42144"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 </a:t>
              </a:r>
            </a:p>
          </p:txBody>
        </p:sp>
        <p:sp>
          <p:nvSpPr>
            <p:cNvPr id="14" name="Shape 162">
              <a:extLst>
                <a:ext uri="{FF2B5EF4-FFF2-40B4-BE49-F238E27FC236}">
                  <a16:creationId xmlns:a16="http://schemas.microsoft.com/office/drawing/2014/main" id="{46163319-7547-449E-93CC-93B204065D7A}"/>
                </a:ext>
              </a:extLst>
            </p:cNvPr>
            <p:cNvSpPr/>
            <p:nvPr/>
          </p:nvSpPr>
          <p:spPr>
            <a:xfrm>
              <a:off x="1848815" y="0"/>
              <a:ext cx="594360" cy="264160"/>
            </a:xfrm>
            <a:custGeom>
              <a:avLst/>
              <a:gdLst/>
              <a:ahLst/>
              <a:cxnLst/>
              <a:rect l="0" t="0" r="0" b="0"/>
              <a:pathLst>
                <a:path w="594360" h="264160">
                  <a:moveTo>
                    <a:pt x="0" y="264160"/>
                  </a:moveTo>
                  <a:lnTo>
                    <a:pt x="594360" y="264160"/>
                  </a:lnTo>
                  <a:lnTo>
                    <a:pt x="594360" y="0"/>
                  </a:lnTo>
                  <a:lnTo>
                    <a:pt x="0" y="0"/>
                  </a:lnTo>
                  <a:close/>
                </a:path>
              </a:pathLst>
            </a:custGeom>
            <a:ln w="6350" cap="flat">
              <a:round/>
            </a:ln>
          </p:spPr>
          <p:style>
            <a:lnRef idx="1">
              <a:srgbClr val="000000"/>
            </a:lnRef>
            <a:fillRef idx="0">
              <a:srgbClr val="000000">
                <a:alpha val="0"/>
              </a:srgbClr>
            </a:fillRef>
            <a:effectRef idx="0">
              <a:scrgbClr r="0" g="0" b="0"/>
            </a:effectRef>
            <a:fontRef idx="none"/>
          </p:style>
          <p:txBody>
            <a:bodyPr/>
            <a:lstStyle/>
            <a:p>
              <a:endParaRPr lang="en-IN"/>
            </a:p>
          </p:txBody>
        </p:sp>
        <p:sp>
          <p:nvSpPr>
            <p:cNvPr id="15" name="Rectangle 14">
              <a:extLst>
                <a:ext uri="{FF2B5EF4-FFF2-40B4-BE49-F238E27FC236}">
                  <a16:creationId xmlns:a16="http://schemas.microsoft.com/office/drawing/2014/main" id="{66E9B4A0-9DEC-42C2-AA7D-34F9A5132B33}"/>
                </a:ext>
              </a:extLst>
            </p:cNvPr>
            <p:cNvSpPr/>
            <p:nvPr/>
          </p:nvSpPr>
          <p:spPr>
            <a:xfrm>
              <a:off x="1943430" y="76707"/>
              <a:ext cx="500130"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Object</a:t>
              </a:r>
            </a:p>
          </p:txBody>
        </p:sp>
        <p:sp>
          <p:nvSpPr>
            <p:cNvPr id="16" name="Rectangle 15">
              <a:extLst>
                <a:ext uri="{FF2B5EF4-FFF2-40B4-BE49-F238E27FC236}">
                  <a16:creationId xmlns:a16="http://schemas.microsoft.com/office/drawing/2014/main" id="{7962FB9C-7AE6-45FF-AC4D-77DFBC8FF814}"/>
                </a:ext>
              </a:extLst>
            </p:cNvPr>
            <p:cNvSpPr/>
            <p:nvPr/>
          </p:nvSpPr>
          <p:spPr>
            <a:xfrm>
              <a:off x="2318334" y="76707"/>
              <a:ext cx="42143"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 </a:t>
              </a:r>
            </a:p>
          </p:txBody>
        </p:sp>
        <p:sp>
          <p:nvSpPr>
            <p:cNvPr id="17" name="Shape 165">
              <a:extLst>
                <a:ext uri="{FF2B5EF4-FFF2-40B4-BE49-F238E27FC236}">
                  <a16:creationId xmlns:a16="http://schemas.microsoft.com/office/drawing/2014/main" id="{5F7A2C7E-9589-46C0-BEBC-AF1E59B80AA0}"/>
                </a:ext>
              </a:extLst>
            </p:cNvPr>
            <p:cNvSpPr/>
            <p:nvPr/>
          </p:nvSpPr>
          <p:spPr>
            <a:xfrm>
              <a:off x="2092655" y="274320"/>
              <a:ext cx="0" cy="208280"/>
            </a:xfrm>
            <a:custGeom>
              <a:avLst/>
              <a:gdLst/>
              <a:ahLst/>
              <a:cxnLst/>
              <a:rect l="0" t="0" r="0" b="0"/>
              <a:pathLst>
                <a:path h="208280">
                  <a:moveTo>
                    <a:pt x="0" y="0"/>
                  </a:moveTo>
                  <a:lnTo>
                    <a:pt x="0" y="208280"/>
                  </a:lnTo>
                </a:path>
              </a:pathLst>
            </a:custGeom>
            <a:ln w="6350" cap="flat">
              <a:miter lim="101600"/>
            </a:ln>
          </p:spPr>
          <p:style>
            <a:lnRef idx="1">
              <a:srgbClr val="4472C4"/>
            </a:lnRef>
            <a:fillRef idx="0">
              <a:srgbClr val="000000">
                <a:alpha val="0"/>
              </a:srgbClr>
            </a:fillRef>
            <a:effectRef idx="0">
              <a:scrgbClr r="0" g="0" b="0"/>
            </a:effectRef>
            <a:fontRef idx="none"/>
          </p:style>
          <p:txBody>
            <a:bodyPr/>
            <a:lstStyle/>
            <a:p>
              <a:endParaRPr lang="en-IN"/>
            </a:p>
          </p:txBody>
        </p:sp>
        <p:sp>
          <p:nvSpPr>
            <p:cNvPr id="18" name="Shape 166">
              <a:extLst>
                <a:ext uri="{FF2B5EF4-FFF2-40B4-BE49-F238E27FC236}">
                  <a16:creationId xmlns:a16="http://schemas.microsoft.com/office/drawing/2014/main" id="{15E2B8E2-43BD-48B2-A758-9AADEF96A7A6}"/>
                </a:ext>
              </a:extLst>
            </p:cNvPr>
            <p:cNvSpPr/>
            <p:nvPr/>
          </p:nvSpPr>
          <p:spPr>
            <a:xfrm>
              <a:off x="746455" y="482472"/>
              <a:ext cx="3022600" cy="15240"/>
            </a:xfrm>
            <a:custGeom>
              <a:avLst/>
              <a:gdLst/>
              <a:ahLst/>
              <a:cxnLst/>
              <a:rect l="0" t="0" r="0" b="0"/>
              <a:pathLst>
                <a:path w="3022600" h="15240">
                  <a:moveTo>
                    <a:pt x="0" y="0"/>
                  </a:moveTo>
                  <a:lnTo>
                    <a:pt x="3022600" y="15240"/>
                  </a:lnTo>
                </a:path>
              </a:pathLst>
            </a:custGeom>
            <a:ln w="6350" cap="flat">
              <a:miter lim="101600"/>
            </a:ln>
          </p:spPr>
          <p:style>
            <a:lnRef idx="1">
              <a:srgbClr val="4472C4"/>
            </a:lnRef>
            <a:fillRef idx="0">
              <a:srgbClr val="000000">
                <a:alpha val="0"/>
              </a:srgbClr>
            </a:fillRef>
            <a:effectRef idx="0">
              <a:scrgbClr r="0" g="0" b="0"/>
            </a:effectRef>
            <a:fontRef idx="none"/>
          </p:style>
          <p:txBody>
            <a:bodyPr/>
            <a:lstStyle/>
            <a:p>
              <a:endParaRPr lang="en-IN"/>
            </a:p>
          </p:txBody>
        </p:sp>
        <p:sp>
          <p:nvSpPr>
            <p:cNvPr id="19" name="Shape 167">
              <a:extLst>
                <a:ext uri="{FF2B5EF4-FFF2-40B4-BE49-F238E27FC236}">
                  <a16:creationId xmlns:a16="http://schemas.microsoft.com/office/drawing/2014/main" id="{AEE77DA3-0E3B-45FE-8157-23A6C1DF57E0}"/>
                </a:ext>
              </a:extLst>
            </p:cNvPr>
            <p:cNvSpPr/>
            <p:nvPr/>
          </p:nvSpPr>
          <p:spPr>
            <a:xfrm>
              <a:off x="741375" y="482472"/>
              <a:ext cx="5080" cy="259080"/>
            </a:xfrm>
            <a:custGeom>
              <a:avLst/>
              <a:gdLst/>
              <a:ahLst/>
              <a:cxnLst/>
              <a:rect l="0" t="0" r="0" b="0"/>
              <a:pathLst>
                <a:path w="5080" h="259080">
                  <a:moveTo>
                    <a:pt x="0" y="0"/>
                  </a:moveTo>
                  <a:lnTo>
                    <a:pt x="5080" y="259080"/>
                  </a:lnTo>
                </a:path>
              </a:pathLst>
            </a:custGeom>
            <a:ln w="6350" cap="flat">
              <a:miter lim="101600"/>
            </a:ln>
          </p:spPr>
          <p:style>
            <a:lnRef idx="1">
              <a:srgbClr val="4472C4"/>
            </a:lnRef>
            <a:fillRef idx="0">
              <a:srgbClr val="000000">
                <a:alpha val="0"/>
              </a:srgbClr>
            </a:fillRef>
            <a:effectRef idx="0">
              <a:scrgbClr r="0" g="0" b="0"/>
            </a:effectRef>
            <a:fontRef idx="none"/>
          </p:style>
          <p:txBody>
            <a:bodyPr/>
            <a:lstStyle/>
            <a:p>
              <a:endParaRPr lang="en-IN"/>
            </a:p>
          </p:txBody>
        </p:sp>
        <p:sp>
          <p:nvSpPr>
            <p:cNvPr id="20" name="Shape 169">
              <a:extLst>
                <a:ext uri="{FF2B5EF4-FFF2-40B4-BE49-F238E27FC236}">
                  <a16:creationId xmlns:a16="http://schemas.microsoft.com/office/drawing/2014/main" id="{66031EC3-E457-4CC6-922E-36114330EEFD}"/>
                </a:ext>
              </a:extLst>
            </p:cNvPr>
            <p:cNvSpPr/>
            <p:nvPr/>
          </p:nvSpPr>
          <p:spPr>
            <a:xfrm>
              <a:off x="299415" y="751585"/>
              <a:ext cx="1036320" cy="508000"/>
            </a:xfrm>
            <a:custGeom>
              <a:avLst/>
              <a:gdLst/>
              <a:ahLst/>
              <a:cxnLst/>
              <a:rect l="0" t="0" r="0" b="0"/>
              <a:pathLst>
                <a:path w="1036320" h="508000">
                  <a:moveTo>
                    <a:pt x="0" y="508000"/>
                  </a:moveTo>
                  <a:lnTo>
                    <a:pt x="1036320" y="508000"/>
                  </a:lnTo>
                  <a:lnTo>
                    <a:pt x="1036320" y="0"/>
                  </a:lnTo>
                  <a:lnTo>
                    <a:pt x="0" y="0"/>
                  </a:lnTo>
                  <a:close/>
                </a:path>
              </a:pathLst>
            </a:custGeom>
            <a:ln w="6350" cap="flat">
              <a:round/>
            </a:ln>
          </p:spPr>
          <p:style>
            <a:lnRef idx="1">
              <a:srgbClr val="000000"/>
            </a:lnRef>
            <a:fillRef idx="0">
              <a:srgbClr val="000000">
                <a:alpha val="0"/>
              </a:srgbClr>
            </a:fillRef>
            <a:effectRef idx="0">
              <a:scrgbClr r="0" g="0" b="0"/>
            </a:effectRef>
            <a:fontRef idx="none"/>
          </p:style>
          <p:txBody>
            <a:bodyPr/>
            <a:lstStyle/>
            <a:p>
              <a:endParaRPr lang="en-IN"/>
            </a:p>
          </p:txBody>
        </p:sp>
        <p:sp>
          <p:nvSpPr>
            <p:cNvPr id="21" name="Rectangle 20">
              <a:extLst>
                <a:ext uri="{FF2B5EF4-FFF2-40B4-BE49-F238E27FC236}">
                  <a16:creationId xmlns:a16="http://schemas.microsoft.com/office/drawing/2014/main" id="{7203BC75-1551-4949-8705-829B27338DAF}"/>
                </a:ext>
              </a:extLst>
            </p:cNvPr>
            <p:cNvSpPr/>
            <p:nvPr/>
          </p:nvSpPr>
          <p:spPr>
            <a:xfrm>
              <a:off x="394665" y="828293"/>
              <a:ext cx="522135"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Binary </a:t>
              </a:r>
            </a:p>
          </p:txBody>
        </p:sp>
        <p:sp>
          <p:nvSpPr>
            <p:cNvPr id="22" name="Rectangle 21">
              <a:extLst>
                <a:ext uri="{FF2B5EF4-FFF2-40B4-BE49-F238E27FC236}">
                  <a16:creationId xmlns:a16="http://schemas.microsoft.com/office/drawing/2014/main" id="{823B8714-F344-43F9-BC11-A5400E32D652}"/>
                </a:ext>
              </a:extLst>
            </p:cNvPr>
            <p:cNvSpPr/>
            <p:nvPr/>
          </p:nvSpPr>
          <p:spPr>
            <a:xfrm>
              <a:off x="394665" y="1012697"/>
              <a:ext cx="1102077"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Reader/Writer</a:t>
              </a:r>
            </a:p>
          </p:txBody>
        </p:sp>
        <p:sp>
          <p:nvSpPr>
            <p:cNvPr id="23" name="Rectangle 22">
              <a:extLst>
                <a:ext uri="{FF2B5EF4-FFF2-40B4-BE49-F238E27FC236}">
                  <a16:creationId xmlns:a16="http://schemas.microsoft.com/office/drawing/2014/main" id="{9AE7B74A-D9A0-42DF-9E93-8F093988FA91}"/>
                </a:ext>
              </a:extLst>
            </p:cNvPr>
            <p:cNvSpPr/>
            <p:nvPr/>
          </p:nvSpPr>
          <p:spPr>
            <a:xfrm>
              <a:off x="1222197" y="1012697"/>
              <a:ext cx="42144"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 </a:t>
              </a:r>
            </a:p>
          </p:txBody>
        </p:sp>
        <p:sp>
          <p:nvSpPr>
            <p:cNvPr id="24" name="Shape 173">
              <a:extLst>
                <a:ext uri="{FF2B5EF4-FFF2-40B4-BE49-F238E27FC236}">
                  <a16:creationId xmlns:a16="http://schemas.microsoft.com/office/drawing/2014/main" id="{C3216589-746E-4909-85D2-BD401289A31A}"/>
                </a:ext>
              </a:extLst>
            </p:cNvPr>
            <p:cNvSpPr/>
            <p:nvPr/>
          </p:nvSpPr>
          <p:spPr>
            <a:xfrm>
              <a:off x="3748736" y="533272"/>
              <a:ext cx="5080" cy="345440"/>
            </a:xfrm>
            <a:custGeom>
              <a:avLst/>
              <a:gdLst/>
              <a:ahLst/>
              <a:cxnLst/>
              <a:rect l="0" t="0" r="0" b="0"/>
              <a:pathLst>
                <a:path w="5080" h="345440">
                  <a:moveTo>
                    <a:pt x="5080" y="0"/>
                  </a:moveTo>
                  <a:lnTo>
                    <a:pt x="0" y="345440"/>
                  </a:lnTo>
                </a:path>
              </a:pathLst>
            </a:custGeom>
            <a:ln w="6350" cap="flat">
              <a:miter lim="101600"/>
            </a:ln>
          </p:spPr>
          <p:style>
            <a:lnRef idx="1">
              <a:srgbClr val="4472C4"/>
            </a:lnRef>
            <a:fillRef idx="0">
              <a:srgbClr val="000000">
                <a:alpha val="0"/>
              </a:srgbClr>
            </a:fillRef>
            <a:effectRef idx="0">
              <a:scrgbClr r="0" g="0" b="0"/>
            </a:effectRef>
            <a:fontRef idx="none"/>
          </p:style>
          <p:txBody>
            <a:bodyPr/>
            <a:lstStyle/>
            <a:p>
              <a:endParaRPr lang="en-IN"/>
            </a:p>
          </p:txBody>
        </p:sp>
        <p:sp>
          <p:nvSpPr>
            <p:cNvPr id="25" name="Shape 1868">
              <a:extLst>
                <a:ext uri="{FF2B5EF4-FFF2-40B4-BE49-F238E27FC236}">
                  <a16:creationId xmlns:a16="http://schemas.microsoft.com/office/drawing/2014/main" id="{DFC89164-3696-40A5-A1AB-3378E26E3C5D}"/>
                </a:ext>
              </a:extLst>
            </p:cNvPr>
            <p:cNvSpPr/>
            <p:nvPr/>
          </p:nvSpPr>
          <p:spPr>
            <a:xfrm>
              <a:off x="3108655" y="771905"/>
              <a:ext cx="1437640" cy="259080"/>
            </a:xfrm>
            <a:custGeom>
              <a:avLst/>
              <a:gdLst/>
              <a:ahLst/>
              <a:cxnLst/>
              <a:rect l="0" t="0" r="0" b="0"/>
              <a:pathLst>
                <a:path w="1437640" h="259080">
                  <a:moveTo>
                    <a:pt x="0" y="0"/>
                  </a:moveTo>
                  <a:lnTo>
                    <a:pt x="1437640" y="0"/>
                  </a:lnTo>
                  <a:lnTo>
                    <a:pt x="1437640" y="259080"/>
                  </a:lnTo>
                  <a:lnTo>
                    <a:pt x="0" y="259080"/>
                  </a:lnTo>
                  <a:lnTo>
                    <a:pt x="0" y="0"/>
                  </a:lnTo>
                </a:path>
              </a:pathLst>
            </a:custGeom>
            <a:ln w="0" cap="flat">
              <a:miter lim="101600"/>
            </a:ln>
          </p:spPr>
          <p:style>
            <a:lnRef idx="0">
              <a:srgbClr val="000000">
                <a:alpha val="0"/>
              </a:srgbClr>
            </a:lnRef>
            <a:fillRef idx="1">
              <a:srgbClr val="FFFFFF"/>
            </a:fillRef>
            <a:effectRef idx="0">
              <a:scrgbClr r="0" g="0" b="0"/>
            </a:effectRef>
            <a:fontRef idx="none"/>
          </p:style>
          <p:txBody>
            <a:bodyPr/>
            <a:lstStyle/>
            <a:p>
              <a:endParaRPr lang="en-IN"/>
            </a:p>
          </p:txBody>
        </p:sp>
        <p:sp>
          <p:nvSpPr>
            <p:cNvPr id="26" name="Shape 175">
              <a:extLst>
                <a:ext uri="{FF2B5EF4-FFF2-40B4-BE49-F238E27FC236}">
                  <a16:creationId xmlns:a16="http://schemas.microsoft.com/office/drawing/2014/main" id="{BF138306-DBD4-4D5E-AC3B-A9FCC4799C61}"/>
                </a:ext>
              </a:extLst>
            </p:cNvPr>
            <p:cNvSpPr/>
            <p:nvPr/>
          </p:nvSpPr>
          <p:spPr>
            <a:xfrm>
              <a:off x="3108655" y="771905"/>
              <a:ext cx="1437640" cy="259080"/>
            </a:xfrm>
            <a:custGeom>
              <a:avLst/>
              <a:gdLst/>
              <a:ahLst/>
              <a:cxnLst/>
              <a:rect l="0" t="0" r="0" b="0"/>
              <a:pathLst>
                <a:path w="1437640" h="259080">
                  <a:moveTo>
                    <a:pt x="0" y="259080"/>
                  </a:moveTo>
                  <a:lnTo>
                    <a:pt x="1437640" y="259080"/>
                  </a:lnTo>
                  <a:lnTo>
                    <a:pt x="1437640" y="0"/>
                  </a:lnTo>
                  <a:lnTo>
                    <a:pt x="0" y="0"/>
                  </a:lnTo>
                  <a:close/>
                </a:path>
              </a:pathLst>
            </a:custGeom>
            <a:ln w="6350" cap="flat">
              <a:round/>
            </a:ln>
          </p:spPr>
          <p:style>
            <a:lnRef idx="1">
              <a:srgbClr val="000000"/>
            </a:lnRef>
            <a:fillRef idx="0">
              <a:srgbClr val="000000">
                <a:alpha val="0"/>
              </a:srgbClr>
            </a:fillRef>
            <a:effectRef idx="0">
              <a:scrgbClr r="0" g="0" b="0"/>
            </a:effectRef>
            <a:fontRef idx="none"/>
          </p:style>
          <p:txBody>
            <a:bodyPr/>
            <a:lstStyle/>
            <a:p>
              <a:endParaRPr lang="en-IN"/>
            </a:p>
          </p:txBody>
        </p:sp>
        <p:sp>
          <p:nvSpPr>
            <p:cNvPr id="27" name="Shape 1869">
              <a:extLst>
                <a:ext uri="{FF2B5EF4-FFF2-40B4-BE49-F238E27FC236}">
                  <a16:creationId xmlns:a16="http://schemas.microsoft.com/office/drawing/2014/main" id="{2AAA21A4-DCAB-4408-BA67-DA1C30B3BE3A}"/>
                </a:ext>
              </a:extLst>
            </p:cNvPr>
            <p:cNvSpPr/>
            <p:nvPr/>
          </p:nvSpPr>
          <p:spPr>
            <a:xfrm>
              <a:off x="3204032" y="820674"/>
              <a:ext cx="1194816" cy="141732"/>
            </a:xfrm>
            <a:custGeom>
              <a:avLst/>
              <a:gdLst/>
              <a:ahLst/>
              <a:cxnLst/>
              <a:rect l="0" t="0" r="0" b="0"/>
              <a:pathLst>
                <a:path w="1194816" h="141732">
                  <a:moveTo>
                    <a:pt x="0" y="0"/>
                  </a:moveTo>
                  <a:lnTo>
                    <a:pt x="1194816" y="0"/>
                  </a:lnTo>
                  <a:lnTo>
                    <a:pt x="1194816" y="141732"/>
                  </a:lnTo>
                  <a:lnTo>
                    <a:pt x="0" y="141732"/>
                  </a:lnTo>
                  <a:lnTo>
                    <a:pt x="0" y="0"/>
                  </a:lnTo>
                </a:path>
              </a:pathLst>
            </a:custGeom>
            <a:ln w="0" cap="flat">
              <a:round/>
            </a:ln>
          </p:spPr>
          <p:style>
            <a:lnRef idx="0">
              <a:srgbClr val="000000">
                <a:alpha val="0"/>
              </a:srgbClr>
            </a:lnRef>
            <a:fillRef idx="1">
              <a:srgbClr val="FFFFFF"/>
            </a:fillRef>
            <a:effectRef idx="0">
              <a:scrgbClr r="0" g="0" b="0"/>
            </a:effectRef>
            <a:fontRef idx="none"/>
          </p:style>
          <p:txBody>
            <a:bodyPr/>
            <a:lstStyle/>
            <a:p>
              <a:endParaRPr lang="en-IN"/>
            </a:p>
          </p:txBody>
        </p:sp>
        <p:sp>
          <p:nvSpPr>
            <p:cNvPr id="28" name="Rectangle 27">
              <a:extLst>
                <a:ext uri="{FF2B5EF4-FFF2-40B4-BE49-F238E27FC236}">
                  <a16:creationId xmlns:a16="http://schemas.microsoft.com/office/drawing/2014/main" id="{01F4E9A6-FB94-44E1-80F2-963D8AB3949D}"/>
                </a:ext>
              </a:extLst>
            </p:cNvPr>
            <p:cNvSpPr/>
            <p:nvPr/>
          </p:nvSpPr>
          <p:spPr>
            <a:xfrm>
              <a:off x="3204032" y="842510"/>
              <a:ext cx="1586215" cy="159111"/>
            </a:xfrm>
            <a:prstGeom prst="rect">
              <a:avLst/>
            </a:prstGeom>
            <a:ln>
              <a:noFill/>
            </a:ln>
          </p:spPr>
          <p:txBody>
            <a:bodyPr vert="horz" lIns="0" tIns="0" rIns="0" bIns="0" rtlCol="0">
              <a:noAutofit/>
            </a:bodyPr>
            <a:lstStyle/>
            <a:p>
              <a:pPr marL="6350" indent="-6350">
                <a:lnSpc>
                  <a:spcPct val="107000"/>
                </a:lnSpc>
                <a:spcAft>
                  <a:spcPts val="800"/>
                </a:spcAft>
              </a:pPr>
              <a:r>
                <a:rPr lang="en-IN" sz="950" dirty="0" err="1">
                  <a:solidFill>
                    <a:srgbClr val="2B91AF"/>
                  </a:solidFill>
                  <a:effectLst/>
                  <a:latin typeface="Consolas" panose="020B0609020204030204" pitchFamily="49" charset="0"/>
                  <a:ea typeface="Consolas" panose="020B0609020204030204" pitchFamily="49" charset="0"/>
                  <a:cs typeface="Consolas" panose="020B0609020204030204" pitchFamily="49" charset="0"/>
                </a:rPr>
                <a:t>MarshalByRefObject</a:t>
              </a:r>
              <a:endParaRPr lang="en-IN" sz="1100" dirty="0">
                <a:solidFill>
                  <a:srgbClr val="000000"/>
                </a:solidFill>
                <a:effectLst/>
                <a:latin typeface="Calibri" panose="020F0502020204030204" pitchFamily="34" charset="0"/>
                <a:ea typeface="Calibri" panose="020F0502020204030204" pitchFamily="34" charset="0"/>
              </a:endParaRPr>
            </a:p>
          </p:txBody>
        </p:sp>
        <p:sp>
          <p:nvSpPr>
            <p:cNvPr id="29" name="Rectangle 28">
              <a:extLst>
                <a:ext uri="{FF2B5EF4-FFF2-40B4-BE49-F238E27FC236}">
                  <a16:creationId xmlns:a16="http://schemas.microsoft.com/office/drawing/2014/main" id="{B9E0C473-B9A5-4FA3-9E99-9008E8F87550}"/>
                </a:ext>
              </a:extLst>
            </p:cNvPr>
            <p:cNvSpPr/>
            <p:nvPr/>
          </p:nvSpPr>
          <p:spPr>
            <a:xfrm>
              <a:off x="4398849" y="826769"/>
              <a:ext cx="42143"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 </a:t>
              </a:r>
            </a:p>
          </p:txBody>
        </p:sp>
        <p:sp>
          <p:nvSpPr>
            <p:cNvPr id="30" name="Shape 179">
              <a:extLst>
                <a:ext uri="{FF2B5EF4-FFF2-40B4-BE49-F238E27FC236}">
                  <a16:creationId xmlns:a16="http://schemas.microsoft.com/office/drawing/2014/main" id="{7C2CA01C-7245-4D61-A7A2-0C3224AFE4CC}"/>
                </a:ext>
              </a:extLst>
            </p:cNvPr>
            <p:cNvSpPr/>
            <p:nvPr/>
          </p:nvSpPr>
          <p:spPr>
            <a:xfrm>
              <a:off x="3784295" y="1036573"/>
              <a:ext cx="0" cy="201930"/>
            </a:xfrm>
            <a:custGeom>
              <a:avLst/>
              <a:gdLst/>
              <a:ahLst/>
              <a:cxnLst/>
              <a:rect l="0" t="0" r="0" b="0"/>
              <a:pathLst>
                <a:path h="201930">
                  <a:moveTo>
                    <a:pt x="0" y="0"/>
                  </a:moveTo>
                  <a:lnTo>
                    <a:pt x="0" y="201930"/>
                  </a:lnTo>
                </a:path>
              </a:pathLst>
            </a:custGeom>
            <a:ln w="6350" cap="flat">
              <a:miter lim="101600"/>
            </a:ln>
          </p:spPr>
          <p:style>
            <a:lnRef idx="1">
              <a:srgbClr val="4472C4"/>
            </a:lnRef>
            <a:fillRef idx="0">
              <a:srgbClr val="000000">
                <a:alpha val="0"/>
              </a:srgbClr>
            </a:fillRef>
            <a:effectRef idx="0">
              <a:scrgbClr r="0" g="0" b="0"/>
            </a:effectRef>
            <a:fontRef idx="none"/>
          </p:style>
          <p:txBody>
            <a:bodyPr/>
            <a:lstStyle/>
            <a:p>
              <a:endParaRPr lang="en-IN"/>
            </a:p>
          </p:txBody>
        </p:sp>
        <p:sp>
          <p:nvSpPr>
            <p:cNvPr id="31" name="Shape 180">
              <a:extLst>
                <a:ext uri="{FF2B5EF4-FFF2-40B4-BE49-F238E27FC236}">
                  <a16:creationId xmlns:a16="http://schemas.microsoft.com/office/drawing/2014/main" id="{C7339ABF-DD81-47C5-9A7A-9BDF2C01F29E}"/>
                </a:ext>
              </a:extLst>
            </p:cNvPr>
            <p:cNvSpPr/>
            <p:nvPr/>
          </p:nvSpPr>
          <p:spPr>
            <a:xfrm>
              <a:off x="2260295" y="1239773"/>
              <a:ext cx="2540000" cy="5080"/>
            </a:xfrm>
            <a:custGeom>
              <a:avLst/>
              <a:gdLst/>
              <a:ahLst/>
              <a:cxnLst/>
              <a:rect l="0" t="0" r="0" b="0"/>
              <a:pathLst>
                <a:path w="2540000" h="5080">
                  <a:moveTo>
                    <a:pt x="0" y="5080"/>
                  </a:moveTo>
                  <a:lnTo>
                    <a:pt x="2540000" y="0"/>
                  </a:lnTo>
                </a:path>
              </a:pathLst>
            </a:custGeom>
            <a:ln w="6350" cap="flat">
              <a:miter lim="101600"/>
            </a:ln>
          </p:spPr>
          <p:style>
            <a:lnRef idx="1">
              <a:srgbClr val="4472C4"/>
            </a:lnRef>
            <a:fillRef idx="0">
              <a:srgbClr val="000000">
                <a:alpha val="0"/>
              </a:srgbClr>
            </a:fillRef>
            <a:effectRef idx="0">
              <a:scrgbClr r="0" g="0" b="0"/>
            </a:effectRef>
            <a:fontRef idx="none"/>
          </p:style>
          <p:txBody>
            <a:bodyPr/>
            <a:lstStyle/>
            <a:p>
              <a:endParaRPr lang="en-IN"/>
            </a:p>
          </p:txBody>
        </p:sp>
        <p:sp>
          <p:nvSpPr>
            <p:cNvPr id="32" name="Shape 182">
              <a:extLst>
                <a:ext uri="{FF2B5EF4-FFF2-40B4-BE49-F238E27FC236}">
                  <a16:creationId xmlns:a16="http://schemas.microsoft.com/office/drawing/2014/main" id="{7C9359A1-C59F-409A-8402-FADCB1594F47}"/>
                </a:ext>
              </a:extLst>
            </p:cNvPr>
            <p:cNvSpPr/>
            <p:nvPr/>
          </p:nvSpPr>
          <p:spPr>
            <a:xfrm>
              <a:off x="1422095" y="1529207"/>
              <a:ext cx="975360" cy="279400"/>
            </a:xfrm>
            <a:custGeom>
              <a:avLst/>
              <a:gdLst/>
              <a:ahLst/>
              <a:cxnLst/>
              <a:rect l="0" t="0" r="0" b="0"/>
              <a:pathLst>
                <a:path w="975360" h="279400">
                  <a:moveTo>
                    <a:pt x="0" y="279400"/>
                  </a:moveTo>
                  <a:lnTo>
                    <a:pt x="975360" y="279400"/>
                  </a:lnTo>
                  <a:lnTo>
                    <a:pt x="975360" y="0"/>
                  </a:lnTo>
                  <a:lnTo>
                    <a:pt x="0" y="0"/>
                  </a:lnTo>
                  <a:close/>
                </a:path>
              </a:pathLst>
            </a:custGeom>
            <a:ln w="6350" cap="flat">
              <a:round/>
            </a:ln>
          </p:spPr>
          <p:style>
            <a:lnRef idx="1">
              <a:srgbClr val="000000"/>
            </a:lnRef>
            <a:fillRef idx="0">
              <a:srgbClr val="000000">
                <a:alpha val="0"/>
              </a:srgbClr>
            </a:fillRef>
            <a:effectRef idx="0">
              <a:scrgbClr r="0" g="0" b="0"/>
            </a:effectRef>
            <a:fontRef idx="none"/>
          </p:style>
          <p:txBody>
            <a:bodyPr/>
            <a:lstStyle/>
            <a:p>
              <a:endParaRPr lang="en-IN"/>
            </a:p>
          </p:txBody>
        </p:sp>
        <p:sp>
          <p:nvSpPr>
            <p:cNvPr id="33" name="Rectangle 32">
              <a:extLst>
                <a:ext uri="{FF2B5EF4-FFF2-40B4-BE49-F238E27FC236}">
                  <a16:creationId xmlns:a16="http://schemas.microsoft.com/office/drawing/2014/main" id="{4DC93334-FC79-4583-97D6-09007ADE7242}"/>
                </a:ext>
              </a:extLst>
            </p:cNvPr>
            <p:cNvSpPr/>
            <p:nvPr/>
          </p:nvSpPr>
          <p:spPr>
            <a:xfrm>
              <a:off x="1516710" y="1605533"/>
              <a:ext cx="865438"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TextReader</a:t>
              </a:r>
            </a:p>
          </p:txBody>
        </p:sp>
        <p:sp>
          <p:nvSpPr>
            <p:cNvPr id="34" name="Rectangle 33">
              <a:extLst>
                <a:ext uri="{FF2B5EF4-FFF2-40B4-BE49-F238E27FC236}">
                  <a16:creationId xmlns:a16="http://schemas.microsoft.com/office/drawing/2014/main" id="{69B009FD-B178-432A-9E37-DEB307707E4E}"/>
                </a:ext>
              </a:extLst>
            </p:cNvPr>
            <p:cNvSpPr/>
            <p:nvPr/>
          </p:nvSpPr>
          <p:spPr>
            <a:xfrm>
              <a:off x="2165934" y="1605533"/>
              <a:ext cx="42144"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 </a:t>
              </a:r>
            </a:p>
          </p:txBody>
        </p:sp>
        <p:sp>
          <p:nvSpPr>
            <p:cNvPr id="35" name="Shape 185">
              <a:extLst>
                <a:ext uri="{FF2B5EF4-FFF2-40B4-BE49-F238E27FC236}">
                  <a16:creationId xmlns:a16="http://schemas.microsoft.com/office/drawing/2014/main" id="{C7213B6C-8A45-40B1-9B91-D664A4DBA64F}"/>
                </a:ext>
              </a:extLst>
            </p:cNvPr>
            <p:cNvSpPr/>
            <p:nvPr/>
          </p:nvSpPr>
          <p:spPr>
            <a:xfrm>
              <a:off x="2270455" y="1244854"/>
              <a:ext cx="0" cy="284480"/>
            </a:xfrm>
            <a:custGeom>
              <a:avLst/>
              <a:gdLst/>
              <a:ahLst/>
              <a:cxnLst/>
              <a:rect l="0" t="0" r="0" b="0"/>
              <a:pathLst>
                <a:path h="284480">
                  <a:moveTo>
                    <a:pt x="0" y="0"/>
                  </a:moveTo>
                  <a:lnTo>
                    <a:pt x="0" y="284480"/>
                  </a:lnTo>
                </a:path>
              </a:pathLst>
            </a:custGeom>
            <a:ln w="6350" cap="flat">
              <a:miter lim="101600"/>
            </a:ln>
          </p:spPr>
          <p:style>
            <a:lnRef idx="1">
              <a:srgbClr val="4472C4"/>
            </a:lnRef>
            <a:fillRef idx="0">
              <a:srgbClr val="000000">
                <a:alpha val="0"/>
              </a:srgbClr>
            </a:fillRef>
            <a:effectRef idx="0">
              <a:scrgbClr r="0" g="0" b="0"/>
            </a:effectRef>
            <a:fontRef idx="none"/>
          </p:style>
          <p:txBody>
            <a:bodyPr/>
            <a:lstStyle/>
            <a:p>
              <a:endParaRPr lang="en-IN"/>
            </a:p>
          </p:txBody>
        </p:sp>
        <p:sp>
          <p:nvSpPr>
            <p:cNvPr id="36" name="Shape 186">
              <a:extLst>
                <a:ext uri="{FF2B5EF4-FFF2-40B4-BE49-F238E27FC236}">
                  <a16:creationId xmlns:a16="http://schemas.microsoft.com/office/drawing/2014/main" id="{F7BB9B3B-B8A3-4634-9E53-376B8286D66B}"/>
                </a:ext>
              </a:extLst>
            </p:cNvPr>
            <p:cNvSpPr/>
            <p:nvPr/>
          </p:nvSpPr>
          <p:spPr>
            <a:xfrm>
              <a:off x="3311855" y="1255013"/>
              <a:ext cx="5080" cy="248920"/>
            </a:xfrm>
            <a:custGeom>
              <a:avLst/>
              <a:gdLst/>
              <a:ahLst/>
              <a:cxnLst/>
              <a:rect l="0" t="0" r="0" b="0"/>
              <a:pathLst>
                <a:path w="5080" h="248920">
                  <a:moveTo>
                    <a:pt x="0" y="0"/>
                  </a:moveTo>
                  <a:lnTo>
                    <a:pt x="5080" y="248920"/>
                  </a:lnTo>
                </a:path>
              </a:pathLst>
            </a:custGeom>
            <a:ln w="6350" cap="flat">
              <a:miter lim="101600"/>
            </a:ln>
          </p:spPr>
          <p:style>
            <a:lnRef idx="1">
              <a:srgbClr val="4472C4"/>
            </a:lnRef>
            <a:fillRef idx="0">
              <a:srgbClr val="000000">
                <a:alpha val="0"/>
              </a:srgbClr>
            </a:fillRef>
            <a:effectRef idx="0">
              <a:scrgbClr r="0" g="0" b="0"/>
            </a:effectRef>
            <a:fontRef idx="none"/>
          </p:style>
          <p:txBody>
            <a:bodyPr/>
            <a:lstStyle/>
            <a:p>
              <a:endParaRPr lang="en-IN"/>
            </a:p>
          </p:txBody>
        </p:sp>
        <p:sp>
          <p:nvSpPr>
            <p:cNvPr id="37" name="Shape 187">
              <a:extLst>
                <a:ext uri="{FF2B5EF4-FFF2-40B4-BE49-F238E27FC236}">
                  <a16:creationId xmlns:a16="http://schemas.microsoft.com/office/drawing/2014/main" id="{E1B4A762-CDDA-472C-B2FC-C4F3731CAA51}"/>
                </a:ext>
              </a:extLst>
            </p:cNvPr>
            <p:cNvSpPr/>
            <p:nvPr/>
          </p:nvSpPr>
          <p:spPr>
            <a:xfrm>
              <a:off x="4800296" y="1239773"/>
              <a:ext cx="10160" cy="274320"/>
            </a:xfrm>
            <a:custGeom>
              <a:avLst/>
              <a:gdLst/>
              <a:ahLst/>
              <a:cxnLst/>
              <a:rect l="0" t="0" r="0" b="0"/>
              <a:pathLst>
                <a:path w="10160" h="274320">
                  <a:moveTo>
                    <a:pt x="0" y="0"/>
                  </a:moveTo>
                  <a:lnTo>
                    <a:pt x="10160" y="274320"/>
                  </a:lnTo>
                </a:path>
              </a:pathLst>
            </a:custGeom>
            <a:ln w="6350" cap="flat">
              <a:miter lim="101600"/>
            </a:ln>
          </p:spPr>
          <p:style>
            <a:lnRef idx="1">
              <a:srgbClr val="4472C4"/>
            </a:lnRef>
            <a:fillRef idx="0">
              <a:srgbClr val="000000">
                <a:alpha val="0"/>
              </a:srgbClr>
            </a:fillRef>
            <a:effectRef idx="0">
              <a:scrgbClr r="0" g="0" b="0"/>
            </a:effectRef>
            <a:fontRef idx="none"/>
          </p:style>
          <p:txBody>
            <a:bodyPr/>
            <a:lstStyle/>
            <a:p>
              <a:endParaRPr lang="en-IN"/>
            </a:p>
          </p:txBody>
        </p:sp>
        <p:sp>
          <p:nvSpPr>
            <p:cNvPr id="38" name="Shape 1870">
              <a:extLst>
                <a:ext uri="{FF2B5EF4-FFF2-40B4-BE49-F238E27FC236}">
                  <a16:creationId xmlns:a16="http://schemas.microsoft.com/office/drawing/2014/main" id="{BAF7BCF7-409D-40E6-91CA-919C56A79C43}"/>
                </a:ext>
              </a:extLst>
            </p:cNvPr>
            <p:cNvSpPr/>
            <p:nvPr/>
          </p:nvSpPr>
          <p:spPr>
            <a:xfrm>
              <a:off x="2935935" y="1473326"/>
              <a:ext cx="873760" cy="294640"/>
            </a:xfrm>
            <a:custGeom>
              <a:avLst/>
              <a:gdLst/>
              <a:ahLst/>
              <a:cxnLst/>
              <a:rect l="0" t="0" r="0" b="0"/>
              <a:pathLst>
                <a:path w="873760" h="294640">
                  <a:moveTo>
                    <a:pt x="0" y="0"/>
                  </a:moveTo>
                  <a:lnTo>
                    <a:pt x="873760" y="0"/>
                  </a:lnTo>
                  <a:lnTo>
                    <a:pt x="873760" y="294640"/>
                  </a:lnTo>
                  <a:lnTo>
                    <a:pt x="0" y="294640"/>
                  </a:lnTo>
                  <a:lnTo>
                    <a:pt x="0" y="0"/>
                  </a:lnTo>
                </a:path>
              </a:pathLst>
            </a:custGeom>
            <a:ln w="0" cap="flat">
              <a:miter lim="101600"/>
            </a:ln>
          </p:spPr>
          <p:style>
            <a:lnRef idx="0">
              <a:srgbClr val="000000">
                <a:alpha val="0"/>
              </a:srgbClr>
            </a:lnRef>
            <a:fillRef idx="1">
              <a:srgbClr val="FFFFFF"/>
            </a:fillRef>
            <a:effectRef idx="0">
              <a:scrgbClr r="0" g="0" b="0"/>
            </a:effectRef>
            <a:fontRef idx="none"/>
          </p:style>
          <p:txBody>
            <a:bodyPr/>
            <a:lstStyle/>
            <a:p>
              <a:endParaRPr lang="en-IN"/>
            </a:p>
          </p:txBody>
        </p:sp>
        <p:sp>
          <p:nvSpPr>
            <p:cNvPr id="39" name="Shape 189">
              <a:extLst>
                <a:ext uri="{FF2B5EF4-FFF2-40B4-BE49-F238E27FC236}">
                  <a16:creationId xmlns:a16="http://schemas.microsoft.com/office/drawing/2014/main" id="{70959929-86F6-450A-8702-3F66667752AC}"/>
                </a:ext>
              </a:extLst>
            </p:cNvPr>
            <p:cNvSpPr/>
            <p:nvPr/>
          </p:nvSpPr>
          <p:spPr>
            <a:xfrm>
              <a:off x="2935935" y="1473326"/>
              <a:ext cx="873760" cy="294640"/>
            </a:xfrm>
            <a:custGeom>
              <a:avLst/>
              <a:gdLst/>
              <a:ahLst/>
              <a:cxnLst/>
              <a:rect l="0" t="0" r="0" b="0"/>
              <a:pathLst>
                <a:path w="873760" h="294640">
                  <a:moveTo>
                    <a:pt x="0" y="294640"/>
                  </a:moveTo>
                  <a:lnTo>
                    <a:pt x="873760" y="294640"/>
                  </a:lnTo>
                  <a:lnTo>
                    <a:pt x="873760" y="0"/>
                  </a:lnTo>
                  <a:lnTo>
                    <a:pt x="0" y="0"/>
                  </a:lnTo>
                  <a:close/>
                </a:path>
              </a:pathLst>
            </a:custGeom>
            <a:ln w="6350" cap="flat">
              <a:round/>
            </a:ln>
          </p:spPr>
          <p:style>
            <a:lnRef idx="1">
              <a:srgbClr val="000000"/>
            </a:lnRef>
            <a:fillRef idx="0">
              <a:srgbClr val="000000">
                <a:alpha val="0"/>
              </a:srgbClr>
            </a:fillRef>
            <a:effectRef idx="0">
              <a:scrgbClr r="0" g="0" b="0"/>
            </a:effectRef>
            <a:fontRef idx="none"/>
          </p:style>
          <p:txBody>
            <a:bodyPr/>
            <a:lstStyle/>
            <a:p>
              <a:endParaRPr lang="en-IN"/>
            </a:p>
          </p:txBody>
        </p:sp>
        <p:sp>
          <p:nvSpPr>
            <p:cNvPr id="40" name="Rectangle 39">
              <a:extLst>
                <a:ext uri="{FF2B5EF4-FFF2-40B4-BE49-F238E27FC236}">
                  <a16:creationId xmlns:a16="http://schemas.microsoft.com/office/drawing/2014/main" id="{2DB4323A-14ED-4430-A5F3-7684EEDE8427}"/>
                </a:ext>
              </a:extLst>
            </p:cNvPr>
            <p:cNvSpPr/>
            <p:nvPr/>
          </p:nvSpPr>
          <p:spPr>
            <a:xfrm>
              <a:off x="3031566" y="1549145"/>
              <a:ext cx="90814"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T</a:t>
              </a:r>
            </a:p>
          </p:txBody>
        </p:sp>
        <p:sp>
          <p:nvSpPr>
            <p:cNvPr id="41" name="Rectangle 40">
              <a:extLst>
                <a:ext uri="{FF2B5EF4-FFF2-40B4-BE49-F238E27FC236}">
                  <a16:creationId xmlns:a16="http://schemas.microsoft.com/office/drawing/2014/main" id="{BAE4EEA8-A17F-4439-81BD-1587F67331A5}"/>
                </a:ext>
              </a:extLst>
            </p:cNvPr>
            <p:cNvSpPr/>
            <p:nvPr/>
          </p:nvSpPr>
          <p:spPr>
            <a:xfrm>
              <a:off x="3100400" y="1549145"/>
              <a:ext cx="729310"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extWriter</a:t>
              </a:r>
            </a:p>
          </p:txBody>
        </p:sp>
        <p:sp>
          <p:nvSpPr>
            <p:cNvPr id="42" name="Rectangle 41">
              <a:extLst>
                <a:ext uri="{FF2B5EF4-FFF2-40B4-BE49-F238E27FC236}">
                  <a16:creationId xmlns:a16="http://schemas.microsoft.com/office/drawing/2014/main" id="{6F8194E5-609D-4111-96F8-258BC6815672}"/>
                </a:ext>
              </a:extLst>
            </p:cNvPr>
            <p:cNvSpPr/>
            <p:nvPr/>
          </p:nvSpPr>
          <p:spPr>
            <a:xfrm>
              <a:off x="3647516" y="1549145"/>
              <a:ext cx="42143"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 </a:t>
              </a:r>
            </a:p>
          </p:txBody>
        </p:sp>
        <p:sp>
          <p:nvSpPr>
            <p:cNvPr id="43" name="Shape 1871">
              <a:extLst>
                <a:ext uri="{FF2B5EF4-FFF2-40B4-BE49-F238E27FC236}">
                  <a16:creationId xmlns:a16="http://schemas.microsoft.com/office/drawing/2014/main" id="{171B06AB-AD1A-403E-BD84-66742CE64321}"/>
                </a:ext>
              </a:extLst>
            </p:cNvPr>
            <p:cNvSpPr/>
            <p:nvPr/>
          </p:nvSpPr>
          <p:spPr>
            <a:xfrm>
              <a:off x="4404055" y="1513967"/>
              <a:ext cx="716280" cy="259080"/>
            </a:xfrm>
            <a:custGeom>
              <a:avLst/>
              <a:gdLst/>
              <a:ahLst/>
              <a:cxnLst/>
              <a:rect l="0" t="0" r="0" b="0"/>
              <a:pathLst>
                <a:path w="716280" h="259080">
                  <a:moveTo>
                    <a:pt x="0" y="0"/>
                  </a:moveTo>
                  <a:lnTo>
                    <a:pt x="716280" y="0"/>
                  </a:lnTo>
                  <a:lnTo>
                    <a:pt x="716280" y="259080"/>
                  </a:lnTo>
                  <a:lnTo>
                    <a:pt x="0" y="259080"/>
                  </a:lnTo>
                  <a:lnTo>
                    <a:pt x="0" y="0"/>
                  </a:lnTo>
                </a:path>
              </a:pathLst>
            </a:custGeom>
            <a:ln w="0" cap="flat">
              <a:round/>
            </a:ln>
          </p:spPr>
          <p:style>
            <a:lnRef idx="0">
              <a:srgbClr val="000000">
                <a:alpha val="0"/>
              </a:srgbClr>
            </a:lnRef>
            <a:fillRef idx="1">
              <a:srgbClr val="FFFFFF"/>
            </a:fillRef>
            <a:effectRef idx="0">
              <a:scrgbClr r="0" g="0" b="0"/>
            </a:effectRef>
            <a:fontRef idx="none"/>
          </p:style>
          <p:txBody>
            <a:bodyPr/>
            <a:lstStyle/>
            <a:p>
              <a:endParaRPr lang="en-IN"/>
            </a:p>
          </p:txBody>
        </p:sp>
        <p:sp>
          <p:nvSpPr>
            <p:cNvPr id="44" name="Shape 194">
              <a:extLst>
                <a:ext uri="{FF2B5EF4-FFF2-40B4-BE49-F238E27FC236}">
                  <a16:creationId xmlns:a16="http://schemas.microsoft.com/office/drawing/2014/main" id="{A8E3E434-F216-4D68-BF11-916C44AE3522}"/>
                </a:ext>
              </a:extLst>
            </p:cNvPr>
            <p:cNvSpPr/>
            <p:nvPr/>
          </p:nvSpPr>
          <p:spPr>
            <a:xfrm>
              <a:off x="4404055" y="1513967"/>
              <a:ext cx="716280" cy="259080"/>
            </a:xfrm>
            <a:custGeom>
              <a:avLst/>
              <a:gdLst/>
              <a:ahLst/>
              <a:cxnLst/>
              <a:rect l="0" t="0" r="0" b="0"/>
              <a:pathLst>
                <a:path w="716280" h="259080">
                  <a:moveTo>
                    <a:pt x="0" y="259080"/>
                  </a:moveTo>
                  <a:lnTo>
                    <a:pt x="716280" y="259080"/>
                  </a:lnTo>
                  <a:lnTo>
                    <a:pt x="716280" y="0"/>
                  </a:lnTo>
                  <a:lnTo>
                    <a:pt x="0" y="0"/>
                  </a:lnTo>
                  <a:close/>
                </a:path>
              </a:pathLst>
            </a:custGeom>
            <a:ln w="6350" cap="flat">
              <a:round/>
            </a:ln>
          </p:spPr>
          <p:style>
            <a:lnRef idx="1">
              <a:srgbClr val="000000"/>
            </a:lnRef>
            <a:fillRef idx="0">
              <a:srgbClr val="000000">
                <a:alpha val="0"/>
              </a:srgbClr>
            </a:fillRef>
            <a:effectRef idx="0">
              <a:scrgbClr r="0" g="0" b="0"/>
            </a:effectRef>
            <a:fontRef idx="none"/>
          </p:style>
          <p:txBody>
            <a:bodyPr/>
            <a:lstStyle/>
            <a:p>
              <a:endParaRPr lang="en-IN"/>
            </a:p>
          </p:txBody>
        </p:sp>
        <p:sp>
          <p:nvSpPr>
            <p:cNvPr id="45" name="Rectangle 44">
              <a:extLst>
                <a:ext uri="{FF2B5EF4-FFF2-40B4-BE49-F238E27FC236}">
                  <a16:creationId xmlns:a16="http://schemas.microsoft.com/office/drawing/2014/main" id="{FF4B0E65-6432-4B47-AFDE-884FCCD9F816}"/>
                </a:ext>
              </a:extLst>
            </p:cNvPr>
            <p:cNvSpPr/>
            <p:nvPr/>
          </p:nvSpPr>
          <p:spPr>
            <a:xfrm>
              <a:off x="4499433" y="1590293"/>
              <a:ext cx="544326"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Stream</a:t>
              </a:r>
            </a:p>
          </p:txBody>
        </p:sp>
        <p:sp>
          <p:nvSpPr>
            <p:cNvPr id="46" name="Rectangle 45">
              <a:extLst>
                <a:ext uri="{FF2B5EF4-FFF2-40B4-BE49-F238E27FC236}">
                  <a16:creationId xmlns:a16="http://schemas.microsoft.com/office/drawing/2014/main" id="{B12BB492-E741-4FDC-81D2-FBD7EED63349}"/>
                </a:ext>
              </a:extLst>
            </p:cNvPr>
            <p:cNvSpPr/>
            <p:nvPr/>
          </p:nvSpPr>
          <p:spPr>
            <a:xfrm>
              <a:off x="4908246" y="1590293"/>
              <a:ext cx="42143"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 </a:t>
              </a:r>
            </a:p>
          </p:txBody>
        </p:sp>
        <p:sp>
          <p:nvSpPr>
            <p:cNvPr id="47" name="Shape 197">
              <a:extLst>
                <a:ext uri="{FF2B5EF4-FFF2-40B4-BE49-F238E27FC236}">
                  <a16:creationId xmlns:a16="http://schemas.microsoft.com/office/drawing/2014/main" id="{6B901B85-9FF0-49D4-867A-F121E31BCFFD}"/>
                </a:ext>
              </a:extLst>
            </p:cNvPr>
            <p:cNvSpPr/>
            <p:nvPr/>
          </p:nvSpPr>
          <p:spPr>
            <a:xfrm>
              <a:off x="4769815" y="1788160"/>
              <a:ext cx="5080" cy="193039"/>
            </a:xfrm>
            <a:custGeom>
              <a:avLst/>
              <a:gdLst/>
              <a:ahLst/>
              <a:cxnLst/>
              <a:rect l="0" t="0" r="0" b="0"/>
              <a:pathLst>
                <a:path w="5080" h="193039">
                  <a:moveTo>
                    <a:pt x="0" y="0"/>
                  </a:moveTo>
                  <a:lnTo>
                    <a:pt x="5080" y="193039"/>
                  </a:lnTo>
                </a:path>
              </a:pathLst>
            </a:custGeom>
            <a:ln w="6350" cap="flat">
              <a:miter lim="101600"/>
            </a:ln>
          </p:spPr>
          <p:style>
            <a:lnRef idx="1">
              <a:srgbClr val="4472C4"/>
            </a:lnRef>
            <a:fillRef idx="0">
              <a:srgbClr val="000000">
                <a:alpha val="0"/>
              </a:srgbClr>
            </a:fillRef>
            <a:effectRef idx="0">
              <a:scrgbClr r="0" g="0" b="0"/>
            </a:effectRef>
            <a:fontRef idx="none"/>
          </p:style>
          <p:txBody>
            <a:bodyPr/>
            <a:lstStyle/>
            <a:p>
              <a:endParaRPr lang="en-IN"/>
            </a:p>
          </p:txBody>
        </p:sp>
        <p:sp>
          <p:nvSpPr>
            <p:cNvPr id="48" name="Shape 1872">
              <a:extLst>
                <a:ext uri="{FF2B5EF4-FFF2-40B4-BE49-F238E27FC236}">
                  <a16:creationId xmlns:a16="http://schemas.microsoft.com/office/drawing/2014/main" id="{9A3BF723-7753-4FC4-8478-EDD5D6788E90}"/>
                </a:ext>
              </a:extLst>
            </p:cNvPr>
            <p:cNvSpPr/>
            <p:nvPr/>
          </p:nvSpPr>
          <p:spPr>
            <a:xfrm>
              <a:off x="4556455" y="1975993"/>
              <a:ext cx="822960" cy="320040"/>
            </a:xfrm>
            <a:custGeom>
              <a:avLst/>
              <a:gdLst/>
              <a:ahLst/>
              <a:cxnLst/>
              <a:rect l="0" t="0" r="0" b="0"/>
              <a:pathLst>
                <a:path w="822960" h="320040">
                  <a:moveTo>
                    <a:pt x="0" y="0"/>
                  </a:moveTo>
                  <a:lnTo>
                    <a:pt x="822960" y="0"/>
                  </a:lnTo>
                  <a:lnTo>
                    <a:pt x="822960" y="320040"/>
                  </a:lnTo>
                  <a:lnTo>
                    <a:pt x="0" y="320040"/>
                  </a:lnTo>
                  <a:lnTo>
                    <a:pt x="0" y="0"/>
                  </a:lnTo>
                </a:path>
              </a:pathLst>
            </a:custGeom>
            <a:ln w="0" cap="flat">
              <a:miter lim="101600"/>
            </a:ln>
          </p:spPr>
          <p:style>
            <a:lnRef idx="0">
              <a:srgbClr val="000000">
                <a:alpha val="0"/>
              </a:srgbClr>
            </a:lnRef>
            <a:fillRef idx="1">
              <a:srgbClr val="FFFFFF"/>
            </a:fillRef>
            <a:effectRef idx="0">
              <a:scrgbClr r="0" g="0" b="0"/>
            </a:effectRef>
            <a:fontRef idx="none"/>
          </p:style>
          <p:txBody>
            <a:bodyPr/>
            <a:lstStyle/>
            <a:p>
              <a:endParaRPr lang="en-IN"/>
            </a:p>
          </p:txBody>
        </p:sp>
        <p:sp>
          <p:nvSpPr>
            <p:cNvPr id="49" name="Shape 199">
              <a:extLst>
                <a:ext uri="{FF2B5EF4-FFF2-40B4-BE49-F238E27FC236}">
                  <a16:creationId xmlns:a16="http://schemas.microsoft.com/office/drawing/2014/main" id="{3117FE2A-B59F-4EE4-B3C8-8AE7C6A01E56}"/>
                </a:ext>
              </a:extLst>
            </p:cNvPr>
            <p:cNvSpPr/>
            <p:nvPr/>
          </p:nvSpPr>
          <p:spPr>
            <a:xfrm>
              <a:off x="4556455" y="1975993"/>
              <a:ext cx="822960" cy="320040"/>
            </a:xfrm>
            <a:custGeom>
              <a:avLst/>
              <a:gdLst/>
              <a:ahLst/>
              <a:cxnLst/>
              <a:rect l="0" t="0" r="0" b="0"/>
              <a:pathLst>
                <a:path w="822960" h="320040">
                  <a:moveTo>
                    <a:pt x="0" y="320040"/>
                  </a:moveTo>
                  <a:lnTo>
                    <a:pt x="822960" y="320040"/>
                  </a:lnTo>
                  <a:lnTo>
                    <a:pt x="822960" y="0"/>
                  </a:lnTo>
                  <a:lnTo>
                    <a:pt x="0" y="0"/>
                  </a:lnTo>
                  <a:close/>
                </a:path>
              </a:pathLst>
            </a:custGeom>
            <a:ln w="6350" cap="flat">
              <a:round/>
            </a:ln>
          </p:spPr>
          <p:style>
            <a:lnRef idx="1">
              <a:srgbClr val="000000"/>
            </a:lnRef>
            <a:fillRef idx="0">
              <a:srgbClr val="000000">
                <a:alpha val="0"/>
              </a:srgbClr>
            </a:fillRef>
            <a:effectRef idx="0">
              <a:scrgbClr r="0" g="0" b="0"/>
            </a:effectRef>
            <a:fontRef idx="none"/>
          </p:style>
          <p:txBody>
            <a:bodyPr/>
            <a:lstStyle/>
            <a:p>
              <a:endParaRPr lang="en-IN"/>
            </a:p>
          </p:txBody>
        </p:sp>
        <p:sp>
          <p:nvSpPr>
            <p:cNvPr id="50" name="Rectangle 49">
              <a:extLst>
                <a:ext uri="{FF2B5EF4-FFF2-40B4-BE49-F238E27FC236}">
                  <a16:creationId xmlns:a16="http://schemas.microsoft.com/office/drawing/2014/main" id="{DFAFF1CE-48C6-44B7-9F62-AA3C7FB669BE}"/>
                </a:ext>
              </a:extLst>
            </p:cNvPr>
            <p:cNvSpPr/>
            <p:nvPr/>
          </p:nvSpPr>
          <p:spPr>
            <a:xfrm>
              <a:off x="4651833" y="2052066"/>
              <a:ext cx="805766"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FileStream</a:t>
              </a:r>
            </a:p>
          </p:txBody>
        </p:sp>
        <p:sp>
          <p:nvSpPr>
            <p:cNvPr id="51" name="Rectangle 50">
              <a:extLst>
                <a:ext uri="{FF2B5EF4-FFF2-40B4-BE49-F238E27FC236}">
                  <a16:creationId xmlns:a16="http://schemas.microsoft.com/office/drawing/2014/main" id="{057654A9-97A8-4698-9CF9-8E952AC105AC}"/>
                </a:ext>
              </a:extLst>
            </p:cNvPr>
            <p:cNvSpPr/>
            <p:nvPr/>
          </p:nvSpPr>
          <p:spPr>
            <a:xfrm>
              <a:off x="5257241" y="2052066"/>
              <a:ext cx="42143"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 </a:t>
              </a:r>
            </a:p>
          </p:txBody>
        </p:sp>
        <p:sp>
          <p:nvSpPr>
            <p:cNvPr id="52" name="Shape 202">
              <a:extLst>
                <a:ext uri="{FF2B5EF4-FFF2-40B4-BE49-F238E27FC236}">
                  <a16:creationId xmlns:a16="http://schemas.microsoft.com/office/drawing/2014/main" id="{F3FFB62B-FFA7-4D9C-9268-9CC3C2A22A27}"/>
                </a:ext>
              </a:extLst>
            </p:cNvPr>
            <p:cNvSpPr/>
            <p:nvPr/>
          </p:nvSpPr>
          <p:spPr>
            <a:xfrm>
              <a:off x="1630375" y="1823720"/>
              <a:ext cx="5080" cy="187960"/>
            </a:xfrm>
            <a:custGeom>
              <a:avLst/>
              <a:gdLst/>
              <a:ahLst/>
              <a:cxnLst/>
              <a:rect l="0" t="0" r="0" b="0"/>
              <a:pathLst>
                <a:path w="5080" h="187960">
                  <a:moveTo>
                    <a:pt x="0" y="0"/>
                  </a:moveTo>
                  <a:lnTo>
                    <a:pt x="5080" y="187960"/>
                  </a:lnTo>
                </a:path>
              </a:pathLst>
            </a:custGeom>
            <a:ln w="6350" cap="flat">
              <a:miter lim="101600"/>
            </a:ln>
          </p:spPr>
          <p:style>
            <a:lnRef idx="1">
              <a:srgbClr val="4472C4"/>
            </a:lnRef>
            <a:fillRef idx="0">
              <a:srgbClr val="000000">
                <a:alpha val="0"/>
              </a:srgbClr>
            </a:fillRef>
            <a:effectRef idx="0">
              <a:scrgbClr r="0" g="0" b="0"/>
            </a:effectRef>
            <a:fontRef idx="none"/>
          </p:style>
          <p:txBody>
            <a:bodyPr/>
            <a:lstStyle/>
            <a:p>
              <a:endParaRPr lang="en-IN"/>
            </a:p>
          </p:txBody>
        </p:sp>
        <p:sp>
          <p:nvSpPr>
            <p:cNvPr id="53" name="Shape 203">
              <a:extLst>
                <a:ext uri="{FF2B5EF4-FFF2-40B4-BE49-F238E27FC236}">
                  <a16:creationId xmlns:a16="http://schemas.microsoft.com/office/drawing/2014/main" id="{4A30865B-FA41-4E98-B8B2-4687188B3350}"/>
                </a:ext>
              </a:extLst>
            </p:cNvPr>
            <p:cNvSpPr/>
            <p:nvPr/>
          </p:nvSpPr>
          <p:spPr>
            <a:xfrm>
              <a:off x="3250895" y="1777999"/>
              <a:ext cx="15240" cy="162561"/>
            </a:xfrm>
            <a:custGeom>
              <a:avLst/>
              <a:gdLst/>
              <a:ahLst/>
              <a:cxnLst/>
              <a:rect l="0" t="0" r="0" b="0"/>
              <a:pathLst>
                <a:path w="15240" h="162561">
                  <a:moveTo>
                    <a:pt x="0" y="0"/>
                  </a:moveTo>
                  <a:lnTo>
                    <a:pt x="15240" y="162561"/>
                  </a:lnTo>
                </a:path>
              </a:pathLst>
            </a:custGeom>
            <a:ln w="6350" cap="flat">
              <a:miter lim="101600"/>
            </a:ln>
          </p:spPr>
          <p:style>
            <a:lnRef idx="1">
              <a:srgbClr val="4472C4"/>
            </a:lnRef>
            <a:fillRef idx="0">
              <a:srgbClr val="000000">
                <a:alpha val="0"/>
              </a:srgbClr>
            </a:fillRef>
            <a:effectRef idx="0">
              <a:scrgbClr r="0" g="0" b="0"/>
            </a:effectRef>
            <a:fontRef idx="none"/>
          </p:style>
          <p:txBody>
            <a:bodyPr/>
            <a:lstStyle/>
            <a:p>
              <a:endParaRPr lang="en-IN"/>
            </a:p>
          </p:txBody>
        </p:sp>
        <p:sp>
          <p:nvSpPr>
            <p:cNvPr id="54" name="Shape 204">
              <a:extLst>
                <a:ext uri="{FF2B5EF4-FFF2-40B4-BE49-F238E27FC236}">
                  <a16:creationId xmlns:a16="http://schemas.microsoft.com/office/drawing/2014/main" id="{B9B31B3A-8DE0-4E52-B93A-DE9B0971E0EA}"/>
                </a:ext>
              </a:extLst>
            </p:cNvPr>
            <p:cNvSpPr/>
            <p:nvPr/>
          </p:nvSpPr>
          <p:spPr>
            <a:xfrm>
              <a:off x="1076655" y="1981072"/>
              <a:ext cx="812800" cy="5080"/>
            </a:xfrm>
            <a:custGeom>
              <a:avLst/>
              <a:gdLst/>
              <a:ahLst/>
              <a:cxnLst/>
              <a:rect l="0" t="0" r="0" b="0"/>
              <a:pathLst>
                <a:path w="812800" h="5080">
                  <a:moveTo>
                    <a:pt x="0" y="5080"/>
                  </a:moveTo>
                  <a:lnTo>
                    <a:pt x="812800" y="0"/>
                  </a:lnTo>
                </a:path>
              </a:pathLst>
            </a:custGeom>
            <a:ln w="6350" cap="flat">
              <a:miter lim="101600"/>
            </a:ln>
          </p:spPr>
          <p:style>
            <a:lnRef idx="1">
              <a:srgbClr val="4472C4"/>
            </a:lnRef>
            <a:fillRef idx="0">
              <a:srgbClr val="000000">
                <a:alpha val="0"/>
              </a:srgbClr>
            </a:fillRef>
            <a:effectRef idx="0">
              <a:scrgbClr r="0" g="0" b="0"/>
            </a:effectRef>
            <a:fontRef idx="none"/>
          </p:style>
          <p:txBody>
            <a:bodyPr/>
            <a:lstStyle/>
            <a:p>
              <a:endParaRPr lang="en-IN"/>
            </a:p>
          </p:txBody>
        </p:sp>
        <p:sp>
          <p:nvSpPr>
            <p:cNvPr id="55" name="Shape 205">
              <a:extLst>
                <a:ext uri="{FF2B5EF4-FFF2-40B4-BE49-F238E27FC236}">
                  <a16:creationId xmlns:a16="http://schemas.microsoft.com/office/drawing/2014/main" id="{3EBC5965-40DA-49F2-89CA-B4520857411E}"/>
                </a:ext>
              </a:extLst>
            </p:cNvPr>
            <p:cNvSpPr/>
            <p:nvPr/>
          </p:nvSpPr>
          <p:spPr>
            <a:xfrm>
              <a:off x="2981655" y="1945512"/>
              <a:ext cx="990600" cy="15240"/>
            </a:xfrm>
            <a:custGeom>
              <a:avLst/>
              <a:gdLst/>
              <a:ahLst/>
              <a:cxnLst/>
              <a:rect l="0" t="0" r="0" b="0"/>
              <a:pathLst>
                <a:path w="990600" h="15240">
                  <a:moveTo>
                    <a:pt x="0" y="0"/>
                  </a:moveTo>
                  <a:lnTo>
                    <a:pt x="990600" y="15240"/>
                  </a:lnTo>
                </a:path>
              </a:pathLst>
            </a:custGeom>
            <a:ln w="6350" cap="flat">
              <a:miter lim="101600"/>
            </a:ln>
          </p:spPr>
          <p:style>
            <a:lnRef idx="1">
              <a:srgbClr val="4472C4"/>
            </a:lnRef>
            <a:fillRef idx="0">
              <a:srgbClr val="000000">
                <a:alpha val="0"/>
              </a:srgbClr>
            </a:fillRef>
            <a:effectRef idx="0">
              <a:scrgbClr r="0" g="0" b="0"/>
            </a:effectRef>
            <a:fontRef idx="none"/>
          </p:style>
          <p:txBody>
            <a:bodyPr/>
            <a:lstStyle/>
            <a:p>
              <a:endParaRPr lang="en-IN"/>
            </a:p>
          </p:txBody>
        </p:sp>
        <p:sp>
          <p:nvSpPr>
            <p:cNvPr id="56" name="Shape 207">
              <a:extLst>
                <a:ext uri="{FF2B5EF4-FFF2-40B4-BE49-F238E27FC236}">
                  <a16:creationId xmlns:a16="http://schemas.microsoft.com/office/drawing/2014/main" id="{926ECDC1-41C6-4E2B-B298-1BF52C05ED2F}"/>
                </a:ext>
              </a:extLst>
            </p:cNvPr>
            <p:cNvSpPr/>
            <p:nvPr/>
          </p:nvSpPr>
          <p:spPr>
            <a:xfrm>
              <a:off x="192735" y="2179192"/>
              <a:ext cx="1082040" cy="284480"/>
            </a:xfrm>
            <a:custGeom>
              <a:avLst/>
              <a:gdLst/>
              <a:ahLst/>
              <a:cxnLst/>
              <a:rect l="0" t="0" r="0" b="0"/>
              <a:pathLst>
                <a:path w="1082040" h="284480">
                  <a:moveTo>
                    <a:pt x="0" y="284480"/>
                  </a:moveTo>
                  <a:lnTo>
                    <a:pt x="1082040" y="284480"/>
                  </a:lnTo>
                  <a:lnTo>
                    <a:pt x="1082040" y="0"/>
                  </a:lnTo>
                  <a:lnTo>
                    <a:pt x="0" y="0"/>
                  </a:lnTo>
                  <a:close/>
                </a:path>
              </a:pathLst>
            </a:custGeom>
            <a:ln w="6350" cap="flat">
              <a:round/>
            </a:ln>
          </p:spPr>
          <p:style>
            <a:lnRef idx="1">
              <a:srgbClr val="000000"/>
            </a:lnRef>
            <a:fillRef idx="0">
              <a:srgbClr val="000000">
                <a:alpha val="0"/>
              </a:srgbClr>
            </a:fillRef>
            <a:effectRef idx="0">
              <a:scrgbClr r="0" g="0" b="0"/>
            </a:effectRef>
            <a:fontRef idx="none"/>
          </p:style>
          <p:txBody>
            <a:bodyPr/>
            <a:lstStyle/>
            <a:p>
              <a:endParaRPr lang="en-IN"/>
            </a:p>
          </p:txBody>
        </p:sp>
        <p:sp>
          <p:nvSpPr>
            <p:cNvPr id="57" name="Rectangle 56">
              <a:extLst>
                <a:ext uri="{FF2B5EF4-FFF2-40B4-BE49-F238E27FC236}">
                  <a16:creationId xmlns:a16="http://schemas.microsoft.com/office/drawing/2014/main" id="{8C227907-9CD2-4817-B47C-6B6E289A1D92}"/>
                </a:ext>
              </a:extLst>
            </p:cNvPr>
            <p:cNvSpPr/>
            <p:nvPr/>
          </p:nvSpPr>
          <p:spPr>
            <a:xfrm>
              <a:off x="288036" y="2256281"/>
              <a:ext cx="644463"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StreamR</a:t>
              </a:r>
            </a:p>
          </p:txBody>
        </p:sp>
        <p:sp>
          <p:nvSpPr>
            <p:cNvPr id="58" name="Rectangle 57">
              <a:extLst>
                <a:ext uri="{FF2B5EF4-FFF2-40B4-BE49-F238E27FC236}">
                  <a16:creationId xmlns:a16="http://schemas.microsoft.com/office/drawing/2014/main" id="{492CA690-7A5F-44E9-9D5B-C0F23EF7E227}"/>
                </a:ext>
              </a:extLst>
            </p:cNvPr>
            <p:cNvSpPr/>
            <p:nvPr/>
          </p:nvSpPr>
          <p:spPr>
            <a:xfrm>
              <a:off x="772617" y="2256281"/>
              <a:ext cx="92865"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e</a:t>
              </a:r>
            </a:p>
          </p:txBody>
        </p:sp>
        <p:sp>
          <p:nvSpPr>
            <p:cNvPr id="59" name="Rectangle 58">
              <a:extLst>
                <a:ext uri="{FF2B5EF4-FFF2-40B4-BE49-F238E27FC236}">
                  <a16:creationId xmlns:a16="http://schemas.microsoft.com/office/drawing/2014/main" id="{1F00598E-0407-4D20-9D8E-7E7105C853A6}"/>
                </a:ext>
              </a:extLst>
            </p:cNvPr>
            <p:cNvSpPr/>
            <p:nvPr/>
          </p:nvSpPr>
          <p:spPr>
            <a:xfrm>
              <a:off x="842721" y="2256281"/>
              <a:ext cx="344422"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ader</a:t>
              </a:r>
            </a:p>
          </p:txBody>
        </p:sp>
        <p:sp>
          <p:nvSpPr>
            <p:cNvPr id="60" name="Rectangle 59">
              <a:extLst>
                <a:ext uri="{FF2B5EF4-FFF2-40B4-BE49-F238E27FC236}">
                  <a16:creationId xmlns:a16="http://schemas.microsoft.com/office/drawing/2014/main" id="{9BEF473F-EA06-4170-93D6-A3D99EA3B299}"/>
                </a:ext>
              </a:extLst>
            </p:cNvPr>
            <p:cNvSpPr/>
            <p:nvPr/>
          </p:nvSpPr>
          <p:spPr>
            <a:xfrm>
              <a:off x="1100277" y="2256281"/>
              <a:ext cx="42144"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 </a:t>
              </a:r>
            </a:p>
          </p:txBody>
        </p:sp>
        <p:sp>
          <p:nvSpPr>
            <p:cNvPr id="61" name="Shape 213">
              <a:extLst>
                <a:ext uri="{FF2B5EF4-FFF2-40B4-BE49-F238E27FC236}">
                  <a16:creationId xmlns:a16="http://schemas.microsoft.com/office/drawing/2014/main" id="{FA388996-1654-4942-A7E8-3247E4F5439D}"/>
                </a:ext>
              </a:extLst>
            </p:cNvPr>
            <p:cNvSpPr/>
            <p:nvPr/>
          </p:nvSpPr>
          <p:spPr>
            <a:xfrm>
              <a:off x="1361135" y="2229992"/>
              <a:ext cx="960120" cy="284480"/>
            </a:xfrm>
            <a:custGeom>
              <a:avLst/>
              <a:gdLst/>
              <a:ahLst/>
              <a:cxnLst/>
              <a:rect l="0" t="0" r="0" b="0"/>
              <a:pathLst>
                <a:path w="960120" h="284480">
                  <a:moveTo>
                    <a:pt x="0" y="284480"/>
                  </a:moveTo>
                  <a:lnTo>
                    <a:pt x="960120" y="284480"/>
                  </a:lnTo>
                  <a:lnTo>
                    <a:pt x="960120" y="0"/>
                  </a:lnTo>
                  <a:lnTo>
                    <a:pt x="0" y="0"/>
                  </a:lnTo>
                  <a:close/>
                </a:path>
              </a:pathLst>
            </a:custGeom>
            <a:ln w="6350" cap="flat">
              <a:round/>
            </a:ln>
          </p:spPr>
          <p:style>
            <a:lnRef idx="1">
              <a:srgbClr val="000000"/>
            </a:lnRef>
            <a:fillRef idx="0">
              <a:srgbClr val="000000">
                <a:alpha val="0"/>
              </a:srgbClr>
            </a:fillRef>
            <a:effectRef idx="0">
              <a:scrgbClr r="0" g="0" b="0"/>
            </a:effectRef>
            <a:fontRef idx="none"/>
          </p:style>
          <p:txBody>
            <a:bodyPr/>
            <a:lstStyle/>
            <a:p>
              <a:endParaRPr lang="en-IN"/>
            </a:p>
          </p:txBody>
        </p:sp>
        <p:sp>
          <p:nvSpPr>
            <p:cNvPr id="62" name="Rectangle 61">
              <a:extLst>
                <a:ext uri="{FF2B5EF4-FFF2-40B4-BE49-F238E27FC236}">
                  <a16:creationId xmlns:a16="http://schemas.microsoft.com/office/drawing/2014/main" id="{D516E3DE-74A2-4E62-A582-97F7B756858E}"/>
                </a:ext>
              </a:extLst>
            </p:cNvPr>
            <p:cNvSpPr/>
            <p:nvPr/>
          </p:nvSpPr>
          <p:spPr>
            <a:xfrm>
              <a:off x="1455369" y="2306573"/>
              <a:ext cx="541155"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StringR</a:t>
              </a:r>
            </a:p>
          </p:txBody>
        </p:sp>
        <p:sp>
          <p:nvSpPr>
            <p:cNvPr id="63" name="Rectangle 62">
              <a:extLst>
                <a:ext uri="{FF2B5EF4-FFF2-40B4-BE49-F238E27FC236}">
                  <a16:creationId xmlns:a16="http://schemas.microsoft.com/office/drawing/2014/main" id="{7D51159A-C91F-4984-8F11-7C2AC2EBA49A}"/>
                </a:ext>
              </a:extLst>
            </p:cNvPr>
            <p:cNvSpPr/>
            <p:nvPr/>
          </p:nvSpPr>
          <p:spPr>
            <a:xfrm>
              <a:off x="1862658" y="2306573"/>
              <a:ext cx="92865"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e</a:t>
              </a:r>
            </a:p>
          </p:txBody>
        </p:sp>
        <p:sp>
          <p:nvSpPr>
            <p:cNvPr id="64" name="Rectangle 63">
              <a:extLst>
                <a:ext uri="{FF2B5EF4-FFF2-40B4-BE49-F238E27FC236}">
                  <a16:creationId xmlns:a16="http://schemas.microsoft.com/office/drawing/2014/main" id="{6AD4BCC4-6EDD-4E23-A2CB-12E10D2D9852}"/>
                </a:ext>
              </a:extLst>
            </p:cNvPr>
            <p:cNvSpPr/>
            <p:nvPr/>
          </p:nvSpPr>
          <p:spPr>
            <a:xfrm>
              <a:off x="1932762" y="2306573"/>
              <a:ext cx="344422"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ader</a:t>
              </a:r>
            </a:p>
          </p:txBody>
        </p:sp>
        <p:sp>
          <p:nvSpPr>
            <p:cNvPr id="65" name="Rectangle 64">
              <a:extLst>
                <a:ext uri="{FF2B5EF4-FFF2-40B4-BE49-F238E27FC236}">
                  <a16:creationId xmlns:a16="http://schemas.microsoft.com/office/drawing/2014/main" id="{61F8A645-0D05-407B-B9FE-3693A5E16F2D}"/>
                </a:ext>
              </a:extLst>
            </p:cNvPr>
            <p:cNvSpPr/>
            <p:nvPr/>
          </p:nvSpPr>
          <p:spPr>
            <a:xfrm>
              <a:off x="2190318" y="2306573"/>
              <a:ext cx="42144"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 </a:t>
              </a:r>
            </a:p>
          </p:txBody>
        </p:sp>
        <p:sp>
          <p:nvSpPr>
            <p:cNvPr id="66" name="Shape 219">
              <a:extLst>
                <a:ext uri="{FF2B5EF4-FFF2-40B4-BE49-F238E27FC236}">
                  <a16:creationId xmlns:a16="http://schemas.microsoft.com/office/drawing/2014/main" id="{FAD9CFE1-4C8B-434F-9B38-D770F96E8969}"/>
                </a:ext>
              </a:extLst>
            </p:cNvPr>
            <p:cNvSpPr/>
            <p:nvPr/>
          </p:nvSpPr>
          <p:spPr>
            <a:xfrm>
              <a:off x="3520136" y="2118233"/>
              <a:ext cx="863600" cy="254000"/>
            </a:xfrm>
            <a:custGeom>
              <a:avLst/>
              <a:gdLst/>
              <a:ahLst/>
              <a:cxnLst/>
              <a:rect l="0" t="0" r="0" b="0"/>
              <a:pathLst>
                <a:path w="863600" h="254000">
                  <a:moveTo>
                    <a:pt x="0" y="254000"/>
                  </a:moveTo>
                  <a:lnTo>
                    <a:pt x="863600" y="254000"/>
                  </a:lnTo>
                  <a:lnTo>
                    <a:pt x="863600" y="0"/>
                  </a:lnTo>
                  <a:lnTo>
                    <a:pt x="0" y="0"/>
                  </a:lnTo>
                  <a:close/>
                </a:path>
              </a:pathLst>
            </a:custGeom>
            <a:ln w="6350" cap="flat">
              <a:round/>
            </a:ln>
          </p:spPr>
          <p:style>
            <a:lnRef idx="1">
              <a:srgbClr val="000000"/>
            </a:lnRef>
            <a:fillRef idx="0">
              <a:srgbClr val="000000">
                <a:alpha val="0"/>
              </a:srgbClr>
            </a:fillRef>
            <a:effectRef idx="0">
              <a:scrgbClr r="0" g="0" b="0"/>
            </a:effectRef>
            <a:fontRef idx="none"/>
          </p:style>
          <p:txBody>
            <a:bodyPr/>
            <a:lstStyle/>
            <a:p>
              <a:endParaRPr lang="en-IN"/>
            </a:p>
          </p:txBody>
        </p:sp>
        <p:sp>
          <p:nvSpPr>
            <p:cNvPr id="67" name="Rectangle 66">
              <a:extLst>
                <a:ext uri="{FF2B5EF4-FFF2-40B4-BE49-F238E27FC236}">
                  <a16:creationId xmlns:a16="http://schemas.microsoft.com/office/drawing/2014/main" id="{90FD3D0E-54A4-4AB7-8EE4-EC70B82506FC}"/>
                </a:ext>
              </a:extLst>
            </p:cNvPr>
            <p:cNvSpPr/>
            <p:nvPr/>
          </p:nvSpPr>
          <p:spPr>
            <a:xfrm>
              <a:off x="3615512" y="2195321"/>
              <a:ext cx="869168"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StringWrite</a:t>
              </a:r>
            </a:p>
          </p:txBody>
        </p:sp>
        <p:sp>
          <p:nvSpPr>
            <p:cNvPr id="68" name="Shape 222">
              <a:extLst>
                <a:ext uri="{FF2B5EF4-FFF2-40B4-BE49-F238E27FC236}">
                  <a16:creationId xmlns:a16="http://schemas.microsoft.com/office/drawing/2014/main" id="{C386A95D-2FB9-416D-8CEA-8D87B598EF88}"/>
                </a:ext>
              </a:extLst>
            </p:cNvPr>
            <p:cNvSpPr/>
            <p:nvPr/>
          </p:nvSpPr>
          <p:spPr>
            <a:xfrm>
              <a:off x="2433015" y="2148712"/>
              <a:ext cx="924560" cy="254000"/>
            </a:xfrm>
            <a:custGeom>
              <a:avLst/>
              <a:gdLst/>
              <a:ahLst/>
              <a:cxnLst/>
              <a:rect l="0" t="0" r="0" b="0"/>
              <a:pathLst>
                <a:path w="924560" h="254000">
                  <a:moveTo>
                    <a:pt x="0" y="254000"/>
                  </a:moveTo>
                  <a:lnTo>
                    <a:pt x="924560" y="254000"/>
                  </a:lnTo>
                  <a:lnTo>
                    <a:pt x="924560" y="0"/>
                  </a:lnTo>
                  <a:lnTo>
                    <a:pt x="0" y="0"/>
                  </a:lnTo>
                  <a:close/>
                </a:path>
              </a:pathLst>
            </a:custGeom>
            <a:ln w="6350" cap="flat">
              <a:round/>
            </a:ln>
          </p:spPr>
          <p:style>
            <a:lnRef idx="1">
              <a:srgbClr val="000000"/>
            </a:lnRef>
            <a:fillRef idx="0">
              <a:srgbClr val="000000">
                <a:alpha val="0"/>
              </a:srgbClr>
            </a:fillRef>
            <a:effectRef idx="0">
              <a:scrgbClr r="0" g="0" b="0"/>
            </a:effectRef>
            <a:fontRef idx="none"/>
          </p:style>
          <p:txBody>
            <a:bodyPr/>
            <a:lstStyle/>
            <a:p>
              <a:endParaRPr lang="en-IN"/>
            </a:p>
          </p:txBody>
        </p:sp>
        <p:sp>
          <p:nvSpPr>
            <p:cNvPr id="69" name="Rectangle 68">
              <a:extLst>
                <a:ext uri="{FF2B5EF4-FFF2-40B4-BE49-F238E27FC236}">
                  <a16:creationId xmlns:a16="http://schemas.microsoft.com/office/drawing/2014/main" id="{9EDC5C25-A40D-42C3-9F61-B576BDEEB2DE}"/>
                </a:ext>
              </a:extLst>
            </p:cNvPr>
            <p:cNvSpPr/>
            <p:nvPr/>
          </p:nvSpPr>
          <p:spPr>
            <a:xfrm>
              <a:off x="2528646" y="2225801"/>
              <a:ext cx="944318"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StramWriter</a:t>
              </a:r>
            </a:p>
          </p:txBody>
        </p:sp>
        <p:sp>
          <p:nvSpPr>
            <p:cNvPr id="70" name="Rectangle 69">
              <a:extLst>
                <a:ext uri="{FF2B5EF4-FFF2-40B4-BE49-F238E27FC236}">
                  <a16:creationId xmlns:a16="http://schemas.microsoft.com/office/drawing/2014/main" id="{8A18F60E-5F1A-4CBD-A8B6-BF3D14278BEA}"/>
                </a:ext>
              </a:extLst>
            </p:cNvPr>
            <p:cNvSpPr/>
            <p:nvPr/>
          </p:nvSpPr>
          <p:spPr>
            <a:xfrm>
              <a:off x="3237560" y="2225801"/>
              <a:ext cx="42143" cy="189937"/>
            </a:xfrm>
            <a:prstGeom prst="rect">
              <a:avLst/>
            </a:prstGeom>
            <a:ln>
              <a:noFill/>
            </a:ln>
          </p:spPr>
          <p:txBody>
            <a:bodyPr vert="horz" lIns="0" tIns="0" rIns="0" bIns="0" rtlCol="0">
              <a:noAutofit/>
            </a:bodyPr>
            <a:lstStyle/>
            <a:p>
              <a:pPr marL="6350" indent="-6350">
                <a:lnSpc>
                  <a:spcPct val="107000"/>
                </a:lnSpc>
                <a:spcAft>
                  <a:spcPts val="800"/>
                </a:spcAft>
              </a:pPr>
              <a:r>
                <a:rPr lang="en-IN" sz="1100">
                  <a:solidFill>
                    <a:srgbClr val="000000"/>
                  </a:solidFill>
                  <a:effectLst/>
                  <a:latin typeface="Calibri" panose="020F0502020204030204" pitchFamily="34" charset="0"/>
                  <a:ea typeface="Calibri" panose="020F0502020204030204" pitchFamily="34" charset="0"/>
                </a:rPr>
                <a:t> </a:t>
              </a:r>
            </a:p>
          </p:txBody>
        </p:sp>
        <p:sp>
          <p:nvSpPr>
            <p:cNvPr id="71" name="Shape 225">
              <a:extLst>
                <a:ext uri="{FF2B5EF4-FFF2-40B4-BE49-F238E27FC236}">
                  <a16:creationId xmlns:a16="http://schemas.microsoft.com/office/drawing/2014/main" id="{91E5FAC2-CBCF-4C51-A7B6-9449AAD56677}"/>
                </a:ext>
              </a:extLst>
            </p:cNvPr>
            <p:cNvSpPr/>
            <p:nvPr/>
          </p:nvSpPr>
          <p:spPr>
            <a:xfrm>
              <a:off x="1086815" y="1991233"/>
              <a:ext cx="5080" cy="198120"/>
            </a:xfrm>
            <a:custGeom>
              <a:avLst/>
              <a:gdLst/>
              <a:ahLst/>
              <a:cxnLst/>
              <a:rect l="0" t="0" r="0" b="0"/>
              <a:pathLst>
                <a:path w="5080" h="198120">
                  <a:moveTo>
                    <a:pt x="0" y="0"/>
                  </a:moveTo>
                  <a:lnTo>
                    <a:pt x="5080" y="198120"/>
                  </a:lnTo>
                </a:path>
              </a:pathLst>
            </a:custGeom>
            <a:ln w="6350" cap="flat">
              <a:miter lim="101600"/>
            </a:ln>
          </p:spPr>
          <p:style>
            <a:lnRef idx="1">
              <a:srgbClr val="4472C4"/>
            </a:lnRef>
            <a:fillRef idx="0">
              <a:srgbClr val="000000">
                <a:alpha val="0"/>
              </a:srgbClr>
            </a:fillRef>
            <a:effectRef idx="0">
              <a:scrgbClr r="0" g="0" b="0"/>
            </a:effectRef>
            <a:fontRef idx="none"/>
          </p:style>
          <p:txBody>
            <a:bodyPr/>
            <a:lstStyle/>
            <a:p>
              <a:endParaRPr lang="en-IN"/>
            </a:p>
          </p:txBody>
        </p:sp>
        <p:sp>
          <p:nvSpPr>
            <p:cNvPr id="72" name="Shape 226">
              <a:extLst>
                <a:ext uri="{FF2B5EF4-FFF2-40B4-BE49-F238E27FC236}">
                  <a16:creationId xmlns:a16="http://schemas.microsoft.com/office/drawing/2014/main" id="{D4AE3E13-5EAE-4695-A385-051F6632FAE5}"/>
                </a:ext>
              </a:extLst>
            </p:cNvPr>
            <p:cNvSpPr/>
            <p:nvPr/>
          </p:nvSpPr>
          <p:spPr>
            <a:xfrm>
              <a:off x="1884375" y="1981072"/>
              <a:ext cx="10160" cy="259080"/>
            </a:xfrm>
            <a:custGeom>
              <a:avLst/>
              <a:gdLst/>
              <a:ahLst/>
              <a:cxnLst/>
              <a:rect l="0" t="0" r="0" b="0"/>
              <a:pathLst>
                <a:path w="10160" h="259080">
                  <a:moveTo>
                    <a:pt x="0" y="0"/>
                  </a:moveTo>
                  <a:lnTo>
                    <a:pt x="10160" y="259080"/>
                  </a:lnTo>
                </a:path>
              </a:pathLst>
            </a:custGeom>
            <a:ln w="6350" cap="flat">
              <a:miter lim="101600"/>
            </a:ln>
          </p:spPr>
          <p:style>
            <a:lnRef idx="1">
              <a:srgbClr val="4472C4"/>
            </a:lnRef>
            <a:fillRef idx="0">
              <a:srgbClr val="000000">
                <a:alpha val="0"/>
              </a:srgbClr>
            </a:fillRef>
            <a:effectRef idx="0">
              <a:scrgbClr r="0" g="0" b="0"/>
            </a:effectRef>
            <a:fontRef idx="none"/>
          </p:style>
          <p:txBody>
            <a:bodyPr/>
            <a:lstStyle/>
            <a:p>
              <a:endParaRPr lang="en-IN"/>
            </a:p>
          </p:txBody>
        </p:sp>
        <p:sp>
          <p:nvSpPr>
            <p:cNvPr id="73" name="Shape 227">
              <a:extLst>
                <a:ext uri="{FF2B5EF4-FFF2-40B4-BE49-F238E27FC236}">
                  <a16:creationId xmlns:a16="http://schemas.microsoft.com/office/drawing/2014/main" id="{28CA54AC-91FF-45C0-8D14-09E9A336967F}"/>
                </a:ext>
              </a:extLst>
            </p:cNvPr>
            <p:cNvSpPr/>
            <p:nvPr/>
          </p:nvSpPr>
          <p:spPr>
            <a:xfrm>
              <a:off x="2986735" y="1955672"/>
              <a:ext cx="10160" cy="187961"/>
            </a:xfrm>
            <a:custGeom>
              <a:avLst/>
              <a:gdLst/>
              <a:ahLst/>
              <a:cxnLst/>
              <a:rect l="0" t="0" r="0" b="0"/>
              <a:pathLst>
                <a:path w="10160" h="187961">
                  <a:moveTo>
                    <a:pt x="0" y="0"/>
                  </a:moveTo>
                  <a:lnTo>
                    <a:pt x="10160" y="187961"/>
                  </a:lnTo>
                </a:path>
              </a:pathLst>
            </a:custGeom>
            <a:ln w="6350" cap="flat">
              <a:miter lim="101600"/>
            </a:ln>
          </p:spPr>
          <p:style>
            <a:lnRef idx="1">
              <a:srgbClr val="4472C4"/>
            </a:lnRef>
            <a:fillRef idx="0">
              <a:srgbClr val="000000">
                <a:alpha val="0"/>
              </a:srgbClr>
            </a:fillRef>
            <a:effectRef idx="0">
              <a:scrgbClr r="0" g="0" b="0"/>
            </a:effectRef>
            <a:fontRef idx="none"/>
          </p:style>
          <p:txBody>
            <a:bodyPr/>
            <a:lstStyle/>
            <a:p>
              <a:endParaRPr lang="en-IN"/>
            </a:p>
          </p:txBody>
        </p:sp>
        <p:sp>
          <p:nvSpPr>
            <p:cNvPr id="74" name="Shape 228">
              <a:extLst>
                <a:ext uri="{FF2B5EF4-FFF2-40B4-BE49-F238E27FC236}">
                  <a16:creationId xmlns:a16="http://schemas.microsoft.com/office/drawing/2014/main" id="{582823BF-0520-48CD-ADB2-C5A4C6A7BB46}"/>
                </a:ext>
              </a:extLst>
            </p:cNvPr>
            <p:cNvSpPr/>
            <p:nvPr/>
          </p:nvSpPr>
          <p:spPr>
            <a:xfrm>
              <a:off x="3982415" y="1960752"/>
              <a:ext cx="5080" cy="177800"/>
            </a:xfrm>
            <a:custGeom>
              <a:avLst/>
              <a:gdLst/>
              <a:ahLst/>
              <a:cxnLst/>
              <a:rect l="0" t="0" r="0" b="0"/>
              <a:pathLst>
                <a:path w="5080" h="177800">
                  <a:moveTo>
                    <a:pt x="0" y="0"/>
                  </a:moveTo>
                  <a:lnTo>
                    <a:pt x="5080" y="177800"/>
                  </a:lnTo>
                </a:path>
              </a:pathLst>
            </a:custGeom>
            <a:ln w="6350" cap="flat">
              <a:miter lim="101600"/>
            </a:ln>
          </p:spPr>
          <p:style>
            <a:lnRef idx="1">
              <a:srgbClr val="4472C4"/>
            </a:lnRef>
            <a:fillRef idx="0">
              <a:srgbClr val="000000">
                <a:alpha val="0"/>
              </a:srgbClr>
            </a:fillRef>
            <a:effectRef idx="0">
              <a:scrgbClr r="0" g="0" b="0"/>
            </a:effectRef>
            <a:fontRef idx="none"/>
          </p:style>
          <p:txBody>
            <a:bodyPr/>
            <a:lstStyle/>
            <a:p>
              <a:endParaRPr lang="en-IN"/>
            </a:p>
          </p:txBody>
        </p:sp>
      </p:grpSp>
      <p:sp>
        <p:nvSpPr>
          <p:cNvPr id="3" name="Rectangle 2">
            <a:extLst>
              <a:ext uri="{FF2B5EF4-FFF2-40B4-BE49-F238E27FC236}">
                <a16:creationId xmlns:a16="http://schemas.microsoft.com/office/drawing/2014/main" id="{2EFD16E8-A349-4626-212B-EA9D4FC4C567}"/>
              </a:ext>
            </a:extLst>
          </p:cNvPr>
          <p:cNvSpPr/>
          <p:nvPr/>
        </p:nvSpPr>
        <p:spPr>
          <a:xfrm>
            <a:off x="3527579" y="4223325"/>
            <a:ext cx="2188668" cy="16713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the </a:t>
            </a:r>
            <a:r>
              <a:rPr lang="en-US" b="1" dirty="0" err="1"/>
              <a:t>StringWriter</a:t>
            </a:r>
            <a:r>
              <a:rPr lang="en-US" b="1" dirty="0"/>
              <a:t> and </a:t>
            </a:r>
            <a:r>
              <a:rPr lang="en-US" b="1" dirty="0" err="1"/>
              <a:t>StringReader</a:t>
            </a:r>
            <a:r>
              <a:rPr lang="en-US" b="1" dirty="0"/>
              <a:t> </a:t>
            </a:r>
            <a:r>
              <a:rPr lang="en-US" dirty="0"/>
              <a:t>types to treat textual information as a stream of </a:t>
            </a:r>
            <a:r>
              <a:rPr lang="en-US" b="1" dirty="0" err="1"/>
              <a:t>inmemory</a:t>
            </a:r>
            <a:r>
              <a:rPr lang="en-US" b="1" dirty="0"/>
              <a:t>  characters</a:t>
            </a:r>
            <a:endParaRPr lang="en-IN" dirty="0"/>
          </a:p>
        </p:txBody>
      </p:sp>
      <p:cxnSp>
        <p:nvCxnSpPr>
          <p:cNvPr id="76" name="Straight Arrow Connector 75">
            <a:extLst>
              <a:ext uri="{FF2B5EF4-FFF2-40B4-BE49-F238E27FC236}">
                <a16:creationId xmlns:a16="http://schemas.microsoft.com/office/drawing/2014/main" id="{4957BB06-BE86-2A0B-300F-AF33C8C86BE3}"/>
              </a:ext>
            </a:extLst>
          </p:cNvPr>
          <p:cNvCxnSpPr/>
          <p:nvPr/>
        </p:nvCxnSpPr>
        <p:spPr>
          <a:xfrm>
            <a:off x="3261707" y="3486409"/>
            <a:ext cx="661238" cy="7180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77D7860F-18DF-53C9-631B-E907DF2B0747}"/>
              </a:ext>
            </a:extLst>
          </p:cNvPr>
          <p:cNvCxnSpPr/>
          <p:nvPr/>
        </p:nvCxnSpPr>
        <p:spPr>
          <a:xfrm flipH="1">
            <a:off x="4038203" y="3287928"/>
            <a:ext cx="1568082" cy="9101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9" name="Rectangle 78">
            <a:extLst>
              <a:ext uri="{FF2B5EF4-FFF2-40B4-BE49-F238E27FC236}">
                <a16:creationId xmlns:a16="http://schemas.microsoft.com/office/drawing/2014/main" id="{7E1CAA30-0046-0586-C339-0B8BFF47815E}"/>
              </a:ext>
            </a:extLst>
          </p:cNvPr>
          <p:cNvSpPr/>
          <p:nvPr/>
        </p:nvSpPr>
        <p:spPr>
          <a:xfrm>
            <a:off x="6411650" y="4186271"/>
            <a:ext cx="2188668" cy="167139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en-US" b="1"/>
              <a:t>File Stream</a:t>
            </a:r>
            <a:r>
              <a:rPr lang="en-US"/>
              <a:t>=It is a fairly primitive stream; it can read or write only a </a:t>
            </a:r>
            <a:r>
              <a:rPr lang="en-US" b="1"/>
              <a:t>single byte or an array of bytes</a:t>
            </a:r>
            <a:r>
              <a:rPr lang="en-US"/>
              <a:t>.</a:t>
            </a:r>
            <a:endParaRPr lang="en-US" dirty="0"/>
          </a:p>
        </p:txBody>
      </p:sp>
      <p:cxnSp>
        <p:nvCxnSpPr>
          <p:cNvPr id="81" name="Straight Arrow Connector 80">
            <a:extLst>
              <a:ext uri="{FF2B5EF4-FFF2-40B4-BE49-F238E27FC236}">
                <a16:creationId xmlns:a16="http://schemas.microsoft.com/office/drawing/2014/main" id="{C33978E6-6F6E-9F77-8858-932BC29378A3}"/>
              </a:ext>
            </a:extLst>
          </p:cNvPr>
          <p:cNvCxnSpPr/>
          <p:nvPr/>
        </p:nvCxnSpPr>
        <p:spPr>
          <a:xfrm>
            <a:off x="6956963" y="3198612"/>
            <a:ext cx="204824" cy="839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D3B8681C-69CF-3A3F-BDFD-A5B723EED891}"/>
              </a:ext>
            </a:extLst>
          </p:cNvPr>
          <p:cNvSpPr txBox="1"/>
          <p:nvPr/>
        </p:nvSpPr>
        <p:spPr>
          <a:xfrm>
            <a:off x="672486" y="4219392"/>
            <a:ext cx="2283093" cy="2031325"/>
          </a:xfrm>
          <a:prstGeom prst="rect">
            <a:avLst/>
          </a:prstGeom>
          <a:solidFill>
            <a:schemeClr val="accent6"/>
          </a:solidFill>
        </p:spPr>
        <p:style>
          <a:lnRef idx="2">
            <a:schemeClr val="accent6"/>
          </a:lnRef>
          <a:fillRef idx="1">
            <a:schemeClr val="lt1"/>
          </a:fillRef>
          <a:effectRef idx="0">
            <a:schemeClr val="accent6"/>
          </a:effectRef>
          <a:fontRef idx="minor">
            <a:schemeClr val="dk1"/>
          </a:fontRef>
        </p:style>
        <p:txBody>
          <a:bodyPr wrap="square">
            <a:spAutoFit/>
          </a:bodyPr>
          <a:lstStyle/>
          <a:p>
            <a:r>
              <a:rPr lang="en-US" dirty="0">
                <a:solidFill>
                  <a:schemeClr val="bg1"/>
                </a:solidFill>
              </a:rPr>
              <a:t>The </a:t>
            </a:r>
            <a:r>
              <a:rPr lang="en-US" b="1" dirty="0" err="1">
                <a:solidFill>
                  <a:schemeClr val="bg1"/>
                </a:solidFill>
              </a:rPr>
              <a:t>StreamWriter</a:t>
            </a:r>
            <a:r>
              <a:rPr lang="en-US" b="1" dirty="0">
                <a:solidFill>
                  <a:schemeClr val="bg1"/>
                </a:solidFill>
              </a:rPr>
              <a:t> and </a:t>
            </a:r>
            <a:r>
              <a:rPr lang="en-US" b="1" dirty="0" err="1">
                <a:solidFill>
                  <a:schemeClr val="bg1"/>
                </a:solidFill>
              </a:rPr>
              <a:t>StreamReader</a:t>
            </a:r>
            <a:r>
              <a:rPr lang="en-US" b="1" dirty="0">
                <a:solidFill>
                  <a:schemeClr val="bg1"/>
                </a:solidFill>
              </a:rPr>
              <a:t> </a:t>
            </a:r>
            <a:r>
              <a:rPr lang="en-US" dirty="0">
                <a:solidFill>
                  <a:schemeClr val="bg1"/>
                </a:solidFill>
              </a:rPr>
              <a:t>classes are useful whenever you need to read or write </a:t>
            </a:r>
            <a:r>
              <a:rPr lang="en-US" b="1" dirty="0" err="1">
                <a:solidFill>
                  <a:schemeClr val="bg1"/>
                </a:solidFill>
              </a:rPr>
              <a:t>characterbased</a:t>
            </a:r>
            <a:r>
              <a:rPr lang="en-US" b="1" dirty="0">
                <a:solidFill>
                  <a:schemeClr val="bg1"/>
                </a:solidFill>
              </a:rPr>
              <a:t> </a:t>
            </a:r>
            <a:r>
              <a:rPr lang="en-US" dirty="0">
                <a:solidFill>
                  <a:schemeClr val="bg1"/>
                </a:solidFill>
              </a:rPr>
              <a:t>data (e.g., strings). </a:t>
            </a:r>
          </a:p>
        </p:txBody>
      </p:sp>
      <p:cxnSp>
        <p:nvCxnSpPr>
          <p:cNvPr id="85" name="Straight Arrow Connector 84">
            <a:extLst>
              <a:ext uri="{FF2B5EF4-FFF2-40B4-BE49-F238E27FC236}">
                <a16:creationId xmlns:a16="http://schemas.microsoft.com/office/drawing/2014/main" id="{22D83909-F3CA-7564-46EF-2E94140023B2}"/>
              </a:ext>
            </a:extLst>
          </p:cNvPr>
          <p:cNvCxnSpPr>
            <a:stCxn id="59" idx="2"/>
          </p:cNvCxnSpPr>
          <p:nvPr/>
        </p:nvCxnSpPr>
        <p:spPr>
          <a:xfrm flipH="1">
            <a:off x="2209800" y="3387899"/>
            <a:ext cx="4028" cy="650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BE241AC1-EFC1-0C38-4503-3DE299DF5CE9}"/>
              </a:ext>
            </a:extLst>
          </p:cNvPr>
          <p:cNvCxnSpPr/>
          <p:nvPr/>
        </p:nvCxnSpPr>
        <p:spPr>
          <a:xfrm flipH="1">
            <a:off x="2348043" y="3320551"/>
            <a:ext cx="2049684" cy="7180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4D7E5F0F-ABC5-92A5-4272-9C5DBE44CD7C}"/>
              </a:ext>
            </a:extLst>
          </p:cNvPr>
          <p:cNvSpPr txBox="1"/>
          <p:nvPr/>
        </p:nvSpPr>
        <p:spPr>
          <a:xfrm>
            <a:off x="82623" y="1236092"/>
            <a:ext cx="1159094" cy="3293209"/>
          </a:xfrm>
          <a:prstGeom prst="rect">
            <a:avLst/>
          </a:prstGeom>
          <a:solidFill>
            <a:schemeClr val="accent6"/>
          </a:solidFill>
        </p:spPr>
        <p:txBody>
          <a:bodyPr wrap="square">
            <a:spAutoFit/>
          </a:bodyPr>
          <a:lstStyle/>
          <a:p>
            <a:r>
              <a:rPr kumimoji="0" lang="en-IN" sz="1600" b="1" i="0" u="none" strike="noStrike" kern="1200" cap="none" spc="0" normalizeH="0" baseline="0" noProof="0" dirty="0" err="1">
                <a:ln>
                  <a:noFill/>
                </a:ln>
                <a:solidFill>
                  <a:schemeClr val="bg1"/>
                </a:solidFill>
                <a:effectLst/>
                <a:uLnTx/>
                <a:uFillTx/>
                <a:latin typeface="Garamond" panose="02020404030301010803"/>
                <a:ea typeface="+mn-ea"/>
                <a:cs typeface="+mn-cs"/>
              </a:rPr>
              <a:t>BinaryReader</a:t>
            </a:r>
            <a:r>
              <a:rPr kumimoji="0" lang="en-IN" sz="1600" b="1" i="0" u="none" strike="noStrike" kern="1200" cap="none" spc="0" normalizeH="0" baseline="0" noProof="0" dirty="0">
                <a:ln>
                  <a:noFill/>
                </a:ln>
                <a:solidFill>
                  <a:schemeClr val="bg1"/>
                </a:solidFill>
                <a:effectLst/>
                <a:uLnTx/>
                <a:uFillTx/>
                <a:latin typeface="Garamond" panose="02020404030301010803"/>
                <a:ea typeface="+mn-ea"/>
                <a:cs typeface="+mn-cs"/>
              </a:rPr>
              <a:t>/Writer</a:t>
            </a:r>
            <a:r>
              <a:rPr kumimoji="0" lang="en-IN" sz="1600" b="0" i="0" u="none" strike="noStrike" kern="1200" cap="none" spc="0" normalizeH="0" baseline="0" noProof="0" dirty="0">
                <a:ln>
                  <a:noFill/>
                </a:ln>
                <a:solidFill>
                  <a:schemeClr val="bg1"/>
                </a:solidFill>
                <a:effectLst/>
                <a:uLnTx/>
                <a:uFillTx/>
                <a:latin typeface="Garamond" panose="02020404030301010803"/>
                <a:ea typeface="+mn-ea"/>
                <a:cs typeface="+mn-cs"/>
              </a:rPr>
              <a:t>  allow you to read and write discrete data types to an underlying stream in a compact binary format</a:t>
            </a:r>
            <a:endParaRPr lang="en-IN" sz="1050" dirty="0">
              <a:solidFill>
                <a:schemeClr val="bg1"/>
              </a:solidFill>
            </a:endParaRPr>
          </a:p>
        </p:txBody>
      </p:sp>
    </p:spTree>
    <p:extLst>
      <p:ext uri="{BB962C8B-B14F-4D97-AF65-F5344CB8AC3E}">
        <p14:creationId xmlns:p14="http://schemas.microsoft.com/office/powerpoint/2010/main" val="4246675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EC7C9-5034-4F08-9E48-12301C09514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CA29F0B-D99D-4358-9FC4-F9DBE3108BC4}"/>
              </a:ext>
            </a:extLst>
          </p:cNvPr>
          <p:cNvSpPr>
            <a:spLocks noGrp="1"/>
          </p:cNvSpPr>
          <p:nvPr>
            <p:ph idx="1"/>
          </p:nvPr>
        </p:nvSpPr>
        <p:spPr/>
        <p:txBody>
          <a:bodyPr>
            <a:normAutofit/>
          </a:bodyPr>
          <a:lstStyle/>
          <a:p>
            <a:pPr marL="6350" indent="-6350">
              <a:lnSpc>
                <a:spcPct val="107000"/>
              </a:lnSpc>
              <a:spcAft>
                <a:spcPts val="795"/>
              </a:spcAft>
            </a:pPr>
            <a:r>
              <a:rPr lang="en-IN" sz="1800" dirty="0">
                <a:solidFill>
                  <a:srgbClr val="000000"/>
                </a:solidFill>
                <a:effectLst/>
                <a:latin typeface="Calibri" panose="020F0502020204030204" pitchFamily="34" charset="0"/>
                <a:ea typeface="Calibri" panose="020F0502020204030204" pitchFamily="34" charset="0"/>
              </a:rPr>
              <a:t>As mentioned, the </a:t>
            </a:r>
            <a:r>
              <a:rPr lang="en-IN" sz="1800" dirty="0" err="1">
                <a:solidFill>
                  <a:srgbClr val="000000"/>
                </a:solidFill>
                <a:effectLst/>
                <a:latin typeface="Calibri" panose="020F0502020204030204" pitchFamily="34" charset="0"/>
                <a:ea typeface="Calibri" panose="020F0502020204030204" pitchFamily="34" charset="0"/>
              </a:rPr>
              <a:t>FileStream</a:t>
            </a:r>
            <a:r>
              <a:rPr lang="en-IN" sz="1800" dirty="0">
                <a:solidFill>
                  <a:srgbClr val="000000"/>
                </a:solidFill>
                <a:effectLst/>
                <a:latin typeface="Calibri" panose="020F0502020204030204" pitchFamily="34" charset="0"/>
                <a:ea typeface="Calibri" panose="020F0502020204030204" pitchFamily="34" charset="0"/>
              </a:rPr>
              <a:t> constructor just described opens a file that (in most cases) has read/write access. </a:t>
            </a:r>
          </a:p>
          <a:p>
            <a:pPr marL="6350" indent="-6350">
              <a:lnSpc>
                <a:spcPct val="107000"/>
              </a:lnSpc>
              <a:spcAft>
                <a:spcPts val="795"/>
              </a:spcAft>
            </a:pPr>
            <a:r>
              <a:rPr lang="en-IN" sz="1800" dirty="0">
                <a:solidFill>
                  <a:srgbClr val="000000"/>
                </a:solidFill>
                <a:effectLst/>
                <a:latin typeface="Calibri" panose="020F0502020204030204" pitchFamily="34" charset="0"/>
                <a:ea typeface="Calibri" panose="020F0502020204030204" pitchFamily="34" charset="0"/>
              </a:rPr>
              <a:t>If you want to restrict access to just reading or just writing, use this constructor instead:  </a:t>
            </a:r>
          </a:p>
          <a:p>
            <a:pPr marL="406400" lvl="1" indent="-6350">
              <a:lnSpc>
                <a:spcPct val="107000"/>
              </a:lnSpc>
              <a:spcAft>
                <a:spcPts val="795"/>
              </a:spcAft>
            </a:pPr>
            <a:r>
              <a:rPr lang="en-IN" sz="1400" dirty="0" err="1">
                <a:solidFill>
                  <a:srgbClr val="000000"/>
                </a:solidFill>
                <a:effectLst/>
                <a:latin typeface="Calibri" panose="020F0502020204030204" pitchFamily="34" charset="0"/>
                <a:ea typeface="Calibri" panose="020F0502020204030204" pitchFamily="34" charset="0"/>
              </a:rPr>
              <a:t>FileStream</a:t>
            </a:r>
            <a:r>
              <a:rPr lang="en-IN" sz="1400" dirty="0">
                <a:solidFill>
                  <a:srgbClr val="000000"/>
                </a:solidFill>
                <a:effectLst/>
                <a:latin typeface="Calibri" panose="020F0502020204030204" pitchFamily="34" charset="0"/>
                <a:ea typeface="Calibri" panose="020F0502020204030204" pitchFamily="34" charset="0"/>
              </a:rPr>
              <a:t>(string path, </a:t>
            </a:r>
            <a:r>
              <a:rPr lang="en-IN" sz="1400" dirty="0" err="1">
                <a:solidFill>
                  <a:srgbClr val="000000"/>
                </a:solidFill>
                <a:effectLst/>
                <a:latin typeface="Calibri" panose="020F0502020204030204" pitchFamily="34" charset="0"/>
                <a:ea typeface="Calibri" panose="020F0502020204030204" pitchFamily="34" charset="0"/>
              </a:rPr>
              <a:t>FileMode</a:t>
            </a:r>
            <a:r>
              <a:rPr lang="en-IN" sz="1400" dirty="0">
                <a:solidFill>
                  <a:srgbClr val="000000"/>
                </a:solidFill>
                <a:effectLst/>
                <a:latin typeface="Calibri" panose="020F0502020204030204" pitchFamily="34" charset="0"/>
                <a:ea typeface="Calibri" panose="020F0502020204030204" pitchFamily="34" charset="0"/>
              </a:rPr>
              <a:t> mode, </a:t>
            </a:r>
            <a:r>
              <a:rPr lang="en-IN" sz="1400" dirty="0" err="1">
                <a:solidFill>
                  <a:srgbClr val="000000"/>
                </a:solidFill>
                <a:effectLst/>
                <a:latin typeface="Calibri" panose="020F0502020204030204" pitchFamily="34" charset="0"/>
                <a:ea typeface="Calibri" panose="020F0502020204030204" pitchFamily="34" charset="0"/>
              </a:rPr>
              <a:t>FileAccess</a:t>
            </a:r>
            <a:r>
              <a:rPr lang="en-IN" sz="1400" dirty="0">
                <a:solidFill>
                  <a:srgbClr val="000000"/>
                </a:solidFill>
                <a:effectLst/>
                <a:latin typeface="Calibri" panose="020F0502020204030204" pitchFamily="34" charset="0"/>
                <a:ea typeface="Calibri" panose="020F0502020204030204" pitchFamily="34" charset="0"/>
              </a:rPr>
              <a:t> access)  </a:t>
            </a:r>
          </a:p>
          <a:p>
            <a:pPr marL="6350" indent="-6350">
              <a:lnSpc>
                <a:spcPct val="107000"/>
              </a:lnSpc>
              <a:spcAft>
                <a:spcPts val="795"/>
              </a:spcAft>
            </a:pPr>
            <a:r>
              <a:rPr lang="en-IN" sz="1800" dirty="0">
                <a:solidFill>
                  <a:srgbClr val="000000"/>
                </a:solidFill>
                <a:effectLst/>
                <a:latin typeface="Calibri" panose="020F0502020204030204" pitchFamily="34" charset="0"/>
                <a:ea typeface="Calibri" panose="020F0502020204030204" pitchFamily="34" charset="0"/>
              </a:rPr>
              <a:t>As before,</a:t>
            </a:r>
          </a:p>
          <a:p>
            <a:pPr marL="6350" indent="-6350">
              <a:lnSpc>
                <a:spcPct val="107000"/>
              </a:lnSpc>
              <a:spcAft>
                <a:spcPts val="795"/>
              </a:spcAft>
            </a:pPr>
            <a:r>
              <a:rPr lang="en-IN" sz="1800" dirty="0">
                <a:solidFill>
                  <a:srgbClr val="000000"/>
                </a:solidFill>
                <a:effectLst/>
                <a:latin typeface="Calibri" panose="020F0502020204030204" pitchFamily="34" charset="0"/>
                <a:ea typeface="Calibri" panose="020F0502020204030204" pitchFamily="34" charset="0"/>
              </a:rPr>
              <a:t> path specifies the name of the file to open, and </a:t>
            </a:r>
          </a:p>
          <a:p>
            <a:pPr marL="6350" indent="-6350">
              <a:lnSpc>
                <a:spcPct val="107000"/>
              </a:lnSpc>
              <a:spcAft>
                <a:spcPts val="795"/>
              </a:spcAft>
            </a:pPr>
            <a:r>
              <a:rPr lang="en-IN" sz="1800" dirty="0">
                <a:solidFill>
                  <a:srgbClr val="000000"/>
                </a:solidFill>
                <a:effectLst/>
                <a:latin typeface="Calibri" panose="020F0502020204030204" pitchFamily="34" charset="0"/>
                <a:ea typeface="Calibri" panose="020F0502020204030204" pitchFamily="34" charset="0"/>
              </a:rPr>
              <a:t>mode specifies how the file will be opened. </a:t>
            </a:r>
          </a:p>
          <a:p>
            <a:pPr marL="6350" indent="-6350">
              <a:lnSpc>
                <a:spcPct val="107000"/>
              </a:lnSpc>
              <a:spcAft>
                <a:spcPts val="795"/>
              </a:spcAft>
            </a:pPr>
            <a:r>
              <a:rPr lang="en-IN" sz="1800" dirty="0">
                <a:solidFill>
                  <a:srgbClr val="000000"/>
                </a:solidFill>
                <a:effectLst/>
                <a:latin typeface="Calibri" panose="020F0502020204030204" pitchFamily="34" charset="0"/>
                <a:ea typeface="Calibri" panose="020F0502020204030204" pitchFamily="34" charset="0"/>
              </a:rPr>
              <a:t>The value passed in access specifies how the file can be accessed.  </a:t>
            </a:r>
          </a:p>
          <a:p>
            <a:pPr marL="406400" lvl="1" indent="-6350">
              <a:lnSpc>
                <a:spcPct val="107000"/>
              </a:lnSpc>
              <a:spcAft>
                <a:spcPts val="795"/>
              </a:spcAft>
            </a:pPr>
            <a:r>
              <a:rPr lang="en-IN" sz="1400" dirty="0">
                <a:solidFill>
                  <a:srgbClr val="000000"/>
                </a:solidFill>
                <a:effectLst/>
                <a:latin typeface="Calibri" panose="020F0502020204030204" pitchFamily="34" charset="0"/>
                <a:ea typeface="Calibri" panose="020F0502020204030204" pitchFamily="34" charset="0"/>
              </a:rPr>
              <a:t>It must be one of the values defined by the </a:t>
            </a:r>
            <a:r>
              <a:rPr lang="en-IN" sz="1400" dirty="0" err="1">
                <a:solidFill>
                  <a:srgbClr val="000000"/>
                </a:solidFill>
                <a:effectLst/>
                <a:latin typeface="Calibri" panose="020F0502020204030204" pitchFamily="34" charset="0"/>
                <a:ea typeface="Calibri" panose="020F0502020204030204" pitchFamily="34" charset="0"/>
              </a:rPr>
              <a:t>FileAccess</a:t>
            </a:r>
            <a:r>
              <a:rPr lang="en-IN" sz="1400" dirty="0">
                <a:solidFill>
                  <a:srgbClr val="000000"/>
                </a:solidFill>
                <a:effectLst/>
                <a:latin typeface="Calibri" panose="020F0502020204030204" pitchFamily="34" charset="0"/>
                <a:ea typeface="Calibri" panose="020F0502020204030204" pitchFamily="34" charset="0"/>
              </a:rPr>
              <a:t> enumeration, which are shown here: </a:t>
            </a:r>
          </a:p>
          <a:p>
            <a:pPr marL="406400" lvl="1" indent="-6350">
              <a:lnSpc>
                <a:spcPct val="107000"/>
              </a:lnSpc>
              <a:spcAft>
                <a:spcPts val="795"/>
              </a:spcAft>
              <a:tabLst>
                <a:tab pos="1838325" algn="ctr"/>
                <a:tab pos="3352800" algn="ctr"/>
              </a:tabLst>
            </a:pPr>
            <a:r>
              <a:rPr lang="en-IN" sz="1400" dirty="0" err="1">
                <a:solidFill>
                  <a:srgbClr val="000000"/>
                </a:solidFill>
                <a:effectLst/>
                <a:latin typeface="Calibri" panose="020F0502020204030204" pitchFamily="34" charset="0"/>
                <a:ea typeface="Calibri" panose="020F0502020204030204" pitchFamily="34" charset="0"/>
              </a:rPr>
              <a:t>FileAccess.Read</a:t>
            </a:r>
            <a:r>
              <a:rPr lang="en-IN" sz="1400" dirty="0">
                <a:solidFill>
                  <a:srgbClr val="000000"/>
                </a:solidFill>
                <a:effectLst/>
                <a:latin typeface="Calibri" panose="020F0502020204030204" pitchFamily="34" charset="0"/>
                <a:ea typeface="Calibri" panose="020F0502020204030204" pitchFamily="34" charset="0"/>
              </a:rPr>
              <a:t>  	</a:t>
            </a:r>
            <a:r>
              <a:rPr lang="en-IN" sz="1400" dirty="0" err="1">
                <a:solidFill>
                  <a:srgbClr val="000000"/>
                </a:solidFill>
                <a:effectLst/>
                <a:latin typeface="Calibri" panose="020F0502020204030204" pitchFamily="34" charset="0"/>
                <a:ea typeface="Calibri" panose="020F0502020204030204" pitchFamily="34" charset="0"/>
              </a:rPr>
              <a:t>FileAccess.Write</a:t>
            </a:r>
            <a:r>
              <a:rPr lang="en-IN" sz="1400" dirty="0">
                <a:solidFill>
                  <a:srgbClr val="000000"/>
                </a:solidFill>
                <a:effectLst/>
                <a:latin typeface="Calibri" panose="020F0502020204030204" pitchFamily="34" charset="0"/>
                <a:ea typeface="Calibri" panose="020F0502020204030204" pitchFamily="34" charset="0"/>
              </a:rPr>
              <a:t>  	</a:t>
            </a:r>
            <a:r>
              <a:rPr lang="en-IN" sz="1400" dirty="0" err="1">
                <a:solidFill>
                  <a:srgbClr val="000000"/>
                </a:solidFill>
                <a:effectLst/>
                <a:latin typeface="Calibri" panose="020F0502020204030204" pitchFamily="34" charset="0"/>
                <a:ea typeface="Calibri" panose="020F0502020204030204" pitchFamily="34" charset="0"/>
              </a:rPr>
              <a:t>FileAccess.ReadWrite</a:t>
            </a:r>
            <a:r>
              <a:rPr lang="en-IN" sz="1400" dirty="0">
                <a:solidFill>
                  <a:srgbClr val="000000"/>
                </a:solidFill>
                <a:effectLst/>
                <a:latin typeface="Calibri" panose="020F0502020204030204" pitchFamily="34" charset="0"/>
                <a:ea typeface="Calibri" panose="020F0502020204030204" pitchFamily="34" charset="0"/>
              </a:rPr>
              <a:t> </a:t>
            </a:r>
          </a:p>
          <a:p>
            <a:endParaRPr lang="en-IN" dirty="0"/>
          </a:p>
        </p:txBody>
      </p:sp>
    </p:spTree>
    <p:extLst>
      <p:ext uri="{BB962C8B-B14F-4D97-AF65-F5344CB8AC3E}">
        <p14:creationId xmlns:p14="http://schemas.microsoft.com/office/powerpoint/2010/main" val="512044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93F2C49-A793-4B33-A029-DB0EBE9BAE35}"/>
              </a:ext>
            </a:extLst>
          </p:cNvPr>
          <p:cNvGraphicFramePr>
            <a:graphicFrameLocks noGrp="1"/>
          </p:cNvGraphicFramePr>
          <p:nvPr>
            <p:ph idx="1"/>
            <p:extLst>
              <p:ext uri="{D42A27DB-BD31-4B8C-83A1-F6EECF244321}">
                <p14:modId xmlns:p14="http://schemas.microsoft.com/office/powerpoint/2010/main" val="1857513778"/>
              </p:ext>
            </p:extLst>
          </p:nvPr>
        </p:nvGraphicFramePr>
        <p:xfrm>
          <a:off x="304800" y="948088"/>
          <a:ext cx="8458200" cy="4961823"/>
        </p:xfrm>
        <a:graphic>
          <a:graphicData uri="http://schemas.openxmlformats.org/drawingml/2006/table">
            <a:tbl>
              <a:tblPr firstRow="1" firstCol="1" bandRow="1">
                <a:tableStyleId>{7E9639D4-E3E2-4D34-9284-5A2195B3D0D7}</a:tableStyleId>
              </a:tblPr>
              <a:tblGrid>
                <a:gridCol w="4227693">
                  <a:extLst>
                    <a:ext uri="{9D8B030D-6E8A-4147-A177-3AD203B41FA5}">
                      <a16:colId xmlns:a16="http://schemas.microsoft.com/office/drawing/2014/main" val="10596214"/>
                    </a:ext>
                  </a:extLst>
                </a:gridCol>
                <a:gridCol w="4230507">
                  <a:extLst>
                    <a:ext uri="{9D8B030D-6E8A-4147-A177-3AD203B41FA5}">
                      <a16:colId xmlns:a16="http://schemas.microsoft.com/office/drawing/2014/main" val="2627295154"/>
                    </a:ext>
                  </a:extLst>
                </a:gridCol>
              </a:tblGrid>
              <a:tr h="338509">
                <a:tc>
                  <a:txBody>
                    <a:bodyPr/>
                    <a:lstStyle/>
                    <a:p>
                      <a:pPr marL="6350" indent="-6350">
                        <a:lnSpc>
                          <a:spcPct val="107000"/>
                        </a:lnSpc>
                        <a:spcAft>
                          <a:spcPts val="795"/>
                        </a:spcAft>
                      </a:pPr>
                      <a:r>
                        <a:rPr lang="en-IN" sz="1100">
                          <a:effectLst/>
                        </a:rPr>
                        <a:t>Value </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73025" marT="30480" marB="0"/>
                </a:tc>
                <a:tc>
                  <a:txBody>
                    <a:bodyPr/>
                    <a:lstStyle/>
                    <a:p>
                      <a:pPr marL="6350" indent="-6350">
                        <a:lnSpc>
                          <a:spcPct val="107000"/>
                        </a:lnSpc>
                        <a:spcAft>
                          <a:spcPts val="795"/>
                        </a:spcAft>
                      </a:pPr>
                      <a:r>
                        <a:rPr lang="en-IN" sz="1100">
                          <a:effectLst/>
                        </a:rPr>
                        <a:t>Description </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73025" marT="30480" marB="0"/>
                </a:tc>
                <a:extLst>
                  <a:ext uri="{0D108BD9-81ED-4DB2-BD59-A6C34878D82A}">
                    <a16:rowId xmlns:a16="http://schemas.microsoft.com/office/drawing/2014/main" val="2784245207"/>
                  </a:ext>
                </a:extLst>
              </a:tr>
              <a:tr h="805437">
                <a:tc>
                  <a:txBody>
                    <a:bodyPr/>
                    <a:lstStyle/>
                    <a:p>
                      <a:pPr marL="6350" indent="-6350">
                        <a:lnSpc>
                          <a:spcPct val="107000"/>
                        </a:lnSpc>
                        <a:spcAft>
                          <a:spcPts val="795"/>
                        </a:spcAft>
                      </a:pPr>
                      <a:r>
                        <a:rPr lang="en-IN" sz="2000" dirty="0" err="1">
                          <a:effectLst/>
                        </a:rPr>
                        <a:t>FileMode.Append</a:t>
                      </a:r>
                      <a:r>
                        <a:rPr lang="en-IN" sz="2000" dirty="0">
                          <a:effectLst/>
                        </a:rPr>
                        <a:t> </a:t>
                      </a:r>
                      <a:endParaRPr lang="en-IN"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73025" marT="30480" marB="0"/>
                </a:tc>
                <a:tc>
                  <a:txBody>
                    <a:bodyPr/>
                    <a:lstStyle/>
                    <a:p>
                      <a:pPr marL="6350" indent="-6350">
                        <a:lnSpc>
                          <a:spcPct val="107000"/>
                        </a:lnSpc>
                        <a:spcAft>
                          <a:spcPts val="795"/>
                        </a:spcAft>
                      </a:pPr>
                      <a:r>
                        <a:rPr lang="en-IN" sz="2000">
                          <a:effectLst/>
                        </a:rPr>
                        <a:t>Output is appended to the end of file.  </a:t>
                      </a:r>
                    </a:p>
                    <a:p>
                      <a:pPr marL="6350" indent="-6350">
                        <a:lnSpc>
                          <a:spcPct val="107000"/>
                        </a:lnSpc>
                        <a:spcAft>
                          <a:spcPts val="795"/>
                        </a:spcAft>
                      </a:pPr>
                      <a:r>
                        <a:rPr lang="en-IN" sz="2000">
                          <a:effectLst/>
                        </a:rPr>
                        <a:t> </a:t>
                      </a:r>
                      <a:endParaRPr lang="en-IN"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73025" marT="30480" marB="0"/>
                </a:tc>
                <a:extLst>
                  <a:ext uri="{0D108BD9-81ED-4DB2-BD59-A6C34878D82A}">
                    <a16:rowId xmlns:a16="http://schemas.microsoft.com/office/drawing/2014/main" val="3419152432"/>
                  </a:ext>
                </a:extLst>
              </a:tr>
              <a:tr h="636604">
                <a:tc>
                  <a:txBody>
                    <a:bodyPr/>
                    <a:lstStyle/>
                    <a:p>
                      <a:pPr marL="6350" indent="-6350">
                        <a:lnSpc>
                          <a:spcPct val="107000"/>
                        </a:lnSpc>
                        <a:spcAft>
                          <a:spcPts val="795"/>
                        </a:spcAft>
                      </a:pPr>
                      <a:r>
                        <a:rPr lang="en-IN" sz="2000">
                          <a:effectLst/>
                        </a:rPr>
                        <a:t>FileMode.Create </a:t>
                      </a:r>
                      <a:endParaRPr lang="en-IN"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73025" marT="30480" marB="0"/>
                </a:tc>
                <a:tc>
                  <a:txBody>
                    <a:bodyPr/>
                    <a:lstStyle/>
                    <a:p>
                      <a:pPr marL="6350" indent="-6350">
                        <a:lnSpc>
                          <a:spcPct val="107000"/>
                        </a:lnSpc>
                        <a:spcAft>
                          <a:spcPts val="795"/>
                        </a:spcAft>
                      </a:pPr>
                      <a:r>
                        <a:rPr lang="en-IN" sz="2000" dirty="0">
                          <a:effectLst/>
                        </a:rPr>
                        <a:t>Creates a new output file. Any </a:t>
                      </a:r>
                      <a:r>
                        <a:rPr lang="en-IN" sz="2000" dirty="0" err="1">
                          <a:effectLst/>
                        </a:rPr>
                        <a:t>preexisting</a:t>
                      </a:r>
                      <a:r>
                        <a:rPr lang="en-IN" sz="2000" dirty="0">
                          <a:effectLst/>
                        </a:rPr>
                        <a:t> file by the same name will be destroyed. </a:t>
                      </a:r>
                      <a:endParaRPr lang="en-IN"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73025" marT="30480" marB="0"/>
                </a:tc>
                <a:extLst>
                  <a:ext uri="{0D108BD9-81ED-4DB2-BD59-A6C34878D82A}">
                    <a16:rowId xmlns:a16="http://schemas.microsoft.com/office/drawing/2014/main" val="1827811577"/>
                  </a:ext>
                </a:extLst>
              </a:tr>
              <a:tr h="636604">
                <a:tc>
                  <a:txBody>
                    <a:bodyPr/>
                    <a:lstStyle/>
                    <a:p>
                      <a:pPr marL="6350" indent="-6350">
                        <a:lnSpc>
                          <a:spcPct val="107000"/>
                        </a:lnSpc>
                        <a:spcAft>
                          <a:spcPts val="795"/>
                        </a:spcAft>
                      </a:pPr>
                      <a:r>
                        <a:rPr lang="en-IN" sz="2000">
                          <a:effectLst/>
                        </a:rPr>
                        <a:t>FileMode.CreateNew </a:t>
                      </a:r>
                      <a:endParaRPr lang="en-IN"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73025" marT="30480" marB="0"/>
                </a:tc>
                <a:tc>
                  <a:txBody>
                    <a:bodyPr/>
                    <a:lstStyle/>
                    <a:p>
                      <a:pPr marL="6350" indent="-6350">
                        <a:lnSpc>
                          <a:spcPct val="107000"/>
                        </a:lnSpc>
                        <a:spcAft>
                          <a:spcPts val="795"/>
                        </a:spcAft>
                      </a:pPr>
                      <a:r>
                        <a:rPr lang="en-IN" sz="2000">
                          <a:effectLst/>
                        </a:rPr>
                        <a:t>Creates a new output file. The file must not already exist. </a:t>
                      </a:r>
                      <a:endParaRPr lang="en-IN"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73025" marT="30480" marB="0"/>
                </a:tc>
                <a:extLst>
                  <a:ext uri="{0D108BD9-81ED-4DB2-BD59-A6C34878D82A}">
                    <a16:rowId xmlns:a16="http://schemas.microsoft.com/office/drawing/2014/main" val="3081179095"/>
                  </a:ext>
                </a:extLst>
              </a:tr>
              <a:tr h="805437">
                <a:tc>
                  <a:txBody>
                    <a:bodyPr/>
                    <a:lstStyle/>
                    <a:p>
                      <a:pPr marL="6350" indent="-6350">
                        <a:lnSpc>
                          <a:spcPct val="107000"/>
                        </a:lnSpc>
                        <a:spcAft>
                          <a:spcPts val="795"/>
                        </a:spcAft>
                      </a:pPr>
                      <a:r>
                        <a:rPr lang="en-IN" sz="2000">
                          <a:effectLst/>
                        </a:rPr>
                        <a:t>FileMode.Open </a:t>
                      </a:r>
                      <a:endParaRPr lang="en-IN"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73025" marT="30480" marB="0"/>
                </a:tc>
                <a:tc>
                  <a:txBody>
                    <a:bodyPr/>
                    <a:lstStyle/>
                    <a:p>
                      <a:pPr marL="6350" indent="-6350">
                        <a:lnSpc>
                          <a:spcPct val="107000"/>
                        </a:lnSpc>
                        <a:spcAft>
                          <a:spcPts val="795"/>
                        </a:spcAft>
                      </a:pPr>
                      <a:r>
                        <a:rPr lang="en-IN" sz="2000">
                          <a:effectLst/>
                        </a:rPr>
                        <a:t>Opens a pre existing file.  </a:t>
                      </a:r>
                    </a:p>
                    <a:p>
                      <a:pPr marL="6350" indent="-6350">
                        <a:lnSpc>
                          <a:spcPct val="107000"/>
                        </a:lnSpc>
                        <a:spcAft>
                          <a:spcPts val="795"/>
                        </a:spcAft>
                      </a:pPr>
                      <a:r>
                        <a:rPr lang="en-IN" sz="2000">
                          <a:effectLst/>
                        </a:rPr>
                        <a:t> </a:t>
                      </a:r>
                      <a:endParaRPr lang="en-IN"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73025" marT="30480" marB="0"/>
                </a:tc>
                <a:extLst>
                  <a:ext uri="{0D108BD9-81ED-4DB2-BD59-A6C34878D82A}">
                    <a16:rowId xmlns:a16="http://schemas.microsoft.com/office/drawing/2014/main" val="2135850959"/>
                  </a:ext>
                </a:extLst>
              </a:tr>
              <a:tr h="636604">
                <a:tc>
                  <a:txBody>
                    <a:bodyPr/>
                    <a:lstStyle/>
                    <a:p>
                      <a:pPr marL="6350" indent="-6350">
                        <a:lnSpc>
                          <a:spcPct val="107000"/>
                        </a:lnSpc>
                        <a:spcAft>
                          <a:spcPts val="795"/>
                        </a:spcAft>
                      </a:pPr>
                      <a:r>
                        <a:rPr lang="en-IN" sz="2000">
                          <a:effectLst/>
                        </a:rPr>
                        <a:t>FileMode.OpenOrCreate </a:t>
                      </a:r>
                      <a:endParaRPr lang="en-IN"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73025" marT="30480" marB="0"/>
                </a:tc>
                <a:tc>
                  <a:txBody>
                    <a:bodyPr/>
                    <a:lstStyle/>
                    <a:p>
                      <a:pPr marL="6350" indent="-6350">
                        <a:lnSpc>
                          <a:spcPct val="107000"/>
                        </a:lnSpc>
                        <a:spcAft>
                          <a:spcPts val="795"/>
                        </a:spcAft>
                      </a:pPr>
                      <a:r>
                        <a:rPr lang="en-IN" sz="2000">
                          <a:effectLst/>
                        </a:rPr>
                        <a:t>Opens a file if it exists, or creates the file if it does not already exist. </a:t>
                      </a:r>
                      <a:endParaRPr lang="en-IN"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73025" marT="30480" marB="0"/>
                </a:tc>
                <a:extLst>
                  <a:ext uri="{0D108BD9-81ED-4DB2-BD59-A6C34878D82A}">
                    <a16:rowId xmlns:a16="http://schemas.microsoft.com/office/drawing/2014/main" val="1976639983"/>
                  </a:ext>
                </a:extLst>
              </a:tr>
              <a:tr h="636604">
                <a:tc>
                  <a:txBody>
                    <a:bodyPr/>
                    <a:lstStyle/>
                    <a:p>
                      <a:pPr marL="6350" indent="-6350">
                        <a:lnSpc>
                          <a:spcPct val="107000"/>
                        </a:lnSpc>
                        <a:spcAft>
                          <a:spcPts val="795"/>
                        </a:spcAft>
                      </a:pPr>
                      <a:r>
                        <a:rPr lang="en-IN" sz="2000" dirty="0">
                          <a:effectLst/>
                        </a:rPr>
                        <a:t>. </a:t>
                      </a:r>
                      <a:r>
                        <a:rPr lang="en-IN" sz="2000" dirty="0" err="1">
                          <a:effectLst/>
                        </a:rPr>
                        <a:t>FileMode.Truncate</a:t>
                      </a:r>
                      <a:r>
                        <a:rPr lang="en-IN" sz="2000" dirty="0">
                          <a:effectLst/>
                        </a:rPr>
                        <a:t> </a:t>
                      </a:r>
                      <a:endParaRPr lang="en-IN"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73025" marT="30480" marB="0"/>
                </a:tc>
                <a:tc>
                  <a:txBody>
                    <a:bodyPr/>
                    <a:lstStyle/>
                    <a:p>
                      <a:pPr marL="6350" indent="-6350">
                        <a:lnSpc>
                          <a:spcPct val="107000"/>
                        </a:lnSpc>
                        <a:spcAft>
                          <a:spcPts val="795"/>
                        </a:spcAft>
                      </a:pPr>
                      <a:r>
                        <a:rPr lang="en-IN" sz="2000" dirty="0">
                          <a:effectLst/>
                        </a:rPr>
                        <a:t>Opens a pr </a:t>
                      </a:r>
                      <a:r>
                        <a:rPr lang="en-IN" sz="2000" dirty="0" err="1">
                          <a:effectLst/>
                        </a:rPr>
                        <a:t>eexisting</a:t>
                      </a:r>
                      <a:r>
                        <a:rPr lang="en-IN" sz="2000" dirty="0">
                          <a:effectLst/>
                        </a:rPr>
                        <a:t> file, but reduces its length to zero. </a:t>
                      </a:r>
                      <a:endParaRPr lang="en-IN"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73025" marT="30480" marB="0"/>
                </a:tc>
                <a:extLst>
                  <a:ext uri="{0D108BD9-81ED-4DB2-BD59-A6C34878D82A}">
                    <a16:rowId xmlns:a16="http://schemas.microsoft.com/office/drawing/2014/main" val="2455028518"/>
                  </a:ext>
                </a:extLst>
              </a:tr>
            </a:tbl>
          </a:graphicData>
        </a:graphic>
      </p:graphicFrame>
    </p:spTree>
    <p:extLst>
      <p:ext uri="{BB962C8B-B14F-4D97-AF65-F5344CB8AC3E}">
        <p14:creationId xmlns:p14="http://schemas.microsoft.com/office/powerpoint/2010/main" val="1315529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0FA0A-DB08-4FFB-908C-D14EF7297864}"/>
              </a:ext>
            </a:extLst>
          </p:cNvPr>
          <p:cNvSpPr>
            <a:spLocks noGrp="1"/>
          </p:cNvSpPr>
          <p:nvPr>
            <p:ph type="title"/>
          </p:nvPr>
        </p:nvSpPr>
        <p:spPr/>
        <p:txBody>
          <a:bodyPr/>
          <a:lstStyle/>
          <a:p>
            <a:r>
              <a:rPr lang="en-IN" dirty="0"/>
              <a:t>Which class when to use </a:t>
            </a:r>
            <a:br>
              <a:rPr lang="en-IN" dirty="0"/>
            </a:br>
            <a:r>
              <a:rPr lang="en-IN" sz="1800" dirty="0">
                <a:solidFill>
                  <a:srgbClr val="0000FF"/>
                </a:solidFill>
                <a:highlight>
                  <a:srgbClr val="FFFFFF"/>
                </a:highlight>
                <a:latin typeface="Consolas" panose="020B0609020204030204" pitchFamily="49" charset="0"/>
              </a:rPr>
              <a:t>using</a:t>
            </a:r>
            <a:r>
              <a:rPr lang="en-IN" sz="1800" dirty="0">
                <a:solidFill>
                  <a:srgbClr val="000000"/>
                </a:solidFill>
                <a:highlight>
                  <a:srgbClr val="FFFFFF"/>
                </a:highlight>
                <a:latin typeface="Consolas" panose="020B0609020204030204" pitchFamily="49" charset="0"/>
              </a:rPr>
              <a:t> System.IO for file </a:t>
            </a:r>
            <a:r>
              <a:rPr lang="en-IN" sz="1800" dirty="0" err="1">
                <a:solidFill>
                  <a:srgbClr val="000000"/>
                </a:solidFill>
                <a:highlight>
                  <a:srgbClr val="FFFFFF"/>
                </a:highlight>
                <a:latin typeface="Consolas" panose="020B0609020204030204" pitchFamily="49" charset="0"/>
              </a:rPr>
              <a:t>handeling</a:t>
            </a:r>
            <a:endParaRPr lang="en-IN" dirty="0"/>
          </a:p>
        </p:txBody>
      </p:sp>
      <p:sp>
        <p:nvSpPr>
          <p:cNvPr id="3" name="Content Placeholder 2">
            <a:extLst>
              <a:ext uri="{FF2B5EF4-FFF2-40B4-BE49-F238E27FC236}">
                <a16:creationId xmlns:a16="http://schemas.microsoft.com/office/drawing/2014/main" id="{9B4EF72A-3B4D-401D-9CFE-A549150FCD25}"/>
              </a:ext>
            </a:extLst>
          </p:cNvPr>
          <p:cNvSpPr>
            <a:spLocks noGrp="1"/>
          </p:cNvSpPr>
          <p:nvPr>
            <p:ph idx="1"/>
          </p:nvPr>
        </p:nvSpPr>
        <p:spPr/>
        <p:txBody>
          <a:bodyPr>
            <a:normAutofit fontScale="85000" lnSpcReduction="10000"/>
          </a:bodyPr>
          <a:lstStyle/>
          <a:p>
            <a:r>
              <a:rPr lang="en-US" b="1" dirty="0"/>
              <a:t>File Stream</a:t>
            </a:r>
            <a:r>
              <a:rPr lang="en-US" dirty="0"/>
              <a:t>=It is a fairly primitive stream; it can read or write only a </a:t>
            </a:r>
            <a:r>
              <a:rPr lang="en-US" b="1" dirty="0"/>
              <a:t>single byte or an array of bytes</a:t>
            </a:r>
            <a:r>
              <a:rPr lang="en-US" dirty="0"/>
              <a:t>.</a:t>
            </a:r>
          </a:p>
          <a:p>
            <a:r>
              <a:rPr lang="en-US" dirty="0"/>
              <a:t>The </a:t>
            </a:r>
            <a:r>
              <a:rPr lang="en-US" b="1" dirty="0" err="1"/>
              <a:t>StreamWriter</a:t>
            </a:r>
            <a:r>
              <a:rPr lang="en-US" b="1" dirty="0"/>
              <a:t> and </a:t>
            </a:r>
            <a:r>
              <a:rPr lang="en-US" b="1" dirty="0" err="1"/>
              <a:t>StreamReader</a:t>
            </a:r>
            <a:r>
              <a:rPr lang="en-US" b="1" dirty="0"/>
              <a:t> </a:t>
            </a:r>
            <a:r>
              <a:rPr lang="en-US" dirty="0"/>
              <a:t>classes are useful whenever you need to read or write </a:t>
            </a:r>
            <a:r>
              <a:rPr lang="en-US" b="1" dirty="0" err="1"/>
              <a:t>characterbased</a:t>
            </a:r>
            <a:r>
              <a:rPr lang="en-US" b="1" dirty="0"/>
              <a:t> </a:t>
            </a:r>
            <a:r>
              <a:rPr lang="en-US" dirty="0"/>
              <a:t>data (e.g., strings). </a:t>
            </a:r>
          </a:p>
          <a:p>
            <a:r>
              <a:rPr lang="en-US" dirty="0"/>
              <a:t>the </a:t>
            </a:r>
            <a:r>
              <a:rPr lang="en-US" b="1" dirty="0" err="1"/>
              <a:t>StringWriter</a:t>
            </a:r>
            <a:r>
              <a:rPr lang="en-US" b="1" dirty="0"/>
              <a:t> and </a:t>
            </a:r>
            <a:r>
              <a:rPr lang="en-US" b="1" dirty="0" err="1"/>
              <a:t>StringReader</a:t>
            </a:r>
            <a:r>
              <a:rPr lang="en-US" b="1" dirty="0"/>
              <a:t> </a:t>
            </a:r>
            <a:r>
              <a:rPr lang="en-US" dirty="0"/>
              <a:t>types to treat textual information as a stream of </a:t>
            </a:r>
            <a:r>
              <a:rPr lang="en-US" b="1" dirty="0" err="1"/>
              <a:t>inmemory</a:t>
            </a:r>
            <a:r>
              <a:rPr lang="en-US" b="1" dirty="0"/>
              <a:t>  characters. </a:t>
            </a:r>
          </a:p>
          <a:p>
            <a:r>
              <a:rPr lang="en-IN" b="1" dirty="0" err="1"/>
              <a:t>BinaryReader</a:t>
            </a:r>
            <a:r>
              <a:rPr lang="en-IN" b="1" dirty="0"/>
              <a:t>/Writer</a:t>
            </a:r>
            <a:r>
              <a:rPr lang="en-IN" dirty="0"/>
              <a:t>  allow you to read and write discrete data types to an underlying stream in a compact binary format.</a:t>
            </a:r>
            <a:endParaRPr lang="en-US" dirty="0"/>
          </a:p>
          <a:p>
            <a:endParaRPr lang="en-IN" dirty="0"/>
          </a:p>
        </p:txBody>
      </p:sp>
    </p:spTree>
    <p:extLst>
      <p:ext uri="{BB962C8B-B14F-4D97-AF65-F5344CB8AC3E}">
        <p14:creationId xmlns:p14="http://schemas.microsoft.com/office/powerpoint/2010/main" val="3530265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E704DA-DCE0-4F0F-B017-30BB0B8F2C46}"/>
              </a:ext>
            </a:extLst>
          </p:cNvPr>
          <p:cNvSpPr>
            <a:spLocks noGrp="1"/>
          </p:cNvSpPr>
          <p:nvPr>
            <p:ph idx="1"/>
          </p:nvPr>
        </p:nvSpPr>
        <p:spPr>
          <a:xfrm>
            <a:off x="457200" y="457200"/>
            <a:ext cx="8305800" cy="5668963"/>
          </a:xfrm>
        </p:spPr>
        <p:txBody>
          <a:bodyPr>
            <a:normAutofit/>
          </a:bodyPr>
          <a:lstStyle/>
          <a:p>
            <a:r>
              <a:rPr lang="en-US" dirty="0" err="1"/>
              <a:t>FileStream</a:t>
            </a:r>
            <a:r>
              <a:rPr lang="en-US" dirty="0"/>
              <a:t>—</a:t>
            </a:r>
            <a:r>
              <a:rPr lang="en-US" dirty="0" err="1"/>
              <a:t>readByte</a:t>
            </a:r>
            <a:r>
              <a:rPr lang="en-US" dirty="0"/>
              <a:t>()/</a:t>
            </a:r>
            <a:r>
              <a:rPr lang="en-US" dirty="0" err="1"/>
              <a:t>writeByte</a:t>
            </a:r>
            <a:r>
              <a:rPr lang="en-US" dirty="0"/>
              <a:t>()</a:t>
            </a:r>
          </a:p>
          <a:p>
            <a:r>
              <a:rPr lang="en-US" dirty="0" err="1"/>
              <a:t>StreamReader</a:t>
            </a:r>
            <a:r>
              <a:rPr lang="en-US" dirty="0"/>
              <a:t>/Writer—</a:t>
            </a:r>
            <a:r>
              <a:rPr lang="en-US" dirty="0" err="1"/>
              <a:t>readLine</a:t>
            </a:r>
            <a:r>
              <a:rPr lang="en-US" dirty="0"/>
              <a:t>()/</a:t>
            </a:r>
            <a:r>
              <a:rPr lang="en-US" dirty="0" err="1"/>
              <a:t>writeLine</a:t>
            </a:r>
            <a:r>
              <a:rPr lang="en-US" dirty="0"/>
              <a:t>()</a:t>
            </a:r>
          </a:p>
          <a:p>
            <a:pPr lvl="8"/>
            <a:r>
              <a:rPr lang="en-US" sz="3200" dirty="0"/>
              <a:t>Read()/Write()</a:t>
            </a:r>
            <a:endParaRPr lang="en-IN" sz="3200" dirty="0"/>
          </a:p>
          <a:p>
            <a:r>
              <a:rPr lang="en-US" dirty="0" err="1"/>
              <a:t>StringReader</a:t>
            </a:r>
            <a:r>
              <a:rPr lang="en-US" dirty="0"/>
              <a:t>/Writer-</a:t>
            </a:r>
            <a:r>
              <a:rPr lang="en-US" dirty="0" err="1"/>
              <a:t>readLine</a:t>
            </a:r>
            <a:r>
              <a:rPr lang="en-US" dirty="0"/>
              <a:t>()/</a:t>
            </a:r>
            <a:r>
              <a:rPr lang="en-US" dirty="0" err="1"/>
              <a:t>writeLine</a:t>
            </a:r>
            <a:r>
              <a:rPr lang="en-US" dirty="0"/>
              <a:t>()</a:t>
            </a:r>
          </a:p>
          <a:p>
            <a:pPr lvl="8"/>
            <a:r>
              <a:rPr lang="en-US" sz="3200" dirty="0"/>
              <a:t>Read()/Write()</a:t>
            </a:r>
          </a:p>
          <a:p>
            <a:pPr lvl="8"/>
            <a:r>
              <a:rPr lang="en-US" sz="3200" dirty="0" err="1"/>
              <a:t>getstringBuilder</a:t>
            </a:r>
            <a:r>
              <a:rPr lang="en-US" sz="3200" dirty="0"/>
              <a:t>()</a:t>
            </a:r>
          </a:p>
          <a:p>
            <a:pPr marL="342900" lvl="8" indent="-342900"/>
            <a:r>
              <a:rPr lang="en-US" sz="3200" dirty="0" err="1"/>
              <a:t>BinaryReader</a:t>
            </a:r>
            <a:r>
              <a:rPr lang="en-US" sz="3200" dirty="0"/>
              <a:t>/Writer-</a:t>
            </a:r>
            <a:r>
              <a:rPr lang="en-US" dirty="0"/>
              <a:t>---- </a:t>
            </a:r>
            <a:r>
              <a:rPr lang="en-US" sz="3200" dirty="0"/>
              <a:t>Read()/Write()/ 			</a:t>
            </a:r>
            <a:r>
              <a:rPr lang="en-US" sz="3200" dirty="0" err="1"/>
              <a:t>WriteXXX</a:t>
            </a:r>
            <a:r>
              <a:rPr lang="en-US" sz="3200" dirty="0"/>
              <a:t> xxx = byte/double/int</a:t>
            </a:r>
          </a:p>
          <a:p>
            <a:pPr marL="342900" lvl="8" indent="-342900"/>
            <a:r>
              <a:rPr lang="en-US" sz="3200" dirty="0" err="1"/>
              <a:t>Eg</a:t>
            </a:r>
            <a:r>
              <a:rPr lang="en-US" sz="3200" dirty="0"/>
              <a:t> ---</a:t>
            </a:r>
            <a:r>
              <a:rPr lang="en-IN" sz="3200" dirty="0" err="1"/>
              <a:t>ReadBoolean</a:t>
            </a:r>
            <a:r>
              <a:rPr lang="en-IN" sz="3200" dirty="0"/>
              <a:t>(), </a:t>
            </a:r>
            <a:r>
              <a:rPr lang="en-IN" sz="3200" dirty="0" err="1"/>
              <a:t>ReadByte</a:t>
            </a:r>
            <a:r>
              <a:rPr lang="en-IN" sz="3200" dirty="0"/>
              <a:t>(), and ReadInt32()).</a:t>
            </a:r>
            <a:endParaRPr lang="en-US" sz="3200" dirty="0"/>
          </a:p>
          <a:p>
            <a:endParaRPr lang="en-IN" dirty="0"/>
          </a:p>
        </p:txBody>
      </p:sp>
    </p:spTree>
    <p:extLst>
      <p:ext uri="{BB962C8B-B14F-4D97-AF65-F5344CB8AC3E}">
        <p14:creationId xmlns:p14="http://schemas.microsoft.com/office/powerpoint/2010/main" val="1592144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AD306-7C1C-4189-8F4D-566D217F69CB}"/>
              </a:ext>
            </a:extLst>
          </p:cNvPr>
          <p:cNvSpPr>
            <a:spLocks noGrp="1"/>
          </p:cNvSpPr>
          <p:nvPr>
            <p:ph type="title"/>
          </p:nvPr>
        </p:nvSpPr>
        <p:spPr>
          <a:xfrm>
            <a:off x="914400" y="0"/>
            <a:ext cx="7772400" cy="868362"/>
          </a:xfrm>
        </p:spPr>
        <p:txBody>
          <a:bodyPr/>
          <a:lstStyle/>
          <a:p>
            <a:r>
              <a:rPr lang="en-IN" dirty="0" err="1"/>
              <a:t>FileStream</a:t>
            </a:r>
            <a:r>
              <a:rPr lang="en-IN" dirty="0"/>
              <a:t> to write Byte</a:t>
            </a:r>
          </a:p>
        </p:txBody>
      </p:sp>
      <p:sp>
        <p:nvSpPr>
          <p:cNvPr id="3" name="Content Placeholder 2">
            <a:extLst>
              <a:ext uri="{FF2B5EF4-FFF2-40B4-BE49-F238E27FC236}">
                <a16:creationId xmlns:a16="http://schemas.microsoft.com/office/drawing/2014/main" id="{71DBD6D5-8559-44FE-9313-E0EA987809DC}"/>
              </a:ext>
            </a:extLst>
          </p:cNvPr>
          <p:cNvSpPr>
            <a:spLocks noGrp="1"/>
          </p:cNvSpPr>
          <p:nvPr>
            <p:ph idx="1"/>
          </p:nvPr>
        </p:nvSpPr>
        <p:spPr>
          <a:xfrm>
            <a:off x="174523" y="800099"/>
            <a:ext cx="4800600" cy="5257801"/>
          </a:xfrm>
        </p:spPr>
        <p:txBody>
          <a:bodyPr>
            <a:noAutofit/>
          </a:bodyPr>
          <a:lstStyle/>
          <a:p>
            <a:pPr marL="0" indent="0">
              <a:buNone/>
            </a:pPr>
            <a:r>
              <a:rPr lang="en-IN" sz="1200" dirty="0">
                <a:solidFill>
                  <a:srgbClr val="008000"/>
                </a:solidFill>
                <a:highlight>
                  <a:srgbClr val="FFFFFF"/>
                </a:highlight>
                <a:latin typeface="Consolas" panose="020B0609020204030204" pitchFamily="49" charset="0"/>
              </a:rPr>
              <a:t>// Write to a file.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System.IO;</a:t>
            </a: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WriteToFile</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FileStream</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fout</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fout</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FileStream</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"tt.txt"</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FileMode</a:t>
            </a:r>
            <a:r>
              <a:rPr lang="en-US" sz="1200" dirty="0" err="1">
                <a:solidFill>
                  <a:srgbClr val="000000"/>
                </a:solidFill>
                <a:highlight>
                  <a:srgbClr val="FFFFFF"/>
                </a:highlight>
                <a:latin typeface="Consolas" panose="020B0609020204030204" pitchFamily="49" charset="0"/>
              </a:rPr>
              <a:t>.Create</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FileAccess</a:t>
            </a:r>
            <a:r>
              <a:rPr lang="en-US" sz="1200" dirty="0" err="1">
                <a:solidFill>
                  <a:srgbClr val="000000"/>
                </a:solidFill>
                <a:highlight>
                  <a:srgbClr val="FFFFFF"/>
                </a:highlight>
                <a:latin typeface="Consolas" panose="020B0609020204030204" pitchFamily="49" charset="0"/>
              </a:rPr>
              <a:t>.Write</a:t>
            </a:r>
            <a:r>
              <a:rPr lang="en-US"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Write the alphabet to the file. </a:t>
            </a:r>
            <a:endParaRPr lang="en-US" sz="1200" dirty="0">
              <a:solidFill>
                <a:srgbClr val="000000"/>
              </a:solidFill>
              <a:highlight>
                <a:srgbClr val="FFFFFF"/>
              </a:highlight>
              <a:latin typeface="Consolas" panose="020B0609020204030204" pitchFamily="49" charset="0"/>
            </a:endParaRP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for</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char</a:t>
            </a:r>
            <a:r>
              <a:rPr lang="en-IN" sz="1200" dirty="0">
                <a:solidFill>
                  <a:srgbClr val="000000"/>
                </a:solidFill>
                <a:highlight>
                  <a:srgbClr val="FFFFFF"/>
                </a:highlight>
                <a:latin typeface="Consolas" panose="020B0609020204030204" pitchFamily="49" charset="0"/>
              </a:rPr>
              <a:t> c = </a:t>
            </a:r>
            <a:r>
              <a:rPr lang="en-IN" sz="1200" dirty="0">
                <a:solidFill>
                  <a:srgbClr val="A31515"/>
                </a:solidFill>
                <a:highlight>
                  <a:srgbClr val="FFFFFF"/>
                </a:highlight>
                <a:latin typeface="Consolas" panose="020B0609020204030204" pitchFamily="49" charset="0"/>
              </a:rPr>
              <a:t>'A'</a:t>
            </a:r>
            <a:r>
              <a:rPr lang="en-IN" sz="1200" dirty="0">
                <a:solidFill>
                  <a:srgbClr val="000000"/>
                </a:solidFill>
                <a:highlight>
                  <a:srgbClr val="FFFFFF"/>
                </a:highlight>
                <a:latin typeface="Consolas" panose="020B0609020204030204" pitchFamily="49" charset="0"/>
              </a:rPr>
              <a:t>; c &lt;= </a:t>
            </a:r>
            <a:r>
              <a:rPr lang="en-IN" sz="1200" dirty="0">
                <a:solidFill>
                  <a:srgbClr val="A31515"/>
                </a:solidFill>
                <a:highlight>
                  <a:srgbClr val="FFFFFF"/>
                </a:highlight>
                <a:latin typeface="Consolas" panose="020B0609020204030204" pitchFamily="49" charset="0"/>
              </a:rPr>
              <a:t>'Z'</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fout.WriteByte</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byte</a:t>
            </a:r>
            <a:r>
              <a:rPr lang="en-IN" sz="1200" dirty="0">
                <a:solidFill>
                  <a:srgbClr val="000000"/>
                </a:solidFill>
                <a:highlight>
                  <a:srgbClr val="FFFFFF"/>
                </a:highlight>
                <a:latin typeface="Consolas" panose="020B0609020204030204" pitchFamily="49" charset="0"/>
              </a:rPr>
              <a:t>)c);</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fout.Flush</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"data written"</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.ReadKey</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fout.Close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endParaRPr lang="en-IN" sz="1200" dirty="0"/>
          </a:p>
        </p:txBody>
      </p:sp>
      <p:sp>
        <p:nvSpPr>
          <p:cNvPr id="4" name="TextBox 3">
            <a:extLst>
              <a:ext uri="{FF2B5EF4-FFF2-40B4-BE49-F238E27FC236}">
                <a16:creationId xmlns:a16="http://schemas.microsoft.com/office/drawing/2014/main" id="{C849F34E-C0A7-4A42-8E7D-19A2691084F8}"/>
              </a:ext>
            </a:extLst>
          </p:cNvPr>
          <p:cNvSpPr txBox="1"/>
          <p:nvPr/>
        </p:nvSpPr>
        <p:spPr>
          <a:xfrm>
            <a:off x="4114800" y="731837"/>
            <a:ext cx="5029200" cy="4228850"/>
          </a:xfrm>
          <a:prstGeom prst="rect">
            <a:avLst/>
          </a:prstGeom>
          <a:noFill/>
        </p:spPr>
        <p:txBody>
          <a:bodyPr wrap="square" rtlCol="0">
            <a:sp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FileStream</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"tt.txt"</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FileMode</a:t>
            </a:r>
            <a:r>
              <a:rPr lang="en-US" sz="1200" dirty="0" err="1">
                <a:solidFill>
                  <a:srgbClr val="000000"/>
                </a:solidFill>
                <a:highlight>
                  <a:srgbClr val="FFFFFF"/>
                </a:highlight>
                <a:latin typeface="Consolas" panose="020B0609020204030204" pitchFamily="49" charset="0"/>
              </a:rPr>
              <a:t>.Create</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FileAccess</a:t>
            </a:r>
            <a:r>
              <a:rPr lang="en-US" sz="1200" dirty="0" err="1">
                <a:solidFill>
                  <a:srgbClr val="000000"/>
                </a:solidFill>
                <a:highlight>
                  <a:srgbClr val="FFFFFF"/>
                </a:highlight>
                <a:latin typeface="Consolas" panose="020B0609020204030204" pitchFamily="49" charset="0"/>
              </a:rPr>
              <a:t>.Write</a:t>
            </a:r>
            <a:r>
              <a:rPr lang="en-US" sz="1200" dirty="0">
                <a:solidFill>
                  <a:srgbClr val="000000"/>
                </a:solidFill>
                <a:highlight>
                  <a:srgbClr val="FFFFFF"/>
                </a:highlight>
                <a:latin typeface="Consolas" panose="020B0609020204030204" pitchFamily="49" charset="0"/>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2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Open output file. </a:t>
            </a:r>
            <a:endPar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2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Specifies that the operating system should create a new file.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2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2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If the file already exists, it will be overwritten.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2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2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This requires </a:t>
            </a:r>
            <a:r>
              <a:rPr kumimoji="0" lang="en-US" sz="1200" b="0" i="0" u="none" strike="noStrike" kern="1200" cap="none" spc="0" normalizeH="0" baseline="0" noProof="0" dirty="0" err="1">
                <a:ln>
                  <a:noFill/>
                </a:ln>
                <a:solidFill>
                  <a:srgbClr val="008000"/>
                </a:solidFill>
                <a:effectLst/>
                <a:highlight>
                  <a:srgbClr val="FFFFFF"/>
                </a:highlight>
                <a:uLnTx/>
                <a:uFillTx/>
                <a:latin typeface="Consolas" panose="020B0609020204030204" pitchFamily="49" charset="0"/>
                <a:ea typeface="+mn-ea"/>
                <a:cs typeface="+mn-cs"/>
              </a:rPr>
              <a:t>System.Security.Permissions.FileIOPermissionAccess.Write</a:t>
            </a:r>
            <a:r>
              <a:rPr kumimoji="0" lang="en-US" sz="12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permission.</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2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2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a:t>
            </a:r>
            <a:r>
              <a:rPr kumimoji="0" lang="en-US" sz="1200" b="0" i="0" u="none" strike="noStrike" kern="1200" cap="none" spc="0" normalizeH="0" baseline="0" noProof="0" dirty="0" err="1">
                <a:ln>
                  <a:noFill/>
                </a:ln>
                <a:solidFill>
                  <a:srgbClr val="008000"/>
                </a:solidFill>
                <a:effectLst/>
                <a:highlight>
                  <a:srgbClr val="FFFFFF"/>
                </a:highlight>
                <a:uLnTx/>
                <a:uFillTx/>
                <a:latin typeface="Consolas" panose="020B0609020204030204" pitchFamily="49" charset="0"/>
                <a:ea typeface="+mn-ea"/>
                <a:cs typeface="+mn-cs"/>
              </a:rPr>
              <a:t>FileMode.Create</a:t>
            </a:r>
            <a:r>
              <a:rPr kumimoji="0" lang="en-US" sz="12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is equivalent to requesting that if the file  does not exist, use </a:t>
            </a:r>
            <a:r>
              <a:rPr kumimoji="0" lang="en-US" sz="1200" b="0" i="0" u="none" strike="noStrike" kern="1200" cap="none" spc="0" normalizeH="0" baseline="0" noProof="0" dirty="0" err="1">
                <a:ln>
                  <a:noFill/>
                </a:ln>
                <a:solidFill>
                  <a:srgbClr val="008000"/>
                </a:solidFill>
                <a:effectLst/>
                <a:highlight>
                  <a:srgbClr val="FFFFFF"/>
                </a:highlight>
                <a:uLnTx/>
                <a:uFillTx/>
                <a:latin typeface="Consolas" panose="020B0609020204030204" pitchFamily="49" charset="0"/>
                <a:ea typeface="+mn-ea"/>
                <a:cs typeface="+mn-cs"/>
              </a:rPr>
              <a:t>System.IO.FileMode.CreateNew</a:t>
            </a:r>
            <a:r>
              <a:rPr kumimoji="0" lang="en-US" sz="12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otherwise, use </a:t>
            </a:r>
            <a:r>
              <a:rPr kumimoji="0" lang="en-US" sz="1200" b="0" i="0" u="none" strike="noStrike" kern="1200" cap="none" spc="0" normalizeH="0" baseline="0" noProof="0" dirty="0" err="1">
                <a:ln>
                  <a:noFill/>
                </a:ln>
                <a:solidFill>
                  <a:srgbClr val="008000"/>
                </a:solidFill>
                <a:effectLst/>
                <a:highlight>
                  <a:srgbClr val="FFFFFF"/>
                </a:highlight>
                <a:uLnTx/>
                <a:uFillTx/>
                <a:latin typeface="Consolas" panose="020B0609020204030204" pitchFamily="49" charset="0"/>
                <a:ea typeface="+mn-ea"/>
                <a:cs typeface="+mn-cs"/>
              </a:rPr>
              <a:t>System.IO.FileMode.Truncate</a:t>
            </a:r>
            <a:r>
              <a:rPr kumimoji="0" lang="en-US" sz="12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sz="1200" dirty="0">
              <a:solidFill>
                <a:srgbClr val="008000"/>
              </a:solidFill>
              <a:highlight>
                <a:srgbClr val="FFFFFF"/>
              </a:highlight>
              <a:latin typeface="Consolas" panose="020B0609020204030204" pitchFamily="49" charset="0"/>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2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If the file already exists but is a hidden file, an </a:t>
            </a:r>
            <a:r>
              <a:rPr kumimoji="0" lang="en-US" sz="1200" b="0" i="0" u="none" strike="noStrike" kern="1200" cap="none" spc="0" normalizeH="0" baseline="0" noProof="0" dirty="0" err="1">
                <a:ln>
                  <a:noFill/>
                </a:ln>
                <a:solidFill>
                  <a:srgbClr val="008000"/>
                </a:solidFill>
                <a:effectLst/>
                <a:highlight>
                  <a:srgbClr val="FFFFFF"/>
                </a:highlight>
                <a:uLnTx/>
                <a:uFillTx/>
                <a:latin typeface="Consolas" panose="020B0609020204030204" pitchFamily="49" charset="0"/>
                <a:ea typeface="+mn-ea"/>
                <a:cs typeface="+mn-cs"/>
              </a:rPr>
              <a:t>System.UnauthorizedAccessException</a:t>
            </a:r>
            <a:r>
              <a:rPr kumimoji="0" lang="en-IN" sz="12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exception is thrown.</a:t>
            </a:r>
            <a:endParaRPr lang="en-IN" dirty="0"/>
          </a:p>
        </p:txBody>
      </p:sp>
      <p:sp>
        <p:nvSpPr>
          <p:cNvPr id="5" name="Rectangle 4">
            <a:extLst>
              <a:ext uri="{FF2B5EF4-FFF2-40B4-BE49-F238E27FC236}">
                <a16:creationId xmlns:a16="http://schemas.microsoft.com/office/drawing/2014/main" id="{72A8F0CF-003A-46A7-AE42-988DA3550D98}"/>
              </a:ext>
            </a:extLst>
          </p:cNvPr>
          <p:cNvSpPr/>
          <p:nvPr/>
        </p:nvSpPr>
        <p:spPr>
          <a:xfrm>
            <a:off x="5181600" y="5372643"/>
            <a:ext cx="685800" cy="5709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2000</a:t>
            </a:r>
          </a:p>
        </p:txBody>
      </p:sp>
      <p:sp>
        <p:nvSpPr>
          <p:cNvPr id="6" name="TextBox 5">
            <a:extLst>
              <a:ext uri="{FF2B5EF4-FFF2-40B4-BE49-F238E27FC236}">
                <a16:creationId xmlns:a16="http://schemas.microsoft.com/office/drawing/2014/main" id="{5BDB50F7-C913-461C-BD50-965C2CF65A5B}"/>
              </a:ext>
            </a:extLst>
          </p:cNvPr>
          <p:cNvSpPr txBox="1"/>
          <p:nvPr/>
        </p:nvSpPr>
        <p:spPr>
          <a:xfrm>
            <a:off x="5181600" y="5029200"/>
            <a:ext cx="685800" cy="369332"/>
          </a:xfrm>
          <a:prstGeom prst="rect">
            <a:avLst/>
          </a:prstGeom>
          <a:noFill/>
        </p:spPr>
        <p:txBody>
          <a:bodyPr wrap="square" rtlCol="0">
            <a:spAutoFit/>
          </a:bodyPr>
          <a:lstStyle/>
          <a:p>
            <a:r>
              <a:rPr lang="en-IN" dirty="0" err="1"/>
              <a:t>fout</a:t>
            </a:r>
            <a:endParaRPr lang="en-IN" dirty="0"/>
          </a:p>
        </p:txBody>
      </p:sp>
      <p:sp>
        <p:nvSpPr>
          <p:cNvPr id="9" name="Rectangle 8">
            <a:extLst>
              <a:ext uri="{FF2B5EF4-FFF2-40B4-BE49-F238E27FC236}">
                <a16:creationId xmlns:a16="http://schemas.microsoft.com/office/drawing/2014/main" id="{AA8DAE7A-081C-445D-AC59-2D570878BF54}"/>
              </a:ext>
            </a:extLst>
          </p:cNvPr>
          <p:cNvSpPr/>
          <p:nvPr/>
        </p:nvSpPr>
        <p:spPr>
          <a:xfrm>
            <a:off x="6858000" y="4960687"/>
            <a:ext cx="1676400" cy="1287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tt.Txt</a:t>
            </a:r>
            <a:endParaRPr lang="en-IN" dirty="0"/>
          </a:p>
          <a:p>
            <a:pPr algn="ctr"/>
            <a:r>
              <a:rPr lang="en-IN" dirty="0"/>
              <a:t>Create</a:t>
            </a:r>
          </a:p>
          <a:p>
            <a:pPr algn="ctr"/>
            <a:r>
              <a:rPr lang="en-IN" dirty="0"/>
              <a:t>Write</a:t>
            </a:r>
          </a:p>
        </p:txBody>
      </p:sp>
      <p:cxnSp>
        <p:nvCxnSpPr>
          <p:cNvPr id="8" name="Straight Arrow Connector 7">
            <a:extLst>
              <a:ext uri="{FF2B5EF4-FFF2-40B4-BE49-F238E27FC236}">
                <a16:creationId xmlns:a16="http://schemas.microsoft.com/office/drawing/2014/main" id="{A3ED2427-F348-69FD-2B5A-F0298C3825F5}"/>
              </a:ext>
            </a:extLst>
          </p:cNvPr>
          <p:cNvCxnSpPr/>
          <p:nvPr/>
        </p:nvCxnSpPr>
        <p:spPr>
          <a:xfrm flipV="1">
            <a:off x="5943600" y="5486400"/>
            <a:ext cx="685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266E875-020A-7057-A851-6A1476EB8B56}"/>
              </a:ext>
            </a:extLst>
          </p:cNvPr>
          <p:cNvCxnSpPr/>
          <p:nvPr/>
        </p:nvCxnSpPr>
        <p:spPr>
          <a:xfrm flipV="1">
            <a:off x="5181600" y="5486400"/>
            <a:ext cx="457200" cy="457201"/>
          </a:xfrm>
          <a:prstGeom prst="line">
            <a:avLst/>
          </a:prstGeom>
        </p:spPr>
        <p:style>
          <a:lnRef idx="2">
            <a:schemeClr val="accent6"/>
          </a:lnRef>
          <a:fillRef idx="0">
            <a:schemeClr val="accent6"/>
          </a:fillRef>
          <a:effectRef idx="1">
            <a:schemeClr val="accent6"/>
          </a:effectRef>
          <a:fontRef idx="minor">
            <a:schemeClr val="tx1"/>
          </a:fontRef>
        </p:style>
      </p:cxnSp>
      <p:sp>
        <p:nvSpPr>
          <p:cNvPr id="12" name="TextBox 11">
            <a:extLst>
              <a:ext uri="{FF2B5EF4-FFF2-40B4-BE49-F238E27FC236}">
                <a16:creationId xmlns:a16="http://schemas.microsoft.com/office/drawing/2014/main" id="{41933C76-DA32-E96E-8AC2-B3E9CA8089A3}"/>
              </a:ext>
            </a:extLst>
          </p:cNvPr>
          <p:cNvSpPr txBox="1"/>
          <p:nvPr/>
        </p:nvSpPr>
        <p:spPr>
          <a:xfrm>
            <a:off x="5410200" y="6126164"/>
            <a:ext cx="838200" cy="369332"/>
          </a:xfrm>
          <a:prstGeom prst="rect">
            <a:avLst/>
          </a:prstGeom>
          <a:noFill/>
        </p:spPr>
        <p:txBody>
          <a:bodyPr wrap="square" rtlCol="0">
            <a:spAutoFit/>
          </a:bodyPr>
          <a:lstStyle/>
          <a:p>
            <a:r>
              <a:rPr lang="en-IN" dirty="0"/>
              <a:t>NULL</a:t>
            </a:r>
          </a:p>
        </p:txBody>
      </p:sp>
    </p:spTree>
    <p:extLst>
      <p:ext uri="{BB962C8B-B14F-4D97-AF65-F5344CB8AC3E}">
        <p14:creationId xmlns:p14="http://schemas.microsoft.com/office/powerpoint/2010/main" val="1901669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AD306-7C1C-4189-8F4D-566D217F69CB}"/>
              </a:ext>
            </a:extLst>
          </p:cNvPr>
          <p:cNvSpPr>
            <a:spLocks noGrp="1"/>
          </p:cNvSpPr>
          <p:nvPr>
            <p:ph type="title"/>
          </p:nvPr>
        </p:nvSpPr>
        <p:spPr>
          <a:xfrm>
            <a:off x="914400" y="0"/>
            <a:ext cx="7772400" cy="868362"/>
          </a:xfrm>
        </p:spPr>
        <p:txBody>
          <a:bodyPr/>
          <a:lstStyle/>
          <a:p>
            <a:r>
              <a:rPr lang="en-IN" dirty="0" err="1"/>
              <a:t>FileStream</a:t>
            </a:r>
            <a:r>
              <a:rPr lang="en-IN" dirty="0"/>
              <a:t> to read Byte</a:t>
            </a:r>
          </a:p>
        </p:txBody>
      </p:sp>
      <p:sp>
        <p:nvSpPr>
          <p:cNvPr id="3" name="Content Placeholder 2">
            <a:extLst>
              <a:ext uri="{FF2B5EF4-FFF2-40B4-BE49-F238E27FC236}">
                <a16:creationId xmlns:a16="http://schemas.microsoft.com/office/drawing/2014/main" id="{71DBD6D5-8559-44FE-9313-E0EA987809DC}"/>
              </a:ext>
            </a:extLst>
          </p:cNvPr>
          <p:cNvSpPr>
            <a:spLocks noGrp="1"/>
          </p:cNvSpPr>
          <p:nvPr>
            <p:ph idx="1"/>
          </p:nvPr>
        </p:nvSpPr>
        <p:spPr>
          <a:xfrm>
            <a:off x="76200" y="451205"/>
            <a:ext cx="4859721" cy="6254395"/>
          </a:xfrm>
        </p:spPr>
        <p:txBody>
          <a:bodyPr>
            <a:noAutofit/>
          </a:bodyPr>
          <a:lstStyle/>
          <a:p>
            <a:endParaRPr lang="en-IN" sz="1800" dirty="0">
              <a:solidFill>
                <a:srgbClr val="000000"/>
              </a:solidFill>
              <a:highlight>
                <a:srgbClr val="FFFFFF"/>
              </a:highlight>
              <a:latin typeface="Consolas" panose="020B0609020204030204" pitchFamily="49" charset="0"/>
            </a:endParaRPr>
          </a:p>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System.IO;</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ShowFile</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Main(</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args</a:t>
            </a:r>
            <a:r>
              <a:rPr lang="en-US"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int</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i</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FileStream</a:t>
            </a:r>
            <a:r>
              <a:rPr lang="en-IN" sz="1400" dirty="0">
                <a:solidFill>
                  <a:srgbClr val="000000"/>
                </a:solidFill>
                <a:highlight>
                  <a:srgbClr val="FFFFFF"/>
                </a:highlight>
                <a:latin typeface="Consolas" panose="020B0609020204030204" pitchFamily="49" charset="0"/>
              </a:rPr>
              <a:t> fin;</a:t>
            </a:r>
          </a:p>
          <a:p>
            <a:pPr marL="0" indent="0">
              <a:buNone/>
            </a:pPr>
            <a:r>
              <a:rPr lang="en-US" sz="1400" dirty="0">
                <a:solidFill>
                  <a:srgbClr val="000000"/>
                </a:solidFill>
                <a:highlight>
                  <a:srgbClr val="FFFFFF"/>
                </a:highlight>
                <a:latin typeface="Consolas" panose="020B0609020204030204" pitchFamily="49" charset="0"/>
              </a:rPr>
              <a:t>fin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FileStream</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"demo.txt"</a:t>
            </a: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FileMode</a:t>
            </a:r>
            <a:r>
              <a:rPr lang="en-US" sz="1400" dirty="0" err="1">
                <a:solidFill>
                  <a:srgbClr val="000000"/>
                </a:solidFill>
                <a:highlight>
                  <a:srgbClr val="FFFFFF"/>
                </a:highlight>
                <a:latin typeface="Consolas" panose="020B0609020204030204" pitchFamily="49" charset="0"/>
              </a:rPr>
              <a:t>.Open</a:t>
            </a: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FileAccess</a:t>
            </a:r>
            <a:r>
              <a:rPr lang="en-US" sz="1400" dirty="0" err="1">
                <a:solidFill>
                  <a:srgbClr val="000000"/>
                </a:solidFill>
                <a:highlight>
                  <a:srgbClr val="FFFFFF"/>
                </a:highlight>
                <a:latin typeface="Consolas" panose="020B0609020204030204" pitchFamily="49" charset="0"/>
              </a:rPr>
              <a:t>.Read</a:t>
            </a:r>
            <a:r>
              <a:rPr lang="en-US" sz="1400" dirty="0">
                <a:solidFill>
                  <a:srgbClr val="000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8000"/>
                </a:solidFill>
                <a:highlight>
                  <a:srgbClr val="FFFFFF"/>
                </a:highlight>
                <a:latin typeface="Consolas" panose="020B0609020204030204" pitchFamily="49" charset="0"/>
              </a:rPr>
              <a:t>// Read bytes until EOF is encountered. </a:t>
            </a:r>
            <a:endParaRPr lang="en-US"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do</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i</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fin.ReadByte</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if</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i</a:t>
            </a:r>
            <a:r>
              <a:rPr lang="en-IN" sz="1400" dirty="0">
                <a:solidFill>
                  <a:srgbClr val="000000"/>
                </a:solidFill>
                <a:highlight>
                  <a:srgbClr val="FFFFFF"/>
                </a:highlight>
                <a:latin typeface="Consolas" panose="020B0609020204030204" pitchFamily="49" charset="0"/>
              </a:rPr>
              <a:t> != -1)</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a:t>
            </a:r>
            <a:r>
              <a:rPr lang="en-IN" sz="1400" dirty="0">
                <a:solidFill>
                  <a:srgbClr val="000000"/>
                </a:solidFill>
                <a:highlight>
                  <a:srgbClr val="FFFFFF"/>
                </a:highlight>
                <a:latin typeface="Consolas" panose="020B0609020204030204" pitchFamily="49" charset="0"/>
              </a:rPr>
              <a:t>((</a:t>
            </a:r>
            <a:r>
              <a:rPr lang="en-IN" sz="1400" dirty="0">
                <a:solidFill>
                  <a:srgbClr val="0000FF"/>
                </a:solidFill>
                <a:highlight>
                  <a:srgbClr val="FFFFFF"/>
                </a:highlight>
                <a:latin typeface="Consolas" panose="020B0609020204030204" pitchFamily="49" charset="0"/>
              </a:rPr>
              <a:t>char</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i</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while</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i</a:t>
            </a:r>
            <a:r>
              <a:rPr lang="en-IN" sz="1400" dirty="0">
                <a:solidFill>
                  <a:srgbClr val="000000"/>
                </a:solidFill>
                <a:highlight>
                  <a:srgbClr val="FFFFFF"/>
                </a:highlight>
                <a:latin typeface="Consolas" panose="020B0609020204030204" pitchFamily="49" charset="0"/>
              </a:rPr>
              <a:t> != -1);</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fin.Close</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a:t>
            </a:r>
            <a:endParaRPr lang="en-IN" sz="1050" dirty="0">
              <a:solidFill>
                <a:srgbClr val="000000"/>
              </a:solidFill>
              <a:highlight>
                <a:srgbClr val="FFFFFF"/>
              </a:highlight>
              <a:latin typeface="Consolas" panose="020B0609020204030204" pitchFamily="49" charset="0"/>
            </a:endParaRPr>
          </a:p>
          <a:p>
            <a:pPr marL="0" indent="0">
              <a:buNone/>
            </a:pPr>
            <a:endParaRPr lang="en-IN" sz="1200" dirty="0"/>
          </a:p>
        </p:txBody>
      </p:sp>
      <p:sp>
        <p:nvSpPr>
          <p:cNvPr id="4" name="TextBox 3">
            <a:extLst>
              <a:ext uri="{FF2B5EF4-FFF2-40B4-BE49-F238E27FC236}">
                <a16:creationId xmlns:a16="http://schemas.microsoft.com/office/drawing/2014/main" id="{C849F34E-C0A7-4A42-8E7D-19A2691084F8}"/>
              </a:ext>
            </a:extLst>
          </p:cNvPr>
          <p:cNvSpPr txBox="1"/>
          <p:nvPr/>
        </p:nvSpPr>
        <p:spPr>
          <a:xfrm>
            <a:off x="4114800" y="731837"/>
            <a:ext cx="5029200" cy="3305520"/>
          </a:xfrm>
          <a:prstGeom prst="rect">
            <a:avLst/>
          </a:prstGeom>
          <a:noFill/>
        </p:spPr>
        <p:txBody>
          <a:bodyPr wrap="square" rtlCol="0">
            <a:sp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FileStream</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"demo.txt"</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FileMode</a:t>
            </a:r>
            <a:r>
              <a:rPr lang="en-US" sz="1200" dirty="0" err="1">
                <a:solidFill>
                  <a:srgbClr val="000000"/>
                </a:solidFill>
                <a:highlight>
                  <a:srgbClr val="FFFFFF"/>
                </a:highlight>
                <a:latin typeface="Consolas" panose="020B0609020204030204" pitchFamily="49" charset="0"/>
              </a:rPr>
              <a:t>.Open</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FileAccess</a:t>
            </a:r>
            <a:r>
              <a:rPr lang="en-US" sz="1200" dirty="0" err="1">
                <a:solidFill>
                  <a:srgbClr val="000000"/>
                </a:solidFill>
                <a:highlight>
                  <a:srgbClr val="FFFFFF"/>
                </a:highlight>
                <a:latin typeface="Consolas" panose="020B0609020204030204" pitchFamily="49" charset="0"/>
              </a:rPr>
              <a:t>.Read</a:t>
            </a:r>
            <a:r>
              <a:rPr lang="en-US" sz="1200" dirty="0">
                <a:solidFill>
                  <a:srgbClr val="000000"/>
                </a:solidFill>
                <a:highlight>
                  <a:srgbClr val="FFFFFF"/>
                </a:highlight>
                <a:latin typeface="Consolas" panose="020B0609020204030204" pitchFamily="49" charset="0"/>
              </a:rPr>
              <a: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sz="1200" dirty="0">
              <a:solidFill>
                <a:srgbClr val="000000"/>
              </a:solidFill>
              <a:highlight>
                <a:srgbClr val="FFFFFF"/>
              </a:highlight>
              <a:latin typeface="Consolas" panose="020B0609020204030204" pitchFamily="49" charset="0"/>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Summary:</a:t>
            </a:r>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Specifies that the operating system should open ----- an existing file-----. </a:t>
            </a:r>
          </a:p>
          <a:p>
            <a:endParaRPr lang="en-US" sz="1200" dirty="0">
              <a:solidFill>
                <a:srgbClr val="008000"/>
              </a:solidFill>
              <a:highlight>
                <a:srgbClr val="FFFFFF"/>
              </a:highlight>
              <a:latin typeface="Consolas" panose="020B0609020204030204" pitchFamily="49" charset="0"/>
            </a:endParaRPr>
          </a:p>
          <a:p>
            <a:endParaRPr lang="en-US" sz="1200" dirty="0">
              <a:solidFill>
                <a:srgbClr val="008000"/>
              </a:solidFill>
              <a:highlight>
                <a:srgbClr val="FFFFFF"/>
              </a:highlight>
              <a:latin typeface="Consolas" panose="020B0609020204030204" pitchFamily="49" charset="0"/>
            </a:endParaRPr>
          </a:p>
          <a:p>
            <a:r>
              <a:rPr lang="en-US" sz="1200" dirty="0">
                <a:solidFill>
                  <a:srgbClr val="008000"/>
                </a:solidFill>
                <a:highlight>
                  <a:srgbClr val="FFFFFF"/>
                </a:highlight>
                <a:latin typeface="Consolas" panose="020B0609020204030204" pitchFamily="49" charset="0"/>
              </a:rPr>
              <a:t> The ability  to open the file is dependent on the value specified by the </a:t>
            </a:r>
            <a:r>
              <a:rPr lang="en-US" sz="1200" dirty="0" err="1">
                <a:solidFill>
                  <a:srgbClr val="008000"/>
                </a:solidFill>
                <a:highlight>
                  <a:srgbClr val="FFFFFF"/>
                </a:highlight>
                <a:latin typeface="Consolas" panose="020B0609020204030204" pitchFamily="49" charset="0"/>
              </a:rPr>
              <a:t>System.IO.FileAccess</a:t>
            </a:r>
            <a:r>
              <a:rPr lang="en-US" sz="1200" dirty="0">
                <a:solidFill>
                  <a:srgbClr val="008000"/>
                </a:solidFill>
                <a:highlight>
                  <a:srgbClr val="FFFFFF"/>
                </a:highlight>
                <a:latin typeface="Consolas" panose="020B0609020204030204" pitchFamily="49" charset="0"/>
              </a:rPr>
              <a:t>  enumeration.</a:t>
            </a:r>
          </a:p>
          <a:p>
            <a:endParaRPr lang="en-US" sz="1200" dirty="0">
              <a:solidFill>
                <a:srgbClr val="008000"/>
              </a:solidFill>
              <a:highlight>
                <a:srgbClr val="FFFFFF"/>
              </a:highlight>
              <a:latin typeface="Consolas" panose="020B0609020204030204" pitchFamily="49" charset="0"/>
            </a:endParaRPr>
          </a:p>
          <a:p>
            <a:endParaRPr lang="en-US" sz="1200" dirty="0">
              <a:solidFill>
                <a:srgbClr val="008000"/>
              </a:solidFill>
              <a:highlight>
                <a:srgbClr val="FFFFFF"/>
              </a:highlight>
              <a:latin typeface="Consolas" panose="020B0609020204030204" pitchFamily="49" charset="0"/>
            </a:endParaRPr>
          </a:p>
          <a:p>
            <a:endParaRPr lang="en-US" sz="1200" dirty="0">
              <a:solidFill>
                <a:srgbClr val="008000"/>
              </a:solidFill>
              <a:highlight>
                <a:srgbClr val="FFFFFF"/>
              </a:highlight>
              <a:latin typeface="Consolas" panose="020B0609020204030204" pitchFamily="49" charset="0"/>
            </a:endParaRPr>
          </a:p>
          <a:p>
            <a:endParaRPr lang="en-US" sz="1200" dirty="0">
              <a:solidFill>
                <a:srgbClr val="008000"/>
              </a:solidFill>
              <a:highlight>
                <a:srgbClr val="FFFFFF"/>
              </a:highlight>
              <a:latin typeface="Consolas" panose="020B0609020204030204" pitchFamily="49" charset="0"/>
            </a:endParaRPr>
          </a:p>
          <a:p>
            <a:endParaRPr lang="en-US" sz="1200" dirty="0">
              <a:solidFill>
                <a:srgbClr val="008000"/>
              </a:solidFill>
              <a:highlight>
                <a:srgbClr val="FFFFFF"/>
              </a:highlight>
              <a:latin typeface="Consolas" panose="020B0609020204030204" pitchFamily="49" charset="0"/>
            </a:endParaRPr>
          </a:p>
          <a:p>
            <a:r>
              <a:rPr lang="en-US" sz="1200" dirty="0">
                <a:solidFill>
                  <a:srgbClr val="008000"/>
                </a:solidFill>
                <a:highlight>
                  <a:srgbClr val="FFFFFF"/>
                </a:highlight>
                <a:latin typeface="Consolas" panose="020B0609020204030204" pitchFamily="49" charset="0"/>
              </a:rPr>
              <a:t> A </a:t>
            </a:r>
            <a:r>
              <a:rPr lang="en-US" sz="1200" dirty="0" err="1">
                <a:solidFill>
                  <a:srgbClr val="008000"/>
                </a:solidFill>
                <a:highlight>
                  <a:srgbClr val="FFFFFF"/>
                </a:highlight>
                <a:latin typeface="Consolas" panose="020B0609020204030204" pitchFamily="49" charset="0"/>
              </a:rPr>
              <a:t>System.IO.FileNotFoundException</a:t>
            </a:r>
            <a:r>
              <a:rPr lang="en-US" sz="1200" dirty="0">
                <a:solidFill>
                  <a:srgbClr val="008000"/>
                </a:solidFill>
                <a:highlight>
                  <a:srgbClr val="FFFFFF"/>
                </a:highlight>
                <a:latin typeface="Consolas" panose="020B0609020204030204" pitchFamily="49" charset="0"/>
              </a:rPr>
              <a:t> exception is thrown if the</a:t>
            </a:r>
            <a:r>
              <a:rPr lang="en-IN" sz="1200" dirty="0">
                <a:solidFill>
                  <a:srgbClr val="008000"/>
                </a:solidFill>
                <a:highlight>
                  <a:srgbClr val="FFFFFF"/>
                </a:highlight>
                <a:latin typeface="Consolas" panose="020B0609020204030204" pitchFamily="49" charset="0"/>
              </a:rPr>
              <a:t>     file does not exist.</a:t>
            </a:r>
            <a:endParaRPr lang="en-IN" dirty="0"/>
          </a:p>
        </p:txBody>
      </p:sp>
    </p:spTree>
    <p:extLst>
      <p:ext uri="{BB962C8B-B14F-4D97-AF65-F5344CB8AC3E}">
        <p14:creationId xmlns:p14="http://schemas.microsoft.com/office/powerpoint/2010/main" val="452440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AF7E9-502A-4C6A-A7BD-2B97427940DA}"/>
              </a:ext>
            </a:extLst>
          </p:cNvPr>
          <p:cNvSpPr>
            <a:spLocks noGrp="1"/>
          </p:cNvSpPr>
          <p:nvPr>
            <p:ph type="title"/>
          </p:nvPr>
        </p:nvSpPr>
        <p:spPr>
          <a:xfrm>
            <a:off x="1295400" y="0"/>
            <a:ext cx="7696200" cy="258762"/>
          </a:xfrm>
        </p:spPr>
        <p:txBody>
          <a:bodyPr>
            <a:normAutofit fontScale="90000"/>
          </a:bodyPr>
          <a:lstStyle/>
          <a:p>
            <a:r>
              <a:rPr lang="en-IN" dirty="0"/>
              <a:t>Better Way</a:t>
            </a:r>
          </a:p>
        </p:txBody>
      </p:sp>
      <p:sp>
        <p:nvSpPr>
          <p:cNvPr id="3" name="Content Placeholder 2">
            <a:extLst>
              <a:ext uri="{FF2B5EF4-FFF2-40B4-BE49-F238E27FC236}">
                <a16:creationId xmlns:a16="http://schemas.microsoft.com/office/drawing/2014/main" id="{9B40DA7C-3DFF-407F-B6A5-411C88735976}"/>
              </a:ext>
            </a:extLst>
          </p:cNvPr>
          <p:cNvSpPr>
            <a:spLocks noGrp="1"/>
          </p:cNvSpPr>
          <p:nvPr>
            <p:ph idx="1"/>
          </p:nvPr>
        </p:nvSpPr>
        <p:spPr>
          <a:xfrm>
            <a:off x="993228" y="258762"/>
            <a:ext cx="8382000" cy="5364163"/>
          </a:xfrm>
        </p:spPr>
        <p:txBody>
          <a:bodyPr>
            <a:noAutofit/>
          </a:bodyPr>
          <a:lstStyle/>
          <a:p>
            <a:pPr marL="0" indent="0">
              <a:buNone/>
            </a:pPr>
            <a:r>
              <a:rPr lang="en-IN" sz="1050" dirty="0">
                <a:solidFill>
                  <a:srgbClr val="0000FF"/>
                </a:solidFill>
                <a:highlight>
                  <a:srgbClr val="FFFFFF"/>
                </a:highlight>
                <a:latin typeface="Consolas" panose="020B0609020204030204" pitchFamily="49" charset="0"/>
              </a:rPr>
              <a:t>using</a:t>
            </a:r>
            <a:r>
              <a:rPr lang="en-IN" sz="1050" dirty="0">
                <a:solidFill>
                  <a:srgbClr val="000000"/>
                </a:solidFill>
                <a:highlight>
                  <a:srgbClr val="FFFFFF"/>
                </a:highlight>
                <a:latin typeface="Consolas" panose="020B0609020204030204" pitchFamily="49" charset="0"/>
              </a:rPr>
              <a:t> System;</a:t>
            </a:r>
          </a:p>
          <a:p>
            <a:pPr marL="0" indent="0">
              <a:buNone/>
            </a:pPr>
            <a:r>
              <a:rPr lang="en-IN" sz="1050" dirty="0">
                <a:solidFill>
                  <a:srgbClr val="0000FF"/>
                </a:solidFill>
                <a:highlight>
                  <a:srgbClr val="FFFFFF"/>
                </a:highlight>
                <a:latin typeface="Consolas" panose="020B0609020204030204" pitchFamily="49" charset="0"/>
              </a:rPr>
              <a:t>using</a:t>
            </a:r>
            <a:r>
              <a:rPr lang="en-IN" sz="1050" dirty="0">
                <a:solidFill>
                  <a:srgbClr val="000000"/>
                </a:solidFill>
                <a:highlight>
                  <a:srgbClr val="FFFFFF"/>
                </a:highlight>
                <a:latin typeface="Consolas" panose="020B0609020204030204" pitchFamily="49" charset="0"/>
              </a:rPr>
              <a:t> System.IO;</a:t>
            </a:r>
          </a:p>
          <a:p>
            <a:pPr marL="0" indent="0">
              <a:buNone/>
            </a:pP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ShowFile</a:t>
            </a:r>
            <a:endParaRPr lang="en-IN" sz="1050" dirty="0">
              <a:solidFill>
                <a:srgbClr val="000000"/>
              </a:solidFill>
              <a:highlight>
                <a:srgbClr val="FFFFFF"/>
              </a:highlight>
              <a:latin typeface="Consolas" panose="020B0609020204030204" pitchFamily="49" charset="0"/>
            </a:endParaRPr>
          </a:p>
          <a:p>
            <a:pPr marL="0" indent="0">
              <a:buNone/>
            </a:pPr>
            <a:r>
              <a:rPr lang="en-IN" sz="1050" dirty="0">
                <a:solidFill>
                  <a:srgbClr val="000000"/>
                </a:solidFill>
                <a:highlight>
                  <a:srgbClr val="FFFFFF"/>
                </a:highlight>
                <a:latin typeface="Consolas" panose="020B0609020204030204" pitchFamily="49" charset="0"/>
              </a:rPr>
              <a:t>{</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static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void</a:t>
            </a:r>
            <a:r>
              <a:rPr lang="en-US" sz="1050" dirty="0">
                <a:solidFill>
                  <a:srgbClr val="000000"/>
                </a:solidFill>
                <a:highlight>
                  <a:srgbClr val="FFFFFF"/>
                </a:highlight>
                <a:latin typeface="Consolas" panose="020B0609020204030204" pitchFamily="49" charset="0"/>
              </a:rPr>
              <a:t> Main(</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a:t>
            </a:r>
            <a:r>
              <a:rPr lang="en-US" sz="1050" dirty="0" err="1">
                <a:solidFill>
                  <a:srgbClr val="000000"/>
                </a:solidFill>
                <a:highlight>
                  <a:srgbClr val="FFFFFF"/>
                </a:highlight>
                <a:latin typeface="Consolas" panose="020B0609020204030204" pitchFamily="49" charset="0"/>
              </a:rPr>
              <a:t>args</a:t>
            </a:r>
            <a:r>
              <a:rPr lang="en-US" sz="1050" dirty="0">
                <a:solidFill>
                  <a:srgbClr val="000000"/>
                </a:solidFill>
                <a:highlight>
                  <a:srgbClr val="FFFFFF"/>
                </a:highlight>
                <a:latin typeface="Consolas" panose="020B0609020204030204" pitchFamily="49" charset="0"/>
              </a:rPr>
              <a:t>)</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int</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i</a:t>
            </a:r>
            <a:r>
              <a:rPr lang="en-IN" sz="1050" dirty="0">
                <a:solidFill>
                  <a:srgbClr val="000000"/>
                </a:solidFill>
                <a:highlight>
                  <a:srgbClr val="FFFFFF"/>
                </a:highlight>
                <a:latin typeface="Consolas" panose="020B0609020204030204" pitchFamily="49" charset="0"/>
              </a:rPr>
              <a:t>;</a:t>
            </a:r>
          </a:p>
          <a:p>
            <a:pPr marL="0" indent="0">
              <a:buNone/>
            </a:pP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FileStream</a:t>
            </a:r>
            <a:r>
              <a:rPr lang="en-IN" sz="1050" dirty="0">
                <a:solidFill>
                  <a:srgbClr val="000000"/>
                </a:solidFill>
                <a:highlight>
                  <a:srgbClr val="FFFFFF"/>
                </a:highlight>
                <a:latin typeface="Consolas" panose="020B0609020204030204" pitchFamily="49" charset="0"/>
              </a:rPr>
              <a:t> fin = </a:t>
            </a:r>
            <a:r>
              <a:rPr lang="en-IN" sz="1050" dirty="0">
                <a:solidFill>
                  <a:srgbClr val="0000FF"/>
                </a:solidFill>
                <a:highlight>
                  <a:srgbClr val="FFFFFF"/>
                </a:highlight>
                <a:latin typeface="Consolas" panose="020B0609020204030204" pitchFamily="49" charset="0"/>
              </a:rPr>
              <a:t>null</a:t>
            </a: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try</a:t>
            </a:r>
            <a:endParaRPr lang="en-IN" sz="1050" dirty="0">
              <a:solidFill>
                <a:srgbClr val="000000"/>
              </a:solidFill>
              <a:highlight>
                <a:srgbClr val="FFFFFF"/>
              </a:highlight>
              <a:latin typeface="Consolas" panose="020B0609020204030204" pitchFamily="49" charset="0"/>
            </a:endParaRP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US" sz="1050" dirty="0">
                <a:solidFill>
                  <a:srgbClr val="000000"/>
                </a:solidFill>
                <a:highlight>
                  <a:srgbClr val="FFFFFF"/>
                </a:highlight>
                <a:latin typeface="Consolas" panose="020B0609020204030204" pitchFamily="49" charset="0"/>
              </a:rPr>
              <a:t>            fin = </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FileStream</a:t>
            </a:r>
            <a:r>
              <a:rPr lang="en-US" sz="1050" dirty="0">
                <a:solidFill>
                  <a:srgbClr val="000000"/>
                </a:solidFill>
                <a:highlight>
                  <a:srgbClr val="FFFFFF"/>
                </a:highlight>
                <a:latin typeface="Consolas" panose="020B0609020204030204" pitchFamily="49" charset="0"/>
              </a:rPr>
              <a:t>(</a:t>
            </a:r>
            <a:r>
              <a:rPr lang="en-US" sz="1050" dirty="0">
                <a:solidFill>
                  <a:srgbClr val="A31515"/>
                </a:solidFill>
                <a:highlight>
                  <a:srgbClr val="FFFFFF"/>
                </a:highlight>
                <a:latin typeface="Consolas" panose="020B0609020204030204" pitchFamily="49" charset="0"/>
              </a:rPr>
              <a:t>"tt.txt"</a:t>
            </a:r>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FileMode</a:t>
            </a:r>
            <a:r>
              <a:rPr lang="en-US" sz="1050" dirty="0" err="1">
                <a:solidFill>
                  <a:srgbClr val="000000"/>
                </a:solidFill>
                <a:highlight>
                  <a:srgbClr val="FFFFFF"/>
                </a:highlight>
                <a:latin typeface="Consolas" panose="020B0609020204030204" pitchFamily="49" charset="0"/>
              </a:rPr>
              <a:t>.Open</a:t>
            </a:r>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FileAccess</a:t>
            </a:r>
            <a:r>
              <a:rPr lang="en-US" sz="1050" dirty="0" err="1">
                <a:solidFill>
                  <a:srgbClr val="000000"/>
                </a:solidFill>
                <a:highlight>
                  <a:srgbClr val="FFFFFF"/>
                </a:highlight>
                <a:latin typeface="Consolas" panose="020B0609020204030204" pitchFamily="49" charset="0"/>
              </a:rPr>
              <a:t>.Read</a:t>
            </a:r>
            <a:r>
              <a:rPr lang="en-US" sz="1050" dirty="0">
                <a:solidFill>
                  <a:srgbClr val="000000"/>
                </a:solidFill>
                <a:highlight>
                  <a:srgbClr val="FFFFFF"/>
                </a:highlight>
                <a:latin typeface="Consolas" panose="020B0609020204030204" pitchFamily="49" charset="0"/>
              </a:rPr>
              <a:t>);</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008000"/>
                </a:solidFill>
                <a:highlight>
                  <a:srgbClr val="FFFFFF"/>
                </a:highlight>
                <a:latin typeface="Consolas" panose="020B0609020204030204" pitchFamily="49" charset="0"/>
              </a:rPr>
              <a:t>// Read bytes until EOF is encountered. </a:t>
            </a:r>
            <a:endParaRPr lang="en-US" sz="1050" dirty="0">
              <a:solidFill>
                <a:srgbClr val="000000"/>
              </a:solidFill>
              <a:highlight>
                <a:srgbClr val="FFFFFF"/>
              </a:highlight>
              <a:latin typeface="Consolas" panose="020B0609020204030204" pitchFamily="49" charset="0"/>
            </a:endParaRPr>
          </a:p>
          <a:p>
            <a:pPr marL="0" indent="0">
              <a:buNone/>
            </a:pP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i</a:t>
            </a:r>
            <a:r>
              <a:rPr lang="en-IN" sz="1050" dirty="0">
                <a:solidFill>
                  <a:srgbClr val="000000"/>
                </a:solidFill>
                <a:highlight>
                  <a:srgbClr val="FFFFFF"/>
                </a:highlight>
                <a:latin typeface="Consolas" panose="020B0609020204030204" pitchFamily="49" charset="0"/>
              </a:rPr>
              <a:t> = </a:t>
            </a:r>
            <a:r>
              <a:rPr lang="en-IN" sz="1050" dirty="0" err="1">
                <a:solidFill>
                  <a:srgbClr val="000000"/>
                </a:solidFill>
                <a:highlight>
                  <a:srgbClr val="FFFFFF"/>
                </a:highlight>
                <a:latin typeface="Consolas" panose="020B0609020204030204" pitchFamily="49" charset="0"/>
              </a:rPr>
              <a:t>fin.ReadByte</a:t>
            </a:r>
            <a:r>
              <a:rPr lang="en-IN" sz="1050" dirty="0">
                <a:solidFill>
                  <a:srgbClr val="000000"/>
                </a:solidFill>
                <a:highlight>
                  <a:srgbClr val="FFFFFF"/>
                </a:highlight>
                <a:latin typeface="Consolas" panose="020B0609020204030204" pitchFamily="49" charset="0"/>
              </a:rPr>
              <a:t>();</a:t>
            </a:r>
          </a:p>
          <a:p>
            <a:pPr marL="0" indent="0">
              <a:buNone/>
            </a:pP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Console</a:t>
            </a:r>
            <a:r>
              <a:rPr lang="en-IN" sz="1050" dirty="0" err="1">
                <a:solidFill>
                  <a:srgbClr val="000000"/>
                </a:solidFill>
                <a:highlight>
                  <a:srgbClr val="FFFFFF"/>
                </a:highlight>
                <a:latin typeface="Consolas" panose="020B0609020204030204" pitchFamily="49" charset="0"/>
              </a:rPr>
              <a:t>.Write</a:t>
            </a:r>
            <a:r>
              <a:rPr lang="en-IN" sz="1050" dirty="0">
                <a:solidFill>
                  <a:srgbClr val="000000"/>
                </a:solidFill>
                <a:highlight>
                  <a:srgbClr val="FFFFFF"/>
                </a:highlight>
                <a:latin typeface="Consolas" panose="020B0609020204030204" pitchFamily="49" charset="0"/>
              </a:rPr>
              <a:t>((</a:t>
            </a:r>
            <a:r>
              <a:rPr lang="en-IN" sz="1050" dirty="0">
                <a:solidFill>
                  <a:srgbClr val="0000FF"/>
                </a:solidFill>
                <a:highlight>
                  <a:srgbClr val="FFFFFF"/>
                </a:highlight>
                <a:latin typeface="Consolas" panose="020B0609020204030204" pitchFamily="49" charset="0"/>
              </a:rPr>
              <a:t>char</a:t>
            </a:r>
            <a:r>
              <a:rPr lang="en-IN" sz="1050" dirty="0">
                <a:solidFill>
                  <a:srgbClr val="000000"/>
                </a:solidFill>
                <a:highlight>
                  <a:srgbClr val="FFFFFF"/>
                </a:highlight>
                <a:latin typeface="Consolas" panose="020B0609020204030204" pitchFamily="49" charset="0"/>
              </a:rPr>
              <a:t>)</a:t>
            </a:r>
            <a:r>
              <a:rPr lang="en-IN" sz="1050" dirty="0" err="1">
                <a:solidFill>
                  <a:srgbClr val="000000"/>
                </a:solidFill>
                <a:highlight>
                  <a:srgbClr val="FFFFFF"/>
                </a:highlight>
                <a:latin typeface="Consolas" panose="020B0609020204030204" pitchFamily="49" charset="0"/>
              </a:rPr>
              <a:t>i</a:t>
            </a:r>
            <a:r>
              <a:rPr lang="en-IN" sz="1050" dirty="0">
                <a:solidFill>
                  <a:srgbClr val="000000"/>
                </a:solidFill>
                <a:highlight>
                  <a:srgbClr val="FFFFFF"/>
                </a:highlight>
                <a:latin typeface="Consolas" panose="020B0609020204030204" pitchFamily="49" charset="0"/>
              </a:rPr>
              <a:t>);</a:t>
            </a:r>
          </a:p>
          <a:p>
            <a:pPr marL="0" indent="0">
              <a:buNone/>
            </a:pPr>
            <a:r>
              <a:rPr lang="en-IN" sz="1050" dirty="0">
                <a:solidFill>
                  <a:srgbClr val="000000"/>
                </a:solidFill>
                <a:highlight>
                  <a:srgbClr val="FFFFFF"/>
                </a:highlight>
                <a:latin typeface="Consolas" panose="020B0609020204030204" pitchFamily="49" charset="0"/>
              </a:rPr>
              <a:t>            </a:t>
            </a:r>
            <a:r>
              <a:rPr lang="en-IN" sz="1050" dirty="0">
                <a:solidFill>
                  <a:srgbClr val="008000"/>
                </a:solidFill>
                <a:highlight>
                  <a:srgbClr val="FFFFFF"/>
                </a:highlight>
                <a:latin typeface="Consolas" panose="020B0609020204030204" pitchFamily="49" charset="0"/>
              </a:rPr>
              <a:t>/*do</a:t>
            </a:r>
            <a:endParaRPr lang="en-IN" sz="1050" dirty="0">
              <a:solidFill>
                <a:srgbClr val="000000"/>
              </a:solidFill>
              <a:highlight>
                <a:srgbClr val="FFFFFF"/>
              </a:highlight>
              <a:latin typeface="Consolas" panose="020B0609020204030204" pitchFamily="49" charset="0"/>
            </a:endParaRPr>
          </a:p>
          <a:p>
            <a:pPr marL="0" indent="0">
              <a:buNone/>
            </a:pPr>
            <a:r>
              <a:rPr lang="en-IN" sz="1050" dirty="0">
                <a:solidFill>
                  <a:srgbClr val="008000"/>
                </a:solidFill>
                <a:highlight>
                  <a:srgbClr val="FFFFFF"/>
                </a:highlight>
                <a:latin typeface="Consolas" panose="020B0609020204030204" pitchFamily="49" charset="0"/>
              </a:rPr>
              <a:t>            {</a:t>
            </a:r>
            <a:endParaRPr lang="en-IN" sz="1050" dirty="0">
              <a:solidFill>
                <a:srgbClr val="000000"/>
              </a:solidFill>
              <a:highlight>
                <a:srgbClr val="FFFFFF"/>
              </a:highlight>
              <a:latin typeface="Consolas" panose="020B0609020204030204" pitchFamily="49" charset="0"/>
            </a:endParaRPr>
          </a:p>
          <a:p>
            <a:pPr marL="0" indent="0">
              <a:buNone/>
            </a:pPr>
            <a:r>
              <a:rPr lang="en-IN" sz="1050" dirty="0">
                <a:solidFill>
                  <a:srgbClr val="008000"/>
                </a:solidFill>
                <a:highlight>
                  <a:srgbClr val="FFFFFF"/>
                </a:highlight>
                <a:latin typeface="Consolas" panose="020B0609020204030204" pitchFamily="49" charset="0"/>
              </a:rPr>
              <a:t>                </a:t>
            </a:r>
            <a:r>
              <a:rPr lang="en-IN" sz="1050" dirty="0" err="1">
                <a:solidFill>
                  <a:srgbClr val="008000"/>
                </a:solidFill>
                <a:highlight>
                  <a:srgbClr val="FFFFFF"/>
                </a:highlight>
                <a:latin typeface="Consolas" panose="020B0609020204030204" pitchFamily="49" charset="0"/>
              </a:rPr>
              <a:t>i</a:t>
            </a:r>
            <a:r>
              <a:rPr lang="en-IN" sz="1050" dirty="0">
                <a:solidFill>
                  <a:srgbClr val="008000"/>
                </a:solidFill>
                <a:highlight>
                  <a:srgbClr val="FFFFFF"/>
                </a:highlight>
                <a:latin typeface="Consolas" panose="020B0609020204030204" pitchFamily="49" charset="0"/>
              </a:rPr>
              <a:t> = </a:t>
            </a:r>
            <a:r>
              <a:rPr lang="en-IN" sz="1050" dirty="0" err="1">
                <a:solidFill>
                  <a:srgbClr val="008000"/>
                </a:solidFill>
                <a:highlight>
                  <a:srgbClr val="FFFFFF"/>
                </a:highlight>
                <a:latin typeface="Consolas" panose="020B0609020204030204" pitchFamily="49" charset="0"/>
              </a:rPr>
              <a:t>fin.ReadByte</a:t>
            </a:r>
            <a:r>
              <a:rPr lang="en-IN" sz="1050" dirty="0">
                <a:solidFill>
                  <a:srgbClr val="008000"/>
                </a:solidFill>
                <a:highlight>
                  <a:srgbClr val="FFFFFF"/>
                </a:highlight>
                <a:latin typeface="Consolas" panose="020B0609020204030204" pitchFamily="49" charset="0"/>
              </a:rPr>
              <a:t>();</a:t>
            </a:r>
            <a:endParaRPr lang="en-IN" sz="1050" dirty="0">
              <a:solidFill>
                <a:srgbClr val="000000"/>
              </a:solidFill>
              <a:highlight>
                <a:srgbClr val="FFFFFF"/>
              </a:highlight>
              <a:latin typeface="Consolas" panose="020B0609020204030204" pitchFamily="49" charset="0"/>
            </a:endParaRPr>
          </a:p>
          <a:p>
            <a:pPr marL="0" indent="0">
              <a:buNone/>
            </a:pPr>
            <a:r>
              <a:rPr lang="en-IN" sz="1050" dirty="0">
                <a:solidFill>
                  <a:srgbClr val="008000"/>
                </a:solidFill>
                <a:highlight>
                  <a:srgbClr val="FFFFFF"/>
                </a:highlight>
                <a:latin typeface="Consolas" panose="020B0609020204030204" pitchFamily="49" charset="0"/>
              </a:rPr>
              <a:t>                </a:t>
            </a:r>
            <a:r>
              <a:rPr lang="en-IN" sz="1050" dirty="0" err="1">
                <a:solidFill>
                  <a:srgbClr val="008000"/>
                </a:solidFill>
                <a:highlight>
                  <a:srgbClr val="FFFFFF"/>
                </a:highlight>
                <a:latin typeface="Consolas" panose="020B0609020204030204" pitchFamily="49" charset="0"/>
              </a:rPr>
              <a:t>Console.Write</a:t>
            </a:r>
            <a:r>
              <a:rPr lang="en-IN" sz="1050" dirty="0">
                <a:solidFill>
                  <a:srgbClr val="008000"/>
                </a:solidFill>
                <a:highlight>
                  <a:srgbClr val="FFFFFF"/>
                </a:highlight>
                <a:latin typeface="Consolas" panose="020B0609020204030204" pitchFamily="49" charset="0"/>
              </a:rPr>
              <a:t>(</a:t>
            </a:r>
            <a:r>
              <a:rPr lang="en-IN" sz="1050" dirty="0" err="1">
                <a:solidFill>
                  <a:srgbClr val="008000"/>
                </a:solidFill>
                <a:highlight>
                  <a:srgbClr val="FFFFFF"/>
                </a:highlight>
                <a:latin typeface="Consolas" panose="020B0609020204030204" pitchFamily="49" charset="0"/>
              </a:rPr>
              <a:t>i</a:t>
            </a:r>
            <a:r>
              <a:rPr lang="en-IN" sz="1050" dirty="0">
                <a:solidFill>
                  <a:srgbClr val="008000"/>
                </a:solidFill>
                <a:highlight>
                  <a:srgbClr val="FFFFFF"/>
                </a:highlight>
                <a:latin typeface="Consolas" panose="020B0609020204030204" pitchFamily="49" charset="0"/>
              </a:rPr>
              <a:t>);</a:t>
            </a:r>
            <a:endParaRPr lang="en-IN" sz="1050" dirty="0">
              <a:solidFill>
                <a:srgbClr val="000000"/>
              </a:solidFill>
              <a:highlight>
                <a:srgbClr val="FFFFFF"/>
              </a:highlight>
              <a:latin typeface="Consolas" panose="020B0609020204030204" pitchFamily="49" charset="0"/>
            </a:endParaRPr>
          </a:p>
          <a:p>
            <a:pPr marL="0" indent="0">
              <a:buNone/>
            </a:pPr>
            <a:r>
              <a:rPr lang="en-IN" sz="1050" dirty="0">
                <a:solidFill>
                  <a:srgbClr val="008000"/>
                </a:solidFill>
                <a:highlight>
                  <a:srgbClr val="FFFFFF"/>
                </a:highlight>
                <a:latin typeface="Consolas" panose="020B0609020204030204" pitchFamily="49" charset="0"/>
              </a:rPr>
              <a:t>                if (</a:t>
            </a:r>
            <a:r>
              <a:rPr lang="en-IN" sz="1050" dirty="0" err="1">
                <a:solidFill>
                  <a:srgbClr val="008000"/>
                </a:solidFill>
                <a:highlight>
                  <a:srgbClr val="FFFFFF"/>
                </a:highlight>
                <a:latin typeface="Consolas" panose="020B0609020204030204" pitchFamily="49" charset="0"/>
              </a:rPr>
              <a:t>i</a:t>
            </a:r>
            <a:r>
              <a:rPr lang="en-IN" sz="1050" dirty="0">
                <a:solidFill>
                  <a:srgbClr val="008000"/>
                </a:solidFill>
                <a:highlight>
                  <a:srgbClr val="FFFFFF"/>
                </a:highlight>
                <a:latin typeface="Consolas" panose="020B0609020204030204" pitchFamily="49" charset="0"/>
              </a:rPr>
              <a:t> != -1)</a:t>
            </a:r>
            <a:endParaRPr lang="en-IN" sz="1050" dirty="0">
              <a:solidFill>
                <a:srgbClr val="000000"/>
              </a:solidFill>
              <a:highlight>
                <a:srgbClr val="FFFFFF"/>
              </a:highlight>
              <a:latin typeface="Consolas" panose="020B0609020204030204" pitchFamily="49" charset="0"/>
            </a:endParaRPr>
          </a:p>
          <a:p>
            <a:pPr marL="0" indent="0">
              <a:buNone/>
            </a:pPr>
            <a:r>
              <a:rPr lang="en-IN" sz="1050" dirty="0">
                <a:solidFill>
                  <a:srgbClr val="008000"/>
                </a:solidFill>
                <a:highlight>
                  <a:srgbClr val="FFFFFF"/>
                </a:highlight>
                <a:latin typeface="Consolas" panose="020B0609020204030204" pitchFamily="49" charset="0"/>
              </a:rPr>
              <a:t>                    </a:t>
            </a:r>
            <a:r>
              <a:rPr lang="en-IN" sz="1050" dirty="0" err="1">
                <a:solidFill>
                  <a:srgbClr val="008000"/>
                </a:solidFill>
                <a:highlight>
                  <a:srgbClr val="FFFFFF"/>
                </a:highlight>
                <a:latin typeface="Consolas" panose="020B0609020204030204" pitchFamily="49" charset="0"/>
              </a:rPr>
              <a:t>Console.Write</a:t>
            </a:r>
            <a:r>
              <a:rPr lang="en-IN" sz="1050" dirty="0">
                <a:solidFill>
                  <a:srgbClr val="008000"/>
                </a:solidFill>
                <a:highlight>
                  <a:srgbClr val="FFFFFF"/>
                </a:highlight>
                <a:latin typeface="Consolas" panose="020B0609020204030204" pitchFamily="49" charset="0"/>
              </a:rPr>
              <a:t>((char)</a:t>
            </a:r>
            <a:r>
              <a:rPr lang="en-IN" sz="1050" dirty="0" err="1">
                <a:solidFill>
                  <a:srgbClr val="008000"/>
                </a:solidFill>
                <a:highlight>
                  <a:srgbClr val="FFFFFF"/>
                </a:highlight>
                <a:latin typeface="Consolas" panose="020B0609020204030204" pitchFamily="49" charset="0"/>
              </a:rPr>
              <a:t>i</a:t>
            </a:r>
            <a:r>
              <a:rPr lang="en-IN" sz="1050" dirty="0">
                <a:solidFill>
                  <a:srgbClr val="008000"/>
                </a:solidFill>
                <a:highlight>
                  <a:srgbClr val="FFFFFF"/>
                </a:highlight>
                <a:latin typeface="Consolas" panose="020B0609020204030204" pitchFamily="49" charset="0"/>
              </a:rPr>
              <a:t>);</a:t>
            </a:r>
            <a:endParaRPr lang="en-IN" sz="1050" dirty="0">
              <a:solidFill>
                <a:srgbClr val="000000"/>
              </a:solidFill>
              <a:highlight>
                <a:srgbClr val="FFFFFF"/>
              </a:highlight>
              <a:latin typeface="Consolas" panose="020B0609020204030204" pitchFamily="49" charset="0"/>
            </a:endParaRPr>
          </a:p>
          <a:p>
            <a:pPr marL="0" indent="0">
              <a:buNone/>
            </a:pPr>
            <a:r>
              <a:rPr lang="en-IN" sz="1050" dirty="0">
                <a:solidFill>
                  <a:srgbClr val="008000"/>
                </a:solidFill>
                <a:highlight>
                  <a:srgbClr val="FFFFFF"/>
                </a:highlight>
                <a:latin typeface="Consolas" panose="020B0609020204030204" pitchFamily="49" charset="0"/>
              </a:rPr>
              <a:t>            } while (</a:t>
            </a:r>
            <a:r>
              <a:rPr lang="en-IN" sz="1050" dirty="0" err="1">
                <a:solidFill>
                  <a:srgbClr val="008000"/>
                </a:solidFill>
                <a:highlight>
                  <a:srgbClr val="FFFFFF"/>
                </a:highlight>
                <a:latin typeface="Consolas" panose="020B0609020204030204" pitchFamily="49" charset="0"/>
              </a:rPr>
              <a:t>i</a:t>
            </a:r>
            <a:r>
              <a:rPr lang="en-IN" sz="1050" dirty="0">
                <a:solidFill>
                  <a:srgbClr val="008000"/>
                </a:solidFill>
                <a:highlight>
                  <a:srgbClr val="FFFFFF"/>
                </a:highlight>
                <a:latin typeface="Consolas" panose="020B0609020204030204" pitchFamily="49" charset="0"/>
              </a:rPr>
              <a:t> != -1);*/</a:t>
            </a:r>
            <a:endParaRPr lang="en-IN" sz="1050" dirty="0">
              <a:solidFill>
                <a:srgbClr val="000000"/>
              </a:solidFill>
              <a:highlight>
                <a:srgbClr val="FFFFFF"/>
              </a:highlight>
              <a:latin typeface="Consolas" panose="020B0609020204030204" pitchFamily="49" charset="0"/>
            </a:endParaRPr>
          </a:p>
          <a:p>
            <a:pPr marL="0" indent="0">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while</a:t>
            </a:r>
            <a:r>
              <a:rPr lang="en-IN" sz="1050" dirty="0">
                <a:solidFill>
                  <a:srgbClr val="000000"/>
                </a:solidFill>
                <a:highlight>
                  <a:srgbClr val="FFFFFF"/>
                </a:highlight>
                <a:latin typeface="Consolas" panose="020B0609020204030204" pitchFamily="49" charset="0"/>
              </a:rPr>
              <a:t> (</a:t>
            </a:r>
            <a:r>
              <a:rPr lang="en-IN" sz="1050" dirty="0">
                <a:solidFill>
                  <a:srgbClr val="FF0000"/>
                </a:solidFill>
                <a:highlight>
                  <a:srgbClr val="FFFFFF"/>
                </a:highlight>
                <a:latin typeface="Consolas" panose="020B0609020204030204" pitchFamily="49" charset="0"/>
              </a:rPr>
              <a:t>(</a:t>
            </a:r>
            <a:r>
              <a:rPr lang="en-IN" sz="1050" dirty="0" err="1">
                <a:solidFill>
                  <a:srgbClr val="000000"/>
                </a:solidFill>
                <a:highlight>
                  <a:srgbClr val="FFFFFF"/>
                </a:highlight>
                <a:latin typeface="Consolas" panose="020B0609020204030204" pitchFamily="49" charset="0"/>
              </a:rPr>
              <a:t>i</a:t>
            </a:r>
            <a:r>
              <a:rPr lang="en-IN" sz="1050" dirty="0">
                <a:solidFill>
                  <a:srgbClr val="000000"/>
                </a:solidFill>
                <a:highlight>
                  <a:srgbClr val="FFFFFF"/>
                </a:highlight>
                <a:latin typeface="Consolas" panose="020B0609020204030204" pitchFamily="49" charset="0"/>
              </a:rPr>
              <a:t> = </a:t>
            </a:r>
            <a:r>
              <a:rPr lang="en-IN" sz="1050" dirty="0" err="1">
                <a:solidFill>
                  <a:srgbClr val="000000"/>
                </a:solidFill>
                <a:highlight>
                  <a:srgbClr val="FFFFFF"/>
                </a:highlight>
                <a:latin typeface="Consolas" panose="020B0609020204030204" pitchFamily="49" charset="0"/>
              </a:rPr>
              <a:t>fin.ReadByte</a:t>
            </a:r>
            <a:r>
              <a:rPr lang="en-IN" sz="1050" dirty="0">
                <a:solidFill>
                  <a:srgbClr val="000000"/>
                </a:solidFill>
                <a:highlight>
                  <a:srgbClr val="FFFFFF"/>
                </a:highlight>
                <a:latin typeface="Consolas" panose="020B0609020204030204" pitchFamily="49" charset="0"/>
              </a:rPr>
              <a:t>()</a:t>
            </a:r>
            <a:r>
              <a:rPr lang="en-IN" sz="1050" dirty="0">
                <a:solidFill>
                  <a:srgbClr val="FF0000"/>
                </a:solidFill>
                <a:highlight>
                  <a:srgbClr val="FFFFFF"/>
                </a:highlight>
                <a:latin typeface="Consolas" panose="020B0609020204030204" pitchFamily="49" charset="0"/>
              </a:rPr>
              <a:t>)</a:t>
            </a:r>
            <a:r>
              <a:rPr lang="en-IN" sz="1050" dirty="0">
                <a:solidFill>
                  <a:srgbClr val="000000"/>
                </a:solidFill>
                <a:highlight>
                  <a:srgbClr val="FFFFFF"/>
                </a:highlight>
                <a:latin typeface="Consolas" panose="020B0609020204030204" pitchFamily="49" charset="0"/>
              </a:rPr>
              <a:t> != -1)</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Console</a:t>
            </a:r>
            <a:r>
              <a:rPr lang="en-IN" sz="1050" dirty="0" err="1">
                <a:solidFill>
                  <a:srgbClr val="000000"/>
                </a:solidFill>
                <a:highlight>
                  <a:srgbClr val="FFFFFF"/>
                </a:highlight>
                <a:latin typeface="Consolas" panose="020B0609020204030204" pitchFamily="49" charset="0"/>
              </a:rPr>
              <a:t>.Write</a:t>
            </a:r>
            <a:r>
              <a:rPr lang="en-IN" sz="1050" dirty="0">
                <a:solidFill>
                  <a:srgbClr val="000000"/>
                </a:solidFill>
                <a:highlight>
                  <a:srgbClr val="FFFFFF"/>
                </a:highlight>
                <a:latin typeface="Consolas" panose="020B0609020204030204" pitchFamily="49" charset="0"/>
              </a:rPr>
              <a:t>((</a:t>
            </a:r>
            <a:r>
              <a:rPr lang="en-IN" sz="1050" dirty="0">
                <a:solidFill>
                  <a:srgbClr val="0000FF"/>
                </a:solidFill>
                <a:highlight>
                  <a:srgbClr val="FFFFFF"/>
                </a:highlight>
                <a:latin typeface="Consolas" panose="020B0609020204030204" pitchFamily="49" charset="0"/>
              </a:rPr>
              <a:t>char</a:t>
            </a:r>
            <a:r>
              <a:rPr lang="en-IN" sz="1050" dirty="0">
                <a:solidFill>
                  <a:srgbClr val="000000"/>
                </a:solidFill>
                <a:highlight>
                  <a:srgbClr val="FFFFFF"/>
                </a:highlight>
                <a:latin typeface="Consolas" panose="020B0609020204030204" pitchFamily="49" charset="0"/>
              </a:rPr>
              <a:t>)</a:t>
            </a:r>
            <a:r>
              <a:rPr lang="en-IN" sz="1050" dirty="0" err="1">
                <a:solidFill>
                  <a:srgbClr val="000000"/>
                </a:solidFill>
                <a:highlight>
                  <a:srgbClr val="FFFFFF"/>
                </a:highlight>
                <a:latin typeface="Consolas" panose="020B0609020204030204" pitchFamily="49" charset="0"/>
              </a:rPr>
              <a:t>i</a:t>
            </a:r>
            <a:r>
              <a:rPr lang="en-IN" sz="1050" dirty="0">
                <a:solidFill>
                  <a:srgbClr val="000000"/>
                </a:solidFill>
                <a:highlight>
                  <a:srgbClr val="FFFFFF"/>
                </a:highlight>
                <a:latin typeface="Consolas" panose="020B0609020204030204" pitchFamily="49" charset="0"/>
              </a:rPr>
              <a:t>);</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catch</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Exception</a:t>
            </a:r>
            <a:r>
              <a:rPr lang="en-IN" sz="1050" dirty="0">
                <a:solidFill>
                  <a:srgbClr val="000000"/>
                </a:solidFill>
                <a:highlight>
                  <a:srgbClr val="FFFFFF"/>
                </a:highlight>
                <a:latin typeface="Consolas" panose="020B0609020204030204" pitchFamily="49" charset="0"/>
              </a:rPr>
              <a:t> e)</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Console</a:t>
            </a:r>
            <a:r>
              <a:rPr lang="en-IN" sz="1050" dirty="0" err="1">
                <a:solidFill>
                  <a:srgbClr val="000000"/>
                </a:solidFill>
                <a:highlight>
                  <a:srgbClr val="FFFFFF"/>
                </a:highlight>
                <a:latin typeface="Consolas" panose="020B0609020204030204" pitchFamily="49" charset="0"/>
              </a:rPr>
              <a:t>.WriteLine</a:t>
            </a:r>
            <a:r>
              <a:rPr lang="en-IN" sz="1050" dirty="0">
                <a:solidFill>
                  <a:srgbClr val="000000"/>
                </a:solidFill>
                <a:highlight>
                  <a:srgbClr val="FFFFFF"/>
                </a:highlight>
                <a:latin typeface="Consolas" panose="020B0609020204030204" pitchFamily="49" charset="0"/>
              </a:rPr>
              <a:t>(</a:t>
            </a:r>
            <a:r>
              <a:rPr lang="en-IN" sz="1050" dirty="0" err="1">
                <a:solidFill>
                  <a:srgbClr val="000000"/>
                </a:solidFill>
                <a:highlight>
                  <a:srgbClr val="FFFFFF"/>
                </a:highlight>
                <a:latin typeface="Consolas" panose="020B0609020204030204" pitchFamily="49" charset="0"/>
              </a:rPr>
              <a:t>e.Message</a:t>
            </a:r>
            <a:r>
              <a:rPr lang="en-IN" sz="1050" dirty="0">
                <a:solidFill>
                  <a:srgbClr val="000000"/>
                </a:solidFill>
                <a:highlight>
                  <a:srgbClr val="FFFFFF"/>
                </a:highlight>
                <a:latin typeface="Consolas" panose="020B0609020204030204" pitchFamily="49" charset="0"/>
              </a:rPr>
              <a:t>);</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finally</a:t>
            </a:r>
            <a:r>
              <a:rPr lang="en-IN" sz="1050" dirty="0">
                <a:solidFill>
                  <a:srgbClr val="000000"/>
                </a:solidFill>
                <a:highlight>
                  <a:srgbClr val="FFFFFF"/>
                </a:highlight>
                <a:latin typeface="Consolas" panose="020B0609020204030204" pitchFamily="49" charset="0"/>
              </a:rPr>
              <a:t> { </a:t>
            </a:r>
          </a:p>
          <a:p>
            <a:pPr marL="0" indent="0">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if</a:t>
            </a:r>
            <a:r>
              <a:rPr lang="en-IN" sz="1050" dirty="0">
                <a:solidFill>
                  <a:srgbClr val="000000"/>
                </a:solidFill>
                <a:highlight>
                  <a:srgbClr val="FFFFFF"/>
                </a:highlight>
                <a:latin typeface="Consolas" panose="020B0609020204030204" pitchFamily="49" charset="0"/>
              </a:rPr>
              <a:t>(fin!=</a:t>
            </a:r>
            <a:r>
              <a:rPr lang="en-IN" sz="1050" dirty="0">
                <a:solidFill>
                  <a:srgbClr val="0000FF"/>
                </a:solidFill>
                <a:highlight>
                  <a:srgbClr val="FFFFFF"/>
                </a:highlight>
                <a:latin typeface="Consolas" panose="020B0609020204030204" pitchFamily="49" charset="0"/>
              </a:rPr>
              <a:t>null</a:t>
            </a:r>
            <a:r>
              <a:rPr lang="en-IN" sz="1050" dirty="0">
                <a:solidFill>
                  <a:srgbClr val="000000"/>
                </a:solidFill>
                <a:highlight>
                  <a:srgbClr val="FFFFFF"/>
                </a:highlight>
                <a:latin typeface="Consolas" panose="020B0609020204030204" pitchFamily="49" charset="0"/>
              </a:rPr>
              <a:t>)</a:t>
            </a:r>
          </a:p>
          <a:p>
            <a:pPr marL="0" indent="0">
              <a:buNone/>
            </a:pP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fin.Close</a:t>
            </a: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Console</a:t>
            </a:r>
            <a:r>
              <a:rPr lang="en-IN" sz="1050" dirty="0" err="1">
                <a:solidFill>
                  <a:srgbClr val="000000"/>
                </a:solidFill>
                <a:highlight>
                  <a:srgbClr val="FFFFFF"/>
                </a:highlight>
                <a:latin typeface="Consolas" panose="020B0609020204030204" pitchFamily="49" charset="0"/>
              </a:rPr>
              <a:t>.WriteLine</a:t>
            </a:r>
            <a:r>
              <a:rPr lang="en-IN" sz="1050" dirty="0">
                <a:solidFill>
                  <a:srgbClr val="000000"/>
                </a:solidFill>
                <a:highlight>
                  <a:srgbClr val="FFFFFF"/>
                </a:highlight>
                <a:latin typeface="Consolas" panose="020B0609020204030204" pitchFamily="49" charset="0"/>
              </a:rPr>
              <a:t>(</a:t>
            </a:r>
            <a:r>
              <a:rPr lang="en-IN" sz="1050" dirty="0">
                <a:solidFill>
                  <a:srgbClr val="A31515"/>
                </a:solidFill>
                <a:highlight>
                  <a:srgbClr val="FFFFFF"/>
                </a:highlight>
                <a:latin typeface="Consolas" panose="020B0609020204030204" pitchFamily="49" charset="0"/>
              </a:rPr>
              <a:t>"bye"</a:t>
            </a:r>
            <a:r>
              <a:rPr lang="en-IN" sz="1050" dirty="0">
                <a:solidFill>
                  <a:srgbClr val="000000"/>
                </a:solidFill>
                <a:highlight>
                  <a:srgbClr val="FFFFFF"/>
                </a:highlight>
                <a:latin typeface="Consolas" panose="020B0609020204030204" pitchFamily="49" charset="0"/>
              </a:rPr>
              <a:t>);</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a:t>
            </a:r>
          </a:p>
          <a:p>
            <a:pPr marL="0" indent="0">
              <a:buNone/>
            </a:pPr>
            <a:endParaRPr lang="en-IN" sz="1050" dirty="0"/>
          </a:p>
        </p:txBody>
      </p:sp>
    </p:spTree>
    <p:extLst>
      <p:ext uri="{BB962C8B-B14F-4D97-AF65-F5344CB8AC3E}">
        <p14:creationId xmlns:p14="http://schemas.microsoft.com/office/powerpoint/2010/main" val="1906806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E9AD4-ACD7-44CA-87CB-CCCD88D7DEBC}"/>
              </a:ext>
            </a:extLst>
          </p:cNvPr>
          <p:cNvSpPr>
            <a:spLocks noGrp="1"/>
          </p:cNvSpPr>
          <p:nvPr>
            <p:ph type="title"/>
          </p:nvPr>
        </p:nvSpPr>
        <p:spPr>
          <a:xfrm>
            <a:off x="-352097" y="26978"/>
            <a:ext cx="7315200" cy="639762"/>
          </a:xfrm>
        </p:spPr>
        <p:txBody>
          <a:bodyPr>
            <a:normAutofit fontScale="90000"/>
          </a:bodyPr>
          <a:lstStyle/>
          <a:p>
            <a:r>
              <a:rPr lang="en-IN" dirty="0"/>
              <a:t>Stream writer</a:t>
            </a:r>
          </a:p>
        </p:txBody>
      </p:sp>
      <p:sp>
        <p:nvSpPr>
          <p:cNvPr id="3" name="Content Placeholder 2">
            <a:extLst>
              <a:ext uri="{FF2B5EF4-FFF2-40B4-BE49-F238E27FC236}">
                <a16:creationId xmlns:a16="http://schemas.microsoft.com/office/drawing/2014/main" id="{3D7BB9AC-4922-448D-9B66-8DD1FE68699D}"/>
              </a:ext>
            </a:extLst>
          </p:cNvPr>
          <p:cNvSpPr>
            <a:spLocks noGrp="1"/>
          </p:cNvSpPr>
          <p:nvPr>
            <p:ph idx="1"/>
          </p:nvPr>
        </p:nvSpPr>
        <p:spPr>
          <a:xfrm>
            <a:off x="228600" y="609600"/>
            <a:ext cx="4343400" cy="6156325"/>
          </a:xfrm>
        </p:spPr>
        <p:txBody>
          <a:bodyPr>
            <a:normAutofit fontScale="55000" lnSpcReduction="20000"/>
          </a:bodyPr>
          <a:lstStyle/>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US" sz="1800" dirty="0">
                <a:solidFill>
                  <a:srgbClr val="008000"/>
                </a:solidFill>
                <a:highlight>
                  <a:srgbClr val="FFFFFF"/>
                </a:highlight>
                <a:latin typeface="Consolas" panose="020B0609020204030204" pitchFamily="49" charset="0"/>
              </a:rPr>
              <a:t>/* A simple key-to-disk utility that </a:t>
            </a:r>
            <a:endParaRPr lang="en-US" sz="1800" dirty="0">
              <a:solidFill>
                <a:srgbClr val="000000"/>
              </a:solidFill>
              <a:highlight>
                <a:srgbClr val="FFFFFF"/>
              </a:highlight>
              <a:latin typeface="Consolas" panose="020B0609020204030204" pitchFamily="49" charset="0"/>
            </a:endParaRPr>
          </a:p>
          <a:p>
            <a:pPr marL="0" indent="0">
              <a:buNone/>
            </a:pPr>
            <a:r>
              <a:rPr lang="en-IN" sz="1800" dirty="0">
                <a:solidFill>
                  <a:srgbClr val="008000"/>
                </a:solidFill>
                <a:highlight>
                  <a:srgbClr val="FFFFFF"/>
                </a:highlight>
                <a:latin typeface="Consolas" panose="020B0609020204030204" pitchFamily="49" charset="0"/>
              </a:rPr>
              <a:t>   demonstrates a </a:t>
            </a:r>
            <a:r>
              <a:rPr lang="en-IN" sz="1800" dirty="0" err="1">
                <a:solidFill>
                  <a:srgbClr val="008000"/>
                </a:solidFill>
                <a:highlight>
                  <a:srgbClr val="FFFFFF"/>
                </a:highlight>
                <a:latin typeface="Consolas" panose="020B0609020204030204" pitchFamily="49" charset="0"/>
              </a:rPr>
              <a:t>StreamWriter</a:t>
            </a:r>
            <a:r>
              <a:rPr lang="en-IN" sz="1800" dirty="0">
                <a:solidFill>
                  <a:srgbClr val="008000"/>
                </a:solidFill>
                <a:highlight>
                  <a:srgbClr val="FFFFFF"/>
                </a:highlight>
                <a:latin typeface="Consolas" panose="020B0609020204030204" pitchFamily="49" charset="0"/>
              </a:rPr>
              <a:t>. */</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FF"/>
                </a:solidFill>
                <a:highlight>
                  <a:srgbClr val="FFFFFF"/>
                </a:highlight>
                <a:latin typeface="Consolas" panose="020B0609020204030204" pitchFamily="49" charset="0"/>
              </a:rPr>
              <a:t>using</a:t>
            </a:r>
            <a:r>
              <a:rPr lang="en-IN" sz="1800" dirty="0">
                <a:solidFill>
                  <a:srgbClr val="000000"/>
                </a:solidFill>
                <a:highlight>
                  <a:srgbClr val="FFFFFF"/>
                </a:highlight>
                <a:latin typeface="Consolas" panose="020B0609020204030204" pitchFamily="49" charset="0"/>
              </a:rPr>
              <a:t> System;</a:t>
            </a:r>
          </a:p>
          <a:p>
            <a:pPr marL="0" indent="0">
              <a:buNone/>
            </a:pPr>
            <a:r>
              <a:rPr lang="en-IN" sz="1800" dirty="0">
                <a:solidFill>
                  <a:srgbClr val="0000FF"/>
                </a:solidFill>
                <a:highlight>
                  <a:srgbClr val="FFFFFF"/>
                </a:highlight>
                <a:latin typeface="Consolas" panose="020B0609020204030204" pitchFamily="49" charset="0"/>
              </a:rPr>
              <a:t>using</a:t>
            </a:r>
            <a:r>
              <a:rPr lang="en-IN" sz="1800" dirty="0">
                <a:solidFill>
                  <a:srgbClr val="000000"/>
                </a:solidFill>
                <a:highlight>
                  <a:srgbClr val="FFFFFF"/>
                </a:highlight>
                <a:latin typeface="Consolas" panose="020B0609020204030204" pitchFamily="49" charset="0"/>
              </a:rPr>
              <a:t> System.IO;</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FF"/>
                </a:solidFill>
                <a:highlight>
                  <a:srgbClr val="FFFFFF"/>
                </a:highlight>
                <a:latin typeface="Consolas" panose="020B0609020204030204" pitchFamily="49" charset="0"/>
              </a:rPr>
              <a:t>class</a:t>
            </a: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KtoD</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public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static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void</a:t>
            </a:r>
            <a:r>
              <a:rPr lang="en-IN" sz="1800" dirty="0">
                <a:solidFill>
                  <a:srgbClr val="000000"/>
                </a:solidFill>
                <a:highlight>
                  <a:srgbClr val="FFFFFF"/>
                </a:highlight>
                <a:latin typeface="Consolas" panose="020B0609020204030204" pitchFamily="49" charset="0"/>
              </a:rPr>
              <a:t> Main()</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string</a:t>
            </a:r>
            <a:r>
              <a:rPr lang="en-IN" sz="1800" dirty="0">
                <a:solidFill>
                  <a:srgbClr val="000000"/>
                </a:solidFill>
                <a:highlight>
                  <a:srgbClr val="FFFFFF"/>
                </a:highlight>
                <a:latin typeface="Consolas" panose="020B0609020204030204" pitchFamily="49" charset="0"/>
              </a:rPr>
              <a:t> str;</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FileStream</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fout</a:t>
            </a:r>
            <a:r>
              <a:rPr lang="en-IN" sz="1800" dirty="0">
                <a:solidFill>
                  <a:srgbClr val="000000"/>
                </a:solidFill>
                <a:highlight>
                  <a:srgbClr val="FFFFFF"/>
                </a:highlight>
                <a:latin typeface="Consolas" panose="020B0609020204030204" pitchFamily="49" charset="0"/>
              </a:rPr>
              <a:t>;</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fout</a:t>
            </a:r>
            <a:r>
              <a:rPr lang="en-US" sz="1800" dirty="0">
                <a:solidFill>
                  <a:srgbClr val="000000"/>
                </a:solidFill>
                <a:highlight>
                  <a:srgbClr val="FFFFFF"/>
                </a:highlight>
                <a:latin typeface="Consolas" panose="020B0609020204030204" pitchFamily="49" charset="0"/>
              </a:rPr>
              <a:t> = </a:t>
            </a:r>
            <a:r>
              <a:rPr lang="en-US" sz="1800" dirty="0">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FileStream</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"test.txt"</a:t>
            </a: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FileMode</a:t>
            </a:r>
            <a:r>
              <a:rPr lang="en-US" sz="1800" dirty="0" err="1">
                <a:solidFill>
                  <a:srgbClr val="000000"/>
                </a:solidFill>
                <a:highlight>
                  <a:srgbClr val="FFFFFF"/>
                </a:highlight>
                <a:latin typeface="Consolas" panose="020B0609020204030204" pitchFamily="49" charset="0"/>
              </a:rPr>
              <a:t>.Create</a:t>
            </a: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FileAccess</a:t>
            </a:r>
            <a:r>
              <a:rPr lang="en-US" sz="1800" dirty="0" err="1">
                <a:solidFill>
                  <a:srgbClr val="000000"/>
                </a:solidFill>
                <a:highlight>
                  <a:srgbClr val="FFFFFF"/>
                </a:highlight>
                <a:latin typeface="Consolas" panose="020B0609020204030204" pitchFamily="49" charset="0"/>
              </a:rPr>
              <a:t>.Write</a:t>
            </a:r>
            <a:r>
              <a:rPr lang="en-US" sz="1800" dirty="0">
                <a:solidFill>
                  <a:srgbClr val="000000"/>
                </a:solidFill>
                <a:highlight>
                  <a:srgbClr val="FFFFFF"/>
                </a:highlight>
                <a:latin typeface="Consolas" panose="020B0609020204030204" pitchFamily="49" charset="0"/>
              </a:rPr>
              <a:t>);</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StreamWriter</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fstr_out</a:t>
            </a:r>
            <a:r>
              <a:rPr lang="en-US" sz="1800" dirty="0">
                <a:solidFill>
                  <a:srgbClr val="000000"/>
                </a:solidFill>
                <a:highlight>
                  <a:srgbClr val="FFFFFF"/>
                </a:highlight>
                <a:latin typeface="Consolas" panose="020B0609020204030204" pitchFamily="49" charset="0"/>
              </a:rPr>
              <a:t> = </a:t>
            </a:r>
            <a:r>
              <a:rPr lang="en-US" sz="1800" dirty="0">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StreamWriter</a:t>
            </a:r>
            <a:r>
              <a:rPr lang="en-US" sz="1800" dirty="0">
                <a:solidFill>
                  <a:srgbClr val="000000"/>
                </a:solidFill>
                <a:highlight>
                  <a:srgbClr val="FFFFFF"/>
                </a:highlight>
                <a:latin typeface="Consolas" panose="020B0609020204030204" pitchFamily="49" charset="0"/>
              </a:rPr>
              <a:t>(</a:t>
            </a:r>
            <a:r>
              <a:rPr lang="en-US" sz="1800" dirty="0" err="1">
                <a:solidFill>
                  <a:srgbClr val="000000"/>
                </a:solidFill>
                <a:highlight>
                  <a:srgbClr val="FFFFFF"/>
                </a:highlight>
                <a:latin typeface="Consolas" panose="020B0609020204030204" pitchFamily="49" charset="0"/>
              </a:rPr>
              <a:t>fout</a:t>
            </a:r>
            <a:r>
              <a:rPr lang="en-US" sz="1800" dirty="0">
                <a:solidFill>
                  <a:srgbClr val="000000"/>
                </a:solidFill>
                <a:highlight>
                  <a:srgbClr val="FFFFFF"/>
                </a:highlight>
                <a:latin typeface="Consolas" panose="020B0609020204030204" pitchFamily="49" charset="0"/>
              </a:rPr>
              <a:t>);</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Console</a:t>
            </a:r>
            <a:r>
              <a:rPr lang="en-US" sz="1800" dirty="0" err="1">
                <a:solidFill>
                  <a:srgbClr val="000000"/>
                </a:solidFill>
                <a:highlight>
                  <a:srgbClr val="FFFFFF"/>
                </a:highlight>
                <a:latin typeface="Consolas" panose="020B0609020204030204" pitchFamily="49" charset="0"/>
              </a:rPr>
              <a:t>.WriteLine</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"Enter text ('stop' to quit)."</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do</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 "</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str =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.ReadLine</a:t>
            </a:r>
            <a:r>
              <a:rPr lang="en-IN" sz="1800" dirty="0">
                <a:solidFill>
                  <a:srgbClr val="000000"/>
                </a:solidFill>
                <a:highlight>
                  <a:srgbClr val="FFFFFF"/>
                </a:highlight>
                <a:latin typeface="Consolas" panose="020B0609020204030204" pitchFamily="49" charset="0"/>
              </a:rPr>
              <a:t>();</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if</a:t>
            </a:r>
            <a:r>
              <a:rPr lang="en-IN" sz="1800" dirty="0">
                <a:solidFill>
                  <a:srgbClr val="000000"/>
                </a:solidFill>
                <a:highlight>
                  <a:srgbClr val="FFFFFF"/>
                </a:highlight>
                <a:latin typeface="Consolas" panose="020B0609020204030204" pitchFamily="49" charset="0"/>
              </a:rPr>
              <a:t> (str != </a:t>
            </a:r>
            <a:r>
              <a:rPr lang="en-IN" sz="1800" dirty="0">
                <a:solidFill>
                  <a:srgbClr val="A31515"/>
                </a:solidFill>
                <a:highlight>
                  <a:srgbClr val="FFFFFF"/>
                </a:highlight>
                <a:latin typeface="Consolas" panose="020B0609020204030204" pitchFamily="49" charset="0"/>
              </a:rPr>
              <a:t>"stop"</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str = str + </a:t>
            </a:r>
            <a:r>
              <a:rPr lang="en-IN" sz="1800" dirty="0">
                <a:solidFill>
                  <a:srgbClr val="A31515"/>
                </a:solidFill>
                <a:highlight>
                  <a:srgbClr val="FFFFFF"/>
                </a:highlight>
                <a:latin typeface="Consolas" panose="020B0609020204030204" pitchFamily="49" charset="0"/>
              </a:rPr>
              <a:t>"\r\n"</a:t>
            </a:r>
            <a:r>
              <a:rPr lang="en-IN" sz="1800" dirty="0">
                <a:solidFill>
                  <a:srgbClr val="000000"/>
                </a:solidFill>
                <a:highlight>
                  <a:srgbClr val="FFFFFF"/>
                </a:highlight>
                <a:latin typeface="Consolas" panose="020B0609020204030204" pitchFamily="49" charset="0"/>
              </a:rPr>
              <a:t>; </a:t>
            </a:r>
            <a:r>
              <a:rPr lang="en-IN" sz="1800" dirty="0">
                <a:solidFill>
                  <a:srgbClr val="008000"/>
                </a:solidFill>
                <a:highlight>
                  <a:srgbClr val="FFFFFF"/>
                </a:highlight>
                <a:latin typeface="Consolas" panose="020B0609020204030204" pitchFamily="49" charset="0"/>
              </a:rPr>
              <a:t>// add newline </a:t>
            </a:r>
            <a:endParaRPr lang="en-IN" sz="1800" dirty="0">
              <a:solidFill>
                <a:srgbClr val="000000"/>
              </a:solidFill>
              <a:highlight>
                <a:srgbClr val="FFFFFF"/>
              </a:highlight>
              <a:latin typeface="Consolas" panose="020B0609020204030204" pitchFamily="49" charset="0"/>
            </a:endParaRP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fstr_out.Write</a:t>
            </a:r>
            <a:r>
              <a:rPr lang="en-IN" sz="1800" dirty="0">
                <a:solidFill>
                  <a:srgbClr val="000000"/>
                </a:solidFill>
                <a:highlight>
                  <a:srgbClr val="FFFFFF"/>
                </a:highlight>
                <a:latin typeface="Consolas" panose="020B0609020204030204" pitchFamily="49" charset="0"/>
              </a:rPr>
              <a:t>(str);</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 </a:t>
            </a:r>
            <a:r>
              <a:rPr lang="en-IN" sz="1800" dirty="0">
                <a:solidFill>
                  <a:srgbClr val="0000FF"/>
                </a:solidFill>
                <a:highlight>
                  <a:srgbClr val="FFFFFF"/>
                </a:highlight>
                <a:latin typeface="Consolas" panose="020B0609020204030204" pitchFamily="49" charset="0"/>
              </a:rPr>
              <a:t>while</a:t>
            </a:r>
            <a:r>
              <a:rPr lang="en-IN" sz="1800" dirty="0">
                <a:solidFill>
                  <a:srgbClr val="000000"/>
                </a:solidFill>
                <a:highlight>
                  <a:srgbClr val="FFFFFF"/>
                </a:highlight>
                <a:latin typeface="Consolas" panose="020B0609020204030204" pitchFamily="49" charset="0"/>
              </a:rPr>
              <a:t> (str != </a:t>
            </a:r>
            <a:r>
              <a:rPr lang="en-IN" sz="1800" dirty="0">
                <a:solidFill>
                  <a:srgbClr val="A31515"/>
                </a:solidFill>
                <a:highlight>
                  <a:srgbClr val="FFFFFF"/>
                </a:highlight>
                <a:latin typeface="Consolas" panose="020B0609020204030204" pitchFamily="49" charset="0"/>
              </a:rPr>
              <a:t>"stop"</a:t>
            </a:r>
            <a:r>
              <a:rPr lang="en-IN" sz="1800" dirty="0">
                <a:solidFill>
                  <a:srgbClr val="000000"/>
                </a:solidFill>
                <a:highlight>
                  <a:srgbClr val="FFFFFF"/>
                </a:highlight>
                <a:latin typeface="Consolas" panose="020B0609020204030204" pitchFamily="49" charset="0"/>
              </a:rPr>
              <a:t>);</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fstr_out.Close</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endParaRPr lang="en-IN" dirty="0"/>
          </a:p>
        </p:txBody>
      </p:sp>
      <p:sp>
        <p:nvSpPr>
          <p:cNvPr id="4" name="TextBox 3">
            <a:extLst>
              <a:ext uri="{FF2B5EF4-FFF2-40B4-BE49-F238E27FC236}">
                <a16:creationId xmlns:a16="http://schemas.microsoft.com/office/drawing/2014/main" id="{4A2E5848-57D2-4072-89A1-A441E96E629C}"/>
              </a:ext>
            </a:extLst>
          </p:cNvPr>
          <p:cNvSpPr txBox="1"/>
          <p:nvPr/>
        </p:nvSpPr>
        <p:spPr>
          <a:xfrm>
            <a:off x="4769068" y="81127"/>
            <a:ext cx="4495800" cy="3970318"/>
          </a:xfrm>
          <a:prstGeom prst="rect">
            <a:avLst/>
          </a:prstGeom>
          <a:noFill/>
        </p:spPr>
        <p:txBody>
          <a:bodyPr wrap="square" rtlCol="0">
            <a:spAutoFit/>
          </a:bodyPr>
          <a:lstStyle/>
          <a:p>
            <a:r>
              <a:rPr lang="en-US" b="1" dirty="0"/>
              <a:t>Stream</a:t>
            </a:r>
            <a:r>
              <a:rPr lang="en-IN" dirty="0"/>
              <a:t> writer</a:t>
            </a:r>
            <a:r>
              <a:rPr lang="en-US" b="1" dirty="0"/>
              <a:t> </a:t>
            </a:r>
            <a:r>
              <a:rPr lang="en-US" dirty="0"/>
              <a:t>classes are useful whenever you need to write </a:t>
            </a:r>
            <a:r>
              <a:rPr lang="en-US" b="1" dirty="0" err="1"/>
              <a:t>characterbased</a:t>
            </a:r>
            <a:r>
              <a:rPr lang="en-US" b="1" dirty="0"/>
              <a:t> </a:t>
            </a:r>
            <a:r>
              <a:rPr lang="en-US" dirty="0"/>
              <a:t>data (e.g., strings).</a:t>
            </a:r>
          </a:p>
          <a:p>
            <a:endParaRPr lang="en-US" dirty="0"/>
          </a:p>
          <a:p>
            <a:endParaRPr lang="en-US" dirty="0"/>
          </a:p>
          <a:p>
            <a:r>
              <a:rPr lang="en-US" dirty="0" err="1"/>
              <a:t>CAn</a:t>
            </a:r>
            <a:r>
              <a:rPr lang="en-US" dirty="0"/>
              <a:t> I use  object of </a:t>
            </a:r>
          </a:p>
          <a:p>
            <a:r>
              <a:rPr lang="en-IN" sz="1800" dirty="0" err="1">
                <a:solidFill>
                  <a:srgbClr val="2B91AF"/>
                </a:solidFill>
                <a:highlight>
                  <a:srgbClr val="FFFFFF"/>
                </a:highlight>
                <a:latin typeface="Consolas" panose="020B0609020204030204" pitchFamily="49" charset="0"/>
              </a:rPr>
              <a:t>StreamWriter</a:t>
            </a:r>
            <a:r>
              <a:rPr lang="en-IN"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fstr_out</a:t>
            </a:r>
            <a:r>
              <a:rPr lang="en-US" sz="1800" dirty="0">
                <a:solidFill>
                  <a:srgbClr val="000000"/>
                </a:solidFill>
                <a:highlight>
                  <a:srgbClr val="FFFFFF"/>
                </a:highlight>
                <a:latin typeface="Consolas" panose="020B0609020204030204" pitchFamily="49" charset="0"/>
              </a:rPr>
              <a:t> = </a:t>
            </a:r>
            <a:r>
              <a:rPr lang="en-US" sz="1800" dirty="0">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StreamWriter</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"test.txt"</a:t>
            </a:r>
            <a:r>
              <a:rPr lang="en-US" sz="1800" dirty="0">
                <a:solidFill>
                  <a:srgbClr val="000000"/>
                </a:solidFill>
                <a:highlight>
                  <a:srgbClr val="FFFFFF"/>
                </a:highlight>
                <a:latin typeface="Consolas" panose="020B0609020204030204" pitchFamily="49" charset="0"/>
              </a:rPr>
              <a:t>);</a:t>
            </a:r>
          </a:p>
          <a:p>
            <a:endParaRPr lang="en-US" sz="1800" dirty="0">
              <a:solidFill>
                <a:srgbClr val="000000"/>
              </a:solidFill>
              <a:highlight>
                <a:srgbClr val="FFFFFF"/>
              </a:highlight>
              <a:latin typeface="Consolas" panose="020B0609020204030204" pitchFamily="49" charset="0"/>
            </a:endParaRPr>
          </a:p>
          <a:p>
            <a:r>
              <a:rPr lang="en-IN" sz="1800" dirty="0" err="1">
                <a:solidFill>
                  <a:srgbClr val="2B91AF"/>
                </a:solidFill>
                <a:highlight>
                  <a:srgbClr val="FFFFFF"/>
                </a:highlight>
                <a:latin typeface="Consolas" panose="020B0609020204030204" pitchFamily="49" charset="0"/>
              </a:rPr>
              <a:t>StreamWriter</a:t>
            </a:r>
            <a:r>
              <a:rPr lang="en-IN"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fstr_out</a:t>
            </a:r>
            <a:r>
              <a:rPr lang="en-US" sz="1800" dirty="0">
                <a:solidFill>
                  <a:srgbClr val="000000"/>
                </a:solidFill>
                <a:highlight>
                  <a:srgbClr val="FFFFFF"/>
                </a:highlight>
                <a:latin typeface="Consolas" panose="020B0609020204030204" pitchFamily="49" charset="0"/>
              </a:rPr>
              <a:t> = </a:t>
            </a:r>
            <a:r>
              <a:rPr lang="en-US" sz="1800" dirty="0">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StreamWriter</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a:t>
            </a:r>
            <a:r>
              <a:rPr lang="en-US" sz="1800" dirty="0" err="1">
                <a:solidFill>
                  <a:srgbClr val="A31515"/>
                </a:solidFill>
                <a:highlight>
                  <a:srgbClr val="FFFFFF"/>
                </a:highlight>
                <a:latin typeface="Consolas" panose="020B0609020204030204" pitchFamily="49" charset="0"/>
              </a:rPr>
              <a:t>test.txt“,true</a:t>
            </a:r>
            <a:r>
              <a:rPr lang="en-US" sz="1800" dirty="0">
                <a:solidFill>
                  <a:srgbClr val="000000"/>
                </a:solidFill>
                <a:highlight>
                  <a:srgbClr val="FFFFFF"/>
                </a:highlight>
                <a:latin typeface="Consolas" panose="020B0609020204030204" pitchFamily="49" charset="0"/>
              </a:rPr>
              <a:t>);</a:t>
            </a:r>
          </a:p>
          <a:p>
            <a:r>
              <a:rPr lang="en-US" sz="1800" dirty="0">
                <a:solidFill>
                  <a:srgbClr val="008000"/>
                </a:solidFill>
                <a:highlight>
                  <a:srgbClr val="FFFFFF"/>
                </a:highlight>
                <a:latin typeface="Consolas" panose="020B0609020204030204" pitchFamily="49" charset="0"/>
              </a:rPr>
              <a:t>//true to append data to the file</a:t>
            </a:r>
            <a:endParaRPr lang="en-US" dirty="0">
              <a:solidFill>
                <a:srgbClr val="000000"/>
              </a:solidFill>
              <a:highlight>
                <a:srgbClr val="FFFFFF"/>
              </a:highlight>
              <a:latin typeface="Consolas" panose="020B0609020204030204" pitchFamily="49" charset="0"/>
            </a:endParaRPr>
          </a:p>
          <a:p>
            <a:r>
              <a:rPr lang="en-US" dirty="0">
                <a:solidFill>
                  <a:srgbClr val="000000"/>
                </a:solidFill>
                <a:highlight>
                  <a:srgbClr val="FFFFFF"/>
                </a:highlight>
                <a:latin typeface="Consolas" panose="020B0609020204030204" pitchFamily="49" charset="0"/>
              </a:rPr>
              <a:t>Directly </a:t>
            </a:r>
            <a:r>
              <a:rPr lang="en-US" sz="1800" dirty="0">
                <a:solidFill>
                  <a:srgbClr val="000000"/>
                </a:solidFill>
                <a:highlight>
                  <a:srgbClr val="FFFFFF"/>
                </a:highlight>
                <a:latin typeface="Consolas" panose="020B0609020204030204" pitchFamily="49" charset="0"/>
              </a:rPr>
              <a:t>  yes but it does not have much option </a:t>
            </a:r>
          </a:p>
        </p:txBody>
      </p:sp>
      <p:sp>
        <p:nvSpPr>
          <p:cNvPr id="5" name="TextBox 4">
            <a:extLst>
              <a:ext uri="{FF2B5EF4-FFF2-40B4-BE49-F238E27FC236}">
                <a16:creationId xmlns:a16="http://schemas.microsoft.com/office/drawing/2014/main" id="{D278B575-7EFB-47DC-BAB4-F4CC3CF4889A}"/>
              </a:ext>
            </a:extLst>
          </p:cNvPr>
          <p:cNvSpPr txBox="1"/>
          <p:nvPr/>
        </p:nvSpPr>
        <p:spPr>
          <a:xfrm>
            <a:off x="5608582" y="4196328"/>
            <a:ext cx="906517" cy="369332"/>
          </a:xfrm>
          <a:prstGeom prst="rect">
            <a:avLst/>
          </a:prstGeom>
          <a:noFill/>
        </p:spPr>
        <p:txBody>
          <a:bodyPr wrap="square" rtlCol="0">
            <a:spAutoFit/>
          </a:bodyPr>
          <a:lstStyle/>
          <a:p>
            <a:r>
              <a:rPr lang="en-IN" sz="1800" dirty="0" err="1">
                <a:solidFill>
                  <a:srgbClr val="000000"/>
                </a:solidFill>
                <a:highlight>
                  <a:srgbClr val="FFFFFF"/>
                </a:highlight>
                <a:latin typeface="Consolas" panose="020B0609020204030204" pitchFamily="49" charset="0"/>
              </a:rPr>
              <a:t>fout</a:t>
            </a:r>
            <a:endParaRPr lang="en-IN" dirty="0"/>
          </a:p>
        </p:txBody>
      </p:sp>
      <p:sp>
        <p:nvSpPr>
          <p:cNvPr id="6" name="Rectangle 5">
            <a:extLst>
              <a:ext uri="{FF2B5EF4-FFF2-40B4-BE49-F238E27FC236}">
                <a16:creationId xmlns:a16="http://schemas.microsoft.com/office/drawing/2014/main" id="{47AB5B71-7434-47F3-B6E5-4AFC753B6275}"/>
              </a:ext>
            </a:extLst>
          </p:cNvPr>
          <p:cNvSpPr/>
          <p:nvPr/>
        </p:nvSpPr>
        <p:spPr>
          <a:xfrm>
            <a:off x="6934200" y="4025920"/>
            <a:ext cx="12954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Test.txt</a:t>
            </a:r>
          </a:p>
          <a:p>
            <a:pPr algn="ctr"/>
            <a:r>
              <a:rPr lang="en-IN" dirty="0"/>
              <a:t>Create</a:t>
            </a:r>
          </a:p>
          <a:p>
            <a:pPr algn="ctr"/>
            <a:r>
              <a:rPr lang="en-IN" dirty="0"/>
              <a:t> write</a:t>
            </a:r>
          </a:p>
        </p:txBody>
      </p:sp>
      <p:sp>
        <p:nvSpPr>
          <p:cNvPr id="7" name="TextBox 6">
            <a:extLst>
              <a:ext uri="{FF2B5EF4-FFF2-40B4-BE49-F238E27FC236}">
                <a16:creationId xmlns:a16="http://schemas.microsoft.com/office/drawing/2014/main" id="{FCB7488F-4FC0-48E4-A4D2-E0CB7836595C}"/>
              </a:ext>
            </a:extLst>
          </p:cNvPr>
          <p:cNvSpPr txBox="1"/>
          <p:nvPr/>
        </p:nvSpPr>
        <p:spPr>
          <a:xfrm>
            <a:off x="4156841" y="5323958"/>
            <a:ext cx="1295400" cy="369333"/>
          </a:xfrm>
          <a:prstGeom prst="rect">
            <a:avLst/>
          </a:prstGeom>
          <a:noFill/>
        </p:spPr>
        <p:txBody>
          <a:bodyPr wrap="square" rtlCol="0">
            <a:spAutoFit/>
          </a:bodyPr>
          <a:lstStyle/>
          <a:p>
            <a:r>
              <a:rPr lang="en-US" sz="1800">
                <a:solidFill>
                  <a:srgbClr val="000000"/>
                </a:solidFill>
                <a:highlight>
                  <a:srgbClr val="FFFFFF"/>
                </a:highlight>
                <a:latin typeface="Consolas" panose="020B0609020204030204" pitchFamily="49" charset="0"/>
              </a:rPr>
              <a:t>fstr_out</a:t>
            </a:r>
            <a:endParaRPr lang="en-IN" dirty="0"/>
          </a:p>
        </p:txBody>
      </p:sp>
      <p:sp>
        <p:nvSpPr>
          <p:cNvPr id="9" name="Rectangle 8">
            <a:extLst>
              <a:ext uri="{FF2B5EF4-FFF2-40B4-BE49-F238E27FC236}">
                <a16:creationId xmlns:a16="http://schemas.microsoft.com/office/drawing/2014/main" id="{2E0316BB-0D03-4F6C-A66E-1C104BEA832D}"/>
              </a:ext>
            </a:extLst>
          </p:cNvPr>
          <p:cNvSpPr/>
          <p:nvPr/>
        </p:nvSpPr>
        <p:spPr>
          <a:xfrm>
            <a:off x="5452241" y="5105400"/>
            <a:ext cx="12954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 name="Straight Arrow Connector 10">
            <a:extLst>
              <a:ext uri="{FF2B5EF4-FFF2-40B4-BE49-F238E27FC236}">
                <a16:creationId xmlns:a16="http://schemas.microsoft.com/office/drawing/2014/main" id="{EC0B542D-A0C4-4FAA-A189-EE2FF716104B}"/>
              </a:ext>
            </a:extLst>
          </p:cNvPr>
          <p:cNvCxnSpPr/>
          <p:nvPr/>
        </p:nvCxnSpPr>
        <p:spPr>
          <a:xfrm>
            <a:off x="6324600" y="4380994"/>
            <a:ext cx="533400"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2" name="Straight Arrow Connector 11">
            <a:extLst>
              <a:ext uri="{FF2B5EF4-FFF2-40B4-BE49-F238E27FC236}">
                <a16:creationId xmlns:a16="http://schemas.microsoft.com/office/drawing/2014/main" id="{9E3A5591-C7FA-488B-AB36-1A34C272F735}"/>
              </a:ext>
            </a:extLst>
          </p:cNvPr>
          <p:cNvCxnSpPr>
            <a:cxnSpLocks/>
          </p:cNvCxnSpPr>
          <p:nvPr/>
        </p:nvCxnSpPr>
        <p:spPr>
          <a:xfrm flipV="1">
            <a:off x="6172200" y="4533394"/>
            <a:ext cx="838200" cy="79056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14" name="TextBox 13">
            <a:extLst>
              <a:ext uri="{FF2B5EF4-FFF2-40B4-BE49-F238E27FC236}">
                <a16:creationId xmlns:a16="http://schemas.microsoft.com/office/drawing/2014/main" id="{045AE0F4-D6D4-4F78-B378-7CCE35D5DCD7}"/>
              </a:ext>
            </a:extLst>
          </p:cNvPr>
          <p:cNvSpPr txBox="1"/>
          <p:nvPr/>
        </p:nvSpPr>
        <p:spPr>
          <a:xfrm>
            <a:off x="5791200" y="5323958"/>
            <a:ext cx="541282" cy="369332"/>
          </a:xfrm>
          <a:prstGeom prst="rect">
            <a:avLst/>
          </a:prstGeom>
          <a:noFill/>
        </p:spPr>
        <p:txBody>
          <a:bodyPr wrap="square" rtlCol="0">
            <a:spAutoFit/>
          </a:bodyPr>
          <a:lstStyle/>
          <a:p>
            <a:r>
              <a:rPr lang="en-IN" dirty="0"/>
              <a:t>ref</a:t>
            </a:r>
          </a:p>
        </p:txBody>
      </p:sp>
    </p:spTree>
    <p:extLst>
      <p:ext uri="{BB962C8B-B14F-4D97-AF65-F5344CB8AC3E}">
        <p14:creationId xmlns:p14="http://schemas.microsoft.com/office/powerpoint/2010/main" val="1736606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960DC0-665A-4F6F-A55A-595043D2F9B8}"/>
              </a:ext>
            </a:extLst>
          </p:cNvPr>
          <p:cNvSpPr>
            <a:spLocks noGrp="1"/>
          </p:cNvSpPr>
          <p:nvPr>
            <p:ph idx="1"/>
          </p:nvPr>
        </p:nvSpPr>
        <p:spPr>
          <a:xfrm>
            <a:off x="457200" y="990600"/>
            <a:ext cx="6096000" cy="1981200"/>
          </a:xfrm>
        </p:spPr>
        <p:txBody>
          <a:bodyPr>
            <a:normAutofit fontScale="77500" lnSpcReduction="20000"/>
          </a:bodyPr>
          <a:lstStyle/>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8000"/>
                </a:solidFill>
                <a:highlight>
                  <a:srgbClr val="FFFFFF"/>
                </a:highlight>
                <a:latin typeface="Consolas" panose="020B0609020204030204" pitchFamily="49" charset="0"/>
              </a:rPr>
              <a:t>/*  while ((str = </a:t>
            </a:r>
            <a:r>
              <a:rPr lang="en-US" sz="1800" dirty="0" err="1">
                <a:solidFill>
                  <a:srgbClr val="008000"/>
                </a:solidFill>
                <a:highlight>
                  <a:srgbClr val="FFFFFF"/>
                </a:highlight>
                <a:latin typeface="Consolas" panose="020B0609020204030204" pitchFamily="49" charset="0"/>
              </a:rPr>
              <a:t>Console.ReadLine</a:t>
            </a:r>
            <a:r>
              <a:rPr lang="en-US" sz="1800" dirty="0">
                <a:solidFill>
                  <a:srgbClr val="008000"/>
                </a:solidFill>
                <a:highlight>
                  <a:srgbClr val="FFFFFF"/>
                </a:highlight>
                <a:latin typeface="Consolas" panose="020B0609020204030204" pitchFamily="49" charset="0"/>
              </a:rPr>
              <a:t>()) != "stop")</a:t>
            </a:r>
            <a:endParaRPr lang="en-US" sz="1800" dirty="0">
              <a:solidFill>
                <a:srgbClr val="000000"/>
              </a:solidFill>
              <a:highlight>
                <a:srgbClr val="FFFFFF"/>
              </a:highlight>
              <a:latin typeface="Consolas" panose="020B0609020204030204" pitchFamily="49" charset="0"/>
            </a:endParaRPr>
          </a:p>
          <a:p>
            <a:pPr marL="0" indent="0">
              <a:buNone/>
            </a:pPr>
            <a:r>
              <a:rPr lang="en-IN" sz="1800" dirty="0">
                <a:solidFill>
                  <a:srgbClr val="008000"/>
                </a:solidFill>
                <a:highlight>
                  <a:srgbClr val="FFFFFF"/>
                </a:highlight>
                <a:latin typeface="Consolas" panose="020B0609020204030204" pitchFamily="49" charset="0"/>
              </a:rPr>
              <a:t>        {</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8000"/>
                </a:solidFill>
                <a:highlight>
                  <a:srgbClr val="FFFFFF"/>
                </a:highlight>
                <a:latin typeface="Consolas" panose="020B0609020204030204" pitchFamily="49" charset="0"/>
              </a:rPr>
              <a:t>            str = str + "\r\n"; // add newline </a:t>
            </a:r>
            <a:endParaRPr lang="en-IN" sz="1800" dirty="0">
              <a:solidFill>
                <a:srgbClr val="000000"/>
              </a:solidFill>
              <a:highlight>
                <a:srgbClr val="FFFFFF"/>
              </a:highlight>
              <a:latin typeface="Consolas" panose="020B0609020204030204" pitchFamily="49" charset="0"/>
            </a:endParaRP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8000"/>
                </a:solidFill>
                <a:highlight>
                  <a:srgbClr val="FFFFFF"/>
                </a:highlight>
                <a:latin typeface="Consolas" panose="020B0609020204030204" pitchFamily="49" charset="0"/>
              </a:rPr>
              <a:t>            </a:t>
            </a:r>
            <a:r>
              <a:rPr lang="en-IN" sz="1800" dirty="0" err="1">
                <a:solidFill>
                  <a:srgbClr val="008000"/>
                </a:solidFill>
                <a:highlight>
                  <a:srgbClr val="FFFFFF"/>
                </a:highlight>
                <a:latin typeface="Consolas" panose="020B0609020204030204" pitchFamily="49" charset="0"/>
              </a:rPr>
              <a:t>fstr_out.Write</a:t>
            </a:r>
            <a:r>
              <a:rPr lang="en-IN" sz="1800" dirty="0">
                <a:solidFill>
                  <a:srgbClr val="008000"/>
                </a:solidFill>
                <a:highlight>
                  <a:srgbClr val="FFFFFF"/>
                </a:highlight>
                <a:latin typeface="Consolas" panose="020B0609020204030204" pitchFamily="49" charset="0"/>
              </a:rPr>
              <a:t>(str);</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8000"/>
                </a:solidFill>
                <a:highlight>
                  <a:srgbClr val="FFFFFF"/>
                </a:highlight>
                <a:latin typeface="Consolas" panose="020B0609020204030204" pitchFamily="49" charset="0"/>
              </a:rPr>
              <a:t>   </a:t>
            </a:r>
          </a:p>
          <a:p>
            <a:pPr marL="0" indent="0">
              <a:buNone/>
            </a:pPr>
            <a:r>
              <a:rPr lang="en-IN" sz="1800" dirty="0">
                <a:solidFill>
                  <a:srgbClr val="008000"/>
                </a:solidFill>
                <a:highlight>
                  <a:srgbClr val="FFFFFF"/>
                </a:highlight>
                <a:latin typeface="Consolas" panose="020B0609020204030204" pitchFamily="49" charset="0"/>
              </a:rPr>
              <a:t>     }*/</a:t>
            </a:r>
          </a:p>
          <a:p>
            <a:pPr marL="0" indent="0">
              <a:buNone/>
            </a:pPr>
            <a:endParaRPr lang="en-IN" sz="1800" dirty="0">
              <a:solidFill>
                <a:srgbClr val="008000"/>
              </a:solidFill>
              <a:highlight>
                <a:srgbClr val="FFFFFF"/>
              </a:highlight>
              <a:latin typeface="Consolas" panose="020B0609020204030204" pitchFamily="49" charset="0"/>
            </a:endParaRPr>
          </a:p>
          <a:p>
            <a:pPr marL="0" indent="0">
              <a:buNone/>
            </a:pPr>
            <a:r>
              <a:rPr lang="en-IN" sz="1800" dirty="0">
                <a:solidFill>
                  <a:srgbClr val="008000"/>
                </a:solidFill>
                <a:highlight>
                  <a:srgbClr val="FFFFFF"/>
                </a:highlight>
                <a:latin typeface="Consolas" panose="020B0609020204030204" pitchFamily="49" charset="0"/>
              </a:rPr>
              <a:t>Either or allowed if you do not want do while</a:t>
            </a:r>
            <a:endParaRPr lang="en-IN" dirty="0"/>
          </a:p>
        </p:txBody>
      </p:sp>
      <p:sp>
        <p:nvSpPr>
          <p:cNvPr id="11" name="TextBox 10">
            <a:extLst>
              <a:ext uri="{FF2B5EF4-FFF2-40B4-BE49-F238E27FC236}">
                <a16:creationId xmlns:a16="http://schemas.microsoft.com/office/drawing/2014/main" id="{902DA3CD-B0F7-9CA0-F398-42DAC02FDBDD}"/>
              </a:ext>
            </a:extLst>
          </p:cNvPr>
          <p:cNvSpPr txBox="1"/>
          <p:nvPr/>
        </p:nvSpPr>
        <p:spPr>
          <a:xfrm>
            <a:off x="419100" y="3200400"/>
            <a:ext cx="8305800" cy="3139321"/>
          </a:xfrm>
          <a:prstGeom prst="rect">
            <a:avLst/>
          </a:prstGeom>
          <a:noFill/>
        </p:spPr>
        <p:txBody>
          <a:bodyPr wrap="square">
            <a:spAutoFit/>
          </a:bodyPr>
          <a:lstStyle/>
          <a:p>
            <a:r>
              <a:rPr lang="en-US" dirty="0"/>
              <a:t>\r\n is a Windows Style</a:t>
            </a:r>
          </a:p>
          <a:p>
            <a:endParaRPr lang="en-US" dirty="0"/>
          </a:p>
          <a:p>
            <a:r>
              <a:rPr lang="en-US" dirty="0"/>
              <a:t>\n is a POSIX Style</a:t>
            </a:r>
          </a:p>
          <a:p>
            <a:endParaRPr lang="en-US" dirty="0"/>
          </a:p>
          <a:p>
            <a:r>
              <a:rPr lang="en-US" dirty="0"/>
              <a:t>\r is a old pre-OS X Macs Style, Modern Mac's using POSIX Style.</a:t>
            </a:r>
          </a:p>
          <a:p>
            <a:endParaRPr lang="en-US" dirty="0"/>
          </a:p>
          <a:p>
            <a:r>
              <a:rPr lang="en-US" dirty="0"/>
              <a:t>\r is a carriage return and \n is a line feed, in old computers where it not have monitor, have only printer to get out programs result to user, if you want get printing from staring of new line from left, you must get \n for Line Feed, and \r for get Carriage return to the most left position, this is from old computers syntax saved to this time on Windows platform.</a:t>
            </a:r>
            <a:endParaRPr lang="en-IN" dirty="0"/>
          </a:p>
        </p:txBody>
      </p:sp>
      <p:sp>
        <p:nvSpPr>
          <p:cNvPr id="4" name="TextBox 3">
            <a:extLst>
              <a:ext uri="{FF2B5EF4-FFF2-40B4-BE49-F238E27FC236}">
                <a16:creationId xmlns:a16="http://schemas.microsoft.com/office/drawing/2014/main" id="{CC7CED6E-2A0C-D727-2CB8-AB0ABBCD1A87}"/>
              </a:ext>
            </a:extLst>
          </p:cNvPr>
          <p:cNvSpPr txBox="1"/>
          <p:nvPr/>
        </p:nvSpPr>
        <p:spPr>
          <a:xfrm>
            <a:off x="6172200" y="2133600"/>
            <a:ext cx="2552700" cy="923330"/>
          </a:xfrm>
          <a:prstGeom prst="rect">
            <a:avLst/>
          </a:prstGeom>
          <a:noFill/>
        </p:spPr>
        <p:txBody>
          <a:bodyPr wrap="square" rtlCol="0">
            <a:spAutoFit/>
          </a:bodyPr>
          <a:lstStyle/>
          <a:p>
            <a:r>
              <a:rPr lang="en-US" dirty="0"/>
              <a:t>Vita </a:t>
            </a:r>
            <a:r>
              <a:rPr lang="en-US" dirty="0" err="1"/>
              <a:t>Dac</a:t>
            </a:r>
            <a:r>
              <a:rPr lang="en-US" dirty="0"/>
              <a:t> </a:t>
            </a:r>
          </a:p>
          <a:p>
            <a:r>
              <a:rPr lang="en-US" dirty="0"/>
              <a:t>              </a:t>
            </a:r>
          </a:p>
          <a:p>
            <a:endParaRPr lang="en-IN" dirty="0"/>
          </a:p>
        </p:txBody>
      </p:sp>
    </p:spTree>
    <p:extLst>
      <p:ext uri="{BB962C8B-B14F-4D97-AF65-F5344CB8AC3E}">
        <p14:creationId xmlns:p14="http://schemas.microsoft.com/office/powerpoint/2010/main" val="1700293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E9AD4-ACD7-44CA-87CB-CCCD88D7DEBC}"/>
              </a:ext>
            </a:extLst>
          </p:cNvPr>
          <p:cNvSpPr>
            <a:spLocks noGrp="1"/>
          </p:cNvSpPr>
          <p:nvPr>
            <p:ph type="title"/>
          </p:nvPr>
        </p:nvSpPr>
        <p:spPr>
          <a:xfrm>
            <a:off x="1143000" y="92075"/>
            <a:ext cx="7315200" cy="639762"/>
          </a:xfrm>
        </p:spPr>
        <p:txBody>
          <a:bodyPr>
            <a:normAutofit fontScale="90000"/>
          </a:bodyPr>
          <a:lstStyle/>
          <a:p>
            <a:r>
              <a:rPr lang="en-IN" dirty="0"/>
              <a:t>Stream Reader</a:t>
            </a:r>
          </a:p>
        </p:txBody>
      </p:sp>
      <p:sp>
        <p:nvSpPr>
          <p:cNvPr id="3" name="Content Placeholder 2">
            <a:extLst>
              <a:ext uri="{FF2B5EF4-FFF2-40B4-BE49-F238E27FC236}">
                <a16:creationId xmlns:a16="http://schemas.microsoft.com/office/drawing/2014/main" id="{3D7BB9AC-4922-448D-9B66-8DD1FE68699D}"/>
              </a:ext>
            </a:extLst>
          </p:cNvPr>
          <p:cNvSpPr>
            <a:spLocks noGrp="1"/>
          </p:cNvSpPr>
          <p:nvPr>
            <p:ph idx="1"/>
          </p:nvPr>
        </p:nvSpPr>
        <p:spPr>
          <a:xfrm>
            <a:off x="228600" y="609600"/>
            <a:ext cx="4343400" cy="6156325"/>
          </a:xfrm>
        </p:spPr>
        <p:txBody>
          <a:bodyPr>
            <a:normAutofit fontScale="62500" lnSpcReduction="20000"/>
          </a:bodyPr>
          <a:lstStyle/>
          <a:p>
            <a:pPr marL="0" indent="0">
              <a:buNone/>
            </a:pPr>
            <a:r>
              <a:rPr lang="en-US" sz="1800" dirty="0">
                <a:solidFill>
                  <a:srgbClr val="008000"/>
                </a:solidFill>
                <a:highlight>
                  <a:srgbClr val="FFFFFF"/>
                </a:highlight>
                <a:latin typeface="Consolas" panose="020B0609020204030204" pitchFamily="49" charset="0"/>
              </a:rPr>
              <a:t>// A simple disk-to-screen utility that demonstrates a </a:t>
            </a:r>
            <a:r>
              <a:rPr lang="en-US" sz="1800" dirty="0" err="1">
                <a:solidFill>
                  <a:srgbClr val="008000"/>
                </a:solidFill>
                <a:highlight>
                  <a:srgbClr val="FFFFFF"/>
                </a:highlight>
                <a:latin typeface="Consolas" panose="020B0609020204030204" pitchFamily="49" charset="0"/>
              </a:rPr>
              <a:t>FileReader</a:t>
            </a:r>
            <a:r>
              <a:rPr lang="en-US" sz="1800" dirty="0">
                <a:solidFill>
                  <a:srgbClr val="008000"/>
                </a:solidFill>
                <a:highlight>
                  <a:srgbClr val="FFFFFF"/>
                </a:highlight>
                <a:latin typeface="Consolas" panose="020B0609020204030204" pitchFamily="49" charset="0"/>
              </a:rPr>
              <a:t>. </a:t>
            </a:r>
            <a:endParaRPr lang="en-US" sz="1800" dirty="0">
              <a:solidFill>
                <a:srgbClr val="000000"/>
              </a:solidFill>
              <a:highlight>
                <a:srgbClr val="FFFFFF"/>
              </a:highlight>
              <a:latin typeface="Consolas" panose="020B0609020204030204" pitchFamily="49" charset="0"/>
            </a:endParaRP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FF"/>
                </a:solidFill>
                <a:highlight>
                  <a:srgbClr val="FFFFFF"/>
                </a:highlight>
                <a:latin typeface="Consolas" panose="020B0609020204030204" pitchFamily="49" charset="0"/>
              </a:rPr>
              <a:t>using</a:t>
            </a:r>
            <a:r>
              <a:rPr lang="en-IN" sz="1800" dirty="0">
                <a:solidFill>
                  <a:srgbClr val="000000"/>
                </a:solidFill>
                <a:highlight>
                  <a:srgbClr val="FFFFFF"/>
                </a:highlight>
                <a:latin typeface="Consolas" panose="020B0609020204030204" pitchFamily="49" charset="0"/>
              </a:rPr>
              <a:t> System;</a:t>
            </a:r>
          </a:p>
          <a:p>
            <a:pPr marL="0" indent="0">
              <a:buNone/>
            </a:pPr>
            <a:r>
              <a:rPr lang="en-IN" sz="1800" dirty="0">
                <a:solidFill>
                  <a:srgbClr val="0000FF"/>
                </a:solidFill>
                <a:highlight>
                  <a:srgbClr val="FFFFFF"/>
                </a:highlight>
                <a:latin typeface="Consolas" panose="020B0609020204030204" pitchFamily="49" charset="0"/>
              </a:rPr>
              <a:t>using</a:t>
            </a:r>
            <a:r>
              <a:rPr lang="en-IN" sz="1800" dirty="0">
                <a:solidFill>
                  <a:srgbClr val="000000"/>
                </a:solidFill>
                <a:highlight>
                  <a:srgbClr val="FFFFFF"/>
                </a:highlight>
                <a:latin typeface="Consolas" panose="020B0609020204030204" pitchFamily="49" charset="0"/>
              </a:rPr>
              <a:t> System.IO;</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FF"/>
                </a:solidFill>
                <a:highlight>
                  <a:srgbClr val="FFFFFF"/>
                </a:highlight>
                <a:latin typeface="Consolas" panose="020B0609020204030204" pitchFamily="49" charset="0"/>
              </a:rPr>
              <a:t>class</a:t>
            </a: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DtoS</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static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void</a:t>
            </a:r>
            <a:r>
              <a:rPr lang="en-IN" sz="1800" dirty="0">
                <a:solidFill>
                  <a:srgbClr val="000000"/>
                </a:solidFill>
                <a:highlight>
                  <a:srgbClr val="FFFFFF"/>
                </a:highlight>
                <a:latin typeface="Consolas" panose="020B0609020204030204" pitchFamily="49" charset="0"/>
              </a:rPr>
              <a:t> Main()</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FileStream</a:t>
            </a:r>
            <a:r>
              <a:rPr lang="en-IN" sz="1800" dirty="0">
                <a:solidFill>
                  <a:srgbClr val="000000"/>
                </a:solidFill>
                <a:highlight>
                  <a:srgbClr val="FFFFFF"/>
                </a:highlight>
                <a:latin typeface="Consolas" panose="020B0609020204030204" pitchFamily="49" charset="0"/>
              </a:rPr>
              <a:t> fin;</a:t>
            </a: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string</a:t>
            </a:r>
            <a:r>
              <a:rPr lang="en-IN" sz="1800" dirty="0">
                <a:solidFill>
                  <a:srgbClr val="000000"/>
                </a:solidFill>
                <a:highlight>
                  <a:srgbClr val="FFFFFF"/>
                </a:highlight>
                <a:latin typeface="Consolas" panose="020B0609020204030204" pitchFamily="49" charset="0"/>
              </a:rPr>
              <a:t> s;</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fin = </a:t>
            </a:r>
            <a:r>
              <a:rPr lang="en-US" sz="1800" dirty="0">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FileStream</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"test.txt"</a:t>
            </a: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FileMode</a:t>
            </a:r>
            <a:r>
              <a:rPr lang="en-US" sz="1800" dirty="0" err="1">
                <a:solidFill>
                  <a:srgbClr val="000000"/>
                </a:solidFill>
                <a:highlight>
                  <a:srgbClr val="FFFFFF"/>
                </a:highlight>
                <a:latin typeface="Consolas" panose="020B0609020204030204" pitchFamily="49" charset="0"/>
              </a:rPr>
              <a:t>.Open</a:t>
            </a: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FileAccess</a:t>
            </a:r>
            <a:r>
              <a:rPr lang="en-US" sz="1800" dirty="0" err="1">
                <a:solidFill>
                  <a:srgbClr val="000000"/>
                </a:solidFill>
                <a:highlight>
                  <a:srgbClr val="FFFFFF"/>
                </a:highlight>
                <a:latin typeface="Consolas" panose="020B0609020204030204" pitchFamily="49" charset="0"/>
              </a:rPr>
              <a:t>.Read</a:t>
            </a:r>
            <a:r>
              <a:rPr lang="en-US" sz="1800" dirty="0">
                <a:solidFill>
                  <a:srgbClr val="000000"/>
                </a:solidFill>
                <a:highlight>
                  <a:srgbClr val="FFFFFF"/>
                </a:highlight>
                <a:latin typeface="Consolas" panose="020B0609020204030204" pitchFamily="49" charset="0"/>
              </a:rPr>
              <a:t>);</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US" sz="1800" dirty="0" err="1">
                <a:solidFill>
                  <a:srgbClr val="2B91AF"/>
                </a:solidFill>
                <a:highlight>
                  <a:srgbClr val="FFFFFF"/>
                </a:highlight>
                <a:latin typeface="Consolas" panose="020B0609020204030204" pitchFamily="49" charset="0"/>
              </a:rPr>
              <a:t>StreamReader</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fstr_in</a:t>
            </a:r>
            <a:r>
              <a:rPr lang="en-US" sz="1800" dirty="0">
                <a:solidFill>
                  <a:srgbClr val="000000"/>
                </a:solidFill>
                <a:highlight>
                  <a:srgbClr val="FFFFFF"/>
                </a:highlight>
                <a:latin typeface="Consolas" panose="020B0609020204030204" pitchFamily="49" charset="0"/>
              </a:rPr>
              <a:t> = </a:t>
            </a:r>
            <a:r>
              <a:rPr lang="en-US" sz="1800" dirty="0">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StreamReader</a:t>
            </a:r>
            <a:r>
              <a:rPr lang="en-US" sz="1800" dirty="0">
                <a:solidFill>
                  <a:srgbClr val="000000"/>
                </a:solidFill>
                <a:highlight>
                  <a:srgbClr val="FFFFFF"/>
                </a:highlight>
                <a:latin typeface="Consolas" panose="020B0609020204030204" pitchFamily="49" charset="0"/>
              </a:rPr>
              <a:t>(fin);</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while</a:t>
            </a:r>
            <a:r>
              <a:rPr lang="en-US" sz="1800" dirty="0">
                <a:solidFill>
                  <a:srgbClr val="000000"/>
                </a:solidFill>
                <a:highlight>
                  <a:srgbClr val="FFFFFF"/>
                </a:highlight>
                <a:latin typeface="Consolas" panose="020B0609020204030204" pitchFamily="49" charset="0"/>
              </a:rPr>
              <a:t> ((s = </a:t>
            </a:r>
            <a:r>
              <a:rPr lang="en-US" sz="1800" dirty="0" err="1">
                <a:solidFill>
                  <a:srgbClr val="000000"/>
                </a:solidFill>
                <a:highlight>
                  <a:srgbClr val="FFFFFF"/>
                </a:highlight>
                <a:latin typeface="Consolas" panose="020B0609020204030204" pitchFamily="49" charset="0"/>
              </a:rPr>
              <a:t>fstr_in.ReadLine</a:t>
            </a:r>
            <a:r>
              <a:rPr lang="en-US" sz="1800" dirty="0">
                <a:solidFill>
                  <a:srgbClr val="000000"/>
                </a:solidFill>
                <a:highlight>
                  <a:srgbClr val="FFFFFF"/>
                </a:highlight>
                <a:latin typeface="Consolas" panose="020B0609020204030204" pitchFamily="49" charset="0"/>
              </a:rPr>
              <a:t>()) != </a:t>
            </a:r>
            <a:r>
              <a:rPr lang="en-US" sz="1800" dirty="0">
                <a:solidFill>
                  <a:srgbClr val="0000FF"/>
                </a:solidFill>
                <a:highlight>
                  <a:srgbClr val="FFFFFF"/>
                </a:highlight>
                <a:latin typeface="Consolas" panose="020B0609020204030204" pitchFamily="49" charset="0"/>
              </a:rPr>
              <a:t>null</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.WriteLine</a:t>
            </a:r>
            <a:r>
              <a:rPr lang="en-IN" sz="1800" dirty="0">
                <a:solidFill>
                  <a:srgbClr val="000000"/>
                </a:solidFill>
                <a:highlight>
                  <a:srgbClr val="FFFFFF"/>
                </a:highlight>
                <a:latin typeface="Consolas" panose="020B0609020204030204" pitchFamily="49" charset="0"/>
              </a:rPr>
              <a:t>(s);</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fstr_in.Close</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8000"/>
                </a:solidFill>
                <a:highlight>
                  <a:srgbClr val="FFFFFF"/>
                </a:highlight>
                <a:latin typeface="Consolas" panose="020B0609020204030204" pitchFamily="49" charset="0"/>
              </a:rPr>
              <a:t>/*while(!</a:t>
            </a:r>
            <a:r>
              <a:rPr lang="en-IN" sz="1800" dirty="0" err="1">
                <a:solidFill>
                  <a:srgbClr val="008000"/>
                </a:solidFill>
                <a:highlight>
                  <a:srgbClr val="FFFFFF"/>
                </a:highlight>
                <a:latin typeface="Consolas" panose="020B0609020204030204" pitchFamily="49" charset="0"/>
              </a:rPr>
              <a:t>fstr_in.EndOfStream</a:t>
            </a:r>
            <a:r>
              <a:rPr lang="en-IN" sz="1800" dirty="0">
                <a:solidFill>
                  <a:srgbClr val="008000"/>
                </a:solidFill>
                <a:highlight>
                  <a:srgbClr val="FFFFFF"/>
                </a:highlight>
                <a:latin typeface="Consolas" panose="020B0609020204030204" pitchFamily="49" charset="0"/>
              </a:rPr>
              <a:t>) {</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8000"/>
                </a:solidFill>
                <a:highlight>
                  <a:srgbClr val="FFFFFF"/>
                </a:highlight>
                <a:latin typeface="Consolas" panose="020B0609020204030204" pitchFamily="49" charset="0"/>
              </a:rPr>
              <a:t>    s = </a:t>
            </a:r>
            <a:r>
              <a:rPr lang="en-IN" sz="1800" dirty="0" err="1">
                <a:solidFill>
                  <a:srgbClr val="008000"/>
                </a:solidFill>
                <a:highlight>
                  <a:srgbClr val="FFFFFF"/>
                </a:highlight>
                <a:latin typeface="Consolas" panose="020B0609020204030204" pitchFamily="49" charset="0"/>
              </a:rPr>
              <a:t>fstr_in.ReadLine</a:t>
            </a:r>
            <a:r>
              <a:rPr lang="en-IN" sz="1800" dirty="0">
                <a:solidFill>
                  <a:srgbClr val="008000"/>
                </a:solidFill>
                <a:highlight>
                  <a:srgbClr val="FFFFFF"/>
                </a:highlight>
                <a:latin typeface="Consolas" panose="020B0609020204030204" pitchFamily="49" charset="0"/>
              </a:rPr>
              <a:t>();</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8000"/>
                </a:solidFill>
                <a:highlight>
                  <a:srgbClr val="FFFFFF"/>
                </a:highlight>
                <a:latin typeface="Consolas" panose="020B0609020204030204" pitchFamily="49" charset="0"/>
              </a:rPr>
              <a:t>    </a:t>
            </a:r>
            <a:r>
              <a:rPr lang="en-IN" sz="1800" dirty="0" err="1">
                <a:solidFill>
                  <a:srgbClr val="008000"/>
                </a:solidFill>
                <a:highlight>
                  <a:srgbClr val="FFFFFF"/>
                </a:highlight>
                <a:latin typeface="Consolas" panose="020B0609020204030204" pitchFamily="49" charset="0"/>
              </a:rPr>
              <a:t>Console.WriteLine</a:t>
            </a:r>
            <a:r>
              <a:rPr lang="en-IN" sz="1800" dirty="0">
                <a:solidFill>
                  <a:srgbClr val="008000"/>
                </a:solidFill>
                <a:highlight>
                  <a:srgbClr val="FFFFFF"/>
                </a:highlight>
                <a:latin typeface="Consolas" panose="020B0609020204030204" pitchFamily="49" charset="0"/>
              </a:rPr>
              <a:t>(s);</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8000"/>
                </a:solidFill>
                <a:highlight>
                  <a:srgbClr val="FFFFFF"/>
                </a:highlight>
                <a:latin typeface="Consolas" panose="020B0609020204030204" pitchFamily="49" charset="0"/>
              </a:rPr>
              <a:t>    }*/</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a:t>
            </a:r>
          </a:p>
        </p:txBody>
      </p:sp>
      <p:sp>
        <p:nvSpPr>
          <p:cNvPr id="4" name="TextBox 3">
            <a:extLst>
              <a:ext uri="{FF2B5EF4-FFF2-40B4-BE49-F238E27FC236}">
                <a16:creationId xmlns:a16="http://schemas.microsoft.com/office/drawing/2014/main" id="{4A2E5848-57D2-4072-89A1-A441E96E629C}"/>
              </a:ext>
            </a:extLst>
          </p:cNvPr>
          <p:cNvSpPr txBox="1"/>
          <p:nvPr/>
        </p:nvSpPr>
        <p:spPr>
          <a:xfrm>
            <a:off x="4876800" y="1219200"/>
            <a:ext cx="3886200" cy="3970318"/>
          </a:xfrm>
          <a:prstGeom prst="rect">
            <a:avLst/>
          </a:prstGeom>
          <a:noFill/>
        </p:spPr>
        <p:txBody>
          <a:bodyPr wrap="square" rtlCol="0">
            <a:spAutoFit/>
          </a:bodyPr>
          <a:lstStyle/>
          <a:p>
            <a:r>
              <a:rPr lang="en-US" b="1" dirty="0"/>
              <a:t>Stream</a:t>
            </a:r>
            <a:r>
              <a:rPr lang="en-IN" dirty="0"/>
              <a:t> Reader</a:t>
            </a:r>
            <a:r>
              <a:rPr lang="en-US" b="1" dirty="0"/>
              <a:t> </a:t>
            </a:r>
            <a:r>
              <a:rPr lang="en-US" dirty="0"/>
              <a:t>classes are useful whenever you need to </a:t>
            </a:r>
            <a:r>
              <a:rPr lang="en-US" dirty="0" err="1"/>
              <a:t>Read</a:t>
            </a:r>
            <a:r>
              <a:rPr lang="en-US" b="1" dirty="0" err="1"/>
              <a:t>characterbased</a:t>
            </a:r>
            <a:r>
              <a:rPr lang="en-US" b="1" dirty="0"/>
              <a:t> </a:t>
            </a:r>
            <a:r>
              <a:rPr lang="en-US" dirty="0"/>
              <a:t>data (e.g., strings).</a:t>
            </a:r>
          </a:p>
          <a:p>
            <a:endParaRPr lang="en-US" dirty="0"/>
          </a:p>
          <a:p>
            <a:endParaRPr lang="en-US" dirty="0"/>
          </a:p>
          <a:p>
            <a:endParaRPr lang="en-US" dirty="0"/>
          </a:p>
          <a:p>
            <a:r>
              <a:rPr lang="en-US" dirty="0"/>
              <a:t>Can I use Stream reader directly yes.</a:t>
            </a:r>
          </a:p>
          <a:p>
            <a:r>
              <a:rPr lang="en-US" dirty="0"/>
              <a:t>But it has limited option </a:t>
            </a:r>
          </a:p>
          <a:p>
            <a:endParaRPr lang="en-US" dirty="0"/>
          </a:p>
          <a:p>
            <a:r>
              <a:rPr lang="en-US" sz="1800" dirty="0">
                <a:solidFill>
                  <a:srgbClr val="008000"/>
                </a:solidFill>
                <a:highlight>
                  <a:srgbClr val="FFFFFF"/>
                </a:highlight>
                <a:latin typeface="Consolas" panose="020B0609020204030204" pitchFamily="49" charset="0"/>
              </a:rPr>
              <a:t>  </a:t>
            </a:r>
            <a:r>
              <a:rPr lang="en-US" sz="1800" dirty="0" err="1">
                <a:solidFill>
                  <a:srgbClr val="008000"/>
                </a:solidFill>
                <a:highlight>
                  <a:srgbClr val="FFFFFF"/>
                </a:highlight>
                <a:latin typeface="Consolas" panose="020B0609020204030204" pitchFamily="49" charset="0"/>
              </a:rPr>
              <a:t>StreamReader</a:t>
            </a:r>
            <a:r>
              <a:rPr lang="en-US" sz="1800" dirty="0">
                <a:solidFill>
                  <a:srgbClr val="008000"/>
                </a:solidFill>
                <a:highlight>
                  <a:srgbClr val="FFFFFF"/>
                </a:highlight>
                <a:latin typeface="Consolas" panose="020B0609020204030204" pitchFamily="49" charset="0"/>
              </a:rPr>
              <a:t> </a:t>
            </a:r>
            <a:r>
              <a:rPr lang="en-US" sz="1800" dirty="0" err="1">
                <a:solidFill>
                  <a:srgbClr val="008000"/>
                </a:solidFill>
                <a:highlight>
                  <a:srgbClr val="FFFFFF"/>
                </a:highlight>
                <a:latin typeface="Consolas" panose="020B0609020204030204" pitchFamily="49" charset="0"/>
              </a:rPr>
              <a:t>fstr_in</a:t>
            </a:r>
            <a:r>
              <a:rPr lang="en-US" sz="1800" dirty="0">
                <a:solidFill>
                  <a:srgbClr val="008000"/>
                </a:solidFill>
                <a:highlight>
                  <a:srgbClr val="FFFFFF"/>
                </a:highlight>
                <a:latin typeface="Consolas" panose="020B0609020204030204" pitchFamily="49" charset="0"/>
              </a:rPr>
              <a:t> = new </a:t>
            </a:r>
            <a:r>
              <a:rPr lang="en-US" sz="1800" dirty="0" err="1">
                <a:solidFill>
                  <a:srgbClr val="008000"/>
                </a:solidFill>
                <a:highlight>
                  <a:srgbClr val="FFFFFF"/>
                </a:highlight>
                <a:latin typeface="Consolas" panose="020B0609020204030204" pitchFamily="49" charset="0"/>
              </a:rPr>
              <a:t>StreamReader</a:t>
            </a:r>
            <a:r>
              <a:rPr lang="en-US" sz="1800" dirty="0">
                <a:solidFill>
                  <a:srgbClr val="008000"/>
                </a:solidFill>
                <a:highlight>
                  <a:srgbClr val="FFFFFF"/>
                </a:highlight>
                <a:latin typeface="Consolas" panose="020B0609020204030204" pitchFamily="49" charset="0"/>
              </a:rPr>
              <a:t>("TextFile1.txt");</a:t>
            </a:r>
            <a:r>
              <a:rPr lang="en-US" dirty="0"/>
              <a:t> </a:t>
            </a:r>
          </a:p>
          <a:p>
            <a:endParaRPr lang="en-US" dirty="0"/>
          </a:p>
          <a:p>
            <a:endParaRPr lang="en-US" dirty="0"/>
          </a:p>
        </p:txBody>
      </p:sp>
    </p:spTree>
    <p:extLst>
      <p:ext uri="{BB962C8B-B14F-4D97-AF65-F5344CB8AC3E}">
        <p14:creationId xmlns:p14="http://schemas.microsoft.com/office/powerpoint/2010/main" val="6790715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10201-8C0E-415A-B01E-D541D0B853A8}"/>
              </a:ext>
            </a:extLst>
          </p:cNvPr>
          <p:cNvSpPr>
            <a:spLocks noGrp="1"/>
          </p:cNvSpPr>
          <p:nvPr>
            <p:ph type="title"/>
          </p:nvPr>
        </p:nvSpPr>
        <p:spPr>
          <a:xfrm>
            <a:off x="1066800" y="76200"/>
            <a:ext cx="7391400" cy="457199"/>
          </a:xfrm>
        </p:spPr>
        <p:txBody>
          <a:bodyPr>
            <a:normAutofit fontScale="90000"/>
          </a:bodyPr>
          <a:lstStyle/>
          <a:p>
            <a:r>
              <a:rPr lang="en-IN" dirty="0"/>
              <a:t>Binary Read Write</a:t>
            </a:r>
          </a:p>
        </p:txBody>
      </p:sp>
      <p:sp>
        <p:nvSpPr>
          <p:cNvPr id="3" name="Content Placeholder 2">
            <a:extLst>
              <a:ext uri="{FF2B5EF4-FFF2-40B4-BE49-F238E27FC236}">
                <a16:creationId xmlns:a16="http://schemas.microsoft.com/office/drawing/2014/main" id="{D1245D37-6CC5-4421-976E-B35CFF3CAC57}"/>
              </a:ext>
            </a:extLst>
          </p:cNvPr>
          <p:cNvSpPr>
            <a:spLocks noGrp="1"/>
          </p:cNvSpPr>
          <p:nvPr>
            <p:ph idx="1"/>
          </p:nvPr>
        </p:nvSpPr>
        <p:spPr>
          <a:xfrm>
            <a:off x="228600" y="609600"/>
            <a:ext cx="4572000" cy="6172200"/>
          </a:xfrm>
        </p:spPr>
        <p:txBody>
          <a:bodyPr>
            <a:noAutofit/>
          </a:bodyPr>
          <a:lstStyle/>
          <a:p>
            <a:pPr marL="0" indent="0">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System.IO;</a:t>
            </a:r>
          </a:p>
          <a:p>
            <a:pPr marL="0" indent="0">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RWData</a:t>
            </a:r>
            <a:endParaRPr lang="en-IN" sz="1200" dirty="0">
              <a:solidFill>
                <a:srgbClr val="000000"/>
              </a:solidFill>
              <a:highlight>
                <a:srgbClr val="FFFFFF"/>
              </a:highlight>
              <a:latin typeface="Consolas" panose="020B0609020204030204" pitchFamily="49" charset="0"/>
            </a:endParaRPr>
          </a:p>
          <a:p>
            <a:pPr marL="0" indent="0">
              <a:spcBef>
                <a:spcPts val="0"/>
              </a:spcBef>
              <a:buNone/>
            </a:pPr>
            <a:r>
              <a:rPr lang="en-IN" sz="1200" dirty="0">
                <a:solidFill>
                  <a:srgbClr val="000000"/>
                </a:solidFill>
                <a:highlight>
                  <a:srgbClr val="FFFFFF"/>
                </a:highlight>
                <a:latin typeface="Consolas" panose="020B0609020204030204" pitchFamily="49" charset="0"/>
              </a:rPr>
              <a:t>{</a:t>
            </a: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BinaryWriter</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dataOut</a:t>
            </a:r>
            <a:r>
              <a:rPr lang="en-IN" sz="1200" dirty="0">
                <a:solidFill>
                  <a:srgbClr val="000000"/>
                </a:solidFill>
                <a:highlight>
                  <a:srgbClr val="FFFFFF"/>
                </a:highlight>
                <a:latin typeface="Consolas" panose="020B0609020204030204" pitchFamily="49" charset="0"/>
              </a:rPr>
              <a:t>;</a:t>
            </a: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BinaryReader</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dataIn</a:t>
            </a:r>
            <a:r>
              <a:rPr lang="en-IN" sz="1200" dirty="0">
                <a:solidFill>
                  <a:srgbClr val="000000"/>
                </a:solidFill>
                <a:highlight>
                  <a:srgbClr val="FFFFFF"/>
                </a:highlight>
                <a:latin typeface="Consolas" panose="020B0609020204030204" pitchFamily="49" charset="0"/>
              </a:rPr>
              <a:t>;</a:t>
            </a:r>
          </a:p>
          <a:p>
            <a:pPr marL="0" indent="0">
              <a:spcBef>
                <a:spcPts val="0"/>
              </a:spcBef>
              <a:buNone/>
            </a:pPr>
            <a:endParaRPr lang="en-IN" sz="1200" dirty="0">
              <a:solidFill>
                <a:srgbClr val="000000"/>
              </a:solidFill>
              <a:highlight>
                <a:srgbClr val="FFFFFF"/>
              </a:highlight>
              <a:latin typeface="Consolas" panose="020B0609020204030204" pitchFamily="49" charset="0"/>
            </a:endParaRP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 = 10;</a:t>
            </a: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d = 1023.56;</a:t>
            </a: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bool</a:t>
            </a:r>
            <a:r>
              <a:rPr lang="en-IN" sz="1200" dirty="0">
                <a:solidFill>
                  <a:srgbClr val="000000"/>
                </a:solidFill>
                <a:highlight>
                  <a:srgbClr val="FFFFFF"/>
                </a:highlight>
                <a:latin typeface="Consolas" panose="020B0609020204030204" pitchFamily="49" charset="0"/>
              </a:rPr>
              <a:t> b = </a:t>
            </a:r>
            <a:r>
              <a:rPr lang="en-IN" sz="1200" dirty="0">
                <a:solidFill>
                  <a:srgbClr val="0000FF"/>
                </a:solidFill>
                <a:highlight>
                  <a:srgbClr val="FFFFFF"/>
                </a:highlight>
                <a:latin typeface="Consolas" panose="020B0609020204030204" pitchFamily="49" charset="0"/>
              </a:rPr>
              <a:t>true</a:t>
            </a:r>
            <a:r>
              <a:rPr lang="en-IN" sz="1200" dirty="0">
                <a:solidFill>
                  <a:srgbClr val="000000"/>
                </a:solidFill>
                <a:highlight>
                  <a:srgbClr val="FFFFFF"/>
                </a:highlight>
                <a:latin typeface="Consolas" panose="020B0609020204030204" pitchFamily="49" charset="0"/>
              </a:rPr>
              <a:t>;</a:t>
            </a:r>
          </a:p>
          <a:p>
            <a:pPr marL="0" indent="0">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str = </a:t>
            </a:r>
            <a:r>
              <a:rPr lang="en-US" sz="1200" dirty="0">
                <a:solidFill>
                  <a:srgbClr val="A31515"/>
                </a:solidFill>
                <a:highlight>
                  <a:srgbClr val="FFFFFF"/>
                </a:highlight>
                <a:latin typeface="Consolas" panose="020B0609020204030204" pitchFamily="49" charset="0"/>
              </a:rPr>
              <a:t>"This is a test"</a:t>
            </a:r>
            <a:r>
              <a:rPr lang="en-US" sz="1200" dirty="0">
                <a:solidFill>
                  <a:srgbClr val="000000"/>
                </a:solidFill>
                <a:highlight>
                  <a:srgbClr val="FFFFFF"/>
                </a:highlight>
                <a:latin typeface="Consolas" panose="020B0609020204030204" pitchFamily="49" charset="0"/>
              </a:rPr>
              <a:t>;</a:t>
            </a: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dataOut</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BinaryWriter</a:t>
            </a:r>
            <a:endParaRPr lang="en-US" sz="1200" dirty="0">
              <a:solidFill>
                <a:srgbClr val="2B91AF"/>
              </a:solidFill>
              <a:highlight>
                <a:srgbClr val="FFFFFF"/>
              </a:highlight>
              <a:latin typeface="Consolas" panose="020B0609020204030204" pitchFamily="49" charset="0"/>
            </a:endParaRPr>
          </a:p>
          <a:p>
            <a:pPr marL="0" indent="0">
              <a:spcBef>
                <a:spcPts val="0"/>
              </a:spcBef>
              <a:buNone/>
            </a:pP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FileStream</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a:t>
            </a:r>
            <a:r>
              <a:rPr lang="en-US" sz="1200" dirty="0" err="1">
                <a:solidFill>
                  <a:srgbClr val="A31515"/>
                </a:solidFill>
                <a:highlight>
                  <a:srgbClr val="FFFFFF"/>
                </a:highlight>
                <a:latin typeface="Consolas" panose="020B0609020204030204" pitchFamily="49" charset="0"/>
              </a:rPr>
              <a:t>testdata</a:t>
            </a:r>
            <a:r>
              <a:rPr lang="en-US" sz="1200" dirty="0">
                <a:solidFill>
                  <a:srgbClr val="A31515"/>
                </a:solidFill>
                <a:highlight>
                  <a:srgbClr val="FFFFFF"/>
                </a:highlight>
                <a:latin typeface="Consolas" panose="020B0609020204030204" pitchFamily="49" charset="0"/>
              </a:rPr>
              <a:t>"</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FileMode</a:t>
            </a:r>
            <a:r>
              <a:rPr lang="en-US" sz="1200" dirty="0" err="1">
                <a:solidFill>
                  <a:srgbClr val="000000"/>
                </a:solidFill>
                <a:highlight>
                  <a:srgbClr val="FFFFFF"/>
                </a:highlight>
                <a:latin typeface="Consolas" panose="020B0609020204030204" pitchFamily="49" charset="0"/>
              </a:rPr>
              <a:t>.Create</a:t>
            </a:r>
            <a:r>
              <a:rPr lang="en-US" sz="1200" dirty="0">
                <a:solidFill>
                  <a:srgbClr val="000000"/>
                </a:solidFill>
                <a:highlight>
                  <a:srgbClr val="FFFFFF"/>
                </a:highlight>
                <a:latin typeface="Consolas" panose="020B0609020204030204" pitchFamily="49" charset="0"/>
              </a:rPr>
              <a:t>));</a:t>
            </a:r>
          </a:p>
          <a:p>
            <a:pPr marL="0" indent="0">
              <a:spcBef>
                <a:spcPts val="0"/>
              </a:spcBef>
              <a:buNone/>
            </a:pPr>
            <a:endParaRPr lang="en-IN" sz="1200" dirty="0">
              <a:solidFill>
                <a:srgbClr val="000000"/>
              </a:solidFill>
              <a:highlight>
                <a:srgbClr val="FFFFFF"/>
              </a:highlight>
              <a:latin typeface="Consolas" panose="020B0609020204030204" pitchFamily="49" charset="0"/>
            </a:endParaRP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Write data to a file. </a:t>
            </a:r>
            <a:endParaRPr lang="en-IN" sz="1200" dirty="0">
              <a:solidFill>
                <a:srgbClr val="000000"/>
              </a:solidFill>
              <a:highlight>
                <a:srgbClr val="FFFFFF"/>
              </a:highlight>
              <a:latin typeface="Consolas" panose="020B0609020204030204" pitchFamily="49" charset="0"/>
            </a:endParaRP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"Writing "</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dataOut.Write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p>
          <a:p>
            <a:pPr marL="0" indent="0">
              <a:spcBef>
                <a:spcPts val="0"/>
              </a:spcBef>
              <a:buNone/>
            </a:pPr>
            <a:endParaRPr lang="en-IN" sz="1200" dirty="0">
              <a:solidFill>
                <a:srgbClr val="000000"/>
              </a:solidFill>
              <a:highlight>
                <a:srgbClr val="FFFFFF"/>
              </a:highlight>
              <a:latin typeface="Consolas" panose="020B0609020204030204" pitchFamily="49" charset="0"/>
            </a:endParaRP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"Writing "</a:t>
            </a:r>
            <a:r>
              <a:rPr lang="en-IN" sz="1200" dirty="0">
                <a:solidFill>
                  <a:srgbClr val="000000"/>
                </a:solidFill>
                <a:highlight>
                  <a:srgbClr val="FFFFFF"/>
                </a:highlight>
                <a:latin typeface="Consolas" panose="020B0609020204030204" pitchFamily="49" charset="0"/>
              </a:rPr>
              <a:t> + d);</a:t>
            </a: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dataOut.Write</a:t>
            </a:r>
            <a:r>
              <a:rPr lang="en-IN" sz="1200" dirty="0">
                <a:solidFill>
                  <a:srgbClr val="000000"/>
                </a:solidFill>
                <a:highlight>
                  <a:srgbClr val="FFFFFF"/>
                </a:highlight>
                <a:latin typeface="Consolas" panose="020B0609020204030204" pitchFamily="49" charset="0"/>
              </a:rPr>
              <a:t>(d);</a:t>
            </a:r>
          </a:p>
          <a:p>
            <a:pPr marL="0" indent="0">
              <a:spcBef>
                <a:spcPts val="0"/>
              </a:spcBef>
              <a:buNone/>
            </a:pPr>
            <a:endParaRPr lang="en-IN" sz="1200" dirty="0">
              <a:solidFill>
                <a:srgbClr val="000000"/>
              </a:solidFill>
              <a:highlight>
                <a:srgbClr val="FFFFFF"/>
              </a:highlight>
              <a:latin typeface="Consolas" panose="020B0609020204030204" pitchFamily="49" charset="0"/>
            </a:endParaRP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"Writing "</a:t>
            </a:r>
            <a:r>
              <a:rPr lang="en-IN" sz="1200" dirty="0">
                <a:solidFill>
                  <a:srgbClr val="000000"/>
                </a:solidFill>
                <a:highlight>
                  <a:srgbClr val="FFFFFF"/>
                </a:highlight>
                <a:latin typeface="Consolas" panose="020B0609020204030204" pitchFamily="49" charset="0"/>
              </a:rPr>
              <a:t> + b);</a:t>
            </a: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dataOut.Write</a:t>
            </a:r>
            <a:r>
              <a:rPr lang="en-IN" sz="1200" dirty="0">
                <a:solidFill>
                  <a:srgbClr val="000000"/>
                </a:solidFill>
                <a:highlight>
                  <a:srgbClr val="FFFFFF"/>
                </a:highlight>
                <a:latin typeface="Consolas" panose="020B0609020204030204" pitchFamily="49" charset="0"/>
              </a:rPr>
              <a:t>(b);</a:t>
            </a:r>
          </a:p>
          <a:p>
            <a:pPr marL="0" indent="0">
              <a:spcBef>
                <a:spcPts val="0"/>
              </a:spcBef>
              <a:buNone/>
            </a:pPr>
            <a:endParaRPr lang="en-IN" sz="1200" dirty="0">
              <a:solidFill>
                <a:srgbClr val="000000"/>
              </a:solidFill>
              <a:highlight>
                <a:srgbClr val="FFFFFF"/>
              </a:highlight>
              <a:latin typeface="Consolas" panose="020B0609020204030204" pitchFamily="49" charset="0"/>
            </a:endParaRPr>
          </a:p>
          <a:p>
            <a:pPr marL="0" indent="0">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"Writing "</a:t>
            </a:r>
            <a:r>
              <a:rPr lang="en-US" sz="1200" dirty="0">
                <a:solidFill>
                  <a:srgbClr val="000000"/>
                </a:solidFill>
                <a:highlight>
                  <a:srgbClr val="FFFFFF"/>
                </a:highlight>
                <a:latin typeface="Consolas" panose="020B0609020204030204" pitchFamily="49" charset="0"/>
              </a:rPr>
              <a:t> + 12.2 * 7.4);</a:t>
            </a: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dataOut.Write</a:t>
            </a:r>
            <a:r>
              <a:rPr lang="en-IN" sz="1200" dirty="0">
                <a:solidFill>
                  <a:srgbClr val="000000"/>
                </a:solidFill>
                <a:highlight>
                  <a:srgbClr val="FFFFFF"/>
                </a:highlight>
                <a:latin typeface="Consolas" panose="020B0609020204030204" pitchFamily="49" charset="0"/>
              </a:rPr>
              <a:t>(12.2 * 7.4);</a:t>
            </a:r>
          </a:p>
          <a:p>
            <a:pPr marL="0" indent="0">
              <a:spcBef>
                <a:spcPts val="0"/>
              </a:spcBef>
              <a:buNone/>
            </a:pPr>
            <a:endParaRPr lang="en-IN" sz="1200" dirty="0">
              <a:solidFill>
                <a:srgbClr val="000000"/>
              </a:solidFill>
              <a:highlight>
                <a:srgbClr val="FFFFFF"/>
              </a:highlight>
              <a:latin typeface="Consolas" panose="020B0609020204030204" pitchFamily="49" charset="0"/>
            </a:endParaRP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"Writing "</a:t>
            </a:r>
            <a:r>
              <a:rPr lang="en-IN" sz="1200" dirty="0">
                <a:solidFill>
                  <a:srgbClr val="000000"/>
                </a:solidFill>
                <a:highlight>
                  <a:srgbClr val="FFFFFF"/>
                </a:highlight>
                <a:latin typeface="Consolas" panose="020B0609020204030204" pitchFamily="49" charset="0"/>
              </a:rPr>
              <a:t> + str);</a:t>
            </a: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dataOut.Write</a:t>
            </a:r>
            <a:r>
              <a:rPr lang="en-IN" sz="1200" dirty="0">
                <a:solidFill>
                  <a:srgbClr val="000000"/>
                </a:solidFill>
                <a:highlight>
                  <a:srgbClr val="FFFFFF"/>
                </a:highlight>
                <a:latin typeface="Consolas" panose="020B0609020204030204" pitchFamily="49" charset="0"/>
              </a:rPr>
              <a:t>(str);</a:t>
            </a:r>
          </a:p>
          <a:p>
            <a:pPr marL="0" indent="0">
              <a:spcBef>
                <a:spcPts val="0"/>
              </a:spcBef>
              <a:buNone/>
            </a:pPr>
            <a:endParaRPr lang="en-IN" sz="1200" dirty="0">
              <a:solidFill>
                <a:srgbClr val="000000"/>
              </a:solidFill>
              <a:highlight>
                <a:srgbClr val="FFFFFF"/>
              </a:highlight>
              <a:latin typeface="Consolas" panose="020B0609020204030204" pitchFamily="49" charset="0"/>
            </a:endParaRP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dataOut.Close</a:t>
            </a:r>
            <a:r>
              <a:rPr lang="en-IN" sz="1200" dirty="0">
                <a:solidFill>
                  <a:srgbClr val="000000"/>
                </a:solidFill>
                <a:highlight>
                  <a:srgbClr val="FFFFFF"/>
                </a:highlight>
                <a:latin typeface="Consolas" panose="020B0609020204030204" pitchFamily="49" charset="0"/>
              </a:rPr>
              <a:t>();</a:t>
            </a:r>
          </a:p>
          <a:p>
            <a:pPr marL="0" indent="0">
              <a:spcBef>
                <a:spcPts val="0"/>
              </a:spcBef>
              <a:buNone/>
            </a:pPr>
            <a:endParaRPr lang="en-IN" sz="1200" dirty="0">
              <a:solidFill>
                <a:srgbClr val="000000"/>
              </a:solidFill>
              <a:highlight>
                <a:srgbClr val="FFFFFF"/>
              </a:highlight>
              <a:latin typeface="Consolas" panose="020B0609020204030204" pitchFamily="49" charset="0"/>
            </a:endParaRPr>
          </a:p>
          <a:p>
            <a:pPr marL="0" indent="0">
              <a:spcBef>
                <a:spcPts val="0"/>
              </a:spcBef>
              <a:buNone/>
            </a:pPr>
            <a:endParaRPr lang="en-IN" sz="1200" dirty="0"/>
          </a:p>
        </p:txBody>
      </p:sp>
      <p:sp>
        <p:nvSpPr>
          <p:cNvPr id="4" name="TextBox 3">
            <a:extLst>
              <a:ext uri="{FF2B5EF4-FFF2-40B4-BE49-F238E27FC236}">
                <a16:creationId xmlns:a16="http://schemas.microsoft.com/office/drawing/2014/main" id="{6C4E9EB2-9CB2-4F31-BD56-4962F493173D}"/>
              </a:ext>
            </a:extLst>
          </p:cNvPr>
          <p:cNvSpPr txBox="1"/>
          <p:nvPr/>
        </p:nvSpPr>
        <p:spPr>
          <a:xfrm>
            <a:off x="4724400" y="533399"/>
            <a:ext cx="4572000" cy="5693866"/>
          </a:xfrm>
          <a:prstGeom prst="rect">
            <a:avLst/>
          </a:prstGeom>
          <a:noFill/>
        </p:spPr>
        <p:txBody>
          <a:bodyPr wrap="square" rtlCol="0">
            <a:spAutoFit/>
          </a:bodyPr>
          <a:lstStyle/>
          <a:p>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dataIn</a:t>
            </a:r>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new</a:t>
            </a:r>
            <a:endParaRPr lang="en-IN" sz="1400" dirty="0">
              <a:solidFill>
                <a:srgbClr val="000000"/>
              </a:solidFill>
              <a:highlight>
                <a:srgbClr val="FFFFFF"/>
              </a:highlight>
              <a:latin typeface="Consolas" panose="020B0609020204030204" pitchFamily="49" charset="0"/>
            </a:endParaRPr>
          </a:p>
          <a:p>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BinaryReader</a:t>
            </a:r>
            <a:r>
              <a:rPr lang="en-US" sz="1400" dirty="0">
                <a:solidFill>
                  <a:srgbClr val="000000"/>
                </a:solidFill>
                <a:highlight>
                  <a:srgbClr val="FFFFFF"/>
                </a:highlight>
                <a:latin typeface="Consolas" panose="020B0609020204030204" pitchFamily="49" charset="0"/>
              </a:rPr>
              <a:t>(</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FileStream</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a:t>
            </a:r>
            <a:r>
              <a:rPr lang="en-US" sz="1400" dirty="0" err="1">
                <a:solidFill>
                  <a:srgbClr val="A31515"/>
                </a:solidFill>
                <a:highlight>
                  <a:srgbClr val="FFFFFF"/>
                </a:highlight>
                <a:latin typeface="Consolas" panose="020B0609020204030204" pitchFamily="49" charset="0"/>
              </a:rPr>
              <a:t>testdata</a:t>
            </a:r>
            <a:r>
              <a:rPr lang="en-US" sz="1400" dirty="0">
                <a:solidFill>
                  <a:srgbClr val="A31515"/>
                </a:solidFill>
                <a:highlight>
                  <a:srgbClr val="FFFFFF"/>
                </a:highlight>
                <a:latin typeface="Consolas" panose="020B0609020204030204" pitchFamily="49" charset="0"/>
              </a:rPr>
              <a:t>"</a:t>
            </a: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FileMode</a:t>
            </a:r>
            <a:r>
              <a:rPr lang="en-US" sz="1400" dirty="0" err="1">
                <a:solidFill>
                  <a:srgbClr val="000000"/>
                </a:solidFill>
                <a:highlight>
                  <a:srgbClr val="FFFFFF"/>
                </a:highlight>
                <a:latin typeface="Consolas" panose="020B0609020204030204" pitchFamily="49" charset="0"/>
              </a:rPr>
              <a:t>.Open</a:t>
            </a:r>
            <a:r>
              <a:rPr lang="en-US" sz="1400" dirty="0">
                <a:solidFill>
                  <a:srgbClr val="000000"/>
                </a:solidFill>
                <a:highlight>
                  <a:srgbClr val="FFFFFF"/>
                </a:highlight>
                <a:latin typeface="Consolas" panose="020B0609020204030204" pitchFamily="49" charset="0"/>
              </a:rPr>
              <a:t>));</a:t>
            </a:r>
          </a:p>
          <a:p>
            <a:endParaRPr lang="en-IN" sz="1400" dirty="0">
              <a:solidFill>
                <a:srgbClr val="000000"/>
              </a:solidFill>
              <a:highlight>
                <a:srgbClr val="FFFFFF"/>
              </a:highlight>
              <a:latin typeface="Consolas" panose="020B0609020204030204" pitchFamily="49" charset="0"/>
            </a:endParaRPr>
          </a:p>
          <a:p>
            <a:endParaRPr lang="en-IN" sz="1400" dirty="0">
              <a:solidFill>
                <a:srgbClr val="000000"/>
              </a:solidFill>
              <a:highlight>
                <a:srgbClr val="FFFFFF"/>
              </a:highlight>
              <a:latin typeface="Consolas" panose="020B0609020204030204" pitchFamily="49" charset="0"/>
            </a:endParaRPr>
          </a:p>
          <a:p>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i</a:t>
            </a:r>
            <a:r>
              <a:rPr lang="en-IN" sz="1400" dirty="0">
                <a:solidFill>
                  <a:srgbClr val="000000"/>
                </a:solidFill>
                <a:highlight>
                  <a:srgbClr val="FFFFFF"/>
                </a:highlight>
                <a:latin typeface="Consolas" panose="020B0609020204030204" pitchFamily="49" charset="0"/>
              </a:rPr>
              <a:t> = dataIn.ReadInt32();</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"Reading "</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i</a:t>
            </a:r>
            <a:r>
              <a:rPr lang="en-IN" sz="1400" dirty="0">
                <a:solidFill>
                  <a:srgbClr val="000000"/>
                </a:solidFill>
                <a:highlight>
                  <a:srgbClr val="FFFFFF"/>
                </a:highlight>
                <a:latin typeface="Consolas" panose="020B0609020204030204" pitchFamily="49" charset="0"/>
              </a:rPr>
              <a:t>);</a:t>
            </a:r>
          </a:p>
          <a:p>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d = </a:t>
            </a:r>
            <a:r>
              <a:rPr lang="en-IN" sz="1400" dirty="0" err="1">
                <a:solidFill>
                  <a:srgbClr val="000000"/>
                </a:solidFill>
                <a:highlight>
                  <a:srgbClr val="FFFFFF"/>
                </a:highlight>
                <a:latin typeface="Consolas" panose="020B0609020204030204" pitchFamily="49" charset="0"/>
              </a:rPr>
              <a:t>dataIn.ReadDouble</a:t>
            </a:r>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"Reading "</a:t>
            </a:r>
            <a:r>
              <a:rPr lang="en-IN" sz="1400" dirty="0">
                <a:solidFill>
                  <a:srgbClr val="000000"/>
                </a:solidFill>
                <a:highlight>
                  <a:srgbClr val="FFFFFF"/>
                </a:highlight>
                <a:latin typeface="Consolas" panose="020B0609020204030204" pitchFamily="49" charset="0"/>
              </a:rPr>
              <a:t> + d);</a:t>
            </a:r>
          </a:p>
          <a:p>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b = </a:t>
            </a:r>
            <a:r>
              <a:rPr lang="en-IN" sz="1400" dirty="0" err="1">
                <a:solidFill>
                  <a:srgbClr val="000000"/>
                </a:solidFill>
                <a:highlight>
                  <a:srgbClr val="FFFFFF"/>
                </a:highlight>
                <a:latin typeface="Consolas" panose="020B0609020204030204" pitchFamily="49" charset="0"/>
              </a:rPr>
              <a:t>dataIn.ReadBoolean</a:t>
            </a:r>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"Reading "</a:t>
            </a:r>
            <a:r>
              <a:rPr lang="en-IN" sz="1400" dirty="0">
                <a:solidFill>
                  <a:srgbClr val="000000"/>
                </a:solidFill>
                <a:highlight>
                  <a:srgbClr val="FFFFFF"/>
                </a:highlight>
                <a:latin typeface="Consolas" panose="020B0609020204030204" pitchFamily="49" charset="0"/>
              </a:rPr>
              <a:t> + b);</a:t>
            </a:r>
          </a:p>
          <a:p>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d = </a:t>
            </a:r>
            <a:r>
              <a:rPr lang="en-IN" sz="1400" dirty="0" err="1">
                <a:solidFill>
                  <a:srgbClr val="000000"/>
                </a:solidFill>
                <a:highlight>
                  <a:srgbClr val="FFFFFF"/>
                </a:highlight>
                <a:latin typeface="Consolas" panose="020B0609020204030204" pitchFamily="49" charset="0"/>
              </a:rPr>
              <a:t>dataIn.ReadDouble</a:t>
            </a:r>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"Reading "</a:t>
            </a:r>
            <a:r>
              <a:rPr lang="en-IN" sz="1400" dirty="0">
                <a:solidFill>
                  <a:srgbClr val="000000"/>
                </a:solidFill>
                <a:highlight>
                  <a:srgbClr val="FFFFFF"/>
                </a:highlight>
                <a:latin typeface="Consolas" panose="020B0609020204030204" pitchFamily="49" charset="0"/>
              </a:rPr>
              <a:t> + d);</a:t>
            </a:r>
          </a:p>
          <a:p>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str = </a:t>
            </a:r>
            <a:r>
              <a:rPr lang="en-IN" sz="1400" dirty="0" err="1">
                <a:solidFill>
                  <a:srgbClr val="000000"/>
                </a:solidFill>
                <a:highlight>
                  <a:srgbClr val="FFFFFF"/>
                </a:highlight>
                <a:latin typeface="Consolas" panose="020B0609020204030204" pitchFamily="49" charset="0"/>
              </a:rPr>
              <a:t>dataIn.ReadString</a:t>
            </a:r>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"Reading "</a:t>
            </a:r>
            <a:r>
              <a:rPr lang="en-IN" sz="1400" dirty="0">
                <a:solidFill>
                  <a:srgbClr val="000000"/>
                </a:solidFill>
                <a:highlight>
                  <a:srgbClr val="FFFFFF"/>
                </a:highlight>
                <a:latin typeface="Consolas" panose="020B0609020204030204" pitchFamily="49" charset="0"/>
              </a:rPr>
              <a:t> + str);</a:t>
            </a:r>
          </a:p>
          <a:p>
            <a:endParaRPr lang="en-IN" sz="1400" dirty="0">
              <a:solidFill>
                <a:srgbClr val="000000"/>
              </a:solidFill>
              <a:highlight>
                <a:srgbClr val="FFFFFF"/>
              </a:highlight>
              <a:latin typeface="Consolas" panose="020B0609020204030204" pitchFamily="49" charset="0"/>
            </a:endParaRPr>
          </a:p>
          <a:p>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dataIn.Close</a:t>
            </a:r>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a:t>
            </a:r>
            <a:endParaRPr lang="en-IN" sz="1400" dirty="0"/>
          </a:p>
        </p:txBody>
      </p:sp>
    </p:spTree>
    <p:extLst>
      <p:ext uri="{BB962C8B-B14F-4D97-AF65-F5344CB8AC3E}">
        <p14:creationId xmlns:p14="http://schemas.microsoft.com/office/powerpoint/2010/main" val="26244462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B48A3-D487-4A03-A132-37DD075CC322}"/>
              </a:ext>
            </a:extLst>
          </p:cNvPr>
          <p:cNvSpPr>
            <a:spLocks noGrp="1"/>
          </p:cNvSpPr>
          <p:nvPr>
            <p:ph type="title"/>
          </p:nvPr>
        </p:nvSpPr>
        <p:spPr>
          <a:xfrm>
            <a:off x="1143000" y="76200"/>
            <a:ext cx="7696200" cy="411162"/>
          </a:xfrm>
        </p:spPr>
        <p:txBody>
          <a:bodyPr>
            <a:normAutofit fontScale="90000"/>
          </a:bodyPr>
          <a:lstStyle/>
          <a:p>
            <a:r>
              <a:rPr lang="en-IN" dirty="0"/>
              <a:t>String reader and writer</a:t>
            </a:r>
          </a:p>
        </p:txBody>
      </p:sp>
      <p:sp>
        <p:nvSpPr>
          <p:cNvPr id="3" name="Content Placeholder 2">
            <a:extLst>
              <a:ext uri="{FF2B5EF4-FFF2-40B4-BE49-F238E27FC236}">
                <a16:creationId xmlns:a16="http://schemas.microsoft.com/office/drawing/2014/main" id="{F0353530-767C-42D7-9E76-0D4BBF18845A}"/>
              </a:ext>
            </a:extLst>
          </p:cNvPr>
          <p:cNvSpPr>
            <a:spLocks noGrp="1"/>
          </p:cNvSpPr>
          <p:nvPr>
            <p:ph idx="1"/>
          </p:nvPr>
        </p:nvSpPr>
        <p:spPr>
          <a:xfrm>
            <a:off x="-76200" y="762000"/>
            <a:ext cx="5791200" cy="6400800"/>
          </a:xfrm>
        </p:spPr>
        <p:txBody>
          <a:bodyPr>
            <a:noAutofit/>
          </a:bodyPr>
          <a:lstStyle/>
          <a:p>
            <a:pPr marL="0" indent="0">
              <a:buNone/>
            </a:pPr>
            <a:r>
              <a:rPr lang="en-IN" sz="1200" dirty="0">
                <a:solidFill>
                  <a:srgbClr val="008000"/>
                </a:solidFill>
                <a:highlight>
                  <a:srgbClr val="FFFFFF"/>
                </a:highlight>
                <a:latin typeface="Consolas" panose="020B0609020204030204" pitchFamily="49" charset="0"/>
              </a:rPr>
              <a:t>// Demonstrate </a:t>
            </a:r>
            <a:r>
              <a:rPr lang="en-IN" sz="1200" dirty="0" err="1">
                <a:solidFill>
                  <a:srgbClr val="008000"/>
                </a:solidFill>
                <a:highlight>
                  <a:srgbClr val="FFFFFF"/>
                </a:highlight>
                <a:latin typeface="Consolas" panose="020B0609020204030204" pitchFamily="49" charset="0"/>
              </a:rPr>
              <a:t>StringReader</a:t>
            </a:r>
            <a:r>
              <a:rPr lang="en-IN" sz="1200" dirty="0">
                <a:solidFill>
                  <a:srgbClr val="008000"/>
                </a:solidFill>
                <a:highlight>
                  <a:srgbClr val="FFFFFF"/>
                </a:highlight>
                <a:latin typeface="Consolas" panose="020B0609020204030204" pitchFamily="49" charset="0"/>
              </a:rPr>
              <a:t> and </a:t>
            </a:r>
            <a:r>
              <a:rPr lang="en-IN" sz="1200" dirty="0" err="1">
                <a:solidFill>
                  <a:srgbClr val="008000"/>
                </a:solidFill>
                <a:highlight>
                  <a:srgbClr val="FFFFFF"/>
                </a:highlight>
                <a:latin typeface="Consolas" panose="020B0609020204030204" pitchFamily="49" charset="0"/>
              </a:rPr>
              <a:t>StringWriter</a:t>
            </a:r>
            <a:r>
              <a:rPr lang="en-IN" sz="1200" dirty="0">
                <a:solidFill>
                  <a:srgbClr val="008000"/>
                </a:solidFill>
                <a:highlight>
                  <a:srgbClr val="FFFFFF"/>
                </a:highlight>
                <a:latin typeface="Consolas" panose="020B0609020204030204" pitchFamily="49" charset="0"/>
              </a:rPr>
              <a:t>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System.IO;</a:t>
            </a: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StrRdrDemo</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Create a </a:t>
            </a:r>
            <a:r>
              <a:rPr lang="en-IN" sz="1200" dirty="0" err="1">
                <a:solidFill>
                  <a:srgbClr val="008000"/>
                </a:solidFill>
                <a:highlight>
                  <a:srgbClr val="FFFFFF"/>
                </a:highlight>
                <a:latin typeface="Consolas" panose="020B0609020204030204" pitchFamily="49" charset="0"/>
              </a:rPr>
              <a:t>StringWriter</a:t>
            </a:r>
            <a:r>
              <a:rPr lang="en-IN" sz="1200" dirty="0">
                <a:solidFill>
                  <a:srgbClr val="008000"/>
                </a:solidFill>
                <a:highlight>
                  <a:srgbClr val="FFFFFF"/>
                </a:highlight>
                <a:latin typeface="Consolas" panose="020B0609020204030204" pitchFamily="49" charset="0"/>
              </a:rPr>
              <a:t>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StringWriter</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strwtr</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StringWriter</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Write to </a:t>
            </a:r>
            <a:r>
              <a:rPr lang="en-IN" sz="1200" dirty="0" err="1">
                <a:solidFill>
                  <a:srgbClr val="008000"/>
                </a:solidFill>
                <a:highlight>
                  <a:srgbClr val="FFFFFF"/>
                </a:highlight>
                <a:latin typeface="Consolas" panose="020B0609020204030204" pitchFamily="49" charset="0"/>
              </a:rPr>
              <a:t>StringWriter</a:t>
            </a:r>
            <a:r>
              <a:rPr lang="en-IN" sz="1200" dirty="0">
                <a:solidFill>
                  <a:srgbClr val="008000"/>
                </a:solidFill>
                <a:highlight>
                  <a:srgbClr val="FFFFFF"/>
                </a:highlight>
                <a:latin typeface="Consolas" panose="020B0609020204030204" pitchFamily="49" charset="0"/>
              </a:rPr>
              <a:t>. </a:t>
            </a:r>
            <a:endParaRPr lang="en-IN" sz="1200" dirty="0">
              <a:solidFill>
                <a:srgbClr val="000000"/>
              </a:solidFill>
              <a:highlight>
                <a:srgbClr val="FFFFFF"/>
              </a:highlight>
              <a:latin typeface="Consolas" panose="020B0609020204030204" pitchFamily="49" charset="0"/>
            </a:endParaRPr>
          </a:p>
          <a:p>
            <a:pPr marL="0" indent="0">
              <a:buNone/>
            </a:pP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for</a:t>
            </a: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int</a:t>
            </a:r>
            <a:r>
              <a:rPr lang="nn-NO" sz="1200" dirty="0">
                <a:solidFill>
                  <a:srgbClr val="000000"/>
                </a:solidFill>
                <a:highlight>
                  <a:srgbClr val="FFFFFF"/>
                </a:highlight>
                <a:latin typeface="Consolas" panose="020B0609020204030204" pitchFamily="49" charset="0"/>
              </a:rPr>
              <a:t> i = 0; i &lt; 10; i++)</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strwtr.WriteLine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"This is i: "</a:t>
            </a:r>
            <a:r>
              <a:rPr lang="en-US" sz="1200" dirty="0">
                <a:solidFill>
                  <a:srgbClr val="000000"/>
                </a:solidFill>
                <a:highlight>
                  <a:srgbClr val="FFFFFF"/>
                </a:highlight>
                <a:latin typeface="Consolas" panose="020B0609020204030204" pitchFamily="49" charset="0"/>
              </a:rPr>
              <a:t> + </a:t>
            </a:r>
            <a:r>
              <a:rPr lang="en-US" sz="1200" dirty="0" err="1">
                <a:solidFill>
                  <a:srgbClr val="000000"/>
                </a:solidFill>
                <a:highlight>
                  <a:srgbClr val="FFFFFF"/>
                </a:highlight>
                <a:latin typeface="Consolas" panose="020B0609020204030204" pitchFamily="49" charset="0"/>
              </a:rPr>
              <a:t>i</a:t>
            </a:r>
            <a:r>
              <a:rPr lang="en-US"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Create a </a:t>
            </a:r>
            <a:r>
              <a:rPr lang="en-IN" sz="1200" dirty="0" err="1">
                <a:solidFill>
                  <a:srgbClr val="008000"/>
                </a:solidFill>
                <a:highlight>
                  <a:srgbClr val="FFFFFF"/>
                </a:highlight>
                <a:latin typeface="Consolas" panose="020B0609020204030204" pitchFamily="49" charset="0"/>
              </a:rPr>
              <a:t>StringReader</a:t>
            </a:r>
            <a:r>
              <a:rPr lang="en-IN" sz="1200" dirty="0">
                <a:solidFill>
                  <a:srgbClr val="008000"/>
                </a:solidFill>
                <a:highlight>
                  <a:srgbClr val="FFFFFF"/>
                </a:highlight>
                <a:latin typeface="Consolas" panose="020B0609020204030204" pitchFamily="49" charset="0"/>
              </a:rPr>
              <a:t> </a:t>
            </a: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StringReader</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strrdr</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StringReader</a:t>
            </a:r>
            <a:r>
              <a:rPr lang="en-US" sz="1200" dirty="0">
                <a:solidFill>
                  <a:srgbClr val="000000"/>
                </a:solidFill>
                <a:highlight>
                  <a:srgbClr val="FFFFFF"/>
                </a:highlight>
                <a:latin typeface="Consolas" panose="020B0609020204030204" pitchFamily="49" charset="0"/>
              </a:rPr>
              <a:t>(</a:t>
            </a:r>
            <a:r>
              <a:rPr lang="en-US" sz="1200" dirty="0" err="1">
                <a:solidFill>
                  <a:srgbClr val="000000"/>
                </a:solidFill>
                <a:highlight>
                  <a:srgbClr val="FFFFFF"/>
                </a:highlight>
                <a:latin typeface="Consolas" panose="020B0609020204030204" pitchFamily="49" charset="0"/>
              </a:rPr>
              <a:t>strwtr.ToString</a:t>
            </a:r>
            <a:r>
              <a:rPr lang="en-US"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Now, read from </a:t>
            </a:r>
            <a:r>
              <a:rPr lang="en-IN" sz="1200" dirty="0" err="1">
                <a:solidFill>
                  <a:srgbClr val="008000"/>
                </a:solidFill>
                <a:highlight>
                  <a:srgbClr val="FFFFFF"/>
                </a:highlight>
                <a:latin typeface="Consolas" panose="020B0609020204030204" pitchFamily="49" charset="0"/>
              </a:rPr>
              <a:t>StringReader</a:t>
            </a:r>
            <a:r>
              <a:rPr lang="en-IN" sz="1200" dirty="0">
                <a:solidFill>
                  <a:srgbClr val="008000"/>
                </a:solidFill>
                <a:highlight>
                  <a:srgbClr val="FFFFFF"/>
                </a:highlight>
                <a:latin typeface="Consolas" panose="020B0609020204030204" pitchFamily="49" charset="0"/>
              </a:rPr>
              <a:t>.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str;</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a:t>
            </a:r>
            <a:r>
              <a:rPr lang="en-IN" sz="1200" dirty="0" err="1">
                <a:solidFill>
                  <a:srgbClr val="008000"/>
                </a:solidFill>
                <a:highlight>
                  <a:srgbClr val="FFFFFF"/>
                </a:highlight>
                <a:latin typeface="Consolas" panose="020B0609020204030204" pitchFamily="49" charset="0"/>
              </a:rPr>
              <a:t>strrdr.ReadLine</a:t>
            </a:r>
            <a:r>
              <a:rPr lang="en-IN" sz="1200" dirty="0">
                <a:solidFill>
                  <a:srgbClr val="008000"/>
                </a:solidFill>
                <a:highlight>
                  <a:srgbClr val="FFFFFF"/>
                </a:highlight>
                <a:latin typeface="Consolas" panose="020B0609020204030204" pitchFamily="49" charset="0"/>
              </a:rPr>
              <a:t>();</a:t>
            </a:r>
            <a:endParaRPr lang="en-IN" sz="1200" dirty="0">
              <a:solidFill>
                <a:srgbClr val="000000"/>
              </a:solidFill>
              <a:highlight>
                <a:srgbClr val="FFFFFF"/>
              </a:highlight>
              <a:latin typeface="Consolas" panose="020B0609020204030204" pitchFamily="49" charset="0"/>
            </a:endParaRPr>
          </a:p>
          <a:p>
            <a:pPr marL="0" indent="0">
              <a:buNone/>
            </a:pPr>
            <a:r>
              <a:rPr lang="en-US" sz="1800" dirty="0">
                <a:solidFill>
                  <a:srgbClr val="0000FF"/>
                </a:solidFill>
                <a:highlight>
                  <a:srgbClr val="FFFFFF"/>
                </a:highlight>
                <a:latin typeface="Consolas" panose="020B0609020204030204" pitchFamily="49" charset="0"/>
              </a:rPr>
              <a:t>while</a:t>
            </a:r>
            <a:r>
              <a:rPr lang="en-US" sz="1800" dirty="0">
                <a:solidFill>
                  <a:srgbClr val="000000"/>
                </a:solidFill>
                <a:highlight>
                  <a:srgbClr val="FFFFFF"/>
                </a:highlight>
                <a:latin typeface="Consolas" panose="020B0609020204030204" pitchFamily="49" charset="0"/>
              </a:rPr>
              <a:t> ((str=</a:t>
            </a:r>
            <a:r>
              <a:rPr lang="en-US" sz="1800" dirty="0" err="1">
                <a:solidFill>
                  <a:srgbClr val="000000"/>
                </a:solidFill>
                <a:highlight>
                  <a:srgbClr val="FFFFFF"/>
                </a:highlight>
                <a:latin typeface="Consolas" panose="020B0609020204030204" pitchFamily="49" charset="0"/>
              </a:rPr>
              <a:t>strrdr.ReadLine</a:t>
            </a:r>
            <a:r>
              <a:rPr lang="en-US" sz="1800" dirty="0">
                <a:solidFill>
                  <a:srgbClr val="000000"/>
                </a:solidFill>
                <a:highlight>
                  <a:srgbClr val="FFFFFF"/>
                </a:highlight>
                <a:latin typeface="Consolas" panose="020B0609020204030204" pitchFamily="49" charset="0"/>
              </a:rPr>
              <a:t>()) != </a:t>
            </a:r>
            <a:r>
              <a:rPr lang="en-US" sz="1800" dirty="0">
                <a:solidFill>
                  <a:srgbClr val="0000FF"/>
                </a:solidFill>
                <a:highlight>
                  <a:srgbClr val="FFFFFF"/>
                </a:highlight>
                <a:latin typeface="Consolas" panose="020B0609020204030204" pitchFamily="49" charset="0"/>
              </a:rPr>
              <a:t>null</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.WriteLine</a:t>
            </a:r>
            <a:r>
              <a:rPr lang="en-IN" sz="1800" dirty="0">
                <a:solidFill>
                  <a:srgbClr val="000000"/>
                </a:solidFill>
                <a:highlight>
                  <a:srgbClr val="FFFFFF"/>
                </a:highlight>
                <a:latin typeface="Consolas" panose="020B0609020204030204" pitchFamily="49" charset="0"/>
              </a:rPr>
              <a:t>(str);</a:t>
            </a:r>
          </a:p>
          <a:p>
            <a:pPr marL="0" indent="0">
              <a:buNone/>
            </a:pPr>
            <a:r>
              <a:rPr lang="en-IN" sz="1800" dirty="0">
                <a:solidFill>
                  <a:srgbClr val="000000"/>
                </a:solidFill>
                <a:highlight>
                  <a:srgbClr val="FFFFFF"/>
                </a:highlight>
                <a:latin typeface="Consolas" panose="020B0609020204030204" pitchFamily="49" charset="0"/>
              </a:rPr>
              <a:t>        }</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1200" dirty="0"/>
          </a:p>
        </p:txBody>
      </p:sp>
      <p:sp>
        <p:nvSpPr>
          <p:cNvPr id="4" name="TextBox 3">
            <a:extLst>
              <a:ext uri="{FF2B5EF4-FFF2-40B4-BE49-F238E27FC236}">
                <a16:creationId xmlns:a16="http://schemas.microsoft.com/office/drawing/2014/main" id="{0C5705D0-040A-4BB7-9D17-024A9138AA8E}"/>
              </a:ext>
            </a:extLst>
          </p:cNvPr>
          <p:cNvSpPr txBox="1"/>
          <p:nvPr/>
        </p:nvSpPr>
        <p:spPr>
          <a:xfrm>
            <a:off x="3886200" y="1447800"/>
            <a:ext cx="838200" cy="369332"/>
          </a:xfrm>
          <a:prstGeom prst="rect">
            <a:avLst/>
          </a:prstGeom>
          <a:noFill/>
        </p:spPr>
        <p:txBody>
          <a:bodyPr wrap="square" rtlCol="0">
            <a:spAutoFit/>
          </a:bodyPr>
          <a:lstStyle/>
          <a:p>
            <a:r>
              <a:rPr lang="en-IN" dirty="0" err="1"/>
              <a:t>strwtr</a:t>
            </a:r>
            <a:endParaRPr lang="en-IN" dirty="0"/>
          </a:p>
        </p:txBody>
      </p:sp>
      <p:sp>
        <p:nvSpPr>
          <p:cNvPr id="5" name="Rectangle 4">
            <a:extLst>
              <a:ext uri="{FF2B5EF4-FFF2-40B4-BE49-F238E27FC236}">
                <a16:creationId xmlns:a16="http://schemas.microsoft.com/office/drawing/2014/main" id="{FB91231F-BAEC-4479-B02C-53B05E1E1452}"/>
              </a:ext>
            </a:extLst>
          </p:cNvPr>
          <p:cNvSpPr/>
          <p:nvPr/>
        </p:nvSpPr>
        <p:spPr>
          <a:xfrm>
            <a:off x="4572000" y="1817132"/>
            <a:ext cx="685800" cy="6212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Arrow Connector 6">
            <a:extLst>
              <a:ext uri="{FF2B5EF4-FFF2-40B4-BE49-F238E27FC236}">
                <a16:creationId xmlns:a16="http://schemas.microsoft.com/office/drawing/2014/main" id="{422B4D7F-FF44-44DA-BB4E-E5D5065E5F5F}"/>
              </a:ext>
            </a:extLst>
          </p:cNvPr>
          <p:cNvCxnSpPr>
            <a:stCxn id="5" idx="3"/>
          </p:cNvCxnSpPr>
          <p:nvPr/>
        </p:nvCxnSpPr>
        <p:spPr>
          <a:xfrm flipV="1">
            <a:off x="5257800" y="1905000"/>
            <a:ext cx="990600" cy="2227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B04A606E-AA7E-4685-8624-F7472E7A724E}"/>
              </a:ext>
            </a:extLst>
          </p:cNvPr>
          <p:cNvSpPr/>
          <p:nvPr/>
        </p:nvSpPr>
        <p:spPr>
          <a:xfrm>
            <a:off x="6248400" y="293917"/>
            <a:ext cx="1905000" cy="27247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a:t>
            </a:r>
          </a:p>
          <a:p>
            <a:pPr algn="ctr"/>
            <a:r>
              <a:rPr lang="en-IN" dirty="0"/>
              <a:t>1</a:t>
            </a:r>
          </a:p>
          <a:p>
            <a:pPr algn="ctr"/>
            <a:r>
              <a:rPr lang="en-IN" dirty="0"/>
              <a:t>2</a:t>
            </a:r>
          </a:p>
          <a:p>
            <a:pPr algn="ctr"/>
            <a:r>
              <a:rPr lang="en-IN" dirty="0"/>
              <a:t>3</a:t>
            </a:r>
          </a:p>
          <a:p>
            <a:pPr algn="ctr"/>
            <a:r>
              <a:rPr lang="en-IN" dirty="0"/>
              <a:t>4</a:t>
            </a:r>
          </a:p>
          <a:p>
            <a:pPr algn="ctr"/>
            <a:r>
              <a:rPr lang="en-IN" dirty="0"/>
              <a:t>5</a:t>
            </a:r>
          </a:p>
          <a:p>
            <a:pPr algn="ctr"/>
            <a:r>
              <a:rPr lang="en-IN" dirty="0"/>
              <a:t>6</a:t>
            </a:r>
          </a:p>
          <a:p>
            <a:pPr algn="ctr"/>
            <a:r>
              <a:rPr lang="en-IN" dirty="0"/>
              <a:t>7</a:t>
            </a:r>
          </a:p>
          <a:p>
            <a:pPr algn="ctr"/>
            <a:r>
              <a:rPr lang="en-IN" dirty="0"/>
              <a:t>8</a:t>
            </a:r>
          </a:p>
          <a:p>
            <a:pPr algn="ctr"/>
            <a:r>
              <a:rPr lang="en-IN" dirty="0"/>
              <a:t>9</a:t>
            </a:r>
          </a:p>
        </p:txBody>
      </p:sp>
      <p:sp>
        <p:nvSpPr>
          <p:cNvPr id="9" name="TextBox 8">
            <a:extLst>
              <a:ext uri="{FF2B5EF4-FFF2-40B4-BE49-F238E27FC236}">
                <a16:creationId xmlns:a16="http://schemas.microsoft.com/office/drawing/2014/main" id="{FC927136-E565-43DF-99EC-C42A006D1902}"/>
              </a:ext>
            </a:extLst>
          </p:cNvPr>
          <p:cNvSpPr txBox="1"/>
          <p:nvPr/>
        </p:nvSpPr>
        <p:spPr>
          <a:xfrm>
            <a:off x="4495800" y="4768334"/>
            <a:ext cx="838200" cy="369332"/>
          </a:xfrm>
          <a:prstGeom prst="rect">
            <a:avLst/>
          </a:prstGeom>
          <a:noFill/>
        </p:spPr>
        <p:txBody>
          <a:bodyPr wrap="square" rtlCol="0">
            <a:spAutoFit/>
          </a:bodyPr>
          <a:lstStyle/>
          <a:p>
            <a:r>
              <a:rPr lang="en-IN" dirty="0" err="1"/>
              <a:t>sstrrdr</a:t>
            </a:r>
            <a:endParaRPr lang="en-IN" dirty="0"/>
          </a:p>
        </p:txBody>
      </p:sp>
      <p:sp>
        <p:nvSpPr>
          <p:cNvPr id="10" name="Rectangle 9">
            <a:extLst>
              <a:ext uri="{FF2B5EF4-FFF2-40B4-BE49-F238E27FC236}">
                <a16:creationId xmlns:a16="http://schemas.microsoft.com/office/drawing/2014/main" id="{B0EC98BB-37C0-4BC7-A284-DA9AA2D779EA}"/>
              </a:ext>
            </a:extLst>
          </p:cNvPr>
          <p:cNvSpPr/>
          <p:nvPr/>
        </p:nvSpPr>
        <p:spPr>
          <a:xfrm>
            <a:off x="5181600" y="5137666"/>
            <a:ext cx="685800" cy="6212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 name="Straight Arrow Connector 10">
            <a:extLst>
              <a:ext uri="{FF2B5EF4-FFF2-40B4-BE49-F238E27FC236}">
                <a16:creationId xmlns:a16="http://schemas.microsoft.com/office/drawing/2014/main" id="{9145F72D-E445-4EC9-81BE-6D039A3897BE}"/>
              </a:ext>
            </a:extLst>
          </p:cNvPr>
          <p:cNvCxnSpPr>
            <a:stCxn id="10" idx="3"/>
          </p:cNvCxnSpPr>
          <p:nvPr/>
        </p:nvCxnSpPr>
        <p:spPr>
          <a:xfrm flipV="1">
            <a:off x="5867400" y="5225534"/>
            <a:ext cx="990600" cy="2227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D74C0528-3CB0-4D9F-A4C3-6661AA421DFB}"/>
              </a:ext>
            </a:extLst>
          </p:cNvPr>
          <p:cNvSpPr/>
          <p:nvPr/>
        </p:nvSpPr>
        <p:spPr>
          <a:xfrm>
            <a:off x="7007772" y="3962400"/>
            <a:ext cx="1905000" cy="27247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a:t>
            </a:r>
          </a:p>
          <a:p>
            <a:pPr algn="ctr"/>
            <a:r>
              <a:rPr lang="en-IN" dirty="0"/>
              <a:t>1</a:t>
            </a:r>
          </a:p>
          <a:p>
            <a:pPr algn="ctr"/>
            <a:r>
              <a:rPr lang="en-IN" dirty="0"/>
              <a:t>2</a:t>
            </a:r>
          </a:p>
          <a:p>
            <a:pPr algn="ctr"/>
            <a:r>
              <a:rPr lang="en-IN" dirty="0"/>
              <a:t>3</a:t>
            </a:r>
          </a:p>
          <a:p>
            <a:pPr algn="ctr"/>
            <a:r>
              <a:rPr lang="en-IN" dirty="0"/>
              <a:t>4</a:t>
            </a:r>
          </a:p>
          <a:p>
            <a:pPr algn="ctr"/>
            <a:r>
              <a:rPr lang="en-IN" dirty="0"/>
              <a:t>5</a:t>
            </a:r>
          </a:p>
          <a:p>
            <a:pPr algn="ctr"/>
            <a:r>
              <a:rPr lang="en-IN" dirty="0"/>
              <a:t>6</a:t>
            </a:r>
          </a:p>
          <a:p>
            <a:pPr algn="ctr"/>
            <a:r>
              <a:rPr lang="en-IN" dirty="0"/>
              <a:t>7</a:t>
            </a:r>
          </a:p>
          <a:p>
            <a:pPr algn="ctr"/>
            <a:r>
              <a:rPr lang="en-IN" dirty="0"/>
              <a:t>8</a:t>
            </a:r>
          </a:p>
          <a:p>
            <a:pPr algn="ctr"/>
            <a:r>
              <a:rPr lang="en-IN" dirty="0"/>
              <a:t>9</a:t>
            </a:r>
          </a:p>
        </p:txBody>
      </p:sp>
      <p:sp>
        <p:nvSpPr>
          <p:cNvPr id="15" name="Rectangle 14">
            <a:extLst>
              <a:ext uri="{FF2B5EF4-FFF2-40B4-BE49-F238E27FC236}">
                <a16:creationId xmlns:a16="http://schemas.microsoft.com/office/drawing/2014/main" id="{F051571E-CB22-41E8-9D55-C5E5DD35A710}"/>
              </a:ext>
            </a:extLst>
          </p:cNvPr>
          <p:cNvSpPr/>
          <p:nvPr/>
        </p:nvSpPr>
        <p:spPr>
          <a:xfrm>
            <a:off x="5826672" y="2425029"/>
            <a:ext cx="990600" cy="2240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a:t>
            </a:r>
          </a:p>
          <a:p>
            <a:pPr algn="ctr"/>
            <a:r>
              <a:rPr lang="en-IN" dirty="0"/>
              <a:t>1</a:t>
            </a:r>
          </a:p>
          <a:p>
            <a:pPr algn="ctr"/>
            <a:r>
              <a:rPr lang="en-IN" dirty="0"/>
              <a:t>2</a:t>
            </a:r>
          </a:p>
          <a:p>
            <a:pPr algn="ctr"/>
            <a:r>
              <a:rPr lang="en-IN" dirty="0"/>
              <a:t>3</a:t>
            </a:r>
          </a:p>
          <a:p>
            <a:pPr algn="ctr"/>
            <a:r>
              <a:rPr lang="en-IN" dirty="0"/>
              <a:t>4</a:t>
            </a:r>
          </a:p>
          <a:p>
            <a:pPr algn="ctr"/>
            <a:r>
              <a:rPr lang="en-IN" dirty="0"/>
              <a:t>5</a:t>
            </a:r>
          </a:p>
          <a:p>
            <a:pPr algn="ctr"/>
            <a:r>
              <a:rPr lang="en-IN" dirty="0"/>
              <a:t>6</a:t>
            </a:r>
          </a:p>
          <a:p>
            <a:pPr algn="ctr"/>
            <a:r>
              <a:rPr lang="en-IN" dirty="0"/>
              <a:t>7</a:t>
            </a:r>
          </a:p>
          <a:p>
            <a:pPr algn="ctr"/>
            <a:r>
              <a:rPr lang="en-IN" dirty="0"/>
              <a:t>8</a:t>
            </a:r>
          </a:p>
          <a:p>
            <a:pPr algn="ctr"/>
            <a:r>
              <a:rPr lang="en-IN" dirty="0"/>
              <a:t>9</a:t>
            </a:r>
          </a:p>
        </p:txBody>
      </p:sp>
      <p:sp>
        <p:nvSpPr>
          <p:cNvPr id="16" name="TextBox 15">
            <a:extLst>
              <a:ext uri="{FF2B5EF4-FFF2-40B4-BE49-F238E27FC236}">
                <a16:creationId xmlns:a16="http://schemas.microsoft.com/office/drawing/2014/main" id="{64A0F1BF-6ECB-4C16-A8DD-70D53CE28EB8}"/>
              </a:ext>
            </a:extLst>
          </p:cNvPr>
          <p:cNvSpPr txBox="1"/>
          <p:nvPr/>
        </p:nvSpPr>
        <p:spPr>
          <a:xfrm>
            <a:off x="7391400" y="3304897"/>
            <a:ext cx="1219200" cy="369332"/>
          </a:xfrm>
          <a:prstGeom prst="rect">
            <a:avLst/>
          </a:prstGeom>
          <a:noFill/>
        </p:spPr>
        <p:txBody>
          <a:bodyPr wrap="square" rtlCol="0">
            <a:spAutoFit/>
          </a:bodyPr>
          <a:lstStyle/>
          <a:p>
            <a:r>
              <a:rPr lang="en-IN" dirty="0"/>
              <a:t>string</a:t>
            </a:r>
          </a:p>
        </p:txBody>
      </p:sp>
    </p:spTree>
    <p:extLst>
      <p:ext uri="{BB962C8B-B14F-4D97-AF65-F5344CB8AC3E}">
        <p14:creationId xmlns:p14="http://schemas.microsoft.com/office/powerpoint/2010/main" val="14435413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3BB70C1C-5ECB-4B54-9A74-83FCDE4B1DF3}"/>
              </a:ext>
            </a:extLst>
          </p:cNvPr>
          <p:cNvSpPr>
            <a:spLocks noGrp="1" noChangeArrowheads="1"/>
          </p:cNvSpPr>
          <p:nvPr>
            <p:ph idx="1"/>
          </p:nvPr>
        </p:nvSpPr>
        <p:spPr bwMode="auto">
          <a:xfrm>
            <a:off x="1143000" y="21021"/>
            <a:ext cx="7467600" cy="14234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inherit"/>
              </a:rPr>
              <a:t>What is the possible use of </a:t>
            </a:r>
            <a:r>
              <a:rPr kumimoji="0" lang="en-US" altLang="en-US" sz="2000" b="0" i="0" u="none" strike="noStrike" cap="none" normalizeH="0" baseline="0" dirty="0" err="1">
                <a:ln>
                  <a:noFill/>
                </a:ln>
                <a:solidFill>
                  <a:schemeClr val="tx1"/>
                </a:solidFill>
                <a:effectLst/>
                <a:latin typeface="inherit"/>
              </a:rPr>
              <a:t>StringWriter</a:t>
            </a:r>
            <a:r>
              <a:rPr kumimoji="0" lang="en-US" altLang="en-US" sz="2000" b="0" i="0" u="none" strike="noStrike" cap="none" normalizeH="0" baseline="0" dirty="0">
                <a:ln>
                  <a:noFill/>
                </a:ln>
                <a:solidFill>
                  <a:schemeClr val="tx1"/>
                </a:solidFill>
                <a:effectLst/>
                <a:latin typeface="inherit"/>
              </a:rPr>
              <a:t> and </a:t>
            </a:r>
            <a:r>
              <a:rPr kumimoji="0" lang="en-US" altLang="en-US" sz="2000" b="0" i="0" u="none" strike="noStrike" cap="none" normalizeH="0" baseline="0" dirty="0" err="1">
                <a:ln>
                  <a:noFill/>
                </a:ln>
                <a:solidFill>
                  <a:schemeClr val="tx1"/>
                </a:solidFill>
                <a:effectLst/>
                <a:latin typeface="inherit"/>
              </a:rPr>
              <a:t>StringReader</a:t>
            </a:r>
            <a:r>
              <a:rPr kumimoji="0" lang="en-US" altLang="en-US" sz="2000" b="0" i="0" u="none" strike="noStrike" cap="none" normalizeH="0" baseline="0" dirty="0">
                <a:ln>
                  <a:noFill/>
                </a:ln>
                <a:solidFill>
                  <a:schemeClr val="tx1"/>
                </a:solidFill>
                <a:effectLst/>
                <a:latin typeface="inherit"/>
              </a:rPr>
              <a:t>, which cannot be done by StringBuilder itself?</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err="1">
                <a:ln>
                  <a:noFill/>
                </a:ln>
                <a:solidFill>
                  <a:srgbClr val="242729"/>
                </a:solidFill>
                <a:effectLst/>
                <a:latin typeface="Consolas" panose="020B0609020204030204" pitchFamily="49" charset="0"/>
                <a:cs typeface="Arial" panose="020B0604020202020204" pitchFamily="34" charset="0"/>
              </a:rPr>
              <a:t>StringReader</a:t>
            </a:r>
            <a:r>
              <a:rPr kumimoji="0" lang="en-US" altLang="en-US" sz="14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 and </a:t>
            </a:r>
            <a:r>
              <a:rPr kumimoji="0" lang="en-US" altLang="en-US" sz="1400" b="0" i="0" u="none" strike="noStrike" cap="none" normalizeH="0" baseline="0" dirty="0" err="1">
                <a:ln>
                  <a:noFill/>
                </a:ln>
                <a:solidFill>
                  <a:srgbClr val="242729"/>
                </a:solidFill>
                <a:effectLst/>
                <a:latin typeface="Consolas" panose="020B0609020204030204" pitchFamily="49" charset="0"/>
                <a:cs typeface="Arial" panose="020B0604020202020204" pitchFamily="34" charset="0"/>
              </a:rPr>
              <a:t>StringWriter</a:t>
            </a:r>
            <a:r>
              <a:rPr kumimoji="0" lang="en-US" altLang="en-US" sz="14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 derive from </a:t>
            </a:r>
            <a:r>
              <a:rPr kumimoji="0" lang="en-US" altLang="en-US" sz="1400" b="0" i="0" u="none" strike="noStrike" cap="none" normalizeH="0" baseline="0" dirty="0" err="1">
                <a:ln>
                  <a:noFill/>
                </a:ln>
                <a:solidFill>
                  <a:srgbClr val="242729"/>
                </a:solidFill>
                <a:effectLst/>
                <a:latin typeface="Consolas" panose="020B0609020204030204" pitchFamily="49" charset="0"/>
                <a:cs typeface="Arial" panose="020B0604020202020204" pitchFamily="34" charset="0"/>
              </a:rPr>
              <a:t>TextReader</a:t>
            </a:r>
            <a:r>
              <a:rPr kumimoji="0" lang="en-US" altLang="en-US" sz="14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 and </a:t>
            </a:r>
            <a:r>
              <a:rPr kumimoji="0" lang="en-US" altLang="en-US" sz="1400" b="0" i="0" u="none" strike="noStrike" cap="none" normalizeH="0" baseline="0" dirty="0" err="1">
                <a:ln>
                  <a:noFill/>
                </a:ln>
                <a:solidFill>
                  <a:srgbClr val="242729"/>
                </a:solidFill>
                <a:effectLst/>
                <a:latin typeface="Consolas" panose="020B0609020204030204" pitchFamily="49" charset="0"/>
                <a:cs typeface="Arial" panose="020B0604020202020204" pitchFamily="34" charset="0"/>
              </a:rPr>
              <a:t>TextWriter</a:t>
            </a:r>
            <a:r>
              <a:rPr kumimoji="0" lang="en-US" altLang="en-US" sz="14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 respectively. So what they can do act as a </a:t>
            </a:r>
            <a:r>
              <a:rPr kumimoji="0" lang="en-US" altLang="en-US" sz="1400" b="0" i="0" u="none" strike="noStrike" cap="none" normalizeH="0" baseline="0" dirty="0" err="1">
                <a:ln>
                  <a:noFill/>
                </a:ln>
                <a:solidFill>
                  <a:srgbClr val="242729"/>
                </a:solidFill>
                <a:effectLst/>
                <a:latin typeface="Consolas" panose="020B0609020204030204" pitchFamily="49" charset="0"/>
                <a:cs typeface="Arial" panose="020B0604020202020204" pitchFamily="34" charset="0"/>
              </a:rPr>
              <a:t>TextReader</a:t>
            </a:r>
            <a:r>
              <a:rPr kumimoji="0" lang="en-US" altLang="en-US" sz="14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 or </a:t>
            </a:r>
            <a:r>
              <a:rPr kumimoji="0" lang="en-US" altLang="en-US" sz="1400" b="0" i="0" u="none" strike="noStrike" cap="none" normalizeH="0" baseline="0" dirty="0" err="1">
                <a:ln>
                  <a:noFill/>
                </a:ln>
                <a:solidFill>
                  <a:srgbClr val="242729"/>
                </a:solidFill>
                <a:effectLst/>
                <a:latin typeface="Consolas" panose="020B0609020204030204" pitchFamily="49" charset="0"/>
                <a:cs typeface="Arial" panose="020B0604020202020204" pitchFamily="34" charset="0"/>
              </a:rPr>
              <a:t>TextWriter</a:t>
            </a:r>
            <a:r>
              <a:rPr kumimoji="0" lang="en-US" altLang="en-US" sz="14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 instance, which </a:t>
            </a:r>
            <a:r>
              <a:rPr kumimoji="0" lang="en-US" altLang="en-US" sz="1400" b="0" i="0" u="none" strike="noStrike" cap="none" normalizeH="0" baseline="0" dirty="0">
                <a:ln>
                  <a:noFill/>
                </a:ln>
                <a:solidFill>
                  <a:srgbClr val="242729"/>
                </a:solidFill>
                <a:effectLst/>
                <a:latin typeface="Consolas" panose="020B0609020204030204" pitchFamily="49" charset="0"/>
                <a:cs typeface="Arial" panose="020B0604020202020204" pitchFamily="34" charset="0"/>
              </a:rPr>
              <a:t>string</a:t>
            </a:r>
            <a:r>
              <a:rPr kumimoji="0" lang="en-US" altLang="en-US" sz="14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 or </a:t>
            </a:r>
            <a:r>
              <a:rPr kumimoji="0" lang="en-US" altLang="en-US" sz="1400" b="0" i="0" u="none" strike="noStrike" cap="none" normalizeH="0" baseline="0" dirty="0">
                <a:ln>
                  <a:noFill/>
                </a:ln>
                <a:solidFill>
                  <a:srgbClr val="242729"/>
                </a:solidFill>
                <a:effectLst/>
                <a:latin typeface="Consolas" panose="020B0609020204030204" pitchFamily="49" charset="0"/>
                <a:cs typeface="Arial" panose="020B0604020202020204" pitchFamily="34" charset="0"/>
              </a:rPr>
              <a:t>StringBuilder</a:t>
            </a:r>
            <a:r>
              <a:rPr kumimoji="0" lang="en-US" altLang="en-US" sz="14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 cannot because they do not derive either of those types.</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4FF991AE-D901-49F7-BB9A-1DFCA51CEAEB}"/>
              </a:ext>
            </a:extLst>
          </p:cNvPr>
          <p:cNvSpPr txBox="1"/>
          <p:nvPr/>
        </p:nvSpPr>
        <p:spPr>
          <a:xfrm>
            <a:off x="228600" y="2209800"/>
            <a:ext cx="8153400" cy="3600986"/>
          </a:xfrm>
          <a:prstGeom prst="rect">
            <a:avLst/>
          </a:prstGeom>
          <a:noFill/>
        </p:spPr>
        <p:txBody>
          <a:bodyPr wrap="square" rtlCol="0">
            <a:spAutoFit/>
          </a:bodyPr>
          <a:lstStyle/>
          <a:p>
            <a:r>
              <a:rPr lang="en-US" dirty="0"/>
              <a:t>If you want output that will span multiple lines in memory, why bother remembering to put "\r\n" at the end of every line with a StringBuilder? What if you want the code to run on or format data for a system that only uses "\n" for line breaks?</a:t>
            </a:r>
          </a:p>
          <a:p>
            <a:endParaRPr lang="en-US" dirty="0"/>
          </a:p>
          <a:p>
            <a:r>
              <a:rPr lang="en-IN" sz="1200" dirty="0">
                <a:solidFill>
                  <a:srgbClr val="000000"/>
                </a:solidFill>
                <a:latin typeface="Cascadia Mono" panose="020B0609020000020004" pitchFamily="49" charset="0"/>
              </a:rPr>
              <a:t>StringBuilder </a:t>
            </a:r>
            <a:r>
              <a:rPr lang="en-IN" sz="1200" dirty="0" err="1">
                <a:solidFill>
                  <a:srgbClr val="000000"/>
                </a:solidFill>
                <a:latin typeface="Cascadia Mono" panose="020B0609020000020004" pitchFamily="49" charset="0"/>
              </a:rPr>
              <a:t>sb</a:t>
            </a:r>
            <a:r>
              <a:rPr lang="en-IN" sz="1200" dirty="0">
                <a:solidFill>
                  <a:srgbClr val="000000"/>
                </a:solidFill>
                <a:latin typeface="Cascadia Mono" panose="020B0609020000020004" pitchFamily="49" charset="0"/>
              </a:rPr>
              <a:t> = </a:t>
            </a:r>
            <a:r>
              <a:rPr lang="en-IN" sz="1200" dirty="0">
                <a:solidFill>
                  <a:srgbClr val="0000FF"/>
                </a:solidFill>
                <a:latin typeface="Cascadia Mono" panose="020B0609020000020004" pitchFamily="49" charset="0"/>
              </a:rPr>
              <a:t>new</a:t>
            </a:r>
            <a:r>
              <a:rPr lang="en-IN" sz="1200" dirty="0">
                <a:solidFill>
                  <a:srgbClr val="000000"/>
                </a:solidFill>
                <a:latin typeface="Cascadia Mono" panose="020B0609020000020004" pitchFamily="49" charset="0"/>
              </a:rPr>
              <a:t> StringBuilder();</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will be invalid on systems that only use \n</a:t>
            </a:r>
            <a:endParaRPr lang="en-US"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sb.AppendFormat</a:t>
            </a:r>
            <a:r>
              <a:rPr lang="en-IN" sz="1200" dirty="0">
                <a:solidFill>
                  <a:srgbClr val="000000"/>
                </a:solidFill>
                <a:latin typeface="Cascadia Mono" panose="020B0609020000020004" pitchFamily="49" charset="0"/>
              </a:rPr>
              <a:t>(</a:t>
            </a:r>
            <a:r>
              <a:rPr lang="en-IN" sz="1200" dirty="0">
                <a:solidFill>
                  <a:srgbClr val="A31515"/>
                </a:solidFill>
                <a:latin typeface="Cascadia Mono" panose="020B0609020000020004" pitchFamily="49" charset="0"/>
              </a:rPr>
              <a:t>"{0:yyyy-MM-dd </a:t>
            </a:r>
            <a:r>
              <a:rPr lang="en-IN" sz="1200" dirty="0" err="1">
                <a:solidFill>
                  <a:srgbClr val="A31515"/>
                </a:solidFill>
                <a:latin typeface="Cascadia Mono" panose="020B0609020000020004" pitchFamily="49" charset="0"/>
              </a:rPr>
              <a:t>HH:mm:ss</a:t>
            </a:r>
            <a:r>
              <a:rPr lang="en-IN" sz="1200" dirty="0">
                <a:solidFill>
                  <a:srgbClr val="A31515"/>
                </a:solidFill>
                <a:latin typeface="Cascadia Mono" panose="020B0609020000020004" pitchFamily="49" charset="0"/>
              </a:rPr>
              <a:t>} - Start\n"</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DateTime.Now</a:t>
            </a:r>
            <a:r>
              <a:rPr lang="en-IN"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still have to add an extra parameter</a:t>
            </a:r>
            <a:endParaRPr lang="en-US"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sb.AppendFormat</a:t>
            </a:r>
            <a:r>
              <a:rPr lang="en-IN" sz="1100" dirty="0">
                <a:solidFill>
                  <a:srgbClr val="000000"/>
                </a:solidFill>
                <a:latin typeface="Cascadia Mono" panose="020B0609020000020004" pitchFamily="49" charset="0"/>
              </a:rPr>
              <a:t>(</a:t>
            </a:r>
            <a:r>
              <a:rPr lang="en-IN" sz="1100" dirty="0">
                <a:solidFill>
                  <a:srgbClr val="A31515"/>
                </a:solidFill>
                <a:latin typeface="Cascadia Mono" panose="020B0609020000020004" pitchFamily="49" charset="0"/>
              </a:rPr>
              <a:t>"The current time is {0:yyyy-MM-dd </a:t>
            </a:r>
            <a:r>
              <a:rPr lang="en-IN" sz="1100" dirty="0" err="1">
                <a:solidFill>
                  <a:srgbClr val="A31515"/>
                </a:solidFill>
                <a:latin typeface="Cascadia Mono" panose="020B0609020000020004" pitchFamily="49" charset="0"/>
              </a:rPr>
              <a:t>HH:mm:ss</a:t>
            </a:r>
            <a:r>
              <a:rPr lang="en-IN" sz="1100" dirty="0">
                <a:solidFill>
                  <a:srgbClr val="A31515"/>
                </a:solidFill>
                <a:latin typeface="Cascadia Mono" panose="020B0609020000020004" pitchFamily="49" charset="0"/>
              </a:rPr>
              <a:t>}\n"</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DateTime.Now</a:t>
            </a:r>
            <a:r>
              <a:rPr lang="en-IN" sz="1100" dirty="0">
                <a:solidFill>
                  <a:srgbClr val="000000"/>
                </a:solidFill>
                <a:latin typeface="Cascadia Mono" panose="020B0609020000020004" pitchFamily="49" charset="0"/>
              </a:rPr>
              <a:t>);</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Console.WriteLine</a:t>
            </a:r>
            <a:r>
              <a:rPr lang="en-IN" sz="1200" dirty="0">
                <a:solidFill>
                  <a:srgbClr val="000000"/>
                </a:solidFill>
                <a:latin typeface="Cascadia Mono" panose="020B0609020000020004" pitchFamily="49" charset="0"/>
              </a:rPr>
              <a:t>(</a:t>
            </a:r>
            <a:r>
              <a:rPr lang="en-IN" sz="1200" dirty="0" err="1">
                <a:solidFill>
                  <a:srgbClr val="000000"/>
                </a:solidFill>
                <a:latin typeface="Cascadia Mono" panose="020B0609020000020004" pitchFamily="49" charset="0"/>
              </a:rPr>
              <a:t>sb</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StringWriter</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sw</a:t>
            </a:r>
            <a:r>
              <a:rPr lang="en-IN" sz="1200" dirty="0">
                <a:solidFill>
                  <a:srgbClr val="000000"/>
                </a:solidFill>
                <a:latin typeface="Cascadia Mono" panose="020B0609020000020004" pitchFamily="49" charset="0"/>
              </a:rPr>
              <a:t> = </a:t>
            </a:r>
            <a:r>
              <a:rPr lang="en-IN" sz="1200" dirty="0">
                <a:solidFill>
                  <a:srgbClr val="0000FF"/>
                </a:solidFill>
                <a:latin typeface="Cascadia Mono" panose="020B0609020000020004" pitchFamily="49" charset="0"/>
              </a:rPr>
              <a:t>new</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StringWriter</a:t>
            </a:r>
            <a:r>
              <a:rPr lang="en-IN"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Don't have to worry about it, method name tells you there's a line break</a:t>
            </a:r>
            <a:endParaRPr lang="en-US"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sw.WriteLine</a:t>
            </a:r>
            <a:r>
              <a:rPr lang="en-IN" sz="1200" dirty="0">
                <a:solidFill>
                  <a:srgbClr val="000000"/>
                </a:solidFill>
                <a:latin typeface="Cascadia Mono" panose="020B0609020000020004" pitchFamily="49" charset="0"/>
              </a:rPr>
              <a:t>(</a:t>
            </a:r>
            <a:r>
              <a:rPr lang="en-IN" sz="1200" dirty="0">
                <a:solidFill>
                  <a:srgbClr val="A31515"/>
                </a:solidFill>
                <a:latin typeface="Cascadia Mono" panose="020B0609020000020004" pitchFamily="49" charset="0"/>
              </a:rPr>
              <a:t>"{0:yyyy-MM-dd </a:t>
            </a:r>
            <a:r>
              <a:rPr lang="en-IN" sz="1200" dirty="0" err="1">
                <a:solidFill>
                  <a:srgbClr val="A31515"/>
                </a:solidFill>
                <a:latin typeface="Cascadia Mono" panose="020B0609020000020004" pitchFamily="49" charset="0"/>
              </a:rPr>
              <a:t>HH:mm:ss</a:t>
            </a:r>
            <a:r>
              <a:rPr lang="en-IN" sz="1200" dirty="0">
                <a:solidFill>
                  <a:srgbClr val="A31515"/>
                </a:solidFill>
                <a:latin typeface="Cascadia Mono" panose="020B0609020000020004" pitchFamily="49" charset="0"/>
              </a:rPr>
              <a:t>} - Start"</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DateTime.Now</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a:solidFill>
                  <a:srgbClr val="008000"/>
                </a:solidFill>
                <a:latin typeface="Cascadia Mono" panose="020B0609020000020004" pitchFamily="49" charset="0"/>
              </a:rPr>
              <a:t>// no extra parameters</a:t>
            </a:r>
            <a:endParaRPr lang="en-IN"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sw.WriteLine</a:t>
            </a:r>
            <a:r>
              <a:rPr lang="en-US" sz="1200" dirty="0">
                <a:solidFill>
                  <a:srgbClr val="000000"/>
                </a:solidFill>
                <a:latin typeface="Cascadia Mono" panose="020B0609020000020004" pitchFamily="49" charset="0"/>
              </a:rPr>
              <a:t>(</a:t>
            </a:r>
            <a:r>
              <a:rPr lang="en-US" sz="1200" dirty="0">
                <a:solidFill>
                  <a:srgbClr val="A31515"/>
                </a:solidFill>
                <a:latin typeface="Cascadia Mono" panose="020B0609020000020004" pitchFamily="49" charset="0"/>
              </a:rPr>
              <a:t>"The current time is {0:yyyy-MM-dd </a:t>
            </a:r>
            <a:r>
              <a:rPr lang="en-US" sz="1200" dirty="0" err="1">
                <a:solidFill>
                  <a:srgbClr val="A31515"/>
                </a:solidFill>
                <a:latin typeface="Cascadia Mono" panose="020B0609020000020004" pitchFamily="49" charset="0"/>
              </a:rPr>
              <a:t>HH:mm:ss</a:t>
            </a:r>
            <a:r>
              <a:rPr lang="en-US" sz="1200" dirty="0">
                <a:solidFill>
                  <a:srgbClr val="A31515"/>
                </a:solidFill>
                <a:latin typeface="Cascadia Mono" panose="020B0609020000020004" pitchFamily="49" charset="0"/>
              </a:rPr>
              <a:t>}"</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DateTime.Now</a:t>
            </a:r>
            <a:r>
              <a:rPr lang="en-US"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Console.WriteLine</a:t>
            </a:r>
            <a:r>
              <a:rPr lang="en-IN" sz="1200" dirty="0">
                <a:solidFill>
                  <a:srgbClr val="000000"/>
                </a:solidFill>
                <a:latin typeface="Cascadia Mono" panose="020B0609020000020004" pitchFamily="49" charset="0"/>
              </a:rPr>
              <a:t>(</a:t>
            </a:r>
            <a:r>
              <a:rPr lang="en-IN" sz="1200" dirty="0" err="1">
                <a:solidFill>
                  <a:srgbClr val="000000"/>
                </a:solidFill>
                <a:latin typeface="Cascadia Mono" panose="020B0609020000020004" pitchFamily="49" charset="0"/>
              </a:rPr>
              <a:t>sw</a:t>
            </a:r>
            <a:r>
              <a:rPr lang="en-IN" sz="1200" dirty="0">
                <a:solidFill>
                  <a:srgbClr val="000000"/>
                </a:solidFill>
                <a:latin typeface="Cascadia Mono" panose="020B0609020000020004" pitchFamily="49" charset="0"/>
              </a:rPr>
              <a:t>);</a:t>
            </a:r>
            <a:endParaRPr lang="en-US" dirty="0"/>
          </a:p>
        </p:txBody>
      </p:sp>
    </p:spTree>
    <p:extLst>
      <p:ext uri="{BB962C8B-B14F-4D97-AF65-F5344CB8AC3E}">
        <p14:creationId xmlns:p14="http://schemas.microsoft.com/office/powerpoint/2010/main" val="1135166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AC26E-5A26-4D50-A95A-2F68DBB028E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AC23BD6-FC6B-4586-A3A9-A7E38D431505}"/>
              </a:ext>
            </a:extLst>
          </p:cNvPr>
          <p:cNvSpPr>
            <a:spLocks noGrp="1"/>
          </p:cNvSpPr>
          <p:nvPr>
            <p:ph idx="1"/>
          </p:nvPr>
        </p:nvSpPr>
        <p:spPr/>
        <p:txBody>
          <a:bodyPr>
            <a:normAutofit/>
          </a:bodyPr>
          <a:lstStyle/>
          <a:p>
            <a:pPr marL="0" indent="0">
              <a:buNone/>
            </a:pPr>
            <a:endParaRPr lang="en-US" dirty="0"/>
          </a:p>
          <a:p>
            <a:pPr marL="0" indent="0">
              <a:buNone/>
            </a:pPr>
            <a:r>
              <a:rPr lang="en-US" dirty="0"/>
              <a:t>Say you want to process a file line by line, you would probably use a </a:t>
            </a:r>
            <a:r>
              <a:rPr lang="en-US" dirty="0" err="1"/>
              <a:t>StreamReader</a:t>
            </a:r>
            <a:r>
              <a:rPr lang="en-US" dirty="0"/>
              <a:t> instead of loading the whole file into a StringBuilder and splitting it by newline characters into an array</a:t>
            </a:r>
            <a:endParaRPr lang="en-IN" dirty="0"/>
          </a:p>
          <a:p>
            <a:pPr marL="0" indent="0">
              <a:buNone/>
            </a:pPr>
            <a:endParaRPr lang="en-IN" dirty="0"/>
          </a:p>
        </p:txBody>
      </p:sp>
    </p:spTree>
    <p:extLst>
      <p:ext uri="{BB962C8B-B14F-4D97-AF65-F5344CB8AC3E}">
        <p14:creationId xmlns:p14="http://schemas.microsoft.com/office/powerpoint/2010/main" val="34083222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B2A39-E207-42F5-AC4F-90D5BC3C62D9}"/>
              </a:ext>
            </a:extLst>
          </p:cNvPr>
          <p:cNvSpPr>
            <a:spLocks noGrp="1"/>
          </p:cNvSpPr>
          <p:nvPr>
            <p:ph type="title"/>
          </p:nvPr>
        </p:nvSpPr>
        <p:spPr>
          <a:xfrm>
            <a:off x="990600" y="274638"/>
            <a:ext cx="7696200" cy="457199"/>
          </a:xfrm>
        </p:spPr>
        <p:txBody>
          <a:bodyPr>
            <a:noAutofit/>
          </a:bodyPr>
          <a:lstStyle/>
          <a:p>
            <a:r>
              <a:rPr lang="en-IN" sz="3200" dirty="0"/>
              <a:t> static File  class: if you need to use frequently</a:t>
            </a:r>
          </a:p>
        </p:txBody>
      </p:sp>
      <p:sp>
        <p:nvSpPr>
          <p:cNvPr id="3" name="Content Placeholder 2">
            <a:extLst>
              <a:ext uri="{FF2B5EF4-FFF2-40B4-BE49-F238E27FC236}">
                <a16:creationId xmlns:a16="http://schemas.microsoft.com/office/drawing/2014/main" id="{1F415277-C675-4694-BA8B-593475FE4B24}"/>
              </a:ext>
            </a:extLst>
          </p:cNvPr>
          <p:cNvSpPr>
            <a:spLocks noGrp="1"/>
          </p:cNvSpPr>
          <p:nvPr>
            <p:ph idx="1"/>
          </p:nvPr>
        </p:nvSpPr>
        <p:spPr>
          <a:xfrm>
            <a:off x="381000" y="838200"/>
            <a:ext cx="8305800" cy="5287963"/>
          </a:xfrm>
        </p:spPr>
        <p:txBody>
          <a:bodyPr>
            <a:normAutofit fontScale="77500" lnSpcReduction="20000"/>
          </a:bodyPr>
          <a:lstStyle/>
          <a:p>
            <a:pPr marL="0" indent="0">
              <a:buNone/>
            </a:pPr>
            <a:r>
              <a:rPr lang="en-IN" sz="1800" dirty="0">
                <a:solidFill>
                  <a:srgbClr val="0000FF"/>
                </a:solidFill>
                <a:highlight>
                  <a:srgbClr val="FFFFFF"/>
                </a:highlight>
                <a:latin typeface="Consolas" panose="020B0609020204030204" pitchFamily="49" charset="0"/>
              </a:rPr>
              <a:t>using</a:t>
            </a:r>
            <a:r>
              <a:rPr lang="en-IN" sz="1800" dirty="0">
                <a:solidFill>
                  <a:srgbClr val="000000"/>
                </a:solidFill>
                <a:highlight>
                  <a:srgbClr val="FFFFFF"/>
                </a:highlight>
                <a:latin typeface="Consolas" panose="020B0609020204030204" pitchFamily="49" charset="0"/>
              </a:rPr>
              <a:t> System;</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FF"/>
                </a:solidFill>
                <a:highlight>
                  <a:srgbClr val="FFFFFF"/>
                </a:highlight>
                <a:latin typeface="Consolas" panose="020B0609020204030204" pitchFamily="49" charset="0"/>
              </a:rPr>
              <a:t>using</a:t>
            </a:r>
            <a:r>
              <a:rPr lang="en-IN" sz="1800" dirty="0">
                <a:solidFill>
                  <a:srgbClr val="000000"/>
                </a:solidFill>
                <a:highlight>
                  <a:srgbClr val="FFFFFF"/>
                </a:highlight>
                <a:latin typeface="Consolas" panose="020B0609020204030204" pitchFamily="49" charset="0"/>
              </a:rPr>
              <a:t> System.IO;</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FF"/>
                </a:solidFill>
                <a:highlight>
                  <a:srgbClr val="FFFFFF"/>
                </a:highlight>
                <a:latin typeface="Consolas" panose="020B0609020204030204" pitchFamily="49" charset="0"/>
              </a:rPr>
              <a:t>namespace</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Textreader.cs</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class</a:t>
            </a:r>
            <a:r>
              <a:rPr lang="en-IN" sz="1800" dirty="0">
                <a:solidFill>
                  <a:srgbClr val="000000"/>
                </a:solidFill>
                <a:highlight>
                  <a:srgbClr val="FFFFFF"/>
                </a:highlight>
                <a:latin typeface="Consolas" panose="020B0609020204030204" pitchFamily="49" charset="0"/>
              </a:rPr>
              <a:t> </a:t>
            </a:r>
            <a:r>
              <a:rPr lang="en-IN" sz="1800" dirty="0">
                <a:solidFill>
                  <a:srgbClr val="2B91AF"/>
                </a:solidFill>
                <a:highlight>
                  <a:srgbClr val="FFFFFF"/>
                </a:highlight>
                <a:latin typeface="Consolas" panose="020B0609020204030204" pitchFamily="49" charset="0"/>
              </a:rPr>
              <a:t>Program</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static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void</a:t>
            </a:r>
            <a:r>
              <a:rPr lang="en-US" sz="1800" dirty="0">
                <a:solidFill>
                  <a:srgbClr val="000000"/>
                </a:solidFill>
                <a:highlight>
                  <a:srgbClr val="FFFFFF"/>
                </a:highlight>
                <a:latin typeface="Consolas" panose="020B0609020204030204" pitchFamily="49" charset="0"/>
              </a:rPr>
              <a:t> Main(</a:t>
            </a:r>
            <a:r>
              <a:rPr lang="en-US" sz="1800" dirty="0">
                <a:solidFill>
                  <a:srgbClr val="0000FF"/>
                </a:solidFill>
                <a:highlight>
                  <a:srgbClr val="FFFFFF"/>
                </a:highlight>
                <a:latin typeface="Consolas" panose="020B0609020204030204" pitchFamily="49" charset="0"/>
              </a:rPr>
              <a:t>string</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args</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TextReader</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textr</a:t>
            </a:r>
            <a:r>
              <a:rPr lang="en-US" sz="1800" dirty="0">
                <a:solidFill>
                  <a:srgbClr val="000000"/>
                </a:solidFill>
                <a:highlight>
                  <a:srgbClr val="FFFFFF"/>
                </a:highlight>
                <a:latin typeface="Consolas" panose="020B0609020204030204" pitchFamily="49" charset="0"/>
              </a:rPr>
              <a:t> = </a:t>
            </a:r>
            <a:r>
              <a:rPr lang="en-US" sz="1800" dirty="0" err="1">
                <a:solidFill>
                  <a:srgbClr val="2B91AF"/>
                </a:solidFill>
                <a:highlight>
                  <a:srgbClr val="FFFFFF"/>
                </a:highlight>
                <a:latin typeface="Consolas" panose="020B0609020204030204" pitchFamily="49" charset="0"/>
              </a:rPr>
              <a:t>File</a:t>
            </a:r>
            <a:r>
              <a:rPr lang="en-US" sz="1800" dirty="0" err="1">
                <a:solidFill>
                  <a:srgbClr val="000000"/>
                </a:solidFill>
                <a:highlight>
                  <a:srgbClr val="FFFFFF"/>
                </a:highlight>
                <a:latin typeface="Consolas" panose="020B0609020204030204" pitchFamily="49" charset="0"/>
              </a:rPr>
              <a:t>.OpenText</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"test.txt"</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.WriteLine</a:t>
            </a:r>
            <a:r>
              <a:rPr lang="en-IN" sz="1800" dirty="0">
                <a:solidFill>
                  <a:srgbClr val="000000"/>
                </a:solidFill>
                <a:highlight>
                  <a:srgbClr val="FFFFFF"/>
                </a:highlight>
                <a:latin typeface="Consolas" panose="020B0609020204030204" pitchFamily="49" charset="0"/>
              </a:rPr>
              <a:t>(</a:t>
            </a:r>
            <a:r>
              <a:rPr lang="en-IN" sz="1800" dirty="0" err="1">
                <a:solidFill>
                  <a:srgbClr val="000000"/>
                </a:solidFill>
                <a:highlight>
                  <a:srgbClr val="FFFFFF"/>
                </a:highlight>
                <a:latin typeface="Consolas" panose="020B0609020204030204" pitchFamily="49" charset="0"/>
              </a:rPr>
              <a:t>textr.ReadToEnd</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textr.Close</a:t>
            </a:r>
            <a:r>
              <a:rPr lang="en-IN" sz="1800" dirty="0">
                <a:solidFill>
                  <a:srgbClr val="000000"/>
                </a:solidFill>
                <a:highlight>
                  <a:srgbClr val="FFFFFF"/>
                </a:highlight>
                <a:latin typeface="Consolas" panose="020B0609020204030204" pitchFamily="49" charset="0"/>
              </a:rPr>
              <a:t>();</a:t>
            </a:r>
          </a:p>
          <a:p>
            <a:pPr marL="0" indent="0">
              <a:buNone/>
            </a:pP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StreamReader</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sr</a:t>
            </a:r>
            <a:r>
              <a:rPr lang="en-US" sz="1800" dirty="0">
                <a:solidFill>
                  <a:srgbClr val="000000"/>
                </a:solidFill>
                <a:highlight>
                  <a:srgbClr val="FFFFFF"/>
                </a:highlight>
                <a:latin typeface="Consolas" panose="020B0609020204030204" pitchFamily="49" charset="0"/>
              </a:rPr>
              <a:t> = </a:t>
            </a:r>
            <a:r>
              <a:rPr lang="en-US" sz="1800" dirty="0">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StreamReader</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"test.txt"</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string</a:t>
            </a:r>
            <a:r>
              <a:rPr lang="en-IN" sz="1800" dirty="0">
                <a:solidFill>
                  <a:srgbClr val="000000"/>
                </a:solidFill>
                <a:highlight>
                  <a:srgbClr val="FFFFFF"/>
                </a:highlight>
                <a:latin typeface="Consolas" panose="020B0609020204030204" pitchFamily="49" charset="0"/>
              </a:rPr>
              <a:t> input;</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while</a:t>
            </a:r>
            <a:r>
              <a:rPr lang="en-US" sz="1800" dirty="0">
                <a:solidFill>
                  <a:srgbClr val="000000"/>
                </a:solidFill>
                <a:highlight>
                  <a:srgbClr val="FFFFFF"/>
                </a:highlight>
                <a:latin typeface="Consolas" panose="020B0609020204030204" pitchFamily="49" charset="0"/>
              </a:rPr>
              <a:t> ((input = </a:t>
            </a:r>
            <a:r>
              <a:rPr lang="en-US" sz="1800" dirty="0" err="1">
                <a:solidFill>
                  <a:srgbClr val="000000"/>
                </a:solidFill>
                <a:highlight>
                  <a:srgbClr val="FFFFFF"/>
                </a:highlight>
                <a:latin typeface="Consolas" panose="020B0609020204030204" pitchFamily="49" charset="0"/>
              </a:rPr>
              <a:t>sr.ReadLine</a:t>
            </a:r>
            <a:r>
              <a:rPr lang="en-US" sz="1800" dirty="0">
                <a:solidFill>
                  <a:srgbClr val="000000"/>
                </a:solidFill>
                <a:highlight>
                  <a:srgbClr val="FFFFFF"/>
                </a:highlight>
                <a:latin typeface="Consolas" panose="020B0609020204030204" pitchFamily="49" charset="0"/>
              </a:rPr>
              <a:t>()) != </a:t>
            </a:r>
            <a:r>
              <a:rPr lang="en-US" sz="1800" dirty="0">
                <a:solidFill>
                  <a:srgbClr val="0000FF"/>
                </a:solidFill>
                <a:highlight>
                  <a:srgbClr val="FFFFFF"/>
                </a:highlight>
                <a:latin typeface="Consolas" panose="020B0609020204030204" pitchFamily="49" charset="0"/>
              </a:rPr>
              <a:t>null</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.WriteLine</a:t>
            </a:r>
            <a:r>
              <a:rPr lang="en-IN" sz="1800" dirty="0">
                <a:solidFill>
                  <a:srgbClr val="000000"/>
                </a:solidFill>
                <a:highlight>
                  <a:srgbClr val="FFFFFF"/>
                </a:highlight>
                <a:latin typeface="Consolas" panose="020B0609020204030204" pitchFamily="49" charset="0"/>
              </a:rPr>
              <a:t>(input);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sr.Close</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.ReadKey</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a:t>
            </a:r>
          </a:p>
          <a:p>
            <a:pPr marL="0" indent="0">
              <a:buNone/>
            </a:pPr>
            <a:endParaRPr lang="en-IN" dirty="0"/>
          </a:p>
        </p:txBody>
      </p:sp>
    </p:spTree>
    <p:extLst>
      <p:ext uri="{BB962C8B-B14F-4D97-AF65-F5344CB8AC3E}">
        <p14:creationId xmlns:p14="http://schemas.microsoft.com/office/powerpoint/2010/main" val="34069145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20A3F-C2D2-4493-913D-56839BD49E14}"/>
              </a:ext>
            </a:extLst>
          </p:cNvPr>
          <p:cNvSpPr>
            <a:spLocks noGrp="1"/>
          </p:cNvSpPr>
          <p:nvPr>
            <p:ph type="title"/>
          </p:nvPr>
        </p:nvSpPr>
        <p:spPr>
          <a:xfrm>
            <a:off x="762000" y="274638"/>
            <a:ext cx="7924800" cy="457199"/>
          </a:xfrm>
        </p:spPr>
        <p:txBody>
          <a:bodyPr>
            <a:normAutofit fontScale="90000"/>
          </a:bodyPr>
          <a:lstStyle/>
          <a:p>
            <a:r>
              <a:rPr lang="en-IN" dirty="0"/>
              <a:t>Lets convert one example </a:t>
            </a:r>
          </a:p>
        </p:txBody>
      </p:sp>
      <p:sp>
        <p:nvSpPr>
          <p:cNvPr id="3" name="Content Placeholder 2">
            <a:extLst>
              <a:ext uri="{FF2B5EF4-FFF2-40B4-BE49-F238E27FC236}">
                <a16:creationId xmlns:a16="http://schemas.microsoft.com/office/drawing/2014/main" id="{C89B6B6C-4282-48C6-BBE5-C35E2FD50AD7}"/>
              </a:ext>
            </a:extLst>
          </p:cNvPr>
          <p:cNvSpPr>
            <a:spLocks noGrp="1"/>
          </p:cNvSpPr>
          <p:nvPr>
            <p:ph idx="1"/>
          </p:nvPr>
        </p:nvSpPr>
        <p:spPr>
          <a:xfrm>
            <a:off x="152400" y="914400"/>
            <a:ext cx="8534400" cy="5211763"/>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System.IO;</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DtoS</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FileStream</a:t>
            </a:r>
            <a:r>
              <a:rPr lang="en-US" sz="1200" dirty="0">
                <a:solidFill>
                  <a:srgbClr val="000000"/>
                </a:solidFill>
                <a:highlight>
                  <a:srgbClr val="FFFFFF"/>
                </a:highlight>
                <a:latin typeface="Consolas" panose="020B0609020204030204" pitchFamily="49" charset="0"/>
              </a:rPr>
              <a:t> fin=</a:t>
            </a:r>
            <a:r>
              <a:rPr lang="en-US" sz="1200" dirty="0" err="1">
                <a:solidFill>
                  <a:srgbClr val="2B91AF"/>
                </a:solidFill>
                <a:highlight>
                  <a:srgbClr val="FFFFFF"/>
                </a:highlight>
                <a:latin typeface="Consolas" panose="020B0609020204030204" pitchFamily="49" charset="0"/>
              </a:rPr>
              <a:t>File</a:t>
            </a:r>
            <a:r>
              <a:rPr lang="en-US" sz="1200" dirty="0" err="1">
                <a:solidFill>
                  <a:srgbClr val="000000"/>
                </a:solidFill>
                <a:highlight>
                  <a:srgbClr val="FFFFFF"/>
                </a:highlight>
                <a:latin typeface="Consolas" panose="020B0609020204030204" pitchFamily="49" charset="0"/>
              </a:rPr>
              <a:t>.Open</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"test.txt"</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FileMode</a:t>
            </a:r>
            <a:r>
              <a:rPr lang="en-US" sz="1200" dirty="0" err="1">
                <a:solidFill>
                  <a:srgbClr val="000000"/>
                </a:solidFill>
                <a:highlight>
                  <a:srgbClr val="FFFFFF"/>
                </a:highlight>
                <a:latin typeface="Consolas" panose="020B0609020204030204" pitchFamily="49" charset="0"/>
              </a:rPr>
              <a:t>.Open</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s;</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StreamReader</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fstr_in</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StreamReader</a:t>
            </a:r>
            <a:r>
              <a:rPr lang="en-US" sz="1200" dirty="0">
                <a:solidFill>
                  <a:srgbClr val="000000"/>
                </a:solidFill>
                <a:highlight>
                  <a:srgbClr val="FFFFFF"/>
                </a:highlight>
                <a:latin typeface="Consolas" panose="020B0609020204030204" pitchFamily="49" charset="0"/>
              </a:rPr>
              <a:t>(fin);</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while</a:t>
            </a:r>
            <a:r>
              <a:rPr lang="en-US" sz="1200" dirty="0">
                <a:solidFill>
                  <a:srgbClr val="000000"/>
                </a:solidFill>
                <a:highlight>
                  <a:srgbClr val="FFFFFF"/>
                </a:highlight>
                <a:latin typeface="Consolas" panose="020B0609020204030204" pitchFamily="49" charset="0"/>
              </a:rPr>
              <a:t> ((s = </a:t>
            </a:r>
            <a:r>
              <a:rPr lang="en-US" sz="1200" dirty="0" err="1">
                <a:solidFill>
                  <a:srgbClr val="000000"/>
                </a:solidFill>
                <a:highlight>
                  <a:srgbClr val="FFFFFF"/>
                </a:highlight>
                <a:latin typeface="Consolas" panose="020B0609020204030204" pitchFamily="49" charset="0"/>
              </a:rPr>
              <a:t>fstr_in.ReadLine</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null</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(s);</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fstr_in.Close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a:t>
            </a:r>
            <a:endParaRPr lang="en-IN" sz="1200" dirty="0"/>
          </a:p>
        </p:txBody>
      </p:sp>
    </p:spTree>
    <p:extLst>
      <p:ext uri="{BB962C8B-B14F-4D97-AF65-F5344CB8AC3E}">
        <p14:creationId xmlns:p14="http://schemas.microsoft.com/office/powerpoint/2010/main" val="29293860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904176D-9D9C-502E-3082-AA3086DB4A74}"/>
              </a:ext>
            </a:extLst>
          </p:cNvPr>
          <p:cNvSpPr txBox="1"/>
          <p:nvPr/>
        </p:nvSpPr>
        <p:spPr>
          <a:xfrm>
            <a:off x="990600" y="-76200"/>
            <a:ext cx="7162800" cy="923330"/>
          </a:xfrm>
          <a:prstGeom prst="rect">
            <a:avLst/>
          </a:prstGeom>
          <a:noFill/>
        </p:spPr>
        <p:txBody>
          <a:bodyPr wrap="square">
            <a:spAutoFit/>
          </a:bodyPr>
          <a:lstStyle/>
          <a:p>
            <a:r>
              <a:rPr lang="en-US" dirty="0"/>
              <a:t>Classes such as Stream, </a:t>
            </a:r>
            <a:r>
              <a:rPr lang="en-US" dirty="0" err="1"/>
              <a:t>StreamReader</a:t>
            </a:r>
            <a:r>
              <a:rPr lang="en-US" dirty="0"/>
              <a:t>, </a:t>
            </a:r>
            <a:r>
              <a:rPr lang="en-US" dirty="0" err="1"/>
              <a:t>StreamWriter</a:t>
            </a:r>
            <a:r>
              <a:rPr lang="en-US" dirty="0"/>
              <a:t> </a:t>
            </a:r>
            <a:r>
              <a:rPr lang="en-US" dirty="0" err="1"/>
              <a:t>etc</a:t>
            </a:r>
            <a:r>
              <a:rPr lang="en-US" dirty="0"/>
              <a:t> implements </a:t>
            </a:r>
            <a:r>
              <a:rPr lang="en-US" dirty="0" err="1">
                <a:highlight>
                  <a:srgbClr val="FFFF00"/>
                </a:highlight>
              </a:rPr>
              <a:t>IDisposable</a:t>
            </a:r>
            <a:r>
              <a:rPr lang="en-US" dirty="0">
                <a:highlight>
                  <a:srgbClr val="FFFF00"/>
                </a:highlight>
              </a:rPr>
              <a:t> interface</a:t>
            </a:r>
            <a:r>
              <a:rPr lang="en-US" dirty="0"/>
              <a:t>. That means, we can call </a:t>
            </a:r>
            <a:r>
              <a:rPr lang="en-US" dirty="0">
                <a:highlight>
                  <a:srgbClr val="FFFF00"/>
                </a:highlight>
              </a:rPr>
              <a:t>Dispose() </a:t>
            </a:r>
            <a:r>
              <a:rPr lang="en-US" dirty="0"/>
              <a:t>method on objects of these classes. They've also defined a public method called Close().</a:t>
            </a:r>
            <a:endParaRPr lang="en-IN" dirty="0"/>
          </a:p>
        </p:txBody>
      </p:sp>
      <p:sp>
        <p:nvSpPr>
          <p:cNvPr id="9" name="TextBox 8">
            <a:extLst>
              <a:ext uri="{FF2B5EF4-FFF2-40B4-BE49-F238E27FC236}">
                <a16:creationId xmlns:a16="http://schemas.microsoft.com/office/drawing/2014/main" id="{419ED27A-A3AA-9CEB-5A9A-CA6AF529A2E3}"/>
              </a:ext>
            </a:extLst>
          </p:cNvPr>
          <p:cNvSpPr txBox="1"/>
          <p:nvPr/>
        </p:nvSpPr>
        <p:spPr>
          <a:xfrm>
            <a:off x="76200" y="856557"/>
            <a:ext cx="6099142" cy="6771084"/>
          </a:xfrm>
          <a:prstGeom prst="rect">
            <a:avLst/>
          </a:prstGeom>
          <a:noFill/>
        </p:spPr>
        <p:txBody>
          <a:bodyPr wrap="square">
            <a:spAutoFit/>
          </a:bodyPr>
          <a:lstStyle/>
          <a:p>
            <a:r>
              <a:rPr lang="en-US" sz="1400" dirty="0">
                <a:highlight>
                  <a:srgbClr val="FFFF00"/>
                </a:highlight>
              </a:rPr>
              <a:t>A quick jump into Reflector.NET shows that the Close() method on </a:t>
            </a:r>
            <a:r>
              <a:rPr lang="en-US" sz="1400" dirty="0" err="1">
                <a:highlight>
                  <a:srgbClr val="FFFF00"/>
                </a:highlight>
              </a:rPr>
              <a:t>StreamWriter</a:t>
            </a:r>
            <a:r>
              <a:rPr lang="en-US" sz="1400" dirty="0">
                <a:highlight>
                  <a:srgbClr val="FFFF00"/>
                </a:highlight>
              </a:rPr>
              <a:t> is:</a:t>
            </a:r>
          </a:p>
          <a:p>
            <a:r>
              <a:rPr lang="en-US" sz="1400" dirty="0"/>
              <a:t>public override void Close()</a:t>
            </a:r>
          </a:p>
          <a:p>
            <a:r>
              <a:rPr lang="en-US" sz="1400" dirty="0"/>
              <a:t>{</a:t>
            </a:r>
          </a:p>
          <a:p>
            <a:r>
              <a:rPr lang="en-US" sz="1400" dirty="0"/>
              <a:t>    </a:t>
            </a:r>
            <a:r>
              <a:rPr lang="en-US" sz="1400" dirty="0" err="1"/>
              <a:t>this.Dispose</a:t>
            </a:r>
            <a:r>
              <a:rPr lang="en-US" sz="1400" dirty="0"/>
              <a:t>(true);</a:t>
            </a:r>
          </a:p>
          <a:p>
            <a:r>
              <a:rPr lang="en-US" sz="1400" dirty="0"/>
              <a:t>    </a:t>
            </a:r>
            <a:r>
              <a:rPr lang="en-US" sz="1400" dirty="0" err="1"/>
              <a:t>GC.SuppressFinalize</a:t>
            </a:r>
            <a:r>
              <a:rPr lang="en-US" sz="1400" dirty="0"/>
              <a:t>(this);</a:t>
            </a:r>
          </a:p>
          <a:p>
            <a:r>
              <a:rPr lang="en-US" sz="1400" dirty="0"/>
              <a:t>}</a:t>
            </a:r>
          </a:p>
          <a:p>
            <a:r>
              <a:rPr lang="en-US" sz="1400" dirty="0"/>
              <a:t>And </a:t>
            </a:r>
            <a:r>
              <a:rPr lang="en-US" sz="1400" dirty="0" err="1"/>
              <a:t>StreamReader</a:t>
            </a:r>
            <a:r>
              <a:rPr lang="en-US" sz="1400" dirty="0"/>
              <a:t> is:</a:t>
            </a:r>
          </a:p>
          <a:p>
            <a:endParaRPr lang="en-US" sz="1400" dirty="0"/>
          </a:p>
          <a:p>
            <a:r>
              <a:rPr lang="en-US" sz="1400" dirty="0"/>
              <a:t>public override void Close()</a:t>
            </a:r>
          </a:p>
          <a:p>
            <a:r>
              <a:rPr lang="en-US" sz="1400" dirty="0"/>
              <a:t>{</a:t>
            </a:r>
          </a:p>
          <a:p>
            <a:r>
              <a:rPr lang="en-US" sz="1400" dirty="0"/>
              <a:t>    </a:t>
            </a:r>
            <a:r>
              <a:rPr lang="en-US" sz="1400" dirty="0" err="1"/>
              <a:t>this.Dispose</a:t>
            </a:r>
            <a:r>
              <a:rPr lang="en-US" sz="1400" dirty="0"/>
              <a:t>(true);</a:t>
            </a:r>
          </a:p>
          <a:p>
            <a:r>
              <a:rPr lang="en-US" sz="1400" dirty="0"/>
              <a:t>}</a:t>
            </a:r>
          </a:p>
          <a:p>
            <a:endParaRPr lang="en-US" sz="1400" dirty="0"/>
          </a:p>
          <a:p>
            <a:r>
              <a:rPr lang="en-US" sz="1400" dirty="0">
                <a:highlight>
                  <a:srgbClr val="FFFF00"/>
                </a:highlight>
              </a:rPr>
              <a:t>The Dispose(bool disposing) override in </a:t>
            </a:r>
            <a:r>
              <a:rPr lang="en-US" sz="1400" dirty="0" err="1">
                <a:highlight>
                  <a:srgbClr val="FFFF00"/>
                </a:highlight>
              </a:rPr>
              <a:t>StreamReader</a:t>
            </a:r>
            <a:r>
              <a:rPr lang="en-US" sz="1400" dirty="0">
                <a:highlight>
                  <a:srgbClr val="FFFF00"/>
                </a:highlight>
              </a:rPr>
              <a:t> is:</a:t>
            </a:r>
          </a:p>
          <a:p>
            <a:r>
              <a:rPr lang="en-US" sz="1400" dirty="0"/>
              <a:t>protected override void Dispose(bool disposing)</a:t>
            </a:r>
          </a:p>
          <a:p>
            <a:r>
              <a:rPr lang="en-US" sz="1400" dirty="0"/>
              <a:t>{</a:t>
            </a:r>
          </a:p>
          <a:p>
            <a:r>
              <a:rPr lang="en-US" sz="1400" dirty="0"/>
              <a:t>    try</a:t>
            </a:r>
          </a:p>
          <a:p>
            <a:r>
              <a:rPr lang="en-US" sz="1400" dirty="0"/>
              <a:t>    {</a:t>
            </a:r>
          </a:p>
          <a:p>
            <a:r>
              <a:rPr lang="en-US" sz="1400" dirty="0"/>
              <a:t>        if ((</a:t>
            </a:r>
            <a:r>
              <a:rPr lang="en-US" sz="1400" dirty="0" err="1"/>
              <a:t>this.Closable</a:t>
            </a:r>
            <a:r>
              <a:rPr lang="en-US" sz="1400" dirty="0"/>
              <a:t> &amp;&amp; disposing) &amp;&amp; (</a:t>
            </a:r>
            <a:r>
              <a:rPr lang="en-US" sz="1400" dirty="0" err="1"/>
              <a:t>this.stream</a:t>
            </a:r>
            <a:r>
              <a:rPr lang="en-US" sz="1400" dirty="0"/>
              <a:t> != null))</a:t>
            </a:r>
          </a:p>
          <a:p>
            <a:r>
              <a:rPr lang="en-US" sz="1400" dirty="0"/>
              <a:t>        {            </a:t>
            </a:r>
            <a:r>
              <a:rPr lang="en-US" sz="1400" dirty="0" err="1"/>
              <a:t>this.stream.Close</a:t>
            </a:r>
            <a:r>
              <a:rPr lang="en-US" sz="1400" dirty="0"/>
              <a:t>();</a:t>
            </a:r>
          </a:p>
          <a:p>
            <a:r>
              <a:rPr lang="en-US" sz="1400" dirty="0"/>
              <a:t>        }</a:t>
            </a:r>
          </a:p>
          <a:p>
            <a:r>
              <a:rPr lang="en-US" sz="1400" dirty="0"/>
              <a:t>    }</a:t>
            </a:r>
          </a:p>
          <a:p>
            <a:r>
              <a:rPr lang="en-US" sz="1400" dirty="0"/>
              <a:t>    finally</a:t>
            </a:r>
          </a:p>
          <a:p>
            <a:r>
              <a:rPr lang="en-US" sz="1400" dirty="0"/>
              <a:t>    {</a:t>
            </a:r>
          </a:p>
          <a:p>
            <a:r>
              <a:rPr lang="en-US" sz="1400" dirty="0"/>
              <a:t>        if (</a:t>
            </a:r>
            <a:r>
              <a:rPr lang="en-US" sz="1400" dirty="0" err="1"/>
              <a:t>this.Closable</a:t>
            </a:r>
            <a:r>
              <a:rPr lang="en-US" sz="1400" dirty="0"/>
              <a:t> &amp;&amp; (</a:t>
            </a:r>
            <a:r>
              <a:rPr lang="en-US" sz="1400" dirty="0" err="1"/>
              <a:t>this.stream</a:t>
            </a:r>
            <a:r>
              <a:rPr lang="en-US" sz="1400" dirty="0"/>
              <a:t> != null))</a:t>
            </a:r>
          </a:p>
          <a:p>
            <a:r>
              <a:rPr lang="en-US" sz="1400" dirty="0"/>
              <a:t>        {        </a:t>
            </a:r>
            <a:r>
              <a:rPr lang="en-US" sz="1400" dirty="0" err="1"/>
              <a:t>this.stream</a:t>
            </a:r>
            <a:r>
              <a:rPr lang="en-US" sz="1400" dirty="0"/>
              <a:t> = null;</a:t>
            </a:r>
          </a:p>
          <a:p>
            <a:r>
              <a:rPr lang="en-US" sz="1400" dirty="0"/>
              <a:t>            /* deleted for brevity */</a:t>
            </a:r>
          </a:p>
          <a:p>
            <a:r>
              <a:rPr lang="en-US" sz="1400" dirty="0"/>
              <a:t>            </a:t>
            </a:r>
            <a:r>
              <a:rPr lang="en-US" sz="1400" dirty="0" err="1"/>
              <a:t>base.Dispose</a:t>
            </a:r>
            <a:r>
              <a:rPr lang="en-US" sz="1400" dirty="0"/>
              <a:t>(disposing);</a:t>
            </a:r>
          </a:p>
          <a:p>
            <a:r>
              <a:rPr lang="en-US" sz="1400" dirty="0"/>
              <a:t>        }</a:t>
            </a:r>
          </a:p>
          <a:p>
            <a:r>
              <a:rPr lang="en-US" sz="1400" dirty="0"/>
              <a:t>    }</a:t>
            </a:r>
          </a:p>
          <a:p>
            <a:r>
              <a:rPr lang="en-US" sz="1400" dirty="0"/>
              <a:t>}</a:t>
            </a:r>
          </a:p>
        </p:txBody>
      </p:sp>
      <p:sp>
        <p:nvSpPr>
          <p:cNvPr id="11" name="TextBox 10">
            <a:extLst>
              <a:ext uri="{FF2B5EF4-FFF2-40B4-BE49-F238E27FC236}">
                <a16:creationId xmlns:a16="http://schemas.microsoft.com/office/drawing/2014/main" id="{4302768A-E70E-AB39-3BBA-48477D241696}"/>
              </a:ext>
            </a:extLst>
          </p:cNvPr>
          <p:cNvSpPr txBox="1"/>
          <p:nvPr/>
        </p:nvSpPr>
        <p:spPr>
          <a:xfrm>
            <a:off x="4572000" y="1447800"/>
            <a:ext cx="4495800" cy="175432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prstClr val="black"/>
                </a:solidFill>
                <a:effectLst/>
                <a:uLnTx/>
                <a:uFillTx/>
                <a:latin typeface="Garamond" panose="02020404030301010803"/>
                <a:ea typeface="+mn-ea"/>
                <a:cs typeface="+mn-cs"/>
              </a:rPr>
              <a:t>The </a:t>
            </a:r>
            <a:r>
              <a:rPr kumimoji="0" lang="en-US" b="0" i="0" u="none" strike="noStrike" kern="1200" cap="none" spc="0" normalizeH="0" baseline="0" noProof="0" dirty="0" err="1">
                <a:ln>
                  <a:noFill/>
                </a:ln>
                <a:solidFill>
                  <a:prstClr val="black"/>
                </a:solidFill>
                <a:effectLst/>
                <a:uLnTx/>
                <a:uFillTx/>
                <a:latin typeface="Garamond" panose="02020404030301010803"/>
                <a:ea typeface="+mn-ea"/>
                <a:cs typeface="+mn-cs"/>
              </a:rPr>
              <a:t>StreamWriter</a:t>
            </a:r>
            <a:r>
              <a:rPr kumimoji="0" lang="en-US" b="0" i="0" u="none" strike="noStrike" kern="1200" cap="none" spc="0" normalizeH="0" baseline="0" noProof="0" dirty="0">
                <a:ln>
                  <a:noFill/>
                </a:ln>
                <a:solidFill>
                  <a:prstClr val="black"/>
                </a:solidFill>
                <a:effectLst/>
                <a:uLnTx/>
                <a:uFillTx/>
                <a:latin typeface="Garamond" panose="02020404030301010803"/>
                <a:ea typeface="+mn-ea"/>
                <a:cs typeface="+mn-cs"/>
              </a:rPr>
              <a:t> method is similar.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prstClr val="black"/>
              </a:solidFill>
              <a:effectLst/>
              <a:uLnTx/>
              <a:uFillTx/>
              <a:latin typeface="Garamond" panose="02020404030301010803"/>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prstClr val="black"/>
                </a:solidFill>
                <a:effectLst/>
                <a:uLnTx/>
                <a:uFillTx/>
                <a:latin typeface="Garamond" panose="02020404030301010803"/>
                <a:ea typeface="+mn-ea"/>
                <a:cs typeface="+mn-cs"/>
              </a:rPr>
              <a:t>So, reading the code it is clear that that you can call Close() &amp; Dispose() on streams as often as you like and in any order. It won't change the </a:t>
            </a:r>
            <a:r>
              <a:rPr kumimoji="0" lang="en-US" b="0" i="0" u="none" strike="noStrike" kern="1200" cap="none" spc="0" normalizeH="0" baseline="0" noProof="0" dirty="0" err="1">
                <a:ln>
                  <a:noFill/>
                </a:ln>
                <a:solidFill>
                  <a:prstClr val="black"/>
                </a:solidFill>
                <a:effectLst/>
                <a:uLnTx/>
                <a:uFillTx/>
                <a:latin typeface="Garamond" panose="02020404030301010803"/>
                <a:ea typeface="+mn-ea"/>
                <a:cs typeface="+mn-cs"/>
              </a:rPr>
              <a:t>behaviour</a:t>
            </a:r>
            <a:r>
              <a:rPr kumimoji="0" lang="en-US" b="0" i="0" u="none" strike="noStrike" kern="1200" cap="none" spc="0" normalizeH="0" baseline="0" noProof="0" dirty="0">
                <a:ln>
                  <a:noFill/>
                </a:ln>
                <a:solidFill>
                  <a:prstClr val="black"/>
                </a:solidFill>
                <a:effectLst/>
                <a:uLnTx/>
                <a:uFillTx/>
                <a:latin typeface="Garamond" panose="02020404030301010803"/>
                <a:ea typeface="+mn-ea"/>
                <a:cs typeface="+mn-cs"/>
              </a:rPr>
              <a:t> in any way.</a:t>
            </a:r>
            <a:endParaRPr kumimoji="0" lang="en-IN" b="0" i="0" u="none" strike="noStrike" kern="1200" cap="none" spc="0" normalizeH="0" baseline="0" noProof="0" dirty="0">
              <a:ln>
                <a:noFill/>
              </a:ln>
              <a:solidFill>
                <a:prstClr val="black"/>
              </a:solidFill>
              <a:effectLst/>
              <a:uLnTx/>
              <a:uFillTx/>
              <a:latin typeface="Garamond" panose="02020404030301010803"/>
              <a:ea typeface="+mn-ea"/>
              <a:cs typeface="+mn-cs"/>
            </a:endParaRPr>
          </a:p>
        </p:txBody>
      </p:sp>
      <p:sp>
        <p:nvSpPr>
          <p:cNvPr id="14" name="TextBox 13">
            <a:extLst>
              <a:ext uri="{FF2B5EF4-FFF2-40B4-BE49-F238E27FC236}">
                <a16:creationId xmlns:a16="http://schemas.microsoft.com/office/drawing/2014/main" id="{4E4F868C-A27C-3B60-5680-441BFA41ED57}"/>
              </a:ext>
            </a:extLst>
          </p:cNvPr>
          <p:cNvSpPr txBox="1"/>
          <p:nvPr/>
        </p:nvSpPr>
        <p:spPr>
          <a:xfrm>
            <a:off x="4953000" y="3462779"/>
            <a:ext cx="4114800" cy="286232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dirty="0"/>
              <a:t>So I think it is best to do this:</a:t>
            </a:r>
          </a:p>
          <a:p>
            <a:endParaRPr lang="en-US" dirty="0"/>
          </a:p>
          <a:p>
            <a:r>
              <a:rPr lang="en-US" dirty="0"/>
              <a:t>using (var stream = ...)</a:t>
            </a:r>
          </a:p>
          <a:p>
            <a:r>
              <a:rPr lang="en-US" dirty="0"/>
              <a:t>{</a:t>
            </a:r>
          </a:p>
          <a:p>
            <a:r>
              <a:rPr lang="en-US" dirty="0"/>
              <a:t>    /* code */</a:t>
            </a:r>
          </a:p>
          <a:p>
            <a:endParaRPr lang="en-US" dirty="0"/>
          </a:p>
          <a:p>
            <a:r>
              <a:rPr lang="en-US" dirty="0"/>
              <a:t>    </a:t>
            </a:r>
            <a:r>
              <a:rPr lang="en-US" dirty="0" err="1"/>
              <a:t>stream.Close</a:t>
            </a:r>
            <a:r>
              <a:rPr lang="en-US" dirty="0"/>
              <a:t>();</a:t>
            </a:r>
          </a:p>
          <a:p>
            <a:r>
              <a:rPr lang="en-US" dirty="0"/>
              <a:t>}</a:t>
            </a:r>
          </a:p>
          <a:p>
            <a:r>
              <a:rPr lang="en-US" dirty="0"/>
              <a:t>It doesn't affect the </a:t>
            </a:r>
            <a:r>
              <a:rPr lang="en-US" dirty="0" err="1"/>
              <a:t>behaviour</a:t>
            </a:r>
            <a:r>
              <a:rPr lang="en-US" dirty="0"/>
              <a:t> of the code, but it does aid readability.</a:t>
            </a:r>
            <a:endParaRPr lang="en-IN" dirty="0"/>
          </a:p>
        </p:txBody>
      </p:sp>
    </p:spTree>
    <p:extLst>
      <p:ext uri="{BB962C8B-B14F-4D97-AF65-F5344CB8AC3E}">
        <p14:creationId xmlns:p14="http://schemas.microsoft.com/office/powerpoint/2010/main" val="25429560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08739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3704</TotalTime>
  <Words>2956</Words>
  <Application>Microsoft Office PowerPoint</Application>
  <PresentationFormat>On-screen Show (4:3)</PresentationFormat>
  <Paragraphs>549</Paragraphs>
  <Slides>20</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Cambria</vt:lpstr>
      <vt:lpstr>Cascadia Mono</vt:lpstr>
      <vt:lpstr>Consolas</vt:lpstr>
      <vt:lpstr>Garamond</vt:lpstr>
      <vt:lpstr>inherit</vt:lpstr>
      <vt:lpstr>Office Theme</vt:lpstr>
      <vt:lpstr>PowerPoint Presentation</vt:lpstr>
      <vt:lpstr>PowerPoint Presentation</vt:lpstr>
      <vt:lpstr>PowerPoint Presentation</vt:lpstr>
      <vt:lpstr>PowerPoint Presentation</vt:lpstr>
      <vt:lpstr>Which class when to use  using System.IO for file handeling</vt:lpstr>
      <vt:lpstr>PowerPoint Presentation</vt:lpstr>
      <vt:lpstr>FileStream to write Byte</vt:lpstr>
      <vt:lpstr>FileStream to read Byte</vt:lpstr>
      <vt:lpstr>Better Way</vt:lpstr>
      <vt:lpstr>Stream writer</vt:lpstr>
      <vt:lpstr>PowerPoint Presentation</vt:lpstr>
      <vt:lpstr>Stream Reader</vt:lpstr>
      <vt:lpstr>Binary Read Write</vt:lpstr>
      <vt:lpstr>String reader and writer</vt:lpstr>
      <vt:lpstr>PowerPoint Presentation</vt:lpstr>
      <vt:lpstr>PowerPoint Presentation</vt:lpstr>
      <vt:lpstr> static File  class: if you need to use frequently</vt:lpstr>
      <vt:lpstr>Lets convert one example </vt:lpstr>
      <vt:lpstr>PowerPoint Presentation</vt:lpstr>
      <vt:lpstr>PowerPoint Presentation</vt:lpstr>
    </vt:vector>
  </TitlesOfParts>
  <Company>University at Buffalo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Exception Handelling</dc:title>
  <dc:creator>Theory</dc:creator>
  <cp:lastModifiedBy>vidyanidhi school</cp:lastModifiedBy>
  <cp:revision>114</cp:revision>
  <dcterms:created xsi:type="dcterms:W3CDTF">2012-05-24T05:32:28Z</dcterms:created>
  <dcterms:modified xsi:type="dcterms:W3CDTF">2023-10-29T17:08:21Z</dcterms:modified>
</cp:coreProperties>
</file>