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62" r:id="rId4"/>
    <p:sldId id="266" r:id="rId5"/>
    <p:sldId id="263" r:id="rId6"/>
    <p:sldId id="264" r:id="rId7"/>
    <p:sldId id="265"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7F18F-EE0B-4A5D-B0FF-F3C83272A8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E13C160-DCE3-4B52-80F6-CA826861B8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016EA79-14D7-4DC8-A30E-8EFDEB5DD86F}"/>
              </a:ext>
            </a:extLst>
          </p:cNvPr>
          <p:cNvSpPr>
            <a:spLocks noGrp="1"/>
          </p:cNvSpPr>
          <p:nvPr>
            <p:ph type="dt" sz="half" idx="10"/>
          </p:nvPr>
        </p:nvSpPr>
        <p:spPr/>
        <p:txBody>
          <a:bodyPr/>
          <a:lstStyle/>
          <a:p>
            <a:fld id="{FAD3362C-B4C7-453F-B9DF-FF43863BB373}" type="datetimeFigureOut">
              <a:rPr lang="en-IN" smtClean="0"/>
              <a:t>10-10-2024</a:t>
            </a:fld>
            <a:endParaRPr lang="en-IN"/>
          </a:p>
        </p:txBody>
      </p:sp>
      <p:sp>
        <p:nvSpPr>
          <p:cNvPr id="5" name="Footer Placeholder 4">
            <a:extLst>
              <a:ext uri="{FF2B5EF4-FFF2-40B4-BE49-F238E27FC236}">
                <a16:creationId xmlns:a16="http://schemas.microsoft.com/office/drawing/2014/main" id="{C9A01EE6-9045-4F38-B486-378FD285BD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FBA975-8044-4927-BE2B-88A13E0BDCF4}"/>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3598908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C9327-EEC5-4BDE-9813-3F0D81657F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775A227-2E6B-4043-8EFD-1C4C95CF83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D3AC93-5B9C-43A1-97BB-A117983E2D45}"/>
              </a:ext>
            </a:extLst>
          </p:cNvPr>
          <p:cNvSpPr>
            <a:spLocks noGrp="1"/>
          </p:cNvSpPr>
          <p:nvPr>
            <p:ph type="dt" sz="half" idx="10"/>
          </p:nvPr>
        </p:nvSpPr>
        <p:spPr/>
        <p:txBody>
          <a:bodyPr/>
          <a:lstStyle/>
          <a:p>
            <a:fld id="{FAD3362C-B4C7-453F-B9DF-FF43863BB373}" type="datetimeFigureOut">
              <a:rPr lang="en-IN" smtClean="0"/>
              <a:t>10-10-2024</a:t>
            </a:fld>
            <a:endParaRPr lang="en-IN"/>
          </a:p>
        </p:txBody>
      </p:sp>
      <p:sp>
        <p:nvSpPr>
          <p:cNvPr id="5" name="Footer Placeholder 4">
            <a:extLst>
              <a:ext uri="{FF2B5EF4-FFF2-40B4-BE49-F238E27FC236}">
                <a16:creationId xmlns:a16="http://schemas.microsoft.com/office/drawing/2014/main" id="{6CE8F2BA-29A2-4405-BDD3-B8408E6CCB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1AD635-9A06-466E-BFEA-90785449421A}"/>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659789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496A4-D18B-4158-B4DB-7EEB2C50A1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4734CBB-7438-4539-8A2D-572035F000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309DD2-744B-47FF-A7A8-35D183BBDEFF}"/>
              </a:ext>
            </a:extLst>
          </p:cNvPr>
          <p:cNvSpPr>
            <a:spLocks noGrp="1"/>
          </p:cNvSpPr>
          <p:nvPr>
            <p:ph type="dt" sz="half" idx="10"/>
          </p:nvPr>
        </p:nvSpPr>
        <p:spPr/>
        <p:txBody>
          <a:bodyPr/>
          <a:lstStyle/>
          <a:p>
            <a:fld id="{FAD3362C-B4C7-453F-B9DF-FF43863BB373}" type="datetimeFigureOut">
              <a:rPr lang="en-IN" smtClean="0"/>
              <a:t>10-10-2024</a:t>
            </a:fld>
            <a:endParaRPr lang="en-IN"/>
          </a:p>
        </p:txBody>
      </p:sp>
      <p:sp>
        <p:nvSpPr>
          <p:cNvPr id="5" name="Footer Placeholder 4">
            <a:extLst>
              <a:ext uri="{FF2B5EF4-FFF2-40B4-BE49-F238E27FC236}">
                <a16:creationId xmlns:a16="http://schemas.microsoft.com/office/drawing/2014/main" id="{FE2F557E-0EB0-42D1-A2B0-B76D00D748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962AB0-A185-416C-BE28-29BA5BE891E9}"/>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535401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19025-C1D8-462A-9D90-C052546D78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B923E17-E81E-42FC-A6BA-F856695641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2813A0F-A52C-470B-8C91-7B88D18E5F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7F42704-04B6-4B75-93CD-C62F0280FCE8}"/>
              </a:ext>
            </a:extLst>
          </p:cNvPr>
          <p:cNvSpPr>
            <a:spLocks noGrp="1"/>
          </p:cNvSpPr>
          <p:nvPr>
            <p:ph type="dt" sz="half" idx="10"/>
          </p:nvPr>
        </p:nvSpPr>
        <p:spPr/>
        <p:txBody>
          <a:bodyPr/>
          <a:lstStyle/>
          <a:p>
            <a:fld id="{FAD3362C-B4C7-453F-B9DF-FF43863BB373}" type="datetimeFigureOut">
              <a:rPr lang="en-IN" smtClean="0"/>
              <a:t>10-10-2024</a:t>
            </a:fld>
            <a:endParaRPr lang="en-IN"/>
          </a:p>
        </p:txBody>
      </p:sp>
      <p:sp>
        <p:nvSpPr>
          <p:cNvPr id="6" name="Footer Placeholder 5">
            <a:extLst>
              <a:ext uri="{FF2B5EF4-FFF2-40B4-BE49-F238E27FC236}">
                <a16:creationId xmlns:a16="http://schemas.microsoft.com/office/drawing/2014/main" id="{43FBB843-D3E8-42BE-BB91-E53C779C67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CC8C31-20DC-4D84-A25F-E39295491495}"/>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1511617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D6A74-54E1-4948-AFD7-FC3D0961703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8121E30-14AC-4C8E-B494-770430F1E6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CCA0AD-CAAA-47B8-A0A9-6E074028B2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8DE701A-B1B0-437B-A11D-DAC3029202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A466BA-BE7B-451D-B9A2-BFA3B1D21D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0CE54AA-BD47-4153-9807-555B556DBB19}"/>
              </a:ext>
            </a:extLst>
          </p:cNvPr>
          <p:cNvSpPr>
            <a:spLocks noGrp="1"/>
          </p:cNvSpPr>
          <p:nvPr>
            <p:ph type="dt" sz="half" idx="10"/>
          </p:nvPr>
        </p:nvSpPr>
        <p:spPr/>
        <p:txBody>
          <a:bodyPr/>
          <a:lstStyle/>
          <a:p>
            <a:fld id="{FAD3362C-B4C7-453F-B9DF-FF43863BB373}" type="datetimeFigureOut">
              <a:rPr lang="en-IN" smtClean="0"/>
              <a:t>10-10-2024</a:t>
            </a:fld>
            <a:endParaRPr lang="en-IN"/>
          </a:p>
        </p:txBody>
      </p:sp>
      <p:sp>
        <p:nvSpPr>
          <p:cNvPr id="8" name="Footer Placeholder 7">
            <a:extLst>
              <a:ext uri="{FF2B5EF4-FFF2-40B4-BE49-F238E27FC236}">
                <a16:creationId xmlns:a16="http://schemas.microsoft.com/office/drawing/2014/main" id="{C31C9BA1-3124-40BE-910E-53C56721F16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D605810-DDD0-453E-B3D7-858FFCE0C3BC}"/>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615992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5B7C7-EE48-49E1-8486-EF308E5C1F1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AC8759C-6F89-4953-853C-1228DAE4F2D5}"/>
              </a:ext>
            </a:extLst>
          </p:cNvPr>
          <p:cNvSpPr>
            <a:spLocks noGrp="1"/>
          </p:cNvSpPr>
          <p:nvPr>
            <p:ph type="dt" sz="half" idx="10"/>
          </p:nvPr>
        </p:nvSpPr>
        <p:spPr/>
        <p:txBody>
          <a:bodyPr/>
          <a:lstStyle/>
          <a:p>
            <a:fld id="{FAD3362C-B4C7-453F-B9DF-FF43863BB373}" type="datetimeFigureOut">
              <a:rPr lang="en-IN" smtClean="0"/>
              <a:t>10-10-2024</a:t>
            </a:fld>
            <a:endParaRPr lang="en-IN"/>
          </a:p>
        </p:txBody>
      </p:sp>
      <p:sp>
        <p:nvSpPr>
          <p:cNvPr id="4" name="Footer Placeholder 3">
            <a:extLst>
              <a:ext uri="{FF2B5EF4-FFF2-40B4-BE49-F238E27FC236}">
                <a16:creationId xmlns:a16="http://schemas.microsoft.com/office/drawing/2014/main" id="{FE82223A-63C8-47B5-A34F-08CF6FEC91B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908BB07-C91D-4357-9812-ABBDC44766BB}"/>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3120977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DD3A69-2E03-45ED-B818-796BE806E831}"/>
              </a:ext>
            </a:extLst>
          </p:cNvPr>
          <p:cNvSpPr>
            <a:spLocks noGrp="1"/>
          </p:cNvSpPr>
          <p:nvPr>
            <p:ph type="dt" sz="half" idx="10"/>
          </p:nvPr>
        </p:nvSpPr>
        <p:spPr/>
        <p:txBody>
          <a:bodyPr/>
          <a:lstStyle/>
          <a:p>
            <a:fld id="{FAD3362C-B4C7-453F-B9DF-FF43863BB373}" type="datetimeFigureOut">
              <a:rPr lang="en-IN" smtClean="0"/>
              <a:t>10-10-2024</a:t>
            </a:fld>
            <a:endParaRPr lang="en-IN"/>
          </a:p>
        </p:txBody>
      </p:sp>
      <p:sp>
        <p:nvSpPr>
          <p:cNvPr id="3" name="Footer Placeholder 2">
            <a:extLst>
              <a:ext uri="{FF2B5EF4-FFF2-40B4-BE49-F238E27FC236}">
                <a16:creationId xmlns:a16="http://schemas.microsoft.com/office/drawing/2014/main" id="{5E4A0B4B-0443-45A7-AE76-A4513429751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78DC747-0630-41B6-B3F6-0B8BE463009D}"/>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2469481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D4187-6D04-4356-860D-859988115F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01F5BF1-602A-4F7A-82B9-BFBE44C41B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4E42B81-F8F6-47BB-B1B0-648D9EA0AB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831B4F-83C3-4B87-A38C-B3AB2AAB49C6}"/>
              </a:ext>
            </a:extLst>
          </p:cNvPr>
          <p:cNvSpPr>
            <a:spLocks noGrp="1"/>
          </p:cNvSpPr>
          <p:nvPr>
            <p:ph type="dt" sz="half" idx="10"/>
          </p:nvPr>
        </p:nvSpPr>
        <p:spPr/>
        <p:txBody>
          <a:bodyPr/>
          <a:lstStyle/>
          <a:p>
            <a:fld id="{FAD3362C-B4C7-453F-B9DF-FF43863BB373}" type="datetimeFigureOut">
              <a:rPr lang="en-IN" smtClean="0"/>
              <a:t>10-10-2024</a:t>
            </a:fld>
            <a:endParaRPr lang="en-IN"/>
          </a:p>
        </p:txBody>
      </p:sp>
      <p:sp>
        <p:nvSpPr>
          <p:cNvPr id="6" name="Footer Placeholder 5">
            <a:extLst>
              <a:ext uri="{FF2B5EF4-FFF2-40B4-BE49-F238E27FC236}">
                <a16:creationId xmlns:a16="http://schemas.microsoft.com/office/drawing/2014/main" id="{E198BEF9-D934-42E2-AFBC-FA76587CAF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EEF230-81BE-44E6-8D4D-73A64B26F4B0}"/>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1449205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3A5F6-2152-4EC4-8D8E-F908863C4F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4D16545-C3FF-4189-BC25-6E34EDB756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DC7600F-D757-41A4-869D-9B859F0258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B2C4F3-C0FA-4C97-8546-A25C08D8CCF8}"/>
              </a:ext>
            </a:extLst>
          </p:cNvPr>
          <p:cNvSpPr>
            <a:spLocks noGrp="1"/>
          </p:cNvSpPr>
          <p:nvPr>
            <p:ph type="dt" sz="half" idx="10"/>
          </p:nvPr>
        </p:nvSpPr>
        <p:spPr/>
        <p:txBody>
          <a:bodyPr/>
          <a:lstStyle/>
          <a:p>
            <a:fld id="{FAD3362C-B4C7-453F-B9DF-FF43863BB373}" type="datetimeFigureOut">
              <a:rPr lang="en-IN" smtClean="0"/>
              <a:t>10-10-2024</a:t>
            </a:fld>
            <a:endParaRPr lang="en-IN"/>
          </a:p>
        </p:txBody>
      </p:sp>
      <p:sp>
        <p:nvSpPr>
          <p:cNvPr id="6" name="Footer Placeholder 5">
            <a:extLst>
              <a:ext uri="{FF2B5EF4-FFF2-40B4-BE49-F238E27FC236}">
                <a16:creationId xmlns:a16="http://schemas.microsoft.com/office/drawing/2014/main" id="{414F23A4-BB71-4193-8D38-15FE329A26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1B664E9-DA9C-427A-9C6B-3884A5B5DDBC}"/>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671380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33EBD-AD3E-49B0-921C-0143BCF7915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DA3B66-EECB-4194-8C60-A6F14F7F81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3D8264-92CD-4121-AC99-0B4C0063AB65}"/>
              </a:ext>
            </a:extLst>
          </p:cNvPr>
          <p:cNvSpPr>
            <a:spLocks noGrp="1"/>
          </p:cNvSpPr>
          <p:nvPr>
            <p:ph type="dt" sz="half" idx="10"/>
          </p:nvPr>
        </p:nvSpPr>
        <p:spPr/>
        <p:txBody>
          <a:bodyPr/>
          <a:lstStyle/>
          <a:p>
            <a:fld id="{FAD3362C-B4C7-453F-B9DF-FF43863BB373}" type="datetimeFigureOut">
              <a:rPr lang="en-IN" smtClean="0"/>
              <a:t>10-10-2024</a:t>
            </a:fld>
            <a:endParaRPr lang="en-IN"/>
          </a:p>
        </p:txBody>
      </p:sp>
      <p:sp>
        <p:nvSpPr>
          <p:cNvPr id="5" name="Footer Placeholder 4">
            <a:extLst>
              <a:ext uri="{FF2B5EF4-FFF2-40B4-BE49-F238E27FC236}">
                <a16:creationId xmlns:a16="http://schemas.microsoft.com/office/drawing/2014/main" id="{A7ED9EAB-5903-4B35-AA82-7C90B41675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E1C75D-E3F4-49B5-B8CB-E80F95D4976E}"/>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3782605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B07355-9938-4B78-8199-C80960CD92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1DA7B4-DF94-4F59-B35D-602F017E237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33B10C-33B6-41EF-8C72-8A204C74E970}"/>
              </a:ext>
            </a:extLst>
          </p:cNvPr>
          <p:cNvSpPr>
            <a:spLocks noGrp="1"/>
          </p:cNvSpPr>
          <p:nvPr>
            <p:ph type="dt" sz="half" idx="10"/>
          </p:nvPr>
        </p:nvSpPr>
        <p:spPr/>
        <p:txBody>
          <a:bodyPr/>
          <a:lstStyle/>
          <a:p>
            <a:fld id="{FAD3362C-B4C7-453F-B9DF-FF43863BB373}" type="datetimeFigureOut">
              <a:rPr lang="en-IN" smtClean="0"/>
              <a:t>10-10-2024</a:t>
            </a:fld>
            <a:endParaRPr lang="en-IN"/>
          </a:p>
        </p:txBody>
      </p:sp>
      <p:sp>
        <p:nvSpPr>
          <p:cNvPr id="5" name="Footer Placeholder 4">
            <a:extLst>
              <a:ext uri="{FF2B5EF4-FFF2-40B4-BE49-F238E27FC236}">
                <a16:creationId xmlns:a16="http://schemas.microsoft.com/office/drawing/2014/main" id="{B8EA10AF-8F76-4AA1-9952-0427DC7D86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FA3309-6325-4D97-89FB-16BB62AD7F9A}"/>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154465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0DCB40-C764-4EFD-B97A-32ABF601C9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3077FD-35CB-4DB4-96CA-4153FBD067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72DB91-3FCA-49BE-95F9-FCEF3B09F6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D3362C-B4C7-453F-B9DF-FF43863BB373}" type="datetimeFigureOut">
              <a:rPr lang="en-IN" smtClean="0"/>
              <a:t>10-10-2024</a:t>
            </a:fld>
            <a:endParaRPr lang="en-IN"/>
          </a:p>
        </p:txBody>
      </p:sp>
      <p:sp>
        <p:nvSpPr>
          <p:cNvPr id="5" name="Footer Placeholder 4">
            <a:extLst>
              <a:ext uri="{FF2B5EF4-FFF2-40B4-BE49-F238E27FC236}">
                <a16:creationId xmlns:a16="http://schemas.microsoft.com/office/drawing/2014/main" id="{E57A5F2F-6728-4CB3-8872-BF0E165E5F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F1FEC72-316D-4A8C-9F46-CCE996F981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9F16F7-D193-453A-8A5C-DCF6FE289BA5}" type="slidenum">
              <a:rPr lang="en-IN" smtClean="0"/>
              <a:t>‹#›</a:t>
            </a:fld>
            <a:endParaRPr lang="en-IN"/>
          </a:p>
        </p:txBody>
      </p:sp>
      <p:pic>
        <p:nvPicPr>
          <p:cNvPr id="8" name="Picture 7">
            <a:extLst>
              <a:ext uri="{FF2B5EF4-FFF2-40B4-BE49-F238E27FC236}">
                <a16:creationId xmlns:a16="http://schemas.microsoft.com/office/drawing/2014/main" id="{3E78D9F7-9A0B-45CF-B8E5-28B401100EB2}"/>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136" y="-120068"/>
            <a:ext cx="1282699" cy="857534"/>
          </a:xfrm>
          <a:prstGeom prst="rect">
            <a:avLst/>
          </a:prstGeom>
        </p:spPr>
      </p:pic>
      <p:sp>
        <p:nvSpPr>
          <p:cNvPr id="12" name="Rectangle 11">
            <a:extLst>
              <a:ext uri="{FF2B5EF4-FFF2-40B4-BE49-F238E27FC236}">
                <a16:creationId xmlns:a16="http://schemas.microsoft.com/office/drawing/2014/main" id="{885531F9-9B27-4F07-91A5-FECF42F43243}"/>
              </a:ext>
            </a:extLst>
          </p:cNvPr>
          <p:cNvSpPr/>
          <p:nvPr userDrawn="1"/>
        </p:nvSpPr>
        <p:spPr>
          <a:xfrm>
            <a:off x="-73900" y="6568695"/>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7387460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developer.apple.com/library/content/documentation/Swift/Conceptual/Swift_Programming_Language/Protocols.html#//apple_ref/doc/uid/TP40014097-CH25-ID267" TargetMode="External"/><Relationship Id="rId2" Type="http://schemas.openxmlformats.org/officeDocument/2006/relationships/hyperlink" Target="http://docs.oracle.com/javase/tutorial/java/IandI/defaultmethods.html" TargetMode="External"/><Relationship Id="rId1" Type="http://schemas.openxmlformats.org/officeDocument/2006/relationships/slideLayout" Target="../slideLayouts/slideLayout2.xml"/><Relationship Id="rId5" Type="http://schemas.openxmlformats.org/officeDocument/2006/relationships/hyperlink" Target="http://scg.unibe.ch/archive/papers/Scha03aTraits.pdf" TargetMode="External"/><Relationship Id="rId4" Type="http://schemas.openxmlformats.org/officeDocument/2006/relationships/hyperlink" Target="https://en.wikipedia.org/wiki/Trait_(computer_programmin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JSON" TargetMode="External"/><Relationship Id="rId2" Type="http://schemas.openxmlformats.org/officeDocument/2006/relationships/hyperlink" Target="https://en.wikipedia.org/wiki/Serialization" TargetMode="External"/><Relationship Id="rId1" Type="http://schemas.openxmlformats.org/officeDocument/2006/relationships/slideLayout" Target="../slideLayouts/slideLayout2.xml"/><Relationship Id="rId5" Type="http://schemas.openxmlformats.org/officeDocument/2006/relationships/hyperlink" Target="https://en.wikipedia.org/wiki/Mixin" TargetMode="External"/><Relationship Id="rId4" Type="http://schemas.openxmlformats.org/officeDocument/2006/relationships/hyperlink" Target="https://en.wikipedia.org/wiki/Multiple_inheritanc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923330"/>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a:t>ketkiacharya</a:t>
            </a:r>
            <a:r>
              <a:rPr lang="en-IN" dirty="0"/>
              <a:t>.net@gmail.com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6D01529-C619-B4B6-661D-5076032FABBF}"/>
              </a:ext>
            </a:extLst>
          </p:cNvPr>
          <p:cNvSpPr txBox="1"/>
          <p:nvPr/>
        </p:nvSpPr>
        <p:spPr>
          <a:xfrm>
            <a:off x="83827" y="645038"/>
            <a:ext cx="11936361" cy="2369880"/>
          </a:xfrm>
          <a:prstGeom prst="rect">
            <a:avLst/>
          </a:prstGeom>
          <a:noFill/>
        </p:spPr>
        <p:txBody>
          <a:bodyPr wrap="square">
            <a:spAutoFit/>
          </a:bodyPr>
          <a:lstStyle/>
          <a:p>
            <a:r>
              <a:rPr lang="en-US" dirty="0"/>
              <a:t>Before C# 8.0 interfaces only contain the declaration of the members(</a:t>
            </a:r>
            <a:r>
              <a:rPr lang="en-US" dirty="0">
                <a:highlight>
                  <a:srgbClr val="FFFF00"/>
                </a:highlight>
              </a:rPr>
              <a:t>methods, properties, events, and indexers</a:t>
            </a:r>
            <a:r>
              <a:rPr lang="en-US" dirty="0"/>
              <a:t>)</a:t>
            </a:r>
          </a:p>
          <a:p>
            <a:r>
              <a:rPr lang="en-US" dirty="0"/>
              <a:t>, but from C# 8.0 it is allowed to add members as well as their implementation to the interface. </a:t>
            </a:r>
          </a:p>
          <a:p>
            <a:endParaRPr lang="en-US" sz="1000" dirty="0"/>
          </a:p>
          <a:p>
            <a:r>
              <a:rPr lang="en-US" dirty="0"/>
              <a:t>Now you are allowed to add a method with their implementation to the interface without breaking the existing implementation of the interface, such type of methods is known as </a:t>
            </a:r>
            <a:r>
              <a:rPr lang="en-US" b="1" dirty="0"/>
              <a:t>default interface methods(also known as the virtual extension methods)</a:t>
            </a:r>
            <a:r>
              <a:rPr lang="en-US" dirty="0"/>
              <a:t>. </a:t>
            </a:r>
          </a:p>
          <a:p>
            <a:endParaRPr lang="en-US" sz="1050" dirty="0"/>
          </a:p>
          <a:p>
            <a:r>
              <a:rPr lang="en-US" dirty="0"/>
              <a:t>This feature allows programmers to use the traits programming technique (Traits are object-oriented programming technique which allows the reuse of the methods between </a:t>
            </a:r>
            <a:r>
              <a:rPr lang="en-US" b="1" dirty="0"/>
              <a:t>unrelated classes</a:t>
            </a:r>
            <a:r>
              <a:rPr lang="en-US" dirty="0"/>
              <a:t>).</a:t>
            </a:r>
            <a:endParaRPr lang="en-IN" dirty="0"/>
          </a:p>
        </p:txBody>
      </p:sp>
      <p:sp>
        <p:nvSpPr>
          <p:cNvPr id="6" name="TextBox 5">
            <a:extLst>
              <a:ext uri="{FF2B5EF4-FFF2-40B4-BE49-F238E27FC236}">
                <a16:creationId xmlns:a16="http://schemas.microsoft.com/office/drawing/2014/main" id="{F6DA9807-9F0D-0DC9-BFA4-2C1208D4D25E}"/>
              </a:ext>
            </a:extLst>
          </p:cNvPr>
          <p:cNvSpPr txBox="1"/>
          <p:nvPr/>
        </p:nvSpPr>
        <p:spPr>
          <a:xfrm>
            <a:off x="5024285" y="167148"/>
            <a:ext cx="3215148" cy="461665"/>
          </a:xfrm>
          <a:prstGeom prst="rect">
            <a:avLst/>
          </a:prstGeom>
          <a:noFill/>
        </p:spPr>
        <p:txBody>
          <a:bodyPr wrap="square" rtlCol="0">
            <a:spAutoFit/>
          </a:bodyPr>
          <a:lstStyle/>
          <a:p>
            <a:r>
              <a:rPr lang="en-IN" sz="2400" b="1" dirty="0"/>
              <a:t>Interface C# 8</a:t>
            </a:r>
          </a:p>
        </p:txBody>
      </p:sp>
      <p:sp>
        <p:nvSpPr>
          <p:cNvPr id="3" name="TextBox 2">
            <a:extLst>
              <a:ext uri="{FF2B5EF4-FFF2-40B4-BE49-F238E27FC236}">
                <a16:creationId xmlns:a16="http://schemas.microsoft.com/office/drawing/2014/main" id="{390E369A-0CB1-B929-579B-E405EAF052A8}"/>
              </a:ext>
            </a:extLst>
          </p:cNvPr>
          <p:cNvSpPr txBox="1"/>
          <p:nvPr/>
        </p:nvSpPr>
        <p:spPr>
          <a:xfrm>
            <a:off x="83827" y="3143840"/>
            <a:ext cx="11656243" cy="2585323"/>
          </a:xfrm>
          <a:prstGeom prst="rect">
            <a:avLst/>
          </a:prstGeom>
          <a:noFill/>
        </p:spPr>
        <p:txBody>
          <a:bodyPr wrap="square">
            <a:spAutoFit/>
          </a:bodyPr>
          <a:lstStyle/>
          <a:p>
            <a:pPr algn="l"/>
            <a:r>
              <a:rPr lang="en-US" b="1" i="0" dirty="0">
                <a:solidFill>
                  <a:srgbClr val="171717"/>
                </a:solidFill>
                <a:effectLst/>
                <a:latin typeface="Segoe UI" panose="020B0502040204020203" pitchFamily="34" charset="0"/>
              </a:rPr>
              <a:t>Motivation</a:t>
            </a:r>
          </a:p>
          <a:p>
            <a:pPr algn="l"/>
            <a:r>
              <a:rPr lang="en-US" b="0" i="0" dirty="0">
                <a:solidFill>
                  <a:srgbClr val="171717"/>
                </a:solidFill>
                <a:effectLst/>
                <a:latin typeface="Segoe UI" panose="020B0502040204020203" pitchFamily="34" charset="0"/>
              </a:rPr>
              <a:t>The principal motivations for this feature are</a:t>
            </a:r>
          </a:p>
          <a:p>
            <a:pPr algn="l">
              <a:buFont typeface="Arial" panose="020B0604020202020204" pitchFamily="34" charset="0"/>
              <a:buChar char="•"/>
            </a:pPr>
            <a:r>
              <a:rPr lang="en-US" b="0" i="0" dirty="0">
                <a:solidFill>
                  <a:srgbClr val="171717"/>
                </a:solidFill>
                <a:effectLst/>
                <a:latin typeface="Segoe UI" panose="020B0502040204020203" pitchFamily="34" charset="0"/>
              </a:rPr>
              <a:t>Default interface methods enable an API author to add methods to an interface in future versions without breaking source or binary compatibility with existing implementations of that interface.</a:t>
            </a:r>
          </a:p>
          <a:p>
            <a:pPr algn="l">
              <a:buFont typeface="Arial" panose="020B0604020202020204" pitchFamily="34" charset="0"/>
              <a:buChar char="•"/>
            </a:pPr>
            <a:r>
              <a:rPr lang="en-US" b="0" i="0" dirty="0">
                <a:solidFill>
                  <a:srgbClr val="171717"/>
                </a:solidFill>
                <a:effectLst/>
                <a:latin typeface="Segoe UI" panose="020B0502040204020203" pitchFamily="34" charset="0"/>
              </a:rPr>
              <a:t>The feature enables C# to interoperate with APIs targeting </a:t>
            </a:r>
            <a:r>
              <a:rPr lang="en-US" b="0" i="0" u="none" strike="noStrike" dirty="0">
                <a:solidFill>
                  <a:srgbClr val="171717"/>
                </a:solidFill>
                <a:effectLst/>
                <a:latin typeface="Segoe UI" panose="020B0502040204020203" pitchFamily="34" charset="0"/>
                <a:hlinkClick r:id="rId2"/>
              </a:rPr>
              <a:t>Android (Java)</a:t>
            </a:r>
            <a:r>
              <a:rPr lang="en-US" b="0" i="0" dirty="0">
                <a:solidFill>
                  <a:srgbClr val="171717"/>
                </a:solidFill>
                <a:effectLst/>
                <a:latin typeface="Segoe UI" panose="020B0502040204020203" pitchFamily="34" charset="0"/>
              </a:rPr>
              <a:t> and </a:t>
            </a:r>
            <a:r>
              <a:rPr lang="en-US" b="0" i="0" u="none" strike="noStrike" dirty="0">
                <a:solidFill>
                  <a:srgbClr val="171717"/>
                </a:solidFill>
                <a:effectLst/>
                <a:latin typeface="Segoe UI" panose="020B0502040204020203" pitchFamily="34" charset="0"/>
                <a:hlinkClick r:id="rId3"/>
              </a:rPr>
              <a:t>iOS (Swift)</a:t>
            </a:r>
            <a:r>
              <a:rPr lang="en-US" b="0" i="0" dirty="0">
                <a:solidFill>
                  <a:srgbClr val="171717"/>
                </a:solidFill>
                <a:effectLst/>
                <a:latin typeface="Segoe UI" panose="020B0502040204020203" pitchFamily="34" charset="0"/>
              </a:rPr>
              <a:t>, which support similar features.</a:t>
            </a:r>
          </a:p>
          <a:p>
            <a:pPr algn="l">
              <a:buFont typeface="Arial" panose="020B0604020202020204" pitchFamily="34" charset="0"/>
              <a:buChar char="•"/>
            </a:pPr>
            <a:r>
              <a:rPr lang="en-US" b="0" i="0" dirty="0">
                <a:solidFill>
                  <a:srgbClr val="171717"/>
                </a:solidFill>
                <a:effectLst/>
                <a:latin typeface="Segoe UI" panose="020B0502040204020203" pitchFamily="34" charset="0"/>
              </a:rPr>
              <a:t>As it turns out, adding default interface implementations provides the elements of the "traits" language feature (</a:t>
            </a:r>
            <a:r>
              <a:rPr lang="en-US" b="0" i="0" u="none" strike="noStrike" dirty="0">
                <a:solidFill>
                  <a:srgbClr val="171717"/>
                </a:solidFill>
                <a:effectLst/>
                <a:latin typeface="Segoe UI" panose="020B0502040204020203" pitchFamily="34" charset="0"/>
                <a:hlinkClick r:id="rId4"/>
              </a:rPr>
              <a:t>https://en.wikipedia.org/wiki/Trait_(computer_programming)</a:t>
            </a:r>
            <a:r>
              <a:rPr lang="en-US" b="0" i="0" dirty="0">
                <a:solidFill>
                  <a:srgbClr val="171717"/>
                </a:solidFill>
                <a:effectLst/>
                <a:latin typeface="Segoe UI" panose="020B0502040204020203" pitchFamily="34" charset="0"/>
              </a:rPr>
              <a:t>). Traits have proven to be a powerful programming technique (</a:t>
            </a:r>
            <a:r>
              <a:rPr lang="en-US" b="0" i="0" u="none" strike="noStrike" dirty="0">
                <a:solidFill>
                  <a:srgbClr val="171717"/>
                </a:solidFill>
                <a:effectLst/>
                <a:latin typeface="Segoe UI" panose="020B0502040204020203" pitchFamily="34" charset="0"/>
                <a:hlinkClick r:id="rId5"/>
              </a:rPr>
              <a:t>http://scg.unibe.ch/archive/papers/Scha03aTraits.pdf</a:t>
            </a:r>
            <a:r>
              <a:rPr lang="en-US" b="0" i="0" dirty="0">
                <a:solidFill>
                  <a:srgbClr val="171717"/>
                </a:solidFill>
                <a:effectLst/>
                <a:latin typeface="Segoe UI" panose="020B0502040204020203" pitchFamily="34" charset="0"/>
              </a:rPr>
              <a:t>).</a:t>
            </a:r>
          </a:p>
        </p:txBody>
      </p:sp>
    </p:spTree>
    <p:extLst>
      <p:ext uri="{BB962C8B-B14F-4D97-AF65-F5344CB8AC3E}">
        <p14:creationId xmlns:p14="http://schemas.microsoft.com/office/powerpoint/2010/main" val="869439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19A8ED-58D4-CE93-FB51-82B4E9F21D5F}"/>
              </a:ext>
            </a:extLst>
          </p:cNvPr>
          <p:cNvSpPr txBox="1"/>
          <p:nvPr/>
        </p:nvSpPr>
        <p:spPr>
          <a:xfrm>
            <a:off x="3913240" y="159463"/>
            <a:ext cx="3077496" cy="369332"/>
          </a:xfrm>
          <a:prstGeom prst="rect">
            <a:avLst/>
          </a:prstGeom>
          <a:noFill/>
        </p:spPr>
        <p:txBody>
          <a:bodyPr wrap="square">
            <a:spAutoFit/>
          </a:bodyPr>
          <a:lstStyle/>
          <a:p>
            <a:r>
              <a:rPr lang="en-IN" b="1" dirty="0"/>
              <a:t>Important Points:</a:t>
            </a:r>
            <a:endParaRPr lang="en-IN" dirty="0"/>
          </a:p>
        </p:txBody>
      </p:sp>
      <p:sp>
        <p:nvSpPr>
          <p:cNvPr id="7" name="TextBox 6">
            <a:extLst>
              <a:ext uri="{FF2B5EF4-FFF2-40B4-BE49-F238E27FC236}">
                <a16:creationId xmlns:a16="http://schemas.microsoft.com/office/drawing/2014/main" id="{791E2733-7E10-AB1B-708F-96F881CC6840}"/>
              </a:ext>
            </a:extLst>
          </p:cNvPr>
          <p:cNvSpPr txBox="1"/>
          <p:nvPr/>
        </p:nvSpPr>
        <p:spPr>
          <a:xfrm>
            <a:off x="127820" y="720852"/>
            <a:ext cx="11897032" cy="5078313"/>
          </a:xfrm>
          <a:prstGeom prst="rect">
            <a:avLst/>
          </a:prstGeom>
          <a:noFill/>
        </p:spPr>
        <p:txBody>
          <a:bodyPr wrap="square">
            <a:spAutoFit/>
          </a:bodyPr>
          <a:lstStyle/>
          <a:p>
            <a:pPr>
              <a:buFont typeface="Arial" panose="020B0604020202020204" pitchFamily="34" charset="0"/>
              <a:buChar char="•"/>
            </a:pPr>
            <a:r>
              <a:rPr lang="en-US" dirty="0"/>
              <a:t>You are allowed to implement indexer, property, or event accessor in the interface.</a:t>
            </a:r>
          </a:p>
          <a:p>
            <a:pPr>
              <a:buFont typeface="Arial" panose="020B0604020202020204" pitchFamily="34" charset="0"/>
              <a:buChar char="•"/>
            </a:pPr>
            <a:r>
              <a:rPr lang="en-US" dirty="0"/>
              <a:t>You are allowed to use access modifiers like private, protected, internal, public, virtual, abstract, override, sealed, static, extern with default methods, properties, etc. in the interface. And be careful while using modifier keywords.</a:t>
            </a:r>
          </a:p>
          <a:p>
            <a:pPr>
              <a:buFont typeface="Arial" panose="020B0604020202020204" pitchFamily="34" charset="0"/>
              <a:buChar char="•"/>
            </a:pPr>
            <a:endParaRPr lang="en-US" dirty="0"/>
          </a:p>
          <a:p>
            <a:pPr>
              <a:buFont typeface="Arial" panose="020B0604020202020204" pitchFamily="34" charset="0"/>
              <a:buChar char="•"/>
            </a:pPr>
            <a:r>
              <a:rPr lang="en-US" dirty="0"/>
              <a:t>You are allowed to </a:t>
            </a:r>
            <a:r>
              <a:rPr lang="en-US" dirty="0">
                <a:highlight>
                  <a:srgbClr val="FFFF00"/>
                </a:highlight>
              </a:rPr>
              <a:t>create static fields, methods, properties, indexers, and events </a:t>
            </a:r>
            <a:r>
              <a:rPr lang="en-US" dirty="0"/>
              <a:t>in the interface.</a:t>
            </a:r>
          </a:p>
          <a:p>
            <a:pPr>
              <a:buFont typeface="Arial" panose="020B0604020202020204" pitchFamily="34" charset="0"/>
              <a:buChar char="•"/>
            </a:pPr>
            <a:r>
              <a:rPr lang="en-US" dirty="0"/>
              <a:t>You can override modifiers.</a:t>
            </a:r>
          </a:p>
          <a:p>
            <a:pPr>
              <a:buFont typeface="Arial" panose="020B0604020202020204" pitchFamily="34" charset="0"/>
              <a:buChar char="•"/>
            </a:pPr>
            <a:r>
              <a:rPr lang="en-US" dirty="0"/>
              <a:t>The </a:t>
            </a:r>
            <a:r>
              <a:rPr lang="en-US" b="1" dirty="0"/>
              <a:t>explicit access modifiers</a:t>
            </a:r>
            <a:r>
              <a:rPr lang="en-US" dirty="0"/>
              <a:t> with default access are </a:t>
            </a:r>
            <a:r>
              <a:rPr lang="en-US" b="1" dirty="0"/>
              <a:t>public</a:t>
            </a:r>
            <a:r>
              <a:rPr lang="en-US" dirty="0"/>
              <a:t>.</a:t>
            </a:r>
          </a:p>
          <a:p>
            <a:pPr>
              <a:buFont typeface="Arial" panose="020B0604020202020204" pitchFamily="34" charset="0"/>
              <a:buChar char="•"/>
            </a:pPr>
            <a:endParaRPr lang="en-US" dirty="0"/>
          </a:p>
          <a:p>
            <a:pPr>
              <a:buFont typeface="Arial" panose="020B0604020202020204" pitchFamily="34" charset="0"/>
              <a:buChar char="•"/>
            </a:pPr>
            <a:r>
              <a:rPr lang="en-US" dirty="0"/>
              <a:t>If an interface contains default method and inherited by some specified class, then the class does not know anything about the existence of the default methods of that interface and also does not contain the implementation of the default method.</a:t>
            </a:r>
          </a:p>
          <a:p>
            <a:pPr>
              <a:buFont typeface="Arial" panose="020B0604020202020204" pitchFamily="34" charset="0"/>
              <a:buChar char="•"/>
            </a:pPr>
            <a:endParaRPr lang="en-US" dirty="0"/>
          </a:p>
          <a:p>
            <a:pPr>
              <a:buFont typeface="Arial" panose="020B0604020202020204" pitchFamily="34" charset="0"/>
              <a:buChar char="•"/>
            </a:pPr>
            <a:r>
              <a:rPr lang="en-US" dirty="0"/>
              <a:t>If you override a default method, then there </a:t>
            </a:r>
            <a:r>
              <a:rPr lang="en-US" b="1" dirty="0"/>
              <a:t>is no need to use any modifier</a:t>
            </a:r>
            <a:r>
              <a:rPr lang="en-US" dirty="0"/>
              <a:t>. As shown in example 2.</a:t>
            </a:r>
          </a:p>
          <a:p>
            <a:pPr>
              <a:buFont typeface="Arial" panose="020B0604020202020204" pitchFamily="34" charset="0"/>
              <a:buChar char="•"/>
            </a:pPr>
            <a:endParaRPr lang="en-US" dirty="0"/>
          </a:p>
          <a:p>
            <a:pPr>
              <a:buFont typeface="Arial" panose="020B0604020202020204" pitchFamily="34" charset="0"/>
              <a:buChar char="•"/>
            </a:pPr>
            <a:r>
              <a:rPr lang="en-US" dirty="0"/>
              <a:t>You are allowed to use parameters in the default method. As shown in example 3.</a:t>
            </a:r>
          </a:p>
          <a:p>
            <a:pPr>
              <a:buFont typeface="Arial" panose="020B0604020202020204" pitchFamily="34" charset="0"/>
              <a:buChar char="•"/>
            </a:pPr>
            <a:endParaRPr lang="en-US" dirty="0"/>
          </a:p>
          <a:p>
            <a:pPr>
              <a:buFont typeface="Arial" panose="020B0604020202020204" pitchFamily="34" charset="0"/>
              <a:buChar char="•"/>
            </a:pPr>
            <a:r>
              <a:rPr lang="en-US" dirty="0"/>
              <a:t>You are allowed to use the same name methods in the interface, but they must have different parameter lists. As shown in example 3.</a:t>
            </a:r>
          </a:p>
          <a:p>
            <a:pPr>
              <a:buFont typeface="Arial" panose="020B0604020202020204" pitchFamily="34" charset="0"/>
              <a:buChar char="•"/>
            </a:pPr>
            <a:r>
              <a:rPr lang="en-US" dirty="0"/>
              <a:t>You are allowed to extend the default method.</a:t>
            </a:r>
          </a:p>
        </p:txBody>
      </p:sp>
    </p:spTree>
    <p:extLst>
      <p:ext uri="{BB962C8B-B14F-4D97-AF65-F5344CB8AC3E}">
        <p14:creationId xmlns:p14="http://schemas.microsoft.com/office/powerpoint/2010/main" val="2138933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5C66AC2-4F3A-6436-F9EE-F816C40911BE}"/>
              </a:ext>
            </a:extLst>
          </p:cNvPr>
          <p:cNvSpPr txBox="1"/>
          <p:nvPr/>
        </p:nvSpPr>
        <p:spPr>
          <a:xfrm>
            <a:off x="127261" y="900536"/>
            <a:ext cx="11514841" cy="3970318"/>
          </a:xfrm>
          <a:prstGeom prst="rect">
            <a:avLst/>
          </a:prstGeom>
          <a:noFill/>
        </p:spPr>
        <p:txBody>
          <a:bodyPr wrap="square">
            <a:spAutoFit/>
          </a:bodyPr>
          <a:lstStyle/>
          <a:p>
            <a:pPr algn="l"/>
            <a:r>
              <a:rPr lang="en-US" b="0" i="0" dirty="0">
                <a:solidFill>
                  <a:srgbClr val="202122"/>
                </a:solidFill>
                <a:effectLst/>
                <a:latin typeface="Arial" panose="020B0604020202020204" pitchFamily="34" charset="0"/>
              </a:rPr>
              <a:t>In object-oriented programming, behavior is sometimes shared between classes which are not related to each other. </a:t>
            </a:r>
          </a:p>
          <a:p>
            <a:pPr algn="l"/>
            <a:r>
              <a:rPr lang="en-US" b="0" i="0" dirty="0">
                <a:solidFill>
                  <a:srgbClr val="202122"/>
                </a:solidFill>
                <a:effectLst/>
                <a:latin typeface="Arial" panose="020B0604020202020204" pitchFamily="34" charset="0"/>
              </a:rPr>
              <a:t>For example, many unrelated classes may have methods to </a:t>
            </a:r>
            <a:r>
              <a:rPr lang="en-US" b="0" i="0" u="none" strike="noStrike" dirty="0">
                <a:solidFill>
                  <a:srgbClr val="0645AD"/>
                </a:solidFill>
                <a:effectLst/>
                <a:latin typeface="Arial" panose="020B0604020202020204" pitchFamily="34" charset="0"/>
                <a:hlinkClick r:id="rId2" tooltip="Serialization"/>
              </a:rPr>
              <a:t>serialize</a:t>
            </a:r>
            <a:r>
              <a:rPr lang="en-US" b="0" i="0" dirty="0">
                <a:solidFill>
                  <a:srgbClr val="202122"/>
                </a:solidFill>
                <a:effectLst/>
                <a:latin typeface="Arial" panose="020B0604020202020204" pitchFamily="34" charset="0"/>
              </a:rPr>
              <a:t> objects to </a:t>
            </a:r>
            <a:r>
              <a:rPr lang="en-US" b="0" i="0" u="none" strike="noStrike" dirty="0">
                <a:solidFill>
                  <a:srgbClr val="0645AD"/>
                </a:solidFill>
                <a:effectLst/>
                <a:latin typeface="Arial" panose="020B0604020202020204" pitchFamily="34" charset="0"/>
                <a:hlinkClick r:id="rId3" tooltip="JSON"/>
              </a:rPr>
              <a:t>JSON</a:t>
            </a:r>
            <a:r>
              <a:rPr lang="en-US" b="0" i="0" dirty="0">
                <a:solidFill>
                  <a:srgbClr val="202122"/>
                </a:solidFill>
                <a:effectLst/>
                <a:latin typeface="Arial" panose="020B0604020202020204" pitchFamily="34" charset="0"/>
              </a:rPr>
              <a:t>. </a:t>
            </a:r>
          </a:p>
          <a:p>
            <a:pPr algn="l"/>
            <a:endParaRPr lang="en-US" dirty="0">
              <a:solidFill>
                <a:srgbClr val="202122"/>
              </a:solidFill>
              <a:latin typeface="Arial" panose="020B0604020202020204" pitchFamily="34" charset="0"/>
            </a:endParaRPr>
          </a:p>
          <a:p>
            <a:pPr algn="l"/>
            <a:r>
              <a:rPr lang="en-US" b="0" i="0" dirty="0">
                <a:solidFill>
                  <a:srgbClr val="202122"/>
                </a:solidFill>
                <a:effectLst/>
                <a:latin typeface="Arial" panose="020B0604020202020204" pitchFamily="34" charset="0"/>
              </a:rPr>
              <a:t>Historically, there have been several approaches to solve this without duplicating the code in every class needing the behavior. </a:t>
            </a:r>
          </a:p>
          <a:p>
            <a:pPr algn="l"/>
            <a:endParaRPr lang="en-US" dirty="0">
              <a:solidFill>
                <a:srgbClr val="202122"/>
              </a:solidFill>
              <a:latin typeface="Arial" panose="020B0604020202020204" pitchFamily="34" charset="0"/>
            </a:endParaRPr>
          </a:p>
          <a:p>
            <a:pPr algn="l"/>
            <a:r>
              <a:rPr lang="en-US" b="0" i="0" dirty="0">
                <a:solidFill>
                  <a:srgbClr val="202122"/>
                </a:solidFill>
                <a:effectLst/>
                <a:latin typeface="Arial" panose="020B0604020202020204" pitchFamily="34" charset="0"/>
              </a:rPr>
              <a:t>Other approaches include </a:t>
            </a:r>
            <a:r>
              <a:rPr lang="en-US" b="0" i="0" u="none" strike="noStrike" dirty="0">
                <a:solidFill>
                  <a:srgbClr val="0645AD"/>
                </a:solidFill>
                <a:effectLst/>
                <a:latin typeface="Arial" panose="020B0604020202020204" pitchFamily="34" charset="0"/>
                <a:hlinkClick r:id="rId4" tooltip="Multiple inheritance"/>
              </a:rPr>
              <a:t>multiple inheritance</a:t>
            </a:r>
            <a:r>
              <a:rPr lang="en-US" b="0" i="0" dirty="0">
                <a:solidFill>
                  <a:srgbClr val="202122"/>
                </a:solidFill>
                <a:effectLst/>
                <a:latin typeface="Arial" panose="020B0604020202020204" pitchFamily="34" charset="0"/>
              </a:rPr>
              <a:t> and </a:t>
            </a:r>
            <a:r>
              <a:rPr lang="en-US" b="0" i="0" u="none" strike="noStrike" dirty="0" err="1">
                <a:solidFill>
                  <a:srgbClr val="0645AD"/>
                </a:solidFill>
                <a:effectLst/>
                <a:latin typeface="Arial" panose="020B0604020202020204" pitchFamily="34" charset="0"/>
                <a:hlinkClick r:id="rId5" tooltip="Mixin"/>
              </a:rPr>
              <a:t>mixins</a:t>
            </a:r>
            <a:r>
              <a:rPr lang="en-US" b="0" i="0" dirty="0">
                <a:solidFill>
                  <a:srgbClr val="202122"/>
                </a:solidFill>
                <a:effectLst/>
                <a:latin typeface="Arial" panose="020B0604020202020204" pitchFamily="34" charset="0"/>
              </a:rPr>
              <a:t>, but these have drawbacks: the behavior of the code may unexpectedly change if the order in which the </a:t>
            </a:r>
            <a:r>
              <a:rPr lang="en-US" b="0" i="0" dirty="0" err="1">
                <a:solidFill>
                  <a:srgbClr val="202122"/>
                </a:solidFill>
                <a:effectLst/>
                <a:latin typeface="Arial" panose="020B0604020202020204" pitchFamily="34" charset="0"/>
              </a:rPr>
              <a:t>mixins</a:t>
            </a:r>
            <a:r>
              <a:rPr lang="en-US" b="0" i="0" dirty="0">
                <a:solidFill>
                  <a:srgbClr val="202122"/>
                </a:solidFill>
                <a:effectLst/>
                <a:latin typeface="Arial" panose="020B0604020202020204" pitchFamily="34" charset="0"/>
              </a:rPr>
              <a:t> are applied is altered, or if new methods are added to the parent classes or </a:t>
            </a:r>
            <a:r>
              <a:rPr lang="en-US" b="0" i="0" dirty="0" err="1">
                <a:solidFill>
                  <a:srgbClr val="202122"/>
                </a:solidFill>
                <a:effectLst/>
                <a:latin typeface="Arial" panose="020B0604020202020204" pitchFamily="34" charset="0"/>
              </a:rPr>
              <a:t>mixins</a:t>
            </a:r>
            <a:r>
              <a:rPr lang="en-US" b="0" i="0" dirty="0">
                <a:solidFill>
                  <a:srgbClr val="202122"/>
                </a:solidFill>
                <a:effectLst/>
                <a:latin typeface="Arial" panose="020B0604020202020204" pitchFamily="34" charset="0"/>
              </a:rPr>
              <a:t>.</a:t>
            </a:r>
          </a:p>
          <a:p>
            <a:pPr algn="l"/>
            <a:endParaRPr lang="en-US" b="0" i="0" dirty="0">
              <a:solidFill>
                <a:srgbClr val="202122"/>
              </a:solidFill>
              <a:effectLst/>
              <a:latin typeface="Arial" panose="020B0604020202020204" pitchFamily="34" charset="0"/>
            </a:endParaRPr>
          </a:p>
          <a:p>
            <a:pPr algn="l"/>
            <a:r>
              <a:rPr lang="en-US" b="0" i="0" dirty="0">
                <a:solidFill>
                  <a:srgbClr val="202122"/>
                </a:solidFill>
                <a:effectLst/>
                <a:latin typeface="Arial" panose="020B0604020202020204" pitchFamily="34" charset="0"/>
              </a:rPr>
              <a:t>Traits solve these problems by allowing classes to use the trait and get the desired behavior. If a class uses more than one trait, the order in which the traits are used does not matter. The methods provided by the traits have direct access to the data of the class.</a:t>
            </a:r>
          </a:p>
        </p:txBody>
      </p:sp>
      <p:sp>
        <p:nvSpPr>
          <p:cNvPr id="6" name="TextBox 5">
            <a:extLst>
              <a:ext uri="{FF2B5EF4-FFF2-40B4-BE49-F238E27FC236}">
                <a16:creationId xmlns:a16="http://schemas.microsoft.com/office/drawing/2014/main" id="{C4F50BF6-7E70-A890-2168-425DB7441CE8}"/>
              </a:ext>
            </a:extLst>
          </p:cNvPr>
          <p:cNvSpPr txBox="1"/>
          <p:nvPr/>
        </p:nvSpPr>
        <p:spPr>
          <a:xfrm>
            <a:off x="2229440" y="5139668"/>
            <a:ext cx="6136848" cy="6463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r>
              <a:rPr lang="en-US" b="0" i="0" dirty="0">
                <a:solidFill>
                  <a:srgbClr val="202124"/>
                </a:solidFill>
                <a:effectLst/>
                <a:latin typeface="arial" panose="020B0604020202020204" pitchFamily="34" charset="0"/>
              </a:rPr>
              <a:t>C# 8 will be fully supported on </a:t>
            </a:r>
            <a:r>
              <a:rPr lang="en-US" b="1" i="0" dirty="0">
                <a:solidFill>
                  <a:srgbClr val="202124"/>
                </a:solidFill>
                <a:effectLst/>
                <a:latin typeface="arial" panose="020B0604020202020204" pitchFamily="34" charset="0"/>
              </a:rPr>
              <a:t>.</a:t>
            </a:r>
            <a:r>
              <a:rPr lang="en-US" b="0" i="0" dirty="0">
                <a:solidFill>
                  <a:srgbClr val="202124"/>
                </a:solidFill>
                <a:effectLst/>
                <a:latin typeface="arial" panose="020B0604020202020204" pitchFamily="34" charset="0"/>
              </a:rPr>
              <a:t> </a:t>
            </a:r>
            <a:r>
              <a:rPr lang="en-US" b="1" i="0" dirty="0">
                <a:solidFill>
                  <a:srgbClr val="202124"/>
                </a:solidFill>
                <a:effectLst/>
                <a:latin typeface="arial" panose="020B0604020202020204" pitchFamily="34" charset="0"/>
              </a:rPr>
              <a:t>net core 3.0 and .</a:t>
            </a:r>
            <a:r>
              <a:rPr lang="en-US" b="0" i="0" dirty="0">
                <a:solidFill>
                  <a:srgbClr val="202124"/>
                </a:solidFill>
                <a:effectLst/>
                <a:latin typeface="arial" panose="020B0604020202020204" pitchFamily="34" charset="0"/>
              </a:rPr>
              <a:t> </a:t>
            </a:r>
            <a:r>
              <a:rPr lang="en-US" b="1" i="0" dirty="0">
                <a:solidFill>
                  <a:srgbClr val="202124"/>
                </a:solidFill>
                <a:effectLst/>
                <a:latin typeface="arial" panose="020B0604020202020204" pitchFamily="34" charset="0"/>
              </a:rPr>
              <a:t>net standard 2.1</a:t>
            </a:r>
            <a:r>
              <a:rPr lang="en-US" b="0" i="0" dirty="0">
                <a:solidFill>
                  <a:srgbClr val="202124"/>
                </a:solidFill>
                <a:effectLst/>
                <a:latin typeface="arial" panose="020B0604020202020204" pitchFamily="34" charset="0"/>
              </a:rPr>
              <a:t> only</a:t>
            </a:r>
            <a:endParaRPr lang="en-IN" dirty="0"/>
          </a:p>
        </p:txBody>
      </p:sp>
    </p:spTree>
    <p:extLst>
      <p:ext uri="{BB962C8B-B14F-4D97-AF65-F5344CB8AC3E}">
        <p14:creationId xmlns:p14="http://schemas.microsoft.com/office/powerpoint/2010/main" val="14439153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9D5ADDD-5F1C-6CE8-6F1F-55D9DA1AF368}"/>
              </a:ext>
            </a:extLst>
          </p:cNvPr>
          <p:cNvSpPr txBox="1"/>
          <p:nvPr/>
        </p:nvSpPr>
        <p:spPr>
          <a:xfrm>
            <a:off x="1160207" y="0"/>
            <a:ext cx="5122605" cy="2585323"/>
          </a:xfrm>
          <a:prstGeom prst="rect">
            <a:avLst/>
          </a:prstGeom>
          <a:noFill/>
        </p:spPr>
        <p:txBody>
          <a:bodyPr wrap="square">
            <a:spAutoFit/>
          </a:bodyPr>
          <a:lstStyle/>
          <a:p>
            <a:r>
              <a:rPr lang="en-US" dirty="0"/>
              <a:t>Now discuss this concept with the help of the given example. In this example, we have an interface named </a:t>
            </a:r>
            <a:r>
              <a:rPr lang="en-US" i="1" dirty="0" err="1"/>
              <a:t>I_interface</a:t>
            </a:r>
            <a:r>
              <a:rPr lang="en-US" dirty="0"/>
              <a:t> which contains two methods, i.e. </a:t>
            </a:r>
            <a:r>
              <a:rPr lang="en-US" i="1" dirty="0"/>
              <a:t>display_1</a:t>
            </a:r>
            <a:r>
              <a:rPr lang="en-US" dirty="0"/>
              <a:t> and </a:t>
            </a:r>
            <a:r>
              <a:rPr lang="en-US" i="1" dirty="0"/>
              <a:t>display_2</a:t>
            </a:r>
            <a:r>
              <a:rPr lang="en-US" dirty="0"/>
              <a:t>. Here, the </a:t>
            </a:r>
            <a:r>
              <a:rPr lang="en-US" i="1" dirty="0"/>
              <a:t>display_1()</a:t>
            </a:r>
            <a:r>
              <a:rPr lang="en-US" dirty="0"/>
              <a:t> method is only declared in the </a:t>
            </a:r>
            <a:r>
              <a:rPr lang="en-US" i="1" dirty="0" err="1"/>
              <a:t>I_interface</a:t>
            </a:r>
            <a:r>
              <a:rPr lang="en-US" dirty="0"/>
              <a:t> and does not contain its definition, whereas the </a:t>
            </a:r>
            <a:r>
              <a:rPr lang="en-US" i="1" dirty="0"/>
              <a:t>display_2()</a:t>
            </a:r>
            <a:r>
              <a:rPr lang="en-US" dirty="0"/>
              <a:t> method contains both declaration and its definition, such type of method is known as default interface methods.</a:t>
            </a:r>
            <a:endParaRPr lang="en-IN" dirty="0"/>
          </a:p>
        </p:txBody>
      </p:sp>
      <p:sp>
        <p:nvSpPr>
          <p:cNvPr id="6" name="Rectangle 1">
            <a:extLst>
              <a:ext uri="{FF2B5EF4-FFF2-40B4-BE49-F238E27FC236}">
                <a16:creationId xmlns:a16="http://schemas.microsoft.com/office/drawing/2014/main" id="{F4490644-6BE1-5A90-1E6D-8231347856E0}"/>
              </a:ext>
            </a:extLst>
          </p:cNvPr>
          <p:cNvSpPr>
            <a:spLocks noChangeArrowheads="1"/>
          </p:cNvSpPr>
          <p:nvPr/>
        </p:nvSpPr>
        <p:spPr bwMode="auto">
          <a:xfrm>
            <a:off x="6390967" y="3447097"/>
            <a:ext cx="61844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07135A18-3B30-8AB8-E6A8-2CA144FEC4F9}"/>
              </a:ext>
            </a:extLst>
          </p:cNvPr>
          <p:cNvSpPr txBox="1"/>
          <p:nvPr/>
        </p:nvSpPr>
        <p:spPr>
          <a:xfrm>
            <a:off x="63908" y="2267969"/>
            <a:ext cx="6474543" cy="4524315"/>
          </a:xfrm>
          <a:prstGeom prst="rect">
            <a:avLst/>
          </a:prstGeom>
          <a:noFill/>
        </p:spPr>
        <p:txBody>
          <a:bodyPr wrap="square">
            <a:spAutoFit/>
          </a:bodyPr>
          <a:lstStyle/>
          <a:p>
            <a:r>
              <a:rPr lang="en-US" dirty="0"/>
              <a:t>Output:</a:t>
            </a:r>
          </a:p>
          <a:p>
            <a:r>
              <a:rPr lang="en-US" dirty="0"/>
              <a:t>Hello!! Method</a:t>
            </a:r>
          </a:p>
          <a:p>
            <a:r>
              <a:rPr lang="en-US" dirty="0"/>
              <a:t>Hello!! Default Method</a:t>
            </a:r>
          </a:p>
          <a:p>
            <a:endParaRPr lang="en-US" dirty="0"/>
          </a:p>
          <a:p>
            <a:r>
              <a:rPr lang="en-US" dirty="0"/>
              <a:t>Now, we call the display_2() method with the help of the </a:t>
            </a:r>
            <a:r>
              <a:rPr lang="en-US" dirty="0" err="1"/>
              <a:t>I_interface</a:t>
            </a:r>
            <a:r>
              <a:rPr lang="en-US" dirty="0"/>
              <a:t> interface. If you try to call this method with the class object</a:t>
            </a:r>
          </a:p>
          <a:p>
            <a:endParaRPr lang="en-US" dirty="0"/>
          </a:p>
          <a:p>
            <a:r>
              <a:rPr lang="en-US" dirty="0"/>
              <a:t>// Calling default method</a:t>
            </a:r>
          </a:p>
          <a:p>
            <a:r>
              <a:rPr lang="en-US" dirty="0"/>
              <a:t>// With the help of </a:t>
            </a:r>
            <a:r>
              <a:rPr lang="en-US" dirty="0" err="1"/>
              <a:t>Example_Class</a:t>
            </a:r>
            <a:r>
              <a:rPr lang="en-US" dirty="0"/>
              <a:t> object</a:t>
            </a:r>
          </a:p>
          <a:p>
            <a:r>
              <a:rPr lang="en-US" dirty="0"/>
              <a:t>t.display_2();</a:t>
            </a:r>
          </a:p>
          <a:p>
            <a:r>
              <a:rPr lang="en-US" dirty="0"/>
              <a:t>then the compiler will give an error as shown below:</a:t>
            </a:r>
          </a:p>
          <a:p>
            <a:r>
              <a:rPr lang="en-US" dirty="0">
                <a:solidFill>
                  <a:srgbClr val="FF0000"/>
                </a:solidFill>
              </a:rPr>
              <a:t>    Error </a:t>
            </a:r>
            <a:r>
              <a:rPr lang="en-US" dirty="0"/>
              <a:t>CS1061: ‘</a:t>
            </a:r>
            <a:r>
              <a:rPr lang="en-US" dirty="0" err="1"/>
              <a:t>Example_Class</a:t>
            </a:r>
            <a:r>
              <a:rPr lang="en-US" dirty="0"/>
              <a:t>’ does not contain a definition for ‘display_2’ and no accessible extension method ‘display_2’ accepting a first argument of type ‘</a:t>
            </a:r>
            <a:r>
              <a:rPr lang="en-US" dirty="0" err="1"/>
              <a:t>Example_Class</a:t>
            </a:r>
            <a:r>
              <a:rPr lang="en-US" dirty="0"/>
              <a:t>’ could be found (are you missing a using directive or an assembly reference?)</a:t>
            </a:r>
            <a:endParaRPr lang="en-IN" dirty="0"/>
          </a:p>
        </p:txBody>
      </p:sp>
      <p:sp>
        <p:nvSpPr>
          <p:cNvPr id="3" name="TextBox 2">
            <a:extLst>
              <a:ext uri="{FF2B5EF4-FFF2-40B4-BE49-F238E27FC236}">
                <a16:creationId xmlns:a16="http://schemas.microsoft.com/office/drawing/2014/main" id="{E3BFF8C5-F643-3DEA-CE87-EA967565457E}"/>
              </a:ext>
            </a:extLst>
          </p:cNvPr>
          <p:cNvSpPr txBox="1"/>
          <p:nvPr/>
        </p:nvSpPr>
        <p:spPr>
          <a:xfrm>
            <a:off x="6535412" y="65716"/>
            <a:ext cx="6330098" cy="6401753"/>
          </a:xfrm>
          <a:prstGeom prst="rect">
            <a:avLst/>
          </a:prstGeom>
          <a:noFill/>
        </p:spPr>
        <p:txBody>
          <a:bodyPr wrap="square">
            <a:spAutoFit/>
          </a:bodyPr>
          <a:lstStyle/>
          <a:p>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System;</a:t>
            </a:r>
          </a:p>
          <a:p>
            <a:endParaRPr lang="en-IN" sz="1000" dirty="0">
              <a:solidFill>
                <a:srgbClr val="000000"/>
              </a:solidFill>
              <a:latin typeface="Cascadia Mono" panose="020B0609020000020004" pitchFamily="49" charset="0"/>
            </a:endParaRPr>
          </a:p>
          <a:p>
            <a:r>
              <a:rPr lang="en-IN" sz="1000" dirty="0">
                <a:solidFill>
                  <a:srgbClr val="0000FF"/>
                </a:solidFill>
                <a:latin typeface="Cascadia Mono" panose="020B0609020000020004" pitchFamily="49" charset="0"/>
              </a:rPr>
              <a:t>namespace</a:t>
            </a:r>
            <a:r>
              <a:rPr lang="en-IN" sz="1000" dirty="0">
                <a:solidFill>
                  <a:srgbClr val="000000"/>
                </a:solidFill>
                <a:latin typeface="Cascadia Mono" panose="020B0609020000020004" pitchFamily="49" charset="0"/>
              </a:rPr>
              <a:t> ConsoleApp6interface</a:t>
            </a:r>
          </a:p>
          <a:p>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System;</a:t>
            </a:r>
          </a:p>
          <a:p>
            <a:r>
              <a:rPr lang="en-IN" sz="1000" dirty="0">
                <a:solidFill>
                  <a:srgbClr val="000000"/>
                </a:solidFill>
                <a:latin typeface="Cascadia Mono" panose="020B0609020000020004" pitchFamily="49" charset="0"/>
              </a:rPr>
              <a:t>    </a:t>
            </a:r>
            <a:r>
              <a:rPr lang="en-IN" sz="1000" dirty="0">
                <a:solidFill>
                  <a:srgbClr val="008000"/>
                </a:solidFill>
                <a:latin typeface="Cascadia Mono" panose="020B0609020000020004" pitchFamily="49" charset="0"/>
              </a:rPr>
              <a:t>// A simple interface</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interface</a:t>
            </a:r>
            <a:r>
              <a:rPr lang="en-IN" sz="1000" dirty="0">
                <a:solidFill>
                  <a:srgbClr val="000000"/>
                </a:solidFill>
                <a:latin typeface="Cascadia Mono" panose="020B0609020000020004" pitchFamily="49" charset="0"/>
              </a:rPr>
              <a:t> </a:t>
            </a:r>
            <a:r>
              <a:rPr lang="en-IN" sz="1000" dirty="0" err="1">
                <a:solidFill>
                  <a:srgbClr val="2B91AF"/>
                </a:solidFill>
                <a:latin typeface="Cascadia Mono" panose="020B0609020000020004" pitchFamily="49" charset="0"/>
              </a:rPr>
              <a:t>I_interface</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p>
          <a:p>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 This method is only     // have its declaration     // not its definition</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void</a:t>
            </a:r>
            <a:r>
              <a:rPr lang="en-IN" sz="1000" dirty="0">
                <a:solidFill>
                  <a:srgbClr val="000000"/>
                </a:solidFill>
                <a:latin typeface="Cascadia Mono" panose="020B0609020000020004" pitchFamily="49" charset="0"/>
              </a:rPr>
              <a:t> display_1();</a:t>
            </a:r>
          </a:p>
          <a:p>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 Default method with both     // declaration and definition</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public</a:t>
            </a:r>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void</a:t>
            </a:r>
            <a:r>
              <a:rPr lang="en-IN" sz="1000" dirty="0">
                <a:solidFill>
                  <a:srgbClr val="000000"/>
                </a:solidFill>
                <a:latin typeface="Cascadia Mono" panose="020B0609020000020004" pitchFamily="49" charset="0"/>
              </a:rPr>
              <a:t> display_2()</a:t>
            </a:r>
          </a:p>
          <a:p>
            <a:r>
              <a:rPr lang="en-IN" sz="1000" dirty="0">
                <a:solidFill>
                  <a:srgbClr val="000000"/>
                </a:solidFill>
                <a:latin typeface="Cascadia Mono" panose="020B0609020000020004" pitchFamily="49" charset="0"/>
              </a:rPr>
              <a:t>        {</a:t>
            </a:r>
          </a:p>
          <a:p>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Console.WriteLine</a:t>
            </a:r>
            <a:r>
              <a:rPr lang="en-US" sz="1000" dirty="0">
                <a:solidFill>
                  <a:srgbClr val="000000"/>
                </a:solidFill>
                <a:latin typeface="Cascadia Mono" panose="020B0609020000020004" pitchFamily="49" charset="0"/>
              </a:rPr>
              <a:t>(</a:t>
            </a:r>
            <a:r>
              <a:rPr lang="en-US" sz="1000" dirty="0">
                <a:solidFill>
                  <a:srgbClr val="A31515"/>
                </a:solidFill>
                <a:latin typeface="Cascadia Mono" panose="020B0609020000020004" pitchFamily="49" charset="0"/>
              </a:rPr>
              <a:t>"Hello!! Default Method"</a:t>
            </a:r>
            <a:r>
              <a:rPr lang="en-US"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p>
          <a:p>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 A class that implements // the </a:t>
            </a:r>
            <a:r>
              <a:rPr lang="en-US" sz="1000" dirty="0" err="1">
                <a:solidFill>
                  <a:srgbClr val="008000"/>
                </a:solidFill>
                <a:latin typeface="Cascadia Mono" panose="020B0609020000020004" pitchFamily="49" charset="0"/>
              </a:rPr>
              <a:t>I_interface</a:t>
            </a:r>
            <a:r>
              <a:rPr lang="en-US" sz="1000" dirty="0">
                <a:solidFill>
                  <a:srgbClr val="008000"/>
                </a:solidFill>
                <a:latin typeface="Cascadia Mono" panose="020B0609020000020004" pitchFamily="49" charset="0"/>
              </a:rPr>
              <a:t> interface.</a:t>
            </a:r>
            <a:endParaRPr lang="en-US"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class</a:t>
            </a:r>
            <a:r>
              <a:rPr lang="en-US" sz="1000" dirty="0">
                <a:solidFill>
                  <a:srgbClr val="000000"/>
                </a:solidFill>
                <a:latin typeface="Cascadia Mono" panose="020B0609020000020004" pitchFamily="49" charset="0"/>
              </a:rPr>
              <a:t> </a:t>
            </a:r>
            <a:r>
              <a:rPr lang="en-US" sz="1000" dirty="0" err="1">
                <a:solidFill>
                  <a:srgbClr val="2B91AF"/>
                </a:solidFill>
                <a:latin typeface="Cascadia Mono" panose="020B0609020000020004" pitchFamily="49" charset="0"/>
              </a:rPr>
              <a:t>Example_Class</a:t>
            </a:r>
            <a:r>
              <a:rPr lang="en-US" sz="1000" dirty="0">
                <a:solidFill>
                  <a:srgbClr val="000000"/>
                </a:solidFill>
                <a:latin typeface="Cascadia Mono" panose="020B0609020000020004" pitchFamily="49" charset="0"/>
              </a:rPr>
              <a:t> : </a:t>
            </a:r>
            <a:r>
              <a:rPr lang="en-US" sz="1000" dirty="0" err="1">
                <a:solidFill>
                  <a:srgbClr val="000000"/>
                </a:solidFill>
                <a:latin typeface="Cascadia Mono" panose="020B0609020000020004" pitchFamily="49" charset="0"/>
              </a:rPr>
              <a:t>I_interface</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p>
          <a:p>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 Providing the body    // part of the method</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public</a:t>
            </a:r>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void</a:t>
            </a:r>
            <a:r>
              <a:rPr lang="en-IN" sz="1000" dirty="0">
                <a:solidFill>
                  <a:srgbClr val="000000"/>
                </a:solidFill>
                <a:latin typeface="Cascadia Mono" panose="020B0609020000020004" pitchFamily="49" charset="0"/>
              </a:rPr>
              <a:t> display_1()</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Console.WriteLine</a:t>
            </a:r>
            <a:r>
              <a:rPr lang="en-IN" sz="1000" dirty="0">
                <a:solidFill>
                  <a:srgbClr val="000000"/>
                </a:solidFill>
                <a:latin typeface="Cascadia Mono" panose="020B0609020000020004" pitchFamily="49" charset="0"/>
              </a:rPr>
              <a:t>(</a:t>
            </a:r>
            <a:r>
              <a:rPr lang="en-IN" sz="1000" dirty="0">
                <a:solidFill>
                  <a:srgbClr val="A31515"/>
                </a:solidFill>
                <a:latin typeface="Cascadia Mono" panose="020B0609020000020004" pitchFamily="49" charset="0"/>
              </a:rPr>
              <a:t>"Hello!! Method"</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008000"/>
                </a:solidFill>
                <a:latin typeface="Cascadia Mono" panose="020B0609020000020004" pitchFamily="49" charset="0"/>
              </a:rPr>
              <a:t>// Main Method</a:t>
            </a:r>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public</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static</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void</a:t>
            </a:r>
            <a:r>
              <a:rPr lang="en-US" sz="1000" dirty="0">
                <a:solidFill>
                  <a:srgbClr val="000000"/>
                </a:solidFill>
                <a:latin typeface="Cascadia Mono" panose="020B0609020000020004" pitchFamily="49" charset="0"/>
              </a:rPr>
              <a:t> Main(String[] </a:t>
            </a:r>
            <a:r>
              <a:rPr lang="en-US" sz="1000" dirty="0" err="1">
                <a:solidFill>
                  <a:srgbClr val="000000"/>
                </a:solidFill>
                <a:latin typeface="Cascadia Mono" panose="020B0609020000020004" pitchFamily="49" charset="0"/>
              </a:rPr>
              <a:t>args</a:t>
            </a:r>
            <a:r>
              <a:rPr lang="en-US"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          </a:t>
            </a:r>
            <a:r>
              <a:rPr lang="en-IN" sz="1000" dirty="0">
                <a:solidFill>
                  <a:srgbClr val="008000"/>
                </a:solidFill>
                <a:latin typeface="Cascadia Mono" panose="020B0609020000020004" pitchFamily="49" charset="0"/>
              </a:rPr>
              <a:t>// Creating an object</a:t>
            </a:r>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Example_Class</a:t>
            </a:r>
            <a:r>
              <a:rPr lang="en-US" sz="1000" dirty="0">
                <a:solidFill>
                  <a:srgbClr val="000000"/>
                </a:solidFill>
                <a:latin typeface="Cascadia Mono" panose="020B0609020000020004" pitchFamily="49" charset="0"/>
              </a:rPr>
              <a:t> t = </a:t>
            </a:r>
            <a:r>
              <a:rPr lang="en-US" sz="1000" dirty="0">
                <a:solidFill>
                  <a:srgbClr val="0000FF"/>
                </a:solidFill>
                <a:latin typeface="Cascadia Mono" panose="020B0609020000020004" pitchFamily="49" charset="0"/>
              </a:rPr>
              <a:t>new</a:t>
            </a:r>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Example_Class</a:t>
            </a:r>
            <a:r>
              <a:rPr lang="en-US"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t.display_1(); </a:t>
            </a:r>
            <a:r>
              <a:rPr lang="en-US" sz="1000" dirty="0">
                <a:solidFill>
                  <a:srgbClr val="008000"/>
                </a:solidFill>
                <a:latin typeface="Cascadia Mono" panose="020B0609020000020004" pitchFamily="49" charset="0"/>
              </a:rPr>
              <a:t>// Calling method</a:t>
            </a:r>
            <a:endParaRPr lang="en-US"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I_interface</a:t>
            </a:r>
            <a:r>
              <a:rPr lang="en-US" sz="1000" dirty="0">
                <a:solidFill>
                  <a:srgbClr val="000000"/>
                </a:solidFill>
                <a:latin typeface="Cascadia Mono" panose="020B0609020000020004" pitchFamily="49" charset="0"/>
              </a:rPr>
              <a:t> obj = t;   </a:t>
            </a:r>
            <a:r>
              <a:rPr lang="en-US" sz="1000" dirty="0">
                <a:solidFill>
                  <a:srgbClr val="008000"/>
                </a:solidFill>
                <a:latin typeface="Cascadia Mono" panose="020B0609020000020004" pitchFamily="49" charset="0"/>
              </a:rPr>
              <a:t>// Creating an object</a:t>
            </a:r>
            <a:endParaRPr lang="en-US" sz="1000" dirty="0">
              <a:solidFill>
                <a:srgbClr val="000000"/>
              </a:solidFill>
              <a:latin typeface="Cascadia Mono" panose="020B0609020000020004" pitchFamily="49" charset="0"/>
            </a:endParaRPr>
          </a:p>
          <a:p>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obj.display_2(); </a:t>
            </a:r>
            <a:r>
              <a:rPr lang="en-US" sz="1000" dirty="0">
                <a:solidFill>
                  <a:srgbClr val="008000"/>
                </a:solidFill>
                <a:latin typeface="Cascadia Mono" panose="020B0609020000020004" pitchFamily="49" charset="0"/>
              </a:rPr>
              <a:t>// Calling default method</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a:t>
            </a:r>
          </a:p>
        </p:txBody>
      </p:sp>
    </p:spTree>
    <p:extLst>
      <p:ext uri="{BB962C8B-B14F-4D97-AF65-F5344CB8AC3E}">
        <p14:creationId xmlns:p14="http://schemas.microsoft.com/office/powerpoint/2010/main" val="3521554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1D2A01E-C54A-14E1-E821-CC949E54DBE8}"/>
              </a:ext>
            </a:extLst>
          </p:cNvPr>
          <p:cNvSpPr txBox="1"/>
          <p:nvPr/>
        </p:nvSpPr>
        <p:spPr>
          <a:xfrm>
            <a:off x="114339" y="228280"/>
            <a:ext cx="5315500" cy="7109639"/>
          </a:xfrm>
          <a:prstGeom prst="rect">
            <a:avLst/>
          </a:prstGeom>
          <a:noFill/>
        </p:spPr>
        <p:txBody>
          <a:bodyPr wrap="square">
            <a:spAutoFit/>
          </a:bodyPr>
          <a:lstStyle/>
          <a:p>
            <a:r>
              <a:rPr lang="en-IN" sz="1200" dirty="0">
                <a:solidFill>
                  <a:srgbClr val="0000FF"/>
                </a:solidFill>
                <a:latin typeface="Cascadia Mono" panose="020B0609020000020004" pitchFamily="49" charset="0"/>
              </a:rPr>
              <a:t>using</a:t>
            </a:r>
            <a:r>
              <a:rPr lang="en-IN" sz="1200" dirty="0">
                <a:solidFill>
                  <a:srgbClr val="000000"/>
                </a:solidFill>
                <a:latin typeface="Cascadia Mono" panose="020B0609020000020004" pitchFamily="49" charset="0"/>
              </a:rPr>
              <a:t> System;</a:t>
            </a:r>
          </a:p>
          <a:p>
            <a:endParaRPr lang="en-IN" sz="1200" dirty="0">
              <a:solidFill>
                <a:srgbClr val="000000"/>
              </a:solidFill>
              <a:latin typeface="Cascadia Mono" panose="020B0609020000020004" pitchFamily="49" charset="0"/>
            </a:endParaRPr>
          </a:p>
          <a:p>
            <a:r>
              <a:rPr lang="en-IN" sz="1200" dirty="0">
                <a:solidFill>
                  <a:srgbClr val="008000"/>
                </a:solidFill>
                <a:latin typeface="Cascadia Mono" panose="020B0609020000020004" pitchFamily="49" charset="0"/>
              </a:rPr>
              <a:t>// A simple interface</a:t>
            </a:r>
            <a:endParaRPr lang="en-IN" sz="1200" dirty="0">
              <a:solidFill>
                <a:srgbClr val="000000"/>
              </a:solidFill>
              <a:latin typeface="Cascadia Mono" panose="020B0609020000020004" pitchFamily="49" charset="0"/>
            </a:endParaRPr>
          </a:p>
          <a:p>
            <a:r>
              <a:rPr lang="en-IN" sz="1200" dirty="0">
                <a:solidFill>
                  <a:srgbClr val="0000FF"/>
                </a:solidFill>
                <a:latin typeface="Cascadia Mono" panose="020B0609020000020004" pitchFamily="49" charset="0"/>
              </a:rPr>
              <a:t>interface</a:t>
            </a:r>
            <a:r>
              <a:rPr lang="en-IN" sz="1200" dirty="0">
                <a:solidFill>
                  <a:srgbClr val="000000"/>
                </a:solidFill>
                <a:latin typeface="Cascadia Mono" panose="020B0609020000020004" pitchFamily="49" charset="0"/>
              </a:rPr>
              <a:t> </a:t>
            </a:r>
            <a:r>
              <a:rPr lang="en-IN" sz="1200" dirty="0" err="1">
                <a:solidFill>
                  <a:srgbClr val="2B91AF"/>
                </a:solidFill>
                <a:latin typeface="Cascadia Mono" panose="020B0609020000020004" pitchFamily="49" charset="0"/>
              </a:rPr>
              <a:t>I_interface</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This method having    // only declaration    // not its definition</a:t>
            </a:r>
            <a:endParaRPr lang="en-US"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void</a:t>
            </a:r>
            <a:r>
              <a:rPr lang="en-IN" sz="1200" dirty="0">
                <a:solidFill>
                  <a:srgbClr val="000000"/>
                </a:solidFill>
                <a:latin typeface="Cascadia Mono" panose="020B0609020000020004" pitchFamily="49" charset="0"/>
              </a:rPr>
              <a:t> display_1();</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display_2()       </a:t>
            </a:r>
            <a:r>
              <a:rPr lang="en-US" sz="1200" dirty="0">
                <a:solidFill>
                  <a:srgbClr val="008000"/>
                </a:solidFill>
                <a:latin typeface="Cascadia Mono" panose="020B0609020000020004" pitchFamily="49" charset="0"/>
              </a:rPr>
              <a:t>// Default method has both     // declaration and definition</a:t>
            </a:r>
            <a:endParaRPr lang="en-US" sz="1200" dirty="0">
              <a:solidFill>
                <a:srgbClr val="000000"/>
              </a:solidFill>
              <a:latin typeface="Cascadia Mono" panose="020B0609020000020004" pitchFamily="49" charset="0"/>
            </a:endParaRP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Console.WriteLine</a:t>
            </a:r>
            <a:r>
              <a:rPr lang="en-US" sz="1200" dirty="0">
                <a:solidFill>
                  <a:srgbClr val="000000"/>
                </a:solidFill>
                <a:latin typeface="Cascadia Mono" panose="020B0609020000020004" pitchFamily="49" charset="0"/>
              </a:rPr>
              <a:t>(</a:t>
            </a:r>
            <a:r>
              <a:rPr lang="en-US" sz="1200" dirty="0">
                <a:solidFill>
                  <a:srgbClr val="A31515"/>
                </a:solidFill>
                <a:latin typeface="Cascadia Mono" panose="020B0609020000020004" pitchFamily="49" charset="0"/>
              </a:rPr>
              <a:t>"Hello!!  Default Method of </a:t>
            </a:r>
            <a:r>
              <a:rPr lang="en-US" sz="1200" dirty="0" err="1">
                <a:solidFill>
                  <a:srgbClr val="A31515"/>
                </a:solidFill>
                <a:latin typeface="Cascadia Mono" panose="020B0609020000020004" pitchFamily="49" charset="0"/>
              </a:rPr>
              <a:t>I_interface</a:t>
            </a:r>
            <a:r>
              <a:rPr lang="en-US" sz="1200" dirty="0">
                <a:solidFill>
                  <a:srgbClr val="A31515"/>
                </a:solidFill>
                <a:latin typeface="Cascadia Mono" panose="020B0609020000020004" pitchFamily="49" charset="0"/>
              </a:rPr>
              <a:t>"</a:t>
            </a:r>
            <a:r>
              <a:rPr lang="en-US"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a:t>
            </a:r>
          </a:p>
          <a:p>
            <a:r>
              <a:rPr lang="it-IT" sz="1200" dirty="0">
                <a:solidFill>
                  <a:srgbClr val="0000FF"/>
                </a:solidFill>
                <a:latin typeface="Cascadia Mono" panose="020B0609020000020004" pitchFamily="49" charset="0"/>
              </a:rPr>
              <a:t>interface</a:t>
            </a:r>
            <a:r>
              <a:rPr lang="it-IT" sz="1200" dirty="0">
                <a:solidFill>
                  <a:srgbClr val="000000"/>
                </a:solidFill>
                <a:latin typeface="Cascadia Mono" panose="020B0609020000020004" pitchFamily="49" charset="0"/>
              </a:rPr>
              <a:t> </a:t>
            </a:r>
            <a:r>
              <a:rPr lang="it-IT" sz="1200" dirty="0">
                <a:solidFill>
                  <a:srgbClr val="2B91AF"/>
                </a:solidFill>
                <a:latin typeface="Cascadia Mono" panose="020B0609020000020004" pitchFamily="49" charset="0"/>
              </a:rPr>
              <a:t>A_interface</a:t>
            </a:r>
            <a:r>
              <a:rPr lang="it-IT" sz="1200" dirty="0">
                <a:solidFill>
                  <a:srgbClr val="000000"/>
                </a:solidFill>
                <a:latin typeface="Cascadia Mono" panose="020B0609020000020004" pitchFamily="49" charset="0"/>
              </a:rPr>
              <a:t> : I_interface</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Interface which inherits </a:t>
            </a:r>
            <a:r>
              <a:rPr lang="en-US" sz="1200" dirty="0" err="1">
                <a:solidFill>
                  <a:srgbClr val="008000"/>
                </a:solidFill>
                <a:latin typeface="Cascadia Mono" panose="020B0609020000020004" pitchFamily="49" charset="0"/>
              </a:rPr>
              <a:t>I_interface</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Here, we override the display_2() method   </a:t>
            </a:r>
          </a:p>
          <a:p>
            <a:r>
              <a:rPr lang="en-US" sz="1200" dirty="0">
                <a:solidFill>
                  <a:srgbClr val="008000"/>
                </a:solidFill>
                <a:latin typeface="Cascadia Mono" panose="020B0609020000020004" pitchFamily="49" charset="0"/>
              </a:rPr>
              <a:t> // Here you are not allowed to use any access modifier </a:t>
            </a:r>
          </a:p>
          <a:p>
            <a:r>
              <a:rPr lang="en-US" sz="1200" dirty="0">
                <a:solidFill>
                  <a:srgbClr val="008000"/>
                </a:solidFill>
                <a:latin typeface="Cascadia Mono" panose="020B0609020000020004" pitchFamily="49" charset="0"/>
              </a:rPr>
              <a:t>    // if you use, then the compiler will give an error</a:t>
            </a:r>
            <a:endParaRPr lang="en-US"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void</a:t>
            </a:r>
            <a:r>
              <a:rPr lang="en-IN" sz="1200" dirty="0">
                <a:solidFill>
                  <a:srgbClr val="000000"/>
                </a:solidFill>
                <a:latin typeface="Cascadia Mono" panose="020B0609020000020004" pitchFamily="49" charset="0"/>
              </a:rPr>
              <a:t> I_interface.display_2()</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Console.WriteLine</a:t>
            </a:r>
            <a:r>
              <a:rPr lang="en-IN" sz="1200" dirty="0">
                <a:solidFill>
                  <a:srgbClr val="000000"/>
                </a:solidFill>
                <a:latin typeface="Cascadia Mono" panose="020B0609020000020004" pitchFamily="49" charset="0"/>
              </a:rPr>
              <a:t>(</a:t>
            </a:r>
            <a:r>
              <a:rPr lang="en-IN" sz="1200" dirty="0">
                <a:solidFill>
                  <a:srgbClr val="A31515"/>
                </a:solidFill>
                <a:latin typeface="Cascadia Mono" panose="020B0609020000020004" pitchFamily="49" charset="0"/>
              </a:rPr>
              <a:t>"Hello!! </a:t>
            </a:r>
            <a:r>
              <a:rPr lang="en-IN" sz="1200" dirty="0" err="1">
                <a:solidFill>
                  <a:srgbClr val="A31515"/>
                </a:solidFill>
                <a:latin typeface="Cascadia Mono" panose="020B0609020000020004" pitchFamily="49" charset="0"/>
              </a:rPr>
              <a:t>Overriden</a:t>
            </a:r>
            <a:r>
              <a:rPr lang="en-IN" sz="1200" dirty="0">
                <a:solidFill>
                  <a:srgbClr val="A31515"/>
                </a:solidFill>
                <a:latin typeface="Cascadia Mono" panose="020B0609020000020004" pitchFamily="49" charset="0"/>
              </a:rPr>
              <a:t> default method"</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a:t>
            </a:r>
          </a:p>
          <a:p>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Example_Class</a:t>
            </a:r>
            <a:r>
              <a:rPr lang="en-US" sz="1200" dirty="0">
                <a:solidFill>
                  <a:srgbClr val="000000"/>
                </a:solidFill>
                <a:latin typeface="Cascadia Mono" panose="020B0609020000020004" pitchFamily="49" charset="0"/>
              </a:rPr>
              <a:t> : </a:t>
            </a:r>
            <a:r>
              <a:rPr lang="en-US" sz="1200" dirty="0" err="1">
                <a:solidFill>
                  <a:srgbClr val="000000"/>
                </a:solidFill>
                <a:latin typeface="Cascadia Mono" panose="020B0609020000020004" pitchFamily="49" charset="0"/>
              </a:rPr>
              <a:t>I_interface</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A_interface</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A class that implements both interfaces.</a:t>
            </a:r>
            <a:endParaRPr lang="en-US" sz="1200" dirty="0">
              <a:solidFill>
                <a:srgbClr val="000000"/>
              </a:solidFill>
              <a:latin typeface="Cascadia Mono" panose="020B0609020000020004" pitchFamily="49" charset="0"/>
            </a:endParaRPr>
          </a:p>
          <a:p>
            <a:endParaRPr lang="en-IN"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display_1()     </a:t>
            </a:r>
            <a:r>
              <a:rPr lang="en-US" sz="1200" dirty="0">
                <a:solidFill>
                  <a:srgbClr val="008000"/>
                </a:solidFill>
                <a:latin typeface="Cascadia Mono" panose="020B0609020000020004" pitchFamily="49" charset="0"/>
              </a:rPr>
              <a:t>// Providing the body part of the method</a:t>
            </a:r>
            <a:endParaRPr lang="en-US"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Console.WriteLine</a:t>
            </a:r>
            <a:r>
              <a:rPr lang="en-US" sz="1200" dirty="0">
                <a:solidFill>
                  <a:srgbClr val="000000"/>
                </a:solidFill>
                <a:latin typeface="Cascadia Mono" panose="020B0609020000020004" pitchFamily="49" charset="0"/>
              </a:rPr>
              <a:t>(</a:t>
            </a:r>
            <a:r>
              <a:rPr lang="en-US" sz="1200" dirty="0">
                <a:solidFill>
                  <a:srgbClr val="A31515"/>
                </a:solidFill>
                <a:latin typeface="Cascadia Mono" panose="020B0609020000020004" pitchFamily="49" charset="0"/>
              </a:rPr>
              <a:t>"Hello!! Method of </a:t>
            </a:r>
            <a:r>
              <a:rPr lang="en-US" sz="1200" dirty="0" err="1">
                <a:solidFill>
                  <a:srgbClr val="A31515"/>
                </a:solidFill>
                <a:latin typeface="Cascadia Mono" panose="020B0609020000020004" pitchFamily="49" charset="0"/>
              </a:rPr>
              <a:t>I_interface</a:t>
            </a:r>
            <a:r>
              <a:rPr lang="en-US" sz="1200" dirty="0">
                <a:solidFill>
                  <a:srgbClr val="A31515"/>
                </a:solidFill>
                <a:latin typeface="Cascadia Mono" panose="020B0609020000020004" pitchFamily="49" charset="0"/>
              </a:rPr>
              <a:t>"</a:t>
            </a:r>
            <a:r>
              <a:rPr lang="en-US"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a:t>
            </a:r>
            <a:endParaRPr lang="en-IN" sz="1200" dirty="0"/>
          </a:p>
        </p:txBody>
      </p:sp>
      <p:sp>
        <p:nvSpPr>
          <p:cNvPr id="7" name="TextBox 6">
            <a:extLst>
              <a:ext uri="{FF2B5EF4-FFF2-40B4-BE49-F238E27FC236}">
                <a16:creationId xmlns:a16="http://schemas.microsoft.com/office/drawing/2014/main" id="{1F88B9C4-8701-86C9-6CBE-C209D1328917}"/>
              </a:ext>
            </a:extLst>
          </p:cNvPr>
          <p:cNvSpPr txBox="1"/>
          <p:nvPr/>
        </p:nvSpPr>
        <p:spPr>
          <a:xfrm>
            <a:off x="6833419" y="4482265"/>
            <a:ext cx="4906297" cy="1477328"/>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Output:</a:t>
            </a:r>
          </a:p>
          <a:p>
            <a:endParaRPr lang="en-IN" dirty="0"/>
          </a:p>
          <a:p>
            <a:r>
              <a:rPr lang="en-IN" dirty="0"/>
              <a:t>Hello!! Method of </a:t>
            </a:r>
            <a:r>
              <a:rPr lang="en-IN" dirty="0" err="1"/>
              <a:t>I_interface</a:t>
            </a:r>
            <a:endParaRPr lang="en-IN" dirty="0"/>
          </a:p>
          <a:p>
            <a:r>
              <a:rPr lang="en-IN" dirty="0"/>
              <a:t>Hello!! </a:t>
            </a:r>
            <a:r>
              <a:rPr lang="en-IN" dirty="0" err="1"/>
              <a:t>Overriden</a:t>
            </a:r>
            <a:r>
              <a:rPr lang="en-IN" dirty="0"/>
              <a:t> default method</a:t>
            </a:r>
          </a:p>
          <a:p>
            <a:r>
              <a:rPr lang="en-IN" dirty="0"/>
              <a:t>Hello!! </a:t>
            </a:r>
            <a:r>
              <a:rPr lang="en-IN" dirty="0" err="1"/>
              <a:t>Overriden</a:t>
            </a:r>
            <a:r>
              <a:rPr lang="en-IN" dirty="0"/>
              <a:t> default method</a:t>
            </a:r>
          </a:p>
        </p:txBody>
      </p:sp>
      <p:sp>
        <p:nvSpPr>
          <p:cNvPr id="3" name="TextBox 2">
            <a:extLst>
              <a:ext uri="{FF2B5EF4-FFF2-40B4-BE49-F238E27FC236}">
                <a16:creationId xmlns:a16="http://schemas.microsoft.com/office/drawing/2014/main" id="{7ACC04AF-4D49-3D86-7FC1-F00C2B1B9FA6}"/>
              </a:ext>
            </a:extLst>
          </p:cNvPr>
          <p:cNvSpPr txBox="1"/>
          <p:nvPr/>
        </p:nvSpPr>
        <p:spPr>
          <a:xfrm>
            <a:off x="6762163" y="661217"/>
            <a:ext cx="4795099" cy="1477328"/>
          </a:xfrm>
          <a:prstGeom prst="rect">
            <a:avLst/>
          </a:prstGeom>
          <a:noFill/>
        </p:spPr>
        <p:txBody>
          <a:bodyPr wrap="square">
            <a:spAutoFit/>
          </a:bodyPr>
          <a:lstStyle/>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Example_Class</a:t>
            </a:r>
            <a:r>
              <a:rPr lang="en-US" sz="900" dirty="0">
                <a:solidFill>
                  <a:srgbClr val="000000"/>
                </a:solidFill>
                <a:latin typeface="Cascadia Mono" panose="020B0609020000020004" pitchFamily="49" charset="0"/>
              </a:rPr>
              <a:t> t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Example_Class</a:t>
            </a:r>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Creating object</a:t>
            </a:r>
            <a:endParaRPr lang="en-US"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t.display_1(); </a:t>
            </a:r>
            <a:r>
              <a:rPr lang="en-US" sz="900" dirty="0">
                <a:solidFill>
                  <a:srgbClr val="008000"/>
                </a:solidFill>
                <a:latin typeface="Cascadia Mono" panose="020B0609020000020004" pitchFamily="49" charset="0"/>
              </a:rPr>
              <a:t>// Calling method</a:t>
            </a:r>
            <a:endParaRPr lang="en-US"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I_interface</a:t>
            </a:r>
            <a:r>
              <a:rPr lang="en-US" sz="900" dirty="0">
                <a:solidFill>
                  <a:srgbClr val="000000"/>
                </a:solidFill>
                <a:latin typeface="Cascadia Mono" panose="020B0609020000020004" pitchFamily="49" charset="0"/>
              </a:rPr>
              <a:t> obj1 = t;            </a:t>
            </a:r>
            <a:r>
              <a:rPr lang="en-US" sz="900" dirty="0">
                <a:solidFill>
                  <a:srgbClr val="008000"/>
                </a:solidFill>
                <a:latin typeface="Cascadia Mono" panose="020B0609020000020004" pitchFamily="49" charset="0"/>
              </a:rPr>
              <a:t>// Creating an object</a:t>
            </a:r>
            <a:endParaRPr lang="en-US"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obj1.display_2(); </a:t>
            </a:r>
            <a:r>
              <a:rPr lang="en-US" sz="900" dirty="0">
                <a:solidFill>
                  <a:srgbClr val="008000"/>
                </a:solidFill>
                <a:latin typeface="Cascadia Mono" panose="020B0609020000020004" pitchFamily="49" charset="0"/>
              </a:rPr>
              <a:t>// Calling overridden default method</a:t>
            </a:r>
            <a:endParaRPr lang="en-US"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A_interface</a:t>
            </a:r>
            <a:r>
              <a:rPr lang="en-US" sz="900" dirty="0">
                <a:solidFill>
                  <a:srgbClr val="000000"/>
                </a:solidFill>
                <a:latin typeface="Cascadia Mono" panose="020B0609020000020004" pitchFamily="49" charset="0"/>
              </a:rPr>
              <a:t> obj2 = t; </a:t>
            </a:r>
            <a:r>
              <a:rPr lang="en-US" sz="900" dirty="0">
                <a:solidFill>
                  <a:srgbClr val="008000"/>
                </a:solidFill>
                <a:latin typeface="Cascadia Mono" panose="020B0609020000020004" pitchFamily="49" charset="0"/>
              </a:rPr>
              <a:t>// Creating an object</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obj2.display_2();</a:t>
            </a:r>
          </a:p>
        </p:txBody>
      </p:sp>
    </p:spTree>
    <p:extLst>
      <p:ext uri="{BB962C8B-B14F-4D97-AF65-F5344CB8AC3E}">
        <p14:creationId xmlns:p14="http://schemas.microsoft.com/office/powerpoint/2010/main" val="3238768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4D830CF-F2DF-A1B7-44A8-77797DB8BEFF}"/>
              </a:ext>
            </a:extLst>
          </p:cNvPr>
          <p:cNvSpPr>
            <a:spLocks noChangeArrowheads="1"/>
          </p:cNvSpPr>
          <p:nvPr/>
        </p:nvSpPr>
        <p:spPr bwMode="auto">
          <a:xfrm>
            <a:off x="1012722" y="-207798"/>
            <a:ext cx="7747820" cy="6894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kumimoji="0" lang="en-US" altLang="en-US" sz="1000" b="0" i="0" u="none" strike="noStrike" cap="none" normalizeH="0" baseline="0" dirty="0">
                <a:ln>
                  <a:noFill/>
                </a:ln>
                <a:solidFill>
                  <a:schemeClr val="tx1"/>
                </a:solidFill>
                <a:effectLst/>
                <a:latin typeface="Arial Unicode MS"/>
              </a:rPr>
              <a:t> </a:t>
            </a:r>
            <a:r>
              <a:rPr lang="en-US" sz="1000" dirty="0">
                <a:solidFill>
                  <a:srgbClr val="008000"/>
                </a:solidFill>
                <a:latin typeface="Cascadia Mono" panose="020B0609020000020004" pitchFamily="49" charset="0"/>
              </a:rPr>
              <a:t>// C# program to illustrate how // to pass parameters in the// default interface method</a:t>
            </a:r>
            <a:endParaRPr lang="en-US" sz="1000" dirty="0">
              <a:solidFill>
                <a:srgbClr val="000000"/>
              </a:solidFill>
              <a:latin typeface="Cascadia Mono" panose="020B0609020000020004" pitchFamily="49" charset="0"/>
            </a:endParaRPr>
          </a:p>
          <a:p>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System;</a:t>
            </a:r>
          </a:p>
          <a:p>
            <a:endParaRPr lang="en-IN" sz="1000" dirty="0">
              <a:solidFill>
                <a:srgbClr val="000000"/>
              </a:solidFill>
              <a:latin typeface="Cascadia Mono" panose="020B0609020000020004" pitchFamily="49" charset="0"/>
            </a:endParaRPr>
          </a:p>
          <a:p>
            <a:r>
              <a:rPr lang="en-IN" sz="1000" dirty="0">
                <a:solidFill>
                  <a:srgbClr val="008000"/>
                </a:solidFill>
                <a:latin typeface="Cascadia Mono" panose="020B0609020000020004" pitchFamily="49" charset="0"/>
              </a:rPr>
              <a:t>// A simple interface</a:t>
            </a:r>
            <a:endParaRPr lang="en-IN" sz="1000" dirty="0">
              <a:solidFill>
                <a:srgbClr val="000000"/>
              </a:solidFill>
              <a:latin typeface="Cascadia Mono" panose="020B0609020000020004" pitchFamily="49" charset="0"/>
            </a:endParaRPr>
          </a:p>
          <a:p>
            <a:r>
              <a:rPr lang="en-IN" sz="1000" dirty="0">
                <a:solidFill>
                  <a:srgbClr val="0000FF"/>
                </a:solidFill>
                <a:latin typeface="Cascadia Mono" panose="020B0609020000020004" pitchFamily="49" charset="0"/>
              </a:rPr>
              <a:t>interface</a:t>
            </a:r>
            <a:r>
              <a:rPr lang="en-IN" sz="1000" dirty="0">
                <a:solidFill>
                  <a:srgbClr val="000000"/>
                </a:solidFill>
                <a:latin typeface="Cascadia Mono" panose="020B0609020000020004" pitchFamily="49" charset="0"/>
              </a:rPr>
              <a:t> </a:t>
            </a:r>
            <a:r>
              <a:rPr lang="en-IN" sz="1000" dirty="0" err="1">
                <a:solidFill>
                  <a:srgbClr val="2B91AF"/>
                </a:solidFill>
                <a:latin typeface="Cascadia Mono" panose="020B0609020000020004" pitchFamily="49" charset="0"/>
              </a:rPr>
              <a:t>I_interface</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 This method only    // have declaration    // not its definition</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void</a:t>
            </a:r>
            <a:r>
              <a:rPr lang="en-IN" sz="1000" dirty="0">
                <a:solidFill>
                  <a:srgbClr val="000000"/>
                </a:solidFill>
                <a:latin typeface="Cascadia Mono" panose="020B0609020000020004" pitchFamily="49" charset="0"/>
              </a:rPr>
              <a:t> display_1();</a:t>
            </a:r>
          </a:p>
          <a:p>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 Default method with both    // declaration and definition    // Here, the name of both methods are same</a:t>
            </a:r>
            <a:endParaRPr lang="en-US"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 but the parameter list is different</a:t>
            </a:r>
            <a:endParaRPr lang="en-US"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public</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void</a:t>
            </a:r>
            <a:r>
              <a:rPr lang="en-US" sz="1000" dirty="0">
                <a:solidFill>
                  <a:srgbClr val="000000"/>
                </a:solidFill>
                <a:latin typeface="Cascadia Mono" panose="020B0609020000020004" pitchFamily="49" charset="0"/>
              </a:rPr>
              <a:t> display_1(</a:t>
            </a:r>
            <a:r>
              <a:rPr lang="en-US" sz="1000" dirty="0">
                <a:solidFill>
                  <a:srgbClr val="0000FF"/>
                </a:solidFill>
                <a:latin typeface="Cascadia Mono" panose="020B0609020000020004" pitchFamily="49" charset="0"/>
              </a:rPr>
              <a:t>int</a:t>
            </a:r>
            <a:r>
              <a:rPr lang="en-US" sz="1000" dirty="0">
                <a:solidFill>
                  <a:srgbClr val="000000"/>
                </a:solidFill>
                <a:latin typeface="Cascadia Mono" panose="020B0609020000020004" pitchFamily="49" charset="0"/>
              </a:rPr>
              <a:t> a, </a:t>
            </a:r>
            <a:r>
              <a:rPr lang="en-US" sz="1000" dirty="0">
                <a:solidFill>
                  <a:srgbClr val="0000FF"/>
                </a:solidFill>
                <a:latin typeface="Cascadia Mono" panose="020B0609020000020004" pitchFamily="49" charset="0"/>
              </a:rPr>
              <a:t>int</a:t>
            </a:r>
            <a:r>
              <a:rPr lang="en-US" sz="1000" dirty="0">
                <a:solidFill>
                  <a:srgbClr val="000000"/>
                </a:solidFill>
                <a:latin typeface="Cascadia Mono" panose="020B0609020000020004" pitchFamily="49" charset="0"/>
              </a:rPr>
              <a:t> b)</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int</a:t>
            </a:r>
            <a:r>
              <a:rPr lang="en-IN" sz="1000" dirty="0">
                <a:solidFill>
                  <a:srgbClr val="000000"/>
                </a:solidFill>
                <a:latin typeface="Cascadia Mono" panose="020B0609020000020004" pitchFamily="49" charset="0"/>
              </a:rPr>
              <a:t> sum;</a:t>
            </a:r>
          </a:p>
          <a:p>
            <a:r>
              <a:rPr lang="en-IN" sz="1000" dirty="0">
                <a:solidFill>
                  <a:srgbClr val="000000"/>
                </a:solidFill>
                <a:latin typeface="Cascadia Mono" panose="020B0609020000020004" pitchFamily="49" charset="0"/>
              </a:rPr>
              <a:t>        sum = a + b;</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Console.WriteLine</a:t>
            </a:r>
            <a:r>
              <a:rPr lang="en-IN" sz="1000" dirty="0">
                <a:solidFill>
                  <a:srgbClr val="000000"/>
                </a:solidFill>
                <a:latin typeface="Cascadia Mono" panose="020B0609020000020004" pitchFamily="49" charset="0"/>
              </a:rPr>
              <a:t>(</a:t>
            </a:r>
            <a:r>
              <a:rPr lang="en-IN" sz="1000" dirty="0">
                <a:solidFill>
                  <a:srgbClr val="A31515"/>
                </a:solidFill>
                <a:latin typeface="Cascadia Mono" panose="020B0609020000020004" pitchFamily="49" charset="0"/>
              </a:rPr>
              <a:t>"Sum: "</a:t>
            </a:r>
            <a:r>
              <a:rPr lang="en-IN" sz="1000" dirty="0">
                <a:solidFill>
                  <a:srgbClr val="000000"/>
                </a:solidFill>
                <a:latin typeface="Cascadia Mono" panose="020B0609020000020004" pitchFamily="49" charset="0"/>
              </a:rPr>
              <a:t> + sum);</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US" sz="1000" dirty="0">
                <a:solidFill>
                  <a:srgbClr val="008000"/>
                </a:solidFill>
                <a:latin typeface="Cascadia Mono" panose="020B0609020000020004" pitchFamily="49" charset="0"/>
              </a:rPr>
              <a:t>// A class which // implement </a:t>
            </a:r>
            <a:r>
              <a:rPr lang="en-US" sz="1000" dirty="0" err="1">
                <a:solidFill>
                  <a:srgbClr val="008000"/>
                </a:solidFill>
                <a:latin typeface="Cascadia Mono" panose="020B0609020000020004" pitchFamily="49" charset="0"/>
              </a:rPr>
              <a:t>I_interface</a:t>
            </a:r>
            <a:r>
              <a:rPr lang="en-US" sz="1000" dirty="0">
                <a:solidFill>
                  <a:srgbClr val="008000"/>
                </a:solidFill>
                <a:latin typeface="Cascadia Mono" panose="020B0609020000020004" pitchFamily="49" charset="0"/>
              </a:rPr>
              <a:t> interface</a:t>
            </a:r>
            <a:endParaRPr lang="en-US" sz="1000" dirty="0">
              <a:solidFill>
                <a:srgbClr val="000000"/>
              </a:solidFill>
              <a:latin typeface="Cascadia Mono" panose="020B0609020000020004" pitchFamily="49" charset="0"/>
            </a:endParaRPr>
          </a:p>
          <a:p>
            <a:r>
              <a:rPr lang="en-US" sz="1000" dirty="0">
                <a:solidFill>
                  <a:srgbClr val="0000FF"/>
                </a:solidFill>
                <a:latin typeface="Cascadia Mono" panose="020B0609020000020004" pitchFamily="49" charset="0"/>
              </a:rPr>
              <a:t>class</a:t>
            </a:r>
            <a:r>
              <a:rPr lang="en-US" sz="1000" dirty="0">
                <a:solidFill>
                  <a:srgbClr val="000000"/>
                </a:solidFill>
                <a:latin typeface="Cascadia Mono" panose="020B0609020000020004" pitchFamily="49" charset="0"/>
              </a:rPr>
              <a:t> </a:t>
            </a:r>
            <a:r>
              <a:rPr lang="en-US" sz="1000" dirty="0" err="1">
                <a:solidFill>
                  <a:srgbClr val="2B91AF"/>
                </a:solidFill>
                <a:latin typeface="Cascadia Mono" panose="020B0609020000020004" pitchFamily="49" charset="0"/>
              </a:rPr>
              <a:t>Example_Class</a:t>
            </a:r>
            <a:r>
              <a:rPr lang="en-US" sz="1000" dirty="0">
                <a:solidFill>
                  <a:srgbClr val="000000"/>
                </a:solidFill>
                <a:latin typeface="Cascadia Mono" panose="020B0609020000020004" pitchFamily="49" charset="0"/>
              </a:rPr>
              <a:t> : </a:t>
            </a:r>
            <a:r>
              <a:rPr lang="en-US" sz="1000" dirty="0" err="1">
                <a:solidFill>
                  <a:srgbClr val="000000"/>
                </a:solidFill>
                <a:latin typeface="Cascadia Mono" panose="020B0609020000020004" pitchFamily="49" charset="0"/>
              </a:rPr>
              <a:t>I_interface</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 Providing the body    // part of the method</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public</a:t>
            </a:r>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void</a:t>
            </a:r>
            <a:r>
              <a:rPr lang="en-IN" sz="1000" dirty="0">
                <a:solidFill>
                  <a:srgbClr val="000000"/>
                </a:solidFill>
                <a:latin typeface="Cascadia Mono" panose="020B0609020000020004" pitchFamily="49" charset="0"/>
              </a:rPr>
              <a:t> display_1()</a:t>
            </a:r>
          </a:p>
          <a:p>
            <a:r>
              <a:rPr lang="en-IN" sz="1000" dirty="0">
                <a:solidFill>
                  <a:srgbClr val="000000"/>
                </a:solidFill>
                <a:latin typeface="Cascadia Mono" panose="020B0609020000020004" pitchFamily="49" charset="0"/>
              </a:rPr>
              <a:t>    {</a:t>
            </a:r>
          </a:p>
          <a:p>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Console.WriteLine</a:t>
            </a:r>
            <a:r>
              <a:rPr lang="en-US" sz="1000" dirty="0">
                <a:solidFill>
                  <a:srgbClr val="000000"/>
                </a:solidFill>
                <a:latin typeface="Cascadia Mono" panose="020B0609020000020004" pitchFamily="49" charset="0"/>
              </a:rPr>
              <a:t>(</a:t>
            </a:r>
            <a:r>
              <a:rPr lang="en-US" sz="1000" dirty="0">
                <a:solidFill>
                  <a:srgbClr val="A31515"/>
                </a:solidFill>
                <a:latin typeface="Cascadia Mono" panose="020B0609020000020004" pitchFamily="49" charset="0"/>
              </a:rPr>
              <a:t>"Hello!! Method of </a:t>
            </a:r>
            <a:r>
              <a:rPr lang="en-US" sz="1000" dirty="0" err="1">
                <a:solidFill>
                  <a:srgbClr val="A31515"/>
                </a:solidFill>
                <a:latin typeface="Cascadia Mono" panose="020B0609020000020004" pitchFamily="49" charset="0"/>
              </a:rPr>
              <a:t>I_interface</a:t>
            </a:r>
            <a:r>
              <a:rPr lang="en-US" sz="1000" dirty="0">
                <a:solidFill>
                  <a:srgbClr val="A31515"/>
                </a:solidFill>
                <a:latin typeface="Cascadia Mono" panose="020B0609020000020004" pitchFamily="49" charset="0"/>
              </a:rPr>
              <a:t>"</a:t>
            </a:r>
            <a:r>
              <a:rPr lang="en-US"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endParaRPr lang="en-IN" sz="1000" dirty="0">
              <a:solidFill>
                <a:srgbClr val="000000"/>
              </a:solidFill>
              <a:latin typeface="Cascadia Mono" panose="020B06090200000200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a:rPr>
              <a:t>   // Main Method</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a:rPr>
              <a:t>    public</a:t>
            </a:r>
            <a:r>
              <a:rPr kumimoji="0" lang="en-US" altLang="en-US" sz="800" b="0" i="0" u="none" strike="noStrike" cap="none" normalizeH="0" baseline="0" dirty="0">
                <a:ln>
                  <a:noFill/>
                </a:ln>
                <a:solidFill>
                  <a:schemeClr val="tx1"/>
                </a:solidFill>
                <a:effectLst/>
              </a:rPr>
              <a:t> </a:t>
            </a:r>
            <a:r>
              <a:rPr kumimoji="0" lang="en-US" altLang="en-US" sz="1000" b="0" i="0" u="none" strike="noStrike" cap="none" normalizeH="0" baseline="0" dirty="0">
                <a:ln>
                  <a:noFill/>
                </a:ln>
                <a:solidFill>
                  <a:schemeClr val="tx1"/>
                </a:solidFill>
                <a:effectLst/>
                <a:latin typeface="Arial Unicode MS"/>
              </a:rPr>
              <a:t>static</a:t>
            </a:r>
            <a:r>
              <a:rPr kumimoji="0" lang="en-US" altLang="en-US" sz="800" b="0" i="0" u="none" strike="noStrike" cap="none" normalizeH="0" baseline="0" dirty="0">
                <a:ln>
                  <a:noFill/>
                </a:ln>
                <a:solidFill>
                  <a:schemeClr val="tx1"/>
                </a:solidFill>
                <a:effectLst/>
              </a:rPr>
              <a:t> </a:t>
            </a:r>
            <a:r>
              <a:rPr kumimoji="0" lang="en-US" altLang="en-US" sz="1000" b="0" i="0" u="none" strike="noStrike" cap="none" normalizeH="0" baseline="0" dirty="0">
                <a:ln>
                  <a:noFill/>
                </a:ln>
                <a:solidFill>
                  <a:schemeClr val="tx1"/>
                </a:solidFill>
                <a:effectLst/>
                <a:latin typeface="Arial Unicode MS"/>
              </a:rPr>
              <a:t>void</a:t>
            </a:r>
            <a:r>
              <a:rPr kumimoji="0" lang="en-US" altLang="en-US" sz="800" b="0" i="0" u="none" strike="noStrike" cap="none" normalizeH="0" baseline="0" dirty="0">
                <a:ln>
                  <a:noFill/>
                </a:ln>
                <a:solidFill>
                  <a:schemeClr val="tx1"/>
                </a:solidFill>
                <a:effectLst/>
              </a:rPr>
              <a:t> </a:t>
            </a:r>
            <a:r>
              <a:rPr kumimoji="0" lang="en-US" altLang="en-US" sz="1000" b="0" i="0" u="none" strike="noStrike" cap="none" normalizeH="0" baseline="0" dirty="0">
                <a:ln>
                  <a:noFill/>
                </a:ln>
                <a:solidFill>
                  <a:schemeClr val="tx1"/>
                </a:solidFill>
                <a:effectLst/>
                <a:latin typeface="Arial Unicode MS"/>
              </a:rPr>
              <a:t>Main(String[] </a:t>
            </a:r>
            <a:r>
              <a:rPr kumimoji="0" lang="en-US" altLang="en-US" sz="1000" b="0" i="0" u="none" strike="noStrike" cap="none" normalizeH="0" baseline="0" dirty="0" err="1">
                <a:ln>
                  <a:noFill/>
                </a:ln>
                <a:solidFill>
                  <a:schemeClr val="tx1"/>
                </a:solidFill>
                <a:effectLst/>
                <a:latin typeface="Arial Unicode MS"/>
              </a:rPr>
              <a:t>args</a:t>
            </a:r>
            <a:r>
              <a:rPr kumimoji="0" lang="en-US" altLang="en-US" sz="1000" b="0" i="0" u="none" strike="noStrike" cap="none" normalizeH="0" baseline="0" dirty="0">
                <a:ln>
                  <a:noFill/>
                </a:ln>
                <a:solidFill>
                  <a:schemeClr val="tx1"/>
                </a:solidFill>
                <a:effectLst/>
                <a:latin typeface="Arial Unicode MS"/>
              </a:rPr>
              <a: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a:rPr>
              <a:t>    {</a:t>
            </a:r>
          </a:p>
          <a:p>
            <a:r>
              <a:rPr lang="en-US" sz="800" dirty="0" err="1">
                <a:solidFill>
                  <a:srgbClr val="000000"/>
                </a:solidFill>
                <a:latin typeface="Cascadia Mono" panose="020B0609020000020004" pitchFamily="49" charset="0"/>
              </a:rPr>
              <a:t>Example_Class</a:t>
            </a:r>
            <a:r>
              <a:rPr lang="en-US" sz="800" dirty="0">
                <a:solidFill>
                  <a:srgbClr val="000000"/>
                </a:solidFill>
                <a:latin typeface="Cascadia Mono" panose="020B0609020000020004" pitchFamily="49" charset="0"/>
              </a:rPr>
              <a:t> t = </a:t>
            </a:r>
            <a:r>
              <a:rPr lang="en-US" sz="800" dirty="0">
                <a:solidFill>
                  <a:srgbClr val="0000FF"/>
                </a:solidFill>
                <a:latin typeface="Cascadia Mono" panose="020B0609020000020004" pitchFamily="49" charset="0"/>
              </a:rPr>
              <a:t>new</a:t>
            </a:r>
            <a:r>
              <a:rPr lang="en-US" sz="800" dirty="0">
                <a:solidFill>
                  <a:srgbClr val="000000"/>
                </a:solidFill>
                <a:latin typeface="Cascadia Mono" panose="020B0609020000020004" pitchFamily="49" charset="0"/>
              </a:rPr>
              <a:t> </a:t>
            </a:r>
            <a:r>
              <a:rPr lang="en-US" sz="800" dirty="0" err="1">
                <a:solidFill>
                  <a:srgbClr val="000000"/>
                </a:solidFill>
                <a:latin typeface="Cascadia Mono" panose="020B0609020000020004" pitchFamily="49" charset="0"/>
              </a:rPr>
              <a:t>Example_Class</a:t>
            </a:r>
            <a:r>
              <a:rPr lang="en-US" sz="800" dirty="0">
                <a:solidFill>
                  <a:srgbClr val="000000"/>
                </a:solidFill>
                <a:latin typeface="Cascadia Mono" panose="020B0609020000020004" pitchFamily="49" charset="0"/>
              </a:rPr>
              <a:t>();        </a:t>
            </a:r>
            <a:r>
              <a:rPr lang="en-US" sz="800" dirty="0">
                <a:solidFill>
                  <a:srgbClr val="008000"/>
                </a:solidFill>
                <a:latin typeface="Cascadia Mono" panose="020B0609020000020004" pitchFamily="49" charset="0"/>
              </a:rPr>
              <a:t>// Creating an object</a:t>
            </a:r>
            <a:endParaRPr lang="en-US" sz="800" dirty="0">
              <a:solidFill>
                <a:srgbClr val="000000"/>
              </a:solidFill>
              <a:latin typeface="Cascadia Mono" panose="020B0609020000020004" pitchFamily="49" charset="0"/>
            </a:endParaRPr>
          </a:p>
          <a:p>
            <a:endParaRPr lang="en-IN" sz="800" dirty="0">
              <a:solidFill>
                <a:srgbClr val="000000"/>
              </a:solidFill>
              <a:latin typeface="Cascadia Mono" panose="020B0609020000020004" pitchFamily="49" charset="0"/>
            </a:endParaRPr>
          </a:p>
          <a:p>
            <a:r>
              <a:rPr lang="en-US" sz="800" dirty="0">
                <a:solidFill>
                  <a:srgbClr val="000000"/>
                </a:solidFill>
                <a:latin typeface="Cascadia Mono" panose="020B0609020000020004" pitchFamily="49" charset="0"/>
              </a:rPr>
              <a:t>t.display_1(); </a:t>
            </a:r>
            <a:r>
              <a:rPr lang="en-US" sz="800" dirty="0">
                <a:solidFill>
                  <a:srgbClr val="008000"/>
                </a:solidFill>
                <a:latin typeface="Cascadia Mono" panose="020B0609020000020004" pitchFamily="49" charset="0"/>
              </a:rPr>
              <a:t>// Calling method</a:t>
            </a:r>
            <a:endParaRPr lang="en-US" sz="800" dirty="0">
              <a:solidFill>
                <a:srgbClr val="000000"/>
              </a:solidFill>
              <a:latin typeface="Cascadia Mono" panose="020B0609020000020004" pitchFamily="49" charset="0"/>
            </a:endParaRPr>
          </a:p>
          <a:p>
            <a:endParaRPr lang="en-IN" sz="800" dirty="0">
              <a:solidFill>
                <a:srgbClr val="000000"/>
              </a:solidFill>
              <a:latin typeface="Cascadia Mono" panose="020B0609020000020004" pitchFamily="49" charset="0"/>
            </a:endParaRPr>
          </a:p>
          <a:p>
            <a:r>
              <a:rPr lang="en-US" sz="800" dirty="0" err="1">
                <a:solidFill>
                  <a:srgbClr val="000000"/>
                </a:solidFill>
                <a:latin typeface="Cascadia Mono" panose="020B0609020000020004" pitchFamily="49" charset="0"/>
              </a:rPr>
              <a:t>I_interface</a:t>
            </a:r>
            <a:r>
              <a:rPr lang="en-US" sz="800" dirty="0">
                <a:solidFill>
                  <a:srgbClr val="000000"/>
                </a:solidFill>
                <a:latin typeface="Cascadia Mono" panose="020B0609020000020004" pitchFamily="49" charset="0"/>
              </a:rPr>
              <a:t> obj = t;    </a:t>
            </a:r>
            <a:r>
              <a:rPr lang="en-US" sz="800" dirty="0">
                <a:solidFill>
                  <a:srgbClr val="008000"/>
                </a:solidFill>
                <a:latin typeface="Cascadia Mono" panose="020B0609020000020004" pitchFamily="49" charset="0"/>
              </a:rPr>
              <a:t>// Creating an object</a:t>
            </a:r>
            <a:endParaRPr lang="en-US" sz="800" dirty="0">
              <a:solidFill>
                <a:srgbClr val="000000"/>
              </a:solidFill>
              <a:latin typeface="Cascadia Mono" panose="020B0609020000020004" pitchFamily="49" charset="0"/>
            </a:endParaRPr>
          </a:p>
          <a:p>
            <a:endParaRPr lang="en-IN" sz="800" dirty="0">
              <a:solidFill>
                <a:srgbClr val="000000"/>
              </a:solidFill>
              <a:latin typeface="Cascadia Mono" panose="020B0609020000020004" pitchFamily="49" charset="0"/>
            </a:endParaRPr>
          </a:p>
          <a:p>
            <a:r>
              <a:rPr lang="en-US" sz="800" dirty="0">
                <a:solidFill>
                  <a:srgbClr val="008000"/>
                </a:solidFill>
                <a:latin typeface="Cascadia Mono" panose="020B0609020000020004" pitchFamily="49" charset="0"/>
              </a:rPr>
              <a:t>// Calling and passing parameters in the default method</a:t>
            </a:r>
            <a:endParaRPr lang="en-US" sz="800" dirty="0">
              <a:solidFill>
                <a:srgbClr val="000000"/>
              </a:solidFill>
              <a:latin typeface="Cascadia Mono" panose="020B0609020000020004" pitchFamily="49" charset="0"/>
            </a:endParaRPr>
          </a:p>
          <a:p>
            <a:r>
              <a:rPr lang="en-IN" sz="800" dirty="0">
                <a:solidFill>
                  <a:srgbClr val="000000"/>
                </a:solidFill>
                <a:latin typeface="Cascadia Mono" panose="020B0609020000020004" pitchFamily="49" charset="0"/>
              </a:rPr>
              <a:t>obj.display_1(1, 4);</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a:rPr>
              <a:t> </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spcBef>
                <a:spcPct val="0"/>
              </a:spcBef>
              <a:spcAft>
                <a:spcPct val="0"/>
              </a:spcAft>
            </a:pPr>
            <a:r>
              <a:rPr kumimoji="0" lang="en-US" altLang="en-US" sz="1000" b="0" i="0" u="none" strike="noStrike" cap="none" normalizeH="0" baseline="0" dirty="0">
                <a:ln>
                  <a:noFill/>
                </a:ln>
                <a:solidFill>
                  <a:schemeClr val="tx1"/>
                </a:solidFill>
                <a:effectLst/>
                <a:latin typeface="Arial Unicode MS"/>
              </a:rPr>
              <a:t>            }</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3336435E-5B92-048B-F652-3058882DAD9E}"/>
              </a:ext>
            </a:extLst>
          </p:cNvPr>
          <p:cNvSpPr>
            <a:spLocks noChangeArrowheads="1"/>
          </p:cNvSpPr>
          <p:nvPr/>
        </p:nvSpPr>
        <p:spPr bwMode="auto">
          <a:xfrm>
            <a:off x="7256208" y="3560195"/>
            <a:ext cx="4483509" cy="246221"/>
          </a:xfrm>
          <a:prstGeom prst="rect">
            <a:avLst/>
          </a:prstGeom>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Arial Unicode MS"/>
              </a:rPr>
              <a:t>Hello!! Method of I_interface Sum: 5</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74475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4251</TotalTime>
  <Words>1608</Words>
  <Application>Microsoft Office PowerPoint</Application>
  <PresentationFormat>Widescreen</PresentationFormat>
  <Paragraphs>187</Paragraphs>
  <Slides>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Arial</vt:lpstr>
      <vt:lpstr>Arial</vt:lpstr>
      <vt:lpstr>Arial Unicode MS</vt:lpstr>
      <vt:lpstr>Calibri</vt:lpstr>
      <vt:lpstr>Calibri Light</vt:lpstr>
      <vt:lpstr>Cambria</vt:lpstr>
      <vt:lpstr>Cascadia Mono</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93</cp:revision>
  <dcterms:created xsi:type="dcterms:W3CDTF">2020-08-26T02:33:19Z</dcterms:created>
  <dcterms:modified xsi:type="dcterms:W3CDTF">2024-10-11T05:41:46Z</dcterms:modified>
</cp:coreProperties>
</file>