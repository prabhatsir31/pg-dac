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8" r:id="rId3"/>
    <p:sldId id="269" r:id="rId4"/>
    <p:sldId id="270" r:id="rId5"/>
    <p:sldId id="271" r:id="rId6"/>
    <p:sldId id="272" r:id="rId7"/>
    <p:sldId id="273" r:id="rId8"/>
    <p:sldId id="274"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AEB6CD-E80B-49F1-B235-7CD4C6295FF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6F39F1A-F553-47AC-9EA5-23E85F65EE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5B7BF2-B52D-492E-B9C1-944BFCC19C87}"/>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5" name="Footer Placeholder 4">
            <a:extLst>
              <a:ext uri="{FF2B5EF4-FFF2-40B4-BE49-F238E27FC236}">
                <a16:creationId xmlns:a16="http://schemas.microsoft.com/office/drawing/2014/main" id="{BAB188E2-DAF8-45B0-8145-B7C1CE3B67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5A894AE-1951-4480-BF88-11E60B4A5CA5}"/>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30760593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DED7C-988C-40E0-A319-F80532EAEFA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4B93AC2-9888-46D8-8F62-5E3BC2C0B9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01FB7C-2474-4DDE-A66B-F83D1F79FE71}"/>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5" name="Footer Placeholder 4">
            <a:extLst>
              <a:ext uri="{FF2B5EF4-FFF2-40B4-BE49-F238E27FC236}">
                <a16:creationId xmlns:a16="http://schemas.microsoft.com/office/drawing/2014/main" id="{D1F391F8-E005-41D9-87A8-ECF96287DE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E942D39-33C8-4354-9F1D-5315B19ABABC}"/>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7378248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23A0CB-1A20-4540-82BF-A0D2F1700E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0C5C89B-1D80-4556-A445-644C8874900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57AD9F-AC31-4B50-AF3C-6F581A92B700}"/>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5" name="Footer Placeholder 4">
            <a:extLst>
              <a:ext uri="{FF2B5EF4-FFF2-40B4-BE49-F238E27FC236}">
                <a16:creationId xmlns:a16="http://schemas.microsoft.com/office/drawing/2014/main" id="{27049179-7B72-42D0-A0A8-8565571E85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104562-550B-4D82-A078-3FF178E42AB7}"/>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159204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47B9D-AA2D-432A-8916-38A62EB5B31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702B4F-5904-4874-86BE-39BD2A2434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92E3C3-606D-4123-AF41-C86AD1F1BF4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9561767-2C86-4344-873C-51037A4F139D}"/>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6" name="Footer Placeholder 5">
            <a:extLst>
              <a:ext uri="{FF2B5EF4-FFF2-40B4-BE49-F238E27FC236}">
                <a16:creationId xmlns:a16="http://schemas.microsoft.com/office/drawing/2014/main" id="{BA23030A-B976-44DA-8414-073C711E517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61EF1D-EAF7-43BE-B513-C9E04F20607A}"/>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3621024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9DCAA2-110D-4813-B3B3-4BC6E283ADF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EED3FD9-AE9C-4FD5-B1AB-23524568E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B3C6E2-B67A-4909-98B9-AD450C1F43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ADD972D5-7B94-4F52-9EA0-C1E916F812F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6EEBBA-CFAD-466B-86E5-F2CA2475C8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B42FA86-83FF-4E09-BE0D-D446D20BE121}"/>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8" name="Footer Placeholder 7">
            <a:extLst>
              <a:ext uri="{FF2B5EF4-FFF2-40B4-BE49-F238E27FC236}">
                <a16:creationId xmlns:a16="http://schemas.microsoft.com/office/drawing/2014/main" id="{36116665-1EB7-4C8B-9F0D-BCF7EDAB110B}"/>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07C9855-1882-484D-9B07-451AB40FE92D}"/>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3539769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66B72-1E5B-4835-85E3-F2F0C406538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A457832-87B8-4105-864A-9BFF43CEC380}"/>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4" name="Footer Placeholder 3">
            <a:extLst>
              <a:ext uri="{FF2B5EF4-FFF2-40B4-BE49-F238E27FC236}">
                <a16:creationId xmlns:a16="http://schemas.microsoft.com/office/drawing/2014/main" id="{D03F8A9A-2367-4CA2-B034-9EFF1C4C97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34C30B1-2FBC-4AD5-9891-19EA25982D69}"/>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307540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955AC8-B728-45D9-950A-53A66223FCB1}"/>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3" name="Footer Placeholder 2">
            <a:extLst>
              <a:ext uri="{FF2B5EF4-FFF2-40B4-BE49-F238E27FC236}">
                <a16:creationId xmlns:a16="http://schemas.microsoft.com/office/drawing/2014/main" id="{FD79053B-E814-4552-90E0-0D5514911B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90E82FC-A10A-4D27-8E78-D842D8C095FF}"/>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437233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9317B-7531-44B0-A491-039A1C366D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2D68BF4-938E-462B-844A-2A10D1C4F1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11E2280-9E9F-41C2-95C4-90C5A4405B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BD3BD-E391-428D-BDE9-E6B099740AFA}"/>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6" name="Footer Placeholder 5">
            <a:extLst>
              <a:ext uri="{FF2B5EF4-FFF2-40B4-BE49-F238E27FC236}">
                <a16:creationId xmlns:a16="http://schemas.microsoft.com/office/drawing/2014/main" id="{4B529EAB-4899-441D-B09B-CED25E5A0A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E66DDB6-7207-4026-B096-61510BBF405E}"/>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3543483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D2E72-A10B-410F-98F1-CD2CDFF0E0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55001581-D1B6-46F7-9647-74FD17062EA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8731B11-9311-45BC-B558-4CD3968A0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33826A-FAF3-4527-A035-F698EF6A5C77}"/>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6" name="Footer Placeholder 5">
            <a:extLst>
              <a:ext uri="{FF2B5EF4-FFF2-40B4-BE49-F238E27FC236}">
                <a16:creationId xmlns:a16="http://schemas.microsoft.com/office/drawing/2014/main" id="{85FECDD4-951E-4B24-9951-51BA422403C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040B32-5AFD-4240-ABAB-9C6B8CD03D37}"/>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30054781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26A758-B26C-4690-B7A6-BD5D6E267B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06D787-754D-407A-8C47-0F639628D4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D3448A5-E7C2-4716-AAF8-FBF38A305433}"/>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5" name="Footer Placeholder 4">
            <a:extLst>
              <a:ext uri="{FF2B5EF4-FFF2-40B4-BE49-F238E27FC236}">
                <a16:creationId xmlns:a16="http://schemas.microsoft.com/office/drawing/2014/main" id="{11206A43-559D-4505-91D4-DEAFF7545F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0921D9-23A9-46C9-B93A-F46145BC064F}"/>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1811894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AD7D4F0-DC28-4B00-8687-C7ED43A4554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2517ED1-E74D-417A-A729-9506A083EDD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C2DF78-93DA-4AF9-BC1F-3D204037C61B}"/>
              </a:ext>
            </a:extLst>
          </p:cNvPr>
          <p:cNvSpPr>
            <a:spLocks noGrp="1"/>
          </p:cNvSpPr>
          <p:nvPr>
            <p:ph type="dt" sz="half" idx="10"/>
          </p:nvPr>
        </p:nvSpPr>
        <p:spPr/>
        <p:txBody>
          <a:bodyPr/>
          <a:lstStyle/>
          <a:p>
            <a:fld id="{D5569530-1074-4310-BFB2-BBC902DA9E96}" type="datetimeFigureOut">
              <a:rPr lang="en-IN" smtClean="0"/>
              <a:t>23-10-2024</a:t>
            </a:fld>
            <a:endParaRPr lang="en-IN"/>
          </a:p>
        </p:txBody>
      </p:sp>
      <p:sp>
        <p:nvSpPr>
          <p:cNvPr id="5" name="Footer Placeholder 4">
            <a:extLst>
              <a:ext uri="{FF2B5EF4-FFF2-40B4-BE49-F238E27FC236}">
                <a16:creationId xmlns:a16="http://schemas.microsoft.com/office/drawing/2014/main" id="{FFD62B32-0DDC-4AD7-B545-71D55B4AD7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37EC708-C72D-4522-8E89-5879FF4D4902}"/>
              </a:ext>
            </a:extLst>
          </p:cNvPr>
          <p:cNvSpPr>
            <a:spLocks noGrp="1"/>
          </p:cNvSpPr>
          <p:nvPr>
            <p:ph type="sldNum" sz="quarter" idx="12"/>
          </p:nvPr>
        </p:nvSpPr>
        <p:spPr/>
        <p:txBody>
          <a:bodyPr/>
          <a:lstStyle/>
          <a:p>
            <a:fld id="{CC2E22AE-7756-47FF-B5C0-06B3005774D2}" type="slidenum">
              <a:rPr lang="en-IN" smtClean="0"/>
              <a:t>‹#›</a:t>
            </a:fld>
            <a:endParaRPr lang="en-IN"/>
          </a:p>
        </p:txBody>
      </p:sp>
    </p:spTree>
    <p:extLst>
      <p:ext uri="{BB962C8B-B14F-4D97-AF65-F5344CB8AC3E}">
        <p14:creationId xmlns:p14="http://schemas.microsoft.com/office/powerpoint/2010/main" val="16959566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F7FC5F0-9B7F-43D1-9E5C-75C5619E84B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F447277-55AA-4453-BB04-189E5BE2A9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BC608D-C53B-484B-9B50-5FC81D0F7E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569530-1074-4310-BFB2-BBC902DA9E96}" type="datetimeFigureOut">
              <a:rPr lang="en-IN" smtClean="0"/>
              <a:t>23-10-2024</a:t>
            </a:fld>
            <a:endParaRPr lang="en-IN"/>
          </a:p>
        </p:txBody>
      </p:sp>
      <p:sp>
        <p:nvSpPr>
          <p:cNvPr id="5" name="Footer Placeholder 4">
            <a:extLst>
              <a:ext uri="{FF2B5EF4-FFF2-40B4-BE49-F238E27FC236}">
                <a16:creationId xmlns:a16="http://schemas.microsoft.com/office/drawing/2014/main" id="{1C944836-46C8-4AC3-88AC-08C804A13E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16971B3-6793-4A7C-87CF-AA28359DDD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2E22AE-7756-47FF-B5C0-06B3005774D2}" type="slidenum">
              <a:rPr lang="en-IN" smtClean="0"/>
              <a:t>‹#›</a:t>
            </a:fld>
            <a:endParaRPr lang="en-IN"/>
          </a:p>
        </p:txBody>
      </p:sp>
    </p:spTree>
    <p:extLst>
      <p:ext uri="{BB962C8B-B14F-4D97-AF65-F5344CB8AC3E}">
        <p14:creationId xmlns:p14="http://schemas.microsoft.com/office/powerpoint/2010/main" val="1896056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notes.rt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notes3.rtf"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dotnet/api/microsoft.aspnetcore.html.ihtmlcontent" TargetMode="External"/><Relationship Id="rId2" Type="http://schemas.openxmlformats.org/officeDocument/2006/relationships/hyperlink" Target="https://learn.microsoft.com/en-us/dotnet/api/microsoft.aspnetcore.mvc.rendering.htmlhelperpartialextensions.renderpartialasync"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dotnet/api/system.componentmodel" TargetMode="External"/><Relationship Id="rId2" Type="http://schemas.openxmlformats.org/officeDocument/2006/relationships/hyperlink" Target="https://learn.microsoft.com/en-us/aspnet/core/mvc/views/tag-helpers/authoring?view=aspnetcore-3.1#avoid-tag-helper-conflic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2838450" y="971550"/>
            <a:ext cx="6343650" cy="50292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3067050" y="3886202"/>
            <a:ext cx="2457450" cy="715581"/>
          </a:xfrm>
          <a:prstGeom prst="rect">
            <a:avLst/>
          </a:prstGeom>
          <a:noFill/>
        </p:spPr>
        <p:txBody>
          <a:bodyPr wrap="square" rtlCol="0">
            <a:spAutoFit/>
          </a:bodyPr>
          <a:lstStyle/>
          <a:p>
            <a:r>
              <a:rPr lang="en-IN" sz="1350" dirty="0" err="1"/>
              <a:t>Ketki</a:t>
            </a:r>
            <a:r>
              <a:rPr lang="en-IN" sz="1350" dirty="0"/>
              <a:t> Acharya</a:t>
            </a:r>
          </a:p>
          <a:p>
            <a:r>
              <a:rPr lang="en-IN" sz="1350" dirty="0"/>
              <a:t>From: SM VITA ATC of CDAC</a:t>
            </a:r>
          </a:p>
          <a:p>
            <a:r>
              <a:rPr lang="en-IN" sz="1350"/>
              <a:t>ketkiacharya</a:t>
            </a:r>
            <a:r>
              <a:rPr lang="en-IN" sz="1350" dirty="0"/>
              <a:t>.net@gmail.com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B7597-74FA-4901-985C-AE782A0C66F0}"/>
              </a:ext>
            </a:extLst>
          </p:cNvPr>
          <p:cNvSpPr>
            <a:spLocks noGrp="1"/>
          </p:cNvSpPr>
          <p:nvPr>
            <p:ph type="title"/>
          </p:nvPr>
        </p:nvSpPr>
        <p:spPr>
          <a:xfrm>
            <a:off x="838200" y="79989"/>
            <a:ext cx="9967452" cy="470617"/>
          </a:xfrm>
        </p:spPr>
        <p:txBody>
          <a:bodyPr>
            <a:normAutofit fontScale="90000"/>
          </a:bodyPr>
          <a:lstStyle/>
          <a:p>
            <a:pPr algn="ctr">
              <a:lnSpc>
                <a:spcPct val="107000"/>
              </a:lnSpc>
              <a:spcAft>
                <a:spcPts val="800"/>
              </a:spcAft>
            </a:pPr>
            <a:r>
              <a:rPr lang="en-IN" sz="4400" kern="1800" dirty="0">
                <a:effectLst/>
                <a:latin typeface="Arial" panose="020B0604020202020204" pitchFamily="34" charset="0"/>
                <a:ea typeface="Times New Roman" panose="02020603050405020304" pitchFamily="18" charset="0"/>
                <a:cs typeface="Times New Roman" panose="02020603050405020304" pitchFamily="18" charset="0"/>
              </a:rPr>
              <a:t>Partial View</a:t>
            </a:r>
            <a:endParaRPr lang="en-IN" dirty="0"/>
          </a:p>
        </p:txBody>
      </p:sp>
      <p:sp>
        <p:nvSpPr>
          <p:cNvPr id="3" name="Content Placeholder 2">
            <a:extLst>
              <a:ext uri="{FF2B5EF4-FFF2-40B4-BE49-F238E27FC236}">
                <a16:creationId xmlns:a16="http://schemas.microsoft.com/office/drawing/2014/main" id="{41F2F616-ECF9-4B3E-A9EA-DF8547C20FC4}"/>
              </a:ext>
            </a:extLst>
          </p:cNvPr>
          <p:cNvSpPr>
            <a:spLocks noGrp="1"/>
          </p:cNvSpPr>
          <p:nvPr>
            <p:ph idx="1"/>
          </p:nvPr>
        </p:nvSpPr>
        <p:spPr>
          <a:xfrm>
            <a:off x="245807" y="668595"/>
            <a:ext cx="11107994" cy="2005780"/>
          </a:xfrm>
        </p:spPr>
        <p:txBody>
          <a:bodyPr>
            <a:normAutofit fontScale="92500"/>
          </a:bodyPr>
          <a:lstStyle/>
          <a:p>
            <a:pPr algn="just">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Partial view is a reusable view, which can be used as a child view in multiple other views. It eliminates duplicate coding by reusing same partial view in multiple places. You can use the partial view in the layout view, as well as other content views.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800" dirty="0">
                <a:effectLst/>
                <a:latin typeface="Times New Roman" panose="02020603050405020304" pitchFamily="18" charset="0"/>
                <a:ea typeface="Times New Roman" panose="02020603050405020304" pitchFamily="18" charset="0"/>
                <a:cs typeface="Times New Roman" panose="02020603050405020304" pitchFamily="18" charset="0"/>
              </a:rPr>
              <a:t>To start with, let's create a simple partial view for the following navigation bar for demo purposes. We will create a partial view for it, so that we can use the same navigation bar in multiple layout views without rewriting the same code everywhere.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dirty="0"/>
          </a:p>
        </p:txBody>
      </p:sp>
      <p:pic>
        <p:nvPicPr>
          <p:cNvPr id="4" name="Picture 3" descr="sample partial view">
            <a:extLst>
              <a:ext uri="{FF2B5EF4-FFF2-40B4-BE49-F238E27FC236}">
                <a16:creationId xmlns:a16="http://schemas.microsoft.com/office/drawing/2014/main" id="{F9226DD4-8591-4088-B6F4-0E8300DE490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25078" y="2535084"/>
            <a:ext cx="6134100" cy="4410075"/>
          </a:xfrm>
          <a:prstGeom prst="rect">
            <a:avLst/>
          </a:prstGeom>
          <a:noFill/>
          <a:ln>
            <a:noFill/>
          </a:ln>
        </p:spPr>
      </p:pic>
    </p:spTree>
    <p:extLst>
      <p:ext uri="{BB962C8B-B14F-4D97-AF65-F5344CB8AC3E}">
        <p14:creationId xmlns:p14="http://schemas.microsoft.com/office/powerpoint/2010/main" val="1721058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hlinkClick r:id="rId2"/>
            <a:extLst>
              <a:ext uri="{FF2B5EF4-FFF2-40B4-BE49-F238E27FC236}">
                <a16:creationId xmlns:a16="http://schemas.microsoft.com/office/drawing/2014/main" id="{8F7BF44C-16D0-4E04-8865-E366191EBD7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00406" y="1130047"/>
            <a:ext cx="8904033" cy="5058437"/>
          </a:xfrm>
          <a:prstGeom prst="rect">
            <a:avLst/>
          </a:prstGeom>
          <a:noFill/>
          <a:ln>
            <a:noFill/>
          </a:ln>
        </p:spPr>
      </p:pic>
      <p:sp>
        <p:nvSpPr>
          <p:cNvPr id="5" name="TextBox 4">
            <a:extLst>
              <a:ext uri="{FF2B5EF4-FFF2-40B4-BE49-F238E27FC236}">
                <a16:creationId xmlns:a16="http://schemas.microsoft.com/office/drawing/2014/main" id="{0EBDA807-B97C-4598-8E6E-BC2CA4C70E6C}"/>
              </a:ext>
            </a:extLst>
          </p:cNvPr>
          <p:cNvSpPr txBox="1"/>
          <p:nvPr/>
        </p:nvSpPr>
        <p:spPr>
          <a:xfrm>
            <a:off x="1032388" y="403126"/>
            <a:ext cx="10176386" cy="580480"/>
          </a:xfrm>
          <a:prstGeom prst="rect">
            <a:avLst/>
          </a:prstGeom>
          <a:noFill/>
        </p:spPr>
        <p:txBody>
          <a:bodyPr wrap="square">
            <a:spAutoFit/>
          </a:bodyPr>
          <a:lstStyle/>
          <a:p>
            <a:pPr>
              <a:lnSpc>
                <a:spcPct val="107000"/>
              </a:lnSpc>
              <a:spcAft>
                <a:spcPts val="800"/>
              </a:spcAf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Partial View</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spcAft>
                <a:spcPts val="800"/>
              </a:spcAft>
            </a:pP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The following figure shows the html code for the above navigation bar. We will cut and paste this code in a </a:t>
            </a:r>
            <a:r>
              <a:rPr lang="en-IN" sz="1200" dirty="0" err="1">
                <a:effectLst/>
                <a:latin typeface="Times New Roman" panose="02020603050405020304" pitchFamily="18" charset="0"/>
                <a:ea typeface="Times New Roman" panose="02020603050405020304" pitchFamily="18" charset="0"/>
                <a:cs typeface="Times New Roman" panose="02020603050405020304" pitchFamily="18" charset="0"/>
              </a:rPr>
              <a:t>seperate</a:t>
            </a:r>
            <a:r>
              <a:rPr lang="en-IN" sz="1200" dirty="0">
                <a:effectLst/>
                <a:latin typeface="Times New Roman" panose="02020603050405020304" pitchFamily="18" charset="0"/>
                <a:ea typeface="Times New Roman" panose="02020603050405020304" pitchFamily="18" charset="0"/>
                <a:cs typeface="Times New Roman" panose="02020603050405020304" pitchFamily="18" charset="0"/>
              </a:rPr>
              <a:t> partial view for demo purposes.</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AB634F81-8540-B1BA-F948-019AFE319F0F}"/>
              </a:ext>
            </a:extLst>
          </p:cNvPr>
          <p:cNvSpPr/>
          <p:nvPr/>
        </p:nvSpPr>
        <p:spPr>
          <a:xfrm>
            <a:off x="2488676" y="2403835"/>
            <a:ext cx="2875176" cy="141402"/>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062164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6348095F-9271-4719-9BD6-E9F1C88D9903}"/>
              </a:ext>
            </a:extLst>
          </p:cNvPr>
          <p:cNvSpPr>
            <a:spLocks noChangeArrowheads="1"/>
          </p:cNvSpPr>
          <p:nvPr/>
        </p:nvSpPr>
        <p:spPr bwMode="auto">
          <a:xfrm>
            <a:off x="127818" y="506734"/>
            <a:ext cx="10569679" cy="11695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rgbClr val="000000"/>
                </a:solidFill>
                <a:effectLst/>
                <a:latin typeface="Calibri" panose="020F0502020204030204" pitchFamily="34" charset="0"/>
                <a:ea typeface="Times New Roman" panose="02020603050405020304" pitchFamily="18" charset="0"/>
                <a:cs typeface="Times New Roman" panose="02020603050405020304" pitchFamily="18" charset="0"/>
              </a:rPr>
              <a:t> Note:</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101010"/>
                </a:solidFill>
                <a:effectLst/>
                <a:latin typeface="Calibri" panose="020F0502020204030204" pitchFamily="34" charset="0"/>
                <a:ea typeface="Times New Roman" panose="02020603050405020304" pitchFamily="18" charset="0"/>
                <a:cs typeface="Times New Roman" panose="02020603050405020304" pitchFamily="18" charset="0"/>
              </a:rPr>
              <a:t>If a partial view will be shared with multiple views of different controller folder then create it in the Shared folder, otherwise you can create the partial view in the same folder where it is going to be used.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In the Add View dialogue, enter View name and select "Create as a partial view" checkbox and click Add.</a:t>
            </a:r>
            <a:endParaRPr kumimoji="0" lang="en-US" altLang="en-US" sz="8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1025" name="Picture 3" descr="http://www.tutorialsteacher.com/Content/images/mvc/partial-view-4.png">
            <a:hlinkClick r:id="rId2" action="ppaction://hlinkfile"/>
            <a:extLst>
              <a:ext uri="{FF2B5EF4-FFF2-40B4-BE49-F238E27FC236}">
                <a16:creationId xmlns:a16="http://schemas.microsoft.com/office/drawing/2014/main" id="{F74EFC85-7E60-457A-B769-3A369DF377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3458" y="1814051"/>
            <a:ext cx="4198938" cy="250666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0889F818-D56A-43FE-8BCA-F6746627069F}"/>
              </a:ext>
            </a:extLst>
          </p:cNvPr>
          <p:cNvSpPr>
            <a:spLocks noChangeArrowheads="1"/>
          </p:cNvSpPr>
          <p:nvPr/>
        </p:nvSpPr>
        <p:spPr bwMode="auto">
          <a:xfrm>
            <a:off x="127818" y="5043255"/>
            <a:ext cx="9625781"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Partial Views</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We are not going to use any model for this partial view, so keep the Template dropdown as Empty (without model) and click </a:t>
            </a:r>
            <a:r>
              <a:rPr kumimoji="0" lang="en-US" altLang="en-US" sz="1200" b="1"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Add</a:t>
            </a: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This will create an empty partial view in Shared folder.</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Now, you can cut the above code for navigation bar and paste it in _</a:t>
            </a:r>
            <a:r>
              <a:rPr kumimoji="0" lang="en-US" altLang="en-US" sz="1200" b="0" i="0" u="none" strike="noStrike" cap="none" normalizeH="0" baseline="0" dirty="0" err="1">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HeaderNavBar.cshtml</a:t>
            </a:r>
            <a:r>
              <a:rPr kumimoji="0" lang="en-US" altLang="en-US" sz="1200" b="0" i="0" u="none" strike="noStrike" cap="none" normalizeH="0" baseline="0" dirty="0">
                <a:ln>
                  <a:noFill/>
                </a:ln>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 as shown below:</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TextBox 7">
            <a:extLst>
              <a:ext uri="{FF2B5EF4-FFF2-40B4-BE49-F238E27FC236}">
                <a16:creationId xmlns:a16="http://schemas.microsoft.com/office/drawing/2014/main" id="{025D7455-3066-4925-A3FD-5F1F29287C39}"/>
              </a:ext>
            </a:extLst>
          </p:cNvPr>
          <p:cNvSpPr txBox="1"/>
          <p:nvPr/>
        </p:nvSpPr>
        <p:spPr>
          <a:xfrm>
            <a:off x="127818" y="160852"/>
            <a:ext cx="6096000" cy="27699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To create a partial view, right click on Shared folder -&gt; select </a:t>
            </a:r>
            <a:r>
              <a:rPr kumimoji="0" lang="en-US" altLang="en-US" sz="1200" b="1"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Add </a:t>
            </a:r>
            <a:r>
              <a:rPr kumimoji="0" lang="en-US" altLang="en-US" sz="12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-&gt; click on </a:t>
            </a:r>
            <a:r>
              <a:rPr kumimoji="0" lang="en-US" altLang="en-US" sz="1200" b="1"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rPr>
              <a:t>View..</a:t>
            </a:r>
            <a:endParaRPr kumimoji="0" lang="en-US" alt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1875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0C840F9-272B-4B42-9193-722E6800F1AE}"/>
              </a:ext>
            </a:extLst>
          </p:cNvPr>
          <p:cNvSpPr txBox="1"/>
          <p:nvPr/>
        </p:nvSpPr>
        <p:spPr>
          <a:xfrm>
            <a:off x="2253006" y="740283"/>
            <a:ext cx="6518787" cy="5992987"/>
          </a:xfrm>
          <a:prstGeom prst="rect">
            <a:avLst/>
          </a:prstGeom>
          <a:noFill/>
        </p:spPr>
        <p:txBody>
          <a:bodyPr wrap="square">
            <a:spAutoFit/>
          </a:bodyPr>
          <a:lstStyle/>
          <a:p>
            <a:pPr>
              <a:lnSpc>
                <a:spcPct val="107000"/>
              </a:lnSpc>
              <a:spcAft>
                <a:spcPts val="800"/>
              </a:spcAft>
            </a:pPr>
            <a:r>
              <a:rPr lang="en-IN" sz="1100" dirty="0">
                <a:effectLst/>
                <a:latin typeface="Times New Roman" panose="02020603050405020304" pitchFamily="18" charset="0"/>
                <a:ea typeface="Times New Roman" panose="02020603050405020304" pitchFamily="18" charset="0"/>
                <a:cs typeface="Times New Roman" panose="02020603050405020304" pitchFamily="18" charset="0"/>
              </a:rPr>
              <a:t>Example: Partial View _</a:t>
            </a:r>
            <a:r>
              <a:rPr lang="en-IN" sz="1100" dirty="0" err="1">
                <a:effectLst/>
                <a:latin typeface="Times New Roman" panose="02020603050405020304" pitchFamily="18" charset="0"/>
                <a:ea typeface="Times New Roman" panose="02020603050405020304" pitchFamily="18" charset="0"/>
                <a:cs typeface="Times New Roman" panose="02020603050405020304" pitchFamily="18" charset="0"/>
              </a:rPr>
              <a:t>HeaderNavBar.cshtml</a:t>
            </a:r>
            <a:endParaRPr lang="en-IN" sz="800" dirty="0">
              <a:effectLst/>
              <a:latin typeface="Calibri" panose="020F0502020204030204" pitchFamily="34" charset="0"/>
              <a:ea typeface="Calibri" panose="020F0502020204030204" pitchFamily="34" charset="0"/>
              <a:cs typeface="Times New Roman" panose="02020603050405020304" pitchFamily="18" charset="0"/>
            </a:endParaRPr>
          </a:p>
          <a:p>
            <a:r>
              <a:rPr lang="en-IN" sz="6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endParaRPr lang="en-IN" sz="1100" dirty="0">
              <a:solidFill>
                <a:srgbClr val="000000"/>
              </a:solidFill>
              <a:latin typeface="Cascadia Mono" panose="020B0609020000020004" pitchFamily="49" charset="0"/>
            </a:endParaRPr>
          </a:p>
          <a:p>
            <a:r>
              <a:rPr lang="en-IN" sz="1100" dirty="0">
                <a:solidFill>
                  <a:srgbClr val="0000FF"/>
                </a:solidFill>
                <a:latin typeface="Cascadia Mono" panose="020B0609020000020004" pitchFamily="49" charset="0"/>
              </a:rPr>
              <a:t>&lt;</a:t>
            </a:r>
            <a:r>
              <a:rPr lang="en-IN" sz="1100" dirty="0">
                <a:solidFill>
                  <a:srgbClr val="800000"/>
                </a:solidFill>
                <a:latin typeface="Cascadia Mono" panose="020B0609020000020004" pitchFamily="49" charset="0"/>
              </a:rPr>
              <a:t>header</a:t>
            </a:r>
            <a:r>
              <a:rPr lang="en-IN" sz="1100" dirty="0">
                <a:solidFill>
                  <a:srgbClr val="0000FF"/>
                </a:solidFill>
                <a:latin typeface="Cascadia Mono" panose="020B0609020000020004" pitchFamily="49" charset="0"/>
              </a:rPr>
              <a:t>&gt;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&lt;</a:t>
            </a:r>
            <a:r>
              <a:rPr lang="en-IN" sz="1100" dirty="0">
                <a:solidFill>
                  <a:srgbClr val="800000"/>
                </a:solidFill>
                <a:latin typeface="Cascadia Mono" panose="020B0609020000020004" pitchFamily="49" charset="0"/>
              </a:rPr>
              <a:t>nav</a:t>
            </a:r>
            <a:r>
              <a:rPr lang="en-IN" sz="1100" dirty="0">
                <a:solidFill>
                  <a:srgbClr val="000000"/>
                </a:solidFill>
                <a:latin typeface="Cascadia Mono" panose="020B0609020000020004" pitchFamily="49" charset="0"/>
              </a:rPr>
              <a:t> </a:t>
            </a:r>
            <a:r>
              <a:rPr lang="en-IN" sz="1100" dirty="0">
                <a:solidFill>
                  <a:srgbClr val="FF0000"/>
                </a:solidFill>
                <a:latin typeface="Cascadia Mono" panose="020B0609020000020004" pitchFamily="49" charset="0"/>
              </a:rPr>
              <a:t>class</a:t>
            </a:r>
            <a:r>
              <a:rPr lang="en-IN" sz="1100" dirty="0">
                <a:solidFill>
                  <a:srgbClr val="0000FF"/>
                </a:solidFill>
                <a:latin typeface="Cascadia Mono" panose="020B0609020000020004" pitchFamily="49" charset="0"/>
              </a:rPr>
              <a:t>="navbar navbar-expand-</a:t>
            </a:r>
            <a:r>
              <a:rPr lang="en-IN" sz="1100" dirty="0" err="1">
                <a:solidFill>
                  <a:srgbClr val="0000FF"/>
                </a:solidFill>
                <a:latin typeface="Cascadia Mono" panose="020B0609020000020004" pitchFamily="49" charset="0"/>
              </a:rPr>
              <a:t>sm</a:t>
            </a:r>
            <a:r>
              <a:rPr lang="en-IN" sz="1100" dirty="0">
                <a:solidFill>
                  <a:srgbClr val="0000FF"/>
                </a:solidFill>
                <a:latin typeface="Cascadia Mono" panose="020B0609020000020004" pitchFamily="49" charset="0"/>
              </a:rPr>
              <a:t> navbar-toggleable-</a:t>
            </a:r>
            <a:r>
              <a:rPr lang="en-IN" sz="1100" dirty="0" err="1">
                <a:solidFill>
                  <a:srgbClr val="0000FF"/>
                </a:solidFill>
                <a:latin typeface="Cascadia Mono" panose="020B0609020000020004" pitchFamily="49" charset="0"/>
              </a:rPr>
              <a:t>sm</a:t>
            </a:r>
            <a:r>
              <a:rPr lang="en-IN" sz="1100" dirty="0">
                <a:solidFill>
                  <a:srgbClr val="0000FF"/>
                </a:solidFill>
                <a:latin typeface="Cascadia Mono" panose="020B0609020000020004" pitchFamily="49" charset="0"/>
              </a:rPr>
              <a:t> navbar-light </a:t>
            </a:r>
            <a:r>
              <a:rPr lang="en-IN" sz="1100" dirty="0" err="1">
                <a:solidFill>
                  <a:srgbClr val="0000FF"/>
                </a:solidFill>
                <a:latin typeface="Cascadia Mono" panose="020B0609020000020004" pitchFamily="49" charset="0"/>
              </a:rPr>
              <a:t>bg</a:t>
            </a:r>
            <a:r>
              <a:rPr lang="en-IN" sz="1100" dirty="0">
                <a:solidFill>
                  <a:srgbClr val="0000FF"/>
                </a:solidFill>
                <a:latin typeface="Cascadia Mono" panose="020B0609020000020004" pitchFamily="49" charset="0"/>
              </a:rPr>
              <a:t>-white border-bottom box-shadow mb-3"&gt;</a:t>
            </a:r>
            <a:endParaRPr lang="en-IN" sz="1100" dirty="0">
              <a:solidFill>
                <a:srgbClr val="000000"/>
              </a:solidFill>
              <a:latin typeface="Cascadia Mono" panose="020B0609020000020004" pitchFamily="49" charset="0"/>
            </a:endParaRPr>
          </a:p>
          <a:p>
            <a:r>
              <a:rPr lang="en-IN" sz="1100" dirty="0">
                <a:solidFill>
                  <a:srgbClr val="000000"/>
                </a:solidFill>
                <a:latin typeface="Cascadia Mono" panose="020B0609020000020004" pitchFamily="49" charset="0"/>
              </a:rPr>
              <a:t>        </a:t>
            </a:r>
            <a:r>
              <a:rPr lang="en-IN" sz="1100" dirty="0">
                <a:solidFill>
                  <a:srgbClr val="0000FF"/>
                </a:solidFill>
                <a:latin typeface="Cascadia Mono" panose="020B0609020000020004" pitchFamily="49" charset="0"/>
              </a:rPr>
              <a:t>&lt;</a:t>
            </a:r>
            <a:r>
              <a:rPr lang="en-IN" sz="1100" dirty="0">
                <a:solidFill>
                  <a:srgbClr val="800000"/>
                </a:solidFill>
                <a:latin typeface="Cascadia Mono" panose="020B0609020000020004" pitchFamily="49" charset="0"/>
              </a:rPr>
              <a:t>div</a:t>
            </a:r>
            <a:r>
              <a:rPr lang="en-IN" sz="1100" dirty="0">
                <a:solidFill>
                  <a:srgbClr val="000000"/>
                </a:solidFill>
                <a:latin typeface="Cascadia Mono" panose="020B0609020000020004" pitchFamily="49" charset="0"/>
              </a:rPr>
              <a:t> </a:t>
            </a:r>
            <a:r>
              <a:rPr lang="en-IN" sz="1100" dirty="0">
                <a:solidFill>
                  <a:srgbClr val="FF0000"/>
                </a:solidFill>
                <a:latin typeface="Cascadia Mono" panose="020B0609020000020004" pitchFamily="49" charset="0"/>
              </a:rPr>
              <a:t>class</a:t>
            </a:r>
            <a:r>
              <a:rPr lang="en-IN" sz="1100" dirty="0">
                <a:solidFill>
                  <a:srgbClr val="0000FF"/>
                </a:solidFill>
                <a:latin typeface="Cascadia Mono" panose="020B0609020000020004" pitchFamily="49" charset="0"/>
              </a:rPr>
              <a:t>="container-fluid"&gt;</a:t>
            </a:r>
            <a:endParaRPr lang="en-IN" sz="1100" dirty="0">
              <a:solidFill>
                <a:srgbClr val="000000"/>
              </a:solidFill>
              <a:latin typeface="Cascadia Mono" panose="020B0609020000020004" pitchFamily="49" charset="0"/>
            </a:endParaRPr>
          </a:p>
          <a:p>
            <a:r>
              <a:rPr lang="en-US" sz="1100" dirty="0">
                <a:solidFill>
                  <a:srgbClr val="000000"/>
                </a:solidFill>
                <a:latin typeface="Cascadia Mono" panose="020B0609020000020004" pitchFamily="49" charset="0"/>
              </a:rPr>
              <a:t>            </a:t>
            </a:r>
            <a:r>
              <a:rPr lang="en-US" sz="1100" dirty="0">
                <a:solidFill>
                  <a:srgbClr val="0000FF"/>
                </a:solidFill>
                <a:latin typeface="Cascadia Mono" panose="020B0609020000020004" pitchFamily="49" charset="0"/>
              </a:rPr>
              <a:t>&lt;</a:t>
            </a:r>
            <a:r>
              <a:rPr lang="en-US" sz="1100" b="1" dirty="0">
                <a:solidFill>
                  <a:srgbClr val="800080"/>
                </a:solidFill>
                <a:latin typeface="Cascadia Mono" panose="020B0609020000020004" pitchFamily="49" charset="0"/>
              </a:rPr>
              <a:t>a</a:t>
            </a:r>
            <a:r>
              <a:rPr lang="en-US" sz="1100" b="0" dirty="0">
                <a:solidFill>
                  <a:srgbClr val="000000"/>
                </a:solidFill>
                <a:latin typeface="Cascadia Mono" panose="020B0609020000020004" pitchFamily="49" charset="0"/>
              </a:rPr>
              <a:t> </a:t>
            </a:r>
            <a:r>
              <a:rPr lang="en-US" sz="1100" b="0" dirty="0">
                <a:solidFill>
                  <a:srgbClr val="FF0000"/>
                </a:solidFill>
                <a:latin typeface="Cascadia Mono" panose="020B0609020000020004" pitchFamily="49" charset="0"/>
              </a:rPr>
              <a:t>class</a:t>
            </a:r>
            <a:r>
              <a:rPr lang="en-US" sz="1100" b="0" dirty="0">
                <a:solidFill>
                  <a:srgbClr val="0000FF"/>
                </a:solidFill>
                <a:latin typeface="Cascadia Mono" panose="020B0609020000020004" pitchFamily="49" charset="0"/>
              </a:rPr>
              <a:t>="navbar-brand"</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asp-area</a:t>
            </a:r>
            <a:r>
              <a:rPr lang="en-US" sz="1100" b="0" dirty="0">
                <a:solidFill>
                  <a:srgbClr val="0000FF"/>
                </a:solidFill>
                <a:latin typeface="Cascadia Mono" panose="020B0609020000020004" pitchFamily="49" charset="0"/>
              </a:rPr>
              <a:t>=""</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asp-controller</a:t>
            </a:r>
            <a:r>
              <a:rPr lang="en-US" sz="1100" b="0" dirty="0">
                <a:solidFill>
                  <a:srgbClr val="0000FF"/>
                </a:solidFill>
                <a:latin typeface="Cascadia Mono" panose="020B0609020000020004" pitchFamily="49" charset="0"/>
              </a:rPr>
              <a:t>="Home"</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asp-action</a:t>
            </a:r>
            <a:r>
              <a:rPr lang="en-US" sz="1100" b="0" dirty="0">
                <a:solidFill>
                  <a:srgbClr val="0000FF"/>
                </a:solidFill>
                <a:latin typeface="Cascadia Mono" panose="020B0609020000020004" pitchFamily="49" charset="0"/>
              </a:rPr>
              <a:t>="Index"&gt;</a:t>
            </a:r>
            <a:r>
              <a:rPr lang="en-US" sz="1100" b="0" dirty="0" err="1">
                <a:solidFill>
                  <a:srgbClr val="000000"/>
                </a:solidFill>
                <a:latin typeface="Cascadia Mono" panose="020B0609020000020004" pitchFamily="49" charset="0"/>
              </a:rPr>
              <a:t>MVC_Core</a:t>
            </a:r>
            <a:r>
              <a:rPr lang="en-US" sz="1100" b="0" dirty="0">
                <a:solidFill>
                  <a:srgbClr val="0000FF"/>
                </a:solidFill>
                <a:latin typeface="Cascadia Mono" panose="020B0609020000020004" pitchFamily="49" charset="0"/>
              </a:rPr>
              <a:t>&lt;/</a:t>
            </a:r>
            <a:r>
              <a:rPr lang="en-US" sz="1100" b="1" dirty="0">
                <a:solidFill>
                  <a:srgbClr val="800080"/>
                </a:solidFill>
                <a:latin typeface="Cascadia Mono" panose="020B0609020000020004" pitchFamily="49" charset="0"/>
              </a:rPr>
              <a:t>a</a:t>
            </a:r>
            <a:r>
              <a:rPr lang="en-US" sz="1100" b="0" dirty="0">
                <a:solidFill>
                  <a:srgbClr val="0000FF"/>
                </a:solidFill>
                <a:latin typeface="Cascadia Mono" panose="020B0609020000020004" pitchFamily="49" charset="0"/>
              </a:rPr>
              <a:t>&gt;</a:t>
            </a:r>
            <a:endParaRPr lang="en-US"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button</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class</a:t>
            </a:r>
            <a:r>
              <a:rPr lang="en-IN" sz="1100" b="0" dirty="0">
                <a:solidFill>
                  <a:srgbClr val="0000FF"/>
                </a:solidFill>
                <a:latin typeface="Cascadia Mono" panose="020B0609020000020004" pitchFamily="49" charset="0"/>
              </a:rPr>
              <a:t>="navbar-toggler"</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type</a:t>
            </a:r>
            <a:r>
              <a:rPr lang="en-IN" sz="1100" b="0" dirty="0">
                <a:solidFill>
                  <a:srgbClr val="0000FF"/>
                </a:solidFill>
                <a:latin typeface="Cascadia Mono" panose="020B0609020000020004" pitchFamily="49" charset="0"/>
              </a:rPr>
              <a:t>="button"</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data-bs-toggle</a:t>
            </a:r>
            <a:r>
              <a:rPr lang="en-IN" sz="1100" b="0" dirty="0">
                <a:solidFill>
                  <a:srgbClr val="0000FF"/>
                </a:solidFill>
                <a:latin typeface="Cascadia Mono" panose="020B0609020000020004" pitchFamily="49" charset="0"/>
              </a:rPr>
              <a:t>="</a:t>
            </a:r>
            <a:r>
              <a:rPr lang="en-IN" sz="1100" b="0" dirty="0">
                <a:solidFill>
                  <a:srgbClr val="000000"/>
                </a:solidFill>
                <a:latin typeface="Cascadia Mono" panose="020B0609020000020004" pitchFamily="49" charset="0"/>
              </a:rPr>
              <a:t>collapse</a:t>
            </a:r>
            <a:r>
              <a:rPr lang="en-IN" sz="1100" b="0" dirty="0">
                <a:solidFill>
                  <a:srgbClr val="0000FF"/>
                </a:solidFill>
                <a:latin typeface="Cascadia Mono" panose="020B0609020000020004" pitchFamily="49" charset="0"/>
              </a:rPr>
              <a:t>"</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data-bs-target</a:t>
            </a:r>
            <a:r>
              <a:rPr lang="en-IN" sz="1100" b="0" dirty="0">
                <a:solidFill>
                  <a:srgbClr val="0000FF"/>
                </a:solidFill>
                <a:latin typeface="Cascadia Mono" panose="020B0609020000020004" pitchFamily="49" charset="0"/>
              </a:rPr>
              <a:t>="</a:t>
            </a:r>
            <a:r>
              <a:rPr lang="en-IN" sz="1100" b="0" dirty="0">
                <a:solidFill>
                  <a:srgbClr val="000000"/>
                </a:solidFill>
                <a:latin typeface="Cascadia Mono" panose="020B0609020000020004" pitchFamily="49" charset="0"/>
              </a:rPr>
              <a:t>.navbar-collapse</a:t>
            </a:r>
            <a:r>
              <a:rPr lang="en-IN" sz="1100" b="0" dirty="0">
                <a:solidFill>
                  <a:srgbClr val="0000FF"/>
                </a:solidFill>
                <a:latin typeface="Cascadia Mono" panose="020B0609020000020004" pitchFamily="49" charset="0"/>
              </a:rPr>
              <a:t>"</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aria-controls</a:t>
            </a:r>
            <a:r>
              <a:rPr lang="en-IN" sz="1100" b="0" dirty="0">
                <a:solidFill>
                  <a:srgbClr val="0000FF"/>
                </a:solidFill>
                <a:latin typeface="Cascadia Mono" panose="020B0609020000020004" pitchFamily="49" charset="0"/>
              </a:rPr>
              <a:t>="</a:t>
            </a:r>
            <a:r>
              <a:rPr lang="en-IN" sz="1100" b="0" dirty="0" err="1">
                <a:solidFill>
                  <a:srgbClr val="0000FF"/>
                </a:solidFill>
                <a:latin typeface="Cascadia Mono" panose="020B0609020000020004" pitchFamily="49" charset="0"/>
              </a:rPr>
              <a:t>navbarSupportedContent</a:t>
            </a:r>
            <a:r>
              <a:rPr lang="en-IN" sz="1100" b="0" dirty="0">
                <a:solidFill>
                  <a:srgbClr val="0000FF"/>
                </a:solidFill>
                <a:latin typeface="Cascadia Mono" panose="020B0609020000020004" pitchFamily="49" charset="0"/>
              </a:rPr>
              <a: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aria-expanded</a:t>
            </a:r>
            <a:r>
              <a:rPr lang="en-IN" sz="1100" b="0" dirty="0">
                <a:solidFill>
                  <a:srgbClr val="0000FF"/>
                </a:solidFill>
                <a:latin typeface="Cascadia Mono" panose="020B0609020000020004" pitchFamily="49" charset="0"/>
              </a:rPr>
              <a:t>="false"</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aria-label</a:t>
            </a:r>
            <a:r>
              <a:rPr lang="en-IN" sz="1100" b="0" dirty="0">
                <a:solidFill>
                  <a:srgbClr val="0000FF"/>
                </a:solidFill>
                <a:latin typeface="Cascadia Mono" panose="020B0609020000020004" pitchFamily="49" charset="0"/>
              </a:rPr>
              <a:t>="Toggle navigation"&gt;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span</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class</a:t>
            </a:r>
            <a:r>
              <a:rPr lang="en-IN" sz="1100" b="0" dirty="0">
                <a:solidFill>
                  <a:srgbClr val="0000FF"/>
                </a:solidFill>
                <a:latin typeface="Cascadia Mono" panose="020B0609020000020004" pitchFamily="49" charset="0"/>
              </a:rPr>
              <a:t>="navbar-toggler-icon"&gt;&lt;/</a:t>
            </a:r>
            <a:r>
              <a:rPr lang="en-IN" sz="1100" b="0" dirty="0">
                <a:solidFill>
                  <a:srgbClr val="800000"/>
                </a:solidFill>
                <a:latin typeface="Cascadia Mono" panose="020B0609020000020004" pitchFamily="49" charset="0"/>
              </a:rPr>
              <a:t>span</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button</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US" sz="1100" b="0" dirty="0">
                <a:solidFill>
                  <a:srgbClr val="000000"/>
                </a:solidFill>
                <a:latin typeface="Cascadia Mono" panose="020B0609020000020004" pitchFamily="49" charset="0"/>
              </a:rPr>
              <a:t>            </a:t>
            </a:r>
            <a:r>
              <a:rPr lang="en-US" sz="1100" b="0" dirty="0">
                <a:solidFill>
                  <a:srgbClr val="0000FF"/>
                </a:solidFill>
                <a:latin typeface="Cascadia Mono" panose="020B0609020000020004" pitchFamily="49" charset="0"/>
              </a:rPr>
              <a:t>&lt;</a:t>
            </a:r>
            <a:r>
              <a:rPr lang="en-US" sz="1100" b="0" dirty="0">
                <a:solidFill>
                  <a:srgbClr val="800000"/>
                </a:solidFill>
                <a:latin typeface="Cascadia Mono" panose="020B0609020000020004" pitchFamily="49" charset="0"/>
              </a:rPr>
              <a:t>div</a:t>
            </a:r>
            <a:r>
              <a:rPr lang="en-US" sz="1100" b="0" dirty="0">
                <a:solidFill>
                  <a:srgbClr val="000000"/>
                </a:solidFill>
                <a:latin typeface="Cascadia Mono" panose="020B0609020000020004" pitchFamily="49" charset="0"/>
              </a:rPr>
              <a:t> </a:t>
            </a:r>
            <a:r>
              <a:rPr lang="en-US" sz="1100" b="0" dirty="0">
                <a:solidFill>
                  <a:srgbClr val="FF0000"/>
                </a:solidFill>
                <a:latin typeface="Cascadia Mono" panose="020B0609020000020004" pitchFamily="49" charset="0"/>
              </a:rPr>
              <a:t>class</a:t>
            </a:r>
            <a:r>
              <a:rPr lang="en-US" sz="1100" b="0" dirty="0">
                <a:solidFill>
                  <a:srgbClr val="0000FF"/>
                </a:solidFill>
                <a:latin typeface="Cascadia Mono" panose="020B0609020000020004" pitchFamily="49" charset="0"/>
              </a:rPr>
              <a:t>="navbar-collapse collapse d-</a:t>
            </a:r>
            <a:r>
              <a:rPr lang="en-US" sz="1100" b="0" dirty="0" err="1">
                <a:solidFill>
                  <a:srgbClr val="0000FF"/>
                </a:solidFill>
                <a:latin typeface="Cascadia Mono" panose="020B0609020000020004" pitchFamily="49" charset="0"/>
              </a:rPr>
              <a:t>sm</a:t>
            </a:r>
            <a:r>
              <a:rPr lang="en-US" sz="1100" b="0" dirty="0">
                <a:solidFill>
                  <a:srgbClr val="0000FF"/>
                </a:solidFill>
                <a:latin typeface="Cascadia Mono" panose="020B0609020000020004" pitchFamily="49" charset="0"/>
              </a:rPr>
              <a:t>-inline-flex justify-content-between"&gt;</a:t>
            </a:r>
            <a:endParaRPr lang="en-US"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err="1">
                <a:solidFill>
                  <a:srgbClr val="800000"/>
                </a:solidFill>
                <a:latin typeface="Cascadia Mono" panose="020B0609020000020004" pitchFamily="49" charset="0"/>
              </a:rPr>
              <a:t>ul</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class</a:t>
            </a:r>
            <a:r>
              <a:rPr lang="en-IN" sz="1100" b="0" dirty="0">
                <a:solidFill>
                  <a:srgbClr val="0000FF"/>
                </a:solidFill>
                <a:latin typeface="Cascadia Mono" panose="020B0609020000020004" pitchFamily="49" charset="0"/>
              </a:rPr>
              <a:t>="navbar-nav flex-grow-1"&gt;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li</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class</a:t>
            </a:r>
            <a:r>
              <a:rPr lang="en-IN" sz="1100" b="0" dirty="0">
                <a:solidFill>
                  <a:srgbClr val="0000FF"/>
                </a:solidFill>
                <a:latin typeface="Cascadia Mono" panose="020B0609020000020004" pitchFamily="49" charset="0"/>
              </a:rPr>
              <a:t>="nav-item"&gt;</a:t>
            </a:r>
            <a:endParaRPr lang="en-IN" sz="1100" b="0" dirty="0">
              <a:solidFill>
                <a:srgbClr val="000000"/>
              </a:solidFill>
              <a:latin typeface="Cascadia Mono" panose="020B0609020000020004" pitchFamily="49" charset="0"/>
            </a:endParaRPr>
          </a:p>
          <a:p>
            <a:r>
              <a:rPr lang="en-US" sz="1100" b="0" dirty="0">
                <a:solidFill>
                  <a:srgbClr val="000000"/>
                </a:solidFill>
                <a:latin typeface="Cascadia Mono" panose="020B0609020000020004" pitchFamily="49" charset="0"/>
              </a:rPr>
              <a:t>                        </a:t>
            </a:r>
            <a:r>
              <a:rPr lang="en-US" sz="1100" b="0" dirty="0">
                <a:solidFill>
                  <a:srgbClr val="0000FF"/>
                </a:solidFill>
                <a:latin typeface="Cascadia Mono" panose="020B0609020000020004" pitchFamily="49" charset="0"/>
              </a:rPr>
              <a:t>&lt;</a:t>
            </a:r>
            <a:r>
              <a:rPr lang="en-US" sz="1100" b="1" dirty="0">
                <a:solidFill>
                  <a:srgbClr val="800080"/>
                </a:solidFill>
                <a:latin typeface="Cascadia Mono" panose="020B0609020000020004" pitchFamily="49" charset="0"/>
              </a:rPr>
              <a:t>a</a:t>
            </a:r>
            <a:r>
              <a:rPr lang="en-US" sz="1100" b="0" dirty="0">
                <a:solidFill>
                  <a:srgbClr val="000000"/>
                </a:solidFill>
                <a:latin typeface="Cascadia Mono" panose="020B0609020000020004" pitchFamily="49" charset="0"/>
              </a:rPr>
              <a:t> </a:t>
            </a:r>
            <a:r>
              <a:rPr lang="en-US" sz="1100" b="0" dirty="0">
                <a:solidFill>
                  <a:srgbClr val="FF0000"/>
                </a:solidFill>
                <a:latin typeface="Cascadia Mono" panose="020B0609020000020004" pitchFamily="49" charset="0"/>
              </a:rPr>
              <a:t>class</a:t>
            </a:r>
            <a:r>
              <a:rPr lang="en-US" sz="1100" b="0" dirty="0">
                <a:solidFill>
                  <a:srgbClr val="0000FF"/>
                </a:solidFill>
                <a:latin typeface="Cascadia Mono" panose="020B0609020000020004" pitchFamily="49" charset="0"/>
              </a:rPr>
              <a:t>="nav-link text-dark"</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asp-area</a:t>
            </a:r>
            <a:r>
              <a:rPr lang="en-US" sz="1100" b="0" dirty="0">
                <a:solidFill>
                  <a:srgbClr val="0000FF"/>
                </a:solidFill>
                <a:latin typeface="Cascadia Mono" panose="020B0609020000020004" pitchFamily="49" charset="0"/>
              </a:rPr>
              <a:t>=""</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asp-controller</a:t>
            </a:r>
            <a:r>
              <a:rPr lang="en-US" sz="1100" b="0" dirty="0">
                <a:solidFill>
                  <a:srgbClr val="0000FF"/>
                </a:solidFill>
                <a:latin typeface="Cascadia Mono" panose="020B0609020000020004" pitchFamily="49" charset="0"/>
              </a:rPr>
              <a:t>="Home"</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asp-action</a:t>
            </a:r>
            <a:r>
              <a:rPr lang="en-US" sz="1100" b="0" dirty="0">
                <a:solidFill>
                  <a:srgbClr val="0000FF"/>
                </a:solidFill>
                <a:latin typeface="Cascadia Mono" panose="020B0609020000020004" pitchFamily="49" charset="0"/>
              </a:rPr>
              <a:t>="Index"&gt;</a:t>
            </a:r>
            <a:r>
              <a:rPr lang="en-US" sz="1100" b="0" dirty="0">
                <a:solidFill>
                  <a:srgbClr val="000000"/>
                </a:solidFill>
                <a:latin typeface="Cascadia Mono" panose="020B0609020000020004" pitchFamily="49" charset="0"/>
              </a:rPr>
              <a:t>Home</a:t>
            </a:r>
            <a:r>
              <a:rPr lang="en-US" sz="1100" b="0" dirty="0">
                <a:solidFill>
                  <a:srgbClr val="0000FF"/>
                </a:solidFill>
                <a:latin typeface="Cascadia Mono" panose="020B0609020000020004" pitchFamily="49" charset="0"/>
              </a:rPr>
              <a:t>&lt;/</a:t>
            </a:r>
            <a:r>
              <a:rPr lang="en-US" sz="1100" b="1" dirty="0">
                <a:solidFill>
                  <a:srgbClr val="800080"/>
                </a:solidFill>
                <a:latin typeface="Cascadia Mono" panose="020B0609020000020004" pitchFamily="49" charset="0"/>
              </a:rPr>
              <a:t>a</a:t>
            </a:r>
            <a:r>
              <a:rPr lang="en-US" sz="1100" b="0" dirty="0">
                <a:solidFill>
                  <a:srgbClr val="0000FF"/>
                </a:solidFill>
                <a:latin typeface="Cascadia Mono" panose="020B0609020000020004" pitchFamily="49" charset="0"/>
              </a:rPr>
              <a:t>&gt;</a:t>
            </a:r>
            <a:endParaRPr lang="en-US"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li</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li</a:t>
            </a:r>
            <a:r>
              <a:rPr lang="en-IN" sz="1100" b="0" dirty="0">
                <a:solidFill>
                  <a:srgbClr val="000000"/>
                </a:solidFill>
                <a:latin typeface="Cascadia Mono" panose="020B0609020000020004" pitchFamily="49" charset="0"/>
              </a:rPr>
              <a:t> </a:t>
            </a:r>
            <a:r>
              <a:rPr lang="en-IN" sz="1100" b="0" dirty="0">
                <a:solidFill>
                  <a:srgbClr val="FF0000"/>
                </a:solidFill>
                <a:latin typeface="Cascadia Mono" panose="020B0609020000020004" pitchFamily="49" charset="0"/>
              </a:rPr>
              <a:t>class</a:t>
            </a:r>
            <a:r>
              <a:rPr lang="en-IN" sz="1100" b="0" dirty="0">
                <a:solidFill>
                  <a:srgbClr val="0000FF"/>
                </a:solidFill>
                <a:latin typeface="Cascadia Mono" panose="020B0609020000020004" pitchFamily="49" charset="0"/>
              </a:rPr>
              <a:t>="nav-item"&gt;</a:t>
            </a:r>
            <a:endParaRPr lang="en-IN" sz="1100" b="0" dirty="0">
              <a:solidFill>
                <a:srgbClr val="000000"/>
              </a:solidFill>
              <a:latin typeface="Cascadia Mono" panose="020B0609020000020004" pitchFamily="49" charset="0"/>
            </a:endParaRPr>
          </a:p>
          <a:p>
            <a:r>
              <a:rPr lang="en-US" sz="1100" b="0" dirty="0">
                <a:solidFill>
                  <a:srgbClr val="000000"/>
                </a:solidFill>
                <a:latin typeface="Cascadia Mono" panose="020B0609020000020004" pitchFamily="49" charset="0"/>
              </a:rPr>
              <a:t>                        </a:t>
            </a:r>
            <a:r>
              <a:rPr lang="en-US" sz="1100" b="0" dirty="0">
                <a:solidFill>
                  <a:srgbClr val="0000FF"/>
                </a:solidFill>
                <a:latin typeface="Cascadia Mono" panose="020B0609020000020004" pitchFamily="49" charset="0"/>
              </a:rPr>
              <a:t>&lt;</a:t>
            </a:r>
            <a:r>
              <a:rPr lang="en-US" sz="1100" b="1" dirty="0">
                <a:solidFill>
                  <a:srgbClr val="800080"/>
                </a:solidFill>
                <a:latin typeface="Cascadia Mono" panose="020B0609020000020004" pitchFamily="49" charset="0"/>
              </a:rPr>
              <a:t>a</a:t>
            </a:r>
            <a:r>
              <a:rPr lang="en-US" sz="1100" b="0" dirty="0">
                <a:solidFill>
                  <a:srgbClr val="000000"/>
                </a:solidFill>
                <a:latin typeface="Cascadia Mono" panose="020B0609020000020004" pitchFamily="49" charset="0"/>
              </a:rPr>
              <a:t> </a:t>
            </a:r>
            <a:r>
              <a:rPr lang="en-US" sz="1100" b="0" dirty="0">
                <a:solidFill>
                  <a:srgbClr val="FF0000"/>
                </a:solidFill>
                <a:latin typeface="Cascadia Mono" panose="020B0609020000020004" pitchFamily="49" charset="0"/>
              </a:rPr>
              <a:t>class</a:t>
            </a:r>
            <a:r>
              <a:rPr lang="en-US" sz="1100" b="0" dirty="0">
                <a:solidFill>
                  <a:srgbClr val="0000FF"/>
                </a:solidFill>
                <a:latin typeface="Cascadia Mono" panose="020B0609020000020004" pitchFamily="49" charset="0"/>
              </a:rPr>
              <a:t>="nav-link text-dark"</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asp-area</a:t>
            </a:r>
            <a:r>
              <a:rPr lang="en-US" sz="1100" b="0" dirty="0">
                <a:solidFill>
                  <a:srgbClr val="0000FF"/>
                </a:solidFill>
                <a:latin typeface="Cascadia Mono" panose="020B0609020000020004" pitchFamily="49" charset="0"/>
              </a:rPr>
              <a:t>=""</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asp-controller</a:t>
            </a:r>
            <a:r>
              <a:rPr lang="en-US" sz="1100" b="0" dirty="0">
                <a:solidFill>
                  <a:srgbClr val="0000FF"/>
                </a:solidFill>
                <a:latin typeface="Cascadia Mono" panose="020B0609020000020004" pitchFamily="49" charset="0"/>
              </a:rPr>
              <a:t>="Home"</a:t>
            </a:r>
            <a:r>
              <a:rPr lang="en-US" sz="1100" b="0" dirty="0">
                <a:solidFill>
                  <a:srgbClr val="000000"/>
                </a:solidFill>
                <a:latin typeface="Cascadia Mono" panose="020B0609020000020004" pitchFamily="49" charset="0"/>
              </a:rPr>
              <a:t> </a:t>
            </a:r>
            <a:r>
              <a:rPr lang="en-US" sz="1100" b="1" dirty="0">
                <a:solidFill>
                  <a:srgbClr val="800080"/>
                </a:solidFill>
                <a:latin typeface="Cascadia Mono" panose="020B0609020000020004" pitchFamily="49" charset="0"/>
              </a:rPr>
              <a:t>asp-action</a:t>
            </a:r>
            <a:r>
              <a:rPr lang="en-US" sz="1100" b="0" dirty="0">
                <a:solidFill>
                  <a:srgbClr val="0000FF"/>
                </a:solidFill>
                <a:latin typeface="Cascadia Mono" panose="020B0609020000020004" pitchFamily="49" charset="0"/>
              </a:rPr>
              <a:t>="Privacy"&gt;</a:t>
            </a:r>
            <a:r>
              <a:rPr lang="en-US" sz="1100" b="0" dirty="0">
                <a:solidFill>
                  <a:srgbClr val="000000"/>
                </a:solidFill>
                <a:latin typeface="Cascadia Mono" panose="020B0609020000020004" pitchFamily="49" charset="0"/>
              </a:rPr>
              <a:t>Privacy</a:t>
            </a:r>
            <a:r>
              <a:rPr lang="en-US" sz="1100" b="0" dirty="0">
                <a:solidFill>
                  <a:srgbClr val="0000FF"/>
                </a:solidFill>
                <a:latin typeface="Cascadia Mono" panose="020B0609020000020004" pitchFamily="49" charset="0"/>
              </a:rPr>
              <a:t>&lt;/</a:t>
            </a:r>
            <a:r>
              <a:rPr lang="en-US" sz="1100" b="1" dirty="0">
                <a:solidFill>
                  <a:srgbClr val="800080"/>
                </a:solidFill>
                <a:latin typeface="Cascadia Mono" panose="020B0609020000020004" pitchFamily="49" charset="0"/>
              </a:rPr>
              <a:t>a</a:t>
            </a:r>
            <a:r>
              <a:rPr lang="en-US" sz="1100" b="0" dirty="0">
                <a:solidFill>
                  <a:srgbClr val="0000FF"/>
                </a:solidFill>
                <a:latin typeface="Cascadia Mono" panose="020B0609020000020004" pitchFamily="49" charset="0"/>
              </a:rPr>
              <a:t>&gt;</a:t>
            </a:r>
            <a:endParaRPr lang="en-US"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li</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err="1">
                <a:solidFill>
                  <a:srgbClr val="800000"/>
                </a:solidFill>
                <a:latin typeface="Cascadia Mono" panose="020B0609020000020004" pitchFamily="49" charset="0"/>
              </a:rPr>
              <a:t>ul</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div</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div</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IN" sz="1100" b="0" dirty="0">
                <a:solidFill>
                  <a:srgbClr val="000000"/>
                </a:solidFill>
                <a:latin typeface="Cascadia Mono" panose="020B0609020000020004" pitchFamily="49" charset="0"/>
              </a:rPr>
              <a:t>    </a:t>
            </a:r>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nav</a:t>
            </a:r>
            <a:r>
              <a:rPr lang="en-IN" sz="1100" b="0" dirty="0">
                <a:solidFill>
                  <a:srgbClr val="0000FF"/>
                </a:solidFill>
                <a:latin typeface="Cascadia Mono" panose="020B0609020000020004" pitchFamily="49" charset="0"/>
              </a:rPr>
              <a:t>&gt;</a:t>
            </a:r>
            <a:endParaRPr lang="en-IN" sz="1100" b="0" dirty="0">
              <a:solidFill>
                <a:srgbClr val="000000"/>
              </a:solidFill>
              <a:latin typeface="Cascadia Mono" panose="020B0609020000020004" pitchFamily="49" charset="0"/>
            </a:endParaRPr>
          </a:p>
          <a:p>
            <a:r>
              <a:rPr lang="en-IN" sz="1100" b="0" dirty="0">
                <a:solidFill>
                  <a:srgbClr val="0000FF"/>
                </a:solidFill>
                <a:latin typeface="Cascadia Mono" panose="020B0609020000020004" pitchFamily="49" charset="0"/>
              </a:rPr>
              <a:t>&lt;/</a:t>
            </a:r>
            <a:r>
              <a:rPr lang="en-IN" sz="1100" b="0" dirty="0">
                <a:solidFill>
                  <a:srgbClr val="800000"/>
                </a:solidFill>
                <a:latin typeface="Cascadia Mono" panose="020B0609020000020004" pitchFamily="49" charset="0"/>
              </a:rPr>
              <a:t>header</a:t>
            </a:r>
            <a:r>
              <a:rPr lang="en-IN" sz="1100" b="0" dirty="0">
                <a:solidFill>
                  <a:srgbClr val="0000FF"/>
                </a:solidFill>
                <a:latin typeface="Cascadia Mono" panose="020B0609020000020004" pitchFamily="49" charset="0"/>
              </a:rPr>
              <a:t>&gt; </a:t>
            </a:r>
          </a:p>
          <a:p>
            <a:endParaRPr lang="en-IN" sz="1100" dirty="0">
              <a:solidFill>
                <a:srgbClr val="0000FF"/>
              </a:solidFill>
              <a:effectLst/>
              <a:latin typeface="Cascadia Mono" panose="020B0609020000020004" pitchFamily="49" charset="0"/>
              <a:ea typeface="Times New Roman" panose="02020603050405020304" pitchFamily="18" charset="0"/>
              <a:cs typeface="Times New Roman" panose="02020603050405020304" pitchFamily="18" charset="0"/>
            </a:endParaRPr>
          </a:p>
          <a:p>
            <a:r>
              <a:rPr lang="en-IN" sz="2000" dirty="0">
                <a:effectLst/>
                <a:latin typeface="Times New Roman" panose="02020603050405020304" pitchFamily="18" charset="0"/>
                <a:ea typeface="Times New Roman" panose="02020603050405020304" pitchFamily="18" charset="0"/>
                <a:cs typeface="Times New Roman" panose="02020603050405020304" pitchFamily="18" charset="0"/>
              </a:rPr>
              <a:t>Thus, you can create a new partial view. Let's see how to render partial view.</a:t>
            </a:r>
            <a:endParaRPr lang="en-IN" sz="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4226180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0A94EAC-449E-4A33-92B6-3C9D320822C1}"/>
              </a:ext>
            </a:extLst>
          </p:cNvPr>
          <p:cNvSpPr txBox="1"/>
          <p:nvPr/>
        </p:nvSpPr>
        <p:spPr>
          <a:xfrm>
            <a:off x="206477" y="0"/>
            <a:ext cx="6096000" cy="538070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DOCTYPE</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html</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html</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head</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meta</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charset</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="utf-8"</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endParaRPr lang="en-IN" sz="1200" dirty="0">
              <a:latin typeface="Calibri" panose="020F0502020204030204" pitchFamily="34" charset="0"/>
              <a:ea typeface="Times New Roman" panose="02020603050405020304" pitchFamily="18"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meta</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name</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="viewport"</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content</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="width=device-width, initial-scale=1.0"&gt;</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title</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@ViewBag.Title - My ASP.NET Application&lt;/title&gt;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@Styles.Render(</a:t>
            </a:r>
            <a:r>
              <a:rPr lang="en-IN" sz="1200" dirty="0">
                <a:solidFill>
                  <a:srgbClr val="A31515"/>
                </a:solidFill>
                <a:effectLst/>
                <a:latin typeface="Consolas" panose="020B0609020204030204" pitchFamily="49" charset="0"/>
                <a:ea typeface="Times New Roman" panose="02020603050405020304" pitchFamily="18" charset="0"/>
                <a:cs typeface="Consolas" panose="020B0609020204030204" pitchFamily="49" charset="0"/>
              </a:rPr>
              <a:t>"~/Content/css"</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@Scripts.Render(</a:t>
            </a:r>
            <a:r>
              <a:rPr lang="en-IN" sz="1200" dirty="0">
                <a:solidFill>
                  <a:srgbClr val="A31515"/>
                </a:solidFill>
                <a:effectLst/>
                <a:latin typeface="Consolas" panose="020B0609020204030204" pitchFamily="49" charset="0"/>
                <a:ea typeface="Times New Roman" panose="02020603050405020304" pitchFamily="18" charset="0"/>
                <a:cs typeface="Consolas" panose="020B0609020204030204" pitchFamily="49" charset="0"/>
              </a:rPr>
              <a:t>"~/bundles/modernizr"</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head</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body</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800" dirty="0">
                <a:solidFill>
                  <a:srgbClr val="0000FF"/>
                </a:solidFill>
                <a:latin typeface="Cascadia Mono" panose="020B0609020000020004" pitchFamily="49" charset="0"/>
              </a:rPr>
              <a:t>&lt;</a:t>
            </a:r>
            <a:r>
              <a:rPr lang="en-IN" sz="1800" b="1" dirty="0">
                <a:solidFill>
                  <a:srgbClr val="800080"/>
                </a:solidFill>
                <a:latin typeface="Cascadia Mono" panose="020B0609020000020004" pitchFamily="49" charset="0"/>
              </a:rPr>
              <a:t>partial</a:t>
            </a:r>
            <a:r>
              <a:rPr lang="en-IN" sz="1800" b="0" dirty="0">
                <a:solidFill>
                  <a:srgbClr val="000000"/>
                </a:solidFill>
                <a:latin typeface="Cascadia Mono" panose="020B0609020000020004" pitchFamily="49" charset="0"/>
              </a:rPr>
              <a:t> </a:t>
            </a:r>
            <a:r>
              <a:rPr lang="en-IN" sz="1800" b="1" dirty="0">
                <a:solidFill>
                  <a:srgbClr val="800080"/>
                </a:solidFill>
                <a:latin typeface="Cascadia Mono" panose="020B0609020000020004" pitchFamily="49" charset="0"/>
              </a:rPr>
              <a:t>name</a:t>
            </a:r>
            <a:r>
              <a:rPr lang="en-IN" sz="1800" b="0" dirty="0">
                <a:solidFill>
                  <a:srgbClr val="0000FF"/>
                </a:solidFill>
                <a:latin typeface="Cascadia Mono" panose="020B0609020000020004" pitchFamily="49" charset="0"/>
              </a:rPr>
              <a:t>="_</a:t>
            </a:r>
            <a:r>
              <a:rPr lang="en-IN" sz="1800" b="0" dirty="0" err="1">
                <a:solidFill>
                  <a:srgbClr val="0000FF"/>
                </a:solidFill>
                <a:latin typeface="Cascadia Mono" panose="020B0609020000020004" pitchFamily="49" charset="0"/>
              </a:rPr>
              <a:t>Header.cshtml</a:t>
            </a:r>
            <a:r>
              <a:rPr lang="en-IN" sz="1800" b="0" dirty="0">
                <a:solidFill>
                  <a:srgbClr val="0000FF"/>
                </a:solidFill>
                <a:latin typeface="Cascadia Mono" panose="020B0609020000020004" pitchFamily="49" charset="0"/>
              </a:rPr>
              <a:t>"&gt;</a:t>
            </a:r>
            <a:endPar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div</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class</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="container body-content"&gt;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@RenderBody()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hr</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footer</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p</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r>
              <a:rPr lang="en-IN" sz="1200" dirty="0">
                <a:solidFill>
                  <a:srgbClr val="FF0000"/>
                </a:solidFill>
                <a:effectLst/>
                <a:latin typeface="Consolas" panose="020B0609020204030204" pitchFamily="49" charset="0"/>
                <a:ea typeface="Times New Roman" panose="02020603050405020304" pitchFamily="18" charset="0"/>
                <a:cs typeface="Consolas" panose="020B0609020204030204" pitchFamily="49" charset="0"/>
              </a:rPr>
              <a:t>&amp;copy;</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@DateTime.Now.Year - My ASP.NET Application&lt;/p&gt;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footer</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div</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@Scripts.Render(</a:t>
            </a:r>
            <a:r>
              <a:rPr lang="en-IN" sz="1200" dirty="0">
                <a:solidFill>
                  <a:srgbClr val="A31515"/>
                </a:solidFill>
                <a:effectLst/>
                <a:latin typeface="Consolas" panose="020B0609020204030204" pitchFamily="49" charset="0"/>
                <a:ea typeface="Times New Roman" panose="02020603050405020304" pitchFamily="18" charset="0"/>
                <a:cs typeface="Consolas" panose="020B0609020204030204" pitchFamily="49" charset="0"/>
              </a:rPr>
              <a:t>"~/bundles/jquery"</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@Scripts.Render(</a:t>
            </a:r>
            <a:r>
              <a:rPr lang="en-IN" sz="1200" dirty="0">
                <a:solidFill>
                  <a:srgbClr val="A31515"/>
                </a:solidFill>
                <a:effectLst/>
                <a:latin typeface="Consolas" panose="020B0609020204030204" pitchFamily="49" charset="0"/>
                <a:ea typeface="Times New Roman" panose="02020603050405020304" pitchFamily="18" charset="0"/>
                <a:cs typeface="Consolas" panose="020B0609020204030204" pitchFamily="49" charset="0"/>
              </a:rPr>
              <a:t>"~/bundles/bootstrap"</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@RenderSection(</a:t>
            </a:r>
            <a:r>
              <a:rPr lang="en-IN" sz="1200" dirty="0">
                <a:solidFill>
                  <a:srgbClr val="A31515"/>
                </a:solidFill>
                <a:effectLst/>
                <a:latin typeface="Consolas" panose="020B0609020204030204" pitchFamily="49" charset="0"/>
                <a:ea typeface="Times New Roman" panose="02020603050405020304" pitchFamily="18" charset="0"/>
                <a:cs typeface="Consolas" panose="020B0609020204030204" pitchFamily="49" charset="0"/>
              </a:rPr>
              <a:t>"scripts"</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 required: </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false</a:t>
            </a:r>
            <a:r>
              <a:rPr lang="en-IN" sz="1200" dirty="0">
                <a:solidFill>
                  <a:srgbClr val="000000"/>
                </a:solidFill>
                <a:effectLst/>
                <a:latin typeface="Consolas" panose="020B0609020204030204" pitchFamily="49" charset="0"/>
                <a:ea typeface="Times New Roman" panose="02020603050405020304" pitchFamily="18" charset="0"/>
                <a:cs typeface="Consolas" panose="020B0609020204030204" pitchFamily="49" charset="0"/>
              </a:rPr>
              <a: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body</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&gt;&lt;/</a:t>
            </a:r>
            <a:r>
              <a:rPr lang="en-IN" sz="1200" dirty="0">
                <a:solidFill>
                  <a:srgbClr val="800000"/>
                </a:solidFill>
                <a:effectLst/>
                <a:latin typeface="Consolas" panose="020B0609020204030204" pitchFamily="49" charset="0"/>
                <a:ea typeface="Times New Roman" panose="02020603050405020304" pitchFamily="18" charset="0"/>
                <a:cs typeface="Consolas" panose="020B0609020204030204" pitchFamily="49" charset="0"/>
              </a:rPr>
              <a:t>html</a:t>
            </a:r>
            <a:r>
              <a:rPr lang="en-IN" sz="1200" dirty="0">
                <a:solidFill>
                  <a:srgbClr val="0000FF"/>
                </a:solidFill>
                <a:effectLst/>
                <a:latin typeface="Consolas" panose="020B0609020204030204" pitchFamily="49" charset="0"/>
                <a:ea typeface="Times New Roman" panose="02020603050405020304" pitchFamily="18" charset="0"/>
                <a:cs typeface="Consolas" panose="020B0609020204030204" pitchFamily="49" charset="0"/>
              </a:rPr>
              <a:t>&gt;</a:t>
            </a:r>
            <a:endParaRPr lang="en-IN"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51963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03CB832-B17A-A976-AC9A-5A24ADDB05A7}"/>
              </a:ext>
            </a:extLst>
          </p:cNvPr>
          <p:cNvSpPr>
            <a:spLocks noChangeArrowheads="1"/>
          </p:cNvSpPr>
          <p:nvPr/>
        </p:nvSpPr>
        <p:spPr bwMode="auto">
          <a:xfrm>
            <a:off x="499620" y="616513"/>
            <a:ext cx="9002599" cy="5539978"/>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The following example references a partial view with a relative path:</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CSHTML</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161616"/>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0101FD"/>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101FD"/>
                </a:solidFill>
                <a:effectLst/>
                <a:latin typeface="SFMono-Regular"/>
              </a:rPr>
              <a:t>@await </a:t>
            </a:r>
            <a:r>
              <a:rPr kumimoji="0" lang="en-US" altLang="en-US" b="0" i="0" u="none" strike="noStrike" cap="none" normalizeH="0" baseline="0" dirty="0" err="1">
                <a:ln>
                  <a:noFill/>
                </a:ln>
                <a:solidFill>
                  <a:srgbClr val="161616"/>
                </a:solidFill>
                <a:effectLst/>
                <a:latin typeface="SFMono-Regular"/>
              </a:rPr>
              <a:t>Html.PartialAsync</a:t>
            </a:r>
            <a:r>
              <a:rPr kumimoji="0" lang="en-US" altLang="en-US" b="0" i="0" u="none" strike="noStrike" cap="none" normalizeH="0" baseline="0" dirty="0">
                <a:ln>
                  <a:noFill/>
                </a:ln>
                <a:solidFill>
                  <a:srgbClr val="161616"/>
                </a:solidFill>
                <a:effectLst/>
                <a:latin typeface="SFMono-Regular"/>
              </a:rPr>
              <a:t>(</a:t>
            </a:r>
            <a:r>
              <a:rPr kumimoji="0" lang="en-US" altLang="en-US" b="0" i="0" u="none" strike="noStrike" cap="none" normalizeH="0" baseline="0" dirty="0">
                <a:ln>
                  <a:noFill/>
                </a:ln>
                <a:solidFill>
                  <a:srgbClr val="A31515"/>
                </a:solidFill>
                <a:effectLst/>
                <a:latin typeface="SFMono-Regular"/>
              </a:rPr>
              <a:t>"../Account/_</a:t>
            </a:r>
            <a:r>
              <a:rPr kumimoji="0" lang="en-US" altLang="en-US" b="0" i="0" u="none" strike="noStrike" cap="none" normalizeH="0" baseline="0" dirty="0" err="1">
                <a:ln>
                  <a:noFill/>
                </a:ln>
                <a:solidFill>
                  <a:srgbClr val="A31515"/>
                </a:solidFill>
                <a:effectLst/>
                <a:latin typeface="SFMono-Regular"/>
              </a:rPr>
              <a:t>LoginPartial.cshtml</a:t>
            </a:r>
            <a:r>
              <a:rPr kumimoji="0" lang="en-US" altLang="en-US" b="0" i="0" u="none" strike="noStrike" cap="none" normalizeH="0" baseline="0" dirty="0">
                <a:ln>
                  <a:noFill/>
                </a:ln>
                <a:solidFill>
                  <a:srgbClr val="A31515"/>
                </a:solidFill>
                <a:effectLst/>
                <a:latin typeface="SFMono-Regular"/>
              </a:rPr>
              <a:t>"</a:t>
            </a:r>
            <a:r>
              <a:rPr kumimoji="0" lang="en-US" altLang="en-US" b="0" i="0" u="none" strike="noStrike" cap="none" normalizeH="0" baseline="0" dirty="0">
                <a:ln>
                  <a:noFill/>
                </a:ln>
                <a:solidFill>
                  <a:srgbClr val="161616"/>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161616"/>
              </a:solidFill>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Alternatively, you can render a partial view with </a:t>
            </a:r>
            <a:r>
              <a:rPr kumimoji="0" lang="en-US" altLang="en-US" b="0" i="0" u="none" strike="noStrike" cap="none" normalizeH="0" baseline="0" dirty="0" err="1">
                <a:ln>
                  <a:noFill/>
                </a:ln>
                <a:solidFill>
                  <a:srgbClr val="161616"/>
                </a:solidFill>
                <a:effectLst/>
                <a:latin typeface="Segoe UI" panose="020B0502040204020203" pitchFamily="34" charset="0"/>
                <a:cs typeface="Segoe UI" panose="020B0502040204020203" pitchFamily="34" charset="0"/>
                <a:hlinkClick r:id="rId2"/>
              </a:rPr>
              <a:t>RenderPartialAsync</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This method doesn't return an </a:t>
            </a:r>
            <a:r>
              <a:rPr kumimoji="0" lang="en-US" altLang="en-US" b="0" i="0" u="none" strike="noStrike" cap="none" normalizeH="0" baseline="0" dirty="0" err="1">
                <a:ln>
                  <a:noFill/>
                </a:ln>
                <a:solidFill>
                  <a:srgbClr val="161616"/>
                </a:solidFill>
                <a:effectLst/>
                <a:latin typeface="Segoe UI" panose="020B0502040204020203" pitchFamily="34" charset="0"/>
                <a:cs typeface="Segoe UI" panose="020B0502040204020203" pitchFamily="34" charset="0"/>
                <a:hlinkClick r:id="rId3"/>
              </a:rPr>
              <a:t>IHtmlContent</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It streams the rendered </a:t>
            </a:r>
            <a:r>
              <a:rPr kumimoji="0" lang="en-US" altLang="en-US"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output directly </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to the response. Because the method doesn't return a result, it must be called within a Razor code block:</a:t>
            </a: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CSHTML</a:t>
            </a:r>
            <a:endParaRPr kumimoji="0" lang="en-US" altLang="en-US" b="0" i="0" u="none" strike="noStrike" cap="none" normalizeH="0" baseline="0" dirty="0">
              <a:ln>
                <a:noFill/>
              </a:ln>
              <a:solidFill>
                <a:srgbClr val="0101FD"/>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0101FD"/>
                </a:solidFill>
                <a:effectLst/>
                <a:latin typeface="SFMono-Regular"/>
              </a:rPr>
              <a:t>@{</a:t>
            </a:r>
            <a:r>
              <a:rPr kumimoji="0" lang="en-US" altLang="en-US" b="0" i="0" u="none" strike="noStrike" cap="none" normalizeH="0" baseline="0" dirty="0">
                <a:ln>
                  <a:noFill/>
                </a:ln>
                <a:solidFill>
                  <a:srgbClr val="161616"/>
                </a:solidFill>
                <a:effectLst/>
                <a:latin typeface="SFMono-Regular"/>
              </a:rPr>
              <a:t> </a:t>
            </a:r>
            <a:r>
              <a:rPr kumimoji="0" lang="en-US" altLang="en-US" b="0" i="0" u="none" strike="noStrike" cap="none" normalizeH="0" baseline="0" dirty="0">
                <a:ln>
                  <a:noFill/>
                </a:ln>
                <a:solidFill>
                  <a:srgbClr val="0101FD"/>
                </a:solidFill>
                <a:effectLst/>
                <a:latin typeface="SFMono-Regular"/>
              </a:rPr>
              <a:t>await</a:t>
            </a:r>
            <a:r>
              <a:rPr kumimoji="0" lang="en-US" altLang="en-US" b="0" i="0" u="none" strike="noStrike" cap="none" normalizeH="0" baseline="0" dirty="0">
                <a:ln>
                  <a:noFill/>
                </a:ln>
                <a:solidFill>
                  <a:srgbClr val="161616"/>
                </a:solidFill>
                <a:effectLst/>
                <a:latin typeface="SFMono-Regular"/>
              </a:rPr>
              <a:t> </a:t>
            </a:r>
            <a:r>
              <a:rPr kumimoji="0" lang="en-US" altLang="en-US" b="0" i="0" u="none" strike="noStrike" cap="none" normalizeH="0" baseline="0" dirty="0" err="1">
                <a:ln>
                  <a:noFill/>
                </a:ln>
                <a:solidFill>
                  <a:srgbClr val="161616"/>
                </a:solidFill>
                <a:effectLst/>
                <a:latin typeface="SFMono-Regular"/>
              </a:rPr>
              <a:t>Html.RenderPartialAsync</a:t>
            </a:r>
            <a:r>
              <a:rPr kumimoji="0" lang="en-US" altLang="en-US" b="0" i="0" u="none" strike="noStrike" cap="none" normalizeH="0" baseline="0" dirty="0">
                <a:ln>
                  <a:noFill/>
                </a:ln>
                <a:solidFill>
                  <a:srgbClr val="161616"/>
                </a:solidFill>
                <a:effectLst/>
                <a:latin typeface="SFMono-Regular"/>
              </a:rPr>
              <a:t>(</a:t>
            </a:r>
            <a:r>
              <a:rPr kumimoji="0" lang="en-US" altLang="en-US" b="0" i="0" u="none" strike="noStrike" cap="none" normalizeH="0" baseline="0" dirty="0">
                <a:ln>
                  <a:noFill/>
                </a:ln>
                <a:solidFill>
                  <a:srgbClr val="A31515"/>
                </a:solidFill>
                <a:effectLst/>
                <a:latin typeface="SFMono-Regular"/>
              </a:rPr>
              <a:t>"_</a:t>
            </a:r>
            <a:r>
              <a:rPr kumimoji="0" lang="en-US" altLang="en-US" b="0" i="0" u="none" strike="noStrike" cap="none" normalizeH="0" baseline="0" dirty="0" err="1">
                <a:ln>
                  <a:noFill/>
                </a:ln>
                <a:solidFill>
                  <a:srgbClr val="A31515"/>
                </a:solidFill>
                <a:effectLst/>
                <a:latin typeface="SFMono-Regular"/>
              </a:rPr>
              <a:t>AuthorPartial</a:t>
            </a:r>
            <a:r>
              <a:rPr kumimoji="0" lang="en-US" altLang="en-US" b="0" i="0" u="none" strike="noStrike" cap="none" normalizeH="0" baseline="0" dirty="0">
                <a:ln>
                  <a:noFill/>
                </a:ln>
                <a:solidFill>
                  <a:srgbClr val="A31515"/>
                </a:solidFill>
                <a:effectLst/>
                <a:latin typeface="SFMono-Regular"/>
              </a:rPr>
              <a:t>"</a:t>
            </a:r>
            <a:r>
              <a:rPr kumimoji="0" lang="en-US" altLang="en-US" b="0" i="0" u="none" strike="noStrike" cap="none" normalizeH="0" baseline="0" dirty="0">
                <a:ln>
                  <a:noFill/>
                </a:ln>
                <a:solidFill>
                  <a:srgbClr val="161616"/>
                </a:solidFill>
                <a:effectLst/>
                <a:latin typeface="SFMono-Regular"/>
              </a:rPr>
              <a:t>); </a:t>
            </a:r>
            <a:r>
              <a:rPr kumimoji="0" lang="en-US" altLang="en-US" b="0" i="0" u="none" strike="noStrike" cap="none" normalizeH="0" baseline="0" dirty="0">
                <a:ln>
                  <a:noFill/>
                </a:ln>
                <a:solidFill>
                  <a:srgbClr val="0101FD"/>
                </a:solidFill>
                <a:effectLst/>
                <a:latin typeface="SFMono-Regular"/>
              </a:rPr>
              <a:t>}</a:t>
            </a:r>
            <a:r>
              <a:rPr kumimoji="0" lang="en-US" altLang="en-US" b="0" i="0" u="none" strike="noStrike" cap="none" normalizeH="0" baseline="0" dirty="0">
                <a:ln>
                  <a:noFill/>
                </a:ln>
                <a:solidFill>
                  <a:srgbClr val="161616"/>
                </a:solidFill>
                <a:effectLst/>
                <a:latin typeface="SFMono-Regular"/>
              </a:rPr>
              <a:t> </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solidFill>
                <a:srgbClr val="161616"/>
              </a:solidFill>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rgbClr val="161616"/>
              </a:solidFill>
              <a:effectLst/>
              <a:latin typeface="SFMono-Regula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Since </a:t>
            </a:r>
            <a:r>
              <a:rPr kumimoji="0" lang="en-US" altLang="en-US" b="1" i="0" u="none" strike="noStrike" cap="none" normalizeH="0" baseline="0" dirty="0" err="1">
                <a:ln>
                  <a:noFill/>
                </a:ln>
                <a:solidFill>
                  <a:srgbClr val="161616"/>
                </a:solidFill>
                <a:effectLst/>
                <a:highlight>
                  <a:srgbClr val="FFFF00"/>
                </a:highlight>
                <a:latin typeface="SFMono-Regular"/>
                <a:cs typeface="Segoe UI" panose="020B0502040204020203" pitchFamily="34" charset="0"/>
              </a:rPr>
              <a:t>RenderPartialAsync</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streams rendered content, it provides </a:t>
            </a:r>
            <a:r>
              <a:rPr kumimoji="0" lang="en-US" altLang="en-US" b="0" i="0" u="none" strike="noStrike" cap="none" normalizeH="0" baseline="0" dirty="0">
                <a:ln>
                  <a:noFill/>
                </a:ln>
                <a:solidFill>
                  <a:srgbClr val="161616"/>
                </a:solidFill>
                <a:effectLst/>
                <a:highlight>
                  <a:srgbClr val="FFFF00"/>
                </a:highlight>
                <a:latin typeface="Segoe UI" panose="020B0502040204020203" pitchFamily="34" charset="0"/>
                <a:cs typeface="Segoe UI" panose="020B0502040204020203" pitchFamily="34" charset="0"/>
              </a:rPr>
              <a:t>better performance </a:t>
            </a: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in some scenarios.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In performance-critical situations, benchmark the page using both approaches and use the approach that generates a faster response</a:t>
            </a:r>
            <a:endParaRPr kumimoji="0" lang="en-US" altLang="en-US" b="0" i="0" u="none" strike="noStrike" cap="none" normalizeH="0" baseline="0" dirty="0">
              <a:ln>
                <a:noFill/>
              </a:ln>
              <a:solidFill>
                <a:schemeClr val="tx1"/>
              </a:solidFill>
              <a:effectLst/>
            </a:endParaRPr>
          </a:p>
        </p:txBody>
      </p:sp>
      <p:sp>
        <p:nvSpPr>
          <p:cNvPr id="2" name="TextBox 1"/>
          <p:cNvSpPr txBox="1"/>
          <p:nvPr/>
        </p:nvSpPr>
        <p:spPr>
          <a:xfrm>
            <a:off x="8543925" y="295275"/>
            <a:ext cx="1571625"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Layout </a:t>
            </a:r>
          </a:p>
          <a:p>
            <a:endParaRPr lang="en-US" dirty="0"/>
          </a:p>
          <a:p>
            <a:endParaRPr lang="en-US" dirty="0"/>
          </a:p>
          <a:p>
            <a:endParaRPr lang="en-US" dirty="0"/>
          </a:p>
          <a:p>
            <a:endParaRPr lang="en-US" dirty="0"/>
          </a:p>
          <a:p>
            <a:endParaRPr lang="en-US" dirty="0"/>
          </a:p>
          <a:p>
            <a:endParaRPr lang="en-IN" dirty="0"/>
          </a:p>
        </p:txBody>
      </p:sp>
      <p:sp>
        <p:nvSpPr>
          <p:cNvPr id="3" name="TextBox 2"/>
          <p:cNvSpPr txBox="1"/>
          <p:nvPr/>
        </p:nvSpPr>
        <p:spPr>
          <a:xfrm>
            <a:off x="10715625" y="390525"/>
            <a:ext cx="1476375" cy="230832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Part of data</a:t>
            </a:r>
          </a:p>
          <a:p>
            <a:endParaRPr lang="en-US" dirty="0"/>
          </a:p>
          <a:p>
            <a:endParaRPr lang="en-US" dirty="0"/>
          </a:p>
          <a:p>
            <a:endParaRPr lang="en-US" dirty="0"/>
          </a:p>
          <a:p>
            <a:endParaRPr lang="en-US" dirty="0"/>
          </a:p>
          <a:p>
            <a:endParaRPr lang="en-US" dirty="0"/>
          </a:p>
          <a:p>
            <a:endParaRPr lang="en-US" dirty="0"/>
          </a:p>
          <a:p>
            <a:endParaRPr lang="en-IN" dirty="0"/>
          </a:p>
        </p:txBody>
      </p:sp>
      <p:cxnSp>
        <p:nvCxnSpPr>
          <p:cNvPr id="6" name="Straight Arrow Connector 5"/>
          <p:cNvCxnSpPr/>
          <p:nvPr/>
        </p:nvCxnSpPr>
        <p:spPr>
          <a:xfrm flipH="1">
            <a:off x="9401175" y="1104900"/>
            <a:ext cx="1285875" cy="2762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7067550" y="390525"/>
            <a:ext cx="1371600"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Client</a:t>
            </a:r>
          </a:p>
          <a:p>
            <a:endParaRPr lang="en-US" dirty="0"/>
          </a:p>
          <a:p>
            <a:endParaRPr lang="en-US" dirty="0"/>
          </a:p>
          <a:p>
            <a:endParaRPr lang="en-US" dirty="0"/>
          </a:p>
          <a:p>
            <a:endParaRPr lang="en-US" dirty="0"/>
          </a:p>
          <a:p>
            <a:endParaRPr lang="en-US" dirty="0"/>
          </a:p>
          <a:p>
            <a:r>
              <a:rPr lang="en-US" dirty="0" err="1"/>
              <a:t>Reponse</a:t>
            </a:r>
            <a:r>
              <a:rPr lang="en-US" dirty="0"/>
              <a:t> as HTML</a:t>
            </a:r>
            <a:endParaRPr lang="en-IN" dirty="0"/>
          </a:p>
        </p:txBody>
      </p:sp>
      <p:sp>
        <p:nvSpPr>
          <p:cNvPr id="8" name="TextBox 7"/>
          <p:cNvSpPr txBox="1"/>
          <p:nvPr/>
        </p:nvSpPr>
        <p:spPr>
          <a:xfrm>
            <a:off x="9802256" y="5230928"/>
            <a:ext cx="1571625" cy="2031325"/>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t>Layout </a:t>
            </a:r>
          </a:p>
          <a:p>
            <a:endParaRPr lang="en-US" dirty="0"/>
          </a:p>
          <a:p>
            <a:endParaRPr lang="en-US" dirty="0"/>
          </a:p>
          <a:p>
            <a:endParaRPr lang="en-US" dirty="0"/>
          </a:p>
          <a:p>
            <a:endParaRPr lang="en-US" dirty="0"/>
          </a:p>
          <a:p>
            <a:endParaRPr lang="en-US" dirty="0"/>
          </a:p>
          <a:p>
            <a:endParaRPr lang="en-IN" dirty="0"/>
          </a:p>
        </p:txBody>
      </p:sp>
      <p:sp>
        <p:nvSpPr>
          <p:cNvPr id="9" name="TextBox 8"/>
          <p:cNvSpPr txBox="1"/>
          <p:nvPr/>
        </p:nvSpPr>
        <p:spPr>
          <a:xfrm>
            <a:off x="11673919" y="4368529"/>
            <a:ext cx="1476375" cy="2308324"/>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dirty="0"/>
              <a:t>Part of data</a:t>
            </a:r>
          </a:p>
          <a:p>
            <a:endParaRPr lang="en-US" dirty="0"/>
          </a:p>
          <a:p>
            <a:endParaRPr lang="en-US" dirty="0"/>
          </a:p>
          <a:p>
            <a:endParaRPr lang="en-US" dirty="0"/>
          </a:p>
          <a:p>
            <a:endParaRPr lang="en-US" dirty="0"/>
          </a:p>
          <a:p>
            <a:endParaRPr lang="en-US" dirty="0"/>
          </a:p>
          <a:p>
            <a:endParaRPr lang="en-US" dirty="0"/>
          </a:p>
          <a:p>
            <a:endParaRPr lang="en-IN" dirty="0"/>
          </a:p>
        </p:txBody>
      </p:sp>
      <p:sp>
        <p:nvSpPr>
          <p:cNvPr id="10" name="TextBox 9"/>
          <p:cNvSpPr txBox="1"/>
          <p:nvPr/>
        </p:nvSpPr>
        <p:spPr>
          <a:xfrm>
            <a:off x="9463186" y="2581275"/>
            <a:ext cx="1278215" cy="230832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dirty="0"/>
              <a:t>Client</a:t>
            </a:r>
          </a:p>
          <a:p>
            <a:endParaRPr lang="en-US" dirty="0"/>
          </a:p>
          <a:p>
            <a:endParaRPr lang="en-US" dirty="0"/>
          </a:p>
          <a:p>
            <a:endParaRPr lang="en-US" dirty="0"/>
          </a:p>
          <a:p>
            <a:endParaRPr lang="en-US" dirty="0"/>
          </a:p>
          <a:p>
            <a:endParaRPr lang="en-US" dirty="0"/>
          </a:p>
          <a:p>
            <a:r>
              <a:rPr lang="en-US" dirty="0" err="1"/>
              <a:t>Reponse</a:t>
            </a:r>
            <a:r>
              <a:rPr lang="en-US" dirty="0"/>
              <a:t> as HTML</a:t>
            </a:r>
            <a:endParaRPr lang="en-IN" dirty="0"/>
          </a:p>
        </p:txBody>
      </p:sp>
      <p:cxnSp>
        <p:nvCxnSpPr>
          <p:cNvPr id="12" name="Straight Arrow Connector 11"/>
          <p:cNvCxnSpPr/>
          <p:nvPr/>
        </p:nvCxnSpPr>
        <p:spPr>
          <a:xfrm flipH="1" flipV="1">
            <a:off x="10044112" y="3735437"/>
            <a:ext cx="1138238" cy="16557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H="1" flipV="1">
            <a:off x="10003631" y="3735437"/>
            <a:ext cx="1921669" cy="11541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796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3B9D964C-9DD5-49E9-271D-D35179691435}"/>
              </a:ext>
            </a:extLst>
          </p:cNvPr>
          <p:cNvSpPr>
            <a:spLocks noChangeArrowheads="1"/>
          </p:cNvSpPr>
          <p:nvPr/>
        </p:nvSpPr>
        <p:spPr bwMode="auto">
          <a:xfrm>
            <a:off x="0" y="198689"/>
            <a:ext cx="12107333" cy="658764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241224" tIns="92046" rIns="0" bIns="9204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Tag Helpers compared to Web Server Controls</a:t>
            </a: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sz="1600" b="1" dirty="0">
              <a:solidFill>
                <a:srgbClr val="161616"/>
              </a:solidFill>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Tag Helpers don't own the element they're associated with; they simply participate in the rendering of the element and content. ASP.NET Web Server Controls are declared and invoked on a page.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ASP.NET Web Server Controls have a non-trivial lifecycle that can make developing and debugging difficult.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Web Server controls allow you to add functionality to the client DOM elements by using a client control. Tag Helpers have no DOM.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Web Server controls include automatic browser detection. Tag Helpers have no knowledge of the browser.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Multiple Tag Helpers can act on the same element (see </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hlinkClick r:id="rId2"/>
              </a:rPr>
              <a:t>Avoiding Tag Helper conflicts</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while you typically can't compose Web Server controls.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Tag Helpers can modify the tag and content of HTML elements that they're scoped to, but don't directly modify anything else on a page. Web Server controls have a less specific scope and can perform actions that affect other parts of your page; enabling unintended side effects.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Web Server controls use type converters to convert strings into objects. With Tag Helpers, you work natively in C#, so you don't need to do type conversion.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Web Server controls use </a:t>
            </a:r>
            <a:r>
              <a:rPr kumimoji="0" lang="en-US" altLang="en-US" sz="1600" b="0" i="0" u="none" strike="noStrike" cap="none" normalizeH="0" baseline="0" dirty="0" err="1">
                <a:ln>
                  <a:noFill/>
                </a:ln>
                <a:solidFill>
                  <a:srgbClr val="161616"/>
                </a:solidFill>
                <a:effectLst/>
                <a:latin typeface="Segoe UI" panose="020B0502040204020203" pitchFamily="34" charset="0"/>
                <a:cs typeface="Segoe UI" panose="020B0502040204020203" pitchFamily="34" charset="0"/>
                <a:hlinkClick r:id="rId3"/>
              </a:rPr>
              <a:t>System.ComponentModel</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to implement the run-time and design-time behavior of components and controls. </a:t>
            </a:r>
            <a:r>
              <a:rPr kumimoji="0" lang="en-US" altLang="en-US" sz="1600" b="0" i="0" u="none" strike="noStrike" cap="none" normalizeH="0" baseline="0" dirty="0" err="1">
                <a:ln>
                  <a:noFill/>
                </a:ln>
                <a:solidFill>
                  <a:srgbClr val="161616"/>
                </a:solidFill>
                <a:effectLst/>
                <a:latin typeface="SFMono-Regular"/>
                <a:cs typeface="Segoe UI" panose="020B0502040204020203" pitchFamily="34" charset="0"/>
              </a:rPr>
              <a:t>System.ComponentModel</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includes the base classes and interfaces for implementing attributes and type converters, binding to data sources, and licensing components. Contrast that to Tag Helpers, which typically derive from </a:t>
            </a:r>
            <a:r>
              <a:rPr kumimoji="0" lang="en-US" altLang="en-US" sz="1600" b="0" i="0" u="none" strike="noStrike" cap="none" normalizeH="0" baseline="0" dirty="0" err="1">
                <a:ln>
                  <a:noFill/>
                </a:ln>
                <a:solidFill>
                  <a:srgbClr val="161616"/>
                </a:solidFill>
                <a:effectLst/>
                <a:latin typeface="SFMono-Regular"/>
                <a:cs typeface="Segoe UI" panose="020B0502040204020203" pitchFamily="34" charset="0"/>
              </a:rPr>
              <a:t>TagHelper</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and the </a:t>
            </a:r>
            <a:r>
              <a:rPr kumimoji="0" lang="en-US" altLang="en-US" sz="1600" b="0" i="0" u="none" strike="noStrike" cap="none" normalizeH="0" baseline="0" dirty="0" err="1">
                <a:ln>
                  <a:noFill/>
                </a:ln>
                <a:solidFill>
                  <a:srgbClr val="161616"/>
                </a:solidFill>
                <a:effectLst/>
                <a:latin typeface="SFMono-Regular"/>
                <a:cs typeface="Segoe UI" panose="020B0502040204020203" pitchFamily="34" charset="0"/>
              </a:rPr>
              <a:t>TagHelper</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base class exposes only two methods, </a:t>
            </a:r>
            <a:r>
              <a:rPr kumimoji="0" lang="en-US" altLang="en-US" sz="1600" b="0" i="0" u="none" strike="noStrike" cap="none" normalizeH="0" baseline="0" dirty="0">
                <a:ln>
                  <a:noFill/>
                </a:ln>
                <a:solidFill>
                  <a:srgbClr val="161616"/>
                </a:solidFill>
                <a:effectLst/>
                <a:latin typeface="SFMono-Regular"/>
                <a:cs typeface="Segoe UI" panose="020B0502040204020203" pitchFamily="34" charset="0"/>
              </a:rPr>
              <a:t>Process</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 and </a:t>
            </a:r>
            <a:r>
              <a:rPr kumimoji="0" lang="en-US" altLang="en-US" sz="1600" b="0" i="0" u="none" strike="noStrike" cap="none" normalizeH="0" baseline="0" dirty="0" err="1">
                <a:ln>
                  <a:noFill/>
                </a:ln>
                <a:solidFill>
                  <a:srgbClr val="161616"/>
                </a:solidFill>
                <a:effectLst/>
                <a:latin typeface="SFMono-Regular"/>
                <a:cs typeface="Segoe UI" panose="020B0502040204020203" pitchFamily="34" charset="0"/>
              </a:rPr>
              <a:t>ProcessAsync</a:t>
            </a:r>
            <a:r>
              <a:rPr kumimoji="0" lang="en-US" altLang="en-US" sz="1600" b="0" i="0" u="none" strike="noStrike" cap="none" normalizeH="0" baseline="0" dirty="0">
                <a:ln>
                  <a:noFill/>
                </a:ln>
                <a:solidFill>
                  <a:srgbClr val="161616"/>
                </a:solidFill>
                <a:effectLst/>
                <a:latin typeface="Segoe UI" panose="020B0502040204020203" pitchFamily="34" charset="0"/>
                <a:cs typeface="Segoe UI" panose="020B0502040204020203"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18980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1109</Words>
  <Application>Microsoft Office PowerPoint</Application>
  <PresentationFormat>Widescreen</PresentationFormat>
  <Paragraphs>128</Paragraphs>
  <Slides>8</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vt:i4>
      </vt:variant>
    </vt:vector>
  </HeadingPairs>
  <TitlesOfParts>
    <vt:vector size="17" baseType="lpstr">
      <vt:lpstr>Arial</vt:lpstr>
      <vt:lpstr>Calibri</vt:lpstr>
      <vt:lpstr>Calibri Light</vt:lpstr>
      <vt:lpstr>Cascadia Mono</vt:lpstr>
      <vt:lpstr>Consolas</vt:lpstr>
      <vt:lpstr>Segoe UI</vt:lpstr>
      <vt:lpstr>SFMono-Regular</vt:lpstr>
      <vt:lpstr>Times New Roman</vt:lpstr>
      <vt:lpstr>Office Theme</vt:lpstr>
      <vt:lpstr>PowerPoint Presentation</vt:lpstr>
      <vt:lpstr>Partial View</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Ketki Acharya</dc:creator>
  <cp:lastModifiedBy>sriram mantri vidyanidhi infotech academy</cp:lastModifiedBy>
  <cp:revision>18</cp:revision>
  <dcterms:created xsi:type="dcterms:W3CDTF">2021-12-08T12:37:35Z</dcterms:created>
  <dcterms:modified xsi:type="dcterms:W3CDTF">2024-10-23T14:19:11Z</dcterms:modified>
</cp:coreProperties>
</file>