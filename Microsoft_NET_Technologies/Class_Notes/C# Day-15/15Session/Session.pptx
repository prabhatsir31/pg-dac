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69" r:id="rId5"/>
    <p:sldId id="261" r:id="rId6"/>
    <p:sldId id="264" r:id="rId7"/>
    <p:sldId id="257" r:id="rId8"/>
    <p:sldId id="258" r:id="rId9"/>
    <p:sldId id="259" r:id="rId10"/>
    <p:sldId id="260" r:id="rId11"/>
    <p:sldId id="265" r:id="rId12"/>
    <p:sldId id="266" r:id="rId13"/>
    <p:sldId id="267" r:id="rId14"/>
    <p:sldId id="268" r:id="rId15"/>
    <p:sldId id="273" r:id="rId16"/>
    <p:sldId id="274" r:id="rId17"/>
    <p:sldId id="275" r:id="rId18"/>
    <p:sldId id="271" r:id="rId19"/>
    <p:sldId id="272" r:id="rId20"/>
    <p:sldId id="27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D4D1F-C83D-43EC-82A3-75E8478461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94BEDF3-BD05-4AD7-AFB5-AC34F353D9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EFFFF22-6218-48DA-9941-4418F927CFF1}"/>
              </a:ext>
            </a:extLst>
          </p:cNvPr>
          <p:cNvSpPr>
            <a:spLocks noGrp="1"/>
          </p:cNvSpPr>
          <p:nvPr>
            <p:ph type="dt" sz="half" idx="10"/>
          </p:nvPr>
        </p:nvSpPr>
        <p:spPr/>
        <p:txBody>
          <a:bodyPr/>
          <a:lstStyle/>
          <a:p>
            <a:fld id="{19E1F3AE-0C15-4B03-83EE-AC13A8541BB5}" type="datetimeFigureOut">
              <a:rPr lang="en-IN" smtClean="0"/>
              <a:t>24-10-2024</a:t>
            </a:fld>
            <a:endParaRPr lang="en-IN"/>
          </a:p>
        </p:txBody>
      </p:sp>
      <p:sp>
        <p:nvSpPr>
          <p:cNvPr id="5" name="Footer Placeholder 4">
            <a:extLst>
              <a:ext uri="{FF2B5EF4-FFF2-40B4-BE49-F238E27FC236}">
                <a16:creationId xmlns:a16="http://schemas.microsoft.com/office/drawing/2014/main" id="{D830F557-1AE9-4DF5-8F85-243EF07242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1B8B78-E2AA-41B7-B254-ECD41B5CCE1A}"/>
              </a:ext>
            </a:extLst>
          </p:cNvPr>
          <p:cNvSpPr>
            <a:spLocks noGrp="1"/>
          </p:cNvSpPr>
          <p:nvPr>
            <p:ph type="sldNum" sz="quarter" idx="12"/>
          </p:nvPr>
        </p:nvSpPr>
        <p:spPr/>
        <p:txBody>
          <a:bodyPr/>
          <a:lstStyle/>
          <a:p>
            <a:fld id="{D0A0384B-5D9A-45B0-BFF5-3E02F381C4E1}" type="slidenum">
              <a:rPr lang="en-IN" smtClean="0"/>
              <a:t>‹#›</a:t>
            </a:fld>
            <a:endParaRPr lang="en-IN"/>
          </a:p>
        </p:txBody>
      </p:sp>
    </p:spTree>
    <p:extLst>
      <p:ext uri="{BB962C8B-B14F-4D97-AF65-F5344CB8AC3E}">
        <p14:creationId xmlns:p14="http://schemas.microsoft.com/office/powerpoint/2010/main" val="344881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71B7F-5C43-4813-A9FD-07FB2B0ED59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71E3290-FD64-4A70-8E6C-748E36D3BC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E11FC3-78C2-45BF-ACA5-897263D51F02}"/>
              </a:ext>
            </a:extLst>
          </p:cNvPr>
          <p:cNvSpPr>
            <a:spLocks noGrp="1"/>
          </p:cNvSpPr>
          <p:nvPr>
            <p:ph type="dt" sz="half" idx="10"/>
          </p:nvPr>
        </p:nvSpPr>
        <p:spPr/>
        <p:txBody>
          <a:bodyPr/>
          <a:lstStyle/>
          <a:p>
            <a:fld id="{19E1F3AE-0C15-4B03-83EE-AC13A8541BB5}" type="datetimeFigureOut">
              <a:rPr lang="en-IN" smtClean="0"/>
              <a:t>24-10-2024</a:t>
            </a:fld>
            <a:endParaRPr lang="en-IN"/>
          </a:p>
        </p:txBody>
      </p:sp>
      <p:sp>
        <p:nvSpPr>
          <p:cNvPr id="5" name="Footer Placeholder 4">
            <a:extLst>
              <a:ext uri="{FF2B5EF4-FFF2-40B4-BE49-F238E27FC236}">
                <a16:creationId xmlns:a16="http://schemas.microsoft.com/office/drawing/2014/main" id="{11C50E3B-1F23-4528-916F-3706C4EB3E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8F94AC-1FAF-4A98-95E2-062D8D940EB3}"/>
              </a:ext>
            </a:extLst>
          </p:cNvPr>
          <p:cNvSpPr>
            <a:spLocks noGrp="1"/>
          </p:cNvSpPr>
          <p:nvPr>
            <p:ph type="sldNum" sz="quarter" idx="12"/>
          </p:nvPr>
        </p:nvSpPr>
        <p:spPr/>
        <p:txBody>
          <a:bodyPr/>
          <a:lstStyle/>
          <a:p>
            <a:fld id="{D0A0384B-5D9A-45B0-BFF5-3E02F381C4E1}" type="slidenum">
              <a:rPr lang="en-IN" smtClean="0"/>
              <a:t>‹#›</a:t>
            </a:fld>
            <a:endParaRPr lang="en-IN"/>
          </a:p>
        </p:txBody>
      </p:sp>
    </p:spTree>
    <p:extLst>
      <p:ext uri="{BB962C8B-B14F-4D97-AF65-F5344CB8AC3E}">
        <p14:creationId xmlns:p14="http://schemas.microsoft.com/office/powerpoint/2010/main" val="848670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F534B-3E1D-4949-8635-B6533A80B9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0F43D3B-D294-4411-9D03-FA3F99E370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6C3D68-1627-4CEF-9730-B6E7BBD27D2C}"/>
              </a:ext>
            </a:extLst>
          </p:cNvPr>
          <p:cNvSpPr>
            <a:spLocks noGrp="1"/>
          </p:cNvSpPr>
          <p:nvPr>
            <p:ph type="dt" sz="half" idx="10"/>
          </p:nvPr>
        </p:nvSpPr>
        <p:spPr/>
        <p:txBody>
          <a:bodyPr/>
          <a:lstStyle/>
          <a:p>
            <a:fld id="{19E1F3AE-0C15-4B03-83EE-AC13A8541BB5}" type="datetimeFigureOut">
              <a:rPr lang="en-IN" smtClean="0"/>
              <a:t>24-10-2024</a:t>
            </a:fld>
            <a:endParaRPr lang="en-IN"/>
          </a:p>
        </p:txBody>
      </p:sp>
      <p:sp>
        <p:nvSpPr>
          <p:cNvPr id="5" name="Footer Placeholder 4">
            <a:extLst>
              <a:ext uri="{FF2B5EF4-FFF2-40B4-BE49-F238E27FC236}">
                <a16:creationId xmlns:a16="http://schemas.microsoft.com/office/drawing/2014/main" id="{07854D9E-405F-4406-ACE7-DC6131AA85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3922C4-6680-40BC-878D-12BDE62D1F41}"/>
              </a:ext>
            </a:extLst>
          </p:cNvPr>
          <p:cNvSpPr>
            <a:spLocks noGrp="1"/>
          </p:cNvSpPr>
          <p:nvPr>
            <p:ph type="sldNum" sz="quarter" idx="12"/>
          </p:nvPr>
        </p:nvSpPr>
        <p:spPr/>
        <p:txBody>
          <a:bodyPr/>
          <a:lstStyle/>
          <a:p>
            <a:fld id="{D0A0384B-5D9A-45B0-BFF5-3E02F381C4E1}" type="slidenum">
              <a:rPr lang="en-IN" smtClean="0"/>
              <a:t>‹#›</a:t>
            </a:fld>
            <a:endParaRPr lang="en-IN"/>
          </a:p>
        </p:txBody>
      </p:sp>
    </p:spTree>
    <p:extLst>
      <p:ext uri="{BB962C8B-B14F-4D97-AF65-F5344CB8AC3E}">
        <p14:creationId xmlns:p14="http://schemas.microsoft.com/office/powerpoint/2010/main" val="1842208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D2AEB-9879-4AF8-8241-E85C61B0921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B9BF87-A3FD-46CD-9D51-71CC12177F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2A36F7C-4292-4168-A059-80617A2245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6969543-3DE8-4AD6-83B7-A837D1091730}"/>
              </a:ext>
            </a:extLst>
          </p:cNvPr>
          <p:cNvSpPr>
            <a:spLocks noGrp="1"/>
          </p:cNvSpPr>
          <p:nvPr>
            <p:ph type="dt" sz="half" idx="10"/>
          </p:nvPr>
        </p:nvSpPr>
        <p:spPr/>
        <p:txBody>
          <a:bodyPr/>
          <a:lstStyle/>
          <a:p>
            <a:fld id="{19E1F3AE-0C15-4B03-83EE-AC13A8541BB5}" type="datetimeFigureOut">
              <a:rPr lang="en-IN" smtClean="0"/>
              <a:t>24-10-2024</a:t>
            </a:fld>
            <a:endParaRPr lang="en-IN"/>
          </a:p>
        </p:txBody>
      </p:sp>
      <p:sp>
        <p:nvSpPr>
          <p:cNvPr id="6" name="Footer Placeholder 5">
            <a:extLst>
              <a:ext uri="{FF2B5EF4-FFF2-40B4-BE49-F238E27FC236}">
                <a16:creationId xmlns:a16="http://schemas.microsoft.com/office/drawing/2014/main" id="{E98ADFBA-8E26-4362-99CA-C5C2863CAC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ECBCFB-7E66-48E8-83E2-B30A95E2C7BC}"/>
              </a:ext>
            </a:extLst>
          </p:cNvPr>
          <p:cNvSpPr>
            <a:spLocks noGrp="1"/>
          </p:cNvSpPr>
          <p:nvPr>
            <p:ph type="sldNum" sz="quarter" idx="12"/>
          </p:nvPr>
        </p:nvSpPr>
        <p:spPr/>
        <p:txBody>
          <a:bodyPr/>
          <a:lstStyle/>
          <a:p>
            <a:fld id="{D0A0384B-5D9A-45B0-BFF5-3E02F381C4E1}" type="slidenum">
              <a:rPr lang="en-IN" smtClean="0"/>
              <a:t>‹#›</a:t>
            </a:fld>
            <a:endParaRPr lang="en-IN"/>
          </a:p>
        </p:txBody>
      </p:sp>
    </p:spTree>
    <p:extLst>
      <p:ext uri="{BB962C8B-B14F-4D97-AF65-F5344CB8AC3E}">
        <p14:creationId xmlns:p14="http://schemas.microsoft.com/office/powerpoint/2010/main" val="1911470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433EA-45CA-4D7D-AC9D-783CC70843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D1537A3-4BDB-487E-B9AA-1EE03893B4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055E1E-AD08-4279-8885-B20EFAA831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108CD78-4ACA-4528-A94B-310F8D3079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E038B6-E6A4-43A8-9584-C67BF2AE88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FE0EB48-E0D8-4729-A489-B3E3B6EF3944}"/>
              </a:ext>
            </a:extLst>
          </p:cNvPr>
          <p:cNvSpPr>
            <a:spLocks noGrp="1"/>
          </p:cNvSpPr>
          <p:nvPr>
            <p:ph type="dt" sz="half" idx="10"/>
          </p:nvPr>
        </p:nvSpPr>
        <p:spPr/>
        <p:txBody>
          <a:bodyPr/>
          <a:lstStyle/>
          <a:p>
            <a:fld id="{19E1F3AE-0C15-4B03-83EE-AC13A8541BB5}" type="datetimeFigureOut">
              <a:rPr lang="en-IN" smtClean="0"/>
              <a:t>24-10-2024</a:t>
            </a:fld>
            <a:endParaRPr lang="en-IN"/>
          </a:p>
        </p:txBody>
      </p:sp>
      <p:sp>
        <p:nvSpPr>
          <p:cNvPr id="8" name="Footer Placeholder 7">
            <a:extLst>
              <a:ext uri="{FF2B5EF4-FFF2-40B4-BE49-F238E27FC236}">
                <a16:creationId xmlns:a16="http://schemas.microsoft.com/office/drawing/2014/main" id="{002BE65A-66A2-4D32-A297-D35D8F1F65C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B63F79F-B758-49E4-BF41-FEC97EEDACFD}"/>
              </a:ext>
            </a:extLst>
          </p:cNvPr>
          <p:cNvSpPr>
            <a:spLocks noGrp="1"/>
          </p:cNvSpPr>
          <p:nvPr>
            <p:ph type="sldNum" sz="quarter" idx="12"/>
          </p:nvPr>
        </p:nvSpPr>
        <p:spPr/>
        <p:txBody>
          <a:bodyPr/>
          <a:lstStyle/>
          <a:p>
            <a:fld id="{D0A0384B-5D9A-45B0-BFF5-3E02F381C4E1}" type="slidenum">
              <a:rPr lang="en-IN" smtClean="0"/>
              <a:t>‹#›</a:t>
            </a:fld>
            <a:endParaRPr lang="en-IN"/>
          </a:p>
        </p:txBody>
      </p:sp>
    </p:spTree>
    <p:extLst>
      <p:ext uri="{BB962C8B-B14F-4D97-AF65-F5344CB8AC3E}">
        <p14:creationId xmlns:p14="http://schemas.microsoft.com/office/powerpoint/2010/main" val="4130206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F2AAB-3FDF-460B-9C18-188324C8009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B6854F4-6F00-4ABA-989D-E3ECEF13C897}"/>
              </a:ext>
            </a:extLst>
          </p:cNvPr>
          <p:cNvSpPr>
            <a:spLocks noGrp="1"/>
          </p:cNvSpPr>
          <p:nvPr>
            <p:ph type="dt" sz="half" idx="10"/>
          </p:nvPr>
        </p:nvSpPr>
        <p:spPr/>
        <p:txBody>
          <a:bodyPr/>
          <a:lstStyle/>
          <a:p>
            <a:fld id="{19E1F3AE-0C15-4B03-83EE-AC13A8541BB5}" type="datetimeFigureOut">
              <a:rPr lang="en-IN" smtClean="0"/>
              <a:t>24-10-2024</a:t>
            </a:fld>
            <a:endParaRPr lang="en-IN"/>
          </a:p>
        </p:txBody>
      </p:sp>
      <p:sp>
        <p:nvSpPr>
          <p:cNvPr id="4" name="Footer Placeholder 3">
            <a:extLst>
              <a:ext uri="{FF2B5EF4-FFF2-40B4-BE49-F238E27FC236}">
                <a16:creationId xmlns:a16="http://schemas.microsoft.com/office/drawing/2014/main" id="{6C3DEA3A-D118-413A-A457-4E4F8BBDB9E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BB31E17-B63A-43DA-8114-9CD9F8574CF4}"/>
              </a:ext>
            </a:extLst>
          </p:cNvPr>
          <p:cNvSpPr>
            <a:spLocks noGrp="1"/>
          </p:cNvSpPr>
          <p:nvPr>
            <p:ph type="sldNum" sz="quarter" idx="12"/>
          </p:nvPr>
        </p:nvSpPr>
        <p:spPr/>
        <p:txBody>
          <a:bodyPr/>
          <a:lstStyle/>
          <a:p>
            <a:fld id="{D0A0384B-5D9A-45B0-BFF5-3E02F381C4E1}" type="slidenum">
              <a:rPr lang="en-IN" smtClean="0"/>
              <a:t>‹#›</a:t>
            </a:fld>
            <a:endParaRPr lang="en-IN"/>
          </a:p>
        </p:txBody>
      </p:sp>
    </p:spTree>
    <p:extLst>
      <p:ext uri="{BB962C8B-B14F-4D97-AF65-F5344CB8AC3E}">
        <p14:creationId xmlns:p14="http://schemas.microsoft.com/office/powerpoint/2010/main" val="4097260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B80E54-4D79-4A4F-9E3A-27F202E53409}"/>
              </a:ext>
            </a:extLst>
          </p:cNvPr>
          <p:cNvSpPr>
            <a:spLocks noGrp="1"/>
          </p:cNvSpPr>
          <p:nvPr>
            <p:ph type="dt" sz="half" idx="10"/>
          </p:nvPr>
        </p:nvSpPr>
        <p:spPr/>
        <p:txBody>
          <a:bodyPr/>
          <a:lstStyle/>
          <a:p>
            <a:fld id="{19E1F3AE-0C15-4B03-83EE-AC13A8541BB5}" type="datetimeFigureOut">
              <a:rPr lang="en-IN" smtClean="0"/>
              <a:t>24-10-2024</a:t>
            </a:fld>
            <a:endParaRPr lang="en-IN"/>
          </a:p>
        </p:txBody>
      </p:sp>
      <p:sp>
        <p:nvSpPr>
          <p:cNvPr id="3" name="Footer Placeholder 2">
            <a:extLst>
              <a:ext uri="{FF2B5EF4-FFF2-40B4-BE49-F238E27FC236}">
                <a16:creationId xmlns:a16="http://schemas.microsoft.com/office/drawing/2014/main" id="{D6FF8002-961D-420B-8CFB-5F16FD9F9F2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CEA3DFB-7868-4310-B0E9-8D42AE36107E}"/>
              </a:ext>
            </a:extLst>
          </p:cNvPr>
          <p:cNvSpPr>
            <a:spLocks noGrp="1"/>
          </p:cNvSpPr>
          <p:nvPr>
            <p:ph type="sldNum" sz="quarter" idx="12"/>
          </p:nvPr>
        </p:nvSpPr>
        <p:spPr/>
        <p:txBody>
          <a:bodyPr/>
          <a:lstStyle/>
          <a:p>
            <a:fld id="{D0A0384B-5D9A-45B0-BFF5-3E02F381C4E1}" type="slidenum">
              <a:rPr lang="en-IN" smtClean="0"/>
              <a:t>‹#›</a:t>
            </a:fld>
            <a:endParaRPr lang="en-IN"/>
          </a:p>
        </p:txBody>
      </p:sp>
    </p:spTree>
    <p:extLst>
      <p:ext uri="{BB962C8B-B14F-4D97-AF65-F5344CB8AC3E}">
        <p14:creationId xmlns:p14="http://schemas.microsoft.com/office/powerpoint/2010/main" val="662268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5598A-133F-4387-B4E6-B6034C8AB6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EC87836-2F7F-4242-B2F7-E51928B88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6F1217C-5515-4791-8B45-162AF2019F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7C0266-DD6A-4C90-9EED-18915BA03A09}"/>
              </a:ext>
            </a:extLst>
          </p:cNvPr>
          <p:cNvSpPr>
            <a:spLocks noGrp="1"/>
          </p:cNvSpPr>
          <p:nvPr>
            <p:ph type="dt" sz="half" idx="10"/>
          </p:nvPr>
        </p:nvSpPr>
        <p:spPr/>
        <p:txBody>
          <a:bodyPr/>
          <a:lstStyle/>
          <a:p>
            <a:fld id="{19E1F3AE-0C15-4B03-83EE-AC13A8541BB5}" type="datetimeFigureOut">
              <a:rPr lang="en-IN" smtClean="0"/>
              <a:t>24-10-2024</a:t>
            </a:fld>
            <a:endParaRPr lang="en-IN"/>
          </a:p>
        </p:txBody>
      </p:sp>
      <p:sp>
        <p:nvSpPr>
          <p:cNvPr id="6" name="Footer Placeholder 5">
            <a:extLst>
              <a:ext uri="{FF2B5EF4-FFF2-40B4-BE49-F238E27FC236}">
                <a16:creationId xmlns:a16="http://schemas.microsoft.com/office/drawing/2014/main" id="{941C53A1-AB1D-4967-94C2-0EADC79F56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8407FF-61F2-4517-971A-EFFEED1A9AD7}"/>
              </a:ext>
            </a:extLst>
          </p:cNvPr>
          <p:cNvSpPr>
            <a:spLocks noGrp="1"/>
          </p:cNvSpPr>
          <p:nvPr>
            <p:ph type="sldNum" sz="quarter" idx="12"/>
          </p:nvPr>
        </p:nvSpPr>
        <p:spPr/>
        <p:txBody>
          <a:bodyPr/>
          <a:lstStyle/>
          <a:p>
            <a:fld id="{D0A0384B-5D9A-45B0-BFF5-3E02F381C4E1}" type="slidenum">
              <a:rPr lang="en-IN" smtClean="0"/>
              <a:t>‹#›</a:t>
            </a:fld>
            <a:endParaRPr lang="en-IN"/>
          </a:p>
        </p:txBody>
      </p:sp>
    </p:spTree>
    <p:extLst>
      <p:ext uri="{BB962C8B-B14F-4D97-AF65-F5344CB8AC3E}">
        <p14:creationId xmlns:p14="http://schemas.microsoft.com/office/powerpoint/2010/main" val="3148349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B7E90-362C-4D24-9A37-C217C71AF3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E0634AF-3BA8-478B-86CE-B55CAAD817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47D3BC5-CDDD-4521-BC7B-50DFF84A3A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DACB29-A9B0-40F4-B5AD-909E62CC7CF8}"/>
              </a:ext>
            </a:extLst>
          </p:cNvPr>
          <p:cNvSpPr>
            <a:spLocks noGrp="1"/>
          </p:cNvSpPr>
          <p:nvPr>
            <p:ph type="dt" sz="half" idx="10"/>
          </p:nvPr>
        </p:nvSpPr>
        <p:spPr/>
        <p:txBody>
          <a:bodyPr/>
          <a:lstStyle/>
          <a:p>
            <a:fld id="{19E1F3AE-0C15-4B03-83EE-AC13A8541BB5}" type="datetimeFigureOut">
              <a:rPr lang="en-IN" smtClean="0"/>
              <a:t>24-10-2024</a:t>
            </a:fld>
            <a:endParaRPr lang="en-IN"/>
          </a:p>
        </p:txBody>
      </p:sp>
      <p:sp>
        <p:nvSpPr>
          <p:cNvPr id="6" name="Footer Placeholder 5">
            <a:extLst>
              <a:ext uri="{FF2B5EF4-FFF2-40B4-BE49-F238E27FC236}">
                <a16:creationId xmlns:a16="http://schemas.microsoft.com/office/drawing/2014/main" id="{53C5411E-E5EA-49D9-ACD5-CEF9B370978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1659D0-2B27-42BF-B21F-D6CA0A7E2883}"/>
              </a:ext>
            </a:extLst>
          </p:cNvPr>
          <p:cNvSpPr>
            <a:spLocks noGrp="1"/>
          </p:cNvSpPr>
          <p:nvPr>
            <p:ph type="sldNum" sz="quarter" idx="12"/>
          </p:nvPr>
        </p:nvSpPr>
        <p:spPr/>
        <p:txBody>
          <a:bodyPr/>
          <a:lstStyle/>
          <a:p>
            <a:fld id="{D0A0384B-5D9A-45B0-BFF5-3E02F381C4E1}" type="slidenum">
              <a:rPr lang="en-IN" smtClean="0"/>
              <a:t>‹#›</a:t>
            </a:fld>
            <a:endParaRPr lang="en-IN"/>
          </a:p>
        </p:txBody>
      </p:sp>
    </p:spTree>
    <p:extLst>
      <p:ext uri="{BB962C8B-B14F-4D97-AF65-F5344CB8AC3E}">
        <p14:creationId xmlns:p14="http://schemas.microsoft.com/office/powerpoint/2010/main" val="3876373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07E5E-D62F-4608-833F-3F600CE9B98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6DEC53F-F8C3-4006-8C03-D66617DA59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F8E930-48EB-4846-8982-E4B2D920DDF5}"/>
              </a:ext>
            </a:extLst>
          </p:cNvPr>
          <p:cNvSpPr>
            <a:spLocks noGrp="1"/>
          </p:cNvSpPr>
          <p:nvPr>
            <p:ph type="dt" sz="half" idx="10"/>
          </p:nvPr>
        </p:nvSpPr>
        <p:spPr/>
        <p:txBody>
          <a:bodyPr/>
          <a:lstStyle/>
          <a:p>
            <a:fld id="{19E1F3AE-0C15-4B03-83EE-AC13A8541BB5}" type="datetimeFigureOut">
              <a:rPr lang="en-IN" smtClean="0"/>
              <a:t>24-10-2024</a:t>
            </a:fld>
            <a:endParaRPr lang="en-IN"/>
          </a:p>
        </p:txBody>
      </p:sp>
      <p:sp>
        <p:nvSpPr>
          <p:cNvPr id="5" name="Footer Placeholder 4">
            <a:extLst>
              <a:ext uri="{FF2B5EF4-FFF2-40B4-BE49-F238E27FC236}">
                <a16:creationId xmlns:a16="http://schemas.microsoft.com/office/drawing/2014/main" id="{C86D37A6-9D3B-4C7B-82F9-781C665F30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BE51C6-F87E-4774-9AE5-D75D93C9EA85}"/>
              </a:ext>
            </a:extLst>
          </p:cNvPr>
          <p:cNvSpPr>
            <a:spLocks noGrp="1"/>
          </p:cNvSpPr>
          <p:nvPr>
            <p:ph type="sldNum" sz="quarter" idx="12"/>
          </p:nvPr>
        </p:nvSpPr>
        <p:spPr/>
        <p:txBody>
          <a:bodyPr/>
          <a:lstStyle/>
          <a:p>
            <a:fld id="{D0A0384B-5D9A-45B0-BFF5-3E02F381C4E1}" type="slidenum">
              <a:rPr lang="en-IN" smtClean="0"/>
              <a:t>‹#›</a:t>
            </a:fld>
            <a:endParaRPr lang="en-IN"/>
          </a:p>
        </p:txBody>
      </p:sp>
    </p:spTree>
    <p:extLst>
      <p:ext uri="{BB962C8B-B14F-4D97-AF65-F5344CB8AC3E}">
        <p14:creationId xmlns:p14="http://schemas.microsoft.com/office/powerpoint/2010/main" val="1443669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15E00B-49CA-4572-BDAB-C30335F28FC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23BF07-CAE1-42DE-9C81-D542E1B36A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3378F0-BE7B-4155-A972-D54E6E89BA55}"/>
              </a:ext>
            </a:extLst>
          </p:cNvPr>
          <p:cNvSpPr>
            <a:spLocks noGrp="1"/>
          </p:cNvSpPr>
          <p:nvPr>
            <p:ph type="dt" sz="half" idx="10"/>
          </p:nvPr>
        </p:nvSpPr>
        <p:spPr/>
        <p:txBody>
          <a:bodyPr/>
          <a:lstStyle/>
          <a:p>
            <a:fld id="{19E1F3AE-0C15-4B03-83EE-AC13A8541BB5}" type="datetimeFigureOut">
              <a:rPr lang="en-IN" smtClean="0"/>
              <a:t>24-10-2024</a:t>
            </a:fld>
            <a:endParaRPr lang="en-IN"/>
          </a:p>
        </p:txBody>
      </p:sp>
      <p:sp>
        <p:nvSpPr>
          <p:cNvPr id="5" name="Footer Placeholder 4">
            <a:extLst>
              <a:ext uri="{FF2B5EF4-FFF2-40B4-BE49-F238E27FC236}">
                <a16:creationId xmlns:a16="http://schemas.microsoft.com/office/drawing/2014/main" id="{45F1FEE0-62C3-43D0-A062-B3ADF7E61C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8E176F-6C51-487A-8713-8D179607CAE1}"/>
              </a:ext>
            </a:extLst>
          </p:cNvPr>
          <p:cNvSpPr>
            <a:spLocks noGrp="1"/>
          </p:cNvSpPr>
          <p:nvPr>
            <p:ph type="sldNum" sz="quarter" idx="12"/>
          </p:nvPr>
        </p:nvSpPr>
        <p:spPr/>
        <p:txBody>
          <a:bodyPr/>
          <a:lstStyle/>
          <a:p>
            <a:fld id="{D0A0384B-5D9A-45B0-BFF5-3E02F381C4E1}" type="slidenum">
              <a:rPr lang="en-IN" smtClean="0"/>
              <a:t>‹#›</a:t>
            </a:fld>
            <a:endParaRPr lang="en-IN"/>
          </a:p>
        </p:txBody>
      </p:sp>
    </p:spTree>
    <p:extLst>
      <p:ext uri="{BB962C8B-B14F-4D97-AF65-F5344CB8AC3E}">
        <p14:creationId xmlns:p14="http://schemas.microsoft.com/office/powerpoint/2010/main" val="4174121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CA4D01-D283-47CA-B0DA-0B4FB59714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0330272-BAD0-46B5-9848-0EB3D381B1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9C3E7F-0BBB-4D9B-B99E-3BF415BA6B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E1F3AE-0C15-4B03-83EE-AC13A8541BB5}" type="datetimeFigureOut">
              <a:rPr lang="en-IN" smtClean="0"/>
              <a:t>24-10-2024</a:t>
            </a:fld>
            <a:endParaRPr lang="en-IN"/>
          </a:p>
        </p:txBody>
      </p:sp>
      <p:sp>
        <p:nvSpPr>
          <p:cNvPr id="5" name="Footer Placeholder 4">
            <a:extLst>
              <a:ext uri="{FF2B5EF4-FFF2-40B4-BE49-F238E27FC236}">
                <a16:creationId xmlns:a16="http://schemas.microsoft.com/office/drawing/2014/main" id="{DB6B1219-01BF-45B7-A5C3-CBBBCD7837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1C3D0F8-7BB2-4439-A148-2DE707AC8B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A0384B-5D9A-45B0-BFF5-3E02F381C4E1}" type="slidenum">
              <a:rPr lang="en-IN" smtClean="0"/>
              <a:t>‹#›</a:t>
            </a:fld>
            <a:endParaRPr lang="en-IN"/>
          </a:p>
        </p:txBody>
      </p:sp>
    </p:spTree>
    <p:extLst>
      <p:ext uri="{BB962C8B-B14F-4D97-AF65-F5344CB8AC3E}">
        <p14:creationId xmlns:p14="http://schemas.microsoft.com/office/powerpoint/2010/main" val="1686543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hyperlink" Target="https://docs.microsoft.com/en-us/aspnet/core/fundamentals/app-state?view=aspnetcore-5.0#cache" TargetMode="External"/><Relationship Id="rId3" Type="http://schemas.openxmlformats.org/officeDocument/2006/relationships/hyperlink" Target="https://docs.microsoft.com/en-us/aspnet/core/fundamentals/app-state?view=aspnetcore-5.0#session-state" TargetMode="External"/><Relationship Id="rId7" Type="http://schemas.openxmlformats.org/officeDocument/2006/relationships/hyperlink" Target="https://docs.microsoft.com/en-us/aspnet/core/fundamentals/app-state?view=aspnetcore-5.0#httpcontextitems" TargetMode="External"/><Relationship Id="rId2" Type="http://schemas.openxmlformats.org/officeDocument/2006/relationships/hyperlink" Target="https://docs.microsoft.com/en-us/aspnet/core/fundamentals/app-state?view=aspnetcore-5.0#cookies" TargetMode="External"/><Relationship Id="rId1" Type="http://schemas.openxmlformats.org/officeDocument/2006/relationships/slideLayout" Target="../slideLayouts/slideLayout2.xml"/><Relationship Id="rId6" Type="http://schemas.openxmlformats.org/officeDocument/2006/relationships/hyperlink" Target="https://docs.microsoft.com/en-us/aspnet/core/fundamentals/app-state?view=aspnetcore-5.0#hidden-fields" TargetMode="External"/><Relationship Id="rId5" Type="http://schemas.openxmlformats.org/officeDocument/2006/relationships/hyperlink" Target="https://docs.microsoft.com/en-us/aspnet/core/fundamentals/app-state?view=aspnetcore-5.0#query-strings" TargetMode="External"/><Relationship Id="rId4" Type="http://schemas.openxmlformats.org/officeDocument/2006/relationships/hyperlink" Target="https://docs.microsoft.com/en-us/aspnet/core/fundamentals/app-state?view=aspnetcore-5.0#tempdat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FAEB9-9AF0-4820-B178-08E50DE6AE14}"/>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58138819-1432-4849-A17A-0F49137B4108}"/>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41573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E7A7248-5274-4EE1-9E07-81E1C8B3606B}"/>
              </a:ext>
            </a:extLst>
          </p:cNvPr>
          <p:cNvGraphicFramePr>
            <a:graphicFrameLocks noGrp="1"/>
          </p:cNvGraphicFramePr>
          <p:nvPr>
            <p:extLst>
              <p:ext uri="{D42A27DB-BD31-4B8C-83A1-F6EECF244321}">
                <p14:modId xmlns:p14="http://schemas.microsoft.com/office/powerpoint/2010/main" val="3341488513"/>
              </p:ext>
            </p:extLst>
          </p:nvPr>
        </p:nvGraphicFramePr>
        <p:xfrm>
          <a:off x="491612" y="1297858"/>
          <a:ext cx="10166556" cy="4527983"/>
        </p:xfrm>
        <a:graphic>
          <a:graphicData uri="http://schemas.openxmlformats.org/drawingml/2006/table">
            <a:tbl>
              <a:tblPr>
                <a:tableStyleId>{5940675A-B579-460E-94D1-54222C63F5DA}</a:tableStyleId>
              </a:tblPr>
              <a:tblGrid>
                <a:gridCol w="4277033">
                  <a:extLst>
                    <a:ext uri="{9D8B030D-6E8A-4147-A177-3AD203B41FA5}">
                      <a16:colId xmlns:a16="http://schemas.microsoft.com/office/drawing/2014/main" val="276280952"/>
                    </a:ext>
                  </a:extLst>
                </a:gridCol>
                <a:gridCol w="5889523">
                  <a:extLst>
                    <a:ext uri="{9D8B030D-6E8A-4147-A177-3AD203B41FA5}">
                      <a16:colId xmlns:a16="http://schemas.microsoft.com/office/drawing/2014/main" val="2119469205"/>
                    </a:ext>
                  </a:extLst>
                </a:gridCol>
              </a:tblGrid>
              <a:tr h="423185">
                <a:tc gridSpan="2">
                  <a:txBody>
                    <a:bodyPr/>
                    <a:lstStyle/>
                    <a:p>
                      <a:pPr algn="ctr"/>
                      <a:r>
                        <a:rPr lang="en-IN" dirty="0"/>
                        <a:t>STATE MANAGEMENT</a:t>
                      </a:r>
                    </a:p>
                  </a:txBody>
                  <a:tcPr anchor="ctr"/>
                </a:tc>
                <a:tc hMerge="1">
                  <a:txBody>
                    <a:bodyPr/>
                    <a:lstStyle/>
                    <a:p>
                      <a:endParaRPr lang="en-IN"/>
                    </a:p>
                  </a:txBody>
                  <a:tcPr/>
                </a:tc>
                <a:extLst>
                  <a:ext uri="{0D108BD9-81ED-4DB2-BD59-A6C34878D82A}">
                    <a16:rowId xmlns:a16="http://schemas.microsoft.com/office/drawing/2014/main" val="1947380389"/>
                  </a:ext>
                </a:extLst>
              </a:tr>
              <a:tr h="423185">
                <a:tc>
                  <a:txBody>
                    <a:bodyPr/>
                    <a:lstStyle/>
                    <a:p>
                      <a:pPr algn="l" fontAlgn="t"/>
                      <a:r>
                        <a:rPr lang="en-IN">
                          <a:effectLst/>
                        </a:rPr>
                        <a:t>Storage approach</a:t>
                      </a:r>
                    </a:p>
                  </a:txBody>
                  <a:tcPr/>
                </a:tc>
                <a:tc>
                  <a:txBody>
                    <a:bodyPr/>
                    <a:lstStyle/>
                    <a:p>
                      <a:pPr algn="l" fontAlgn="t"/>
                      <a:r>
                        <a:rPr lang="en-IN" dirty="0">
                          <a:effectLst/>
                        </a:rPr>
                        <a:t>Storage mechanism</a:t>
                      </a:r>
                    </a:p>
                  </a:txBody>
                  <a:tcPr/>
                </a:tc>
                <a:extLst>
                  <a:ext uri="{0D108BD9-81ED-4DB2-BD59-A6C34878D82A}">
                    <a16:rowId xmlns:a16="http://schemas.microsoft.com/office/drawing/2014/main" val="3389793658"/>
                  </a:ext>
                </a:extLst>
              </a:tr>
              <a:tr h="825114">
                <a:tc>
                  <a:txBody>
                    <a:bodyPr/>
                    <a:lstStyle/>
                    <a:p>
                      <a:pPr algn="l" fontAlgn="t"/>
                      <a:r>
                        <a:rPr lang="en-IN" u="none" strike="noStrike" dirty="0">
                          <a:effectLst/>
                          <a:hlinkClick r:id="rId2"/>
                        </a:rPr>
                        <a:t>Cookies</a:t>
                      </a:r>
                      <a:endParaRPr lang="en-IN" dirty="0">
                        <a:effectLst/>
                      </a:endParaRPr>
                    </a:p>
                  </a:txBody>
                  <a:tcPr/>
                </a:tc>
                <a:tc>
                  <a:txBody>
                    <a:bodyPr/>
                    <a:lstStyle/>
                    <a:p>
                      <a:pPr algn="l" fontAlgn="t"/>
                      <a:r>
                        <a:rPr lang="en-US" dirty="0">
                          <a:effectLst/>
                        </a:rPr>
                        <a:t>HTTP cookies. May include data stored using server-side app code.</a:t>
                      </a:r>
                    </a:p>
                  </a:txBody>
                  <a:tcPr/>
                </a:tc>
                <a:extLst>
                  <a:ext uri="{0D108BD9-81ED-4DB2-BD59-A6C34878D82A}">
                    <a16:rowId xmlns:a16="http://schemas.microsoft.com/office/drawing/2014/main" val="3606741554"/>
                  </a:ext>
                </a:extLst>
              </a:tr>
              <a:tr h="740574">
                <a:tc>
                  <a:txBody>
                    <a:bodyPr/>
                    <a:lstStyle/>
                    <a:p>
                      <a:pPr algn="l" fontAlgn="t"/>
                      <a:r>
                        <a:rPr lang="en-IN" u="none" strike="noStrike" dirty="0">
                          <a:effectLst/>
                          <a:hlinkClick r:id="rId3"/>
                        </a:rPr>
                        <a:t>Session state</a:t>
                      </a:r>
                      <a:endParaRPr lang="en-IN" dirty="0">
                        <a:effectLst/>
                      </a:endParaRPr>
                    </a:p>
                  </a:txBody>
                  <a:tcPr/>
                </a:tc>
                <a:tc>
                  <a:txBody>
                    <a:bodyPr/>
                    <a:lstStyle/>
                    <a:p>
                      <a:pPr algn="l" fontAlgn="t"/>
                      <a:r>
                        <a:rPr lang="en-US">
                          <a:effectLst/>
                        </a:rPr>
                        <a:t>HTTP cookies and server-side app code</a:t>
                      </a:r>
                    </a:p>
                  </a:txBody>
                  <a:tcPr/>
                </a:tc>
                <a:extLst>
                  <a:ext uri="{0D108BD9-81ED-4DB2-BD59-A6C34878D82A}">
                    <a16:rowId xmlns:a16="http://schemas.microsoft.com/office/drawing/2014/main" val="1629024975"/>
                  </a:ext>
                </a:extLst>
              </a:tr>
              <a:tr h="423185">
                <a:tc>
                  <a:txBody>
                    <a:bodyPr/>
                    <a:lstStyle/>
                    <a:p>
                      <a:pPr algn="l" fontAlgn="t"/>
                      <a:r>
                        <a:rPr lang="en-IN" u="none" strike="noStrike" dirty="0" err="1">
                          <a:effectLst/>
                          <a:hlinkClick r:id="rId4"/>
                        </a:rPr>
                        <a:t>TempData</a:t>
                      </a:r>
                      <a:endParaRPr lang="en-IN" dirty="0">
                        <a:effectLst/>
                      </a:endParaRPr>
                    </a:p>
                  </a:txBody>
                  <a:tcPr/>
                </a:tc>
                <a:tc>
                  <a:txBody>
                    <a:bodyPr/>
                    <a:lstStyle/>
                    <a:p>
                      <a:pPr algn="l" fontAlgn="t"/>
                      <a:r>
                        <a:rPr lang="en-US">
                          <a:effectLst/>
                        </a:rPr>
                        <a:t>HTTP cookies or session state</a:t>
                      </a:r>
                    </a:p>
                  </a:txBody>
                  <a:tcPr/>
                </a:tc>
                <a:extLst>
                  <a:ext uri="{0D108BD9-81ED-4DB2-BD59-A6C34878D82A}">
                    <a16:rowId xmlns:a16="http://schemas.microsoft.com/office/drawing/2014/main" val="3002255987"/>
                  </a:ext>
                </a:extLst>
              </a:tr>
              <a:tr h="423185">
                <a:tc>
                  <a:txBody>
                    <a:bodyPr/>
                    <a:lstStyle/>
                    <a:p>
                      <a:pPr algn="l" fontAlgn="t"/>
                      <a:r>
                        <a:rPr lang="en-IN" u="none" strike="noStrike" dirty="0">
                          <a:effectLst/>
                          <a:hlinkClick r:id="rId5"/>
                        </a:rPr>
                        <a:t>Query strings</a:t>
                      </a:r>
                      <a:endParaRPr lang="en-IN" dirty="0">
                        <a:effectLst/>
                      </a:endParaRPr>
                    </a:p>
                  </a:txBody>
                  <a:tcPr/>
                </a:tc>
                <a:tc>
                  <a:txBody>
                    <a:bodyPr/>
                    <a:lstStyle/>
                    <a:p>
                      <a:pPr algn="l" fontAlgn="t"/>
                      <a:r>
                        <a:rPr lang="en-IN">
                          <a:effectLst/>
                        </a:rPr>
                        <a:t>HTTP query strings</a:t>
                      </a:r>
                    </a:p>
                  </a:txBody>
                  <a:tcPr/>
                </a:tc>
                <a:extLst>
                  <a:ext uri="{0D108BD9-81ED-4DB2-BD59-A6C34878D82A}">
                    <a16:rowId xmlns:a16="http://schemas.microsoft.com/office/drawing/2014/main" val="1459583035"/>
                  </a:ext>
                </a:extLst>
              </a:tr>
              <a:tr h="423185">
                <a:tc>
                  <a:txBody>
                    <a:bodyPr/>
                    <a:lstStyle/>
                    <a:p>
                      <a:pPr algn="l" fontAlgn="t"/>
                      <a:r>
                        <a:rPr lang="en-IN" u="none" strike="noStrike" dirty="0">
                          <a:effectLst/>
                          <a:hlinkClick r:id="rId6"/>
                        </a:rPr>
                        <a:t>Hidden fields</a:t>
                      </a:r>
                      <a:endParaRPr lang="en-IN" dirty="0">
                        <a:effectLst/>
                      </a:endParaRPr>
                    </a:p>
                  </a:txBody>
                  <a:tcPr/>
                </a:tc>
                <a:tc>
                  <a:txBody>
                    <a:bodyPr/>
                    <a:lstStyle/>
                    <a:p>
                      <a:pPr algn="l" fontAlgn="t"/>
                      <a:r>
                        <a:rPr lang="en-IN">
                          <a:effectLst/>
                        </a:rPr>
                        <a:t>HTTP form fields</a:t>
                      </a:r>
                    </a:p>
                  </a:txBody>
                  <a:tcPr/>
                </a:tc>
                <a:extLst>
                  <a:ext uri="{0D108BD9-81ED-4DB2-BD59-A6C34878D82A}">
                    <a16:rowId xmlns:a16="http://schemas.microsoft.com/office/drawing/2014/main" val="2832740664"/>
                  </a:ext>
                </a:extLst>
              </a:tr>
              <a:tr h="423185">
                <a:tc>
                  <a:txBody>
                    <a:bodyPr/>
                    <a:lstStyle/>
                    <a:p>
                      <a:pPr algn="l" fontAlgn="t"/>
                      <a:r>
                        <a:rPr lang="en-IN" u="none" strike="noStrike" dirty="0" err="1">
                          <a:effectLst/>
                          <a:hlinkClick r:id="rId7"/>
                        </a:rPr>
                        <a:t>HttpContext.Items</a:t>
                      </a:r>
                      <a:endParaRPr lang="en-IN" dirty="0">
                        <a:effectLst/>
                      </a:endParaRPr>
                    </a:p>
                  </a:txBody>
                  <a:tcPr/>
                </a:tc>
                <a:tc>
                  <a:txBody>
                    <a:bodyPr/>
                    <a:lstStyle/>
                    <a:p>
                      <a:pPr algn="l" fontAlgn="t"/>
                      <a:r>
                        <a:rPr lang="en-IN">
                          <a:effectLst/>
                        </a:rPr>
                        <a:t>Server-side app code</a:t>
                      </a:r>
                    </a:p>
                  </a:txBody>
                  <a:tcPr/>
                </a:tc>
                <a:extLst>
                  <a:ext uri="{0D108BD9-81ED-4DB2-BD59-A6C34878D82A}">
                    <a16:rowId xmlns:a16="http://schemas.microsoft.com/office/drawing/2014/main" val="4026306418"/>
                  </a:ext>
                </a:extLst>
              </a:tr>
              <a:tr h="423185">
                <a:tc>
                  <a:txBody>
                    <a:bodyPr/>
                    <a:lstStyle/>
                    <a:p>
                      <a:pPr algn="l" fontAlgn="t"/>
                      <a:r>
                        <a:rPr lang="en-IN" u="none" strike="noStrike" dirty="0">
                          <a:effectLst/>
                          <a:hlinkClick r:id="rId8"/>
                        </a:rPr>
                        <a:t>Cache</a:t>
                      </a:r>
                      <a:endParaRPr lang="en-IN" dirty="0">
                        <a:effectLst/>
                      </a:endParaRPr>
                    </a:p>
                  </a:txBody>
                  <a:tcPr/>
                </a:tc>
                <a:tc>
                  <a:txBody>
                    <a:bodyPr/>
                    <a:lstStyle/>
                    <a:p>
                      <a:pPr algn="l" fontAlgn="t"/>
                      <a:r>
                        <a:rPr lang="en-IN" dirty="0">
                          <a:effectLst/>
                        </a:rPr>
                        <a:t>Server-side app code</a:t>
                      </a:r>
                    </a:p>
                  </a:txBody>
                  <a:tcPr/>
                </a:tc>
                <a:extLst>
                  <a:ext uri="{0D108BD9-81ED-4DB2-BD59-A6C34878D82A}">
                    <a16:rowId xmlns:a16="http://schemas.microsoft.com/office/drawing/2014/main" val="4214653641"/>
                  </a:ext>
                </a:extLst>
              </a:tr>
            </a:tbl>
          </a:graphicData>
        </a:graphic>
      </p:graphicFrame>
      <p:sp>
        <p:nvSpPr>
          <p:cNvPr id="5" name="Rectangle 1">
            <a:extLst>
              <a:ext uri="{FF2B5EF4-FFF2-40B4-BE49-F238E27FC236}">
                <a16:creationId xmlns:a16="http://schemas.microsoft.com/office/drawing/2014/main" id="{C1D86A61-BCD4-4A2C-86B1-54D92FEDD62C}"/>
              </a:ext>
            </a:extLst>
          </p:cNvPr>
          <p:cNvSpPr>
            <a:spLocks noChangeArrowheads="1"/>
          </p:cNvSpPr>
          <p:nvPr/>
        </p:nvSpPr>
        <p:spPr bwMode="auto">
          <a:xfrm>
            <a:off x="491613" y="154835"/>
            <a:ext cx="11434916" cy="101566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State management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State can be stored using several approaches. Each approach is described later in this topic.</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23196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AB12671-4029-4F90-ADF0-1E9F8CDB2281}"/>
              </a:ext>
            </a:extLst>
          </p:cNvPr>
          <p:cNvSpPr txBox="1"/>
          <p:nvPr/>
        </p:nvSpPr>
        <p:spPr>
          <a:xfrm>
            <a:off x="167148" y="314632"/>
            <a:ext cx="11729884" cy="5078313"/>
          </a:xfrm>
          <a:prstGeom prst="rect">
            <a:avLst/>
          </a:prstGeom>
          <a:noFill/>
        </p:spPr>
        <p:txBody>
          <a:bodyPr wrap="square">
            <a:spAutoFit/>
          </a:bodyPr>
          <a:lstStyle/>
          <a:p>
            <a:pPr algn="ctr"/>
            <a:r>
              <a:rPr lang="en-US" b="1" i="0" dirty="0">
                <a:solidFill>
                  <a:srgbClr val="171717"/>
                </a:solidFill>
                <a:effectLst/>
                <a:latin typeface="Segoe UI" panose="020B0502040204020203" pitchFamily="34" charset="0"/>
              </a:rPr>
              <a:t>Session state</a:t>
            </a:r>
          </a:p>
          <a:p>
            <a:pPr algn="ctr"/>
            <a:endParaRPr lang="en-US" b="1"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Session state is an ASP.NET Core scenario for storage of user data while the user browses a web app.</a:t>
            </a:r>
          </a:p>
          <a:p>
            <a:pPr algn="l"/>
            <a:endParaRPr lang="en-US" dirty="0">
              <a:solidFill>
                <a:srgbClr val="171717"/>
              </a:solidFill>
              <a:latin typeface="Segoe UI" panose="020B0502040204020203" pitchFamily="34" charset="0"/>
            </a:endParaRPr>
          </a:p>
          <a:p>
            <a:pPr algn="l"/>
            <a:r>
              <a:rPr lang="en-US" b="0" i="0" dirty="0">
                <a:solidFill>
                  <a:srgbClr val="171717"/>
                </a:solidFill>
                <a:effectLst/>
                <a:latin typeface="Segoe UI" panose="020B0502040204020203" pitchFamily="34" charset="0"/>
              </a:rPr>
              <a:t> Session state uses a store maintained by the app to persist data </a:t>
            </a:r>
            <a:r>
              <a:rPr lang="en-US" b="1" i="0" dirty="0">
                <a:solidFill>
                  <a:srgbClr val="171717"/>
                </a:solidFill>
                <a:effectLst/>
                <a:latin typeface="Segoe UI" panose="020B0502040204020203" pitchFamily="34" charset="0"/>
              </a:rPr>
              <a:t>across requests from a client</a:t>
            </a:r>
            <a:r>
              <a:rPr lang="en-US" b="0" i="0" dirty="0">
                <a:solidFill>
                  <a:srgbClr val="171717"/>
                </a:solidFill>
                <a:effectLst/>
                <a:latin typeface="Segoe UI" panose="020B0502040204020203" pitchFamily="34" charset="0"/>
              </a:rPr>
              <a:t>. </a:t>
            </a:r>
          </a:p>
          <a:p>
            <a:pPr algn="l"/>
            <a:endParaRPr lang="en-US" dirty="0">
              <a:solidFill>
                <a:srgbClr val="171717"/>
              </a:solidFill>
              <a:latin typeface="Segoe UI" panose="020B0502040204020203" pitchFamily="34" charset="0"/>
            </a:endParaRPr>
          </a:p>
          <a:p>
            <a:pPr algn="l"/>
            <a:r>
              <a:rPr lang="en-US" b="0" i="0" dirty="0">
                <a:solidFill>
                  <a:srgbClr val="171717"/>
                </a:solidFill>
                <a:effectLst/>
                <a:latin typeface="Segoe UI" panose="020B0502040204020203" pitchFamily="34" charset="0"/>
              </a:rPr>
              <a:t>The session data is backed by a cache and considered ephemeral data. </a:t>
            </a:r>
          </a:p>
          <a:p>
            <a:pPr algn="l"/>
            <a:endParaRPr lang="en-US" dirty="0">
              <a:solidFill>
                <a:srgbClr val="171717"/>
              </a:solidFill>
              <a:latin typeface="Segoe UI" panose="020B0502040204020203" pitchFamily="34" charset="0"/>
            </a:endParaRPr>
          </a:p>
          <a:p>
            <a:pPr algn="l"/>
            <a:r>
              <a:rPr lang="en-US" b="0" i="0" dirty="0">
                <a:solidFill>
                  <a:srgbClr val="171717"/>
                </a:solidFill>
                <a:effectLst/>
                <a:latin typeface="Segoe UI" panose="020B0502040204020203" pitchFamily="34" charset="0"/>
              </a:rPr>
              <a:t>The site should continue to function without the session data. </a:t>
            </a:r>
          </a:p>
          <a:p>
            <a:pPr algn="l"/>
            <a:endParaRPr lang="en-US" dirty="0">
              <a:solidFill>
                <a:srgbClr val="171717"/>
              </a:solidFill>
              <a:latin typeface="Segoe UI" panose="020B0502040204020203" pitchFamily="34" charset="0"/>
            </a:endParaRPr>
          </a:p>
          <a:p>
            <a:pPr algn="l"/>
            <a:r>
              <a:rPr lang="en-US" b="0" i="0" dirty="0">
                <a:solidFill>
                  <a:srgbClr val="171717"/>
                </a:solidFill>
                <a:effectLst/>
                <a:latin typeface="Segoe UI" panose="020B0502040204020203" pitchFamily="34" charset="0"/>
              </a:rPr>
              <a:t>Critical application data should be stored in the user database and cached in session only as a performance optimization.</a:t>
            </a:r>
          </a:p>
          <a:p>
            <a:pPr algn="l"/>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ASP.NET Core maintains session state by providing a cookie to the client that contains a session ID. The cookie session ID:</a:t>
            </a:r>
          </a:p>
          <a:p>
            <a:pPr algn="l"/>
            <a:endParaRPr lang="en-US" dirty="0">
              <a:solidFill>
                <a:srgbClr val="171717"/>
              </a:solidFill>
              <a:latin typeface="Segoe UI" panose="020B0502040204020203" pitchFamily="34" charset="0"/>
            </a:endParaRPr>
          </a:p>
          <a:p>
            <a:pPr algn="l">
              <a:buFont typeface="Arial" panose="020B0604020202020204" pitchFamily="34" charset="0"/>
              <a:buChar char="•"/>
            </a:pPr>
            <a:r>
              <a:rPr lang="en-US" b="0" i="0" dirty="0">
                <a:solidFill>
                  <a:srgbClr val="171717"/>
                </a:solidFill>
                <a:effectLst/>
                <a:latin typeface="Segoe UI" panose="020B0502040204020203" pitchFamily="34" charset="0"/>
              </a:rPr>
              <a:t>Is sent to the app with each request.</a:t>
            </a:r>
          </a:p>
          <a:p>
            <a:pPr algn="l">
              <a:buFont typeface="Arial" panose="020B0604020202020204" pitchFamily="34" charset="0"/>
              <a:buChar char="•"/>
            </a:pPr>
            <a:r>
              <a:rPr lang="en-US" b="0" i="0" dirty="0">
                <a:solidFill>
                  <a:srgbClr val="171717"/>
                </a:solidFill>
                <a:effectLst/>
                <a:latin typeface="Segoe UI" panose="020B0502040204020203" pitchFamily="34" charset="0"/>
              </a:rPr>
              <a:t>Is used by the app to fetch the session data.</a:t>
            </a:r>
          </a:p>
        </p:txBody>
      </p:sp>
    </p:spTree>
    <p:extLst>
      <p:ext uri="{BB962C8B-B14F-4D97-AF65-F5344CB8AC3E}">
        <p14:creationId xmlns:p14="http://schemas.microsoft.com/office/powerpoint/2010/main" val="3066134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584C18E-BEF2-5223-8853-88D5C5829DB5}"/>
              </a:ext>
            </a:extLst>
          </p:cNvPr>
          <p:cNvSpPr/>
          <p:nvPr/>
        </p:nvSpPr>
        <p:spPr>
          <a:xfrm>
            <a:off x="1517715" y="2733773"/>
            <a:ext cx="2347275" cy="25640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Login Page</a:t>
            </a:r>
            <a:endParaRPr lang="en-IN" dirty="0"/>
          </a:p>
        </p:txBody>
      </p:sp>
      <p:sp>
        <p:nvSpPr>
          <p:cNvPr id="7" name="Rectangle 6">
            <a:extLst>
              <a:ext uri="{FF2B5EF4-FFF2-40B4-BE49-F238E27FC236}">
                <a16:creationId xmlns:a16="http://schemas.microsoft.com/office/drawing/2014/main" id="{FB5F7F41-5A50-4A27-D26C-4FABDFC3B1E0}"/>
              </a:ext>
            </a:extLst>
          </p:cNvPr>
          <p:cNvSpPr/>
          <p:nvPr/>
        </p:nvSpPr>
        <p:spPr>
          <a:xfrm>
            <a:off x="4158792" y="2733773"/>
            <a:ext cx="2347275" cy="25640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Product Page</a:t>
            </a:r>
            <a:endParaRPr lang="en-IN" dirty="0"/>
          </a:p>
        </p:txBody>
      </p:sp>
      <p:sp>
        <p:nvSpPr>
          <p:cNvPr id="8" name="Rectangle 7">
            <a:extLst>
              <a:ext uri="{FF2B5EF4-FFF2-40B4-BE49-F238E27FC236}">
                <a16:creationId xmlns:a16="http://schemas.microsoft.com/office/drawing/2014/main" id="{8663C768-84EC-3CD2-D77A-ADCFC970FA39}"/>
              </a:ext>
            </a:extLst>
          </p:cNvPr>
          <p:cNvSpPr/>
          <p:nvPr/>
        </p:nvSpPr>
        <p:spPr>
          <a:xfrm>
            <a:off x="7128234" y="2733773"/>
            <a:ext cx="2347275" cy="25640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Cart Page</a:t>
            </a:r>
            <a:endParaRPr lang="en-IN" dirty="0"/>
          </a:p>
        </p:txBody>
      </p:sp>
      <p:sp>
        <p:nvSpPr>
          <p:cNvPr id="9" name="Smiley Face 8">
            <a:extLst>
              <a:ext uri="{FF2B5EF4-FFF2-40B4-BE49-F238E27FC236}">
                <a16:creationId xmlns:a16="http://schemas.microsoft.com/office/drawing/2014/main" id="{AFC76C80-9EF9-B4FF-9C8C-E53A9EFE419A}"/>
              </a:ext>
            </a:extLst>
          </p:cNvPr>
          <p:cNvSpPr/>
          <p:nvPr/>
        </p:nvSpPr>
        <p:spPr>
          <a:xfrm>
            <a:off x="386499" y="1451728"/>
            <a:ext cx="980388" cy="1036948"/>
          </a:xfrm>
          <a:prstGeom prst="smileyFac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11" name="Straight Connector 10">
            <a:extLst>
              <a:ext uri="{FF2B5EF4-FFF2-40B4-BE49-F238E27FC236}">
                <a16:creationId xmlns:a16="http://schemas.microsoft.com/office/drawing/2014/main" id="{FD0E47A7-9C06-2344-583A-7CC04706AC75}"/>
              </a:ext>
            </a:extLst>
          </p:cNvPr>
          <p:cNvCxnSpPr>
            <a:cxnSpLocks/>
          </p:cNvCxnSpPr>
          <p:nvPr/>
        </p:nvCxnSpPr>
        <p:spPr>
          <a:xfrm>
            <a:off x="1630837" y="1866507"/>
            <a:ext cx="8647696"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638DD67-2FBF-A948-0EF8-43604CCEABCB}"/>
              </a:ext>
            </a:extLst>
          </p:cNvPr>
          <p:cNvSpPr txBox="1"/>
          <p:nvPr/>
        </p:nvSpPr>
        <p:spPr>
          <a:xfrm>
            <a:off x="1366887" y="367645"/>
            <a:ext cx="10435472" cy="923330"/>
          </a:xfrm>
          <a:prstGeom prst="rect">
            <a:avLst/>
          </a:prstGeom>
          <a:noFill/>
        </p:spPr>
        <p:txBody>
          <a:bodyPr wrap="square" rtlCol="0">
            <a:spAutoFit/>
          </a:bodyPr>
          <a:lstStyle/>
          <a:p>
            <a:r>
              <a:rPr lang="en-US" dirty="0"/>
              <a:t>Session is per user global variable</a:t>
            </a:r>
          </a:p>
          <a:p>
            <a:r>
              <a:rPr lang="en-US" dirty="0" err="1"/>
              <a:t>Ie</a:t>
            </a:r>
            <a:r>
              <a:rPr lang="en-US" dirty="0"/>
              <a:t>. Once data is stored in Session it can be read in any page of that web site.</a:t>
            </a:r>
          </a:p>
          <a:p>
            <a:r>
              <a:rPr lang="en-US" dirty="0"/>
              <a:t>It is user specific and browser specific</a:t>
            </a:r>
            <a:endParaRPr lang="en-IN" dirty="0"/>
          </a:p>
        </p:txBody>
      </p:sp>
    </p:spTree>
    <p:extLst>
      <p:ext uri="{BB962C8B-B14F-4D97-AF65-F5344CB8AC3E}">
        <p14:creationId xmlns:p14="http://schemas.microsoft.com/office/powerpoint/2010/main" val="743197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4220BC-8D1D-49AF-A642-9712C7A326E3}"/>
              </a:ext>
            </a:extLst>
          </p:cNvPr>
          <p:cNvSpPr>
            <a:spLocks noGrp="1"/>
          </p:cNvSpPr>
          <p:nvPr>
            <p:ph idx="1"/>
          </p:nvPr>
        </p:nvSpPr>
        <p:spPr>
          <a:xfrm>
            <a:off x="373626" y="0"/>
            <a:ext cx="10822858" cy="6176963"/>
          </a:xfrm>
        </p:spPr>
        <p:txBody>
          <a:bodyPr>
            <a:normAutofit fontScale="32500" lnSpcReduction="20000"/>
          </a:bodyPr>
          <a:lstStyle/>
          <a:p>
            <a:pPr marL="0" indent="0" algn="ctr">
              <a:buNone/>
            </a:pPr>
            <a:r>
              <a:rPr lang="en-US" sz="9600" b="1" dirty="0"/>
              <a:t>Points to remember about session state variables:</a:t>
            </a:r>
            <a:endParaRPr lang="en-US" sz="3300" b="1" dirty="0"/>
          </a:p>
          <a:p>
            <a:r>
              <a:rPr lang="en-US" sz="6400" dirty="0"/>
              <a:t> Session state variables are stored on the web server by default, and are kept for the life time of a session.</a:t>
            </a:r>
          </a:p>
          <a:p>
            <a:endParaRPr lang="en-US" sz="6400" dirty="0"/>
          </a:p>
          <a:p>
            <a:r>
              <a:rPr lang="en-US" sz="6400" dirty="0"/>
              <a:t>2. The default session state mode is InProc. </a:t>
            </a:r>
          </a:p>
          <a:p>
            <a:r>
              <a:rPr lang="en-US" sz="6400" dirty="0"/>
              <a:t>3. The life time of a session is determined by the timeout value in startup file. The default is 20 minutes. The time-out value can be adjusted according, to your application requirements.</a:t>
            </a:r>
          </a:p>
          <a:p>
            <a:endParaRPr lang="en-US" sz="6400" dirty="0"/>
          </a:p>
          <a:p>
            <a:endParaRPr lang="en-US" sz="6400" dirty="0"/>
          </a:p>
          <a:p>
            <a:r>
              <a:rPr lang="en-US" sz="6400" dirty="0"/>
              <a:t>4. Session state variables are available </a:t>
            </a:r>
            <a:r>
              <a:rPr lang="en-US" sz="6400" dirty="0">
                <a:highlight>
                  <a:srgbClr val="FFFF00"/>
                </a:highlight>
              </a:rPr>
              <a:t>across all pages, but only for a given single session</a:t>
            </a:r>
            <a:r>
              <a:rPr lang="en-US" sz="6400" dirty="0"/>
              <a:t>. Session variables are like single-user global data.</a:t>
            </a:r>
          </a:p>
          <a:p>
            <a:endParaRPr lang="en-US" sz="6400" dirty="0"/>
          </a:p>
          <a:p>
            <a:r>
              <a:rPr lang="en-US" sz="6400" dirty="0"/>
              <a:t>5. It is always a good practice to check, if a session state variable is null before calling any of its methods, such as </a:t>
            </a:r>
            <a:r>
              <a:rPr lang="en-US" sz="6400" dirty="0" err="1"/>
              <a:t>ToString</a:t>
            </a:r>
            <a:r>
              <a:rPr lang="en-US" sz="6400" dirty="0"/>
              <a:t>(). Otherwise, we may run into runtime </a:t>
            </a:r>
            <a:r>
              <a:rPr lang="en-US" sz="6400" dirty="0" err="1"/>
              <a:t>NullReferenceExceptions</a:t>
            </a:r>
            <a:r>
              <a:rPr lang="en-US" sz="6400" dirty="0"/>
              <a:t>.</a:t>
            </a:r>
          </a:p>
          <a:p>
            <a:endParaRPr lang="en-US" sz="6400" dirty="0"/>
          </a:p>
          <a:p>
            <a:r>
              <a:rPr lang="en-US" sz="6400" dirty="0"/>
              <a:t>if (Session["Name"] != null)</a:t>
            </a:r>
          </a:p>
          <a:p>
            <a:pPr marL="0" indent="0">
              <a:buNone/>
            </a:pPr>
            <a:r>
              <a:rPr lang="en-US" sz="6400" dirty="0"/>
              <a:t>   </a:t>
            </a:r>
          </a:p>
          <a:p>
            <a:r>
              <a:rPr lang="en-US" sz="6400" dirty="0"/>
              <a:t>6. Application performance can be improved by disabling session state, if it's not required. Session state can be turned off at the page or application level.</a:t>
            </a:r>
          </a:p>
          <a:p>
            <a:endParaRPr lang="en-US" sz="6400" dirty="0"/>
          </a:p>
          <a:p>
            <a:pPr marL="0" indent="0">
              <a:buNone/>
            </a:pPr>
            <a:endParaRPr lang="en-US" sz="6400" dirty="0"/>
          </a:p>
          <a:p>
            <a:endParaRPr lang="en-US" sz="6400" dirty="0"/>
          </a:p>
          <a:p>
            <a:pPr marL="0" indent="0">
              <a:buNone/>
            </a:pPr>
            <a:endParaRPr lang="en-IN" dirty="0"/>
          </a:p>
        </p:txBody>
      </p:sp>
    </p:spTree>
    <p:extLst>
      <p:ext uri="{BB962C8B-B14F-4D97-AF65-F5344CB8AC3E}">
        <p14:creationId xmlns:p14="http://schemas.microsoft.com/office/powerpoint/2010/main" val="2312755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F2A4B1-1584-435C-B10B-F025014A4D40}"/>
              </a:ext>
            </a:extLst>
          </p:cNvPr>
          <p:cNvSpPr txBox="1"/>
          <p:nvPr/>
        </p:nvSpPr>
        <p:spPr>
          <a:xfrm>
            <a:off x="530942" y="157316"/>
            <a:ext cx="11267768" cy="6217087"/>
          </a:xfrm>
          <a:prstGeom prst="rect">
            <a:avLst/>
          </a:prstGeom>
          <a:noFill/>
        </p:spPr>
        <p:txBody>
          <a:bodyPr wrap="square">
            <a:spAutoFit/>
          </a:bodyPr>
          <a:lstStyle/>
          <a:p>
            <a:pPr algn="ctr"/>
            <a:r>
              <a:rPr lang="en-US" b="1" dirty="0"/>
              <a:t>Session state exhibits the following behaviors: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session cookie is specific to the browser. </a:t>
            </a:r>
          </a:p>
          <a:p>
            <a:pPr marL="342900" indent="-342900">
              <a:buFont typeface="Arial" panose="020B0604020202020204" pitchFamily="34" charset="0"/>
              <a:buChar char="•"/>
            </a:pPr>
            <a:r>
              <a:rPr lang="en-US" sz="2000" dirty="0"/>
              <a:t>Sessions aren't shared across browsers.</a:t>
            </a:r>
          </a:p>
          <a:p>
            <a:pPr marL="342900" indent="-342900">
              <a:buFont typeface="Arial" panose="020B0604020202020204" pitchFamily="34" charset="0"/>
              <a:buChar char="•"/>
            </a:pPr>
            <a:r>
              <a:rPr lang="en-US" sz="2000" dirty="0"/>
              <a:t>Session cookies are deleted when the browser session ends.</a:t>
            </a:r>
          </a:p>
          <a:p>
            <a:pPr marL="342900" indent="-342900">
              <a:buFont typeface="Arial" panose="020B0604020202020204" pitchFamily="34" charset="0"/>
              <a:buChar char="•"/>
            </a:pPr>
            <a:r>
              <a:rPr lang="en-US" sz="2000" dirty="0"/>
              <a:t>If a cookie is received for an expired session, a new session is created that uses the same session cookie.</a:t>
            </a:r>
          </a:p>
          <a:p>
            <a:pPr marL="342900" indent="-342900">
              <a:buFont typeface="Arial" panose="020B0604020202020204" pitchFamily="34" charset="0"/>
              <a:buChar char="•"/>
            </a:pPr>
            <a:r>
              <a:rPr lang="en-US" sz="2000" dirty="0"/>
              <a:t>Empty sessions aren't retained. </a:t>
            </a:r>
          </a:p>
          <a:p>
            <a:pPr marL="342900" indent="-342900">
              <a:buFont typeface="Arial" panose="020B0604020202020204" pitchFamily="34" charset="0"/>
              <a:buChar char="•"/>
            </a:pPr>
            <a:r>
              <a:rPr lang="en-US" sz="2000" dirty="0"/>
              <a:t>The session must have at least one value set to persist the session across requests. </a:t>
            </a:r>
          </a:p>
          <a:p>
            <a:pPr marL="342900" indent="-342900">
              <a:buFont typeface="Arial" panose="020B0604020202020204" pitchFamily="34" charset="0"/>
              <a:buChar char="•"/>
            </a:pPr>
            <a:r>
              <a:rPr lang="en-US" sz="2000" dirty="0"/>
              <a:t>When a session isn't retained, a new session ID is generated for each new request.</a:t>
            </a:r>
          </a:p>
          <a:p>
            <a:pPr marL="342900" indent="-342900">
              <a:buFont typeface="Arial" panose="020B0604020202020204" pitchFamily="34" charset="0"/>
              <a:buChar char="•"/>
            </a:pPr>
            <a:r>
              <a:rPr lang="en-US" sz="2000" dirty="0"/>
              <a:t>The app retains a session for a limited time after the last request. </a:t>
            </a:r>
          </a:p>
          <a:p>
            <a:pPr marL="342900" indent="-342900">
              <a:buFont typeface="Arial" panose="020B0604020202020204" pitchFamily="34" charset="0"/>
              <a:buChar char="•"/>
            </a:pPr>
            <a:r>
              <a:rPr lang="en-US" sz="2000" dirty="0"/>
              <a:t>The app either sets the session timeout or uses the default value of 20 minutes. Session state is ideal for storing user data:</a:t>
            </a:r>
          </a:p>
          <a:p>
            <a:pPr marL="342900" indent="-342900">
              <a:buFont typeface="Arial" panose="020B0604020202020204" pitchFamily="34" charset="0"/>
              <a:buChar char="•"/>
            </a:pPr>
            <a:r>
              <a:rPr lang="en-US" sz="2000" dirty="0"/>
              <a:t>That's specific to a particular session.</a:t>
            </a:r>
          </a:p>
          <a:p>
            <a:pPr marL="342900" indent="-342900">
              <a:buFont typeface="Arial" panose="020B0604020202020204" pitchFamily="34" charset="0"/>
              <a:buChar char="•"/>
            </a:pPr>
            <a:r>
              <a:rPr lang="en-US" sz="2000" dirty="0"/>
              <a:t>Where the data doesn't require permanent storage across sessions.</a:t>
            </a:r>
          </a:p>
          <a:p>
            <a:pPr marL="342900" indent="-342900">
              <a:buFont typeface="Arial" panose="020B0604020202020204" pitchFamily="34" charset="0"/>
              <a:buChar char="•"/>
            </a:pPr>
            <a:r>
              <a:rPr lang="en-US" sz="2000" dirty="0"/>
              <a:t>Session data is deleted either when the </a:t>
            </a:r>
            <a:r>
              <a:rPr lang="en-US" sz="2000" dirty="0" err="1"/>
              <a:t>ISession.Clear</a:t>
            </a:r>
            <a:r>
              <a:rPr lang="en-US" sz="2000" dirty="0"/>
              <a:t> implementation is called or when the session expires.</a:t>
            </a:r>
          </a:p>
          <a:p>
            <a:pPr marL="342900" indent="-342900">
              <a:buFont typeface="Arial" panose="020B0604020202020204" pitchFamily="34" charset="0"/>
              <a:buChar char="•"/>
            </a:pPr>
            <a:r>
              <a:rPr lang="en-US" sz="2000" dirty="0"/>
              <a:t>There's no default mechanism to inform app code that a client browser has been closed or when the session cookie is deleted or expired on the client.</a:t>
            </a:r>
          </a:p>
          <a:p>
            <a:pPr marL="342900" indent="-342900">
              <a:buFont typeface="Arial" panose="020B0604020202020204" pitchFamily="34" charset="0"/>
              <a:buChar char="•"/>
            </a:pPr>
            <a:r>
              <a:rPr lang="en-US" sz="2000" dirty="0"/>
              <a:t>Session state cookies aren't marked essential by default. Session state isn't functional unless tracking is permitted by the site visitor. </a:t>
            </a:r>
            <a:endParaRPr lang="en-IN" sz="2000" dirty="0"/>
          </a:p>
        </p:txBody>
      </p:sp>
    </p:spTree>
    <p:extLst>
      <p:ext uri="{BB962C8B-B14F-4D97-AF65-F5344CB8AC3E}">
        <p14:creationId xmlns:p14="http://schemas.microsoft.com/office/powerpoint/2010/main" val="2791969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347FF-9803-488D-81E2-64AD42D11E19}"/>
              </a:ext>
            </a:extLst>
          </p:cNvPr>
          <p:cNvSpPr>
            <a:spLocks noGrp="1"/>
          </p:cNvSpPr>
          <p:nvPr>
            <p:ph type="title"/>
          </p:nvPr>
        </p:nvSpPr>
        <p:spPr/>
        <p:txBody>
          <a:bodyPr/>
          <a:lstStyle/>
          <a:p>
            <a:r>
              <a:rPr lang="en-IN" dirty="0"/>
              <a:t>How to set session</a:t>
            </a:r>
          </a:p>
        </p:txBody>
      </p:sp>
      <p:sp>
        <p:nvSpPr>
          <p:cNvPr id="3" name="Content Placeholder 2">
            <a:extLst>
              <a:ext uri="{FF2B5EF4-FFF2-40B4-BE49-F238E27FC236}">
                <a16:creationId xmlns:a16="http://schemas.microsoft.com/office/drawing/2014/main" id="{C4949AC7-6813-4EC9-A677-4A32D06FD9AA}"/>
              </a:ext>
            </a:extLst>
          </p:cNvPr>
          <p:cNvSpPr>
            <a:spLocks noGrp="1"/>
          </p:cNvSpPr>
          <p:nvPr>
            <p:ph idx="1"/>
          </p:nvPr>
        </p:nvSpPr>
        <p:spPr/>
        <p:txBody>
          <a:bodyPr>
            <a:normAutofit fontScale="77500" lnSpcReduction="20000"/>
          </a:bodyPr>
          <a:lstStyle/>
          <a:p>
            <a:pPr algn="l">
              <a:buFont typeface="+mj-lt"/>
              <a:buAutoNum type="arabicPeriod"/>
            </a:pPr>
            <a:r>
              <a:rPr lang="en-IN" b="0" i="0" dirty="0">
                <a:solidFill>
                  <a:srgbClr val="000000"/>
                </a:solidFill>
                <a:effectLst/>
                <a:latin typeface="Consolas" panose="020B0609020204030204" pitchFamily="49" charset="0"/>
              </a:rPr>
              <a:t> </a:t>
            </a:r>
            <a:r>
              <a:rPr lang="en-IN" b="1" i="0" dirty="0">
                <a:solidFill>
                  <a:srgbClr val="006699"/>
                </a:solidFill>
                <a:effectLst/>
                <a:latin typeface="Consolas" panose="020B0609020204030204" pitchFamily="49" charset="0"/>
              </a:rPr>
              <a:t>public</a:t>
            </a:r>
            <a:r>
              <a:rPr lang="en-IN" b="0" i="0" dirty="0">
                <a:solidFill>
                  <a:srgbClr val="000000"/>
                </a:solidFill>
                <a:effectLst/>
                <a:latin typeface="Consolas" panose="020B0609020204030204" pitchFamily="49" charset="0"/>
              </a:rPr>
              <a:t> </a:t>
            </a:r>
            <a:r>
              <a:rPr lang="en-IN" b="1" i="0" dirty="0">
                <a:solidFill>
                  <a:srgbClr val="006699"/>
                </a:solidFill>
                <a:effectLst/>
                <a:latin typeface="Consolas" panose="020B0609020204030204" pitchFamily="49" charset="0"/>
              </a:rPr>
              <a:t>class</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HomeController</a:t>
            </a:r>
            <a:r>
              <a:rPr lang="en-IN" b="0" i="0" dirty="0">
                <a:solidFill>
                  <a:srgbClr val="000000"/>
                </a:solidFill>
                <a:effectLst/>
                <a:latin typeface="Consolas" panose="020B0609020204030204" pitchFamily="49" charset="0"/>
              </a:rPr>
              <a:t> : Controller  </a:t>
            </a:r>
            <a:endParaRPr lang="en-IN" b="0" i="0" dirty="0">
              <a:solidFill>
                <a:srgbClr val="5C5C5C"/>
              </a:solidFill>
              <a:effectLst/>
              <a:latin typeface="Consolas" panose="020B0609020204030204" pitchFamily="49" charset="0"/>
            </a:endParaRPr>
          </a:p>
          <a:p>
            <a:pPr algn="l">
              <a:buFont typeface="+mj-lt"/>
              <a:buAutoNum type="arabicPeriod"/>
            </a:pPr>
            <a:r>
              <a:rPr lang="en-IN" b="0" i="0" dirty="0">
                <a:solidFill>
                  <a:srgbClr val="000000"/>
                </a:solidFill>
                <a:effectLst/>
                <a:latin typeface="Consolas" panose="020B0609020204030204" pitchFamily="49" charset="0"/>
              </a:rPr>
              <a:t>    {  </a:t>
            </a:r>
            <a:endParaRPr lang="en-IN" b="0" i="0" dirty="0">
              <a:solidFill>
                <a:srgbClr val="5C5C5C"/>
              </a:solidFill>
              <a:effectLst/>
              <a:latin typeface="Consolas" panose="020B0609020204030204" pitchFamily="49" charset="0"/>
            </a:endParaRPr>
          </a:p>
          <a:p>
            <a:pPr algn="l">
              <a:buFont typeface="+mj-lt"/>
              <a:buAutoNum type="arabicPeriod"/>
            </a:pPr>
            <a:r>
              <a:rPr lang="en-IN" b="0" i="0" dirty="0">
                <a:solidFill>
                  <a:srgbClr val="000000"/>
                </a:solidFill>
                <a:effectLst/>
                <a:latin typeface="Consolas" panose="020B0609020204030204" pitchFamily="49" charset="0"/>
              </a:rPr>
              <a:t>  </a:t>
            </a:r>
            <a:endParaRPr lang="en-IN" b="0" i="0" dirty="0">
              <a:solidFill>
                <a:srgbClr val="5C5C5C"/>
              </a:solidFill>
              <a:effectLst/>
              <a:latin typeface="Consolas" panose="020B0609020204030204" pitchFamily="49" charset="0"/>
            </a:endParaRPr>
          </a:p>
          <a:p>
            <a:pPr algn="l">
              <a:buFont typeface="+mj-lt"/>
              <a:buAutoNum type="arabicPeriod"/>
            </a:pPr>
            <a:r>
              <a:rPr lang="en-IN" b="0" i="0" dirty="0">
                <a:solidFill>
                  <a:srgbClr val="000000"/>
                </a:solidFill>
                <a:effectLst/>
                <a:latin typeface="Consolas" panose="020B0609020204030204" pitchFamily="49" charset="0"/>
              </a:rPr>
              <a:t>        </a:t>
            </a:r>
            <a:r>
              <a:rPr lang="en-IN" b="1" i="0" dirty="0" err="1">
                <a:solidFill>
                  <a:srgbClr val="006699"/>
                </a:solidFill>
                <a:effectLst/>
                <a:latin typeface="Consolas" panose="020B0609020204030204" pitchFamily="49" charset="0"/>
              </a:rPr>
              <a:t>const</a:t>
            </a:r>
            <a:r>
              <a:rPr lang="en-IN" b="0" i="0" dirty="0">
                <a:solidFill>
                  <a:srgbClr val="000000"/>
                </a:solidFill>
                <a:effectLst/>
                <a:latin typeface="Consolas" panose="020B0609020204030204" pitchFamily="49" charset="0"/>
              </a:rPr>
              <a:t> </a:t>
            </a:r>
            <a:r>
              <a:rPr lang="en-IN" b="1" i="0" dirty="0">
                <a:solidFill>
                  <a:srgbClr val="006699"/>
                </a:solidFill>
                <a:effectLst/>
                <a:latin typeface="Consolas" panose="020B0609020204030204" pitchFamily="49" charset="0"/>
              </a:rPr>
              <a:t>string</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SessionName</a:t>
            </a:r>
            <a:r>
              <a:rPr lang="en-IN" b="0" i="0" dirty="0">
                <a:solidFill>
                  <a:srgbClr val="000000"/>
                </a:solidFill>
                <a:effectLst/>
                <a:latin typeface="Consolas" panose="020B0609020204030204" pitchFamily="49" charset="0"/>
              </a:rPr>
              <a:t> = </a:t>
            </a:r>
            <a:r>
              <a:rPr lang="en-IN" b="0" i="0" dirty="0">
                <a:solidFill>
                  <a:srgbClr val="0000FF"/>
                </a:solidFill>
                <a:effectLst/>
                <a:latin typeface="Consolas" panose="020B0609020204030204" pitchFamily="49" charset="0"/>
              </a:rPr>
              <a:t>"_Name"</a:t>
            </a:r>
            <a:r>
              <a:rPr lang="en-IN" b="0" i="0" dirty="0">
                <a:solidFill>
                  <a:srgbClr val="000000"/>
                </a:solidFill>
                <a:effectLst/>
                <a:latin typeface="Consolas" panose="020B0609020204030204" pitchFamily="49" charset="0"/>
              </a:rPr>
              <a:t>;  </a:t>
            </a:r>
            <a:endParaRPr lang="en-IN" b="0" i="0" dirty="0">
              <a:solidFill>
                <a:srgbClr val="5C5C5C"/>
              </a:solidFill>
              <a:effectLst/>
              <a:latin typeface="Consolas" panose="020B0609020204030204" pitchFamily="49" charset="0"/>
            </a:endParaRPr>
          </a:p>
          <a:p>
            <a:pPr algn="l">
              <a:buFont typeface="+mj-lt"/>
              <a:buAutoNum type="arabicPeriod"/>
            </a:pPr>
            <a:r>
              <a:rPr lang="en-IN" b="0" i="0" dirty="0">
                <a:solidFill>
                  <a:srgbClr val="000000"/>
                </a:solidFill>
                <a:effectLst/>
                <a:latin typeface="Consolas" panose="020B0609020204030204" pitchFamily="49" charset="0"/>
              </a:rPr>
              <a:t>        </a:t>
            </a:r>
            <a:r>
              <a:rPr lang="en-IN" b="1" i="0" dirty="0" err="1">
                <a:solidFill>
                  <a:srgbClr val="006699"/>
                </a:solidFill>
                <a:effectLst/>
                <a:latin typeface="Consolas" panose="020B0609020204030204" pitchFamily="49" charset="0"/>
              </a:rPr>
              <a:t>const</a:t>
            </a:r>
            <a:r>
              <a:rPr lang="en-IN" b="0" i="0" dirty="0">
                <a:solidFill>
                  <a:srgbClr val="000000"/>
                </a:solidFill>
                <a:effectLst/>
                <a:latin typeface="Consolas" panose="020B0609020204030204" pitchFamily="49" charset="0"/>
              </a:rPr>
              <a:t> </a:t>
            </a:r>
            <a:r>
              <a:rPr lang="en-IN" b="1" i="0" dirty="0">
                <a:solidFill>
                  <a:srgbClr val="006699"/>
                </a:solidFill>
                <a:effectLst/>
                <a:latin typeface="Consolas" panose="020B0609020204030204" pitchFamily="49" charset="0"/>
              </a:rPr>
              <a:t>string</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SessionAge</a:t>
            </a:r>
            <a:r>
              <a:rPr lang="en-IN" b="0" i="0" dirty="0">
                <a:solidFill>
                  <a:srgbClr val="000000"/>
                </a:solidFill>
                <a:effectLst/>
                <a:latin typeface="Consolas" panose="020B0609020204030204" pitchFamily="49" charset="0"/>
              </a:rPr>
              <a:t> = </a:t>
            </a:r>
            <a:r>
              <a:rPr lang="en-IN" b="0" i="0" dirty="0">
                <a:solidFill>
                  <a:srgbClr val="0000FF"/>
                </a:solidFill>
                <a:effectLst/>
                <a:latin typeface="Consolas" panose="020B0609020204030204" pitchFamily="49" charset="0"/>
              </a:rPr>
              <a:t>"_Age"</a:t>
            </a:r>
            <a:r>
              <a:rPr lang="en-IN" b="0" i="0" dirty="0">
                <a:solidFill>
                  <a:srgbClr val="000000"/>
                </a:solidFill>
                <a:effectLst/>
                <a:latin typeface="Consolas" panose="020B0609020204030204" pitchFamily="49" charset="0"/>
              </a:rPr>
              <a:t>;  </a:t>
            </a:r>
            <a:endParaRPr lang="en-IN" b="0" i="0" dirty="0">
              <a:solidFill>
                <a:srgbClr val="5C5C5C"/>
              </a:solidFill>
              <a:effectLst/>
              <a:latin typeface="Consolas" panose="020B0609020204030204" pitchFamily="49" charset="0"/>
            </a:endParaRPr>
          </a:p>
          <a:p>
            <a:pPr algn="l">
              <a:buFont typeface="+mj-lt"/>
              <a:buAutoNum type="arabicPeriod"/>
            </a:pPr>
            <a:r>
              <a:rPr lang="en-IN" b="0" i="0" dirty="0">
                <a:solidFill>
                  <a:srgbClr val="000000"/>
                </a:solidFill>
                <a:effectLst/>
                <a:latin typeface="Consolas" panose="020B0609020204030204" pitchFamily="49" charset="0"/>
              </a:rPr>
              <a:t>        </a:t>
            </a:r>
            <a:r>
              <a:rPr lang="en-IN" b="1" i="0" dirty="0">
                <a:solidFill>
                  <a:srgbClr val="006699"/>
                </a:solidFill>
                <a:effectLst/>
                <a:latin typeface="Consolas" panose="020B0609020204030204" pitchFamily="49" charset="0"/>
              </a:rPr>
              <a:t>public</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IActionResult</a:t>
            </a:r>
            <a:r>
              <a:rPr lang="en-IN" b="0" i="0" dirty="0">
                <a:solidFill>
                  <a:srgbClr val="000000"/>
                </a:solidFill>
                <a:effectLst/>
                <a:latin typeface="Consolas" panose="020B0609020204030204" pitchFamily="49" charset="0"/>
              </a:rPr>
              <a:t> Index()  </a:t>
            </a:r>
            <a:endParaRPr lang="en-IN" b="0" i="0" dirty="0">
              <a:solidFill>
                <a:srgbClr val="5C5C5C"/>
              </a:solidFill>
              <a:effectLst/>
              <a:latin typeface="Consolas" panose="020B0609020204030204" pitchFamily="49" charset="0"/>
            </a:endParaRPr>
          </a:p>
          <a:p>
            <a:pPr algn="l">
              <a:buFont typeface="+mj-lt"/>
              <a:buAutoNum type="arabicPeriod"/>
            </a:pPr>
            <a:r>
              <a:rPr lang="en-IN" b="0" i="0" dirty="0">
                <a:solidFill>
                  <a:srgbClr val="000000"/>
                </a:solidFill>
                <a:effectLst/>
                <a:latin typeface="Consolas" panose="020B0609020204030204" pitchFamily="49" charset="0"/>
              </a:rPr>
              <a:t>        {  </a:t>
            </a:r>
            <a:endParaRPr lang="en-IN" b="0" i="0" dirty="0">
              <a:solidFill>
                <a:srgbClr val="5C5C5C"/>
              </a:solidFill>
              <a:effectLst/>
              <a:latin typeface="Consolas" panose="020B0609020204030204" pitchFamily="49" charset="0"/>
            </a:endParaRPr>
          </a:p>
          <a:p>
            <a:pPr algn="l">
              <a:buFont typeface="+mj-lt"/>
              <a:buAutoNum type="arabicPeriod"/>
            </a:pP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HttpContext.Session.SetString</a:t>
            </a:r>
            <a:r>
              <a:rPr lang="en-IN" b="0" i="0" dirty="0">
                <a:solidFill>
                  <a:srgbClr val="000000"/>
                </a:solidFill>
                <a:effectLst/>
                <a:latin typeface="Consolas" panose="020B0609020204030204" pitchFamily="49" charset="0"/>
              </a:rPr>
              <a:t>(</a:t>
            </a:r>
            <a:r>
              <a:rPr lang="en-IN" b="0" i="0" dirty="0" err="1">
                <a:solidFill>
                  <a:srgbClr val="000000"/>
                </a:solidFill>
                <a:effectLst/>
                <a:latin typeface="Consolas" panose="020B0609020204030204" pitchFamily="49" charset="0"/>
              </a:rPr>
              <a:t>SessionName</a:t>
            </a:r>
            <a:r>
              <a:rPr lang="en-IN" b="0" i="0" dirty="0">
                <a:solidFill>
                  <a:srgbClr val="000000"/>
                </a:solidFill>
                <a:effectLst/>
                <a:latin typeface="Consolas" panose="020B0609020204030204" pitchFamily="49" charset="0"/>
              </a:rPr>
              <a:t>, </a:t>
            </a:r>
            <a:r>
              <a:rPr lang="en-IN" b="0" i="0" dirty="0">
                <a:solidFill>
                  <a:srgbClr val="0000FF"/>
                </a:solidFill>
                <a:effectLst/>
                <a:latin typeface="Consolas" panose="020B0609020204030204" pitchFamily="49" charset="0"/>
              </a:rPr>
              <a:t>"</a:t>
            </a:r>
            <a:r>
              <a:rPr lang="en-IN" dirty="0">
                <a:solidFill>
                  <a:srgbClr val="0000FF"/>
                </a:solidFill>
                <a:latin typeface="Consolas" panose="020B0609020204030204" pitchFamily="49" charset="0"/>
              </a:rPr>
              <a:t>DAC</a:t>
            </a:r>
            <a:r>
              <a:rPr lang="en-IN" b="0" i="0" dirty="0">
                <a:solidFill>
                  <a:srgbClr val="0000FF"/>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endParaRPr lang="en-IN" b="0" i="0" dirty="0">
              <a:solidFill>
                <a:srgbClr val="5C5C5C"/>
              </a:solidFill>
              <a:effectLst/>
              <a:latin typeface="Consolas" panose="020B0609020204030204" pitchFamily="49" charset="0"/>
            </a:endParaRPr>
          </a:p>
          <a:p>
            <a:pPr algn="l">
              <a:buFont typeface="+mj-lt"/>
              <a:buAutoNum type="arabicPeriod"/>
            </a:pPr>
            <a:r>
              <a:rPr lang="en-IN" b="0" i="0" dirty="0">
                <a:solidFill>
                  <a:srgbClr val="000000"/>
                </a:solidFill>
                <a:effectLst/>
                <a:latin typeface="Consolas" panose="020B0609020204030204" pitchFamily="49" charset="0"/>
              </a:rPr>
              <a:t>            HttpContext.Session.SetInt32(</a:t>
            </a:r>
            <a:r>
              <a:rPr lang="en-IN" b="0" i="0" dirty="0" err="1">
                <a:solidFill>
                  <a:srgbClr val="000000"/>
                </a:solidFill>
                <a:effectLst/>
                <a:latin typeface="Consolas" panose="020B0609020204030204" pitchFamily="49" charset="0"/>
              </a:rPr>
              <a:t>SessionAge</a:t>
            </a:r>
            <a:r>
              <a:rPr lang="en-IN" b="0" i="0" dirty="0">
                <a:solidFill>
                  <a:srgbClr val="000000"/>
                </a:solidFill>
                <a:effectLst/>
                <a:latin typeface="Consolas" panose="020B0609020204030204" pitchFamily="49" charset="0"/>
              </a:rPr>
              <a:t>, 24);  </a:t>
            </a:r>
            <a:endParaRPr lang="en-IN" b="0" i="0" dirty="0">
              <a:solidFill>
                <a:srgbClr val="5C5C5C"/>
              </a:solidFill>
              <a:effectLst/>
              <a:latin typeface="Consolas" panose="020B0609020204030204" pitchFamily="49" charset="0"/>
            </a:endParaRPr>
          </a:p>
          <a:p>
            <a:pPr algn="l">
              <a:buFont typeface="+mj-lt"/>
              <a:buAutoNum type="arabicPeriod"/>
            </a:pPr>
            <a:r>
              <a:rPr lang="en-IN" b="0" i="0" dirty="0">
                <a:solidFill>
                  <a:srgbClr val="000000"/>
                </a:solidFill>
                <a:effectLst/>
                <a:latin typeface="Consolas" panose="020B0609020204030204" pitchFamily="49" charset="0"/>
              </a:rPr>
              <a:t>            </a:t>
            </a:r>
            <a:r>
              <a:rPr lang="en-IN" b="1" i="0" dirty="0">
                <a:solidFill>
                  <a:srgbClr val="006699"/>
                </a:solidFill>
                <a:effectLst/>
                <a:latin typeface="Consolas" panose="020B0609020204030204" pitchFamily="49" charset="0"/>
              </a:rPr>
              <a:t>return</a:t>
            </a:r>
            <a:r>
              <a:rPr lang="en-IN" b="0" i="0" dirty="0">
                <a:solidFill>
                  <a:srgbClr val="000000"/>
                </a:solidFill>
                <a:effectLst/>
                <a:latin typeface="Consolas" panose="020B0609020204030204" pitchFamily="49" charset="0"/>
              </a:rPr>
              <a:t> View();  </a:t>
            </a:r>
            <a:endParaRPr lang="en-IN" b="0" i="0" dirty="0">
              <a:solidFill>
                <a:srgbClr val="5C5C5C"/>
              </a:solidFill>
              <a:effectLst/>
              <a:latin typeface="Consolas" panose="020B0609020204030204" pitchFamily="49" charset="0"/>
            </a:endParaRPr>
          </a:p>
          <a:p>
            <a:pPr algn="l">
              <a:buFont typeface="+mj-lt"/>
              <a:buAutoNum type="arabicPeriod"/>
            </a:pPr>
            <a:r>
              <a:rPr lang="en-IN" b="0" i="0" dirty="0">
                <a:solidFill>
                  <a:srgbClr val="000000"/>
                </a:solidFill>
                <a:effectLst/>
                <a:latin typeface="Consolas" panose="020B0609020204030204" pitchFamily="49" charset="0"/>
              </a:rPr>
              <a:t>        }  </a:t>
            </a:r>
            <a:endParaRPr lang="en-IN" b="0" i="0" dirty="0">
              <a:solidFill>
                <a:srgbClr val="5C5C5C"/>
              </a:solidFill>
              <a:effectLst/>
              <a:latin typeface="Consolas" panose="020B0609020204030204" pitchFamily="49" charset="0"/>
            </a:endParaRPr>
          </a:p>
          <a:p>
            <a:endParaRPr lang="en-IN" dirty="0"/>
          </a:p>
        </p:txBody>
      </p:sp>
    </p:spTree>
    <p:extLst>
      <p:ext uri="{BB962C8B-B14F-4D97-AF65-F5344CB8AC3E}">
        <p14:creationId xmlns:p14="http://schemas.microsoft.com/office/powerpoint/2010/main" val="2982792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E372F-B75D-4850-B8E9-66DCBB032F66}"/>
              </a:ext>
            </a:extLst>
          </p:cNvPr>
          <p:cNvSpPr>
            <a:spLocks noGrp="1"/>
          </p:cNvSpPr>
          <p:nvPr>
            <p:ph type="title"/>
          </p:nvPr>
        </p:nvSpPr>
        <p:spPr>
          <a:xfrm>
            <a:off x="356419" y="99655"/>
            <a:ext cx="9583994" cy="814746"/>
          </a:xfrm>
        </p:spPr>
        <p:txBody>
          <a:bodyPr/>
          <a:lstStyle/>
          <a:p>
            <a:r>
              <a:rPr lang="en-IN" dirty="0"/>
              <a:t>How to Read Session</a:t>
            </a:r>
          </a:p>
        </p:txBody>
      </p:sp>
      <p:sp>
        <p:nvSpPr>
          <p:cNvPr id="3" name="Content Placeholder 2">
            <a:extLst>
              <a:ext uri="{FF2B5EF4-FFF2-40B4-BE49-F238E27FC236}">
                <a16:creationId xmlns:a16="http://schemas.microsoft.com/office/drawing/2014/main" id="{CB8A0EA6-901A-4F2D-AB0C-3F164370F79D}"/>
              </a:ext>
            </a:extLst>
          </p:cNvPr>
          <p:cNvSpPr>
            <a:spLocks noGrp="1"/>
          </p:cNvSpPr>
          <p:nvPr>
            <p:ph idx="1"/>
          </p:nvPr>
        </p:nvSpPr>
        <p:spPr>
          <a:xfrm>
            <a:off x="208935" y="1176696"/>
            <a:ext cx="11107994" cy="4351338"/>
          </a:xfrm>
        </p:spPr>
        <p:txBody>
          <a:bodyPr>
            <a:normAutofit/>
          </a:bodyPr>
          <a:lstStyle/>
          <a:p>
            <a:pPr algn="l">
              <a:buFont typeface="+mj-lt"/>
              <a:buAutoNum type="arabicPeriod"/>
            </a:pPr>
            <a:r>
              <a:rPr lang="en-IN" sz="1800" b="0" i="0" dirty="0">
                <a:solidFill>
                  <a:srgbClr val="000000"/>
                </a:solidFill>
                <a:effectLst/>
                <a:latin typeface="Consolas" panose="020B0609020204030204" pitchFamily="49" charset="0"/>
              </a:rPr>
              <a:t> </a:t>
            </a:r>
            <a:r>
              <a:rPr lang="en-IN" sz="1800" b="1" i="0" dirty="0">
                <a:solidFill>
                  <a:srgbClr val="006699"/>
                </a:solidFill>
                <a:effectLst/>
                <a:latin typeface="Consolas" panose="020B0609020204030204" pitchFamily="49" charset="0"/>
              </a:rPr>
              <a:t>public</a:t>
            </a:r>
            <a:r>
              <a:rPr lang="en-IN" sz="1800" b="0" i="0" dirty="0">
                <a:solidFill>
                  <a:srgbClr val="000000"/>
                </a:solidFill>
                <a:effectLst/>
                <a:latin typeface="Consolas" panose="020B0609020204030204" pitchFamily="49" charset="0"/>
              </a:rPr>
              <a:t> </a:t>
            </a:r>
            <a:r>
              <a:rPr lang="en-IN" sz="1800" b="0" i="0" dirty="0" err="1">
                <a:solidFill>
                  <a:srgbClr val="000000"/>
                </a:solidFill>
                <a:effectLst/>
                <a:latin typeface="Consolas" panose="020B0609020204030204" pitchFamily="49" charset="0"/>
              </a:rPr>
              <a:t>IActionResult</a:t>
            </a:r>
            <a:r>
              <a:rPr lang="en-IN" sz="1800" b="0" i="0" dirty="0">
                <a:solidFill>
                  <a:srgbClr val="000000"/>
                </a:solidFill>
                <a:effectLst/>
                <a:latin typeface="Consolas" panose="020B0609020204030204" pitchFamily="49" charset="0"/>
              </a:rPr>
              <a:t> About()  </a:t>
            </a:r>
            <a:endParaRPr lang="en-IN" sz="1800" b="0" i="0" dirty="0">
              <a:solidFill>
                <a:srgbClr val="5C5C5C"/>
              </a:solidFill>
              <a:effectLst/>
              <a:latin typeface="Consolas" panose="020B0609020204030204" pitchFamily="49" charset="0"/>
            </a:endParaRPr>
          </a:p>
          <a:p>
            <a:pPr algn="l">
              <a:buFont typeface="+mj-lt"/>
              <a:buAutoNum type="arabicPeriod"/>
            </a:pPr>
            <a:r>
              <a:rPr lang="en-IN" sz="1800" b="0" i="0" dirty="0">
                <a:solidFill>
                  <a:srgbClr val="000000"/>
                </a:solidFill>
                <a:effectLst/>
                <a:latin typeface="Consolas" panose="020B0609020204030204" pitchFamily="49" charset="0"/>
              </a:rPr>
              <a:t>        {  </a:t>
            </a:r>
            <a:endParaRPr lang="en-IN" sz="1800" b="0" i="0" dirty="0">
              <a:solidFill>
                <a:srgbClr val="5C5C5C"/>
              </a:solidFill>
              <a:effectLst/>
              <a:latin typeface="Consolas" panose="020B0609020204030204" pitchFamily="49" charset="0"/>
            </a:endParaRPr>
          </a:p>
          <a:p>
            <a:pPr algn="l">
              <a:buFont typeface="+mj-lt"/>
              <a:buAutoNum type="arabicPeriod"/>
            </a:pPr>
            <a:r>
              <a:rPr lang="en-IN" sz="1800" b="0" i="0" dirty="0">
                <a:solidFill>
                  <a:srgbClr val="000000"/>
                </a:solidFill>
                <a:effectLst/>
                <a:latin typeface="Consolas" panose="020B0609020204030204" pitchFamily="49" charset="0"/>
              </a:rPr>
              <a:t>          </a:t>
            </a:r>
            <a:r>
              <a:rPr lang="en-IN" sz="1800" b="0" i="0" dirty="0" err="1">
                <a:solidFill>
                  <a:srgbClr val="000000"/>
                </a:solidFill>
                <a:effectLst/>
                <a:latin typeface="Consolas" panose="020B0609020204030204" pitchFamily="49" charset="0"/>
              </a:rPr>
              <a:t>ViewBag.Name</a:t>
            </a:r>
            <a:r>
              <a:rPr lang="en-IN" sz="1800" b="0" i="0" dirty="0">
                <a:solidFill>
                  <a:srgbClr val="000000"/>
                </a:solidFill>
                <a:effectLst/>
                <a:latin typeface="Consolas" panose="020B0609020204030204" pitchFamily="49" charset="0"/>
              </a:rPr>
              <a:t> = </a:t>
            </a:r>
            <a:r>
              <a:rPr lang="en-IN" sz="1800" b="0" i="0" dirty="0" err="1">
                <a:solidFill>
                  <a:srgbClr val="000000"/>
                </a:solidFill>
                <a:effectLst/>
                <a:latin typeface="Consolas" panose="020B0609020204030204" pitchFamily="49" charset="0"/>
              </a:rPr>
              <a:t>HttpContext.Session.GetString</a:t>
            </a:r>
            <a:r>
              <a:rPr lang="en-IN" sz="1800" b="0" i="0" dirty="0">
                <a:solidFill>
                  <a:srgbClr val="000000"/>
                </a:solidFill>
                <a:effectLst/>
                <a:latin typeface="Consolas" panose="020B0609020204030204" pitchFamily="49" charset="0"/>
              </a:rPr>
              <a:t>(</a:t>
            </a:r>
            <a:r>
              <a:rPr lang="en-IN" sz="1800" b="0" i="0" dirty="0" err="1">
                <a:solidFill>
                  <a:srgbClr val="000000"/>
                </a:solidFill>
                <a:effectLst/>
                <a:latin typeface="Consolas" panose="020B0609020204030204" pitchFamily="49" charset="0"/>
              </a:rPr>
              <a:t>SessionName</a:t>
            </a:r>
            <a:r>
              <a:rPr lang="en-IN" sz="1800" b="0" i="0" dirty="0">
                <a:solidFill>
                  <a:srgbClr val="000000"/>
                </a:solidFill>
                <a:effectLst/>
                <a:latin typeface="Consolas" panose="020B0609020204030204" pitchFamily="49" charset="0"/>
              </a:rPr>
              <a:t>);  </a:t>
            </a:r>
            <a:endParaRPr lang="en-IN" sz="1800" b="0" i="0" dirty="0">
              <a:solidFill>
                <a:srgbClr val="5C5C5C"/>
              </a:solidFill>
              <a:effectLst/>
              <a:latin typeface="Consolas" panose="020B0609020204030204" pitchFamily="49" charset="0"/>
            </a:endParaRPr>
          </a:p>
          <a:p>
            <a:pPr algn="l">
              <a:buFont typeface="+mj-lt"/>
              <a:buAutoNum type="arabicPeriod"/>
            </a:pPr>
            <a:r>
              <a:rPr lang="en-IN" sz="1800" b="0" i="0" dirty="0">
                <a:solidFill>
                  <a:srgbClr val="000000"/>
                </a:solidFill>
                <a:effectLst/>
                <a:latin typeface="Consolas" panose="020B0609020204030204" pitchFamily="49" charset="0"/>
              </a:rPr>
              <a:t>            </a:t>
            </a:r>
            <a:r>
              <a:rPr lang="en-IN" sz="1800" b="0" i="0" dirty="0" err="1">
                <a:solidFill>
                  <a:srgbClr val="000000"/>
                </a:solidFill>
                <a:effectLst/>
                <a:latin typeface="Consolas" panose="020B0609020204030204" pitchFamily="49" charset="0"/>
              </a:rPr>
              <a:t>ViewBag.Age</a:t>
            </a:r>
            <a:r>
              <a:rPr lang="en-IN" sz="1800" b="0" i="0" dirty="0">
                <a:solidFill>
                  <a:srgbClr val="000000"/>
                </a:solidFill>
                <a:effectLst/>
                <a:latin typeface="Consolas" panose="020B0609020204030204" pitchFamily="49" charset="0"/>
              </a:rPr>
              <a:t> = HttpContext.Session.GetInt32(</a:t>
            </a:r>
            <a:r>
              <a:rPr lang="en-IN" sz="1800" b="0" i="0" dirty="0" err="1">
                <a:solidFill>
                  <a:srgbClr val="000000"/>
                </a:solidFill>
                <a:effectLst/>
                <a:latin typeface="Consolas" panose="020B0609020204030204" pitchFamily="49" charset="0"/>
              </a:rPr>
              <a:t>SessionAge</a:t>
            </a:r>
            <a:r>
              <a:rPr lang="en-IN" sz="1800" b="0" i="0" dirty="0">
                <a:solidFill>
                  <a:srgbClr val="000000"/>
                </a:solidFill>
                <a:effectLst/>
                <a:latin typeface="Consolas" panose="020B0609020204030204" pitchFamily="49" charset="0"/>
              </a:rPr>
              <a:t>);  </a:t>
            </a:r>
            <a:endParaRPr lang="en-IN" sz="1800" b="0" i="0" dirty="0">
              <a:solidFill>
                <a:srgbClr val="5C5C5C"/>
              </a:solidFill>
              <a:effectLst/>
              <a:latin typeface="Consolas" panose="020B0609020204030204" pitchFamily="49" charset="0"/>
            </a:endParaRPr>
          </a:p>
          <a:p>
            <a:pPr algn="l">
              <a:buFont typeface="+mj-lt"/>
              <a:buAutoNum type="arabicPeriod"/>
            </a:pPr>
            <a:r>
              <a:rPr lang="en-IN" sz="1800" b="0" i="0" dirty="0">
                <a:solidFill>
                  <a:srgbClr val="000000"/>
                </a:solidFill>
                <a:effectLst/>
                <a:latin typeface="Consolas" panose="020B0609020204030204" pitchFamily="49" charset="0"/>
              </a:rPr>
              <a:t>            </a:t>
            </a:r>
            <a:r>
              <a:rPr lang="en-IN" sz="1800" b="0" i="0" dirty="0" err="1">
                <a:solidFill>
                  <a:srgbClr val="000000"/>
                </a:solidFill>
                <a:effectLst/>
                <a:latin typeface="Consolas" panose="020B0609020204030204" pitchFamily="49" charset="0"/>
              </a:rPr>
              <a:t>ViewData</a:t>
            </a:r>
            <a:r>
              <a:rPr lang="en-IN" sz="1800" b="0" i="0" dirty="0">
                <a:solidFill>
                  <a:srgbClr val="000000"/>
                </a:solidFill>
                <a:effectLst/>
                <a:latin typeface="Consolas" panose="020B0609020204030204" pitchFamily="49" charset="0"/>
              </a:rPr>
              <a:t>[</a:t>
            </a:r>
            <a:r>
              <a:rPr lang="en-IN" sz="1800" b="0" i="0" dirty="0">
                <a:solidFill>
                  <a:srgbClr val="0000FF"/>
                </a:solidFill>
                <a:effectLst/>
                <a:latin typeface="Consolas" panose="020B0609020204030204" pitchFamily="49" charset="0"/>
              </a:rPr>
              <a:t>"Message"</a:t>
            </a:r>
            <a:r>
              <a:rPr lang="en-IN" sz="1800" b="0" i="0" dirty="0">
                <a:solidFill>
                  <a:srgbClr val="000000"/>
                </a:solidFill>
                <a:effectLst/>
                <a:latin typeface="Consolas" panose="020B0609020204030204" pitchFamily="49" charset="0"/>
              </a:rPr>
              <a:t>] = </a:t>
            </a:r>
            <a:r>
              <a:rPr lang="en-IN" sz="1800" b="0" i="0" dirty="0">
                <a:solidFill>
                  <a:srgbClr val="0000FF"/>
                </a:solidFill>
                <a:effectLst/>
                <a:latin typeface="Consolas" panose="020B0609020204030204" pitchFamily="49" charset="0"/>
              </a:rPr>
              <a:t>"</a:t>
            </a:r>
            <a:r>
              <a:rPr lang="en-IN" sz="1800" b="0" i="0" dirty="0" err="1">
                <a:solidFill>
                  <a:srgbClr val="0000FF"/>
                </a:solidFill>
                <a:effectLst/>
                <a:latin typeface="Consolas" panose="020B0609020204030204" pitchFamily="49" charset="0"/>
              </a:rPr>
              <a:t>Asp.Net</a:t>
            </a:r>
            <a:r>
              <a:rPr lang="en-IN" sz="1800" b="0" i="0" dirty="0">
                <a:solidFill>
                  <a:srgbClr val="0000FF"/>
                </a:solidFill>
                <a:effectLst/>
                <a:latin typeface="Consolas" panose="020B0609020204030204" pitchFamily="49" charset="0"/>
              </a:rPr>
              <a:t> Core !!!."</a:t>
            </a:r>
            <a:r>
              <a:rPr lang="en-IN" sz="1800" b="0" i="0" dirty="0">
                <a:solidFill>
                  <a:srgbClr val="000000"/>
                </a:solidFill>
                <a:effectLst/>
                <a:latin typeface="Consolas" panose="020B0609020204030204" pitchFamily="49" charset="0"/>
              </a:rPr>
              <a:t>;  </a:t>
            </a:r>
            <a:endParaRPr lang="en-IN" sz="1800" b="0" i="0" dirty="0">
              <a:solidFill>
                <a:srgbClr val="5C5C5C"/>
              </a:solidFill>
              <a:effectLst/>
              <a:latin typeface="Consolas" panose="020B0609020204030204" pitchFamily="49" charset="0"/>
            </a:endParaRPr>
          </a:p>
          <a:p>
            <a:pPr algn="l">
              <a:buFont typeface="+mj-lt"/>
              <a:buAutoNum type="arabicPeriod"/>
            </a:pPr>
            <a:r>
              <a:rPr lang="en-IN" sz="1800" b="0" i="0" dirty="0">
                <a:solidFill>
                  <a:srgbClr val="000000"/>
                </a:solidFill>
                <a:effectLst/>
                <a:latin typeface="Consolas" panose="020B0609020204030204" pitchFamily="49" charset="0"/>
              </a:rPr>
              <a:t>  </a:t>
            </a:r>
            <a:endParaRPr lang="en-IN" sz="1800" b="0" i="0" dirty="0">
              <a:solidFill>
                <a:srgbClr val="5C5C5C"/>
              </a:solidFill>
              <a:effectLst/>
              <a:latin typeface="Consolas" panose="020B0609020204030204" pitchFamily="49" charset="0"/>
            </a:endParaRPr>
          </a:p>
          <a:p>
            <a:pPr algn="l">
              <a:buFont typeface="+mj-lt"/>
              <a:buAutoNum type="arabicPeriod"/>
            </a:pPr>
            <a:r>
              <a:rPr lang="en-IN" sz="1800" b="0" i="0" dirty="0">
                <a:solidFill>
                  <a:srgbClr val="000000"/>
                </a:solidFill>
                <a:effectLst/>
                <a:latin typeface="Consolas" panose="020B0609020204030204" pitchFamily="49" charset="0"/>
              </a:rPr>
              <a:t>            </a:t>
            </a:r>
            <a:r>
              <a:rPr lang="en-IN" sz="1800" b="1" i="0" dirty="0">
                <a:solidFill>
                  <a:srgbClr val="006699"/>
                </a:solidFill>
                <a:effectLst/>
                <a:latin typeface="Consolas" panose="020B0609020204030204" pitchFamily="49" charset="0"/>
              </a:rPr>
              <a:t>return</a:t>
            </a:r>
            <a:r>
              <a:rPr lang="en-IN" sz="1800" b="0" i="0" dirty="0">
                <a:solidFill>
                  <a:srgbClr val="000000"/>
                </a:solidFill>
                <a:effectLst/>
                <a:latin typeface="Consolas" panose="020B0609020204030204" pitchFamily="49" charset="0"/>
              </a:rPr>
              <a:t> View();  </a:t>
            </a:r>
            <a:endParaRPr lang="en-IN" sz="1800" b="0" i="0" dirty="0">
              <a:solidFill>
                <a:srgbClr val="5C5C5C"/>
              </a:solidFill>
              <a:effectLst/>
              <a:latin typeface="Consolas" panose="020B0609020204030204" pitchFamily="49" charset="0"/>
            </a:endParaRPr>
          </a:p>
          <a:p>
            <a:pPr algn="l">
              <a:buFont typeface="+mj-lt"/>
              <a:buAutoNum type="arabicPeriod"/>
            </a:pPr>
            <a:r>
              <a:rPr lang="en-IN" sz="1800" b="0" i="0" dirty="0">
                <a:solidFill>
                  <a:srgbClr val="000000"/>
                </a:solidFill>
                <a:effectLst/>
                <a:latin typeface="Consolas" panose="020B0609020204030204" pitchFamily="49" charset="0"/>
              </a:rPr>
              <a:t>        } </a:t>
            </a:r>
            <a:endParaRPr lang="en-IN" sz="1800" b="0" i="0" dirty="0">
              <a:solidFill>
                <a:srgbClr val="5C5C5C"/>
              </a:solidFill>
              <a:effectLst/>
              <a:latin typeface="Consolas" panose="020B0609020204030204" pitchFamily="49" charset="0"/>
            </a:endParaRPr>
          </a:p>
          <a:p>
            <a:endParaRPr lang="en-IN" sz="1800" dirty="0"/>
          </a:p>
        </p:txBody>
      </p:sp>
      <p:sp>
        <p:nvSpPr>
          <p:cNvPr id="4" name="TextBox 3">
            <a:extLst>
              <a:ext uri="{FF2B5EF4-FFF2-40B4-BE49-F238E27FC236}">
                <a16:creationId xmlns:a16="http://schemas.microsoft.com/office/drawing/2014/main" id="{33AF85A9-44E3-1949-D2AF-EC5F1A488553}"/>
              </a:ext>
            </a:extLst>
          </p:cNvPr>
          <p:cNvSpPr txBox="1"/>
          <p:nvPr/>
        </p:nvSpPr>
        <p:spPr>
          <a:xfrm>
            <a:off x="5071534" y="4360504"/>
            <a:ext cx="7052733" cy="175432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b="1" dirty="0"/>
              <a:t>Index View</a:t>
            </a:r>
          </a:p>
          <a:p>
            <a:endParaRPr lang="en-IN" dirty="0"/>
          </a:p>
          <a:p>
            <a:r>
              <a:rPr lang="en-IN" dirty="0"/>
              <a:t>Value set in    session</a:t>
            </a:r>
          </a:p>
          <a:p>
            <a:r>
              <a:rPr lang="en-IN" dirty="0"/>
              <a:t>&lt;a asp-action=“About”&gt;Red Session&lt;/a&gt; </a:t>
            </a:r>
          </a:p>
          <a:p>
            <a:endParaRPr lang="en-IN" dirty="0"/>
          </a:p>
          <a:p>
            <a:endParaRPr lang="en-IN" dirty="0"/>
          </a:p>
        </p:txBody>
      </p:sp>
      <p:sp>
        <p:nvSpPr>
          <p:cNvPr id="5" name="TextBox 4">
            <a:extLst>
              <a:ext uri="{FF2B5EF4-FFF2-40B4-BE49-F238E27FC236}">
                <a16:creationId xmlns:a16="http://schemas.microsoft.com/office/drawing/2014/main" id="{DE76C7C4-0644-1E16-1983-E6FF576ED69D}"/>
              </a:ext>
            </a:extLst>
          </p:cNvPr>
          <p:cNvSpPr txBox="1"/>
          <p:nvPr/>
        </p:nvSpPr>
        <p:spPr>
          <a:xfrm>
            <a:off x="474953" y="4083505"/>
            <a:ext cx="3789243" cy="147732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b="1" dirty="0"/>
              <a:t>About View</a:t>
            </a:r>
          </a:p>
          <a:p>
            <a:r>
              <a:rPr lang="en-IN" dirty="0"/>
              <a:t>&lt;h1&gt; Welcome&lt;/h1&gt;</a:t>
            </a:r>
          </a:p>
          <a:p>
            <a:r>
              <a:rPr lang="en-IN" dirty="0"/>
              <a:t>@</a:t>
            </a:r>
            <a:r>
              <a:rPr lang="en-IN" sz="1800" b="0" i="0" dirty="0">
                <a:solidFill>
                  <a:srgbClr val="000000"/>
                </a:solidFill>
                <a:effectLst/>
                <a:latin typeface="Consolas" panose="020B0609020204030204" pitchFamily="49" charset="0"/>
              </a:rPr>
              <a:t>ViewBag.Name  </a:t>
            </a:r>
            <a:endParaRPr lang="en-IN" dirty="0"/>
          </a:p>
          <a:p>
            <a:r>
              <a:rPr lang="en-IN" dirty="0"/>
              <a:t>@</a:t>
            </a:r>
            <a:r>
              <a:rPr lang="en-IN" sz="1800" b="0" i="0" dirty="0">
                <a:solidFill>
                  <a:srgbClr val="000000"/>
                </a:solidFill>
                <a:effectLst/>
                <a:latin typeface="Consolas" panose="020B0609020204030204" pitchFamily="49" charset="0"/>
              </a:rPr>
              <a:t> </a:t>
            </a:r>
            <a:r>
              <a:rPr lang="en-IN" sz="1800" b="0" i="0" dirty="0" err="1">
                <a:solidFill>
                  <a:srgbClr val="000000"/>
                </a:solidFill>
                <a:effectLst/>
                <a:latin typeface="Consolas" panose="020B0609020204030204" pitchFamily="49" charset="0"/>
              </a:rPr>
              <a:t>ViewBag.Age</a:t>
            </a:r>
            <a:r>
              <a:rPr lang="en-IN" sz="1800" b="0" i="0" dirty="0">
                <a:solidFill>
                  <a:srgbClr val="000000"/>
                </a:solidFill>
                <a:effectLst/>
                <a:latin typeface="Consolas" panose="020B0609020204030204" pitchFamily="49" charset="0"/>
              </a:rPr>
              <a:t> </a:t>
            </a:r>
          </a:p>
          <a:p>
            <a:r>
              <a:rPr lang="en-IN" dirty="0"/>
              <a:t>@</a:t>
            </a:r>
            <a:r>
              <a:rPr lang="en-IN" sz="1800" b="0" i="0" dirty="0">
                <a:solidFill>
                  <a:srgbClr val="000000"/>
                </a:solidFill>
                <a:effectLst/>
                <a:latin typeface="Consolas" panose="020B0609020204030204" pitchFamily="49" charset="0"/>
              </a:rPr>
              <a:t> </a:t>
            </a:r>
            <a:r>
              <a:rPr lang="en-IN" sz="1800" b="0" i="0" dirty="0" err="1">
                <a:solidFill>
                  <a:srgbClr val="000000"/>
                </a:solidFill>
                <a:effectLst/>
                <a:latin typeface="Consolas" panose="020B0609020204030204" pitchFamily="49" charset="0"/>
              </a:rPr>
              <a:t>ViewData</a:t>
            </a:r>
            <a:r>
              <a:rPr lang="en-IN" sz="1800" b="0" i="0" dirty="0">
                <a:solidFill>
                  <a:srgbClr val="000000"/>
                </a:solidFill>
                <a:effectLst/>
                <a:latin typeface="Consolas" panose="020B0609020204030204" pitchFamily="49" charset="0"/>
              </a:rPr>
              <a:t>[</a:t>
            </a:r>
            <a:r>
              <a:rPr lang="en-IN" sz="1800" b="0" i="0" dirty="0">
                <a:solidFill>
                  <a:srgbClr val="0000FF"/>
                </a:solidFill>
                <a:effectLst/>
                <a:latin typeface="Consolas" panose="020B0609020204030204" pitchFamily="49" charset="0"/>
              </a:rPr>
              <a:t>"Message"</a:t>
            </a:r>
            <a:r>
              <a:rPr lang="en-IN" sz="1800" b="0" i="0" dirty="0">
                <a:solidFill>
                  <a:srgbClr val="000000"/>
                </a:solidFill>
                <a:effectLst/>
                <a:latin typeface="Consolas" panose="020B0609020204030204" pitchFamily="49" charset="0"/>
              </a:rPr>
              <a:t>] </a:t>
            </a:r>
            <a:endParaRPr lang="en-IN" dirty="0"/>
          </a:p>
        </p:txBody>
      </p:sp>
    </p:spTree>
    <p:extLst>
      <p:ext uri="{BB962C8B-B14F-4D97-AF65-F5344CB8AC3E}">
        <p14:creationId xmlns:p14="http://schemas.microsoft.com/office/powerpoint/2010/main" val="3964419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3A891-0B55-4D19-9695-1595975A5518}"/>
              </a:ext>
            </a:extLst>
          </p:cNvPr>
          <p:cNvSpPr>
            <a:spLocks noGrp="1"/>
          </p:cNvSpPr>
          <p:nvPr>
            <p:ph type="title"/>
          </p:nvPr>
        </p:nvSpPr>
        <p:spPr>
          <a:xfrm>
            <a:off x="0" y="0"/>
            <a:ext cx="5520267" cy="592667"/>
          </a:xfrm>
        </p:spPr>
        <p:style>
          <a:lnRef idx="2">
            <a:schemeClr val="accent2"/>
          </a:lnRef>
          <a:fillRef idx="1">
            <a:schemeClr val="lt1"/>
          </a:fillRef>
          <a:effectRef idx="0">
            <a:schemeClr val="accent2"/>
          </a:effectRef>
          <a:fontRef idx="minor">
            <a:schemeClr val="dk1"/>
          </a:fontRef>
        </p:style>
        <p:txBody>
          <a:bodyPr>
            <a:normAutofit fontScale="90000"/>
          </a:bodyPr>
          <a:lstStyle/>
          <a:p>
            <a:r>
              <a:rPr lang="en-IN" dirty="0"/>
              <a:t>How to configure session</a:t>
            </a:r>
          </a:p>
        </p:txBody>
      </p:sp>
      <p:sp>
        <p:nvSpPr>
          <p:cNvPr id="3" name="Content Placeholder 2">
            <a:extLst>
              <a:ext uri="{FF2B5EF4-FFF2-40B4-BE49-F238E27FC236}">
                <a16:creationId xmlns:a16="http://schemas.microsoft.com/office/drawing/2014/main" id="{11490783-D3C5-40D3-9248-A9B5300685F9}"/>
              </a:ext>
            </a:extLst>
          </p:cNvPr>
          <p:cNvSpPr>
            <a:spLocks noGrp="1"/>
          </p:cNvSpPr>
          <p:nvPr>
            <p:ph idx="1"/>
          </p:nvPr>
        </p:nvSpPr>
        <p:spPr>
          <a:xfrm>
            <a:off x="143934" y="592667"/>
            <a:ext cx="5037667" cy="1968262"/>
          </a:xfrm>
        </p:spPr>
        <p:style>
          <a:lnRef idx="2">
            <a:schemeClr val="accent2"/>
          </a:lnRef>
          <a:fillRef idx="1">
            <a:schemeClr val="lt1"/>
          </a:fillRef>
          <a:effectRef idx="0">
            <a:schemeClr val="accent2"/>
          </a:effectRef>
          <a:fontRef idx="minor">
            <a:schemeClr val="dk1"/>
          </a:fontRef>
        </p:style>
        <p:txBody>
          <a:bodyPr>
            <a:normAutofit fontScale="70000" lnSpcReduction="20000"/>
          </a:bodyPr>
          <a:lstStyle/>
          <a:p>
            <a:pPr>
              <a:buFont typeface="+mj-lt"/>
              <a:buAutoNum type="arabicPeriod"/>
            </a:pPr>
            <a:r>
              <a:rPr lang="en-IN" sz="1400" b="0" i="0" dirty="0">
                <a:solidFill>
                  <a:srgbClr val="000000"/>
                </a:solidFill>
                <a:effectLst/>
                <a:latin typeface="Consolas" panose="020B0609020204030204" pitchFamily="49" charset="0"/>
              </a:rPr>
              <a:t> </a:t>
            </a:r>
            <a:br>
              <a:rPr lang="en-IN" sz="1050" dirty="0"/>
            </a:br>
            <a:r>
              <a:rPr lang="en-IN" sz="1400" dirty="0" err="1">
                <a:solidFill>
                  <a:srgbClr val="000000"/>
                </a:solidFill>
                <a:latin typeface="Consolas" panose="020B0609020204030204" pitchFamily="49" charset="0"/>
              </a:rPr>
              <a:t>builder.Services.AddDistributedMemoryCache</a:t>
            </a:r>
            <a:r>
              <a:rPr lang="en-IN" sz="1400" dirty="0">
                <a:solidFill>
                  <a:srgbClr val="000000"/>
                </a:solidFill>
                <a:latin typeface="Consolas" panose="020B0609020204030204" pitchFamily="49" charset="0"/>
              </a:rPr>
              <a:t>(); //default setting </a:t>
            </a:r>
          </a:p>
          <a:p>
            <a:pPr algn="l">
              <a:buFont typeface="+mj-lt"/>
              <a:buAutoNum type="arabicPeriod"/>
            </a:pPr>
            <a:r>
              <a:rPr lang="en-IN" sz="1400" dirty="0">
                <a:solidFill>
                  <a:srgbClr val="000000"/>
                </a:solidFill>
                <a:latin typeface="Consolas" panose="020B0609020204030204" pitchFamily="49" charset="0"/>
              </a:rPr>
              <a:t>   </a:t>
            </a:r>
          </a:p>
          <a:p>
            <a:pPr algn="l">
              <a:buFont typeface="+mj-lt"/>
              <a:buAutoNum type="arabicPeriod"/>
            </a:pP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builder.</a:t>
            </a:r>
            <a:r>
              <a:rPr lang="en-IN" sz="1400" dirty="0" err="1">
                <a:solidFill>
                  <a:srgbClr val="000000"/>
                </a:solidFill>
                <a:latin typeface="Consolas" panose="020B0609020204030204" pitchFamily="49" charset="0"/>
              </a:rPr>
              <a:t>Services</a:t>
            </a:r>
            <a:r>
              <a:rPr lang="en-IN" sz="1400" b="0" i="0" dirty="0" err="1">
                <a:solidFill>
                  <a:srgbClr val="000000"/>
                </a:solidFill>
                <a:effectLst/>
                <a:highlight>
                  <a:srgbClr val="FFFF00"/>
                </a:highlight>
                <a:latin typeface="Consolas" panose="020B0609020204030204" pitchFamily="49" charset="0"/>
              </a:rPr>
              <a:t>.AddSession</a:t>
            </a:r>
            <a:r>
              <a:rPr lang="en-IN" sz="1400" b="0" i="0" dirty="0">
                <a:solidFill>
                  <a:srgbClr val="000000"/>
                </a:solidFill>
                <a:effectLst/>
                <a:highlight>
                  <a:srgbClr val="FFFF00"/>
                </a:highlight>
                <a:latin typeface="Consolas" panose="020B0609020204030204" pitchFamily="49" charset="0"/>
              </a:rPr>
              <a:t>(options =&gt; {  </a:t>
            </a:r>
            <a:endParaRPr lang="en-IN" sz="1400" b="0" i="0" dirty="0">
              <a:solidFill>
                <a:srgbClr val="5C5C5C"/>
              </a:solidFill>
              <a:effectLst/>
              <a:highlight>
                <a:srgbClr val="FFFF00"/>
              </a:highlight>
              <a:latin typeface="Consolas" panose="020B0609020204030204" pitchFamily="49" charset="0"/>
            </a:endParaRPr>
          </a:p>
          <a:p>
            <a:pPr algn="l">
              <a:buFont typeface="+mj-lt"/>
              <a:buAutoNum type="arabicPeriod"/>
            </a:pPr>
            <a:r>
              <a:rPr lang="en-IN" sz="1400" b="0" i="0" dirty="0">
                <a:solidFill>
                  <a:srgbClr val="000000"/>
                </a:solidFill>
                <a:effectLst/>
                <a:highlight>
                  <a:srgbClr val="FFFF00"/>
                </a:highlight>
                <a:latin typeface="Consolas" panose="020B0609020204030204" pitchFamily="49" charset="0"/>
              </a:rPr>
              <a:t>        </a:t>
            </a:r>
            <a:r>
              <a:rPr lang="en-IN" sz="1400" b="0" i="0" dirty="0" err="1">
                <a:solidFill>
                  <a:srgbClr val="000000"/>
                </a:solidFill>
                <a:effectLst/>
                <a:highlight>
                  <a:srgbClr val="FFFF00"/>
                </a:highlight>
                <a:latin typeface="Consolas" panose="020B0609020204030204" pitchFamily="49" charset="0"/>
              </a:rPr>
              <a:t>options.IdleTimeout</a:t>
            </a:r>
            <a:r>
              <a:rPr lang="en-IN" sz="1400" b="0" i="0" dirty="0">
                <a:solidFill>
                  <a:srgbClr val="000000"/>
                </a:solidFill>
                <a:effectLst/>
                <a:highlight>
                  <a:srgbClr val="FFFF00"/>
                </a:highlight>
                <a:latin typeface="Consolas" panose="020B0609020204030204" pitchFamily="49" charset="0"/>
              </a:rPr>
              <a:t> = </a:t>
            </a:r>
            <a:r>
              <a:rPr lang="en-IN" sz="1400" b="0" i="0" dirty="0" err="1">
                <a:solidFill>
                  <a:srgbClr val="000000"/>
                </a:solidFill>
                <a:effectLst/>
                <a:highlight>
                  <a:srgbClr val="FFFF00"/>
                </a:highlight>
                <a:latin typeface="Consolas" panose="020B0609020204030204" pitchFamily="49" charset="0"/>
              </a:rPr>
              <a:t>TimeSpan.FromMinutes</a:t>
            </a:r>
            <a:r>
              <a:rPr lang="en-IN" sz="1400" b="0" i="0" dirty="0">
                <a:solidFill>
                  <a:srgbClr val="000000"/>
                </a:solidFill>
                <a:effectLst/>
                <a:highlight>
                  <a:srgbClr val="FFFF00"/>
                </a:highlight>
                <a:latin typeface="Consolas" panose="020B0609020204030204" pitchFamily="49" charset="0"/>
              </a:rPr>
              <a:t>(1);</a:t>
            </a:r>
            <a:r>
              <a:rPr lang="en-IN" sz="1400" b="0" i="0" dirty="0">
                <a:solidFill>
                  <a:srgbClr val="008200"/>
                </a:solidFill>
                <a:effectLst/>
                <a:highlight>
                  <a:srgbClr val="FFFF00"/>
                </a:highlight>
                <a:latin typeface="Consolas" panose="020B0609020204030204" pitchFamily="49" charset="0"/>
              </a:rPr>
              <a:t>//You can </a:t>
            </a:r>
            <a:r>
              <a:rPr lang="en-IN" sz="1400" b="0" i="0" dirty="0">
                <a:solidFill>
                  <a:srgbClr val="008200"/>
                </a:solidFill>
                <a:effectLst/>
                <a:latin typeface="Consolas" panose="020B0609020204030204" pitchFamily="49" charset="0"/>
              </a:rPr>
              <a:t>set Time </a:t>
            </a: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services.AddMvc</a:t>
            </a: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endParaRPr lang="en-IN" sz="1000" dirty="0"/>
          </a:p>
        </p:txBody>
      </p:sp>
      <p:pic>
        <p:nvPicPr>
          <p:cNvPr id="6" name="Picture 5">
            <a:extLst>
              <a:ext uri="{FF2B5EF4-FFF2-40B4-BE49-F238E27FC236}">
                <a16:creationId xmlns:a16="http://schemas.microsoft.com/office/drawing/2014/main" id="{A59CFAD2-108E-5B57-4F3D-60F0927960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722273"/>
            <a:ext cx="5325535" cy="2472277"/>
          </a:xfrm>
          <a:prstGeom prst="rect">
            <a:avLst/>
          </a:prstGeom>
        </p:spPr>
      </p:pic>
      <p:sp>
        <p:nvSpPr>
          <p:cNvPr id="8" name="TextBox 7">
            <a:extLst>
              <a:ext uri="{FF2B5EF4-FFF2-40B4-BE49-F238E27FC236}">
                <a16:creationId xmlns:a16="http://schemas.microsoft.com/office/drawing/2014/main" id="{D443E08B-8F6F-3D07-BDCF-BD09DD2B7BD4}"/>
              </a:ext>
            </a:extLst>
          </p:cNvPr>
          <p:cNvSpPr txBox="1"/>
          <p:nvPr/>
        </p:nvSpPr>
        <p:spPr>
          <a:xfrm>
            <a:off x="5257801" y="0"/>
            <a:ext cx="6934200" cy="6001643"/>
          </a:xfrm>
          <a:prstGeom prst="rect">
            <a:avLst/>
          </a:prstGeom>
          <a:noFill/>
        </p:spPr>
        <p:txBody>
          <a:bodyPr wrap="square">
            <a:spAutoFit/>
          </a:bodyPr>
          <a:lstStyle/>
          <a:p>
            <a:pPr algn="just" fontAlgn="base"/>
            <a:r>
              <a:rPr lang="en-US" sz="1200" b="1" i="0" dirty="0" err="1">
                <a:solidFill>
                  <a:srgbClr val="000000"/>
                </a:solidFill>
                <a:effectLst/>
                <a:highlight>
                  <a:srgbClr val="FFFFFF"/>
                </a:highlight>
                <a:latin typeface="arial" panose="020B0604020202020204" pitchFamily="34" charset="0"/>
              </a:rPr>
              <a:t>IdleTimeout</a:t>
            </a:r>
            <a:r>
              <a:rPr lang="en-US" sz="1200" b="1" i="0" dirty="0">
                <a:solidFill>
                  <a:srgbClr val="000000"/>
                </a:solidFill>
                <a:effectLst/>
                <a:highlight>
                  <a:srgbClr val="FFFFFF"/>
                </a:highlight>
                <a:latin typeface="arial" panose="020B0604020202020204" pitchFamily="34" charset="0"/>
              </a:rPr>
              <a:t>: </a:t>
            </a:r>
            <a:r>
              <a:rPr lang="en-US" sz="1200" b="1" i="0" dirty="0" err="1">
                <a:solidFill>
                  <a:srgbClr val="000000"/>
                </a:solidFill>
                <a:effectLst/>
                <a:highlight>
                  <a:srgbClr val="FFFFFF"/>
                </a:highlight>
                <a:latin typeface="arial" panose="020B0604020202020204" pitchFamily="34" charset="0"/>
              </a:rPr>
              <a:t>options.IdleTimeout</a:t>
            </a:r>
            <a:r>
              <a:rPr lang="en-US" sz="1200" b="1" i="0" dirty="0">
                <a:solidFill>
                  <a:srgbClr val="000000"/>
                </a:solidFill>
                <a:effectLst/>
                <a:highlight>
                  <a:srgbClr val="FFFFFF"/>
                </a:highlight>
                <a:latin typeface="arial" panose="020B0604020202020204" pitchFamily="34" charset="0"/>
              </a:rPr>
              <a:t> = </a:t>
            </a:r>
            <a:r>
              <a:rPr lang="en-US" sz="1200" b="1" i="0" dirty="0" err="1">
                <a:solidFill>
                  <a:srgbClr val="000000"/>
                </a:solidFill>
                <a:effectLst/>
                <a:highlight>
                  <a:srgbClr val="FFFFFF"/>
                </a:highlight>
                <a:latin typeface="arial" panose="020B0604020202020204" pitchFamily="34" charset="0"/>
              </a:rPr>
              <a:t>TimeSpan.FromSeconds</a:t>
            </a:r>
            <a:r>
              <a:rPr lang="en-US" sz="1200" b="1" i="0" dirty="0">
                <a:solidFill>
                  <a:srgbClr val="000000"/>
                </a:solidFill>
                <a:effectLst/>
                <a:highlight>
                  <a:srgbClr val="FFFFFF"/>
                </a:highlight>
                <a:latin typeface="arial" panose="020B0604020202020204" pitchFamily="34" charset="0"/>
              </a:rPr>
              <a:t>(10);</a:t>
            </a:r>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It sets the duration for which the session can remain idle (no requests made by the user) before it is abandoned (i.e., removed from the server). If the user does not make a request within this time frame, the session data will be lost. This property is set to </a:t>
            </a:r>
            <a:r>
              <a:rPr lang="en-US" sz="1200" b="0" i="0" dirty="0" err="1">
                <a:solidFill>
                  <a:srgbClr val="000000"/>
                </a:solidFill>
                <a:effectLst/>
                <a:highlight>
                  <a:srgbClr val="FFFFFF"/>
                </a:highlight>
                <a:latin typeface="arial" panose="020B0604020202020204" pitchFamily="34" charset="0"/>
              </a:rPr>
              <a:t>TimeSpan.FromSeconds</a:t>
            </a:r>
            <a:r>
              <a:rPr lang="en-US" sz="1200" b="0" i="0" dirty="0">
                <a:solidFill>
                  <a:srgbClr val="000000"/>
                </a:solidFill>
                <a:effectLst/>
                <a:highlight>
                  <a:srgbClr val="FFFFFF"/>
                </a:highlight>
                <a:latin typeface="arial" panose="020B0604020202020204" pitchFamily="34" charset="0"/>
              </a:rPr>
              <a:t>(10), meaning the session will expire if no requests are made within 10 seconds. This is useful for limiting the lifespan of sessions to enhance security and reduce server load.</a:t>
            </a:r>
            <a:endParaRPr lang="en-US" sz="1200" b="0" i="0" dirty="0">
              <a:solidFill>
                <a:srgbClr val="3A3A3A"/>
              </a:solidFill>
              <a:effectLst/>
              <a:highlight>
                <a:srgbClr val="FFFFFF"/>
              </a:highlight>
              <a:latin typeface="-apple-system"/>
            </a:endParaRPr>
          </a:p>
          <a:p>
            <a:pPr algn="just" fontAlgn="base"/>
            <a:r>
              <a:rPr lang="en-US" sz="1200" b="1" i="0" dirty="0" err="1">
                <a:solidFill>
                  <a:srgbClr val="000000"/>
                </a:solidFill>
                <a:effectLst/>
                <a:highlight>
                  <a:srgbClr val="FFFFFF"/>
                </a:highlight>
                <a:latin typeface="arial" panose="020B0604020202020204" pitchFamily="34" charset="0"/>
              </a:rPr>
              <a:t>IOTimeout</a:t>
            </a:r>
            <a:r>
              <a:rPr lang="en-US" sz="1200" b="1" i="0" dirty="0">
                <a:solidFill>
                  <a:srgbClr val="000000"/>
                </a:solidFill>
                <a:effectLst/>
                <a:highlight>
                  <a:srgbClr val="FFFFFF"/>
                </a:highlight>
                <a:latin typeface="arial" panose="020B0604020202020204" pitchFamily="34" charset="0"/>
              </a:rPr>
              <a:t>: </a:t>
            </a:r>
            <a:r>
              <a:rPr lang="en-US" sz="1200" b="1" i="0" dirty="0" err="1">
                <a:solidFill>
                  <a:srgbClr val="000000"/>
                </a:solidFill>
                <a:effectLst/>
                <a:highlight>
                  <a:srgbClr val="FFFFFF"/>
                </a:highlight>
                <a:latin typeface="arial" panose="020B0604020202020204" pitchFamily="34" charset="0"/>
              </a:rPr>
              <a:t>options.IOTimeout</a:t>
            </a:r>
            <a:r>
              <a:rPr lang="en-US" sz="1200" b="1" i="0" dirty="0">
                <a:solidFill>
                  <a:srgbClr val="000000"/>
                </a:solidFill>
                <a:effectLst/>
                <a:highlight>
                  <a:srgbClr val="FFFFFF"/>
                </a:highlight>
                <a:latin typeface="arial" panose="020B0604020202020204" pitchFamily="34" charset="0"/>
              </a:rPr>
              <a:t> = </a:t>
            </a:r>
            <a:r>
              <a:rPr lang="en-US" sz="1200" b="1" i="0" dirty="0" err="1">
                <a:solidFill>
                  <a:srgbClr val="000000"/>
                </a:solidFill>
                <a:effectLst/>
                <a:highlight>
                  <a:srgbClr val="FFFFFF"/>
                </a:highlight>
                <a:latin typeface="arial" panose="020B0604020202020204" pitchFamily="34" charset="0"/>
              </a:rPr>
              <a:t>TimeSpan.FromSeconds</a:t>
            </a:r>
            <a:r>
              <a:rPr lang="en-US" sz="1200" b="1" i="0" dirty="0">
                <a:solidFill>
                  <a:srgbClr val="000000"/>
                </a:solidFill>
                <a:effectLst/>
                <a:highlight>
                  <a:srgbClr val="FFFFFF"/>
                </a:highlight>
                <a:latin typeface="arial" panose="020B0604020202020204" pitchFamily="34" charset="0"/>
              </a:rPr>
              <a:t>(10);</a:t>
            </a:r>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It sets the maximum time allowed for the session middleware for input/output operations, i.e., to load a session from the store or save it back to the store. If the session data cannot be read from or written to the store within this time frame, an exception is thrown. This is important in scenarios where quick data retrieval is essential for performance. In our example, it’s set to </a:t>
            </a:r>
            <a:r>
              <a:rPr lang="en-US" sz="1200" b="0" i="0" dirty="0" err="1">
                <a:solidFill>
                  <a:srgbClr val="000000"/>
                </a:solidFill>
                <a:effectLst/>
                <a:highlight>
                  <a:srgbClr val="FFFFFF"/>
                </a:highlight>
                <a:latin typeface="arial" panose="020B0604020202020204" pitchFamily="34" charset="0"/>
              </a:rPr>
              <a:t>TimeSpan.FromSeconds</a:t>
            </a:r>
            <a:r>
              <a:rPr lang="en-US" sz="1200" b="0" i="0" dirty="0">
                <a:solidFill>
                  <a:srgbClr val="000000"/>
                </a:solidFill>
                <a:effectLst/>
                <a:highlight>
                  <a:srgbClr val="FFFFFF"/>
                </a:highlight>
                <a:latin typeface="arial" panose="020B0604020202020204" pitchFamily="34" charset="0"/>
              </a:rPr>
              <a:t>(10), indicating that I/O operations related to session state (like reading from or writing to session) should be completed within 10 seconds.</a:t>
            </a:r>
            <a:endParaRPr lang="en-US" sz="1200" b="0" i="0" dirty="0">
              <a:solidFill>
                <a:srgbClr val="3A3A3A"/>
              </a:solidFill>
              <a:effectLst/>
              <a:highlight>
                <a:srgbClr val="FFFFFF"/>
              </a:highlight>
              <a:latin typeface="-apple-system"/>
            </a:endParaRPr>
          </a:p>
          <a:p>
            <a:pPr algn="just" fontAlgn="base"/>
            <a:r>
              <a:rPr lang="en-US" sz="1200" b="1" i="0" dirty="0" err="1">
                <a:solidFill>
                  <a:srgbClr val="000000"/>
                </a:solidFill>
                <a:effectLst/>
                <a:highlight>
                  <a:srgbClr val="FFFFFF"/>
                </a:highlight>
                <a:latin typeface="arial" panose="020B0604020202020204" pitchFamily="34" charset="0"/>
              </a:rPr>
              <a:t>Cookie.Name</a:t>
            </a:r>
            <a:r>
              <a:rPr lang="en-US" sz="1200" b="1" i="0" dirty="0">
                <a:solidFill>
                  <a:srgbClr val="000000"/>
                </a:solidFill>
                <a:effectLst/>
                <a:highlight>
                  <a:srgbClr val="FFFFFF"/>
                </a:highlight>
                <a:latin typeface="arial" panose="020B0604020202020204" pitchFamily="34" charset="0"/>
              </a:rPr>
              <a:t>: </a:t>
            </a:r>
            <a:r>
              <a:rPr lang="en-US" sz="1200" b="1" i="0" dirty="0" err="1">
                <a:solidFill>
                  <a:srgbClr val="000000"/>
                </a:solidFill>
                <a:effectLst/>
                <a:highlight>
                  <a:srgbClr val="FFFFFF"/>
                </a:highlight>
                <a:latin typeface="arial" panose="020B0604020202020204" pitchFamily="34" charset="0"/>
              </a:rPr>
              <a:t>options.Cookie.Name</a:t>
            </a:r>
            <a:r>
              <a:rPr lang="en-US" sz="1200" b="1" i="0" dirty="0">
                <a:solidFill>
                  <a:srgbClr val="000000"/>
                </a:solidFill>
                <a:effectLst/>
                <a:highlight>
                  <a:srgbClr val="FFFFFF"/>
                </a:highlight>
                <a:latin typeface="arial" panose="020B0604020202020204" pitchFamily="34" charset="0"/>
              </a:rPr>
              <a:t> = “.</a:t>
            </a:r>
            <a:r>
              <a:rPr lang="en-US" sz="1200" b="1" i="0" dirty="0" err="1">
                <a:solidFill>
                  <a:srgbClr val="000000"/>
                </a:solidFill>
                <a:effectLst/>
                <a:highlight>
                  <a:srgbClr val="FFFFFF"/>
                </a:highlight>
                <a:latin typeface="arial" panose="020B0604020202020204" pitchFamily="34" charset="0"/>
              </a:rPr>
              <a:t>MySampleMVCWeb.Session</a:t>
            </a:r>
            <a:r>
              <a:rPr lang="en-US" sz="1200" b="1" i="0" dirty="0">
                <a:solidFill>
                  <a:srgbClr val="000000"/>
                </a:solidFill>
                <a:effectLst/>
                <a:highlight>
                  <a:srgbClr val="FFFFFF"/>
                </a:highlight>
                <a:latin typeface="arial" panose="020B0604020202020204" pitchFamily="34" charset="0"/>
              </a:rPr>
              <a:t>”;</a:t>
            </a:r>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It sets the name of the cookie used to store the session ID on the client’s browser. Here, the session cookie is named “.</a:t>
            </a:r>
            <a:r>
              <a:rPr lang="en-US" sz="1200" b="0" i="0" dirty="0" err="1">
                <a:solidFill>
                  <a:srgbClr val="000000"/>
                </a:solidFill>
                <a:effectLst/>
                <a:highlight>
                  <a:srgbClr val="FFFFFF"/>
                </a:highlight>
                <a:latin typeface="arial" panose="020B0604020202020204" pitchFamily="34" charset="0"/>
              </a:rPr>
              <a:t>MySampleMVCWeb.Session</a:t>
            </a:r>
            <a:r>
              <a:rPr lang="en-US" sz="1200" b="0" i="0" dirty="0">
                <a:solidFill>
                  <a:srgbClr val="000000"/>
                </a:solidFill>
                <a:effectLst/>
                <a:highlight>
                  <a:srgbClr val="FFFFFF"/>
                </a:highlight>
                <a:latin typeface="arial" panose="020B0604020202020204" pitchFamily="34" charset="0"/>
              </a:rPr>
              <a:t>”. A specific cookie name can help differentiate your session cookies from other applications on the same domain. By default, this cookie is named “.</a:t>
            </a:r>
            <a:r>
              <a:rPr lang="en-US" sz="1200" b="0" i="0" dirty="0" err="1">
                <a:solidFill>
                  <a:srgbClr val="000000"/>
                </a:solidFill>
                <a:effectLst/>
                <a:highlight>
                  <a:srgbClr val="FFFFFF"/>
                </a:highlight>
                <a:latin typeface="arial" panose="020B0604020202020204" pitchFamily="34" charset="0"/>
              </a:rPr>
              <a:t>AspNetCore.Session</a:t>
            </a:r>
            <a:r>
              <a:rPr lang="en-US" sz="1200" b="0" i="0" dirty="0">
                <a:solidFill>
                  <a:srgbClr val="000000"/>
                </a:solidFill>
                <a:effectLst/>
                <a:highlight>
                  <a:srgbClr val="FFFFFF"/>
                </a:highlight>
                <a:latin typeface="arial" panose="020B0604020202020204" pitchFamily="34" charset="0"/>
              </a:rPr>
              <a:t>”.</a:t>
            </a:r>
            <a:endParaRPr lang="en-US" sz="1200" b="0" i="0" dirty="0">
              <a:solidFill>
                <a:srgbClr val="3A3A3A"/>
              </a:solidFill>
              <a:effectLst/>
              <a:highlight>
                <a:srgbClr val="FFFFFF"/>
              </a:highlight>
              <a:latin typeface="-apple-system"/>
            </a:endParaRPr>
          </a:p>
          <a:p>
            <a:pPr algn="just" fontAlgn="base"/>
            <a:r>
              <a:rPr lang="en-US" sz="1200" b="1" i="0" dirty="0" err="1">
                <a:solidFill>
                  <a:srgbClr val="000000"/>
                </a:solidFill>
                <a:effectLst/>
                <a:highlight>
                  <a:srgbClr val="FFFFFF"/>
                </a:highlight>
                <a:latin typeface="arial" panose="020B0604020202020204" pitchFamily="34" charset="0"/>
              </a:rPr>
              <a:t>Cookie.HttpOnly</a:t>
            </a:r>
            <a:r>
              <a:rPr lang="en-US" sz="1200" b="1" i="0" dirty="0">
                <a:solidFill>
                  <a:srgbClr val="000000"/>
                </a:solidFill>
                <a:effectLst/>
                <a:highlight>
                  <a:srgbClr val="FFFFFF"/>
                </a:highlight>
                <a:latin typeface="arial" panose="020B0604020202020204" pitchFamily="34" charset="0"/>
              </a:rPr>
              <a:t>: </a:t>
            </a:r>
            <a:r>
              <a:rPr lang="en-US" sz="1200" b="1" i="0" dirty="0" err="1">
                <a:solidFill>
                  <a:srgbClr val="000000"/>
                </a:solidFill>
                <a:effectLst/>
                <a:highlight>
                  <a:srgbClr val="FFFFFF"/>
                </a:highlight>
                <a:latin typeface="arial" panose="020B0604020202020204" pitchFamily="34" charset="0"/>
              </a:rPr>
              <a:t>options.Cookie.HttpOnly</a:t>
            </a:r>
            <a:r>
              <a:rPr lang="en-US" sz="1200" b="1" i="0" dirty="0">
                <a:solidFill>
                  <a:srgbClr val="000000"/>
                </a:solidFill>
                <a:effectLst/>
                <a:highlight>
                  <a:srgbClr val="FFFFFF"/>
                </a:highlight>
                <a:latin typeface="arial" panose="020B0604020202020204" pitchFamily="34" charset="0"/>
              </a:rPr>
              <a:t> = true;</a:t>
            </a:r>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It determines if the cookie is accessible only through HTTP (not via client-side scripts like JavaScript). When set to true, this property ensures that the cookie is accessible only to the server side and not available through client-side scripts (e.g., JavaScript). This helps prevent cross-site scripting (XSS) attacks, where unauthorized scripts try to access the cookies.</a:t>
            </a:r>
            <a:endParaRPr lang="en-US" sz="1200" b="0" i="0" dirty="0">
              <a:solidFill>
                <a:srgbClr val="3A3A3A"/>
              </a:solidFill>
              <a:effectLst/>
              <a:highlight>
                <a:srgbClr val="FFFFFF"/>
              </a:highlight>
              <a:latin typeface="-apple-system"/>
            </a:endParaRPr>
          </a:p>
          <a:p>
            <a:pPr algn="just" fontAlgn="base"/>
            <a:r>
              <a:rPr lang="en-US" sz="1200" b="1" i="0" dirty="0" err="1">
                <a:solidFill>
                  <a:srgbClr val="000000"/>
                </a:solidFill>
                <a:effectLst/>
                <a:highlight>
                  <a:srgbClr val="FFFFFF"/>
                </a:highlight>
                <a:latin typeface="arial" panose="020B0604020202020204" pitchFamily="34" charset="0"/>
              </a:rPr>
              <a:t>Cookie.IsEssential</a:t>
            </a:r>
            <a:r>
              <a:rPr lang="en-US" sz="1200" b="1" i="0" dirty="0">
                <a:solidFill>
                  <a:srgbClr val="000000"/>
                </a:solidFill>
                <a:effectLst/>
                <a:highlight>
                  <a:srgbClr val="FFFFFF"/>
                </a:highlight>
                <a:latin typeface="arial" panose="020B0604020202020204" pitchFamily="34" charset="0"/>
              </a:rPr>
              <a:t>: </a:t>
            </a:r>
            <a:r>
              <a:rPr lang="en-US" sz="1200" b="1" i="0" dirty="0" err="1">
                <a:solidFill>
                  <a:srgbClr val="000000"/>
                </a:solidFill>
                <a:effectLst/>
                <a:highlight>
                  <a:srgbClr val="FFFFFF"/>
                </a:highlight>
                <a:latin typeface="arial" panose="020B0604020202020204" pitchFamily="34" charset="0"/>
              </a:rPr>
              <a:t>options.Cookie.IsEssential</a:t>
            </a:r>
            <a:r>
              <a:rPr lang="en-US" sz="1200" b="1" i="0" dirty="0">
                <a:solidFill>
                  <a:srgbClr val="000000"/>
                </a:solidFill>
                <a:effectLst/>
                <a:highlight>
                  <a:srgbClr val="FFFFFF"/>
                </a:highlight>
                <a:latin typeface="arial" panose="020B0604020202020204" pitchFamily="34" charset="0"/>
              </a:rPr>
              <a:t> = true;</a:t>
            </a:r>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It indicates whether the cookie is essential for the application to function correctly. When set to true, the essential cookies bypass consent checks under certain privacy regulations like the GDPR. This is useful for cookies that are necessary for user sessions and authentication.</a:t>
            </a:r>
            <a:endParaRPr lang="en-US" sz="1200" b="0" i="0" dirty="0">
              <a:solidFill>
                <a:srgbClr val="3A3A3A"/>
              </a:solidFill>
              <a:effectLst/>
              <a:highlight>
                <a:srgbClr val="FFFFFF"/>
              </a:highlight>
              <a:latin typeface="-apple-system"/>
            </a:endParaRPr>
          </a:p>
          <a:p>
            <a:pPr algn="just" fontAlgn="base"/>
            <a:r>
              <a:rPr lang="en-US" sz="1200" b="1" i="0" dirty="0" err="1">
                <a:solidFill>
                  <a:srgbClr val="000000"/>
                </a:solidFill>
                <a:effectLst/>
                <a:highlight>
                  <a:srgbClr val="FFFFFF"/>
                </a:highlight>
                <a:latin typeface="arial" panose="020B0604020202020204" pitchFamily="34" charset="0"/>
              </a:rPr>
              <a:t>Cookie.Path</a:t>
            </a:r>
            <a:r>
              <a:rPr lang="en-US" sz="1200" b="1" i="0" dirty="0">
                <a:solidFill>
                  <a:srgbClr val="000000"/>
                </a:solidFill>
                <a:effectLst/>
                <a:highlight>
                  <a:srgbClr val="FFFFFF"/>
                </a:highlight>
                <a:latin typeface="arial" panose="020B0604020202020204" pitchFamily="34" charset="0"/>
              </a:rPr>
              <a:t>: </a:t>
            </a:r>
            <a:r>
              <a:rPr lang="en-US" sz="1200" b="1" i="0" dirty="0" err="1">
                <a:solidFill>
                  <a:srgbClr val="000000"/>
                </a:solidFill>
                <a:effectLst/>
                <a:highlight>
                  <a:srgbClr val="FFFFFF"/>
                </a:highlight>
                <a:latin typeface="arial" panose="020B0604020202020204" pitchFamily="34" charset="0"/>
              </a:rPr>
              <a:t>options.Cookie.Path</a:t>
            </a:r>
            <a:r>
              <a:rPr lang="en-US" sz="1200" b="1" i="0" dirty="0">
                <a:solidFill>
                  <a:srgbClr val="000000"/>
                </a:solidFill>
                <a:effectLst/>
                <a:highlight>
                  <a:srgbClr val="FFFFFF"/>
                </a:highlight>
                <a:latin typeface="arial" panose="020B0604020202020204" pitchFamily="34" charset="0"/>
              </a:rPr>
              <a:t> = “/”;</a:t>
            </a:r>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It sets the path for which the cookie is valid. By setting the path to /, the cookie is available on all pages of the application. This is the default setting, but you can restrict it to a specific part of the application if needed. For example, </a:t>
            </a:r>
            <a:r>
              <a:rPr lang="en-US" sz="1200" b="0" i="0" dirty="0" err="1">
                <a:solidFill>
                  <a:srgbClr val="000000"/>
                </a:solidFill>
                <a:effectLst/>
                <a:highlight>
                  <a:srgbClr val="FFFFFF"/>
                </a:highlight>
                <a:latin typeface="arial" panose="020B0604020202020204" pitchFamily="34" charset="0"/>
              </a:rPr>
              <a:t>options.Cookie.Path</a:t>
            </a:r>
            <a:r>
              <a:rPr lang="en-US" sz="1200" b="0" i="0" dirty="0">
                <a:solidFill>
                  <a:srgbClr val="000000"/>
                </a:solidFill>
                <a:effectLst/>
                <a:highlight>
                  <a:srgbClr val="FFFFFF"/>
                </a:highlight>
                <a:latin typeface="arial" panose="020B0604020202020204" pitchFamily="34" charset="0"/>
              </a:rPr>
              <a:t> = “/Home”; (limits the cookie to the specified path).</a:t>
            </a:r>
            <a:endParaRPr lang="en-US" sz="1200" b="0" i="0" dirty="0">
              <a:solidFill>
                <a:srgbClr val="3A3A3A"/>
              </a:solidFill>
              <a:effectLst/>
              <a:highlight>
                <a:srgbClr val="FFFFFF"/>
              </a:highlight>
              <a:latin typeface="-apple-system"/>
            </a:endParaRPr>
          </a:p>
        </p:txBody>
      </p:sp>
      <p:sp>
        <p:nvSpPr>
          <p:cNvPr id="10" name="TextBox 9">
            <a:extLst>
              <a:ext uri="{FF2B5EF4-FFF2-40B4-BE49-F238E27FC236}">
                <a16:creationId xmlns:a16="http://schemas.microsoft.com/office/drawing/2014/main" id="{4A444A28-4C0C-916C-68CD-43B5A2F4C075}"/>
              </a:ext>
            </a:extLst>
          </p:cNvPr>
          <p:cNvSpPr txBox="1"/>
          <p:nvPr/>
        </p:nvSpPr>
        <p:spPr>
          <a:xfrm>
            <a:off x="0" y="5711335"/>
            <a:ext cx="12060766" cy="938719"/>
          </a:xfrm>
          <a:prstGeom prst="rect">
            <a:avLst/>
          </a:prstGeom>
          <a:noFill/>
        </p:spPr>
        <p:txBody>
          <a:bodyPr wrap="square">
            <a:spAutoFit/>
          </a:bodyPr>
          <a:lstStyle/>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It determines under what conditions the cookie should be sent over HTTPS. Setting it to Always ensures that the cookie is only sent over HTTPS, providing additional security by preventing the cookie from being transmitted over insecure connections. The options are as follows:</a:t>
            </a:r>
            <a:endParaRPr kumimoji="0" lang="en-US" sz="1100" b="0" i="0" u="none" strike="noStrike" kern="1200" cap="none" spc="0" normalizeH="0" baseline="0" noProof="0" dirty="0">
              <a:ln>
                <a:noFill/>
              </a:ln>
              <a:solidFill>
                <a:srgbClr val="3A3A3A"/>
              </a:solidFill>
              <a:effectLst/>
              <a:highlight>
                <a:srgbClr val="FFFFFF"/>
              </a:highlight>
              <a:uLnTx/>
              <a:uFillTx/>
              <a:latin typeface="-apple-system"/>
              <a:ea typeface="+mn-ea"/>
              <a:cs typeface="+mn-cs"/>
            </a:endParaRPr>
          </a:p>
          <a:p>
            <a:pPr marL="0" marR="0" lvl="0" indent="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dirty="0" err="1">
                <a:ln>
                  <a:noFill/>
                </a:ln>
                <a:solidFill>
                  <a:srgbClr val="000000"/>
                </a:solidFill>
                <a:effectLst/>
                <a:highlight>
                  <a:srgbClr val="FFFFFF"/>
                </a:highlight>
                <a:uLnTx/>
                <a:uFillTx/>
                <a:latin typeface="arial" panose="020B0604020202020204" pitchFamily="34" charset="0"/>
                <a:ea typeface="+mn-ea"/>
                <a:cs typeface="+mn-cs"/>
              </a:rPr>
              <a:t>options.Cookie.SecurePolicy</a:t>
            </a:r>
            <a:r>
              <a:rPr kumimoji="0" lang="en-US" sz="1100" b="1"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 = </a:t>
            </a:r>
            <a:r>
              <a:rPr kumimoji="0" lang="en-US" sz="1100" b="1" i="0" u="none" strike="noStrike" kern="1200" cap="none" spc="0" normalizeH="0" baseline="0" noProof="0" dirty="0" err="1">
                <a:ln>
                  <a:noFill/>
                </a:ln>
                <a:solidFill>
                  <a:srgbClr val="000000"/>
                </a:solidFill>
                <a:effectLst/>
                <a:highlight>
                  <a:srgbClr val="FFFFFF"/>
                </a:highlight>
                <a:uLnTx/>
                <a:uFillTx/>
                <a:latin typeface="arial" panose="020B0604020202020204" pitchFamily="34" charset="0"/>
                <a:ea typeface="+mn-ea"/>
                <a:cs typeface="+mn-cs"/>
              </a:rPr>
              <a:t>CookieSecurePolicy.Always</a:t>
            </a:r>
            <a:r>
              <a:rPr kumimoji="0" lang="en-US" sz="1100" b="1"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a:t>
            </a:r>
            <a:r>
              <a:rPr kumimoji="0" lang="en-US" sz="1100" b="0"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 (cookie sent only over HTTPS).</a:t>
            </a:r>
            <a:endParaRPr kumimoji="0" lang="en-US" sz="1100" b="0" i="0" u="none" strike="noStrike" kern="1200" cap="none" spc="0" normalizeH="0" baseline="0" noProof="0" dirty="0">
              <a:ln>
                <a:noFill/>
              </a:ln>
              <a:solidFill>
                <a:srgbClr val="3A3A3A"/>
              </a:solidFill>
              <a:effectLst/>
              <a:highlight>
                <a:srgbClr val="FFFFFF"/>
              </a:highlight>
              <a:uLnTx/>
              <a:uFillTx/>
              <a:latin typeface="-apple-system"/>
              <a:ea typeface="+mn-ea"/>
              <a:cs typeface="+mn-cs"/>
            </a:endParaRPr>
          </a:p>
          <a:p>
            <a:pPr marL="0" marR="0" lvl="0" indent="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dirty="0" err="1">
                <a:ln>
                  <a:noFill/>
                </a:ln>
                <a:solidFill>
                  <a:srgbClr val="000000"/>
                </a:solidFill>
                <a:effectLst/>
                <a:highlight>
                  <a:srgbClr val="FFFFFF"/>
                </a:highlight>
                <a:uLnTx/>
                <a:uFillTx/>
                <a:latin typeface="arial" panose="020B0604020202020204" pitchFamily="34" charset="0"/>
                <a:ea typeface="+mn-ea"/>
                <a:cs typeface="+mn-cs"/>
              </a:rPr>
              <a:t>options.Cookie.SecurePolicy</a:t>
            </a:r>
            <a:r>
              <a:rPr kumimoji="0" lang="en-US" sz="1100" b="1"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 = </a:t>
            </a:r>
            <a:r>
              <a:rPr kumimoji="0" lang="en-US" sz="1100" b="1" i="0" u="none" strike="noStrike" kern="1200" cap="none" spc="0" normalizeH="0" baseline="0" noProof="0" dirty="0" err="1">
                <a:ln>
                  <a:noFill/>
                </a:ln>
                <a:solidFill>
                  <a:srgbClr val="000000"/>
                </a:solidFill>
                <a:effectLst/>
                <a:highlight>
                  <a:srgbClr val="FFFFFF"/>
                </a:highlight>
                <a:uLnTx/>
                <a:uFillTx/>
                <a:latin typeface="arial" panose="020B0604020202020204" pitchFamily="34" charset="0"/>
                <a:ea typeface="+mn-ea"/>
                <a:cs typeface="+mn-cs"/>
              </a:rPr>
              <a:t>CookieSecurePolicy.None</a:t>
            </a:r>
            <a:r>
              <a:rPr kumimoji="0" lang="en-US" sz="1100" b="1"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a:t>
            </a:r>
            <a:r>
              <a:rPr kumimoji="0" lang="en-US" sz="1100" b="0"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 (cookie sent over HTTP or HTTPS).</a:t>
            </a:r>
            <a:endParaRPr kumimoji="0" lang="en-US" sz="1100" b="0" i="0" u="none" strike="noStrike" kern="1200" cap="none" spc="0" normalizeH="0" baseline="0" noProof="0" dirty="0">
              <a:ln>
                <a:noFill/>
              </a:ln>
              <a:solidFill>
                <a:srgbClr val="3A3A3A"/>
              </a:solidFill>
              <a:effectLst/>
              <a:highlight>
                <a:srgbClr val="FFFFFF"/>
              </a:highlight>
              <a:uLnTx/>
              <a:uFillTx/>
              <a:latin typeface="-apple-system"/>
              <a:ea typeface="+mn-ea"/>
              <a:cs typeface="+mn-cs"/>
            </a:endParaRPr>
          </a:p>
          <a:p>
            <a:pPr marL="0" marR="0" lvl="0" indent="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dirty="0" err="1">
                <a:ln>
                  <a:noFill/>
                </a:ln>
                <a:solidFill>
                  <a:srgbClr val="000000"/>
                </a:solidFill>
                <a:effectLst/>
                <a:highlight>
                  <a:srgbClr val="FFFFFF"/>
                </a:highlight>
                <a:uLnTx/>
                <a:uFillTx/>
                <a:latin typeface="arial" panose="020B0604020202020204" pitchFamily="34" charset="0"/>
                <a:ea typeface="+mn-ea"/>
                <a:cs typeface="+mn-cs"/>
              </a:rPr>
              <a:t>options.Cookie.SecurePolicy</a:t>
            </a:r>
            <a:r>
              <a:rPr kumimoji="0" lang="en-US" sz="1100" b="1"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 = </a:t>
            </a:r>
            <a:r>
              <a:rPr kumimoji="0" lang="en-US" sz="1100" b="1" i="0" u="none" strike="noStrike" kern="1200" cap="none" spc="0" normalizeH="0" baseline="0" noProof="0" dirty="0" err="1">
                <a:ln>
                  <a:noFill/>
                </a:ln>
                <a:solidFill>
                  <a:srgbClr val="000000"/>
                </a:solidFill>
                <a:effectLst/>
                <a:highlight>
                  <a:srgbClr val="FFFFFF"/>
                </a:highlight>
                <a:uLnTx/>
                <a:uFillTx/>
                <a:latin typeface="arial" panose="020B0604020202020204" pitchFamily="34" charset="0"/>
                <a:ea typeface="+mn-ea"/>
                <a:cs typeface="+mn-cs"/>
              </a:rPr>
              <a:t>CookieSecurePolicy.SameAsRequest</a:t>
            </a:r>
            <a:r>
              <a:rPr kumimoji="0" lang="en-US" sz="1100" b="1"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a:t>
            </a:r>
            <a:r>
              <a:rPr kumimoji="0" lang="en-US" sz="1100" b="0"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 (cookie sent using the same protocol as the request).</a:t>
            </a:r>
            <a:endParaRPr kumimoji="0" lang="en-US" sz="1100" b="0" i="0" u="none" strike="noStrike" kern="1200" cap="none" spc="0" normalizeH="0" baseline="0" noProof="0" dirty="0">
              <a:ln>
                <a:noFill/>
              </a:ln>
              <a:solidFill>
                <a:srgbClr val="3A3A3A"/>
              </a:solidFill>
              <a:effectLst/>
              <a:highlight>
                <a:srgbClr val="FFFFFF"/>
              </a:highlight>
              <a:uLnTx/>
              <a:uFillTx/>
              <a:latin typeface="-apple-system"/>
              <a:ea typeface="+mn-ea"/>
              <a:cs typeface="+mn-cs"/>
            </a:endParaRPr>
          </a:p>
        </p:txBody>
      </p:sp>
      <p:sp>
        <p:nvSpPr>
          <p:cNvPr id="12" name="TextBox 11">
            <a:extLst>
              <a:ext uri="{FF2B5EF4-FFF2-40B4-BE49-F238E27FC236}">
                <a16:creationId xmlns:a16="http://schemas.microsoft.com/office/drawing/2014/main" id="{736FBA16-A591-9845-C192-B3B1C4AF61C2}"/>
              </a:ext>
            </a:extLst>
          </p:cNvPr>
          <p:cNvSpPr txBox="1"/>
          <p:nvPr/>
        </p:nvSpPr>
        <p:spPr>
          <a:xfrm>
            <a:off x="0" y="5194550"/>
            <a:ext cx="5418667" cy="415498"/>
          </a:xfrm>
          <a:prstGeom prst="rect">
            <a:avLst/>
          </a:prstGeom>
          <a:noFill/>
        </p:spPr>
        <p:txBody>
          <a:bodyPr wrap="square">
            <a:spAutoFit/>
          </a:bodyPr>
          <a:lstStyle/>
          <a:p>
            <a:pPr marL="0" marR="0" lvl="0" indent="0" defTabSz="914400" rtl="0" eaLnBrk="1" fontAlgn="base"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err="1">
                <a:ln>
                  <a:noFill/>
                </a:ln>
                <a:solidFill>
                  <a:srgbClr val="000000"/>
                </a:solidFill>
                <a:effectLst/>
                <a:highlight>
                  <a:srgbClr val="FFFFFF"/>
                </a:highlight>
                <a:uLnTx/>
                <a:uFillTx/>
                <a:latin typeface="arial" panose="020B0604020202020204" pitchFamily="34" charset="0"/>
                <a:ea typeface="+mn-ea"/>
                <a:cs typeface="+mn-cs"/>
              </a:rPr>
              <a:t>Cookie.SecurePolicy</a:t>
            </a:r>
            <a:r>
              <a:rPr kumimoji="0" lang="en-US" sz="1050" b="1"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 </a:t>
            </a:r>
            <a:r>
              <a:rPr kumimoji="0" lang="en-US" sz="1050" b="1" i="0" u="none" strike="noStrike" kern="1200" cap="none" spc="0" normalizeH="0" baseline="0" noProof="0" dirty="0" err="1">
                <a:ln>
                  <a:noFill/>
                </a:ln>
                <a:solidFill>
                  <a:srgbClr val="000000"/>
                </a:solidFill>
                <a:effectLst/>
                <a:highlight>
                  <a:srgbClr val="FFFFFF"/>
                </a:highlight>
                <a:uLnTx/>
                <a:uFillTx/>
                <a:latin typeface="arial" panose="020B0604020202020204" pitchFamily="34" charset="0"/>
                <a:ea typeface="+mn-ea"/>
                <a:cs typeface="+mn-cs"/>
              </a:rPr>
              <a:t>options.Cookie.SecurePolicy</a:t>
            </a:r>
            <a:r>
              <a:rPr kumimoji="0" lang="en-US" sz="1050" b="1"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  =</a:t>
            </a:r>
          </a:p>
          <a:p>
            <a:pPr marL="0" marR="0" lvl="0" indent="0" defTabSz="914400" rtl="0" eaLnBrk="1" fontAlgn="base"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err="1">
                <a:ln>
                  <a:noFill/>
                </a:ln>
                <a:solidFill>
                  <a:srgbClr val="000000"/>
                </a:solidFill>
                <a:effectLst/>
                <a:highlight>
                  <a:srgbClr val="FFFFFF"/>
                </a:highlight>
                <a:uLnTx/>
                <a:uFillTx/>
                <a:latin typeface="arial" panose="020B0604020202020204" pitchFamily="34" charset="0"/>
                <a:ea typeface="+mn-ea"/>
                <a:cs typeface="+mn-cs"/>
              </a:rPr>
              <a:t>CookieSecurePolicy</a:t>
            </a:r>
            <a:r>
              <a:rPr kumimoji="0" lang="en-US" sz="1050" b="1"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 Always;</a:t>
            </a:r>
            <a:endParaRPr kumimoji="0" lang="en-US" sz="1050" b="1" i="0" u="none" strike="noStrike" kern="1200" cap="none" spc="0" normalizeH="0" baseline="0" noProof="0" dirty="0">
              <a:ln>
                <a:noFill/>
              </a:ln>
              <a:solidFill>
                <a:srgbClr val="3A3A3A"/>
              </a:solidFill>
              <a:effectLst/>
              <a:highlight>
                <a:srgbClr val="FFFFFF"/>
              </a:highlight>
              <a:uLnTx/>
              <a:uFillTx/>
              <a:latin typeface="-apple-system"/>
              <a:ea typeface="+mn-ea"/>
              <a:cs typeface="+mn-cs"/>
            </a:endParaRPr>
          </a:p>
        </p:txBody>
      </p:sp>
    </p:spTree>
    <p:extLst>
      <p:ext uri="{BB962C8B-B14F-4D97-AF65-F5344CB8AC3E}">
        <p14:creationId xmlns:p14="http://schemas.microsoft.com/office/powerpoint/2010/main" val="188710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B757643-4DB3-44B6-87FE-878CCD335A8F}"/>
              </a:ext>
            </a:extLst>
          </p:cNvPr>
          <p:cNvSpPr txBox="1"/>
          <p:nvPr/>
        </p:nvSpPr>
        <p:spPr>
          <a:xfrm>
            <a:off x="452285" y="302359"/>
            <a:ext cx="10343534" cy="6124754"/>
          </a:xfrm>
          <a:prstGeom prst="rect">
            <a:avLst/>
          </a:prstGeom>
          <a:noFill/>
        </p:spPr>
        <p:txBody>
          <a:bodyPr wrap="square">
            <a:spAutoFit/>
          </a:bodyPr>
          <a:lstStyle/>
          <a:p>
            <a:r>
              <a:rPr lang="en-IN" sz="1400" dirty="0">
                <a:solidFill>
                  <a:srgbClr val="0000FF"/>
                </a:solidFill>
                <a:latin typeface="Consolas" panose="020B0609020204030204" pitchFamily="49" charset="0"/>
              </a:rPr>
              <a:t>if</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env.IsDevelopment</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app.UseDeveloperExceptionPage</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else</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app.UseExceptionHandler</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"/Error"</a:t>
            </a:r>
            <a:r>
              <a:rPr lang="en-IN"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t>
            </a:r>
            <a:r>
              <a:rPr lang="en-US" sz="1400" dirty="0">
                <a:solidFill>
                  <a:srgbClr val="008000"/>
                </a:solidFill>
                <a:latin typeface="Consolas" panose="020B0609020204030204" pitchFamily="49" charset="0"/>
              </a:rPr>
              <a:t>// The default HSTS value is 30 days. You may want to change this for production scenarios, see https://aka.ms/aspnetcore-hsts.</a:t>
            </a:r>
            <a:endParaRPr lang="en-US"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app.UseHsts</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p>
          <a:p>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app.UseHttpsRedirection</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app.UseStaticFiles</a:t>
            </a:r>
            <a:r>
              <a:rPr lang="en-IN" sz="1400" dirty="0">
                <a:solidFill>
                  <a:srgbClr val="000000"/>
                </a:solidFill>
                <a:latin typeface="Consolas" panose="020B0609020204030204" pitchFamily="49" charset="0"/>
              </a:rPr>
              <a:t>();</a:t>
            </a:r>
          </a:p>
          <a:p>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app.UseRouting</a:t>
            </a:r>
            <a:r>
              <a:rPr lang="en-IN" sz="1400" dirty="0">
                <a:solidFill>
                  <a:srgbClr val="000000"/>
                </a:solidFill>
                <a:latin typeface="Consolas" panose="020B0609020204030204" pitchFamily="49" charset="0"/>
              </a:rPr>
              <a:t>();</a:t>
            </a:r>
          </a:p>
          <a:p>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app.UseAuthorization</a:t>
            </a:r>
            <a:r>
              <a:rPr lang="en-IN" sz="1400" dirty="0">
                <a:solidFill>
                  <a:srgbClr val="000000"/>
                </a:solidFill>
                <a:latin typeface="Consolas" panose="020B0609020204030204" pitchFamily="49" charset="0"/>
              </a:rPr>
              <a:t>();</a:t>
            </a:r>
          </a:p>
          <a:p>
            <a:r>
              <a:rPr lang="en-IN" sz="1400" dirty="0">
                <a:solidFill>
                  <a:srgbClr val="000000"/>
                </a:solidFill>
                <a:highlight>
                  <a:srgbClr val="FFFF00"/>
                </a:highlight>
                <a:latin typeface="Consolas" panose="020B0609020204030204" pitchFamily="49" charset="0"/>
              </a:rPr>
              <a:t>            </a:t>
            </a:r>
            <a:r>
              <a:rPr lang="en-IN" sz="1400" dirty="0" err="1">
                <a:solidFill>
                  <a:srgbClr val="000000"/>
                </a:solidFill>
                <a:highlight>
                  <a:srgbClr val="FFFF00"/>
                </a:highlight>
                <a:latin typeface="Consolas" panose="020B0609020204030204" pitchFamily="49" charset="0"/>
              </a:rPr>
              <a:t>app.UseSession</a:t>
            </a:r>
            <a:r>
              <a:rPr lang="en-IN" sz="1400" dirty="0">
                <a:solidFill>
                  <a:srgbClr val="000000"/>
                </a:solidFill>
                <a:highlight>
                  <a:srgbClr val="FFFF00"/>
                </a:highlight>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app.UseEndpoints</a:t>
            </a:r>
            <a:r>
              <a:rPr lang="en-IN" sz="1400" dirty="0">
                <a:solidFill>
                  <a:srgbClr val="000000"/>
                </a:solidFill>
                <a:latin typeface="Consolas" panose="020B0609020204030204" pitchFamily="49" charset="0"/>
              </a:rPr>
              <a:t>(endpoints =&gt;</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endpoints.MapControllerRoute</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name: </a:t>
            </a:r>
            <a:r>
              <a:rPr lang="en-IN" sz="1400" dirty="0">
                <a:solidFill>
                  <a:srgbClr val="A31515"/>
                </a:solidFill>
                <a:latin typeface="Consolas" panose="020B0609020204030204" pitchFamily="49" charset="0"/>
              </a:rPr>
              <a:t>"default"</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pattern: </a:t>
            </a:r>
            <a:r>
              <a:rPr lang="en-IN" sz="1400" dirty="0">
                <a:solidFill>
                  <a:srgbClr val="A31515"/>
                </a:solidFill>
                <a:latin typeface="Consolas" panose="020B0609020204030204" pitchFamily="49" charset="0"/>
              </a:rPr>
              <a:t>"{controller=Home}/{action=Index}/{id?}"</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endpoints.MapRazorPages</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endParaRPr lang="en-IN" sz="3600" dirty="0"/>
          </a:p>
        </p:txBody>
      </p:sp>
    </p:spTree>
    <p:extLst>
      <p:ext uri="{BB962C8B-B14F-4D97-AF65-F5344CB8AC3E}">
        <p14:creationId xmlns:p14="http://schemas.microsoft.com/office/powerpoint/2010/main" val="3202217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EA143F8-0D03-45F7-85A0-B8BC160921C9}"/>
              </a:ext>
            </a:extLst>
          </p:cNvPr>
          <p:cNvSpPr txBox="1"/>
          <p:nvPr/>
        </p:nvSpPr>
        <p:spPr>
          <a:xfrm>
            <a:off x="245532" y="206945"/>
            <a:ext cx="8731319" cy="17543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fontAlgn="base"/>
            <a:r>
              <a:rPr lang="en-US" b="1" i="0" dirty="0">
                <a:solidFill>
                  <a:srgbClr val="000000"/>
                </a:solidFill>
                <a:effectLst/>
                <a:highlight>
                  <a:srgbClr val="FFFFFF"/>
                </a:highlight>
                <a:latin typeface="arial" panose="020B0604020202020204" pitchFamily="34" charset="0"/>
              </a:rPr>
              <a:t>How do you Access the Session Object in a View?</a:t>
            </a:r>
            <a:endParaRPr lang="en-US" b="1" i="0" dirty="0">
              <a:solidFill>
                <a:srgbClr val="3A3A3A"/>
              </a:solidFill>
              <a:effectLst/>
              <a:highlight>
                <a:srgbClr val="FFFFFF"/>
              </a:highlight>
              <a:latin typeface="-apple-system"/>
            </a:endParaRPr>
          </a:p>
          <a:p>
            <a:r>
              <a:rPr lang="en-US" dirty="0"/>
              <a:t>@using </a:t>
            </a:r>
            <a:r>
              <a:rPr lang="en-US" dirty="0" err="1"/>
              <a:t>Microsoft.AspNetCore.Http</a:t>
            </a:r>
            <a:r>
              <a:rPr lang="en-US" dirty="0"/>
              <a:t>;</a:t>
            </a:r>
          </a:p>
          <a:p>
            <a:endParaRPr lang="en-US" dirty="0"/>
          </a:p>
          <a:p>
            <a:r>
              <a:rPr lang="en-US" dirty="0"/>
              <a:t>then you can easily access session variables like that</a:t>
            </a:r>
          </a:p>
          <a:p>
            <a:endParaRPr lang="en-US" dirty="0"/>
          </a:p>
          <a:p>
            <a:r>
              <a:rPr lang="en-US" dirty="0"/>
              <a:t>&lt;h1&gt;@Context.Session.GetString("MySessionValue")&lt;/h1&gt;</a:t>
            </a:r>
            <a:endParaRPr lang="en-IN" dirty="0"/>
          </a:p>
        </p:txBody>
      </p:sp>
      <p:sp>
        <p:nvSpPr>
          <p:cNvPr id="3" name="TextBox 2">
            <a:extLst>
              <a:ext uri="{FF2B5EF4-FFF2-40B4-BE49-F238E27FC236}">
                <a16:creationId xmlns:a16="http://schemas.microsoft.com/office/drawing/2014/main" id="{D488F6F2-2DD3-BEDC-FFE6-A7BF23F155F7}"/>
              </a:ext>
            </a:extLst>
          </p:cNvPr>
          <p:cNvSpPr txBox="1"/>
          <p:nvPr/>
        </p:nvSpPr>
        <p:spPr>
          <a:xfrm>
            <a:off x="0" y="2136338"/>
            <a:ext cx="12014200" cy="1754326"/>
          </a:xfrm>
          <a:prstGeom prst="rect">
            <a:avLst/>
          </a:prstGeom>
          <a:noFill/>
        </p:spPr>
        <p:txBody>
          <a:bodyPr wrap="square">
            <a:spAutoFit/>
          </a:bodyPr>
          <a:lstStyle/>
          <a:p>
            <a:pPr fontAlgn="base"/>
            <a:r>
              <a:rPr lang="en-US" b="0" i="0" dirty="0">
                <a:solidFill>
                  <a:srgbClr val="000000"/>
                </a:solidFill>
                <a:effectLst/>
                <a:highlight>
                  <a:srgbClr val="FFFFFF"/>
                </a:highlight>
                <a:latin typeface="arial" panose="020B0604020202020204" pitchFamily="34" charset="0"/>
              </a:rPr>
              <a:t>To use the Session inside a View, we need to inject the </a:t>
            </a:r>
            <a:r>
              <a:rPr lang="en-US" b="1" i="0" dirty="0" err="1">
                <a:solidFill>
                  <a:srgbClr val="000000"/>
                </a:solidFill>
                <a:effectLst/>
                <a:highlight>
                  <a:srgbClr val="FFFFFF"/>
                </a:highlight>
                <a:latin typeface="arial" panose="020B0604020202020204" pitchFamily="34" charset="0"/>
              </a:rPr>
              <a:t>IHttpContextAccessor</a:t>
            </a:r>
            <a:r>
              <a:rPr lang="en-US" b="0" i="0" dirty="0">
                <a:solidFill>
                  <a:srgbClr val="000000"/>
                </a:solidFill>
                <a:effectLst/>
                <a:highlight>
                  <a:srgbClr val="FFFFFF"/>
                </a:highlight>
                <a:latin typeface="arial" panose="020B0604020202020204" pitchFamily="34" charset="0"/>
              </a:rPr>
              <a:t> object into our view and then use the </a:t>
            </a:r>
            <a:r>
              <a:rPr lang="en-US" b="0" i="0" dirty="0" err="1">
                <a:solidFill>
                  <a:srgbClr val="000000"/>
                </a:solidFill>
                <a:effectLst/>
                <a:highlight>
                  <a:srgbClr val="FFFFFF"/>
                </a:highlight>
                <a:latin typeface="arial" panose="020B0604020202020204" pitchFamily="34" charset="0"/>
              </a:rPr>
              <a:t>IHttpContextAccessor</a:t>
            </a:r>
            <a:r>
              <a:rPr lang="en-US" b="0" i="0" dirty="0">
                <a:solidFill>
                  <a:srgbClr val="000000"/>
                </a:solidFill>
                <a:effectLst/>
                <a:highlight>
                  <a:srgbClr val="FFFFFF"/>
                </a:highlight>
                <a:latin typeface="arial" panose="020B0604020202020204" pitchFamily="34" charset="0"/>
              </a:rPr>
              <a:t> object to get the </a:t>
            </a:r>
            <a:r>
              <a:rPr lang="en-US" b="0" i="0" dirty="0" err="1">
                <a:solidFill>
                  <a:srgbClr val="000000"/>
                </a:solidFill>
                <a:effectLst/>
                <a:highlight>
                  <a:srgbClr val="FFFFFF"/>
                </a:highlight>
                <a:latin typeface="arial" panose="020B0604020202020204" pitchFamily="34" charset="0"/>
              </a:rPr>
              <a:t>HttpContext</a:t>
            </a:r>
            <a:r>
              <a:rPr lang="en-US" b="0" i="0" dirty="0">
                <a:solidFill>
                  <a:srgbClr val="000000"/>
                </a:solidFill>
                <a:effectLst/>
                <a:highlight>
                  <a:srgbClr val="FFFFFF"/>
                </a:highlight>
                <a:latin typeface="arial" panose="020B0604020202020204" pitchFamily="34" charset="0"/>
              </a:rPr>
              <a:t> and Session. For this, we need to add the following two statements in our view. The first statement adds the namespace, and the second statement injects the </a:t>
            </a:r>
            <a:r>
              <a:rPr lang="en-US" b="0" i="0" dirty="0" err="1">
                <a:solidFill>
                  <a:srgbClr val="000000"/>
                </a:solidFill>
                <a:effectLst/>
                <a:highlight>
                  <a:srgbClr val="FFFFFF"/>
                </a:highlight>
                <a:latin typeface="arial" panose="020B0604020202020204" pitchFamily="34" charset="0"/>
              </a:rPr>
              <a:t>IHttpContextAccessor</a:t>
            </a:r>
            <a:r>
              <a:rPr lang="en-US" b="0" i="0" dirty="0">
                <a:solidFill>
                  <a:srgbClr val="000000"/>
                </a:solidFill>
                <a:effectLst/>
                <a:highlight>
                  <a:srgbClr val="FFFFFF"/>
                </a:highlight>
                <a:latin typeface="arial" panose="020B0604020202020204" pitchFamily="34" charset="0"/>
              </a:rPr>
              <a:t>. Using this </a:t>
            </a:r>
            <a:r>
              <a:rPr lang="en-US" b="0" i="0" dirty="0" err="1">
                <a:solidFill>
                  <a:srgbClr val="000000"/>
                </a:solidFill>
                <a:effectLst/>
                <a:highlight>
                  <a:srgbClr val="FFFFFF"/>
                </a:highlight>
                <a:latin typeface="arial" panose="020B0604020202020204" pitchFamily="34" charset="0"/>
              </a:rPr>
              <a:t>HttpContextAccessor</a:t>
            </a:r>
            <a:r>
              <a:rPr lang="en-US" b="0" i="0" dirty="0">
                <a:solidFill>
                  <a:srgbClr val="000000"/>
                </a:solidFill>
                <a:effectLst/>
                <a:highlight>
                  <a:srgbClr val="FFFFFF"/>
                </a:highlight>
                <a:latin typeface="arial" panose="020B0604020202020204" pitchFamily="34" charset="0"/>
              </a:rPr>
              <a:t>, we can access the </a:t>
            </a:r>
            <a:r>
              <a:rPr lang="en-US" b="0" i="0" dirty="0" err="1">
                <a:solidFill>
                  <a:srgbClr val="000000"/>
                </a:solidFill>
                <a:effectLst/>
                <a:highlight>
                  <a:srgbClr val="FFFFFF"/>
                </a:highlight>
                <a:latin typeface="arial" panose="020B0604020202020204" pitchFamily="34" charset="0"/>
              </a:rPr>
              <a:t>HttpContext</a:t>
            </a:r>
            <a:r>
              <a:rPr lang="en-US" b="0" i="0" dirty="0">
                <a:solidFill>
                  <a:srgbClr val="000000"/>
                </a:solidFill>
                <a:effectLst/>
                <a:highlight>
                  <a:srgbClr val="FFFFFF"/>
                </a:highlight>
                <a:latin typeface="arial" panose="020B0604020202020204" pitchFamily="34" charset="0"/>
              </a:rPr>
              <a:t> and Session object.</a:t>
            </a:r>
            <a:br>
              <a:rPr lang="en-US" b="0" i="0" dirty="0">
                <a:solidFill>
                  <a:srgbClr val="3A3A3A"/>
                </a:solidFill>
                <a:effectLst/>
                <a:highlight>
                  <a:srgbClr val="FFFFFF"/>
                </a:highlight>
                <a:latin typeface="-apple-system"/>
              </a:rPr>
            </a:br>
            <a:r>
              <a:rPr lang="en-US" b="1" i="0" dirty="0">
                <a:solidFill>
                  <a:srgbClr val="0000FF"/>
                </a:solidFill>
                <a:effectLst/>
                <a:highlight>
                  <a:srgbClr val="FFFFFF"/>
                </a:highlight>
                <a:latin typeface="arial" panose="020B0604020202020204" pitchFamily="34" charset="0"/>
              </a:rPr>
              <a:t>@using </a:t>
            </a:r>
            <a:r>
              <a:rPr lang="en-US" b="1" i="0" dirty="0" err="1">
                <a:solidFill>
                  <a:srgbClr val="0000FF"/>
                </a:solidFill>
                <a:effectLst/>
                <a:highlight>
                  <a:srgbClr val="FFFFFF"/>
                </a:highlight>
                <a:latin typeface="arial" panose="020B0604020202020204" pitchFamily="34" charset="0"/>
              </a:rPr>
              <a:t>Microsoft.AspNetCore.Http</a:t>
            </a:r>
            <a:r>
              <a:rPr lang="en-US" b="1" i="0" dirty="0">
                <a:solidFill>
                  <a:srgbClr val="0000FF"/>
                </a:solidFill>
                <a:effectLst/>
                <a:highlight>
                  <a:srgbClr val="FFFFFF"/>
                </a:highlight>
                <a:latin typeface="arial" panose="020B0604020202020204" pitchFamily="34" charset="0"/>
              </a:rPr>
              <a:t>;</a:t>
            </a:r>
            <a:br>
              <a:rPr lang="en-US" b="0" i="0" dirty="0">
                <a:solidFill>
                  <a:srgbClr val="3A3A3A"/>
                </a:solidFill>
                <a:effectLst/>
                <a:highlight>
                  <a:srgbClr val="FFFFFF"/>
                </a:highlight>
                <a:latin typeface="-apple-system"/>
              </a:rPr>
            </a:br>
            <a:r>
              <a:rPr lang="en-US" b="1" i="0" dirty="0">
                <a:solidFill>
                  <a:srgbClr val="0000FF"/>
                </a:solidFill>
                <a:effectLst/>
                <a:highlight>
                  <a:srgbClr val="FFFFFF"/>
                </a:highlight>
                <a:latin typeface="arial" panose="020B0604020202020204" pitchFamily="34" charset="0"/>
              </a:rPr>
              <a:t>@inject </a:t>
            </a:r>
            <a:r>
              <a:rPr lang="en-US" b="1" i="0" dirty="0" err="1">
                <a:solidFill>
                  <a:srgbClr val="0000FF"/>
                </a:solidFill>
                <a:effectLst/>
                <a:highlight>
                  <a:srgbClr val="FFFFFF"/>
                </a:highlight>
                <a:latin typeface="arial" panose="020B0604020202020204" pitchFamily="34" charset="0"/>
              </a:rPr>
              <a:t>IHttpContextAccessor</a:t>
            </a:r>
            <a:r>
              <a:rPr lang="en-US" b="1" i="0" dirty="0">
                <a:solidFill>
                  <a:srgbClr val="0000FF"/>
                </a:solidFill>
                <a:effectLst/>
                <a:highlight>
                  <a:srgbClr val="FFFFFF"/>
                </a:highlight>
                <a:latin typeface="arial" panose="020B0604020202020204" pitchFamily="34" charset="0"/>
              </a:rPr>
              <a:t> </a:t>
            </a:r>
            <a:r>
              <a:rPr lang="en-US" b="1" i="0" dirty="0" err="1">
                <a:solidFill>
                  <a:srgbClr val="0000FF"/>
                </a:solidFill>
                <a:effectLst/>
                <a:highlight>
                  <a:srgbClr val="FFFFFF"/>
                </a:highlight>
                <a:latin typeface="arial" panose="020B0604020202020204" pitchFamily="34" charset="0"/>
              </a:rPr>
              <a:t>HttpContextAccessor</a:t>
            </a:r>
            <a:endParaRPr lang="en-US" b="0" i="0" dirty="0">
              <a:solidFill>
                <a:srgbClr val="3A3A3A"/>
              </a:solidFill>
              <a:effectLst/>
              <a:highlight>
                <a:srgbClr val="FFFFFF"/>
              </a:highlight>
              <a:latin typeface="-apple-system"/>
            </a:endParaRPr>
          </a:p>
        </p:txBody>
      </p:sp>
      <p:sp>
        <p:nvSpPr>
          <p:cNvPr id="5" name="TextBox 4">
            <a:extLst>
              <a:ext uri="{FF2B5EF4-FFF2-40B4-BE49-F238E27FC236}">
                <a16:creationId xmlns:a16="http://schemas.microsoft.com/office/drawing/2014/main" id="{30FA4CF1-BDC4-FD32-2E6C-8FD7BE4F23B3}"/>
              </a:ext>
            </a:extLst>
          </p:cNvPr>
          <p:cNvSpPr txBox="1"/>
          <p:nvPr/>
        </p:nvSpPr>
        <p:spPr>
          <a:xfrm>
            <a:off x="177800" y="3895128"/>
            <a:ext cx="7433733" cy="224676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400" dirty="0"/>
              <a:t>@using </a:t>
            </a:r>
            <a:r>
              <a:rPr lang="en-IN" sz="1400" dirty="0" err="1"/>
              <a:t>Microsoft.AspNetCore.Http</a:t>
            </a:r>
            <a:r>
              <a:rPr lang="en-IN" sz="1400" dirty="0"/>
              <a:t>;</a:t>
            </a:r>
          </a:p>
          <a:p>
            <a:r>
              <a:rPr lang="en-IN" sz="1400" dirty="0"/>
              <a:t>@inject </a:t>
            </a:r>
            <a:r>
              <a:rPr lang="en-IN" sz="1400" dirty="0" err="1"/>
              <a:t>IHttpContextAccessor</a:t>
            </a:r>
            <a:r>
              <a:rPr lang="en-IN" sz="1400" dirty="0"/>
              <a:t> </a:t>
            </a:r>
            <a:r>
              <a:rPr lang="en-IN" sz="1400" dirty="0" err="1"/>
              <a:t>HttpContextAccessor</a:t>
            </a:r>
            <a:endParaRPr lang="en-IN" sz="1400" dirty="0"/>
          </a:p>
          <a:p>
            <a:r>
              <a:rPr lang="en-IN" sz="1400" dirty="0"/>
              <a:t>@{</a:t>
            </a:r>
          </a:p>
          <a:p>
            <a:r>
              <a:rPr lang="en-IN" sz="1400" dirty="0"/>
              <a:t>    </a:t>
            </a:r>
            <a:r>
              <a:rPr lang="en-IN" sz="1400" dirty="0" err="1"/>
              <a:t>ViewData</a:t>
            </a:r>
            <a:r>
              <a:rPr lang="en-IN" sz="1400" dirty="0"/>
              <a:t>["Title"] = "Home Page";</a:t>
            </a:r>
          </a:p>
          <a:p>
            <a:r>
              <a:rPr lang="en-IN" sz="1400" dirty="0"/>
              <a:t>}</a:t>
            </a:r>
          </a:p>
          <a:p>
            <a:r>
              <a:rPr lang="en-IN" sz="1400" dirty="0"/>
              <a:t>&lt;div class="text-left"&gt;</a:t>
            </a:r>
          </a:p>
          <a:p>
            <a:r>
              <a:rPr lang="en-IN" sz="1400" dirty="0"/>
              <a:t>    &lt;b&gt;User Name:&lt;/b&gt; @HttpContextAccessor?.HttpContext?.Session.GetString("_UserName")</a:t>
            </a:r>
          </a:p>
          <a:p>
            <a:r>
              <a:rPr lang="en-IN" sz="1400" dirty="0"/>
              <a:t>    &lt;</a:t>
            </a:r>
            <a:r>
              <a:rPr lang="en-IN" sz="1400" dirty="0" err="1"/>
              <a:t>br</a:t>
            </a:r>
            <a:r>
              <a:rPr lang="en-IN" sz="1400" dirty="0"/>
              <a:t> /&gt;</a:t>
            </a:r>
          </a:p>
          <a:p>
            <a:r>
              <a:rPr lang="en-IN" sz="1400" dirty="0"/>
              <a:t>    &lt;b&gt;User Id:&lt;/b&gt; @HttpContextAccessor?.HttpContext?.Session.GetInt32("_UserId")</a:t>
            </a:r>
          </a:p>
          <a:p>
            <a:r>
              <a:rPr lang="en-IN" sz="1400" dirty="0"/>
              <a:t>&lt;/div&gt;</a:t>
            </a:r>
          </a:p>
        </p:txBody>
      </p:sp>
      <p:sp>
        <p:nvSpPr>
          <p:cNvPr id="7" name="TextBox 6">
            <a:extLst>
              <a:ext uri="{FF2B5EF4-FFF2-40B4-BE49-F238E27FC236}">
                <a16:creationId xmlns:a16="http://schemas.microsoft.com/office/drawing/2014/main" id="{828AE9E2-4124-9877-F8F3-CB9E0167A26E}"/>
              </a:ext>
            </a:extLst>
          </p:cNvPr>
          <p:cNvSpPr txBox="1"/>
          <p:nvPr/>
        </p:nvSpPr>
        <p:spPr>
          <a:xfrm>
            <a:off x="7890934" y="3276600"/>
            <a:ext cx="3886200" cy="2462213"/>
          </a:xfrm>
          <a:prstGeom prst="rect">
            <a:avLst/>
          </a:prstGeom>
          <a:noFill/>
        </p:spPr>
        <p:txBody>
          <a:bodyPr wrap="square" rtlCol="0">
            <a:spAutoFit/>
          </a:bodyPr>
          <a:lstStyle/>
          <a:p>
            <a:r>
              <a:rPr lang="en-IN" b="1" dirty="0"/>
              <a:t>Do not forget</a:t>
            </a:r>
          </a:p>
          <a:p>
            <a:endParaRPr lang="en-IN" sz="1600" dirty="0"/>
          </a:p>
          <a:p>
            <a:pPr algn="just" fontAlgn="base"/>
            <a:r>
              <a:rPr lang="en-IN" sz="1600" b="0" i="0" dirty="0">
                <a:solidFill>
                  <a:srgbClr val="000000"/>
                </a:solidFill>
                <a:effectLst/>
                <a:highlight>
                  <a:srgbClr val="FFFFFF"/>
                </a:highlight>
                <a:latin typeface="arial" panose="020B0604020202020204" pitchFamily="34" charset="0"/>
              </a:rPr>
              <a:t> </a:t>
            </a:r>
            <a:r>
              <a:rPr lang="en-IN" sz="1600" b="0" i="0" dirty="0" err="1">
                <a:solidFill>
                  <a:srgbClr val="000000"/>
                </a:solidFill>
                <a:effectLst/>
                <a:highlight>
                  <a:srgbClr val="FFFFFF"/>
                </a:highlight>
                <a:latin typeface="arial" panose="020B0604020202020204" pitchFamily="34" charset="0"/>
              </a:rPr>
              <a:t>HttpContextAccessor</a:t>
            </a:r>
            <a:r>
              <a:rPr lang="en-IN" sz="1600" b="0" i="0" dirty="0">
                <a:solidFill>
                  <a:srgbClr val="000000"/>
                </a:solidFill>
                <a:effectLst/>
                <a:highlight>
                  <a:srgbClr val="FFFFFF"/>
                </a:highlight>
                <a:latin typeface="arial" panose="020B0604020202020204" pitchFamily="34" charset="0"/>
              </a:rPr>
              <a:t> service within the </a:t>
            </a:r>
            <a:r>
              <a:rPr lang="en-IN" sz="1600" b="1" i="0" dirty="0">
                <a:solidFill>
                  <a:srgbClr val="000000"/>
                </a:solidFill>
                <a:effectLst/>
                <a:highlight>
                  <a:srgbClr val="FFFFFF"/>
                </a:highlight>
                <a:latin typeface="arial" panose="020B0604020202020204" pitchFamily="34" charset="0"/>
              </a:rPr>
              <a:t>Program class’s main </a:t>
            </a:r>
            <a:r>
              <a:rPr lang="en-IN" sz="1600" b="0" i="0" dirty="0">
                <a:solidFill>
                  <a:srgbClr val="000000"/>
                </a:solidFill>
                <a:effectLst/>
                <a:highlight>
                  <a:srgbClr val="FFFFFF"/>
                </a:highlight>
                <a:latin typeface="arial" panose="020B0604020202020204" pitchFamily="34" charset="0"/>
              </a:rPr>
              <a:t>method. </a:t>
            </a:r>
          </a:p>
          <a:p>
            <a:pPr algn="just" fontAlgn="base"/>
            <a:endParaRPr lang="en-IN" sz="1600" b="0" i="0" dirty="0">
              <a:solidFill>
                <a:srgbClr val="3A3A3A"/>
              </a:solidFill>
              <a:effectLst/>
              <a:highlight>
                <a:srgbClr val="FFFFFF"/>
              </a:highlight>
              <a:latin typeface="-apple-system"/>
            </a:endParaRPr>
          </a:p>
          <a:p>
            <a:pPr algn="just" fontAlgn="base"/>
            <a:r>
              <a:rPr lang="en-IN" b="1" i="0" dirty="0" err="1">
                <a:solidFill>
                  <a:srgbClr val="0000FF"/>
                </a:solidFill>
                <a:effectLst/>
                <a:highlight>
                  <a:srgbClr val="FFFFFF"/>
                </a:highlight>
                <a:latin typeface="arial" panose="020B0604020202020204" pitchFamily="34" charset="0"/>
              </a:rPr>
              <a:t>builder.Services.AddSingleton</a:t>
            </a:r>
            <a:r>
              <a:rPr lang="en-IN" b="1" i="0" dirty="0">
                <a:solidFill>
                  <a:srgbClr val="0000FF"/>
                </a:solidFill>
                <a:effectLst/>
                <a:highlight>
                  <a:srgbClr val="FFFFFF"/>
                </a:highlight>
                <a:latin typeface="arial" panose="020B0604020202020204" pitchFamily="34" charset="0"/>
              </a:rPr>
              <a:t>&lt;</a:t>
            </a:r>
            <a:r>
              <a:rPr lang="en-IN" b="1" i="0" dirty="0" err="1">
                <a:solidFill>
                  <a:srgbClr val="0000FF"/>
                </a:solidFill>
                <a:effectLst/>
                <a:highlight>
                  <a:srgbClr val="FFFFFF"/>
                </a:highlight>
                <a:latin typeface="arial" panose="020B0604020202020204" pitchFamily="34" charset="0"/>
              </a:rPr>
              <a:t>IHttpContextAccessor</a:t>
            </a:r>
            <a:r>
              <a:rPr lang="en-IN" b="1" i="0" dirty="0">
                <a:solidFill>
                  <a:srgbClr val="0000FF"/>
                </a:solidFill>
                <a:effectLst/>
                <a:highlight>
                  <a:srgbClr val="FFFFFF"/>
                </a:highlight>
                <a:latin typeface="arial" panose="020B0604020202020204" pitchFamily="34" charset="0"/>
              </a:rPr>
              <a:t>, </a:t>
            </a:r>
            <a:r>
              <a:rPr lang="en-IN" b="1" i="0" dirty="0" err="1">
                <a:solidFill>
                  <a:srgbClr val="0000FF"/>
                </a:solidFill>
                <a:effectLst/>
                <a:highlight>
                  <a:srgbClr val="FFFFFF"/>
                </a:highlight>
                <a:latin typeface="arial" panose="020B0604020202020204" pitchFamily="34" charset="0"/>
              </a:rPr>
              <a:t>HttpContextAccessor</a:t>
            </a:r>
            <a:r>
              <a:rPr lang="en-IN" b="1" i="0" dirty="0">
                <a:solidFill>
                  <a:srgbClr val="0000FF"/>
                </a:solidFill>
                <a:effectLst/>
                <a:highlight>
                  <a:srgbClr val="FFFFFF"/>
                </a:highlight>
                <a:latin typeface="arial" panose="020B0604020202020204" pitchFamily="34" charset="0"/>
              </a:rPr>
              <a:t>&gt;();</a:t>
            </a:r>
            <a:endParaRPr lang="en-IN" b="0" i="0" dirty="0">
              <a:solidFill>
                <a:srgbClr val="3A3A3A"/>
              </a:solidFill>
              <a:effectLst/>
              <a:highlight>
                <a:srgbClr val="FFFFFF"/>
              </a:highlight>
              <a:latin typeface="-apple-system"/>
            </a:endParaRPr>
          </a:p>
          <a:p>
            <a:endParaRPr lang="en-IN" dirty="0"/>
          </a:p>
        </p:txBody>
      </p:sp>
    </p:spTree>
    <p:extLst>
      <p:ext uri="{BB962C8B-B14F-4D97-AF65-F5344CB8AC3E}">
        <p14:creationId xmlns:p14="http://schemas.microsoft.com/office/powerpoint/2010/main" val="3764977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694921-98AE-B9C4-9FF8-55A6B95F754C}"/>
              </a:ext>
            </a:extLst>
          </p:cNvPr>
          <p:cNvSpPr txBox="1"/>
          <p:nvPr/>
        </p:nvSpPr>
        <p:spPr>
          <a:xfrm>
            <a:off x="0" y="0"/>
            <a:ext cx="6094428" cy="7540526"/>
          </a:xfrm>
          <a:prstGeom prst="rect">
            <a:avLst/>
          </a:prstGeom>
          <a:noFill/>
        </p:spPr>
        <p:txBody>
          <a:bodyPr wrap="square">
            <a:spAutoFit/>
          </a:bodyPr>
          <a:lstStyle/>
          <a:p>
            <a:r>
              <a:rPr lang="en-IN" sz="800" dirty="0">
                <a:solidFill>
                  <a:srgbClr val="0000FF"/>
                </a:solidFill>
                <a:latin typeface="Cascadia Mono" panose="020B0609020000020004" pitchFamily="49" charset="0"/>
              </a:rPr>
              <a:t>using</a:t>
            </a:r>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Microsoft.AspNetCore.Mvc</a:t>
            </a:r>
            <a:r>
              <a:rPr lang="en-IN" sz="800" dirty="0">
                <a:solidFill>
                  <a:srgbClr val="000000"/>
                </a:solidFill>
                <a:latin typeface="Cascadia Mono" panose="020B0609020000020004" pitchFamily="49" charset="0"/>
              </a:rPr>
              <a:t>;</a:t>
            </a:r>
          </a:p>
          <a:p>
            <a:r>
              <a:rPr lang="en-IN" sz="800" dirty="0">
                <a:solidFill>
                  <a:srgbClr val="0000FF"/>
                </a:solidFill>
                <a:latin typeface="Cascadia Mono" panose="020B0609020000020004" pitchFamily="49" charset="0"/>
              </a:rPr>
              <a:t>using</a:t>
            </a:r>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WebAppCookieslogin.Models</a:t>
            </a:r>
            <a:r>
              <a:rPr lang="en-IN" sz="8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WebAppCookieslogin.Controllers</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SessionController</a:t>
            </a:r>
            <a:r>
              <a:rPr lang="en-IN" sz="900" dirty="0">
                <a:solidFill>
                  <a:srgbClr val="000000"/>
                </a:solidFill>
                <a:latin typeface="Cascadia Mono" panose="020B0609020000020004" pitchFamily="49" charset="0"/>
              </a:rPr>
              <a:t> : Controller</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const</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string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SessionName</a:t>
            </a:r>
            <a:r>
              <a:rPr lang="en-IN" sz="900" dirty="0">
                <a:solidFill>
                  <a:srgbClr val="000000"/>
                </a:solidFill>
                <a:latin typeface="Cascadia Mono" panose="020B0609020000020004" pitchFamily="49" charset="0"/>
              </a:rPr>
              <a:t> = </a:t>
            </a:r>
            <a:r>
              <a:rPr lang="en-IN" sz="900" dirty="0">
                <a:solidFill>
                  <a:srgbClr val="A31515"/>
                </a:solidFill>
                <a:latin typeface="Cascadia Mono" panose="020B0609020000020004" pitchFamily="49" charset="0"/>
              </a:rPr>
              <a:t>"_Name"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const</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string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SessionAge</a:t>
            </a:r>
            <a:r>
              <a:rPr lang="en-IN" sz="900" dirty="0">
                <a:solidFill>
                  <a:srgbClr val="000000"/>
                </a:solidFill>
                <a:latin typeface="Cascadia Mono" panose="020B0609020000020004" pitchFamily="49" charset="0"/>
              </a:rPr>
              <a:t> = </a:t>
            </a:r>
            <a:r>
              <a:rPr lang="en-IN" sz="900" dirty="0">
                <a:solidFill>
                  <a:srgbClr val="A31515"/>
                </a:solidFill>
                <a:latin typeface="Cascadia Mono" panose="020B0609020000020004" pitchFamily="49" charset="0"/>
              </a:rPr>
              <a:t>"_Age"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IActionResult</a:t>
            </a:r>
            <a:r>
              <a:rPr lang="en-IN" sz="900" dirty="0">
                <a:solidFill>
                  <a:srgbClr val="000000"/>
                </a:solidFill>
                <a:latin typeface="Cascadia Mono" panose="020B0609020000020004" pitchFamily="49" charset="0"/>
              </a:rPr>
              <a:t> Index()</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HttpContext.Session.GetString</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SessionName</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ViewBag.Name</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HttpContext.Session.GetString</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SessionName</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ViewBag.Age</a:t>
            </a:r>
            <a:r>
              <a:rPr lang="en-IN" sz="900" dirty="0">
                <a:solidFill>
                  <a:srgbClr val="000000"/>
                </a:solidFill>
                <a:latin typeface="Cascadia Mono" panose="020B0609020000020004" pitchFamily="49" charset="0"/>
              </a:rPr>
              <a:t> = HttpContext.Session.GetInt32(</a:t>
            </a:r>
            <a:r>
              <a:rPr lang="en-IN" sz="900" dirty="0" err="1">
                <a:solidFill>
                  <a:srgbClr val="000000"/>
                </a:solidFill>
                <a:latin typeface="Cascadia Mono" panose="020B0609020000020004" pitchFamily="49" charset="0"/>
              </a:rPr>
              <a:t>SessionAge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ViewData</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"Message"</a:t>
            </a:r>
            <a:r>
              <a:rPr lang="en-IN" sz="900" dirty="0">
                <a:solidFill>
                  <a:srgbClr val="000000"/>
                </a:solidFill>
                <a:latin typeface="Cascadia Mono" panose="020B0609020000020004" pitchFamily="49" charset="0"/>
              </a:rPr>
              <a:t>] = </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Asp.Net</a:t>
            </a:r>
            <a:r>
              <a:rPr lang="en-IN" sz="900" dirty="0">
                <a:solidFill>
                  <a:srgbClr val="A31515"/>
                </a:solidFill>
                <a:latin typeface="Cascadia Mono" panose="020B0609020000020004" pitchFamily="49" charset="0"/>
              </a:rPr>
              <a:t> Core !!!."</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View();</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RedirectToAction</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"Create"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GET: </a:t>
            </a:r>
            <a:r>
              <a:rPr lang="en-IN" sz="900" dirty="0" err="1">
                <a:solidFill>
                  <a:srgbClr val="008000"/>
                </a:solidFill>
                <a:latin typeface="Cascadia Mono" panose="020B0609020000020004" pitchFamily="49" charset="0"/>
              </a:rPr>
              <a:t>UserLoginController</a:t>
            </a:r>
            <a:r>
              <a:rPr lang="en-IN" sz="900" dirty="0">
                <a:solidFill>
                  <a:srgbClr val="008000"/>
                </a:solidFill>
                <a:latin typeface="Cascadia Mono" panose="020B0609020000020004" pitchFamily="49" charset="0"/>
              </a:rPr>
              <a:t>/Create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ActionResult</a:t>
            </a:r>
            <a:r>
              <a:rPr lang="en-IN" sz="900" dirty="0">
                <a:solidFill>
                  <a:srgbClr val="000000"/>
                </a:solidFill>
                <a:latin typeface="Cascadia Mono" panose="020B0609020000020004" pitchFamily="49" charset="0"/>
              </a:rPr>
              <a:t> Create()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View();</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POST: </a:t>
            </a:r>
            <a:r>
              <a:rPr lang="en-IN" sz="900" dirty="0" err="1">
                <a:solidFill>
                  <a:srgbClr val="008000"/>
                </a:solidFill>
                <a:latin typeface="Cascadia Mono" panose="020B0609020000020004" pitchFamily="49" charset="0"/>
              </a:rPr>
              <a:t>UserLoginController</a:t>
            </a:r>
            <a:r>
              <a:rPr lang="en-IN" sz="900" dirty="0">
                <a:solidFill>
                  <a:srgbClr val="008000"/>
                </a:solidFill>
                <a:latin typeface="Cascadia Mono" panose="020B0609020000020004" pitchFamily="49" charset="0"/>
              </a:rPr>
              <a:t>/Create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HttpPost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ValidateAntiForgeryToken</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ActionResult</a:t>
            </a:r>
            <a:r>
              <a:rPr lang="en-US" sz="900" dirty="0">
                <a:solidFill>
                  <a:srgbClr val="000000"/>
                </a:solidFill>
                <a:latin typeface="Cascadia Mono" panose="020B0609020000020004" pitchFamily="49" charset="0"/>
              </a:rPr>
              <a:t> Create(</a:t>
            </a:r>
            <a:r>
              <a:rPr lang="en-US" sz="900" dirty="0" err="1">
                <a:solidFill>
                  <a:srgbClr val="000000"/>
                </a:solidFill>
                <a:latin typeface="Cascadia Mono" panose="020B0609020000020004" pitchFamily="49" charset="0"/>
              </a:rPr>
              <a:t>UserLogin</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Userdata</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try</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ModelState.IsValid</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HttpContext.Session.SetString</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SessionName</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Userdata.Email</a:t>
            </a:r>
            <a:r>
              <a:rPr lang="en-US" sz="900" dirty="0">
                <a:solidFill>
                  <a:srgbClr val="000000"/>
                </a:solidFill>
                <a:latin typeface="Cascadia Mono" panose="020B0609020000020004" pitchFamily="49" charset="0"/>
              </a:rPr>
              <a:t>);</a:t>
            </a:r>
          </a:p>
          <a:p>
            <a:r>
              <a:rPr lang="fr-FR" sz="900" dirty="0">
                <a:solidFill>
                  <a:srgbClr val="000000"/>
                </a:solidFill>
                <a:latin typeface="Cascadia Mono" panose="020B0609020000020004" pitchFamily="49" charset="0"/>
              </a:rPr>
              <a:t>                    HttpContext.Session.SetInt32(SessionAge,24);</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RedirectToAction</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nameof</a:t>
            </a:r>
            <a:r>
              <a:rPr lang="en-IN" sz="900" dirty="0">
                <a:solidFill>
                  <a:srgbClr val="000000"/>
                </a:solidFill>
                <a:latin typeface="Cascadia Mono" panose="020B0609020000020004" pitchFamily="49" charset="0"/>
              </a:rPr>
              <a:t>(Index));</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catch</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View();</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HttpPost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ActionResult</a:t>
            </a:r>
            <a:r>
              <a:rPr lang="en-IN" sz="900" dirty="0">
                <a:solidFill>
                  <a:srgbClr val="000000"/>
                </a:solidFill>
                <a:latin typeface="Cascadia Mono" panose="020B0609020000020004" pitchFamily="49" charset="0"/>
              </a:rPr>
              <a:t> Delete()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HttpContext.Session.Remove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SessionName</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View();</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p>
        </p:txBody>
      </p:sp>
      <p:sp>
        <p:nvSpPr>
          <p:cNvPr id="2" name="Rectangle 1"/>
          <p:cNvSpPr/>
          <p:nvPr/>
        </p:nvSpPr>
        <p:spPr>
          <a:xfrm>
            <a:off x="6280727" y="159803"/>
            <a:ext cx="6096000" cy="1938992"/>
          </a:xfrm>
          <a:prstGeom prst="rect">
            <a:avLst/>
          </a:prstGeom>
        </p:spPr>
        <p:txBody>
          <a:bodyPr>
            <a:spAutoFit/>
          </a:bodyPr>
          <a:lstStyle/>
          <a:p>
            <a:r>
              <a:rPr lang="en-IN" sz="1200" dirty="0">
                <a:solidFill>
                  <a:srgbClr val="0000FF"/>
                </a:solidFill>
                <a:latin typeface="Cascadia Mono" panose="020B0609020000020004" pitchFamily="49" charset="0"/>
              </a:rPr>
              <a:t>namespace</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MVCSession_Cookie.Models</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class</a:t>
            </a:r>
            <a:r>
              <a:rPr lang="en-IN" sz="1200" dirty="0">
                <a:solidFill>
                  <a:srgbClr val="000000"/>
                </a:solidFill>
                <a:latin typeface="Cascadia Mono" panose="020B0609020000020004" pitchFamily="49" charset="0"/>
              </a:rPr>
              <a:t> </a:t>
            </a:r>
            <a:r>
              <a:rPr lang="en-IN" sz="1200" dirty="0" err="1">
                <a:solidFill>
                  <a:srgbClr val="2B91AF"/>
                </a:solidFill>
                <a:latin typeface="Cascadia Mono" panose="020B0609020000020004" pitchFamily="49" charset="0"/>
              </a:rPr>
              <a:t>UserLogin</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Email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Password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err="1">
                <a:solidFill>
                  <a:srgbClr val="0000FF"/>
                </a:solidFill>
                <a:latin typeface="Cascadia Mono" panose="020B0609020000020004" pitchFamily="49" charset="0"/>
              </a:rPr>
              <a:t>bool</a:t>
            </a:r>
            <a:r>
              <a:rPr lang="en-US" sz="1200" dirty="0">
                <a:solidFill>
                  <a:srgbClr val="000000"/>
                </a:solidFill>
                <a:latin typeface="Cascadia Mono" panose="020B0609020000020004" pitchFamily="49" charset="0"/>
              </a:rPr>
              <a:t> Remember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a:t>
            </a:r>
          </a:p>
        </p:txBody>
      </p:sp>
      <p:sp>
        <p:nvSpPr>
          <p:cNvPr id="3" name="TextBox 2"/>
          <p:cNvSpPr txBox="1"/>
          <p:nvPr/>
        </p:nvSpPr>
        <p:spPr>
          <a:xfrm>
            <a:off x="5837382" y="2678545"/>
            <a:ext cx="6650182" cy="3693319"/>
          </a:xfrm>
          <a:prstGeom prst="rect">
            <a:avLst/>
          </a:prstGeom>
          <a:noFill/>
        </p:spPr>
        <p:txBody>
          <a:bodyPr wrap="square" rtlCol="0">
            <a:spAutoFit/>
          </a:bodyPr>
          <a:lstStyle/>
          <a:p>
            <a:r>
              <a:rPr lang="en-IN" dirty="0"/>
              <a:t>When User Logged in</a:t>
            </a:r>
          </a:p>
          <a:p>
            <a:r>
              <a:rPr lang="en-IN" dirty="0"/>
              <a:t> we store Email and  age 24</a:t>
            </a:r>
          </a:p>
          <a:p>
            <a:r>
              <a:rPr lang="en-IN" dirty="0"/>
              <a:t> in session</a:t>
            </a:r>
          </a:p>
          <a:p>
            <a:r>
              <a:rPr lang="en-IN" dirty="0"/>
              <a:t>After this user will be sent to index page </a:t>
            </a:r>
          </a:p>
          <a:p>
            <a:r>
              <a:rPr lang="en-IN" dirty="0"/>
              <a:t>Where you have created Delete button</a:t>
            </a:r>
          </a:p>
          <a:p>
            <a:r>
              <a:rPr lang="en-IN" dirty="0"/>
              <a:t>Which will call delete action method</a:t>
            </a:r>
          </a:p>
          <a:p>
            <a:endParaRPr lang="en-IN" dirty="0"/>
          </a:p>
          <a:p>
            <a:r>
              <a:rPr lang="en-IN" dirty="0"/>
              <a:t>Delete Action method will delete data from session</a:t>
            </a:r>
          </a:p>
          <a:p>
            <a:r>
              <a:rPr lang="en-IN" dirty="0"/>
              <a:t>And display delete view </a:t>
            </a:r>
          </a:p>
          <a:p>
            <a:endParaRPr lang="en-IN" dirty="0"/>
          </a:p>
          <a:p>
            <a:r>
              <a:rPr lang="en-IN" dirty="0"/>
              <a:t>Observer If user Visit index page we have redirected user to login page</a:t>
            </a:r>
          </a:p>
          <a:p>
            <a:endParaRPr lang="en-IN" dirty="0"/>
          </a:p>
        </p:txBody>
      </p:sp>
    </p:spTree>
    <p:extLst>
      <p:ext uri="{BB962C8B-B14F-4D97-AF65-F5344CB8AC3E}">
        <p14:creationId xmlns:p14="http://schemas.microsoft.com/office/powerpoint/2010/main" val="2796612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B9E7BC9-2D20-1D28-2C53-21C2A470B716}"/>
              </a:ext>
            </a:extLst>
          </p:cNvPr>
          <p:cNvSpPr txBox="1"/>
          <p:nvPr/>
        </p:nvSpPr>
        <p:spPr>
          <a:xfrm>
            <a:off x="794209" y="335845"/>
            <a:ext cx="6094428" cy="6186309"/>
          </a:xfrm>
          <a:prstGeom prst="rect">
            <a:avLst/>
          </a:prstGeom>
          <a:noFill/>
        </p:spPr>
        <p:txBody>
          <a:bodyPr wrap="square">
            <a:spAutoFit/>
          </a:bodyPr>
          <a:lstStyle/>
          <a:p>
            <a:r>
              <a:rPr lang="en-IN" sz="900" dirty="0">
                <a:solidFill>
                  <a:srgbClr val="000000"/>
                </a:solidFill>
                <a:latin typeface="Cascadia Mono" panose="020B0609020000020004" pitchFamily="49" charset="0"/>
              </a:rPr>
              <a:t>@model </a:t>
            </a:r>
            <a:r>
              <a:rPr lang="en-IN" sz="900" dirty="0" err="1">
                <a:solidFill>
                  <a:srgbClr val="000000"/>
                </a:solidFill>
                <a:latin typeface="Cascadia Mono" panose="020B0609020000020004" pitchFamily="49" charset="0"/>
              </a:rPr>
              <a:t>WebAppCookieslogin.Models.</a:t>
            </a:r>
            <a:r>
              <a:rPr lang="en-IN" sz="900" dirty="0" err="1">
                <a:solidFill>
                  <a:srgbClr val="2B91AF"/>
                </a:solidFill>
                <a:latin typeface="Cascadia Mono" panose="020B0609020000020004" pitchFamily="49" charset="0"/>
              </a:rPr>
              <a:t>UserLogin</a:t>
            </a:r>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ViewData</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"Title"</a:t>
            </a:r>
            <a:r>
              <a:rPr lang="en-IN" sz="900" dirty="0">
                <a:solidFill>
                  <a:srgbClr val="000000"/>
                </a:solidFill>
                <a:latin typeface="Cascadia Mono" panose="020B0609020000020004" pitchFamily="49" charset="0"/>
              </a:rPr>
              <a:t>] = </a:t>
            </a:r>
            <a:r>
              <a:rPr lang="en-IN" sz="900" dirty="0">
                <a:solidFill>
                  <a:srgbClr val="A31515"/>
                </a:solidFill>
                <a:latin typeface="Cascadia Mono" panose="020B0609020000020004" pitchFamily="49" charset="0"/>
              </a:rPr>
              <a:t>"Create"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&lt;</a:t>
            </a:r>
            <a:r>
              <a:rPr lang="en-IN" sz="900" dirty="0">
                <a:solidFill>
                  <a:srgbClr val="800000"/>
                </a:solidFill>
                <a:latin typeface="Cascadia Mono" panose="020B0609020000020004" pitchFamily="49" charset="0"/>
              </a:rPr>
              <a:t>h1</a:t>
            </a:r>
            <a:r>
              <a:rPr lang="en-IN" sz="900" dirty="0">
                <a:solidFill>
                  <a:srgbClr val="0000FF"/>
                </a:solidFill>
                <a:latin typeface="Cascadia Mono" panose="020B0609020000020004" pitchFamily="49" charset="0"/>
              </a:rPr>
              <a:t>&gt;</a:t>
            </a:r>
            <a:r>
              <a:rPr lang="en-IN" sz="900" dirty="0">
                <a:solidFill>
                  <a:srgbClr val="000000"/>
                </a:solidFill>
                <a:latin typeface="Cascadia Mono" panose="020B0609020000020004" pitchFamily="49" charset="0"/>
              </a:rPr>
              <a:t>Create</a:t>
            </a:r>
            <a:r>
              <a:rPr lang="en-IN" sz="900" dirty="0">
                <a:solidFill>
                  <a:srgbClr val="0000FF"/>
                </a:solidFill>
                <a:latin typeface="Cascadia Mono" panose="020B0609020000020004" pitchFamily="49" charset="0"/>
              </a:rPr>
              <a:t>&lt;/</a:t>
            </a:r>
            <a:r>
              <a:rPr lang="en-IN" sz="900" dirty="0">
                <a:solidFill>
                  <a:srgbClr val="800000"/>
                </a:solidFill>
                <a:latin typeface="Cascadia Mono" panose="020B0609020000020004" pitchFamily="49" charset="0"/>
              </a:rPr>
              <a:t>h1</a:t>
            </a:r>
            <a:r>
              <a:rPr lang="en-IN" sz="900" dirty="0">
                <a:solidFill>
                  <a:srgbClr val="0000FF"/>
                </a:solidFill>
                <a:latin typeface="Cascadia Mono" panose="020B0609020000020004" pitchFamily="49" charset="0"/>
              </a:rPr>
              <a:t>&gt;</a:t>
            </a:r>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&lt;</a:t>
            </a:r>
            <a:r>
              <a:rPr lang="en-IN" sz="900" dirty="0">
                <a:solidFill>
                  <a:srgbClr val="800000"/>
                </a:solidFill>
                <a:latin typeface="Cascadia Mono" panose="020B0609020000020004" pitchFamily="49" charset="0"/>
              </a:rPr>
              <a:t>h4</a:t>
            </a:r>
            <a:r>
              <a:rPr lang="en-IN" sz="900" dirty="0">
                <a:solidFill>
                  <a:srgbClr val="0000FF"/>
                </a:solidFill>
                <a:latin typeface="Cascadia Mono" panose="020B0609020000020004" pitchFamily="49" charset="0"/>
              </a:rPr>
              <a:t>&gt;</a:t>
            </a:r>
            <a:r>
              <a:rPr lang="en-IN" sz="900" dirty="0" err="1">
                <a:solidFill>
                  <a:srgbClr val="000000"/>
                </a:solidFill>
                <a:latin typeface="Cascadia Mono" panose="020B0609020000020004" pitchFamily="49" charset="0"/>
              </a:rPr>
              <a:t>UserLogin</a:t>
            </a:r>
            <a:r>
              <a:rPr lang="en-IN" sz="900" dirty="0">
                <a:solidFill>
                  <a:srgbClr val="0000FF"/>
                </a:solidFill>
                <a:latin typeface="Cascadia Mono" panose="020B0609020000020004" pitchFamily="49" charset="0"/>
              </a:rPr>
              <a:t>&lt;/</a:t>
            </a:r>
            <a:r>
              <a:rPr lang="en-IN" sz="900" dirty="0">
                <a:solidFill>
                  <a:srgbClr val="800000"/>
                </a:solidFill>
                <a:latin typeface="Cascadia Mono" panose="020B0609020000020004" pitchFamily="49" charset="0"/>
              </a:rPr>
              <a:t>h4</a:t>
            </a:r>
            <a:r>
              <a:rPr lang="en-IN" sz="900" dirty="0">
                <a:solidFill>
                  <a:srgbClr val="0000FF"/>
                </a:solidFill>
                <a:latin typeface="Cascadia Mono" panose="020B0609020000020004" pitchFamily="49" charset="0"/>
              </a:rPr>
              <a:t>&gt;</a:t>
            </a:r>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&lt;</a:t>
            </a:r>
            <a:r>
              <a:rPr lang="en-IN" sz="900" dirty="0">
                <a:solidFill>
                  <a:srgbClr val="800000"/>
                </a:solidFill>
                <a:latin typeface="Cascadia Mono" panose="020B0609020000020004" pitchFamily="49" charset="0"/>
              </a:rPr>
              <a:t>hr</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/&gt;</a:t>
            </a:r>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&lt;</a:t>
            </a:r>
            <a:r>
              <a:rPr lang="en-IN" sz="900" dirty="0">
                <a:solidFill>
                  <a:srgbClr val="800000"/>
                </a:solidFill>
                <a:latin typeface="Cascadia Mono" panose="020B0609020000020004" pitchFamily="49" charset="0"/>
              </a:rPr>
              <a:t>div</a:t>
            </a:r>
            <a:r>
              <a:rPr lang="en-IN" sz="900" dirty="0">
                <a:solidFill>
                  <a:srgbClr val="000000"/>
                </a:solidFill>
                <a:latin typeface="Cascadia Mono" panose="020B0609020000020004" pitchFamily="49" charset="0"/>
              </a:rPr>
              <a:t> </a:t>
            </a:r>
            <a:r>
              <a:rPr lang="en-IN" sz="900" dirty="0">
                <a:solidFill>
                  <a:srgbClr val="FF0000"/>
                </a:solidFill>
                <a:latin typeface="Cascadia Mono" panose="020B0609020000020004" pitchFamily="49" charset="0"/>
              </a:rPr>
              <a:t>class</a:t>
            </a:r>
            <a:r>
              <a:rPr lang="en-IN" sz="900" dirty="0">
                <a:solidFill>
                  <a:srgbClr val="0000FF"/>
                </a:solidFill>
                <a:latin typeface="Cascadia Mono" panose="020B0609020000020004" pitchFamily="49" charset="0"/>
              </a:rPr>
              <a:t>="row"&gt;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&lt;</a:t>
            </a:r>
            <a:r>
              <a:rPr lang="en-IN" sz="900" dirty="0">
                <a:solidFill>
                  <a:srgbClr val="800000"/>
                </a:solidFill>
                <a:latin typeface="Cascadia Mono" panose="020B0609020000020004" pitchFamily="49" charset="0"/>
              </a:rPr>
              <a:t>div</a:t>
            </a:r>
            <a:r>
              <a:rPr lang="en-IN" sz="900" dirty="0">
                <a:solidFill>
                  <a:srgbClr val="000000"/>
                </a:solidFill>
                <a:latin typeface="Cascadia Mono" panose="020B0609020000020004" pitchFamily="49" charset="0"/>
              </a:rPr>
              <a:t> </a:t>
            </a:r>
            <a:r>
              <a:rPr lang="en-IN" sz="900" dirty="0">
                <a:solidFill>
                  <a:srgbClr val="FF0000"/>
                </a:solidFill>
                <a:latin typeface="Cascadia Mono" panose="020B0609020000020004" pitchFamily="49" charset="0"/>
              </a:rPr>
              <a:t>class</a:t>
            </a:r>
            <a:r>
              <a:rPr lang="en-IN" sz="900" dirty="0">
                <a:solidFill>
                  <a:srgbClr val="0000FF"/>
                </a:solidFill>
                <a:latin typeface="Cascadia Mono" panose="020B0609020000020004" pitchFamily="49" charset="0"/>
              </a:rPr>
              <a:t>="col-md-4"&gt;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&lt;</a:t>
            </a:r>
            <a:r>
              <a:rPr lang="en-IN" sz="900" b="1" dirty="0">
                <a:solidFill>
                  <a:srgbClr val="800080"/>
                </a:solidFill>
                <a:latin typeface="Cascadia Mono" panose="020B0609020000020004" pitchFamily="49" charset="0"/>
              </a:rPr>
              <a:t>form</a:t>
            </a:r>
            <a:r>
              <a:rPr lang="en-IN" sz="900" b="0" dirty="0">
                <a:solidFill>
                  <a:srgbClr val="000000"/>
                </a:solidFill>
                <a:latin typeface="Cascadia Mono" panose="020B0609020000020004" pitchFamily="49" charset="0"/>
              </a:rPr>
              <a:t> </a:t>
            </a:r>
            <a:r>
              <a:rPr lang="en-IN" sz="900" b="1" dirty="0">
                <a:solidFill>
                  <a:srgbClr val="800080"/>
                </a:solidFill>
                <a:latin typeface="Cascadia Mono" panose="020B0609020000020004" pitchFamily="49" charset="0"/>
              </a:rPr>
              <a:t>asp-action</a:t>
            </a:r>
            <a:r>
              <a:rPr lang="en-IN" sz="900" b="0" dirty="0">
                <a:solidFill>
                  <a:srgbClr val="0000FF"/>
                </a:solidFill>
                <a:latin typeface="Cascadia Mono" panose="020B0609020000020004" pitchFamily="49" charset="0"/>
              </a:rPr>
              <a:t>="Create"&gt;</a:t>
            </a:r>
            <a:endParaRPr lang="en-IN"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div</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asp-validation-summary</a:t>
            </a:r>
            <a:r>
              <a:rPr lang="en-US" sz="900" b="0" dirty="0">
                <a:solidFill>
                  <a:srgbClr val="0000FF"/>
                </a:solidFill>
                <a:latin typeface="Cascadia Mono" panose="020B0609020000020004" pitchFamily="49" charset="0"/>
              </a:rPr>
              <a:t>="</a:t>
            </a:r>
            <a:r>
              <a:rPr lang="en-US" sz="900" b="0" dirty="0" err="1">
                <a:solidFill>
                  <a:srgbClr val="000000"/>
                </a:solidFill>
                <a:latin typeface="Cascadia Mono" panose="020B0609020000020004" pitchFamily="49" charset="0"/>
              </a:rPr>
              <a:t>ModelOnly</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="text-danger"&gt;&lt;/</a:t>
            </a:r>
            <a:r>
              <a:rPr lang="en-US" sz="900" b="1" dirty="0">
                <a:solidFill>
                  <a:srgbClr val="800080"/>
                </a:solidFill>
                <a:latin typeface="Cascadia Mono" panose="020B0609020000020004" pitchFamily="49" charset="0"/>
              </a:rPr>
              <a:t>div</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00"/>
                </a:solidFill>
                <a:latin typeface="Cascadia Mono" panose="020B0609020000020004" pitchFamily="49" charset="0"/>
              </a:rPr>
              <a:t> </a:t>
            </a:r>
            <a:r>
              <a:rPr lang="en-IN" sz="900" b="0" dirty="0">
                <a:solidFill>
                  <a:srgbClr val="FF0000"/>
                </a:solidFill>
                <a:latin typeface="Cascadia Mono" panose="020B0609020000020004" pitchFamily="49" charset="0"/>
              </a:rPr>
              <a:t>class</a:t>
            </a:r>
            <a:r>
              <a:rPr lang="en-IN" sz="900" b="0" dirty="0">
                <a:solidFill>
                  <a:srgbClr val="0000FF"/>
                </a:solidFill>
                <a:latin typeface="Cascadia Mono" panose="020B0609020000020004" pitchFamily="49" charset="0"/>
              </a:rPr>
              <a:t>="form-group"&gt;</a:t>
            </a:r>
            <a:endParaRPr lang="en-IN"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label</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asp-for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Email</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="control-label"&gt;&lt;/</a:t>
            </a:r>
            <a:r>
              <a:rPr lang="en-US" sz="900" b="1" dirty="0">
                <a:solidFill>
                  <a:srgbClr val="800080"/>
                </a:solidFill>
                <a:latin typeface="Cascadia Mono" panose="020B0609020000020004" pitchFamily="49" charset="0"/>
              </a:rPr>
              <a:t>label</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input</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asp-for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Email</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="form-control"</a:t>
            </a:r>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span</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asp-validation-for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Email</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="text-danger"&gt;&lt;/</a:t>
            </a:r>
            <a:r>
              <a:rPr lang="en-US" sz="900" b="1" dirty="0">
                <a:solidFill>
                  <a:srgbClr val="800080"/>
                </a:solidFill>
                <a:latin typeface="Cascadia Mono" panose="020B0609020000020004" pitchFamily="49" charset="0"/>
              </a:rPr>
              <a:t>span</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00"/>
                </a:solidFill>
                <a:latin typeface="Cascadia Mono" panose="020B0609020000020004" pitchFamily="49" charset="0"/>
              </a:rPr>
              <a:t> </a:t>
            </a:r>
            <a:r>
              <a:rPr lang="en-IN" sz="900" b="0" dirty="0">
                <a:solidFill>
                  <a:srgbClr val="FF0000"/>
                </a:solidFill>
                <a:latin typeface="Cascadia Mono" panose="020B0609020000020004" pitchFamily="49" charset="0"/>
              </a:rPr>
              <a:t>class</a:t>
            </a:r>
            <a:r>
              <a:rPr lang="en-IN" sz="900" b="0" dirty="0">
                <a:solidFill>
                  <a:srgbClr val="0000FF"/>
                </a:solidFill>
                <a:latin typeface="Cascadia Mono" panose="020B0609020000020004" pitchFamily="49" charset="0"/>
              </a:rPr>
              <a:t>="form-group"&gt;</a:t>
            </a:r>
            <a:endParaRPr lang="en-IN"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label</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asp-for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Password</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="control-label"&gt;&lt;/</a:t>
            </a:r>
            <a:r>
              <a:rPr lang="en-US" sz="900" b="1" dirty="0">
                <a:solidFill>
                  <a:srgbClr val="800080"/>
                </a:solidFill>
                <a:latin typeface="Cascadia Mono" panose="020B0609020000020004" pitchFamily="49" charset="0"/>
              </a:rPr>
              <a:t>label</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input</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asp-for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Password</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="form-control"</a:t>
            </a:r>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span</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asp-validation-for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Password</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="text-danger"&gt;&lt;/</a:t>
            </a:r>
            <a:r>
              <a:rPr lang="en-US" sz="900" b="1" dirty="0">
                <a:solidFill>
                  <a:srgbClr val="800080"/>
                </a:solidFill>
                <a:latin typeface="Cascadia Mono" panose="020B0609020000020004" pitchFamily="49" charset="0"/>
              </a:rPr>
              <a:t>span</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00"/>
                </a:solidFill>
                <a:latin typeface="Cascadia Mono" panose="020B0609020000020004" pitchFamily="49" charset="0"/>
              </a:rPr>
              <a:t> </a:t>
            </a:r>
            <a:r>
              <a:rPr lang="en-IN" sz="900" b="0" dirty="0">
                <a:solidFill>
                  <a:srgbClr val="FF0000"/>
                </a:solidFill>
                <a:latin typeface="Cascadia Mono" panose="020B0609020000020004" pitchFamily="49" charset="0"/>
              </a:rPr>
              <a:t>class</a:t>
            </a:r>
            <a:r>
              <a:rPr lang="en-IN" sz="900" b="0" dirty="0">
                <a:solidFill>
                  <a:srgbClr val="0000FF"/>
                </a:solidFill>
                <a:latin typeface="Cascadia Mono" panose="020B0609020000020004" pitchFamily="49" charset="0"/>
              </a:rPr>
              <a:t>="form-group form-check"&gt;</a:t>
            </a:r>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label</a:t>
            </a:r>
            <a:r>
              <a:rPr lang="en-IN" sz="900" b="0" dirty="0">
                <a:solidFill>
                  <a:srgbClr val="000000"/>
                </a:solidFill>
                <a:latin typeface="Cascadia Mono" panose="020B0609020000020004" pitchFamily="49" charset="0"/>
              </a:rPr>
              <a:t> </a:t>
            </a:r>
            <a:r>
              <a:rPr lang="en-IN" sz="900" b="0" dirty="0">
                <a:solidFill>
                  <a:srgbClr val="FF0000"/>
                </a:solidFill>
                <a:latin typeface="Cascadia Mono" panose="020B0609020000020004" pitchFamily="49" charset="0"/>
              </a:rPr>
              <a:t>class</a:t>
            </a:r>
            <a:r>
              <a:rPr lang="en-IN" sz="900" b="0" dirty="0">
                <a:solidFill>
                  <a:srgbClr val="0000FF"/>
                </a:solidFill>
                <a:latin typeface="Cascadia Mono" panose="020B0609020000020004" pitchFamily="49" charset="0"/>
              </a:rPr>
              <a:t>="form-check-label"&gt;</a:t>
            </a:r>
            <a:endParaRPr lang="en-IN"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input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="form-check-input"</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asp-for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Remember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/&gt;</a:t>
            </a:r>
            <a:r>
              <a:rPr lang="en-US" sz="900" b="0" dirty="0">
                <a:solidFill>
                  <a:srgbClr val="000000"/>
                </a:solidFill>
                <a:latin typeface="Cascadia Mono" panose="020B0609020000020004" pitchFamily="49" charset="0"/>
              </a:rPr>
              <a:t> @Html.DisplayNameFor(model =&gt; </a:t>
            </a:r>
            <a:r>
              <a:rPr lang="en-US" sz="900" b="0" dirty="0" err="1">
                <a:solidFill>
                  <a:srgbClr val="000000"/>
                </a:solidFill>
                <a:latin typeface="Cascadia Mono" panose="020B0609020000020004" pitchFamily="49" charset="0"/>
              </a:rPr>
              <a:t>model.Remember</a:t>
            </a:r>
            <a:r>
              <a:rPr lang="en-US" sz="900" b="0" dirty="0">
                <a:solidFill>
                  <a:srgbClr val="000000"/>
                </a:solidFill>
                <a:latin typeface="Cascadia Mono" panose="020B0609020000020004" pitchFamily="49" charset="0"/>
              </a:rPr>
              <a:t>)</a:t>
            </a: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label</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00"/>
                </a:solidFill>
                <a:latin typeface="Cascadia Mono" panose="020B0609020000020004" pitchFamily="49" charset="0"/>
              </a:rPr>
              <a:t> </a:t>
            </a:r>
            <a:r>
              <a:rPr lang="en-IN" sz="900" b="0" dirty="0">
                <a:solidFill>
                  <a:srgbClr val="FF0000"/>
                </a:solidFill>
                <a:latin typeface="Cascadia Mono" panose="020B0609020000020004" pitchFamily="49" charset="0"/>
              </a:rPr>
              <a:t>class</a:t>
            </a:r>
            <a:r>
              <a:rPr lang="en-IN" sz="900" b="0" dirty="0">
                <a:solidFill>
                  <a:srgbClr val="0000FF"/>
                </a:solidFill>
                <a:latin typeface="Cascadia Mono" panose="020B0609020000020004" pitchFamily="49" charset="0"/>
              </a:rPr>
              <a:t>="form-group"&gt;</a:t>
            </a:r>
            <a:endParaRPr lang="en-IN"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0" dirty="0">
                <a:solidFill>
                  <a:srgbClr val="800000"/>
                </a:solidFill>
                <a:latin typeface="Cascadia Mono" panose="020B0609020000020004" pitchFamily="49" charset="0"/>
              </a:rPr>
              <a:t>input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type</a:t>
            </a:r>
            <a:r>
              <a:rPr lang="en-US" sz="900" b="0" dirty="0">
                <a:solidFill>
                  <a:srgbClr val="0000FF"/>
                </a:solidFill>
                <a:latin typeface="Cascadia Mono" panose="020B0609020000020004" pitchFamily="49" charset="0"/>
              </a:rPr>
              <a:t>="submit"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value</a:t>
            </a:r>
            <a:r>
              <a:rPr lang="en-US" sz="900" b="0" dirty="0">
                <a:solidFill>
                  <a:srgbClr val="0000FF"/>
                </a:solidFill>
                <a:latin typeface="Cascadia Mono" panose="020B0609020000020004" pitchFamily="49" charset="0"/>
              </a:rPr>
              <a:t>="Create"</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a:t>
            </a:r>
            <a:r>
              <a:rPr lang="en-US" sz="900" b="0" dirty="0" err="1">
                <a:solidFill>
                  <a:srgbClr val="0000FF"/>
                </a:solidFill>
                <a:latin typeface="Cascadia Mono" panose="020B0609020000020004" pitchFamily="49" charset="0"/>
              </a:rPr>
              <a:t>btn</a:t>
            </a:r>
            <a:r>
              <a:rPr lang="en-US" sz="900" b="0" dirty="0">
                <a:solidFill>
                  <a:srgbClr val="0000FF"/>
                </a:solidFill>
                <a:latin typeface="Cascadia Mono" panose="020B0609020000020004" pitchFamily="49" charset="0"/>
              </a:rPr>
              <a:t> </a:t>
            </a:r>
            <a:r>
              <a:rPr lang="en-US" sz="900" b="0" dirty="0" err="1">
                <a:solidFill>
                  <a:srgbClr val="0000FF"/>
                </a:solidFill>
                <a:latin typeface="Cascadia Mono" panose="020B0609020000020004" pitchFamily="49" charset="0"/>
              </a:rPr>
              <a:t>btn</a:t>
            </a:r>
            <a:r>
              <a:rPr lang="en-US" sz="900" b="0" dirty="0">
                <a:solidFill>
                  <a:srgbClr val="0000FF"/>
                </a:solidFill>
                <a:latin typeface="Cascadia Mono" panose="020B0609020000020004" pitchFamily="49" charset="0"/>
              </a:rPr>
              <a:t>-primary"</a:t>
            </a:r>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1" dirty="0">
                <a:solidFill>
                  <a:srgbClr val="800080"/>
                </a:solidFill>
                <a:latin typeface="Cascadia Mono" panose="020B0609020000020004" pitchFamily="49" charset="0"/>
              </a:rPr>
              <a:t>form</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endParaRPr lang="en-IN" sz="900" b="0" dirty="0">
              <a:solidFill>
                <a:srgbClr val="000000"/>
              </a:solidFill>
              <a:latin typeface="Cascadia Mono" panose="020B0609020000020004" pitchFamily="49" charset="0"/>
            </a:endParaRPr>
          </a:p>
          <a:p>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a</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asp-action</a:t>
            </a:r>
            <a:r>
              <a:rPr lang="en-US" sz="900" b="0" dirty="0">
                <a:solidFill>
                  <a:srgbClr val="0000FF"/>
                </a:solidFill>
                <a:latin typeface="Cascadia Mono" panose="020B0609020000020004" pitchFamily="49" charset="0"/>
              </a:rPr>
              <a:t>="Index"&gt;</a:t>
            </a:r>
            <a:r>
              <a:rPr lang="en-US" sz="900" b="0" dirty="0">
                <a:solidFill>
                  <a:srgbClr val="000000"/>
                </a:solidFill>
                <a:latin typeface="Cascadia Mono" panose="020B0609020000020004" pitchFamily="49" charset="0"/>
              </a:rPr>
              <a:t>Back to List</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a</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@section Scripts {</a:t>
            </a: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await</a:t>
            </a:r>
            <a:r>
              <a:rPr lang="en-IN" sz="900" b="0" dirty="0">
                <a:solidFill>
                  <a:srgbClr val="000000"/>
                </a:solidFill>
                <a:latin typeface="Cascadia Mono" panose="020B0609020000020004" pitchFamily="49" charset="0"/>
              </a:rPr>
              <a:t> </a:t>
            </a:r>
            <a:r>
              <a:rPr lang="en-IN" sz="900" b="0" dirty="0" err="1">
                <a:solidFill>
                  <a:srgbClr val="000000"/>
                </a:solidFill>
                <a:latin typeface="Cascadia Mono" panose="020B0609020000020004" pitchFamily="49" charset="0"/>
              </a:rPr>
              <a:t>Html.RenderPartialAsync</a:t>
            </a:r>
            <a:r>
              <a:rPr lang="en-IN" sz="900" b="0" dirty="0">
                <a:solidFill>
                  <a:srgbClr val="000000"/>
                </a:solidFill>
                <a:latin typeface="Cascadia Mono" panose="020B0609020000020004" pitchFamily="49" charset="0"/>
              </a:rPr>
              <a:t>(</a:t>
            </a:r>
            <a:r>
              <a:rPr lang="en-IN" sz="900" b="0" dirty="0">
                <a:solidFill>
                  <a:srgbClr val="A31515"/>
                </a:solidFill>
                <a:latin typeface="Cascadia Mono" panose="020B0609020000020004" pitchFamily="49" charset="0"/>
              </a:rPr>
              <a:t>"_</a:t>
            </a:r>
            <a:r>
              <a:rPr lang="en-IN" sz="900" b="0" dirty="0" err="1">
                <a:solidFill>
                  <a:srgbClr val="A31515"/>
                </a:solidFill>
                <a:latin typeface="Cascadia Mono" panose="020B0609020000020004" pitchFamily="49" charset="0"/>
              </a:rPr>
              <a:t>ValidationScriptsPartial</a:t>
            </a:r>
            <a:r>
              <a:rPr lang="en-IN" sz="900" b="0" dirty="0">
                <a:solidFill>
                  <a:srgbClr val="A31515"/>
                </a:solidFill>
                <a:latin typeface="Cascadia Mono" panose="020B0609020000020004" pitchFamily="49" charset="0"/>
              </a:rPr>
              <a:t>"</a:t>
            </a:r>
            <a:r>
              <a:rPr lang="en-IN" sz="900" b="0" dirty="0">
                <a:solidFill>
                  <a:srgbClr val="000000"/>
                </a:solidFill>
                <a:latin typeface="Cascadia Mono" panose="020B0609020000020004" pitchFamily="49" charset="0"/>
              </a:rPr>
              <a:t>);}</a:t>
            </a:r>
          </a:p>
          <a:p>
            <a:r>
              <a:rPr lang="en-IN" sz="900" b="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591745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ABF8D41-4F28-C545-EB00-B503B8D2D55D}"/>
              </a:ext>
            </a:extLst>
          </p:cNvPr>
          <p:cNvSpPr txBox="1"/>
          <p:nvPr/>
        </p:nvSpPr>
        <p:spPr>
          <a:xfrm>
            <a:off x="398283" y="0"/>
            <a:ext cx="6094428" cy="5047536"/>
          </a:xfrm>
          <a:prstGeom prst="rect">
            <a:avLst/>
          </a:prstGeom>
          <a:noFill/>
        </p:spPr>
        <p:txBody>
          <a:bodyPr wrap="square">
            <a:spAutoFit/>
          </a:bodyPr>
          <a:lstStyle/>
          <a:p>
            <a:r>
              <a:rPr lang="en-IN" sz="1400" dirty="0">
                <a:solidFill>
                  <a:srgbClr val="000000"/>
                </a:solidFill>
                <a:latin typeface="Cascadia Mono" panose="020B0609020000020004" pitchFamily="49" charset="0"/>
              </a:rPr>
              <a:t>@*</a:t>
            </a:r>
            <a:endParaRPr lang="en-IN" sz="1400" dirty="0">
              <a:solidFill>
                <a:srgbClr val="008000"/>
              </a:solidFill>
              <a:latin typeface="Cascadia Mono" panose="020B0609020000020004" pitchFamily="49" charset="0"/>
            </a:endParaRPr>
          </a:p>
          <a:p>
            <a:r>
              <a:rPr lang="en-US" sz="1400" dirty="0">
                <a:solidFill>
                  <a:srgbClr val="006400"/>
                </a:solidFill>
                <a:latin typeface="Cascadia Mono" panose="020B0609020000020004" pitchFamily="49" charset="0"/>
              </a:rPr>
              <a:t>    For more information on enabling MVC for empty projects, visit https://go.microsoft.com/fwlink/?LinkID=397860</a:t>
            </a:r>
            <a:endParaRPr lang="en-US" sz="1400" dirty="0">
              <a:solidFill>
                <a:srgbClr val="008000"/>
              </a:solidFill>
              <a:latin typeface="Cascadia Mono" panose="020B0609020000020004" pitchFamily="49" charset="0"/>
            </a:endParaRPr>
          </a:p>
          <a:p>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a:t>
            </a:r>
          </a:p>
          <a:p>
            <a:endParaRPr lang="en-IN" sz="1400" dirty="0">
              <a:solidFill>
                <a:srgbClr val="000000"/>
              </a:solidFill>
              <a:latin typeface="Cascadia Mono" panose="020B0609020000020004" pitchFamily="49" charset="0"/>
            </a:endParaRPr>
          </a:p>
          <a:p>
            <a:r>
              <a:rPr lang="en-US" sz="1400" dirty="0">
                <a:solidFill>
                  <a:srgbClr val="0000FF"/>
                </a:solidFill>
                <a:latin typeface="Cascadia Mono" panose="020B0609020000020004" pitchFamily="49" charset="0"/>
              </a:rPr>
              <a:t>&lt;</a:t>
            </a:r>
            <a:r>
              <a:rPr lang="en-US" sz="1400" dirty="0">
                <a:solidFill>
                  <a:srgbClr val="800000"/>
                </a:solidFill>
                <a:latin typeface="Cascadia Mono" panose="020B0609020000020004" pitchFamily="49" charset="0"/>
              </a:rPr>
              <a:t>h1</a:t>
            </a:r>
            <a:r>
              <a:rPr lang="en-US" sz="1400" dirty="0">
                <a:solidFill>
                  <a:srgbClr val="0000FF"/>
                </a:solidFill>
                <a:latin typeface="Cascadia Mono" panose="020B0609020000020004" pitchFamily="49" charset="0"/>
              </a:rPr>
              <a:t>&gt;</a:t>
            </a:r>
            <a:r>
              <a:rPr lang="en-US" sz="1400" dirty="0">
                <a:solidFill>
                  <a:srgbClr val="000000"/>
                </a:solidFill>
                <a:latin typeface="Cascadia Mono" panose="020B0609020000020004" pitchFamily="49" charset="0"/>
              </a:rPr>
              <a:t>Welcome user you have logged in</a:t>
            </a:r>
            <a:r>
              <a:rPr lang="en-US" sz="1400" dirty="0">
                <a:solidFill>
                  <a:srgbClr val="0000FF"/>
                </a:solidFill>
                <a:latin typeface="Cascadia Mono" panose="020B0609020000020004" pitchFamily="49" charset="0"/>
              </a:rPr>
              <a:t>&lt;/</a:t>
            </a:r>
            <a:r>
              <a:rPr lang="en-US" sz="1400" dirty="0">
                <a:solidFill>
                  <a:srgbClr val="800000"/>
                </a:solidFill>
                <a:latin typeface="Cascadia Mono" panose="020B0609020000020004" pitchFamily="49" charset="0"/>
              </a:rPr>
              <a:t>h1</a:t>
            </a:r>
            <a:r>
              <a:rPr lang="en-US" sz="1400" dirty="0">
                <a:solidFill>
                  <a:srgbClr val="0000FF"/>
                </a:solidFill>
                <a:latin typeface="Cascadia Mono" panose="020B0609020000020004" pitchFamily="49" charset="0"/>
              </a:rPr>
              <a:t>&gt;</a:t>
            </a:r>
            <a:endParaRPr lang="en-US" sz="1400" dirty="0">
              <a:solidFill>
                <a:srgbClr val="000000"/>
              </a:solidFill>
              <a:latin typeface="Cascadia Mono" panose="020B0609020000020004" pitchFamily="49" charset="0"/>
            </a:endParaRPr>
          </a:p>
          <a:p>
            <a:r>
              <a:rPr lang="en-IN" sz="1400" dirty="0">
                <a:solidFill>
                  <a:srgbClr val="0000FF"/>
                </a:solidFill>
                <a:latin typeface="Cascadia Mono" panose="020B0609020000020004" pitchFamily="49" charset="0"/>
              </a:rPr>
              <a:t>&lt;</a:t>
            </a:r>
            <a:r>
              <a:rPr lang="en-IN" sz="1400" dirty="0">
                <a:solidFill>
                  <a:srgbClr val="800000"/>
                </a:solidFill>
                <a:latin typeface="Cascadia Mono" panose="020B0609020000020004" pitchFamily="49" charset="0"/>
              </a:rPr>
              <a:t>h2</a:t>
            </a:r>
            <a:r>
              <a:rPr lang="en-IN" sz="1400" dirty="0">
                <a:solidFill>
                  <a:srgbClr val="0000FF"/>
                </a:solidFill>
                <a:latin typeface="Cascadia Mono" panose="020B0609020000020004" pitchFamily="49" charset="0"/>
              </a:rPr>
              <a:t>&gt;</a:t>
            </a:r>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@ViewBag.Name </a:t>
            </a:r>
          </a:p>
          <a:p>
            <a:r>
              <a:rPr lang="en-IN" sz="1400" dirty="0">
                <a:solidFill>
                  <a:srgbClr val="000000"/>
                </a:solidFill>
                <a:latin typeface="Cascadia Mono" panose="020B0609020000020004" pitchFamily="49" charset="0"/>
              </a:rPr>
              <a:t>                @ViewBag.Age </a:t>
            </a:r>
            <a:r>
              <a:rPr lang="en-IN" sz="1400" dirty="0">
                <a:solidFill>
                  <a:srgbClr val="0000FF"/>
                </a:solidFill>
                <a:latin typeface="Cascadia Mono" panose="020B0609020000020004" pitchFamily="49" charset="0"/>
              </a:rPr>
              <a:t>&lt;/</a:t>
            </a:r>
            <a:r>
              <a:rPr lang="en-IN" sz="1400" dirty="0">
                <a:solidFill>
                  <a:srgbClr val="800000"/>
                </a:solidFill>
                <a:latin typeface="Cascadia Mono" panose="020B0609020000020004" pitchFamily="49" charset="0"/>
              </a:rPr>
              <a:t>h2</a:t>
            </a:r>
            <a:r>
              <a:rPr lang="en-IN" sz="1400" dirty="0">
                <a:solidFill>
                  <a:srgbClr val="0000FF"/>
                </a:solidFill>
                <a:latin typeface="Cascadia Mono" panose="020B0609020000020004" pitchFamily="49" charset="0"/>
              </a:rPr>
              <a:t>&gt;</a:t>
            </a:r>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                @ViewData[</a:t>
            </a:r>
            <a:r>
              <a:rPr lang="en-IN" sz="1400" dirty="0">
                <a:solidFill>
                  <a:srgbClr val="A31515"/>
                </a:solidFill>
                <a:latin typeface="Cascadia Mono" panose="020B0609020000020004" pitchFamily="49" charset="0"/>
              </a:rPr>
              <a:t>"Message"</a:t>
            </a:r>
            <a:r>
              <a:rPr lang="en-IN" sz="1400" dirty="0">
                <a:solidFill>
                  <a:srgbClr val="000000"/>
                </a:solidFill>
                <a:latin typeface="Cascadia Mono" panose="020B0609020000020004" pitchFamily="49" charset="0"/>
              </a:rPr>
              <a:t>]</a:t>
            </a:r>
          </a:p>
          <a:p>
            <a:endParaRPr lang="en-IN" sz="1400" dirty="0">
              <a:solidFill>
                <a:srgbClr val="000000"/>
              </a:solidFill>
              <a:latin typeface="Cascadia Mono" panose="020B0609020000020004" pitchFamily="49" charset="0"/>
            </a:endParaRPr>
          </a:p>
          <a:p>
            <a:r>
              <a:rPr lang="en-IN" sz="1400" dirty="0">
                <a:solidFill>
                  <a:srgbClr val="0000FF"/>
                </a:solidFill>
                <a:latin typeface="Cascadia Mono" panose="020B0609020000020004" pitchFamily="49" charset="0"/>
              </a:rPr>
              <a:t>&lt;</a:t>
            </a:r>
            <a:r>
              <a:rPr lang="en-IN" sz="1400" dirty="0">
                <a:solidFill>
                  <a:srgbClr val="800000"/>
                </a:solidFill>
                <a:latin typeface="Cascadia Mono" panose="020B0609020000020004" pitchFamily="49" charset="0"/>
              </a:rPr>
              <a:t>div</a:t>
            </a:r>
            <a:r>
              <a:rPr lang="en-IN" sz="1400" dirty="0">
                <a:solidFill>
                  <a:srgbClr val="000000"/>
                </a:solidFill>
                <a:latin typeface="Cascadia Mono" panose="020B0609020000020004" pitchFamily="49" charset="0"/>
              </a:rPr>
              <a:t> </a:t>
            </a:r>
            <a:r>
              <a:rPr lang="en-IN" sz="1400" dirty="0">
                <a:solidFill>
                  <a:srgbClr val="FF0000"/>
                </a:solidFill>
                <a:latin typeface="Cascadia Mono" panose="020B0609020000020004" pitchFamily="49" charset="0"/>
              </a:rPr>
              <a:t>class</a:t>
            </a:r>
            <a:r>
              <a:rPr lang="en-IN" sz="1400" dirty="0">
                <a:solidFill>
                  <a:srgbClr val="0000FF"/>
                </a:solidFill>
                <a:latin typeface="Cascadia Mono" panose="020B0609020000020004" pitchFamily="49" charset="0"/>
              </a:rPr>
              <a:t>="col-md-4"&gt;</a:t>
            </a:r>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&lt;</a:t>
            </a:r>
            <a:r>
              <a:rPr lang="en-IN" sz="1400" b="1" dirty="0">
                <a:solidFill>
                  <a:srgbClr val="800080"/>
                </a:solidFill>
                <a:latin typeface="Cascadia Mono" panose="020B0609020000020004" pitchFamily="49" charset="0"/>
              </a:rPr>
              <a:t>form</a:t>
            </a:r>
            <a:r>
              <a:rPr lang="en-IN" sz="1400" b="0" dirty="0">
                <a:solidFill>
                  <a:srgbClr val="000000"/>
                </a:solidFill>
                <a:latin typeface="Cascadia Mono" panose="020B0609020000020004" pitchFamily="49" charset="0"/>
              </a:rPr>
              <a:t> </a:t>
            </a:r>
            <a:r>
              <a:rPr lang="en-IN" sz="1400" b="1" dirty="0">
                <a:solidFill>
                  <a:srgbClr val="800080"/>
                </a:solidFill>
                <a:latin typeface="Cascadia Mono" panose="020B0609020000020004" pitchFamily="49" charset="0"/>
              </a:rPr>
              <a:t>asp-action</a:t>
            </a:r>
            <a:r>
              <a:rPr lang="en-IN" sz="1400" b="0" dirty="0">
                <a:solidFill>
                  <a:srgbClr val="0000FF"/>
                </a:solidFill>
                <a:latin typeface="Cascadia Mono" panose="020B0609020000020004" pitchFamily="49" charset="0"/>
              </a:rPr>
              <a:t>="delete"&gt;</a:t>
            </a:r>
            <a:endParaRPr lang="en-IN" sz="1400" b="0" dirty="0">
              <a:solidFill>
                <a:srgbClr val="000000"/>
              </a:solidFill>
              <a:latin typeface="Cascadia Mono" panose="020B0609020000020004" pitchFamily="49" charset="0"/>
            </a:endParaRPr>
          </a:p>
          <a:p>
            <a:r>
              <a:rPr lang="en-IN" sz="1400" b="0" dirty="0">
                <a:solidFill>
                  <a:srgbClr val="000000"/>
                </a:solidFill>
                <a:latin typeface="Cascadia Mono" panose="020B0609020000020004" pitchFamily="49" charset="0"/>
              </a:rPr>
              <a:t>            </a:t>
            </a:r>
            <a:r>
              <a:rPr lang="en-IN" sz="1400" b="0" dirty="0">
                <a:solidFill>
                  <a:srgbClr val="0000FF"/>
                </a:solidFill>
                <a:latin typeface="Cascadia Mono" panose="020B0609020000020004" pitchFamily="49" charset="0"/>
              </a:rPr>
              <a:t>&lt;</a:t>
            </a:r>
            <a:r>
              <a:rPr lang="en-IN" sz="1400" b="0" dirty="0">
                <a:solidFill>
                  <a:srgbClr val="800000"/>
                </a:solidFill>
                <a:latin typeface="Cascadia Mono" panose="020B0609020000020004" pitchFamily="49" charset="0"/>
              </a:rPr>
              <a:t>div</a:t>
            </a:r>
            <a:r>
              <a:rPr lang="en-IN" sz="1400" b="0" dirty="0">
                <a:solidFill>
                  <a:srgbClr val="000000"/>
                </a:solidFill>
                <a:latin typeface="Cascadia Mono" panose="020B0609020000020004" pitchFamily="49" charset="0"/>
              </a:rPr>
              <a:t> </a:t>
            </a:r>
            <a:r>
              <a:rPr lang="en-IN" sz="1400" b="0" dirty="0">
                <a:solidFill>
                  <a:srgbClr val="FF0000"/>
                </a:solidFill>
                <a:latin typeface="Cascadia Mono" panose="020B0609020000020004" pitchFamily="49" charset="0"/>
              </a:rPr>
              <a:t>class</a:t>
            </a:r>
            <a:r>
              <a:rPr lang="en-IN" sz="1400" b="0" dirty="0">
                <a:solidFill>
                  <a:srgbClr val="0000FF"/>
                </a:solidFill>
                <a:latin typeface="Cascadia Mono" panose="020B0609020000020004" pitchFamily="49" charset="0"/>
              </a:rPr>
              <a:t>="form-group"&gt;</a:t>
            </a:r>
            <a:endParaRPr lang="en-IN" sz="1400" b="0" dirty="0">
              <a:solidFill>
                <a:srgbClr val="000000"/>
              </a:solidFill>
              <a:latin typeface="Cascadia Mono" panose="020B0609020000020004" pitchFamily="49" charset="0"/>
            </a:endParaRPr>
          </a:p>
          <a:p>
            <a:r>
              <a:rPr lang="en-US" sz="1400" b="0" dirty="0">
                <a:solidFill>
                  <a:srgbClr val="000000"/>
                </a:solidFill>
                <a:latin typeface="Cascadia Mono" panose="020B0609020000020004" pitchFamily="49" charset="0"/>
              </a:rPr>
              <a:t>                </a:t>
            </a:r>
            <a:r>
              <a:rPr lang="en-US" sz="1400" b="0" dirty="0">
                <a:solidFill>
                  <a:srgbClr val="0000FF"/>
                </a:solidFill>
                <a:latin typeface="Cascadia Mono" panose="020B0609020000020004" pitchFamily="49" charset="0"/>
              </a:rPr>
              <a:t>&lt;</a:t>
            </a:r>
            <a:r>
              <a:rPr lang="en-US" sz="1400" b="0" dirty="0">
                <a:solidFill>
                  <a:srgbClr val="800000"/>
                </a:solidFill>
                <a:latin typeface="Cascadia Mono" panose="020B0609020000020004" pitchFamily="49" charset="0"/>
              </a:rPr>
              <a:t>input</a:t>
            </a:r>
            <a:r>
              <a:rPr lang="en-US" sz="1400" b="0" dirty="0">
                <a:solidFill>
                  <a:srgbClr val="000000"/>
                </a:solidFill>
                <a:latin typeface="Cascadia Mono" panose="020B0609020000020004" pitchFamily="49" charset="0"/>
              </a:rPr>
              <a:t> </a:t>
            </a:r>
            <a:r>
              <a:rPr lang="en-US" sz="1400" b="0" dirty="0">
                <a:solidFill>
                  <a:srgbClr val="FF0000"/>
                </a:solidFill>
                <a:latin typeface="Cascadia Mono" panose="020B0609020000020004" pitchFamily="49" charset="0"/>
              </a:rPr>
              <a:t>type</a:t>
            </a:r>
            <a:r>
              <a:rPr lang="en-US" sz="1400" b="0" dirty="0">
                <a:solidFill>
                  <a:srgbClr val="0000FF"/>
                </a:solidFill>
                <a:latin typeface="Cascadia Mono" panose="020B0609020000020004" pitchFamily="49" charset="0"/>
              </a:rPr>
              <a:t>="submit"</a:t>
            </a:r>
            <a:r>
              <a:rPr lang="en-US" sz="1400" b="0" dirty="0">
                <a:solidFill>
                  <a:srgbClr val="000000"/>
                </a:solidFill>
                <a:latin typeface="Cascadia Mono" panose="020B0609020000020004" pitchFamily="49" charset="0"/>
              </a:rPr>
              <a:t> </a:t>
            </a:r>
            <a:r>
              <a:rPr lang="en-US" sz="1400" b="0" dirty="0">
                <a:solidFill>
                  <a:srgbClr val="FF0000"/>
                </a:solidFill>
                <a:latin typeface="Cascadia Mono" panose="020B0609020000020004" pitchFamily="49" charset="0"/>
              </a:rPr>
              <a:t>value</a:t>
            </a:r>
            <a:r>
              <a:rPr lang="en-US" sz="1400" b="0" dirty="0">
                <a:solidFill>
                  <a:srgbClr val="0000FF"/>
                </a:solidFill>
                <a:latin typeface="Cascadia Mono" panose="020B0609020000020004" pitchFamily="49" charset="0"/>
              </a:rPr>
              <a:t>="Delete"</a:t>
            </a:r>
            <a:r>
              <a:rPr lang="en-US" sz="1400" b="0" dirty="0">
                <a:solidFill>
                  <a:srgbClr val="000000"/>
                </a:solidFill>
                <a:latin typeface="Cascadia Mono" panose="020B0609020000020004" pitchFamily="49" charset="0"/>
              </a:rPr>
              <a:t> </a:t>
            </a:r>
            <a:r>
              <a:rPr lang="en-US" sz="1400" b="0" dirty="0">
                <a:solidFill>
                  <a:srgbClr val="FF0000"/>
                </a:solidFill>
                <a:latin typeface="Cascadia Mono" panose="020B0609020000020004" pitchFamily="49" charset="0"/>
              </a:rPr>
              <a:t>class</a:t>
            </a:r>
            <a:r>
              <a:rPr lang="en-US" sz="1400" b="0" dirty="0">
                <a:solidFill>
                  <a:srgbClr val="0000FF"/>
                </a:solidFill>
                <a:latin typeface="Cascadia Mono" panose="020B0609020000020004" pitchFamily="49" charset="0"/>
              </a:rPr>
              <a:t>="</a:t>
            </a:r>
            <a:r>
              <a:rPr lang="en-US" sz="1400" b="0" dirty="0" err="1">
                <a:solidFill>
                  <a:srgbClr val="0000FF"/>
                </a:solidFill>
                <a:latin typeface="Cascadia Mono" panose="020B0609020000020004" pitchFamily="49" charset="0"/>
              </a:rPr>
              <a:t>btn</a:t>
            </a:r>
            <a:r>
              <a:rPr lang="en-US" sz="1400" b="0" dirty="0">
                <a:solidFill>
                  <a:srgbClr val="0000FF"/>
                </a:solidFill>
                <a:latin typeface="Cascadia Mono" panose="020B0609020000020004" pitchFamily="49" charset="0"/>
              </a:rPr>
              <a:t> </a:t>
            </a:r>
            <a:r>
              <a:rPr lang="en-US" sz="1400" b="0" dirty="0" err="1">
                <a:solidFill>
                  <a:srgbClr val="0000FF"/>
                </a:solidFill>
                <a:latin typeface="Cascadia Mono" panose="020B0609020000020004" pitchFamily="49" charset="0"/>
              </a:rPr>
              <a:t>btn</a:t>
            </a:r>
            <a:r>
              <a:rPr lang="en-US" sz="1400" b="0" dirty="0">
                <a:solidFill>
                  <a:srgbClr val="0000FF"/>
                </a:solidFill>
                <a:latin typeface="Cascadia Mono" panose="020B0609020000020004" pitchFamily="49" charset="0"/>
              </a:rPr>
              <a:t>-primary"</a:t>
            </a:r>
            <a:r>
              <a:rPr lang="en-US" sz="1400" b="0" dirty="0">
                <a:solidFill>
                  <a:srgbClr val="000000"/>
                </a:solidFill>
                <a:latin typeface="Cascadia Mono" panose="020B0609020000020004" pitchFamily="49" charset="0"/>
              </a:rPr>
              <a:t> </a:t>
            </a:r>
            <a:r>
              <a:rPr lang="en-US" sz="1400" b="0" dirty="0">
                <a:solidFill>
                  <a:srgbClr val="0000FF"/>
                </a:solidFill>
                <a:latin typeface="Cascadia Mono" panose="020B0609020000020004" pitchFamily="49" charset="0"/>
              </a:rPr>
              <a:t>/&gt;</a:t>
            </a:r>
            <a:endParaRPr lang="en-US" sz="1400" b="0" dirty="0">
              <a:solidFill>
                <a:srgbClr val="000000"/>
              </a:solidFill>
              <a:latin typeface="Cascadia Mono" panose="020B0609020000020004" pitchFamily="49" charset="0"/>
            </a:endParaRPr>
          </a:p>
          <a:p>
            <a:r>
              <a:rPr lang="en-IN" sz="1400" b="0" dirty="0">
                <a:solidFill>
                  <a:srgbClr val="000000"/>
                </a:solidFill>
                <a:latin typeface="Cascadia Mono" panose="020B0609020000020004" pitchFamily="49" charset="0"/>
              </a:rPr>
              <a:t>            </a:t>
            </a:r>
            <a:r>
              <a:rPr lang="en-IN" sz="1400" b="0" dirty="0">
                <a:solidFill>
                  <a:srgbClr val="0000FF"/>
                </a:solidFill>
                <a:latin typeface="Cascadia Mono" panose="020B0609020000020004" pitchFamily="49" charset="0"/>
              </a:rPr>
              <a:t>&lt;/</a:t>
            </a:r>
            <a:r>
              <a:rPr lang="en-IN" sz="1400" b="0" dirty="0">
                <a:solidFill>
                  <a:srgbClr val="800000"/>
                </a:solidFill>
                <a:latin typeface="Cascadia Mono" panose="020B0609020000020004" pitchFamily="49" charset="0"/>
              </a:rPr>
              <a:t>div</a:t>
            </a:r>
            <a:r>
              <a:rPr lang="en-IN" sz="1400" b="0" dirty="0">
                <a:solidFill>
                  <a:srgbClr val="0000FF"/>
                </a:solidFill>
                <a:latin typeface="Cascadia Mono" panose="020B0609020000020004" pitchFamily="49" charset="0"/>
              </a:rPr>
              <a:t>&gt;</a:t>
            </a:r>
            <a:endParaRPr lang="en-IN" sz="1400" b="0" dirty="0">
              <a:solidFill>
                <a:srgbClr val="000000"/>
              </a:solidFill>
              <a:latin typeface="Cascadia Mono" panose="020B0609020000020004" pitchFamily="49" charset="0"/>
            </a:endParaRPr>
          </a:p>
          <a:p>
            <a:r>
              <a:rPr lang="en-IN" sz="1400" b="0" dirty="0">
                <a:solidFill>
                  <a:srgbClr val="000000"/>
                </a:solidFill>
                <a:latin typeface="Cascadia Mono" panose="020B0609020000020004" pitchFamily="49" charset="0"/>
              </a:rPr>
              <a:t>            </a:t>
            </a:r>
          </a:p>
          <a:p>
            <a:r>
              <a:rPr lang="en-IN" sz="1400" b="0" dirty="0">
                <a:solidFill>
                  <a:srgbClr val="000000"/>
                </a:solidFill>
                <a:latin typeface="Cascadia Mono" panose="020B0609020000020004" pitchFamily="49" charset="0"/>
              </a:rPr>
              <a:t>        </a:t>
            </a:r>
            <a:r>
              <a:rPr lang="en-IN" sz="1400" b="0" dirty="0">
                <a:solidFill>
                  <a:srgbClr val="0000FF"/>
                </a:solidFill>
                <a:latin typeface="Cascadia Mono" panose="020B0609020000020004" pitchFamily="49" charset="0"/>
              </a:rPr>
              <a:t>&lt;/</a:t>
            </a:r>
            <a:r>
              <a:rPr lang="en-IN" sz="1400" b="1" dirty="0">
                <a:solidFill>
                  <a:srgbClr val="800080"/>
                </a:solidFill>
                <a:latin typeface="Cascadia Mono" panose="020B0609020000020004" pitchFamily="49" charset="0"/>
              </a:rPr>
              <a:t>form</a:t>
            </a:r>
            <a:r>
              <a:rPr lang="en-IN" sz="1400" b="0" dirty="0">
                <a:solidFill>
                  <a:srgbClr val="0000FF"/>
                </a:solidFill>
                <a:latin typeface="Cascadia Mono" panose="020B0609020000020004" pitchFamily="49" charset="0"/>
              </a:rPr>
              <a:t>&gt;</a:t>
            </a:r>
            <a:endParaRPr lang="en-IN" sz="1400" b="0" dirty="0">
              <a:solidFill>
                <a:srgbClr val="000000"/>
              </a:solidFill>
              <a:latin typeface="Cascadia Mono" panose="020B0609020000020004" pitchFamily="49" charset="0"/>
            </a:endParaRPr>
          </a:p>
          <a:p>
            <a:r>
              <a:rPr lang="en-IN" sz="1400" b="0" dirty="0">
                <a:solidFill>
                  <a:srgbClr val="0000FF"/>
                </a:solidFill>
                <a:latin typeface="Cascadia Mono" panose="020B0609020000020004" pitchFamily="49" charset="0"/>
              </a:rPr>
              <a:t>&lt;/</a:t>
            </a:r>
            <a:r>
              <a:rPr lang="en-IN" sz="1400" b="0" dirty="0">
                <a:solidFill>
                  <a:srgbClr val="800000"/>
                </a:solidFill>
                <a:latin typeface="Cascadia Mono" panose="020B0609020000020004" pitchFamily="49" charset="0"/>
              </a:rPr>
              <a:t>div</a:t>
            </a:r>
            <a:r>
              <a:rPr lang="en-IN" sz="1400" b="0" dirty="0">
                <a:solidFill>
                  <a:srgbClr val="0000FF"/>
                </a:solidFill>
                <a:latin typeface="Cascadia Mono" panose="020B0609020000020004" pitchFamily="49" charset="0"/>
              </a:rPr>
              <a:t>&gt;</a:t>
            </a:r>
            <a:endParaRPr lang="en-IN" sz="1400" dirty="0"/>
          </a:p>
        </p:txBody>
      </p:sp>
    </p:spTree>
    <p:extLst>
      <p:ext uri="{BB962C8B-B14F-4D97-AF65-F5344CB8AC3E}">
        <p14:creationId xmlns:p14="http://schemas.microsoft.com/office/powerpoint/2010/main" val="3302523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4F2F416-C47F-9570-C8BC-5861ECC507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472" y="0"/>
            <a:ext cx="4243576" cy="1913467"/>
          </a:xfrm>
          <a:prstGeom prst="rect">
            <a:avLst/>
          </a:prstGeom>
        </p:spPr>
      </p:pic>
      <p:sp>
        <p:nvSpPr>
          <p:cNvPr id="7" name="Rectangle 3">
            <a:extLst>
              <a:ext uri="{FF2B5EF4-FFF2-40B4-BE49-F238E27FC236}">
                <a16:creationId xmlns:a16="http://schemas.microsoft.com/office/drawing/2014/main" id="{B9E124E6-4E7E-18A3-CA55-1ED120DE6B57}"/>
              </a:ext>
            </a:extLst>
          </p:cNvPr>
          <p:cNvSpPr>
            <a:spLocks noChangeArrowheads="1"/>
          </p:cNvSpPr>
          <p:nvPr/>
        </p:nvSpPr>
        <p:spPr bwMode="auto">
          <a:xfrm>
            <a:off x="4370048" y="25709"/>
            <a:ext cx="7620528" cy="186204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Step 1: Client Makes an Initial Request</a:t>
            </a:r>
            <a:endParaRPr kumimoji="0" lang="en-US" altLang="en-US" sz="500" b="1" i="0" u="none" strike="noStrike" cap="none" normalizeH="0" baseline="0" dirty="0">
              <a:ln>
                <a:noFill/>
              </a:ln>
              <a:solidFill>
                <a:srgbClr val="3A3A3A"/>
              </a:solidFill>
              <a:effectLst/>
              <a:latin typeface="-apple-system"/>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When users first visit a web application, they send a request to the server (e.g., by entering a URL into their browser or clicking a link). If the user has no existing session, this is recognized as a new session request.</a:t>
            </a:r>
            <a:endParaRPr kumimoji="0" lang="en-US" altLang="en-US" sz="500" b="1" i="0" u="none" strike="noStrike" cap="none" normalizeH="0" baseline="0" dirty="0">
              <a:ln>
                <a:noFill/>
              </a:ln>
              <a:solidFill>
                <a:srgbClr val="3A3A3A"/>
              </a:solidFill>
              <a:effectLst/>
              <a:latin typeface="-apple-system"/>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Step 2: Server Creates a Session</a:t>
            </a:r>
            <a:endParaRPr kumimoji="0" lang="en-US" altLang="en-US" sz="500" b="1" i="0" u="none" strike="noStrike" cap="none" normalizeH="0" baseline="0" dirty="0">
              <a:ln>
                <a:noFill/>
              </a:ln>
              <a:solidFill>
                <a:srgbClr val="3A3A3A"/>
              </a:solidFill>
              <a:effectLst/>
              <a:latin typeface="-apple-system"/>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Upon receiving the request, the server checks if an existing session is associated with this client. Since this is the initial request, no session exists. The server creates a unique session identifier (session ID). This Session ID is important as it will track the user’s session across multiple requests.</a:t>
            </a:r>
            <a:endParaRPr kumimoji="0" lang="en-US" altLang="en-US" sz="900" b="0" i="0" u="none" strike="noStrike" cap="none" normalizeH="0" baseline="0" dirty="0">
              <a:ln>
                <a:noFill/>
              </a:ln>
              <a:solidFill>
                <a:srgbClr val="3A3A3A"/>
              </a:solidFill>
              <a:effectLst/>
              <a:latin typeface="-apple-system"/>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Step 3: Server Stores Session Data</a:t>
            </a:r>
            <a:endParaRPr kumimoji="0" lang="en-US" altLang="en-US" sz="500" b="1" i="0" u="none" strike="noStrike" cap="none" normalizeH="0" baseline="0" dirty="0">
              <a:ln>
                <a:noFill/>
              </a:ln>
              <a:solidFill>
                <a:srgbClr val="3A3A3A"/>
              </a:solidFill>
              <a:effectLst/>
              <a:latin typeface="-apple-system"/>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The session object can store various data, such as user preferences, login status, shopping cart contents, etc., and the session data is stored on the server side in a session store that maps the Session ID. The session store could be in memory, a database, or a distributed cache like Redis. but can be configured based on business requirements.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456D7045-A636-6643-3B2A-4F2311652A86}"/>
              </a:ext>
            </a:extLst>
          </p:cNvPr>
          <p:cNvSpPr txBox="1"/>
          <p:nvPr/>
        </p:nvSpPr>
        <p:spPr>
          <a:xfrm>
            <a:off x="0" y="1913467"/>
            <a:ext cx="12251267" cy="5139869"/>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Step 4: Server Sends Session ID to Client</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server sends the session ID back to the client in the response. This is usually done by setting a cookie in the response header. The cookie contains the session ID and is typically configured with attributes like </a:t>
            </a:r>
            <a:r>
              <a:rPr kumimoji="0" lang="en-US" altLang="en-US" sz="11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HttpOnly</a:t>
            </a: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Secure, etc.</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Step 5: Client Stores the Session ID</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client’s browser stores the session ID cookie under the domain from which it came. This cookie will be sent with every subsequent request to the server, allowing the server to identify the session.</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Step 6: Client Makes Subsequent Requests</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For every subsequent request made by the user’s browser to the server, the browser sends the cookie containing the Session ID back to the server. This happens automatically with every request to the domain, provided the cookie has not expired or been deleted.</a:t>
            </a:r>
            <a:endParaRPr kumimoji="0" lang="en-US" altLang="en-US" sz="900" b="0"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Step 7: Server Retrieves Session Data</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With each incoming request that includes a Session ID, the server looks up the session ID in the session store. If the session ID is valid and not expired, the server retrieves the session data associated with that ID.</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Step 8: Server Processes the Request</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server processes the request, using the session data as needed. For example, it might use the session data to confirm that the user is logged in or to retrieve items in the user’s shopping cart.</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Step 8: Server Updates Session Data (if needed)</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server may update the session data based on the request. For example, if the user adds an item to their shopping cart, the server updates the session data to reflect this change under the user’s Session ID.</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Step 9: Server Sends Response</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server sends a response back to the client, including updates to the session ID cookie (e.g., to extend its expiration time).</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Step 10: Idle Timeout and Expiration</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Sessions typically have an expiration (e.g., 20 minutes of inactivity) or an idle timeout. If the client does not make a request within this period, the session expires and is removed from the session store. On subsequent requests after expiration, the server will create a new session. This is a security measure and a way to free up resources.</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Step 11: User Logs Out</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If the application involves a user log-in, the user can typically log out. When this happens, the session can be explicitly ended by the server. The server then deletes the session data, and usually, the client is instructed to delete the session cookie.</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Step 12: Session End</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Whether a session ends due to logout, expiration, or the user’s manual cookie deletion, once the session ends, the server no longer retains the session data. Any subsequent request will be treated as a new session, repeating the process from Step 1.</a:t>
            </a:r>
            <a:endPar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Note:</a:t>
            </a: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Each browser has a unique </a:t>
            </a:r>
            <a:r>
              <a:rPr kumimoji="0" lang="en-US" altLang="en-US" sz="11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SessionId</a:t>
            </a: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that is deleted at the end of the session and not shared with other browsers. The default session timeout is 20 minutes </a:t>
            </a:r>
            <a:endParaRPr lang="en-IN" dirty="0"/>
          </a:p>
        </p:txBody>
      </p:sp>
    </p:spTree>
    <p:extLst>
      <p:ext uri="{BB962C8B-B14F-4D97-AF65-F5344CB8AC3E}">
        <p14:creationId xmlns:p14="http://schemas.microsoft.com/office/powerpoint/2010/main" val="32952003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311F088-5F57-E2B3-9E5F-61D723DE29D3}"/>
              </a:ext>
            </a:extLst>
          </p:cNvPr>
          <p:cNvSpPr txBox="1"/>
          <p:nvPr/>
        </p:nvSpPr>
        <p:spPr>
          <a:xfrm>
            <a:off x="76199" y="0"/>
            <a:ext cx="11878733" cy="2862322"/>
          </a:xfrm>
          <a:prstGeom prst="rect">
            <a:avLst/>
          </a:prstGeom>
          <a:noFill/>
        </p:spPr>
        <p:txBody>
          <a:bodyPr wrap="square">
            <a:spAutoFit/>
          </a:bodyPr>
          <a:lstStyle/>
          <a:p>
            <a:pPr algn="ctr" fontAlgn="base"/>
            <a:r>
              <a:rPr lang="en-US" b="1" i="0" dirty="0">
                <a:solidFill>
                  <a:srgbClr val="3A3A3A"/>
                </a:solidFill>
                <a:effectLst/>
                <a:highlight>
                  <a:srgbClr val="FFFFFF"/>
                </a:highlight>
                <a:latin typeface="arial" panose="020B0604020202020204" pitchFamily="34" charset="0"/>
              </a:rPr>
              <a:t>Types of Sessions in Web Applications</a:t>
            </a:r>
            <a:endParaRPr lang="en-US" b="1" i="0" dirty="0">
              <a:solidFill>
                <a:srgbClr val="3A3A3A"/>
              </a:solidFill>
              <a:effectLst/>
              <a:highlight>
                <a:srgbClr val="FFFFFF"/>
              </a:highlight>
              <a:latin typeface="-apple-system"/>
            </a:endParaRPr>
          </a:p>
          <a:p>
            <a:pPr algn="just" fontAlgn="base"/>
            <a:r>
              <a:rPr lang="en-US" b="0" i="0" dirty="0">
                <a:solidFill>
                  <a:srgbClr val="000000"/>
                </a:solidFill>
                <a:effectLst/>
                <a:highlight>
                  <a:srgbClr val="FFFFFF"/>
                </a:highlight>
                <a:latin typeface="arial" panose="020B0604020202020204" pitchFamily="34" charset="0"/>
              </a:rPr>
              <a:t>There are primarily two types of sessions in web applications:</a:t>
            </a:r>
          </a:p>
          <a:p>
            <a:pPr algn="just" fontAlgn="base"/>
            <a:endParaRPr lang="en-US" dirty="0">
              <a:solidFill>
                <a:srgbClr val="000000"/>
              </a:solidFill>
              <a:highlight>
                <a:srgbClr val="FFFFFF"/>
              </a:highlight>
              <a:latin typeface="arial" panose="020B0604020202020204" pitchFamily="34" charset="0"/>
            </a:endParaRPr>
          </a:p>
          <a:p>
            <a:pPr algn="just" fontAlgn="base"/>
            <a:endParaRPr lang="en-US"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b="1" i="0" dirty="0">
                <a:solidFill>
                  <a:srgbClr val="000000"/>
                </a:solidFill>
                <a:effectLst/>
                <a:highlight>
                  <a:srgbClr val="FFFFFF"/>
                </a:highlight>
                <a:latin typeface="arial" panose="020B0604020202020204" pitchFamily="34" charset="0"/>
              </a:rPr>
              <a:t>In-Memory or In-Proc Sessions:</a:t>
            </a:r>
            <a:r>
              <a:rPr lang="en-US" b="0" i="0" dirty="0">
                <a:solidFill>
                  <a:srgbClr val="000000"/>
                </a:solidFill>
                <a:effectLst/>
                <a:highlight>
                  <a:srgbClr val="FFFFFF"/>
                </a:highlight>
                <a:latin typeface="arial" panose="020B0604020202020204" pitchFamily="34" charset="0"/>
              </a:rPr>
              <a:t> Data is stored in memory on the web server. This is fast and suitable for small-scale applications but not suitable for large-scale applications or load-balancing environments.</a:t>
            </a:r>
          </a:p>
          <a:p>
            <a:pPr algn="just" fontAlgn="base">
              <a:buFont typeface="Arial" panose="020B0604020202020204" pitchFamily="34" charset="0"/>
              <a:buChar char="•"/>
            </a:pPr>
            <a:endParaRPr lang="en-US"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b="1" i="0" dirty="0">
                <a:solidFill>
                  <a:srgbClr val="000000"/>
                </a:solidFill>
                <a:effectLst/>
                <a:highlight>
                  <a:srgbClr val="FFFFFF"/>
                </a:highlight>
                <a:latin typeface="arial" panose="020B0604020202020204" pitchFamily="34" charset="0"/>
              </a:rPr>
              <a:t>Distributed or Out-Proc Sessions:</a:t>
            </a:r>
            <a:r>
              <a:rPr lang="en-US" b="0" i="0" dirty="0">
                <a:solidFill>
                  <a:srgbClr val="000000"/>
                </a:solidFill>
                <a:effectLst/>
                <a:highlight>
                  <a:srgbClr val="FFFFFF"/>
                </a:highlight>
                <a:latin typeface="arial" panose="020B0604020202020204" pitchFamily="34" charset="0"/>
              </a:rPr>
              <a:t> Data is stored outside the web server process, often using databases or external caching services like Redis or Memcached. This approach is ideal for load-balanced environments to maintain session data consistency.</a:t>
            </a:r>
            <a:endParaRPr lang="en-US" b="0" i="0" dirty="0">
              <a:solidFill>
                <a:srgbClr val="3A3A3A"/>
              </a:solidFill>
              <a:effectLst/>
              <a:highlight>
                <a:srgbClr val="FFFFFF"/>
              </a:highlight>
              <a:latin typeface="-apple-system"/>
            </a:endParaRPr>
          </a:p>
        </p:txBody>
      </p:sp>
    </p:spTree>
    <p:extLst>
      <p:ext uri="{BB962C8B-B14F-4D97-AF65-F5344CB8AC3E}">
        <p14:creationId xmlns:p14="http://schemas.microsoft.com/office/powerpoint/2010/main" val="207002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26FEEA-AE14-9D6A-B01A-6054E8199B4D}"/>
              </a:ext>
            </a:extLst>
          </p:cNvPr>
          <p:cNvSpPr txBox="1"/>
          <p:nvPr/>
        </p:nvSpPr>
        <p:spPr>
          <a:xfrm>
            <a:off x="0" y="0"/>
            <a:ext cx="12175067" cy="6740307"/>
          </a:xfrm>
          <a:prstGeom prst="rect">
            <a:avLst/>
          </a:prstGeom>
          <a:noFill/>
        </p:spPr>
        <p:txBody>
          <a:bodyPr wrap="square">
            <a:spAutoFit/>
          </a:bodyPr>
          <a:lstStyle/>
          <a:p>
            <a:pPr algn="just" fontAlgn="base"/>
            <a:r>
              <a:rPr lang="en-US" sz="1200" b="1" i="0" dirty="0">
                <a:solidFill>
                  <a:srgbClr val="000000"/>
                </a:solidFill>
                <a:effectLst/>
                <a:highlight>
                  <a:srgbClr val="FFFFFF"/>
                </a:highlight>
                <a:latin typeface="arial" panose="020B0604020202020204" pitchFamily="34" charset="0"/>
              </a:rPr>
              <a:t>In-Memory or In-Proc vs. Distributed or Out-Proc Sessions in ASP.NET Core MVC</a:t>
            </a:r>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In ASP.NET Core MVC, session management can be categorized into two main types: In-Memory (In-Proc) sessions and Distributed (Out-Proc) sessions. Each type has its advantages and use cases depending on the application requirements. Let us understand the differences between these two approaches in detail:</a:t>
            </a:r>
          </a:p>
          <a:p>
            <a:pPr algn="just" fontAlgn="base"/>
            <a:endParaRPr lang="en-US" sz="1200" b="0" i="0" dirty="0">
              <a:solidFill>
                <a:srgbClr val="3A3A3A"/>
              </a:solidFill>
              <a:effectLst/>
              <a:highlight>
                <a:srgbClr val="FFFFFF"/>
              </a:highlight>
              <a:latin typeface="-apple-system"/>
            </a:endParaRPr>
          </a:p>
          <a:p>
            <a:pPr algn="just" fontAlgn="base"/>
            <a:r>
              <a:rPr lang="en-US" sz="1200" b="1" i="0" dirty="0">
                <a:solidFill>
                  <a:srgbClr val="000000"/>
                </a:solidFill>
                <a:effectLst/>
                <a:highlight>
                  <a:srgbClr val="FFFFFF"/>
                </a:highlight>
                <a:latin typeface="arial" panose="020B0604020202020204" pitchFamily="34" charset="0"/>
              </a:rPr>
              <a:t>In-Memory (In-Proc) Sessions in ASP.NET Core MVC</a:t>
            </a:r>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In-memory sessions store session data on the web server’s memory (RAM). Data is tied to the application’s process and is lost if the application restarts or crashes. It is suitable for applications running on a single server.</a:t>
            </a:r>
          </a:p>
          <a:p>
            <a:pPr algn="just" fontAlgn="base"/>
            <a:endParaRPr lang="en-US" sz="1200" b="0" i="0" dirty="0">
              <a:solidFill>
                <a:srgbClr val="3A3A3A"/>
              </a:solidFill>
              <a:effectLst/>
              <a:highlight>
                <a:srgbClr val="FFFFFF"/>
              </a:highlight>
              <a:latin typeface="-apple-system"/>
            </a:endParaRPr>
          </a:p>
          <a:p>
            <a:pPr algn="ctr" fontAlgn="base"/>
            <a:r>
              <a:rPr lang="en-US" sz="1200" b="1" i="0" dirty="0">
                <a:solidFill>
                  <a:srgbClr val="000000"/>
                </a:solidFill>
                <a:effectLst/>
                <a:highlight>
                  <a:srgbClr val="FFFFFF"/>
                </a:highlight>
                <a:latin typeface="arial" panose="020B0604020202020204" pitchFamily="34" charset="0"/>
              </a:rPr>
              <a:t>Advantages of In-Memory (In-Proc) Sessions:</a:t>
            </a:r>
            <a:endParaRPr lang="en-US" sz="1200" b="1"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In-memory sessions are faster because they are stored directly in the server’s memory, and hence, data access is done from memory.</a:t>
            </a:r>
            <a:endParaRPr lang="en-US" sz="1200"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This approach is easy to set up and doesn’t require additional infrastructure or configuration.</a:t>
            </a:r>
            <a:endParaRPr lang="en-US" sz="1200" b="0" i="0" dirty="0">
              <a:solidFill>
                <a:srgbClr val="3A3A3A"/>
              </a:solidFill>
              <a:effectLst/>
              <a:highlight>
                <a:srgbClr val="FFFFFF"/>
              </a:highlight>
              <a:latin typeface="-apple-system"/>
            </a:endParaRPr>
          </a:p>
          <a:p>
            <a:pPr algn="ctr" fontAlgn="base"/>
            <a:r>
              <a:rPr lang="en-US" sz="1200" b="1" i="0" dirty="0">
                <a:solidFill>
                  <a:srgbClr val="000000"/>
                </a:solidFill>
                <a:effectLst/>
                <a:highlight>
                  <a:srgbClr val="FFFFFF"/>
                </a:highlight>
                <a:latin typeface="arial" panose="020B0604020202020204" pitchFamily="34" charset="0"/>
              </a:rPr>
              <a:t>Disadvantages of In-Memory (In-Proc) Sessions:</a:t>
            </a:r>
            <a:endParaRPr lang="en-US" sz="1200" b="1"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In-memory sessions are not ideal for load-balanced or multi-server applications that need to scale out across multiple servers because the session data is not shared across the servers.</a:t>
            </a:r>
            <a:endParaRPr lang="en-US" sz="1200"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If the server crashes or restarts, all the session data is lost, which can be problematic for applications that rely heavily on session data.</a:t>
            </a:r>
            <a:endParaRPr lang="en-US" sz="1200"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As the number of users increases, the web server’s memory usage can also increase, which can impact the server’s overall performance.</a:t>
            </a:r>
          </a:p>
          <a:p>
            <a:pPr algn="just" fontAlgn="base">
              <a:buFont typeface="Arial" panose="020B0604020202020204" pitchFamily="34" charset="0"/>
              <a:buChar char="•"/>
            </a:pPr>
            <a:endParaRPr lang="en-US" sz="1200" dirty="0">
              <a:solidFill>
                <a:srgbClr val="000000"/>
              </a:solidFill>
              <a:highlight>
                <a:srgbClr val="FFFFFF"/>
              </a:highlight>
              <a:latin typeface="arial" panose="020B0604020202020204" pitchFamily="34" charset="0"/>
            </a:endParaRPr>
          </a:p>
          <a:p>
            <a:pPr algn="just" fontAlgn="base">
              <a:buFont typeface="Arial" panose="020B0604020202020204" pitchFamily="34" charset="0"/>
              <a:buChar char="•"/>
            </a:pPr>
            <a:endParaRPr lang="en-US" sz="1200" b="0" i="0" dirty="0">
              <a:solidFill>
                <a:srgbClr val="3A3A3A"/>
              </a:solidFill>
              <a:effectLst/>
              <a:highlight>
                <a:srgbClr val="FFFFFF"/>
              </a:highlight>
              <a:latin typeface="-apple-system"/>
            </a:endParaRPr>
          </a:p>
          <a:p>
            <a:pPr fontAlgn="base"/>
            <a:r>
              <a:rPr lang="en-US" sz="1200" b="1" i="0" dirty="0">
                <a:solidFill>
                  <a:srgbClr val="000000"/>
                </a:solidFill>
                <a:effectLst/>
                <a:highlight>
                  <a:srgbClr val="FFFFFF"/>
                </a:highlight>
                <a:latin typeface="arial" panose="020B0604020202020204" pitchFamily="34" charset="0"/>
              </a:rPr>
              <a:t>Distributed (Out-Proc) Sessions in ASP.NET Core MVC</a:t>
            </a:r>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Distributed sessions store session data in an external store such as a database, Redis, or SQL Server. Data is not tied to the application’s process, ensuring persistence across restarts and crashes. It is suitable for applications running in a distributed environment (e.g., cloud, load-balanced setups).</a:t>
            </a:r>
            <a:endParaRPr lang="en-US" sz="1200" b="0" i="0" dirty="0">
              <a:solidFill>
                <a:srgbClr val="3A3A3A"/>
              </a:solidFill>
              <a:effectLst/>
              <a:highlight>
                <a:srgbClr val="FFFFFF"/>
              </a:highlight>
              <a:latin typeface="-apple-system"/>
            </a:endParaRPr>
          </a:p>
          <a:p>
            <a:pPr algn="ctr" fontAlgn="base"/>
            <a:r>
              <a:rPr lang="en-US" sz="1200" b="1" i="0" dirty="0">
                <a:solidFill>
                  <a:srgbClr val="000000"/>
                </a:solidFill>
                <a:effectLst/>
                <a:highlight>
                  <a:srgbClr val="FFFFFF"/>
                </a:highlight>
                <a:latin typeface="arial" panose="020B0604020202020204" pitchFamily="34" charset="0"/>
              </a:rPr>
              <a:t>Advantages of Distributed (Out-Proc) Sessions:</a:t>
            </a:r>
            <a:endParaRPr lang="en-US" sz="1200" b="1"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Distributed sessions are Ideal for load-balanced, multi-server, and cloud-based applications that require scalability and run across multiple servers. The session data is stored in a centralized location, accessible to all servers.</a:t>
            </a:r>
            <a:endParaRPr lang="en-US" sz="1200"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The session data is preserved even if individual web servers are restarted or the application crashes.</a:t>
            </a:r>
            <a:endParaRPr lang="en-US" sz="1200"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It supports various storage backends, such as SQL Server, Redis, and others, which can be chosen based on the application’s specific needs and existing infrastructure.</a:t>
            </a:r>
            <a:endParaRPr lang="en-US" sz="1200"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It enables sharing session data across different servers.</a:t>
            </a:r>
            <a:endParaRPr lang="en-US" sz="1200" b="0" i="0" dirty="0">
              <a:solidFill>
                <a:srgbClr val="3A3A3A"/>
              </a:solidFill>
              <a:effectLst/>
              <a:highlight>
                <a:srgbClr val="FFFFFF"/>
              </a:highlight>
              <a:latin typeface="-apple-system"/>
            </a:endParaRPr>
          </a:p>
          <a:p>
            <a:pPr algn="ctr" fontAlgn="base"/>
            <a:r>
              <a:rPr lang="en-US" sz="1200" b="1" i="0" dirty="0">
                <a:solidFill>
                  <a:srgbClr val="000000"/>
                </a:solidFill>
                <a:effectLst/>
                <a:highlight>
                  <a:srgbClr val="FFFFFF"/>
                </a:highlight>
                <a:latin typeface="arial" panose="020B0604020202020204" pitchFamily="34" charset="0"/>
              </a:rPr>
              <a:t>Disadvantages of Distributed (Out-Proc) Sessions:</a:t>
            </a:r>
            <a:endParaRPr lang="en-US" sz="1200" b="1"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Requires additional configuration and infrastructure setup, such as maintaining a Redis cache or SQL database for session storage.</a:t>
            </a:r>
            <a:endParaRPr lang="en-US" sz="1200"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Depending on the storage mechanism and network latency, accessing session data might be slower compared to in-memory sessions.</a:t>
            </a:r>
            <a:endParaRPr lang="en-US" sz="1200"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Using external services (like Redis Cache) or maintaining dedicated infrastructure for session storage can increase costs.</a:t>
            </a:r>
            <a:endParaRPr lang="en-US" sz="1200" b="0" i="0" dirty="0">
              <a:solidFill>
                <a:srgbClr val="3A3A3A"/>
              </a:solidFill>
              <a:effectLst/>
              <a:highlight>
                <a:srgbClr val="FFFFFF"/>
              </a:highlight>
              <a:latin typeface="-apple-system"/>
            </a:endParaRPr>
          </a:p>
          <a:p>
            <a:pPr algn="ctr" fontAlgn="base"/>
            <a:r>
              <a:rPr lang="en-US" sz="1200" b="1" i="0" dirty="0">
                <a:solidFill>
                  <a:srgbClr val="000000"/>
                </a:solidFill>
                <a:effectLst/>
                <a:highlight>
                  <a:srgbClr val="FFFFFF"/>
                </a:highlight>
                <a:latin typeface="arial" panose="020B0604020202020204" pitchFamily="34" charset="0"/>
              </a:rPr>
              <a:t>Choosing Between In-Memory and Distributed Sessions in ASP.NET Core MVC</a:t>
            </a:r>
            <a:endParaRPr lang="en-US" sz="1200" b="1"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1" i="0" dirty="0">
                <a:solidFill>
                  <a:srgbClr val="000000"/>
                </a:solidFill>
                <a:effectLst/>
                <a:highlight>
                  <a:srgbClr val="FFFFFF"/>
                </a:highlight>
                <a:latin typeface="arial" panose="020B0604020202020204" pitchFamily="34" charset="0"/>
              </a:rPr>
              <a:t>Single Server Environment:</a:t>
            </a:r>
            <a:r>
              <a:rPr lang="en-US" sz="1200" b="0" i="0" dirty="0">
                <a:solidFill>
                  <a:srgbClr val="000000"/>
                </a:solidFill>
                <a:effectLst/>
                <a:highlight>
                  <a:srgbClr val="FFFFFF"/>
                </a:highlight>
                <a:latin typeface="arial" panose="020B0604020202020204" pitchFamily="34" charset="0"/>
              </a:rPr>
              <a:t> Use In-Memory sessions for simplicity and performance.</a:t>
            </a:r>
            <a:endParaRPr lang="en-US" sz="1200"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1" i="0" dirty="0">
                <a:solidFill>
                  <a:srgbClr val="000000"/>
                </a:solidFill>
                <a:effectLst/>
                <a:highlight>
                  <a:srgbClr val="FFFFFF"/>
                </a:highlight>
                <a:latin typeface="arial" panose="020B0604020202020204" pitchFamily="34" charset="0"/>
              </a:rPr>
              <a:t>Load-Balanced or Cloud Environment:</a:t>
            </a:r>
            <a:r>
              <a:rPr lang="en-US" sz="1200" b="0" i="0" dirty="0">
                <a:solidFill>
                  <a:srgbClr val="000000"/>
                </a:solidFill>
                <a:effectLst/>
                <a:highlight>
                  <a:srgbClr val="FFFFFF"/>
                </a:highlight>
                <a:latin typeface="arial" panose="020B0604020202020204" pitchFamily="34" charset="0"/>
              </a:rPr>
              <a:t> Use Distributed sessions for scalability and reliability.</a:t>
            </a:r>
            <a:endParaRPr lang="en-US" sz="1200"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1" i="0" dirty="0">
                <a:solidFill>
                  <a:srgbClr val="000000"/>
                </a:solidFill>
                <a:effectLst/>
                <a:highlight>
                  <a:srgbClr val="FFFFFF"/>
                </a:highlight>
                <a:latin typeface="arial" panose="020B0604020202020204" pitchFamily="34" charset="0"/>
              </a:rPr>
              <a:t>Persistence Requirement:</a:t>
            </a:r>
            <a:r>
              <a:rPr lang="en-US" sz="1200" b="0" i="0" dirty="0">
                <a:solidFill>
                  <a:srgbClr val="000000"/>
                </a:solidFill>
                <a:effectLst/>
                <a:highlight>
                  <a:srgbClr val="FFFFFF"/>
                </a:highlight>
                <a:latin typeface="arial" panose="020B0604020202020204" pitchFamily="34" charset="0"/>
              </a:rPr>
              <a:t> Use Distributed sessions if session data needs to persist across application restarts.</a:t>
            </a:r>
            <a:endParaRPr lang="en-US" sz="1200"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1" i="0" dirty="0">
                <a:solidFill>
                  <a:srgbClr val="000000"/>
                </a:solidFill>
                <a:effectLst/>
                <a:highlight>
                  <a:srgbClr val="FFFFFF"/>
                </a:highlight>
                <a:latin typeface="arial" panose="020B0604020202020204" pitchFamily="34" charset="0"/>
              </a:rPr>
              <a:t>Resource Constraints:</a:t>
            </a:r>
            <a:r>
              <a:rPr lang="en-US" sz="1200" b="0" i="0" dirty="0">
                <a:solidFill>
                  <a:srgbClr val="000000"/>
                </a:solidFill>
                <a:effectLst/>
                <a:highlight>
                  <a:srgbClr val="FFFFFF"/>
                </a:highlight>
                <a:latin typeface="arial" panose="020B0604020202020204" pitchFamily="34" charset="0"/>
              </a:rPr>
              <a:t> Use In-Memory sessions if external dependencies are not feasible.</a:t>
            </a:r>
            <a:endParaRPr lang="en-US" sz="1200" b="0" i="0" dirty="0">
              <a:solidFill>
                <a:srgbClr val="3A3A3A"/>
              </a:solidFill>
              <a:effectLst/>
              <a:highlight>
                <a:srgbClr val="FFFFFF"/>
              </a:highlight>
              <a:latin typeface="-apple-system"/>
            </a:endParaRPr>
          </a:p>
        </p:txBody>
      </p:sp>
    </p:spTree>
    <p:extLst>
      <p:ext uri="{BB962C8B-B14F-4D97-AF65-F5344CB8AC3E}">
        <p14:creationId xmlns:p14="http://schemas.microsoft.com/office/powerpoint/2010/main" val="3598882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BC5773-F6BE-A159-22DB-70353C45C193}"/>
              </a:ext>
            </a:extLst>
          </p:cNvPr>
          <p:cNvSpPr txBox="1"/>
          <p:nvPr/>
        </p:nvSpPr>
        <p:spPr>
          <a:xfrm>
            <a:off x="603801" y="0"/>
            <a:ext cx="7456833" cy="646331"/>
          </a:xfrm>
          <a:prstGeom prst="rect">
            <a:avLst/>
          </a:prstGeom>
          <a:noFill/>
        </p:spPr>
        <p:txBody>
          <a:bodyPr wrap="square">
            <a:spAutoFit/>
          </a:bodyPr>
          <a:lstStyle/>
          <a:p>
            <a:br>
              <a:rPr lang="en-IN" dirty="0"/>
            </a:br>
            <a:r>
              <a:rPr lang="en-IN" b="0" i="0" dirty="0" err="1">
                <a:solidFill>
                  <a:srgbClr val="161616"/>
                </a:solidFill>
                <a:effectLst/>
                <a:latin typeface="SFMono-Regular"/>
              </a:rPr>
              <a:t>builder.Services.AddDistributedMemoryCache</a:t>
            </a:r>
            <a:r>
              <a:rPr lang="en-IN" b="0" i="0" dirty="0">
                <a:solidFill>
                  <a:srgbClr val="161616"/>
                </a:solidFill>
                <a:effectLst/>
                <a:latin typeface="SFMono-Regular"/>
              </a:rPr>
              <a:t>(); //default setting </a:t>
            </a:r>
            <a:endParaRPr lang="en-IN" dirty="0"/>
          </a:p>
        </p:txBody>
      </p:sp>
      <p:sp>
        <p:nvSpPr>
          <p:cNvPr id="7" name="TextBox 6">
            <a:extLst>
              <a:ext uri="{FF2B5EF4-FFF2-40B4-BE49-F238E27FC236}">
                <a16:creationId xmlns:a16="http://schemas.microsoft.com/office/drawing/2014/main" id="{E1FFC269-5D84-2423-8CD9-CFE900609F21}"/>
              </a:ext>
            </a:extLst>
          </p:cNvPr>
          <p:cNvSpPr txBox="1"/>
          <p:nvPr/>
        </p:nvSpPr>
        <p:spPr>
          <a:xfrm>
            <a:off x="146600" y="720877"/>
            <a:ext cx="11531877" cy="3693319"/>
          </a:xfrm>
          <a:prstGeom prst="rect">
            <a:avLst/>
          </a:prstGeom>
          <a:noFill/>
        </p:spPr>
        <p:txBody>
          <a:bodyPr wrap="square">
            <a:spAutoFit/>
          </a:bodyPr>
          <a:lstStyle/>
          <a:p>
            <a:r>
              <a:rPr lang="en-US" b="1" i="1" u="sng" dirty="0"/>
              <a:t>Distributed Memory Cache</a:t>
            </a:r>
          </a:p>
          <a:p>
            <a:r>
              <a:rPr lang="en-US" dirty="0"/>
              <a:t>The Distributed Memory Cache (</a:t>
            </a:r>
            <a:r>
              <a:rPr lang="en-US" dirty="0" err="1"/>
              <a:t>AddDistributedMemoryCache</a:t>
            </a:r>
            <a:r>
              <a:rPr lang="en-US" dirty="0"/>
              <a:t>) is a framework-provided implementation of </a:t>
            </a:r>
            <a:r>
              <a:rPr lang="en-US" dirty="0" err="1"/>
              <a:t>IDistributedCache</a:t>
            </a:r>
            <a:r>
              <a:rPr lang="en-US" dirty="0"/>
              <a:t> that stores items in memory. The Distributed Memory Cache isn't an actual distributed cache. Cached items are stored by the app instance on the server where the app is running.</a:t>
            </a:r>
          </a:p>
          <a:p>
            <a:endParaRPr lang="en-US" dirty="0"/>
          </a:p>
          <a:p>
            <a:r>
              <a:rPr lang="en-US" dirty="0"/>
              <a:t>The Distributed Memory Cache is a useful implementation:</a:t>
            </a:r>
          </a:p>
          <a:p>
            <a:endParaRPr lang="en-US" dirty="0"/>
          </a:p>
          <a:p>
            <a:r>
              <a:rPr lang="en-US" dirty="0"/>
              <a:t>In development and testing scenarios.</a:t>
            </a:r>
          </a:p>
          <a:p>
            <a:r>
              <a:rPr lang="en-US" dirty="0"/>
              <a:t>When a single server is used in production and memory consumption isn't an issue. Implementing the Distributed Memory Cache abstracts cached data storage. It allows for implementing a true distributed caching solution in the future if multiple nodes or fault tolerance become necessary.</a:t>
            </a:r>
          </a:p>
          <a:p>
            <a:r>
              <a:rPr lang="en-US" dirty="0"/>
              <a:t>The sample app makes use of the Distributed Memory Cache when the app is run in the Development environment in </a:t>
            </a:r>
            <a:r>
              <a:rPr lang="en-US" dirty="0" err="1"/>
              <a:t>Program.cs</a:t>
            </a:r>
            <a:r>
              <a:rPr lang="en-US" dirty="0"/>
              <a:t>:</a:t>
            </a:r>
            <a:endParaRPr lang="en-IN" dirty="0"/>
          </a:p>
        </p:txBody>
      </p:sp>
    </p:spTree>
    <p:extLst>
      <p:ext uri="{BB962C8B-B14F-4D97-AF65-F5344CB8AC3E}">
        <p14:creationId xmlns:p14="http://schemas.microsoft.com/office/powerpoint/2010/main" val="3628907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FB04334-09C3-72A8-037B-226E719E0157}"/>
              </a:ext>
            </a:extLst>
          </p:cNvPr>
          <p:cNvSpPr txBox="1"/>
          <p:nvPr/>
        </p:nvSpPr>
        <p:spPr>
          <a:xfrm>
            <a:off x="285749" y="0"/>
            <a:ext cx="11979137" cy="2031325"/>
          </a:xfrm>
          <a:prstGeom prst="rect">
            <a:avLst/>
          </a:prstGeom>
          <a:noFill/>
        </p:spPr>
        <p:txBody>
          <a:bodyPr wrap="square">
            <a:spAutoFit/>
          </a:bodyPr>
          <a:lstStyle/>
          <a:p>
            <a:r>
              <a:rPr lang="en-US" b="1" i="1" u="sng" dirty="0"/>
              <a:t>Distributed SQL Server Cache</a:t>
            </a:r>
          </a:p>
          <a:p>
            <a:r>
              <a:rPr lang="en-US" dirty="0"/>
              <a:t>The Distributed SQL Server Cache implementation (</a:t>
            </a:r>
            <a:r>
              <a:rPr lang="en-US" dirty="0" err="1"/>
              <a:t>AddDistributedSqlServerCache</a:t>
            </a:r>
            <a:r>
              <a:rPr lang="en-US" dirty="0"/>
              <a:t>) allows the distributed cache to use a SQL Server database as its backing store. To create a SQL Server cached item table in a SQL Server instance, you can use the </a:t>
            </a:r>
            <a:r>
              <a:rPr lang="en-US" dirty="0" err="1"/>
              <a:t>sql</a:t>
            </a:r>
            <a:r>
              <a:rPr lang="en-US" dirty="0"/>
              <a:t>-cache tool. The tool creates a table with the name and schema that you specify.</a:t>
            </a:r>
          </a:p>
          <a:p>
            <a:endParaRPr lang="en-US" dirty="0"/>
          </a:p>
          <a:p>
            <a:r>
              <a:rPr lang="en-US" dirty="0"/>
              <a:t>Create a table in SQL Server by running the </a:t>
            </a:r>
            <a:r>
              <a:rPr lang="en-US" dirty="0" err="1"/>
              <a:t>sql</a:t>
            </a:r>
            <a:r>
              <a:rPr lang="en-US" dirty="0"/>
              <a:t>-cache create command. Provide the SQL Server instance (Data Source), database (Initial Catalog), schema (for example, </a:t>
            </a:r>
            <a:r>
              <a:rPr lang="en-US" dirty="0" err="1"/>
              <a:t>dbo</a:t>
            </a:r>
            <a:r>
              <a:rPr lang="en-US" dirty="0"/>
              <a:t>), and table name (for example, </a:t>
            </a:r>
            <a:r>
              <a:rPr lang="en-US" dirty="0" err="1"/>
              <a:t>TestCache</a:t>
            </a:r>
            <a:r>
              <a:rPr lang="en-US" dirty="0"/>
              <a:t>):</a:t>
            </a:r>
            <a:endParaRPr lang="en-IN" dirty="0"/>
          </a:p>
        </p:txBody>
      </p:sp>
      <p:sp>
        <p:nvSpPr>
          <p:cNvPr id="8" name="TextBox 7">
            <a:extLst>
              <a:ext uri="{FF2B5EF4-FFF2-40B4-BE49-F238E27FC236}">
                <a16:creationId xmlns:a16="http://schemas.microsoft.com/office/drawing/2014/main" id="{ACAC2BEE-0270-8260-63CB-049B58AC20D7}"/>
              </a:ext>
            </a:extLst>
          </p:cNvPr>
          <p:cNvSpPr txBox="1"/>
          <p:nvPr/>
        </p:nvSpPr>
        <p:spPr>
          <a:xfrm>
            <a:off x="285748" y="2192297"/>
            <a:ext cx="11671025" cy="9233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dotnet </a:t>
            </a:r>
            <a:r>
              <a:rPr lang="en-IN" dirty="0" err="1"/>
              <a:t>sql</a:t>
            </a:r>
            <a:r>
              <a:rPr lang="en-IN" dirty="0"/>
              <a:t>-cache create "Data Source=(</a:t>
            </a:r>
            <a:r>
              <a:rPr lang="en-IN" dirty="0" err="1"/>
              <a:t>localdb</a:t>
            </a:r>
            <a:r>
              <a:rPr lang="en-IN" dirty="0"/>
              <a:t>)/</a:t>
            </a:r>
            <a:r>
              <a:rPr lang="en-IN" dirty="0" err="1"/>
              <a:t>MSSQLLocalDB;Initial</a:t>
            </a:r>
            <a:r>
              <a:rPr lang="en-IN" dirty="0"/>
              <a:t> </a:t>
            </a:r>
            <a:r>
              <a:rPr lang="en-IN" dirty="0" err="1"/>
              <a:t>Catalog</a:t>
            </a:r>
            <a:r>
              <a:rPr lang="en-IN" dirty="0"/>
              <a:t>=</a:t>
            </a:r>
            <a:r>
              <a:rPr lang="en-IN" dirty="0" err="1"/>
              <a:t>DistCache;Integrated</a:t>
            </a:r>
            <a:r>
              <a:rPr lang="en-IN" dirty="0"/>
              <a:t> Security=True;" </a:t>
            </a:r>
            <a:r>
              <a:rPr lang="en-IN" dirty="0" err="1"/>
              <a:t>dbo</a:t>
            </a:r>
            <a:r>
              <a:rPr lang="en-IN" dirty="0"/>
              <a:t> </a:t>
            </a:r>
            <a:r>
              <a:rPr lang="en-IN" dirty="0" err="1"/>
              <a:t>TestCache</a:t>
            </a:r>
            <a:endParaRPr lang="en-IN" dirty="0"/>
          </a:p>
          <a:p>
            <a:r>
              <a:rPr lang="en-IN" dirty="0"/>
              <a:t>After this command following table get created</a:t>
            </a:r>
          </a:p>
        </p:txBody>
      </p:sp>
      <p:sp>
        <p:nvSpPr>
          <p:cNvPr id="9" name="AutoShape 3" descr="SqlServer Cache Table">
            <a:extLst>
              <a:ext uri="{FF2B5EF4-FFF2-40B4-BE49-F238E27FC236}">
                <a16:creationId xmlns:a16="http://schemas.microsoft.com/office/drawing/2014/main" id="{7B7147F0-D767-588A-1BBB-E60C60AF53A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a:extLst>
              <a:ext uri="{FF2B5EF4-FFF2-40B4-BE49-F238E27FC236}">
                <a16:creationId xmlns:a16="http://schemas.microsoft.com/office/drawing/2014/main" id="{4C3C3571-2494-B1C9-C5E0-2F914A8655BB}"/>
              </a:ext>
            </a:extLst>
          </p:cNvPr>
          <p:cNvPicPr>
            <a:picLocks noChangeAspect="1"/>
          </p:cNvPicPr>
          <p:nvPr/>
        </p:nvPicPr>
        <p:blipFill>
          <a:blip r:embed="rId2"/>
          <a:stretch>
            <a:fillRect/>
          </a:stretch>
        </p:blipFill>
        <p:spPr>
          <a:xfrm>
            <a:off x="285748" y="3429000"/>
            <a:ext cx="4857750" cy="2105025"/>
          </a:xfrm>
          <a:prstGeom prst="rect">
            <a:avLst/>
          </a:prstGeom>
        </p:spPr>
      </p:pic>
      <p:sp>
        <p:nvSpPr>
          <p:cNvPr id="12" name="TextBox 11">
            <a:extLst>
              <a:ext uri="{FF2B5EF4-FFF2-40B4-BE49-F238E27FC236}">
                <a16:creationId xmlns:a16="http://schemas.microsoft.com/office/drawing/2014/main" id="{7B598B02-F540-CF37-ABAB-96EF8D94E26A}"/>
              </a:ext>
            </a:extLst>
          </p:cNvPr>
          <p:cNvSpPr txBox="1"/>
          <p:nvPr/>
        </p:nvSpPr>
        <p:spPr>
          <a:xfrm>
            <a:off x="5630517" y="3429000"/>
            <a:ext cx="6326255" cy="1754326"/>
          </a:xfrm>
          <a:prstGeom prst="rect">
            <a:avLst/>
          </a:prstGeom>
          <a:noFill/>
        </p:spPr>
        <p:txBody>
          <a:bodyPr wrap="square">
            <a:spAutoFit/>
          </a:bodyPr>
          <a:lstStyle/>
          <a:p>
            <a:r>
              <a:rPr lang="en-IN" b="0" i="0" dirty="0" err="1">
                <a:solidFill>
                  <a:srgbClr val="161616"/>
                </a:solidFill>
                <a:effectLst/>
                <a:latin typeface="SFMono-Regular"/>
              </a:rPr>
              <a:t>builder.Services.AddDistributedSqlServerCache</a:t>
            </a:r>
            <a:r>
              <a:rPr lang="en-IN" b="0" i="0" dirty="0">
                <a:solidFill>
                  <a:srgbClr val="161616"/>
                </a:solidFill>
                <a:effectLst/>
                <a:latin typeface="SFMono-Regular"/>
              </a:rPr>
              <a:t>(options =&gt; { </a:t>
            </a:r>
            <a:r>
              <a:rPr lang="en-IN" b="0" i="0" dirty="0" err="1">
                <a:solidFill>
                  <a:srgbClr val="161616"/>
                </a:solidFill>
                <a:effectLst/>
                <a:latin typeface="SFMono-Regular"/>
              </a:rPr>
              <a:t>options.ConnectionString</a:t>
            </a:r>
            <a:r>
              <a:rPr lang="en-IN" b="0" i="0" dirty="0">
                <a:solidFill>
                  <a:srgbClr val="161616"/>
                </a:solidFill>
                <a:effectLst/>
                <a:latin typeface="SFMono-Regular"/>
              </a:rPr>
              <a:t> = </a:t>
            </a:r>
            <a:r>
              <a:rPr lang="en-IN" b="0" i="0" dirty="0" err="1">
                <a:solidFill>
                  <a:srgbClr val="161616"/>
                </a:solidFill>
                <a:effectLst/>
                <a:latin typeface="SFMono-Regular"/>
              </a:rPr>
              <a:t>builder.Configuration.GetConnectionString</a:t>
            </a:r>
            <a:r>
              <a:rPr lang="en-IN" b="0" i="0" dirty="0">
                <a:solidFill>
                  <a:srgbClr val="161616"/>
                </a:solidFill>
                <a:effectLst/>
                <a:latin typeface="SFMono-Regular"/>
              </a:rPr>
              <a:t>( </a:t>
            </a:r>
            <a:r>
              <a:rPr lang="en-IN" b="0" i="0" dirty="0">
                <a:solidFill>
                  <a:srgbClr val="A31515"/>
                </a:solidFill>
                <a:effectLst/>
                <a:latin typeface="SFMono-Regular"/>
              </a:rPr>
              <a:t>"</a:t>
            </a:r>
            <a:r>
              <a:rPr lang="en-IN" b="0" i="0" dirty="0" err="1">
                <a:solidFill>
                  <a:srgbClr val="A31515"/>
                </a:solidFill>
                <a:effectLst/>
                <a:latin typeface="SFMono-Regular"/>
              </a:rPr>
              <a:t>DistCache_ConnectionString</a:t>
            </a:r>
            <a:r>
              <a:rPr lang="en-IN" b="0" i="0" dirty="0">
                <a:solidFill>
                  <a:srgbClr val="A31515"/>
                </a:solidFill>
                <a:effectLst/>
                <a:latin typeface="SFMono-Regular"/>
              </a:rPr>
              <a:t>"</a:t>
            </a:r>
            <a:r>
              <a:rPr lang="en-IN" b="0" i="0" dirty="0">
                <a:solidFill>
                  <a:srgbClr val="161616"/>
                </a:solidFill>
                <a:effectLst/>
                <a:latin typeface="SFMono-Regular"/>
              </a:rPr>
              <a:t>); </a:t>
            </a:r>
          </a:p>
          <a:p>
            <a:r>
              <a:rPr lang="en-IN" b="0" i="0" dirty="0" err="1">
                <a:solidFill>
                  <a:srgbClr val="161616"/>
                </a:solidFill>
                <a:effectLst/>
                <a:latin typeface="SFMono-Regular"/>
              </a:rPr>
              <a:t>options.SchemaName</a:t>
            </a:r>
            <a:r>
              <a:rPr lang="en-IN" b="0" i="0" dirty="0">
                <a:solidFill>
                  <a:srgbClr val="161616"/>
                </a:solidFill>
                <a:effectLst/>
                <a:latin typeface="SFMono-Regular"/>
              </a:rPr>
              <a:t> = </a:t>
            </a:r>
            <a:r>
              <a:rPr lang="en-IN" b="0" i="0" dirty="0">
                <a:solidFill>
                  <a:srgbClr val="A31515"/>
                </a:solidFill>
                <a:effectLst/>
                <a:latin typeface="SFMono-Regular"/>
              </a:rPr>
              <a:t>"</a:t>
            </a:r>
            <a:r>
              <a:rPr lang="en-IN" b="0" i="0" dirty="0" err="1">
                <a:solidFill>
                  <a:srgbClr val="A31515"/>
                </a:solidFill>
                <a:effectLst/>
                <a:latin typeface="SFMono-Regular"/>
              </a:rPr>
              <a:t>dbo</a:t>
            </a:r>
            <a:r>
              <a:rPr lang="en-IN" b="0" i="0" dirty="0">
                <a:solidFill>
                  <a:srgbClr val="A31515"/>
                </a:solidFill>
                <a:effectLst/>
                <a:latin typeface="SFMono-Regular"/>
              </a:rPr>
              <a:t>"</a:t>
            </a:r>
            <a:r>
              <a:rPr lang="en-IN" b="0" i="0" dirty="0">
                <a:solidFill>
                  <a:srgbClr val="161616"/>
                </a:solidFill>
                <a:effectLst/>
                <a:latin typeface="SFMono-Regular"/>
              </a:rPr>
              <a:t>; </a:t>
            </a:r>
          </a:p>
          <a:p>
            <a:r>
              <a:rPr lang="en-IN" b="0" i="0" dirty="0" err="1">
                <a:solidFill>
                  <a:srgbClr val="161616"/>
                </a:solidFill>
                <a:effectLst/>
                <a:latin typeface="SFMono-Regular"/>
              </a:rPr>
              <a:t>options.TableName</a:t>
            </a:r>
            <a:r>
              <a:rPr lang="en-IN" b="0" i="0" dirty="0">
                <a:solidFill>
                  <a:srgbClr val="161616"/>
                </a:solidFill>
                <a:effectLst/>
                <a:latin typeface="SFMono-Regular"/>
              </a:rPr>
              <a:t> = </a:t>
            </a:r>
            <a:r>
              <a:rPr lang="en-IN" b="0" i="0" dirty="0">
                <a:solidFill>
                  <a:srgbClr val="A31515"/>
                </a:solidFill>
                <a:effectLst/>
                <a:latin typeface="SFMono-Regular"/>
              </a:rPr>
              <a:t>"</a:t>
            </a:r>
            <a:r>
              <a:rPr lang="en-IN" b="0" i="0" dirty="0" err="1">
                <a:solidFill>
                  <a:srgbClr val="A31515"/>
                </a:solidFill>
                <a:effectLst/>
                <a:latin typeface="SFMono-Regular"/>
              </a:rPr>
              <a:t>TestCache</a:t>
            </a:r>
            <a:r>
              <a:rPr lang="en-IN" b="0" i="0" dirty="0">
                <a:solidFill>
                  <a:srgbClr val="A31515"/>
                </a:solidFill>
                <a:effectLst/>
                <a:latin typeface="SFMono-Regular"/>
              </a:rPr>
              <a:t>"</a:t>
            </a:r>
            <a:r>
              <a:rPr lang="en-IN" b="0" i="0" dirty="0">
                <a:solidFill>
                  <a:srgbClr val="161616"/>
                </a:solidFill>
                <a:effectLst/>
                <a:latin typeface="SFMono-Regular"/>
              </a:rPr>
              <a:t>; });</a:t>
            </a:r>
            <a:endParaRPr lang="en-IN" dirty="0"/>
          </a:p>
        </p:txBody>
      </p:sp>
    </p:spTree>
    <p:extLst>
      <p:ext uri="{BB962C8B-B14F-4D97-AF65-F5344CB8AC3E}">
        <p14:creationId xmlns:p14="http://schemas.microsoft.com/office/powerpoint/2010/main" val="21896495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9477C09-3531-0987-7A26-6635917A0D19}"/>
              </a:ext>
            </a:extLst>
          </p:cNvPr>
          <p:cNvSpPr/>
          <p:nvPr/>
        </p:nvSpPr>
        <p:spPr>
          <a:xfrm>
            <a:off x="1055802" y="2045616"/>
            <a:ext cx="395926" cy="414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6300A568-1369-78D6-A4BC-7CFEE10AE9FD}"/>
              </a:ext>
            </a:extLst>
          </p:cNvPr>
          <p:cNvSpPr/>
          <p:nvPr/>
        </p:nvSpPr>
        <p:spPr>
          <a:xfrm>
            <a:off x="1753386" y="2139885"/>
            <a:ext cx="1112362" cy="414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C#-600</a:t>
            </a:r>
            <a:endParaRPr lang="en-IN" dirty="0"/>
          </a:p>
        </p:txBody>
      </p:sp>
      <p:sp>
        <p:nvSpPr>
          <p:cNvPr id="8" name="Rectangle 7">
            <a:extLst>
              <a:ext uri="{FF2B5EF4-FFF2-40B4-BE49-F238E27FC236}">
                <a16:creationId xmlns:a16="http://schemas.microsoft.com/office/drawing/2014/main" id="{F6F449B6-65F3-A837-6DC2-8A779047B813}"/>
              </a:ext>
            </a:extLst>
          </p:cNvPr>
          <p:cNvSpPr/>
          <p:nvPr/>
        </p:nvSpPr>
        <p:spPr>
          <a:xfrm>
            <a:off x="1161068" y="2604547"/>
            <a:ext cx="395926" cy="414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EB49CD69-0617-66D2-63DE-3A81376CA438}"/>
              </a:ext>
            </a:extLst>
          </p:cNvPr>
          <p:cNvSpPr/>
          <p:nvPr/>
        </p:nvSpPr>
        <p:spPr>
          <a:xfrm>
            <a:off x="1905786" y="2850072"/>
            <a:ext cx="1112362" cy="414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C-300</a:t>
            </a:r>
            <a:endParaRPr lang="en-IN" dirty="0"/>
          </a:p>
        </p:txBody>
      </p:sp>
      <p:sp>
        <p:nvSpPr>
          <p:cNvPr id="13" name="Rectangle 12">
            <a:extLst>
              <a:ext uri="{FF2B5EF4-FFF2-40B4-BE49-F238E27FC236}">
                <a16:creationId xmlns:a16="http://schemas.microsoft.com/office/drawing/2014/main" id="{E530ABF4-100E-A823-6AFD-9E2B4694E6CD}"/>
              </a:ext>
            </a:extLst>
          </p:cNvPr>
          <p:cNvSpPr/>
          <p:nvPr/>
        </p:nvSpPr>
        <p:spPr>
          <a:xfrm>
            <a:off x="4582997" y="3764455"/>
            <a:ext cx="395926" cy="414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A08B175B-5B8F-1064-C96B-54E5C7AED73F}"/>
              </a:ext>
            </a:extLst>
          </p:cNvPr>
          <p:cNvSpPr/>
          <p:nvPr/>
        </p:nvSpPr>
        <p:spPr>
          <a:xfrm>
            <a:off x="5393703" y="3832441"/>
            <a:ext cx="1112362" cy="414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JS-600</a:t>
            </a:r>
            <a:endParaRPr lang="en-IN" dirty="0"/>
          </a:p>
        </p:txBody>
      </p:sp>
      <p:sp>
        <p:nvSpPr>
          <p:cNvPr id="15" name="Rectangle 14">
            <a:extLst>
              <a:ext uri="{FF2B5EF4-FFF2-40B4-BE49-F238E27FC236}">
                <a16:creationId xmlns:a16="http://schemas.microsoft.com/office/drawing/2014/main" id="{48D0B456-7511-2451-31EB-F507D2B2C08C}"/>
              </a:ext>
            </a:extLst>
          </p:cNvPr>
          <p:cNvSpPr/>
          <p:nvPr/>
        </p:nvSpPr>
        <p:spPr>
          <a:xfrm>
            <a:off x="4593210" y="3235375"/>
            <a:ext cx="395926" cy="414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ADB1A086-5BEC-C574-196C-A24B4833AAE5}"/>
              </a:ext>
            </a:extLst>
          </p:cNvPr>
          <p:cNvSpPr/>
          <p:nvPr/>
        </p:nvSpPr>
        <p:spPr>
          <a:xfrm>
            <a:off x="5290794" y="3329644"/>
            <a:ext cx="1112362" cy="414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HTML-600</a:t>
            </a:r>
            <a:endParaRPr lang="en-IN" dirty="0"/>
          </a:p>
        </p:txBody>
      </p:sp>
      <p:sp>
        <p:nvSpPr>
          <p:cNvPr id="17" name="TextBox 16">
            <a:extLst>
              <a:ext uri="{FF2B5EF4-FFF2-40B4-BE49-F238E27FC236}">
                <a16:creationId xmlns:a16="http://schemas.microsoft.com/office/drawing/2014/main" id="{0DE57E35-E473-373B-F0BB-75F02E4D4A9B}"/>
              </a:ext>
            </a:extLst>
          </p:cNvPr>
          <p:cNvSpPr txBox="1"/>
          <p:nvPr/>
        </p:nvSpPr>
        <p:spPr>
          <a:xfrm>
            <a:off x="593889" y="1404594"/>
            <a:ext cx="2424259" cy="369332"/>
          </a:xfrm>
          <a:prstGeom prst="rect">
            <a:avLst/>
          </a:prstGeom>
          <a:noFill/>
        </p:spPr>
        <p:txBody>
          <a:bodyPr wrap="square" rtlCol="0">
            <a:spAutoFit/>
          </a:bodyPr>
          <a:lstStyle/>
          <a:p>
            <a:r>
              <a:rPr lang="en-US" dirty="0"/>
              <a:t>Product1</a:t>
            </a:r>
            <a:endParaRPr lang="en-IN" dirty="0"/>
          </a:p>
        </p:txBody>
      </p:sp>
      <p:sp>
        <p:nvSpPr>
          <p:cNvPr id="18" name="TextBox 17">
            <a:extLst>
              <a:ext uri="{FF2B5EF4-FFF2-40B4-BE49-F238E27FC236}">
                <a16:creationId xmlns:a16="http://schemas.microsoft.com/office/drawing/2014/main" id="{27EFC2AB-B832-192A-E1FF-FA0CB72AF542}"/>
              </a:ext>
            </a:extLst>
          </p:cNvPr>
          <p:cNvSpPr txBox="1"/>
          <p:nvPr/>
        </p:nvSpPr>
        <p:spPr>
          <a:xfrm>
            <a:off x="8000999" y="1560455"/>
            <a:ext cx="2424259" cy="646331"/>
          </a:xfrm>
          <a:prstGeom prst="rect">
            <a:avLst/>
          </a:prstGeom>
          <a:noFill/>
        </p:spPr>
        <p:txBody>
          <a:bodyPr wrap="square" rtlCol="0">
            <a:spAutoFit/>
          </a:bodyPr>
          <a:lstStyle/>
          <a:p>
            <a:r>
              <a:rPr lang="en-US" dirty="0"/>
              <a:t>Display all product and bill amount</a:t>
            </a:r>
            <a:endParaRPr lang="en-IN" dirty="0"/>
          </a:p>
        </p:txBody>
      </p:sp>
      <p:sp>
        <p:nvSpPr>
          <p:cNvPr id="19" name="TextBox 18">
            <a:extLst>
              <a:ext uri="{FF2B5EF4-FFF2-40B4-BE49-F238E27FC236}">
                <a16:creationId xmlns:a16="http://schemas.microsoft.com/office/drawing/2014/main" id="{354AE7C5-E9C2-95CA-2314-DE93D810A816}"/>
              </a:ext>
            </a:extLst>
          </p:cNvPr>
          <p:cNvSpPr txBox="1"/>
          <p:nvPr/>
        </p:nvSpPr>
        <p:spPr>
          <a:xfrm>
            <a:off x="5272726" y="1441743"/>
            <a:ext cx="2424259" cy="369332"/>
          </a:xfrm>
          <a:prstGeom prst="rect">
            <a:avLst/>
          </a:prstGeom>
          <a:noFill/>
        </p:spPr>
        <p:txBody>
          <a:bodyPr wrap="square" rtlCol="0">
            <a:spAutoFit/>
          </a:bodyPr>
          <a:lstStyle/>
          <a:p>
            <a:r>
              <a:rPr lang="en-US" dirty="0"/>
              <a:t>Product2</a:t>
            </a:r>
            <a:endParaRPr lang="en-IN" dirty="0"/>
          </a:p>
        </p:txBody>
      </p:sp>
    </p:spTree>
    <p:extLst>
      <p:ext uri="{BB962C8B-B14F-4D97-AF65-F5344CB8AC3E}">
        <p14:creationId xmlns:p14="http://schemas.microsoft.com/office/powerpoint/2010/main" val="7848729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5926</TotalTime>
  <Words>4341</Words>
  <Application>Microsoft Office PowerPoint</Application>
  <PresentationFormat>Widescreen</PresentationFormat>
  <Paragraphs>407</Paragraphs>
  <Slides>20</Slides>
  <Notes>0</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-apple-system</vt:lpstr>
      <vt:lpstr>Arial</vt:lpstr>
      <vt:lpstr>Arial</vt:lpstr>
      <vt:lpstr>Calibri</vt:lpstr>
      <vt:lpstr>Calibri Light</vt:lpstr>
      <vt:lpstr>Cascadia Mono</vt:lpstr>
      <vt:lpstr>Consolas</vt:lpstr>
      <vt:lpstr>Segoe UI</vt:lpstr>
      <vt:lpstr>SFMono-Regular</vt:lpstr>
      <vt:lpstr>Office Theme</vt:lpstr>
      <vt:lpstr>PowerPoint Presentation</vt:lpstr>
      <vt:lpstr>PowerPoint Presentation</vt:lpstr>
      <vt:lpstr>PowerPoint Presentation</vt:lpstr>
      <vt:lpstr>PowerPoint Presentation</vt:lpstr>
      <vt:lpstr>PowerPoint Presentation</vt:lpstr>
      <vt:lpstr>PowerPoint Presentation</vt:lpstr>
      <vt:lpstr>How to set session</vt:lpstr>
      <vt:lpstr>How to Read Session</vt:lpstr>
      <vt:lpstr>How to configure session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sriram mantri vidyanidhi infotech academy</cp:lastModifiedBy>
  <cp:revision>34</cp:revision>
  <dcterms:created xsi:type="dcterms:W3CDTF">2021-09-30T06:55:48Z</dcterms:created>
  <dcterms:modified xsi:type="dcterms:W3CDTF">2024-10-24T11:45:58Z</dcterms:modified>
</cp:coreProperties>
</file>