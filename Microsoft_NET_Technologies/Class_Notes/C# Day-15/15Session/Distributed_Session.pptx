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9" r:id="rId4"/>
    <p:sldId id="270" r:id="rId5"/>
    <p:sldId id="271" r:id="rId6"/>
    <p:sldId id="27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D4D1F-C83D-43EC-82A3-75E847846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4BEDF3-BD05-4AD7-AFB5-AC34F353D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FFF22-6218-48DA-9941-4418F927C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1F3AE-0C15-4B03-83EE-AC13A8541BB5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0F557-1AE9-4DF5-8F85-243EF0724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B8B78-E2AA-41B7-B254-ECD41B5CC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384B-5D9A-45B0-BFF5-3E02F381C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81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71B7F-5C43-4813-A9FD-07FB2B0E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E3290-FD64-4A70-8E6C-748E36D3B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11FC3-78C2-45BF-ACA5-897263D51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1F3AE-0C15-4B03-83EE-AC13A8541BB5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50E3B-1F23-4528-916F-3706C4EB3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F94AC-1FAF-4A98-95E2-062D8D940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384B-5D9A-45B0-BFF5-3E02F381C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67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F534B-3E1D-4949-8635-B6533A80B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F43D3B-D294-4411-9D03-FA3F99E37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C3D68-1627-4CEF-9730-B6E7BBD27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1F3AE-0C15-4B03-83EE-AC13A8541BB5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854D9E-405F-4406-ACE7-DC6131AA8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3922C4-6680-40BC-878D-12BDE62D1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384B-5D9A-45B0-BFF5-3E02F381C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2208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D2AEB-9879-4AF8-8241-E85C61B09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9BF87-A3FD-46CD-9D51-71CC12177F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A36F7C-4292-4168-A059-80617A224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969543-3DE8-4AD6-83B7-A837D109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1F3AE-0C15-4B03-83EE-AC13A8541BB5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8ADFBA-8E26-4362-99CA-C5C2863CA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ECBCFB-7E66-48E8-83E2-B30A95E2C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384B-5D9A-45B0-BFF5-3E02F381C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470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433EA-45CA-4D7D-AC9D-783CC7084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537A3-4BDB-487E-B9AA-1EE03893B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055E1E-AD08-4279-8885-B20EFAA831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08CD78-4ACA-4528-A94B-310F8D3079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E038B6-E6A4-43A8-9584-C67BF2AE88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0EB48-E0D8-4729-A489-B3E3B6EF3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1F3AE-0C15-4B03-83EE-AC13A8541BB5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2BE65A-66A2-4D32-A297-D35D8F1F6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63F79F-B758-49E4-BF41-FEC97EEDA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384B-5D9A-45B0-BFF5-3E02F381C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206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F2AAB-3FDF-460B-9C18-188324C80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6854F4-6F00-4ABA-989D-E3ECEF13C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1F3AE-0C15-4B03-83EE-AC13A8541BB5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3DEA3A-D118-413A-A457-4E4F8BBDB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B31E17-B63A-43DA-8114-9CD9F8574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384B-5D9A-45B0-BFF5-3E02F381C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26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B80E54-4D79-4A4F-9E3A-27F202E53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1F3AE-0C15-4B03-83EE-AC13A8541BB5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FF8002-961D-420B-8CFB-5F16FD9F9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EA3DFB-7868-4310-B0E9-8D42AE361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384B-5D9A-45B0-BFF5-3E02F381C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2268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5598A-133F-4387-B4E6-B6034C8AB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87836-2F7F-4242-B2F7-E51928B88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F1217C-5515-4791-8B45-162AF2019F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7C0266-DD6A-4C90-9EED-18915BA03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1F3AE-0C15-4B03-83EE-AC13A8541BB5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C53A1-AB1D-4967-94C2-0EADC79F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407FF-61F2-4517-971A-EFFEED1A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384B-5D9A-45B0-BFF5-3E02F381C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349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B7E90-362C-4D24-9A37-C217C71AF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0634AF-3BA8-478B-86CE-B55CAAD817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7D3BC5-CDDD-4521-BC7B-50DFF84A3A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ACB29-A9B0-40F4-B5AD-909E62CC7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1F3AE-0C15-4B03-83EE-AC13A8541BB5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5411E-E5EA-49D9-ACD5-CEF9B3709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1659D0-2B27-42BF-B21F-D6CA0A7E2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384B-5D9A-45B0-BFF5-3E02F381C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373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07E5E-D62F-4608-833F-3F600CE9B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DEC53F-F8C3-4006-8C03-D66617DA5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8E930-48EB-4846-8982-E4B2D920D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1F3AE-0C15-4B03-83EE-AC13A8541BB5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D37A6-9D3B-4C7B-82F9-781C665F3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E51C6-F87E-4774-9AE5-D75D93C9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384B-5D9A-45B0-BFF5-3E02F381C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669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15E00B-49CA-4572-BDAB-C30335F28F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23BF07-CAE1-42DE-9C81-D542E1B36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378F0-BE7B-4155-A972-D54E6E89B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1F3AE-0C15-4B03-83EE-AC13A8541BB5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1FEE0-62C3-43D0-A062-B3ADF7E61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E176F-6C51-487A-8713-8D179607C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0384B-5D9A-45B0-BFF5-3E02F381C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121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A4D01-D283-47CA-B0DA-0B4FB5971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330272-BAD0-46B5-9848-0EB3D381B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C3E7F-0BBB-4D9B-B99E-3BF415BA6B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E1F3AE-0C15-4B03-83EE-AC13A8541BB5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B1219-01BF-45B7-A5C3-CBBBCD7837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3D0F8-7BB2-4439-A148-2DE707AC8B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0384B-5D9A-45B0-BFF5-3E02F381C4E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543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microsoft.com/en-us/aspnet/core/fundamentals/app-state?view=aspnetcore-5.0#cache" TargetMode="External"/><Relationship Id="rId3" Type="http://schemas.openxmlformats.org/officeDocument/2006/relationships/hyperlink" Target="https://docs.microsoft.com/en-us/aspnet/core/fundamentals/app-state?view=aspnetcore-5.0#session-state" TargetMode="External"/><Relationship Id="rId7" Type="http://schemas.openxmlformats.org/officeDocument/2006/relationships/hyperlink" Target="https://docs.microsoft.com/en-us/aspnet/core/fundamentals/app-state?view=aspnetcore-5.0#httpcontextitems" TargetMode="External"/><Relationship Id="rId2" Type="http://schemas.openxmlformats.org/officeDocument/2006/relationships/hyperlink" Target="https://docs.microsoft.com/en-us/aspnet/core/fundamentals/app-state?view=aspnetcore-5.0#cooki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microsoft.com/en-us/aspnet/core/fundamentals/app-state?view=aspnetcore-5.0#hidden-fields" TargetMode="External"/><Relationship Id="rId5" Type="http://schemas.openxmlformats.org/officeDocument/2006/relationships/hyperlink" Target="https://docs.microsoft.com/en-us/aspnet/core/fundamentals/app-state?view=aspnetcore-5.0#query-strings" TargetMode="External"/><Relationship Id="rId4" Type="http://schemas.openxmlformats.org/officeDocument/2006/relationships/hyperlink" Target="https://docs.microsoft.com/en-us/aspnet/core/fundamentals/app-state?view=aspnetcore-5.0#tempdata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FAEB9-9AF0-4820-B178-08E50DE6A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88E3F6-ECAE-375C-69F1-107366861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573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7A7248-5274-4EE1-9E07-81E1C8B360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1488513"/>
              </p:ext>
            </p:extLst>
          </p:nvPr>
        </p:nvGraphicFramePr>
        <p:xfrm>
          <a:off x="491612" y="1297858"/>
          <a:ext cx="10166556" cy="452798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277033">
                  <a:extLst>
                    <a:ext uri="{9D8B030D-6E8A-4147-A177-3AD203B41FA5}">
                      <a16:colId xmlns:a16="http://schemas.microsoft.com/office/drawing/2014/main" val="276280952"/>
                    </a:ext>
                  </a:extLst>
                </a:gridCol>
                <a:gridCol w="5889523">
                  <a:extLst>
                    <a:ext uri="{9D8B030D-6E8A-4147-A177-3AD203B41FA5}">
                      <a16:colId xmlns:a16="http://schemas.microsoft.com/office/drawing/2014/main" val="2119469205"/>
                    </a:ext>
                  </a:extLst>
                </a:gridCol>
              </a:tblGrid>
              <a:tr h="423185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STATE MANAGEMENT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7380389"/>
                  </a:ext>
                </a:extLst>
              </a:tr>
              <a:tr h="423185"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Storage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Storage mechanism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793658"/>
                  </a:ext>
                </a:extLst>
              </a:tr>
              <a:tr h="825114">
                <a:tc>
                  <a:txBody>
                    <a:bodyPr/>
                    <a:lstStyle/>
                    <a:p>
                      <a:pPr algn="l" fontAlgn="t"/>
                      <a:r>
                        <a:rPr lang="en-IN" u="none" strike="noStrike" dirty="0">
                          <a:effectLst/>
                          <a:hlinkClick r:id="rId2"/>
                        </a:rPr>
                        <a:t>Cookies</a:t>
                      </a:r>
                      <a:endParaRPr lang="en-IN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HTTP cookies. May include data stored using server-side app code.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741554"/>
                  </a:ext>
                </a:extLst>
              </a:tr>
              <a:tr h="740574">
                <a:tc>
                  <a:txBody>
                    <a:bodyPr/>
                    <a:lstStyle/>
                    <a:p>
                      <a:pPr algn="l" fontAlgn="t"/>
                      <a:r>
                        <a:rPr lang="en-IN" u="none" strike="noStrike" dirty="0">
                          <a:effectLst/>
                          <a:hlinkClick r:id="rId3"/>
                        </a:rPr>
                        <a:t>Session state</a:t>
                      </a:r>
                      <a:endParaRPr lang="en-IN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HTTP cookies and server-side app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024975"/>
                  </a:ext>
                </a:extLst>
              </a:tr>
              <a:tr h="423185">
                <a:tc>
                  <a:txBody>
                    <a:bodyPr/>
                    <a:lstStyle/>
                    <a:p>
                      <a:pPr algn="l" fontAlgn="t"/>
                      <a:r>
                        <a:rPr lang="en-IN" u="none" strike="noStrike" dirty="0" err="1">
                          <a:effectLst/>
                          <a:hlinkClick r:id="rId4"/>
                        </a:rPr>
                        <a:t>TempData</a:t>
                      </a:r>
                      <a:endParaRPr lang="en-IN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effectLst/>
                        </a:rPr>
                        <a:t>HTTP cookies or session 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255987"/>
                  </a:ext>
                </a:extLst>
              </a:tr>
              <a:tr h="423185">
                <a:tc>
                  <a:txBody>
                    <a:bodyPr/>
                    <a:lstStyle/>
                    <a:p>
                      <a:pPr algn="l" fontAlgn="t"/>
                      <a:r>
                        <a:rPr lang="en-IN" u="none" strike="noStrike" dirty="0">
                          <a:effectLst/>
                          <a:hlinkClick r:id="rId5"/>
                        </a:rPr>
                        <a:t>Query strings</a:t>
                      </a:r>
                      <a:endParaRPr lang="en-IN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HTTP query strings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583035"/>
                  </a:ext>
                </a:extLst>
              </a:tr>
              <a:tr h="423185">
                <a:tc>
                  <a:txBody>
                    <a:bodyPr/>
                    <a:lstStyle/>
                    <a:p>
                      <a:pPr algn="l" fontAlgn="t"/>
                      <a:r>
                        <a:rPr lang="en-IN" u="none" strike="noStrike" dirty="0">
                          <a:effectLst/>
                          <a:hlinkClick r:id="rId6"/>
                        </a:rPr>
                        <a:t>Hidden fields</a:t>
                      </a:r>
                      <a:endParaRPr lang="en-IN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HTTP form fields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2740664"/>
                  </a:ext>
                </a:extLst>
              </a:tr>
              <a:tr h="423185">
                <a:tc>
                  <a:txBody>
                    <a:bodyPr/>
                    <a:lstStyle/>
                    <a:p>
                      <a:pPr algn="l" fontAlgn="t"/>
                      <a:r>
                        <a:rPr lang="en-IN" u="none" strike="noStrike" dirty="0" err="1">
                          <a:effectLst/>
                          <a:hlinkClick r:id="rId7"/>
                        </a:rPr>
                        <a:t>HttpContext.Items</a:t>
                      </a:r>
                      <a:endParaRPr lang="en-IN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>
                          <a:effectLst/>
                        </a:rPr>
                        <a:t>Server-side app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6306418"/>
                  </a:ext>
                </a:extLst>
              </a:tr>
              <a:tr h="423185">
                <a:tc>
                  <a:txBody>
                    <a:bodyPr/>
                    <a:lstStyle/>
                    <a:p>
                      <a:pPr algn="l" fontAlgn="t"/>
                      <a:r>
                        <a:rPr lang="en-IN" u="none" strike="noStrike" dirty="0">
                          <a:effectLst/>
                          <a:hlinkClick r:id="rId8"/>
                        </a:rPr>
                        <a:t>Cache</a:t>
                      </a:r>
                      <a:endParaRPr lang="en-IN" dirty="0"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dirty="0">
                          <a:effectLst/>
                        </a:rPr>
                        <a:t>Server-side app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653641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1D86A61-BCD4-4A2C-86B1-54D92FEDD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613" y="154835"/>
            <a:ext cx="11434916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State management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171717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171717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State can be stored using several approaches. Each approach is described later in this topic.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196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84C18E-BEF2-5223-8853-88D5C5829DB5}"/>
              </a:ext>
            </a:extLst>
          </p:cNvPr>
          <p:cNvSpPr/>
          <p:nvPr/>
        </p:nvSpPr>
        <p:spPr>
          <a:xfrm>
            <a:off x="1517715" y="2733773"/>
            <a:ext cx="2347275" cy="25640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Login Page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5F7F41-5A50-4A27-D26C-4FABDFC3B1E0}"/>
              </a:ext>
            </a:extLst>
          </p:cNvPr>
          <p:cNvSpPr/>
          <p:nvPr/>
        </p:nvSpPr>
        <p:spPr>
          <a:xfrm>
            <a:off x="4158792" y="2733773"/>
            <a:ext cx="2347275" cy="25640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Product Page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63C768-84EC-3CD2-D77A-ADCFC970FA39}"/>
              </a:ext>
            </a:extLst>
          </p:cNvPr>
          <p:cNvSpPr/>
          <p:nvPr/>
        </p:nvSpPr>
        <p:spPr>
          <a:xfrm>
            <a:off x="7128234" y="2733773"/>
            <a:ext cx="2347275" cy="25640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Cart Page</a:t>
            </a:r>
            <a:endParaRPr lang="en-IN" dirty="0"/>
          </a:p>
        </p:txBody>
      </p:sp>
      <p:sp>
        <p:nvSpPr>
          <p:cNvPr id="9" name="Smiley Face 8">
            <a:extLst>
              <a:ext uri="{FF2B5EF4-FFF2-40B4-BE49-F238E27FC236}">
                <a16:creationId xmlns:a16="http://schemas.microsoft.com/office/drawing/2014/main" id="{AFC76C80-9EF9-B4FF-9C8C-E53A9EFE419A}"/>
              </a:ext>
            </a:extLst>
          </p:cNvPr>
          <p:cNvSpPr/>
          <p:nvPr/>
        </p:nvSpPr>
        <p:spPr>
          <a:xfrm>
            <a:off x="386499" y="1451728"/>
            <a:ext cx="980388" cy="1036948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0E47A7-9C06-2344-583A-7CC04706AC75}"/>
              </a:ext>
            </a:extLst>
          </p:cNvPr>
          <p:cNvCxnSpPr>
            <a:cxnSpLocks/>
          </p:cNvCxnSpPr>
          <p:nvPr/>
        </p:nvCxnSpPr>
        <p:spPr>
          <a:xfrm>
            <a:off x="1630837" y="1866507"/>
            <a:ext cx="864769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638DD67-2FBF-A948-0EF8-43604CCEABCB}"/>
              </a:ext>
            </a:extLst>
          </p:cNvPr>
          <p:cNvSpPr txBox="1"/>
          <p:nvPr/>
        </p:nvSpPr>
        <p:spPr>
          <a:xfrm>
            <a:off x="1366887" y="367645"/>
            <a:ext cx="10435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Session is per user global variable</a:t>
            </a:r>
          </a:p>
          <a:p>
            <a:r>
              <a:rPr lang="en-US" dirty="0" err="1"/>
              <a:t>Ie</a:t>
            </a:r>
            <a:r>
              <a:rPr lang="en-US" dirty="0"/>
              <a:t>. Once data is stored in Session it can be read in any page of that web site.</a:t>
            </a:r>
          </a:p>
          <a:p>
            <a:r>
              <a:rPr lang="en-US" dirty="0"/>
              <a:t>It is user specific and browser specific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3197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76E59C-D575-0846-7F51-F19BC9583624}"/>
              </a:ext>
            </a:extLst>
          </p:cNvPr>
          <p:cNvSpPr txBox="1"/>
          <p:nvPr/>
        </p:nvSpPr>
        <p:spPr>
          <a:xfrm>
            <a:off x="184150" y="37700"/>
            <a:ext cx="98552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1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Install-Package </a:t>
            </a:r>
            <a:r>
              <a:rPr lang="en-IN" b="1" i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Microsoft.EntityFrameworkCore.SqlServer</a:t>
            </a:r>
            <a:br>
              <a:rPr lang="en-IN" dirty="0"/>
            </a:br>
            <a:r>
              <a:rPr lang="en-IN" b="1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Install-Package </a:t>
            </a:r>
            <a:r>
              <a:rPr lang="en-IN" b="1" i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Microsoft.Extensions.Caching.SqlServer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422AB-F087-7680-B343-A9A1A2814634}"/>
              </a:ext>
            </a:extLst>
          </p:cNvPr>
          <p:cNvSpPr txBox="1"/>
          <p:nvPr/>
        </p:nvSpPr>
        <p:spPr>
          <a:xfrm>
            <a:off x="84666" y="1015326"/>
            <a:ext cx="11624733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 fontAlgn="base"/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Configure SQL Server for Session Storage</a:t>
            </a:r>
            <a:endParaRPr lang="en-US" b="1" i="0" dirty="0">
              <a:solidFill>
                <a:srgbClr val="3A3A3A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algn="just" fontAlgn="base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First, create a database in the SQL Server database with the </a:t>
            </a:r>
            <a:r>
              <a:rPr 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SessionDB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(CREATE DATABASE </a:t>
            </a:r>
            <a:r>
              <a:rPr lang="en-US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SessionDB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;),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</a:t>
            </a:r>
            <a:endParaRPr lang="en-US" b="0" i="0" dirty="0">
              <a:solidFill>
                <a:srgbClr val="3A3A3A"/>
              </a:solidFill>
              <a:effectLst/>
              <a:highlight>
                <a:srgbClr val="FFFFFF"/>
              </a:highlight>
              <a:latin typeface="-apple-system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301885-6DFE-775B-CE82-8948CC5F4DFD}"/>
              </a:ext>
            </a:extLst>
          </p:cNvPr>
          <p:cNvSpPr txBox="1"/>
          <p:nvPr/>
        </p:nvSpPr>
        <p:spPr>
          <a:xfrm>
            <a:off x="84666" y="1864268"/>
            <a:ext cx="7196667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The 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dotnet SQL-cache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 command is part of the .NET Core CLI, specifically designed for working with distributed SQL server cache</a:t>
            </a:r>
          </a:p>
          <a:p>
            <a:endParaRPr lang="en-IN" b="1" i="0" dirty="0">
              <a:solidFill>
                <a:srgbClr val="0000FF"/>
              </a:solidFill>
              <a:effectLst/>
              <a:highlight>
                <a:srgbClr val="FFFFFF"/>
              </a:highlight>
              <a:latin typeface="arial" panose="020B0604020202020204" pitchFamily="34" charset="0"/>
            </a:endParaRPr>
          </a:p>
          <a:p>
            <a:endParaRPr lang="en-IN" b="1" dirty="0">
              <a:solidFill>
                <a:srgbClr val="0000FF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IN" b="1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dotnet </a:t>
            </a:r>
            <a:r>
              <a:rPr lang="en-IN" b="1" i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sql</a:t>
            </a:r>
            <a:r>
              <a:rPr lang="en-IN" b="1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-cache create “Data Source=LAPTOP-6P5NK25R\SQLSERVER2022DEV;Initial </a:t>
            </a:r>
            <a:r>
              <a:rPr lang="en-IN" b="1" i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Catalog</a:t>
            </a:r>
            <a:r>
              <a:rPr lang="en-IN" b="1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=</a:t>
            </a:r>
            <a:r>
              <a:rPr lang="en-IN" b="1" i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SessionDB;Integrated</a:t>
            </a:r>
            <a:r>
              <a:rPr lang="en-IN" b="1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Security=</a:t>
            </a:r>
            <a:r>
              <a:rPr lang="en-IN" b="1" i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True;TrustServerCertificate</a:t>
            </a:r>
            <a:r>
              <a:rPr lang="en-IN" b="1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=True” </a:t>
            </a:r>
            <a:r>
              <a:rPr lang="en-IN" b="1" i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dbo</a:t>
            </a:r>
            <a:r>
              <a:rPr lang="en-IN" b="1" i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</a:t>
            </a:r>
            <a:r>
              <a:rPr lang="en-IN" b="1" i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MySessions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FC1FC3-3A1B-3656-700A-866998EA1A78}"/>
              </a:ext>
            </a:extLst>
          </p:cNvPr>
          <p:cNvSpPr txBox="1"/>
          <p:nvPr/>
        </p:nvSpPr>
        <p:spPr>
          <a:xfrm>
            <a:off x="0" y="477920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Once the above command is executed successfully, the </a:t>
            </a: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MySessions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table must be created in the </a:t>
            </a: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SessionDB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database with the following structure:</a:t>
            </a:r>
            <a:endParaRPr lang="en-IN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3CCDC697-B735-75D9-8108-E6F1E6A13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467" y="2598130"/>
            <a:ext cx="3505200" cy="215444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var(--ff-mono)"/>
              </a:rPr>
              <a:t>dotnet tool install --global dotnet-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var(--ff-mono)"/>
              </a:rPr>
              <a:t>sql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var(--ff-mono)"/>
              </a:rPr>
              <a:t>-cache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445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F5025D-D2A3-8400-F46F-E4A11F6A6D5F}"/>
              </a:ext>
            </a:extLst>
          </p:cNvPr>
          <p:cNvSpPr txBox="1"/>
          <p:nvPr/>
        </p:nvSpPr>
        <p:spPr>
          <a:xfrm>
            <a:off x="118533" y="0"/>
            <a:ext cx="7730067" cy="310854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Index()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HttpContext.Session.SetInt32(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UserId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123456);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HttpContext.Session.SetString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UserName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"vita@cdac.in"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IActionResult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Privacy()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sessionUserName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HttpContext.Session.GetString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UserName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ViewBag.UserName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sessionUserName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var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sessionUserId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HttpContext.Session.GetInt32(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UserId</a:t>
            </a:r>
            <a:r>
              <a:rPr lang="en-IN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ViewBag.UserId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sessionUserId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</a:t>
            </a:r>
            <a:r>
              <a:rPr lang="en-IN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View();</a:t>
            </a:r>
          </a:p>
          <a:p>
            <a:r>
              <a:rPr lang="en-IN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}</a:t>
            </a:r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668A6D-814F-6103-1A6C-DFC82B5C488C}"/>
              </a:ext>
            </a:extLst>
          </p:cNvPr>
          <p:cNvSpPr txBox="1"/>
          <p:nvPr/>
        </p:nvSpPr>
        <p:spPr>
          <a:xfrm>
            <a:off x="431800" y="4173203"/>
            <a:ext cx="6096000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@{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05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ViewData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[</a:t>
            </a:r>
            <a:r>
              <a:rPr lang="en-IN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"Title"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 = </a:t>
            </a:r>
            <a:r>
              <a:rPr lang="en-IN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050" b="1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Privacy Policy"</a:t>
            </a:r>
            <a:r>
              <a:rPr lang="en-IN" sz="105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050" b="1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05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h1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@ViewData[</a:t>
            </a:r>
            <a:r>
              <a:rPr lang="en-IN" sz="105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"Title"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]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05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h1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05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US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 this page to detail your site's privacy policy.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US" sz="105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</a:t>
            </a:r>
            <a:r>
              <a:rPr lang="en-US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05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>
                <a:solidFill>
                  <a:srgbClr val="FF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="text-left"&gt;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05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 Name: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05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@ViewBag.UserName</a:t>
            </a: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050" dirty="0" err="1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br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/&gt;</a:t>
            </a:r>
            <a:endParaRPr lang="en-IN" sz="105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IN" sz="105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User Id: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05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r>
              <a:rPr lang="en-IN" sz="105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@ViewBag.UserId</a:t>
            </a:r>
          </a:p>
          <a:p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&lt;/</a:t>
            </a:r>
            <a:r>
              <a:rPr lang="en-IN" sz="1050" dirty="0">
                <a:solidFill>
                  <a:srgbClr val="8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div</a:t>
            </a:r>
            <a:r>
              <a:rPr lang="en-IN" sz="105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75932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19D4B3-E8BE-63F1-DBC3-9731AC0D8CD2}"/>
              </a:ext>
            </a:extLst>
          </p:cNvPr>
          <p:cNvSpPr txBox="1"/>
          <p:nvPr/>
        </p:nvSpPr>
        <p:spPr>
          <a:xfrm>
            <a:off x="110067" y="220133"/>
            <a:ext cx="1181100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builder.Services.AddDbContext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MyDbcontext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&gt;(options =&gt;</a:t>
            </a:r>
          </a:p>
          <a:p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Configure the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DbContext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to use SQL Server with the connection string from configuration</a:t>
            </a:r>
          </a:p>
          <a:p>
            <a:endParaRPr lang="en-US" sz="12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options.UseSqlServer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builder.Configuration.GetConnectionString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EFCoreDBConnection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);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Add and configure the Distributed SQL Server Cache service for session storage</a:t>
            </a:r>
          </a:p>
          <a:p>
            <a:endParaRPr lang="en-US" sz="1200" dirty="0">
              <a:solidFill>
                <a:srgbClr val="008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builder.Services.AddDistributedSqlServerCache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(options =&gt;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Set the connection string for connecting to the SQL Server where session data will be stored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options.ConnectionString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builder.Configuration.GetConnectionString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EFCoreDBConnection</a:t>
            </a:r>
            <a:r>
              <a:rPr lang="en-US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Set the database schema where the session table will be located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options.SchemaName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dbo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Set the table name where session data will be stored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options.TableName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2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MySessions</a:t>
            </a:r>
            <a:r>
              <a:rPr lang="en-IN" sz="12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Add and configure the Session service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builder.Services.AddSession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(options =&gt;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{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Set the idle timeout for the session; the session will expire if inactive for this duration</a:t>
            </a: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options.IdleTimeout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TimeSpan</a:t>
            </a:r>
            <a:r>
              <a:rPr lang="en-US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.FromMinutes</a:t>
            </a:r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(30);</a:t>
            </a:r>
          </a:p>
          <a:p>
            <a:endParaRPr lang="en-US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Set the </a:t>
            </a:r>
            <a:r>
              <a:rPr lang="en-US" sz="12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HttpOnly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property to true to prevent client-side scripts from accessing the session cookie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options.Cookie.HttpOnly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endParaRPr lang="en-IN" sz="12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Mark the session cookie as essential, which means it will be included even if the user has not given consent for non-essential cookies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    </a:t>
            </a:r>
            <a:r>
              <a:rPr lang="en-IN" sz="12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options.Cookie.IsEssential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IN" sz="12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IN" sz="12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    });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899502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5919</TotalTime>
  <Words>645</Words>
  <Application>Microsoft Office PowerPoint</Application>
  <PresentationFormat>Widescreen</PresentationFormat>
  <Paragraphs>92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-apple-system</vt:lpstr>
      <vt:lpstr>Arial</vt:lpstr>
      <vt:lpstr>Arial</vt:lpstr>
      <vt:lpstr>Calibri</vt:lpstr>
      <vt:lpstr>Calibri Light</vt:lpstr>
      <vt:lpstr>Cascadia Mono</vt:lpstr>
      <vt:lpstr>Segoe UI</vt:lpstr>
      <vt:lpstr>var(--ff-mono)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Ketki Acharya</dc:creator>
  <cp:lastModifiedBy>sriram mantri vidyanidhi infotech academy</cp:lastModifiedBy>
  <cp:revision>41</cp:revision>
  <dcterms:created xsi:type="dcterms:W3CDTF">2021-09-30T06:55:48Z</dcterms:created>
  <dcterms:modified xsi:type="dcterms:W3CDTF">2024-09-24T13:34:41Z</dcterms:modified>
</cp:coreProperties>
</file>