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5" r:id="rId6"/>
    <p:sldId id="261" r:id="rId7"/>
    <p:sldId id="262" r:id="rId8"/>
    <p:sldId id="263" r:id="rId9"/>
    <p:sldId id="264"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9BC6C-AA9F-4773-9D05-337D82D97A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66C7F0E-4A10-496A-B26E-12CB018EE5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D17754E-1586-4E06-9722-6BD2CD15B3F6}"/>
              </a:ext>
            </a:extLst>
          </p:cNvPr>
          <p:cNvSpPr>
            <a:spLocks noGrp="1"/>
          </p:cNvSpPr>
          <p:nvPr>
            <p:ph type="dt" sz="half" idx="10"/>
          </p:nvPr>
        </p:nvSpPr>
        <p:spPr/>
        <p:txBody>
          <a:bodyPr/>
          <a:lstStyle/>
          <a:p>
            <a:fld id="{A823177C-286C-43E4-B11E-C95A78006D89}" type="datetimeFigureOut">
              <a:rPr lang="en-IN" smtClean="0"/>
              <a:t>04-09-2024</a:t>
            </a:fld>
            <a:endParaRPr lang="en-IN"/>
          </a:p>
        </p:txBody>
      </p:sp>
      <p:sp>
        <p:nvSpPr>
          <p:cNvPr id="5" name="Footer Placeholder 4">
            <a:extLst>
              <a:ext uri="{FF2B5EF4-FFF2-40B4-BE49-F238E27FC236}">
                <a16:creationId xmlns:a16="http://schemas.microsoft.com/office/drawing/2014/main" id="{F3763C9B-5FFA-4E96-86E9-0AAC89D195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C80A52-9BEE-40D3-A825-10ABEB84415C}"/>
              </a:ext>
            </a:extLst>
          </p:cNvPr>
          <p:cNvSpPr>
            <a:spLocks noGrp="1"/>
          </p:cNvSpPr>
          <p:nvPr>
            <p:ph type="sldNum" sz="quarter" idx="12"/>
          </p:nvPr>
        </p:nvSpPr>
        <p:spPr/>
        <p:txBody>
          <a:bodyPr/>
          <a:lstStyle/>
          <a:p>
            <a:fld id="{653A43BA-AAAB-457B-9555-D25D53B92E75}" type="slidenum">
              <a:rPr lang="en-IN" smtClean="0"/>
              <a:t>‹#›</a:t>
            </a:fld>
            <a:endParaRPr lang="en-IN"/>
          </a:p>
        </p:txBody>
      </p:sp>
    </p:spTree>
    <p:extLst>
      <p:ext uri="{BB962C8B-B14F-4D97-AF65-F5344CB8AC3E}">
        <p14:creationId xmlns:p14="http://schemas.microsoft.com/office/powerpoint/2010/main" val="1380826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699AA-9FE3-4CE4-98C3-D8D01E3293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E5E738-3B83-420C-B35B-E57F50FD93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64BA8D-FA64-40B0-9AC5-2C0A58241E0E}"/>
              </a:ext>
            </a:extLst>
          </p:cNvPr>
          <p:cNvSpPr>
            <a:spLocks noGrp="1"/>
          </p:cNvSpPr>
          <p:nvPr>
            <p:ph type="dt" sz="half" idx="10"/>
          </p:nvPr>
        </p:nvSpPr>
        <p:spPr/>
        <p:txBody>
          <a:bodyPr/>
          <a:lstStyle/>
          <a:p>
            <a:fld id="{A823177C-286C-43E4-B11E-C95A78006D89}" type="datetimeFigureOut">
              <a:rPr lang="en-IN" smtClean="0"/>
              <a:t>04-09-2024</a:t>
            </a:fld>
            <a:endParaRPr lang="en-IN"/>
          </a:p>
        </p:txBody>
      </p:sp>
      <p:sp>
        <p:nvSpPr>
          <p:cNvPr id="5" name="Footer Placeholder 4">
            <a:extLst>
              <a:ext uri="{FF2B5EF4-FFF2-40B4-BE49-F238E27FC236}">
                <a16:creationId xmlns:a16="http://schemas.microsoft.com/office/drawing/2014/main" id="{AFA23371-712A-4A57-90FA-0707F92B43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C9A925-2F2B-48EA-9642-BE39579A726B}"/>
              </a:ext>
            </a:extLst>
          </p:cNvPr>
          <p:cNvSpPr>
            <a:spLocks noGrp="1"/>
          </p:cNvSpPr>
          <p:nvPr>
            <p:ph type="sldNum" sz="quarter" idx="12"/>
          </p:nvPr>
        </p:nvSpPr>
        <p:spPr/>
        <p:txBody>
          <a:bodyPr/>
          <a:lstStyle/>
          <a:p>
            <a:fld id="{653A43BA-AAAB-457B-9555-D25D53B92E75}" type="slidenum">
              <a:rPr lang="en-IN" smtClean="0"/>
              <a:t>‹#›</a:t>
            </a:fld>
            <a:endParaRPr lang="en-IN"/>
          </a:p>
        </p:txBody>
      </p:sp>
    </p:spTree>
    <p:extLst>
      <p:ext uri="{BB962C8B-B14F-4D97-AF65-F5344CB8AC3E}">
        <p14:creationId xmlns:p14="http://schemas.microsoft.com/office/powerpoint/2010/main" val="382501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2DFBF-7092-42AA-A0BA-29C959CE1A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E5BA03E-BEE9-4116-9434-DB53598B28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34CCBE-445B-48B6-8614-F50C32D5529D}"/>
              </a:ext>
            </a:extLst>
          </p:cNvPr>
          <p:cNvSpPr>
            <a:spLocks noGrp="1"/>
          </p:cNvSpPr>
          <p:nvPr>
            <p:ph type="dt" sz="half" idx="10"/>
          </p:nvPr>
        </p:nvSpPr>
        <p:spPr/>
        <p:txBody>
          <a:bodyPr/>
          <a:lstStyle/>
          <a:p>
            <a:fld id="{A823177C-286C-43E4-B11E-C95A78006D89}" type="datetimeFigureOut">
              <a:rPr lang="en-IN" smtClean="0"/>
              <a:t>04-09-2024</a:t>
            </a:fld>
            <a:endParaRPr lang="en-IN"/>
          </a:p>
        </p:txBody>
      </p:sp>
      <p:sp>
        <p:nvSpPr>
          <p:cNvPr id="5" name="Footer Placeholder 4">
            <a:extLst>
              <a:ext uri="{FF2B5EF4-FFF2-40B4-BE49-F238E27FC236}">
                <a16:creationId xmlns:a16="http://schemas.microsoft.com/office/drawing/2014/main" id="{A838F3C0-A98B-4176-A0E3-C7EC95BC04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567DA0-36EB-47DA-8A06-7619911F642F}"/>
              </a:ext>
            </a:extLst>
          </p:cNvPr>
          <p:cNvSpPr>
            <a:spLocks noGrp="1"/>
          </p:cNvSpPr>
          <p:nvPr>
            <p:ph type="sldNum" sz="quarter" idx="12"/>
          </p:nvPr>
        </p:nvSpPr>
        <p:spPr/>
        <p:txBody>
          <a:bodyPr/>
          <a:lstStyle/>
          <a:p>
            <a:fld id="{653A43BA-AAAB-457B-9555-D25D53B92E75}" type="slidenum">
              <a:rPr lang="en-IN" smtClean="0"/>
              <a:t>‹#›</a:t>
            </a:fld>
            <a:endParaRPr lang="en-IN"/>
          </a:p>
        </p:txBody>
      </p:sp>
    </p:spTree>
    <p:extLst>
      <p:ext uri="{BB962C8B-B14F-4D97-AF65-F5344CB8AC3E}">
        <p14:creationId xmlns:p14="http://schemas.microsoft.com/office/powerpoint/2010/main" val="3003594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14C6A-8482-430E-9F9F-20767246C8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4A4730-A184-48E6-B69B-5295F1C398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6BE2F9-BA46-487B-A832-D861B5F172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9AD837E-B84B-4F76-9B69-6203A545740A}"/>
              </a:ext>
            </a:extLst>
          </p:cNvPr>
          <p:cNvSpPr>
            <a:spLocks noGrp="1"/>
          </p:cNvSpPr>
          <p:nvPr>
            <p:ph type="dt" sz="half" idx="10"/>
          </p:nvPr>
        </p:nvSpPr>
        <p:spPr/>
        <p:txBody>
          <a:bodyPr/>
          <a:lstStyle/>
          <a:p>
            <a:fld id="{A823177C-286C-43E4-B11E-C95A78006D89}" type="datetimeFigureOut">
              <a:rPr lang="en-IN" smtClean="0"/>
              <a:t>04-09-2024</a:t>
            </a:fld>
            <a:endParaRPr lang="en-IN"/>
          </a:p>
        </p:txBody>
      </p:sp>
      <p:sp>
        <p:nvSpPr>
          <p:cNvPr id="6" name="Footer Placeholder 5">
            <a:extLst>
              <a:ext uri="{FF2B5EF4-FFF2-40B4-BE49-F238E27FC236}">
                <a16:creationId xmlns:a16="http://schemas.microsoft.com/office/drawing/2014/main" id="{234D0E3A-03C8-4374-B0D8-935BCC62A0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905EC1-C0DA-4A56-B0C0-6EEF4E6D0F37}"/>
              </a:ext>
            </a:extLst>
          </p:cNvPr>
          <p:cNvSpPr>
            <a:spLocks noGrp="1"/>
          </p:cNvSpPr>
          <p:nvPr>
            <p:ph type="sldNum" sz="quarter" idx="12"/>
          </p:nvPr>
        </p:nvSpPr>
        <p:spPr/>
        <p:txBody>
          <a:bodyPr/>
          <a:lstStyle/>
          <a:p>
            <a:fld id="{653A43BA-AAAB-457B-9555-D25D53B92E75}" type="slidenum">
              <a:rPr lang="en-IN" smtClean="0"/>
              <a:t>‹#›</a:t>
            </a:fld>
            <a:endParaRPr lang="en-IN"/>
          </a:p>
        </p:txBody>
      </p:sp>
    </p:spTree>
    <p:extLst>
      <p:ext uri="{BB962C8B-B14F-4D97-AF65-F5344CB8AC3E}">
        <p14:creationId xmlns:p14="http://schemas.microsoft.com/office/powerpoint/2010/main" val="2834761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52267-0F01-4AA6-A126-26A590F9B2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341805-6171-4923-824C-7804AF3EF6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B9A940-BB84-4696-B031-2C454CC941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0582D9-51ED-4064-A9DB-84344EA024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942DFE-06A3-4EA4-9B2D-64BC32D94C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32E8B10-90B0-4C64-96B7-2B31F8F6E14A}"/>
              </a:ext>
            </a:extLst>
          </p:cNvPr>
          <p:cNvSpPr>
            <a:spLocks noGrp="1"/>
          </p:cNvSpPr>
          <p:nvPr>
            <p:ph type="dt" sz="half" idx="10"/>
          </p:nvPr>
        </p:nvSpPr>
        <p:spPr/>
        <p:txBody>
          <a:bodyPr/>
          <a:lstStyle/>
          <a:p>
            <a:fld id="{A823177C-286C-43E4-B11E-C95A78006D89}" type="datetimeFigureOut">
              <a:rPr lang="en-IN" smtClean="0"/>
              <a:t>04-09-2024</a:t>
            </a:fld>
            <a:endParaRPr lang="en-IN"/>
          </a:p>
        </p:txBody>
      </p:sp>
      <p:sp>
        <p:nvSpPr>
          <p:cNvPr id="8" name="Footer Placeholder 7">
            <a:extLst>
              <a:ext uri="{FF2B5EF4-FFF2-40B4-BE49-F238E27FC236}">
                <a16:creationId xmlns:a16="http://schemas.microsoft.com/office/drawing/2014/main" id="{E558BD31-706E-4AA6-B36D-D4D06AFBB89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A3FC861-3A8E-4174-80A2-F0430A9B4116}"/>
              </a:ext>
            </a:extLst>
          </p:cNvPr>
          <p:cNvSpPr>
            <a:spLocks noGrp="1"/>
          </p:cNvSpPr>
          <p:nvPr>
            <p:ph type="sldNum" sz="quarter" idx="12"/>
          </p:nvPr>
        </p:nvSpPr>
        <p:spPr/>
        <p:txBody>
          <a:bodyPr/>
          <a:lstStyle/>
          <a:p>
            <a:fld id="{653A43BA-AAAB-457B-9555-D25D53B92E75}" type="slidenum">
              <a:rPr lang="en-IN" smtClean="0"/>
              <a:t>‹#›</a:t>
            </a:fld>
            <a:endParaRPr lang="en-IN"/>
          </a:p>
        </p:txBody>
      </p:sp>
    </p:spTree>
    <p:extLst>
      <p:ext uri="{BB962C8B-B14F-4D97-AF65-F5344CB8AC3E}">
        <p14:creationId xmlns:p14="http://schemas.microsoft.com/office/powerpoint/2010/main" val="4112470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6E167-E8AA-4A1B-97BB-D31FAEB9833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902830-D3A7-4D8D-B3AA-8FF0AF628CE6}"/>
              </a:ext>
            </a:extLst>
          </p:cNvPr>
          <p:cNvSpPr>
            <a:spLocks noGrp="1"/>
          </p:cNvSpPr>
          <p:nvPr>
            <p:ph type="dt" sz="half" idx="10"/>
          </p:nvPr>
        </p:nvSpPr>
        <p:spPr/>
        <p:txBody>
          <a:bodyPr/>
          <a:lstStyle/>
          <a:p>
            <a:fld id="{A823177C-286C-43E4-B11E-C95A78006D89}" type="datetimeFigureOut">
              <a:rPr lang="en-IN" smtClean="0"/>
              <a:t>04-09-2024</a:t>
            </a:fld>
            <a:endParaRPr lang="en-IN"/>
          </a:p>
        </p:txBody>
      </p:sp>
      <p:sp>
        <p:nvSpPr>
          <p:cNvPr id="4" name="Footer Placeholder 3">
            <a:extLst>
              <a:ext uri="{FF2B5EF4-FFF2-40B4-BE49-F238E27FC236}">
                <a16:creationId xmlns:a16="http://schemas.microsoft.com/office/drawing/2014/main" id="{6669BF2E-C42A-4B73-A09C-957192596F7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B84801-1828-4D7F-B436-AE8698353B40}"/>
              </a:ext>
            </a:extLst>
          </p:cNvPr>
          <p:cNvSpPr>
            <a:spLocks noGrp="1"/>
          </p:cNvSpPr>
          <p:nvPr>
            <p:ph type="sldNum" sz="quarter" idx="12"/>
          </p:nvPr>
        </p:nvSpPr>
        <p:spPr/>
        <p:txBody>
          <a:bodyPr/>
          <a:lstStyle/>
          <a:p>
            <a:fld id="{653A43BA-AAAB-457B-9555-D25D53B92E75}" type="slidenum">
              <a:rPr lang="en-IN" smtClean="0"/>
              <a:t>‹#›</a:t>
            </a:fld>
            <a:endParaRPr lang="en-IN"/>
          </a:p>
        </p:txBody>
      </p:sp>
    </p:spTree>
    <p:extLst>
      <p:ext uri="{BB962C8B-B14F-4D97-AF65-F5344CB8AC3E}">
        <p14:creationId xmlns:p14="http://schemas.microsoft.com/office/powerpoint/2010/main" val="2711112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436E3E-71E5-414F-B7A8-71EB52B67177}"/>
              </a:ext>
            </a:extLst>
          </p:cNvPr>
          <p:cNvSpPr>
            <a:spLocks noGrp="1"/>
          </p:cNvSpPr>
          <p:nvPr>
            <p:ph type="dt" sz="half" idx="10"/>
          </p:nvPr>
        </p:nvSpPr>
        <p:spPr/>
        <p:txBody>
          <a:bodyPr/>
          <a:lstStyle/>
          <a:p>
            <a:fld id="{A823177C-286C-43E4-B11E-C95A78006D89}" type="datetimeFigureOut">
              <a:rPr lang="en-IN" smtClean="0"/>
              <a:t>04-09-2024</a:t>
            </a:fld>
            <a:endParaRPr lang="en-IN"/>
          </a:p>
        </p:txBody>
      </p:sp>
      <p:sp>
        <p:nvSpPr>
          <p:cNvPr id="3" name="Footer Placeholder 2">
            <a:extLst>
              <a:ext uri="{FF2B5EF4-FFF2-40B4-BE49-F238E27FC236}">
                <a16:creationId xmlns:a16="http://schemas.microsoft.com/office/drawing/2014/main" id="{01D05633-2F72-4AEB-9E21-4C14C23CBF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15A3ED8-F4CF-458B-AA48-56ABA21E4507}"/>
              </a:ext>
            </a:extLst>
          </p:cNvPr>
          <p:cNvSpPr>
            <a:spLocks noGrp="1"/>
          </p:cNvSpPr>
          <p:nvPr>
            <p:ph type="sldNum" sz="quarter" idx="12"/>
          </p:nvPr>
        </p:nvSpPr>
        <p:spPr/>
        <p:txBody>
          <a:bodyPr/>
          <a:lstStyle/>
          <a:p>
            <a:fld id="{653A43BA-AAAB-457B-9555-D25D53B92E75}" type="slidenum">
              <a:rPr lang="en-IN" smtClean="0"/>
              <a:t>‹#›</a:t>
            </a:fld>
            <a:endParaRPr lang="en-IN"/>
          </a:p>
        </p:txBody>
      </p:sp>
    </p:spTree>
    <p:extLst>
      <p:ext uri="{BB962C8B-B14F-4D97-AF65-F5344CB8AC3E}">
        <p14:creationId xmlns:p14="http://schemas.microsoft.com/office/powerpoint/2010/main" val="475050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D1DF0-04A9-42A8-8A01-AB0B8C51F6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2AF800-5641-42CD-8D55-EFA57D35C5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A6B977E-067A-4250-8BD6-C74346E508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09F3B-1F9E-4E89-A51B-6760F5658FED}"/>
              </a:ext>
            </a:extLst>
          </p:cNvPr>
          <p:cNvSpPr>
            <a:spLocks noGrp="1"/>
          </p:cNvSpPr>
          <p:nvPr>
            <p:ph type="dt" sz="half" idx="10"/>
          </p:nvPr>
        </p:nvSpPr>
        <p:spPr/>
        <p:txBody>
          <a:bodyPr/>
          <a:lstStyle/>
          <a:p>
            <a:fld id="{A823177C-286C-43E4-B11E-C95A78006D89}" type="datetimeFigureOut">
              <a:rPr lang="en-IN" smtClean="0"/>
              <a:t>04-09-2024</a:t>
            </a:fld>
            <a:endParaRPr lang="en-IN"/>
          </a:p>
        </p:txBody>
      </p:sp>
      <p:sp>
        <p:nvSpPr>
          <p:cNvPr id="6" name="Footer Placeholder 5">
            <a:extLst>
              <a:ext uri="{FF2B5EF4-FFF2-40B4-BE49-F238E27FC236}">
                <a16:creationId xmlns:a16="http://schemas.microsoft.com/office/drawing/2014/main" id="{1432FCEB-F19C-4344-8EFF-38D1CC5B7C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E57D76-4D3F-400B-8683-316D6557C5DA}"/>
              </a:ext>
            </a:extLst>
          </p:cNvPr>
          <p:cNvSpPr>
            <a:spLocks noGrp="1"/>
          </p:cNvSpPr>
          <p:nvPr>
            <p:ph type="sldNum" sz="quarter" idx="12"/>
          </p:nvPr>
        </p:nvSpPr>
        <p:spPr/>
        <p:txBody>
          <a:bodyPr/>
          <a:lstStyle/>
          <a:p>
            <a:fld id="{653A43BA-AAAB-457B-9555-D25D53B92E75}" type="slidenum">
              <a:rPr lang="en-IN" smtClean="0"/>
              <a:t>‹#›</a:t>
            </a:fld>
            <a:endParaRPr lang="en-IN"/>
          </a:p>
        </p:txBody>
      </p:sp>
    </p:spTree>
    <p:extLst>
      <p:ext uri="{BB962C8B-B14F-4D97-AF65-F5344CB8AC3E}">
        <p14:creationId xmlns:p14="http://schemas.microsoft.com/office/powerpoint/2010/main" val="4236219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601AE-1A7D-45B8-85F5-28987A8D26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C5D1B02-FDA3-46AC-963F-73F75CB297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FE79394-C7F3-4543-BA15-46A7A7F82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72616E-1B8A-4FFD-90FF-52C75C8AE504}"/>
              </a:ext>
            </a:extLst>
          </p:cNvPr>
          <p:cNvSpPr>
            <a:spLocks noGrp="1"/>
          </p:cNvSpPr>
          <p:nvPr>
            <p:ph type="dt" sz="half" idx="10"/>
          </p:nvPr>
        </p:nvSpPr>
        <p:spPr/>
        <p:txBody>
          <a:bodyPr/>
          <a:lstStyle/>
          <a:p>
            <a:fld id="{A823177C-286C-43E4-B11E-C95A78006D89}" type="datetimeFigureOut">
              <a:rPr lang="en-IN" smtClean="0"/>
              <a:t>04-09-2024</a:t>
            </a:fld>
            <a:endParaRPr lang="en-IN"/>
          </a:p>
        </p:txBody>
      </p:sp>
      <p:sp>
        <p:nvSpPr>
          <p:cNvPr id="6" name="Footer Placeholder 5">
            <a:extLst>
              <a:ext uri="{FF2B5EF4-FFF2-40B4-BE49-F238E27FC236}">
                <a16:creationId xmlns:a16="http://schemas.microsoft.com/office/drawing/2014/main" id="{E2869E66-68AB-4E12-A98B-1A642CFE4C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D75A3E-E770-4736-97E8-F7E0EA7F04E1}"/>
              </a:ext>
            </a:extLst>
          </p:cNvPr>
          <p:cNvSpPr>
            <a:spLocks noGrp="1"/>
          </p:cNvSpPr>
          <p:nvPr>
            <p:ph type="sldNum" sz="quarter" idx="12"/>
          </p:nvPr>
        </p:nvSpPr>
        <p:spPr/>
        <p:txBody>
          <a:bodyPr/>
          <a:lstStyle/>
          <a:p>
            <a:fld id="{653A43BA-AAAB-457B-9555-D25D53B92E75}" type="slidenum">
              <a:rPr lang="en-IN" smtClean="0"/>
              <a:t>‹#›</a:t>
            </a:fld>
            <a:endParaRPr lang="en-IN"/>
          </a:p>
        </p:txBody>
      </p:sp>
    </p:spTree>
    <p:extLst>
      <p:ext uri="{BB962C8B-B14F-4D97-AF65-F5344CB8AC3E}">
        <p14:creationId xmlns:p14="http://schemas.microsoft.com/office/powerpoint/2010/main" val="677903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10AC0-598A-4C06-AECA-AA1DD5EB0F3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4A7BE0-02BE-4DC8-A40C-906578FA48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A7031E-4CC3-4710-86F7-ADBA15B1B964}"/>
              </a:ext>
            </a:extLst>
          </p:cNvPr>
          <p:cNvSpPr>
            <a:spLocks noGrp="1"/>
          </p:cNvSpPr>
          <p:nvPr>
            <p:ph type="dt" sz="half" idx="10"/>
          </p:nvPr>
        </p:nvSpPr>
        <p:spPr/>
        <p:txBody>
          <a:bodyPr/>
          <a:lstStyle/>
          <a:p>
            <a:fld id="{A823177C-286C-43E4-B11E-C95A78006D89}" type="datetimeFigureOut">
              <a:rPr lang="en-IN" smtClean="0"/>
              <a:t>04-09-2024</a:t>
            </a:fld>
            <a:endParaRPr lang="en-IN"/>
          </a:p>
        </p:txBody>
      </p:sp>
      <p:sp>
        <p:nvSpPr>
          <p:cNvPr id="5" name="Footer Placeholder 4">
            <a:extLst>
              <a:ext uri="{FF2B5EF4-FFF2-40B4-BE49-F238E27FC236}">
                <a16:creationId xmlns:a16="http://schemas.microsoft.com/office/drawing/2014/main" id="{CD1A1F9D-7EEA-4CF7-BB41-ED49B9CA2D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09F151-466A-41E7-9A5F-D3FFDE123C48}"/>
              </a:ext>
            </a:extLst>
          </p:cNvPr>
          <p:cNvSpPr>
            <a:spLocks noGrp="1"/>
          </p:cNvSpPr>
          <p:nvPr>
            <p:ph type="sldNum" sz="quarter" idx="12"/>
          </p:nvPr>
        </p:nvSpPr>
        <p:spPr/>
        <p:txBody>
          <a:bodyPr/>
          <a:lstStyle/>
          <a:p>
            <a:fld id="{653A43BA-AAAB-457B-9555-D25D53B92E75}" type="slidenum">
              <a:rPr lang="en-IN" smtClean="0"/>
              <a:t>‹#›</a:t>
            </a:fld>
            <a:endParaRPr lang="en-IN"/>
          </a:p>
        </p:txBody>
      </p:sp>
    </p:spTree>
    <p:extLst>
      <p:ext uri="{BB962C8B-B14F-4D97-AF65-F5344CB8AC3E}">
        <p14:creationId xmlns:p14="http://schemas.microsoft.com/office/powerpoint/2010/main" val="3534750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350D60-0098-4BA6-A5CC-B01E593362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93039C8-34D7-48CC-8F5F-A9573DDD9A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306088-B3C4-4046-9366-10D2B4029B50}"/>
              </a:ext>
            </a:extLst>
          </p:cNvPr>
          <p:cNvSpPr>
            <a:spLocks noGrp="1"/>
          </p:cNvSpPr>
          <p:nvPr>
            <p:ph type="dt" sz="half" idx="10"/>
          </p:nvPr>
        </p:nvSpPr>
        <p:spPr/>
        <p:txBody>
          <a:bodyPr/>
          <a:lstStyle/>
          <a:p>
            <a:fld id="{A823177C-286C-43E4-B11E-C95A78006D89}" type="datetimeFigureOut">
              <a:rPr lang="en-IN" smtClean="0"/>
              <a:t>04-09-2024</a:t>
            </a:fld>
            <a:endParaRPr lang="en-IN"/>
          </a:p>
        </p:txBody>
      </p:sp>
      <p:sp>
        <p:nvSpPr>
          <p:cNvPr id="5" name="Footer Placeholder 4">
            <a:extLst>
              <a:ext uri="{FF2B5EF4-FFF2-40B4-BE49-F238E27FC236}">
                <a16:creationId xmlns:a16="http://schemas.microsoft.com/office/drawing/2014/main" id="{0D586DFB-38E6-491F-93BA-EFC25E6091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8D823E-9817-4C16-8CE4-A7426BC8CBDB}"/>
              </a:ext>
            </a:extLst>
          </p:cNvPr>
          <p:cNvSpPr>
            <a:spLocks noGrp="1"/>
          </p:cNvSpPr>
          <p:nvPr>
            <p:ph type="sldNum" sz="quarter" idx="12"/>
          </p:nvPr>
        </p:nvSpPr>
        <p:spPr/>
        <p:txBody>
          <a:bodyPr/>
          <a:lstStyle/>
          <a:p>
            <a:fld id="{653A43BA-AAAB-457B-9555-D25D53B92E75}" type="slidenum">
              <a:rPr lang="en-IN" smtClean="0"/>
              <a:t>‹#›</a:t>
            </a:fld>
            <a:endParaRPr lang="en-IN"/>
          </a:p>
        </p:txBody>
      </p:sp>
    </p:spTree>
    <p:extLst>
      <p:ext uri="{BB962C8B-B14F-4D97-AF65-F5344CB8AC3E}">
        <p14:creationId xmlns:p14="http://schemas.microsoft.com/office/powerpoint/2010/main" val="1815421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200620-F8CC-43D7-B44B-ABC4349D0B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2127FB-D3CB-46B7-8EBA-5651F814BE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89DB71-8D15-491E-A45A-9BF3F9AAA0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23177C-286C-43E4-B11E-C95A78006D89}" type="datetimeFigureOut">
              <a:rPr lang="en-IN" smtClean="0"/>
              <a:t>04-09-2024</a:t>
            </a:fld>
            <a:endParaRPr lang="en-IN"/>
          </a:p>
        </p:txBody>
      </p:sp>
      <p:sp>
        <p:nvSpPr>
          <p:cNvPr id="5" name="Footer Placeholder 4">
            <a:extLst>
              <a:ext uri="{FF2B5EF4-FFF2-40B4-BE49-F238E27FC236}">
                <a16:creationId xmlns:a16="http://schemas.microsoft.com/office/drawing/2014/main" id="{63B2BD7D-45C7-4ABA-AE4A-73B73C39B1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D2F73D1-49E8-4A2D-AFEB-E99E8BD822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3A43BA-AAAB-457B-9555-D25D53B92E75}" type="slidenum">
              <a:rPr lang="en-IN" smtClean="0"/>
              <a:t>‹#›</a:t>
            </a:fld>
            <a:endParaRPr lang="en-IN"/>
          </a:p>
        </p:txBody>
      </p:sp>
    </p:spTree>
    <p:extLst>
      <p:ext uri="{BB962C8B-B14F-4D97-AF65-F5344CB8AC3E}">
        <p14:creationId xmlns:p14="http://schemas.microsoft.com/office/powerpoint/2010/main" val="20420188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756F0-EF7B-496C-B893-63BF7D456EFA}"/>
              </a:ext>
            </a:extLst>
          </p:cNvPr>
          <p:cNvSpPr>
            <a:spLocks noGrp="1"/>
          </p:cNvSpPr>
          <p:nvPr>
            <p:ph type="title"/>
          </p:nvPr>
        </p:nvSpPr>
        <p:spPr/>
        <p:txBody>
          <a:bodyPr/>
          <a:lstStyle/>
          <a:p>
            <a:r>
              <a:rPr lang="en-IN" dirty="0"/>
              <a:t>What is cookie</a:t>
            </a:r>
          </a:p>
        </p:txBody>
      </p:sp>
      <p:sp>
        <p:nvSpPr>
          <p:cNvPr id="3" name="Content Placeholder 2">
            <a:extLst>
              <a:ext uri="{FF2B5EF4-FFF2-40B4-BE49-F238E27FC236}">
                <a16:creationId xmlns:a16="http://schemas.microsoft.com/office/drawing/2014/main" id="{012CD31D-E734-4787-BAB3-5670C84F5967}"/>
              </a:ext>
            </a:extLst>
          </p:cNvPr>
          <p:cNvSpPr>
            <a:spLocks noGrp="1"/>
          </p:cNvSpPr>
          <p:nvPr>
            <p:ph idx="1"/>
          </p:nvPr>
        </p:nvSpPr>
        <p:spPr>
          <a:xfrm>
            <a:off x="527901" y="1373138"/>
            <a:ext cx="10345132" cy="3208288"/>
          </a:xfrm>
        </p:spPr>
        <p:txBody>
          <a:bodyPr>
            <a:normAutofit/>
          </a:bodyPr>
          <a:lstStyle/>
          <a:p>
            <a:pPr algn="l"/>
            <a:r>
              <a:rPr lang="en-US" sz="1800" b="0" i="0" dirty="0">
                <a:solidFill>
                  <a:srgbClr val="202124"/>
                </a:solidFill>
                <a:effectLst/>
                <a:latin typeface="arial" panose="020B0604020202020204" pitchFamily="34" charset="0"/>
              </a:rPr>
              <a:t>What is cookies in .NET Core?</a:t>
            </a:r>
          </a:p>
          <a:p>
            <a:pPr algn="l"/>
            <a:r>
              <a:rPr lang="en-US" sz="1800" b="0" i="0" dirty="0">
                <a:solidFill>
                  <a:srgbClr val="202124"/>
                </a:solidFill>
                <a:effectLst/>
                <a:latin typeface="arial" panose="020B0604020202020204" pitchFamily="34" charset="0"/>
              </a:rPr>
              <a:t>The term cookie refers to </a:t>
            </a:r>
            <a:r>
              <a:rPr lang="en-US" sz="1800" b="1" i="0" dirty="0">
                <a:solidFill>
                  <a:srgbClr val="202124"/>
                </a:solidFill>
                <a:effectLst/>
                <a:latin typeface="arial" panose="020B0604020202020204" pitchFamily="34" charset="0"/>
              </a:rPr>
              <a:t>a piece of data that is saved on the computer of a user and is generally used to record information about the user</a:t>
            </a:r>
            <a:r>
              <a:rPr lang="en-US" sz="1800" b="0" i="0" dirty="0">
                <a:solidFill>
                  <a:srgbClr val="202124"/>
                </a:solidFill>
                <a:effectLst/>
                <a:latin typeface="arial" panose="020B0604020202020204" pitchFamily="34" charset="0"/>
              </a:rPr>
              <a:t>. Most browsers store each cookie as a small file, but Firefox stores them all in a single file. Cookies are made up of two parts: a key and a value.</a:t>
            </a:r>
          </a:p>
          <a:p>
            <a:endParaRPr lang="en-US" sz="1800" dirty="0"/>
          </a:p>
          <a:p>
            <a:r>
              <a:rPr lang="en-US" sz="1800" dirty="0"/>
              <a:t>Cookies can also be used to send data from </a:t>
            </a:r>
            <a:r>
              <a:rPr lang="en-US" sz="1800" dirty="0">
                <a:highlight>
                  <a:srgbClr val="FFFF00"/>
                </a:highlight>
              </a:rPr>
              <a:t>one view to another</a:t>
            </a:r>
            <a:r>
              <a:rPr lang="en-US" sz="1800" dirty="0"/>
              <a:t>. </a:t>
            </a:r>
          </a:p>
          <a:p>
            <a:r>
              <a:rPr lang="en-US" sz="1800" dirty="0"/>
              <a:t>In general, web sites use cookies to store user preferences or other information that is client-specific. </a:t>
            </a:r>
          </a:p>
          <a:p>
            <a:r>
              <a:rPr lang="en-US" sz="1800" dirty="0"/>
              <a:t>Cookies store small amounts of information on the client’s machine</a:t>
            </a:r>
            <a:endParaRPr lang="en-IN" sz="1800" dirty="0"/>
          </a:p>
        </p:txBody>
      </p:sp>
      <p:sp>
        <p:nvSpPr>
          <p:cNvPr id="4" name="TextBox 3">
            <a:extLst>
              <a:ext uri="{FF2B5EF4-FFF2-40B4-BE49-F238E27FC236}">
                <a16:creationId xmlns:a16="http://schemas.microsoft.com/office/drawing/2014/main" id="{76176A13-4DD7-37EC-F416-AEE58FCED81D}"/>
              </a:ext>
            </a:extLst>
          </p:cNvPr>
          <p:cNvSpPr txBox="1"/>
          <p:nvPr/>
        </p:nvSpPr>
        <p:spPr>
          <a:xfrm>
            <a:off x="716437" y="4581426"/>
            <a:ext cx="9643621" cy="1477328"/>
          </a:xfrm>
          <a:prstGeom prst="rect">
            <a:avLst/>
          </a:prstGeom>
          <a:noFill/>
        </p:spPr>
        <p:txBody>
          <a:bodyPr wrap="square" rtlCol="0">
            <a:spAutoFit/>
          </a:bodyPr>
          <a:lstStyle/>
          <a:p>
            <a:r>
              <a:rPr lang="en-US" dirty="0"/>
              <a:t>When you login to </a:t>
            </a:r>
            <a:r>
              <a:rPr lang="en-US" dirty="0" err="1"/>
              <a:t>rediffmail</a:t>
            </a:r>
            <a:r>
              <a:rPr lang="en-US" dirty="0"/>
              <a:t> of google it provide check </a:t>
            </a:r>
            <a:r>
              <a:rPr lang="en-US" dirty="0" err="1"/>
              <a:t>boxstating</a:t>
            </a:r>
            <a:r>
              <a:rPr lang="en-US" dirty="0"/>
              <a:t> remember me</a:t>
            </a:r>
          </a:p>
          <a:p>
            <a:r>
              <a:rPr lang="en-US" dirty="0"/>
              <a:t>If you check that box your data is stored in cookie</a:t>
            </a:r>
          </a:p>
          <a:p>
            <a:r>
              <a:rPr lang="en-US" dirty="0"/>
              <a:t>When you come back to that site after few hours or day </a:t>
            </a:r>
          </a:p>
          <a:p>
            <a:r>
              <a:rPr lang="en-US" dirty="0"/>
              <a:t>You can see your </a:t>
            </a:r>
            <a:r>
              <a:rPr lang="en-US" dirty="0" err="1"/>
              <a:t>userId</a:t>
            </a:r>
            <a:r>
              <a:rPr lang="en-US" dirty="0"/>
              <a:t> comes </a:t>
            </a:r>
            <a:r>
              <a:rPr lang="en-US" dirty="0" err="1"/>
              <a:t>autometical</a:t>
            </a:r>
            <a:r>
              <a:rPr lang="en-US" dirty="0"/>
              <a:t> without your typing </a:t>
            </a:r>
            <a:r>
              <a:rPr lang="en-US"/>
              <a:t>any data</a:t>
            </a:r>
          </a:p>
          <a:p>
            <a:r>
              <a:rPr lang="en-US"/>
              <a:t> </a:t>
            </a:r>
            <a:endParaRPr lang="en-IN" dirty="0"/>
          </a:p>
        </p:txBody>
      </p:sp>
    </p:spTree>
    <p:extLst>
      <p:ext uri="{BB962C8B-B14F-4D97-AF65-F5344CB8AC3E}">
        <p14:creationId xmlns:p14="http://schemas.microsoft.com/office/powerpoint/2010/main" val="1328647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03CD7-A95C-4AD6-B5AA-36F323B8285F}"/>
              </a:ext>
            </a:extLst>
          </p:cNvPr>
          <p:cNvSpPr>
            <a:spLocks noGrp="1"/>
          </p:cNvSpPr>
          <p:nvPr>
            <p:ph type="title"/>
          </p:nvPr>
        </p:nvSpPr>
        <p:spPr/>
        <p:txBody>
          <a:bodyPr/>
          <a:lstStyle/>
          <a:p>
            <a:pPr algn="ctr"/>
            <a:r>
              <a:rPr lang="en-US" dirty="0"/>
              <a:t>Cookies types</a:t>
            </a:r>
            <a:br>
              <a:rPr lang="en-US" dirty="0"/>
            </a:br>
            <a:endParaRPr lang="en-IN" dirty="0"/>
          </a:p>
        </p:txBody>
      </p:sp>
      <p:sp>
        <p:nvSpPr>
          <p:cNvPr id="3" name="Content Placeholder 2">
            <a:extLst>
              <a:ext uri="{FF2B5EF4-FFF2-40B4-BE49-F238E27FC236}">
                <a16:creationId xmlns:a16="http://schemas.microsoft.com/office/drawing/2014/main" id="{A5849A77-1ABC-46E5-AD2B-45EFB35EEC86}"/>
              </a:ext>
            </a:extLst>
          </p:cNvPr>
          <p:cNvSpPr>
            <a:spLocks noGrp="1"/>
          </p:cNvSpPr>
          <p:nvPr>
            <p:ph idx="1"/>
          </p:nvPr>
        </p:nvSpPr>
        <p:spPr/>
        <p:txBody>
          <a:bodyPr>
            <a:normAutofit/>
          </a:bodyPr>
          <a:lstStyle/>
          <a:p>
            <a:r>
              <a:rPr lang="en-US" dirty="0"/>
              <a:t>1. Persistent cookies - Remain on the client computer, even after the browser is closed. You can configure how long the cookies remain using the expires property of the </a:t>
            </a:r>
            <a:r>
              <a:rPr lang="en-US" dirty="0" err="1"/>
              <a:t>HttpCookie</a:t>
            </a:r>
            <a:r>
              <a:rPr lang="en-US" dirty="0"/>
              <a:t> object.</a:t>
            </a:r>
          </a:p>
          <a:p>
            <a:endParaRPr lang="en-US" dirty="0"/>
          </a:p>
          <a:p>
            <a:r>
              <a:rPr lang="en-US" dirty="0"/>
              <a:t>2. Non-Persistent cookies - If you don't set the Expires property, then the cookie is called as a Non-Persistent cookie. Non-Persistent cookies only remain in memory until the browser is closed. </a:t>
            </a:r>
            <a:endParaRPr lang="en-IN" dirty="0"/>
          </a:p>
        </p:txBody>
      </p:sp>
    </p:spTree>
    <p:extLst>
      <p:ext uri="{BB962C8B-B14F-4D97-AF65-F5344CB8AC3E}">
        <p14:creationId xmlns:p14="http://schemas.microsoft.com/office/powerpoint/2010/main" val="1928572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9537D-F3C1-4359-A0D8-32A9E77B560D}"/>
              </a:ext>
            </a:extLst>
          </p:cNvPr>
          <p:cNvSpPr>
            <a:spLocks noGrp="1"/>
          </p:cNvSpPr>
          <p:nvPr>
            <p:ph type="title"/>
          </p:nvPr>
        </p:nvSpPr>
        <p:spPr/>
        <p:txBody>
          <a:bodyPr/>
          <a:lstStyle/>
          <a:p>
            <a:r>
              <a:rPr lang="en-IN" dirty="0"/>
              <a:t>Who create and where it resides</a:t>
            </a:r>
          </a:p>
        </p:txBody>
      </p:sp>
      <p:sp>
        <p:nvSpPr>
          <p:cNvPr id="3" name="Content Placeholder 2">
            <a:extLst>
              <a:ext uri="{FF2B5EF4-FFF2-40B4-BE49-F238E27FC236}">
                <a16:creationId xmlns:a16="http://schemas.microsoft.com/office/drawing/2014/main" id="{E1600034-027C-4812-990D-6E5E42943A0E}"/>
              </a:ext>
            </a:extLst>
          </p:cNvPr>
          <p:cNvSpPr>
            <a:spLocks noGrp="1"/>
          </p:cNvSpPr>
          <p:nvPr>
            <p:ph idx="1"/>
          </p:nvPr>
        </p:nvSpPr>
        <p:spPr/>
        <p:txBody>
          <a:bodyPr/>
          <a:lstStyle/>
          <a:p>
            <a:r>
              <a:rPr lang="en-IN" dirty="0"/>
              <a:t>It is created by server</a:t>
            </a:r>
          </a:p>
          <a:p>
            <a:r>
              <a:rPr lang="en-IN" dirty="0"/>
              <a:t>It resided on client PC</a:t>
            </a:r>
          </a:p>
        </p:txBody>
      </p:sp>
    </p:spTree>
    <p:extLst>
      <p:ext uri="{BB962C8B-B14F-4D97-AF65-F5344CB8AC3E}">
        <p14:creationId xmlns:p14="http://schemas.microsoft.com/office/powerpoint/2010/main" val="2260507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2FB4B-CFF0-4600-8404-C69105CBACEB}"/>
              </a:ext>
            </a:extLst>
          </p:cNvPr>
          <p:cNvSpPr>
            <a:spLocks noGrp="1"/>
          </p:cNvSpPr>
          <p:nvPr>
            <p:ph type="title"/>
          </p:nvPr>
        </p:nvSpPr>
        <p:spPr>
          <a:xfrm>
            <a:off x="431800" y="18255"/>
            <a:ext cx="10253680" cy="870745"/>
          </a:xfrm>
        </p:spPr>
        <p:txBody>
          <a:bodyPr>
            <a:normAutofit/>
          </a:bodyPr>
          <a:lstStyle/>
          <a:p>
            <a:r>
              <a:rPr lang="en-IN" sz="4000" b="1" dirty="0"/>
              <a:t>Can cookie created on chrome read by </a:t>
            </a:r>
            <a:r>
              <a:rPr lang="en-IN" sz="4000" b="1" dirty="0" err="1"/>
              <a:t>Mozila</a:t>
            </a:r>
            <a:r>
              <a:rPr lang="en-IN" sz="4000" b="1" dirty="0"/>
              <a:t>?</a:t>
            </a:r>
          </a:p>
        </p:txBody>
      </p:sp>
      <p:sp>
        <p:nvSpPr>
          <p:cNvPr id="3" name="Content Placeholder 2">
            <a:extLst>
              <a:ext uri="{FF2B5EF4-FFF2-40B4-BE49-F238E27FC236}">
                <a16:creationId xmlns:a16="http://schemas.microsoft.com/office/drawing/2014/main" id="{B188A082-67ED-4324-B688-097777074B03}"/>
              </a:ext>
            </a:extLst>
          </p:cNvPr>
          <p:cNvSpPr>
            <a:spLocks noGrp="1"/>
          </p:cNvSpPr>
          <p:nvPr>
            <p:ph idx="1"/>
          </p:nvPr>
        </p:nvSpPr>
        <p:spPr>
          <a:xfrm>
            <a:off x="431799" y="660400"/>
            <a:ext cx="10905067" cy="1490133"/>
          </a:xfrm>
        </p:spPr>
        <p:txBody>
          <a:bodyPr>
            <a:normAutofit/>
          </a:bodyPr>
          <a:lstStyle/>
          <a:p>
            <a:r>
              <a:rPr lang="en-IN" sz="2400" dirty="0"/>
              <a:t>NO		Cookie are </a:t>
            </a:r>
            <a:r>
              <a:rPr lang="en-IN" sz="2400" dirty="0">
                <a:highlight>
                  <a:srgbClr val="FFFF00"/>
                </a:highlight>
              </a:rPr>
              <a:t>browser</a:t>
            </a:r>
            <a:r>
              <a:rPr lang="en-IN" sz="2400" dirty="0"/>
              <a:t> specific		Cookie are </a:t>
            </a:r>
            <a:r>
              <a:rPr lang="en-IN" sz="2400" dirty="0">
                <a:highlight>
                  <a:srgbClr val="FFFF00"/>
                </a:highlight>
              </a:rPr>
              <a:t>user</a:t>
            </a:r>
            <a:r>
              <a:rPr lang="en-IN" sz="2400" dirty="0"/>
              <a:t> specific</a:t>
            </a:r>
          </a:p>
        </p:txBody>
      </p:sp>
      <p:sp>
        <p:nvSpPr>
          <p:cNvPr id="5" name="TextBox 4">
            <a:extLst>
              <a:ext uri="{FF2B5EF4-FFF2-40B4-BE49-F238E27FC236}">
                <a16:creationId xmlns:a16="http://schemas.microsoft.com/office/drawing/2014/main" id="{F06B5ACA-CCF0-39C1-8CFF-BDFCD576D682}"/>
              </a:ext>
            </a:extLst>
          </p:cNvPr>
          <p:cNvSpPr txBox="1"/>
          <p:nvPr/>
        </p:nvSpPr>
        <p:spPr>
          <a:xfrm>
            <a:off x="431798" y="1413932"/>
            <a:ext cx="10109199" cy="286232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fontAlgn="base"/>
            <a:r>
              <a:rPr lang="en-US" dirty="0" err="1"/>
              <a:t>CookieOptions</a:t>
            </a:r>
            <a:r>
              <a:rPr lang="en-US" dirty="0"/>
              <a:t> options = new </a:t>
            </a:r>
            <a:r>
              <a:rPr lang="en-US" dirty="0" err="1"/>
              <a:t>CookieOptions</a:t>
            </a:r>
            <a:r>
              <a:rPr lang="en-US" dirty="0"/>
              <a:t>()</a:t>
            </a:r>
          </a:p>
          <a:p>
            <a:pPr algn="l" fontAlgn="base"/>
            <a:r>
              <a:rPr lang="en-US" dirty="0"/>
              <a:t>{</a:t>
            </a:r>
          </a:p>
          <a:p>
            <a:pPr algn="l" fontAlgn="base"/>
            <a:r>
              <a:rPr lang="en-US" dirty="0"/>
              <a:t>Domain = "localhost", // Set the domain for the cookie</a:t>
            </a:r>
          </a:p>
          <a:p>
            <a:pPr algn="l" fontAlgn="base"/>
            <a:r>
              <a:rPr lang="en-US" dirty="0"/>
              <a:t>Path = "/", // Cookie is available within the entire application</a:t>
            </a:r>
          </a:p>
          <a:p>
            <a:pPr algn="l" fontAlgn="base"/>
            <a:r>
              <a:rPr lang="en-US" dirty="0"/>
              <a:t>Expires = </a:t>
            </a:r>
            <a:r>
              <a:rPr lang="en-US" dirty="0" err="1"/>
              <a:t>DateTime.Now.AddDays</a:t>
            </a:r>
            <a:r>
              <a:rPr lang="en-US" dirty="0"/>
              <a:t>(7),   // Set cookie expiration to 7 days from now</a:t>
            </a:r>
          </a:p>
          <a:p>
            <a:pPr algn="l" fontAlgn="base"/>
            <a:r>
              <a:rPr lang="en-US" dirty="0"/>
              <a:t>Secure = false, // Ensure the cookie is only sent over HTTPS (set to false for local development)</a:t>
            </a:r>
          </a:p>
          <a:p>
            <a:pPr algn="l" fontAlgn="base"/>
            <a:r>
              <a:rPr lang="en-US" dirty="0" err="1"/>
              <a:t>HttpOnly</a:t>
            </a:r>
            <a:r>
              <a:rPr lang="en-US" dirty="0"/>
              <a:t> = true, // Prevent client-side scripts from accessing the cookie</a:t>
            </a:r>
          </a:p>
          <a:p>
            <a:pPr algn="l" fontAlgn="base"/>
            <a:r>
              <a:rPr lang="en-US" dirty="0" err="1"/>
              <a:t>IsEssential</a:t>
            </a:r>
            <a:r>
              <a:rPr lang="en-US" dirty="0"/>
              <a:t> = true // Indicates the cookie is essential for the application to function</a:t>
            </a:r>
          </a:p>
          <a:p>
            <a:pPr algn="l" fontAlgn="base"/>
            <a:r>
              <a:rPr lang="en-US" dirty="0"/>
              <a:t>};</a:t>
            </a:r>
          </a:p>
          <a:p>
            <a:pPr algn="l" fontAlgn="base"/>
            <a:r>
              <a:rPr lang="en-US" b="0" i="0" dirty="0" err="1">
                <a:solidFill>
                  <a:srgbClr val="CFD5E0"/>
                </a:solidFill>
                <a:effectLst/>
                <a:highlight>
                  <a:srgbClr val="2E353E"/>
                </a:highlight>
                <a:latin typeface="Inconsolata" pitchFamily="1" charset="0"/>
              </a:rPr>
              <a:t>Response.</a:t>
            </a:r>
            <a:r>
              <a:rPr lang="en-US" b="0" i="0" dirty="0" err="1">
                <a:solidFill>
                  <a:srgbClr val="4284AE"/>
                </a:solidFill>
                <a:effectLst/>
                <a:highlight>
                  <a:srgbClr val="2E353E"/>
                </a:highlight>
                <a:latin typeface="Inconsolata" pitchFamily="1" charset="0"/>
              </a:rPr>
              <a:t>Cookies</a:t>
            </a:r>
            <a:r>
              <a:rPr lang="en-US" b="0" i="0" dirty="0" err="1">
                <a:solidFill>
                  <a:srgbClr val="CFD5E0"/>
                </a:solidFill>
                <a:effectLst/>
                <a:highlight>
                  <a:srgbClr val="2E353E"/>
                </a:highlight>
                <a:latin typeface="Inconsolata" pitchFamily="1" charset="0"/>
              </a:rPr>
              <a:t>.</a:t>
            </a:r>
            <a:r>
              <a:rPr lang="en-US" b="0" i="0" dirty="0" err="1">
                <a:solidFill>
                  <a:srgbClr val="4284AE"/>
                </a:solidFill>
                <a:effectLst/>
                <a:highlight>
                  <a:srgbClr val="2E353E"/>
                </a:highlight>
                <a:latin typeface="Inconsolata" pitchFamily="1" charset="0"/>
              </a:rPr>
              <a:t>Append</a:t>
            </a:r>
            <a:r>
              <a:rPr lang="en-US" b="1" i="0" dirty="0">
                <a:solidFill>
                  <a:srgbClr val="6B7C8B"/>
                </a:solidFill>
                <a:effectLst/>
                <a:highlight>
                  <a:srgbClr val="2E353E"/>
                </a:highlight>
                <a:latin typeface="Inconsolata" pitchFamily="1" charset="0"/>
              </a:rPr>
              <a:t>(</a:t>
            </a:r>
            <a:r>
              <a:rPr lang="en-US" b="0" i="0" dirty="0">
                <a:solidFill>
                  <a:srgbClr val="CFD5E0"/>
                </a:solidFill>
                <a:effectLst/>
                <a:highlight>
                  <a:srgbClr val="2E353E"/>
                </a:highlight>
                <a:latin typeface="Inconsolata" pitchFamily="1" charset="0"/>
              </a:rPr>
              <a:t>“key”, </a:t>
            </a:r>
            <a:r>
              <a:rPr lang="en-US" b="0" i="0" dirty="0">
                <a:solidFill>
                  <a:srgbClr val="7CC379"/>
                </a:solidFill>
                <a:effectLst/>
                <a:highlight>
                  <a:srgbClr val="2E353E"/>
                </a:highlight>
                <a:latin typeface="Inconsolata" pitchFamily="1" charset="0"/>
              </a:rPr>
              <a:t>“value"</a:t>
            </a:r>
            <a:r>
              <a:rPr lang="en-US" b="0" i="0" dirty="0">
                <a:solidFill>
                  <a:srgbClr val="CFD5E0"/>
                </a:solidFill>
                <a:effectLst/>
                <a:highlight>
                  <a:srgbClr val="2E353E"/>
                </a:highlight>
                <a:latin typeface="Inconsolata" pitchFamily="1" charset="0"/>
              </a:rPr>
              <a:t>, options</a:t>
            </a:r>
            <a:r>
              <a:rPr lang="en-US" b="1" i="0" dirty="0">
                <a:solidFill>
                  <a:srgbClr val="6B7C8B"/>
                </a:solidFill>
                <a:effectLst/>
                <a:highlight>
                  <a:srgbClr val="2E353E"/>
                </a:highlight>
                <a:latin typeface="Inconsolata" pitchFamily="1" charset="0"/>
              </a:rPr>
              <a:t>)</a:t>
            </a:r>
            <a:r>
              <a:rPr lang="en-US" b="0" i="0" dirty="0">
                <a:solidFill>
                  <a:srgbClr val="CFD5E0"/>
                </a:solidFill>
                <a:effectLst/>
                <a:highlight>
                  <a:srgbClr val="2E353E"/>
                </a:highlight>
                <a:latin typeface="Inconsolata" pitchFamily="1" charset="0"/>
              </a:rPr>
              <a:t>;</a:t>
            </a:r>
            <a:endParaRPr lang="en-US" dirty="0"/>
          </a:p>
        </p:txBody>
      </p:sp>
      <p:sp>
        <p:nvSpPr>
          <p:cNvPr id="7" name="TextBox 6">
            <a:extLst>
              <a:ext uri="{FF2B5EF4-FFF2-40B4-BE49-F238E27FC236}">
                <a16:creationId xmlns:a16="http://schemas.microsoft.com/office/drawing/2014/main" id="{E96EEFBB-8DDF-BF8F-41A3-ACF5825C675E}"/>
              </a:ext>
            </a:extLst>
          </p:cNvPr>
          <p:cNvSpPr txBox="1"/>
          <p:nvPr/>
        </p:nvSpPr>
        <p:spPr>
          <a:xfrm>
            <a:off x="533399" y="4707468"/>
            <a:ext cx="10803467"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fontAlgn="base"/>
            <a:r>
              <a:rPr lang="en-US" dirty="0" err="1">
                <a:solidFill>
                  <a:schemeClr val="dk1"/>
                </a:solidFill>
              </a:rPr>
              <a:t>CookieOptions</a:t>
            </a:r>
            <a:r>
              <a:rPr lang="en-US" dirty="0">
                <a:solidFill>
                  <a:schemeClr val="dk1"/>
                </a:solidFill>
              </a:rPr>
              <a:t> options = new </a:t>
            </a:r>
            <a:r>
              <a:rPr lang="en-US" dirty="0" err="1">
                <a:solidFill>
                  <a:schemeClr val="dk1"/>
                </a:solidFill>
              </a:rPr>
              <a:t>CookieOptions</a:t>
            </a:r>
            <a:endParaRPr lang="en-US" dirty="0">
              <a:solidFill>
                <a:schemeClr val="dk1"/>
              </a:solidFill>
            </a:endParaRPr>
          </a:p>
          <a:p>
            <a:pPr fontAlgn="base"/>
            <a:r>
              <a:rPr lang="en-US" dirty="0">
                <a:solidFill>
                  <a:schemeClr val="dk1"/>
                </a:solidFill>
              </a:rPr>
              <a:t>{</a:t>
            </a:r>
          </a:p>
          <a:p>
            <a:pPr fontAlgn="base"/>
            <a:r>
              <a:rPr lang="en-US" dirty="0">
                <a:solidFill>
                  <a:schemeClr val="dk1"/>
                </a:solidFill>
              </a:rPr>
              <a:t>	Domain = "localhost", // Match the domain used when setting the cookie</a:t>
            </a:r>
          </a:p>
          <a:p>
            <a:pPr fontAlgn="base"/>
            <a:r>
              <a:rPr lang="en-US" dirty="0">
                <a:solidFill>
                  <a:schemeClr val="dk1"/>
                </a:solidFill>
              </a:rPr>
              <a:t>	Path = "/" // Match the path used when setting the cookie</a:t>
            </a:r>
          </a:p>
          <a:p>
            <a:pPr fontAlgn="base"/>
            <a:r>
              <a:rPr lang="en-US" dirty="0">
                <a:solidFill>
                  <a:schemeClr val="dk1"/>
                </a:solidFill>
              </a:rPr>
              <a:t>};	// Delete the cookies from the browser</a:t>
            </a:r>
          </a:p>
          <a:p>
            <a:pPr algn="l" fontAlgn="base"/>
            <a:r>
              <a:rPr lang="en-US" b="0" i="0" dirty="0" err="1">
                <a:solidFill>
                  <a:srgbClr val="CFD5E0"/>
                </a:solidFill>
                <a:effectLst/>
                <a:highlight>
                  <a:srgbClr val="2E353E"/>
                </a:highlight>
                <a:latin typeface="inherit"/>
              </a:rPr>
              <a:t>Response.</a:t>
            </a:r>
            <a:r>
              <a:rPr lang="en-US" b="0" i="0" dirty="0" err="1">
                <a:solidFill>
                  <a:srgbClr val="4284AE"/>
                </a:solidFill>
                <a:effectLst/>
                <a:highlight>
                  <a:srgbClr val="2E353E"/>
                </a:highlight>
                <a:latin typeface="inherit"/>
              </a:rPr>
              <a:t>Cookies</a:t>
            </a:r>
            <a:r>
              <a:rPr lang="en-US" b="0" i="0" dirty="0" err="1">
                <a:solidFill>
                  <a:srgbClr val="CFD5E0"/>
                </a:solidFill>
                <a:effectLst/>
                <a:highlight>
                  <a:srgbClr val="2E353E"/>
                </a:highlight>
                <a:latin typeface="inherit"/>
              </a:rPr>
              <a:t>.</a:t>
            </a:r>
            <a:r>
              <a:rPr lang="en-US" b="0" i="0" dirty="0" err="1">
                <a:solidFill>
                  <a:srgbClr val="4284AE"/>
                </a:solidFill>
                <a:effectLst/>
                <a:highlight>
                  <a:srgbClr val="2E353E"/>
                </a:highlight>
                <a:latin typeface="inherit"/>
              </a:rPr>
              <a:t>Delete</a:t>
            </a:r>
            <a:r>
              <a:rPr lang="en-US" b="1" i="0" dirty="0">
                <a:solidFill>
                  <a:srgbClr val="6B7C8B"/>
                </a:solidFill>
                <a:effectLst/>
                <a:highlight>
                  <a:srgbClr val="2E353E"/>
                </a:highlight>
                <a:latin typeface="inherit"/>
              </a:rPr>
              <a:t>(</a:t>
            </a:r>
            <a:r>
              <a:rPr lang="en-US" b="0" i="0" dirty="0" err="1">
                <a:solidFill>
                  <a:srgbClr val="CFD5E0"/>
                </a:solidFill>
                <a:effectLst/>
                <a:highlight>
                  <a:srgbClr val="2E353E"/>
                </a:highlight>
                <a:latin typeface="inherit"/>
              </a:rPr>
              <a:t>CookieUserId</a:t>
            </a:r>
            <a:r>
              <a:rPr lang="en-US" b="0" i="0" dirty="0">
                <a:solidFill>
                  <a:srgbClr val="CFD5E0"/>
                </a:solidFill>
                <a:effectLst/>
                <a:highlight>
                  <a:srgbClr val="2E353E"/>
                </a:highlight>
                <a:latin typeface="inherit"/>
              </a:rPr>
              <a:t>, options</a:t>
            </a:r>
            <a:r>
              <a:rPr lang="en-US" b="1" i="0" dirty="0">
                <a:solidFill>
                  <a:srgbClr val="6B7C8B"/>
                </a:solidFill>
                <a:effectLst/>
                <a:highlight>
                  <a:srgbClr val="2E353E"/>
                </a:highlight>
                <a:latin typeface="inherit"/>
              </a:rPr>
              <a:t>)</a:t>
            </a:r>
            <a:r>
              <a:rPr lang="en-US" b="0" i="0" dirty="0">
                <a:solidFill>
                  <a:srgbClr val="CFD5E0"/>
                </a:solidFill>
                <a:effectLst/>
                <a:highlight>
                  <a:srgbClr val="2E353E"/>
                </a:highlight>
                <a:latin typeface="inherit"/>
              </a:rPr>
              <a:t>;</a:t>
            </a:r>
            <a:endParaRPr lang="en-US" b="0" i="0" dirty="0">
              <a:solidFill>
                <a:srgbClr val="596174"/>
              </a:solidFill>
              <a:effectLst/>
              <a:highlight>
                <a:srgbClr val="2E353E"/>
              </a:highlight>
              <a:latin typeface="Inconsolata" pitchFamily="1" charset="0"/>
            </a:endParaRPr>
          </a:p>
        </p:txBody>
      </p:sp>
    </p:spTree>
    <p:extLst>
      <p:ext uri="{BB962C8B-B14F-4D97-AF65-F5344CB8AC3E}">
        <p14:creationId xmlns:p14="http://schemas.microsoft.com/office/powerpoint/2010/main" val="367183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CCB78-5735-C29D-5F13-DB6074C8A0E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930FD68-088F-A140-7C6C-AC0A31426A0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78757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DB23F-8F68-44A6-9491-C7832249D958}"/>
              </a:ext>
            </a:extLst>
          </p:cNvPr>
          <p:cNvSpPr>
            <a:spLocks noGrp="1"/>
          </p:cNvSpPr>
          <p:nvPr>
            <p:ph type="title"/>
          </p:nvPr>
        </p:nvSpPr>
        <p:spPr>
          <a:xfrm>
            <a:off x="1" y="0"/>
            <a:ext cx="4198374" cy="883572"/>
          </a:xfrm>
        </p:spPr>
        <p:txBody>
          <a:bodyPr>
            <a:normAutofit/>
          </a:bodyPr>
          <a:lstStyle/>
          <a:p>
            <a:pPr algn="ctr"/>
            <a:r>
              <a:rPr lang="en-IN" sz="2800" b="1" i="0" dirty="0">
                <a:solidFill>
                  <a:srgbClr val="212121"/>
                </a:solidFill>
                <a:effectLst/>
                <a:latin typeface="+mn-lt"/>
              </a:rPr>
              <a:t>Writing cookie </a:t>
            </a:r>
            <a:endParaRPr lang="en-IN" sz="2800" b="1" dirty="0">
              <a:latin typeface="+mn-lt"/>
            </a:endParaRPr>
          </a:p>
        </p:txBody>
      </p:sp>
      <p:sp>
        <p:nvSpPr>
          <p:cNvPr id="7" name="TextBox 6">
            <a:extLst>
              <a:ext uri="{FF2B5EF4-FFF2-40B4-BE49-F238E27FC236}">
                <a16:creationId xmlns:a16="http://schemas.microsoft.com/office/drawing/2014/main" id="{574C1548-7675-456D-B518-36B42BEFEC68}"/>
              </a:ext>
            </a:extLst>
          </p:cNvPr>
          <p:cNvSpPr txBox="1"/>
          <p:nvPr/>
        </p:nvSpPr>
        <p:spPr>
          <a:xfrm>
            <a:off x="403123" y="883572"/>
            <a:ext cx="5397909" cy="5632311"/>
          </a:xfrm>
          <a:prstGeom prst="rect">
            <a:avLst/>
          </a:prstGeom>
          <a:noFill/>
        </p:spPr>
        <p:txBody>
          <a:bodyPr wrap="square">
            <a:spAutoFit/>
          </a:bodyPr>
          <a:lstStyle/>
          <a:p>
            <a:r>
              <a:rPr lang="en-IN" dirty="0"/>
              <a:t>using </a:t>
            </a:r>
            <a:r>
              <a:rPr lang="en-IN" dirty="0" err="1"/>
              <a:t>Microsoft.AspNetCore.Http</a:t>
            </a:r>
            <a:r>
              <a:rPr lang="en-IN" dirty="0"/>
              <a:t>;</a:t>
            </a:r>
          </a:p>
          <a:p>
            <a:r>
              <a:rPr lang="en-IN" dirty="0"/>
              <a:t>using </a:t>
            </a:r>
            <a:r>
              <a:rPr lang="en-IN" dirty="0" err="1"/>
              <a:t>Microsoft.AspNetCore.Mvc</a:t>
            </a:r>
            <a:r>
              <a:rPr lang="en-IN" dirty="0"/>
              <a:t>;</a:t>
            </a:r>
          </a:p>
          <a:p>
            <a:r>
              <a:rPr lang="en-IN" dirty="0"/>
              <a:t>using System;</a:t>
            </a:r>
          </a:p>
          <a:p>
            <a:endParaRPr lang="en-IN" dirty="0"/>
          </a:p>
          <a:p>
            <a:r>
              <a:rPr lang="en-IN" dirty="0"/>
              <a:t>namespace WebApplication2.Controllers</a:t>
            </a:r>
          </a:p>
          <a:p>
            <a:r>
              <a:rPr lang="en-IN" dirty="0"/>
              <a:t>{</a:t>
            </a:r>
          </a:p>
          <a:p>
            <a:r>
              <a:rPr lang="en-IN" dirty="0"/>
              <a:t>    public class Demo6Controller : Controller</a:t>
            </a:r>
          </a:p>
          <a:p>
            <a:r>
              <a:rPr lang="en-IN" dirty="0"/>
              <a:t>    {</a:t>
            </a:r>
          </a:p>
          <a:p>
            <a:r>
              <a:rPr lang="en-IN" dirty="0"/>
              <a:t>        public </a:t>
            </a:r>
            <a:r>
              <a:rPr lang="en-IN" dirty="0" err="1"/>
              <a:t>IActionResult</a:t>
            </a:r>
            <a:r>
              <a:rPr lang="en-IN" dirty="0"/>
              <a:t> Create()</a:t>
            </a:r>
          </a:p>
          <a:p>
            <a:r>
              <a:rPr lang="en-IN" dirty="0"/>
              <a:t>        {</a:t>
            </a:r>
          </a:p>
          <a:p>
            <a:r>
              <a:rPr lang="en-IN" dirty="0"/>
              <a:t>            string key = "</a:t>
            </a:r>
            <a:r>
              <a:rPr lang="en-IN" dirty="0" err="1"/>
              <a:t>DemoCookie</a:t>
            </a:r>
            <a:r>
              <a:rPr lang="en-IN" dirty="0"/>
              <a:t>";</a:t>
            </a:r>
          </a:p>
          <a:p>
            <a:r>
              <a:rPr lang="en-IN" dirty="0"/>
              <a:t>            string value = </a:t>
            </a:r>
            <a:r>
              <a:rPr lang="en-IN" dirty="0" err="1"/>
              <a:t>DateTime.Now.ToString</a:t>
            </a:r>
            <a:r>
              <a:rPr lang="en-IN" dirty="0"/>
              <a:t>();</a:t>
            </a:r>
          </a:p>
          <a:p>
            <a:endParaRPr lang="en-IN" dirty="0"/>
          </a:p>
          <a:p>
            <a:r>
              <a:rPr lang="en-IN" dirty="0"/>
              <a:t>            </a:t>
            </a:r>
            <a:r>
              <a:rPr lang="en-IN" dirty="0" err="1"/>
              <a:t>CookieOptions</a:t>
            </a:r>
            <a:r>
              <a:rPr lang="en-IN" dirty="0"/>
              <a:t> options = new </a:t>
            </a:r>
            <a:r>
              <a:rPr lang="en-IN" dirty="0" err="1"/>
              <a:t>CookieOptions</a:t>
            </a:r>
            <a:r>
              <a:rPr lang="en-IN" dirty="0"/>
              <a:t>();</a:t>
            </a:r>
          </a:p>
          <a:p>
            <a:r>
              <a:rPr lang="en-IN" dirty="0"/>
              <a:t>            </a:t>
            </a:r>
            <a:r>
              <a:rPr lang="en-IN" dirty="0" err="1"/>
              <a:t>options.Expires</a:t>
            </a:r>
            <a:r>
              <a:rPr lang="en-IN" dirty="0"/>
              <a:t> = </a:t>
            </a:r>
            <a:r>
              <a:rPr lang="en-IN" dirty="0" err="1"/>
              <a:t>DateTime.Now.AddDays</a:t>
            </a:r>
            <a:r>
              <a:rPr lang="en-IN" dirty="0"/>
              <a:t>(7);</a:t>
            </a:r>
          </a:p>
          <a:p>
            <a:r>
              <a:rPr lang="en-IN" dirty="0">
                <a:highlight>
                  <a:srgbClr val="FFFF00"/>
                </a:highlight>
              </a:rPr>
              <a:t>            </a:t>
            </a:r>
            <a:r>
              <a:rPr lang="en-IN" dirty="0" err="1">
                <a:highlight>
                  <a:srgbClr val="FFFF00"/>
                </a:highlight>
              </a:rPr>
              <a:t>Response.Cookies.Append</a:t>
            </a:r>
            <a:r>
              <a:rPr lang="en-IN" dirty="0">
                <a:highlight>
                  <a:srgbClr val="FFFF00"/>
                </a:highlight>
              </a:rPr>
              <a:t>(key, value, options);</a:t>
            </a:r>
          </a:p>
          <a:p>
            <a:r>
              <a:rPr lang="en-IN" dirty="0"/>
              <a:t>            return View();</a:t>
            </a:r>
          </a:p>
          <a:p>
            <a:r>
              <a:rPr lang="en-IN" dirty="0"/>
              <a:t>        }</a:t>
            </a:r>
          </a:p>
          <a:p>
            <a:r>
              <a:rPr lang="en-IN" dirty="0"/>
              <a:t>    }</a:t>
            </a:r>
          </a:p>
          <a:p>
            <a:r>
              <a:rPr lang="en-IN" dirty="0"/>
              <a:t>}</a:t>
            </a:r>
          </a:p>
        </p:txBody>
      </p:sp>
      <p:sp>
        <p:nvSpPr>
          <p:cNvPr id="9" name="TextBox 8">
            <a:extLst>
              <a:ext uri="{FF2B5EF4-FFF2-40B4-BE49-F238E27FC236}">
                <a16:creationId xmlns:a16="http://schemas.microsoft.com/office/drawing/2014/main" id="{E26C46D4-D227-4AAC-9FCB-6AC9C614A205}"/>
              </a:ext>
            </a:extLst>
          </p:cNvPr>
          <p:cNvSpPr txBox="1"/>
          <p:nvPr/>
        </p:nvSpPr>
        <p:spPr>
          <a:xfrm>
            <a:off x="7030065" y="534119"/>
            <a:ext cx="4758812" cy="1754326"/>
          </a:xfrm>
          <a:prstGeom prst="rect">
            <a:avLst/>
          </a:prstGeom>
          <a:noFill/>
        </p:spPr>
        <p:txBody>
          <a:bodyPr wrap="square">
            <a:spAutoFit/>
          </a:bodyPr>
          <a:lstStyle/>
          <a:p>
            <a:r>
              <a:rPr lang="en-US" dirty="0"/>
              <a:t>public </a:t>
            </a:r>
            <a:r>
              <a:rPr lang="en-US" dirty="0" err="1"/>
              <a:t>IActionResult</a:t>
            </a:r>
            <a:r>
              <a:rPr lang="en-US" dirty="0"/>
              <a:t> Read()</a:t>
            </a:r>
          </a:p>
          <a:p>
            <a:r>
              <a:rPr lang="en-US" dirty="0"/>
              <a:t>{</a:t>
            </a:r>
          </a:p>
          <a:p>
            <a:r>
              <a:rPr lang="en-US" dirty="0"/>
              <a:t>     string key = "</a:t>
            </a:r>
            <a:r>
              <a:rPr lang="en-US" dirty="0" err="1"/>
              <a:t>DemoCookie</a:t>
            </a:r>
            <a:r>
              <a:rPr lang="en-US" dirty="0"/>
              <a:t>";</a:t>
            </a:r>
          </a:p>
          <a:p>
            <a:r>
              <a:rPr lang="en-US" dirty="0"/>
              <a:t>     var </a:t>
            </a:r>
            <a:r>
              <a:rPr lang="en-US" dirty="0" err="1"/>
              <a:t>CookieValue</a:t>
            </a:r>
            <a:r>
              <a:rPr lang="en-US" dirty="0"/>
              <a:t> = </a:t>
            </a:r>
            <a:r>
              <a:rPr lang="en-US" dirty="0" err="1"/>
              <a:t>Request.Cookies</a:t>
            </a:r>
            <a:r>
              <a:rPr lang="en-US" dirty="0"/>
              <a:t>[key];</a:t>
            </a:r>
          </a:p>
          <a:p>
            <a:r>
              <a:rPr lang="en-US" dirty="0"/>
              <a:t>     return View();</a:t>
            </a:r>
          </a:p>
          <a:p>
            <a:r>
              <a:rPr lang="en-US" dirty="0"/>
              <a:t>}</a:t>
            </a:r>
            <a:endParaRPr lang="en-IN" dirty="0"/>
          </a:p>
        </p:txBody>
      </p:sp>
      <p:sp>
        <p:nvSpPr>
          <p:cNvPr id="10" name="Title 1">
            <a:extLst>
              <a:ext uri="{FF2B5EF4-FFF2-40B4-BE49-F238E27FC236}">
                <a16:creationId xmlns:a16="http://schemas.microsoft.com/office/drawing/2014/main" id="{A42FDE24-A4E0-4BB0-B322-7271C6FCA439}"/>
              </a:ext>
            </a:extLst>
          </p:cNvPr>
          <p:cNvSpPr txBox="1">
            <a:spLocks/>
          </p:cNvSpPr>
          <p:nvPr/>
        </p:nvSpPr>
        <p:spPr>
          <a:xfrm>
            <a:off x="6715432" y="10499"/>
            <a:ext cx="4689987" cy="4312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800" b="1" dirty="0">
                <a:latin typeface="+mn-lt"/>
              </a:rPr>
              <a:t>How to Read  cookie</a:t>
            </a:r>
          </a:p>
        </p:txBody>
      </p:sp>
      <p:sp>
        <p:nvSpPr>
          <p:cNvPr id="12" name="TextBox 11">
            <a:extLst>
              <a:ext uri="{FF2B5EF4-FFF2-40B4-BE49-F238E27FC236}">
                <a16:creationId xmlns:a16="http://schemas.microsoft.com/office/drawing/2014/main" id="{825426AD-33AB-421D-9A03-9AA81084D2AD}"/>
              </a:ext>
            </a:extLst>
          </p:cNvPr>
          <p:cNvSpPr txBox="1"/>
          <p:nvPr/>
        </p:nvSpPr>
        <p:spPr>
          <a:xfrm>
            <a:off x="5702710" y="2203804"/>
            <a:ext cx="6322141" cy="1846659"/>
          </a:xfrm>
          <a:prstGeom prst="rect">
            <a:avLst/>
          </a:prstGeom>
          <a:noFill/>
        </p:spPr>
        <p:txBody>
          <a:bodyPr wrap="square">
            <a:spAutoFit/>
          </a:bodyPr>
          <a:lstStyle/>
          <a:p>
            <a:pPr algn="ctr"/>
            <a:r>
              <a:rPr lang="en-US" sz="2400" b="1" dirty="0"/>
              <a:t>Removing Cookie</a:t>
            </a:r>
          </a:p>
          <a:p>
            <a:endParaRPr lang="en-US" dirty="0"/>
          </a:p>
          <a:p>
            <a:r>
              <a:rPr lang="en-US" dirty="0"/>
              <a:t>we need to set the expiration of cookie to a past date and update a cookie.</a:t>
            </a:r>
          </a:p>
          <a:p>
            <a:r>
              <a:rPr lang="en-US" dirty="0"/>
              <a:t>If you see below code, we have set past date as </a:t>
            </a:r>
            <a:r>
              <a:rPr lang="en-US" dirty="0" err="1"/>
              <a:t>DateTime.Now.AddDays</a:t>
            </a:r>
            <a:r>
              <a:rPr lang="en-US" dirty="0"/>
              <a:t>(-1); and added cookie to browser.</a:t>
            </a:r>
            <a:endParaRPr lang="en-IN" dirty="0"/>
          </a:p>
        </p:txBody>
      </p:sp>
      <p:sp>
        <p:nvSpPr>
          <p:cNvPr id="14" name="TextBox 13">
            <a:extLst>
              <a:ext uri="{FF2B5EF4-FFF2-40B4-BE49-F238E27FC236}">
                <a16:creationId xmlns:a16="http://schemas.microsoft.com/office/drawing/2014/main" id="{46C8BA83-9755-4785-AC59-3925A48246A0}"/>
              </a:ext>
            </a:extLst>
          </p:cNvPr>
          <p:cNvSpPr txBox="1"/>
          <p:nvPr/>
        </p:nvSpPr>
        <p:spPr>
          <a:xfrm>
            <a:off x="5801032" y="4050463"/>
            <a:ext cx="6096000" cy="3139321"/>
          </a:xfrm>
          <a:prstGeom prst="rect">
            <a:avLst/>
          </a:prstGeom>
          <a:noFill/>
        </p:spPr>
        <p:txBody>
          <a:bodyPr wrap="square">
            <a:spAutoFit/>
          </a:bodyPr>
          <a:lstStyle/>
          <a:p>
            <a:r>
              <a:rPr lang="en-IN" dirty="0"/>
              <a:t>public </a:t>
            </a:r>
            <a:r>
              <a:rPr lang="en-IN" dirty="0" err="1"/>
              <a:t>IActionResult</a:t>
            </a:r>
            <a:r>
              <a:rPr lang="en-IN" dirty="0"/>
              <a:t> Remove()</a:t>
            </a:r>
          </a:p>
          <a:p>
            <a:r>
              <a:rPr lang="en-IN" dirty="0"/>
              <a:t>{</a:t>
            </a:r>
          </a:p>
          <a:p>
            <a:r>
              <a:rPr lang="en-IN" dirty="0"/>
              <a:t>    string key = "</a:t>
            </a:r>
            <a:r>
              <a:rPr lang="en-IN" dirty="0" err="1"/>
              <a:t>DemoCookie</a:t>
            </a:r>
            <a:r>
              <a:rPr lang="en-IN" dirty="0"/>
              <a:t>";</a:t>
            </a:r>
          </a:p>
          <a:p>
            <a:r>
              <a:rPr lang="en-IN" dirty="0"/>
              <a:t>    string value = </a:t>
            </a:r>
            <a:r>
              <a:rPr lang="en-IN" dirty="0" err="1"/>
              <a:t>DateTime.Now.ToString</a:t>
            </a:r>
            <a:r>
              <a:rPr lang="en-IN" dirty="0"/>
              <a:t>();</a:t>
            </a:r>
          </a:p>
          <a:p>
            <a:endParaRPr lang="en-IN" dirty="0"/>
          </a:p>
          <a:p>
            <a:r>
              <a:rPr lang="en-IN" dirty="0"/>
              <a:t>    </a:t>
            </a:r>
            <a:r>
              <a:rPr lang="en-IN" dirty="0" err="1"/>
              <a:t>CookieOptions</a:t>
            </a:r>
            <a:r>
              <a:rPr lang="en-IN" dirty="0"/>
              <a:t> options = new </a:t>
            </a:r>
            <a:r>
              <a:rPr lang="en-IN" dirty="0" err="1"/>
              <a:t>CookieOptions</a:t>
            </a:r>
            <a:r>
              <a:rPr lang="en-IN" dirty="0"/>
              <a:t>();</a:t>
            </a:r>
          </a:p>
          <a:p>
            <a:r>
              <a:rPr lang="en-IN" dirty="0"/>
              <a:t>    </a:t>
            </a:r>
            <a:r>
              <a:rPr lang="en-IN" dirty="0" err="1"/>
              <a:t>options.Expires</a:t>
            </a:r>
            <a:r>
              <a:rPr lang="en-IN" dirty="0"/>
              <a:t> = </a:t>
            </a:r>
            <a:r>
              <a:rPr lang="en-IN" dirty="0" err="1"/>
              <a:t>DateTime.Now.AddDays</a:t>
            </a:r>
            <a:r>
              <a:rPr lang="en-IN" dirty="0"/>
              <a:t>(-1);</a:t>
            </a:r>
          </a:p>
          <a:p>
            <a:r>
              <a:rPr lang="en-IN" dirty="0"/>
              <a:t>    </a:t>
            </a:r>
            <a:r>
              <a:rPr lang="en-IN" dirty="0" err="1"/>
              <a:t>Response.Cookies.Append</a:t>
            </a:r>
            <a:r>
              <a:rPr lang="en-IN" dirty="0"/>
              <a:t>(key, value, options);</a:t>
            </a:r>
          </a:p>
          <a:p>
            <a:endParaRPr lang="en-IN" dirty="0"/>
          </a:p>
          <a:p>
            <a:r>
              <a:rPr lang="en-IN" dirty="0"/>
              <a:t>    return View();</a:t>
            </a:r>
          </a:p>
          <a:p>
            <a:r>
              <a:rPr lang="en-IN" dirty="0"/>
              <a:t>}</a:t>
            </a:r>
          </a:p>
        </p:txBody>
      </p:sp>
    </p:spTree>
    <p:extLst>
      <p:ext uri="{BB962C8B-B14F-4D97-AF65-F5344CB8AC3E}">
        <p14:creationId xmlns:p14="http://schemas.microsoft.com/office/powerpoint/2010/main" val="2545311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A747-3349-14B8-E691-F71ACC6EAFA3}"/>
              </a:ext>
            </a:extLst>
          </p:cNvPr>
          <p:cNvSpPr>
            <a:spLocks noGrp="1"/>
          </p:cNvSpPr>
          <p:nvPr>
            <p:ph type="title"/>
          </p:nvPr>
        </p:nvSpPr>
        <p:spPr>
          <a:xfrm>
            <a:off x="405353" y="365125"/>
            <a:ext cx="5690647" cy="3603560"/>
          </a:xfrm>
        </p:spPr>
        <p:txBody>
          <a:bodyPr>
            <a:normAutofit/>
          </a:bodyPr>
          <a:lstStyle/>
          <a:p>
            <a:r>
              <a:rPr lang="en-US" sz="1600" dirty="0"/>
              <a:t>Create a </a:t>
            </a:r>
            <a:r>
              <a:rPr lang="en-US" sz="1600" dirty="0" err="1"/>
              <a:t>login_page</a:t>
            </a:r>
            <a:br>
              <a:rPr lang="en-US" sz="1600" dirty="0"/>
            </a:br>
            <a:br>
              <a:rPr lang="en-US" sz="1600" dirty="0"/>
            </a:br>
            <a:r>
              <a:rPr lang="en-US" sz="1600" dirty="0" err="1"/>
              <a:t>UserName</a:t>
            </a:r>
            <a:r>
              <a:rPr lang="en-US" sz="1600" dirty="0"/>
              <a:t> </a:t>
            </a:r>
            <a:br>
              <a:rPr lang="en-US" sz="1600" dirty="0"/>
            </a:br>
            <a:r>
              <a:rPr lang="en-US" sz="1600" dirty="0"/>
              <a:t>Password</a:t>
            </a:r>
            <a:br>
              <a:rPr lang="en-US" sz="1600" dirty="0"/>
            </a:br>
            <a:br>
              <a:rPr lang="en-US" sz="1600" dirty="0"/>
            </a:br>
            <a:br>
              <a:rPr lang="en-US" sz="1600" dirty="0"/>
            </a:br>
            <a:br>
              <a:rPr lang="en-US" sz="1600" dirty="0"/>
            </a:br>
            <a:br>
              <a:rPr lang="en-US" sz="1600" dirty="0"/>
            </a:br>
            <a:endParaRPr lang="en-IN" sz="1600" dirty="0"/>
          </a:p>
        </p:txBody>
      </p:sp>
      <p:sp>
        <p:nvSpPr>
          <p:cNvPr id="3" name="Rectangle 2">
            <a:extLst>
              <a:ext uri="{FF2B5EF4-FFF2-40B4-BE49-F238E27FC236}">
                <a16:creationId xmlns:a16="http://schemas.microsoft.com/office/drawing/2014/main" id="{31910E72-9226-7C45-9C29-217D7CDF028A}"/>
              </a:ext>
            </a:extLst>
          </p:cNvPr>
          <p:cNvSpPr/>
          <p:nvPr/>
        </p:nvSpPr>
        <p:spPr>
          <a:xfrm>
            <a:off x="1527142" y="1497290"/>
            <a:ext cx="1593130" cy="235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Vidya</a:t>
            </a:r>
            <a:endParaRPr lang="en-IN" dirty="0"/>
          </a:p>
        </p:txBody>
      </p:sp>
      <p:sp>
        <p:nvSpPr>
          <p:cNvPr id="4" name="Rectangle 3">
            <a:extLst>
              <a:ext uri="{FF2B5EF4-FFF2-40B4-BE49-F238E27FC236}">
                <a16:creationId xmlns:a16="http://schemas.microsoft.com/office/drawing/2014/main" id="{6689B56A-0785-5F77-4F5E-2383551CEE51}"/>
              </a:ext>
            </a:extLst>
          </p:cNvPr>
          <p:cNvSpPr/>
          <p:nvPr/>
        </p:nvSpPr>
        <p:spPr>
          <a:xfrm>
            <a:off x="1527142" y="1732960"/>
            <a:ext cx="1593130" cy="235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32D6456-AA02-A42A-60BD-4324CB271717}"/>
              </a:ext>
            </a:extLst>
          </p:cNvPr>
          <p:cNvSpPr/>
          <p:nvPr/>
        </p:nvSpPr>
        <p:spPr>
          <a:xfrm>
            <a:off x="1376313" y="2149311"/>
            <a:ext cx="320512" cy="235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A1D44F2E-4E0C-053B-6A33-E2430CAC93F2}"/>
              </a:ext>
            </a:extLst>
          </p:cNvPr>
          <p:cNvSpPr/>
          <p:nvPr/>
        </p:nvSpPr>
        <p:spPr>
          <a:xfrm>
            <a:off x="1216058" y="2780907"/>
            <a:ext cx="1395167" cy="40535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Submit</a:t>
            </a:r>
            <a:endParaRPr lang="en-IN" dirty="0"/>
          </a:p>
        </p:txBody>
      </p:sp>
      <p:sp>
        <p:nvSpPr>
          <p:cNvPr id="7" name="Rectangle 6">
            <a:extLst>
              <a:ext uri="{FF2B5EF4-FFF2-40B4-BE49-F238E27FC236}">
                <a16:creationId xmlns:a16="http://schemas.microsoft.com/office/drawing/2014/main" id="{EDC07E03-5AF1-FBF7-3E83-5C9142E7492E}"/>
              </a:ext>
            </a:extLst>
          </p:cNvPr>
          <p:cNvSpPr/>
          <p:nvPr/>
        </p:nvSpPr>
        <p:spPr>
          <a:xfrm>
            <a:off x="2876746" y="2739272"/>
            <a:ext cx="1395167" cy="40535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Reset</a:t>
            </a:r>
            <a:endParaRPr lang="en-IN" dirty="0"/>
          </a:p>
        </p:txBody>
      </p:sp>
      <p:cxnSp>
        <p:nvCxnSpPr>
          <p:cNvPr id="9" name="Straight Arrow Connector 8">
            <a:extLst>
              <a:ext uri="{FF2B5EF4-FFF2-40B4-BE49-F238E27FC236}">
                <a16:creationId xmlns:a16="http://schemas.microsoft.com/office/drawing/2014/main" id="{416DC0A4-070A-4A4F-7104-1212B5CDCCC1}"/>
              </a:ext>
            </a:extLst>
          </p:cNvPr>
          <p:cNvCxnSpPr/>
          <p:nvPr/>
        </p:nvCxnSpPr>
        <p:spPr>
          <a:xfrm>
            <a:off x="2323707" y="3186260"/>
            <a:ext cx="553039" cy="1423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42BD2FE-353C-D590-A096-39E142EF9C65}"/>
              </a:ext>
            </a:extLst>
          </p:cNvPr>
          <p:cNvSpPr txBox="1"/>
          <p:nvPr/>
        </p:nvSpPr>
        <p:spPr>
          <a:xfrm>
            <a:off x="490194" y="4708721"/>
            <a:ext cx="5260156" cy="369332"/>
          </a:xfrm>
          <a:prstGeom prst="rect">
            <a:avLst/>
          </a:prstGeom>
          <a:noFill/>
        </p:spPr>
        <p:txBody>
          <a:bodyPr wrap="square" rtlCol="0">
            <a:spAutoFit/>
          </a:bodyPr>
          <a:lstStyle/>
          <a:p>
            <a:r>
              <a:rPr lang="en-US" dirty="0"/>
              <a:t>If user is valid and check the box put data in cookies</a:t>
            </a:r>
            <a:endParaRPr lang="en-IN" dirty="0"/>
          </a:p>
        </p:txBody>
      </p:sp>
      <p:sp>
        <p:nvSpPr>
          <p:cNvPr id="11" name="Rectangle 10">
            <a:extLst>
              <a:ext uri="{FF2B5EF4-FFF2-40B4-BE49-F238E27FC236}">
                <a16:creationId xmlns:a16="http://schemas.microsoft.com/office/drawing/2014/main" id="{AEF2D743-2161-2719-8FAE-4EA5ABEF8EAD}"/>
              </a:ext>
            </a:extLst>
          </p:cNvPr>
          <p:cNvSpPr/>
          <p:nvPr/>
        </p:nvSpPr>
        <p:spPr>
          <a:xfrm>
            <a:off x="1913641" y="2069184"/>
            <a:ext cx="1998483" cy="3157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Remember me</a:t>
            </a:r>
            <a:endParaRPr lang="en-IN" dirty="0"/>
          </a:p>
        </p:txBody>
      </p:sp>
      <p:sp>
        <p:nvSpPr>
          <p:cNvPr id="13" name="Title 1">
            <a:extLst>
              <a:ext uri="{FF2B5EF4-FFF2-40B4-BE49-F238E27FC236}">
                <a16:creationId xmlns:a16="http://schemas.microsoft.com/office/drawing/2014/main" id="{AC53E691-9BA8-8451-740B-19114C6EFB48}"/>
              </a:ext>
            </a:extLst>
          </p:cNvPr>
          <p:cNvSpPr txBox="1">
            <a:spLocks/>
          </p:cNvSpPr>
          <p:nvPr/>
        </p:nvSpPr>
        <p:spPr>
          <a:xfrm>
            <a:off x="5434554" y="347531"/>
            <a:ext cx="5690647" cy="36035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a:t>Create a login_page</a:t>
            </a:r>
            <a:br>
              <a:rPr lang="en-US" sz="1600"/>
            </a:br>
            <a:br>
              <a:rPr lang="en-US" sz="1600"/>
            </a:br>
            <a:r>
              <a:rPr lang="en-US" sz="1600"/>
              <a:t>UserName </a:t>
            </a:r>
            <a:br>
              <a:rPr lang="en-US" sz="1600"/>
            </a:br>
            <a:r>
              <a:rPr lang="en-US" sz="1600"/>
              <a:t>Password</a:t>
            </a:r>
            <a:br>
              <a:rPr lang="en-US" sz="1600"/>
            </a:br>
            <a:br>
              <a:rPr lang="en-US" sz="1600"/>
            </a:br>
            <a:br>
              <a:rPr lang="en-US" sz="1600"/>
            </a:br>
            <a:br>
              <a:rPr lang="en-US" sz="1600"/>
            </a:br>
            <a:br>
              <a:rPr lang="en-US" sz="1600"/>
            </a:br>
            <a:endParaRPr lang="en-IN" sz="1600" dirty="0"/>
          </a:p>
        </p:txBody>
      </p:sp>
      <p:sp>
        <p:nvSpPr>
          <p:cNvPr id="14" name="Rectangle 13">
            <a:extLst>
              <a:ext uri="{FF2B5EF4-FFF2-40B4-BE49-F238E27FC236}">
                <a16:creationId xmlns:a16="http://schemas.microsoft.com/office/drawing/2014/main" id="{8D36A9A7-9176-5FD2-9A02-4572A7ED14FD}"/>
              </a:ext>
            </a:extLst>
          </p:cNvPr>
          <p:cNvSpPr/>
          <p:nvPr/>
        </p:nvSpPr>
        <p:spPr>
          <a:xfrm>
            <a:off x="6556343" y="1479696"/>
            <a:ext cx="1593130" cy="235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Vidya</a:t>
            </a:r>
            <a:endParaRPr lang="en-IN" dirty="0"/>
          </a:p>
        </p:txBody>
      </p:sp>
      <p:sp>
        <p:nvSpPr>
          <p:cNvPr id="15" name="Rectangle 14">
            <a:extLst>
              <a:ext uri="{FF2B5EF4-FFF2-40B4-BE49-F238E27FC236}">
                <a16:creationId xmlns:a16="http://schemas.microsoft.com/office/drawing/2014/main" id="{E08B7D56-0485-9019-A6C3-FDA774517EA6}"/>
              </a:ext>
            </a:extLst>
          </p:cNvPr>
          <p:cNvSpPr/>
          <p:nvPr/>
        </p:nvSpPr>
        <p:spPr>
          <a:xfrm>
            <a:off x="6556343" y="1715366"/>
            <a:ext cx="1593130" cy="235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233184E0-0C04-2807-02E6-FDD1A1919187}"/>
              </a:ext>
            </a:extLst>
          </p:cNvPr>
          <p:cNvSpPr/>
          <p:nvPr/>
        </p:nvSpPr>
        <p:spPr>
          <a:xfrm>
            <a:off x="6405514" y="2131717"/>
            <a:ext cx="320512" cy="235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0FA39D76-2F24-E8FC-086E-36D8509B1C80}"/>
              </a:ext>
            </a:extLst>
          </p:cNvPr>
          <p:cNvSpPr/>
          <p:nvPr/>
        </p:nvSpPr>
        <p:spPr>
          <a:xfrm>
            <a:off x="6245259" y="2763313"/>
            <a:ext cx="1395167" cy="40535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Submit</a:t>
            </a:r>
            <a:endParaRPr lang="en-IN" dirty="0"/>
          </a:p>
        </p:txBody>
      </p:sp>
      <p:sp>
        <p:nvSpPr>
          <p:cNvPr id="18" name="Rectangle 17">
            <a:extLst>
              <a:ext uri="{FF2B5EF4-FFF2-40B4-BE49-F238E27FC236}">
                <a16:creationId xmlns:a16="http://schemas.microsoft.com/office/drawing/2014/main" id="{B3506B67-4184-030B-4AA8-4B3683A5B454}"/>
              </a:ext>
            </a:extLst>
          </p:cNvPr>
          <p:cNvSpPr/>
          <p:nvPr/>
        </p:nvSpPr>
        <p:spPr>
          <a:xfrm>
            <a:off x="7905947" y="2721678"/>
            <a:ext cx="1395167" cy="40535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Reset</a:t>
            </a:r>
            <a:endParaRPr lang="en-IN" dirty="0"/>
          </a:p>
        </p:txBody>
      </p:sp>
      <p:cxnSp>
        <p:nvCxnSpPr>
          <p:cNvPr id="19" name="Straight Arrow Connector 18">
            <a:extLst>
              <a:ext uri="{FF2B5EF4-FFF2-40B4-BE49-F238E27FC236}">
                <a16:creationId xmlns:a16="http://schemas.microsoft.com/office/drawing/2014/main" id="{516C5DA1-7047-87FB-B478-321C50F4AF6A}"/>
              </a:ext>
            </a:extLst>
          </p:cNvPr>
          <p:cNvCxnSpPr/>
          <p:nvPr/>
        </p:nvCxnSpPr>
        <p:spPr>
          <a:xfrm>
            <a:off x="7352908" y="3168666"/>
            <a:ext cx="553039" cy="1423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10576B5-E5E3-632F-79FD-E6B13327D85E}"/>
              </a:ext>
            </a:extLst>
          </p:cNvPr>
          <p:cNvSpPr txBox="1"/>
          <p:nvPr/>
        </p:nvSpPr>
        <p:spPr>
          <a:xfrm>
            <a:off x="6726026" y="4771222"/>
            <a:ext cx="5260156" cy="646331"/>
          </a:xfrm>
          <a:prstGeom prst="rect">
            <a:avLst/>
          </a:prstGeom>
          <a:noFill/>
        </p:spPr>
        <p:txBody>
          <a:bodyPr wrap="square" rtlCol="0">
            <a:spAutoFit/>
          </a:bodyPr>
          <a:lstStyle/>
          <a:p>
            <a:r>
              <a:rPr lang="en-US" dirty="0"/>
              <a:t>If user Revisit the page it should display data in textbox</a:t>
            </a:r>
            <a:endParaRPr lang="en-IN" dirty="0"/>
          </a:p>
        </p:txBody>
      </p:sp>
      <p:sp>
        <p:nvSpPr>
          <p:cNvPr id="21" name="Rectangle 20">
            <a:extLst>
              <a:ext uri="{FF2B5EF4-FFF2-40B4-BE49-F238E27FC236}">
                <a16:creationId xmlns:a16="http://schemas.microsoft.com/office/drawing/2014/main" id="{C26911AA-240B-745A-1F00-43C1F1CD3D67}"/>
              </a:ext>
            </a:extLst>
          </p:cNvPr>
          <p:cNvSpPr/>
          <p:nvPr/>
        </p:nvSpPr>
        <p:spPr>
          <a:xfrm>
            <a:off x="6942842" y="2051590"/>
            <a:ext cx="1998483" cy="3157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Remember me</a:t>
            </a:r>
            <a:endParaRPr lang="en-IN" dirty="0"/>
          </a:p>
        </p:txBody>
      </p:sp>
      <p:sp>
        <p:nvSpPr>
          <p:cNvPr id="23" name="Freeform: Shape 22">
            <a:extLst>
              <a:ext uri="{FF2B5EF4-FFF2-40B4-BE49-F238E27FC236}">
                <a16:creationId xmlns:a16="http://schemas.microsoft.com/office/drawing/2014/main" id="{40D8FBCF-B0BA-F1BF-5F5E-E0A8AFDBAEA0}"/>
              </a:ext>
            </a:extLst>
          </p:cNvPr>
          <p:cNvSpPr/>
          <p:nvPr/>
        </p:nvSpPr>
        <p:spPr>
          <a:xfrm>
            <a:off x="1376313" y="2195186"/>
            <a:ext cx="311085" cy="207389"/>
          </a:xfrm>
          <a:custGeom>
            <a:avLst/>
            <a:gdLst>
              <a:gd name="connsiteX0" fmla="*/ 0 w 311085"/>
              <a:gd name="connsiteY0" fmla="*/ 56561 h 207389"/>
              <a:gd name="connsiteX1" fmla="*/ 28281 w 311085"/>
              <a:gd name="connsiteY1" fmla="*/ 103695 h 207389"/>
              <a:gd name="connsiteX2" fmla="*/ 113122 w 311085"/>
              <a:gd name="connsiteY2" fmla="*/ 207389 h 207389"/>
              <a:gd name="connsiteX3" fmla="*/ 141402 w 311085"/>
              <a:gd name="connsiteY3" fmla="*/ 188536 h 207389"/>
              <a:gd name="connsiteX4" fmla="*/ 207390 w 311085"/>
              <a:gd name="connsiteY4" fmla="*/ 141402 h 207389"/>
              <a:gd name="connsiteX5" fmla="*/ 235670 w 311085"/>
              <a:gd name="connsiteY5" fmla="*/ 84841 h 207389"/>
              <a:gd name="connsiteX6" fmla="*/ 263951 w 311085"/>
              <a:gd name="connsiteY6" fmla="*/ 65987 h 207389"/>
              <a:gd name="connsiteX7" fmla="*/ 282804 w 311085"/>
              <a:gd name="connsiteY7" fmla="*/ 37707 h 207389"/>
              <a:gd name="connsiteX8" fmla="*/ 311085 w 311085"/>
              <a:gd name="connsiteY8" fmla="*/ 0 h 207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085" h="207389">
                <a:moveTo>
                  <a:pt x="0" y="56561"/>
                </a:moveTo>
                <a:cubicBezTo>
                  <a:pt x="9427" y="72272"/>
                  <a:pt x="16678" y="89514"/>
                  <a:pt x="28281" y="103695"/>
                </a:cubicBezTo>
                <a:cubicBezTo>
                  <a:pt x="132556" y="231142"/>
                  <a:pt x="47237" y="97582"/>
                  <a:pt x="113122" y="207389"/>
                </a:cubicBezTo>
                <a:cubicBezTo>
                  <a:pt x="122549" y="201105"/>
                  <a:pt x="132183" y="195121"/>
                  <a:pt x="141402" y="188536"/>
                </a:cubicBezTo>
                <a:cubicBezTo>
                  <a:pt x="223251" y="130073"/>
                  <a:pt x="140743" y="185832"/>
                  <a:pt x="207390" y="141402"/>
                </a:cubicBezTo>
                <a:cubicBezTo>
                  <a:pt x="215057" y="118402"/>
                  <a:pt x="217397" y="103114"/>
                  <a:pt x="235670" y="84841"/>
                </a:cubicBezTo>
                <a:cubicBezTo>
                  <a:pt x="243681" y="76830"/>
                  <a:pt x="254524" y="72272"/>
                  <a:pt x="263951" y="65987"/>
                </a:cubicBezTo>
                <a:cubicBezTo>
                  <a:pt x="270235" y="56560"/>
                  <a:pt x="276219" y="46926"/>
                  <a:pt x="282804" y="37707"/>
                </a:cubicBezTo>
                <a:cubicBezTo>
                  <a:pt x="291936" y="24922"/>
                  <a:pt x="311085" y="0"/>
                  <a:pt x="311085" y="0"/>
                </a:cubicBezTo>
              </a:path>
            </a:pathLst>
          </a:custGeom>
          <a:solidFill>
            <a:schemeClr val="bg1"/>
          </a:solidFill>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8" name="TextBox 7">
            <a:extLst>
              <a:ext uri="{FF2B5EF4-FFF2-40B4-BE49-F238E27FC236}">
                <a16:creationId xmlns:a16="http://schemas.microsoft.com/office/drawing/2014/main" id="{24203072-CEF9-B3EB-D6BA-3C0A681D1CF0}"/>
              </a:ext>
            </a:extLst>
          </p:cNvPr>
          <p:cNvSpPr txBox="1"/>
          <p:nvPr/>
        </p:nvSpPr>
        <p:spPr>
          <a:xfrm>
            <a:off x="1791093" y="179109"/>
            <a:ext cx="8042636" cy="369332"/>
          </a:xfrm>
          <a:prstGeom prst="rect">
            <a:avLst/>
          </a:prstGeom>
          <a:noFill/>
        </p:spPr>
        <p:txBody>
          <a:bodyPr wrap="square" rtlCol="0">
            <a:spAutoFit/>
          </a:bodyPr>
          <a:lstStyle/>
          <a:p>
            <a:r>
              <a:rPr lang="en-US" dirty="0"/>
              <a:t>Practical Demo</a:t>
            </a:r>
            <a:endParaRPr lang="en-IN" dirty="0"/>
          </a:p>
        </p:txBody>
      </p:sp>
    </p:spTree>
    <p:extLst>
      <p:ext uri="{BB962C8B-B14F-4D97-AF65-F5344CB8AC3E}">
        <p14:creationId xmlns:p14="http://schemas.microsoft.com/office/powerpoint/2010/main" val="889296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BE7B9F-0056-2014-D342-E0F0460A3288}"/>
              </a:ext>
            </a:extLst>
          </p:cNvPr>
          <p:cNvSpPr txBox="1"/>
          <p:nvPr/>
        </p:nvSpPr>
        <p:spPr>
          <a:xfrm>
            <a:off x="162613" y="0"/>
            <a:ext cx="6094428" cy="4985980"/>
          </a:xfrm>
          <a:prstGeom prst="rect">
            <a:avLst/>
          </a:prstGeom>
          <a:noFill/>
        </p:spPr>
        <p:txBody>
          <a:bodyPr wrap="square">
            <a:spAutoFit/>
          </a:bodyPr>
          <a:lstStyle/>
          <a:p>
            <a:r>
              <a:rPr lang="en-IN" sz="800" dirty="0">
                <a:solidFill>
                  <a:srgbClr val="0000FF"/>
                </a:solidFill>
                <a:latin typeface="Cascadia Mono" panose="020B0609020000020004" pitchFamily="49" charset="0"/>
              </a:rPr>
              <a:t>using</a:t>
            </a:r>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Microsoft.AspNetCore.DataProtection.KeyManagement</a:t>
            </a:r>
            <a:r>
              <a:rPr lang="en-IN" sz="800" dirty="0">
                <a:solidFill>
                  <a:srgbClr val="000000"/>
                </a:solidFill>
                <a:latin typeface="Cascadia Mono" panose="020B0609020000020004" pitchFamily="49" charset="0"/>
              </a:rPr>
              <a:t>;</a:t>
            </a:r>
          </a:p>
          <a:p>
            <a:r>
              <a:rPr lang="en-IN" sz="800" dirty="0">
                <a:solidFill>
                  <a:srgbClr val="0000FF"/>
                </a:solidFill>
                <a:latin typeface="Cascadia Mono" panose="020B0609020000020004" pitchFamily="49" charset="0"/>
              </a:rPr>
              <a:t>using</a:t>
            </a:r>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Microsoft.AspNetCore.Http</a:t>
            </a:r>
            <a:r>
              <a:rPr lang="en-IN" sz="800" dirty="0">
                <a:solidFill>
                  <a:srgbClr val="000000"/>
                </a:solidFill>
                <a:latin typeface="Cascadia Mono" panose="020B0609020000020004" pitchFamily="49" charset="0"/>
              </a:rPr>
              <a:t>;</a:t>
            </a:r>
          </a:p>
          <a:p>
            <a:r>
              <a:rPr lang="en-IN" sz="800" dirty="0">
                <a:solidFill>
                  <a:srgbClr val="0000FF"/>
                </a:solidFill>
                <a:latin typeface="Cascadia Mono" panose="020B0609020000020004" pitchFamily="49" charset="0"/>
              </a:rPr>
              <a:t>using</a:t>
            </a:r>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Microsoft.AspNetCore.Mvc</a:t>
            </a:r>
            <a:r>
              <a:rPr lang="en-IN" sz="800" dirty="0">
                <a:solidFill>
                  <a:srgbClr val="000000"/>
                </a:solidFill>
                <a:latin typeface="Cascadia Mono" panose="020B0609020000020004" pitchFamily="49" charset="0"/>
              </a:rPr>
              <a:t>;</a:t>
            </a:r>
          </a:p>
          <a:p>
            <a:r>
              <a:rPr lang="en-IN" sz="800" dirty="0">
                <a:solidFill>
                  <a:srgbClr val="0000FF"/>
                </a:solidFill>
                <a:latin typeface="Cascadia Mono" panose="020B0609020000020004" pitchFamily="49" charset="0"/>
              </a:rPr>
              <a:t>using</a:t>
            </a:r>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Microsoft.Extensions.Options</a:t>
            </a:r>
            <a:r>
              <a:rPr lang="en-IN" sz="800" dirty="0">
                <a:solidFill>
                  <a:srgbClr val="000000"/>
                </a:solidFill>
                <a:latin typeface="Cascadia Mono" panose="020B0609020000020004" pitchFamily="49" charset="0"/>
              </a:rPr>
              <a:t>;</a:t>
            </a:r>
          </a:p>
          <a:p>
            <a:r>
              <a:rPr lang="en-IN" sz="800" dirty="0">
                <a:solidFill>
                  <a:srgbClr val="0000FF"/>
                </a:solidFill>
                <a:latin typeface="Cascadia Mono" panose="020B0609020000020004" pitchFamily="49" charset="0"/>
              </a:rPr>
              <a:t>using</a:t>
            </a:r>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Newtonsoft.Json.Linq</a:t>
            </a:r>
            <a:r>
              <a:rPr lang="en-IN" sz="800" dirty="0">
                <a:solidFill>
                  <a:srgbClr val="000000"/>
                </a:solidFill>
                <a:latin typeface="Cascadia Mono" panose="020B0609020000020004" pitchFamily="49" charset="0"/>
              </a:rPr>
              <a:t>;</a:t>
            </a:r>
          </a:p>
          <a:p>
            <a:r>
              <a:rPr lang="en-IN" sz="800" dirty="0">
                <a:solidFill>
                  <a:srgbClr val="0000FF"/>
                </a:solidFill>
                <a:latin typeface="Cascadia Mono" panose="020B0609020000020004" pitchFamily="49" charset="0"/>
              </a:rPr>
              <a:t>using</a:t>
            </a:r>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WebAppCookieslogin.Models</a:t>
            </a:r>
            <a:r>
              <a:rPr lang="en-IN" sz="800" dirty="0">
                <a:solidFill>
                  <a:srgbClr val="000000"/>
                </a:solidFill>
                <a:latin typeface="Cascadia Mono" panose="020B0609020000020004" pitchFamily="49" charset="0"/>
              </a:rPr>
              <a:t>;</a:t>
            </a:r>
            <a:endParaRPr lang="en-IN" sz="1000" dirty="0">
              <a:solidFill>
                <a:srgbClr val="000000"/>
              </a:solidFill>
              <a:latin typeface="Cascadia Mono" panose="020B0609020000020004" pitchFamily="49" charset="0"/>
            </a:endParaRPr>
          </a:p>
          <a:p>
            <a:r>
              <a:rPr lang="en-IN" sz="1000" dirty="0">
                <a:solidFill>
                  <a:srgbClr val="0000FF"/>
                </a:solidFill>
                <a:latin typeface="Cascadia Mono" panose="020B0609020000020004" pitchFamily="49" charset="0"/>
              </a:rPr>
              <a:t>namespace</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WebAppCookieslogin.Controllers</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class</a:t>
            </a:r>
            <a:r>
              <a:rPr lang="en-IN" sz="1000" dirty="0">
                <a:solidFill>
                  <a:srgbClr val="000000"/>
                </a:solidFill>
                <a:latin typeface="Cascadia Mono" panose="020B0609020000020004" pitchFamily="49" charset="0"/>
              </a:rPr>
              <a:t> </a:t>
            </a:r>
            <a:r>
              <a:rPr lang="en-IN" sz="1000" dirty="0" err="1">
                <a:solidFill>
                  <a:srgbClr val="2B91AF"/>
                </a:solidFill>
                <a:latin typeface="Cascadia Mono" panose="020B0609020000020004" pitchFamily="49" charset="0"/>
              </a:rPr>
              <a:t>UserLoginController</a:t>
            </a:r>
            <a:r>
              <a:rPr lang="en-IN" sz="1000" dirty="0">
                <a:solidFill>
                  <a:srgbClr val="000000"/>
                </a:solidFill>
                <a:latin typeface="Cascadia Mono" panose="020B0609020000020004" pitchFamily="49" charset="0"/>
              </a:rPr>
              <a:t> : Controller</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8000"/>
                </a:solidFill>
                <a:latin typeface="Cascadia Mono" panose="020B0609020000020004" pitchFamily="49" charset="0"/>
              </a:rPr>
              <a:t>// GET: </a:t>
            </a:r>
            <a:r>
              <a:rPr lang="en-IN" sz="1000" dirty="0" err="1">
                <a:solidFill>
                  <a:srgbClr val="008000"/>
                </a:solidFill>
                <a:latin typeface="Cascadia Mono" panose="020B0609020000020004" pitchFamily="49" charset="0"/>
              </a:rPr>
              <a:t>UserLoginController</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ActionResult</a:t>
            </a:r>
            <a:r>
              <a:rPr lang="en-IN" sz="1000" dirty="0">
                <a:solidFill>
                  <a:srgbClr val="000000"/>
                </a:solidFill>
                <a:latin typeface="Cascadia Mono" panose="020B0609020000020004" pitchFamily="49" charset="0"/>
              </a:rPr>
              <a:t> Index()</a:t>
            </a: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var</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CookieValue</a:t>
            </a:r>
            <a:r>
              <a:rPr lang="en-US" sz="1000" dirty="0">
                <a:solidFill>
                  <a:srgbClr val="000000"/>
                </a:solidFill>
                <a:latin typeface="Cascadia Mono" panose="020B0609020000020004" pitchFamily="49" charset="0"/>
              </a:rPr>
              <a:t> = </a:t>
            </a:r>
            <a:r>
              <a:rPr lang="en-US" sz="1000" dirty="0" err="1">
                <a:solidFill>
                  <a:srgbClr val="000000"/>
                </a:solidFill>
                <a:latin typeface="Cascadia Mono" panose="020B0609020000020004" pitchFamily="49" charset="0"/>
              </a:rPr>
              <a:t>Request.Cookies</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a:t>
            </a:r>
            <a:r>
              <a:rPr lang="en-US" sz="1000" dirty="0" err="1">
                <a:solidFill>
                  <a:srgbClr val="A31515"/>
                </a:solidFill>
                <a:latin typeface="Cascadia Mono" panose="020B0609020000020004" pitchFamily="49" charset="0"/>
              </a:rPr>
              <a:t>Ukey</a:t>
            </a:r>
            <a:r>
              <a:rPr lang="en-US" sz="1000" dirty="0">
                <a:solidFill>
                  <a:srgbClr val="A31515"/>
                </a:solidFill>
                <a:latin typeface="Cascadia Mono" panose="020B0609020000020004" pitchFamily="49" charset="0"/>
              </a:rPr>
              <a:t>"</a:t>
            </a:r>
            <a:r>
              <a:rPr lang="en-US" sz="1000" dirty="0">
                <a:solidFill>
                  <a:srgbClr val="000000"/>
                </a:solidFill>
                <a:latin typeface="Cascadia Mono" panose="020B0609020000020004" pitchFamily="49" charset="0"/>
              </a:rPr>
              <a:t>]?.</a:t>
            </a:r>
            <a:r>
              <a:rPr lang="en-US" sz="1000" dirty="0" err="1">
                <a:solidFill>
                  <a:srgbClr val="000000"/>
                </a:solidFill>
                <a:latin typeface="Cascadia Mono" panose="020B0609020000020004" pitchFamily="49" charset="0"/>
              </a:rPr>
              <a:t>ToString</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ViewBag.CookieValue</a:t>
            </a:r>
            <a:r>
              <a:rPr lang="en-IN" sz="1000" dirty="0">
                <a:solidFill>
                  <a:srgbClr val="000000"/>
                </a:solidFill>
                <a:latin typeface="Cascadia Mono" panose="020B0609020000020004" pitchFamily="49" charset="0"/>
              </a:rPr>
              <a:t> = </a:t>
            </a:r>
            <a:r>
              <a:rPr lang="en-IN" sz="1000" dirty="0" err="1">
                <a:solidFill>
                  <a:srgbClr val="000000"/>
                </a:solidFill>
                <a:latin typeface="Cascadia Mono" panose="020B0609020000020004" pitchFamily="49" charset="0"/>
              </a:rPr>
              <a:t>CookieValue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return</a:t>
            </a:r>
            <a:r>
              <a:rPr lang="en-IN" sz="1000" dirty="0">
                <a:solidFill>
                  <a:srgbClr val="000000"/>
                </a:solidFill>
                <a:latin typeface="Cascadia Mono" panose="020B0609020000020004" pitchFamily="49" charset="0"/>
              </a:rPr>
              <a:t> View();</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8000"/>
                </a:solidFill>
                <a:latin typeface="Cascadia Mono" panose="020B0609020000020004" pitchFamily="49" charset="0"/>
              </a:rPr>
              <a:t>// GET: </a:t>
            </a:r>
            <a:r>
              <a:rPr lang="en-IN" sz="1000" dirty="0" err="1">
                <a:solidFill>
                  <a:srgbClr val="008000"/>
                </a:solidFill>
                <a:latin typeface="Cascadia Mono" panose="020B0609020000020004" pitchFamily="49" charset="0"/>
              </a:rPr>
              <a:t>UserLoginController</a:t>
            </a:r>
            <a:r>
              <a:rPr lang="en-IN" sz="1000" dirty="0">
                <a:solidFill>
                  <a:srgbClr val="008000"/>
                </a:solidFill>
                <a:latin typeface="Cascadia Mono" panose="020B0609020000020004" pitchFamily="49" charset="0"/>
              </a:rPr>
              <a:t>/Create</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ActionResult</a:t>
            </a:r>
            <a:r>
              <a:rPr lang="en-IN" sz="1000" dirty="0">
                <a:solidFill>
                  <a:srgbClr val="000000"/>
                </a:solidFill>
                <a:latin typeface="Cascadia Mono" panose="020B0609020000020004" pitchFamily="49" charset="0"/>
              </a:rPr>
              <a:t> Create()</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UserLogin</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obj</a:t>
            </a:r>
            <a:r>
              <a:rPr lang="en-IN" sz="1000" dirty="0">
                <a:solidFill>
                  <a:srgbClr val="000000"/>
                </a:solidFill>
                <a:latin typeface="Cascadia Mono" panose="020B0609020000020004" pitchFamily="49" charset="0"/>
              </a:rPr>
              <a:t>=</a:t>
            </a:r>
            <a:r>
              <a:rPr lang="en-IN" sz="1000" dirty="0">
                <a:solidFill>
                  <a:srgbClr val="0000FF"/>
                </a:solidFill>
                <a:latin typeface="Cascadia Mono" panose="020B0609020000020004" pitchFamily="49" charset="0"/>
              </a:rPr>
              <a:t>null</a:t>
            </a:r>
            <a:r>
              <a:rPr lang="en-IN" sz="1000" dirty="0">
                <a:solidFill>
                  <a:srgbClr val="000000"/>
                </a:solidFill>
                <a:latin typeface="Cascadia Mono" panose="020B0609020000020004" pitchFamily="49" charset="0"/>
              </a:rPr>
              <a:t>;</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var</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CookieValue</a:t>
            </a:r>
            <a:r>
              <a:rPr lang="en-US" sz="1000" dirty="0">
                <a:solidFill>
                  <a:srgbClr val="000000"/>
                </a:solidFill>
                <a:latin typeface="Cascadia Mono" panose="020B0609020000020004" pitchFamily="49" charset="0"/>
              </a:rPr>
              <a:t> = </a:t>
            </a:r>
            <a:r>
              <a:rPr lang="en-US" sz="1000" dirty="0" err="1">
                <a:solidFill>
                  <a:srgbClr val="000000"/>
                </a:solidFill>
                <a:latin typeface="Cascadia Mono" panose="020B0609020000020004" pitchFamily="49" charset="0"/>
              </a:rPr>
              <a:t>Request.Cookies</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a:t>
            </a:r>
            <a:r>
              <a:rPr lang="en-US" sz="1000" dirty="0" err="1">
                <a:solidFill>
                  <a:srgbClr val="A31515"/>
                </a:solidFill>
                <a:latin typeface="Cascadia Mono" panose="020B0609020000020004" pitchFamily="49" charset="0"/>
              </a:rPr>
              <a:t>Ukey</a:t>
            </a:r>
            <a:r>
              <a:rPr lang="en-US" sz="1000" dirty="0">
                <a:solidFill>
                  <a:srgbClr val="A31515"/>
                </a:solidFill>
                <a:latin typeface="Cascadia Mono" panose="020B0609020000020004" pitchFamily="49" charset="0"/>
              </a:rPr>
              <a:t>"</a:t>
            </a:r>
            <a:r>
              <a:rPr lang="en-US" sz="1000" dirty="0">
                <a:solidFill>
                  <a:srgbClr val="000000"/>
                </a:solidFill>
                <a:latin typeface="Cascadia Mono" panose="020B0609020000020004" pitchFamily="49" charset="0"/>
              </a:rPr>
              <a:t>]?.</a:t>
            </a:r>
            <a:r>
              <a:rPr lang="en-US" sz="1000" dirty="0" err="1">
                <a:solidFill>
                  <a:srgbClr val="000000"/>
                </a:solidFill>
                <a:latin typeface="Cascadia Mono" panose="020B0609020000020004" pitchFamily="49" charset="0"/>
              </a:rPr>
              <a:t>ToString</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if</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CookieValue</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null</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obj</a:t>
            </a:r>
            <a:r>
              <a:rPr lang="en-IN" sz="1000" dirty="0">
                <a:solidFill>
                  <a:srgbClr val="000000"/>
                </a:solidFill>
                <a:latin typeface="Cascadia Mono" panose="020B0609020000020004" pitchFamily="49" charset="0"/>
              </a:rPr>
              <a:t>=</a:t>
            </a:r>
            <a:r>
              <a:rPr lang="en-IN" sz="1000" dirty="0">
                <a:solidFill>
                  <a:srgbClr val="0000FF"/>
                </a:solidFill>
                <a:latin typeface="Cascadia Mono" panose="020B0609020000020004" pitchFamily="49" charset="0"/>
              </a:rPr>
              <a:t>new</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UserLogin</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obj.Email</a:t>
            </a:r>
            <a:r>
              <a:rPr lang="en-IN" sz="1000" dirty="0">
                <a:solidFill>
                  <a:srgbClr val="000000"/>
                </a:solidFill>
                <a:latin typeface="Cascadia Mono" panose="020B0609020000020004" pitchFamily="49" charset="0"/>
              </a:rPr>
              <a:t>=</a:t>
            </a:r>
            <a:r>
              <a:rPr lang="en-IN" sz="1000" dirty="0" err="1">
                <a:solidFill>
                  <a:srgbClr val="000000"/>
                </a:solidFill>
                <a:latin typeface="Cascadia Mono" panose="020B0609020000020004" pitchFamily="49" charset="0"/>
              </a:rPr>
              <a:t>CookieValue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return</a:t>
            </a:r>
            <a:r>
              <a:rPr lang="en-IN" sz="1000" dirty="0">
                <a:solidFill>
                  <a:srgbClr val="000000"/>
                </a:solidFill>
                <a:latin typeface="Cascadia Mono" panose="020B0609020000020004" pitchFamily="49" charset="0"/>
              </a:rPr>
              <a:t> View(</a:t>
            </a:r>
            <a:r>
              <a:rPr lang="en-IN" sz="1000" dirty="0" err="1">
                <a:solidFill>
                  <a:srgbClr val="000000"/>
                </a:solidFill>
                <a:latin typeface="Cascadia Mono" panose="020B0609020000020004" pitchFamily="49" charset="0"/>
              </a:rPr>
              <a:t>obj</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8000"/>
                </a:solidFill>
                <a:latin typeface="Cascadia Mono" panose="020B0609020000020004" pitchFamily="49" charset="0"/>
              </a:rPr>
              <a:t>// POST: </a:t>
            </a:r>
            <a:r>
              <a:rPr lang="en-IN" sz="1000" dirty="0" err="1">
                <a:solidFill>
                  <a:srgbClr val="008000"/>
                </a:solidFill>
                <a:latin typeface="Cascadia Mono" panose="020B0609020000020004" pitchFamily="49" charset="0"/>
              </a:rPr>
              <a:t>UserLoginController</a:t>
            </a:r>
            <a:r>
              <a:rPr lang="en-IN" sz="1000" dirty="0">
                <a:solidFill>
                  <a:srgbClr val="008000"/>
                </a:solidFill>
                <a:latin typeface="Cascadia Mono" panose="020B0609020000020004" pitchFamily="49" charset="0"/>
              </a:rPr>
              <a:t>/Create</a:t>
            </a:r>
            <a:endParaRPr lang="en-IN" sz="1000" dirty="0">
              <a:solidFill>
                <a:srgbClr val="000000"/>
              </a:solidFill>
              <a:latin typeface="Cascadia Mono" panose="020B0609020000020004" pitchFamily="49" charset="0"/>
            </a:endParaRPr>
          </a:p>
          <a:p>
            <a:endParaRPr lang="en-IN" sz="1000" dirty="0">
              <a:solidFill>
                <a:srgbClr val="000000"/>
              </a:solidFill>
              <a:latin typeface="Cascadia Mono" panose="020B0609020000020004" pitchFamily="49" charset="0"/>
            </a:endParaRPr>
          </a:p>
        </p:txBody>
      </p:sp>
      <p:sp>
        <p:nvSpPr>
          <p:cNvPr id="3" name="TextBox 2">
            <a:extLst>
              <a:ext uri="{FF2B5EF4-FFF2-40B4-BE49-F238E27FC236}">
                <a16:creationId xmlns:a16="http://schemas.microsoft.com/office/drawing/2014/main" id="{D8700598-BAA2-1E39-EC1C-A6711DDF391C}"/>
              </a:ext>
            </a:extLst>
          </p:cNvPr>
          <p:cNvSpPr txBox="1"/>
          <p:nvPr/>
        </p:nvSpPr>
        <p:spPr>
          <a:xfrm>
            <a:off x="5375636" y="125034"/>
            <a:ext cx="6888636" cy="4662815"/>
          </a:xfrm>
          <a:prstGeom prst="rect">
            <a:avLst/>
          </a:prstGeom>
          <a:noFill/>
        </p:spPr>
        <p:txBody>
          <a:bodyPr wrap="square">
            <a:spAutoFit/>
          </a:bodyPr>
          <a:lstStyle/>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HttpPost</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ValidateAntiForgeryToken</a:t>
            </a:r>
            <a:r>
              <a:rPr lang="en-IN" sz="1100" dirty="0">
                <a:solidFill>
                  <a:srgbClr val="000000"/>
                </a:solidFill>
                <a:latin typeface="Cascadia Mono" panose="020B0609020000020004" pitchFamily="49" charset="0"/>
              </a:rPr>
              <a:t>]</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ActionResult</a:t>
            </a:r>
            <a:r>
              <a:rPr lang="en-US" sz="1100" dirty="0">
                <a:solidFill>
                  <a:srgbClr val="000000"/>
                </a:solidFill>
                <a:latin typeface="Cascadia Mono" panose="020B0609020000020004" pitchFamily="49" charset="0"/>
              </a:rPr>
              <a:t> Create(</a:t>
            </a:r>
            <a:r>
              <a:rPr lang="en-US" sz="1100" dirty="0" err="1">
                <a:solidFill>
                  <a:srgbClr val="000000"/>
                </a:solidFill>
                <a:latin typeface="Cascadia Mono" panose="020B0609020000020004" pitchFamily="49" charset="0"/>
              </a:rPr>
              <a:t>UserLogin</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Userdata</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try</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if</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ModelState.IsValid</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if</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Userdata.Remember</a:t>
            </a:r>
            <a:r>
              <a:rPr lang="en-IN" sz="1100" dirty="0">
                <a:solidFill>
                  <a:srgbClr val="000000"/>
                </a:solidFill>
                <a:latin typeface="Cascadia Mono" panose="020B0609020000020004" pitchFamily="49" charset="0"/>
              </a:rPr>
              <a:t> == </a:t>
            </a:r>
            <a:r>
              <a:rPr lang="en-IN" sz="1100" dirty="0">
                <a:solidFill>
                  <a:srgbClr val="0000FF"/>
                </a:solidFill>
                <a:latin typeface="Cascadia Mono" panose="020B0609020000020004" pitchFamily="49" charset="0"/>
              </a:rPr>
              <a:t>true</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CookieOptions</a:t>
            </a:r>
            <a:r>
              <a:rPr lang="en-IN" sz="1100" dirty="0">
                <a:solidFill>
                  <a:srgbClr val="000000"/>
                </a:solidFill>
                <a:latin typeface="Cascadia Mono" panose="020B0609020000020004" pitchFamily="49" charset="0"/>
              </a:rPr>
              <a:t> options = </a:t>
            </a:r>
            <a:r>
              <a:rPr lang="en-IN" sz="1100" dirty="0">
                <a:solidFill>
                  <a:srgbClr val="0000FF"/>
                </a:solidFill>
                <a:latin typeface="Cascadia Mono" panose="020B0609020000020004" pitchFamily="49" charset="0"/>
              </a:rPr>
              <a:t>new</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CookieOptions</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options.Expires</a:t>
            </a:r>
            <a:r>
              <a:rPr lang="en-IN" sz="1100" dirty="0">
                <a:solidFill>
                  <a:srgbClr val="000000"/>
                </a:solidFill>
                <a:latin typeface="Cascadia Mono" panose="020B0609020000020004" pitchFamily="49" charset="0"/>
              </a:rPr>
              <a:t> = </a:t>
            </a:r>
            <a:r>
              <a:rPr lang="en-IN" sz="1100" dirty="0" err="1">
                <a:solidFill>
                  <a:srgbClr val="000000"/>
                </a:solidFill>
                <a:latin typeface="Cascadia Mono" panose="020B0609020000020004" pitchFamily="49" charset="0"/>
              </a:rPr>
              <a:t>DateTime.Now.AddDays</a:t>
            </a:r>
            <a:r>
              <a:rPr lang="en-IN" sz="1100" dirty="0">
                <a:solidFill>
                  <a:srgbClr val="000000"/>
                </a:solidFill>
                <a:latin typeface="Cascadia Mono" panose="020B0609020000020004" pitchFamily="49" charset="0"/>
              </a:rPr>
              <a:t>(7);</a:t>
            </a: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Response.Cookies.Append</a:t>
            </a:r>
            <a:r>
              <a:rPr lang="en-US" sz="1100" dirty="0">
                <a:solidFill>
                  <a:srgbClr val="000000"/>
                </a:solidFill>
                <a:latin typeface="Cascadia Mono" panose="020B0609020000020004" pitchFamily="49" charset="0"/>
              </a:rPr>
              <a:t>(</a:t>
            </a:r>
            <a:r>
              <a:rPr lang="en-US" sz="1100" dirty="0">
                <a:solidFill>
                  <a:srgbClr val="A31515"/>
                </a:solidFill>
                <a:latin typeface="Cascadia Mono" panose="020B0609020000020004" pitchFamily="49" charset="0"/>
              </a:rPr>
              <a:t>"</a:t>
            </a:r>
            <a:r>
              <a:rPr lang="en-US" sz="1100" dirty="0" err="1">
                <a:solidFill>
                  <a:srgbClr val="A31515"/>
                </a:solidFill>
                <a:latin typeface="Cascadia Mono" panose="020B0609020000020004" pitchFamily="49" charset="0"/>
              </a:rPr>
              <a:t>Ukey</a:t>
            </a:r>
            <a:r>
              <a:rPr lang="en-US" sz="1100" dirty="0">
                <a:solidFill>
                  <a:srgbClr val="A31515"/>
                </a:solidFill>
                <a:latin typeface="Cascadia Mono" panose="020B0609020000020004" pitchFamily="49" charset="0"/>
              </a:rPr>
              <a:t>"</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Userdata.Email</a:t>
            </a:r>
            <a:r>
              <a:rPr lang="en-US" sz="1100" dirty="0">
                <a:solidFill>
                  <a:srgbClr val="000000"/>
                </a:solidFill>
                <a:latin typeface="Cascadia Mono" panose="020B0609020000020004" pitchFamily="49" charset="0"/>
              </a:rPr>
              <a:t>, options);</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return</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RedirectToAction</a:t>
            </a:r>
            <a:r>
              <a:rPr lang="en-IN" sz="1100" dirty="0">
                <a:solidFill>
                  <a:srgbClr val="000000"/>
                </a:solidFill>
                <a:latin typeface="Cascadia Mono" panose="020B0609020000020004" pitchFamily="49" charset="0"/>
              </a:rPr>
              <a:t>(</a:t>
            </a:r>
            <a:r>
              <a:rPr lang="en-IN" sz="1100" dirty="0" err="1">
                <a:solidFill>
                  <a:srgbClr val="000000"/>
                </a:solidFill>
                <a:latin typeface="Cascadia Mono" panose="020B0609020000020004" pitchFamily="49" charset="0"/>
              </a:rPr>
              <a:t>nameof</a:t>
            </a:r>
            <a:r>
              <a:rPr lang="en-IN" sz="1100" dirty="0">
                <a:solidFill>
                  <a:srgbClr val="000000"/>
                </a:solidFill>
                <a:latin typeface="Cascadia Mono" panose="020B0609020000020004" pitchFamily="49" charset="0"/>
              </a:rPr>
              <a:t>(Index));</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catch</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return</a:t>
            </a:r>
            <a:r>
              <a:rPr lang="en-IN" sz="1100" dirty="0">
                <a:solidFill>
                  <a:srgbClr val="000000"/>
                </a:solidFill>
                <a:latin typeface="Cascadia Mono" panose="020B0609020000020004" pitchFamily="49" charset="0"/>
              </a:rPr>
              <a:t> View();</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endParaRPr lang="en-IN" sz="1100" dirty="0"/>
          </a:p>
        </p:txBody>
      </p:sp>
      <p:sp>
        <p:nvSpPr>
          <p:cNvPr id="2" name="TextBox 1"/>
          <p:cNvSpPr txBox="1"/>
          <p:nvPr/>
        </p:nvSpPr>
        <p:spPr>
          <a:xfrm>
            <a:off x="6363856" y="4091709"/>
            <a:ext cx="4889880" cy="2862322"/>
          </a:xfrm>
          <a:prstGeom prst="rect">
            <a:avLst/>
          </a:prstGeom>
          <a:noFill/>
        </p:spPr>
        <p:txBody>
          <a:bodyPr wrap="square" rtlCol="0">
            <a:spAutoFit/>
          </a:bodyPr>
          <a:lstStyle/>
          <a:p>
            <a:r>
              <a:rPr lang="en-IN" dirty="0"/>
              <a:t>When user logged in 1</a:t>
            </a:r>
            <a:r>
              <a:rPr lang="en-IN" baseline="30000" dirty="0"/>
              <a:t>st</a:t>
            </a:r>
            <a:r>
              <a:rPr lang="en-IN" dirty="0"/>
              <a:t> time  we will store data in cookie file</a:t>
            </a:r>
          </a:p>
          <a:p>
            <a:r>
              <a:rPr lang="en-IN" dirty="0"/>
              <a:t>In our demo we are sending user to index action method which will display data after reading it from Cookie </a:t>
            </a:r>
          </a:p>
          <a:p>
            <a:endParaRPr lang="en-IN" dirty="0"/>
          </a:p>
          <a:p>
            <a:r>
              <a:rPr lang="en-IN" dirty="0"/>
              <a:t>When user come to login page second time </a:t>
            </a:r>
          </a:p>
          <a:p>
            <a:r>
              <a:rPr lang="en-IN" dirty="0"/>
              <a:t>1</a:t>
            </a:r>
            <a:r>
              <a:rPr lang="en-IN" baseline="30000" dirty="0"/>
              <a:t>st</a:t>
            </a:r>
            <a:r>
              <a:rPr lang="en-IN" dirty="0"/>
              <a:t> we will check if data there in cookie then fill the text box with cookie value.</a:t>
            </a:r>
          </a:p>
          <a:p>
            <a:endParaRPr lang="en-IN" dirty="0"/>
          </a:p>
        </p:txBody>
      </p:sp>
    </p:spTree>
    <p:extLst>
      <p:ext uri="{BB962C8B-B14F-4D97-AF65-F5344CB8AC3E}">
        <p14:creationId xmlns:p14="http://schemas.microsoft.com/office/powerpoint/2010/main" val="1789262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A9184A-E60F-7D76-920F-3DD633F7E095}"/>
              </a:ext>
            </a:extLst>
          </p:cNvPr>
          <p:cNvSpPr txBox="1"/>
          <p:nvPr/>
        </p:nvSpPr>
        <p:spPr>
          <a:xfrm>
            <a:off x="398283" y="196774"/>
            <a:ext cx="6094428" cy="1615827"/>
          </a:xfrm>
          <a:prstGeom prst="rect">
            <a:avLst/>
          </a:prstGeom>
          <a:noFill/>
        </p:spPr>
        <p:txBody>
          <a:bodyPr wrap="square">
            <a:spAutoFit/>
          </a:bodyPr>
          <a:lstStyle/>
          <a:p>
            <a:r>
              <a:rPr lang="en-IN" sz="1100" dirty="0">
                <a:solidFill>
                  <a:srgbClr val="0000FF"/>
                </a:solidFill>
                <a:latin typeface="Cascadia Mono" panose="020B0609020000020004" pitchFamily="49" charset="0"/>
              </a:rPr>
              <a:t>namespace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WebAppCookieslogin.Models</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err="1">
                <a:solidFill>
                  <a:srgbClr val="2B91AF"/>
                </a:solidFill>
                <a:latin typeface="Cascadia Mono" panose="020B0609020000020004" pitchFamily="49" charset="0"/>
              </a:rPr>
              <a:t>UserLogin</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Email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Password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bool</a:t>
            </a:r>
            <a:r>
              <a:rPr lang="en-US" sz="1100" dirty="0">
                <a:solidFill>
                  <a:srgbClr val="000000"/>
                </a:solidFill>
                <a:latin typeface="Cascadia Mono" panose="020B0609020000020004" pitchFamily="49" charset="0"/>
              </a:rPr>
              <a:t> Remember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p>
        </p:txBody>
      </p:sp>
      <p:sp>
        <p:nvSpPr>
          <p:cNvPr id="7" name="TextBox 6">
            <a:extLst>
              <a:ext uri="{FF2B5EF4-FFF2-40B4-BE49-F238E27FC236}">
                <a16:creationId xmlns:a16="http://schemas.microsoft.com/office/drawing/2014/main" id="{DDA501E6-C500-5015-9DE8-8C4F4348A0F8}"/>
              </a:ext>
            </a:extLst>
          </p:cNvPr>
          <p:cNvSpPr txBox="1"/>
          <p:nvPr/>
        </p:nvSpPr>
        <p:spPr>
          <a:xfrm>
            <a:off x="5865829" y="196774"/>
            <a:ext cx="6094428" cy="6186309"/>
          </a:xfrm>
          <a:prstGeom prst="rect">
            <a:avLst/>
          </a:prstGeom>
          <a:noFill/>
        </p:spPr>
        <p:txBody>
          <a:bodyPr wrap="square">
            <a:spAutoFit/>
          </a:bodyPr>
          <a:lstStyle/>
          <a:p>
            <a:r>
              <a:rPr lang="en-IN" sz="900" dirty="0">
                <a:solidFill>
                  <a:srgbClr val="000000"/>
                </a:solidFill>
                <a:latin typeface="Cascadia Mono" panose="020B0609020000020004" pitchFamily="49" charset="0"/>
              </a:rPr>
              <a:t>@model </a:t>
            </a:r>
            <a:r>
              <a:rPr lang="en-IN" sz="900" dirty="0" err="1">
                <a:solidFill>
                  <a:srgbClr val="000000"/>
                </a:solidFill>
                <a:latin typeface="Cascadia Mono" panose="020B0609020000020004" pitchFamily="49" charset="0"/>
              </a:rPr>
              <a:t>WebAppCookieslogin.Models.</a:t>
            </a:r>
            <a:r>
              <a:rPr lang="en-IN" sz="900" dirty="0" err="1">
                <a:solidFill>
                  <a:srgbClr val="2B91AF"/>
                </a:solidFill>
                <a:latin typeface="Cascadia Mono" panose="020B0609020000020004" pitchFamily="49" charset="0"/>
              </a:rPr>
              <a:t>UserLogin</a:t>
            </a:r>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ViewData</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"Title"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"Create"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h1</a:t>
            </a:r>
            <a:r>
              <a:rPr lang="en-IN" sz="900" dirty="0">
                <a:solidFill>
                  <a:srgbClr val="0000FF"/>
                </a:solidFill>
                <a:latin typeface="Cascadia Mono" panose="020B0609020000020004" pitchFamily="49" charset="0"/>
              </a:rPr>
              <a:t>&gt;</a:t>
            </a:r>
            <a:r>
              <a:rPr lang="en-IN" sz="900" dirty="0">
                <a:solidFill>
                  <a:srgbClr val="000000"/>
                </a:solidFill>
                <a:latin typeface="Cascadia Mono" panose="020B0609020000020004" pitchFamily="49" charset="0"/>
              </a:rPr>
              <a:t>Create</a:t>
            </a:r>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h1</a:t>
            </a:r>
            <a:r>
              <a:rPr lang="en-IN" sz="900" dirty="0">
                <a:solidFill>
                  <a:srgbClr val="0000FF"/>
                </a:solidFill>
                <a:latin typeface="Cascadia Mono" panose="020B0609020000020004" pitchFamily="49" charset="0"/>
              </a:rPr>
              <a:t>&gt;</a:t>
            </a:r>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h4</a:t>
            </a:r>
            <a:r>
              <a:rPr lang="en-IN" sz="900" dirty="0">
                <a:solidFill>
                  <a:srgbClr val="0000FF"/>
                </a:solidFill>
                <a:latin typeface="Cascadia Mono" panose="020B0609020000020004" pitchFamily="49" charset="0"/>
              </a:rPr>
              <a:t>&gt;</a:t>
            </a:r>
            <a:r>
              <a:rPr lang="en-IN" sz="900" dirty="0" err="1">
                <a:solidFill>
                  <a:srgbClr val="000000"/>
                </a:solidFill>
                <a:latin typeface="Cascadia Mono" panose="020B0609020000020004" pitchFamily="49" charset="0"/>
              </a:rPr>
              <a:t>UserLogin</a:t>
            </a:r>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h4</a:t>
            </a:r>
            <a:r>
              <a:rPr lang="en-IN" sz="900" dirty="0">
                <a:solidFill>
                  <a:srgbClr val="0000FF"/>
                </a:solidFill>
                <a:latin typeface="Cascadia Mono" panose="020B0609020000020004" pitchFamily="49" charset="0"/>
              </a:rPr>
              <a:t>&gt;</a:t>
            </a:r>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hr</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/&gt;</a:t>
            </a:r>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div</a:t>
            </a:r>
            <a:r>
              <a:rPr lang="en-IN" sz="900" dirty="0">
                <a:solidFill>
                  <a:srgbClr val="000000"/>
                </a:solidFill>
                <a:latin typeface="Cascadia Mono" panose="020B0609020000020004" pitchFamily="49" charset="0"/>
              </a:rPr>
              <a:t> </a:t>
            </a:r>
            <a:r>
              <a:rPr lang="en-IN" sz="900" dirty="0">
                <a:solidFill>
                  <a:srgbClr val="FF0000"/>
                </a:solidFill>
                <a:latin typeface="Cascadia Mono" panose="020B0609020000020004" pitchFamily="49" charset="0"/>
              </a:rPr>
              <a:t>class</a:t>
            </a:r>
            <a:r>
              <a:rPr lang="en-IN" sz="900" dirty="0">
                <a:solidFill>
                  <a:srgbClr val="0000FF"/>
                </a:solidFill>
                <a:latin typeface="Cascadia Mono" panose="020B0609020000020004" pitchFamily="49" charset="0"/>
              </a:rPr>
              <a:t>="row"&gt;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div</a:t>
            </a:r>
            <a:r>
              <a:rPr lang="en-IN" sz="900" dirty="0">
                <a:solidFill>
                  <a:srgbClr val="000000"/>
                </a:solidFill>
                <a:latin typeface="Cascadia Mono" panose="020B0609020000020004" pitchFamily="49" charset="0"/>
              </a:rPr>
              <a:t> </a:t>
            </a:r>
            <a:r>
              <a:rPr lang="en-IN" sz="900" dirty="0">
                <a:solidFill>
                  <a:srgbClr val="FF0000"/>
                </a:solidFill>
                <a:latin typeface="Cascadia Mono" panose="020B0609020000020004" pitchFamily="49" charset="0"/>
              </a:rPr>
              <a:t>class</a:t>
            </a:r>
            <a:r>
              <a:rPr lang="en-IN" sz="900" dirty="0">
                <a:solidFill>
                  <a:srgbClr val="0000FF"/>
                </a:solidFill>
                <a:latin typeface="Cascadia Mono" panose="020B0609020000020004" pitchFamily="49" charset="0"/>
              </a:rPr>
              <a:t>="col-md-4"&gt;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&lt;</a:t>
            </a:r>
            <a:r>
              <a:rPr lang="en-IN" sz="900" b="1" dirty="0">
                <a:solidFill>
                  <a:srgbClr val="800080"/>
                </a:solidFill>
                <a:latin typeface="Cascadia Mono" panose="020B0609020000020004" pitchFamily="49" charset="0"/>
              </a:rPr>
              <a:t>form</a:t>
            </a:r>
            <a:r>
              <a:rPr lang="en-IN" sz="900" b="0" dirty="0">
                <a:solidFill>
                  <a:srgbClr val="000000"/>
                </a:solidFill>
                <a:latin typeface="Cascadia Mono" panose="020B0609020000020004" pitchFamily="49" charset="0"/>
              </a:rPr>
              <a:t> </a:t>
            </a:r>
            <a:r>
              <a:rPr lang="en-IN" sz="900" b="1" dirty="0">
                <a:solidFill>
                  <a:srgbClr val="800080"/>
                </a:solidFill>
                <a:latin typeface="Cascadia Mono" panose="020B0609020000020004" pitchFamily="49" charset="0"/>
              </a:rPr>
              <a:t>asp-action</a:t>
            </a:r>
            <a:r>
              <a:rPr lang="en-IN" sz="900" b="0" dirty="0">
                <a:solidFill>
                  <a:srgbClr val="0000FF"/>
                </a:solidFill>
                <a:latin typeface="Cascadia Mono" panose="020B0609020000020004" pitchFamily="49" charset="0"/>
              </a:rPr>
              <a:t>="Create"&gt;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div</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asp-validation-summary</a:t>
            </a:r>
            <a:r>
              <a:rPr lang="en-US" sz="900" b="0" dirty="0">
                <a:solidFill>
                  <a:srgbClr val="0000FF"/>
                </a:solidFill>
                <a:latin typeface="Cascadia Mono" panose="020B0609020000020004" pitchFamily="49" charset="0"/>
              </a:rPr>
              <a:t>="</a:t>
            </a:r>
            <a:r>
              <a:rPr lang="en-US" sz="900" b="0" dirty="0" err="1">
                <a:solidFill>
                  <a:srgbClr val="000000"/>
                </a:solidFill>
                <a:latin typeface="Cascadia Mono" panose="020B0609020000020004" pitchFamily="49" charset="0"/>
              </a:rPr>
              <a:t>ModelOnly</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="text-danger"&gt;&lt;/</a:t>
            </a:r>
            <a:r>
              <a:rPr lang="en-US" sz="900" b="1" dirty="0">
                <a:solidFill>
                  <a:srgbClr val="800080"/>
                </a:solidFill>
                <a:latin typeface="Cascadia Mono" panose="020B0609020000020004" pitchFamily="49" charset="0"/>
              </a:rPr>
              <a:t>div</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="form-group"&gt;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label</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Email</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="control-label"&gt;&lt;/</a:t>
            </a:r>
            <a:r>
              <a:rPr lang="en-US" sz="900" b="1" dirty="0">
                <a:solidFill>
                  <a:srgbClr val="800080"/>
                </a:solidFill>
                <a:latin typeface="Cascadia Mono" panose="020B0609020000020004" pitchFamily="49" charset="0"/>
              </a:rPr>
              <a:t>label</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input</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Email</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="form-control"</a:t>
            </a:r>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span</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asp-validation-for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Email</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="text-danger"&gt;&lt;/</a:t>
            </a:r>
            <a:r>
              <a:rPr lang="en-US" sz="900" b="1" dirty="0">
                <a:solidFill>
                  <a:srgbClr val="800080"/>
                </a:solidFill>
                <a:latin typeface="Cascadia Mono" panose="020B0609020000020004" pitchFamily="49" charset="0"/>
              </a:rPr>
              <a:t>span</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="form-group"&gt;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label</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Password</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="control-label"&gt;&lt;/</a:t>
            </a:r>
            <a:r>
              <a:rPr lang="en-US" sz="900" b="1" dirty="0">
                <a:solidFill>
                  <a:srgbClr val="800080"/>
                </a:solidFill>
                <a:latin typeface="Cascadia Mono" panose="020B0609020000020004" pitchFamily="49" charset="0"/>
              </a:rPr>
              <a:t>label</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input</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Password</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="form-control"</a:t>
            </a:r>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span</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asp-validation-for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Password</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="text-danger"&gt;&lt;/</a:t>
            </a:r>
            <a:r>
              <a:rPr lang="en-US" sz="900" b="1" dirty="0">
                <a:solidFill>
                  <a:srgbClr val="800080"/>
                </a:solidFill>
                <a:latin typeface="Cascadia Mono" panose="020B0609020000020004" pitchFamily="49" charset="0"/>
              </a:rPr>
              <a:t>span</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="form-group form-check"&gt;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label</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="form-check-label"&gt;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input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="form-check-input"</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Remember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/&gt;</a:t>
            </a:r>
            <a:r>
              <a:rPr lang="en-US" sz="900" b="0" dirty="0">
                <a:solidFill>
                  <a:srgbClr val="000000"/>
                </a:solidFill>
                <a:latin typeface="Cascadia Mono" panose="020B0609020000020004" pitchFamily="49" charset="0"/>
              </a:rPr>
              <a:t> @Html.DisplayNameFor(model =&gt; </a:t>
            </a:r>
            <a:r>
              <a:rPr lang="en-US" sz="900" b="0" dirty="0" err="1">
                <a:solidFill>
                  <a:srgbClr val="000000"/>
                </a:solidFill>
                <a:latin typeface="Cascadia Mono" panose="020B0609020000020004" pitchFamily="49" charset="0"/>
              </a:rPr>
              <a:t>model.Remember</a:t>
            </a:r>
            <a:r>
              <a:rPr lang="en-US" sz="900" b="0" dirty="0">
                <a:solidFill>
                  <a:srgbClr val="000000"/>
                </a:solidFill>
                <a:latin typeface="Cascadia Mono" panose="020B0609020000020004" pitchFamily="49" charset="0"/>
              </a:rPr>
              <a:t>)</a:t>
            </a: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label</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="form-group"&gt;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0" dirty="0">
                <a:solidFill>
                  <a:srgbClr val="800000"/>
                </a:solidFill>
                <a:latin typeface="Cascadia Mono" panose="020B0609020000020004" pitchFamily="49" charset="0"/>
              </a:rPr>
              <a:t>input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type</a:t>
            </a:r>
            <a:r>
              <a:rPr lang="en-US" sz="900" b="0" dirty="0">
                <a:solidFill>
                  <a:srgbClr val="0000FF"/>
                </a:solidFill>
                <a:latin typeface="Cascadia Mono" panose="020B0609020000020004" pitchFamily="49" charset="0"/>
              </a:rPr>
              <a:t>="submit"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value</a:t>
            </a:r>
            <a:r>
              <a:rPr lang="en-US" sz="900" b="0" dirty="0">
                <a:solidFill>
                  <a:srgbClr val="0000FF"/>
                </a:solidFill>
                <a:latin typeface="Cascadia Mono" panose="020B0609020000020004" pitchFamily="49" charset="0"/>
              </a:rPr>
              <a:t>="Create"</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a:t>
            </a:r>
            <a:r>
              <a:rPr lang="en-US" sz="900" b="0" dirty="0" err="1">
                <a:solidFill>
                  <a:srgbClr val="0000FF"/>
                </a:solidFill>
                <a:latin typeface="Cascadia Mono" panose="020B0609020000020004" pitchFamily="49" charset="0"/>
              </a:rPr>
              <a:t>btn</a:t>
            </a:r>
            <a:r>
              <a:rPr lang="en-US" sz="900" b="0" dirty="0">
                <a:solidFill>
                  <a:srgbClr val="0000FF"/>
                </a:solidFill>
                <a:latin typeface="Cascadia Mono" panose="020B0609020000020004" pitchFamily="49" charset="0"/>
              </a:rPr>
              <a:t> </a:t>
            </a:r>
            <a:r>
              <a:rPr lang="en-US" sz="900" b="0" dirty="0" err="1">
                <a:solidFill>
                  <a:srgbClr val="0000FF"/>
                </a:solidFill>
                <a:latin typeface="Cascadia Mono" panose="020B0609020000020004" pitchFamily="49" charset="0"/>
              </a:rPr>
              <a:t>btn</a:t>
            </a:r>
            <a:r>
              <a:rPr lang="en-US" sz="900" b="0" dirty="0">
                <a:solidFill>
                  <a:srgbClr val="0000FF"/>
                </a:solidFill>
                <a:latin typeface="Cascadia Mono" panose="020B0609020000020004" pitchFamily="49" charset="0"/>
              </a:rPr>
              <a:t>-primary"</a:t>
            </a:r>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1" dirty="0">
                <a:solidFill>
                  <a:srgbClr val="800080"/>
                </a:solidFill>
                <a:latin typeface="Cascadia Mono" panose="020B0609020000020004" pitchFamily="49" charset="0"/>
              </a:rPr>
              <a:t>form</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endParaRPr lang="en-IN" sz="900" b="0" dirty="0">
              <a:solidFill>
                <a:srgbClr val="000000"/>
              </a:solidFill>
              <a:latin typeface="Cascadia Mono" panose="020B0609020000020004" pitchFamily="49" charset="0"/>
            </a:endParaRPr>
          </a:p>
          <a:p>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a</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asp-action</a:t>
            </a:r>
            <a:r>
              <a:rPr lang="en-US" sz="900" b="0" dirty="0">
                <a:solidFill>
                  <a:srgbClr val="0000FF"/>
                </a:solidFill>
                <a:latin typeface="Cascadia Mono" panose="020B0609020000020004" pitchFamily="49" charset="0"/>
              </a:rPr>
              <a:t>="Index"&gt;</a:t>
            </a:r>
            <a:r>
              <a:rPr lang="en-US" sz="900" b="0" dirty="0">
                <a:solidFill>
                  <a:srgbClr val="000000"/>
                </a:solidFill>
                <a:latin typeface="Cascadia Mono" panose="020B0609020000020004" pitchFamily="49" charset="0"/>
              </a:rPr>
              <a:t>Back to List</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a</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@section Scripts {</a:t>
            </a: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await</a:t>
            </a:r>
            <a:r>
              <a:rPr lang="en-IN" sz="900" b="0" dirty="0">
                <a:solidFill>
                  <a:srgbClr val="000000"/>
                </a:solidFill>
                <a:latin typeface="Cascadia Mono" panose="020B0609020000020004" pitchFamily="49" charset="0"/>
              </a:rPr>
              <a:t> </a:t>
            </a:r>
            <a:r>
              <a:rPr lang="en-IN" sz="900" b="0" dirty="0" err="1">
                <a:solidFill>
                  <a:srgbClr val="000000"/>
                </a:solidFill>
                <a:latin typeface="Cascadia Mono" panose="020B0609020000020004" pitchFamily="49" charset="0"/>
              </a:rPr>
              <a:t>Html.RenderPartialAsync</a:t>
            </a:r>
            <a:r>
              <a:rPr lang="en-IN" sz="900" b="0" dirty="0">
                <a:solidFill>
                  <a:srgbClr val="000000"/>
                </a:solidFill>
                <a:latin typeface="Cascadia Mono" panose="020B0609020000020004" pitchFamily="49" charset="0"/>
              </a:rPr>
              <a:t>(</a:t>
            </a:r>
            <a:r>
              <a:rPr lang="en-IN" sz="900" b="0" dirty="0">
                <a:solidFill>
                  <a:srgbClr val="A31515"/>
                </a:solidFill>
                <a:latin typeface="Cascadia Mono" panose="020B0609020000020004" pitchFamily="49" charset="0"/>
              </a:rPr>
              <a:t>"_</a:t>
            </a:r>
            <a:r>
              <a:rPr lang="en-IN" sz="900" b="0" dirty="0" err="1">
                <a:solidFill>
                  <a:srgbClr val="A31515"/>
                </a:solidFill>
                <a:latin typeface="Cascadia Mono" panose="020B0609020000020004" pitchFamily="49" charset="0"/>
              </a:rPr>
              <a:t>ValidationScriptsPartial</a:t>
            </a:r>
            <a:r>
              <a:rPr lang="en-IN" sz="900" b="0" dirty="0">
                <a:solidFill>
                  <a:srgbClr val="A31515"/>
                </a:solidFill>
                <a:latin typeface="Cascadia Mono" panose="020B0609020000020004" pitchFamily="49" charset="0"/>
              </a:rPr>
              <a:t>"</a:t>
            </a:r>
            <a:r>
              <a:rPr lang="en-IN" sz="900" b="0" dirty="0">
                <a:solidFill>
                  <a:srgbClr val="000000"/>
                </a:solidFill>
                <a:latin typeface="Cascadia Mono" panose="020B0609020000020004" pitchFamily="49" charset="0"/>
              </a:rPr>
              <a:t>);}</a:t>
            </a:r>
          </a:p>
          <a:p>
            <a:r>
              <a:rPr lang="en-IN" sz="900" b="0" dirty="0">
                <a:solidFill>
                  <a:srgbClr val="000000"/>
                </a:solidFill>
                <a:latin typeface="Cascadia Mono" panose="020B0609020000020004" pitchFamily="49" charset="0"/>
              </a:rPr>
              <a:t>}</a:t>
            </a:r>
          </a:p>
        </p:txBody>
      </p:sp>
      <p:sp>
        <p:nvSpPr>
          <p:cNvPr id="9" name="TextBox 8">
            <a:extLst>
              <a:ext uri="{FF2B5EF4-FFF2-40B4-BE49-F238E27FC236}">
                <a16:creationId xmlns:a16="http://schemas.microsoft.com/office/drawing/2014/main" id="{5C9DD719-FBB1-15A1-6256-73DDF20DB5DF}"/>
              </a:ext>
            </a:extLst>
          </p:cNvPr>
          <p:cNvSpPr txBox="1"/>
          <p:nvPr/>
        </p:nvSpPr>
        <p:spPr>
          <a:xfrm>
            <a:off x="231743" y="2109695"/>
            <a:ext cx="6094428" cy="1785104"/>
          </a:xfrm>
          <a:prstGeom prst="rect">
            <a:avLst/>
          </a:prstGeom>
          <a:noFill/>
        </p:spPr>
        <p:txBody>
          <a:bodyPr wrap="square">
            <a:spAutoFit/>
          </a:bodyPr>
          <a:lstStyle/>
          <a:p>
            <a:r>
              <a:rPr lang="en-IN" sz="1100" dirty="0">
                <a:solidFill>
                  <a:srgbClr val="000000"/>
                </a:solidFill>
                <a:latin typeface="Cascadia Mono" panose="020B0609020000020004" pitchFamily="49" charset="0"/>
              </a:rPr>
              <a:t>@*</a:t>
            </a:r>
            <a:endParaRPr lang="en-IN" sz="1100" dirty="0">
              <a:solidFill>
                <a:srgbClr val="008000"/>
              </a:solidFill>
              <a:latin typeface="Cascadia Mono" panose="020B0609020000020004" pitchFamily="49" charset="0"/>
            </a:endParaRPr>
          </a:p>
          <a:p>
            <a:r>
              <a:rPr lang="en-US" sz="1100" dirty="0">
                <a:solidFill>
                  <a:srgbClr val="006400"/>
                </a:solidFill>
                <a:latin typeface="Cascadia Mono" panose="020B0609020000020004" pitchFamily="49" charset="0"/>
              </a:rPr>
              <a:t>    For more information on enabling MVC for empty projects, visit https://go.microsoft.com/fwlink/?LinkID=397860</a:t>
            </a:r>
            <a:endParaRPr lang="en-US" sz="1100" dirty="0">
              <a:solidFill>
                <a:srgbClr val="008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@model </a:t>
            </a:r>
            <a:r>
              <a:rPr lang="en-IN" sz="1100" dirty="0" err="1">
                <a:solidFill>
                  <a:srgbClr val="2B91AF"/>
                </a:solidFill>
                <a:latin typeface="Cascadia Mono" panose="020B0609020000020004" pitchFamily="49" charset="0"/>
              </a:rPr>
              <a:t>UserLogin</a:t>
            </a:r>
            <a:r>
              <a:rPr lang="en-IN" sz="1100" dirty="0">
                <a:solidFill>
                  <a:srgbClr val="000000"/>
                </a:solidFill>
                <a:latin typeface="Cascadia Mono" panose="020B0609020000020004" pitchFamily="49" charset="0"/>
              </a:rPr>
              <a:t>;</a:t>
            </a:r>
          </a:p>
          <a:p>
            <a:r>
              <a:rPr lang="en-IN" sz="1100" dirty="0">
                <a:solidFill>
                  <a:srgbClr val="0000FF"/>
                </a:solidFill>
                <a:latin typeface="Cascadia Mono" panose="020B0609020000020004" pitchFamily="49" charset="0"/>
              </a:rPr>
              <a:t>&lt;</a:t>
            </a:r>
            <a:r>
              <a:rPr lang="en-IN" sz="1100" dirty="0">
                <a:solidFill>
                  <a:srgbClr val="800000"/>
                </a:solidFill>
                <a:latin typeface="Cascadia Mono" panose="020B0609020000020004" pitchFamily="49" charset="0"/>
              </a:rPr>
              <a:t>h1</a:t>
            </a:r>
            <a:r>
              <a:rPr lang="en-IN" sz="1100" dirty="0">
                <a:solidFill>
                  <a:srgbClr val="0000FF"/>
                </a:solidFill>
                <a:latin typeface="Cascadia Mono" panose="020B0609020000020004" pitchFamily="49" charset="0"/>
              </a:rPr>
              <a:t>&gt;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@ViewBag.CookieValue;</a:t>
            </a:r>
          </a:p>
          <a:p>
            <a:r>
              <a:rPr lang="en-IN" sz="1100" dirty="0">
                <a:solidFill>
                  <a:srgbClr val="0000FF"/>
                </a:solidFill>
                <a:latin typeface="Cascadia Mono" panose="020B0609020000020004" pitchFamily="49" charset="0"/>
              </a:rPr>
              <a:t>&lt;/</a:t>
            </a:r>
            <a:r>
              <a:rPr lang="en-IN" sz="1100" dirty="0">
                <a:solidFill>
                  <a:srgbClr val="800000"/>
                </a:solidFill>
                <a:latin typeface="Cascadia Mono" panose="020B0609020000020004" pitchFamily="49" charset="0"/>
              </a:rPr>
              <a:t>h1</a:t>
            </a:r>
            <a:r>
              <a:rPr lang="en-IN" sz="1100" dirty="0">
                <a:solidFill>
                  <a:srgbClr val="0000FF"/>
                </a:solidFill>
                <a:latin typeface="Cascadia Mono" panose="020B0609020000020004" pitchFamily="49" charset="0"/>
              </a:rPr>
              <a:t>&gt;</a:t>
            </a:r>
            <a:endParaRPr lang="en-IN" sz="1100" dirty="0"/>
          </a:p>
        </p:txBody>
      </p:sp>
    </p:spTree>
    <p:extLst>
      <p:ext uri="{BB962C8B-B14F-4D97-AF65-F5344CB8AC3E}">
        <p14:creationId xmlns:p14="http://schemas.microsoft.com/office/powerpoint/2010/main" val="1609742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265C6FB-8327-A733-1892-E48B52F305AD}"/>
              </a:ext>
            </a:extLst>
          </p:cNvPr>
          <p:cNvSpPr txBox="1"/>
          <p:nvPr/>
        </p:nvSpPr>
        <p:spPr>
          <a:xfrm>
            <a:off x="152398" y="155139"/>
            <a:ext cx="11176001" cy="1754326"/>
          </a:xfrm>
          <a:prstGeom prst="rect">
            <a:avLst/>
          </a:prstGeom>
          <a:noFill/>
        </p:spPr>
        <p:txBody>
          <a:bodyPr wrap="square">
            <a:spAutoFit/>
          </a:bodyPr>
          <a:lstStyle/>
          <a:p>
            <a:pPr algn="just" fontAlgn="base"/>
            <a:r>
              <a:rPr lang="en-US" b="1" i="0" dirty="0">
                <a:solidFill>
                  <a:srgbClr val="000000"/>
                </a:solidFill>
                <a:effectLst/>
                <a:highlight>
                  <a:srgbClr val="FFFFFF"/>
                </a:highlight>
                <a:latin typeface="arial" panose="020B0604020202020204" pitchFamily="34" charset="0"/>
              </a:rPr>
              <a:t>How do you Access the Cookie Object in a View?</a:t>
            </a:r>
          </a:p>
          <a:p>
            <a:pPr algn="just" fontAlgn="base"/>
            <a:endParaRPr lang="en-US" b="1" i="0" dirty="0">
              <a:solidFill>
                <a:srgbClr val="3A3A3A"/>
              </a:solidFill>
              <a:effectLst/>
              <a:highlight>
                <a:srgbClr val="FFFFFF"/>
              </a:highlight>
              <a:latin typeface="-apple-system"/>
            </a:endParaRPr>
          </a:p>
          <a:p>
            <a:pPr algn="just" fontAlgn="base"/>
            <a:r>
              <a:rPr lang="en-US" b="0" i="0" dirty="0">
                <a:solidFill>
                  <a:srgbClr val="000000"/>
                </a:solidFill>
                <a:effectLst/>
                <a:highlight>
                  <a:srgbClr val="FFFFFF"/>
                </a:highlight>
                <a:latin typeface="arial" panose="020B0604020202020204" pitchFamily="34" charset="0"/>
              </a:rPr>
              <a:t>To use Cookies inside a View, we need to inject the </a:t>
            </a:r>
            <a:r>
              <a:rPr lang="en-US" b="0" i="0" dirty="0" err="1">
                <a:solidFill>
                  <a:srgbClr val="000000"/>
                </a:solidFill>
                <a:effectLst/>
                <a:highlight>
                  <a:srgbClr val="FFFFFF"/>
                </a:highlight>
                <a:latin typeface="arial" panose="020B0604020202020204" pitchFamily="34" charset="0"/>
              </a:rPr>
              <a:t>IHttpContextAccessor</a:t>
            </a:r>
            <a:r>
              <a:rPr lang="en-US" b="0" i="0" dirty="0">
                <a:solidFill>
                  <a:srgbClr val="000000"/>
                </a:solidFill>
                <a:effectLst/>
                <a:highlight>
                  <a:srgbClr val="FFFFFF"/>
                </a:highlight>
                <a:latin typeface="arial" panose="020B0604020202020204" pitchFamily="34" charset="0"/>
              </a:rPr>
              <a:t> service into our view and use it to get the </a:t>
            </a:r>
            <a:r>
              <a:rPr lang="en-US" b="0" i="0" dirty="0" err="1">
                <a:solidFill>
                  <a:srgbClr val="000000"/>
                </a:solidFill>
                <a:effectLst/>
                <a:highlight>
                  <a:srgbClr val="FFFFFF"/>
                </a:highlight>
                <a:latin typeface="arial" panose="020B0604020202020204" pitchFamily="34" charset="0"/>
              </a:rPr>
              <a:t>HttpContext</a:t>
            </a:r>
            <a:r>
              <a:rPr lang="en-US" b="0" i="0" dirty="0">
                <a:solidFill>
                  <a:srgbClr val="000000"/>
                </a:solidFill>
                <a:effectLst/>
                <a:highlight>
                  <a:srgbClr val="FFFFFF"/>
                </a:highlight>
                <a:latin typeface="arial" panose="020B0604020202020204" pitchFamily="34" charset="0"/>
              </a:rPr>
              <a:t> and Request objects from that. For this, we need to add the following two statements in our view. The first statement adds the namespace, and the second statement injects the </a:t>
            </a:r>
            <a:r>
              <a:rPr lang="en-US" b="0" i="0" dirty="0" err="1">
                <a:solidFill>
                  <a:srgbClr val="000000"/>
                </a:solidFill>
                <a:effectLst/>
                <a:highlight>
                  <a:srgbClr val="FFFFFF"/>
                </a:highlight>
                <a:latin typeface="arial" panose="020B0604020202020204" pitchFamily="34" charset="0"/>
              </a:rPr>
              <a:t>IHttpContextAccessor</a:t>
            </a:r>
            <a:r>
              <a:rPr lang="en-US" b="0" i="0" dirty="0">
                <a:solidFill>
                  <a:srgbClr val="000000"/>
                </a:solidFill>
                <a:effectLst/>
                <a:highlight>
                  <a:srgbClr val="FFFFFF"/>
                </a:highlight>
                <a:latin typeface="arial" panose="020B0604020202020204" pitchFamily="34" charset="0"/>
              </a:rPr>
              <a:t>. Using this </a:t>
            </a:r>
            <a:r>
              <a:rPr lang="en-US" b="0" i="0" dirty="0" err="1">
                <a:solidFill>
                  <a:srgbClr val="000000"/>
                </a:solidFill>
                <a:effectLst/>
                <a:highlight>
                  <a:srgbClr val="FFFFFF"/>
                </a:highlight>
                <a:latin typeface="arial" panose="020B0604020202020204" pitchFamily="34" charset="0"/>
              </a:rPr>
              <a:t>HttpContextAccessor</a:t>
            </a:r>
            <a:r>
              <a:rPr lang="en-US" b="0" i="0" dirty="0">
                <a:solidFill>
                  <a:srgbClr val="000000"/>
                </a:solidFill>
                <a:effectLst/>
                <a:highlight>
                  <a:srgbClr val="FFFFFF"/>
                </a:highlight>
                <a:latin typeface="arial" panose="020B0604020202020204" pitchFamily="34" charset="0"/>
              </a:rPr>
              <a:t>, we can access the </a:t>
            </a:r>
            <a:r>
              <a:rPr lang="en-US" b="0" i="0" dirty="0" err="1">
                <a:solidFill>
                  <a:srgbClr val="000000"/>
                </a:solidFill>
                <a:effectLst/>
                <a:highlight>
                  <a:srgbClr val="FFFFFF"/>
                </a:highlight>
                <a:latin typeface="arial" panose="020B0604020202020204" pitchFamily="34" charset="0"/>
              </a:rPr>
              <a:t>HttpContext</a:t>
            </a:r>
            <a:r>
              <a:rPr lang="en-US" b="0" i="0" dirty="0">
                <a:solidFill>
                  <a:srgbClr val="000000"/>
                </a:solidFill>
                <a:effectLst/>
                <a:highlight>
                  <a:srgbClr val="FFFFFF"/>
                </a:highlight>
                <a:latin typeface="arial" panose="020B0604020202020204" pitchFamily="34" charset="0"/>
              </a:rPr>
              <a:t> and Session object.</a:t>
            </a:r>
            <a:endParaRPr lang="en-US" b="0" i="0" dirty="0">
              <a:solidFill>
                <a:srgbClr val="3A3A3A"/>
              </a:solidFill>
              <a:effectLst/>
              <a:highlight>
                <a:srgbClr val="FFFFFF"/>
              </a:highlight>
              <a:latin typeface="-apple-system"/>
            </a:endParaRPr>
          </a:p>
        </p:txBody>
      </p:sp>
      <p:sp>
        <p:nvSpPr>
          <p:cNvPr id="7" name="TextBox 6">
            <a:extLst>
              <a:ext uri="{FF2B5EF4-FFF2-40B4-BE49-F238E27FC236}">
                <a16:creationId xmlns:a16="http://schemas.microsoft.com/office/drawing/2014/main" id="{737A5CE8-5985-19E6-E039-8505F3150453}"/>
              </a:ext>
            </a:extLst>
          </p:cNvPr>
          <p:cNvSpPr txBox="1"/>
          <p:nvPr/>
        </p:nvSpPr>
        <p:spPr>
          <a:xfrm>
            <a:off x="152398" y="2089835"/>
            <a:ext cx="6096000"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b="1" i="0" dirty="0">
                <a:solidFill>
                  <a:srgbClr val="0000FF"/>
                </a:solidFill>
                <a:effectLst/>
                <a:highlight>
                  <a:srgbClr val="FFFFFF"/>
                </a:highlight>
                <a:latin typeface="arial" panose="020B0604020202020204" pitchFamily="34" charset="0"/>
              </a:rPr>
              <a:t>@using </a:t>
            </a:r>
            <a:r>
              <a:rPr lang="en-IN" b="1" i="0" dirty="0" err="1">
                <a:solidFill>
                  <a:srgbClr val="0000FF"/>
                </a:solidFill>
                <a:effectLst/>
                <a:highlight>
                  <a:srgbClr val="FFFFFF"/>
                </a:highlight>
                <a:latin typeface="arial" panose="020B0604020202020204" pitchFamily="34" charset="0"/>
              </a:rPr>
              <a:t>Microsoft.AspNetCore.Http</a:t>
            </a:r>
            <a:r>
              <a:rPr lang="en-IN" b="1" i="0" dirty="0">
                <a:solidFill>
                  <a:srgbClr val="0000FF"/>
                </a:solidFill>
                <a:effectLst/>
                <a:highlight>
                  <a:srgbClr val="FFFFFF"/>
                </a:highlight>
                <a:latin typeface="arial" panose="020B0604020202020204" pitchFamily="34" charset="0"/>
              </a:rPr>
              <a:t>;</a:t>
            </a:r>
            <a:br>
              <a:rPr lang="en-IN" dirty="0"/>
            </a:br>
            <a:r>
              <a:rPr lang="en-IN" b="1" i="0" dirty="0">
                <a:solidFill>
                  <a:srgbClr val="0000FF"/>
                </a:solidFill>
                <a:effectLst/>
                <a:highlight>
                  <a:srgbClr val="FFFFFF"/>
                </a:highlight>
                <a:latin typeface="arial" panose="020B0604020202020204" pitchFamily="34" charset="0"/>
              </a:rPr>
              <a:t>@inject </a:t>
            </a:r>
            <a:r>
              <a:rPr lang="en-IN" b="1" i="0" dirty="0" err="1">
                <a:solidFill>
                  <a:srgbClr val="0000FF"/>
                </a:solidFill>
                <a:effectLst/>
                <a:highlight>
                  <a:srgbClr val="FFFFFF"/>
                </a:highlight>
                <a:latin typeface="arial" panose="020B0604020202020204" pitchFamily="34" charset="0"/>
              </a:rPr>
              <a:t>IHttpContextAccessor</a:t>
            </a:r>
            <a:r>
              <a:rPr lang="en-IN" b="1" i="0" dirty="0">
                <a:solidFill>
                  <a:srgbClr val="0000FF"/>
                </a:solidFill>
                <a:effectLst/>
                <a:highlight>
                  <a:srgbClr val="FFFFFF"/>
                </a:highlight>
                <a:latin typeface="arial" panose="020B0604020202020204" pitchFamily="34" charset="0"/>
              </a:rPr>
              <a:t> </a:t>
            </a:r>
            <a:r>
              <a:rPr lang="en-IN" b="1" i="0" dirty="0" err="1">
                <a:solidFill>
                  <a:srgbClr val="0000FF"/>
                </a:solidFill>
                <a:effectLst/>
                <a:highlight>
                  <a:srgbClr val="FFFFFF"/>
                </a:highlight>
                <a:latin typeface="arial" panose="020B0604020202020204" pitchFamily="34" charset="0"/>
              </a:rPr>
              <a:t>HttpContextAccessor</a:t>
            </a:r>
            <a:endParaRPr lang="en-IN" dirty="0"/>
          </a:p>
        </p:txBody>
      </p:sp>
      <p:sp>
        <p:nvSpPr>
          <p:cNvPr id="9" name="TextBox 8">
            <a:extLst>
              <a:ext uri="{FF2B5EF4-FFF2-40B4-BE49-F238E27FC236}">
                <a16:creationId xmlns:a16="http://schemas.microsoft.com/office/drawing/2014/main" id="{4E1AFA31-CAC0-2B62-0FD7-A60423687028}"/>
              </a:ext>
            </a:extLst>
          </p:cNvPr>
          <p:cNvSpPr txBox="1"/>
          <p:nvPr/>
        </p:nvSpPr>
        <p:spPr>
          <a:xfrm>
            <a:off x="152398" y="2967673"/>
            <a:ext cx="11497733"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fontAlgn="base"/>
            <a:r>
              <a:rPr lang="en-IN" b="0" i="0" dirty="0">
                <a:solidFill>
                  <a:srgbClr val="CFD5E0"/>
                </a:solidFill>
                <a:effectLst/>
                <a:highlight>
                  <a:srgbClr val="272B33"/>
                </a:highlight>
                <a:latin typeface="inherit"/>
              </a:rPr>
              <a:t>@using </a:t>
            </a:r>
            <a:r>
              <a:rPr lang="en-IN" b="0" i="0" dirty="0" err="1">
                <a:solidFill>
                  <a:srgbClr val="CFD5E0"/>
                </a:solidFill>
                <a:effectLst/>
                <a:highlight>
                  <a:srgbClr val="272B33"/>
                </a:highlight>
                <a:latin typeface="inherit"/>
              </a:rPr>
              <a:t>Microsoft.AspNetCore.Http</a:t>
            </a:r>
            <a:r>
              <a:rPr lang="en-IN" b="0" i="0" dirty="0">
                <a:solidFill>
                  <a:srgbClr val="CFD5E0"/>
                </a:solidFill>
                <a:effectLst/>
                <a:highlight>
                  <a:srgbClr val="272B33"/>
                </a:highlight>
                <a:latin typeface="inherit"/>
              </a:rPr>
              <a:t>;</a:t>
            </a:r>
            <a:endParaRPr lang="en-IN" b="0" i="0" dirty="0">
              <a:solidFill>
                <a:srgbClr val="596174"/>
              </a:solidFill>
              <a:effectLst/>
              <a:highlight>
                <a:srgbClr val="272B33"/>
              </a:highlight>
              <a:latin typeface="Inconsolata" pitchFamily="1" charset="0"/>
            </a:endParaRPr>
          </a:p>
          <a:p>
            <a:pPr algn="l" fontAlgn="base"/>
            <a:r>
              <a:rPr lang="en-IN" b="0" i="0" dirty="0">
                <a:solidFill>
                  <a:srgbClr val="CFD5E0"/>
                </a:solidFill>
                <a:effectLst/>
                <a:highlight>
                  <a:srgbClr val="272B33"/>
                </a:highlight>
                <a:latin typeface="inherit"/>
              </a:rPr>
              <a:t>@inject </a:t>
            </a:r>
            <a:r>
              <a:rPr lang="en-IN" b="0" i="0" dirty="0" err="1">
                <a:solidFill>
                  <a:srgbClr val="CFD5E0"/>
                </a:solidFill>
                <a:effectLst/>
                <a:highlight>
                  <a:srgbClr val="272B33"/>
                </a:highlight>
                <a:latin typeface="inherit"/>
              </a:rPr>
              <a:t>IHttpContextAccessor</a:t>
            </a:r>
            <a:r>
              <a:rPr lang="en-IN" b="0" i="0" dirty="0">
                <a:solidFill>
                  <a:srgbClr val="CFD5E0"/>
                </a:solidFill>
                <a:effectLst/>
                <a:highlight>
                  <a:srgbClr val="272B33"/>
                </a:highlight>
                <a:latin typeface="inherit"/>
              </a:rPr>
              <a:t> </a:t>
            </a:r>
            <a:r>
              <a:rPr lang="en-IN" b="0" i="0" dirty="0" err="1">
                <a:solidFill>
                  <a:srgbClr val="CFD5E0"/>
                </a:solidFill>
                <a:effectLst/>
                <a:highlight>
                  <a:srgbClr val="272B33"/>
                </a:highlight>
                <a:latin typeface="inherit"/>
              </a:rPr>
              <a:t>HttpContextAccessor</a:t>
            </a:r>
            <a:endParaRPr lang="en-IN" b="0" i="0" dirty="0">
              <a:solidFill>
                <a:srgbClr val="596174"/>
              </a:solidFill>
              <a:effectLst/>
              <a:highlight>
                <a:srgbClr val="272B33"/>
              </a:highlight>
              <a:latin typeface="Inconsolata" pitchFamily="1" charset="0"/>
            </a:endParaRPr>
          </a:p>
          <a:p>
            <a:pPr algn="l" fontAlgn="base"/>
            <a:r>
              <a:rPr lang="en-IN" dirty="0">
                <a:solidFill>
                  <a:srgbClr val="000000"/>
                </a:solidFill>
                <a:highlight>
                  <a:srgbClr val="FFFFFF"/>
                </a:highlight>
                <a:latin typeface="arial" panose="020B0604020202020204" pitchFamily="34" charset="0"/>
              </a:rPr>
              <a:t>@{</a:t>
            </a:r>
          </a:p>
          <a:p>
            <a:pPr algn="l" fontAlgn="base"/>
            <a:r>
              <a:rPr lang="en-IN" dirty="0">
                <a:solidFill>
                  <a:srgbClr val="000000"/>
                </a:solidFill>
                <a:highlight>
                  <a:srgbClr val="FFFFFF"/>
                </a:highlight>
                <a:latin typeface="arial" panose="020B0604020202020204" pitchFamily="34" charset="0"/>
              </a:rPr>
              <a:t>	</a:t>
            </a:r>
            <a:r>
              <a:rPr lang="en-IN" dirty="0" err="1">
                <a:solidFill>
                  <a:srgbClr val="000000"/>
                </a:solidFill>
                <a:highlight>
                  <a:srgbClr val="FFFFFF"/>
                </a:highlight>
                <a:latin typeface="arial" panose="020B0604020202020204" pitchFamily="34" charset="0"/>
              </a:rPr>
              <a:t>ViewData</a:t>
            </a:r>
            <a:r>
              <a:rPr lang="en-IN" dirty="0">
                <a:solidFill>
                  <a:srgbClr val="000000"/>
                </a:solidFill>
                <a:highlight>
                  <a:srgbClr val="FFFFFF"/>
                </a:highlight>
                <a:latin typeface="arial" panose="020B0604020202020204" pitchFamily="34" charset="0"/>
              </a:rPr>
              <a:t>["Title"] = "Home Page";</a:t>
            </a:r>
          </a:p>
          <a:p>
            <a:pPr algn="l" fontAlgn="base"/>
            <a:r>
              <a:rPr lang="en-IN" dirty="0">
                <a:solidFill>
                  <a:srgbClr val="000000"/>
                </a:solidFill>
                <a:highlight>
                  <a:srgbClr val="FFFFFF"/>
                </a:highlight>
                <a:latin typeface="arial" panose="020B0604020202020204" pitchFamily="34" charset="0"/>
              </a:rPr>
              <a:t>}</a:t>
            </a:r>
          </a:p>
          <a:p>
            <a:pPr algn="l" fontAlgn="base"/>
            <a:r>
              <a:rPr lang="en-IN" dirty="0">
                <a:solidFill>
                  <a:srgbClr val="000000"/>
                </a:solidFill>
                <a:highlight>
                  <a:srgbClr val="FFFFFF"/>
                </a:highlight>
                <a:latin typeface="arial" panose="020B0604020202020204" pitchFamily="34" charset="0"/>
              </a:rPr>
              <a:t>&lt;div class="text-left"&gt;   &lt;b&gt;User Name:&lt;/b&gt;    </a:t>
            </a:r>
            <a:r>
              <a:rPr lang="en-IN" b="0" i="0" dirty="0">
                <a:solidFill>
                  <a:srgbClr val="CFD5E0"/>
                </a:solidFill>
                <a:effectLst/>
                <a:highlight>
                  <a:srgbClr val="272B33"/>
                </a:highlight>
                <a:latin typeface="inherit"/>
              </a:rPr>
              <a:t>@HttpContextAccessor?.HttpContext?.Request.Cookies["UserName"]</a:t>
            </a:r>
            <a:endParaRPr lang="en-IN" b="0" i="0" dirty="0">
              <a:solidFill>
                <a:srgbClr val="596174"/>
              </a:solidFill>
              <a:effectLst/>
              <a:highlight>
                <a:srgbClr val="272B33"/>
              </a:highlight>
              <a:latin typeface="Inconsolata" pitchFamily="1" charset="0"/>
            </a:endParaRPr>
          </a:p>
          <a:p>
            <a:pPr algn="l" fontAlgn="base"/>
            <a:r>
              <a:rPr lang="en-IN" dirty="0">
                <a:solidFill>
                  <a:srgbClr val="000000"/>
                </a:solidFill>
                <a:highlight>
                  <a:srgbClr val="FFFFFF"/>
                </a:highlight>
                <a:latin typeface="arial" panose="020B0604020202020204" pitchFamily="34" charset="0"/>
              </a:rPr>
              <a:t>&lt;</a:t>
            </a:r>
            <a:r>
              <a:rPr lang="en-IN" dirty="0" err="1">
                <a:solidFill>
                  <a:srgbClr val="000000"/>
                </a:solidFill>
                <a:highlight>
                  <a:srgbClr val="FFFFFF"/>
                </a:highlight>
                <a:latin typeface="arial" panose="020B0604020202020204" pitchFamily="34" charset="0"/>
              </a:rPr>
              <a:t>br</a:t>
            </a:r>
            <a:r>
              <a:rPr lang="en-IN" dirty="0">
                <a:solidFill>
                  <a:srgbClr val="000000"/>
                </a:solidFill>
                <a:highlight>
                  <a:srgbClr val="FFFFFF"/>
                </a:highlight>
                <a:latin typeface="arial" panose="020B0604020202020204" pitchFamily="34" charset="0"/>
              </a:rPr>
              <a:t> /&gt;    &lt;b&gt;User Id:&lt;/b&gt;                                  </a:t>
            </a:r>
            <a:r>
              <a:rPr lang="en-IN" b="0" i="0" dirty="0">
                <a:solidFill>
                  <a:srgbClr val="CFD5E0"/>
                </a:solidFill>
                <a:effectLst/>
                <a:highlight>
                  <a:srgbClr val="272B33"/>
                </a:highlight>
                <a:latin typeface="inherit"/>
              </a:rPr>
              <a:t>@HttpContextAccessor?.HttpContext?.Request.Cookies["UserId"]</a:t>
            </a:r>
            <a:endParaRPr lang="en-IN" b="0" i="0" dirty="0">
              <a:solidFill>
                <a:srgbClr val="596174"/>
              </a:solidFill>
              <a:effectLst/>
              <a:highlight>
                <a:srgbClr val="272B33"/>
              </a:highlight>
              <a:latin typeface="Inconsolata" pitchFamily="1" charset="0"/>
            </a:endParaRPr>
          </a:p>
          <a:p>
            <a:pPr algn="l" fontAlgn="base"/>
            <a:r>
              <a:rPr lang="en-IN" dirty="0">
                <a:solidFill>
                  <a:srgbClr val="000000"/>
                </a:solidFill>
                <a:highlight>
                  <a:srgbClr val="FFFFFF"/>
                </a:highlight>
                <a:latin typeface="arial" panose="020B0604020202020204" pitchFamily="34" charset="0"/>
              </a:rPr>
              <a:t>&lt;/div&gt;</a:t>
            </a:r>
          </a:p>
        </p:txBody>
      </p:sp>
      <p:sp>
        <p:nvSpPr>
          <p:cNvPr id="11" name="TextBox 10">
            <a:extLst>
              <a:ext uri="{FF2B5EF4-FFF2-40B4-BE49-F238E27FC236}">
                <a16:creationId xmlns:a16="http://schemas.microsoft.com/office/drawing/2014/main" id="{371ACA8F-0C09-B766-156A-D6BE71FAB5BF}"/>
              </a:ext>
            </a:extLst>
          </p:cNvPr>
          <p:cNvSpPr txBox="1"/>
          <p:nvPr/>
        </p:nvSpPr>
        <p:spPr>
          <a:xfrm>
            <a:off x="694267" y="5444068"/>
            <a:ext cx="10447866"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solidFill>
                  <a:srgbClr val="000000"/>
                </a:solidFill>
                <a:highlight>
                  <a:srgbClr val="FFFFFF"/>
                </a:highlight>
                <a:latin typeface="arial" panose="020B0604020202020204" pitchFamily="34" charset="0"/>
              </a:rPr>
              <a:t>Do not forget to add DI in </a:t>
            </a:r>
            <a:r>
              <a:rPr lang="en-US" dirty="0" err="1">
                <a:solidFill>
                  <a:srgbClr val="000000"/>
                </a:solidFill>
                <a:highlight>
                  <a:srgbClr val="FFFF00"/>
                </a:highlight>
                <a:latin typeface="arial" panose="020B0604020202020204" pitchFamily="34" charset="0"/>
              </a:rPr>
              <a:t>Program.cs</a:t>
            </a:r>
            <a:r>
              <a:rPr lang="en-US" dirty="0">
                <a:solidFill>
                  <a:srgbClr val="000000"/>
                </a:solidFill>
                <a:highlight>
                  <a:srgbClr val="FFFF00"/>
                </a:highlight>
                <a:latin typeface="arial" panose="020B0604020202020204" pitchFamily="34" charset="0"/>
              </a:rPr>
              <a:t> </a:t>
            </a:r>
            <a:r>
              <a:rPr lang="en-US" dirty="0">
                <a:solidFill>
                  <a:srgbClr val="000000"/>
                </a:solidFill>
                <a:highlight>
                  <a:srgbClr val="FFFFFF"/>
                </a:highlight>
                <a:latin typeface="arial" panose="020B0604020202020204" pitchFamily="34" charset="0"/>
              </a:rPr>
              <a:t>file</a:t>
            </a:r>
          </a:p>
          <a:p>
            <a:endParaRPr lang="en-US" dirty="0">
              <a:solidFill>
                <a:srgbClr val="000000"/>
              </a:solidFill>
              <a:highlight>
                <a:srgbClr val="FFFFFF"/>
              </a:highlight>
              <a:latin typeface="arial" panose="020B0604020202020204" pitchFamily="34" charset="0"/>
            </a:endParaRPr>
          </a:p>
          <a:p>
            <a:r>
              <a:rPr lang="en-US" b="0" i="0" dirty="0" err="1">
                <a:solidFill>
                  <a:srgbClr val="CFD5E0"/>
                </a:solidFill>
                <a:effectLst/>
                <a:highlight>
                  <a:srgbClr val="2E353E"/>
                </a:highlight>
                <a:latin typeface="Inconsolata" pitchFamily="1" charset="0"/>
              </a:rPr>
              <a:t>builder.</a:t>
            </a:r>
            <a:r>
              <a:rPr lang="en-US" b="0" i="0" dirty="0" err="1">
                <a:solidFill>
                  <a:srgbClr val="4284AE"/>
                </a:solidFill>
                <a:effectLst/>
                <a:highlight>
                  <a:srgbClr val="2E353E"/>
                </a:highlight>
                <a:latin typeface="Inconsolata" pitchFamily="1" charset="0"/>
              </a:rPr>
              <a:t>Services</a:t>
            </a:r>
            <a:r>
              <a:rPr lang="en-US" b="0" i="0" dirty="0" err="1">
                <a:solidFill>
                  <a:srgbClr val="CFD5E0"/>
                </a:solidFill>
                <a:effectLst/>
                <a:highlight>
                  <a:srgbClr val="2E353E"/>
                </a:highlight>
                <a:latin typeface="Inconsolata" pitchFamily="1" charset="0"/>
              </a:rPr>
              <a:t>.</a:t>
            </a:r>
            <a:r>
              <a:rPr lang="en-US" b="0" i="0" dirty="0" err="1">
                <a:solidFill>
                  <a:srgbClr val="4284AE"/>
                </a:solidFill>
                <a:effectLst/>
                <a:highlight>
                  <a:srgbClr val="2E353E"/>
                </a:highlight>
                <a:latin typeface="Inconsolata" pitchFamily="1" charset="0"/>
              </a:rPr>
              <a:t>AddSingleton</a:t>
            </a:r>
            <a:r>
              <a:rPr lang="en-US" b="1" i="0" dirty="0">
                <a:solidFill>
                  <a:srgbClr val="6B7C8B"/>
                </a:solidFill>
                <a:effectLst/>
                <a:highlight>
                  <a:srgbClr val="2E353E"/>
                </a:highlight>
                <a:latin typeface="Inconsolata" pitchFamily="1" charset="0"/>
              </a:rPr>
              <a:t>&lt;</a:t>
            </a:r>
            <a:r>
              <a:rPr lang="en-US" b="0" i="0" dirty="0" err="1">
                <a:solidFill>
                  <a:srgbClr val="CFD5E0"/>
                </a:solidFill>
                <a:effectLst/>
                <a:highlight>
                  <a:srgbClr val="2E353E"/>
                </a:highlight>
                <a:latin typeface="Inconsolata" pitchFamily="1" charset="0"/>
              </a:rPr>
              <a:t>IHttpContextAccessor</a:t>
            </a:r>
            <a:r>
              <a:rPr lang="en-US" b="0" i="0" dirty="0">
                <a:solidFill>
                  <a:srgbClr val="CFD5E0"/>
                </a:solidFill>
                <a:effectLst/>
                <a:highlight>
                  <a:srgbClr val="2E353E"/>
                </a:highlight>
                <a:latin typeface="Inconsolata" pitchFamily="1" charset="0"/>
              </a:rPr>
              <a:t>, </a:t>
            </a:r>
            <a:r>
              <a:rPr lang="en-US" b="0" i="0" dirty="0" err="1">
                <a:solidFill>
                  <a:srgbClr val="CFD5E0"/>
                </a:solidFill>
                <a:effectLst/>
                <a:highlight>
                  <a:srgbClr val="2E353E"/>
                </a:highlight>
                <a:latin typeface="Inconsolata" pitchFamily="1" charset="0"/>
              </a:rPr>
              <a:t>HttpContextAccessor</a:t>
            </a:r>
            <a:r>
              <a:rPr lang="en-US" b="1" i="0" dirty="0">
                <a:solidFill>
                  <a:srgbClr val="6B7C8B"/>
                </a:solidFill>
                <a:effectLst/>
                <a:highlight>
                  <a:srgbClr val="2E353E"/>
                </a:highlight>
                <a:latin typeface="Inconsolata" pitchFamily="1" charset="0"/>
              </a:rPr>
              <a:t>&gt;()</a:t>
            </a:r>
            <a:r>
              <a:rPr lang="en-US" b="0" i="0" dirty="0">
                <a:solidFill>
                  <a:srgbClr val="CFD5E0"/>
                </a:solidFill>
                <a:effectLst/>
                <a:highlight>
                  <a:srgbClr val="2E353E"/>
                </a:highlight>
                <a:latin typeface="Inconsolata" pitchFamily="1" charset="0"/>
              </a:rPr>
              <a:t>;</a:t>
            </a:r>
            <a:endParaRPr lang="en-IN" dirty="0"/>
          </a:p>
        </p:txBody>
      </p:sp>
    </p:spTree>
    <p:extLst>
      <p:ext uri="{BB962C8B-B14F-4D97-AF65-F5344CB8AC3E}">
        <p14:creationId xmlns:p14="http://schemas.microsoft.com/office/powerpoint/2010/main" val="2917274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BEDF69-5831-2F9C-BB6D-DE7E80C19877}"/>
              </a:ext>
            </a:extLst>
          </p:cNvPr>
          <p:cNvSpPr txBox="1"/>
          <p:nvPr/>
        </p:nvSpPr>
        <p:spPr>
          <a:xfrm>
            <a:off x="0" y="355601"/>
            <a:ext cx="11709400" cy="5447645"/>
          </a:xfrm>
          <a:prstGeom prst="rect">
            <a:avLst/>
          </a:prstGeom>
          <a:noFill/>
        </p:spPr>
        <p:txBody>
          <a:bodyPr wrap="square">
            <a:spAutoFit/>
          </a:bodyPr>
          <a:lstStyle/>
          <a:p>
            <a:pPr algn="just" fontAlgn="base"/>
            <a:r>
              <a:rPr lang="en-US" sz="1200" b="1" i="0" dirty="0">
                <a:solidFill>
                  <a:srgbClr val="000000"/>
                </a:solidFill>
                <a:effectLst/>
                <a:highlight>
                  <a:srgbClr val="FFFFFF"/>
                </a:highlight>
                <a:latin typeface="arial" panose="020B0604020202020204" pitchFamily="34" charset="0"/>
              </a:rPr>
              <a:t>Use Cases of Cookies in ASP.NET Core MVC:</a:t>
            </a:r>
          </a:p>
          <a:p>
            <a:pPr algn="just" fontAlgn="base"/>
            <a:endParaRPr lang="en-US" sz="1200" b="1" dirty="0">
              <a:solidFill>
                <a:srgbClr val="000000"/>
              </a:solidFill>
              <a:highlight>
                <a:srgbClr val="FFFFFF"/>
              </a:highlight>
              <a:latin typeface="arial" panose="020B0604020202020204" pitchFamily="34" charset="0"/>
            </a:endParaRPr>
          </a:p>
          <a:p>
            <a:pPr algn="just" fontAlgn="base"/>
            <a:endParaRPr lang="en-US" sz="1200" b="1" i="0" dirty="0">
              <a:solidFill>
                <a:srgbClr val="000000"/>
              </a:solidFill>
              <a:effectLst/>
              <a:highlight>
                <a:srgbClr val="FFFFFF"/>
              </a:highlight>
              <a:latin typeface="arial" panose="020B0604020202020204" pitchFamily="34" charset="0"/>
            </a:endParaRPr>
          </a:p>
          <a:p>
            <a:pPr algn="just" fontAlgn="base"/>
            <a:endParaRPr lang="en-US" sz="1200" b="1" dirty="0">
              <a:solidFill>
                <a:srgbClr val="000000"/>
              </a:solidFill>
              <a:highlight>
                <a:srgbClr val="FFFFFF"/>
              </a:highlight>
              <a:latin typeface="arial" panose="020B0604020202020204" pitchFamily="34" charset="0"/>
            </a:endParaRPr>
          </a:p>
          <a:p>
            <a:pPr algn="just" fontAlgn="base"/>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The following are some of the situations where using cookies is appropriate:</a:t>
            </a:r>
            <a:endParaRPr lang="en-US" sz="1200" b="0" i="0" dirty="0">
              <a:solidFill>
                <a:srgbClr val="3A3A3A"/>
              </a:solidFill>
              <a:effectLst/>
              <a:highlight>
                <a:srgbClr val="FFFFFF"/>
              </a:highlight>
              <a:latin typeface="-apple-system"/>
            </a:endParaRPr>
          </a:p>
          <a:p>
            <a:pPr algn="just" fontAlgn="base"/>
            <a:r>
              <a:rPr lang="en-US" sz="1200" b="1" i="0" dirty="0">
                <a:solidFill>
                  <a:srgbClr val="000000"/>
                </a:solidFill>
                <a:effectLst/>
                <a:highlight>
                  <a:srgbClr val="FFFFFF"/>
                </a:highlight>
                <a:latin typeface="arial" panose="020B0604020202020204" pitchFamily="34" charset="0"/>
              </a:rPr>
              <a:t>Authentication and Authorization:</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Cookies play an important role in managing user authentication (verifying identity) and authorization (granting access rights) in web applications.</a:t>
            </a:r>
            <a:endParaRPr lang="en-US" sz="1200" b="0"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For example, after a user successfully logs in, the server generates a session token or authentication cookie. This cookie typically contains a session ID or a securely hashed token that identifies the user’s authenticated session. As the user navigates through the application, the server verifies their access rights based on the session cookie. For example, certain pages or actions may only be accessible to authenticated users with specific roles or permissions.</a:t>
            </a:r>
            <a:endParaRPr lang="en-US" sz="1200" b="0" i="0" dirty="0">
              <a:solidFill>
                <a:srgbClr val="3A3A3A"/>
              </a:solidFill>
              <a:effectLst/>
              <a:highlight>
                <a:srgbClr val="FFFFFF"/>
              </a:highlight>
              <a:latin typeface="-apple-system"/>
            </a:endParaRPr>
          </a:p>
          <a:p>
            <a:pPr algn="just" fontAlgn="base"/>
            <a:r>
              <a:rPr lang="en-US" sz="1200" b="1" i="0" dirty="0">
                <a:solidFill>
                  <a:srgbClr val="000000"/>
                </a:solidFill>
                <a:effectLst/>
                <a:highlight>
                  <a:srgbClr val="FFFFFF"/>
                </a:highlight>
                <a:latin typeface="arial" panose="020B0604020202020204" pitchFamily="34" charset="0"/>
              </a:rPr>
              <a:t>Remember Me Functionality:</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Cookies enable the “Remember Me” feature, allowing users to remain authenticated across multiple sessions without needing to log in each time they visit the site.</a:t>
            </a:r>
            <a:endParaRPr lang="en-US" sz="1200" b="0"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When a user selects “Remember Me” at login, a long-lived authentication cookie is stored on their device. This cookie contains a token or identifier linked to the user’s account. On subsequent visits, the server checks for the presence of this cookie. If valid, the user is automatically logged in without entering credentials again, enhancing the user experience.</a:t>
            </a:r>
            <a:endParaRPr lang="en-US" sz="1200" b="0" i="0" dirty="0">
              <a:solidFill>
                <a:srgbClr val="3A3A3A"/>
              </a:solidFill>
              <a:effectLst/>
              <a:highlight>
                <a:srgbClr val="FFFFFF"/>
              </a:highlight>
              <a:latin typeface="-apple-system"/>
            </a:endParaRPr>
          </a:p>
          <a:p>
            <a:pPr algn="just" fontAlgn="base"/>
            <a:r>
              <a:rPr lang="en-US" sz="1200" b="1" i="0" dirty="0">
                <a:solidFill>
                  <a:srgbClr val="000000"/>
                </a:solidFill>
                <a:effectLst/>
                <a:highlight>
                  <a:srgbClr val="FFFFFF"/>
                </a:highlight>
                <a:latin typeface="arial" panose="020B0604020202020204" pitchFamily="34" charset="0"/>
              </a:rPr>
              <a:t>Shopping Carts:</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Cookies are commonly used to manage shopping carts in e-commerce applications. They allow users to store items they intend to purchase across different pages or visits.</a:t>
            </a:r>
            <a:endParaRPr lang="en-US" sz="1200" b="0"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For example, each time a user adds an item to their cart, a cookie stores the cart’s contents (like product IDs and quantities). Even if the user navigates away from the shopping cart page or closes their browser, the cookie ensures that their selected items remain in the cart until they complete the purchase or manually remove items.</a:t>
            </a:r>
            <a:endParaRPr lang="en-US" sz="1200" b="0" i="0" dirty="0">
              <a:solidFill>
                <a:srgbClr val="3A3A3A"/>
              </a:solidFill>
              <a:effectLst/>
              <a:highlight>
                <a:srgbClr val="FFFFFF"/>
              </a:highlight>
              <a:latin typeface="-apple-system"/>
            </a:endParaRPr>
          </a:p>
          <a:p>
            <a:pPr algn="just" fontAlgn="base"/>
            <a:r>
              <a:rPr lang="en-US" sz="1200" b="1" i="0" dirty="0">
                <a:solidFill>
                  <a:srgbClr val="000000"/>
                </a:solidFill>
                <a:effectLst/>
                <a:highlight>
                  <a:srgbClr val="FFFFFF"/>
                </a:highlight>
                <a:latin typeface="arial" panose="020B0604020202020204" pitchFamily="34" charset="0"/>
              </a:rPr>
              <a:t>Form Data Persistence:</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Cookies can store form data temporarily to retain user input across different pages or during a single session. For example, if a user fills out a multi-step form or navigates away from a page, cookies can store form field values (like name, address, or preferences). This allows users to resume where they left off without re-entering information, improving usability.</a:t>
            </a:r>
            <a:endParaRPr lang="en-US" sz="1200" b="0" i="0" dirty="0">
              <a:solidFill>
                <a:srgbClr val="3A3A3A"/>
              </a:solidFill>
              <a:effectLst/>
              <a:highlight>
                <a:srgbClr val="FFFFFF"/>
              </a:highlight>
              <a:latin typeface="-apple-system"/>
            </a:endParaRPr>
          </a:p>
          <a:p>
            <a:pPr algn="just" fontAlgn="base"/>
            <a:r>
              <a:rPr lang="en-US" sz="1200" b="1" i="0" dirty="0">
                <a:solidFill>
                  <a:srgbClr val="000000"/>
                </a:solidFill>
                <a:effectLst/>
                <a:highlight>
                  <a:srgbClr val="FFFFFF"/>
                </a:highlight>
                <a:latin typeface="arial" panose="020B0604020202020204" pitchFamily="34" charset="0"/>
              </a:rPr>
              <a:t>Single Sign-On (SSO):</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Cookies facilitate single sign-on, enabling users to authenticate once and access multiple related applications or services without re-entering credentials.</a:t>
            </a:r>
            <a:endParaRPr lang="en-US" sz="1200" b="0"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For example, upon initial login, a session cookie or token is issued. This token can authenticate users across various applications or domains within the same SSO ecosystem. As the user moves between different SSO-enabled applications, cookies maintain their authenticated state, providing a good user experience.</a:t>
            </a:r>
            <a:endParaRPr lang="en-US" sz="1200" b="0" i="0" dirty="0">
              <a:solidFill>
                <a:srgbClr val="3A3A3A"/>
              </a:solidFill>
              <a:effectLst/>
              <a:highlight>
                <a:srgbClr val="FFFFFF"/>
              </a:highlight>
              <a:latin typeface="-apple-system"/>
            </a:endParaRPr>
          </a:p>
        </p:txBody>
      </p:sp>
    </p:spTree>
    <p:extLst>
      <p:ext uri="{BB962C8B-B14F-4D97-AF65-F5344CB8AC3E}">
        <p14:creationId xmlns:p14="http://schemas.microsoft.com/office/powerpoint/2010/main" val="2524253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C58C46-CC08-1F5E-7725-0A35261A077E}"/>
              </a:ext>
            </a:extLst>
          </p:cNvPr>
          <p:cNvSpPr txBox="1"/>
          <p:nvPr/>
        </p:nvSpPr>
        <p:spPr>
          <a:xfrm>
            <a:off x="347134" y="428178"/>
            <a:ext cx="11345333" cy="6001643"/>
          </a:xfrm>
          <a:prstGeom prst="rect">
            <a:avLst/>
          </a:prstGeom>
          <a:noFill/>
        </p:spPr>
        <p:txBody>
          <a:bodyPr wrap="square">
            <a:spAutoFit/>
          </a:bodyPr>
          <a:lstStyle/>
          <a:p>
            <a:pPr algn="just" fontAlgn="base"/>
            <a:r>
              <a:rPr lang="en-US" sz="1600" b="1" i="0" dirty="0">
                <a:solidFill>
                  <a:srgbClr val="000000"/>
                </a:solidFill>
                <a:effectLst/>
                <a:highlight>
                  <a:srgbClr val="FFFFFF"/>
                </a:highlight>
                <a:latin typeface="arial" panose="020B0604020202020204" pitchFamily="34" charset="0"/>
              </a:rPr>
              <a:t>Limitations of Cookies in ASP.NET Core Web Application:</a:t>
            </a:r>
          </a:p>
          <a:p>
            <a:pPr algn="just" fontAlgn="base"/>
            <a:endParaRPr lang="en-US" sz="1600" b="1" i="0" dirty="0">
              <a:solidFill>
                <a:srgbClr val="3A3A3A"/>
              </a:solidFill>
              <a:effectLst/>
              <a:highlight>
                <a:srgbClr val="FFFFFF"/>
              </a:highlight>
              <a:latin typeface="-apple-system"/>
            </a:endParaRPr>
          </a:p>
          <a:p>
            <a:pPr algn="just" fontAlgn="base"/>
            <a:r>
              <a:rPr lang="en-US" sz="1600" b="0" i="0" dirty="0">
                <a:solidFill>
                  <a:srgbClr val="000000"/>
                </a:solidFill>
                <a:effectLst/>
                <a:highlight>
                  <a:srgbClr val="FFFFFF"/>
                </a:highlight>
                <a:latin typeface="arial" panose="020B0604020202020204" pitchFamily="34" charset="0"/>
              </a:rPr>
              <a:t>The following are the Limitations of Cookies in the ASP.NET Core Web Application</a:t>
            </a:r>
            <a:endParaRPr lang="en-US" sz="1600" b="0" i="0" dirty="0">
              <a:solidFill>
                <a:srgbClr val="3A3A3A"/>
              </a:solidFill>
              <a:effectLst/>
              <a:highlight>
                <a:srgbClr val="FFFFFF"/>
              </a:highlight>
              <a:latin typeface="-apple-system"/>
            </a:endParaRPr>
          </a:p>
          <a:p>
            <a:pPr algn="just" fontAlgn="base"/>
            <a:r>
              <a:rPr lang="en-US" sz="1600" b="1" i="0" dirty="0">
                <a:solidFill>
                  <a:srgbClr val="000000"/>
                </a:solidFill>
                <a:effectLst/>
                <a:highlight>
                  <a:srgbClr val="FFFFFF"/>
                </a:highlight>
                <a:latin typeface="arial" panose="020B0604020202020204" pitchFamily="34" charset="0"/>
              </a:rPr>
              <a:t>Data Size Limit:</a:t>
            </a:r>
            <a:endParaRPr lang="en-US" sz="1600" b="1" i="0" dirty="0">
              <a:solidFill>
                <a:srgbClr val="3A3A3A"/>
              </a:solidFill>
              <a:effectLst/>
              <a:highlight>
                <a:srgbClr val="FFFFFF"/>
              </a:highlight>
              <a:latin typeface="-apple-system"/>
            </a:endParaRPr>
          </a:p>
          <a:p>
            <a:pPr algn="just" fontAlgn="base"/>
            <a:r>
              <a:rPr lang="en-US" sz="1600" b="0" i="0" dirty="0">
                <a:solidFill>
                  <a:srgbClr val="000000"/>
                </a:solidFill>
                <a:effectLst/>
                <a:highlight>
                  <a:srgbClr val="FFFFFF"/>
                </a:highlight>
                <a:latin typeface="arial" panose="020B0604020202020204" pitchFamily="34" charset="0"/>
              </a:rPr>
              <a:t>Cookies have a size limit of approximately 4KB per cookie. This limitation means you can only store limited data in each cookie, which may not be sufficient for storing large amounts of data. If you attempt to store large amounts of data in a cookie, it may exceed this limit, leading to truncation or unexpected behavior. Attempting to store too much information in a single cookie could lead to data loss.</a:t>
            </a:r>
            <a:endParaRPr lang="en-US" sz="1600" b="0" i="0" dirty="0">
              <a:solidFill>
                <a:srgbClr val="3A3A3A"/>
              </a:solidFill>
              <a:effectLst/>
              <a:highlight>
                <a:srgbClr val="FFFFFF"/>
              </a:highlight>
              <a:latin typeface="-apple-system"/>
            </a:endParaRPr>
          </a:p>
          <a:p>
            <a:pPr algn="just" fontAlgn="base"/>
            <a:r>
              <a:rPr lang="en-US" sz="1600" b="1" i="0" dirty="0">
                <a:solidFill>
                  <a:srgbClr val="000000"/>
                </a:solidFill>
                <a:effectLst/>
                <a:highlight>
                  <a:srgbClr val="FFFFFF"/>
                </a:highlight>
                <a:latin typeface="arial" panose="020B0604020202020204" pitchFamily="34" charset="0"/>
              </a:rPr>
              <a:t>Security Concerns:</a:t>
            </a:r>
            <a:endParaRPr lang="en-US" sz="1600" b="1" i="0" dirty="0">
              <a:solidFill>
                <a:srgbClr val="3A3A3A"/>
              </a:solidFill>
              <a:effectLst/>
              <a:highlight>
                <a:srgbClr val="FFFFFF"/>
              </a:highlight>
              <a:latin typeface="-apple-system"/>
            </a:endParaRPr>
          </a:p>
          <a:p>
            <a:pPr algn="just" fontAlgn="base"/>
            <a:r>
              <a:rPr lang="en-US" sz="1600" b="0" i="0" dirty="0">
                <a:solidFill>
                  <a:srgbClr val="000000"/>
                </a:solidFill>
                <a:effectLst/>
                <a:highlight>
                  <a:srgbClr val="FFFFFF"/>
                </a:highlight>
                <a:latin typeface="arial" panose="020B0604020202020204" pitchFamily="34" charset="0"/>
              </a:rPr>
              <a:t>Cookies can be vulnerable to security threats such as cross-site scripting (XSS) and cross-site request forgery (CSRF). If cookies are not properly secured, they can be intercepted or manipulated by malicious users. Setting cookies without secure flags can expose them to interception. Developers must use secure and </a:t>
            </a:r>
            <a:r>
              <a:rPr lang="en-US" sz="1600" b="0" i="0" dirty="0" err="1">
                <a:solidFill>
                  <a:srgbClr val="000000"/>
                </a:solidFill>
                <a:effectLst/>
                <a:highlight>
                  <a:srgbClr val="FFFFFF"/>
                </a:highlight>
                <a:latin typeface="arial" panose="020B0604020202020204" pitchFamily="34" charset="0"/>
              </a:rPr>
              <a:t>HttpOnly</a:t>
            </a:r>
            <a:r>
              <a:rPr lang="en-US" sz="1600" b="0" i="0" dirty="0">
                <a:solidFill>
                  <a:srgbClr val="000000"/>
                </a:solidFill>
                <a:effectLst/>
                <a:highlight>
                  <a:srgbClr val="FFFFFF"/>
                </a:highlight>
                <a:latin typeface="arial" panose="020B0604020202020204" pitchFamily="34" charset="0"/>
              </a:rPr>
              <a:t> flags appropriately to avoid these risks.</a:t>
            </a:r>
            <a:endParaRPr lang="en-US" sz="1600" b="0" i="0" dirty="0">
              <a:solidFill>
                <a:srgbClr val="3A3A3A"/>
              </a:solidFill>
              <a:effectLst/>
              <a:highlight>
                <a:srgbClr val="FFFFFF"/>
              </a:highlight>
              <a:latin typeface="-apple-system"/>
            </a:endParaRPr>
          </a:p>
          <a:p>
            <a:pPr algn="just" fontAlgn="base"/>
            <a:r>
              <a:rPr lang="en-US" sz="1600" b="1" i="0" dirty="0">
                <a:solidFill>
                  <a:srgbClr val="000000"/>
                </a:solidFill>
                <a:effectLst/>
                <a:highlight>
                  <a:srgbClr val="FFFFFF"/>
                </a:highlight>
                <a:latin typeface="arial" panose="020B0604020202020204" pitchFamily="34" charset="0"/>
              </a:rPr>
              <a:t>Storage on the Client Side:</a:t>
            </a:r>
            <a:endParaRPr lang="en-US" sz="1600" b="1" i="0" dirty="0">
              <a:solidFill>
                <a:srgbClr val="3A3A3A"/>
              </a:solidFill>
              <a:effectLst/>
              <a:highlight>
                <a:srgbClr val="FFFFFF"/>
              </a:highlight>
              <a:latin typeface="-apple-system"/>
            </a:endParaRPr>
          </a:p>
          <a:p>
            <a:pPr algn="just" fontAlgn="base"/>
            <a:r>
              <a:rPr lang="en-US" sz="1600" b="0" i="0" dirty="0">
                <a:solidFill>
                  <a:srgbClr val="000000"/>
                </a:solidFill>
                <a:effectLst/>
                <a:highlight>
                  <a:srgbClr val="FFFFFF"/>
                </a:highlight>
                <a:latin typeface="arial" panose="020B0604020202020204" pitchFamily="34" charset="0"/>
              </a:rPr>
              <a:t>Cookies are stored on the client’s device (user’s browser), which means they can be accessed or manipulated by users or malicious scripts. Sensitive information should not be stored in plain text within cookies to prevent unauthorized access. Data stored in cookies can be deleted by the user at any time. Relying on cookies for essential data that could be lost if a user clears their browser cache.</a:t>
            </a:r>
            <a:endParaRPr lang="en-US" sz="1600" b="0" i="0" dirty="0">
              <a:solidFill>
                <a:srgbClr val="3A3A3A"/>
              </a:solidFill>
              <a:effectLst/>
              <a:highlight>
                <a:srgbClr val="FFFFFF"/>
              </a:highlight>
              <a:latin typeface="-apple-system"/>
            </a:endParaRPr>
          </a:p>
          <a:p>
            <a:pPr algn="just" fontAlgn="base"/>
            <a:r>
              <a:rPr lang="en-US" sz="1600" b="1" i="0" dirty="0">
                <a:solidFill>
                  <a:srgbClr val="000000"/>
                </a:solidFill>
                <a:effectLst/>
                <a:highlight>
                  <a:srgbClr val="FFFFFF"/>
                </a:highlight>
                <a:latin typeface="arial" panose="020B0604020202020204" pitchFamily="34" charset="0"/>
              </a:rPr>
              <a:t>Browser Settings:</a:t>
            </a:r>
            <a:endParaRPr lang="en-US" sz="1600" b="1" i="0" dirty="0">
              <a:solidFill>
                <a:srgbClr val="3A3A3A"/>
              </a:solidFill>
              <a:effectLst/>
              <a:highlight>
                <a:srgbClr val="FFFFFF"/>
              </a:highlight>
              <a:latin typeface="-apple-system"/>
            </a:endParaRPr>
          </a:p>
          <a:p>
            <a:pPr algn="just" fontAlgn="base"/>
            <a:r>
              <a:rPr lang="en-US" sz="1600" b="0" i="0" dirty="0">
                <a:solidFill>
                  <a:srgbClr val="000000"/>
                </a:solidFill>
                <a:effectLst/>
                <a:highlight>
                  <a:srgbClr val="FFFFFF"/>
                </a:highlight>
                <a:latin typeface="arial" panose="020B0604020202020204" pitchFamily="34" charset="0"/>
              </a:rPr>
              <a:t>Not all web browsers handle cookies in the same way, and users can configure their browsers to reject cookies entirely or delete them periodically, which can affect the functionality of your web application. For example, code that assumes cookies are always enabled and fails when they are not:</a:t>
            </a:r>
            <a:endParaRPr lang="en-US" sz="1600" b="0" i="0" dirty="0">
              <a:solidFill>
                <a:srgbClr val="3A3A3A"/>
              </a:solidFill>
              <a:effectLst/>
              <a:highlight>
                <a:srgbClr val="FFFFFF"/>
              </a:highlight>
              <a:latin typeface="-apple-system"/>
            </a:endParaRPr>
          </a:p>
          <a:p>
            <a:pPr algn="just" fontAlgn="base"/>
            <a:r>
              <a:rPr lang="en-US" sz="1600" b="1" i="0" dirty="0">
                <a:solidFill>
                  <a:srgbClr val="000000"/>
                </a:solidFill>
                <a:effectLst/>
                <a:highlight>
                  <a:srgbClr val="FFFFFF"/>
                </a:highlight>
                <a:latin typeface="arial" panose="020B0604020202020204" pitchFamily="34" charset="0"/>
              </a:rPr>
              <a:t>Performance Impact:</a:t>
            </a:r>
            <a:endParaRPr lang="en-US" sz="1600" b="1" i="0" dirty="0">
              <a:solidFill>
                <a:srgbClr val="3A3A3A"/>
              </a:solidFill>
              <a:effectLst/>
              <a:highlight>
                <a:srgbClr val="FFFFFF"/>
              </a:highlight>
              <a:latin typeface="-apple-system"/>
            </a:endParaRPr>
          </a:p>
          <a:p>
            <a:pPr algn="just" fontAlgn="base"/>
            <a:r>
              <a:rPr lang="en-US" sz="1600" b="0" i="0" dirty="0">
                <a:solidFill>
                  <a:srgbClr val="000000"/>
                </a:solidFill>
                <a:effectLst/>
                <a:highlight>
                  <a:srgbClr val="FFFFFF"/>
                </a:highlight>
                <a:latin typeface="arial" panose="020B0604020202020204" pitchFamily="34" charset="0"/>
              </a:rPr>
              <a:t>Sending and receiving cookies with each HTTP request can add to the overhead, especially when large numbers of cookies are involved. This can impact the performance of web applications by increasing load time.</a:t>
            </a:r>
            <a:endParaRPr lang="en-US" sz="1600" b="0" i="0" dirty="0">
              <a:solidFill>
                <a:srgbClr val="3A3A3A"/>
              </a:solidFill>
              <a:effectLst/>
              <a:highlight>
                <a:srgbClr val="FFFFFF"/>
              </a:highlight>
              <a:latin typeface="-apple-system"/>
            </a:endParaRPr>
          </a:p>
        </p:txBody>
      </p:sp>
    </p:spTree>
    <p:extLst>
      <p:ext uri="{BB962C8B-B14F-4D97-AF65-F5344CB8AC3E}">
        <p14:creationId xmlns:p14="http://schemas.microsoft.com/office/powerpoint/2010/main" val="2556335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548</TotalTime>
  <Words>2453</Words>
  <Application>Microsoft Office PowerPoint</Application>
  <PresentationFormat>Widescreen</PresentationFormat>
  <Paragraphs>265</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-apple-system</vt:lpstr>
      <vt:lpstr>Arial</vt:lpstr>
      <vt:lpstr>Arial</vt:lpstr>
      <vt:lpstr>Calibri</vt:lpstr>
      <vt:lpstr>Calibri Light</vt:lpstr>
      <vt:lpstr>Cascadia Mono</vt:lpstr>
      <vt:lpstr>Inconsolata</vt:lpstr>
      <vt:lpstr>inherit</vt:lpstr>
      <vt:lpstr>Office Theme</vt:lpstr>
      <vt:lpstr>What is cookie</vt:lpstr>
      <vt:lpstr>Cookies types </vt:lpstr>
      <vt:lpstr>Who create and where it resides</vt:lpstr>
      <vt:lpstr>Can cookie created on chrome read by Mozila?</vt:lpstr>
      <vt:lpstr>PowerPoint Presentation</vt:lpstr>
      <vt:lpstr>Writing cookie </vt:lpstr>
      <vt:lpstr>Create a login_page  UserName  Password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cookie</dc:title>
  <dc:creator>Ketki Acharya</dc:creator>
  <cp:lastModifiedBy>sriram mantri vidyanidhi infotech academy</cp:lastModifiedBy>
  <cp:revision>24</cp:revision>
  <dcterms:created xsi:type="dcterms:W3CDTF">2021-09-30T17:40:37Z</dcterms:created>
  <dcterms:modified xsi:type="dcterms:W3CDTF">2024-09-04T13:47:22Z</dcterms:modified>
</cp:coreProperties>
</file>