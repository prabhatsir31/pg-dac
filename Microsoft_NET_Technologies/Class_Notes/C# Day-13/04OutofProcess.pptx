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9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80451-73D8-4B16-962C-EC08B9CB07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AB3F50-0035-42BD-87D5-7A1C07802C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365889-EC6A-4001-B95E-CA5E30AF28CE}"/>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E02D5B98-594C-4D9F-9712-0F1765ED7F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857BAE-D604-491C-B27F-F80775F0A7BA}"/>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778823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751E5-B734-42D8-90C3-9A3C09ECF8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7EA139-443F-40FC-880A-00B6FF687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A29E16-2442-4C22-92A7-892FD25F73E6}"/>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FA2C09EE-0066-4724-90D1-BBC4E933CD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3BB7E4-C76E-417D-8E37-37DFDAD72D7C}"/>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2122009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10EA9-4472-47DB-BEB4-0E044A01EF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BE1D00-CED7-4563-8272-94B36C8B9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FC8E63-1E3E-4B17-87E6-72DD0E2C52E2}"/>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2D7235FD-CF24-4D0D-A84A-81B860108F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3D317A-4DE9-4030-9298-03E9BE20BAF7}"/>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1543153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4715C-9B3D-4DE2-84B8-235FDFC074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626744-3127-48B2-BBD9-928033B5E3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DC1AB5-C5A2-413F-88FF-088537D303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2D2BCB-40D9-4609-AC3D-B369991BC57A}"/>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6" name="Footer Placeholder 5">
            <a:extLst>
              <a:ext uri="{FF2B5EF4-FFF2-40B4-BE49-F238E27FC236}">
                <a16:creationId xmlns:a16="http://schemas.microsoft.com/office/drawing/2014/main" id="{2A0D78C4-013F-4391-9BFE-6D8E42CB71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0F1E7B-0111-46A2-834D-0DCD6E831002}"/>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131712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2C2A5-A8AA-4B6B-8B54-7320FE4FB4E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8E9A20-F254-4B17-AE9A-A844E460E7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30E88E-463C-4EE3-B02B-D9B2657D1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394009-FEF7-4D48-9BE7-E33D960451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24FB57-5B33-4764-A242-87301C5EC0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D92D63-B41C-4B03-B0B5-542E603F2074}"/>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8" name="Footer Placeholder 7">
            <a:extLst>
              <a:ext uri="{FF2B5EF4-FFF2-40B4-BE49-F238E27FC236}">
                <a16:creationId xmlns:a16="http://schemas.microsoft.com/office/drawing/2014/main" id="{14CDA0B2-47E6-44BE-91DA-E25C3D4E79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AB2764-FA1E-4E8C-A1B1-B8805AF3F911}"/>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3556817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4749-3E93-48AA-BC20-F31ACE877D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D813AC-6ECA-4A69-9EC7-CAB15D49E842}"/>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4" name="Footer Placeholder 3">
            <a:extLst>
              <a:ext uri="{FF2B5EF4-FFF2-40B4-BE49-F238E27FC236}">
                <a16:creationId xmlns:a16="http://schemas.microsoft.com/office/drawing/2014/main" id="{ABB8B59E-A512-4E57-97F0-DBBD7130B7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C7455B-BB66-4B10-906D-3E0A0B35BB47}"/>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134452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1C5E38-AB95-43A7-9667-123B11FB1B42}"/>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3" name="Footer Placeholder 2">
            <a:extLst>
              <a:ext uri="{FF2B5EF4-FFF2-40B4-BE49-F238E27FC236}">
                <a16:creationId xmlns:a16="http://schemas.microsoft.com/office/drawing/2014/main" id="{D2FF50A1-FA1F-4DB8-99BE-D0A3DD2849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C407D1-5626-44A0-BA85-D8B0D76BA183}"/>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36005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D8A2-DDCE-4878-ABB3-F9C5DBB38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31ED2C-9266-41DF-A2ED-DA8D770939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65A795-E6C7-41B5-B1FB-590232F387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6E970-8FCC-467A-93FC-692AF0839686}"/>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6" name="Footer Placeholder 5">
            <a:extLst>
              <a:ext uri="{FF2B5EF4-FFF2-40B4-BE49-F238E27FC236}">
                <a16:creationId xmlns:a16="http://schemas.microsoft.com/office/drawing/2014/main" id="{CE7C0665-F847-4966-AC6D-B1BBD8D838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0D2C66-3FE1-4514-9F3E-8AE4F32C0041}"/>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145031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8554-0F54-4059-B897-DD8ECE981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CE15C9-5581-4DAC-9564-B41E4710C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6BC40F-06C7-408C-857D-D0810515D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EF62F-1EAF-4B3C-965E-C35D1AFF7B84}"/>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6" name="Footer Placeholder 5">
            <a:extLst>
              <a:ext uri="{FF2B5EF4-FFF2-40B4-BE49-F238E27FC236}">
                <a16:creationId xmlns:a16="http://schemas.microsoft.com/office/drawing/2014/main" id="{A3046694-F51D-4B82-85CF-903F438629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B5C17-08F8-4ADF-B7A4-7626B2D20024}"/>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32964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51DC-5B76-4878-A6FC-BD7507C174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3C0E0D-A2AB-4E7D-A518-3D08868A2A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37F709-C586-4463-913F-64A3269CA315}"/>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2C508622-227F-4DEF-B938-97FC90D25C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47822-B730-4B0D-BBE8-78CF0CC32A75}"/>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389645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CC824C-B5E3-4AD1-8796-0FC8C0C024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6AB94F-FB67-4056-AC6B-BFB2EAB7C5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C98424-5E92-40AC-A8E3-C70BD77AD7A0}"/>
              </a:ext>
            </a:extLst>
          </p:cNvPr>
          <p:cNvSpPr>
            <a:spLocks noGrp="1"/>
          </p:cNvSpPr>
          <p:nvPr>
            <p:ph type="dt" sz="half" idx="10"/>
          </p:nvPr>
        </p:nvSpPr>
        <p:spPr/>
        <p:txBody>
          <a:body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3C270C6C-3DAB-479D-B1C4-31733C2F47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EABC8A-6DE2-46C9-9899-CEED289B4D98}"/>
              </a:ext>
            </a:extLst>
          </p:cNvPr>
          <p:cNvSpPr>
            <a:spLocks noGrp="1"/>
          </p:cNvSpPr>
          <p:nvPr>
            <p:ph type="sldNum" sz="quarter" idx="12"/>
          </p:nvPr>
        </p:nvSpPr>
        <p:spPr/>
        <p:txBody>
          <a:bodyPr/>
          <a:lstStyle/>
          <a:p>
            <a:fld id="{0BB27BEF-DC51-44DF-95CA-D53AFC282A70}" type="slidenum">
              <a:rPr lang="en-IN" smtClean="0"/>
              <a:t>‹#›</a:t>
            </a:fld>
            <a:endParaRPr lang="en-IN"/>
          </a:p>
        </p:txBody>
      </p:sp>
    </p:spTree>
    <p:extLst>
      <p:ext uri="{BB962C8B-B14F-4D97-AF65-F5344CB8AC3E}">
        <p14:creationId xmlns:p14="http://schemas.microsoft.com/office/powerpoint/2010/main" val="2058500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39DB1-D147-4B53-9E8D-A9FEFD0A6F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594122-1584-4B63-92B2-A04F1CF0BB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D2A06-D9CB-4C8E-91A5-0DAF962A9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6F2F3-58FC-4EBB-9C67-E6EEC5AE3B56}" type="datetimeFigureOut">
              <a:rPr lang="en-IN" smtClean="0"/>
              <a:t>20-04-2025</a:t>
            </a:fld>
            <a:endParaRPr lang="en-IN"/>
          </a:p>
        </p:txBody>
      </p:sp>
      <p:sp>
        <p:nvSpPr>
          <p:cNvPr id="5" name="Footer Placeholder 4">
            <a:extLst>
              <a:ext uri="{FF2B5EF4-FFF2-40B4-BE49-F238E27FC236}">
                <a16:creationId xmlns:a16="http://schemas.microsoft.com/office/drawing/2014/main" id="{C7BCE3FE-D8DB-4B35-BB4E-FCDAB01BB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DF8B7A-DEFC-437E-97AC-27F50F4200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B27BEF-DC51-44DF-95CA-D53AFC282A70}" type="slidenum">
              <a:rPr lang="en-IN" smtClean="0"/>
              <a:t>‹#›</a:t>
            </a:fld>
            <a:endParaRPr lang="en-IN"/>
          </a:p>
        </p:txBody>
      </p:sp>
    </p:spTree>
    <p:extLst>
      <p:ext uri="{BB962C8B-B14F-4D97-AF65-F5344CB8AC3E}">
        <p14:creationId xmlns:p14="http://schemas.microsoft.com/office/powerpoint/2010/main" val="1617408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2777D44-57CD-4852-B712-0393FDB5368D}"/>
              </a:ext>
            </a:extLst>
          </p:cNvPr>
          <p:cNvSpPr txBox="1"/>
          <p:nvPr/>
        </p:nvSpPr>
        <p:spPr>
          <a:xfrm>
            <a:off x="2025443" y="2211854"/>
            <a:ext cx="8927691"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Configure the </a:t>
            </a:r>
            <a:r>
              <a:rPr lang="en-US" b="1" i="0" dirty="0" err="1">
                <a:solidFill>
                  <a:srgbClr val="000000"/>
                </a:solidFill>
                <a:effectLst/>
                <a:latin typeface="arial" panose="020B0604020202020204" pitchFamily="34" charset="0"/>
              </a:rPr>
              <a:t>OutofProcess</a:t>
            </a:r>
            <a:r>
              <a:rPr lang="en-US" b="1" i="0" dirty="0">
                <a:solidFill>
                  <a:srgbClr val="000000"/>
                </a:solidFill>
                <a:effectLst/>
                <a:latin typeface="arial" panose="020B0604020202020204" pitchFamily="34" charset="0"/>
              </a:rPr>
              <a:t> Hosting in ASP.NET Core Application?</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4FFE44CB-9E3D-4288-9A70-94D7BC9D7B97}"/>
              </a:ext>
            </a:extLst>
          </p:cNvPr>
          <p:cNvSpPr txBox="1"/>
          <p:nvPr/>
        </p:nvSpPr>
        <p:spPr>
          <a:xfrm>
            <a:off x="196644" y="2581186"/>
            <a:ext cx="11257937" cy="646331"/>
          </a:xfrm>
          <a:prstGeom prst="rect">
            <a:avLst/>
          </a:prstGeom>
          <a:noFill/>
        </p:spPr>
        <p:txBody>
          <a:bodyPr wrap="square">
            <a:spAutoFit/>
          </a:bodyPr>
          <a:lstStyle/>
          <a:p>
            <a:r>
              <a:rPr lang="en-US" b="1" i="0" dirty="0">
                <a:solidFill>
                  <a:srgbClr val="000000"/>
                </a:solidFill>
                <a:effectLst/>
                <a:latin typeface="arial" panose="020B0604020202020204" pitchFamily="34" charset="0"/>
              </a:rPr>
              <a:t>Way1: </a:t>
            </a:r>
            <a:r>
              <a:rPr lang="en-US" b="0" i="0" dirty="0">
                <a:solidFill>
                  <a:srgbClr val="000000"/>
                </a:solidFill>
                <a:effectLst/>
                <a:latin typeface="arial" panose="020B0604020202020204" pitchFamily="34" charset="0"/>
              </a:rPr>
              <a:t>In this case, you just need to add the &lt;</a:t>
            </a:r>
            <a:r>
              <a:rPr lang="en-US" b="0" i="0" dirty="0" err="1">
                <a:solidFill>
                  <a:srgbClr val="000000"/>
                </a:solidFill>
                <a:effectLst/>
                <a:latin typeface="arial" panose="020B0604020202020204" pitchFamily="34" charset="0"/>
              </a:rPr>
              <a:t>AspNetCoreHostingModel</a:t>
            </a:r>
            <a:r>
              <a:rPr lang="en-US" b="0" i="0" dirty="0">
                <a:solidFill>
                  <a:srgbClr val="000000"/>
                </a:solidFill>
                <a:effectLst/>
                <a:latin typeface="arial" panose="020B0604020202020204" pitchFamily="34" charset="0"/>
              </a:rPr>
              <a:t>&gt; element to the applications project file with a value of </a:t>
            </a:r>
            <a:r>
              <a:rPr lang="en-US" b="0"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 as shown below.</a:t>
            </a:r>
            <a:endParaRPr lang="en-IN" dirty="0"/>
          </a:p>
        </p:txBody>
      </p:sp>
      <p:pic>
        <p:nvPicPr>
          <p:cNvPr id="1026" name="Picture 2" descr="How to Configure the OutofProcess Hosting in ASP.NET Core Application?">
            <a:extLst>
              <a:ext uri="{FF2B5EF4-FFF2-40B4-BE49-F238E27FC236}">
                <a16:creationId xmlns:a16="http://schemas.microsoft.com/office/drawing/2014/main" id="{0640DC06-3C9C-4AEA-889B-3EB573279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44" y="3227517"/>
            <a:ext cx="5460114" cy="137067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51F7F81-500B-4541-96DD-C37B6FD3F10F}"/>
              </a:ext>
            </a:extLst>
          </p:cNvPr>
          <p:cNvSpPr txBox="1"/>
          <p:nvPr/>
        </p:nvSpPr>
        <p:spPr>
          <a:xfrm>
            <a:off x="1" y="4593149"/>
            <a:ext cx="6941574" cy="2031325"/>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Way2:  Specify the Hosting Model as </a:t>
            </a:r>
            <a:r>
              <a:rPr lang="en-US" b="1" i="0" dirty="0" err="1">
                <a:solidFill>
                  <a:srgbClr val="000000"/>
                </a:solidFill>
                <a:effectLst/>
                <a:latin typeface="arial" panose="020B0604020202020204" pitchFamily="34" charset="0"/>
              </a:rPr>
              <a:t>OutOfProcess</a:t>
            </a:r>
            <a:r>
              <a:rPr lang="en-US" b="1" i="0" dirty="0">
                <a:solidFill>
                  <a:srgbClr val="000000"/>
                </a:solidFill>
                <a:effectLst/>
                <a:latin typeface="arial" panose="020B0604020202020204" pitchFamily="34" charset="0"/>
              </a:rPr>
              <a:t> in the Project Properties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To do so, right-click on your project in the solution explorer and click on the Properties option from the context menu which will open the Project Properties window. In this window, select the Debug tab and then select the Hosting Model value as </a:t>
            </a:r>
            <a:r>
              <a:rPr lang="en-US" b="0"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 as shown in the below image.</a:t>
            </a:r>
            <a:endParaRPr lang="en-US" b="0" i="0" dirty="0">
              <a:solidFill>
                <a:srgbClr val="212529"/>
              </a:solidFill>
              <a:effectLst/>
              <a:latin typeface="-apple-system"/>
            </a:endParaRPr>
          </a:p>
        </p:txBody>
      </p:sp>
      <p:pic>
        <p:nvPicPr>
          <p:cNvPr id="1028" name="Picture 4" descr="What is Out of Process Hosting in ASP.NET Core?">
            <a:extLst>
              <a:ext uri="{FF2B5EF4-FFF2-40B4-BE49-F238E27FC236}">
                <a16:creationId xmlns:a16="http://schemas.microsoft.com/office/drawing/2014/main" id="{674BE141-8D49-40E4-B914-E53E81A73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7815" y="3030093"/>
            <a:ext cx="4717541" cy="3827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353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3CB5BF-863D-4206-AE1E-B10873C15F23}"/>
              </a:ext>
            </a:extLst>
          </p:cNvPr>
          <p:cNvSpPr txBox="1"/>
          <p:nvPr/>
        </p:nvSpPr>
        <p:spPr>
          <a:xfrm>
            <a:off x="-1" y="0"/>
            <a:ext cx="12005187"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To confirm this, open the command prompt and run the application as shown in the below image. As my First, you need to change the directory to the folder which contains your asp.net core application. My project is present in the “</a:t>
            </a:r>
            <a:r>
              <a:rPr lang="en-US" b="1" i="0" dirty="0">
                <a:solidFill>
                  <a:srgbClr val="000000"/>
                </a:solidFill>
                <a:effectLst/>
                <a:latin typeface="arial" panose="020B0604020202020204" pitchFamily="34" charset="0"/>
              </a:rPr>
              <a:t>D:\Projects\Core\</a:t>
            </a:r>
            <a:r>
              <a:rPr lang="en-US" b="1" i="0" dirty="0" err="1">
                <a:solidFill>
                  <a:srgbClr val="000000"/>
                </a:solidFill>
                <a:effectLst/>
                <a:latin typeface="arial" panose="020B0604020202020204" pitchFamily="34" charset="0"/>
              </a:rPr>
              <a:t>FirstCoreWebApplication</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FirstCoreWebApplication</a:t>
            </a:r>
            <a:r>
              <a:rPr lang="en-US" b="0" i="0" dirty="0">
                <a:solidFill>
                  <a:srgbClr val="000000"/>
                </a:solidFill>
                <a:effectLst/>
                <a:latin typeface="arial" panose="020B0604020202020204" pitchFamily="34" charset="0"/>
              </a:rPr>
              <a:t>” folder so I change the current directory to my project file and then use the </a:t>
            </a:r>
            <a:r>
              <a:rPr lang="en-US" b="1" i="0" dirty="0">
                <a:solidFill>
                  <a:srgbClr val="000000"/>
                </a:solidFill>
                <a:effectLst/>
                <a:latin typeface="arial" panose="020B0604020202020204" pitchFamily="34" charset="0"/>
              </a:rPr>
              <a:t>dotnet run</a:t>
            </a:r>
            <a:r>
              <a:rPr lang="en-US" b="0" i="0" dirty="0">
                <a:solidFill>
                  <a:srgbClr val="000000"/>
                </a:solidFill>
                <a:effectLst/>
                <a:latin typeface="arial" panose="020B0604020202020204" pitchFamily="34" charset="0"/>
              </a:rPr>
              <a:t> command.</a:t>
            </a:r>
            <a:endParaRPr lang="en-IN" dirty="0"/>
          </a:p>
        </p:txBody>
      </p:sp>
      <p:pic>
        <p:nvPicPr>
          <p:cNvPr id="3074" name="Picture 2" descr="ASP.NET Core using CLI Command">
            <a:extLst>
              <a:ext uri="{FF2B5EF4-FFF2-40B4-BE49-F238E27FC236}">
                <a16:creationId xmlns:a16="http://schemas.microsoft.com/office/drawing/2014/main" id="{12A71BBE-158D-4457-AD0C-2087C25826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814" y="1109970"/>
            <a:ext cx="6524625" cy="16097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unning ASP.NET Core Application using .NET Core CLI Command">
            <a:extLst>
              <a:ext uri="{FF2B5EF4-FFF2-40B4-BE49-F238E27FC236}">
                <a16:creationId xmlns:a16="http://schemas.microsoft.com/office/drawing/2014/main" id="{7F0B2BA5-75C3-4567-99A1-BC3C65B90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814" y="3323303"/>
            <a:ext cx="7207988" cy="292448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142C66E-783A-496E-A633-C18BB3C62316}"/>
              </a:ext>
            </a:extLst>
          </p:cNvPr>
          <p:cNvSpPr txBox="1"/>
          <p:nvPr/>
        </p:nvSpPr>
        <p:spPr>
          <a:xfrm>
            <a:off x="6991661" y="977960"/>
            <a:ext cx="5106932" cy="2031325"/>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Now open the browser window and navigate to the following URL which is shown in the command prompt. In my case, the following is the.</a:t>
            </a:r>
            <a:endParaRPr lang="en-US" b="0" i="0" dirty="0">
              <a:solidFill>
                <a:srgbClr val="212529"/>
              </a:solidFill>
              <a:effectLst/>
              <a:latin typeface="-apple-system"/>
            </a:endParaRPr>
          </a:p>
          <a:p>
            <a:pPr algn="just" fontAlgn="base"/>
            <a:r>
              <a:rPr lang="en-US" b="1" i="0" dirty="0">
                <a:solidFill>
                  <a:srgbClr val="0000FF"/>
                </a:solidFill>
                <a:effectLst/>
                <a:latin typeface="arial" panose="020B0604020202020204" pitchFamily="34" charset="0"/>
              </a:rPr>
              <a:t>http://localhost:5000 </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And here you will see the worker process name as your application name as shown below</a:t>
            </a:r>
            <a:endParaRPr lang="en-US" b="0" i="0" dirty="0">
              <a:solidFill>
                <a:srgbClr val="212529"/>
              </a:solidFill>
              <a:effectLst/>
              <a:latin typeface="-apple-system"/>
            </a:endParaRPr>
          </a:p>
        </p:txBody>
      </p:sp>
      <p:pic>
        <p:nvPicPr>
          <p:cNvPr id="3078" name="Picture 6" descr="ASP.NET Core Out of Process Hosting with Examples">
            <a:extLst>
              <a:ext uri="{FF2B5EF4-FFF2-40B4-BE49-F238E27FC236}">
                <a16:creationId xmlns:a16="http://schemas.microsoft.com/office/drawing/2014/main" id="{04B9977D-6C37-4209-A61F-3DF255D29D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9294" y="3477657"/>
            <a:ext cx="4257675" cy="10191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7C3B9A8-E684-4FD8-8377-F9CBF961041F}"/>
              </a:ext>
            </a:extLst>
          </p:cNvPr>
          <p:cNvSpPr txBox="1"/>
          <p:nvPr/>
        </p:nvSpPr>
        <p:spPr>
          <a:xfrm>
            <a:off x="334298" y="6257835"/>
            <a:ext cx="11670888"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So, in this case, Kestrel is the only server that will handle and process the incoming HTTP Request. The following code of the Startup class displays the worker process name.</a:t>
            </a:r>
            <a:endParaRPr lang="en-IN" dirty="0"/>
          </a:p>
        </p:txBody>
      </p:sp>
    </p:spTree>
    <p:extLst>
      <p:ext uri="{BB962C8B-B14F-4D97-AF65-F5344CB8AC3E}">
        <p14:creationId xmlns:p14="http://schemas.microsoft.com/office/powerpoint/2010/main" val="358539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01D819-3C75-4031-AE63-AA108B9BA52D}"/>
              </a:ext>
            </a:extLst>
          </p:cNvPr>
          <p:cNvSpPr txBox="1"/>
          <p:nvPr/>
        </p:nvSpPr>
        <p:spPr>
          <a:xfrm>
            <a:off x="68826" y="0"/>
            <a:ext cx="8292749" cy="4247317"/>
          </a:xfrm>
          <a:prstGeom prst="rect">
            <a:avLst/>
          </a:prstGeom>
          <a:solidFill>
            <a:schemeClr val="tx1"/>
          </a:solidFill>
        </p:spPr>
        <p:txBody>
          <a:bodyPr wrap="square">
            <a:spAutoFit/>
          </a:bodyPr>
          <a:lstStyle/>
          <a:p>
            <a:pPr algn="l" fontAlgn="base"/>
            <a:r>
              <a:rPr lang="en-IN" b="1" i="0" dirty="0">
                <a:solidFill>
                  <a:srgbClr val="D171DD"/>
                </a:solidFill>
                <a:effectLst/>
                <a:latin typeface="inherit"/>
              </a:rPr>
              <a:t>if</a:t>
            </a:r>
            <a:r>
              <a:rPr lang="en-IN" b="0" i="0" dirty="0">
                <a:solidFill>
                  <a:srgbClr val="CFD5E0"/>
                </a:solidFill>
                <a:effectLst/>
                <a:latin typeface="inherit"/>
              </a:rPr>
              <a:t> </a:t>
            </a:r>
            <a:r>
              <a:rPr lang="en-IN" b="1" i="0" dirty="0">
                <a:solidFill>
                  <a:srgbClr val="6B7C8B"/>
                </a:solidFill>
                <a:effectLst/>
                <a:latin typeface="inherit"/>
              </a:rPr>
              <a:t>(</a:t>
            </a:r>
            <a:r>
              <a:rPr lang="en-IN" b="0" i="0" dirty="0" err="1">
                <a:solidFill>
                  <a:srgbClr val="CFD5E0"/>
                </a:solidFill>
                <a:effectLst/>
                <a:latin typeface="inherit"/>
              </a:rPr>
              <a:t>env.</a:t>
            </a:r>
            <a:r>
              <a:rPr lang="en-IN" b="0" i="0" dirty="0" err="1">
                <a:solidFill>
                  <a:srgbClr val="4284AE"/>
                </a:solidFill>
                <a:effectLst/>
                <a:latin typeface="inherit"/>
              </a:rPr>
              <a:t>IsDevelopment</a:t>
            </a:r>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	</a:t>
            </a:r>
            <a:r>
              <a:rPr lang="en-IN" b="0" i="0" dirty="0" err="1">
                <a:solidFill>
                  <a:srgbClr val="CFD5E0"/>
                </a:solidFill>
                <a:effectLst/>
                <a:latin typeface="inherit"/>
              </a:rPr>
              <a:t>app.</a:t>
            </a:r>
            <a:r>
              <a:rPr lang="en-IN" b="0" i="0" dirty="0" err="1">
                <a:solidFill>
                  <a:srgbClr val="4284AE"/>
                </a:solidFill>
                <a:effectLst/>
                <a:latin typeface="inherit"/>
              </a:rPr>
              <a:t>UseDeveloperExceptionPage</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	</a:t>
            </a:r>
            <a:r>
              <a:rPr lang="en-IN" b="0" i="0" dirty="0" err="1">
                <a:solidFill>
                  <a:srgbClr val="CFD5E0"/>
                </a:solidFill>
                <a:effectLst/>
                <a:latin typeface="inherit"/>
              </a:rPr>
              <a:t>app.</a:t>
            </a:r>
            <a:r>
              <a:rPr lang="en-IN" b="0" i="0" dirty="0" err="1">
                <a:solidFill>
                  <a:srgbClr val="4284AE"/>
                </a:solidFill>
                <a:effectLst/>
                <a:latin typeface="inherit"/>
              </a:rPr>
              <a:t>UseRouting</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	</a:t>
            </a:r>
            <a:r>
              <a:rPr lang="en-IN" b="0" i="0" dirty="0" err="1">
                <a:solidFill>
                  <a:srgbClr val="CFD5E0"/>
                </a:solidFill>
                <a:effectLst/>
                <a:latin typeface="inherit"/>
              </a:rPr>
              <a:t>app.</a:t>
            </a:r>
            <a:r>
              <a:rPr lang="en-IN" b="0" i="0" dirty="0" err="1">
                <a:solidFill>
                  <a:srgbClr val="4284AE"/>
                </a:solidFill>
                <a:effectLst/>
                <a:latin typeface="inherit"/>
              </a:rPr>
              <a:t>UseEndpoints</a:t>
            </a:r>
            <a:r>
              <a:rPr lang="en-IN" b="1" i="0" dirty="0">
                <a:solidFill>
                  <a:srgbClr val="6B7C8B"/>
                </a:solidFill>
                <a:effectLst/>
                <a:latin typeface="inherit"/>
              </a:rPr>
              <a:t>(</a:t>
            </a:r>
            <a:r>
              <a:rPr lang="en-IN" b="0" i="0" dirty="0">
                <a:solidFill>
                  <a:srgbClr val="CFD5E0"/>
                </a:solidFill>
                <a:effectLst/>
                <a:latin typeface="inherit"/>
              </a:rPr>
              <a:t>endpoints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1" charset="0"/>
            </a:endParaRPr>
          </a:p>
          <a:p>
            <a:pPr algn="l" fontAlgn="base"/>
            <a:r>
              <a:rPr lang="en-IN" b="0" i="0" dirty="0">
                <a:solidFill>
                  <a:srgbClr val="CFD5E0"/>
                </a:solidFill>
                <a:effectLst/>
                <a:latin typeface="inherit"/>
              </a:rPr>
              <a:t>	</a:t>
            </a:r>
            <a:r>
              <a:rPr lang="en-IN" b="0" i="0" dirty="0" err="1">
                <a:solidFill>
                  <a:srgbClr val="CFD5E0"/>
                </a:solidFill>
                <a:effectLst/>
                <a:latin typeface="inherit"/>
              </a:rPr>
              <a:t>endpoints.</a:t>
            </a:r>
            <a:r>
              <a:rPr lang="en-IN" b="0" i="0" dirty="0" err="1">
                <a:solidFill>
                  <a:srgbClr val="4284AE"/>
                </a:solidFill>
                <a:effectLst/>
                <a:latin typeface="inherit"/>
              </a:rPr>
              <a:t>MapGet</a:t>
            </a:r>
            <a:r>
              <a:rPr lang="en-IN" b="1" i="0" dirty="0">
                <a:solidFill>
                  <a:srgbClr val="6B7C8B"/>
                </a:solidFill>
                <a:effectLst/>
                <a:latin typeface="inherit"/>
              </a:rPr>
              <a:t>(</a:t>
            </a:r>
            <a:r>
              <a:rPr lang="en-IN" b="0" i="0" dirty="0">
                <a:solidFill>
                  <a:srgbClr val="7CC379"/>
                </a:solidFill>
                <a:effectLst/>
                <a:latin typeface="inherit"/>
              </a:rPr>
              <a:t>"/"</a:t>
            </a:r>
            <a:r>
              <a:rPr lang="en-IN" b="0" i="0" dirty="0">
                <a:solidFill>
                  <a:srgbClr val="CFD5E0"/>
                </a:solidFill>
                <a:effectLst/>
                <a:latin typeface="inherit"/>
              </a:rPr>
              <a:t>, </a:t>
            </a:r>
            <a:r>
              <a:rPr lang="en-IN" b="1" i="0" dirty="0">
                <a:solidFill>
                  <a:srgbClr val="D171DD"/>
                </a:solidFill>
                <a:effectLst/>
                <a:latin typeface="inherit"/>
              </a:rPr>
              <a:t>async</a:t>
            </a:r>
            <a:r>
              <a:rPr lang="en-IN" b="0" i="0" dirty="0">
                <a:solidFill>
                  <a:srgbClr val="CFD5E0"/>
                </a:solidFill>
                <a:effectLst/>
                <a:latin typeface="inherit"/>
              </a:rPr>
              <a:t> context =</a:t>
            </a:r>
            <a:r>
              <a:rPr lang="en-IN" b="1" i="0" dirty="0">
                <a:solidFill>
                  <a:srgbClr val="6B7C8B"/>
                </a:solidFill>
                <a:effectLst/>
                <a:latin typeface="inherit"/>
              </a:rPr>
              <a:t>&gt;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	{</a:t>
            </a:r>
            <a:endParaRPr lang="en-IN" b="0" i="0" dirty="0">
              <a:solidFill>
                <a:srgbClr val="596174"/>
              </a:solidFill>
              <a:effectLst/>
              <a:latin typeface="Inconsolata" pitchFamily="1" charset="0"/>
            </a:endParaRPr>
          </a:p>
          <a:p>
            <a:pPr algn="l" fontAlgn="base"/>
            <a:r>
              <a:rPr lang="en-IN" b="1" i="0" dirty="0">
                <a:solidFill>
                  <a:srgbClr val="D171DD"/>
                </a:solidFill>
                <a:effectLst/>
                <a:latin typeface="inherit"/>
              </a:rPr>
              <a:t>		await</a:t>
            </a:r>
            <a:r>
              <a:rPr lang="en-IN" b="0" i="0" dirty="0">
                <a:solidFill>
                  <a:srgbClr val="CFD5E0"/>
                </a:solidFill>
                <a:effectLst/>
                <a:latin typeface="inherit"/>
              </a:rPr>
              <a:t> </a:t>
            </a:r>
            <a:r>
              <a:rPr lang="en-IN" b="0" i="0" dirty="0" err="1">
                <a:solidFill>
                  <a:srgbClr val="CFD5E0"/>
                </a:solidFill>
                <a:effectLst/>
                <a:latin typeface="inherit"/>
              </a:rPr>
              <a:t>context.</a:t>
            </a:r>
            <a:r>
              <a:rPr lang="en-IN" b="0" i="0" dirty="0" err="1">
                <a:solidFill>
                  <a:srgbClr val="4284AE"/>
                </a:solidFill>
                <a:effectLst/>
                <a:latin typeface="inherit"/>
              </a:rPr>
              <a:t>Response</a:t>
            </a:r>
            <a:r>
              <a:rPr lang="en-IN" b="0" i="0" dirty="0" err="1">
                <a:solidFill>
                  <a:srgbClr val="CFD5E0"/>
                </a:solidFill>
                <a:effectLst/>
                <a:latin typeface="inherit"/>
              </a:rPr>
              <a:t>.</a:t>
            </a:r>
            <a:r>
              <a:rPr lang="en-IN" b="0" i="0" dirty="0" err="1">
                <a:solidFill>
                  <a:srgbClr val="4284AE"/>
                </a:solidFill>
                <a:effectLst/>
                <a:latin typeface="inherit"/>
              </a:rPr>
              <a:t>WriteAsync</a:t>
            </a:r>
            <a:r>
              <a:rPr lang="en-IN" b="1" i="0" dirty="0">
                <a:solidFill>
                  <a:srgbClr val="6B7C8B"/>
                </a:solidFill>
                <a:effectLst/>
                <a:latin typeface="inherit"/>
              </a:rPr>
              <a:t>(</a:t>
            </a:r>
            <a:r>
              <a:rPr lang="en-IN" b="0" i="0" dirty="0">
                <a:solidFill>
                  <a:srgbClr val="7CC379"/>
                </a:solidFill>
                <a:effectLst/>
                <a:latin typeface="inherit"/>
              </a:rPr>
              <a:t>"Worker Process Name : "</a:t>
            </a:r>
            <a:r>
              <a:rPr lang="en-IN" b="0" i="0" dirty="0">
                <a:solidFill>
                  <a:srgbClr val="CFD5E0"/>
                </a:solidFill>
                <a:effectLst/>
                <a:latin typeface="inherit"/>
              </a:rPr>
              <a:t> + 				        </a:t>
            </a:r>
            <a:r>
              <a:rPr lang="en-IN" b="0" i="0" dirty="0" err="1">
                <a:solidFill>
                  <a:srgbClr val="CFD5E0"/>
                </a:solidFill>
                <a:effectLst/>
                <a:latin typeface="inherit"/>
              </a:rPr>
              <a:t>System.</a:t>
            </a:r>
            <a:r>
              <a:rPr lang="en-IN" b="0" i="0" dirty="0" err="1">
                <a:solidFill>
                  <a:srgbClr val="4284AE"/>
                </a:solidFill>
                <a:effectLst/>
                <a:latin typeface="inherit"/>
              </a:rPr>
              <a:t>Diagnostics</a:t>
            </a:r>
            <a:r>
              <a:rPr lang="en-IN" b="0" i="0" dirty="0" err="1">
                <a:solidFill>
                  <a:srgbClr val="CFD5E0"/>
                </a:solidFill>
                <a:effectLst/>
                <a:latin typeface="inherit"/>
              </a:rPr>
              <a:t>.</a:t>
            </a:r>
            <a:r>
              <a:rPr lang="en-IN" b="0" i="0" dirty="0" err="1">
                <a:solidFill>
                  <a:srgbClr val="4284AE"/>
                </a:solidFill>
                <a:effectLst/>
                <a:latin typeface="inherit"/>
              </a:rPr>
              <a:t>Process</a:t>
            </a:r>
            <a:r>
              <a:rPr lang="en-IN" b="0" i="0" dirty="0" err="1">
                <a:solidFill>
                  <a:srgbClr val="CFD5E0"/>
                </a:solidFill>
                <a:effectLst/>
                <a:latin typeface="inherit"/>
              </a:rPr>
              <a:t>.</a:t>
            </a:r>
            <a:r>
              <a:rPr lang="en-IN" b="0" i="0" dirty="0" err="1">
                <a:solidFill>
                  <a:srgbClr val="4284AE"/>
                </a:solidFill>
                <a:effectLst/>
                <a:latin typeface="inherit"/>
              </a:rPr>
              <a:t>GetCurrentProcess</a:t>
            </a:r>
            <a:r>
              <a:rPr lang="en-IN" b="1" i="0" dirty="0">
                <a:solidFill>
                  <a:srgbClr val="6B7C8B"/>
                </a:solidFill>
                <a:effectLst/>
                <a:latin typeface="inherit"/>
              </a:rPr>
              <a:t>()</a:t>
            </a:r>
            <a:r>
              <a:rPr lang="en-IN" b="0" i="0" dirty="0">
                <a:solidFill>
                  <a:srgbClr val="CFD5E0"/>
                </a:solidFill>
                <a:effectLst/>
                <a:latin typeface="inherit"/>
              </a:rPr>
              <a:t>.</a:t>
            </a:r>
            <a:r>
              <a:rPr lang="en-IN" b="0" i="0" dirty="0" err="1">
                <a:solidFill>
                  <a:srgbClr val="4284AE"/>
                </a:solidFill>
                <a:effectLst/>
                <a:latin typeface="inherit"/>
              </a:rPr>
              <a:t>ProcessName</a:t>
            </a:r>
            <a:r>
              <a:rPr lang="en-IN" b="1" i="0" dirty="0">
                <a:solidFill>
                  <a:srgbClr val="6B7C8B"/>
                </a:solidFill>
                <a:effectLst/>
                <a:latin typeface="inherit"/>
              </a:rPr>
              <a:t>)</a:t>
            </a:r>
            <a:r>
              <a:rPr lang="en-IN" b="0" i="0" dirty="0">
                <a:solidFill>
                  <a:srgbClr val="CFD5E0"/>
                </a:solidFill>
                <a:effectLst/>
                <a:latin typeface="inherit"/>
              </a:rPr>
              <a:t>;</a:t>
            </a:r>
          </a:p>
          <a:p>
            <a:pPr algn="l" fontAlgn="base"/>
            <a:r>
              <a:rPr lang="en-IN" dirty="0">
                <a:solidFill>
                  <a:srgbClr val="CFD5E0"/>
                </a:solidFill>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dirty="0">
                <a:solidFill>
                  <a:srgbClr val="6B7C8B"/>
                </a:solidFill>
                <a:latin typeface="inherit"/>
              </a:rPr>
              <a:t>     </a:t>
            </a:r>
            <a:r>
              <a:rPr lang="en-IN" b="1" i="0" dirty="0">
                <a:solidFill>
                  <a:srgbClr val="6B7C8B"/>
                </a:solidFill>
                <a:effectLst/>
                <a:latin typeface="inherit"/>
              </a:rPr>
              <a:t>})</a:t>
            </a:r>
            <a:r>
              <a:rPr lang="en-IN" b="0" i="0" dirty="0">
                <a:solidFill>
                  <a:srgbClr val="CFD5E0"/>
                </a:solidFill>
                <a:effectLst/>
                <a:latin typeface="inherit"/>
              </a:rPr>
              <a:t>;</a:t>
            </a:r>
            <a:endParaRPr lang="en-IN" b="0" i="0" dirty="0">
              <a:solidFill>
                <a:srgbClr val="596174"/>
              </a:solidFill>
              <a:effectLst/>
              <a:latin typeface="Inconsolata" pitchFamily="1" charset="0"/>
            </a:endParaRPr>
          </a:p>
          <a:p>
            <a:pPr algn="l" fontAlgn="base"/>
            <a:r>
              <a:rPr lang="en-IN" b="1" i="0" dirty="0">
                <a:solidFill>
                  <a:srgbClr val="6B7C8B"/>
                </a:solidFill>
                <a:effectLst/>
                <a:latin typeface="inherit"/>
              </a:rPr>
              <a:t>}}}</a:t>
            </a:r>
            <a:endParaRPr lang="en-IN" b="0" i="0" dirty="0">
              <a:solidFill>
                <a:srgbClr val="596174"/>
              </a:solidFill>
              <a:effectLst/>
              <a:latin typeface="Inconsolata" pitchFamily="1" charset="0"/>
            </a:endParaRPr>
          </a:p>
        </p:txBody>
      </p:sp>
    </p:spTree>
    <p:extLst>
      <p:ext uri="{BB962C8B-B14F-4D97-AF65-F5344CB8AC3E}">
        <p14:creationId xmlns:p14="http://schemas.microsoft.com/office/powerpoint/2010/main" val="3012841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FACD124-7D68-8BCC-63D4-A01D77696CE5}"/>
              </a:ext>
            </a:extLst>
          </p:cNvPr>
          <p:cNvGraphicFramePr>
            <a:graphicFrameLocks noGrp="1"/>
          </p:cNvGraphicFramePr>
          <p:nvPr>
            <p:extLst>
              <p:ext uri="{D42A27DB-BD31-4B8C-83A1-F6EECF244321}">
                <p14:modId xmlns:p14="http://schemas.microsoft.com/office/powerpoint/2010/main" val="3022031996"/>
              </p:ext>
            </p:extLst>
          </p:nvPr>
        </p:nvGraphicFramePr>
        <p:xfrm>
          <a:off x="2032000" y="719666"/>
          <a:ext cx="8128000" cy="2763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070871292"/>
                    </a:ext>
                  </a:extLst>
                </a:gridCol>
                <a:gridCol w="2032000">
                  <a:extLst>
                    <a:ext uri="{9D8B030D-6E8A-4147-A177-3AD203B41FA5}">
                      <a16:colId xmlns:a16="http://schemas.microsoft.com/office/drawing/2014/main" val="3027954096"/>
                    </a:ext>
                  </a:extLst>
                </a:gridCol>
                <a:gridCol w="2032000">
                  <a:extLst>
                    <a:ext uri="{9D8B030D-6E8A-4147-A177-3AD203B41FA5}">
                      <a16:colId xmlns:a16="http://schemas.microsoft.com/office/drawing/2014/main" val="2738033457"/>
                    </a:ext>
                  </a:extLst>
                </a:gridCol>
                <a:gridCol w="2032000">
                  <a:extLst>
                    <a:ext uri="{9D8B030D-6E8A-4147-A177-3AD203B41FA5}">
                      <a16:colId xmlns:a16="http://schemas.microsoft.com/office/drawing/2014/main" val="3880807565"/>
                    </a:ext>
                  </a:extLst>
                </a:gridCol>
              </a:tblGrid>
              <a:tr h="370840">
                <a:tc>
                  <a:txBody>
                    <a:bodyPr/>
                    <a:lstStyle/>
                    <a:p>
                      <a:r>
                        <a:rPr lang="en-US" dirty="0"/>
                        <a:t>profile</a:t>
                      </a:r>
                      <a:endParaRPr lang="en-IN" dirty="0"/>
                    </a:p>
                  </a:txBody>
                  <a:tcPr/>
                </a:tc>
                <a:tc>
                  <a:txBody>
                    <a:bodyPr/>
                    <a:lstStyle/>
                    <a:p>
                      <a:r>
                        <a:rPr lang="en-US" dirty="0"/>
                        <a:t>Default</a:t>
                      </a:r>
                      <a:endParaRPr lang="en-IN" dirty="0"/>
                    </a:p>
                  </a:txBody>
                  <a:tcPr/>
                </a:tc>
                <a:tc>
                  <a:txBody>
                    <a:bodyPr/>
                    <a:lstStyle/>
                    <a:p>
                      <a:r>
                        <a:rPr lang="en-US" dirty="0"/>
                        <a:t>Server</a:t>
                      </a:r>
                      <a:endParaRPr lang="en-IN" dirty="0"/>
                    </a:p>
                  </a:txBody>
                  <a:tcPr/>
                </a:tc>
                <a:tc>
                  <a:txBody>
                    <a:bodyPr/>
                    <a:lstStyle/>
                    <a:p>
                      <a:r>
                        <a:rPr lang="en-US" dirty="0"/>
                        <a:t>Number of Server</a:t>
                      </a:r>
                      <a:endParaRPr lang="en-IN" dirty="0"/>
                    </a:p>
                  </a:txBody>
                  <a:tcPr/>
                </a:tc>
                <a:extLst>
                  <a:ext uri="{0D108BD9-81ED-4DB2-BD59-A6C34878D82A}">
                    <a16:rowId xmlns:a16="http://schemas.microsoft.com/office/drawing/2014/main" val="1371376604"/>
                  </a:ext>
                </a:extLst>
              </a:tr>
              <a:tr h="370840">
                <a:tc>
                  <a:txBody>
                    <a:bodyPr/>
                    <a:lstStyle/>
                    <a:p>
                      <a:r>
                        <a:rPr lang="en-US" dirty="0"/>
                        <a:t>Http</a:t>
                      </a:r>
                      <a:endParaRPr lang="en-IN" dirty="0"/>
                    </a:p>
                  </a:txBody>
                  <a:tcPr/>
                </a:tc>
                <a:tc>
                  <a:txBody>
                    <a:bodyPr/>
                    <a:lstStyle/>
                    <a:p>
                      <a:r>
                        <a:rPr lang="en-US" dirty="0" err="1"/>
                        <a:t>InProcess</a:t>
                      </a:r>
                      <a:endParaRPr lang="en-IN" dirty="0"/>
                    </a:p>
                  </a:txBody>
                  <a:tcPr/>
                </a:tc>
                <a:tc>
                  <a:txBody>
                    <a:bodyPr/>
                    <a:lstStyle/>
                    <a:p>
                      <a:r>
                        <a:rPr lang="en-US" dirty="0"/>
                        <a:t>Kestrel server</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313044392"/>
                  </a:ext>
                </a:extLst>
              </a:tr>
              <a:tr h="370840">
                <a:tc>
                  <a:txBody>
                    <a:bodyPr/>
                    <a:lstStyle/>
                    <a:p>
                      <a:r>
                        <a:rPr lang="en-US" dirty="0" err="1"/>
                        <a:t>IISExpress</a:t>
                      </a:r>
                      <a:endParaRPr lang="en-IN" dirty="0"/>
                    </a:p>
                  </a:txBody>
                  <a:tcPr/>
                </a:tc>
                <a:tc>
                  <a:txBody>
                    <a:bodyPr/>
                    <a:lstStyle/>
                    <a:p>
                      <a:r>
                        <a:rPr lang="en-US" dirty="0" err="1"/>
                        <a:t>InProcess</a:t>
                      </a:r>
                      <a:endParaRPr lang="en-IN" dirty="0"/>
                    </a:p>
                  </a:txBody>
                  <a:tcPr/>
                </a:tc>
                <a:tc>
                  <a:txBody>
                    <a:bodyPr/>
                    <a:lstStyle/>
                    <a:p>
                      <a:r>
                        <a:rPr lang="en-US" dirty="0"/>
                        <a:t>IIS Express</a:t>
                      </a:r>
                      <a:endParaRPr lang="en-IN" dirty="0"/>
                    </a:p>
                  </a:txBody>
                  <a:tcPr/>
                </a:tc>
                <a:tc>
                  <a:txBody>
                    <a:bodyPr/>
                    <a:lstStyle/>
                    <a:p>
                      <a:r>
                        <a:rPr lang="en-US" dirty="0"/>
                        <a:t>1</a:t>
                      </a:r>
                    </a:p>
                    <a:p>
                      <a:endParaRPr lang="en-IN" dirty="0"/>
                    </a:p>
                  </a:txBody>
                  <a:tcPr/>
                </a:tc>
                <a:extLst>
                  <a:ext uri="{0D108BD9-81ED-4DB2-BD59-A6C34878D82A}">
                    <a16:rowId xmlns:a16="http://schemas.microsoft.com/office/drawing/2014/main" val="2612420864"/>
                  </a:ext>
                </a:extLst>
              </a:tr>
              <a:tr h="370840">
                <a:tc>
                  <a:txBody>
                    <a:bodyPr/>
                    <a:lstStyle/>
                    <a:p>
                      <a:r>
                        <a:rPr lang="en-US"/>
                        <a:t>IISExpress</a:t>
                      </a:r>
                      <a:endParaRPr lang="en-IN" dirty="0"/>
                    </a:p>
                  </a:txBody>
                  <a:tcPr/>
                </a:tc>
                <a:tc>
                  <a:txBody>
                    <a:bodyPr/>
                    <a:lstStyle/>
                    <a:p>
                      <a:r>
                        <a:rPr lang="en-US" dirty="0" err="1"/>
                        <a:t>OutOfProcess</a:t>
                      </a:r>
                      <a:endParaRPr lang="en-IN" dirty="0"/>
                    </a:p>
                  </a:txBody>
                  <a:tcPr/>
                </a:tc>
                <a:tc>
                  <a:txBody>
                    <a:bodyPr/>
                    <a:lstStyle/>
                    <a:p>
                      <a:r>
                        <a:rPr lang="en-US" dirty="0"/>
                        <a:t>External(IIS) Internal Kestrel</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1964456282"/>
                  </a:ext>
                </a:extLst>
              </a:tr>
              <a:tr h="370840">
                <a:tc>
                  <a:txBody>
                    <a:bodyPr/>
                    <a:lstStyle/>
                    <a:p>
                      <a:r>
                        <a:rPr lang="en-US" dirty="0"/>
                        <a:t>Http</a:t>
                      </a:r>
                      <a:endParaRPr lang="en-IN" dirty="0"/>
                    </a:p>
                  </a:txBody>
                  <a:tcPr/>
                </a:tc>
                <a:tc>
                  <a:txBody>
                    <a:bodyPr/>
                    <a:lstStyle/>
                    <a:p>
                      <a:r>
                        <a:rPr lang="en-US" dirty="0" err="1"/>
                        <a:t>OutOfProcess</a:t>
                      </a:r>
                      <a:endParaRPr lang="en-IN" dirty="0"/>
                    </a:p>
                  </a:txBody>
                  <a:tcPr/>
                </a:tc>
                <a:tc>
                  <a:txBody>
                    <a:bodyPr/>
                    <a:lstStyle/>
                    <a:p>
                      <a:r>
                        <a:rPr lang="en-US" dirty="0" err="1"/>
                        <a:t>Kesteral</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1089012208"/>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71438093"/>
                  </a:ext>
                </a:extLst>
              </a:tr>
            </a:tbl>
          </a:graphicData>
        </a:graphic>
      </p:graphicFrame>
    </p:spTree>
    <p:extLst>
      <p:ext uri="{BB962C8B-B14F-4D97-AF65-F5344CB8AC3E}">
        <p14:creationId xmlns:p14="http://schemas.microsoft.com/office/powerpoint/2010/main" val="3723424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370</Words>
  <Application>Microsoft Office PowerPoint</Application>
  <PresentationFormat>Widescreen</PresentationFormat>
  <Paragraphs>42</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-apple-system</vt:lpstr>
      <vt:lpstr>Arial</vt:lpstr>
      <vt:lpstr>Arial</vt:lpstr>
      <vt:lpstr>Calibri</vt:lpstr>
      <vt:lpstr>Calibri Light</vt:lpstr>
      <vt:lpstr>Inconsolata</vt:lpstr>
      <vt:lpstr>inherit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13</cp:revision>
  <dcterms:created xsi:type="dcterms:W3CDTF">2021-10-12T07:42:04Z</dcterms:created>
  <dcterms:modified xsi:type="dcterms:W3CDTF">2025-04-20T04:39:43Z</dcterms:modified>
</cp:coreProperties>
</file>