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1" r:id="rId6"/>
    <p:sldId id="260"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A80262-F117-4F84-9EDD-58E0A83758F2}" type="datetimeFigureOut">
              <a:rPr lang="en-IN" smtClean="0"/>
              <a:t>24-09-2024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F10D89-3683-4481-A047-E4F9C0A4F9A3}" type="slidenum">
              <a:rPr lang="en-IN" smtClean="0"/>
              <a:t>‹#›</a:t>
            </a:fld>
            <a:endParaRPr lang="en-IN"/>
          </a:p>
        </p:txBody>
      </p:sp>
    </p:spTree>
    <p:extLst>
      <p:ext uri="{BB962C8B-B14F-4D97-AF65-F5344CB8AC3E}">
        <p14:creationId xmlns:p14="http://schemas.microsoft.com/office/powerpoint/2010/main" val="2097638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F10D89-3683-4481-A047-E4F9C0A4F9A3}" type="slidenum">
              <a:rPr lang="en-IN" smtClean="0"/>
              <a:t>4</a:t>
            </a:fld>
            <a:endParaRPr lang="en-IN"/>
          </a:p>
        </p:txBody>
      </p:sp>
    </p:spTree>
    <p:extLst>
      <p:ext uri="{BB962C8B-B14F-4D97-AF65-F5344CB8AC3E}">
        <p14:creationId xmlns:p14="http://schemas.microsoft.com/office/powerpoint/2010/main" val="2262209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98397-8647-4BB1-925D-8F35608814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0F1065E-EABD-4830-8F74-EF15EFE7DD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18BB7A3-AEE6-44BA-80CD-F35D4E815AF4}"/>
              </a:ext>
            </a:extLst>
          </p:cNvPr>
          <p:cNvSpPr>
            <a:spLocks noGrp="1"/>
          </p:cNvSpPr>
          <p:nvPr>
            <p:ph type="dt" sz="half" idx="10"/>
          </p:nvPr>
        </p:nvSpPr>
        <p:spPr/>
        <p:txBody>
          <a:bodyPr/>
          <a:lstStyle/>
          <a:p>
            <a:fld id="{A2EDE911-59FD-4EE6-8AF0-FA8EE04B2034}" type="datetimeFigureOut">
              <a:rPr lang="en-IN" smtClean="0"/>
              <a:t>24-09-2024</a:t>
            </a:fld>
            <a:endParaRPr lang="en-IN"/>
          </a:p>
        </p:txBody>
      </p:sp>
      <p:sp>
        <p:nvSpPr>
          <p:cNvPr id="5" name="Footer Placeholder 4">
            <a:extLst>
              <a:ext uri="{FF2B5EF4-FFF2-40B4-BE49-F238E27FC236}">
                <a16:creationId xmlns:a16="http://schemas.microsoft.com/office/drawing/2014/main" id="{13EDB457-12B4-462C-8820-32B585B9BC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22FE89-A47E-41A6-AA81-68CA53908698}"/>
              </a:ext>
            </a:extLst>
          </p:cNvPr>
          <p:cNvSpPr>
            <a:spLocks noGrp="1"/>
          </p:cNvSpPr>
          <p:nvPr>
            <p:ph type="sldNum" sz="quarter" idx="12"/>
          </p:nvPr>
        </p:nvSpPr>
        <p:spPr/>
        <p:txBody>
          <a:bodyPr/>
          <a:lstStyle/>
          <a:p>
            <a:fld id="{4C36E1BF-00E9-4EF3-8EFE-5D2C472D63BA}" type="slidenum">
              <a:rPr lang="en-IN" smtClean="0"/>
              <a:t>‹#›</a:t>
            </a:fld>
            <a:endParaRPr lang="en-IN"/>
          </a:p>
        </p:txBody>
      </p:sp>
    </p:spTree>
    <p:extLst>
      <p:ext uri="{BB962C8B-B14F-4D97-AF65-F5344CB8AC3E}">
        <p14:creationId xmlns:p14="http://schemas.microsoft.com/office/powerpoint/2010/main" val="1488946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9A8B2-45DD-4910-88B4-63ACDC4D70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83E312-9A7A-4F51-B58A-6BA42FD840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C805E7-45FC-410C-AA32-5C9F4ECD9EF9}"/>
              </a:ext>
            </a:extLst>
          </p:cNvPr>
          <p:cNvSpPr>
            <a:spLocks noGrp="1"/>
          </p:cNvSpPr>
          <p:nvPr>
            <p:ph type="dt" sz="half" idx="10"/>
          </p:nvPr>
        </p:nvSpPr>
        <p:spPr/>
        <p:txBody>
          <a:bodyPr/>
          <a:lstStyle/>
          <a:p>
            <a:fld id="{A2EDE911-59FD-4EE6-8AF0-FA8EE04B2034}" type="datetimeFigureOut">
              <a:rPr lang="en-IN" smtClean="0"/>
              <a:t>24-09-2024</a:t>
            </a:fld>
            <a:endParaRPr lang="en-IN"/>
          </a:p>
        </p:txBody>
      </p:sp>
      <p:sp>
        <p:nvSpPr>
          <p:cNvPr id="5" name="Footer Placeholder 4">
            <a:extLst>
              <a:ext uri="{FF2B5EF4-FFF2-40B4-BE49-F238E27FC236}">
                <a16:creationId xmlns:a16="http://schemas.microsoft.com/office/drawing/2014/main" id="{256B8550-2E89-4900-80AF-82280A30EF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753E89-FCBF-4BFB-A986-1A4F0D3C37BA}"/>
              </a:ext>
            </a:extLst>
          </p:cNvPr>
          <p:cNvSpPr>
            <a:spLocks noGrp="1"/>
          </p:cNvSpPr>
          <p:nvPr>
            <p:ph type="sldNum" sz="quarter" idx="12"/>
          </p:nvPr>
        </p:nvSpPr>
        <p:spPr/>
        <p:txBody>
          <a:bodyPr/>
          <a:lstStyle/>
          <a:p>
            <a:fld id="{4C36E1BF-00E9-4EF3-8EFE-5D2C472D63BA}" type="slidenum">
              <a:rPr lang="en-IN" smtClean="0"/>
              <a:t>‹#›</a:t>
            </a:fld>
            <a:endParaRPr lang="en-IN"/>
          </a:p>
        </p:txBody>
      </p:sp>
    </p:spTree>
    <p:extLst>
      <p:ext uri="{BB962C8B-B14F-4D97-AF65-F5344CB8AC3E}">
        <p14:creationId xmlns:p14="http://schemas.microsoft.com/office/powerpoint/2010/main" val="1057026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B4C78-D824-469D-A649-C70F363910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3D5E7C6-C6CF-4BBC-A882-9BD67B1CE4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4219F6-38BE-4692-A726-4EB9920838BA}"/>
              </a:ext>
            </a:extLst>
          </p:cNvPr>
          <p:cNvSpPr>
            <a:spLocks noGrp="1"/>
          </p:cNvSpPr>
          <p:nvPr>
            <p:ph type="dt" sz="half" idx="10"/>
          </p:nvPr>
        </p:nvSpPr>
        <p:spPr/>
        <p:txBody>
          <a:bodyPr/>
          <a:lstStyle/>
          <a:p>
            <a:fld id="{A2EDE911-59FD-4EE6-8AF0-FA8EE04B2034}" type="datetimeFigureOut">
              <a:rPr lang="en-IN" smtClean="0"/>
              <a:t>24-09-2024</a:t>
            </a:fld>
            <a:endParaRPr lang="en-IN"/>
          </a:p>
        </p:txBody>
      </p:sp>
      <p:sp>
        <p:nvSpPr>
          <p:cNvPr id="5" name="Footer Placeholder 4">
            <a:extLst>
              <a:ext uri="{FF2B5EF4-FFF2-40B4-BE49-F238E27FC236}">
                <a16:creationId xmlns:a16="http://schemas.microsoft.com/office/drawing/2014/main" id="{BCACC708-6FB8-48AF-A095-B2286943F0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92F126-5533-4DFC-8CA3-F370A53F33A4}"/>
              </a:ext>
            </a:extLst>
          </p:cNvPr>
          <p:cNvSpPr>
            <a:spLocks noGrp="1"/>
          </p:cNvSpPr>
          <p:nvPr>
            <p:ph type="sldNum" sz="quarter" idx="12"/>
          </p:nvPr>
        </p:nvSpPr>
        <p:spPr/>
        <p:txBody>
          <a:bodyPr/>
          <a:lstStyle/>
          <a:p>
            <a:fld id="{4C36E1BF-00E9-4EF3-8EFE-5D2C472D63BA}" type="slidenum">
              <a:rPr lang="en-IN" smtClean="0"/>
              <a:t>‹#›</a:t>
            </a:fld>
            <a:endParaRPr lang="en-IN"/>
          </a:p>
        </p:txBody>
      </p:sp>
    </p:spTree>
    <p:extLst>
      <p:ext uri="{BB962C8B-B14F-4D97-AF65-F5344CB8AC3E}">
        <p14:creationId xmlns:p14="http://schemas.microsoft.com/office/powerpoint/2010/main" val="2525895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F8527-65F3-4F61-B61E-C179DD47A7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13880D-0C52-4911-8737-3508214A17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369998-B34C-415C-A5C6-582DD88F40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8125D9E-CA54-4D24-9DC9-B5F5F90220F4}"/>
              </a:ext>
            </a:extLst>
          </p:cNvPr>
          <p:cNvSpPr>
            <a:spLocks noGrp="1"/>
          </p:cNvSpPr>
          <p:nvPr>
            <p:ph type="dt" sz="half" idx="10"/>
          </p:nvPr>
        </p:nvSpPr>
        <p:spPr/>
        <p:txBody>
          <a:bodyPr/>
          <a:lstStyle/>
          <a:p>
            <a:fld id="{A2EDE911-59FD-4EE6-8AF0-FA8EE04B2034}" type="datetimeFigureOut">
              <a:rPr lang="en-IN" smtClean="0"/>
              <a:t>24-09-2024</a:t>
            </a:fld>
            <a:endParaRPr lang="en-IN"/>
          </a:p>
        </p:txBody>
      </p:sp>
      <p:sp>
        <p:nvSpPr>
          <p:cNvPr id="6" name="Footer Placeholder 5">
            <a:extLst>
              <a:ext uri="{FF2B5EF4-FFF2-40B4-BE49-F238E27FC236}">
                <a16:creationId xmlns:a16="http://schemas.microsoft.com/office/drawing/2014/main" id="{05D1F6CD-EFE1-46A6-8883-029D50DE85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15D26D-C474-4F13-B761-A7AD85218D72}"/>
              </a:ext>
            </a:extLst>
          </p:cNvPr>
          <p:cNvSpPr>
            <a:spLocks noGrp="1"/>
          </p:cNvSpPr>
          <p:nvPr>
            <p:ph type="sldNum" sz="quarter" idx="12"/>
          </p:nvPr>
        </p:nvSpPr>
        <p:spPr/>
        <p:txBody>
          <a:bodyPr/>
          <a:lstStyle/>
          <a:p>
            <a:fld id="{4C36E1BF-00E9-4EF3-8EFE-5D2C472D63BA}" type="slidenum">
              <a:rPr lang="en-IN" smtClean="0"/>
              <a:t>‹#›</a:t>
            </a:fld>
            <a:endParaRPr lang="en-IN"/>
          </a:p>
        </p:txBody>
      </p:sp>
    </p:spTree>
    <p:extLst>
      <p:ext uri="{BB962C8B-B14F-4D97-AF65-F5344CB8AC3E}">
        <p14:creationId xmlns:p14="http://schemas.microsoft.com/office/powerpoint/2010/main" val="3841379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64A87-846D-410D-8E74-D333BA73179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29ACC4-0A2D-4FCC-A900-D314874D2B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4DDEB7-411B-4AEB-95C7-9D31BB4FD5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612E187-4203-4654-91B9-7A507BCC40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45DB5-3FBC-4870-92A0-17481176ED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27A679-BB00-4975-900B-846387C246CE}"/>
              </a:ext>
            </a:extLst>
          </p:cNvPr>
          <p:cNvSpPr>
            <a:spLocks noGrp="1"/>
          </p:cNvSpPr>
          <p:nvPr>
            <p:ph type="dt" sz="half" idx="10"/>
          </p:nvPr>
        </p:nvSpPr>
        <p:spPr/>
        <p:txBody>
          <a:bodyPr/>
          <a:lstStyle/>
          <a:p>
            <a:fld id="{A2EDE911-59FD-4EE6-8AF0-FA8EE04B2034}" type="datetimeFigureOut">
              <a:rPr lang="en-IN" smtClean="0"/>
              <a:t>24-09-2024</a:t>
            </a:fld>
            <a:endParaRPr lang="en-IN"/>
          </a:p>
        </p:txBody>
      </p:sp>
      <p:sp>
        <p:nvSpPr>
          <p:cNvPr id="8" name="Footer Placeholder 7">
            <a:extLst>
              <a:ext uri="{FF2B5EF4-FFF2-40B4-BE49-F238E27FC236}">
                <a16:creationId xmlns:a16="http://schemas.microsoft.com/office/drawing/2014/main" id="{972AB785-2536-4A57-964F-44E8216BFF9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8E098E8-03FF-44D2-88A4-7002CF039F1D}"/>
              </a:ext>
            </a:extLst>
          </p:cNvPr>
          <p:cNvSpPr>
            <a:spLocks noGrp="1"/>
          </p:cNvSpPr>
          <p:nvPr>
            <p:ph type="sldNum" sz="quarter" idx="12"/>
          </p:nvPr>
        </p:nvSpPr>
        <p:spPr/>
        <p:txBody>
          <a:bodyPr/>
          <a:lstStyle/>
          <a:p>
            <a:fld id="{4C36E1BF-00E9-4EF3-8EFE-5D2C472D63BA}" type="slidenum">
              <a:rPr lang="en-IN" smtClean="0"/>
              <a:t>‹#›</a:t>
            </a:fld>
            <a:endParaRPr lang="en-IN"/>
          </a:p>
        </p:txBody>
      </p:sp>
    </p:spTree>
    <p:extLst>
      <p:ext uri="{BB962C8B-B14F-4D97-AF65-F5344CB8AC3E}">
        <p14:creationId xmlns:p14="http://schemas.microsoft.com/office/powerpoint/2010/main" val="3499313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C4EBC-89B2-4F72-8295-83746C0AF6D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140F11-7713-4A23-BFAE-7EF98B171220}"/>
              </a:ext>
            </a:extLst>
          </p:cNvPr>
          <p:cNvSpPr>
            <a:spLocks noGrp="1"/>
          </p:cNvSpPr>
          <p:nvPr>
            <p:ph type="dt" sz="half" idx="10"/>
          </p:nvPr>
        </p:nvSpPr>
        <p:spPr/>
        <p:txBody>
          <a:bodyPr/>
          <a:lstStyle/>
          <a:p>
            <a:fld id="{A2EDE911-59FD-4EE6-8AF0-FA8EE04B2034}" type="datetimeFigureOut">
              <a:rPr lang="en-IN" smtClean="0"/>
              <a:t>24-09-2024</a:t>
            </a:fld>
            <a:endParaRPr lang="en-IN"/>
          </a:p>
        </p:txBody>
      </p:sp>
      <p:sp>
        <p:nvSpPr>
          <p:cNvPr id="4" name="Footer Placeholder 3">
            <a:extLst>
              <a:ext uri="{FF2B5EF4-FFF2-40B4-BE49-F238E27FC236}">
                <a16:creationId xmlns:a16="http://schemas.microsoft.com/office/drawing/2014/main" id="{80FCFA09-EF60-4B8D-B437-02654B15B4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D8EEA36-F716-42D3-AA67-D673690CD261}"/>
              </a:ext>
            </a:extLst>
          </p:cNvPr>
          <p:cNvSpPr>
            <a:spLocks noGrp="1"/>
          </p:cNvSpPr>
          <p:nvPr>
            <p:ph type="sldNum" sz="quarter" idx="12"/>
          </p:nvPr>
        </p:nvSpPr>
        <p:spPr/>
        <p:txBody>
          <a:bodyPr/>
          <a:lstStyle/>
          <a:p>
            <a:fld id="{4C36E1BF-00E9-4EF3-8EFE-5D2C472D63BA}" type="slidenum">
              <a:rPr lang="en-IN" smtClean="0"/>
              <a:t>‹#›</a:t>
            </a:fld>
            <a:endParaRPr lang="en-IN"/>
          </a:p>
        </p:txBody>
      </p:sp>
    </p:spTree>
    <p:extLst>
      <p:ext uri="{BB962C8B-B14F-4D97-AF65-F5344CB8AC3E}">
        <p14:creationId xmlns:p14="http://schemas.microsoft.com/office/powerpoint/2010/main" val="214885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F89237-9EBD-4C15-BD34-C9504D862BF7}"/>
              </a:ext>
            </a:extLst>
          </p:cNvPr>
          <p:cNvSpPr>
            <a:spLocks noGrp="1"/>
          </p:cNvSpPr>
          <p:nvPr>
            <p:ph type="dt" sz="half" idx="10"/>
          </p:nvPr>
        </p:nvSpPr>
        <p:spPr/>
        <p:txBody>
          <a:bodyPr/>
          <a:lstStyle/>
          <a:p>
            <a:fld id="{A2EDE911-59FD-4EE6-8AF0-FA8EE04B2034}" type="datetimeFigureOut">
              <a:rPr lang="en-IN" smtClean="0"/>
              <a:t>24-09-2024</a:t>
            </a:fld>
            <a:endParaRPr lang="en-IN"/>
          </a:p>
        </p:txBody>
      </p:sp>
      <p:sp>
        <p:nvSpPr>
          <p:cNvPr id="3" name="Footer Placeholder 2">
            <a:extLst>
              <a:ext uri="{FF2B5EF4-FFF2-40B4-BE49-F238E27FC236}">
                <a16:creationId xmlns:a16="http://schemas.microsoft.com/office/drawing/2014/main" id="{AEE17508-C4E7-41D0-B859-4CB1D01AD7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642A62-0937-43FB-ACC1-6ED09493B47A}"/>
              </a:ext>
            </a:extLst>
          </p:cNvPr>
          <p:cNvSpPr>
            <a:spLocks noGrp="1"/>
          </p:cNvSpPr>
          <p:nvPr>
            <p:ph type="sldNum" sz="quarter" idx="12"/>
          </p:nvPr>
        </p:nvSpPr>
        <p:spPr/>
        <p:txBody>
          <a:bodyPr/>
          <a:lstStyle/>
          <a:p>
            <a:fld id="{4C36E1BF-00E9-4EF3-8EFE-5D2C472D63BA}" type="slidenum">
              <a:rPr lang="en-IN" smtClean="0"/>
              <a:t>‹#›</a:t>
            </a:fld>
            <a:endParaRPr lang="en-IN"/>
          </a:p>
        </p:txBody>
      </p:sp>
    </p:spTree>
    <p:extLst>
      <p:ext uri="{BB962C8B-B14F-4D97-AF65-F5344CB8AC3E}">
        <p14:creationId xmlns:p14="http://schemas.microsoft.com/office/powerpoint/2010/main" val="2339625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6DC1A-1A05-43CB-9946-8E8F2EF5A1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2A6738E-AFDC-4A62-89F8-9A098DB831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3B8B9D-E0EA-4241-BEEF-5A4BD24895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D7D6DE-AADE-4683-BDA0-07AE974038C1}"/>
              </a:ext>
            </a:extLst>
          </p:cNvPr>
          <p:cNvSpPr>
            <a:spLocks noGrp="1"/>
          </p:cNvSpPr>
          <p:nvPr>
            <p:ph type="dt" sz="half" idx="10"/>
          </p:nvPr>
        </p:nvSpPr>
        <p:spPr/>
        <p:txBody>
          <a:bodyPr/>
          <a:lstStyle/>
          <a:p>
            <a:fld id="{A2EDE911-59FD-4EE6-8AF0-FA8EE04B2034}" type="datetimeFigureOut">
              <a:rPr lang="en-IN" smtClean="0"/>
              <a:t>24-09-2024</a:t>
            </a:fld>
            <a:endParaRPr lang="en-IN"/>
          </a:p>
        </p:txBody>
      </p:sp>
      <p:sp>
        <p:nvSpPr>
          <p:cNvPr id="6" name="Footer Placeholder 5">
            <a:extLst>
              <a:ext uri="{FF2B5EF4-FFF2-40B4-BE49-F238E27FC236}">
                <a16:creationId xmlns:a16="http://schemas.microsoft.com/office/drawing/2014/main" id="{05B1FF82-BC51-447A-A9DD-FE8AF2FB51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57A75A-B714-464E-9CB2-B243E1C1B5B7}"/>
              </a:ext>
            </a:extLst>
          </p:cNvPr>
          <p:cNvSpPr>
            <a:spLocks noGrp="1"/>
          </p:cNvSpPr>
          <p:nvPr>
            <p:ph type="sldNum" sz="quarter" idx="12"/>
          </p:nvPr>
        </p:nvSpPr>
        <p:spPr/>
        <p:txBody>
          <a:bodyPr/>
          <a:lstStyle/>
          <a:p>
            <a:fld id="{4C36E1BF-00E9-4EF3-8EFE-5D2C472D63BA}" type="slidenum">
              <a:rPr lang="en-IN" smtClean="0"/>
              <a:t>‹#›</a:t>
            </a:fld>
            <a:endParaRPr lang="en-IN"/>
          </a:p>
        </p:txBody>
      </p:sp>
    </p:spTree>
    <p:extLst>
      <p:ext uri="{BB962C8B-B14F-4D97-AF65-F5344CB8AC3E}">
        <p14:creationId xmlns:p14="http://schemas.microsoft.com/office/powerpoint/2010/main" val="618737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55C53-32C7-4FD9-93D9-7AEC51325C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327FE6E-8C39-4D1B-8306-E020718E33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3D4A8FC-6951-43C3-A74F-FBE332B800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873E6-6912-4391-965D-359D094879E9}"/>
              </a:ext>
            </a:extLst>
          </p:cNvPr>
          <p:cNvSpPr>
            <a:spLocks noGrp="1"/>
          </p:cNvSpPr>
          <p:nvPr>
            <p:ph type="dt" sz="half" idx="10"/>
          </p:nvPr>
        </p:nvSpPr>
        <p:spPr/>
        <p:txBody>
          <a:bodyPr/>
          <a:lstStyle/>
          <a:p>
            <a:fld id="{A2EDE911-59FD-4EE6-8AF0-FA8EE04B2034}" type="datetimeFigureOut">
              <a:rPr lang="en-IN" smtClean="0"/>
              <a:t>24-09-2024</a:t>
            </a:fld>
            <a:endParaRPr lang="en-IN"/>
          </a:p>
        </p:txBody>
      </p:sp>
      <p:sp>
        <p:nvSpPr>
          <p:cNvPr id="6" name="Footer Placeholder 5">
            <a:extLst>
              <a:ext uri="{FF2B5EF4-FFF2-40B4-BE49-F238E27FC236}">
                <a16:creationId xmlns:a16="http://schemas.microsoft.com/office/drawing/2014/main" id="{532A01A3-CDCA-4624-8B89-45FA2B2B26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E0F64D-6AE4-4567-9AF1-C9EAEBBE2601}"/>
              </a:ext>
            </a:extLst>
          </p:cNvPr>
          <p:cNvSpPr>
            <a:spLocks noGrp="1"/>
          </p:cNvSpPr>
          <p:nvPr>
            <p:ph type="sldNum" sz="quarter" idx="12"/>
          </p:nvPr>
        </p:nvSpPr>
        <p:spPr/>
        <p:txBody>
          <a:bodyPr/>
          <a:lstStyle/>
          <a:p>
            <a:fld id="{4C36E1BF-00E9-4EF3-8EFE-5D2C472D63BA}" type="slidenum">
              <a:rPr lang="en-IN" smtClean="0"/>
              <a:t>‹#›</a:t>
            </a:fld>
            <a:endParaRPr lang="en-IN"/>
          </a:p>
        </p:txBody>
      </p:sp>
    </p:spTree>
    <p:extLst>
      <p:ext uri="{BB962C8B-B14F-4D97-AF65-F5344CB8AC3E}">
        <p14:creationId xmlns:p14="http://schemas.microsoft.com/office/powerpoint/2010/main" val="984475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B2309-2AE1-463B-A586-FB3A8EDD280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B13FCA-A2A6-4A4B-B0CC-75EDB6159F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F26F10-7286-472C-8F58-BA13503A0969}"/>
              </a:ext>
            </a:extLst>
          </p:cNvPr>
          <p:cNvSpPr>
            <a:spLocks noGrp="1"/>
          </p:cNvSpPr>
          <p:nvPr>
            <p:ph type="dt" sz="half" idx="10"/>
          </p:nvPr>
        </p:nvSpPr>
        <p:spPr/>
        <p:txBody>
          <a:bodyPr/>
          <a:lstStyle/>
          <a:p>
            <a:fld id="{A2EDE911-59FD-4EE6-8AF0-FA8EE04B2034}" type="datetimeFigureOut">
              <a:rPr lang="en-IN" smtClean="0"/>
              <a:t>24-09-2024</a:t>
            </a:fld>
            <a:endParaRPr lang="en-IN"/>
          </a:p>
        </p:txBody>
      </p:sp>
      <p:sp>
        <p:nvSpPr>
          <p:cNvPr id="5" name="Footer Placeholder 4">
            <a:extLst>
              <a:ext uri="{FF2B5EF4-FFF2-40B4-BE49-F238E27FC236}">
                <a16:creationId xmlns:a16="http://schemas.microsoft.com/office/drawing/2014/main" id="{5304114F-2CAF-4DC9-9E1B-B619192ED9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F7011C-0644-47B4-8304-F511FE7F4B01}"/>
              </a:ext>
            </a:extLst>
          </p:cNvPr>
          <p:cNvSpPr>
            <a:spLocks noGrp="1"/>
          </p:cNvSpPr>
          <p:nvPr>
            <p:ph type="sldNum" sz="quarter" idx="12"/>
          </p:nvPr>
        </p:nvSpPr>
        <p:spPr/>
        <p:txBody>
          <a:bodyPr/>
          <a:lstStyle/>
          <a:p>
            <a:fld id="{4C36E1BF-00E9-4EF3-8EFE-5D2C472D63BA}" type="slidenum">
              <a:rPr lang="en-IN" smtClean="0"/>
              <a:t>‹#›</a:t>
            </a:fld>
            <a:endParaRPr lang="en-IN"/>
          </a:p>
        </p:txBody>
      </p:sp>
    </p:spTree>
    <p:extLst>
      <p:ext uri="{BB962C8B-B14F-4D97-AF65-F5344CB8AC3E}">
        <p14:creationId xmlns:p14="http://schemas.microsoft.com/office/powerpoint/2010/main" val="2999059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208DB8-2576-4593-AFD6-24B99F8867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E74FE8-E3DC-4098-9194-2F25C79475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636FAB-54FF-479C-A1A8-E97BAB96A18B}"/>
              </a:ext>
            </a:extLst>
          </p:cNvPr>
          <p:cNvSpPr>
            <a:spLocks noGrp="1"/>
          </p:cNvSpPr>
          <p:nvPr>
            <p:ph type="dt" sz="half" idx="10"/>
          </p:nvPr>
        </p:nvSpPr>
        <p:spPr/>
        <p:txBody>
          <a:bodyPr/>
          <a:lstStyle/>
          <a:p>
            <a:fld id="{A2EDE911-59FD-4EE6-8AF0-FA8EE04B2034}" type="datetimeFigureOut">
              <a:rPr lang="en-IN" smtClean="0"/>
              <a:t>24-09-2024</a:t>
            </a:fld>
            <a:endParaRPr lang="en-IN"/>
          </a:p>
        </p:txBody>
      </p:sp>
      <p:sp>
        <p:nvSpPr>
          <p:cNvPr id="5" name="Footer Placeholder 4">
            <a:extLst>
              <a:ext uri="{FF2B5EF4-FFF2-40B4-BE49-F238E27FC236}">
                <a16:creationId xmlns:a16="http://schemas.microsoft.com/office/drawing/2014/main" id="{CF9E0B49-9931-46CC-87FE-50A781D2B7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7F2EA4-FEE6-4A76-9736-2C475C0076C1}"/>
              </a:ext>
            </a:extLst>
          </p:cNvPr>
          <p:cNvSpPr>
            <a:spLocks noGrp="1"/>
          </p:cNvSpPr>
          <p:nvPr>
            <p:ph type="sldNum" sz="quarter" idx="12"/>
          </p:nvPr>
        </p:nvSpPr>
        <p:spPr/>
        <p:txBody>
          <a:bodyPr/>
          <a:lstStyle/>
          <a:p>
            <a:fld id="{4C36E1BF-00E9-4EF3-8EFE-5D2C472D63BA}" type="slidenum">
              <a:rPr lang="en-IN" smtClean="0"/>
              <a:t>‹#›</a:t>
            </a:fld>
            <a:endParaRPr lang="en-IN"/>
          </a:p>
        </p:txBody>
      </p:sp>
    </p:spTree>
    <p:extLst>
      <p:ext uri="{BB962C8B-B14F-4D97-AF65-F5344CB8AC3E}">
        <p14:creationId xmlns:p14="http://schemas.microsoft.com/office/powerpoint/2010/main" val="3171488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37D6ED-9B94-4206-8098-69304850E1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B1AF0D-50D4-4848-BC3F-971BEB74F9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30B1FE-98C0-4D8F-9889-1AA324E14C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DE911-59FD-4EE6-8AF0-FA8EE04B2034}" type="datetimeFigureOut">
              <a:rPr lang="en-IN" smtClean="0"/>
              <a:t>24-09-2024</a:t>
            </a:fld>
            <a:endParaRPr lang="en-IN"/>
          </a:p>
        </p:txBody>
      </p:sp>
      <p:sp>
        <p:nvSpPr>
          <p:cNvPr id="5" name="Footer Placeholder 4">
            <a:extLst>
              <a:ext uri="{FF2B5EF4-FFF2-40B4-BE49-F238E27FC236}">
                <a16:creationId xmlns:a16="http://schemas.microsoft.com/office/drawing/2014/main" id="{9AFD4A18-F981-4EC0-8FAC-27FAD7AA4F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62E3B1C-2A5B-4A00-970D-D236D035A4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36E1BF-00E9-4EF3-8EFE-5D2C472D63BA}" type="slidenum">
              <a:rPr lang="en-IN" smtClean="0"/>
              <a:t>‹#›</a:t>
            </a:fld>
            <a:endParaRPr lang="en-IN"/>
          </a:p>
        </p:txBody>
      </p:sp>
    </p:spTree>
    <p:extLst>
      <p:ext uri="{BB962C8B-B14F-4D97-AF65-F5344CB8AC3E}">
        <p14:creationId xmlns:p14="http://schemas.microsoft.com/office/powerpoint/2010/main" val="2327375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hyperlink" Target="http://localhost:5000/"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C664D-BFC0-48AF-880E-DAC93379282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AFE9FCA1-E860-49AB-900A-914D9037FAA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10417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585A956-64BB-4A33-9FE1-3433B151242D}"/>
              </a:ext>
            </a:extLst>
          </p:cNvPr>
          <p:cNvSpPr txBox="1"/>
          <p:nvPr/>
        </p:nvSpPr>
        <p:spPr>
          <a:xfrm>
            <a:off x="3048000" y="1496650"/>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is a Kestrel Web Server?</a:t>
            </a:r>
            <a:endParaRPr lang="en-US" b="0" i="0" dirty="0">
              <a:solidFill>
                <a:srgbClr val="3A3A3A"/>
              </a:solidFill>
              <a:effectLst/>
              <a:latin typeface="-apple-system"/>
            </a:endParaRPr>
          </a:p>
        </p:txBody>
      </p:sp>
      <p:sp>
        <p:nvSpPr>
          <p:cNvPr id="9" name="TextBox 8">
            <a:extLst>
              <a:ext uri="{FF2B5EF4-FFF2-40B4-BE49-F238E27FC236}">
                <a16:creationId xmlns:a16="http://schemas.microsoft.com/office/drawing/2014/main" id="{8F17DBBF-6349-4FD3-B654-36EC67A5A6F3}"/>
              </a:ext>
            </a:extLst>
          </p:cNvPr>
          <p:cNvSpPr txBox="1"/>
          <p:nvPr/>
        </p:nvSpPr>
        <p:spPr>
          <a:xfrm>
            <a:off x="285134" y="1865982"/>
            <a:ext cx="11769213" cy="3970318"/>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As we already discussed ASP.NET Core is a cross-platform framework. It means it supports to develop and run applications on different types of operating systems such as Windows, Linux, or Mac.</a:t>
            </a:r>
          </a:p>
          <a:p>
            <a:pPr algn="just" fontAlgn="base"/>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The Kestrel is the cross-platform web server for the ASP.NET Core application. That means this Server supports all the platforms and versions that the ASP.NET Core supports. By default, it is included as the internal web server in the .NET Core application.</a:t>
            </a:r>
          </a:p>
          <a:p>
            <a:pPr algn="just" fontAlgn="base"/>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The Kestrel Web Server generally used as an edge server i.e. the internet-facing web server which directly processes the incoming HTTP request from the client. In the case of the Kestrel web server, the process name that is used to host and run the ASP.NET Core application is the project name.</a:t>
            </a:r>
          </a:p>
          <a:p>
            <a:pPr algn="just" fontAlgn="base"/>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As of now, we are using visual studio to run the ASP.NET Core application. By default, the visual studio uses </a:t>
            </a:r>
            <a:r>
              <a:rPr lang="en-US" b="1" i="0" dirty="0">
                <a:solidFill>
                  <a:srgbClr val="000000"/>
                </a:solidFill>
                <a:effectLst/>
                <a:latin typeface="arial" panose="020B0604020202020204" pitchFamily="34" charset="0"/>
              </a:rPr>
              <a:t>IIS Express</a:t>
            </a:r>
            <a:r>
              <a:rPr lang="en-US" b="0" i="0" dirty="0">
                <a:solidFill>
                  <a:srgbClr val="000000"/>
                </a:solidFill>
                <a:effectLst/>
                <a:latin typeface="arial" panose="020B0604020202020204" pitchFamily="34" charset="0"/>
              </a:rPr>
              <a:t> to host and run the ASP.NET Core application. So, the process name is </a:t>
            </a:r>
            <a:r>
              <a:rPr lang="en-US" b="1" i="0" dirty="0">
                <a:solidFill>
                  <a:srgbClr val="000000"/>
                </a:solidFill>
                <a:effectLst/>
                <a:latin typeface="arial" panose="020B0604020202020204" pitchFamily="34" charset="0"/>
              </a:rPr>
              <a:t>IIS Express</a:t>
            </a:r>
            <a:r>
              <a:rPr lang="en-US" b="0" i="0" dirty="0">
                <a:solidFill>
                  <a:srgbClr val="000000"/>
                </a:solidFill>
                <a:effectLst/>
                <a:latin typeface="arial" panose="020B0604020202020204" pitchFamily="34" charset="0"/>
              </a:rPr>
              <a:t> that we already discussed</a:t>
            </a:r>
            <a:endParaRPr lang="en-US" b="0" i="0" dirty="0">
              <a:solidFill>
                <a:srgbClr val="212529"/>
              </a:solidFill>
              <a:effectLst/>
              <a:latin typeface="-apple-system"/>
            </a:endParaRPr>
          </a:p>
        </p:txBody>
      </p:sp>
    </p:spTree>
    <p:extLst>
      <p:ext uri="{BB962C8B-B14F-4D97-AF65-F5344CB8AC3E}">
        <p14:creationId xmlns:p14="http://schemas.microsoft.com/office/powerpoint/2010/main" val="2693251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65A5E4-7371-498D-8D85-45F6108143FE}"/>
              </a:ext>
            </a:extLst>
          </p:cNvPr>
          <p:cNvSpPr txBox="1"/>
          <p:nvPr/>
        </p:nvSpPr>
        <p:spPr>
          <a:xfrm>
            <a:off x="2910349" y="169295"/>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run the application using Kestrel Web Server?</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FF15574E-86F7-4CC5-88BA-9D9A48432F8C}"/>
              </a:ext>
            </a:extLst>
          </p:cNvPr>
          <p:cNvSpPr txBox="1"/>
          <p:nvPr/>
        </p:nvSpPr>
        <p:spPr>
          <a:xfrm>
            <a:off x="0" y="628019"/>
            <a:ext cx="11739716"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Before using the Kestrel server to run our application, let us first open the </a:t>
            </a:r>
            <a:r>
              <a:rPr lang="en-US" b="1" i="0" u="none" strike="noStrike" dirty="0">
                <a:solidFill>
                  <a:srgbClr val="007BFF"/>
                </a:solidFill>
                <a:effectLst/>
                <a:latin typeface="arial" panose="020B0604020202020204" pitchFamily="34" charset="0"/>
              </a:rPr>
              <a:t>launchSettings.json</a:t>
            </a:r>
            <a:r>
              <a:rPr lang="en-US" b="0" i="0" dirty="0">
                <a:solidFill>
                  <a:srgbClr val="000000"/>
                </a:solidFill>
                <a:effectLst/>
                <a:latin typeface="arial" panose="020B0604020202020204" pitchFamily="34" charset="0"/>
              </a:rPr>
              <a:t> file which is present inside the Properties folder of your application. Once you open the launchSettings.json file you will find the following code by default.</a:t>
            </a:r>
            <a:endParaRPr lang="en-IN" dirty="0"/>
          </a:p>
        </p:txBody>
      </p:sp>
      <p:sp>
        <p:nvSpPr>
          <p:cNvPr id="10" name="TextBox 9">
            <a:extLst>
              <a:ext uri="{FF2B5EF4-FFF2-40B4-BE49-F238E27FC236}">
                <a16:creationId xmlns:a16="http://schemas.microsoft.com/office/drawing/2014/main" id="{1584E751-8E96-4CE7-94F6-5CB7F807D135}"/>
              </a:ext>
            </a:extLst>
          </p:cNvPr>
          <p:cNvSpPr txBox="1"/>
          <p:nvPr/>
        </p:nvSpPr>
        <p:spPr>
          <a:xfrm>
            <a:off x="6818676" y="1640741"/>
            <a:ext cx="5373324" cy="2031325"/>
          </a:xfrm>
          <a:prstGeom prst="rect">
            <a:avLst/>
          </a:prstGeom>
          <a:noFill/>
        </p:spPr>
        <p:txBody>
          <a:bodyPr wrap="square">
            <a:spAutoFit/>
          </a:bodyPr>
          <a:lstStyle/>
          <a:p>
            <a:r>
              <a:rPr lang="en-US" b="0" i="0" dirty="0">
                <a:solidFill>
                  <a:srgbClr val="000000"/>
                </a:solidFill>
                <a:effectLst/>
                <a:latin typeface="arial" panose="020B0604020202020204" pitchFamily="34" charset="0"/>
              </a:rPr>
              <a:t>we will discuss</a:t>
            </a:r>
            <a:r>
              <a:rPr lang="en-US" b="1" i="0" u="none" strike="noStrike" dirty="0">
                <a:solidFill>
                  <a:srgbClr val="007BFF"/>
                </a:solidFill>
                <a:effectLst/>
                <a:latin typeface="arial" panose="020B0604020202020204" pitchFamily="34" charset="0"/>
              </a:rPr>
              <a:t> launchSettings.json</a:t>
            </a:r>
            <a:r>
              <a:rPr lang="en-US" b="0" i="0" dirty="0">
                <a:solidFill>
                  <a:srgbClr val="000000"/>
                </a:solidFill>
                <a:effectLst/>
                <a:latin typeface="arial" panose="020B0604020202020204" pitchFamily="34" charset="0"/>
              </a:rPr>
              <a:t> in detail. But for now, just have a look at the Profiles section. Here, you can see, we have two sections. One is for IIS Express (IIS Server) and the other one is for the Kestrel server. In visual studio, you can find the above two profiles (IIS Express and </a:t>
            </a:r>
            <a:r>
              <a:rPr lang="en-US" b="0" i="0" dirty="0" err="1">
                <a:solidFill>
                  <a:srgbClr val="000000"/>
                </a:solidFill>
                <a:effectLst/>
                <a:latin typeface="arial" panose="020B0604020202020204" pitchFamily="34" charset="0"/>
              </a:rPr>
              <a:t>FirstCoreWebApplication</a:t>
            </a:r>
            <a:r>
              <a:rPr lang="en-US" b="0" i="0" dirty="0">
                <a:solidFill>
                  <a:srgbClr val="000000"/>
                </a:solidFill>
                <a:effectLst/>
                <a:latin typeface="arial" panose="020B0604020202020204" pitchFamily="34" charset="0"/>
              </a:rPr>
              <a:t>) as shown below.</a:t>
            </a:r>
            <a:endParaRPr lang="en-IN" dirty="0"/>
          </a:p>
        </p:txBody>
      </p:sp>
      <p:sp>
        <p:nvSpPr>
          <p:cNvPr id="13" name="TextBox 12">
            <a:extLst>
              <a:ext uri="{FF2B5EF4-FFF2-40B4-BE49-F238E27FC236}">
                <a16:creationId xmlns:a16="http://schemas.microsoft.com/office/drawing/2014/main" id="{E227BD21-3AAA-4C19-9998-87137BEBC647}"/>
              </a:ext>
            </a:extLst>
          </p:cNvPr>
          <p:cNvSpPr txBox="1"/>
          <p:nvPr/>
        </p:nvSpPr>
        <p:spPr>
          <a:xfrm>
            <a:off x="0" y="6396335"/>
            <a:ext cx="12192000" cy="369332"/>
          </a:xfrm>
          <a:prstGeom prst="rect">
            <a:avLst/>
          </a:prstGeom>
          <a:noFill/>
        </p:spPr>
        <p:txBody>
          <a:bodyPr wrap="square">
            <a:spAutoFit/>
          </a:bodyPr>
          <a:lstStyle/>
          <a:p>
            <a:r>
              <a:rPr lang="en-US" sz="1600" b="0" i="0" dirty="0">
                <a:solidFill>
                  <a:srgbClr val="000000"/>
                </a:solidFill>
                <a:effectLst/>
                <a:latin typeface="arial" panose="020B0604020202020204" pitchFamily="34" charset="0"/>
              </a:rPr>
              <a:t>If you select IIS Express then it will use the IIS server and if you select </a:t>
            </a:r>
            <a:r>
              <a:rPr lang="en-US" sz="1600" b="0" i="0" dirty="0" err="1">
                <a:solidFill>
                  <a:srgbClr val="000000"/>
                </a:solidFill>
                <a:effectLst/>
                <a:latin typeface="arial" panose="020B0604020202020204" pitchFamily="34" charset="0"/>
              </a:rPr>
              <a:t>FirstCoreWebApplication</a:t>
            </a:r>
            <a:r>
              <a:rPr lang="en-US" sz="1600" b="0" i="0" dirty="0">
                <a:solidFill>
                  <a:srgbClr val="000000"/>
                </a:solidFill>
                <a:effectLst/>
                <a:latin typeface="arial" panose="020B0604020202020204" pitchFamily="34" charset="0"/>
              </a:rPr>
              <a:t>, then it will use Kestrel Server</a:t>
            </a:r>
            <a:r>
              <a:rPr lang="en-US" b="0" i="0" dirty="0">
                <a:solidFill>
                  <a:srgbClr val="000000"/>
                </a:solidFill>
                <a:effectLst/>
                <a:latin typeface="arial" panose="020B0604020202020204" pitchFamily="34" charset="0"/>
              </a:rPr>
              <a:t>.</a:t>
            </a:r>
            <a:endParaRPr lang="en-IN" dirty="0"/>
          </a:p>
        </p:txBody>
      </p:sp>
      <p:pic>
        <p:nvPicPr>
          <p:cNvPr id="3" name="Picture 2">
            <a:extLst>
              <a:ext uri="{FF2B5EF4-FFF2-40B4-BE49-F238E27FC236}">
                <a16:creationId xmlns:a16="http://schemas.microsoft.com/office/drawing/2014/main" id="{E32F1417-0B87-72D0-30DC-683D6029A7B0}"/>
              </a:ext>
            </a:extLst>
          </p:cNvPr>
          <p:cNvPicPr>
            <a:picLocks noChangeAspect="1"/>
          </p:cNvPicPr>
          <p:nvPr/>
        </p:nvPicPr>
        <p:blipFill rotWithShape="1">
          <a:blip r:embed="rId2"/>
          <a:srcRect t="7854" r="55928" b="15326"/>
          <a:stretch/>
        </p:blipFill>
        <p:spPr>
          <a:xfrm>
            <a:off x="329213" y="1420421"/>
            <a:ext cx="5373324" cy="5268284"/>
          </a:xfrm>
          <a:prstGeom prst="rect">
            <a:avLst/>
          </a:prstGeom>
        </p:spPr>
      </p:pic>
      <p:pic>
        <p:nvPicPr>
          <p:cNvPr id="6" name="Picture 5">
            <a:extLst>
              <a:ext uri="{FF2B5EF4-FFF2-40B4-BE49-F238E27FC236}">
                <a16:creationId xmlns:a16="http://schemas.microsoft.com/office/drawing/2014/main" id="{8CA616A7-D1BC-6AD2-63AF-AD6687D4304F}"/>
              </a:ext>
            </a:extLst>
          </p:cNvPr>
          <p:cNvPicPr>
            <a:picLocks noChangeAspect="1"/>
          </p:cNvPicPr>
          <p:nvPr/>
        </p:nvPicPr>
        <p:blipFill rotWithShape="1">
          <a:blip r:embed="rId3"/>
          <a:srcRect l="28841" r="52603" b="66460"/>
          <a:stretch/>
        </p:blipFill>
        <p:spPr>
          <a:xfrm>
            <a:off x="8257880" y="3884130"/>
            <a:ext cx="2262433" cy="2300140"/>
          </a:xfrm>
          <a:prstGeom prst="rect">
            <a:avLst/>
          </a:prstGeom>
        </p:spPr>
      </p:pic>
    </p:spTree>
    <p:extLst>
      <p:ext uri="{BB962C8B-B14F-4D97-AF65-F5344CB8AC3E}">
        <p14:creationId xmlns:p14="http://schemas.microsoft.com/office/powerpoint/2010/main" val="3515235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80459B-C172-46DB-B65C-D4BECDD12A70}"/>
              </a:ext>
            </a:extLst>
          </p:cNvPr>
          <p:cNvSpPr txBox="1"/>
          <p:nvPr/>
        </p:nvSpPr>
        <p:spPr>
          <a:xfrm>
            <a:off x="216310" y="169296"/>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Running the application using IIS Express:</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8A9A8003-61DA-4673-8899-E32D5AC08869}"/>
              </a:ext>
            </a:extLst>
          </p:cNvPr>
          <p:cNvSpPr txBox="1"/>
          <p:nvPr/>
        </p:nvSpPr>
        <p:spPr>
          <a:xfrm>
            <a:off x="68826" y="698210"/>
            <a:ext cx="5702709" cy="1754326"/>
          </a:xfrm>
          <a:prstGeom prst="rect">
            <a:avLst/>
          </a:prstGeom>
          <a:noFill/>
        </p:spPr>
        <p:txBody>
          <a:bodyPr wrap="square">
            <a:spAutoFit/>
          </a:bodyPr>
          <a:lstStyle/>
          <a:p>
            <a:r>
              <a:rPr lang="en-US" b="0" i="0" dirty="0">
                <a:solidFill>
                  <a:srgbClr val="000000"/>
                </a:solidFill>
                <a:effectLst/>
                <a:latin typeface="arial" panose="020B0604020202020204" pitchFamily="34" charset="0"/>
              </a:rPr>
              <a:t>If you run the application using IIS Express, then it will use the URL and port number mentioned in the </a:t>
            </a:r>
            <a:r>
              <a:rPr lang="en-US" b="0" i="0" dirty="0" err="1">
                <a:solidFill>
                  <a:srgbClr val="000000"/>
                </a:solidFill>
                <a:effectLst/>
                <a:latin typeface="arial" panose="020B0604020202020204" pitchFamily="34" charset="0"/>
              </a:rPr>
              <a:t>iisSettings</a:t>
            </a:r>
            <a:r>
              <a:rPr lang="en-US" b="0" i="0" dirty="0">
                <a:solidFill>
                  <a:srgbClr val="000000"/>
                </a:solidFill>
                <a:effectLst/>
                <a:latin typeface="arial" panose="020B0604020202020204" pitchFamily="34" charset="0"/>
              </a:rPr>
              <a:t> of your </a:t>
            </a:r>
            <a:r>
              <a:rPr lang="en-US" b="0" i="0" dirty="0" err="1">
                <a:solidFill>
                  <a:srgbClr val="000000"/>
                </a:solidFill>
                <a:effectLst/>
                <a:latin typeface="arial" panose="020B0604020202020204" pitchFamily="34" charset="0"/>
              </a:rPr>
              <a:t>launchSettings.json</a:t>
            </a:r>
            <a:r>
              <a:rPr lang="en-US" b="0" i="0" dirty="0">
                <a:solidFill>
                  <a:srgbClr val="000000"/>
                </a:solidFill>
                <a:effectLst/>
                <a:latin typeface="arial" panose="020B0604020202020204" pitchFamily="34" charset="0"/>
              </a:rPr>
              <a:t> file. </a:t>
            </a:r>
          </a:p>
          <a:p>
            <a:endParaRPr lang="en-US" dirty="0">
              <a:solidFill>
                <a:srgbClr val="000000"/>
              </a:solidFill>
              <a:latin typeface="arial" panose="020B0604020202020204" pitchFamily="34" charset="0"/>
            </a:endParaRPr>
          </a:p>
          <a:p>
            <a:r>
              <a:rPr lang="en-US" b="0" i="0" dirty="0">
                <a:solidFill>
                  <a:srgbClr val="000000"/>
                </a:solidFill>
                <a:effectLst/>
                <a:latin typeface="arial" panose="020B0604020202020204" pitchFamily="34" charset="0"/>
              </a:rPr>
              <a:t>To prove this run the application using IIS Express and see the output as shown below.</a:t>
            </a:r>
            <a:endParaRPr lang="en-IN" dirty="0"/>
          </a:p>
        </p:txBody>
      </p:sp>
      <p:pic>
        <p:nvPicPr>
          <p:cNvPr id="2050" name="Picture 2" descr="Running the application using IIS Express">
            <a:extLst>
              <a:ext uri="{FF2B5EF4-FFF2-40B4-BE49-F238E27FC236}">
                <a16:creationId xmlns:a16="http://schemas.microsoft.com/office/drawing/2014/main" id="{51C8E14E-FBE6-40E7-9E73-E7F19B1B22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10" y="2612118"/>
            <a:ext cx="3848100" cy="142875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8512F03-6ADF-4E03-BC41-3A4221CE7BDA}"/>
              </a:ext>
            </a:extLst>
          </p:cNvPr>
          <p:cNvSpPr txBox="1"/>
          <p:nvPr/>
        </p:nvSpPr>
        <p:spPr>
          <a:xfrm>
            <a:off x="6489291" y="-43840"/>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Running the application using Kestrel Server:</a:t>
            </a:r>
            <a:endParaRPr lang="en-US" b="0" i="0" dirty="0">
              <a:solidFill>
                <a:srgbClr val="3A3A3A"/>
              </a:solidFill>
              <a:effectLst/>
              <a:latin typeface="-apple-system"/>
            </a:endParaRPr>
          </a:p>
        </p:txBody>
      </p:sp>
      <p:sp>
        <p:nvSpPr>
          <p:cNvPr id="12" name="TextBox 11">
            <a:extLst>
              <a:ext uri="{FF2B5EF4-FFF2-40B4-BE49-F238E27FC236}">
                <a16:creationId xmlns:a16="http://schemas.microsoft.com/office/drawing/2014/main" id="{261F6920-E3FE-466F-82F1-A09758E58ACC}"/>
              </a:ext>
            </a:extLst>
          </p:cNvPr>
          <p:cNvSpPr txBox="1"/>
          <p:nvPr/>
        </p:nvSpPr>
        <p:spPr>
          <a:xfrm>
            <a:off x="6312310" y="344630"/>
            <a:ext cx="5879690"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In order to use the Kestrel server to run your application in Visual Studio, first, you need to select the</a:t>
            </a:r>
          </a:p>
          <a:p>
            <a:r>
              <a:rPr lang="en-US" b="0" i="0" dirty="0">
                <a:solidFill>
                  <a:srgbClr val="000000"/>
                </a:solidFill>
                <a:effectLst/>
                <a:latin typeface="arial" panose="020B0604020202020204" pitchFamily="34" charset="0"/>
              </a:rPr>
              <a:t> Http profile as shown below.</a:t>
            </a:r>
            <a:endParaRPr lang="en-IN" dirty="0"/>
          </a:p>
        </p:txBody>
      </p:sp>
      <p:sp>
        <p:nvSpPr>
          <p:cNvPr id="15" name="TextBox 14">
            <a:extLst>
              <a:ext uri="{FF2B5EF4-FFF2-40B4-BE49-F238E27FC236}">
                <a16:creationId xmlns:a16="http://schemas.microsoft.com/office/drawing/2014/main" id="{3D07D9D8-C548-4B20-8891-86216ECCC927}"/>
              </a:ext>
            </a:extLst>
          </p:cNvPr>
          <p:cNvSpPr txBox="1"/>
          <p:nvPr/>
        </p:nvSpPr>
        <p:spPr>
          <a:xfrm>
            <a:off x="4719484" y="2125244"/>
            <a:ext cx="7325032" cy="1815882"/>
          </a:xfrm>
          <a:prstGeom prst="rect">
            <a:avLst/>
          </a:prstGeom>
          <a:noFill/>
        </p:spPr>
        <p:txBody>
          <a:bodyPr wrap="square">
            <a:spAutoFit/>
          </a:bodyPr>
          <a:lstStyle/>
          <a:p>
            <a:r>
              <a:rPr lang="en-US" sz="1600" b="0" i="0" dirty="0">
                <a:solidFill>
                  <a:srgbClr val="000000"/>
                </a:solidFill>
                <a:effectLst/>
                <a:latin typeface="arial" panose="020B0604020202020204" pitchFamily="34" charset="0"/>
              </a:rPr>
              <a:t>Once you select the </a:t>
            </a:r>
            <a:r>
              <a:rPr lang="en-US" sz="1600" b="0" i="0">
                <a:solidFill>
                  <a:srgbClr val="000000"/>
                </a:solidFill>
                <a:effectLst/>
                <a:latin typeface="arial" panose="020B0604020202020204" pitchFamily="34" charset="0"/>
              </a:rPr>
              <a:t>Http,</a:t>
            </a:r>
          </a:p>
          <a:p>
            <a:r>
              <a:rPr lang="en-US" sz="1600" b="0" i="0">
                <a:solidFill>
                  <a:srgbClr val="000000"/>
                </a:solidFill>
                <a:effectLst/>
                <a:latin typeface="arial" panose="020B0604020202020204" pitchFamily="34" charset="0"/>
              </a:rPr>
              <a:t> </a:t>
            </a:r>
            <a:r>
              <a:rPr lang="en-US" sz="1600" b="0" i="0" dirty="0">
                <a:solidFill>
                  <a:srgbClr val="000000"/>
                </a:solidFill>
                <a:effectLst/>
                <a:latin typeface="arial" panose="020B0604020202020204" pitchFamily="34" charset="0"/>
              </a:rPr>
              <a:t>now run the application. Here, we need to observe two things.</a:t>
            </a:r>
          </a:p>
          <a:p>
            <a:r>
              <a:rPr lang="en-US" sz="1600" b="0" i="0" dirty="0">
                <a:solidFill>
                  <a:srgbClr val="000000"/>
                </a:solidFill>
                <a:effectLst/>
                <a:latin typeface="arial" panose="020B0604020202020204" pitchFamily="34" charset="0"/>
              </a:rPr>
              <a:t> First, it will launch the command prompt and host the application using the Kestrel server as shown below. </a:t>
            </a:r>
          </a:p>
          <a:p>
            <a:endParaRPr lang="en-US" sz="1600" dirty="0">
              <a:solidFill>
                <a:srgbClr val="000000"/>
              </a:solidFill>
              <a:latin typeface="arial" panose="020B0604020202020204" pitchFamily="34" charset="0"/>
            </a:endParaRPr>
          </a:p>
          <a:p>
            <a:r>
              <a:rPr lang="en-US" sz="1600" b="0" i="0" dirty="0">
                <a:solidFill>
                  <a:srgbClr val="000000"/>
                </a:solidFill>
                <a:effectLst/>
                <a:latin typeface="arial" panose="020B0604020202020204" pitchFamily="34" charset="0"/>
              </a:rPr>
              <a:t>Here, you need to focus on the URL and port number and it should be the URL and port number mentioned in your Http profile of </a:t>
            </a:r>
            <a:r>
              <a:rPr lang="en-US" sz="1600" b="0" i="0" dirty="0" err="1">
                <a:solidFill>
                  <a:srgbClr val="000000"/>
                </a:solidFill>
                <a:effectLst/>
                <a:latin typeface="arial" panose="020B0604020202020204" pitchFamily="34" charset="0"/>
              </a:rPr>
              <a:t>launchSettings.json</a:t>
            </a:r>
            <a:r>
              <a:rPr lang="en-US" sz="1600" b="0" i="0" dirty="0">
                <a:solidFill>
                  <a:srgbClr val="000000"/>
                </a:solidFill>
                <a:effectLst/>
                <a:latin typeface="arial" panose="020B0604020202020204" pitchFamily="34" charset="0"/>
              </a:rPr>
              <a:t> file.</a:t>
            </a:r>
            <a:endParaRPr lang="en-IN" sz="1600" dirty="0"/>
          </a:p>
        </p:txBody>
      </p:sp>
      <p:pic>
        <p:nvPicPr>
          <p:cNvPr id="2054" name="Picture 6" descr="How to Configure Kestrel Web Server?">
            <a:extLst>
              <a:ext uri="{FF2B5EF4-FFF2-40B4-BE49-F238E27FC236}">
                <a16:creationId xmlns:a16="http://schemas.microsoft.com/office/drawing/2014/main" id="{A00792C6-B2B6-40D0-9D65-67BCAD2458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8819" y="4169856"/>
            <a:ext cx="5771680" cy="1444525"/>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FA435D49-0470-4916-9366-596A5D36A6F5}"/>
              </a:ext>
            </a:extLst>
          </p:cNvPr>
          <p:cNvSpPr txBox="1"/>
          <p:nvPr/>
        </p:nvSpPr>
        <p:spPr>
          <a:xfrm>
            <a:off x="0" y="4591572"/>
            <a:ext cx="5958819" cy="738664"/>
          </a:xfrm>
          <a:prstGeom prst="rect">
            <a:avLst/>
          </a:prstGeom>
          <a:noFill/>
        </p:spPr>
        <p:txBody>
          <a:bodyPr wrap="square">
            <a:spAutoFit/>
          </a:bodyPr>
          <a:lstStyle/>
          <a:p>
            <a:pPr fontAlgn="base"/>
            <a:r>
              <a:rPr lang="en-US" sz="1400" b="0" i="0" dirty="0">
                <a:solidFill>
                  <a:srgbClr val="000000"/>
                </a:solidFill>
                <a:effectLst/>
                <a:latin typeface="arial" panose="020B0604020202020204" pitchFamily="34" charset="0"/>
              </a:rPr>
              <a:t>Secondly, it opens the default browser and listening to that URL and Port Number as shown below.</a:t>
            </a:r>
            <a:br>
              <a:rPr lang="en-US" sz="1400" dirty="0"/>
            </a:br>
            <a:endParaRPr lang="en-IN" sz="1400" dirty="0"/>
          </a:p>
        </p:txBody>
      </p:sp>
      <p:pic>
        <p:nvPicPr>
          <p:cNvPr id="2056" name="Picture 8" descr="How to Configure Kestrel Web Server in Visual Studio?">
            <a:extLst>
              <a:ext uri="{FF2B5EF4-FFF2-40B4-BE49-F238E27FC236}">
                <a16:creationId xmlns:a16="http://schemas.microsoft.com/office/drawing/2014/main" id="{3930C471-7C41-4839-8CF0-FEA6E9BBA8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139" y="5072473"/>
            <a:ext cx="4191000" cy="1323975"/>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D6683400-A816-48CF-8B6C-1D5D8D51596B}"/>
              </a:ext>
            </a:extLst>
          </p:cNvPr>
          <p:cNvSpPr txBox="1"/>
          <p:nvPr/>
        </p:nvSpPr>
        <p:spPr>
          <a:xfrm>
            <a:off x="5009535" y="5880940"/>
            <a:ext cx="6995326" cy="738664"/>
          </a:xfrm>
          <a:prstGeom prst="rect">
            <a:avLst/>
          </a:prstGeom>
          <a:noFill/>
        </p:spPr>
        <p:txBody>
          <a:bodyPr wrap="square">
            <a:spAutoFit/>
          </a:bodyPr>
          <a:lstStyle/>
          <a:p>
            <a:r>
              <a:rPr lang="en-US" sz="1400" b="1" i="0" dirty="0">
                <a:solidFill>
                  <a:srgbClr val="000000"/>
                </a:solidFill>
                <a:effectLst/>
                <a:latin typeface="arial" panose="020B0604020202020204" pitchFamily="34" charset="0"/>
              </a:rPr>
              <a:t>Note:</a:t>
            </a:r>
            <a:r>
              <a:rPr lang="en-US" sz="1400" b="0" i="0" dirty="0">
                <a:solidFill>
                  <a:srgbClr val="000000"/>
                </a:solidFill>
                <a:effectLst/>
                <a:latin typeface="arial" panose="020B0604020202020204" pitchFamily="34" charset="0"/>
              </a:rPr>
              <a:t> In our example, for IIS Express the port number is 60211, and worker process is </a:t>
            </a:r>
            <a:r>
              <a:rPr lang="en-US" sz="1400" b="0" i="0" dirty="0" err="1">
                <a:solidFill>
                  <a:srgbClr val="000000"/>
                </a:solidFill>
                <a:effectLst/>
                <a:latin typeface="arial" panose="020B0604020202020204" pitchFamily="34" charset="0"/>
              </a:rPr>
              <a:t>iisexpress</a:t>
            </a:r>
            <a:r>
              <a:rPr lang="en-US" sz="1400" b="0" i="0" dirty="0">
                <a:solidFill>
                  <a:srgbClr val="000000"/>
                </a:solidFill>
                <a:effectLst/>
                <a:latin typeface="arial" panose="020B0604020202020204" pitchFamily="34" charset="0"/>
              </a:rPr>
              <a:t> while for Kestrel server the port number is 5000 and the worker process name is </a:t>
            </a:r>
            <a:r>
              <a:rPr lang="en-US" sz="1400" b="0" i="0" dirty="0" err="1">
                <a:solidFill>
                  <a:srgbClr val="000000"/>
                </a:solidFill>
                <a:effectLst/>
                <a:latin typeface="arial" panose="020B0604020202020204" pitchFamily="34" charset="0"/>
              </a:rPr>
              <a:t>FirstCoreWebApplication</a:t>
            </a:r>
            <a:r>
              <a:rPr lang="en-US" sz="1400" b="0" i="0" dirty="0">
                <a:solidFill>
                  <a:srgbClr val="000000"/>
                </a:solidFill>
                <a:effectLst/>
                <a:latin typeface="arial" panose="020B0604020202020204" pitchFamily="34" charset="0"/>
              </a:rPr>
              <a:t> (It is nothing but your application name)</a:t>
            </a:r>
            <a:endParaRPr lang="en-IN" sz="1400" dirty="0"/>
          </a:p>
        </p:txBody>
      </p:sp>
      <p:pic>
        <p:nvPicPr>
          <p:cNvPr id="3" name="Picture 2">
            <a:extLst>
              <a:ext uri="{FF2B5EF4-FFF2-40B4-BE49-F238E27FC236}">
                <a16:creationId xmlns:a16="http://schemas.microsoft.com/office/drawing/2014/main" id="{FBBF8FC1-69A3-057B-0AA7-D2EBBBBABD84}"/>
              </a:ext>
            </a:extLst>
          </p:cNvPr>
          <p:cNvPicPr>
            <a:picLocks noChangeAspect="1"/>
          </p:cNvPicPr>
          <p:nvPr/>
        </p:nvPicPr>
        <p:blipFill>
          <a:blip r:embed="rId6"/>
          <a:stretch>
            <a:fillRect/>
          </a:stretch>
        </p:blipFill>
        <p:spPr>
          <a:xfrm>
            <a:off x="8382000" y="1102792"/>
            <a:ext cx="3858212" cy="1187620"/>
          </a:xfrm>
          <a:prstGeom prst="rect">
            <a:avLst/>
          </a:prstGeom>
        </p:spPr>
      </p:pic>
    </p:spTree>
    <p:extLst>
      <p:ext uri="{BB962C8B-B14F-4D97-AF65-F5344CB8AC3E}">
        <p14:creationId xmlns:p14="http://schemas.microsoft.com/office/powerpoint/2010/main" val="3039135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B8108-7463-4A2A-850F-E2ED64CE237A}"/>
              </a:ext>
            </a:extLst>
          </p:cNvPr>
          <p:cNvSpPr txBox="1"/>
          <p:nvPr/>
        </p:nvSpPr>
        <p:spPr>
          <a:xfrm>
            <a:off x="2880852" y="-44837"/>
            <a:ext cx="6725264"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run .NET Core application using .NET Core CLI?</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B28AE08D-5B33-4570-88BC-EBBAC72F46BA}"/>
              </a:ext>
            </a:extLst>
          </p:cNvPr>
          <p:cNvSpPr txBox="1"/>
          <p:nvPr/>
        </p:nvSpPr>
        <p:spPr>
          <a:xfrm>
            <a:off x="186813" y="324495"/>
            <a:ext cx="11897032" cy="830997"/>
          </a:xfrm>
          <a:prstGeom prst="rect">
            <a:avLst/>
          </a:prstGeom>
          <a:noFill/>
        </p:spPr>
        <p:txBody>
          <a:bodyPr wrap="square">
            <a:spAutoFit/>
          </a:bodyPr>
          <a:lstStyle/>
          <a:p>
            <a:pPr algn="just" fontAlgn="base"/>
            <a:r>
              <a:rPr lang="en-US" sz="1600" b="0" i="0" dirty="0">
                <a:solidFill>
                  <a:srgbClr val="000000"/>
                </a:solidFill>
                <a:effectLst/>
                <a:latin typeface="arial" panose="020B0604020202020204" pitchFamily="34" charset="0"/>
              </a:rPr>
              <a:t>We can also run the ASP.NET Core application from the command line using the .NET Core CLI. The CLI stands for Command Line Interface.</a:t>
            </a:r>
            <a:endParaRPr lang="en-US" sz="1600" b="0" i="0" dirty="0">
              <a:solidFill>
                <a:srgbClr val="212529"/>
              </a:solidFill>
              <a:effectLst/>
              <a:latin typeface="-apple-system"/>
            </a:endParaRPr>
          </a:p>
          <a:p>
            <a:pPr algn="just" fontAlgn="base"/>
            <a:r>
              <a:rPr lang="en-US" sz="1600" b="0" i="0" dirty="0">
                <a:solidFill>
                  <a:srgbClr val="000000"/>
                </a:solidFill>
                <a:effectLst/>
                <a:latin typeface="arial" panose="020B0604020202020204" pitchFamily="34" charset="0"/>
              </a:rPr>
              <a:t>When we run an ASP.NET Core application using the .NET Core CLI, then the .NET Core runtime uses Kestrel as the webserver.</a:t>
            </a:r>
            <a:endParaRPr lang="en-US" sz="1600" b="0" i="0" dirty="0">
              <a:solidFill>
                <a:srgbClr val="212529"/>
              </a:solidFill>
              <a:effectLst/>
              <a:latin typeface="-apple-system"/>
            </a:endParaRPr>
          </a:p>
        </p:txBody>
      </p:sp>
      <p:sp>
        <p:nvSpPr>
          <p:cNvPr id="9" name="TextBox 8">
            <a:extLst>
              <a:ext uri="{FF2B5EF4-FFF2-40B4-BE49-F238E27FC236}">
                <a16:creationId xmlns:a16="http://schemas.microsoft.com/office/drawing/2014/main" id="{4547D161-11CF-497C-9A05-DDE097D575DA}"/>
              </a:ext>
            </a:extLst>
          </p:cNvPr>
          <p:cNvSpPr txBox="1"/>
          <p:nvPr/>
        </p:nvSpPr>
        <p:spPr>
          <a:xfrm>
            <a:off x="132735" y="1182503"/>
            <a:ext cx="11798710" cy="1077218"/>
          </a:xfrm>
          <a:prstGeom prst="rect">
            <a:avLst/>
          </a:prstGeom>
          <a:noFill/>
        </p:spPr>
        <p:txBody>
          <a:bodyPr wrap="square">
            <a:spAutoFit/>
          </a:bodyPr>
          <a:lstStyle/>
          <a:p>
            <a:r>
              <a:rPr lang="en-US" sz="1600" b="0" i="0" dirty="0">
                <a:solidFill>
                  <a:srgbClr val="000000"/>
                </a:solidFill>
                <a:effectLst/>
                <a:latin typeface="arial" panose="020B0604020202020204" pitchFamily="34" charset="0"/>
              </a:rPr>
              <a:t>First, open the Windows Command Prompt. To do so, open the run window and then type </a:t>
            </a:r>
            <a:r>
              <a:rPr lang="en-US" sz="1600" b="0" i="0" dirty="0" err="1">
                <a:solidFill>
                  <a:srgbClr val="000000"/>
                </a:solidFill>
                <a:effectLst/>
                <a:latin typeface="arial" panose="020B0604020202020204" pitchFamily="34" charset="0"/>
              </a:rPr>
              <a:t>cmd</a:t>
            </a:r>
            <a:r>
              <a:rPr lang="en-US" sz="1600" b="0" i="0" dirty="0">
                <a:solidFill>
                  <a:srgbClr val="000000"/>
                </a:solidFill>
                <a:effectLst/>
                <a:latin typeface="arial" panose="020B0604020202020204" pitchFamily="34" charset="0"/>
              </a:rPr>
              <a:t> and click on the enter button which will open the command prompt. Then you need to change the directory to the folder which contains your asp.net core application. My project is present in the “</a:t>
            </a:r>
            <a:r>
              <a:rPr lang="en-US" sz="1600" b="1" i="0" dirty="0">
                <a:solidFill>
                  <a:srgbClr val="000000"/>
                </a:solidFill>
                <a:effectLst/>
                <a:latin typeface="arial" panose="020B0604020202020204" pitchFamily="34" charset="0"/>
              </a:rPr>
              <a:t>D:\Projects\Core\</a:t>
            </a:r>
            <a:r>
              <a:rPr lang="en-US" sz="1600" b="1" i="0" dirty="0" err="1">
                <a:solidFill>
                  <a:srgbClr val="000000"/>
                </a:solidFill>
                <a:effectLst/>
                <a:latin typeface="arial" panose="020B0604020202020204" pitchFamily="34" charset="0"/>
              </a:rPr>
              <a:t>FirstCoreWebApplication</a:t>
            </a:r>
            <a:r>
              <a:rPr lang="en-US" sz="1600" b="1" i="0" dirty="0">
                <a:solidFill>
                  <a:srgbClr val="000000"/>
                </a:solidFill>
                <a:effectLst/>
                <a:latin typeface="arial" panose="020B0604020202020204" pitchFamily="34" charset="0"/>
              </a:rPr>
              <a:t>\</a:t>
            </a:r>
            <a:r>
              <a:rPr lang="en-US" sz="1600" b="1" i="0" dirty="0" err="1">
                <a:solidFill>
                  <a:srgbClr val="000000"/>
                </a:solidFill>
                <a:effectLst/>
                <a:latin typeface="arial" panose="020B0604020202020204" pitchFamily="34" charset="0"/>
              </a:rPr>
              <a:t>FirstCoreWebApplication</a:t>
            </a:r>
            <a:r>
              <a:rPr lang="en-US" sz="1600" b="0" i="0" dirty="0">
                <a:solidFill>
                  <a:srgbClr val="000000"/>
                </a:solidFill>
                <a:effectLst/>
                <a:latin typeface="arial" panose="020B0604020202020204" pitchFamily="34" charset="0"/>
              </a:rPr>
              <a:t>” folder so I change the current directory to my project file by using the following command.</a:t>
            </a:r>
            <a:endParaRPr lang="en-IN" sz="1600" dirty="0"/>
          </a:p>
        </p:txBody>
      </p:sp>
      <p:sp>
        <p:nvSpPr>
          <p:cNvPr id="11" name="TextBox 10">
            <a:extLst>
              <a:ext uri="{FF2B5EF4-FFF2-40B4-BE49-F238E27FC236}">
                <a16:creationId xmlns:a16="http://schemas.microsoft.com/office/drawing/2014/main" id="{472644F4-5C27-449A-B627-0317D64E1631}"/>
              </a:ext>
            </a:extLst>
          </p:cNvPr>
          <p:cNvSpPr txBox="1"/>
          <p:nvPr/>
        </p:nvSpPr>
        <p:spPr>
          <a:xfrm>
            <a:off x="0" y="2416492"/>
            <a:ext cx="11493910"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Once you change the directory to your project folder, then execute the “</a:t>
            </a:r>
            <a:r>
              <a:rPr lang="en-US" b="1" i="0" dirty="0">
                <a:solidFill>
                  <a:srgbClr val="000000"/>
                </a:solidFill>
                <a:effectLst/>
                <a:latin typeface="arial" panose="020B0604020202020204" pitchFamily="34" charset="0"/>
              </a:rPr>
              <a:t>dotnet run</a:t>
            </a:r>
            <a:r>
              <a:rPr lang="en-US" b="0" i="0" dirty="0">
                <a:solidFill>
                  <a:srgbClr val="000000"/>
                </a:solidFill>
                <a:effectLst/>
                <a:latin typeface="arial" panose="020B0604020202020204" pitchFamily="34" charset="0"/>
              </a:rPr>
              <a:t>” command as shown in the below image.</a:t>
            </a:r>
            <a:endParaRPr lang="en-IN" dirty="0"/>
          </a:p>
        </p:txBody>
      </p:sp>
      <p:pic>
        <p:nvPicPr>
          <p:cNvPr id="3074" name="Picture 2" descr="dotnet run command">
            <a:extLst>
              <a:ext uri="{FF2B5EF4-FFF2-40B4-BE49-F238E27FC236}">
                <a16:creationId xmlns:a16="http://schemas.microsoft.com/office/drawing/2014/main" id="{D296BD81-6CA4-4122-B3D3-827777F681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2800" y="2748635"/>
            <a:ext cx="6610350" cy="8001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Kestrel Web Server in ASP.NET Core Application">
            <a:extLst>
              <a:ext uri="{FF2B5EF4-FFF2-40B4-BE49-F238E27FC236}">
                <a16:creationId xmlns:a16="http://schemas.microsoft.com/office/drawing/2014/main" id="{69FA4862-3525-4CA1-B91C-0F429DDE73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75" y="3834021"/>
            <a:ext cx="8067675" cy="242887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1DD22D1-11E5-410D-9AE7-22A83A8FD9FF}"/>
              </a:ext>
            </a:extLst>
          </p:cNvPr>
          <p:cNvSpPr txBox="1"/>
          <p:nvPr/>
        </p:nvSpPr>
        <p:spPr>
          <a:xfrm>
            <a:off x="8217310" y="2923855"/>
            <a:ext cx="3866535" cy="3046988"/>
          </a:xfrm>
          <a:prstGeom prst="rect">
            <a:avLst/>
          </a:prstGeom>
          <a:noFill/>
        </p:spPr>
        <p:txBody>
          <a:bodyPr wrap="square">
            <a:spAutoFit/>
          </a:bodyPr>
          <a:lstStyle/>
          <a:p>
            <a:pPr algn="just" fontAlgn="base"/>
            <a:r>
              <a:rPr lang="en-US" sz="1600" b="0" i="0" dirty="0">
                <a:solidFill>
                  <a:srgbClr val="000000"/>
                </a:solidFill>
                <a:effectLst/>
                <a:latin typeface="arial" panose="020B0604020202020204" pitchFamily="34" charset="0"/>
              </a:rPr>
              <a:t>Here, in my case, the application is available at </a:t>
            </a:r>
            <a:r>
              <a:rPr lang="en-US" sz="1600" b="1" i="0" u="none" strike="noStrike" dirty="0">
                <a:solidFill>
                  <a:srgbClr val="000000"/>
                </a:solidFill>
                <a:effectLst/>
                <a:latin typeface="arial" panose="020B0604020202020204" pitchFamily="34" charset="0"/>
                <a:hlinkClick r:id="rId4"/>
              </a:rPr>
              <a:t>http://localhost:5000</a:t>
            </a:r>
            <a:r>
              <a:rPr lang="en-US" sz="1600" b="1" i="0" dirty="0">
                <a:solidFill>
                  <a:srgbClr val="000000"/>
                </a:solidFill>
                <a:effectLst/>
                <a:latin typeface="arial" panose="020B0604020202020204" pitchFamily="34" charset="0"/>
              </a:rPr>
              <a:t>. </a:t>
            </a:r>
          </a:p>
          <a:p>
            <a:pPr algn="just" fontAlgn="base"/>
            <a:r>
              <a:rPr lang="en-US" sz="1600" b="0" i="0" dirty="0">
                <a:solidFill>
                  <a:srgbClr val="000000"/>
                </a:solidFill>
                <a:effectLst/>
                <a:latin typeface="arial" panose="020B0604020202020204" pitchFamily="34" charset="0"/>
              </a:rPr>
              <a:t>If you remember this port is configured in the </a:t>
            </a:r>
            <a:r>
              <a:rPr lang="en-US" sz="1600" b="0" i="0" dirty="0" err="1">
                <a:solidFill>
                  <a:srgbClr val="000000"/>
                </a:solidFill>
                <a:effectLst/>
                <a:latin typeface="arial" panose="020B0604020202020204" pitchFamily="34" charset="0"/>
              </a:rPr>
              <a:t>launchSettings.json</a:t>
            </a:r>
            <a:r>
              <a:rPr lang="en-US" sz="1600" b="0" i="0" dirty="0">
                <a:solidFill>
                  <a:srgbClr val="000000"/>
                </a:solidFill>
                <a:effectLst/>
                <a:latin typeface="arial" panose="020B0604020202020204" pitchFamily="34" charset="0"/>
              </a:rPr>
              <a:t> file of your application inside the </a:t>
            </a:r>
            <a:r>
              <a:rPr lang="en-US" sz="1600" b="0" i="0" dirty="0" err="1">
                <a:solidFill>
                  <a:srgbClr val="000000"/>
                </a:solidFill>
                <a:effectLst/>
                <a:latin typeface="arial" panose="020B0604020202020204" pitchFamily="34" charset="0"/>
              </a:rPr>
              <a:t>FirstCoreWebApplication</a:t>
            </a:r>
            <a:r>
              <a:rPr lang="en-US" sz="1600" b="0" i="0" dirty="0">
                <a:solidFill>
                  <a:srgbClr val="000000"/>
                </a:solidFill>
                <a:effectLst/>
                <a:latin typeface="arial" panose="020B0604020202020204" pitchFamily="34" charset="0"/>
              </a:rPr>
              <a:t> profile which is nothing but the profile for the Kestrel server. Now open the browser and navigate to the </a:t>
            </a:r>
            <a:r>
              <a:rPr lang="en-US" sz="1600" b="1" i="0" dirty="0">
                <a:solidFill>
                  <a:srgbClr val="000000"/>
                </a:solidFill>
                <a:effectLst/>
                <a:latin typeface="arial" panose="020B0604020202020204" pitchFamily="34" charset="0"/>
              </a:rPr>
              <a:t>http://localhost:5000 </a:t>
            </a:r>
            <a:r>
              <a:rPr lang="en-US" sz="1600" b="0" i="0" dirty="0">
                <a:solidFill>
                  <a:srgbClr val="000000"/>
                </a:solidFill>
                <a:effectLst/>
                <a:latin typeface="arial" panose="020B0604020202020204" pitchFamily="34" charset="0"/>
              </a:rPr>
              <a:t>URL</a:t>
            </a:r>
            <a:r>
              <a:rPr lang="en-US" sz="1600" b="1" i="0" dirty="0">
                <a:solidFill>
                  <a:srgbClr val="000000"/>
                </a:solidFill>
                <a:effectLst/>
                <a:latin typeface="arial" panose="020B0604020202020204" pitchFamily="34" charset="0"/>
              </a:rPr>
              <a:t> </a:t>
            </a:r>
            <a:r>
              <a:rPr lang="en-US" sz="1600" b="0" i="0" dirty="0">
                <a:solidFill>
                  <a:srgbClr val="000000"/>
                </a:solidFill>
                <a:effectLst/>
                <a:latin typeface="arial" panose="020B0604020202020204" pitchFamily="34" charset="0"/>
              </a:rPr>
              <a:t>and It should display the worker process name as </a:t>
            </a:r>
            <a:r>
              <a:rPr lang="en-US" sz="1600" b="1" i="0" dirty="0">
                <a:solidFill>
                  <a:srgbClr val="000000"/>
                </a:solidFill>
                <a:effectLst/>
                <a:latin typeface="arial" panose="020B0604020202020204" pitchFamily="34" charset="0"/>
              </a:rPr>
              <a:t>dotnet</a:t>
            </a:r>
            <a:r>
              <a:rPr lang="en-US" sz="1600" b="0" i="0" dirty="0">
                <a:solidFill>
                  <a:srgbClr val="000000"/>
                </a:solidFill>
                <a:effectLst/>
                <a:latin typeface="arial" panose="020B0604020202020204" pitchFamily="34" charset="0"/>
              </a:rPr>
              <a:t> as shown below.</a:t>
            </a:r>
            <a:endParaRPr lang="en-US" sz="1600" b="0" i="0" dirty="0">
              <a:solidFill>
                <a:srgbClr val="212529"/>
              </a:solidFill>
              <a:effectLst/>
              <a:latin typeface="-apple-system"/>
            </a:endParaRPr>
          </a:p>
        </p:txBody>
      </p:sp>
      <p:pic>
        <p:nvPicPr>
          <p:cNvPr id="3078" name="Picture 6" descr="Kestrel Web Server">
            <a:extLst>
              <a:ext uri="{FF2B5EF4-FFF2-40B4-BE49-F238E27FC236}">
                <a16:creationId xmlns:a16="http://schemas.microsoft.com/office/drawing/2014/main" id="{AD9006C0-2179-452A-964D-4B806719D7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13150" y="5970843"/>
            <a:ext cx="4095750" cy="99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916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6758CF-7FF0-42F2-92C6-B853A734D40D}"/>
              </a:ext>
            </a:extLst>
          </p:cNvPr>
          <p:cNvSpPr txBox="1"/>
          <p:nvPr/>
        </p:nvSpPr>
        <p:spPr>
          <a:xfrm>
            <a:off x="3146322" y="0"/>
            <a:ext cx="6096000" cy="369332"/>
          </a:xfrm>
          <a:prstGeom prst="rect">
            <a:avLst/>
          </a:prstGeom>
          <a:noFill/>
        </p:spPr>
        <p:txBody>
          <a:bodyPr wrap="square">
            <a:spAutoFit/>
          </a:bodyPr>
          <a:lstStyle/>
          <a:p>
            <a:pPr algn="just" fontAlgn="base"/>
            <a:r>
              <a:rPr lang="en-IN" b="1" i="0" dirty="0">
                <a:solidFill>
                  <a:srgbClr val="000000"/>
                </a:solidFill>
                <a:effectLst/>
                <a:latin typeface="arial" panose="020B0604020202020204" pitchFamily="34" charset="0"/>
              </a:rPr>
              <a:t>Changing the Port Number:</a:t>
            </a:r>
            <a:endParaRPr lang="en-IN" b="0" i="0" dirty="0">
              <a:solidFill>
                <a:srgbClr val="3A3A3A"/>
              </a:solidFill>
              <a:effectLst/>
              <a:latin typeface="-apple-system"/>
            </a:endParaRPr>
          </a:p>
        </p:txBody>
      </p:sp>
      <p:sp>
        <p:nvSpPr>
          <p:cNvPr id="7" name="TextBox 6">
            <a:extLst>
              <a:ext uri="{FF2B5EF4-FFF2-40B4-BE49-F238E27FC236}">
                <a16:creationId xmlns:a16="http://schemas.microsoft.com/office/drawing/2014/main" id="{B8229DA0-D73D-4893-A7C6-2E0BD0E36FEF}"/>
              </a:ext>
            </a:extLst>
          </p:cNvPr>
          <p:cNvSpPr txBox="1"/>
          <p:nvPr/>
        </p:nvSpPr>
        <p:spPr>
          <a:xfrm>
            <a:off x="235973" y="530545"/>
            <a:ext cx="11779045"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you want then you can also change the Port number for Kestrel Server. To do so open the </a:t>
            </a:r>
            <a:r>
              <a:rPr lang="en-US" b="0" i="0" dirty="0" err="1">
                <a:solidFill>
                  <a:srgbClr val="000000"/>
                </a:solidFill>
                <a:effectLst/>
                <a:latin typeface="arial" panose="020B0604020202020204" pitchFamily="34" charset="0"/>
              </a:rPr>
              <a:t>launchSettings.json</a:t>
            </a:r>
            <a:r>
              <a:rPr lang="en-US" b="0" i="0" dirty="0">
                <a:solidFill>
                  <a:srgbClr val="000000"/>
                </a:solidFill>
                <a:effectLst/>
                <a:latin typeface="arial" panose="020B0604020202020204" pitchFamily="34" charset="0"/>
              </a:rPr>
              <a:t> file and give any available Port number as shown below. Here, I am changing the Port number to 8080.</a:t>
            </a:r>
            <a:endParaRPr lang="en-IN" dirty="0"/>
          </a:p>
        </p:txBody>
      </p:sp>
      <p:sp>
        <p:nvSpPr>
          <p:cNvPr id="10" name="TextBox 9">
            <a:extLst>
              <a:ext uri="{FF2B5EF4-FFF2-40B4-BE49-F238E27FC236}">
                <a16:creationId xmlns:a16="http://schemas.microsoft.com/office/drawing/2014/main" id="{B3737678-C91E-4D33-857F-03860874A899}"/>
              </a:ext>
            </a:extLst>
          </p:cNvPr>
          <p:cNvSpPr txBox="1"/>
          <p:nvPr/>
        </p:nvSpPr>
        <p:spPr>
          <a:xfrm>
            <a:off x="6096000" y="1647354"/>
            <a:ext cx="6096000"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Now, save the changes and run the application using Kestrel Server and you should see the changed port number in the URL.</a:t>
            </a:r>
            <a:endParaRPr lang="en-IN" dirty="0"/>
          </a:p>
        </p:txBody>
      </p:sp>
      <p:pic>
        <p:nvPicPr>
          <p:cNvPr id="3" name="Picture 2">
            <a:extLst>
              <a:ext uri="{FF2B5EF4-FFF2-40B4-BE49-F238E27FC236}">
                <a16:creationId xmlns:a16="http://schemas.microsoft.com/office/drawing/2014/main" id="{50F84DCF-B06A-ABC0-CE67-14A3B4FFC5F4}"/>
              </a:ext>
            </a:extLst>
          </p:cNvPr>
          <p:cNvPicPr>
            <a:picLocks noChangeAspect="1"/>
          </p:cNvPicPr>
          <p:nvPr/>
        </p:nvPicPr>
        <p:blipFill>
          <a:blip r:embed="rId2"/>
          <a:stretch>
            <a:fillRect/>
          </a:stretch>
        </p:blipFill>
        <p:spPr>
          <a:xfrm>
            <a:off x="886225" y="1647354"/>
            <a:ext cx="4732151" cy="4536338"/>
          </a:xfrm>
          <a:prstGeom prst="rect">
            <a:avLst/>
          </a:prstGeom>
        </p:spPr>
      </p:pic>
      <p:cxnSp>
        <p:nvCxnSpPr>
          <p:cNvPr id="6" name="Straight Arrow Connector 5">
            <a:extLst>
              <a:ext uri="{FF2B5EF4-FFF2-40B4-BE49-F238E27FC236}">
                <a16:creationId xmlns:a16="http://schemas.microsoft.com/office/drawing/2014/main" id="{E53ACBA0-38BF-A5EE-A7CD-56E84A44A23E}"/>
              </a:ext>
            </a:extLst>
          </p:cNvPr>
          <p:cNvCxnSpPr/>
          <p:nvPr/>
        </p:nvCxnSpPr>
        <p:spPr>
          <a:xfrm flipV="1">
            <a:off x="4138367" y="989814"/>
            <a:ext cx="5731497" cy="2439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8194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442C63-0014-CCEF-643C-0A81D6A7C34B}"/>
              </a:ext>
            </a:extLst>
          </p:cNvPr>
          <p:cNvSpPr txBox="1"/>
          <p:nvPr/>
        </p:nvSpPr>
        <p:spPr>
          <a:xfrm>
            <a:off x="417136" y="515820"/>
            <a:ext cx="10178592" cy="646331"/>
          </a:xfrm>
          <a:prstGeom prst="rect">
            <a:avLst/>
          </a:prstGeom>
          <a:noFill/>
        </p:spPr>
        <p:txBody>
          <a:bodyPr wrap="square">
            <a:spAutoFit/>
          </a:bodyPr>
          <a:lstStyle/>
          <a:p>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Q1. </a:t>
            </a:r>
            <a:r>
              <a:rPr kumimoji="0" lang="en-US" sz="1800" b="1" i="0" u="none" strike="noStrike" kern="1200" cap="none" spc="0" normalizeH="0" baseline="0" noProof="0" dirty="0" err="1">
                <a:ln>
                  <a:noFill/>
                </a:ln>
                <a:solidFill>
                  <a:srgbClr val="007BFF"/>
                </a:solidFill>
                <a:effectLst/>
                <a:uLnTx/>
                <a:uFillTx/>
                <a:latin typeface="arial" panose="020B0604020202020204" pitchFamily="34" charset="0"/>
                <a:ea typeface="+mn-ea"/>
                <a:cs typeface="+mn-cs"/>
              </a:rPr>
              <a:t>launchSettings.json</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file which is present inside the ____________folder of your application</a:t>
            </a:r>
          </a:p>
          <a:p>
            <a:r>
              <a:rPr lang="en-US" dirty="0">
                <a:solidFill>
                  <a:srgbClr val="000000"/>
                </a:solidFill>
                <a:latin typeface="arial" panose="020B0604020202020204" pitchFamily="34" charset="0"/>
              </a:rPr>
              <a:t>Q2. How to change </a:t>
            </a:r>
            <a:r>
              <a:rPr lang="en-US" b="0" i="0" dirty="0">
                <a:solidFill>
                  <a:srgbClr val="000000"/>
                </a:solidFill>
                <a:effectLst/>
                <a:latin typeface="arial" panose="020B0604020202020204" pitchFamily="34" charset="0"/>
              </a:rPr>
              <a:t> the Port number for Kestrel Server</a:t>
            </a:r>
            <a:endParaRPr lang="en-IN" dirty="0"/>
          </a:p>
        </p:txBody>
      </p:sp>
    </p:spTree>
    <p:extLst>
      <p:ext uri="{BB962C8B-B14F-4D97-AF65-F5344CB8AC3E}">
        <p14:creationId xmlns:p14="http://schemas.microsoft.com/office/powerpoint/2010/main" val="6186545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945</Words>
  <Application>Microsoft Office PowerPoint</Application>
  <PresentationFormat>Widescreen</PresentationFormat>
  <Paragraphs>39</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-apple-system</vt:lpstr>
      <vt:lpstr>Arial</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13</cp:revision>
  <dcterms:created xsi:type="dcterms:W3CDTF">2021-10-12T07:14:47Z</dcterms:created>
  <dcterms:modified xsi:type="dcterms:W3CDTF">2024-09-24T15:28:41Z</dcterms:modified>
</cp:coreProperties>
</file>