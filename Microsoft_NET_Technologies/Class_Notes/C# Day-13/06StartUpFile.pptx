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2CEDFB-CB3B-4B62-A27C-20499A300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5287DCC-27EA-46C3-81B2-A5E5F2888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5EE9D89-482E-48A0-9F45-BC7BEC89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D152D71-AD3B-4B8F-949A-BDAD47FC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F0DC8C1-5D95-4690-88DE-32F6F047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54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A9488F-6CFB-4C20-8B11-C51E0B921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AB81F5-7082-4AFB-B483-13E144C40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9C5CF2-DD43-4448-B1CC-E57D144C0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8405308-6C6F-45B9-B6CB-3BDD9804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697ED6-3E7B-494A-9B24-C1DA3826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657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C57E55-DC6E-4E7C-9388-06E6AC3B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5AAD443-9ADC-4614-98A4-AA9E1A78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F3EF1A0-D9BD-46DF-8C7F-40C6A423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CD0CE3-940B-4136-9CE3-1789D3F24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D6C4C10-D85A-463E-9EC3-1ECBE873F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97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CE0E46-D2C4-4AA8-87E9-A0E2F98B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A29ABE-B85E-42E4-B8AF-BD72F53E3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1C53BB-46FF-4135-84B9-0D7B689ED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3102797-2138-432D-92D3-69C1C270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087DC4C-96EC-4D44-A8F4-982ACE8D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FB83C6B-1858-4981-9953-442D1843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0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47E199-D5F3-44FE-BCE0-D646E2D0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0CA5072-7C05-4EF6-9629-F28CBBF39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B7BC124-6E8F-4546-B5D1-41C5B467D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5D89AA1-1CF4-46AF-8899-3589044DE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CECB52E-8488-48E0-8432-E9EA45AA7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8F2F6EF-3112-4760-8B22-007FA04BD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2A25E31-0E51-404D-9A18-915416CF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EB706126-5D25-404F-8819-02603273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1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22830A-AA66-400E-844F-062876DA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4733F00-1CB2-41B9-9F2E-5A9AA434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C52173B-F3F4-42AF-A5CE-5099D4D4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5581F08-6A41-40B9-A8F7-D1459F55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094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CE37577-5E3D-41D4-A96D-7F58F2CD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9D2FE49-8BC9-4301-9FAE-BAA0D39A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5A7DDCA-2851-43B4-8496-7D099E6C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721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45C406-1318-4F16-8D34-79D6773E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1E6954-C8D5-44C5-A727-9664921C8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C68EE5A-CF23-4B16-8704-CDEF1D0B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5D95CE4-31D1-4CAD-9A4A-9C8FB0215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3D30554-39A3-4EB6-B3B8-70158573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DCEAF10-2B80-490F-8BEB-40B0C45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77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3953DF-0A65-498A-9587-1718DB61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38BB599-29B2-4D4E-905C-0685B32C6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D227BF5-D551-4861-920D-2B0275DD7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2AA200B-9DD8-459C-98AD-FC88E28A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6AFA956-5F9E-4C45-B054-DA93E5DCA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14A2FAC-572F-47AD-BF0C-B4FE25C0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827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43D0A1-0AB8-43EC-B3B3-27BAA9EA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2984D23-8D1E-4A4A-BC5C-683F672B4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9A5F66F-1C97-4867-8A08-972BB672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F3361C0-4595-416C-8C66-D6B86D65A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F2D7EF-06C2-4BC6-931B-CFFFFC49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45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F7E9373-31BA-4AAD-9474-796873E0F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D4F4E4B-CA58-4A52-89C6-1D8981FA5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F9E8C03-5F6F-43C1-B467-3C1D0F02B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83D0111-9585-4B11-B31D-E99E2F99E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1F1DD11-1D82-42E0-90A3-82A01688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82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EC8EE5C-3AF6-4C12-95E2-08786C67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7547680-7225-4416-A074-DE5F99397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F839A2-53CB-4B5B-8E4A-685E6C3E2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1BF5D-DD14-4408-AB50-EFB95E3DF69E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41434B8-27C7-4CE0-A801-7FF24BE14C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63B61F3-F2E4-4E7F-90B4-9098384B2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5FAC5-8C91-4ADA-BBEC-6ABCB8CF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29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E46D0D9-3867-4693-85C3-19733995BEDE}"/>
              </a:ext>
            </a:extLst>
          </p:cNvPr>
          <p:cNvSpPr txBox="1"/>
          <p:nvPr/>
        </p:nvSpPr>
        <p:spPr>
          <a:xfrm>
            <a:off x="3048000" y="149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Startup Class in ASP.NET Core Application:</a:t>
            </a:r>
            <a:endParaRPr lang="en-US" b="0" i="0" dirty="0">
              <a:solidFill>
                <a:srgbClr val="3A3A3A"/>
              </a:solidFill>
              <a:effectLst/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DDF88C5-AA2E-4992-B8DE-43C59BBAA841}"/>
              </a:ext>
            </a:extLst>
          </p:cNvPr>
          <p:cNvSpPr txBox="1"/>
          <p:nvPr/>
        </p:nvSpPr>
        <p:spPr>
          <a:xfrm>
            <a:off x="147484" y="634462"/>
            <a:ext cx="11877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ASP.NET Core application must include a Startup class. It is like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Global.asax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file our traditional .NET application. As the name suggests, it is executed first when the application starts.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8D3F3FB-8342-8E99-00E0-2E15A5098CFD}"/>
              </a:ext>
            </a:extLst>
          </p:cNvPr>
          <p:cNvSpPr txBox="1"/>
          <p:nvPr/>
        </p:nvSpPr>
        <p:spPr>
          <a:xfrm>
            <a:off x="737648" y="1396292"/>
            <a:ext cx="10612224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WebApplication.CreateBuilder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builder.Services.AddControllersWithViews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builder.Services.AddSingleton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IEmployeeRepository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MockEmployeeRepository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Configure the HTTP request pipeline.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(!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app.Environment.IsDevelopment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app.UseExceptionHandler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"/Home/Error"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The default HSTS value is 30 days. You may want to change this for production scenarios, see https://aka.ms/aspnetcore-hsts.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app.UseHsts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app.UseHttpsRedirection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app.UseStaticFiles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app.UseRouting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app.UseAuthorization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app.MapControllerRoute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name: 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"default"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pattern: 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"{controller=Home}/{action=Index}/{id?}"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app.run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252898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DF71313-E464-4295-8254-B0EFE4846256}"/>
              </a:ext>
            </a:extLst>
          </p:cNvPr>
          <p:cNvSpPr txBox="1"/>
          <p:nvPr/>
        </p:nvSpPr>
        <p:spPr>
          <a:xfrm>
            <a:off x="1966451" y="1602557"/>
            <a:ext cx="8259097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 fontAlgn="base"/>
            <a:r>
              <a:rPr lang="en-IN" b="1" i="0" dirty="0">
                <a:solidFill>
                  <a:srgbClr val="D171DD"/>
                </a:solidFill>
                <a:effectLst/>
                <a:latin typeface="inherit"/>
              </a:rPr>
              <a:t>if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CFD5E0"/>
                </a:solidFill>
                <a:effectLst/>
                <a:latin typeface="inherit"/>
              </a:rPr>
              <a:t>env.</a:t>
            </a:r>
            <a:r>
              <a:rPr lang="en-IN" b="0" i="0" dirty="0" err="1">
                <a:solidFill>
                  <a:srgbClr val="4284AE"/>
                </a:solidFill>
                <a:effectLst/>
                <a:latin typeface="inherit"/>
              </a:rPr>
              <a:t>IsDevelopment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()){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  <a:p>
            <a:pPr algn="l" fontAlgn="base"/>
            <a:r>
              <a:rPr lang="en-IN" b="0" i="0" dirty="0" err="1">
                <a:solidFill>
                  <a:srgbClr val="CFD5E0"/>
                </a:solidFill>
                <a:effectLst/>
                <a:latin typeface="inherit"/>
              </a:rPr>
              <a:t>app.</a:t>
            </a:r>
            <a:r>
              <a:rPr lang="en-IN" b="0" i="0" dirty="0" err="1">
                <a:solidFill>
                  <a:srgbClr val="4284AE"/>
                </a:solidFill>
                <a:effectLst/>
                <a:latin typeface="inherit"/>
              </a:rPr>
              <a:t>UseDeveloperExceptionPage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()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;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  <a:p>
            <a:pPr algn="l" fontAlgn="base"/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}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  <a:p>
            <a:pPr algn="l" fontAlgn="base"/>
            <a:r>
              <a:rPr lang="en-IN" b="0" i="0" dirty="0" err="1">
                <a:solidFill>
                  <a:srgbClr val="CFD5E0"/>
                </a:solidFill>
                <a:effectLst/>
                <a:latin typeface="inherit"/>
              </a:rPr>
              <a:t>app.</a:t>
            </a:r>
            <a:r>
              <a:rPr lang="en-IN" b="0" i="0" dirty="0" err="1">
                <a:solidFill>
                  <a:srgbClr val="4284AE"/>
                </a:solidFill>
                <a:effectLst/>
                <a:latin typeface="inherit"/>
              </a:rPr>
              <a:t>UseRouting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()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;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  <a:p>
            <a:pPr algn="l" fontAlgn="base"/>
            <a:r>
              <a:rPr lang="en-IN" b="0" i="0" dirty="0" err="1">
                <a:solidFill>
                  <a:srgbClr val="CFD5E0"/>
                </a:solidFill>
                <a:effectLst/>
                <a:latin typeface="inherit"/>
              </a:rPr>
              <a:t>app.</a:t>
            </a:r>
            <a:r>
              <a:rPr lang="en-IN" b="0" i="0" dirty="0" err="1">
                <a:solidFill>
                  <a:srgbClr val="4284AE"/>
                </a:solidFill>
                <a:effectLst/>
                <a:latin typeface="inherit"/>
              </a:rPr>
              <a:t>UseEndpoints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endpoints =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&gt;{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  <a:p>
            <a:pPr algn="l" fontAlgn="base"/>
            <a:r>
              <a:rPr lang="en-IN" b="0" i="0" dirty="0" err="1">
                <a:solidFill>
                  <a:srgbClr val="CFD5E0"/>
                </a:solidFill>
                <a:effectLst/>
                <a:latin typeface="inherit"/>
              </a:rPr>
              <a:t>endpoints.</a:t>
            </a:r>
            <a:r>
              <a:rPr lang="en-IN" b="0" i="0" dirty="0" err="1">
                <a:solidFill>
                  <a:srgbClr val="4284AE"/>
                </a:solidFill>
                <a:effectLst/>
                <a:latin typeface="inherit"/>
              </a:rPr>
              <a:t>MapGet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7CC379"/>
                </a:solidFill>
                <a:effectLst/>
                <a:latin typeface="inherit"/>
              </a:rPr>
              <a:t>"/"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, </a:t>
            </a:r>
            <a:r>
              <a:rPr lang="en-IN" b="1" i="0" dirty="0">
                <a:solidFill>
                  <a:srgbClr val="D171DD"/>
                </a:solidFill>
                <a:effectLst/>
                <a:latin typeface="inherit"/>
              </a:rPr>
              <a:t>async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 context =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&gt;{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  <a:p>
            <a:pPr algn="l" fontAlgn="base"/>
            <a:r>
              <a:rPr lang="en-IN" b="1" i="0" dirty="0">
                <a:solidFill>
                  <a:srgbClr val="D171DD"/>
                </a:solidFill>
                <a:effectLst/>
                <a:latin typeface="inherit"/>
              </a:rPr>
              <a:t>await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CFD5E0"/>
                </a:solidFill>
                <a:effectLst/>
                <a:latin typeface="inherit"/>
              </a:rPr>
              <a:t>context.</a:t>
            </a:r>
            <a:r>
              <a:rPr lang="en-IN" b="0" i="0" dirty="0" err="1">
                <a:solidFill>
                  <a:srgbClr val="4284AE"/>
                </a:solidFill>
                <a:effectLst/>
                <a:latin typeface="inherit"/>
              </a:rPr>
              <a:t>Response</a:t>
            </a:r>
            <a:r>
              <a:rPr lang="en-IN" b="0" i="0" dirty="0" err="1">
                <a:solidFill>
                  <a:srgbClr val="CFD5E0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4284AE"/>
                </a:solidFill>
                <a:effectLst/>
                <a:latin typeface="inherit"/>
              </a:rPr>
              <a:t>WriteAsync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7CC379"/>
                </a:solidFill>
                <a:effectLst/>
                <a:latin typeface="inherit"/>
              </a:rPr>
              <a:t>"Hello World!"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)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;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  <a:p>
            <a:pPr algn="l" fontAlgn="base"/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		})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;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  <a:p>
            <a:pPr algn="l" fontAlgn="base"/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	})</a:t>
            </a:r>
            <a:r>
              <a:rPr lang="en-IN" b="0" i="0" dirty="0">
                <a:solidFill>
                  <a:srgbClr val="CFD5E0"/>
                </a:solidFill>
                <a:effectLst/>
                <a:latin typeface="inherit"/>
              </a:rPr>
              <a:t>;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  <a:p>
            <a:pPr algn="l" fontAlgn="base"/>
            <a:r>
              <a:rPr lang="en-IN" b="1" dirty="0">
                <a:solidFill>
                  <a:srgbClr val="6B7C8B"/>
                </a:solidFill>
                <a:latin typeface="inherit"/>
              </a:rPr>
              <a:t>   </a:t>
            </a:r>
            <a:r>
              <a:rPr lang="en-IN" b="1" i="0" dirty="0">
                <a:solidFill>
                  <a:srgbClr val="6B7C8B"/>
                </a:solidFill>
                <a:effectLst/>
                <a:latin typeface="inherit"/>
              </a:rPr>
              <a:t>}  }   }</a:t>
            </a:r>
            <a:endParaRPr lang="en-IN" b="0" i="0" dirty="0">
              <a:solidFill>
                <a:srgbClr val="596174"/>
              </a:solidFill>
              <a:effectLst/>
              <a:latin typeface="Inconsolata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77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E56749F-8ED2-4C6C-B733-4101F8C52CD1}"/>
              </a:ext>
            </a:extLst>
          </p:cNvPr>
          <p:cNvSpPr txBox="1"/>
          <p:nvPr/>
        </p:nvSpPr>
        <p:spPr>
          <a:xfrm>
            <a:off x="1583703" y="109454"/>
            <a:ext cx="7825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Configure 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Servicesin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ASP.NET Core Startup class</a:t>
            </a:r>
            <a:endParaRPr lang="en-US" b="0" i="0" dirty="0">
              <a:solidFill>
                <a:srgbClr val="3A3A3A"/>
              </a:solidFill>
              <a:effectLst/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E490AC6-6C46-4F8F-9AB7-E5E93047DC96}"/>
              </a:ext>
            </a:extLst>
          </p:cNvPr>
          <p:cNvSpPr txBox="1"/>
          <p:nvPr/>
        </p:nvSpPr>
        <p:spPr>
          <a:xfrm>
            <a:off x="-1" y="733290"/>
            <a:ext cx="118380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Dependency Injection pattern is used heavily in ASP.NET Core architecture. It includes the built-in IoC container to provide dependent objects using constructors.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Here you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register your dependent classes with the built-in IoC container. After registering the dependent class, it can be used anywhere in the application. You just need to include it in the parameter of the constructor of a class where you want to use it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just" fontAlgn="base"/>
            <a:r>
              <a:rPr lang="en-US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IoC container will inject it automatically.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ASP.NET Core refers to the dependent class as a Service. So, whenever you read “Service” then understand it as a class that is going to be used in some other class.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/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For example, if you want to add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RazorPages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services or MVC services to your asp.net core application, then you need to add those services to the parameter this method accepts as shown in the below image.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0D8163D-9DD9-A1A7-1B75-F3045EA6518F}"/>
              </a:ext>
            </a:extLst>
          </p:cNvPr>
          <p:cNvSpPr txBox="1"/>
          <p:nvPr/>
        </p:nvSpPr>
        <p:spPr>
          <a:xfrm>
            <a:off x="1088795" y="4100660"/>
            <a:ext cx="7828961" cy="7386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builder.Services.AddControllersWithViews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</a:t>
            </a:r>
            <a:endParaRPr kumimoji="0" lang="en-US" sz="11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builder.Services.AddSingleton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IEmployeeRepository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MockEmployeeRepository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66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5334527-54EF-459D-AB1E-4ED026FC18AF}"/>
              </a:ext>
            </a:extLst>
          </p:cNvPr>
          <p:cNvSpPr txBox="1"/>
          <p:nvPr/>
        </p:nvSpPr>
        <p:spPr>
          <a:xfrm>
            <a:off x="1027522" y="228289"/>
            <a:ext cx="1044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WebApplication.CreateBuilder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ASP.NET Core Startup class</a:t>
            </a:r>
            <a:endParaRPr lang="en-US" b="0" i="0" dirty="0">
              <a:solidFill>
                <a:srgbClr val="3A3A3A"/>
              </a:solidFill>
              <a:effectLst/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970A40-38C9-485C-9325-DDE802AE231F}"/>
              </a:ext>
            </a:extLst>
          </p:cNvPr>
          <p:cNvSpPr txBox="1"/>
          <p:nvPr/>
        </p:nvSpPr>
        <p:spPr>
          <a:xfrm>
            <a:off x="285135" y="769569"/>
            <a:ext cx="117003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Here the application request pipeline for our asp.net core application using the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WebApplicationBuilder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instance that is provided by the built-in IoC container.</a:t>
            </a:r>
          </a:p>
          <a:p>
            <a:pPr algn="just" fontAlgn="base"/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ASP.NET Core introduced the middleware components to define a request pipeline, which will be executed on every request. You include only those middleware components which are required by your application and thus increase the performance of your </a:t>
            </a:r>
            <a:r>
              <a:rPr lang="en-US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lang="en-US" b="0" i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Configure() method in ASP.NET Core Startup class">
            <a:extLst>
              <a:ext uri="{FF2B5EF4-FFF2-40B4-BE49-F238E27FC236}">
                <a16:creationId xmlns="" xmlns:a16="http://schemas.microsoft.com/office/drawing/2014/main" id="{A88CEE7C-E405-4F23-9FC1-5195DCA210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19" r="1282"/>
          <a:stretch/>
        </p:blipFill>
        <p:spPr bwMode="auto">
          <a:xfrm>
            <a:off x="5873254" y="3156118"/>
            <a:ext cx="6318746" cy="320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4CAF54B-5FFE-E691-5DCC-B62BD1B631B8}"/>
              </a:ext>
            </a:extLst>
          </p:cNvPr>
          <p:cNvSpPr txBox="1"/>
          <p:nvPr/>
        </p:nvSpPr>
        <p:spPr>
          <a:xfrm>
            <a:off x="155543" y="3971644"/>
            <a:ext cx="60944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WebApplication.CreateBuilder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builder.Services.AddControllersWithViews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builder.Services.AddSingleton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IEmployeeRepository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MockEmployeeRepository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41374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468</Words>
  <Application>Microsoft Office PowerPoint</Application>
  <PresentationFormat>Widescreen</PresentationFormat>
  <Paragraphs>67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-apple-system</vt:lpstr>
      <vt:lpstr>Arial</vt:lpstr>
      <vt:lpstr>Arial</vt:lpstr>
      <vt:lpstr>Calibri</vt:lpstr>
      <vt:lpstr>Calibri Light</vt:lpstr>
      <vt:lpstr>Cascadia Mono</vt:lpstr>
      <vt:lpstr>Inconsolata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Basaid</cp:lastModifiedBy>
  <cp:revision>11</cp:revision>
  <dcterms:created xsi:type="dcterms:W3CDTF">2021-10-12T08:10:46Z</dcterms:created>
  <dcterms:modified xsi:type="dcterms:W3CDTF">2023-07-18T10:14:34Z</dcterms:modified>
</cp:coreProperties>
</file>