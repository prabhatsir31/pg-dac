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8" r:id="rId3"/>
    <p:sldId id="259" r:id="rId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7" d="100"/>
          <a:sy n="77" d="100"/>
        </p:scale>
        <p:origin x="806"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04CDBA-4D52-49F6-9192-24AC22D38B2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F2BAFE2F-538B-489E-A5FE-BAC1F17E48E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8A810B66-4978-4751-A6C6-090F66534698}"/>
              </a:ext>
            </a:extLst>
          </p:cNvPr>
          <p:cNvSpPr>
            <a:spLocks noGrp="1"/>
          </p:cNvSpPr>
          <p:nvPr>
            <p:ph type="dt" sz="half" idx="10"/>
          </p:nvPr>
        </p:nvSpPr>
        <p:spPr/>
        <p:txBody>
          <a:bodyPr/>
          <a:lstStyle/>
          <a:p>
            <a:fld id="{CF0DBD51-84BA-4CD2-B45F-09D48A8A7EBA}" type="datetimeFigureOut">
              <a:rPr lang="en-IN" smtClean="0"/>
              <a:t>09-11-2023</a:t>
            </a:fld>
            <a:endParaRPr lang="en-IN"/>
          </a:p>
        </p:txBody>
      </p:sp>
      <p:sp>
        <p:nvSpPr>
          <p:cNvPr id="5" name="Footer Placeholder 4">
            <a:extLst>
              <a:ext uri="{FF2B5EF4-FFF2-40B4-BE49-F238E27FC236}">
                <a16:creationId xmlns:a16="http://schemas.microsoft.com/office/drawing/2014/main" id="{C72F66DE-DBA9-49BA-ADE3-708B7FF225F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071B12E-7E05-4F38-AF35-E9FBDEE0F6AE}"/>
              </a:ext>
            </a:extLst>
          </p:cNvPr>
          <p:cNvSpPr>
            <a:spLocks noGrp="1"/>
          </p:cNvSpPr>
          <p:nvPr>
            <p:ph type="sldNum" sz="quarter" idx="12"/>
          </p:nvPr>
        </p:nvSpPr>
        <p:spPr/>
        <p:txBody>
          <a:bodyPr/>
          <a:lstStyle/>
          <a:p>
            <a:fld id="{67B7F2BA-E4C4-45DE-8C10-FAB6D6F314C0}" type="slidenum">
              <a:rPr lang="en-IN" smtClean="0"/>
              <a:t>‹#›</a:t>
            </a:fld>
            <a:endParaRPr lang="en-IN"/>
          </a:p>
        </p:txBody>
      </p:sp>
    </p:spTree>
    <p:extLst>
      <p:ext uri="{BB962C8B-B14F-4D97-AF65-F5344CB8AC3E}">
        <p14:creationId xmlns:p14="http://schemas.microsoft.com/office/powerpoint/2010/main" val="157937425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61F856-0F2B-4656-9B69-EFF609E7D74E}"/>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6F24436F-1670-4FB0-AB50-28B407B9963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E31CA06-2533-454D-A726-38491FB0B662}"/>
              </a:ext>
            </a:extLst>
          </p:cNvPr>
          <p:cNvSpPr>
            <a:spLocks noGrp="1"/>
          </p:cNvSpPr>
          <p:nvPr>
            <p:ph type="dt" sz="half" idx="10"/>
          </p:nvPr>
        </p:nvSpPr>
        <p:spPr/>
        <p:txBody>
          <a:bodyPr/>
          <a:lstStyle/>
          <a:p>
            <a:fld id="{CF0DBD51-84BA-4CD2-B45F-09D48A8A7EBA}" type="datetimeFigureOut">
              <a:rPr lang="en-IN" smtClean="0"/>
              <a:t>09-11-2023</a:t>
            </a:fld>
            <a:endParaRPr lang="en-IN"/>
          </a:p>
        </p:txBody>
      </p:sp>
      <p:sp>
        <p:nvSpPr>
          <p:cNvPr id="5" name="Footer Placeholder 4">
            <a:extLst>
              <a:ext uri="{FF2B5EF4-FFF2-40B4-BE49-F238E27FC236}">
                <a16:creationId xmlns:a16="http://schemas.microsoft.com/office/drawing/2014/main" id="{BA50A2C0-9C2D-467A-81F6-BE900032F36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AA016C6-D2FD-40BE-BF3B-F81630F2924C}"/>
              </a:ext>
            </a:extLst>
          </p:cNvPr>
          <p:cNvSpPr>
            <a:spLocks noGrp="1"/>
          </p:cNvSpPr>
          <p:nvPr>
            <p:ph type="sldNum" sz="quarter" idx="12"/>
          </p:nvPr>
        </p:nvSpPr>
        <p:spPr/>
        <p:txBody>
          <a:bodyPr/>
          <a:lstStyle/>
          <a:p>
            <a:fld id="{67B7F2BA-E4C4-45DE-8C10-FAB6D6F314C0}" type="slidenum">
              <a:rPr lang="en-IN" smtClean="0"/>
              <a:t>‹#›</a:t>
            </a:fld>
            <a:endParaRPr lang="en-IN"/>
          </a:p>
        </p:txBody>
      </p:sp>
    </p:spTree>
    <p:extLst>
      <p:ext uri="{BB962C8B-B14F-4D97-AF65-F5344CB8AC3E}">
        <p14:creationId xmlns:p14="http://schemas.microsoft.com/office/powerpoint/2010/main" val="24055558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B5E772-2533-4228-B6FA-42415CC52CC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E269944D-F4A1-472E-9E67-797DF025629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39F737F-3716-40AF-891A-80E520F12389}"/>
              </a:ext>
            </a:extLst>
          </p:cNvPr>
          <p:cNvSpPr>
            <a:spLocks noGrp="1"/>
          </p:cNvSpPr>
          <p:nvPr>
            <p:ph type="dt" sz="half" idx="10"/>
          </p:nvPr>
        </p:nvSpPr>
        <p:spPr/>
        <p:txBody>
          <a:bodyPr/>
          <a:lstStyle/>
          <a:p>
            <a:fld id="{CF0DBD51-84BA-4CD2-B45F-09D48A8A7EBA}" type="datetimeFigureOut">
              <a:rPr lang="en-IN" smtClean="0"/>
              <a:t>09-11-2023</a:t>
            </a:fld>
            <a:endParaRPr lang="en-IN"/>
          </a:p>
        </p:txBody>
      </p:sp>
      <p:sp>
        <p:nvSpPr>
          <p:cNvPr id="5" name="Footer Placeholder 4">
            <a:extLst>
              <a:ext uri="{FF2B5EF4-FFF2-40B4-BE49-F238E27FC236}">
                <a16:creationId xmlns:a16="http://schemas.microsoft.com/office/drawing/2014/main" id="{16484A45-30F0-458F-BA84-8C011A9F0BF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F93D1A8-851A-4778-B28B-A8A0A1868E4F}"/>
              </a:ext>
            </a:extLst>
          </p:cNvPr>
          <p:cNvSpPr>
            <a:spLocks noGrp="1"/>
          </p:cNvSpPr>
          <p:nvPr>
            <p:ph type="sldNum" sz="quarter" idx="12"/>
          </p:nvPr>
        </p:nvSpPr>
        <p:spPr/>
        <p:txBody>
          <a:bodyPr/>
          <a:lstStyle/>
          <a:p>
            <a:fld id="{67B7F2BA-E4C4-45DE-8C10-FAB6D6F314C0}" type="slidenum">
              <a:rPr lang="en-IN" smtClean="0"/>
              <a:t>‹#›</a:t>
            </a:fld>
            <a:endParaRPr lang="en-IN"/>
          </a:p>
        </p:txBody>
      </p:sp>
    </p:spTree>
    <p:extLst>
      <p:ext uri="{BB962C8B-B14F-4D97-AF65-F5344CB8AC3E}">
        <p14:creationId xmlns:p14="http://schemas.microsoft.com/office/powerpoint/2010/main" val="9624142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220449-7384-4453-BD33-1117CC9A8AB9}"/>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B3CC56DB-A425-47AD-B1FD-B8126E3EA4E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ED4E587D-EB44-4BB2-82CE-BD4EA498C90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ACF694CC-246C-48C3-804A-93EB61FA219B}"/>
              </a:ext>
            </a:extLst>
          </p:cNvPr>
          <p:cNvSpPr>
            <a:spLocks noGrp="1"/>
          </p:cNvSpPr>
          <p:nvPr>
            <p:ph type="dt" sz="half" idx="10"/>
          </p:nvPr>
        </p:nvSpPr>
        <p:spPr/>
        <p:txBody>
          <a:bodyPr/>
          <a:lstStyle/>
          <a:p>
            <a:fld id="{CF0DBD51-84BA-4CD2-B45F-09D48A8A7EBA}" type="datetimeFigureOut">
              <a:rPr lang="en-IN" smtClean="0"/>
              <a:t>09-11-2023</a:t>
            </a:fld>
            <a:endParaRPr lang="en-IN"/>
          </a:p>
        </p:txBody>
      </p:sp>
      <p:sp>
        <p:nvSpPr>
          <p:cNvPr id="6" name="Footer Placeholder 5">
            <a:extLst>
              <a:ext uri="{FF2B5EF4-FFF2-40B4-BE49-F238E27FC236}">
                <a16:creationId xmlns:a16="http://schemas.microsoft.com/office/drawing/2014/main" id="{51F60268-BFE2-4AB9-925F-3B5CB8B545B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CDD4C13-C362-45A3-9EE6-B916B98D8ADF}"/>
              </a:ext>
            </a:extLst>
          </p:cNvPr>
          <p:cNvSpPr>
            <a:spLocks noGrp="1"/>
          </p:cNvSpPr>
          <p:nvPr>
            <p:ph type="sldNum" sz="quarter" idx="12"/>
          </p:nvPr>
        </p:nvSpPr>
        <p:spPr/>
        <p:txBody>
          <a:bodyPr/>
          <a:lstStyle/>
          <a:p>
            <a:fld id="{67B7F2BA-E4C4-45DE-8C10-FAB6D6F314C0}" type="slidenum">
              <a:rPr lang="en-IN" smtClean="0"/>
              <a:t>‹#›</a:t>
            </a:fld>
            <a:endParaRPr lang="en-IN"/>
          </a:p>
        </p:txBody>
      </p:sp>
    </p:spTree>
    <p:extLst>
      <p:ext uri="{BB962C8B-B14F-4D97-AF65-F5344CB8AC3E}">
        <p14:creationId xmlns:p14="http://schemas.microsoft.com/office/powerpoint/2010/main" val="143742857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234CB5-0C65-4D7E-BA25-AE09D38A4BC6}"/>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D864BD93-21B6-454C-A47B-D74A7868495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400AA9B-C5D7-4C70-989C-9B8BF015B89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90105C74-EFBC-4B0A-9CF9-39BDB352A64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245663A-9838-4E63-AF20-0AEC859E054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8C335003-3887-478E-BF51-5ADEDBD8D672}"/>
              </a:ext>
            </a:extLst>
          </p:cNvPr>
          <p:cNvSpPr>
            <a:spLocks noGrp="1"/>
          </p:cNvSpPr>
          <p:nvPr>
            <p:ph type="dt" sz="half" idx="10"/>
          </p:nvPr>
        </p:nvSpPr>
        <p:spPr/>
        <p:txBody>
          <a:bodyPr/>
          <a:lstStyle/>
          <a:p>
            <a:fld id="{CF0DBD51-84BA-4CD2-B45F-09D48A8A7EBA}" type="datetimeFigureOut">
              <a:rPr lang="en-IN" smtClean="0"/>
              <a:t>09-11-2023</a:t>
            </a:fld>
            <a:endParaRPr lang="en-IN"/>
          </a:p>
        </p:txBody>
      </p:sp>
      <p:sp>
        <p:nvSpPr>
          <p:cNvPr id="8" name="Footer Placeholder 7">
            <a:extLst>
              <a:ext uri="{FF2B5EF4-FFF2-40B4-BE49-F238E27FC236}">
                <a16:creationId xmlns:a16="http://schemas.microsoft.com/office/drawing/2014/main" id="{F6872EFD-2963-4091-A237-E1BAF808C674}"/>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82908131-3D01-4BC5-949C-1E4E1A7BDD8C}"/>
              </a:ext>
            </a:extLst>
          </p:cNvPr>
          <p:cNvSpPr>
            <a:spLocks noGrp="1"/>
          </p:cNvSpPr>
          <p:nvPr>
            <p:ph type="sldNum" sz="quarter" idx="12"/>
          </p:nvPr>
        </p:nvSpPr>
        <p:spPr/>
        <p:txBody>
          <a:bodyPr/>
          <a:lstStyle/>
          <a:p>
            <a:fld id="{67B7F2BA-E4C4-45DE-8C10-FAB6D6F314C0}" type="slidenum">
              <a:rPr lang="en-IN" smtClean="0"/>
              <a:t>‹#›</a:t>
            </a:fld>
            <a:endParaRPr lang="en-IN"/>
          </a:p>
        </p:txBody>
      </p:sp>
    </p:spTree>
    <p:extLst>
      <p:ext uri="{BB962C8B-B14F-4D97-AF65-F5344CB8AC3E}">
        <p14:creationId xmlns:p14="http://schemas.microsoft.com/office/powerpoint/2010/main" val="32386031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27B25E-25A4-42E1-A4D5-5F17F8D0EF6F}"/>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908B872B-2219-41FE-93BC-AF7A55C607CD}"/>
              </a:ext>
            </a:extLst>
          </p:cNvPr>
          <p:cNvSpPr>
            <a:spLocks noGrp="1"/>
          </p:cNvSpPr>
          <p:nvPr>
            <p:ph type="dt" sz="half" idx="10"/>
          </p:nvPr>
        </p:nvSpPr>
        <p:spPr/>
        <p:txBody>
          <a:bodyPr/>
          <a:lstStyle/>
          <a:p>
            <a:fld id="{CF0DBD51-84BA-4CD2-B45F-09D48A8A7EBA}" type="datetimeFigureOut">
              <a:rPr lang="en-IN" smtClean="0"/>
              <a:t>09-11-2023</a:t>
            </a:fld>
            <a:endParaRPr lang="en-IN"/>
          </a:p>
        </p:txBody>
      </p:sp>
      <p:sp>
        <p:nvSpPr>
          <p:cNvPr id="4" name="Footer Placeholder 3">
            <a:extLst>
              <a:ext uri="{FF2B5EF4-FFF2-40B4-BE49-F238E27FC236}">
                <a16:creationId xmlns:a16="http://schemas.microsoft.com/office/drawing/2014/main" id="{789DBB74-2F52-487D-9630-59D9CE9C98CC}"/>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6CCBDFAE-E1F3-43FD-AB6F-945B09A4CFFD}"/>
              </a:ext>
            </a:extLst>
          </p:cNvPr>
          <p:cNvSpPr>
            <a:spLocks noGrp="1"/>
          </p:cNvSpPr>
          <p:nvPr>
            <p:ph type="sldNum" sz="quarter" idx="12"/>
          </p:nvPr>
        </p:nvSpPr>
        <p:spPr/>
        <p:txBody>
          <a:bodyPr/>
          <a:lstStyle/>
          <a:p>
            <a:fld id="{67B7F2BA-E4C4-45DE-8C10-FAB6D6F314C0}" type="slidenum">
              <a:rPr lang="en-IN" smtClean="0"/>
              <a:t>‹#›</a:t>
            </a:fld>
            <a:endParaRPr lang="en-IN"/>
          </a:p>
        </p:txBody>
      </p:sp>
    </p:spTree>
    <p:extLst>
      <p:ext uri="{BB962C8B-B14F-4D97-AF65-F5344CB8AC3E}">
        <p14:creationId xmlns:p14="http://schemas.microsoft.com/office/powerpoint/2010/main" val="63215176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3BDA207-EE4C-40B1-9DEE-7DE95419E496}"/>
              </a:ext>
            </a:extLst>
          </p:cNvPr>
          <p:cNvSpPr>
            <a:spLocks noGrp="1"/>
          </p:cNvSpPr>
          <p:nvPr>
            <p:ph type="dt" sz="half" idx="10"/>
          </p:nvPr>
        </p:nvSpPr>
        <p:spPr/>
        <p:txBody>
          <a:bodyPr/>
          <a:lstStyle/>
          <a:p>
            <a:fld id="{CF0DBD51-84BA-4CD2-B45F-09D48A8A7EBA}" type="datetimeFigureOut">
              <a:rPr lang="en-IN" smtClean="0"/>
              <a:t>09-11-2023</a:t>
            </a:fld>
            <a:endParaRPr lang="en-IN"/>
          </a:p>
        </p:txBody>
      </p:sp>
      <p:sp>
        <p:nvSpPr>
          <p:cNvPr id="3" name="Footer Placeholder 2">
            <a:extLst>
              <a:ext uri="{FF2B5EF4-FFF2-40B4-BE49-F238E27FC236}">
                <a16:creationId xmlns:a16="http://schemas.microsoft.com/office/drawing/2014/main" id="{8C73AFCD-A136-40A9-90AD-B90301E703EF}"/>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3A3DAFE5-B04E-4AF9-8F99-185CC46ACE2F}"/>
              </a:ext>
            </a:extLst>
          </p:cNvPr>
          <p:cNvSpPr>
            <a:spLocks noGrp="1"/>
          </p:cNvSpPr>
          <p:nvPr>
            <p:ph type="sldNum" sz="quarter" idx="12"/>
          </p:nvPr>
        </p:nvSpPr>
        <p:spPr/>
        <p:txBody>
          <a:bodyPr/>
          <a:lstStyle/>
          <a:p>
            <a:fld id="{67B7F2BA-E4C4-45DE-8C10-FAB6D6F314C0}" type="slidenum">
              <a:rPr lang="en-IN" smtClean="0"/>
              <a:t>‹#›</a:t>
            </a:fld>
            <a:endParaRPr lang="en-IN"/>
          </a:p>
        </p:txBody>
      </p:sp>
    </p:spTree>
    <p:extLst>
      <p:ext uri="{BB962C8B-B14F-4D97-AF65-F5344CB8AC3E}">
        <p14:creationId xmlns:p14="http://schemas.microsoft.com/office/powerpoint/2010/main" val="41846432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ABB507-1DE5-477F-81F8-5C95007EBC5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33265638-13B1-4D61-9B42-09B23342963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87E63918-C65D-429C-A359-236BF44D05F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54F41A4-5D00-4FD5-AD2F-DE7619245E60}"/>
              </a:ext>
            </a:extLst>
          </p:cNvPr>
          <p:cNvSpPr>
            <a:spLocks noGrp="1"/>
          </p:cNvSpPr>
          <p:nvPr>
            <p:ph type="dt" sz="half" idx="10"/>
          </p:nvPr>
        </p:nvSpPr>
        <p:spPr/>
        <p:txBody>
          <a:bodyPr/>
          <a:lstStyle/>
          <a:p>
            <a:fld id="{CF0DBD51-84BA-4CD2-B45F-09D48A8A7EBA}" type="datetimeFigureOut">
              <a:rPr lang="en-IN" smtClean="0"/>
              <a:t>09-11-2023</a:t>
            </a:fld>
            <a:endParaRPr lang="en-IN"/>
          </a:p>
        </p:txBody>
      </p:sp>
      <p:sp>
        <p:nvSpPr>
          <p:cNvPr id="6" name="Footer Placeholder 5">
            <a:extLst>
              <a:ext uri="{FF2B5EF4-FFF2-40B4-BE49-F238E27FC236}">
                <a16:creationId xmlns:a16="http://schemas.microsoft.com/office/drawing/2014/main" id="{ED4A2501-91E3-436C-AA6D-DA22C78F020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AA2F2D3-D28D-4CEA-87DF-8D168FA3C2DB}"/>
              </a:ext>
            </a:extLst>
          </p:cNvPr>
          <p:cNvSpPr>
            <a:spLocks noGrp="1"/>
          </p:cNvSpPr>
          <p:nvPr>
            <p:ph type="sldNum" sz="quarter" idx="12"/>
          </p:nvPr>
        </p:nvSpPr>
        <p:spPr/>
        <p:txBody>
          <a:bodyPr/>
          <a:lstStyle/>
          <a:p>
            <a:fld id="{67B7F2BA-E4C4-45DE-8C10-FAB6D6F314C0}" type="slidenum">
              <a:rPr lang="en-IN" smtClean="0"/>
              <a:t>‹#›</a:t>
            </a:fld>
            <a:endParaRPr lang="en-IN"/>
          </a:p>
        </p:txBody>
      </p:sp>
    </p:spTree>
    <p:extLst>
      <p:ext uri="{BB962C8B-B14F-4D97-AF65-F5344CB8AC3E}">
        <p14:creationId xmlns:p14="http://schemas.microsoft.com/office/powerpoint/2010/main" val="24217880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1950B4-1A0F-42C4-B3CF-418973A1467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C515232B-1B10-4823-9431-D205EF08C17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A137CD5F-7642-4553-BDFB-FEF72946308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3760331-FDFD-424D-82B3-36D2B2271852}"/>
              </a:ext>
            </a:extLst>
          </p:cNvPr>
          <p:cNvSpPr>
            <a:spLocks noGrp="1"/>
          </p:cNvSpPr>
          <p:nvPr>
            <p:ph type="dt" sz="half" idx="10"/>
          </p:nvPr>
        </p:nvSpPr>
        <p:spPr/>
        <p:txBody>
          <a:bodyPr/>
          <a:lstStyle/>
          <a:p>
            <a:fld id="{CF0DBD51-84BA-4CD2-B45F-09D48A8A7EBA}" type="datetimeFigureOut">
              <a:rPr lang="en-IN" smtClean="0"/>
              <a:t>09-11-2023</a:t>
            </a:fld>
            <a:endParaRPr lang="en-IN"/>
          </a:p>
        </p:txBody>
      </p:sp>
      <p:sp>
        <p:nvSpPr>
          <p:cNvPr id="6" name="Footer Placeholder 5">
            <a:extLst>
              <a:ext uri="{FF2B5EF4-FFF2-40B4-BE49-F238E27FC236}">
                <a16:creationId xmlns:a16="http://schemas.microsoft.com/office/drawing/2014/main" id="{B72EFA87-E13F-4A9B-8B99-B995FEB29E8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27A414F-1D14-4E9A-81B8-C63809856BA9}"/>
              </a:ext>
            </a:extLst>
          </p:cNvPr>
          <p:cNvSpPr>
            <a:spLocks noGrp="1"/>
          </p:cNvSpPr>
          <p:nvPr>
            <p:ph type="sldNum" sz="quarter" idx="12"/>
          </p:nvPr>
        </p:nvSpPr>
        <p:spPr/>
        <p:txBody>
          <a:bodyPr/>
          <a:lstStyle/>
          <a:p>
            <a:fld id="{67B7F2BA-E4C4-45DE-8C10-FAB6D6F314C0}" type="slidenum">
              <a:rPr lang="en-IN" smtClean="0"/>
              <a:t>‹#›</a:t>
            </a:fld>
            <a:endParaRPr lang="en-IN"/>
          </a:p>
        </p:txBody>
      </p:sp>
    </p:spTree>
    <p:extLst>
      <p:ext uri="{BB962C8B-B14F-4D97-AF65-F5344CB8AC3E}">
        <p14:creationId xmlns:p14="http://schemas.microsoft.com/office/powerpoint/2010/main" val="231967992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B8A085-9BA6-4197-A32D-46B091D576B8}"/>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38B3FCE1-5317-4CF0-BE6C-2FA5C2F361A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F701679-C2D7-4DFF-BF6B-4EEFB864607F}"/>
              </a:ext>
            </a:extLst>
          </p:cNvPr>
          <p:cNvSpPr>
            <a:spLocks noGrp="1"/>
          </p:cNvSpPr>
          <p:nvPr>
            <p:ph type="dt" sz="half" idx="10"/>
          </p:nvPr>
        </p:nvSpPr>
        <p:spPr/>
        <p:txBody>
          <a:bodyPr/>
          <a:lstStyle/>
          <a:p>
            <a:fld id="{CF0DBD51-84BA-4CD2-B45F-09D48A8A7EBA}" type="datetimeFigureOut">
              <a:rPr lang="en-IN" smtClean="0"/>
              <a:t>09-11-2023</a:t>
            </a:fld>
            <a:endParaRPr lang="en-IN"/>
          </a:p>
        </p:txBody>
      </p:sp>
      <p:sp>
        <p:nvSpPr>
          <p:cNvPr id="5" name="Footer Placeholder 4">
            <a:extLst>
              <a:ext uri="{FF2B5EF4-FFF2-40B4-BE49-F238E27FC236}">
                <a16:creationId xmlns:a16="http://schemas.microsoft.com/office/drawing/2014/main" id="{FD6BCD6A-793A-423C-B11B-FF01A806B0D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A9ADDF3-4233-4A5F-B262-F685B76E072B}"/>
              </a:ext>
            </a:extLst>
          </p:cNvPr>
          <p:cNvSpPr>
            <a:spLocks noGrp="1"/>
          </p:cNvSpPr>
          <p:nvPr>
            <p:ph type="sldNum" sz="quarter" idx="12"/>
          </p:nvPr>
        </p:nvSpPr>
        <p:spPr/>
        <p:txBody>
          <a:bodyPr/>
          <a:lstStyle/>
          <a:p>
            <a:fld id="{67B7F2BA-E4C4-45DE-8C10-FAB6D6F314C0}" type="slidenum">
              <a:rPr lang="en-IN" smtClean="0"/>
              <a:t>‹#›</a:t>
            </a:fld>
            <a:endParaRPr lang="en-IN"/>
          </a:p>
        </p:txBody>
      </p:sp>
    </p:spTree>
    <p:extLst>
      <p:ext uri="{BB962C8B-B14F-4D97-AF65-F5344CB8AC3E}">
        <p14:creationId xmlns:p14="http://schemas.microsoft.com/office/powerpoint/2010/main" val="28131982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B868A7C-A66F-4D85-8436-C3CFE0273049}"/>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127FF832-E1E2-4B56-B45B-80C2252F891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208D5AB-722D-41DE-A022-227612F78007}"/>
              </a:ext>
            </a:extLst>
          </p:cNvPr>
          <p:cNvSpPr>
            <a:spLocks noGrp="1"/>
          </p:cNvSpPr>
          <p:nvPr>
            <p:ph type="dt" sz="half" idx="10"/>
          </p:nvPr>
        </p:nvSpPr>
        <p:spPr/>
        <p:txBody>
          <a:bodyPr/>
          <a:lstStyle/>
          <a:p>
            <a:fld id="{CF0DBD51-84BA-4CD2-B45F-09D48A8A7EBA}" type="datetimeFigureOut">
              <a:rPr lang="en-IN" smtClean="0"/>
              <a:t>09-11-2023</a:t>
            </a:fld>
            <a:endParaRPr lang="en-IN"/>
          </a:p>
        </p:txBody>
      </p:sp>
      <p:sp>
        <p:nvSpPr>
          <p:cNvPr id="5" name="Footer Placeholder 4">
            <a:extLst>
              <a:ext uri="{FF2B5EF4-FFF2-40B4-BE49-F238E27FC236}">
                <a16:creationId xmlns:a16="http://schemas.microsoft.com/office/drawing/2014/main" id="{F4F4D8CD-D179-4FE9-858C-2B74A6E3775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3F31AE0-D04C-4992-93AE-761DD23918A3}"/>
              </a:ext>
            </a:extLst>
          </p:cNvPr>
          <p:cNvSpPr>
            <a:spLocks noGrp="1"/>
          </p:cNvSpPr>
          <p:nvPr>
            <p:ph type="sldNum" sz="quarter" idx="12"/>
          </p:nvPr>
        </p:nvSpPr>
        <p:spPr/>
        <p:txBody>
          <a:bodyPr/>
          <a:lstStyle/>
          <a:p>
            <a:fld id="{67B7F2BA-E4C4-45DE-8C10-FAB6D6F314C0}" type="slidenum">
              <a:rPr lang="en-IN" smtClean="0"/>
              <a:t>‹#›</a:t>
            </a:fld>
            <a:endParaRPr lang="en-IN"/>
          </a:p>
        </p:txBody>
      </p:sp>
    </p:spTree>
    <p:extLst>
      <p:ext uri="{BB962C8B-B14F-4D97-AF65-F5344CB8AC3E}">
        <p14:creationId xmlns:p14="http://schemas.microsoft.com/office/powerpoint/2010/main" val="427973513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DDA170E-DC98-4095-9EB6-D1806AB7BFF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1509CE80-13C3-45E8-B3B4-0D5D94FFEBB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010A6CB-BF28-4E92-A252-E181F1A5FB1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F0DBD51-84BA-4CD2-B45F-09D48A8A7EBA}" type="datetimeFigureOut">
              <a:rPr lang="en-IN" smtClean="0"/>
              <a:t>09-11-2023</a:t>
            </a:fld>
            <a:endParaRPr lang="en-IN"/>
          </a:p>
        </p:txBody>
      </p:sp>
      <p:sp>
        <p:nvSpPr>
          <p:cNvPr id="5" name="Footer Placeholder 4">
            <a:extLst>
              <a:ext uri="{FF2B5EF4-FFF2-40B4-BE49-F238E27FC236}">
                <a16:creationId xmlns:a16="http://schemas.microsoft.com/office/drawing/2014/main" id="{814E57D5-B1B0-497B-A079-A13DBC3502A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F4C19642-8FA4-4009-9A85-BBD3A3F9728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7B7F2BA-E4C4-45DE-8C10-FAB6D6F314C0}" type="slidenum">
              <a:rPr lang="en-IN" smtClean="0"/>
              <a:t>‹#›</a:t>
            </a:fld>
            <a:endParaRPr lang="en-IN"/>
          </a:p>
        </p:txBody>
      </p:sp>
    </p:spTree>
    <p:extLst>
      <p:ext uri="{BB962C8B-B14F-4D97-AF65-F5344CB8AC3E}">
        <p14:creationId xmlns:p14="http://schemas.microsoft.com/office/powerpoint/2010/main" val="10212475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20F58009-0DC2-4AB5-8BA7-AA005817181F}"/>
              </a:ext>
            </a:extLst>
          </p:cNvPr>
          <p:cNvSpPr txBox="1"/>
          <p:nvPr/>
        </p:nvSpPr>
        <p:spPr>
          <a:xfrm>
            <a:off x="3824749" y="-76484"/>
            <a:ext cx="6096000" cy="369332"/>
          </a:xfrm>
          <a:prstGeom prst="rect">
            <a:avLst/>
          </a:prstGeom>
          <a:noFill/>
        </p:spPr>
        <p:txBody>
          <a:bodyPr wrap="square">
            <a:spAutoFit/>
          </a:bodyPr>
          <a:lstStyle/>
          <a:p>
            <a:pPr algn="just" fontAlgn="base"/>
            <a:r>
              <a:rPr lang="en-IN" sz="1800" b="1" i="0" dirty="0" err="1">
                <a:solidFill>
                  <a:srgbClr val="000000"/>
                </a:solidFill>
                <a:effectLst/>
                <a:latin typeface="arial" panose="020B0604020202020204" pitchFamily="34" charset="0"/>
              </a:rPr>
              <a:t>launchSettings.json</a:t>
            </a:r>
            <a:endParaRPr lang="en-IN" b="0" i="0" dirty="0">
              <a:solidFill>
                <a:srgbClr val="3A3A3A"/>
              </a:solidFill>
              <a:effectLst/>
              <a:latin typeface="-apple-system"/>
            </a:endParaRPr>
          </a:p>
        </p:txBody>
      </p:sp>
      <p:pic>
        <p:nvPicPr>
          <p:cNvPr id="1026" name="Picture 2" descr="Empty ASP.NET Core Web Application">
            <a:extLst>
              <a:ext uri="{FF2B5EF4-FFF2-40B4-BE49-F238E27FC236}">
                <a16:creationId xmlns:a16="http://schemas.microsoft.com/office/drawing/2014/main" id="{AAA73007-EDBB-4A7D-94A6-53AB9A8D1AE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1982" y="314632"/>
            <a:ext cx="3905250" cy="2362200"/>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447DAB64-C5B7-4271-9D37-DDE16B6E9122}"/>
              </a:ext>
            </a:extLst>
          </p:cNvPr>
          <p:cNvSpPr txBox="1"/>
          <p:nvPr/>
        </p:nvSpPr>
        <p:spPr>
          <a:xfrm>
            <a:off x="4518999" y="314632"/>
            <a:ext cx="7291541" cy="1200329"/>
          </a:xfrm>
          <a:prstGeom prst="rect">
            <a:avLst/>
          </a:prstGeom>
          <a:noFill/>
        </p:spPr>
        <p:txBody>
          <a:bodyPr wrap="square">
            <a:spAutoFit/>
          </a:bodyPr>
          <a:lstStyle/>
          <a:p>
            <a:r>
              <a:rPr lang="en-US" b="0" i="0" dirty="0">
                <a:solidFill>
                  <a:srgbClr val="000000"/>
                </a:solidFill>
                <a:effectLst/>
                <a:latin typeface="arial" panose="020B0604020202020204" pitchFamily="34" charset="0"/>
              </a:rPr>
              <a:t>As you can see from the above image, the ASP.NET Core Project has a file called </a:t>
            </a:r>
            <a:r>
              <a:rPr lang="en-US" b="1" i="0" dirty="0" err="1">
                <a:solidFill>
                  <a:srgbClr val="000000"/>
                </a:solidFill>
                <a:effectLst/>
                <a:latin typeface="arial" panose="020B0604020202020204" pitchFamily="34" charset="0"/>
              </a:rPr>
              <a:t>launchSettings.json</a:t>
            </a:r>
            <a:r>
              <a:rPr lang="en-US" b="0" i="0" dirty="0">
                <a:solidFill>
                  <a:srgbClr val="000000"/>
                </a:solidFill>
                <a:effectLst/>
                <a:latin typeface="arial" panose="020B0604020202020204" pitchFamily="34" charset="0"/>
              </a:rPr>
              <a:t> within the Properties folder. So, let us discuss the need and importance of this </a:t>
            </a:r>
            <a:r>
              <a:rPr lang="en-US" b="1" i="0" dirty="0" err="1">
                <a:solidFill>
                  <a:srgbClr val="000000"/>
                </a:solidFill>
                <a:effectLst/>
                <a:latin typeface="arial" panose="020B0604020202020204" pitchFamily="34" charset="0"/>
              </a:rPr>
              <a:t>launchSettings.json</a:t>
            </a:r>
            <a:r>
              <a:rPr lang="en-US" b="0" i="0" dirty="0">
                <a:solidFill>
                  <a:srgbClr val="000000"/>
                </a:solidFill>
                <a:effectLst/>
                <a:latin typeface="arial" panose="020B0604020202020204" pitchFamily="34" charset="0"/>
              </a:rPr>
              <a:t> file in the ASP.NET Core application.</a:t>
            </a:r>
            <a:endParaRPr lang="en-IN" dirty="0"/>
          </a:p>
        </p:txBody>
      </p:sp>
      <p:sp>
        <p:nvSpPr>
          <p:cNvPr id="10" name="TextBox 9">
            <a:extLst>
              <a:ext uri="{FF2B5EF4-FFF2-40B4-BE49-F238E27FC236}">
                <a16:creationId xmlns:a16="http://schemas.microsoft.com/office/drawing/2014/main" id="{F54F03E3-30BF-4BAE-81DA-8A22B20A4353}"/>
              </a:ext>
            </a:extLst>
          </p:cNvPr>
          <p:cNvSpPr txBox="1"/>
          <p:nvPr/>
        </p:nvSpPr>
        <p:spPr>
          <a:xfrm>
            <a:off x="4375354" y="2030501"/>
            <a:ext cx="7521677" cy="369332"/>
          </a:xfrm>
          <a:prstGeom prst="rect">
            <a:avLst/>
          </a:prstGeom>
          <a:noFill/>
        </p:spPr>
        <p:txBody>
          <a:bodyPr wrap="square">
            <a:spAutoFit/>
          </a:bodyPr>
          <a:lstStyle/>
          <a:p>
            <a:pPr algn="just" fontAlgn="base"/>
            <a:r>
              <a:rPr lang="en-US" b="1" i="0" dirty="0">
                <a:solidFill>
                  <a:srgbClr val="000000"/>
                </a:solidFill>
                <a:effectLst/>
                <a:latin typeface="arial" panose="020B0604020202020204" pitchFamily="34" charset="0"/>
              </a:rPr>
              <a:t>Understanding </a:t>
            </a:r>
            <a:r>
              <a:rPr lang="en-US" b="1" i="0" dirty="0" err="1">
                <a:solidFill>
                  <a:srgbClr val="000000"/>
                </a:solidFill>
                <a:effectLst/>
                <a:latin typeface="arial" panose="020B0604020202020204" pitchFamily="34" charset="0"/>
              </a:rPr>
              <a:t>LaunchSettings.json</a:t>
            </a:r>
            <a:r>
              <a:rPr lang="en-US" b="1" i="0" dirty="0">
                <a:solidFill>
                  <a:srgbClr val="000000"/>
                </a:solidFill>
                <a:effectLst/>
                <a:latin typeface="arial" panose="020B0604020202020204" pitchFamily="34" charset="0"/>
              </a:rPr>
              <a:t> file in ASP.NET Core</a:t>
            </a:r>
            <a:endParaRPr lang="en-US" b="0" i="0" dirty="0">
              <a:solidFill>
                <a:srgbClr val="3A3A3A"/>
              </a:solidFill>
              <a:effectLst/>
              <a:latin typeface="-apple-system"/>
            </a:endParaRPr>
          </a:p>
        </p:txBody>
      </p:sp>
      <p:sp>
        <p:nvSpPr>
          <p:cNvPr id="12" name="TextBox 11">
            <a:extLst>
              <a:ext uri="{FF2B5EF4-FFF2-40B4-BE49-F238E27FC236}">
                <a16:creationId xmlns:a16="http://schemas.microsoft.com/office/drawing/2014/main" id="{F0938731-CFA4-4BAB-869C-90550C8FE51A}"/>
              </a:ext>
            </a:extLst>
          </p:cNvPr>
          <p:cNvSpPr txBox="1"/>
          <p:nvPr/>
        </p:nvSpPr>
        <p:spPr>
          <a:xfrm>
            <a:off x="43323" y="2915373"/>
            <a:ext cx="11853708" cy="2585323"/>
          </a:xfrm>
          <a:prstGeom prst="rect">
            <a:avLst/>
          </a:prstGeom>
          <a:noFill/>
        </p:spPr>
        <p:txBody>
          <a:bodyPr wrap="square">
            <a:spAutoFit/>
          </a:bodyPr>
          <a:lstStyle/>
          <a:p>
            <a:pPr algn="just" fontAlgn="base"/>
            <a:r>
              <a:rPr lang="en-US" b="0" i="0" dirty="0">
                <a:solidFill>
                  <a:srgbClr val="000000"/>
                </a:solidFill>
                <a:effectLst/>
                <a:latin typeface="arial" panose="020B0604020202020204" pitchFamily="34" charset="0"/>
              </a:rPr>
              <a:t>The settings that are present within this file are going to be used when we run the .NET core application either from Visual Studio or by using .NET Core CLI.</a:t>
            </a:r>
            <a:endParaRPr lang="en-US" b="0" i="0" dirty="0">
              <a:solidFill>
                <a:srgbClr val="212529"/>
              </a:solidFill>
              <a:effectLst/>
              <a:latin typeface="-apple-system"/>
            </a:endParaRPr>
          </a:p>
          <a:p>
            <a:pPr algn="just" fontAlgn="base"/>
            <a:r>
              <a:rPr lang="en-US" b="0" i="0" dirty="0">
                <a:solidFill>
                  <a:srgbClr val="000000"/>
                </a:solidFill>
                <a:effectLst/>
                <a:latin typeface="arial" panose="020B0604020202020204" pitchFamily="34" charset="0"/>
              </a:rPr>
              <a:t>The most important point that you need to keep in mind is this </a:t>
            </a:r>
            <a:r>
              <a:rPr lang="en-US" b="0" i="0" dirty="0" err="1">
                <a:solidFill>
                  <a:srgbClr val="000000"/>
                </a:solidFill>
                <a:effectLst/>
                <a:latin typeface="arial" panose="020B0604020202020204" pitchFamily="34" charset="0"/>
              </a:rPr>
              <a:t>launchSettings.json</a:t>
            </a:r>
            <a:r>
              <a:rPr lang="en-US" b="0" i="0" dirty="0">
                <a:solidFill>
                  <a:srgbClr val="000000"/>
                </a:solidFill>
                <a:effectLst/>
                <a:latin typeface="arial" panose="020B0604020202020204" pitchFamily="34" charset="0"/>
              </a:rPr>
              <a:t> file is only used within the local development machine. That means this file is not required when we publishing our asp.net core application to the production server.</a:t>
            </a:r>
            <a:endParaRPr lang="en-US" b="0" i="0" dirty="0">
              <a:solidFill>
                <a:srgbClr val="212529"/>
              </a:solidFill>
              <a:effectLst/>
              <a:latin typeface="-apple-system"/>
            </a:endParaRPr>
          </a:p>
          <a:p>
            <a:pPr algn="just" fontAlgn="base"/>
            <a:r>
              <a:rPr lang="en-US" b="0" i="0" dirty="0">
                <a:solidFill>
                  <a:srgbClr val="000000"/>
                </a:solidFill>
                <a:effectLst/>
                <a:latin typeface="arial" panose="020B0604020202020204" pitchFamily="34" charset="0"/>
              </a:rPr>
              <a:t>If you have certain settings and you want your application to use such settings when you publish and deploy your asp.net core application to the production server, then you need to store such settings in the </a:t>
            </a:r>
            <a:r>
              <a:rPr lang="en-US" b="0" i="0" dirty="0" err="1">
                <a:solidFill>
                  <a:srgbClr val="000000"/>
                </a:solidFill>
                <a:effectLst/>
                <a:highlight>
                  <a:srgbClr val="FFFF00"/>
                </a:highlight>
                <a:latin typeface="arial" panose="020B0604020202020204" pitchFamily="34" charset="0"/>
              </a:rPr>
              <a:t>appsettings.json</a:t>
            </a:r>
            <a:r>
              <a:rPr lang="en-US" b="0" i="0" dirty="0">
                <a:solidFill>
                  <a:srgbClr val="000000"/>
                </a:solidFill>
                <a:effectLst/>
                <a:highlight>
                  <a:srgbClr val="FFFF00"/>
                </a:highlight>
                <a:latin typeface="arial" panose="020B0604020202020204" pitchFamily="34" charset="0"/>
              </a:rPr>
              <a:t> </a:t>
            </a:r>
            <a:r>
              <a:rPr lang="en-US" b="0" i="0" dirty="0">
                <a:solidFill>
                  <a:srgbClr val="000000"/>
                </a:solidFill>
                <a:effectLst/>
                <a:latin typeface="arial" panose="020B0604020202020204" pitchFamily="34" charset="0"/>
              </a:rPr>
              <a:t>file. Generally, in the ASP.NET Core application, the configuration settings are going to be stored in the </a:t>
            </a:r>
            <a:r>
              <a:rPr lang="en-US" b="0" i="0" dirty="0" err="1">
                <a:solidFill>
                  <a:srgbClr val="000000"/>
                </a:solidFill>
                <a:effectLst/>
                <a:latin typeface="arial" panose="020B0604020202020204" pitchFamily="34" charset="0"/>
              </a:rPr>
              <a:t>appsettings.json</a:t>
            </a:r>
            <a:r>
              <a:rPr lang="en-US" b="0" i="0" dirty="0">
                <a:solidFill>
                  <a:srgbClr val="000000"/>
                </a:solidFill>
                <a:effectLst/>
                <a:latin typeface="arial" panose="020B0604020202020204" pitchFamily="34" charset="0"/>
              </a:rPr>
              <a:t> file</a:t>
            </a:r>
            <a:endParaRPr lang="en-US" b="0" i="0" dirty="0">
              <a:solidFill>
                <a:srgbClr val="212529"/>
              </a:solidFill>
              <a:effectLst/>
              <a:latin typeface="-apple-system"/>
            </a:endParaRPr>
          </a:p>
        </p:txBody>
      </p:sp>
    </p:spTree>
    <p:extLst>
      <p:ext uri="{BB962C8B-B14F-4D97-AF65-F5344CB8AC3E}">
        <p14:creationId xmlns:p14="http://schemas.microsoft.com/office/powerpoint/2010/main" val="305953304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4209B7D-BDDF-4558-BD82-36B884596971}"/>
              </a:ext>
            </a:extLst>
          </p:cNvPr>
          <p:cNvSpPr txBox="1"/>
          <p:nvPr/>
        </p:nvSpPr>
        <p:spPr>
          <a:xfrm>
            <a:off x="275302" y="88094"/>
            <a:ext cx="11847871" cy="646331"/>
          </a:xfrm>
          <a:prstGeom prst="rect">
            <a:avLst/>
          </a:prstGeom>
          <a:noFill/>
        </p:spPr>
        <p:txBody>
          <a:bodyPr wrap="square">
            <a:spAutoFit/>
          </a:bodyPr>
          <a:lstStyle/>
          <a:p>
            <a:r>
              <a:rPr lang="en-US" b="0" i="0" dirty="0">
                <a:solidFill>
                  <a:srgbClr val="000000"/>
                </a:solidFill>
                <a:effectLst/>
                <a:latin typeface="arial" panose="020B0604020202020204" pitchFamily="34" charset="0"/>
              </a:rPr>
              <a:t>In the above </a:t>
            </a:r>
            <a:r>
              <a:rPr lang="en-US" b="1" i="0" dirty="0" err="1">
                <a:solidFill>
                  <a:srgbClr val="000000"/>
                </a:solidFill>
                <a:effectLst/>
                <a:latin typeface="arial" panose="020B0604020202020204" pitchFamily="34" charset="0"/>
              </a:rPr>
              <a:t>launchSettings.json</a:t>
            </a:r>
            <a:r>
              <a:rPr lang="en-US" b="0" i="0" dirty="0">
                <a:solidFill>
                  <a:srgbClr val="000000"/>
                </a:solidFill>
                <a:effectLst/>
                <a:latin typeface="arial" panose="020B0604020202020204" pitchFamily="34" charset="0"/>
              </a:rPr>
              <a:t> file, within the profiles, we have two sections i.e. IIS Express and </a:t>
            </a:r>
            <a:r>
              <a:rPr lang="en-US" b="0" i="0" dirty="0" err="1">
                <a:solidFill>
                  <a:srgbClr val="000000"/>
                </a:solidFill>
                <a:effectLst/>
                <a:latin typeface="arial" panose="020B0604020202020204" pitchFamily="34" charset="0"/>
              </a:rPr>
              <a:t>FirstCoreWebApplication</a:t>
            </a:r>
            <a:r>
              <a:rPr lang="en-US" b="0" i="0" dirty="0">
                <a:solidFill>
                  <a:srgbClr val="000000"/>
                </a:solidFill>
                <a:effectLst/>
                <a:latin typeface="arial" panose="020B0604020202020204" pitchFamily="34" charset="0"/>
              </a:rPr>
              <a:t> as shown in the below image.</a:t>
            </a:r>
            <a:endParaRPr lang="en-IN" dirty="0"/>
          </a:p>
        </p:txBody>
      </p:sp>
      <p:sp>
        <p:nvSpPr>
          <p:cNvPr id="8" name="TextBox 7">
            <a:extLst>
              <a:ext uri="{FF2B5EF4-FFF2-40B4-BE49-F238E27FC236}">
                <a16:creationId xmlns:a16="http://schemas.microsoft.com/office/drawing/2014/main" id="{6435585B-172A-4977-A640-B7EB9F33F509}"/>
              </a:ext>
            </a:extLst>
          </p:cNvPr>
          <p:cNvSpPr txBox="1"/>
          <p:nvPr/>
        </p:nvSpPr>
        <p:spPr>
          <a:xfrm>
            <a:off x="7333327" y="1120676"/>
            <a:ext cx="4583371" cy="3416320"/>
          </a:xfrm>
          <a:prstGeom prst="rect">
            <a:avLst/>
          </a:prstGeom>
          <a:noFill/>
        </p:spPr>
        <p:txBody>
          <a:bodyPr wrap="square">
            <a:spAutoFit/>
          </a:bodyPr>
          <a:lstStyle/>
          <a:p>
            <a:r>
              <a:rPr lang="en-US" b="0" i="0" dirty="0">
                <a:solidFill>
                  <a:srgbClr val="000000"/>
                </a:solidFill>
                <a:effectLst/>
                <a:latin typeface="arial" panose="020B0604020202020204" pitchFamily="34" charset="0"/>
              </a:rPr>
              <a:t>The point that you need to remember is when you run the application from Visual Studio either by pressing </a:t>
            </a:r>
            <a:r>
              <a:rPr lang="en-US" b="1" i="0" dirty="0">
                <a:solidFill>
                  <a:srgbClr val="000000"/>
                </a:solidFill>
                <a:effectLst/>
                <a:latin typeface="arial" panose="020B0604020202020204" pitchFamily="34" charset="0"/>
              </a:rPr>
              <a:t>CTRL + F5</a:t>
            </a:r>
            <a:r>
              <a:rPr lang="en-US" b="0" i="0" dirty="0">
                <a:solidFill>
                  <a:srgbClr val="000000"/>
                </a:solidFill>
                <a:effectLst/>
                <a:latin typeface="arial" panose="020B0604020202020204" pitchFamily="34" charset="0"/>
              </a:rPr>
              <a:t> or just </a:t>
            </a:r>
            <a:r>
              <a:rPr lang="en-US" b="1" i="0" dirty="0">
                <a:solidFill>
                  <a:srgbClr val="000000"/>
                </a:solidFill>
                <a:effectLst/>
                <a:latin typeface="arial" panose="020B0604020202020204" pitchFamily="34" charset="0"/>
              </a:rPr>
              <a:t>F5</a:t>
            </a:r>
            <a:r>
              <a:rPr lang="en-US" b="0" i="0" dirty="0">
                <a:solidFill>
                  <a:srgbClr val="000000"/>
                </a:solidFill>
                <a:effectLst/>
                <a:latin typeface="arial" panose="020B0604020202020204" pitchFamily="34" charset="0"/>
              </a:rPr>
              <a:t> then by default the profile with </a:t>
            </a:r>
            <a:r>
              <a:rPr lang="en-US" b="1" i="0" dirty="0">
                <a:solidFill>
                  <a:srgbClr val="000000"/>
                </a:solidFill>
                <a:effectLst/>
                <a:latin typeface="arial" panose="020B0604020202020204" pitchFamily="34" charset="0"/>
              </a:rPr>
              <a:t>“</a:t>
            </a:r>
            <a:r>
              <a:rPr lang="en-US" b="1" i="0" dirty="0" err="1">
                <a:solidFill>
                  <a:srgbClr val="000000"/>
                </a:solidFill>
                <a:effectLst/>
                <a:latin typeface="arial" panose="020B0604020202020204" pitchFamily="34" charset="0"/>
              </a:rPr>
              <a:t>commandName</a:t>
            </a:r>
            <a:r>
              <a:rPr lang="en-US" b="1" i="0" dirty="0">
                <a:solidFill>
                  <a:srgbClr val="000000"/>
                </a:solidFill>
                <a:effectLst/>
                <a:latin typeface="arial" panose="020B0604020202020204" pitchFamily="34" charset="0"/>
              </a:rPr>
              <a:t>”: “</a:t>
            </a:r>
            <a:r>
              <a:rPr lang="en-US" b="1" i="0" dirty="0" err="1">
                <a:solidFill>
                  <a:srgbClr val="000000"/>
                </a:solidFill>
                <a:effectLst/>
                <a:latin typeface="arial" panose="020B0604020202020204" pitchFamily="34" charset="0"/>
              </a:rPr>
              <a:t>IISExpress</a:t>
            </a:r>
            <a:r>
              <a:rPr lang="en-US" b="1" i="0" dirty="0">
                <a:solidFill>
                  <a:srgbClr val="000000"/>
                </a:solidFill>
                <a:effectLst/>
                <a:latin typeface="arial" panose="020B0604020202020204" pitchFamily="34" charset="0"/>
              </a:rPr>
              <a:t>”</a:t>
            </a:r>
            <a:r>
              <a:rPr lang="en-US" b="0" i="0" dirty="0">
                <a:solidFill>
                  <a:srgbClr val="000000"/>
                </a:solidFill>
                <a:effectLst/>
                <a:latin typeface="arial" panose="020B0604020202020204" pitchFamily="34" charset="0"/>
              </a:rPr>
              <a:t> is going to be used. </a:t>
            </a:r>
          </a:p>
          <a:p>
            <a:endParaRPr lang="en-US" dirty="0">
              <a:solidFill>
                <a:srgbClr val="000000"/>
              </a:solidFill>
              <a:latin typeface="arial" panose="020B0604020202020204" pitchFamily="34" charset="0"/>
            </a:endParaRPr>
          </a:p>
          <a:p>
            <a:r>
              <a:rPr lang="en-US" b="0" i="0" dirty="0">
                <a:solidFill>
                  <a:srgbClr val="000000"/>
                </a:solidFill>
                <a:effectLst/>
                <a:latin typeface="arial" panose="020B0604020202020204" pitchFamily="34" charset="0"/>
              </a:rPr>
              <a:t>On the other hand, if you run the ASP.NET Core application using .NET Core CLI (i.e. dotnet run command), then the profile with the </a:t>
            </a:r>
            <a:r>
              <a:rPr lang="en-US" b="1" i="0" dirty="0">
                <a:solidFill>
                  <a:srgbClr val="000000"/>
                </a:solidFill>
                <a:effectLst/>
                <a:latin typeface="arial" panose="020B0604020202020204" pitchFamily="34" charset="0"/>
              </a:rPr>
              <a:t>“</a:t>
            </a:r>
            <a:r>
              <a:rPr lang="en-US" b="1" i="0" dirty="0" err="1">
                <a:solidFill>
                  <a:srgbClr val="000000"/>
                </a:solidFill>
                <a:effectLst/>
                <a:latin typeface="arial" panose="020B0604020202020204" pitchFamily="34" charset="0"/>
              </a:rPr>
              <a:t>commandName</a:t>
            </a:r>
            <a:r>
              <a:rPr lang="en-US" b="1" i="0" dirty="0">
                <a:solidFill>
                  <a:srgbClr val="000000"/>
                </a:solidFill>
                <a:effectLst/>
                <a:latin typeface="arial" panose="020B0604020202020204" pitchFamily="34" charset="0"/>
              </a:rPr>
              <a:t>”: “Project”</a:t>
            </a:r>
            <a:r>
              <a:rPr lang="en-US" b="0" i="0" dirty="0">
                <a:solidFill>
                  <a:srgbClr val="000000"/>
                </a:solidFill>
                <a:effectLst/>
                <a:latin typeface="arial" panose="020B0604020202020204" pitchFamily="34" charset="0"/>
              </a:rPr>
              <a:t> is going to be used.  </a:t>
            </a:r>
            <a:endParaRPr lang="en-IN" dirty="0"/>
          </a:p>
        </p:txBody>
      </p:sp>
      <p:pic>
        <p:nvPicPr>
          <p:cNvPr id="2" name="Picture 1">
            <a:extLst>
              <a:ext uri="{FF2B5EF4-FFF2-40B4-BE49-F238E27FC236}">
                <a16:creationId xmlns:a16="http://schemas.microsoft.com/office/drawing/2014/main" id="{E7DBAC49-97A8-3748-A836-6676BDF87AE4}"/>
              </a:ext>
            </a:extLst>
          </p:cNvPr>
          <p:cNvPicPr>
            <a:picLocks noChangeAspect="1"/>
          </p:cNvPicPr>
          <p:nvPr/>
        </p:nvPicPr>
        <p:blipFill rotWithShape="1">
          <a:blip r:embed="rId2"/>
          <a:srcRect t="7854" r="55928" b="15326"/>
          <a:stretch/>
        </p:blipFill>
        <p:spPr>
          <a:xfrm>
            <a:off x="275302" y="794858"/>
            <a:ext cx="5373324" cy="5268284"/>
          </a:xfrm>
          <a:prstGeom prst="rect">
            <a:avLst/>
          </a:prstGeom>
        </p:spPr>
      </p:pic>
      <p:cxnSp>
        <p:nvCxnSpPr>
          <p:cNvPr id="4" name="Straight Arrow Connector 3">
            <a:extLst>
              <a:ext uri="{FF2B5EF4-FFF2-40B4-BE49-F238E27FC236}">
                <a16:creationId xmlns:a16="http://schemas.microsoft.com/office/drawing/2014/main" id="{E4573B27-3936-BFC4-D27D-101967351D63}"/>
              </a:ext>
            </a:extLst>
          </p:cNvPr>
          <p:cNvCxnSpPr>
            <a:cxnSpLocks/>
          </p:cNvCxnSpPr>
          <p:nvPr/>
        </p:nvCxnSpPr>
        <p:spPr>
          <a:xfrm>
            <a:off x="3176833" y="1687398"/>
            <a:ext cx="1545996" cy="47134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 name="Straight Arrow Connector 6">
            <a:extLst>
              <a:ext uri="{FF2B5EF4-FFF2-40B4-BE49-F238E27FC236}">
                <a16:creationId xmlns:a16="http://schemas.microsoft.com/office/drawing/2014/main" id="{3FF1AF42-A920-0325-DC54-4BABF41FC687}"/>
              </a:ext>
            </a:extLst>
          </p:cNvPr>
          <p:cNvCxnSpPr>
            <a:cxnSpLocks/>
          </p:cNvCxnSpPr>
          <p:nvPr/>
        </p:nvCxnSpPr>
        <p:spPr>
          <a:xfrm flipV="1">
            <a:off x="3318235" y="2234153"/>
            <a:ext cx="1404594" cy="73529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9F117E4E-6E53-7122-161F-C7E3C86266AF}"/>
              </a:ext>
            </a:extLst>
          </p:cNvPr>
          <p:cNvSpPr txBox="1"/>
          <p:nvPr/>
        </p:nvSpPr>
        <p:spPr>
          <a:xfrm>
            <a:off x="4722829" y="1376313"/>
            <a:ext cx="2610498" cy="369332"/>
          </a:xfrm>
          <a:prstGeom prst="rect">
            <a:avLst/>
          </a:prstGeom>
          <a:noFill/>
        </p:spPr>
        <p:txBody>
          <a:bodyPr wrap="square" rtlCol="0">
            <a:spAutoFit/>
          </a:bodyPr>
          <a:lstStyle/>
          <a:p>
            <a:r>
              <a:rPr lang="en-US" dirty="0"/>
              <a:t>Project Name</a:t>
            </a:r>
            <a:endParaRPr lang="en-IN" dirty="0"/>
          </a:p>
        </p:txBody>
      </p:sp>
      <p:cxnSp>
        <p:nvCxnSpPr>
          <p:cNvPr id="13" name="Straight Arrow Connector 12">
            <a:extLst>
              <a:ext uri="{FF2B5EF4-FFF2-40B4-BE49-F238E27FC236}">
                <a16:creationId xmlns:a16="http://schemas.microsoft.com/office/drawing/2014/main" id="{50D40A53-6907-BD62-6549-36735D6D07AF}"/>
              </a:ext>
            </a:extLst>
          </p:cNvPr>
          <p:cNvCxnSpPr/>
          <p:nvPr/>
        </p:nvCxnSpPr>
        <p:spPr>
          <a:xfrm flipV="1">
            <a:off x="3176833" y="3987538"/>
            <a:ext cx="1319753" cy="10369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CE5A0DEE-6B88-3DA7-18E8-5C2760AB5C2F}"/>
              </a:ext>
            </a:extLst>
          </p:cNvPr>
          <p:cNvSpPr txBox="1"/>
          <p:nvPr/>
        </p:nvSpPr>
        <p:spPr>
          <a:xfrm>
            <a:off x="4722829" y="3780148"/>
            <a:ext cx="2234152" cy="369332"/>
          </a:xfrm>
          <a:prstGeom prst="rect">
            <a:avLst/>
          </a:prstGeom>
          <a:noFill/>
        </p:spPr>
        <p:txBody>
          <a:bodyPr wrap="square" rtlCol="0">
            <a:spAutoFit/>
          </a:bodyPr>
          <a:lstStyle/>
          <a:p>
            <a:r>
              <a:rPr lang="en-US" dirty="0" err="1"/>
              <a:t>IISExpress</a:t>
            </a:r>
            <a:r>
              <a:rPr lang="en-US" dirty="0"/>
              <a:t> settings</a:t>
            </a:r>
            <a:endParaRPr lang="en-IN" dirty="0"/>
          </a:p>
        </p:txBody>
      </p:sp>
    </p:spTree>
    <p:extLst>
      <p:ext uri="{BB962C8B-B14F-4D97-AF65-F5344CB8AC3E}">
        <p14:creationId xmlns:p14="http://schemas.microsoft.com/office/powerpoint/2010/main" val="62852466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30C79268-8E06-46FA-9C21-E44798C4CE37}"/>
              </a:ext>
            </a:extLst>
          </p:cNvPr>
          <p:cNvSpPr txBox="1"/>
          <p:nvPr/>
        </p:nvSpPr>
        <p:spPr>
          <a:xfrm>
            <a:off x="0" y="129118"/>
            <a:ext cx="11503742" cy="369332"/>
          </a:xfrm>
          <a:prstGeom prst="rect">
            <a:avLst/>
          </a:prstGeom>
          <a:noFill/>
        </p:spPr>
        <p:txBody>
          <a:bodyPr wrap="square">
            <a:spAutoFit/>
          </a:bodyPr>
          <a:lstStyle/>
          <a:p>
            <a:r>
              <a:rPr lang="en-US" b="0" i="0" dirty="0">
                <a:solidFill>
                  <a:srgbClr val="000000"/>
                </a:solidFill>
                <a:effectLst/>
                <a:latin typeface="arial" panose="020B0604020202020204" pitchFamily="34" charset="0"/>
              </a:rPr>
              <a:t>The value of the </a:t>
            </a:r>
            <a:r>
              <a:rPr lang="en-US" b="0" i="0" dirty="0" err="1">
                <a:solidFill>
                  <a:srgbClr val="000000"/>
                </a:solidFill>
                <a:effectLst/>
                <a:latin typeface="arial" panose="020B0604020202020204" pitchFamily="34" charset="0"/>
              </a:rPr>
              <a:t>commandName</a:t>
            </a:r>
            <a:r>
              <a:rPr lang="en-US" b="1" i="0" dirty="0">
                <a:solidFill>
                  <a:srgbClr val="000000"/>
                </a:solidFill>
                <a:effectLst/>
                <a:latin typeface="arial" panose="020B0604020202020204" pitchFamily="34" charset="0"/>
              </a:rPr>
              <a:t> </a:t>
            </a:r>
            <a:r>
              <a:rPr lang="en-US" b="0" i="0" dirty="0">
                <a:solidFill>
                  <a:srgbClr val="000000"/>
                </a:solidFill>
                <a:effectLst/>
                <a:latin typeface="arial" panose="020B0604020202020204" pitchFamily="34" charset="0"/>
              </a:rPr>
              <a:t>property of the </a:t>
            </a:r>
            <a:r>
              <a:rPr lang="en-US" b="0" i="0" dirty="0" err="1">
                <a:solidFill>
                  <a:srgbClr val="000000"/>
                </a:solidFill>
                <a:effectLst/>
                <a:latin typeface="arial" panose="020B0604020202020204" pitchFamily="34" charset="0"/>
              </a:rPr>
              <a:t>launchSettings.json</a:t>
            </a:r>
            <a:r>
              <a:rPr lang="en-US" b="0" i="0" dirty="0">
                <a:solidFill>
                  <a:srgbClr val="000000"/>
                </a:solidFill>
                <a:effectLst/>
                <a:latin typeface="arial" panose="020B0604020202020204" pitchFamily="34" charset="0"/>
              </a:rPr>
              <a:t> file can be any one of the following. </a:t>
            </a:r>
            <a:endParaRPr lang="en-IN" dirty="0"/>
          </a:p>
        </p:txBody>
      </p:sp>
      <p:sp>
        <p:nvSpPr>
          <p:cNvPr id="7" name="TextBox 6">
            <a:extLst>
              <a:ext uri="{FF2B5EF4-FFF2-40B4-BE49-F238E27FC236}">
                <a16:creationId xmlns:a16="http://schemas.microsoft.com/office/drawing/2014/main" id="{B4D05AE5-E41C-4A3E-A924-A544F3A595E9}"/>
              </a:ext>
            </a:extLst>
          </p:cNvPr>
          <p:cNvSpPr txBox="1"/>
          <p:nvPr/>
        </p:nvSpPr>
        <p:spPr>
          <a:xfrm>
            <a:off x="71284" y="581909"/>
            <a:ext cx="11884742" cy="2862322"/>
          </a:xfrm>
          <a:prstGeom prst="rect">
            <a:avLst/>
          </a:prstGeom>
          <a:noFill/>
        </p:spPr>
        <p:txBody>
          <a:bodyPr wrap="square">
            <a:spAutoFit/>
          </a:bodyPr>
          <a:lstStyle/>
          <a:p>
            <a:pPr algn="just" fontAlgn="base">
              <a:buFont typeface="+mj-lt"/>
              <a:buAutoNum type="arabicPeriod"/>
            </a:pPr>
            <a:r>
              <a:rPr lang="en-US" b="1" i="0" dirty="0" err="1">
                <a:solidFill>
                  <a:srgbClr val="000000"/>
                </a:solidFill>
                <a:effectLst/>
                <a:latin typeface="arial" panose="020B0604020202020204" pitchFamily="34" charset="0"/>
              </a:rPr>
              <a:t>IISExpress</a:t>
            </a:r>
            <a:endParaRPr lang="en-US" b="0" i="0" dirty="0">
              <a:solidFill>
                <a:srgbClr val="212529"/>
              </a:solidFill>
              <a:effectLst/>
              <a:latin typeface="-apple-system"/>
            </a:endParaRPr>
          </a:p>
          <a:p>
            <a:pPr algn="just" fontAlgn="base">
              <a:buFont typeface="+mj-lt"/>
              <a:buAutoNum type="arabicPeriod"/>
            </a:pPr>
            <a:r>
              <a:rPr lang="en-US" b="1" i="0" dirty="0">
                <a:solidFill>
                  <a:srgbClr val="000000"/>
                </a:solidFill>
                <a:effectLst/>
                <a:latin typeface="arial" panose="020B0604020202020204" pitchFamily="34" charset="0"/>
              </a:rPr>
              <a:t>IIS</a:t>
            </a:r>
            <a:endParaRPr lang="en-US" b="0" i="0" dirty="0">
              <a:solidFill>
                <a:srgbClr val="212529"/>
              </a:solidFill>
              <a:effectLst/>
              <a:latin typeface="-apple-system"/>
            </a:endParaRPr>
          </a:p>
          <a:p>
            <a:pPr algn="just" fontAlgn="base">
              <a:buFont typeface="+mj-lt"/>
              <a:buAutoNum type="arabicPeriod"/>
            </a:pPr>
            <a:r>
              <a:rPr lang="en-US" b="1" i="0" dirty="0">
                <a:solidFill>
                  <a:srgbClr val="000000"/>
                </a:solidFill>
                <a:effectLst/>
                <a:latin typeface="arial" panose="020B0604020202020204" pitchFamily="34" charset="0"/>
              </a:rPr>
              <a:t>Project</a:t>
            </a:r>
          </a:p>
          <a:p>
            <a:pPr algn="just" fontAlgn="base">
              <a:buFont typeface="+mj-lt"/>
              <a:buAutoNum type="arabicPeriod"/>
            </a:pPr>
            <a:endParaRPr lang="en-US" b="0" i="0" dirty="0">
              <a:solidFill>
                <a:srgbClr val="212529"/>
              </a:solidFill>
              <a:effectLst/>
              <a:latin typeface="-apple-system"/>
            </a:endParaRPr>
          </a:p>
          <a:p>
            <a:pPr algn="just" fontAlgn="base"/>
            <a:r>
              <a:rPr lang="en-US" b="0" i="0" dirty="0">
                <a:solidFill>
                  <a:srgbClr val="000000"/>
                </a:solidFill>
                <a:effectLst/>
                <a:latin typeface="arial" panose="020B0604020202020204" pitchFamily="34" charset="0"/>
              </a:rPr>
              <a:t>The </a:t>
            </a:r>
            <a:r>
              <a:rPr lang="en-US" b="0" i="0" dirty="0" err="1">
                <a:solidFill>
                  <a:srgbClr val="000000"/>
                </a:solidFill>
                <a:effectLst/>
                <a:latin typeface="arial" panose="020B0604020202020204" pitchFamily="34" charset="0"/>
              </a:rPr>
              <a:t>CommandName</a:t>
            </a:r>
            <a:r>
              <a:rPr lang="en-US" b="0" i="0" dirty="0">
                <a:solidFill>
                  <a:srgbClr val="000000"/>
                </a:solidFill>
                <a:effectLst/>
                <a:latin typeface="arial" panose="020B0604020202020204" pitchFamily="34" charset="0"/>
              </a:rPr>
              <a:t> property value of the </a:t>
            </a:r>
            <a:r>
              <a:rPr lang="en-US" b="0" i="0" dirty="0" err="1">
                <a:solidFill>
                  <a:srgbClr val="000000"/>
                </a:solidFill>
                <a:effectLst/>
                <a:latin typeface="arial" panose="020B0604020202020204" pitchFamily="34" charset="0"/>
              </a:rPr>
              <a:t>launchSettings.json</a:t>
            </a:r>
            <a:r>
              <a:rPr lang="en-US" b="0" i="0" dirty="0">
                <a:solidFill>
                  <a:srgbClr val="000000"/>
                </a:solidFill>
                <a:effectLst/>
                <a:latin typeface="arial" panose="020B0604020202020204" pitchFamily="34" charset="0"/>
              </a:rPr>
              <a:t> file along with the </a:t>
            </a:r>
            <a:r>
              <a:rPr lang="en-US" b="0" i="0" dirty="0" err="1">
                <a:solidFill>
                  <a:srgbClr val="000000"/>
                </a:solidFill>
                <a:effectLst/>
                <a:latin typeface="arial" panose="020B0604020202020204" pitchFamily="34" charset="0"/>
              </a:rPr>
              <a:t>AspNetCoreHostingModel</a:t>
            </a:r>
            <a:r>
              <a:rPr lang="en-US" b="1" i="0" dirty="0">
                <a:solidFill>
                  <a:srgbClr val="000000"/>
                </a:solidFill>
                <a:effectLst/>
                <a:latin typeface="arial" panose="020B0604020202020204" pitchFamily="34" charset="0"/>
              </a:rPr>
              <a:t> </a:t>
            </a:r>
            <a:r>
              <a:rPr lang="en-US" b="0" i="0" dirty="0">
                <a:solidFill>
                  <a:srgbClr val="000000"/>
                </a:solidFill>
                <a:effectLst/>
                <a:latin typeface="arial" panose="020B0604020202020204" pitchFamily="34" charset="0"/>
              </a:rPr>
              <a:t>element value from the application’s project file will determine the internal and external web server (reverse proxy server) that are going to use and handle the incoming HTTP Requests. For better understanding, please have a look at the below table.</a:t>
            </a:r>
            <a:endParaRPr lang="en-US" b="0" i="0" dirty="0">
              <a:solidFill>
                <a:srgbClr val="212529"/>
              </a:solidFill>
              <a:effectLst/>
              <a:latin typeface="-apple-system"/>
            </a:endParaRPr>
          </a:p>
          <a:p>
            <a:br>
              <a:rPr lang="en-US" dirty="0"/>
            </a:br>
            <a:endParaRPr lang="en-IN" dirty="0"/>
          </a:p>
        </p:txBody>
      </p:sp>
      <p:pic>
        <p:nvPicPr>
          <p:cNvPr id="3074" name="Picture 2" descr="Internal and External Web Server in ASP.NET Core">
            <a:extLst>
              <a:ext uri="{FF2B5EF4-FFF2-40B4-BE49-F238E27FC236}">
                <a16:creationId xmlns:a16="http://schemas.microsoft.com/office/drawing/2014/main" id="{BC579A6F-6727-456A-9EB7-D296871B4C3C}"/>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 r="-632" b="35608"/>
          <a:stretch/>
        </p:blipFill>
        <p:spPr bwMode="auto">
          <a:xfrm>
            <a:off x="457969" y="3067665"/>
            <a:ext cx="8636335" cy="127573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7234913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TotalTime>
  <Words>417</Words>
  <Application>Microsoft Office PowerPoint</Application>
  <PresentationFormat>Widescreen</PresentationFormat>
  <Paragraphs>19</Paragraphs>
  <Slides>3</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vt:i4>
      </vt:variant>
    </vt:vector>
  </HeadingPairs>
  <TitlesOfParts>
    <vt:vector size="9" baseType="lpstr">
      <vt:lpstr>-apple-system</vt:lpstr>
      <vt:lpstr>Arial</vt:lpstr>
      <vt:lpstr>Arial</vt:lpstr>
      <vt:lpstr>Calibri</vt:lpstr>
      <vt:lpstr>Calibri Light</vt:lpstr>
      <vt:lpstr>Office Theme</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Ketki Acharya</dc:creator>
  <cp:lastModifiedBy>vidyanidhi school</cp:lastModifiedBy>
  <cp:revision>7</cp:revision>
  <dcterms:created xsi:type="dcterms:W3CDTF">2021-10-12T08:02:36Z</dcterms:created>
  <dcterms:modified xsi:type="dcterms:W3CDTF">2023-11-09T17:30:57Z</dcterms:modified>
</cp:coreProperties>
</file>