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AF368-43BF-4D0C-991E-978C416CA4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335EB3-099F-4883-9F94-40E04BF04C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BC1540-2D7E-4469-A57C-12F4934F0012}"/>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5" name="Footer Placeholder 4">
            <a:extLst>
              <a:ext uri="{FF2B5EF4-FFF2-40B4-BE49-F238E27FC236}">
                <a16:creationId xmlns:a16="http://schemas.microsoft.com/office/drawing/2014/main" id="{07DAE043-F3FC-4BA8-8C10-01E91648E3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1C1C33-D832-4881-ABD2-D9AB443714F0}"/>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3521091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3AAB-290E-4D48-9247-AC4CF0C855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94CD8E-0ADE-4B92-953F-4D0A543B81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BFEE26-1FCE-4B81-8CD9-B71C4B1C56C9}"/>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5" name="Footer Placeholder 4">
            <a:extLst>
              <a:ext uri="{FF2B5EF4-FFF2-40B4-BE49-F238E27FC236}">
                <a16:creationId xmlns:a16="http://schemas.microsoft.com/office/drawing/2014/main" id="{F911FA67-529F-4621-A7F4-14F1D6E6E4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A503A8-60CB-4BEB-8356-17E894303A29}"/>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427624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FD91-61AB-4DBC-9B45-C42CCC4C3E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819553-6FE7-4B6D-95C7-367C720899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F30E64-B881-4B80-AC00-8185E35E31B5}"/>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5" name="Footer Placeholder 4">
            <a:extLst>
              <a:ext uri="{FF2B5EF4-FFF2-40B4-BE49-F238E27FC236}">
                <a16:creationId xmlns:a16="http://schemas.microsoft.com/office/drawing/2014/main" id="{A86EC08C-40C4-4E1A-A4F5-7AAE000A7F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2F1A1D-B8A7-44DD-8F69-8F75B8F354BD}"/>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107251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1BE1-5281-4E3C-8709-D2476BCE07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636FC0-42A7-4E0C-83E8-2BCC9FAF1A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BA6CC4-1D37-4443-9429-6BE81C51B2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302561-585B-4ABA-B892-2E5751BC6C48}"/>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6" name="Footer Placeholder 5">
            <a:extLst>
              <a:ext uri="{FF2B5EF4-FFF2-40B4-BE49-F238E27FC236}">
                <a16:creationId xmlns:a16="http://schemas.microsoft.com/office/drawing/2014/main" id="{B45FE4F0-18F1-4364-90DE-0949195934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E78C32-06A5-4042-8E3E-A58C9817AADD}"/>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1468159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A8E21-5217-4EE7-93B4-C2930EA109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A244BC-23E2-4CE5-A473-B107E238E2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683714-77DC-459D-A3B9-00EF4629FF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E596D0-CC7E-4507-84B9-C1A70C3E91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7407E0-2A37-4BCB-B7FD-FEDC07F697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E1D00C-8087-41D3-B430-3EE75A7D0750}"/>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8" name="Footer Placeholder 7">
            <a:extLst>
              <a:ext uri="{FF2B5EF4-FFF2-40B4-BE49-F238E27FC236}">
                <a16:creationId xmlns:a16="http://schemas.microsoft.com/office/drawing/2014/main" id="{F56D5044-C91E-4132-BDF3-25EE3F28F0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68147BF-69D1-4D40-ABCD-7C5B03760078}"/>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795358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0D7F2-C8A3-45BD-BB7B-12569C8BDF6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759A12-493B-4916-9B6F-7D2B592B1352}"/>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4" name="Footer Placeholder 3">
            <a:extLst>
              <a:ext uri="{FF2B5EF4-FFF2-40B4-BE49-F238E27FC236}">
                <a16:creationId xmlns:a16="http://schemas.microsoft.com/office/drawing/2014/main" id="{9A3223C6-D06F-41E5-88FC-33D74C3585E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590888-08DF-467B-9804-66D9E7991B57}"/>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187913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B6C441-7BB5-4E67-87E2-8CC3D3F3C0B4}"/>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3" name="Footer Placeholder 2">
            <a:extLst>
              <a:ext uri="{FF2B5EF4-FFF2-40B4-BE49-F238E27FC236}">
                <a16:creationId xmlns:a16="http://schemas.microsoft.com/office/drawing/2014/main" id="{1A18BFA4-FA5F-472F-BC3E-AADEA6959B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7A4AE69-7983-4F08-9C26-E3F77DCD1264}"/>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3269156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EAB8-1879-4FFC-B89C-900F9DEC55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228818-7419-4B57-9B48-DA8D9457AC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3F81F8-C160-400E-8AFC-D07BB6493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50478A-ACB8-49A1-B3C6-E7EE59BCB9C1}"/>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6" name="Footer Placeholder 5">
            <a:extLst>
              <a:ext uri="{FF2B5EF4-FFF2-40B4-BE49-F238E27FC236}">
                <a16:creationId xmlns:a16="http://schemas.microsoft.com/office/drawing/2014/main" id="{78985EC2-F010-4279-89CA-AF3975B9CA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BC0396-18D6-4B1A-B768-6553A215698C}"/>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3642845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8F07C-B852-4630-8E9C-BFF14BAB34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D96903-1BF9-4054-A0A0-399667588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47BC23-7F35-4AE4-9849-E8F21F6729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247494-A5F5-40D5-8821-FFAF4BD3EFD7}"/>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6" name="Footer Placeholder 5">
            <a:extLst>
              <a:ext uri="{FF2B5EF4-FFF2-40B4-BE49-F238E27FC236}">
                <a16:creationId xmlns:a16="http://schemas.microsoft.com/office/drawing/2014/main" id="{2E659AC5-B4D0-4FB9-A678-80C98549C1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2C1D2B-64DC-4EF2-8774-960703474A9B}"/>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2285081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A2A2E-ADB3-41E7-95E1-37EB4454B1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A3A865-4234-4151-BF7D-60C65A4ED3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8135D5-A213-44CE-BBCA-16115D3D126C}"/>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5" name="Footer Placeholder 4">
            <a:extLst>
              <a:ext uri="{FF2B5EF4-FFF2-40B4-BE49-F238E27FC236}">
                <a16:creationId xmlns:a16="http://schemas.microsoft.com/office/drawing/2014/main" id="{E1CF6855-B8F4-4748-8F2B-A43718F78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EC494F-9E67-4AFA-88CE-C8C81D68D516}"/>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3153447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B69CC6-2BBC-4C97-9794-00E4AA735A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B5621D-B833-46FB-A55E-3273F8813A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8418A8-2015-4172-A89C-59E155CEB2D9}"/>
              </a:ext>
            </a:extLst>
          </p:cNvPr>
          <p:cNvSpPr>
            <a:spLocks noGrp="1"/>
          </p:cNvSpPr>
          <p:nvPr>
            <p:ph type="dt" sz="half" idx="10"/>
          </p:nvPr>
        </p:nvSpPr>
        <p:spPr/>
        <p:txBody>
          <a:bodyPr/>
          <a:lstStyle/>
          <a:p>
            <a:fld id="{7416E0E4-26A1-468B-8DAD-3A75703426A1}" type="datetimeFigureOut">
              <a:rPr lang="en-IN" smtClean="0"/>
              <a:t>24-09-2024</a:t>
            </a:fld>
            <a:endParaRPr lang="en-IN"/>
          </a:p>
        </p:txBody>
      </p:sp>
      <p:sp>
        <p:nvSpPr>
          <p:cNvPr id="5" name="Footer Placeholder 4">
            <a:extLst>
              <a:ext uri="{FF2B5EF4-FFF2-40B4-BE49-F238E27FC236}">
                <a16:creationId xmlns:a16="http://schemas.microsoft.com/office/drawing/2014/main" id="{7AB685BA-F299-4402-947B-F28B1EE2AF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4D872B-8C23-4FC5-8EA1-679019D7ED64}"/>
              </a:ext>
            </a:extLst>
          </p:cNvPr>
          <p:cNvSpPr>
            <a:spLocks noGrp="1"/>
          </p:cNvSpPr>
          <p:nvPr>
            <p:ph type="sldNum" sz="quarter" idx="12"/>
          </p:nvPr>
        </p:nvSpPr>
        <p:spPr/>
        <p:txBody>
          <a:bodyPr/>
          <a:lstStyle/>
          <a:p>
            <a:fld id="{B680EFB9-51C6-485D-A411-0C293E42CB6B}" type="slidenum">
              <a:rPr lang="en-IN" smtClean="0"/>
              <a:t>‹#›</a:t>
            </a:fld>
            <a:endParaRPr lang="en-IN"/>
          </a:p>
        </p:txBody>
      </p:sp>
    </p:spTree>
    <p:extLst>
      <p:ext uri="{BB962C8B-B14F-4D97-AF65-F5344CB8AC3E}">
        <p14:creationId xmlns:p14="http://schemas.microsoft.com/office/powerpoint/2010/main" val="2032779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371647-34D4-45BB-9BE2-F81C2BD631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FE50F6-4C4F-4A02-B62C-945C46740D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CEB590-1F0F-45DD-864D-EA1A7FC58F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16E0E4-26A1-468B-8DAD-3A75703426A1}" type="datetimeFigureOut">
              <a:rPr lang="en-IN" smtClean="0"/>
              <a:t>24-09-2024</a:t>
            </a:fld>
            <a:endParaRPr lang="en-IN"/>
          </a:p>
        </p:txBody>
      </p:sp>
      <p:sp>
        <p:nvSpPr>
          <p:cNvPr id="5" name="Footer Placeholder 4">
            <a:extLst>
              <a:ext uri="{FF2B5EF4-FFF2-40B4-BE49-F238E27FC236}">
                <a16:creationId xmlns:a16="http://schemas.microsoft.com/office/drawing/2014/main" id="{EA77A6C2-1A0C-4364-B4B6-7E9D8160A3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EE8D47F-3E25-447C-9F46-215F0CC00D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80EFB9-51C6-485D-A411-0C293E42CB6B}" type="slidenum">
              <a:rPr lang="en-IN" smtClean="0"/>
              <a:t>‹#›</a:t>
            </a:fld>
            <a:endParaRPr lang="en-IN"/>
          </a:p>
        </p:txBody>
      </p:sp>
    </p:spTree>
    <p:extLst>
      <p:ext uri="{BB962C8B-B14F-4D97-AF65-F5344CB8AC3E}">
        <p14:creationId xmlns:p14="http://schemas.microsoft.com/office/powerpoint/2010/main" val="1523682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7A129-C5C8-4552-971C-4B9F74661540}"/>
              </a:ext>
            </a:extLst>
          </p:cNvPr>
          <p:cNvSpPr txBox="1"/>
          <p:nvPr/>
        </p:nvSpPr>
        <p:spPr>
          <a:xfrm>
            <a:off x="639097" y="2229489"/>
            <a:ext cx="11031793" cy="3693319"/>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What are the different Configuration Sources available in the ASP.NET Core application?</a:t>
            </a:r>
          </a:p>
          <a:p>
            <a:pPr algn="just"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If you have worked with the previous versions of the ASP.NET application, then you may know the importance of the </a:t>
            </a:r>
            <a:r>
              <a:rPr lang="en-US" b="0" i="0" dirty="0" err="1">
                <a:solidFill>
                  <a:srgbClr val="000000"/>
                </a:solidFill>
                <a:effectLst/>
                <a:latin typeface="arial" panose="020B0604020202020204" pitchFamily="34" charset="0"/>
              </a:rPr>
              <a:t>web.config</a:t>
            </a:r>
            <a:r>
              <a:rPr lang="en-US" b="0" i="0" dirty="0">
                <a:solidFill>
                  <a:srgbClr val="000000"/>
                </a:solidFill>
                <a:effectLst/>
                <a:latin typeface="arial" panose="020B0604020202020204" pitchFamily="34" charset="0"/>
              </a:rPr>
              <a:t> file. In previous versions , we generally used to store the application configuration settings such as database connection strings, any application scope global variables, and many more within the </a:t>
            </a:r>
            <a:r>
              <a:rPr lang="en-US" b="0" i="0" dirty="0" err="1">
                <a:solidFill>
                  <a:srgbClr val="000000"/>
                </a:solidFill>
                <a:effectLst/>
                <a:latin typeface="arial" panose="020B0604020202020204" pitchFamily="34" charset="0"/>
              </a:rPr>
              <a:t>web.config</a:t>
            </a:r>
            <a:r>
              <a:rPr lang="en-US" b="0" i="0" dirty="0">
                <a:solidFill>
                  <a:srgbClr val="000000"/>
                </a:solidFill>
                <a:effectLst/>
                <a:latin typeface="arial" panose="020B0604020202020204" pitchFamily="34" charset="0"/>
              </a:rPr>
              <a:t> file. But in ASP.NET Core, the application configuration settings can come from different configurations sources such as</a:t>
            </a:r>
          </a:p>
          <a:p>
            <a:pPr algn="just" fontAlgn="base"/>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Files</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appsettings.json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appsettings</a:t>
            </a:r>
            <a:r>
              <a:rPr lang="en-US" b="0" i="0" dirty="0">
                <a:solidFill>
                  <a:srgbClr val="000000"/>
                </a:solidFill>
                <a:effectLst/>
                <a:latin typeface="arial" panose="020B0604020202020204" pitchFamily="34" charset="0"/>
              </a:rPr>
              <a:t>.{Environment}.json, where the {Environment} is the nothing but the applications current hosting environments such as Development, Staging or Production)</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User secrets</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Environment variables</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Command-line arguments</a:t>
            </a:r>
            <a:endParaRPr lang="en-US" b="0" i="0" dirty="0">
              <a:solidFill>
                <a:srgbClr val="212529"/>
              </a:solidFill>
              <a:effectLst/>
              <a:latin typeface="-apple-system"/>
            </a:endParaRPr>
          </a:p>
        </p:txBody>
      </p:sp>
    </p:spTree>
    <p:extLst>
      <p:ext uri="{BB962C8B-B14F-4D97-AF65-F5344CB8AC3E}">
        <p14:creationId xmlns:p14="http://schemas.microsoft.com/office/powerpoint/2010/main" val="849948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232858-30C3-420F-97AF-206E0E48A5CB}"/>
              </a:ext>
            </a:extLst>
          </p:cNvPr>
          <p:cNvSpPr txBox="1"/>
          <p:nvPr/>
        </p:nvSpPr>
        <p:spPr>
          <a:xfrm>
            <a:off x="245806" y="243714"/>
            <a:ext cx="11798710" cy="1477328"/>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What is ASP.NET Core </a:t>
            </a:r>
            <a:r>
              <a:rPr lang="en-US" b="1" i="0" dirty="0" err="1">
                <a:solidFill>
                  <a:srgbClr val="000000"/>
                </a:solidFill>
                <a:effectLst/>
                <a:latin typeface="arial" panose="020B0604020202020204" pitchFamily="34" charset="0"/>
              </a:rPr>
              <a:t>appsettings.json</a:t>
            </a:r>
            <a:r>
              <a:rPr lang="en-US" b="1" i="0" dirty="0">
                <a:solidFill>
                  <a:srgbClr val="000000"/>
                </a:solidFill>
                <a:effectLst/>
                <a:latin typeface="arial" panose="020B0604020202020204" pitchFamily="34" charset="0"/>
              </a:rPr>
              <a:t> File?</a:t>
            </a:r>
          </a:p>
          <a:p>
            <a:pPr algn="just"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When we create an ASP.NET Core Web application with an Empty project template or Razor Pages or MVC Template or Web API Template, then the visual studio automatically creates the </a:t>
            </a:r>
            <a:r>
              <a:rPr lang="en-US" b="0" i="0" dirty="0" err="1">
                <a:solidFill>
                  <a:srgbClr val="000000"/>
                </a:solidFill>
                <a:effectLst/>
                <a:latin typeface="arial" panose="020B0604020202020204" pitchFamily="34" charset="0"/>
              </a:rPr>
              <a:t>appsettings.json</a:t>
            </a:r>
            <a:r>
              <a:rPr lang="en-US" b="0" i="0" dirty="0">
                <a:solidFill>
                  <a:srgbClr val="000000"/>
                </a:solidFill>
                <a:effectLst/>
                <a:latin typeface="arial" panose="020B0604020202020204" pitchFamily="34" charset="0"/>
              </a:rPr>
              <a:t> file for us as shown in the below image.</a:t>
            </a:r>
            <a:endParaRPr lang="en-US" b="0" i="0" dirty="0">
              <a:solidFill>
                <a:srgbClr val="212529"/>
              </a:solidFill>
              <a:effectLst/>
              <a:latin typeface="-apple-system"/>
            </a:endParaRPr>
          </a:p>
        </p:txBody>
      </p:sp>
      <p:pic>
        <p:nvPicPr>
          <p:cNvPr id="1026" name="Picture 2" descr="What is ASP.NET Core appsettings.json File?">
            <a:extLst>
              <a:ext uri="{FF2B5EF4-FFF2-40B4-BE49-F238E27FC236}">
                <a16:creationId xmlns:a16="http://schemas.microsoft.com/office/drawing/2014/main" id="{49264CE2-31D8-44B6-B90E-63240F0529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222" y="1960461"/>
            <a:ext cx="3333750" cy="19145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940679B-C3C1-4144-93C1-9F77FA221113}"/>
              </a:ext>
            </a:extLst>
          </p:cNvPr>
          <p:cNvSpPr txBox="1"/>
          <p:nvPr/>
        </p:nvSpPr>
        <p:spPr>
          <a:xfrm>
            <a:off x="4247535" y="1721042"/>
            <a:ext cx="7600335" cy="1477328"/>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a:t>
            </a:r>
            <a:r>
              <a:rPr lang="en-US" b="0" i="0" dirty="0" err="1">
                <a:solidFill>
                  <a:srgbClr val="000000"/>
                </a:solidFill>
                <a:effectLst/>
                <a:latin typeface="arial" panose="020B0604020202020204" pitchFamily="34" charset="0"/>
              </a:rPr>
              <a:t>appsettings.json</a:t>
            </a:r>
            <a:r>
              <a:rPr lang="en-US" b="0" i="0" dirty="0">
                <a:solidFill>
                  <a:srgbClr val="000000"/>
                </a:solidFill>
                <a:effectLst/>
                <a:latin typeface="arial" panose="020B0604020202020204" pitchFamily="34" charset="0"/>
              </a:rPr>
              <a:t> file is an application configuration file used to store configuration settings such as database connections strings, any application scope global variables, etc. If you open the ASP.NET Core </a:t>
            </a:r>
            <a:r>
              <a:rPr lang="en-US" b="0" i="0" dirty="0" err="1">
                <a:solidFill>
                  <a:srgbClr val="000000"/>
                </a:solidFill>
                <a:effectLst/>
                <a:latin typeface="arial" panose="020B0604020202020204" pitchFamily="34" charset="0"/>
              </a:rPr>
              <a:t>appsettings.json</a:t>
            </a:r>
            <a:r>
              <a:rPr lang="en-US" b="0" i="0" dirty="0">
                <a:solidFill>
                  <a:srgbClr val="000000"/>
                </a:solidFill>
                <a:effectLst/>
                <a:latin typeface="arial" panose="020B0604020202020204" pitchFamily="34" charset="0"/>
              </a:rPr>
              <a:t> file, then you see the following code by default which is created by visual studio.</a:t>
            </a:r>
            <a:endParaRPr lang="en-IN" dirty="0"/>
          </a:p>
        </p:txBody>
      </p:sp>
      <p:pic>
        <p:nvPicPr>
          <p:cNvPr id="1028" name="Picture 4" descr="What are the different Configuration Sources available in the ASP.NET Core application?">
            <a:extLst>
              <a:ext uri="{FF2B5EF4-FFF2-40B4-BE49-F238E27FC236}">
                <a16:creationId xmlns:a16="http://schemas.microsoft.com/office/drawing/2014/main" id="{8C4712B7-CA03-4678-8A8D-40C1A25D51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546" y="3324225"/>
            <a:ext cx="3981450"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885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5AE1A5-2E98-4259-B565-8EF673A0A74C}"/>
              </a:ext>
            </a:extLst>
          </p:cNvPr>
          <p:cNvSpPr txBox="1"/>
          <p:nvPr/>
        </p:nvSpPr>
        <p:spPr>
          <a:xfrm>
            <a:off x="0" y="529697"/>
            <a:ext cx="11965858"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Now I am going to add a key with the name </a:t>
            </a:r>
            <a:r>
              <a:rPr lang="en-US" b="1" i="0" dirty="0" err="1">
                <a:solidFill>
                  <a:srgbClr val="000000"/>
                </a:solidFill>
                <a:effectLst/>
                <a:latin typeface="arial" panose="020B0604020202020204" pitchFamily="34" charset="0"/>
              </a:rPr>
              <a:t>MyCustomKey</a:t>
            </a:r>
            <a:r>
              <a:rPr lang="en-US" b="0" i="0" dirty="0">
                <a:solidFill>
                  <a:srgbClr val="000000"/>
                </a:solidFill>
                <a:effectLst/>
                <a:latin typeface="arial" panose="020B0604020202020204" pitchFamily="34" charset="0"/>
              </a:rPr>
              <a:t> within this file. To do so, please modify the </a:t>
            </a:r>
            <a:r>
              <a:rPr lang="en-US" b="1" i="0" dirty="0" err="1">
                <a:solidFill>
                  <a:srgbClr val="000000"/>
                </a:solidFill>
                <a:effectLst/>
                <a:latin typeface="arial" panose="020B0604020202020204" pitchFamily="34" charset="0"/>
              </a:rPr>
              <a:t>appsettings.json</a:t>
            </a:r>
            <a:r>
              <a:rPr lang="en-US" b="0" i="0" dirty="0">
                <a:solidFill>
                  <a:srgbClr val="000000"/>
                </a:solidFill>
                <a:effectLst/>
                <a:latin typeface="arial" panose="020B0604020202020204" pitchFamily="34" charset="0"/>
              </a:rPr>
              <a:t> file as shown below. As it is a JSON file, you need to store the value in the form of key-value pair.</a:t>
            </a:r>
            <a:endParaRPr lang="en-IN" dirty="0"/>
          </a:p>
        </p:txBody>
      </p:sp>
      <p:sp>
        <p:nvSpPr>
          <p:cNvPr id="7" name="TextBox 6">
            <a:extLst>
              <a:ext uri="{FF2B5EF4-FFF2-40B4-BE49-F238E27FC236}">
                <a16:creationId xmlns:a16="http://schemas.microsoft.com/office/drawing/2014/main" id="{A4604402-2494-4EE2-B227-06E51BCDCC67}"/>
              </a:ext>
            </a:extLst>
          </p:cNvPr>
          <p:cNvSpPr txBox="1"/>
          <p:nvPr/>
        </p:nvSpPr>
        <p:spPr>
          <a:xfrm>
            <a:off x="715297" y="1847726"/>
            <a:ext cx="6120580" cy="3416320"/>
          </a:xfrm>
          <a:prstGeom prst="rect">
            <a:avLst/>
          </a:prstGeom>
          <a:noFill/>
        </p:spPr>
        <p:txBody>
          <a:bodyPr wrap="square">
            <a:spAutoFit/>
          </a:bodyPr>
          <a:lstStyle/>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"Logging":</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a:t>
            </a:r>
            <a:r>
              <a:rPr lang="en-IN" b="0" i="0" dirty="0" err="1">
                <a:solidFill>
                  <a:srgbClr val="D19252"/>
                </a:solidFill>
                <a:effectLst/>
                <a:latin typeface="inherit"/>
              </a:rPr>
              <a:t>LogLevel</a:t>
            </a:r>
            <a:r>
              <a:rPr lang="en-IN" b="0" i="0" dirty="0">
                <a:solidFill>
                  <a:srgbClr val="D19252"/>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"Default":</a:t>
            </a:r>
            <a:r>
              <a:rPr lang="en-IN" b="0" i="0" dirty="0">
                <a:solidFill>
                  <a:srgbClr val="CFD5E0"/>
                </a:solidFill>
                <a:effectLst/>
                <a:latin typeface="inherit"/>
              </a:rPr>
              <a:t> </a:t>
            </a:r>
            <a:r>
              <a:rPr lang="en-IN" b="0" i="0" dirty="0">
                <a:solidFill>
                  <a:srgbClr val="7CC379"/>
                </a:solidFill>
                <a:effectLst/>
                <a:latin typeface="inherit"/>
              </a:rPr>
              <a:t>"Information"</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"Microsoft":</a:t>
            </a:r>
            <a:r>
              <a:rPr lang="en-IN" b="0" i="0" dirty="0">
                <a:solidFill>
                  <a:srgbClr val="CFD5E0"/>
                </a:solidFill>
                <a:effectLst/>
                <a:latin typeface="inherit"/>
              </a:rPr>
              <a:t> </a:t>
            </a:r>
            <a:r>
              <a:rPr lang="en-IN" b="0" i="0" dirty="0">
                <a:solidFill>
                  <a:srgbClr val="7CC379"/>
                </a:solidFill>
                <a:effectLst/>
                <a:latin typeface="inherit"/>
              </a:rPr>
              <a:t>"Warning"</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a:t>
            </a:r>
            <a:r>
              <a:rPr lang="en-IN" b="0" i="0" dirty="0" err="1">
                <a:solidFill>
                  <a:srgbClr val="D19252"/>
                </a:solidFill>
                <a:effectLst/>
                <a:latin typeface="inherit"/>
              </a:rPr>
              <a:t>Microsoft.Hosting.Lifetime</a:t>
            </a:r>
            <a:r>
              <a:rPr lang="en-IN" b="0" i="0" dirty="0">
                <a:solidFill>
                  <a:srgbClr val="D19252"/>
                </a:solidFill>
                <a:effectLst/>
                <a:latin typeface="inherit"/>
              </a:rPr>
              <a:t>":</a:t>
            </a:r>
            <a:r>
              <a:rPr lang="en-IN" b="0" i="0" dirty="0">
                <a:solidFill>
                  <a:srgbClr val="CFD5E0"/>
                </a:solidFill>
                <a:effectLst/>
                <a:latin typeface="inherit"/>
              </a:rPr>
              <a:t> </a:t>
            </a:r>
            <a:r>
              <a:rPr lang="en-IN" b="0" i="0" dirty="0">
                <a:solidFill>
                  <a:srgbClr val="7CC379"/>
                </a:solidFill>
                <a:effectLst/>
                <a:latin typeface="inherit"/>
              </a:rPr>
              <a:t>"Information"</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a:t>
            </a:r>
            <a:r>
              <a:rPr lang="en-IN" b="0" i="0" dirty="0" err="1">
                <a:solidFill>
                  <a:srgbClr val="D19252"/>
                </a:solidFill>
                <a:effectLst/>
                <a:latin typeface="inherit"/>
              </a:rPr>
              <a:t>AllowedHosts</a:t>
            </a:r>
            <a:r>
              <a:rPr lang="en-IN" b="0" i="0" dirty="0">
                <a:solidFill>
                  <a:srgbClr val="D19252"/>
                </a:solidFill>
                <a:effectLst/>
                <a:latin typeface="inherit"/>
              </a:rPr>
              <a:t>":</a:t>
            </a:r>
            <a:r>
              <a:rPr lang="en-IN" b="0" i="0" dirty="0">
                <a:solidFill>
                  <a:srgbClr val="CFD5E0"/>
                </a:solidFill>
                <a:effectLst/>
                <a:latin typeface="inherit"/>
              </a:rPr>
              <a:t> </a:t>
            </a:r>
            <a:r>
              <a:rPr lang="en-IN" b="0" i="0" dirty="0">
                <a:solidFill>
                  <a:srgbClr val="7CC379"/>
                </a:solidFill>
                <a:effectLst/>
                <a:latin typeface="inherit"/>
              </a:rPr>
              <a:t>"*"</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a:t>
            </a:r>
            <a:r>
              <a:rPr lang="en-IN" b="0" i="0" dirty="0" err="1">
                <a:solidFill>
                  <a:srgbClr val="D19252"/>
                </a:solidFill>
                <a:effectLst/>
                <a:latin typeface="inherit"/>
              </a:rPr>
              <a:t>MyCustomKey</a:t>
            </a:r>
            <a:r>
              <a:rPr lang="en-IN" b="0" i="0" dirty="0">
                <a:solidFill>
                  <a:srgbClr val="D19252"/>
                </a:solidFill>
                <a:effectLst/>
                <a:latin typeface="inherit"/>
              </a:rPr>
              <a:t>":</a:t>
            </a:r>
            <a:r>
              <a:rPr lang="en-IN" b="0" i="0" dirty="0">
                <a:solidFill>
                  <a:srgbClr val="CFD5E0"/>
                </a:solidFill>
                <a:effectLst/>
                <a:latin typeface="inherit"/>
              </a:rPr>
              <a:t> </a:t>
            </a:r>
            <a:r>
              <a:rPr lang="en-IN" b="0" i="0" dirty="0">
                <a:solidFill>
                  <a:srgbClr val="7CC379"/>
                </a:solidFill>
                <a:effectLst/>
                <a:latin typeface="inherit"/>
              </a:rPr>
              <a:t>"</a:t>
            </a:r>
            <a:r>
              <a:rPr lang="en-IN" b="0" i="0" dirty="0" err="1">
                <a:solidFill>
                  <a:srgbClr val="7CC379"/>
                </a:solidFill>
                <a:effectLst/>
                <a:latin typeface="inherit"/>
              </a:rPr>
              <a:t>MyCustomKey</a:t>
            </a:r>
            <a:r>
              <a:rPr lang="en-IN" b="0" i="0" dirty="0">
                <a:solidFill>
                  <a:srgbClr val="7CC379"/>
                </a:solidFill>
                <a:effectLst/>
                <a:latin typeface="inherit"/>
              </a:rPr>
              <a:t> Value coming from </a:t>
            </a:r>
            <a:r>
              <a:rPr lang="en-IN" b="0" i="0" dirty="0" err="1">
                <a:solidFill>
                  <a:srgbClr val="7CC379"/>
                </a:solidFill>
                <a:effectLst/>
                <a:latin typeface="inherit"/>
              </a:rPr>
              <a:t>appsettings.json</a:t>
            </a:r>
            <a:r>
              <a:rPr lang="en-IN" b="0" i="0" dirty="0">
                <a:solidFill>
                  <a:srgbClr val="7CC379"/>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8" name="TextBox 7">
            <a:extLst>
              <a:ext uri="{FF2B5EF4-FFF2-40B4-BE49-F238E27FC236}">
                <a16:creationId xmlns:a16="http://schemas.microsoft.com/office/drawing/2014/main" id="{4B287F94-A6F2-4A68-90BA-7A9ED7FE9D94}"/>
              </a:ext>
            </a:extLst>
          </p:cNvPr>
          <p:cNvSpPr txBox="1"/>
          <p:nvPr/>
        </p:nvSpPr>
        <p:spPr>
          <a:xfrm>
            <a:off x="3775587" y="167148"/>
            <a:ext cx="3352800" cy="369332"/>
          </a:xfrm>
          <a:prstGeom prst="rect">
            <a:avLst/>
          </a:prstGeom>
          <a:noFill/>
        </p:spPr>
        <p:txBody>
          <a:bodyPr wrap="square" rtlCol="0">
            <a:spAutoFit/>
          </a:bodyPr>
          <a:lstStyle/>
          <a:p>
            <a:pPr algn="ctr"/>
            <a:r>
              <a:rPr lang="en-IN" b="1" dirty="0"/>
              <a:t>Setting Key value pair</a:t>
            </a:r>
          </a:p>
        </p:txBody>
      </p:sp>
    </p:spTree>
    <p:extLst>
      <p:ext uri="{BB962C8B-B14F-4D97-AF65-F5344CB8AC3E}">
        <p14:creationId xmlns:p14="http://schemas.microsoft.com/office/powerpoint/2010/main" val="4219918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A832B8-AA6B-4712-8242-D55756FC101D}"/>
              </a:ext>
            </a:extLst>
          </p:cNvPr>
          <p:cNvSpPr txBox="1"/>
          <p:nvPr/>
        </p:nvSpPr>
        <p:spPr>
          <a:xfrm>
            <a:off x="452285" y="0"/>
            <a:ext cx="10648334" cy="800219"/>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How to access the configuration information in the ASP.NET Core application?</a:t>
            </a:r>
          </a:p>
          <a:p>
            <a:pPr algn="just" fontAlgn="base"/>
            <a:r>
              <a:rPr lang="en-US" sz="1400" b="0" i="0" dirty="0">
                <a:solidFill>
                  <a:srgbClr val="000000"/>
                </a:solidFill>
                <a:effectLst/>
                <a:latin typeface="arial" panose="020B0604020202020204" pitchFamily="34" charset="0"/>
              </a:rPr>
              <a:t>To access the configuration information within the Startup class, you need to use the  service which is provided by the ASP.NET Core Framework. </a:t>
            </a:r>
            <a:endParaRPr lang="en-US" sz="1400" b="0" i="0" dirty="0">
              <a:solidFill>
                <a:srgbClr val="212529"/>
              </a:solidFill>
              <a:effectLst/>
              <a:latin typeface="-apple-system"/>
            </a:endParaRPr>
          </a:p>
        </p:txBody>
      </p:sp>
      <p:sp>
        <p:nvSpPr>
          <p:cNvPr id="9" name="TextBox 8">
            <a:extLst>
              <a:ext uri="{FF2B5EF4-FFF2-40B4-BE49-F238E27FC236}">
                <a16:creationId xmlns:a16="http://schemas.microsoft.com/office/drawing/2014/main" id="{45CBE1C6-E6FE-43B6-92F5-0A1500737351}"/>
              </a:ext>
            </a:extLst>
          </p:cNvPr>
          <p:cNvSpPr txBox="1"/>
          <p:nvPr/>
        </p:nvSpPr>
        <p:spPr>
          <a:xfrm>
            <a:off x="5926393" y="847472"/>
            <a:ext cx="6096000" cy="307777"/>
          </a:xfrm>
          <a:prstGeom prst="rect">
            <a:avLst/>
          </a:prstGeom>
          <a:noFill/>
        </p:spPr>
        <p:txBody>
          <a:bodyPr wrap="square">
            <a:spAutoFit/>
          </a:bodyPr>
          <a:lstStyle/>
          <a:p>
            <a:pPr algn="ctr" fontAlgn="base"/>
            <a:r>
              <a:rPr lang="en-US" sz="1400" b="1" i="0" dirty="0">
                <a:solidFill>
                  <a:srgbClr val="000000"/>
                </a:solidFill>
                <a:effectLst/>
                <a:latin typeface="arial" panose="020B0604020202020204" pitchFamily="34" charset="0"/>
              </a:rPr>
              <a:t>Explanation of the above code:</a:t>
            </a:r>
            <a:endParaRPr lang="en-US" sz="1400" b="0" i="0" dirty="0">
              <a:solidFill>
                <a:srgbClr val="3A3A3A"/>
              </a:solidFill>
              <a:effectLst/>
              <a:latin typeface="-apple-system"/>
            </a:endParaRPr>
          </a:p>
        </p:txBody>
      </p:sp>
      <p:sp>
        <p:nvSpPr>
          <p:cNvPr id="2" name="Rectangle 1"/>
          <p:cNvSpPr/>
          <p:nvPr/>
        </p:nvSpPr>
        <p:spPr>
          <a:xfrm>
            <a:off x="452284" y="1155249"/>
            <a:ext cx="9910915" cy="6078587"/>
          </a:xfrm>
          <a:prstGeom prst="rect">
            <a:avLst/>
          </a:prstGeom>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Microsoft.Extensions.Configuration</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WebAppMVC</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builder = </a:t>
            </a:r>
            <a:r>
              <a:rPr lang="en-IN" sz="900" dirty="0" err="1">
                <a:solidFill>
                  <a:srgbClr val="000000"/>
                </a:solidFill>
                <a:latin typeface="Cascadia Mono" panose="020B0609020000020004" pitchFamily="49" charset="0"/>
              </a:rPr>
              <a:t>WebApplication.CreateBuilder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args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builder.Services.AddControllersWithViews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if (!</a:t>
            </a:r>
            <a:r>
              <a:rPr lang="en-IN" sz="900" dirty="0" err="1">
                <a:solidFill>
                  <a:srgbClr val="008000"/>
                </a:solidFill>
                <a:latin typeface="Cascadia Mono" panose="020B0609020000020004" pitchFamily="49" charset="0"/>
              </a:rPr>
              <a:t>app.Environment.IsDevelopment</a:t>
            </a:r>
            <a:r>
              <a:rPr lang="en-IN" sz="900" dirty="0">
                <a:solidFill>
                  <a:srgbClr val="008000"/>
                </a:solidFill>
                <a:latin typeface="Cascadia Mono" panose="020B0609020000020004" pitchFamily="49" charset="0"/>
              </a:rPr>
              <a:t>())</a:t>
            </a:r>
          </a:p>
          <a:p>
            <a:r>
              <a:rPr lang="en-IN" sz="900" dirty="0">
                <a:solidFill>
                  <a:srgbClr val="008000"/>
                </a:solidFill>
                <a:latin typeface="Cascadia Mono" panose="020B0609020000020004" pitchFamily="49" charset="0"/>
              </a:rPr>
              <a:t>             {</a:t>
            </a:r>
          </a:p>
          <a:p>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app.UseExceptionHandler</a:t>
            </a:r>
            <a:r>
              <a:rPr lang="en-IN" sz="900" dirty="0">
                <a:solidFill>
                  <a:srgbClr val="008000"/>
                </a:solidFill>
                <a:latin typeface="Cascadia Mono" panose="020B0609020000020004" pitchFamily="49" charset="0"/>
              </a:rPr>
              <a:t>("/Home/Error");</a:t>
            </a:r>
          </a:p>
          <a:p>
            <a:r>
              <a:rPr lang="en-US" sz="900" dirty="0">
                <a:solidFill>
                  <a:srgbClr val="008000"/>
                </a:solidFill>
                <a:latin typeface="Cascadia Mono" panose="020B0609020000020004" pitchFamily="49" charset="0"/>
              </a:rPr>
              <a:t>                 // The default HSTS value is 30 days. You may want to change this for production scenarios, see https://aka.ms/aspnetcore-hsts.</a:t>
            </a:r>
          </a:p>
          <a:p>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app.UseHsts</a:t>
            </a:r>
            <a:r>
              <a:rPr lang="en-IN" sz="900" dirty="0">
                <a:solidFill>
                  <a:srgbClr val="008000"/>
                </a:solidFill>
                <a:latin typeface="Cascadia Mono" panose="020B0609020000020004" pitchFamily="49" charset="0"/>
              </a:rPr>
              <a:t>();</a:t>
            </a:r>
          </a:p>
          <a:p>
            <a:r>
              <a:rPr lang="en-IN" sz="900" dirty="0">
                <a:solidFill>
                  <a:srgbClr val="008000"/>
                </a:solidFill>
                <a:latin typeface="Cascadia Mono" panose="020B0609020000020004" pitchFamily="49" charset="0"/>
              </a:rPr>
              <a:t>             }*/</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app.UseHttpsRedirection</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app.UseStaticFiles</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a:t>
            </a:r>
            <a:r>
              <a:rPr lang="en-IN" sz="900" dirty="0" err="1">
                <a:solidFill>
                  <a:srgbClr val="008000"/>
                </a:solidFill>
                <a:latin typeface="Cascadia Mono" panose="020B0609020000020004" pitchFamily="49" charset="0"/>
              </a:rPr>
              <a:t>app.UseRouting</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a:t>
            </a:r>
            <a:r>
              <a:rPr lang="en-IN" sz="900" dirty="0" err="1">
                <a:solidFill>
                  <a:srgbClr val="008000"/>
                </a:solidFill>
                <a:latin typeface="Cascadia Mono" panose="020B0609020000020004" pitchFamily="49" charset="0"/>
              </a:rPr>
              <a:t>app.UseAuthorization</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ConfigurationManager</a:t>
            </a:r>
            <a:r>
              <a:rPr lang="en-IN" sz="1100" dirty="0">
                <a:solidFill>
                  <a:srgbClr val="000000"/>
                </a:solidFill>
                <a:latin typeface="Cascadia Mono" panose="020B0609020000020004" pitchFamily="49" charset="0"/>
              </a:rPr>
              <a:t> configuration = </a:t>
            </a:r>
            <a:r>
              <a:rPr lang="en-IN" sz="1100" dirty="0" err="1">
                <a:solidFill>
                  <a:srgbClr val="000000"/>
                </a:solidFill>
                <a:latin typeface="Cascadia Mono" panose="020B0609020000020004" pitchFamily="49" charset="0"/>
              </a:rPr>
              <a:t>builder.Configuration</a:t>
            </a:r>
            <a:r>
              <a:rPr lang="en-IN" sz="11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//Get the Value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//string </a:t>
            </a:r>
            <a:r>
              <a:rPr lang="en-IN" sz="900" dirty="0" err="1">
                <a:solidFill>
                  <a:srgbClr val="008000"/>
                </a:solidFill>
                <a:latin typeface="Cascadia Mono" panose="020B0609020000020004" pitchFamily="49" charset="0"/>
              </a:rPr>
              <a:t>MyCustomKeyValue</a:t>
            </a:r>
            <a:r>
              <a:rPr lang="en-IN" sz="900" dirty="0">
                <a:solidFill>
                  <a:srgbClr val="008000"/>
                </a:solidFill>
                <a:latin typeface="Cascadia Mono" panose="020B0609020000020004" pitchFamily="49" charset="0"/>
              </a:rPr>
              <a:t> = </a:t>
            </a:r>
            <a:r>
              <a:rPr lang="en-IN" sz="900" dirty="0" err="1">
                <a:solidFill>
                  <a:srgbClr val="008000"/>
                </a:solidFill>
                <a:latin typeface="Cascadia Mono" panose="020B0609020000020004" pitchFamily="49" charset="0"/>
              </a:rPr>
              <a:t>configuration.GetValue</a:t>
            </a:r>
            <a:r>
              <a:rPr lang="en-IN" sz="900" dirty="0">
                <a:solidFill>
                  <a:srgbClr val="008000"/>
                </a:solidFill>
                <a:latin typeface="Cascadia Mono" panose="020B0609020000020004" pitchFamily="49" charset="0"/>
              </a:rPr>
              <a:t>&lt;string&gt;("</a:t>
            </a:r>
            <a:r>
              <a:rPr lang="en-IN" sz="900" dirty="0" err="1">
                <a:solidFill>
                  <a:srgbClr val="008000"/>
                </a:solidFill>
                <a:latin typeface="Cascadia Mono" panose="020B0609020000020004" pitchFamily="49" charset="0"/>
              </a:rPr>
              <a:t>MyCustomKey</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MyCustomKeyValue</a:t>
            </a:r>
            <a:r>
              <a:rPr lang="en-IN" sz="1050" dirty="0">
                <a:solidFill>
                  <a:srgbClr val="000000"/>
                </a:solidFill>
                <a:latin typeface="Cascadia Mono" panose="020B0609020000020004" pitchFamily="49" charset="0"/>
              </a:rPr>
              <a:t> = configuration[</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MyCustomKey</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app.UseRouting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app.UseEndpoints</a:t>
            </a:r>
            <a:r>
              <a:rPr lang="en-IN" sz="900" dirty="0">
                <a:solidFill>
                  <a:srgbClr val="000000"/>
                </a:solidFill>
                <a:latin typeface="Cascadia Mono" panose="020B0609020000020004" pitchFamily="49" charset="0"/>
              </a:rPr>
              <a:t>(endpoints =&gt;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endpoints.MapGet</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async</a:t>
            </a:r>
            <a:r>
              <a:rPr lang="en-IN" sz="900" dirty="0">
                <a:solidFill>
                  <a:srgbClr val="000000"/>
                </a:solidFill>
                <a:latin typeface="Cascadia Mono" panose="020B0609020000020004" pitchFamily="49" charset="0"/>
              </a:rPr>
              <a:t> context =&gt;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context.Response.WriteAsync</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MyCustomKeyValue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3" name="Rectangle 2"/>
          <p:cNvSpPr/>
          <p:nvPr/>
        </p:nvSpPr>
        <p:spPr>
          <a:xfrm>
            <a:off x="7047345" y="5211817"/>
            <a:ext cx="5061527" cy="1477328"/>
          </a:xfrm>
          <a:prstGeom prst="rect">
            <a:avLst/>
          </a:prstGeom>
        </p:spPr>
        <p:txBody>
          <a:bodyPr wrap="square">
            <a:spAutoFit/>
          </a:bodyPr>
          <a:lstStyle/>
          <a:p>
            <a:r>
              <a:rPr lang="en-US" dirty="0">
                <a:solidFill>
                  <a:srgbClr val="000000"/>
                </a:solidFill>
                <a:latin typeface="arial" panose="020B0604020202020204" pitchFamily="34" charset="0"/>
              </a:rPr>
              <a:t>The Map method Branches the request pipeline based on matches of the given request path. If the request path starts with the given path, the branch is executed else the Middleware simply ignored.</a:t>
            </a:r>
            <a:endParaRPr lang="en-IN" dirty="0"/>
          </a:p>
        </p:txBody>
      </p:sp>
    </p:spTree>
    <p:extLst>
      <p:ext uri="{BB962C8B-B14F-4D97-AF65-F5344CB8AC3E}">
        <p14:creationId xmlns:p14="http://schemas.microsoft.com/office/powerpoint/2010/main" val="40626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5AD44F-8511-41B0-8D1C-0C4E4BC3E66C}"/>
              </a:ext>
            </a:extLst>
          </p:cNvPr>
          <p:cNvSpPr txBox="1"/>
          <p:nvPr/>
        </p:nvSpPr>
        <p:spPr>
          <a:xfrm>
            <a:off x="353960" y="12680"/>
            <a:ext cx="11611897" cy="2031325"/>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Dependency Injection Design Pattern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our previous versions of ASP.NET applications, the </a:t>
            </a:r>
            <a:r>
              <a:rPr lang="en-US" b="1" i="0" u="none" strike="noStrike" dirty="0">
                <a:solidFill>
                  <a:srgbClr val="007BFF"/>
                </a:solidFill>
                <a:effectLst/>
                <a:latin typeface="arial" panose="020B0604020202020204" pitchFamily="34" charset="0"/>
              </a:rPr>
              <a:t>Dependency Injection design pattern</a:t>
            </a:r>
            <a:r>
              <a:rPr lang="en-US" b="0" i="0" dirty="0">
                <a:solidFill>
                  <a:srgbClr val="000000"/>
                </a:solidFill>
                <a:effectLst/>
                <a:latin typeface="arial" panose="020B0604020202020204" pitchFamily="34" charset="0"/>
              </a:rPr>
              <a:t> was optional. But if you want to configure it in a traditional .NET application, then you need to use some of the frameworks like </a:t>
            </a:r>
            <a:r>
              <a:rPr lang="en-US" b="0" i="0" dirty="0" err="1">
                <a:solidFill>
                  <a:srgbClr val="000000"/>
                </a:solidFill>
                <a:effectLst/>
                <a:latin typeface="arial" panose="020B0604020202020204" pitchFamily="34" charset="0"/>
              </a:rPr>
              <a:t>Ninject</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StructureMap</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IUnity</a:t>
            </a:r>
            <a:r>
              <a:rPr lang="en-US" b="0" i="0" dirty="0">
                <a:solidFill>
                  <a:srgbClr val="000000"/>
                </a:solidFill>
                <a:effectLst/>
                <a:latin typeface="arial" panose="020B0604020202020204" pitchFamily="34" charset="0"/>
              </a:rPr>
              <a:t> container, etc.</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But in ASP.NET Core application Dependency Injection is an integral part and the framework provides the inbuilt support for dependency injection. The </a:t>
            </a:r>
            <a:r>
              <a:rPr lang="en-US" b="1" i="0" u="none" strike="noStrike" dirty="0">
                <a:solidFill>
                  <a:srgbClr val="007BFF"/>
                </a:solidFill>
                <a:effectLst/>
                <a:latin typeface="arial" panose="020B0604020202020204" pitchFamily="34" charset="0"/>
              </a:rPr>
              <a:t>Dependency Injection Design Pattern</a:t>
            </a:r>
            <a:r>
              <a:rPr lang="en-US" b="0" i="0" dirty="0">
                <a:solidFill>
                  <a:srgbClr val="000000"/>
                </a:solidFill>
                <a:effectLst/>
                <a:latin typeface="arial" panose="020B0604020202020204" pitchFamily="34" charset="0"/>
              </a:rPr>
              <a:t> allows us to develop loosely coupled systems that are extensible and also easy to testable.</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372672B6-5356-4512-9291-BD93F638C689}"/>
              </a:ext>
            </a:extLst>
          </p:cNvPr>
          <p:cNvSpPr txBox="1"/>
          <p:nvPr/>
        </p:nvSpPr>
        <p:spPr>
          <a:xfrm>
            <a:off x="398207" y="2037843"/>
            <a:ext cx="11395586" cy="923330"/>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What is the Configuration Execution Order in ASP.NET Core Application?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Before understanding the execution order, let’s have a look at the </a:t>
            </a:r>
            <a:r>
              <a:rPr lang="en-US" b="0" i="0" dirty="0" err="1">
                <a:solidFill>
                  <a:srgbClr val="000000"/>
                </a:solidFill>
                <a:effectLst/>
                <a:latin typeface="arial" panose="020B0604020202020204" pitchFamily="34" charset="0"/>
              </a:rPr>
              <a:t>appsettings.Development.json</a:t>
            </a:r>
            <a:r>
              <a:rPr lang="en-US" b="0" i="0" dirty="0">
                <a:solidFill>
                  <a:srgbClr val="000000"/>
                </a:solidFill>
                <a:effectLst/>
                <a:latin typeface="arial" panose="020B0604020202020204" pitchFamily="34" charset="0"/>
              </a:rPr>
              <a:t> file. You can find this file within the project as shown in the below image.</a:t>
            </a:r>
            <a:endParaRPr lang="en-US" b="0" i="0" dirty="0">
              <a:solidFill>
                <a:srgbClr val="212529"/>
              </a:solidFill>
              <a:effectLst/>
              <a:latin typeface="-apple-system"/>
            </a:endParaRPr>
          </a:p>
        </p:txBody>
      </p:sp>
      <p:pic>
        <p:nvPicPr>
          <p:cNvPr id="3074" name="Picture 2" descr="What is the Configuration Execution Order in ASP.NET Core Application?">
            <a:extLst>
              <a:ext uri="{FF2B5EF4-FFF2-40B4-BE49-F238E27FC236}">
                <a16:creationId xmlns:a16="http://schemas.microsoft.com/office/drawing/2014/main" id="{D189C2C9-DD92-4620-9532-A3A9977D23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959" y="3053000"/>
            <a:ext cx="3676650" cy="18954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6177737-30A4-443A-A010-0C82EA2133DB}"/>
              </a:ext>
            </a:extLst>
          </p:cNvPr>
          <p:cNvSpPr txBox="1"/>
          <p:nvPr/>
        </p:nvSpPr>
        <p:spPr>
          <a:xfrm>
            <a:off x="4355692" y="2855421"/>
            <a:ext cx="7246374" cy="646331"/>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Let us modify the </a:t>
            </a:r>
            <a:r>
              <a:rPr lang="en-US" b="1" i="0" dirty="0" err="1">
                <a:solidFill>
                  <a:srgbClr val="000000"/>
                </a:solidFill>
                <a:effectLst/>
                <a:latin typeface="arial" panose="020B0604020202020204" pitchFamily="34" charset="0"/>
              </a:rPr>
              <a:t>appsettings.Development.json</a:t>
            </a:r>
            <a:r>
              <a:rPr lang="en-US" b="1" i="0" dirty="0">
                <a:solidFill>
                  <a:srgbClr val="000000"/>
                </a:solidFill>
                <a:effectLst/>
                <a:latin typeface="arial" panose="020B0604020202020204" pitchFamily="34" charset="0"/>
              </a:rPr>
              <a:t> as shown below.</a:t>
            </a:r>
            <a:endParaRPr lang="en-US" b="0" i="0" dirty="0">
              <a:solidFill>
                <a:srgbClr val="3A3A3A"/>
              </a:solidFill>
              <a:effectLst/>
              <a:latin typeface="-apple-system"/>
            </a:endParaRPr>
          </a:p>
        </p:txBody>
      </p:sp>
      <p:sp>
        <p:nvSpPr>
          <p:cNvPr id="12" name="TextBox 11">
            <a:extLst>
              <a:ext uri="{FF2B5EF4-FFF2-40B4-BE49-F238E27FC236}">
                <a16:creationId xmlns:a16="http://schemas.microsoft.com/office/drawing/2014/main" id="{DA1191A1-1D7E-4A54-B1AA-BAE9BED1A799}"/>
              </a:ext>
            </a:extLst>
          </p:cNvPr>
          <p:cNvSpPr txBox="1"/>
          <p:nvPr/>
        </p:nvSpPr>
        <p:spPr>
          <a:xfrm>
            <a:off x="6361471" y="3256626"/>
            <a:ext cx="5781678" cy="2862322"/>
          </a:xfrm>
          <a:prstGeom prst="rect">
            <a:avLst/>
          </a:prstGeom>
          <a:noFill/>
        </p:spPr>
        <p:txBody>
          <a:bodyPr wrap="square">
            <a:spAutoFit/>
          </a:bodyPr>
          <a:lstStyle/>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"Logging":</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a:t>
            </a:r>
            <a:r>
              <a:rPr lang="en-IN" b="0" i="0" dirty="0" err="1">
                <a:solidFill>
                  <a:srgbClr val="D19252"/>
                </a:solidFill>
                <a:effectLst/>
                <a:latin typeface="inherit"/>
              </a:rPr>
              <a:t>LogLevel</a:t>
            </a:r>
            <a:r>
              <a:rPr lang="en-IN" b="0" i="0" dirty="0">
                <a:solidFill>
                  <a:srgbClr val="D19252"/>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"Default":</a:t>
            </a:r>
            <a:r>
              <a:rPr lang="en-IN" b="0" i="0" dirty="0">
                <a:solidFill>
                  <a:srgbClr val="CFD5E0"/>
                </a:solidFill>
                <a:effectLst/>
                <a:latin typeface="inherit"/>
              </a:rPr>
              <a:t> </a:t>
            </a:r>
            <a:r>
              <a:rPr lang="en-IN" b="0" i="0" dirty="0">
                <a:solidFill>
                  <a:srgbClr val="7CC379"/>
                </a:solidFill>
                <a:effectLst/>
                <a:latin typeface="inherit"/>
              </a:rPr>
              <a:t>"Information"</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"Microsoft":</a:t>
            </a:r>
            <a:r>
              <a:rPr lang="en-IN" b="0" i="0" dirty="0">
                <a:solidFill>
                  <a:srgbClr val="CFD5E0"/>
                </a:solidFill>
                <a:effectLst/>
                <a:latin typeface="inherit"/>
              </a:rPr>
              <a:t> </a:t>
            </a:r>
            <a:r>
              <a:rPr lang="en-IN" b="0" i="0" dirty="0">
                <a:solidFill>
                  <a:srgbClr val="7CC379"/>
                </a:solidFill>
                <a:effectLst/>
                <a:latin typeface="inherit"/>
              </a:rPr>
              <a:t>"Warning"</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a:t>
            </a:r>
            <a:r>
              <a:rPr lang="en-IN" b="0" i="0" dirty="0" err="1">
                <a:solidFill>
                  <a:srgbClr val="D19252"/>
                </a:solidFill>
                <a:effectLst/>
                <a:latin typeface="inherit"/>
              </a:rPr>
              <a:t>Microsoft.Hosting.Lifetime</a:t>
            </a:r>
            <a:r>
              <a:rPr lang="en-IN" b="0" i="0" dirty="0">
                <a:solidFill>
                  <a:srgbClr val="D19252"/>
                </a:solidFill>
                <a:effectLst/>
                <a:latin typeface="inherit"/>
              </a:rPr>
              <a:t>":</a:t>
            </a:r>
            <a:r>
              <a:rPr lang="en-IN" b="0" i="0" dirty="0">
                <a:solidFill>
                  <a:srgbClr val="CFD5E0"/>
                </a:solidFill>
                <a:effectLst/>
                <a:latin typeface="inherit"/>
              </a:rPr>
              <a:t> </a:t>
            </a:r>
            <a:r>
              <a:rPr lang="en-IN" b="0" i="0" dirty="0">
                <a:solidFill>
                  <a:srgbClr val="7CC379"/>
                </a:solidFill>
                <a:effectLst/>
                <a:latin typeface="inherit"/>
              </a:rPr>
              <a:t>"Information“  </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D19252"/>
                </a:solidFill>
                <a:effectLst/>
                <a:latin typeface="inherit"/>
              </a:rPr>
              <a:t>"</a:t>
            </a:r>
            <a:r>
              <a:rPr lang="en-IN" b="0" i="0" dirty="0" err="1">
                <a:solidFill>
                  <a:srgbClr val="D19252"/>
                </a:solidFill>
                <a:effectLst/>
                <a:latin typeface="inherit"/>
              </a:rPr>
              <a:t>MyCustomKey</a:t>
            </a:r>
            <a:r>
              <a:rPr lang="en-IN" b="0" i="0" dirty="0">
                <a:solidFill>
                  <a:srgbClr val="D19252"/>
                </a:solidFill>
                <a:effectLst/>
                <a:latin typeface="inherit"/>
              </a:rPr>
              <a:t>":</a:t>
            </a:r>
            <a:r>
              <a:rPr lang="en-IN" b="0" i="0" dirty="0">
                <a:solidFill>
                  <a:srgbClr val="CFD5E0"/>
                </a:solidFill>
                <a:effectLst/>
                <a:latin typeface="inherit"/>
              </a:rPr>
              <a:t> </a:t>
            </a:r>
            <a:r>
              <a:rPr lang="en-IN" b="0" i="0" dirty="0">
                <a:solidFill>
                  <a:srgbClr val="7CC379"/>
                </a:solidFill>
                <a:effectLst/>
                <a:latin typeface="inherit"/>
              </a:rPr>
              <a:t>"</a:t>
            </a:r>
            <a:r>
              <a:rPr lang="en-IN" b="0" i="0" dirty="0" err="1">
                <a:solidFill>
                  <a:srgbClr val="7CC379"/>
                </a:solidFill>
                <a:effectLst/>
                <a:latin typeface="inherit"/>
              </a:rPr>
              <a:t>MyCustomKey</a:t>
            </a:r>
            <a:r>
              <a:rPr lang="en-IN" b="0" i="0" dirty="0">
                <a:solidFill>
                  <a:srgbClr val="7CC379"/>
                </a:solidFill>
                <a:effectLst/>
                <a:latin typeface="inherit"/>
              </a:rPr>
              <a:t> Value coming from </a:t>
            </a:r>
            <a:r>
              <a:rPr lang="en-IN" b="0" i="0" dirty="0" err="1">
                <a:solidFill>
                  <a:srgbClr val="7CC379"/>
                </a:solidFill>
                <a:effectLst/>
                <a:latin typeface="inherit"/>
              </a:rPr>
              <a:t>appsettings.Development.json</a:t>
            </a:r>
            <a:r>
              <a:rPr lang="en-IN" b="0" i="0" dirty="0">
                <a:solidFill>
                  <a:srgbClr val="7CC379"/>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14" name="TextBox 13">
            <a:extLst>
              <a:ext uri="{FF2B5EF4-FFF2-40B4-BE49-F238E27FC236}">
                <a16:creationId xmlns:a16="http://schemas.microsoft.com/office/drawing/2014/main" id="{0B4E8126-56C1-4D33-8B39-924DAC72F326}"/>
              </a:ext>
            </a:extLst>
          </p:cNvPr>
          <p:cNvSpPr txBox="1"/>
          <p:nvPr/>
        </p:nvSpPr>
        <p:spPr>
          <a:xfrm>
            <a:off x="152671" y="4873910"/>
            <a:ext cx="6096000" cy="830997"/>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As you can see, here we are using the same key as we use in the </a:t>
            </a:r>
            <a:r>
              <a:rPr lang="en-US" sz="1600" b="0" i="0" dirty="0" err="1">
                <a:solidFill>
                  <a:srgbClr val="000000"/>
                </a:solidFill>
                <a:effectLst/>
                <a:latin typeface="arial" panose="020B0604020202020204" pitchFamily="34" charset="0"/>
              </a:rPr>
              <a:t>appsettings.json</a:t>
            </a:r>
            <a:r>
              <a:rPr lang="en-US" sz="1600" b="0" i="0" dirty="0">
                <a:solidFill>
                  <a:srgbClr val="000000"/>
                </a:solidFill>
                <a:effectLst/>
                <a:latin typeface="arial" panose="020B0604020202020204" pitchFamily="34" charset="0"/>
              </a:rPr>
              <a:t> file. Now run the application and see the output as shown below.</a:t>
            </a:r>
            <a:endParaRPr lang="en-IN" sz="1600" dirty="0"/>
          </a:p>
        </p:txBody>
      </p:sp>
      <p:sp>
        <p:nvSpPr>
          <p:cNvPr id="16" name="TextBox 15">
            <a:extLst>
              <a:ext uri="{FF2B5EF4-FFF2-40B4-BE49-F238E27FC236}">
                <a16:creationId xmlns:a16="http://schemas.microsoft.com/office/drawing/2014/main" id="{2FCCB069-88FD-43BE-9D42-1366DE22B47F}"/>
              </a:ext>
            </a:extLst>
          </p:cNvPr>
          <p:cNvSpPr txBox="1"/>
          <p:nvPr/>
        </p:nvSpPr>
        <p:spPr>
          <a:xfrm>
            <a:off x="265471" y="5960237"/>
            <a:ext cx="11877678" cy="830997"/>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As you see from the above output, it fetches the </a:t>
            </a:r>
            <a:r>
              <a:rPr lang="en-US" sz="1600" b="0" i="0" dirty="0" err="1">
                <a:solidFill>
                  <a:srgbClr val="000000"/>
                </a:solidFill>
                <a:effectLst/>
                <a:latin typeface="arial" panose="020B0604020202020204" pitchFamily="34" charset="0"/>
              </a:rPr>
              <a:t>MyCustomValue</a:t>
            </a:r>
            <a:r>
              <a:rPr lang="en-US" sz="1600" b="0" i="0" dirty="0">
                <a:solidFill>
                  <a:srgbClr val="000000"/>
                </a:solidFill>
                <a:effectLst/>
                <a:latin typeface="arial" panose="020B0604020202020204" pitchFamily="34" charset="0"/>
              </a:rPr>
              <a:t> from the </a:t>
            </a:r>
            <a:r>
              <a:rPr lang="en-US" sz="1600" b="0" i="0" dirty="0" err="1">
                <a:solidFill>
                  <a:srgbClr val="000000"/>
                </a:solidFill>
                <a:effectLst/>
                <a:latin typeface="arial" panose="020B0604020202020204" pitchFamily="34" charset="0"/>
              </a:rPr>
              <a:t>appsettings.Development.json</a:t>
            </a:r>
            <a:r>
              <a:rPr lang="en-US" sz="1600" b="0" i="0" dirty="0">
                <a:solidFill>
                  <a:srgbClr val="000000"/>
                </a:solidFill>
                <a:effectLst/>
                <a:latin typeface="arial" panose="020B0604020202020204" pitchFamily="34" charset="0"/>
              </a:rPr>
              <a:t> file. The point that I need to make you clear, if you have a configuration setting in multiple configuration sources with the</a:t>
            </a:r>
            <a:r>
              <a:rPr lang="en-US" sz="1600" b="1" i="0" dirty="0">
                <a:solidFill>
                  <a:srgbClr val="000000"/>
                </a:solidFill>
                <a:effectLst/>
                <a:latin typeface="arial" panose="020B0604020202020204" pitchFamily="34" charset="0"/>
              </a:rPr>
              <a:t> </a:t>
            </a:r>
            <a:r>
              <a:rPr lang="en-US" sz="1600" b="0" i="0" dirty="0">
                <a:solidFill>
                  <a:srgbClr val="000000"/>
                </a:solidFill>
                <a:effectLst/>
                <a:latin typeface="arial" panose="020B0604020202020204" pitchFamily="34" charset="0"/>
              </a:rPr>
              <a:t>same configuration key, then the later configuration sources will override the earlier configuration sources. </a:t>
            </a:r>
            <a:endParaRPr lang="en-IN" sz="1600" dirty="0"/>
          </a:p>
        </p:txBody>
      </p:sp>
      <p:pic>
        <p:nvPicPr>
          <p:cNvPr id="3076" name="Picture 4" descr="appsettings.json file in ASP.NET Core Application">
            <a:extLst>
              <a:ext uri="{FF2B5EF4-FFF2-40B4-BE49-F238E27FC236}">
                <a16:creationId xmlns:a16="http://schemas.microsoft.com/office/drawing/2014/main" id="{8FA92E1E-F879-4981-BA16-A21E86561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671" y="5414489"/>
            <a:ext cx="2487561" cy="655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235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0CCF94-135C-4E34-9050-31EE72EB9F7A}"/>
              </a:ext>
            </a:extLst>
          </p:cNvPr>
          <p:cNvSpPr txBox="1"/>
          <p:nvPr/>
        </p:nvSpPr>
        <p:spPr>
          <a:xfrm>
            <a:off x="255638" y="146747"/>
            <a:ext cx="11788877" cy="286232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are the Default Orders of reading the configuration sources?</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The default orders in which the various configuration sources are read for the same key are as follows</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FF"/>
                </a:solidFill>
                <a:effectLst/>
                <a:latin typeface="arial" panose="020B0604020202020204" pitchFamily="34" charset="0"/>
              </a:rPr>
              <a:t>appsettings.json</a:t>
            </a:r>
            <a:r>
              <a:rPr lang="en-US" b="1" i="0" dirty="0">
                <a:solidFill>
                  <a:srgbClr val="0000FF"/>
                </a:solidFill>
                <a:effectLst/>
                <a:latin typeface="arial" panose="020B0604020202020204" pitchFamily="34" charset="0"/>
              </a:rPr>
              <a:t>, </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FF"/>
                </a:solidFill>
                <a:effectLst/>
                <a:latin typeface="arial" panose="020B0604020202020204" pitchFamily="34" charset="0"/>
              </a:rPr>
              <a:t>appsettings</a:t>
            </a:r>
            <a:r>
              <a:rPr lang="en-US" b="1" i="0" dirty="0">
                <a:solidFill>
                  <a:srgbClr val="0000FF"/>
                </a:solidFill>
                <a:effectLst/>
                <a:latin typeface="arial" panose="020B0604020202020204" pitchFamily="34" charset="0"/>
              </a:rPr>
              <a:t>.{Environment}.json here we use </a:t>
            </a:r>
            <a:r>
              <a:rPr lang="en-US" b="1" i="0" dirty="0" err="1">
                <a:solidFill>
                  <a:srgbClr val="0000FF"/>
                </a:solidFill>
                <a:effectLst/>
                <a:latin typeface="arial" panose="020B0604020202020204" pitchFamily="34" charset="0"/>
              </a:rPr>
              <a:t>appsettings.development.json</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User secrets</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Environment variables</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Command-line arguments</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We already have </a:t>
            </a:r>
            <a:r>
              <a:rPr lang="en-US" b="0" i="0" dirty="0" err="1">
                <a:solidFill>
                  <a:srgbClr val="000000"/>
                </a:solidFill>
                <a:effectLst/>
                <a:latin typeface="arial" panose="020B0604020202020204" pitchFamily="34" charset="0"/>
              </a:rPr>
              <a:t>MyCustomKey</a:t>
            </a:r>
            <a:r>
              <a:rPr lang="en-US" b="0" i="0" dirty="0">
                <a:solidFill>
                  <a:srgbClr val="000000"/>
                </a:solidFill>
                <a:effectLst/>
                <a:latin typeface="arial" panose="020B0604020202020204" pitchFamily="34" charset="0"/>
              </a:rPr>
              <a:t> in two places i.e. </a:t>
            </a:r>
            <a:r>
              <a:rPr lang="en-US" b="0" i="0" dirty="0" err="1">
                <a:solidFill>
                  <a:srgbClr val="000000"/>
                </a:solidFill>
                <a:effectLst/>
                <a:latin typeface="arial" panose="020B0604020202020204" pitchFamily="34" charset="0"/>
              </a:rPr>
              <a:t>appsettings.json</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appsettings.development.json</a:t>
            </a:r>
            <a:r>
              <a:rPr lang="en-US" b="0" i="0" dirty="0">
                <a:solidFill>
                  <a:srgbClr val="000000"/>
                </a:solidFill>
                <a:effectLst/>
                <a:latin typeface="arial" panose="020B0604020202020204" pitchFamily="34" charset="0"/>
              </a:rPr>
              <a:t>. Now add the same key as “</a:t>
            </a:r>
            <a:r>
              <a:rPr lang="en-US" b="0" i="0" dirty="0" err="1">
                <a:solidFill>
                  <a:srgbClr val="000000"/>
                </a:solidFill>
                <a:effectLst/>
                <a:latin typeface="arial" panose="020B0604020202020204" pitchFamily="34" charset="0"/>
              </a:rPr>
              <a:t>MyCustomKey</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MyCustomKey</a:t>
            </a:r>
            <a:r>
              <a:rPr lang="en-US" b="0" i="0" dirty="0">
                <a:solidFill>
                  <a:srgbClr val="000000"/>
                </a:solidFill>
                <a:effectLst/>
                <a:latin typeface="arial" panose="020B0604020202020204" pitchFamily="34" charset="0"/>
              </a:rPr>
              <a:t> Value coming from Environment Variable of </a:t>
            </a:r>
            <a:r>
              <a:rPr lang="en-US" b="0" i="0" dirty="0" err="1">
                <a:solidFill>
                  <a:srgbClr val="000000"/>
                </a:solidFill>
                <a:effectLst/>
                <a:highlight>
                  <a:srgbClr val="FFFF00"/>
                </a:highlight>
                <a:latin typeface="arial" panose="020B0604020202020204" pitchFamily="34" charset="0"/>
              </a:rPr>
              <a:t>launchsSettings.json</a:t>
            </a:r>
            <a:r>
              <a:rPr lang="en-US" b="0" i="0" dirty="0">
                <a:solidFill>
                  <a:srgbClr val="000000"/>
                </a:solidFill>
                <a:effectLst/>
                <a:latin typeface="arial" panose="020B0604020202020204" pitchFamily="34" charset="0"/>
              </a:rPr>
              <a:t>” in the IIS Express profile section of the </a:t>
            </a:r>
            <a:r>
              <a:rPr lang="en-US" b="0"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as shown below.</a:t>
            </a:r>
            <a:endParaRPr lang="en-US" b="0" i="0" dirty="0">
              <a:solidFill>
                <a:srgbClr val="212529"/>
              </a:solidFill>
              <a:effectLst/>
              <a:latin typeface="-apple-system"/>
            </a:endParaRPr>
          </a:p>
        </p:txBody>
      </p:sp>
      <p:pic>
        <p:nvPicPr>
          <p:cNvPr id="4098" name="Picture 2" descr="What are the Default Orders of reading the configuration sources?">
            <a:extLst>
              <a:ext uri="{FF2B5EF4-FFF2-40B4-BE49-F238E27FC236}">
                <a16:creationId xmlns:a16="http://schemas.microsoft.com/office/drawing/2014/main" id="{09371DB3-BC5C-40B0-909C-EFBDA0FC6B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38" y="3221141"/>
            <a:ext cx="6915268" cy="16556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663FC89-6F39-48CC-AAB7-5DF0B6820B3F}"/>
              </a:ext>
            </a:extLst>
          </p:cNvPr>
          <p:cNvSpPr txBox="1"/>
          <p:nvPr/>
        </p:nvSpPr>
        <p:spPr>
          <a:xfrm>
            <a:off x="255638" y="5409042"/>
            <a:ext cx="6096000"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With this change now run the application and it should display the value coming from the environment variable.</a:t>
            </a:r>
            <a:endParaRPr lang="en-IN" dirty="0"/>
          </a:p>
        </p:txBody>
      </p:sp>
      <p:pic>
        <p:nvPicPr>
          <p:cNvPr id="4100" name="Picture 4" descr="appsettings.json file in .NET Core Application">
            <a:extLst>
              <a:ext uri="{FF2B5EF4-FFF2-40B4-BE49-F238E27FC236}">
                <a16:creationId xmlns:a16="http://schemas.microsoft.com/office/drawing/2014/main" id="{B7CDFF9F-6B02-402E-9163-2E3AF0BB6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1638" y="5046323"/>
            <a:ext cx="4890011" cy="100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703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8B4798-9B01-4D8D-B254-E8F8688254C8}"/>
              </a:ext>
            </a:extLst>
          </p:cNvPr>
          <p:cNvSpPr txBox="1"/>
          <p:nvPr/>
        </p:nvSpPr>
        <p:spPr>
          <a:xfrm>
            <a:off x="2182761" y="138951"/>
            <a:ext cx="8996516"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Pass Config value from Command Line in ASP.NET Core Application?</a:t>
            </a:r>
            <a:endParaRPr lang="en-US" b="0" i="0" dirty="0">
              <a:solidFill>
                <a:srgbClr val="3A3A3A"/>
              </a:solidFill>
              <a:effectLst/>
              <a:latin typeface="-apple-system"/>
            </a:endParaRPr>
          </a:p>
        </p:txBody>
      </p:sp>
      <p:pic>
        <p:nvPicPr>
          <p:cNvPr id="5122" name="Picture 2" descr="How to Pass Config value from Command Line in ASP.NET Core Application?">
            <a:extLst>
              <a:ext uri="{FF2B5EF4-FFF2-40B4-BE49-F238E27FC236}">
                <a16:creationId xmlns:a16="http://schemas.microsoft.com/office/drawing/2014/main" id="{CEB6B487-AB6E-4504-A13A-597194783D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258" y="952654"/>
            <a:ext cx="11125200" cy="22193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7880B21-FC20-4142-ABD4-554377DF5578}"/>
              </a:ext>
            </a:extLst>
          </p:cNvPr>
          <p:cNvSpPr txBox="1"/>
          <p:nvPr/>
        </p:nvSpPr>
        <p:spPr>
          <a:xfrm>
            <a:off x="196645" y="3398428"/>
            <a:ext cx="6096000" cy="923330"/>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Now open the browser window and type the following URL</a:t>
            </a:r>
            <a:endParaRPr lang="en-US" b="0" i="0" dirty="0">
              <a:solidFill>
                <a:srgbClr val="212529"/>
              </a:solidFill>
              <a:effectLst/>
              <a:latin typeface="-apple-system"/>
            </a:endParaRPr>
          </a:p>
          <a:p>
            <a:br>
              <a:rPr lang="en-US" dirty="0"/>
            </a:br>
            <a:endParaRPr lang="en-IN" dirty="0"/>
          </a:p>
        </p:txBody>
      </p:sp>
      <p:pic>
        <p:nvPicPr>
          <p:cNvPr id="5124" name="Picture 4" descr="appsettings.json file in ASP.NET Core Application">
            <a:extLst>
              <a:ext uri="{FF2B5EF4-FFF2-40B4-BE49-F238E27FC236}">
                <a16:creationId xmlns:a16="http://schemas.microsoft.com/office/drawing/2014/main" id="{361DAC95-B285-4EBB-BAAB-FDA306E5E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0331" y="3464508"/>
            <a:ext cx="3286125"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849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1128</Words>
  <Application>Microsoft Office PowerPoint</Application>
  <PresentationFormat>Widescreen</PresentationFormat>
  <Paragraphs>101</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-apple-system</vt:lpstr>
      <vt:lpstr>Arial</vt:lpstr>
      <vt:lpstr>Arial</vt:lpstr>
      <vt:lpstr>Calibri</vt:lpstr>
      <vt:lpstr>Calibri Light</vt:lpstr>
      <vt:lpstr>Cascadia Mono</vt:lpstr>
      <vt:lpstr>Inconsolata</vt:lpstr>
      <vt:lpstr>inherit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14</cp:revision>
  <dcterms:created xsi:type="dcterms:W3CDTF">2021-10-13T03:06:58Z</dcterms:created>
  <dcterms:modified xsi:type="dcterms:W3CDTF">2024-09-24T15:31:47Z</dcterms:modified>
</cp:coreProperties>
</file>