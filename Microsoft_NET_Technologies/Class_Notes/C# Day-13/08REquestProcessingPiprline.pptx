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CC612-489A-49C1-8B78-3742C6196C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81CE7E6-43A1-4AF1-A628-FB81F80786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C4E947-FF27-42BA-8E38-18BCE3BDBE5C}"/>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5" name="Footer Placeholder 4">
            <a:extLst>
              <a:ext uri="{FF2B5EF4-FFF2-40B4-BE49-F238E27FC236}">
                <a16:creationId xmlns:a16="http://schemas.microsoft.com/office/drawing/2014/main" id="{00B7BD13-6D84-4BDF-940D-A0591D0BD0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A0EEBE-B78B-4B5A-9462-80CECE57A8A4}"/>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2102746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DA85E-5F7F-4720-9827-5EBF606160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422E33-AFE7-40E4-B33F-3694C86216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137A91-C048-4A21-B73A-BADEB477795B}"/>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5" name="Footer Placeholder 4">
            <a:extLst>
              <a:ext uri="{FF2B5EF4-FFF2-40B4-BE49-F238E27FC236}">
                <a16:creationId xmlns:a16="http://schemas.microsoft.com/office/drawing/2014/main" id="{D7F61F80-1716-4C50-8C3F-A626A2307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77C1D5-DFA0-4B58-9968-8F2A2FB0A0A2}"/>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3324828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E0057-088D-49B4-8DA5-DA5DF15F58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E9F8E6B-CD39-4E8F-BCDF-B15C562BD3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7AF918-EB0E-4951-B9C6-9130E35B0AC3}"/>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5" name="Footer Placeholder 4">
            <a:extLst>
              <a:ext uri="{FF2B5EF4-FFF2-40B4-BE49-F238E27FC236}">
                <a16:creationId xmlns:a16="http://schemas.microsoft.com/office/drawing/2014/main" id="{0859ABE0-224F-4AB4-A679-5B09242A69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DA6ED2-1058-4155-80AD-D4BBEA51C64B}"/>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1750510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15E70-872A-489C-B4BD-E350793DA7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401D53-3E73-45E0-9BAC-F84E53A8EE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FBFE70-AE93-4181-A8F4-A1D296DF09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1798BC-D475-4A8C-8C1B-501B241BBAF6}"/>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6" name="Footer Placeholder 5">
            <a:extLst>
              <a:ext uri="{FF2B5EF4-FFF2-40B4-BE49-F238E27FC236}">
                <a16:creationId xmlns:a16="http://schemas.microsoft.com/office/drawing/2014/main" id="{94B4EA5A-67A6-4E1E-BD2B-000E2F6BAD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85F2E9-0652-48D2-95A9-C7B8EE49F4A6}"/>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3777654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A9657-35BE-4E12-B352-F485D28CC5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CE4E54-CE0C-42D4-83C1-D17DC9019A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1C8B11-FF41-4A04-ADDC-895D51328F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B938C1-21E2-4829-810F-2F5CAA69ED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B5B3D6-49C4-41AE-B0EA-CDC46ABD86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93E5F79-34DB-4E5D-97E2-1DDC81D9E294}"/>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8" name="Footer Placeholder 7">
            <a:extLst>
              <a:ext uri="{FF2B5EF4-FFF2-40B4-BE49-F238E27FC236}">
                <a16:creationId xmlns:a16="http://schemas.microsoft.com/office/drawing/2014/main" id="{6B21851B-FD93-4FE2-A7F2-8DA48ABFFA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3DC4E4D-ECA7-4B14-B800-819C93B4BA41}"/>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1261003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46BA4-691A-4765-B47C-E6328809F5D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B7BE82-AA5C-4BC3-9EE8-9B78FF4050F6}"/>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4" name="Footer Placeholder 3">
            <a:extLst>
              <a:ext uri="{FF2B5EF4-FFF2-40B4-BE49-F238E27FC236}">
                <a16:creationId xmlns:a16="http://schemas.microsoft.com/office/drawing/2014/main" id="{C8494B34-A659-49DC-91CD-55B825E23A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E0C9CE-8E90-41E1-AB07-87DFD8CA56A8}"/>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1638343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DF105E-1465-4C70-A7C2-2F2C6AF05CCA}"/>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3" name="Footer Placeholder 2">
            <a:extLst>
              <a:ext uri="{FF2B5EF4-FFF2-40B4-BE49-F238E27FC236}">
                <a16:creationId xmlns:a16="http://schemas.microsoft.com/office/drawing/2014/main" id="{855F26B3-3EC2-4C86-8EE5-68ED830E3F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5646CA-218B-42D7-8BED-62001AB62EC3}"/>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411459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256DB-91D6-49FC-9752-5DB6D61E5F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9606C1-4306-4AE0-BA77-A1BA4DD287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D0F9CB-760A-4A7A-BFE2-E9F3A2608A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0C0F06-A4F9-4B41-8C34-333EE0AA7DA8}"/>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6" name="Footer Placeholder 5">
            <a:extLst>
              <a:ext uri="{FF2B5EF4-FFF2-40B4-BE49-F238E27FC236}">
                <a16:creationId xmlns:a16="http://schemas.microsoft.com/office/drawing/2014/main" id="{7AE727D1-B9A2-48F3-8C18-2CB784FD34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98A09F-1CA1-45B9-9971-4CA88BC86F42}"/>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921332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11496-629C-4042-8FEE-82BEF1FDA3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C9334DF-8A95-4542-B927-676AB4F98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6DCDCC-2329-4E0F-8F6B-79BD6F1F22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F77524-3023-4F5B-87B1-7F5975E4CDE9}"/>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6" name="Footer Placeholder 5">
            <a:extLst>
              <a:ext uri="{FF2B5EF4-FFF2-40B4-BE49-F238E27FC236}">
                <a16:creationId xmlns:a16="http://schemas.microsoft.com/office/drawing/2014/main" id="{0A70D007-635E-42BB-97EF-E32D414A5F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07103D-A274-4258-8FDC-EA268F9FFDFA}"/>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1442476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5E49-5DE0-496E-8129-98A90B4745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45EFBC-ED0F-4ECB-8D4C-2694DCB08F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A6A1AA-0D71-4095-92F1-238164169304}"/>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5" name="Footer Placeholder 4">
            <a:extLst>
              <a:ext uri="{FF2B5EF4-FFF2-40B4-BE49-F238E27FC236}">
                <a16:creationId xmlns:a16="http://schemas.microsoft.com/office/drawing/2014/main" id="{0F5528B9-4D4C-424E-85C3-C30CDE36E6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458BD5-3354-45C2-AE0F-436222061A80}"/>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3359940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7AB777-6120-4AB0-A756-83AF5CF6B0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F0F71E-25E5-4D8F-8052-66554BA832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893CAE-83C1-4B55-91EF-0AA58D569A70}"/>
              </a:ext>
            </a:extLst>
          </p:cNvPr>
          <p:cNvSpPr>
            <a:spLocks noGrp="1"/>
          </p:cNvSpPr>
          <p:nvPr>
            <p:ph type="dt" sz="half" idx="10"/>
          </p:nvPr>
        </p:nvSpPr>
        <p:spPr/>
        <p:txBody>
          <a:bodyPr/>
          <a:lstStyle/>
          <a:p>
            <a:fld id="{8C6DBA40-52DC-448A-AB61-285CEF0D624E}" type="datetimeFigureOut">
              <a:rPr lang="en-IN" smtClean="0"/>
              <a:t>24-09-2024</a:t>
            </a:fld>
            <a:endParaRPr lang="en-IN"/>
          </a:p>
        </p:txBody>
      </p:sp>
      <p:sp>
        <p:nvSpPr>
          <p:cNvPr id="5" name="Footer Placeholder 4">
            <a:extLst>
              <a:ext uri="{FF2B5EF4-FFF2-40B4-BE49-F238E27FC236}">
                <a16:creationId xmlns:a16="http://schemas.microsoft.com/office/drawing/2014/main" id="{36A2DD8F-0D7D-4F0A-822C-4D9490F96F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ECBD21-A8CF-44D1-9ED6-270859AE39B5}"/>
              </a:ext>
            </a:extLst>
          </p:cNvPr>
          <p:cNvSpPr>
            <a:spLocks noGrp="1"/>
          </p:cNvSpPr>
          <p:nvPr>
            <p:ph type="sldNum" sz="quarter" idx="12"/>
          </p:nvPr>
        </p:nvSpPr>
        <p:spPr/>
        <p:txBody>
          <a:bodyPr/>
          <a:lstStyle/>
          <a:p>
            <a:fld id="{0D71B755-32A1-429B-AC7E-6D0BA676ADFB}" type="slidenum">
              <a:rPr lang="en-IN" smtClean="0"/>
              <a:t>‹#›</a:t>
            </a:fld>
            <a:endParaRPr lang="en-IN"/>
          </a:p>
        </p:txBody>
      </p:sp>
    </p:spTree>
    <p:extLst>
      <p:ext uri="{BB962C8B-B14F-4D97-AF65-F5344CB8AC3E}">
        <p14:creationId xmlns:p14="http://schemas.microsoft.com/office/powerpoint/2010/main" val="2537740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36F7C4-7676-4142-99DA-02B4741CD4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B04698-D424-4E02-96FB-44F14FDA68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955FB2-FA02-4CFE-AD61-8E2362D76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6DBA40-52DC-448A-AB61-285CEF0D624E}" type="datetimeFigureOut">
              <a:rPr lang="en-IN" smtClean="0"/>
              <a:t>24-09-2024</a:t>
            </a:fld>
            <a:endParaRPr lang="en-IN"/>
          </a:p>
        </p:txBody>
      </p:sp>
      <p:sp>
        <p:nvSpPr>
          <p:cNvPr id="5" name="Footer Placeholder 4">
            <a:extLst>
              <a:ext uri="{FF2B5EF4-FFF2-40B4-BE49-F238E27FC236}">
                <a16:creationId xmlns:a16="http://schemas.microsoft.com/office/drawing/2014/main" id="{AD74A889-40A4-4342-9D6F-C82E8C6590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430DE8-2FE0-4B8F-BE52-DB2A6D028F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71B755-32A1-429B-AC7E-6D0BA676ADFB}" type="slidenum">
              <a:rPr lang="en-IN" smtClean="0"/>
              <a:t>‹#›</a:t>
            </a:fld>
            <a:endParaRPr lang="en-IN"/>
          </a:p>
        </p:txBody>
      </p:sp>
    </p:spTree>
    <p:extLst>
      <p:ext uri="{BB962C8B-B14F-4D97-AF65-F5344CB8AC3E}">
        <p14:creationId xmlns:p14="http://schemas.microsoft.com/office/powerpoint/2010/main" val="1308394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2C2909D-7E9B-450F-BA73-342A81B7445C}"/>
              </a:ext>
            </a:extLst>
          </p:cNvPr>
          <p:cNvSpPr txBox="1"/>
          <p:nvPr/>
        </p:nvSpPr>
        <p:spPr>
          <a:xfrm>
            <a:off x="265469" y="1191508"/>
            <a:ext cx="11356259" cy="2308324"/>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Understanding the ASP.NET Core Request Processing Pipeline:</a:t>
            </a:r>
          </a:p>
          <a:p>
            <a:pPr algn="just"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order to understand the Request Processing Pipeline in ASP.NET Core, concept, let us modify the Configure() method of the Startup class as shown below. Here we are registering three middleware components into the request processing pipeline. As you can see the first two components are registered using the </a:t>
            </a:r>
            <a:r>
              <a:rPr lang="en-US" b="1" i="0" dirty="0">
                <a:solidFill>
                  <a:srgbClr val="000000"/>
                </a:solidFill>
                <a:effectLst/>
                <a:latin typeface="arial" panose="020B0604020202020204" pitchFamily="34" charset="0"/>
              </a:rPr>
              <a:t>Use()</a:t>
            </a:r>
            <a:r>
              <a:rPr lang="en-US" b="0" i="0" dirty="0">
                <a:solidFill>
                  <a:srgbClr val="000000"/>
                </a:solidFill>
                <a:effectLst/>
                <a:latin typeface="arial" panose="020B0604020202020204" pitchFamily="34" charset="0"/>
              </a:rPr>
              <a:t> extension method so that they have the chance to call the next middleware component in the request processing pipeline. The last one is registered using the </a:t>
            </a:r>
            <a:r>
              <a:rPr lang="en-US" b="1" i="0" dirty="0">
                <a:solidFill>
                  <a:srgbClr val="000000"/>
                </a:solidFill>
                <a:effectLst/>
                <a:latin typeface="arial" panose="020B0604020202020204" pitchFamily="34" charset="0"/>
              </a:rPr>
              <a:t>Run()</a:t>
            </a:r>
            <a:r>
              <a:rPr lang="en-US" b="0" i="0" dirty="0">
                <a:solidFill>
                  <a:srgbClr val="000000"/>
                </a:solidFill>
                <a:effectLst/>
                <a:latin typeface="arial" panose="020B0604020202020204" pitchFamily="34" charset="0"/>
              </a:rPr>
              <a:t> extension method as it is going to be our terminating components i.e. it will not call the next component. </a:t>
            </a:r>
            <a:endParaRPr lang="en-US" b="0" i="0" dirty="0">
              <a:solidFill>
                <a:srgbClr val="212529"/>
              </a:solidFill>
              <a:effectLst/>
              <a:latin typeface="-apple-system"/>
            </a:endParaRPr>
          </a:p>
        </p:txBody>
      </p:sp>
    </p:spTree>
    <p:extLst>
      <p:ext uri="{BB962C8B-B14F-4D97-AF65-F5344CB8AC3E}">
        <p14:creationId xmlns:p14="http://schemas.microsoft.com/office/powerpoint/2010/main" val="1484080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CEEF5F9-C512-4E79-A0D7-08957C9D2CF6}"/>
              </a:ext>
            </a:extLst>
          </p:cNvPr>
          <p:cNvSpPr txBox="1"/>
          <p:nvPr/>
        </p:nvSpPr>
        <p:spPr>
          <a:xfrm>
            <a:off x="5756945" y="742074"/>
            <a:ext cx="6094602" cy="1200329"/>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Now run the application and see the browser window as shown in the below image.</a:t>
            </a:r>
            <a:endParaRPr lang="en-US" b="0" i="0" dirty="0">
              <a:solidFill>
                <a:srgbClr val="212529"/>
              </a:solidFill>
              <a:effectLst/>
              <a:latin typeface="-apple-system"/>
            </a:endParaRPr>
          </a:p>
          <a:p>
            <a:br>
              <a:rPr lang="en-US" dirty="0"/>
            </a:br>
            <a:endParaRPr lang="en-IN" dirty="0"/>
          </a:p>
        </p:txBody>
      </p:sp>
      <p:sp>
        <p:nvSpPr>
          <p:cNvPr id="6" name="TextBox 5">
            <a:extLst>
              <a:ext uri="{FF2B5EF4-FFF2-40B4-BE49-F238E27FC236}">
                <a16:creationId xmlns:a16="http://schemas.microsoft.com/office/drawing/2014/main" id="{5EE3A888-5177-0C58-19D1-A72585E78FE9}"/>
              </a:ext>
            </a:extLst>
          </p:cNvPr>
          <p:cNvSpPr txBox="1"/>
          <p:nvPr/>
        </p:nvSpPr>
        <p:spPr>
          <a:xfrm>
            <a:off x="68344" y="-69308"/>
            <a:ext cx="6094428" cy="7571303"/>
          </a:xfrm>
          <a:prstGeom prst="rect">
            <a:avLst/>
          </a:prstGeom>
          <a:noFill/>
        </p:spPr>
        <p:txBody>
          <a:bodyPr wrap="square">
            <a:spAutoFit/>
          </a:bodyPr>
          <a:lstStyle/>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_01MVC</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var</a:t>
            </a:r>
            <a:r>
              <a:rPr lang="en-US" sz="900" dirty="0">
                <a:solidFill>
                  <a:srgbClr val="000000"/>
                </a:solidFill>
                <a:latin typeface="Cascadia Mono" panose="020B0609020000020004" pitchFamily="49" charset="0"/>
              </a:rPr>
              <a:t> builder = </a:t>
            </a:r>
            <a:r>
              <a:rPr lang="en-US" sz="900" dirty="0" err="1">
                <a:solidFill>
                  <a:srgbClr val="000000"/>
                </a:solidFill>
                <a:latin typeface="Cascadia Mono" panose="020B0609020000020004" pitchFamily="49" charset="0"/>
              </a:rPr>
              <a:t>WebApplication.CreateBuilder</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Add services to the container.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builder.Services.AddControllersWithViews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app = </a:t>
            </a:r>
            <a:r>
              <a:rPr lang="en-IN" sz="900" dirty="0" err="1">
                <a:solidFill>
                  <a:srgbClr val="000000"/>
                </a:solidFill>
                <a:latin typeface="Cascadia Mono" panose="020B0609020000020004" pitchFamily="49" charset="0"/>
              </a:rPr>
              <a:t>builder.Build</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Configure the HTTP request pipeline.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app.Environment.IsDevelopment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app.UseExceptionHandler</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"/Home/Error"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app.UseHsts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app.UseHttpsRedirection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app.UseStaticFiles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app.UseRouting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app.UseAuthorization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a:t>
            </a:r>
            <a:r>
              <a:rPr lang="en-IN" sz="900" dirty="0" err="1">
                <a:solidFill>
                  <a:srgbClr val="008000"/>
                </a:solidFill>
                <a:latin typeface="Cascadia Mono" panose="020B0609020000020004" pitchFamily="49" charset="0"/>
              </a:rPr>
              <a:t>app.MapControllerRoute</a:t>
            </a:r>
            <a:r>
              <a:rPr lang="en-IN" sz="900" dirty="0">
                <a:solidFill>
                  <a:srgbClr val="008000"/>
                </a:solidFill>
                <a:latin typeface="Cascadia Mono" panose="020B0609020000020004" pitchFamily="49" charset="0"/>
              </a:rPr>
              <a:t>(</a:t>
            </a:r>
          </a:p>
          <a:p>
            <a:r>
              <a:rPr lang="en-IN" sz="900" dirty="0">
                <a:solidFill>
                  <a:srgbClr val="008000"/>
                </a:solidFill>
                <a:latin typeface="Cascadia Mono" panose="020B0609020000020004" pitchFamily="49" charset="0"/>
              </a:rPr>
              <a:t>                  name: "default",</a:t>
            </a:r>
          </a:p>
          <a:p>
            <a:r>
              <a:rPr lang="en-IN" sz="900" dirty="0">
                <a:solidFill>
                  <a:srgbClr val="008000"/>
                </a:solidFill>
                <a:latin typeface="Cascadia Mono" panose="020B0609020000020004" pitchFamily="49" charset="0"/>
              </a:rPr>
              <a:t>                  pattern: "{controller=Home}/{action=Index}/{id?}");</a:t>
            </a:r>
          </a:p>
          <a:p>
            <a:r>
              <a:rPr lang="en-IN" sz="900" dirty="0">
                <a:solidFill>
                  <a:srgbClr val="008000"/>
                </a:solidFill>
                <a:latin typeface="Cascadia Mono" panose="020B0609020000020004" pitchFamily="49" charset="0"/>
              </a:rPr>
              <a:t>            */</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app.Use</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async</a:t>
            </a:r>
            <a:r>
              <a:rPr lang="en-US" sz="900" dirty="0">
                <a:solidFill>
                  <a:srgbClr val="000000"/>
                </a:solidFill>
                <a:latin typeface="Cascadia Mono" panose="020B0609020000020004" pitchFamily="49" charset="0"/>
              </a:rPr>
              <a:t> (context, next) =&gt;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await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context.Response.WriteAsync</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"Middleware1: Incoming Request\n"</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next();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context.Response.WriteAsync</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"Middleware1: Outgoing Response\n"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app.Use</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async</a:t>
            </a:r>
            <a:r>
              <a:rPr lang="en-US" sz="900" dirty="0">
                <a:solidFill>
                  <a:srgbClr val="000000"/>
                </a:solidFill>
                <a:latin typeface="Cascadia Mono" panose="020B0609020000020004" pitchFamily="49" charset="0"/>
              </a:rPr>
              <a:t> (context, next) =&gt;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await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context.Response.WriteAsync</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"Middleware2: Incoming Request\n"</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next();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context.Response.WriteAsync</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"Middleware2: Outgoing Response\n"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app.Run</a:t>
            </a:r>
            <a:r>
              <a:rPr lang="en-IN" sz="900" dirty="0">
                <a:solidFill>
                  <a:srgbClr val="000000"/>
                </a:solidFill>
                <a:latin typeface="Cascadia Mono" panose="020B0609020000020004" pitchFamily="49" charset="0"/>
              </a:rPr>
              <a:t>(</a:t>
            </a:r>
            <a:r>
              <a:rPr lang="en-IN" sz="900" dirty="0">
                <a:solidFill>
                  <a:srgbClr val="0000FF"/>
                </a:solidFill>
                <a:latin typeface="Cascadia Mono" panose="020B0609020000020004" pitchFamily="49" charset="0"/>
              </a:rPr>
              <a:t>async</a:t>
            </a:r>
            <a:r>
              <a:rPr lang="en-IN" sz="900" dirty="0">
                <a:solidFill>
                  <a:srgbClr val="000000"/>
                </a:solidFill>
                <a:latin typeface="Cascadia Mono" panose="020B0609020000020004" pitchFamily="49" charset="0"/>
              </a:rPr>
              <a:t> (context) =&gt;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await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context.Response.WriteAsync</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"Middleware3: Incoming Request handled and response generated\n"</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a:t>
            </a:r>
            <a:r>
              <a:rPr lang="en-IN" sz="900" dirty="0" err="1">
                <a:solidFill>
                  <a:srgbClr val="008000"/>
                </a:solidFill>
                <a:latin typeface="Cascadia Mono" panose="020B0609020000020004" pitchFamily="49" charset="0"/>
              </a:rPr>
              <a:t>app.UseEndpoints</a:t>
            </a:r>
            <a:r>
              <a:rPr lang="en-IN" sz="900" dirty="0">
                <a:solidFill>
                  <a:srgbClr val="008000"/>
                </a:solidFill>
                <a:latin typeface="Cascadia Mono" panose="020B0609020000020004" pitchFamily="49" charset="0"/>
              </a:rPr>
              <a:t>(endpoints =&gt;</a:t>
            </a:r>
          </a:p>
          <a:p>
            <a:r>
              <a:rPr lang="en-IN" sz="900" dirty="0">
                <a:solidFill>
                  <a:srgbClr val="008000"/>
                </a:solidFill>
                <a:latin typeface="Cascadia Mono" panose="020B0609020000020004" pitchFamily="49" charset="0"/>
              </a:rPr>
              <a:t>            {</a:t>
            </a:r>
          </a:p>
          <a:p>
            <a:r>
              <a:rPr lang="en-IN" sz="900" dirty="0">
                <a:solidFill>
                  <a:srgbClr val="008000"/>
                </a:solidFill>
                <a:latin typeface="Cascadia Mono" panose="020B0609020000020004" pitchFamily="49" charset="0"/>
              </a:rPr>
              <a:t>                </a:t>
            </a:r>
            <a:r>
              <a:rPr lang="en-IN" sz="900" dirty="0" err="1">
                <a:solidFill>
                  <a:srgbClr val="008000"/>
                </a:solidFill>
                <a:latin typeface="Cascadia Mono" panose="020B0609020000020004" pitchFamily="49" charset="0"/>
              </a:rPr>
              <a:t>endpoints.MapGet</a:t>
            </a:r>
            <a:r>
              <a:rPr lang="en-IN" sz="900" dirty="0">
                <a:solidFill>
                  <a:srgbClr val="008000"/>
                </a:solidFill>
                <a:latin typeface="Cascadia Mono" panose="020B0609020000020004" pitchFamily="49" charset="0"/>
              </a:rPr>
              <a:t>("/", async context =&gt;</a:t>
            </a:r>
          </a:p>
          <a:p>
            <a:r>
              <a:rPr lang="en-IN" sz="900" dirty="0">
                <a:solidFill>
                  <a:srgbClr val="008000"/>
                </a:solidFill>
                <a:latin typeface="Cascadia Mono" panose="020B0609020000020004" pitchFamily="49" charset="0"/>
              </a:rPr>
              <a:t>                {</a:t>
            </a:r>
          </a:p>
          <a:p>
            <a:r>
              <a:rPr lang="en-IN" sz="900" dirty="0">
                <a:solidFill>
                  <a:srgbClr val="008000"/>
                </a:solidFill>
                <a:latin typeface="Cascadia Mono" panose="020B0609020000020004" pitchFamily="49" charset="0"/>
              </a:rPr>
              <a:t>                    await </a:t>
            </a:r>
            <a:r>
              <a:rPr lang="en-IN" sz="900" dirty="0" err="1">
                <a:solidFill>
                  <a:srgbClr val="008000"/>
                </a:solidFill>
                <a:latin typeface="Cascadia Mono" panose="020B0609020000020004" pitchFamily="49" charset="0"/>
              </a:rPr>
              <a:t>context.Response.WriteAsync</a:t>
            </a:r>
            <a:r>
              <a:rPr lang="en-IN" sz="900" dirty="0">
                <a:solidFill>
                  <a:srgbClr val="008000"/>
                </a:solidFill>
                <a:latin typeface="Cascadia Mono" panose="020B0609020000020004" pitchFamily="49" charset="0"/>
              </a:rPr>
              <a:t>("Worker Process Name : " + </a:t>
            </a:r>
            <a:r>
              <a:rPr lang="en-IN" sz="900" dirty="0" err="1">
                <a:solidFill>
                  <a:srgbClr val="008000"/>
                </a:solidFill>
                <a:latin typeface="Cascadia Mono" panose="020B0609020000020004" pitchFamily="49" charset="0"/>
              </a:rPr>
              <a:t>System.Diagnostics.Process.GetCurrentProcess</a:t>
            </a:r>
            <a:r>
              <a:rPr lang="en-IN" sz="900" dirty="0">
                <a:solidFill>
                  <a:srgbClr val="008000"/>
                </a:solidFill>
                <a:latin typeface="Cascadia Mono" panose="020B0609020000020004" pitchFamily="49" charset="0"/>
              </a:rPr>
              <a:t>().</a:t>
            </a:r>
            <a:r>
              <a:rPr lang="en-IN" sz="900" dirty="0" err="1">
                <a:solidFill>
                  <a:srgbClr val="008000"/>
                </a:solidFill>
                <a:latin typeface="Cascadia Mono" panose="020B0609020000020004" pitchFamily="49" charset="0"/>
              </a:rPr>
              <a:t>ProcessName</a:t>
            </a:r>
            <a:r>
              <a:rPr lang="en-IN" sz="900" dirty="0">
                <a:solidFill>
                  <a:srgbClr val="008000"/>
                </a:solidFill>
                <a:latin typeface="Cascadia Mono" panose="020B0609020000020004" pitchFamily="49" charset="0"/>
              </a:rPr>
              <a:t>);</a:t>
            </a:r>
          </a:p>
          <a:p>
            <a:r>
              <a:rPr lang="en-IN" sz="900" dirty="0">
                <a:solidFill>
                  <a:srgbClr val="008000"/>
                </a:solidFill>
                <a:latin typeface="Cascadia Mono" panose="020B0609020000020004" pitchFamily="49" charset="0"/>
              </a:rPr>
              <a:t>                });</a:t>
            </a:r>
          </a:p>
          <a:p>
            <a:r>
              <a:rPr lang="en-IN" sz="900" dirty="0">
                <a:solidFill>
                  <a:srgbClr val="008000"/>
                </a:solidFill>
                <a:latin typeface="Cascadia Mono" panose="020B0609020000020004" pitchFamily="49" charset="0"/>
              </a:rPr>
              <a:t>            });*/</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app.Run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sz="900" dirty="0"/>
          </a:p>
        </p:txBody>
      </p:sp>
      <p:pic>
        <p:nvPicPr>
          <p:cNvPr id="11" name="Picture 10">
            <a:extLst>
              <a:ext uri="{FF2B5EF4-FFF2-40B4-BE49-F238E27FC236}">
                <a16:creationId xmlns:a16="http://schemas.microsoft.com/office/drawing/2014/main" id="{65C5B689-C731-353A-3516-FD9E008581EA}"/>
              </a:ext>
            </a:extLst>
          </p:cNvPr>
          <p:cNvPicPr>
            <a:picLocks noChangeAspect="1"/>
          </p:cNvPicPr>
          <p:nvPr/>
        </p:nvPicPr>
        <p:blipFill>
          <a:blip r:embed="rId2"/>
          <a:stretch>
            <a:fillRect/>
          </a:stretch>
        </p:blipFill>
        <p:spPr>
          <a:xfrm>
            <a:off x="6193951" y="1666425"/>
            <a:ext cx="5998049" cy="2632197"/>
          </a:xfrm>
          <a:prstGeom prst="rect">
            <a:avLst/>
          </a:prstGeom>
        </p:spPr>
      </p:pic>
    </p:spTree>
    <p:extLst>
      <p:ext uri="{BB962C8B-B14F-4D97-AF65-F5344CB8AC3E}">
        <p14:creationId xmlns:p14="http://schemas.microsoft.com/office/powerpoint/2010/main" val="3866299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5EEEED-496D-4295-AB05-7C5DE845827B}"/>
              </a:ext>
            </a:extLst>
          </p:cNvPr>
          <p:cNvSpPr txBox="1"/>
          <p:nvPr/>
        </p:nvSpPr>
        <p:spPr>
          <a:xfrm>
            <a:off x="2224340" y="354572"/>
            <a:ext cx="9276779"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Understanding the ASP.NET Core Request Processing Pipeline Execution Order:</a:t>
            </a:r>
            <a:endParaRPr lang="en-US" b="0" i="0" dirty="0">
              <a:solidFill>
                <a:srgbClr val="3A3A3A"/>
              </a:solidFill>
              <a:effectLst/>
              <a:latin typeface="-apple-system"/>
            </a:endParaRPr>
          </a:p>
        </p:txBody>
      </p:sp>
      <p:pic>
        <p:nvPicPr>
          <p:cNvPr id="2050" name="Picture 2" descr="Understanding the ASP.NET Core Request Processing Pipeline Execution Order">
            <a:extLst>
              <a:ext uri="{FF2B5EF4-FFF2-40B4-BE49-F238E27FC236}">
                <a16:creationId xmlns:a16="http://schemas.microsoft.com/office/drawing/2014/main" id="{E7BF6234-D337-4599-989C-D59F813751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8" y="1062355"/>
            <a:ext cx="5534025" cy="36766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A5D4255-1182-413E-839E-B3116A515CAF}"/>
              </a:ext>
            </a:extLst>
          </p:cNvPr>
          <p:cNvSpPr txBox="1"/>
          <p:nvPr/>
        </p:nvSpPr>
        <p:spPr>
          <a:xfrm>
            <a:off x="5926772" y="1062355"/>
            <a:ext cx="6096000" cy="3970318"/>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When the incoming HTTP request comes, first it receives by the first middleware component i.e. Middleware1 which logs “</a:t>
            </a:r>
            <a:r>
              <a:rPr lang="en-US" b="1" i="0" dirty="0">
                <a:solidFill>
                  <a:srgbClr val="0000FF"/>
                </a:solidFill>
                <a:effectLst/>
                <a:latin typeface="arial" panose="020B0604020202020204" pitchFamily="34" charset="0"/>
              </a:rPr>
              <a:t>Middleware1: Incoming Request</a:t>
            </a:r>
            <a:r>
              <a:rPr lang="en-US" b="0" i="0" dirty="0">
                <a:solidFill>
                  <a:srgbClr val="000000"/>
                </a:solidFill>
                <a:effectLst/>
                <a:latin typeface="arial" panose="020B0604020202020204" pitchFamily="34" charset="0"/>
              </a:rPr>
              <a:t>” in the response stream. So as a result, first, we see this message first on the browser.</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Once the first middleware logs the information, then it calls the next() method which will invoke the second middleware in the request processing pipeline i.e. Middleware2.</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The second middleware logs the information “</a:t>
            </a:r>
            <a:r>
              <a:rPr lang="en-US" b="1" i="0" dirty="0">
                <a:solidFill>
                  <a:srgbClr val="0000FF"/>
                </a:solidFill>
                <a:effectLst/>
                <a:latin typeface="arial" panose="020B0604020202020204" pitchFamily="34" charset="0"/>
              </a:rPr>
              <a:t>Middleware2: Incoming Request</a:t>
            </a:r>
            <a:r>
              <a:rPr lang="en-US" b="0" i="0" dirty="0">
                <a:solidFill>
                  <a:srgbClr val="000000"/>
                </a:solidFill>
                <a:effectLst/>
                <a:latin typeface="arial" panose="020B0604020202020204" pitchFamily="34" charset="0"/>
              </a:rPr>
              <a:t>” as a result we see this log information after the first log. Then the second middleware calls the next() which will invoke the third middleware in the request pipeline which is Middleware3.</a:t>
            </a:r>
            <a:endParaRPr lang="en-US" b="0" i="0" dirty="0">
              <a:solidFill>
                <a:srgbClr val="212529"/>
              </a:solidFill>
              <a:effectLst/>
              <a:latin typeface="-apple-system"/>
            </a:endParaRPr>
          </a:p>
        </p:txBody>
      </p:sp>
    </p:spTree>
    <p:extLst>
      <p:ext uri="{BB962C8B-B14F-4D97-AF65-F5344CB8AC3E}">
        <p14:creationId xmlns:p14="http://schemas.microsoft.com/office/powerpoint/2010/main" val="3014942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71333A-233C-4C70-A456-60C14FDD79AF}"/>
              </a:ext>
            </a:extLst>
          </p:cNvPr>
          <p:cNvSpPr txBox="1"/>
          <p:nvPr/>
        </p:nvSpPr>
        <p:spPr>
          <a:xfrm>
            <a:off x="203200" y="172719"/>
            <a:ext cx="11490960" cy="5909310"/>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The third middleware handles the request and then produces the response. So, the third information that we see in the browser is “</a:t>
            </a:r>
            <a:r>
              <a:rPr lang="en-US" b="1" i="0" dirty="0">
                <a:solidFill>
                  <a:srgbClr val="0000FF"/>
                </a:solidFill>
                <a:effectLst/>
                <a:latin typeface="arial" panose="020B0604020202020204" pitchFamily="34" charset="0"/>
              </a:rPr>
              <a:t>Middleware3: Incoming Request handled and response generated</a:t>
            </a:r>
            <a:r>
              <a:rPr lang="en-US" b="0" i="0" dirty="0">
                <a:solidFill>
                  <a:srgbClr val="000000"/>
                </a:solidFill>
                <a:effectLst/>
                <a:latin typeface="arial" panose="020B0604020202020204" pitchFamily="34" charset="0"/>
              </a:rPr>
              <a:t>”.</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This middleware component is registered using the Run() extension method, so it is a terminal component. So, from this point, the request pipeline starts reversing. That means from this middleware, the control is given back to the second middleware, and the second middleware logs the information as “</a:t>
            </a:r>
            <a:r>
              <a:rPr lang="en-US" b="1" i="0" dirty="0">
                <a:solidFill>
                  <a:srgbClr val="0000FF"/>
                </a:solidFill>
                <a:effectLst/>
                <a:latin typeface="arial" panose="020B0604020202020204" pitchFamily="34" charset="0"/>
              </a:rPr>
              <a:t>Middleware2: Outgoing Response</a:t>
            </a:r>
            <a:r>
              <a:rPr lang="en-US" b="0" i="0" dirty="0">
                <a:solidFill>
                  <a:srgbClr val="000000"/>
                </a:solidFill>
                <a:effectLst/>
                <a:latin typeface="arial" panose="020B0604020202020204" pitchFamily="34" charset="0"/>
              </a:rPr>
              <a:t>” and then give the control back to the first middleware component, and the first middleware component logs the information as “</a:t>
            </a:r>
            <a:r>
              <a:rPr lang="en-US" b="1" i="0" dirty="0">
                <a:solidFill>
                  <a:srgbClr val="0000FF"/>
                </a:solidFill>
                <a:effectLst/>
                <a:latin typeface="arial" panose="020B0604020202020204" pitchFamily="34" charset="0"/>
              </a:rPr>
              <a:t>Middleware1: Outgoing Response</a:t>
            </a:r>
            <a:r>
              <a:rPr lang="en-US" b="0" i="0" dirty="0">
                <a:solidFill>
                  <a:srgbClr val="000000"/>
                </a:solidFill>
                <a:effectLst/>
                <a:latin typeface="arial" panose="020B0604020202020204" pitchFamily="34" charset="0"/>
              </a:rPr>
              <a:t>” as what we see in the browser.</a:t>
            </a:r>
          </a:p>
          <a:p>
            <a:pPr algn="just" fontAlgn="base"/>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Key Points to remember:</a:t>
            </a:r>
          </a:p>
          <a:p>
            <a:pPr algn="just" fontAlgn="base"/>
            <a:endParaRPr lang="en-US" b="0" i="0" dirty="0">
              <a:solidFill>
                <a:srgbClr val="3A3A3A"/>
              </a:solidFill>
              <a:effectLst/>
              <a:latin typeface="-apple-system"/>
            </a:endParaRPr>
          </a:p>
          <a:p>
            <a:pPr algn="just" fontAlgn="base">
              <a:buFont typeface="+mj-lt"/>
              <a:buAutoNum type="arabicPeriod"/>
            </a:pPr>
            <a:r>
              <a:rPr lang="en-US" b="0" i="0" dirty="0">
                <a:solidFill>
                  <a:srgbClr val="000000"/>
                </a:solidFill>
                <a:effectLst/>
                <a:latin typeface="arial" panose="020B0604020202020204" pitchFamily="34" charset="0"/>
              </a:rPr>
              <a:t>The ASP.NET Core request processing pipeline consists of a sequence of middleware components that are going to be called one after the other.</a:t>
            </a:r>
            <a:endParaRPr lang="en-US" b="0" i="0" dirty="0">
              <a:solidFill>
                <a:srgbClr val="212529"/>
              </a:solidFill>
              <a:effectLst/>
              <a:latin typeface="-apple-system"/>
            </a:endParaRPr>
          </a:p>
          <a:p>
            <a:pPr algn="just" fontAlgn="base">
              <a:buFont typeface="+mj-lt"/>
              <a:buAutoNum type="arabicPeriod"/>
            </a:pPr>
            <a:r>
              <a:rPr lang="en-US" b="0" i="0" dirty="0">
                <a:solidFill>
                  <a:srgbClr val="000000"/>
                </a:solidFill>
                <a:effectLst/>
                <a:latin typeface="arial" panose="020B0604020202020204" pitchFamily="34" charset="0"/>
              </a:rPr>
              <a:t>Each middleware component can perform some operations before and after invoking the next component using the next method. A middleware component can also decide not to call the next middleware component which is called short-circuiting the request pipeline.</a:t>
            </a:r>
            <a:endParaRPr lang="en-US" b="0" i="0" dirty="0">
              <a:solidFill>
                <a:srgbClr val="212529"/>
              </a:solidFill>
              <a:effectLst/>
              <a:latin typeface="-apple-system"/>
            </a:endParaRPr>
          </a:p>
          <a:p>
            <a:pPr algn="just" fontAlgn="base">
              <a:buFont typeface="+mj-lt"/>
              <a:buAutoNum type="arabicPeriod"/>
            </a:pPr>
            <a:r>
              <a:rPr lang="en-US" b="0" i="0" dirty="0">
                <a:solidFill>
                  <a:srgbClr val="000000"/>
                </a:solidFill>
                <a:effectLst/>
                <a:latin typeface="arial" panose="020B0604020202020204" pitchFamily="34" charset="0"/>
              </a:rPr>
              <a:t>The middleware component in asp.net core has access to both the incoming request and the outgoing response.</a:t>
            </a:r>
            <a:endParaRPr lang="en-US" b="0" i="0" dirty="0">
              <a:solidFill>
                <a:srgbClr val="212529"/>
              </a:solidFill>
              <a:effectLst/>
              <a:latin typeface="-apple-system"/>
            </a:endParaRPr>
          </a:p>
          <a:p>
            <a:pPr algn="just" fontAlgn="base">
              <a:buFont typeface="+mj-lt"/>
              <a:buAutoNum type="arabicPeriod"/>
            </a:pPr>
            <a:r>
              <a:rPr lang="en-US" b="0" i="0" dirty="0">
                <a:solidFill>
                  <a:srgbClr val="000000"/>
                </a:solidFill>
                <a:effectLst/>
                <a:latin typeface="arial" panose="020B0604020202020204" pitchFamily="34" charset="0"/>
              </a:rPr>
              <a:t>The most important point that you need to keep in mind is the order in which the middleware components are added in the Configure method of the Startup class defines the order in which these middleware components are going to be invoked on requests and </a:t>
            </a:r>
            <a:r>
              <a:rPr lang="en-US" b="1" i="0" dirty="0">
                <a:solidFill>
                  <a:srgbClr val="000000"/>
                </a:solidFill>
                <a:effectLst/>
                <a:latin typeface="arial" panose="020B0604020202020204" pitchFamily="34" charset="0"/>
              </a:rPr>
              <a:t>the reverse order for the response</a:t>
            </a:r>
            <a:r>
              <a:rPr lang="en-US" b="0" i="0" dirty="0">
                <a:solidFill>
                  <a:srgbClr val="000000"/>
                </a:solidFill>
                <a:effectLst/>
                <a:latin typeface="arial" panose="020B0604020202020204" pitchFamily="34" charset="0"/>
              </a:rPr>
              <a:t>. So, the order is critical for defining the security, performance, and functionality of the application.</a:t>
            </a:r>
            <a:endParaRPr lang="en-US" b="0" i="0" dirty="0">
              <a:solidFill>
                <a:srgbClr val="212529"/>
              </a:solidFill>
              <a:effectLst/>
              <a:latin typeface="-apple-system"/>
            </a:endParaRPr>
          </a:p>
        </p:txBody>
      </p:sp>
    </p:spTree>
    <p:extLst>
      <p:ext uri="{BB962C8B-B14F-4D97-AF65-F5344CB8AC3E}">
        <p14:creationId xmlns:p14="http://schemas.microsoft.com/office/powerpoint/2010/main" val="3492976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898</Words>
  <Application>Microsoft Office PowerPoint</Application>
  <PresentationFormat>Widescreen</PresentationFormat>
  <Paragraphs>69</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-apple-system</vt:lpstr>
      <vt:lpstr>Arial</vt:lpstr>
      <vt:lpstr>Arial</vt:lpstr>
      <vt:lpstr>Calibri</vt:lpstr>
      <vt:lpstr>Calibri Light</vt:lpstr>
      <vt:lpstr>Cascadia Mono</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11</cp:revision>
  <dcterms:created xsi:type="dcterms:W3CDTF">2021-10-12T10:23:55Z</dcterms:created>
  <dcterms:modified xsi:type="dcterms:W3CDTF">2024-09-24T15:34:29Z</dcterms:modified>
</cp:coreProperties>
</file>