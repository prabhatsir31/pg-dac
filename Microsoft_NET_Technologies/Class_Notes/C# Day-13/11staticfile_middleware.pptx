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3A9E-3944-48CC-AAA2-41C966571B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967BAC-A602-49FB-9A4E-17EC47C7AF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38D75B-F0AB-401D-BCE5-C6D3C2A0EE52}"/>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5" name="Footer Placeholder 4">
            <a:extLst>
              <a:ext uri="{FF2B5EF4-FFF2-40B4-BE49-F238E27FC236}">
                <a16:creationId xmlns:a16="http://schemas.microsoft.com/office/drawing/2014/main" id="{F5B13AAF-1750-46BB-AD42-E33B1C6227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1445EF-6B9F-41B7-9196-0C9DF09203FB}"/>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1487874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A0E14-6143-4524-9F9B-55A2E80716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24B176-87C1-4246-8667-76036753BD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18B783-B3E7-4A35-B0E0-A853B3E1E384}"/>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5" name="Footer Placeholder 4">
            <a:extLst>
              <a:ext uri="{FF2B5EF4-FFF2-40B4-BE49-F238E27FC236}">
                <a16:creationId xmlns:a16="http://schemas.microsoft.com/office/drawing/2014/main" id="{222593A0-6D13-49DB-A628-F2333E42EB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DCD6D0-2F85-48EF-85AD-646DA7AAAC3C}"/>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3407846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70B0-20CB-4188-AED5-1CE7D0CDB0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E283E8-FF08-4358-9DE9-0BEE9DF0B7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BCD30F-2D2E-4364-A00D-C1F919EE60DB}"/>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5" name="Footer Placeholder 4">
            <a:extLst>
              <a:ext uri="{FF2B5EF4-FFF2-40B4-BE49-F238E27FC236}">
                <a16:creationId xmlns:a16="http://schemas.microsoft.com/office/drawing/2014/main" id="{C524C9F2-7012-4044-B14F-54365A415B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BAC732-AFF5-4C8E-8AD0-79FD47A8EA1E}"/>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3896110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46ADD-5A87-4601-AC39-69EFFC1AED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5A8346-E998-4E73-A76E-B7BFE43EE5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093188-1A62-4F0C-83B0-F9897A12EA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86E20A8-7768-4B41-A7A6-7490971E66BF}"/>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6" name="Footer Placeholder 5">
            <a:extLst>
              <a:ext uri="{FF2B5EF4-FFF2-40B4-BE49-F238E27FC236}">
                <a16:creationId xmlns:a16="http://schemas.microsoft.com/office/drawing/2014/main" id="{13A81597-2AAF-4748-9F63-92D93F2CA4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7F6F99-43EB-482F-824C-48E1BBD12C64}"/>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1342998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418C9-2934-4AAE-967D-DA68229B45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D83F27-89C4-4548-95DD-848E54FA0D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B4159B-BEA3-43B2-A053-82D8AC5976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1B6F81-A1B9-4E04-9196-F19C16B79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0D5D6C-0C69-40C0-8F60-D8F76ED47A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CD3FD1-92CA-4629-9AA2-4CF776E678B5}"/>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8" name="Footer Placeholder 7">
            <a:extLst>
              <a:ext uri="{FF2B5EF4-FFF2-40B4-BE49-F238E27FC236}">
                <a16:creationId xmlns:a16="http://schemas.microsoft.com/office/drawing/2014/main" id="{03C6D32E-0767-4AB9-BC4A-2473114249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0DCFC3-607E-4180-9F86-9AE674C4D25E}"/>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2872063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FBFE9-5A00-41BD-B20B-DBE477AA5D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5FAA2F-7F70-4875-A2AA-748431BAE1C6}"/>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4" name="Footer Placeholder 3">
            <a:extLst>
              <a:ext uri="{FF2B5EF4-FFF2-40B4-BE49-F238E27FC236}">
                <a16:creationId xmlns:a16="http://schemas.microsoft.com/office/drawing/2014/main" id="{98EB7184-5136-499A-9DF2-C14FC12B04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9502151-E363-4897-85D4-205C07052304}"/>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2938871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FEF2A4-3BE8-471D-B3F5-440828099A08}"/>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3" name="Footer Placeholder 2">
            <a:extLst>
              <a:ext uri="{FF2B5EF4-FFF2-40B4-BE49-F238E27FC236}">
                <a16:creationId xmlns:a16="http://schemas.microsoft.com/office/drawing/2014/main" id="{B99AB8EA-5BE0-4688-9832-CE8B439674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AD9E52-7B14-4613-A7FA-359CFC1BEB02}"/>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198023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BAF7-B980-4810-A1F4-B2C9BE8A41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29838F-0CD0-4073-9AA3-123AA4B8A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409E8AF-CEE9-4E9C-ACC2-7FF3496141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8B3FEE-CF11-41A5-BADD-F42BE00F1F0F}"/>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6" name="Footer Placeholder 5">
            <a:extLst>
              <a:ext uri="{FF2B5EF4-FFF2-40B4-BE49-F238E27FC236}">
                <a16:creationId xmlns:a16="http://schemas.microsoft.com/office/drawing/2014/main" id="{8B733165-EECB-4625-B977-59731B88A0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BFEE43-7160-4462-AEC0-F1FA7CA9556B}"/>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4046043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B734A-93D9-4434-BDF0-A86028BA65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D4A64EF-4D3B-450B-9737-CC00A943B1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DACEDC-92AA-4C4F-BA20-8DF32EC0B0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A05D08-5D17-41F6-A2D7-8A0252E88B54}"/>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6" name="Footer Placeholder 5">
            <a:extLst>
              <a:ext uri="{FF2B5EF4-FFF2-40B4-BE49-F238E27FC236}">
                <a16:creationId xmlns:a16="http://schemas.microsoft.com/office/drawing/2014/main" id="{328CBE82-5EAB-4AD2-A1DA-5954361AF8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14AD09-E888-495A-AF79-7E57F7D21F44}"/>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2036951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D4D17-2835-44F7-BAB8-A7DDC9E01C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AF24A2-A751-4F41-916B-6417619A8F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91CA91-5B3D-4F97-9700-2F2C9BC34AC5}"/>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5" name="Footer Placeholder 4">
            <a:extLst>
              <a:ext uri="{FF2B5EF4-FFF2-40B4-BE49-F238E27FC236}">
                <a16:creationId xmlns:a16="http://schemas.microsoft.com/office/drawing/2014/main" id="{AB5388DC-8729-4CE7-AA96-97FC80C46F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7D928E-B7AA-48EF-AB8D-F1A792EE0A09}"/>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287223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A10A76-2070-4F7A-9A84-EF15A9AE84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70EF3F-4DA0-44DD-9C28-6F933D64EC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EF5884-BC18-45D0-91A7-A35770C2BA43}"/>
              </a:ext>
            </a:extLst>
          </p:cNvPr>
          <p:cNvSpPr>
            <a:spLocks noGrp="1"/>
          </p:cNvSpPr>
          <p:nvPr>
            <p:ph type="dt" sz="half" idx="10"/>
          </p:nvPr>
        </p:nvSpPr>
        <p:spPr/>
        <p:txBody>
          <a:bodyPr/>
          <a:lstStyle/>
          <a:p>
            <a:fld id="{6416F986-D6EF-4E24-9909-C36D01AA1C60}" type="datetimeFigureOut">
              <a:rPr lang="en-IN" smtClean="0"/>
              <a:t>12-09-2023</a:t>
            </a:fld>
            <a:endParaRPr lang="en-IN"/>
          </a:p>
        </p:txBody>
      </p:sp>
      <p:sp>
        <p:nvSpPr>
          <p:cNvPr id="5" name="Footer Placeholder 4">
            <a:extLst>
              <a:ext uri="{FF2B5EF4-FFF2-40B4-BE49-F238E27FC236}">
                <a16:creationId xmlns:a16="http://schemas.microsoft.com/office/drawing/2014/main" id="{A2E43974-40FA-4BC2-A84C-BD4DE6D928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D5071F-AF58-4CC0-90D2-6FF5B18FB01D}"/>
              </a:ext>
            </a:extLst>
          </p:cNvPr>
          <p:cNvSpPr>
            <a:spLocks noGrp="1"/>
          </p:cNvSpPr>
          <p:nvPr>
            <p:ph type="sldNum" sz="quarter" idx="12"/>
          </p:nvPr>
        </p:nvSpPr>
        <p:spPr/>
        <p:txBody>
          <a:bodyPr/>
          <a:lstStyle/>
          <a:p>
            <a:fld id="{ADE27ED4-26F4-4DA4-A48D-49503E0DC2C7}" type="slidenum">
              <a:rPr lang="en-IN" smtClean="0"/>
              <a:t>‹#›</a:t>
            </a:fld>
            <a:endParaRPr lang="en-IN"/>
          </a:p>
        </p:txBody>
      </p:sp>
    </p:spTree>
    <p:extLst>
      <p:ext uri="{BB962C8B-B14F-4D97-AF65-F5344CB8AC3E}">
        <p14:creationId xmlns:p14="http://schemas.microsoft.com/office/powerpoint/2010/main" val="174558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2503A-602B-4913-8FF0-589745290B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DF40B8-72CC-420E-B867-856E1095F0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654517-5DD1-46B4-8637-EF00DCFE50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16F986-D6EF-4E24-9909-C36D01AA1C60}" type="datetimeFigureOut">
              <a:rPr lang="en-IN" smtClean="0"/>
              <a:t>12-09-2023</a:t>
            </a:fld>
            <a:endParaRPr lang="en-IN"/>
          </a:p>
        </p:txBody>
      </p:sp>
      <p:sp>
        <p:nvSpPr>
          <p:cNvPr id="5" name="Footer Placeholder 4">
            <a:extLst>
              <a:ext uri="{FF2B5EF4-FFF2-40B4-BE49-F238E27FC236}">
                <a16:creationId xmlns:a16="http://schemas.microsoft.com/office/drawing/2014/main" id="{BA3F64F8-FB73-4816-8DE9-2974FB88CF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F4C8CC4-4ABD-457A-A77F-6835278669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E27ED4-26F4-4DA4-A48D-49503E0DC2C7}" type="slidenum">
              <a:rPr lang="en-IN" smtClean="0"/>
              <a:t>‹#›</a:t>
            </a:fld>
            <a:endParaRPr lang="en-IN"/>
          </a:p>
        </p:txBody>
      </p:sp>
    </p:spTree>
    <p:extLst>
      <p:ext uri="{BB962C8B-B14F-4D97-AF65-F5344CB8AC3E}">
        <p14:creationId xmlns:p14="http://schemas.microsoft.com/office/powerpoint/2010/main" val="2356987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localhost:%3cportnumber%3e/MyImage.png"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83DC5A-4A5C-4C0E-8462-C2F55FABE099}"/>
              </a:ext>
            </a:extLst>
          </p:cNvPr>
          <p:cNvSpPr txBox="1"/>
          <p:nvPr/>
        </p:nvSpPr>
        <p:spPr>
          <a:xfrm>
            <a:off x="924231" y="292876"/>
            <a:ext cx="9252155" cy="1200329"/>
          </a:xfrm>
          <a:prstGeom prst="rect">
            <a:avLst/>
          </a:prstGeom>
          <a:noFill/>
        </p:spPr>
        <p:txBody>
          <a:bodyPr wrap="square">
            <a:spAutoFit/>
          </a:bodyPr>
          <a:lstStyle/>
          <a:p>
            <a:pPr algn="just" fontAlgn="base">
              <a:buFont typeface="+mj-lt"/>
              <a:buAutoNum type="arabicPeriod"/>
            </a:pPr>
            <a:r>
              <a:rPr lang="en-US" b="1" i="0" dirty="0">
                <a:solidFill>
                  <a:srgbClr val="0000FF"/>
                </a:solidFill>
                <a:effectLst/>
                <a:latin typeface="arial" panose="020B0604020202020204" pitchFamily="34" charset="0"/>
              </a:rPr>
              <a:t>Where do we need to store the static files in ASP.NET Core?</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What is </a:t>
            </a:r>
            <a:r>
              <a:rPr lang="en-US" b="1" i="0" dirty="0" err="1">
                <a:solidFill>
                  <a:srgbClr val="0000FF"/>
                </a:solidFill>
                <a:effectLst/>
                <a:latin typeface="arial" panose="020B0604020202020204" pitchFamily="34" charset="0"/>
              </a:rPr>
              <a:t>wwwroot</a:t>
            </a:r>
            <a:r>
              <a:rPr lang="en-US" b="1" i="0" dirty="0">
                <a:solidFill>
                  <a:srgbClr val="0000FF"/>
                </a:solidFill>
                <a:effectLst/>
                <a:latin typeface="arial" panose="020B0604020202020204" pitchFamily="34" charset="0"/>
              </a:rPr>
              <a:t> folder in ASP.NET Core?</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How to Configure Static Files Middleware in ASP.NET Core Web Application?</a:t>
            </a:r>
            <a:endParaRPr lang="en-US" b="0" i="0" dirty="0">
              <a:solidFill>
                <a:srgbClr val="212529"/>
              </a:solidFill>
              <a:effectLst/>
              <a:latin typeface="-apple-system"/>
            </a:endParaRPr>
          </a:p>
          <a:p>
            <a:pPr algn="just" fontAlgn="base">
              <a:buFont typeface="+mj-lt"/>
              <a:buAutoNum type="arabicPeriod"/>
            </a:pPr>
            <a:r>
              <a:rPr lang="en-US" b="1" i="0" dirty="0">
                <a:solidFill>
                  <a:srgbClr val="0000FF"/>
                </a:solidFill>
                <a:effectLst/>
                <a:latin typeface="arial" panose="020B0604020202020204" pitchFamily="34" charset="0"/>
              </a:rPr>
              <a:t>How to use your own Webroot folder?</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4872F253-A06D-495E-B580-34D6AD57CF1C}"/>
              </a:ext>
            </a:extLst>
          </p:cNvPr>
          <p:cNvSpPr txBox="1"/>
          <p:nvPr/>
        </p:nvSpPr>
        <p:spPr>
          <a:xfrm>
            <a:off x="147484" y="1687867"/>
            <a:ext cx="11493910" cy="3416320"/>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One of the most important features almost all web applications should have the ability to serve the static files directly from the file system. The static files such as HTML, Images, CSS, and JavaScript are the important assets of an application and ASP.NET Core can serve these files directly to the clients. But the important point that you need to keep in mind by default the ASP.NET Core cannot serve these static files. Some configuration is required in order to enable the ASP.NET Core to serve these static files directly.</a:t>
            </a:r>
          </a:p>
          <a:p>
            <a:pPr algn="just" fontAlgn="base"/>
            <a:endParaRPr lang="en-US" b="0" i="0" dirty="0">
              <a:solidFill>
                <a:srgbClr val="212529"/>
              </a:solidFill>
              <a:effectLst/>
              <a:latin typeface="-apple-system"/>
            </a:endParaRPr>
          </a:p>
          <a:p>
            <a:pPr algn="ctr" fontAlgn="base"/>
            <a:r>
              <a:rPr lang="en-US" b="1" i="0" dirty="0">
                <a:solidFill>
                  <a:srgbClr val="000000"/>
                </a:solidFill>
                <a:effectLst/>
                <a:latin typeface="arial" panose="020B0604020202020204" pitchFamily="34" charset="0"/>
              </a:rPr>
              <a:t>Where do we need to store the static files in ASP.NET Core?</a:t>
            </a:r>
          </a:p>
          <a:p>
            <a:pPr algn="ctr"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ASP.NET Core Application, the default directory or location for the static files is </a:t>
            </a:r>
            <a:r>
              <a:rPr lang="en-US" b="1"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webroot</a:t>
            </a:r>
            <a:r>
              <a:rPr lang="en-US" b="0" i="0" dirty="0">
                <a:solidFill>
                  <a:srgbClr val="000000"/>
                </a:solidFill>
                <a:effectLst/>
                <a:latin typeface="arial" panose="020B0604020202020204" pitchFamily="34" charset="0"/>
              </a:rPr>
              <a:t>) folder and moreover, this folder or directory should be present in the project root folder. By default, this is the only place where the ASP.NET Core application can serve the static files directly. But we can change this default behavior by using the </a:t>
            </a:r>
            <a:r>
              <a:rPr lang="en-US" b="1" i="0" dirty="0" err="1">
                <a:solidFill>
                  <a:srgbClr val="000000"/>
                </a:solidFill>
                <a:effectLst/>
                <a:latin typeface="arial" panose="020B0604020202020204" pitchFamily="34" charset="0"/>
              </a:rPr>
              <a:t>UseWebRoot</a:t>
            </a:r>
            <a:r>
              <a:rPr lang="en-US" b="0" i="0" dirty="0">
                <a:solidFill>
                  <a:srgbClr val="000000"/>
                </a:solidFill>
                <a:effectLst/>
                <a:latin typeface="arial" panose="020B0604020202020204" pitchFamily="34" charset="0"/>
              </a:rPr>
              <a:t> method.</a:t>
            </a:r>
            <a:endParaRPr lang="en-US" b="0" i="0" dirty="0">
              <a:solidFill>
                <a:srgbClr val="212529"/>
              </a:solidFill>
              <a:effectLst/>
              <a:latin typeface="-apple-system"/>
            </a:endParaRPr>
          </a:p>
        </p:txBody>
      </p:sp>
      <p:sp>
        <p:nvSpPr>
          <p:cNvPr id="9" name="TextBox 8">
            <a:extLst>
              <a:ext uri="{FF2B5EF4-FFF2-40B4-BE49-F238E27FC236}">
                <a16:creationId xmlns:a16="http://schemas.microsoft.com/office/drawing/2014/main" id="{1C1FC68A-F1F6-4D30-9708-2806EE642A52}"/>
              </a:ext>
            </a:extLst>
          </p:cNvPr>
          <p:cNvSpPr txBox="1"/>
          <p:nvPr/>
        </p:nvSpPr>
        <p:spPr>
          <a:xfrm>
            <a:off x="167149" y="5830980"/>
            <a:ext cx="11090787" cy="646331"/>
          </a:xfrm>
          <a:prstGeom prst="rect">
            <a:avLst/>
          </a:prstGeom>
          <a:noFill/>
        </p:spPr>
        <p:txBody>
          <a:bodyPr wrap="square">
            <a:spAutoFit/>
          </a:bodyPr>
          <a:lstStyle/>
          <a:p>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If you create the project using a Web or MVC template then by default the </a:t>
            </a:r>
            <a:r>
              <a:rPr lang="en-US" b="0"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will be created by visual studio.</a:t>
            </a:r>
            <a:endParaRPr lang="en-IN" dirty="0"/>
          </a:p>
        </p:txBody>
      </p:sp>
    </p:spTree>
    <p:extLst>
      <p:ext uri="{BB962C8B-B14F-4D97-AF65-F5344CB8AC3E}">
        <p14:creationId xmlns:p14="http://schemas.microsoft.com/office/powerpoint/2010/main" val="165075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601A788-95DE-4EE9-B469-3483D8C1640D}"/>
              </a:ext>
            </a:extLst>
          </p:cNvPr>
          <p:cNvSpPr>
            <a:spLocks noChangeArrowheads="1"/>
          </p:cNvSpPr>
          <p:nvPr/>
        </p:nvSpPr>
        <p:spPr bwMode="auto">
          <a:xfrm>
            <a:off x="255639" y="419433"/>
            <a:ext cx="1034353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let’s add an Image file within </a:t>
            </a:r>
            <a:r>
              <a:rPr kumimoji="0" lang="en-US" altLang="en-US"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wwwroot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folder, folder. Please download and paste the following image into the </a:t>
            </a:r>
            <a:r>
              <a:rPr kumimoji="0" lang="en-US" alt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wwwroot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folder and modify the image name as MyImage.png.</a:t>
            </a:r>
            <a:endParaRPr kumimoji="0" lang="en-US" altLang="en-US" sz="1000" b="0" i="0" u="none" strike="noStrike" cap="none" normalizeH="0" baseline="0" dirty="0">
              <a:ln>
                <a:noFill/>
              </a:ln>
              <a:solidFill>
                <a:schemeClr val="tx1"/>
              </a:solidFill>
              <a:effectLst/>
            </a:endParaRPr>
          </a:p>
        </p:txBody>
      </p:sp>
      <p:pic>
        <p:nvPicPr>
          <p:cNvPr id="1027" name="Picture 3" descr="Static Files Middleware in ASP.NET Core Application">
            <a:extLst>
              <a:ext uri="{FF2B5EF4-FFF2-40B4-BE49-F238E27FC236}">
                <a16:creationId xmlns:a16="http://schemas.microsoft.com/office/drawing/2014/main" id="{0FCB5841-F776-47BC-B230-EC9968FD2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146" y="993365"/>
            <a:ext cx="3933825" cy="26098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C0E308B-5133-444E-AFD8-22B12BEBCD34}"/>
              </a:ext>
            </a:extLst>
          </p:cNvPr>
          <p:cNvSpPr txBox="1"/>
          <p:nvPr/>
        </p:nvSpPr>
        <p:spPr>
          <a:xfrm>
            <a:off x="4660031" y="724620"/>
            <a:ext cx="6981823" cy="2308324"/>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Now run the application and navigate to the following URL. The point that you need to remember is you need to replace the port number on which your application is running. </a:t>
            </a:r>
          </a:p>
          <a:p>
            <a:pPr algn="just" fontAlgn="base"/>
            <a:endParaRPr lang="en-US" b="0" i="0" dirty="0">
              <a:solidFill>
                <a:srgbClr val="212529"/>
              </a:solidFill>
              <a:effectLst/>
              <a:latin typeface="-apple-system"/>
            </a:endParaRPr>
          </a:p>
          <a:p>
            <a:pPr algn="just" fontAlgn="base"/>
            <a:r>
              <a:rPr lang="en-US" b="1" i="0" dirty="0">
                <a:solidFill>
                  <a:srgbClr val="0000FF"/>
                </a:solidFill>
                <a:effectLst/>
                <a:latin typeface="arial" panose="020B0604020202020204" pitchFamily="34" charset="0"/>
                <a:hlinkClick r:id="rId3"/>
              </a:rPr>
              <a:t>http://localhost:&lt;portnumber&gt;/MyImage.png</a:t>
            </a:r>
            <a:endParaRPr lang="en-US" b="1" i="0" dirty="0">
              <a:solidFill>
                <a:srgbClr val="0000FF"/>
              </a:solidFill>
              <a:effectLst/>
              <a:latin typeface="arial" panose="020B0604020202020204" pitchFamily="34" charset="0"/>
            </a:endParaRP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When you navigate to the above URL, you will not get the output as expected, rather than you will get the following output.</a:t>
            </a:r>
            <a:endParaRPr lang="en-US" b="0" i="0" dirty="0">
              <a:solidFill>
                <a:srgbClr val="212529"/>
              </a:solidFill>
              <a:effectLst/>
              <a:latin typeface="-apple-system"/>
            </a:endParaRPr>
          </a:p>
        </p:txBody>
      </p:sp>
      <p:pic>
        <p:nvPicPr>
          <p:cNvPr id="1029" name="Picture 5" descr="ASP.NET Core Static Files Middleware">
            <a:extLst>
              <a:ext uri="{FF2B5EF4-FFF2-40B4-BE49-F238E27FC236}">
                <a16:creationId xmlns:a16="http://schemas.microsoft.com/office/drawing/2014/main" id="{DE867898-1690-47CD-B6B9-8D64160495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6644" y="3338131"/>
            <a:ext cx="3373079" cy="341020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572CB4D-21A3-429D-8A71-E3B90EE6F07E}"/>
              </a:ext>
            </a:extLst>
          </p:cNvPr>
          <p:cNvSpPr txBox="1"/>
          <p:nvPr/>
        </p:nvSpPr>
        <p:spPr>
          <a:xfrm>
            <a:off x="373626" y="4238155"/>
            <a:ext cx="609600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reason why we are not getting the output as expected because we don’t have any middleware which can serve the static files in the request processing pipeline.</a:t>
            </a:r>
            <a:endParaRPr lang="en-IN" dirty="0"/>
          </a:p>
        </p:txBody>
      </p:sp>
    </p:spTree>
    <p:extLst>
      <p:ext uri="{BB962C8B-B14F-4D97-AF65-F5344CB8AC3E}">
        <p14:creationId xmlns:p14="http://schemas.microsoft.com/office/powerpoint/2010/main" val="3069421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75026C-4568-4A28-8D0E-ABFFF12B1E0B}"/>
              </a:ext>
            </a:extLst>
          </p:cNvPr>
          <p:cNvSpPr txBox="1"/>
          <p:nvPr/>
        </p:nvSpPr>
        <p:spPr>
          <a:xfrm>
            <a:off x="189270" y="-120033"/>
            <a:ext cx="11710219" cy="2585323"/>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Configuring the Static Files Middleware in ASP.NET Core Application?</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order to handle the static resources, we need to </a:t>
            </a:r>
            <a:r>
              <a:rPr lang="en-US" b="0" i="0" u="none" strike="noStrike" dirty="0">
                <a:solidFill>
                  <a:srgbClr val="007BFF"/>
                </a:solidFill>
                <a:effectLst/>
                <a:latin typeface="arial" panose="020B0604020202020204" pitchFamily="34" charset="0"/>
              </a:rPr>
              <a:t>configure a middleware</a:t>
            </a:r>
            <a:r>
              <a:rPr lang="en-US" b="0" i="0" dirty="0">
                <a:solidFill>
                  <a:srgbClr val="000000"/>
                </a:solidFill>
                <a:effectLst/>
                <a:latin typeface="arial" panose="020B0604020202020204" pitchFamily="34" charset="0"/>
              </a:rPr>
              <a:t> called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into the application </a:t>
            </a:r>
            <a:r>
              <a:rPr lang="en-US" b="0" i="0" u="none" strike="noStrike" dirty="0">
                <a:solidFill>
                  <a:srgbClr val="007BFF"/>
                </a:solidFill>
                <a:effectLst/>
                <a:latin typeface="arial" panose="020B0604020202020204" pitchFamily="34" charset="0"/>
              </a:rPr>
              <a:t>request processing pipeline of an ASP.NET Core</a:t>
            </a:r>
            <a:r>
              <a:rPr lang="en-US" b="0" i="0" dirty="0">
                <a:solidFill>
                  <a:srgbClr val="000000"/>
                </a:solidFill>
                <a:effectLst/>
                <a:latin typeface="arial" panose="020B0604020202020204" pitchFamily="34" charset="0"/>
              </a:rPr>
              <a:t> Application. The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middleware is an inbuilt middleware provided by ASP.NET Core Framework to handle the static files in an ASP.NET Core Application.</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as shown below in order to add the </a:t>
            </a:r>
            <a:r>
              <a:rPr lang="en-US" b="0" i="0" dirty="0" err="1">
                <a:solidFill>
                  <a:srgbClr val="000000"/>
                </a:solidFill>
                <a:effectLst/>
                <a:latin typeface="arial" panose="020B0604020202020204" pitchFamily="34" charset="0"/>
              </a:rPr>
              <a:t>UseStaticFiles</a:t>
            </a:r>
            <a:r>
              <a:rPr lang="en-US" b="0" i="0" dirty="0">
                <a:solidFill>
                  <a:srgbClr val="000000"/>
                </a:solidFill>
                <a:effectLst/>
                <a:latin typeface="arial" panose="020B0604020202020204" pitchFamily="34" charset="0"/>
              </a:rPr>
              <a:t>() </a:t>
            </a:r>
            <a:r>
              <a:rPr lang="en-US" b="0" i="0" u="none" strike="noStrike" dirty="0">
                <a:solidFill>
                  <a:srgbClr val="007BFF"/>
                </a:solidFill>
                <a:effectLst/>
                <a:latin typeface="arial" panose="020B0604020202020204" pitchFamily="34" charset="0"/>
              </a:rPr>
              <a:t>middleware</a:t>
            </a:r>
            <a:r>
              <a:rPr lang="en-US" b="0" i="0" dirty="0">
                <a:solidFill>
                  <a:srgbClr val="000000"/>
                </a:solidFill>
                <a:effectLst/>
                <a:latin typeface="arial" panose="020B0604020202020204" pitchFamily="34" charset="0"/>
              </a:rPr>
              <a:t> to the request processing pipeline of the application. </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D300995F-C9A6-40E7-BA8F-EDDCF110DB1A}"/>
              </a:ext>
            </a:extLst>
          </p:cNvPr>
          <p:cNvSpPr txBox="1"/>
          <p:nvPr/>
        </p:nvSpPr>
        <p:spPr>
          <a:xfrm>
            <a:off x="189270" y="2465290"/>
            <a:ext cx="8649929" cy="3139321"/>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	if</a:t>
            </a:r>
            <a:r>
              <a:rPr lang="en-IN" b="0" i="0" dirty="0">
                <a:solidFill>
                  <a:srgbClr val="CFD5E0"/>
                </a:solidFill>
                <a:effectLst/>
                <a:latin typeface="inherit"/>
              </a:rPr>
              <a:t> </a:t>
            </a:r>
            <a:r>
              <a:rPr lang="en-IN" b="1" i="0" dirty="0">
                <a:solidFill>
                  <a:srgbClr val="6B7C8B"/>
                </a:solidFill>
                <a:effectLst/>
                <a:latin typeface="inherit"/>
              </a:rPr>
              <a:t>(</a:t>
            </a:r>
            <a:r>
              <a:rPr lang="en-IN" b="0" i="0" dirty="0" err="1">
                <a:solidFill>
                  <a:srgbClr val="CFD5E0"/>
                </a:solidFill>
                <a:effectLst/>
                <a:latin typeface="inherit"/>
              </a:rPr>
              <a:t>env.</a:t>
            </a:r>
            <a:r>
              <a:rPr lang="en-IN" b="0" i="0" dirty="0" err="1">
                <a:solidFill>
                  <a:srgbClr val="4284AE"/>
                </a:solidFill>
                <a:effectLst/>
                <a:latin typeface="inherit"/>
              </a:rPr>
              <a:t>IsDevelopment</a:t>
            </a:r>
            <a:r>
              <a:rPr lang="en-IN" b="1" i="0" dirty="0">
                <a:solidFill>
                  <a:srgbClr val="6B7C8B"/>
                </a:solidFill>
                <a:effectLst/>
                <a:latin typeface="inherit"/>
              </a:rPr>
              <a:t>())  {</a:t>
            </a:r>
            <a:endParaRPr lang="en-IN" b="0" i="0" dirty="0">
              <a:solidFill>
                <a:srgbClr val="596174"/>
              </a:solidFill>
              <a:effectLst/>
              <a:latin typeface="Inconsolata" pitchFamily="2" charset="0"/>
            </a:endParaRPr>
          </a:p>
          <a:p>
            <a:pPr algn="l" fontAlgn="base"/>
            <a:r>
              <a:rPr lang="en-IN" b="0" i="0" dirty="0">
                <a:solidFill>
                  <a:srgbClr val="CFD5E0"/>
                </a:solidFill>
                <a:effectLst/>
                <a:latin typeface="inherit"/>
              </a:rPr>
              <a:t>	</a:t>
            </a:r>
            <a:r>
              <a:rPr lang="en-IN" b="0" i="0" dirty="0" err="1">
                <a:solidFill>
                  <a:srgbClr val="CFD5E0"/>
                </a:solidFill>
                <a:effectLst/>
                <a:latin typeface="inherit"/>
              </a:rPr>
              <a:t>app.</a:t>
            </a:r>
            <a:r>
              <a:rPr lang="en-IN" b="0" i="0" dirty="0" err="1">
                <a:solidFill>
                  <a:srgbClr val="4284AE"/>
                </a:solidFill>
                <a:effectLst/>
                <a:latin typeface="inherit"/>
              </a:rPr>
              <a:t>UseDeveloperExceptionPage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	}</a:t>
            </a:r>
            <a:endParaRPr lang="en-IN" b="0" i="0" dirty="0">
              <a:solidFill>
                <a:srgbClr val="596174"/>
              </a:solidFill>
              <a:effectLst/>
              <a:latin typeface="Inconsolata" pitchFamily="2" charset="0"/>
            </a:endParaRPr>
          </a:p>
          <a:p>
            <a:pPr algn="l" fontAlgn="base"/>
            <a:r>
              <a:rPr lang="en-IN" b="0" i="0" dirty="0">
                <a:solidFill>
                  <a:srgbClr val="6B7C8B"/>
                </a:solidFill>
                <a:effectLst/>
                <a:latin typeface="inherit"/>
              </a:rPr>
              <a:t>	//Adding Static Files Middleware to serve the static files</a:t>
            </a:r>
            <a:endParaRPr lang="en-IN" b="0" i="0" dirty="0">
              <a:solidFill>
                <a:srgbClr val="596174"/>
              </a:solidFill>
              <a:effectLst/>
              <a:latin typeface="Inconsolata" pitchFamily="2"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UseStaticFiles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2"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UseRouting</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2"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UseEndpoints</a:t>
            </a:r>
            <a:r>
              <a:rPr lang="en-IN" b="1" i="0" dirty="0">
                <a:solidFill>
                  <a:srgbClr val="6B7C8B"/>
                </a:solidFill>
                <a:effectLst/>
                <a:latin typeface="inherit"/>
              </a:rPr>
              <a:t>(</a:t>
            </a:r>
            <a:r>
              <a:rPr lang="en-IN" b="0" i="0" dirty="0">
                <a:solidFill>
                  <a:srgbClr val="CFD5E0"/>
                </a:solidFill>
                <a:effectLst/>
                <a:latin typeface="inherit"/>
              </a:rPr>
              <a:t>endpoints =</a:t>
            </a:r>
            <a:r>
              <a:rPr lang="en-IN" b="1" i="0" dirty="0">
                <a:solidFill>
                  <a:srgbClr val="6B7C8B"/>
                </a:solidFill>
                <a:effectLst/>
                <a:latin typeface="inherit"/>
              </a:rPr>
              <a:t>&gt; {</a:t>
            </a:r>
            <a:endParaRPr lang="en-IN" b="0" i="0" dirty="0">
              <a:solidFill>
                <a:srgbClr val="596174"/>
              </a:solidFill>
              <a:effectLst/>
              <a:latin typeface="Inconsolata" pitchFamily="2" charset="0"/>
            </a:endParaRPr>
          </a:p>
          <a:p>
            <a:pPr algn="l" fontAlgn="base"/>
            <a:r>
              <a:rPr lang="en-IN" b="0" i="0" dirty="0" err="1">
                <a:solidFill>
                  <a:srgbClr val="CFD5E0"/>
                </a:solidFill>
                <a:effectLst/>
                <a:latin typeface="inherit"/>
              </a:rPr>
              <a:t>endpoints.</a:t>
            </a:r>
            <a:r>
              <a:rPr lang="en-IN" b="0" i="0" dirty="0" err="1">
                <a:solidFill>
                  <a:srgbClr val="4284AE"/>
                </a:solidFill>
                <a:effectLst/>
                <a:latin typeface="inherit"/>
              </a:rPr>
              <a:t>MapGet</a:t>
            </a:r>
            <a:r>
              <a:rPr lang="en-IN" b="1" i="0" dirty="0">
                <a:solidFill>
                  <a:srgbClr val="6B7C8B"/>
                </a:solidFill>
                <a:effectLst/>
                <a:latin typeface="inherit"/>
              </a:rPr>
              <a:t>(</a:t>
            </a:r>
            <a:r>
              <a:rPr lang="en-IN" b="0" i="0" dirty="0">
                <a:solidFill>
                  <a:srgbClr val="7CC379"/>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async</a:t>
            </a:r>
            <a:r>
              <a:rPr lang="en-IN" b="0" i="0" dirty="0">
                <a:solidFill>
                  <a:srgbClr val="CFD5E0"/>
                </a:solidFill>
                <a:effectLst/>
                <a:latin typeface="inherit"/>
              </a:rPr>
              <a:t> context =</a:t>
            </a:r>
            <a:r>
              <a:rPr lang="en-IN" b="1" i="0" dirty="0">
                <a:solidFill>
                  <a:srgbClr val="6B7C8B"/>
                </a:solidFill>
                <a:effectLst/>
                <a:latin typeface="inherit"/>
              </a:rPr>
              <a:t>&gt; {</a:t>
            </a:r>
            <a:endParaRPr lang="en-IN" b="0" i="0" dirty="0">
              <a:solidFill>
                <a:srgbClr val="596174"/>
              </a:solidFill>
              <a:effectLst/>
              <a:latin typeface="Inconsolata" pitchFamily="2"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"Hello World!"</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	})</a:t>
            </a:r>
            <a:r>
              <a:rPr lang="en-IN" b="0" i="0" dirty="0">
                <a:solidFill>
                  <a:srgbClr val="CFD5E0"/>
                </a:solidFill>
                <a:effectLst/>
                <a:latin typeface="inherit"/>
              </a:rPr>
              <a:t>;</a:t>
            </a:r>
            <a:endParaRPr lang="en-IN" b="0" i="0" dirty="0">
              <a:solidFill>
                <a:srgbClr val="596174"/>
              </a:solidFill>
              <a:effectLst/>
              <a:latin typeface="Inconsolata" pitchFamily="2" charset="0"/>
            </a:endParaRPr>
          </a:p>
          <a:p>
            <a:pPr algn="l" fontAlgn="base"/>
            <a:r>
              <a:rPr lang="en-IN" b="1" dirty="0">
                <a:solidFill>
                  <a:srgbClr val="6B7C8B"/>
                </a:solidFill>
                <a:latin typeface="inherit"/>
              </a:rPr>
              <a:t>  </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  }</a:t>
            </a:r>
            <a:endParaRPr lang="en-IN" b="0" i="0" dirty="0">
              <a:solidFill>
                <a:srgbClr val="596174"/>
              </a:solidFill>
              <a:effectLst/>
              <a:latin typeface="Inconsolata" pitchFamily="2" charset="0"/>
            </a:endParaRPr>
          </a:p>
        </p:txBody>
      </p:sp>
      <p:sp>
        <p:nvSpPr>
          <p:cNvPr id="9" name="TextBox 8">
            <a:extLst>
              <a:ext uri="{FF2B5EF4-FFF2-40B4-BE49-F238E27FC236}">
                <a16:creationId xmlns:a16="http://schemas.microsoft.com/office/drawing/2014/main" id="{3A522E83-9DC7-480E-A0C5-96A920CC866C}"/>
              </a:ext>
            </a:extLst>
          </p:cNvPr>
          <p:cNvSpPr txBox="1"/>
          <p:nvPr/>
        </p:nvSpPr>
        <p:spPr>
          <a:xfrm>
            <a:off x="9136624" y="3619795"/>
            <a:ext cx="2866106" cy="2062103"/>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With the above changes in place, now run the application and navigate to the URL: </a:t>
            </a:r>
            <a:r>
              <a:rPr lang="en-US" sz="1600" b="1" i="0" dirty="0">
                <a:solidFill>
                  <a:srgbClr val="0000FF"/>
                </a:solidFill>
                <a:effectLst/>
                <a:latin typeface="arial" panose="020B0604020202020204" pitchFamily="34" charset="0"/>
              </a:rPr>
              <a:t>http://localhost:&lt;portnumber&gt;/MyImage.png</a:t>
            </a:r>
            <a:r>
              <a:rPr lang="en-US" sz="1600" b="0" i="0" dirty="0">
                <a:solidFill>
                  <a:srgbClr val="000000"/>
                </a:solidFill>
                <a:effectLst/>
                <a:latin typeface="arial" panose="020B0604020202020204" pitchFamily="34" charset="0"/>
              </a:rPr>
              <a:t> and you will see the output as expected a</a:t>
            </a:r>
            <a:endParaRPr lang="en-IN" sz="1600" dirty="0"/>
          </a:p>
        </p:txBody>
      </p:sp>
    </p:spTree>
    <p:extLst>
      <p:ext uri="{BB962C8B-B14F-4D97-AF65-F5344CB8AC3E}">
        <p14:creationId xmlns:p14="http://schemas.microsoft.com/office/powerpoint/2010/main" val="3066599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587</Words>
  <Application>Microsoft Office PowerPoint</Application>
  <PresentationFormat>Widescreen</PresentationFormat>
  <Paragraphs>34</Paragraphs>
  <Slides>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-apple-system</vt:lpstr>
      <vt:lpstr>arial</vt:lpstr>
      <vt:lpstr>arial</vt:lpstr>
      <vt:lpstr>Calibri</vt:lpstr>
      <vt:lpstr>Calibri Light</vt:lpstr>
      <vt:lpstr>Inconsolata</vt:lpstr>
      <vt:lpstr>inherit</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vidyanidhi school</cp:lastModifiedBy>
  <cp:revision>7</cp:revision>
  <dcterms:created xsi:type="dcterms:W3CDTF">2021-10-12T17:47:17Z</dcterms:created>
  <dcterms:modified xsi:type="dcterms:W3CDTF">2023-09-12T11:19:56Z</dcterms:modified>
</cp:coreProperties>
</file>