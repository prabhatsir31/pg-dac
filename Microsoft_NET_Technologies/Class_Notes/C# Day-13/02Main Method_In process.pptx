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2" r:id="rId7"/>
    <p:sldId id="263" r:id="rId8"/>
    <p:sldId id="264" r:id="rId9"/>
    <p:sldId id="268"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CE1B8-0DEF-458E-ACEE-87AE9D1FBF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3A902FB-22F8-46C5-B2D7-E0FE20B06A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2667748-2DCC-4E50-A3E6-1431AF3A145B}"/>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5" name="Footer Placeholder 4">
            <a:extLst>
              <a:ext uri="{FF2B5EF4-FFF2-40B4-BE49-F238E27FC236}">
                <a16:creationId xmlns:a16="http://schemas.microsoft.com/office/drawing/2014/main" id="{7215A872-644A-4FFC-B63A-8428B652E8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16DB7F-E9CE-49A2-8328-6731DDAC48A3}"/>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23833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57581-794E-43BE-B204-D365882970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4077E6-BAAB-402B-89A3-42B3442CB2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B820FA-C4FA-44C7-86F7-122A8FCDC2FE}"/>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5" name="Footer Placeholder 4">
            <a:extLst>
              <a:ext uri="{FF2B5EF4-FFF2-40B4-BE49-F238E27FC236}">
                <a16:creationId xmlns:a16="http://schemas.microsoft.com/office/drawing/2014/main" id="{138C68FD-0587-4140-8338-2A6DE11750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30B314-8B74-4ECA-838C-593577B9792F}"/>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3516481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94B0B-EBD1-4F81-A189-FF30F3B2FA6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F5EA220-C92F-45D9-84CC-71A13D66B4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827F20-E57E-4AE3-897A-CF5D871C349B}"/>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5" name="Footer Placeholder 4">
            <a:extLst>
              <a:ext uri="{FF2B5EF4-FFF2-40B4-BE49-F238E27FC236}">
                <a16:creationId xmlns:a16="http://schemas.microsoft.com/office/drawing/2014/main" id="{4FC08CF5-9948-4AD1-A389-20B2C14BB3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B2C2B0-FD68-469B-939F-94B005D6348A}"/>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35960169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0FACA-F3FA-4DDF-8C3D-3983132194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111D47B-187A-4901-9C6F-CAD3A096AC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EB0409E-BE74-4593-AABD-8729BEB601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F13AB6-90D5-49BA-A345-641954D69580}"/>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6" name="Footer Placeholder 5">
            <a:extLst>
              <a:ext uri="{FF2B5EF4-FFF2-40B4-BE49-F238E27FC236}">
                <a16:creationId xmlns:a16="http://schemas.microsoft.com/office/drawing/2014/main" id="{83386FF9-02B9-4EB9-A1E8-A2D02CFDA32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A43BCF-AE0A-4A8C-85C7-C43D9395031E}"/>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299668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41BED-5B58-4DF0-93CF-60194193506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74FCA6-7339-4192-9C26-8CEA3C408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D78235-70A4-4A07-BC56-63CD2BC417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88D6D8-26DC-4BA8-9C31-D547340457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F81A30-89F4-4CA6-8B8F-86BECA9A428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D1D82E-FDC5-41C1-9FC9-9417345F89CC}"/>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8" name="Footer Placeholder 7">
            <a:extLst>
              <a:ext uri="{FF2B5EF4-FFF2-40B4-BE49-F238E27FC236}">
                <a16:creationId xmlns:a16="http://schemas.microsoft.com/office/drawing/2014/main" id="{708F21A1-7DAF-4C55-BDB8-974AC819E3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21583E9-CF6F-423A-9EA3-4D757469AE85}"/>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4094567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41AEA-75A7-4AE5-AE16-5DEA3A538D5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4F3AD31-2915-4AF6-B31B-F645714B1FA1}"/>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4" name="Footer Placeholder 3">
            <a:extLst>
              <a:ext uri="{FF2B5EF4-FFF2-40B4-BE49-F238E27FC236}">
                <a16:creationId xmlns:a16="http://schemas.microsoft.com/office/drawing/2014/main" id="{88BEDE99-C50C-4868-A84F-06D66D03355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E9828A9-67DA-4DAD-9EF8-E635B09586E1}"/>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314625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758557-A213-4539-B6CA-E92D710EE0C7}"/>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3" name="Footer Placeholder 2">
            <a:extLst>
              <a:ext uri="{FF2B5EF4-FFF2-40B4-BE49-F238E27FC236}">
                <a16:creationId xmlns:a16="http://schemas.microsoft.com/office/drawing/2014/main" id="{16728F95-0BE3-4009-834A-8EE926058B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FC7D78-6A57-449F-9489-C33AB0B0516B}"/>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1545663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52445-9F42-45B4-B59F-CCE32A7FB8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BCC8BF4-5C1B-4404-B41D-3235E39A27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976603-C266-4BB9-A3D6-5FD588E8C7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AD4976-B3FB-4E4F-B9BB-AA65BA4B5DAB}"/>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6" name="Footer Placeholder 5">
            <a:extLst>
              <a:ext uri="{FF2B5EF4-FFF2-40B4-BE49-F238E27FC236}">
                <a16:creationId xmlns:a16="http://schemas.microsoft.com/office/drawing/2014/main" id="{28267DE6-9608-4FEB-82CC-C2F0CB396B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DF943C-2F2B-4207-A469-559819C91CA1}"/>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4017887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DF292-E945-4EE7-94B4-1524091BCA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A481F2-2B8D-48C3-AF75-5088C05222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006604-2505-4807-BF18-09E35ED550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3FDA32-AD1F-4E9F-995D-6912B26871C1}"/>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6" name="Footer Placeholder 5">
            <a:extLst>
              <a:ext uri="{FF2B5EF4-FFF2-40B4-BE49-F238E27FC236}">
                <a16:creationId xmlns:a16="http://schemas.microsoft.com/office/drawing/2014/main" id="{2708142C-9E0B-4332-94DC-0273BC50DF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F4105E-1879-426A-AB1C-C5F22FF5F454}"/>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196753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979B6-1B66-48A3-B61A-9C3860D925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BF4F4B-DBA2-4FE5-985D-EAFFAA232E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CFC513-8256-461C-9308-E7B85B62AE33}"/>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5" name="Footer Placeholder 4">
            <a:extLst>
              <a:ext uri="{FF2B5EF4-FFF2-40B4-BE49-F238E27FC236}">
                <a16:creationId xmlns:a16="http://schemas.microsoft.com/office/drawing/2014/main" id="{2C167F99-40A5-477A-A153-AC7F45C7BC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9254C5-E995-42D5-8F26-348232F0A3E5}"/>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2321296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E91987-07CA-4223-A6AF-B071ADF4A10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29703A8-9B92-4B27-AD89-D0F805BDA2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91FF397-60CC-494B-AAAC-1E806E9161CB}"/>
              </a:ext>
            </a:extLst>
          </p:cNvPr>
          <p:cNvSpPr>
            <a:spLocks noGrp="1"/>
          </p:cNvSpPr>
          <p:nvPr>
            <p:ph type="dt" sz="half" idx="10"/>
          </p:nvPr>
        </p:nvSpPr>
        <p:spPr/>
        <p:txBody>
          <a:bodyPr/>
          <a:lstStyle/>
          <a:p>
            <a:fld id="{A153CE04-0700-4AE3-BD07-FDA8043A5ED3}" type="datetimeFigureOut">
              <a:rPr lang="en-IN" smtClean="0"/>
              <a:t>21-04-2025</a:t>
            </a:fld>
            <a:endParaRPr lang="en-IN"/>
          </a:p>
        </p:txBody>
      </p:sp>
      <p:sp>
        <p:nvSpPr>
          <p:cNvPr id="5" name="Footer Placeholder 4">
            <a:extLst>
              <a:ext uri="{FF2B5EF4-FFF2-40B4-BE49-F238E27FC236}">
                <a16:creationId xmlns:a16="http://schemas.microsoft.com/office/drawing/2014/main" id="{EB54F54A-37EB-44AF-AB5B-97F63E5DC6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FE9661-6203-4423-A2B5-56DA919F8D60}"/>
              </a:ext>
            </a:extLst>
          </p:cNvPr>
          <p:cNvSpPr>
            <a:spLocks noGrp="1"/>
          </p:cNvSpPr>
          <p:nvPr>
            <p:ph type="sldNum" sz="quarter" idx="12"/>
          </p:nvPr>
        </p:nvSpPr>
        <p:spPr/>
        <p:txBody>
          <a:bodyPr/>
          <a:lstStyle/>
          <a:p>
            <a:fld id="{8186209B-8AE5-436E-9506-8CF1369B1C6B}" type="slidenum">
              <a:rPr lang="en-IN" smtClean="0"/>
              <a:t>‹#›</a:t>
            </a:fld>
            <a:endParaRPr lang="en-IN"/>
          </a:p>
        </p:txBody>
      </p:sp>
    </p:spTree>
    <p:extLst>
      <p:ext uri="{BB962C8B-B14F-4D97-AF65-F5344CB8AC3E}">
        <p14:creationId xmlns:p14="http://schemas.microsoft.com/office/powerpoint/2010/main" val="2221380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0E64C3-A6D1-4BDA-A531-3DD1A63451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80C763-1C52-41D5-9652-038AA0A11D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684575-DBFD-42E3-9A2A-F407A0C92C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53CE04-0700-4AE3-BD07-FDA8043A5ED3}" type="datetimeFigureOut">
              <a:rPr lang="en-IN" smtClean="0"/>
              <a:t>21-04-2025</a:t>
            </a:fld>
            <a:endParaRPr lang="en-IN"/>
          </a:p>
        </p:txBody>
      </p:sp>
      <p:sp>
        <p:nvSpPr>
          <p:cNvPr id="5" name="Footer Placeholder 4">
            <a:extLst>
              <a:ext uri="{FF2B5EF4-FFF2-40B4-BE49-F238E27FC236}">
                <a16:creationId xmlns:a16="http://schemas.microsoft.com/office/drawing/2014/main" id="{8C2636D6-56A3-4D71-A8B8-B5ADF5F1FF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75C00EC-F468-4F3A-9AFF-FC6E49BDE9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86209B-8AE5-436E-9506-8CF1369B1C6B}" type="slidenum">
              <a:rPr lang="en-IN" smtClean="0"/>
              <a:t>‹#›</a:t>
            </a:fld>
            <a:endParaRPr lang="en-IN"/>
          </a:p>
        </p:txBody>
      </p:sp>
    </p:spTree>
    <p:extLst>
      <p:ext uri="{BB962C8B-B14F-4D97-AF65-F5344CB8AC3E}">
        <p14:creationId xmlns:p14="http://schemas.microsoft.com/office/powerpoint/2010/main" val="3962506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dotnet/api/microsoft.aspnetcore.builder.webapplicationbuilder.services#microsoft-aspnetcore-builder-webapplicationbuilder-services" TargetMode="External"/><Relationship Id="rId2" Type="http://schemas.openxmlformats.org/officeDocument/2006/relationships/hyperlink" Target="https://learn.microsoft.com/en-us/aspnet/core/fundamentals/dependency-injection?view=aspnetcore-7.0" TargetMode="External"/><Relationship Id="rId1" Type="http://schemas.openxmlformats.org/officeDocument/2006/relationships/slideLayout" Target="../slideLayouts/slideLayout2.xml"/><Relationship Id="rId5" Type="http://schemas.openxmlformats.org/officeDocument/2006/relationships/hyperlink" Target="https://learn.microsoft.com/en-us/aspnet/core/fundamentals/dependency-injection?view=aspnetcore-7.0#framework-provided-services" TargetMode="External"/><Relationship Id="rId4" Type="http://schemas.openxmlformats.org/officeDocument/2006/relationships/hyperlink" Target="https://learn.microsoft.com/en-us/dotnet/api/microsoft.aspnetcore.builder.webapplicationbuilder"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dotnet/api/microsoft.aspnetcore.http.httpcontext" TargetMode="External"/><Relationship Id="rId2" Type="http://schemas.openxmlformats.org/officeDocument/2006/relationships/hyperlink" Target="https://learn.microsoft.com/en-us/aspnet/core/fundamentals/request-features?view=aspnetcore-7.0" TargetMode="Externa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mpty ASP.NET Core Web Application">
            <a:extLst>
              <a:ext uri="{FF2B5EF4-FFF2-40B4-BE49-F238E27FC236}">
                <a16:creationId xmlns:a16="http://schemas.microsoft.com/office/drawing/2014/main" id="{5D14C253-60F8-4428-8337-A3E3600E8FF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342" b="16315"/>
          <a:stretch/>
        </p:blipFill>
        <p:spPr bwMode="auto">
          <a:xfrm>
            <a:off x="172680" y="1202725"/>
            <a:ext cx="3946833" cy="168187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EE3AC0C-D170-4B96-B8BF-8FCF67311F3C}"/>
              </a:ext>
            </a:extLst>
          </p:cNvPr>
          <p:cNvSpPr txBox="1"/>
          <p:nvPr/>
        </p:nvSpPr>
        <p:spPr>
          <a:xfrm>
            <a:off x="5024489" y="983450"/>
            <a:ext cx="6096000" cy="646331"/>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The </a:t>
            </a:r>
            <a:r>
              <a:rPr lang="en-US" b="0" i="0" dirty="0" err="1">
                <a:solidFill>
                  <a:srgbClr val="000000"/>
                </a:solidFill>
                <a:effectLst/>
                <a:latin typeface="arial" panose="020B0604020202020204" pitchFamily="34" charset="0"/>
              </a:rPr>
              <a:t>Program.cs</a:t>
            </a:r>
            <a:r>
              <a:rPr lang="en-US" b="0" i="0" dirty="0">
                <a:solidFill>
                  <a:srgbClr val="000000"/>
                </a:solidFill>
                <a:effectLst/>
                <a:latin typeface="arial" panose="020B0604020202020204" pitchFamily="34" charset="0"/>
              </a:rPr>
              <a:t> class file of our ASP.NET Core Web Application contains the following code.</a:t>
            </a:r>
            <a:endParaRPr lang="en-IN" dirty="0"/>
          </a:p>
        </p:txBody>
      </p:sp>
      <p:sp>
        <p:nvSpPr>
          <p:cNvPr id="11" name="TextBox 10">
            <a:extLst>
              <a:ext uri="{FF2B5EF4-FFF2-40B4-BE49-F238E27FC236}">
                <a16:creationId xmlns:a16="http://schemas.microsoft.com/office/drawing/2014/main" id="{4FC87948-76FC-492E-8DFF-91D2FBDFC052}"/>
              </a:ext>
            </a:extLst>
          </p:cNvPr>
          <p:cNvSpPr txBox="1"/>
          <p:nvPr/>
        </p:nvSpPr>
        <p:spPr>
          <a:xfrm>
            <a:off x="172680" y="3839746"/>
            <a:ext cx="5297742" cy="2308324"/>
          </a:xfrm>
          <a:prstGeom prst="rect">
            <a:avLst/>
          </a:prstGeom>
          <a:noFill/>
        </p:spPr>
        <p:txBody>
          <a:bodyPr wrap="square">
            <a:spAutoFit/>
          </a:bodyPr>
          <a:lstStyle/>
          <a:p>
            <a:r>
              <a:rPr lang="en-US" b="0" i="0" dirty="0">
                <a:solidFill>
                  <a:srgbClr val="000000"/>
                </a:solidFill>
                <a:effectLst/>
                <a:latin typeface="arial" panose="020B0604020202020204" pitchFamily="34" charset="0"/>
              </a:rPr>
              <a:t>From the above image, you can see that the Program class contains a </a:t>
            </a:r>
            <a:r>
              <a:rPr lang="en-US" b="1" i="0" dirty="0">
                <a:solidFill>
                  <a:srgbClr val="000000"/>
                </a:solidFill>
                <a:effectLst/>
                <a:latin typeface="arial" panose="020B0604020202020204" pitchFamily="34" charset="0"/>
              </a:rPr>
              <a:t>public static void Main() </a:t>
            </a:r>
            <a:r>
              <a:rPr lang="en-US" b="0" i="0" dirty="0">
                <a:solidFill>
                  <a:srgbClr val="000000"/>
                </a:solidFill>
                <a:effectLst/>
                <a:latin typeface="arial" panose="020B0604020202020204" pitchFamily="34" charset="0"/>
              </a:rPr>
              <a:t>method. As we already know, when we create a console application in </a:t>
            </a:r>
            <a:r>
              <a:rPr lang="en-US" b="0" i="0" dirty="0" err="1">
                <a:solidFill>
                  <a:srgbClr val="000000"/>
                </a:solidFill>
                <a:effectLst/>
                <a:latin typeface="arial" panose="020B0604020202020204" pitchFamily="34" charset="0"/>
              </a:rPr>
              <a:t>.net</a:t>
            </a:r>
            <a:r>
              <a:rPr lang="en-US" b="0" i="0" dirty="0">
                <a:solidFill>
                  <a:srgbClr val="000000"/>
                </a:solidFill>
                <a:effectLst/>
                <a:latin typeface="arial" panose="020B0604020202020204" pitchFamily="34" charset="0"/>
              </a:rPr>
              <a:t> then by default the .NET Framework creates a class (i.e. Program class) with the Main Method. We also know that the Main method is the entry point for that console application execution.</a:t>
            </a:r>
            <a:endParaRPr lang="en-IN" dirty="0"/>
          </a:p>
        </p:txBody>
      </p:sp>
      <p:sp>
        <p:nvSpPr>
          <p:cNvPr id="3" name="TextBox 2">
            <a:extLst>
              <a:ext uri="{FF2B5EF4-FFF2-40B4-BE49-F238E27FC236}">
                <a16:creationId xmlns:a16="http://schemas.microsoft.com/office/drawing/2014/main" id="{32F0F7DF-D3A2-FB28-A78C-DD9087639434}"/>
              </a:ext>
            </a:extLst>
          </p:cNvPr>
          <p:cNvSpPr txBox="1"/>
          <p:nvPr/>
        </p:nvSpPr>
        <p:spPr>
          <a:xfrm>
            <a:off x="6471082" y="1811589"/>
            <a:ext cx="6094428" cy="4801314"/>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builder = </a:t>
            </a:r>
            <a:r>
              <a:rPr lang="en-US" sz="900" dirty="0" err="1">
                <a:solidFill>
                  <a:srgbClr val="000000"/>
                </a:solidFill>
                <a:latin typeface="Cascadia Mono" panose="020B0609020000020004" pitchFamily="49" charset="0"/>
              </a:rPr>
              <a:t>WebApplication.CreateBuilder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builder.Services.AddControllersWithViews</a:t>
            </a:r>
            <a:r>
              <a:rPr lang="en-IN" sz="900" dirty="0">
                <a:solidFill>
                  <a:srgbClr val="000000"/>
                </a:solidFill>
                <a:latin typeface="Cascadia Mono" panose="020B0609020000020004" pitchFamily="49" charset="0"/>
              </a:rPr>
              <a:t>();</a:t>
            </a:r>
          </a:p>
          <a:p>
            <a:r>
              <a:rPr lang="en-US" sz="900" dirty="0">
                <a:solidFill>
                  <a:srgbClr val="FF0000"/>
                </a:solidFill>
                <a:latin typeface="Cascadia Mono" panose="020B0609020000020004" pitchFamily="49" charset="0"/>
              </a:rPr>
              <a:t>            </a:t>
            </a:r>
            <a:r>
              <a:rPr lang="en-US" sz="900" dirty="0" err="1">
                <a:solidFill>
                  <a:srgbClr val="FF0000"/>
                </a:solidFill>
                <a:latin typeface="Cascadia Mono" panose="020B0609020000020004" pitchFamily="49" charset="0"/>
              </a:rPr>
              <a:t>builder.Services.AddSingleton</a:t>
            </a:r>
            <a:r>
              <a:rPr lang="en-US" sz="900" dirty="0">
                <a:solidFill>
                  <a:srgbClr val="FF0000"/>
                </a:solidFill>
                <a:latin typeface="Cascadia Mono" panose="020B0609020000020004" pitchFamily="49" charset="0"/>
              </a:rPr>
              <a:t>&lt;</a:t>
            </a:r>
            <a:r>
              <a:rPr lang="en-US" sz="900" dirty="0" err="1">
                <a:solidFill>
                  <a:srgbClr val="FF0000"/>
                </a:solidFill>
                <a:latin typeface="Cascadia Mono" panose="020B0609020000020004" pitchFamily="49" charset="0"/>
              </a:rPr>
              <a:t>IEmployeeRepository</a:t>
            </a:r>
            <a:r>
              <a:rPr lang="en-US" sz="900" dirty="0">
                <a:solidFill>
                  <a:srgbClr val="FF0000"/>
                </a:solidFill>
                <a:latin typeface="Cascadia Mono" panose="020B0609020000020004" pitchFamily="49" charset="0"/>
              </a:rPr>
              <a:t>, </a:t>
            </a:r>
            <a:r>
              <a:rPr lang="en-US" sz="900" dirty="0" err="1">
                <a:solidFill>
                  <a:srgbClr val="FF0000"/>
                </a:solidFill>
                <a:latin typeface="Cascadia Mono" panose="020B0609020000020004" pitchFamily="49" charset="0"/>
              </a:rPr>
              <a:t>MockEmployeeRepository</a:t>
            </a:r>
            <a:r>
              <a:rPr lang="en-US" sz="900" dirty="0">
                <a:solidFill>
                  <a:srgbClr val="FF0000"/>
                </a:solidFill>
                <a:latin typeface="Cascadia Mono" panose="020B0609020000020004" pitchFamily="49" charset="0"/>
              </a:rPr>
              <a:t>&gt;();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app.UseExceptionHandler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"/Home/Error"</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app.UseHsts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app.UseStaticFiles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app.UseRouting</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app.MapControllerRoute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name: </a:t>
            </a:r>
            <a:r>
              <a:rPr lang="en-IN" sz="900" dirty="0">
                <a:solidFill>
                  <a:srgbClr val="A31515"/>
                </a:solidFill>
                <a:latin typeface="Cascadia Mono" panose="020B0609020000020004" pitchFamily="49" charset="0"/>
              </a:rPr>
              <a:t>"default"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pattern: </a:t>
            </a:r>
            <a:r>
              <a:rPr lang="en-IN" sz="900" dirty="0">
                <a:solidFill>
                  <a:srgbClr val="A31515"/>
                </a:solidFill>
                <a:latin typeface="Cascadia Mono" panose="020B0609020000020004" pitchFamily="49" charset="0"/>
              </a:rPr>
              <a:t>"{controller=Home}/{action=Index}/{id?}"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430743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7B16146-9055-4EE4-9131-5C203A9E4A71}"/>
              </a:ext>
            </a:extLst>
          </p:cNvPr>
          <p:cNvSpPr txBox="1"/>
          <p:nvPr/>
        </p:nvSpPr>
        <p:spPr>
          <a:xfrm>
            <a:off x="2930013" y="110302"/>
            <a:ext cx="6096000"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Why do we have a Main() method in ASP.NET Core?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DF523A73-42D9-4B0A-B3EB-C955FB21B8ED}"/>
              </a:ext>
            </a:extLst>
          </p:cNvPr>
          <p:cNvSpPr txBox="1"/>
          <p:nvPr/>
        </p:nvSpPr>
        <p:spPr>
          <a:xfrm>
            <a:off x="0" y="587913"/>
            <a:ext cx="11798710" cy="1384995"/>
          </a:xfrm>
          <a:prstGeom prst="rect">
            <a:avLst/>
          </a:prstGeom>
          <a:noFill/>
        </p:spPr>
        <p:txBody>
          <a:bodyPr wrap="square">
            <a:spAutoFit/>
          </a:bodyPr>
          <a:lstStyle/>
          <a:p>
            <a:pPr algn="just" fontAlgn="base"/>
            <a:r>
              <a:rPr lang="en-US" sz="1400" b="0" i="0" dirty="0">
                <a:solidFill>
                  <a:srgbClr val="000000"/>
                </a:solidFill>
                <a:effectLst/>
                <a:latin typeface="arial" panose="020B0604020202020204" pitchFamily="34" charset="0"/>
              </a:rPr>
              <a:t>The most important point that you need to keep in mind is, the ASP.NET Core Web Application initially starts as a </a:t>
            </a:r>
            <a:r>
              <a:rPr lang="en-US" sz="1400" b="1" i="0" dirty="0">
                <a:solidFill>
                  <a:srgbClr val="000000"/>
                </a:solidFill>
                <a:effectLst/>
                <a:latin typeface="arial" panose="020B0604020202020204" pitchFamily="34" charset="0"/>
              </a:rPr>
              <a:t>Console Application </a:t>
            </a:r>
            <a:r>
              <a:rPr lang="en-US" sz="1400" b="0" i="0" dirty="0">
                <a:solidFill>
                  <a:srgbClr val="000000"/>
                </a:solidFill>
                <a:effectLst/>
                <a:latin typeface="arial" panose="020B0604020202020204" pitchFamily="34" charset="0"/>
              </a:rPr>
              <a:t>and the Main() method is the entry point to the application. So, when we execute the application, first it looks for the Main() method</a:t>
            </a:r>
            <a:r>
              <a:rPr lang="en-US" sz="1400" b="1" i="0" dirty="0">
                <a:solidFill>
                  <a:srgbClr val="000000"/>
                </a:solidFill>
                <a:effectLst/>
                <a:latin typeface="arial" panose="020B0604020202020204" pitchFamily="34" charset="0"/>
              </a:rPr>
              <a:t> </a:t>
            </a:r>
            <a:r>
              <a:rPr lang="en-US" sz="1400" b="0" i="0" dirty="0">
                <a:solidFill>
                  <a:srgbClr val="000000"/>
                </a:solidFill>
                <a:effectLst/>
                <a:latin typeface="arial" panose="020B0604020202020204" pitchFamily="34" charset="0"/>
              </a:rPr>
              <a:t>and this is the method from where the execution starts. The Main() method then configures ASP.NET Core</a:t>
            </a:r>
            <a:r>
              <a:rPr lang="en-US" sz="1400" b="1" i="0" dirty="0">
                <a:solidFill>
                  <a:srgbClr val="000000"/>
                </a:solidFill>
                <a:effectLst/>
                <a:latin typeface="arial" panose="020B0604020202020204" pitchFamily="34" charset="0"/>
              </a:rPr>
              <a:t> </a:t>
            </a:r>
            <a:r>
              <a:rPr lang="en-US" sz="1400" b="0" i="0" dirty="0">
                <a:solidFill>
                  <a:srgbClr val="000000"/>
                </a:solidFill>
                <a:effectLst/>
                <a:latin typeface="arial" panose="020B0604020202020204" pitchFamily="34" charset="0"/>
              </a:rPr>
              <a:t>and starts it. At this point, the application becomes an ASP.NET Core </a:t>
            </a:r>
            <a:r>
              <a:rPr lang="en-US" sz="1400" b="1" i="0" dirty="0">
                <a:solidFill>
                  <a:srgbClr val="000000"/>
                </a:solidFill>
                <a:effectLst/>
                <a:latin typeface="arial" panose="020B0604020202020204" pitchFamily="34" charset="0"/>
              </a:rPr>
              <a:t>web application.</a:t>
            </a:r>
            <a:endParaRPr lang="en-US" sz="1400" b="1" i="0" dirty="0">
              <a:solidFill>
                <a:srgbClr val="212529"/>
              </a:solidFill>
              <a:effectLst/>
              <a:latin typeface="-apple-system"/>
            </a:endParaRPr>
          </a:p>
          <a:p>
            <a:pPr algn="just" fontAlgn="base"/>
            <a:r>
              <a:rPr lang="en-US" sz="1400" b="0" i="0" dirty="0">
                <a:solidFill>
                  <a:srgbClr val="000000"/>
                </a:solidFill>
                <a:effectLst/>
                <a:latin typeface="arial" panose="020B0604020202020204" pitchFamily="34" charset="0"/>
              </a:rPr>
              <a:t>If you further look at the body of the Main() method, then you will find that it makes a call to the </a:t>
            </a:r>
            <a:r>
              <a:rPr lang="en-US" sz="1400" b="0" i="0" dirty="0" err="1">
                <a:solidFill>
                  <a:srgbClr val="000000"/>
                </a:solidFill>
                <a:effectLst/>
                <a:latin typeface="arial" panose="020B0604020202020204" pitchFamily="34" charset="0"/>
              </a:rPr>
              <a:t>CreatetBuilder</a:t>
            </a:r>
            <a:r>
              <a:rPr lang="en-US" sz="1400" b="0" i="0" dirty="0">
                <a:solidFill>
                  <a:srgbClr val="000000"/>
                </a:solidFill>
                <a:effectLst/>
                <a:latin typeface="arial" panose="020B0604020202020204" pitchFamily="34" charset="0"/>
              </a:rPr>
              <a:t>() method by passing the command line arguments </a:t>
            </a:r>
            <a:r>
              <a:rPr lang="en-US" sz="1400" b="0" i="0" dirty="0" err="1">
                <a:solidFill>
                  <a:srgbClr val="000000"/>
                </a:solidFill>
                <a:effectLst/>
                <a:highlight>
                  <a:srgbClr val="FFFF00"/>
                </a:highlight>
                <a:latin typeface="arial" panose="020B0604020202020204" pitchFamily="34" charset="0"/>
              </a:rPr>
              <a:t>args</a:t>
            </a:r>
            <a:r>
              <a:rPr lang="en-US" sz="1400" b="0" i="0" dirty="0">
                <a:solidFill>
                  <a:srgbClr val="000000"/>
                </a:solidFill>
                <a:effectLst/>
                <a:latin typeface="arial" panose="020B0604020202020204" pitchFamily="34" charset="0"/>
              </a:rPr>
              <a:t> as an argument as shown in the below image.</a:t>
            </a:r>
            <a:endParaRPr lang="en-US" sz="1400" b="0" i="0" dirty="0">
              <a:solidFill>
                <a:srgbClr val="212529"/>
              </a:solidFill>
              <a:effectLst/>
              <a:latin typeface="-apple-system"/>
            </a:endParaRPr>
          </a:p>
        </p:txBody>
      </p:sp>
      <p:sp>
        <p:nvSpPr>
          <p:cNvPr id="10" name="TextBox 9">
            <a:extLst>
              <a:ext uri="{FF2B5EF4-FFF2-40B4-BE49-F238E27FC236}">
                <a16:creationId xmlns:a16="http://schemas.microsoft.com/office/drawing/2014/main" id="{7A59B303-70D0-4752-9071-46B7865F58F8}"/>
              </a:ext>
            </a:extLst>
          </p:cNvPr>
          <p:cNvSpPr txBox="1"/>
          <p:nvPr/>
        </p:nvSpPr>
        <p:spPr>
          <a:xfrm>
            <a:off x="7089463" y="2081187"/>
            <a:ext cx="4901432" cy="1354217"/>
          </a:xfrm>
          <a:prstGeom prst="rect">
            <a:avLst/>
          </a:prstGeom>
          <a:noFill/>
        </p:spPr>
        <p:txBody>
          <a:bodyPr wrap="square">
            <a:spAutoFit/>
          </a:bodyPr>
          <a:lstStyle/>
          <a:p>
            <a:r>
              <a:rPr lang="en-US" sz="1600" b="0" i="0" dirty="0">
                <a:solidFill>
                  <a:srgbClr val="000000"/>
                </a:solidFill>
                <a:effectLst/>
                <a:latin typeface="arial" panose="020B0604020202020204" pitchFamily="34" charset="0"/>
              </a:rPr>
              <a:t>As shown in the below image, the </a:t>
            </a:r>
            <a:r>
              <a:rPr lang="en-US" sz="1600" b="0" i="0" dirty="0" err="1">
                <a:solidFill>
                  <a:srgbClr val="000000"/>
                </a:solidFill>
                <a:effectLst/>
                <a:latin typeface="arial" panose="020B0604020202020204" pitchFamily="34" charset="0"/>
              </a:rPr>
              <a:t>CreateBuilder</a:t>
            </a:r>
            <a:r>
              <a:rPr lang="en-US" sz="1600" b="0" i="0" dirty="0">
                <a:solidFill>
                  <a:srgbClr val="000000"/>
                </a:solidFill>
                <a:effectLst/>
                <a:latin typeface="arial" panose="020B0604020202020204" pitchFamily="34" charset="0"/>
              </a:rPr>
              <a:t>() method returns an object </a:t>
            </a:r>
            <a:r>
              <a:rPr lang="en-US" sz="1800" dirty="0" err="1">
                <a:solidFill>
                  <a:srgbClr val="000000"/>
                </a:solidFill>
                <a:latin typeface="Cascadia Mono" panose="020B0609020000020004" pitchFamily="49" charset="0"/>
              </a:rPr>
              <a:t>WebApplicationBuilder</a:t>
            </a:r>
            <a:endParaRPr lang="en-US" sz="1600" b="0" i="0" dirty="0">
              <a:solidFill>
                <a:srgbClr val="000000"/>
              </a:solidFill>
              <a:effectLst/>
              <a:latin typeface="arial" panose="020B0604020202020204" pitchFamily="34" charset="0"/>
            </a:endParaRPr>
          </a:p>
          <a:p>
            <a:r>
              <a:rPr lang="en-US" sz="1600" b="0" i="0" dirty="0">
                <a:solidFill>
                  <a:srgbClr val="000000"/>
                </a:solidFill>
                <a:effectLst/>
                <a:latin typeface="arial" panose="020B0604020202020204" pitchFamily="34" charset="0"/>
              </a:rPr>
              <a:t>It is a static class.</a:t>
            </a:r>
          </a:p>
          <a:p>
            <a:r>
              <a:rPr lang="en-US" sz="1600" b="0" i="0" dirty="0">
                <a:solidFill>
                  <a:srgbClr val="000000"/>
                </a:solidFill>
                <a:effectLst/>
                <a:latin typeface="arial" panose="020B0604020202020204" pitchFamily="34" charset="0"/>
              </a:rPr>
              <a:t> </a:t>
            </a:r>
            <a:endParaRPr lang="en-IN" sz="1600" dirty="0"/>
          </a:p>
        </p:txBody>
      </p:sp>
      <p:pic>
        <p:nvPicPr>
          <p:cNvPr id="6" name="Picture 5">
            <a:extLst>
              <a:ext uri="{FF2B5EF4-FFF2-40B4-BE49-F238E27FC236}">
                <a16:creationId xmlns:a16="http://schemas.microsoft.com/office/drawing/2014/main" id="{7CBC50D8-3C22-C0FF-A7E9-12DD339EB930}"/>
              </a:ext>
            </a:extLst>
          </p:cNvPr>
          <p:cNvPicPr>
            <a:picLocks noChangeAspect="1"/>
          </p:cNvPicPr>
          <p:nvPr/>
        </p:nvPicPr>
        <p:blipFill rotWithShape="1">
          <a:blip r:embed="rId2"/>
          <a:srcRect l="5722" t="8572" r="31263" b="34021"/>
          <a:stretch/>
        </p:blipFill>
        <p:spPr>
          <a:xfrm>
            <a:off x="0" y="1972908"/>
            <a:ext cx="6910207" cy="3541027"/>
          </a:xfrm>
          <a:prstGeom prst="rect">
            <a:avLst/>
          </a:prstGeom>
        </p:spPr>
      </p:pic>
      <p:sp>
        <p:nvSpPr>
          <p:cNvPr id="9" name="TextBox 8">
            <a:extLst>
              <a:ext uri="{FF2B5EF4-FFF2-40B4-BE49-F238E27FC236}">
                <a16:creationId xmlns:a16="http://schemas.microsoft.com/office/drawing/2014/main" id="{015E5114-4576-4DFE-8CCA-496564A008F4}"/>
              </a:ext>
            </a:extLst>
          </p:cNvPr>
          <p:cNvSpPr txBox="1"/>
          <p:nvPr/>
        </p:nvSpPr>
        <p:spPr>
          <a:xfrm>
            <a:off x="68902" y="5749902"/>
            <a:ext cx="5596607" cy="307777"/>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US" sz="1400" dirty="0">
                <a:solidFill>
                  <a:srgbClr val="0000FF"/>
                </a:solidFill>
                <a:latin typeface="Cascadia Mono" panose="020B0609020000020004" pitchFamily="49" charset="0"/>
              </a:rPr>
              <a:t>var</a:t>
            </a:r>
            <a:r>
              <a:rPr lang="en-US" sz="1400" dirty="0">
                <a:solidFill>
                  <a:srgbClr val="000000"/>
                </a:solidFill>
                <a:latin typeface="Cascadia Mono" panose="020B0609020000020004" pitchFamily="49" charset="0"/>
              </a:rPr>
              <a:t> builder = </a:t>
            </a:r>
            <a:r>
              <a:rPr lang="en-US" sz="1400" dirty="0" err="1">
                <a:solidFill>
                  <a:srgbClr val="000000"/>
                </a:solidFill>
                <a:latin typeface="Cascadia Mono" panose="020B0609020000020004" pitchFamily="49" charset="0"/>
              </a:rPr>
              <a:t>WebApplication.CreateBuilder</a:t>
            </a:r>
            <a:r>
              <a:rPr lang="en-US" sz="1400" dirty="0">
                <a:solidFill>
                  <a:srgbClr val="000000"/>
                </a:solidFill>
                <a:latin typeface="Cascadia Mono" panose="020B0609020000020004" pitchFamily="49" charset="0"/>
              </a:rPr>
              <a:t>(</a:t>
            </a:r>
            <a:r>
              <a:rPr lang="en-US" sz="1400" dirty="0" err="1">
                <a:solidFill>
                  <a:srgbClr val="000000"/>
                </a:solidFill>
                <a:highlight>
                  <a:srgbClr val="FFFF00"/>
                </a:highlight>
                <a:latin typeface="Cascadia Mono" panose="020B0609020000020004" pitchFamily="49" charset="0"/>
              </a:rPr>
              <a:t>args</a:t>
            </a:r>
            <a:r>
              <a:rPr lang="en-US" sz="1400" dirty="0">
                <a:solidFill>
                  <a:srgbClr val="000000"/>
                </a:solidFill>
                <a:latin typeface="Cascadia Mono" panose="020B0609020000020004" pitchFamily="49" charset="0"/>
              </a:rPr>
              <a:t>);</a:t>
            </a:r>
            <a:endParaRPr lang="en-IN" sz="1400" dirty="0"/>
          </a:p>
        </p:txBody>
      </p:sp>
    </p:spTree>
    <p:extLst>
      <p:ext uri="{BB962C8B-B14F-4D97-AF65-F5344CB8AC3E}">
        <p14:creationId xmlns:p14="http://schemas.microsoft.com/office/powerpoint/2010/main" val="1684817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4CCF0D-42F7-475C-8417-F5E783A887A7}"/>
              </a:ext>
            </a:extLst>
          </p:cNvPr>
          <p:cNvSpPr txBox="1"/>
          <p:nvPr/>
        </p:nvSpPr>
        <p:spPr>
          <a:xfrm>
            <a:off x="3539613" y="0"/>
            <a:ext cx="6096000" cy="369332"/>
          </a:xfrm>
          <a:prstGeom prst="rect">
            <a:avLst/>
          </a:prstGeom>
          <a:noFill/>
        </p:spPr>
        <p:txBody>
          <a:bodyPr wrap="square">
            <a:spAutoFit/>
          </a:bodyPr>
          <a:lstStyle/>
          <a:p>
            <a:pPr algn="just" fontAlgn="base"/>
            <a:r>
              <a:rPr lang="en-IN" b="1" i="0" dirty="0">
                <a:solidFill>
                  <a:srgbClr val="000000"/>
                </a:solidFill>
                <a:effectLst/>
                <a:latin typeface="arial" panose="020B0604020202020204" pitchFamily="34" charset="0"/>
              </a:rPr>
              <a:t>Program class</a:t>
            </a:r>
            <a:endParaRPr lang="en-IN" b="0" i="0" dirty="0">
              <a:solidFill>
                <a:srgbClr val="3A3A3A"/>
              </a:solidFill>
              <a:effectLst/>
              <a:latin typeface="-apple-system"/>
            </a:endParaRPr>
          </a:p>
        </p:txBody>
      </p:sp>
      <p:sp>
        <p:nvSpPr>
          <p:cNvPr id="2" name="Rectangle 1">
            <a:extLst>
              <a:ext uri="{FF2B5EF4-FFF2-40B4-BE49-F238E27FC236}">
                <a16:creationId xmlns:a16="http://schemas.microsoft.com/office/drawing/2014/main" id="{F03D46FA-3246-3FA6-9B44-D01BC1F929B8}"/>
              </a:ext>
            </a:extLst>
          </p:cNvPr>
          <p:cNvSpPr>
            <a:spLocks noChangeArrowheads="1"/>
          </p:cNvSpPr>
          <p:nvPr/>
        </p:nvSpPr>
        <p:spPr bwMode="auto">
          <a:xfrm>
            <a:off x="185546" y="1071673"/>
            <a:ext cx="11651226" cy="270843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ASP.NET Core includes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2"/>
              </a:rPr>
              <a:t>dependency injection (DI)</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that makes configured services available throughout an app. Services are added to the DI container with </a:t>
            </a:r>
            <a:r>
              <a:rPr kumimoji="0" lang="en-US" altLang="en-US" sz="16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3"/>
              </a:rPr>
              <a:t>WebApplicationBuilder.Services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builder.Services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in the preceding code.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When the </a:t>
            </a:r>
            <a:r>
              <a:rPr kumimoji="0" lang="en-US" altLang="en-US" sz="1600" b="0" i="0" u="none" strike="noStrike" cap="none" normalizeH="0" baseline="0" dirty="0" err="1">
                <a:ln>
                  <a:noFill/>
                </a:ln>
                <a:solidFill>
                  <a:srgbClr val="171717"/>
                </a:solidFill>
                <a:effectLst/>
                <a:latin typeface="Segoe UI" panose="020B0502040204020203" pitchFamily="34" charset="0"/>
                <a:cs typeface="Segoe UI" panose="020B0502040204020203" pitchFamily="34" charset="0"/>
                <a:hlinkClick r:id="rId4"/>
              </a:rPr>
              <a:t>WebApplicationBuilder</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is instantiated, many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framework-provided services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are added. </a:t>
            </a:r>
            <a:r>
              <a:rPr kumimoji="0" lang="en-US" altLang="en-US" sz="1600" b="0" i="0" u="none" strike="noStrike" cap="none" normalizeH="0" baseline="0" dirty="0">
                <a:ln>
                  <a:noFill/>
                </a:ln>
                <a:solidFill>
                  <a:srgbClr val="171717"/>
                </a:solidFill>
                <a:effectLst/>
                <a:latin typeface="SFMono-Regular"/>
                <a:cs typeface="Segoe UI" panose="020B0502040204020203" pitchFamily="34" charset="0"/>
              </a:rPr>
              <a:t>builder</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is a </a:t>
            </a:r>
            <a:r>
              <a:rPr kumimoji="0" lang="en-US" altLang="en-US" sz="1600" b="0" i="0" u="none" strike="noStrike" cap="none" normalizeH="0" baseline="0" dirty="0" err="1">
                <a:ln>
                  <a:noFill/>
                </a:ln>
                <a:solidFill>
                  <a:srgbClr val="171717"/>
                </a:solidFill>
                <a:effectLst/>
                <a:latin typeface="SFMono-Regular"/>
                <a:cs typeface="Segoe UI" panose="020B0502040204020203" pitchFamily="34" charset="0"/>
              </a:rPr>
              <a:t>WebApplicationBuilder</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in the following code:</a:t>
            </a: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C#</a:t>
            </a:r>
            <a:endParaRPr kumimoji="0" lang="en-US" altLang="en-US" sz="1600" b="0" i="0" u="none" strike="noStrike" cap="none" normalizeH="0" baseline="0" dirty="0">
              <a:ln>
                <a:noFill/>
              </a:ln>
              <a:solidFill>
                <a:srgbClr val="0101FD"/>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101FD"/>
                </a:solidFill>
                <a:effectLst/>
                <a:latin typeface="SFMono-Regular"/>
              </a:rPr>
              <a:t>var</a:t>
            </a:r>
            <a:r>
              <a:rPr kumimoji="0" lang="en-US" altLang="en-US" sz="1600" b="0" i="0" u="none" strike="noStrike" cap="none" normalizeH="0" baseline="0" dirty="0">
                <a:ln>
                  <a:noFill/>
                </a:ln>
                <a:solidFill>
                  <a:srgbClr val="171717"/>
                </a:solidFill>
                <a:effectLst/>
                <a:latin typeface="SFMono-Regular"/>
              </a:rPr>
              <a:t> builder = </a:t>
            </a:r>
            <a:r>
              <a:rPr kumimoji="0" lang="en-US" altLang="en-US" sz="1600" b="0" i="0" u="none" strike="noStrike" cap="none" normalizeH="0" baseline="0" dirty="0" err="1">
                <a:ln>
                  <a:noFill/>
                </a:ln>
                <a:solidFill>
                  <a:srgbClr val="171717"/>
                </a:solidFill>
                <a:effectLst/>
                <a:latin typeface="SFMono-Regular"/>
              </a:rPr>
              <a:t>WebApplication.CreateBuilder</a:t>
            </a:r>
            <a:r>
              <a:rPr kumimoji="0" lang="en-US" altLang="en-US" sz="1600" b="0" i="0" u="none" strike="noStrike" cap="none" normalizeH="0" baseline="0" dirty="0">
                <a:ln>
                  <a:noFill/>
                </a:ln>
                <a:solidFill>
                  <a:srgbClr val="171717"/>
                </a:solidFill>
                <a:effectLst/>
                <a:latin typeface="SFMono-Regular"/>
              </a:rPr>
              <a:t>(</a:t>
            </a:r>
            <a:r>
              <a:rPr kumimoji="0" lang="en-US" altLang="en-US" sz="1600" b="0" i="0" u="none" strike="noStrike" cap="none" normalizeH="0" baseline="0" dirty="0" err="1">
                <a:ln>
                  <a:noFill/>
                </a:ln>
                <a:solidFill>
                  <a:srgbClr val="171717"/>
                </a:solidFill>
                <a:effectLst/>
                <a:latin typeface="SFMono-Regular"/>
              </a:rPr>
              <a:t>args</a:t>
            </a:r>
            <a:r>
              <a:rPr kumimoji="0" lang="en-US" altLang="en-US" sz="1600" b="0" i="0" u="none" strike="noStrike" cap="none" normalizeH="0" baseline="0" dirty="0">
                <a:ln>
                  <a:noFill/>
                </a:ln>
                <a:solidFill>
                  <a:srgbClr val="171717"/>
                </a:solidFill>
                <a:effectLst/>
                <a:latin typeface="SFMono-Regular"/>
              </a:rPr>
              <a:t>); </a:t>
            </a:r>
            <a:r>
              <a:rPr kumimoji="0" lang="en-US" altLang="en-US" sz="1600" b="0" i="0" u="none" strike="noStrike" cap="none" normalizeH="0" baseline="0" dirty="0">
                <a:ln>
                  <a:noFill/>
                </a:ln>
                <a:solidFill>
                  <a:srgbClr val="008000"/>
                </a:solidFill>
                <a:effectLst/>
                <a:latin typeface="SFMono-Regular"/>
              </a:rPr>
              <a:t>// Add services to the container.</a:t>
            </a:r>
            <a:r>
              <a:rPr kumimoji="0" lang="en-US" altLang="en-US" sz="1600" b="0" i="0" u="none" strike="noStrike" cap="none" normalizeH="0" baseline="0" dirty="0">
                <a:ln>
                  <a:noFill/>
                </a:ln>
                <a:solidFill>
                  <a:srgbClr val="171717"/>
                </a:solidFill>
                <a:effectLst/>
                <a:latin typeface="SFMono-Regular"/>
              </a:rPr>
              <a:t> </a:t>
            </a:r>
            <a:r>
              <a:rPr kumimoji="0" lang="en-US" altLang="en-US" sz="1600" b="0" i="0" u="none" strike="noStrike" cap="none" normalizeH="0" baseline="0" dirty="0" err="1">
                <a:ln>
                  <a:noFill/>
                </a:ln>
                <a:solidFill>
                  <a:srgbClr val="171717"/>
                </a:solidFill>
                <a:effectLst/>
                <a:latin typeface="SFMono-Regular"/>
              </a:rPr>
              <a:t>builder.Services.AddRazorPages</a:t>
            </a:r>
            <a:r>
              <a:rPr kumimoji="0" lang="en-US" altLang="en-US" sz="1600" b="0" i="0" u="none" strike="noStrike" cap="none" normalizeH="0" baseline="0" dirty="0">
                <a:ln>
                  <a:noFill/>
                </a:ln>
                <a:solidFill>
                  <a:srgbClr val="171717"/>
                </a:solidFill>
                <a:effectLst/>
                <a:latin typeface="SFMono-Regular"/>
              </a:rPr>
              <a:t>(); </a:t>
            </a:r>
            <a:r>
              <a:rPr kumimoji="0" lang="en-US" altLang="en-US" sz="1600" b="0" i="0" u="none" strike="noStrike" cap="none" normalizeH="0" baseline="0" dirty="0" err="1">
                <a:ln>
                  <a:noFill/>
                </a:ln>
                <a:solidFill>
                  <a:srgbClr val="171717"/>
                </a:solidFill>
                <a:effectLst/>
                <a:latin typeface="SFMono-Regular"/>
              </a:rPr>
              <a:t>builder.Services.AddControllersWithViews</a:t>
            </a:r>
            <a:r>
              <a:rPr kumimoji="0" lang="en-US" altLang="en-US" sz="1600" b="0" i="0" u="none" strike="noStrike" cap="none" normalizeH="0" baseline="0" dirty="0">
                <a:ln>
                  <a:noFill/>
                </a:ln>
                <a:solidFill>
                  <a:srgbClr val="171717"/>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101FD"/>
                </a:solidFill>
                <a:effectLst/>
                <a:latin typeface="SFMono-Regular"/>
              </a:rPr>
              <a:t>var</a:t>
            </a:r>
            <a:r>
              <a:rPr kumimoji="0" lang="en-US" altLang="en-US" sz="1600" b="0" i="0" u="none" strike="noStrike" cap="none" normalizeH="0" baseline="0" dirty="0">
                <a:ln>
                  <a:noFill/>
                </a:ln>
                <a:solidFill>
                  <a:srgbClr val="171717"/>
                </a:solidFill>
                <a:effectLst/>
                <a:latin typeface="SFMono-Regular"/>
              </a:rPr>
              <a:t> app = </a:t>
            </a:r>
            <a:r>
              <a:rPr kumimoji="0" lang="en-US" altLang="en-US" sz="1600" b="0" i="0" u="none" strike="noStrike" cap="none" normalizeH="0" baseline="0" dirty="0" err="1">
                <a:ln>
                  <a:noFill/>
                </a:ln>
                <a:solidFill>
                  <a:srgbClr val="171717"/>
                </a:solidFill>
                <a:effectLst/>
                <a:latin typeface="SFMono-Regular"/>
              </a:rPr>
              <a:t>builder.Build</a:t>
            </a:r>
            <a:r>
              <a:rPr kumimoji="0" lang="en-US" altLang="en-US" sz="1600" b="0" i="0" u="none" strike="noStrike" cap="none" normalizeH="0" baseline="0" dirty="0">
                <a:ln>
                  <a:noFill/>
                </a:ln>
                <a:solidFill>
                  <a:srgbClr val="171717"/>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dirty="0">
              <a:solidFill>
                <a:srgbClr val="171717"/>
              </a:solidFill>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In the preceding highlighted code, </a:t>
            </a:r>
            <a:r>
              <a:rPr kumimoji="0" lang="en-US" altLang="en-US" sz="1600" b="0" i="0" u="none" strike="noStrike" cap="none" normalizeH="0" baseline="0" dirty="0">
                <a:ln>
                  <a:noFill/>
                </a:ln>
                <a:solidFill>
                  <a:srgbClr val="171717"/>
                </a:solidFill>
                <a:effectLst/>
                <a:highlight>
                  <a:srgbClr val="FFFF00"/>
                </a:highlight>
                <a:latin typeface="SFMono-Regular"/>
                <a:cs typeface="Segoe UI" panose="020B0502040204020203" pitchFamily="34" charset="0"/>
              </a:rPr>
              <a:t>builder</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has configuration, logging, and </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hlinkClick r:id="rId5"/>
              </a:rPr>
              <a:t>many other services</a:t>
            </a:r>
            <a:r>
              <a:rPr kumimoji="0" lang="en-US" altLang="en-US" sz="1600" b="0" i="0" u="none" strike="noStrike" cap="none" normalizeH="0" baseline="0" dirty="0">
                <a:ln>
                  <a:noFill/>
                </a:ln>
                <a:solidFill>
                  <a:srgbClr val="171717"/>
                </a:solidFill>
                <a:effectLst/>
                <a:latin typeface="Segoe UI" panose="020B0502040204020203" pitchFamily="34" charset="0"/>
                <a:cs typeface="Segoe UI" panose="020B0502040204020203" pitchFamily="34" charset="0"/>
              </a:rPr>
              <a:t> added to the DI container.</a:t>
            </a:r>
            <a:endParaRPr kumimoji="0" lang="en-US" altLang="en-US" sz="1600" b="0" i="0" u="none" strike="noStrike" cap="none" normalizeH="0" baseline="0" dirty="0">
              <a:ln>
                <a:noFill/>
              </a:ln>
              <a:solidFill>
                <a:schemeClr val="tx1"/>
              </a:solidFill>
              <a:effectLst/>
            </a:endParaRPr>
          </a:p>
        </p:txBody>
      </p:sp>
      <p:sp>
        <p:nvSpPr>
          <p:cNvPr id="3" name="TextBox 2">
            <a:extLst>
              <a:ext uri="{FF2B5EF4-FFF2-40B4-BE49-F238E27FC236}">
                <a16:creationId xmlns:a16="http://schemas.microsoft.com/office/drawing/2014/main" id="{0AAE986A-4F94-F3C8-79F9-B5CBD26A77FE}"/>
              </a:ext>
            </a:extLst>
          </p:cNvPr>
          <p:cNvSpPr txBox="1"/>
          <p:nvPr/>
        </p:nvSpPr>
        <p:spPr>
          <a:xfrm>
            <a:off x="1476750" y="369332"/>
            <a:ext cx="7983793"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are the Tasks performed by </a:t>
            </a:r>
            <a:r>
              <a:rPr lang="en-US" b="1" i="0" dirty="0" err="1">
                <a:solidFill>
                  <a:srgbClr val="000000"/>
                </a:solidFill>
                <a:effectLst/>
                <a:latin typeface="arial" panose="020B0604020202020204" pitchFamily="34" charset="0"/>
              </a:rPr>
              <a:t>CreateBuilder</a:t>
            </a:r>
            <a:r>
              <a:rPr lang="en-US" b="1" i="0" dirty="0">
                <a:solidFill>
                  <a:srgbClr val="000000"/>
                </a:solidFill>
                <a:effectLst/>
                <a:latin typeface="arial" panose="020B0604020202020204" pitchFamily="34" charset="0"/>
              </a:rPr>
              <a:t>() method?</a:t>
            </a:r>
            <a:endParaRPr lang="en-US" b="0" i="0" dirty="0">
              <a:solidFill>
                <a:srgbClr val="3A3A3A"/>
              </a:solidFill>
              <a:effectLst/>
              <a:latin typeface="-apple-system"/>
            </a:endParaRPr>
          </a:p>
        </p:txBody>
      </p:sp>
    </p:spTree>
    <p:extLst>
      <p:ext uri="{BB962C8B-B14F-4D97-AF65-F5344CB8AC3E}">
        <p14:creationId xmlns:p14="http://schemas.microsoft.com/office/powerpoint/2010/main" val="3550608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635DD4-3333-43FA-8BF0-789360F04285}"/>
              </a:ext>
            </a:extLst>
          </p:cNvPr>
          <p:cNvSpPr txBox="1"/>
          <p:nvPr/>
        </p:nvSpPr>
        <p:spPr>
          <a:xfrm>
            <a:off x="2585883" y="148783"/>
            <a:ext cx="7983793"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are the Tasks performed by </a:t>
            </a:r>
            <a:r>
              <a:rPr lang="en-US" b="1" i="0" dirty="0" err="1">
                <a:solidFill>
                  <a:srgbClr val="000000"/>
                </a:solidFill>
                <a:effectLst/>
                <a:latin typeface="arial" panose="020B0604020202020204" pitchFamily="34" charset="0"/>
              </a:rPr>
              <a:t>CreateBuilder</a:t>
            </a:r>
            <a:r>
              <a:rPr lang="en-US" b="1" i="0" dirty="0">
                <a:solidFill>
                  <a:srgbClr val="000000"/>
                </a:solidFill>
                <a:effectLst/>
                <a:latin typeface="arial" panose="020B0604020202020204" pitchFamily="34" charset="0"/>
              </a:rPr>
              <a:t>() method?</a:t>
            </a:r>
            <a:endParaRPr lang="en-US" b="0" i="0" dirty="0">
              <a:solidFill>
                <a:srgbClr val="3A3A3A"/>
              </a:solidFill>
              <a:effectLst/>
              <a:latin typeface="-apple-system"/>
            </a:endParaRPr>
          </a:p>
        </p:txBody>
      </p:sp>
      <p:sp>
        <p:nvSpPr>
          <p:cNvPr id="9" name="TextBox 8">
            <a:extLst>
              <a:ext uri="{FF2B5EF4-FFF2-40B4-BE49-F238E27FC236}">
                <a16:creationId xmlns:a16="http://schemas.microsoft.com/office/drawing/2014/main" id="{90EC625F-9C1F-4134-9FBA-38B859817646}"/>
              </a:ext>
            </a:extLst>
          </p:cNvPr>
          <p:cNvSpPr txBox="1"/>
          <p:nvPr/>
        </p:nvSpPr>
        <p:spPr>
          <a:xfrm>
            <a:off x="1842381" y="1806781"/>
            <a:ext cx="4253619" cy="338554"/>
          </a:xfrm>
          <a:prstGeom prst="rect">
            <a:avLst/>
          </a:prstGeom>
          <a:noFill/>
        </p:spPr>
        <p:txBody>
          <a:bodyPr wrap="square">
            <a:spAutoFit/>
          </a:bodyPr>
          <a:lstStyle/>
          <a:p>
            <a:r>
              <a:rPr lang="en-IN" sz="1600" b="1" i="0" dirty="0" err="1">
                <a:solidFill>
                  <a:srgbClr val="000000"/>
                </a:solidFill>
                <a:effectLst/>
                <a:latin typeface="arial" panose="020B0604020202020204" pitchFamily="34" charset="0"/>
              </a:rPr>
              <a:t>InProcess</a:t>
            </a:r>
            <a:r>
              <a:rPr lang="en-IN" sz="1600" b="1" i="0" dirty="0">
                <a:solidFill>
                  <a:srgbClr val="000000"/>
                </a:solidFill>
                <a:effectLst/>
                <a:latin typeface="arial" panose="020B0604020202020204" pitchFamily="34" charset="0"/>
              </a:rPr>
              <a:t> hosting model</a:t>
            </a:r>
            <a:endParaRPr lang="en-IN" sz="1600" b="1" dirty="0"/>
          </a:p>
        </p:txBody>
      </p:sp>
      <p:sp>
        <p:nvSpPr>
          <p:cNvPr id="11" name="TextBox 10">
            <a:extLst>
              <a:ext uri="{FF2B5EF4-FFF2-40B4-BE49-F238E27FC236}">
                <a16:creationId xmlns:a16="http://schemas.microsoft.com/office/drawing/2014/main" id="{A6E3CAE0-8E59-42F2-9279-D8E59251265E}"/>
              </a:ext>
            </a:extLst>
          </p:cNvPr>
          <p:cNvSpPr txBox="1"/>
          <p:nvPr/>
        </p:nvSpPr>
        <p:spPr>
          <a:xfrm>
            <a:off x="150322" y="2371681"/>
            <a:ext cx="5552894" cy="1077218"/>
          </a:xfrm>
          <a:prstGeom prst="rect">
            <a:avLst/>
          </a:prstGeom>
          <a:noFill/>
        </p:spPr>
        <p:txBody>
          <a:bodyPr wrap="square">
            <a:spAutoFit/>
          </a:bodyPr>
          <a:lstStyle/>
          <a:p>
            <a:r>
              <a:rPr lang="en-US" sz="1600" b="1" i="0" dirty="0">
                <a:solidFill>
                  <a:srgbClr val="000000"/>
                </a:solidFill>
                <a:effectLst/>
                <a:latin typeface="arial" panose="020B0604020202020204" pitchFamily="34" charset="0"/>
              </a:rPr>
              <a:t>Note:</a:t>
            </a:r>
            <a:r>
              <a:rPr lang="en-US" sz="1600" b="0" i="0" dirty="0">
                <a:solidFill>
                  <a:srgbClr val="000000"/>
                </a:solidFill>
                <a:effectLst/>
                <a:latin typeface="arial" panose="020B0604020202020204" pitchFamily="34" charset="0"/>
              </a:rPr>
              <a:t> When we create a new ASP.NET Core Web application by using any template, by default the project file is created with </a:t>
            </a:r>
            <a:r>
              <a:rPr lang="en-US" sz="1600" b="1" i="0" dirty="0" err="1">
                <a:solidFill>
                  <a:srgbClr val="000000"/>
                </a:solidFill>
                <a:effectLst/>
                <a:latin typeface="arial" panose="020B0604020202020204" pitchFamily="34" charset="0"/>
              </a:rPr>
              <a:t>InProcess</a:t>
            </a:r>
            <a:r>
              <a:rPr lang="en-US" sz="1600" b="0" i="0" dirty="0">
                <a:solidFill>
                  <a:srgbClr val="000000"/>
                </a:solidFill>
                <a:effectLst/>
                <a:latin typeface="arial" panose="020B0604020202020204" pitchFamily="34" charset="0"/>
              </a:rPr>
              <a:t> hosting which is used for hosting the application in IIS or IIS Express scenarios.</a:t>
            </a:r>
            <a:endParaRPr lang="en-IN" sz="1600" dirty="0"/>
          </a:p>
        </p:txBody>
      </p:sp>
      <p:sp>
        <p:nvSpPr>
          <p:cNvPr id="13" name="TextBox 12">
            <a:extLst>
              <a:ext uri="{FF2B5EF4-FFF2-40B4-BE49-F238E27FC236}">
                <a16:creationId xmlns:a16="http://schemas.microsoft.com/office/drawing/2014/main" id="{97AE06C6-CA74-4EF2-9F5A-511B6C38536D}"/>
              </a:ext>
            </a:extLst>
          </p:cNvPr>
          <p:cNvSpPr txBox="1"/>
          <p:nvPr/>
        </p:nvSpPr>
        <p:spPr>
          <a:xfrm>
            <a:off x="2721205" y="3800737"/>
            <a:ext cx="3116118" cy="369332"/>
          </a:xfrm>
          <a:prstGeom prst="rect">
            <a:avLst/>
          </a:prstGeom>
          <a:noFill/>
        </p:spPr>
        <p:txBody>
          <a:bodyPr wrap="square">
            <a:spAutoFit/>
          </a:bodyPr>
          <a:lstStyle/>
          <a:p>
            <a:pPr algn="just" fontAlgn="base"/>
            <a:r>
              <a:rPr lang="en-IN" b="1" i="0" dirty="0">
                <a:solidFill>
                  <a:srgbClr val="000000"/>
                </a:solidFill>
                <a:effectLst/>
                <a:latin typeface="arial" panose="020B0604020202020204" pitchFamily="34" charset="0"/>
              </a:rPr>
              <a:t>How to verify this?</a:t>
            </a:r>
            <a:endParaRPr lang="en-IN" b="0" i="0" dirty="0">
              <a:solidFill>
                <a:srgbClr val="3A3A3A"/>
              </a:solidFill>
              <a:effectLst/>
              <a:latin typeface="-apple-system"/>
            </a:endParaRPr>
          </a:p>
        </p:txBody>
      </p:sp>
      <p:sp>
        <p:nvSpPr>
          <p:cNvPr id="15" name="TextBox 14">
            <a:extLst>
              <a:ext uri="{FF2B5EF4-FFF2-40B4-BE49-F238E27FC236}">
                <a16:creationId xmlns:a16="http://schemas.microsoft.com/office/drawing/2014/main" id="{8F055E74-D6D9-4162-B8F9-AFFF2FAB1690}"/>
              </a:ext>
            </a:extLst>
          </p:cNvPr>
          <p:cNvSpPr txBox="1"/>
          <p:nvPr/>
        </p:nvSpPr>
        <p:spPr>
          <a:xfrm>
            <a:off x="150322" y="4649027"/>
            <a:ext cx="5844078" cy="1384995"/>
          </a:xfrm>
          <a:prstGeom prst="rect">
            <a:avLst/>
          </a:prstGeom>
          <a:noFill/>
        </p:spPr>
        <p:txBody>
          <a:bodyPr wrap="square">
            <a:spAutoFit/>
          </a:bodyPr>
          <a:lstStyle/>
          <a:p>
            <a:r>
              <a:rPr lang="en-US" sz="1400" b="0" i="0" dirty="0">
                <a:solidFill>
                  <a:srgbClr val="000000"/>
                </a:solidFill>
                <a:effectLst/>
                <a:latin typeface="arial" panose="020B0604020202020204" pitchFamily="34" charset="0"/>
              </a:rPr>
              <a:t>In order to verify the same, open the project properties. Right-click on your project and select the properties option from the context menu. Once you open the properties window, then select the Debug and have a look at the value of the Hosting Model drop-down list as shown in the below image. The drop-down list contains three values i.e. Default (</a:t>
            </a:r>
            <a:r>
              <a:rPr lang="en-US" sz="1400" b="0" i="0" dirty="0" err="1">
                <a:solidFill>
                  <a:srgbClr val="000000"/>
                </a:solidFill>
                <a:effectLst/>
                <a:latin typeface="arial" panose="020B0604020202020204" pitchFamily="34" charset="0"/>
              </a:rPr>
              <a:t>InProcess</a:t>
            </a:r>
            <a:r>
              <a:rPr lang="en-US" sz="1400" b="0" i="0" dirty="0">
                <a:solidFill>
                  <a:srgbClr val="000000"/>
                </a:solidFill>
                <a:effectLst/>
                <a:latin typeface="arial" panose="020B0604020202020204" pitchFamily="34" charset="0"/>
              </a:rPr>
              <a:t>),</a:t>
            </a:r>
            <a:endParaRPr lang="en-IN" sz="1400" dirty="0"/>
          </a:p>
        </p:txBody>
      </p:sp>
      <p:sp>
        <p:nvSpPr>
          <p:cNvPr id="3" name="TextBox 2">
            <a:extLst>
              <a:ext uri="{FF2B5EF4-FFF2-40B4-BE49-F238E27FC236}">
                <a16:creationId xmlns:a16="http://schemas.microsoft.com/office/drawing/2014/main" id="{9211F465-6BD5-2114-262C-4E23DD1E7EFD}"/>
              </a:ext>
            </a:extLst>
          </p:cNvPr>
          <p:cNvSpPr txBox="1"/>
          <p:nvPr/>
        </p:nvSpPr>
        <p:spPr>
          <a:xfrm>
            <a:off x="532486" y="738383"/>
            <a:ext cx="10037190" cy="923330"/>
          </a:xfrm>
          <a:prstGeom prst="rect">
            <a:avLst/>
          </a:prstGeom>
          <a:noFill/>
        </p:spPr>
        <p:txBody>
          <a:bodyPr wrap="square">
            <a:spAutoFit/>
          </a:bodyPr>
          <a:lstStyle/>
          <a:p>
            <a:r>
              <a:rPr lang="en-US" b="0" i="0" dirty="0">
                <a:solidFill>
                  <a:srgbClr val="171717"/>
                </a:solidFill>
                <a:effectLst/>
                <a:latin typeface="Segoe UI" panose="020B0502040204020203" pitchFamily="34" charset="0"/>
              </a:rPr>
              <a:t>An ASP.NET Core app runs with an in-process HTTP server implementation. The server implementation listens for HTTP requests and surfaces them to the app as a set of </a:t>
            </a:r>
            <a:r>
              <a:rPr lang="en-US" b="0" i="0" u="none" strike="noStrike" dirty="0">
                <a:effectLst/>
                <a:latin typeface="Segoe UI" panose="020B0502040204020203" pitchFamily="34" charset="0"/>
                <a:hlinkClick r:id="rId2"/>
              </a:rPr>
              <a:t>request features</a:t>
            </a:r>
            <a:r>
              <a:rPr lang="en-US" b="0" i="0" dirty="0">
                <a:solidFill>
                  <a:srgbClr val="171717"/>
                </a:solidFill>
                <a:effectLst/>
                <a:latin typeface="Segoe UI" panose="020B0502040204020203" pitchFamily="34" charset="0"/>
              </a:rPr>
              <a:t> composed into an </a:t>
            </a:r>
            <a:r>
              <a:rPr lang="en-US" b="0" i="0" u="none" strike="noStrike" dirty="0" err="1">
                <a:effectLst/>
                <a:latin typeface="Segoe UI" panose="020B0502040204020203" pitchFamily="34" charset="0"/>
                <a:hlinkClick r:id="rId3"/>
              </a:rPr>
              <a:t>HttpContext</a:t>
            </a:r>
            <a:r>
              <a:rPr lang="en-US" b="0" i="0" dirty="0">
                <a:solidFill>
                  <a:srgbClr val="171717"/>
                </a:solidFill>
                <a:effectLst/>
                <a:latin typeface="Segoe UI" panose="020B0502040204020203" pitchFamily="34" charset="0"/>
              </a:rPr>
              <a:t>.</a:t>
            </a:r>
            <a:endParaRPr lang="en-IN" dirty="0"/>
          </a:p>
        </p:txBody>
      </p:sp>
      <p:pic>
        <p:nvPicPr>
          <p:cNvPr id="6" name="Picture 5">
            <a:extLst>
              <a:ext uri="{FF2B5EF4-FFF2-40B4-BE49-F238E27FC236}">
                <a16:creationId xmlns:a16="http://schemas.microsoft.com/office/drawing/2014/main" id="{BE64B319-843E-4279-DC9C-C61E91B95541}"/>
              </a:ext>
            </a:extLst>
          </p:cNvPr>
          <p:cNvPicPr>
            <a:picLocks noChangeAspect="1"/>
          </p:cNvPicPr>
          <p:nvPr/>
        </p:nvPicPr>
        <p:blipFill rotWithShape="1">
          <a:blip r:embed="rId4"/>
          <a:srcRect l="23944" t="15935" r="23823" b="23900"/>
          <a:stretch/>
        </p:blipFill>
        <p:spPr>
          <a:xfrm>
            <a:off x="6488786" y="2796595"/>
            <a:ext cx="5344417" cy="3462803"/>
          </a:xfrm>
          <a:prstGeom prst="rect">
            <a:avLst/>
          </a:prstGeom>
        </p:spPr>
      </p:pic>
    </p:spTree>
    <p:extLst>
      <p:ext uri="{BB962C8B-B14F-4D97-AF65-F5344CB8AC3E}">
        <p14:creationId xmlns:p14="http://schemas.microsoft.com/office/powerpoint/2010/main" val="1699338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What are the Tasks performed by CreateDefaultBuilder() method?">
            <a:extLst>
              <a:ext uri="{FF2B5EF4-FFF2-40B4-BE49-F238E27FC236}">
                <a16:creationId xmlns:a16="http://schemas.microsoft.com/office/drawing/2014/main" id="{B3AF3204-996D-44BA-BB9A-4244D312B4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245" y="173140"/>
            <a:ext cx="7219950" cy="57054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ADB0E236-A8F6-42AB-A663-99844A6442F4}"/>
              </a:ext>
            </a:extLst>
          </p:cNvPr>
          <p:cNvSpPr txBox="1"/>
          <p:nvPr/>
        </p:nvSpPr>
        <p:spPr>
          <a:xfrm>
            <a:off x="924232" y="6211669"/>
            <a:ext cx="8770374"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This Confirm that by default it uses In Process hosting model.</a:t>
            </a:r>
            <a:endParaRPr lang="en-IN" dirty="0"/>
          </a:p>
        </p:txBody>
      </p:sp>
    </p:spTree>
    <p:extLst>
      <p:ext uri="{BB962C8B-B14F-4D97-AF65-F5344CB8AC3E}">
        <p14:creationId xmlns:p14="http://schemas.microsoft.com/office/powerpoint/2010/main" val="332545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C059062-E622-4511-B12A-238E12219D0E}"/>
              </a:ext>
            </a:extLst>
          </p:cNvPr>
          <p:cNvSpPr txBox="1"/>
          <p:nvPr/>
        </p:nvSpPr>
        <p:spPr>
          <a:xfrm>
            <a:off x="2556387" y="0"/>
            <a:ext cx="7167716"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How to Configure </a:t>
            </a:r>
            <a:r>
              <a:rPr lang="en-US" b="1" i="0" dirty="0" err="1">
                <a:solidFill>
                  <a:srgbClr val="000000"/>
                </a:solidFill>
                <a:effectLst/>
                <a:latin typeface="arial" panose="020B0604020202020204" pitchFamily="34" charset="0"/>
              </a:rPr>
              <a:t>InProcess</a:t>
            </a:r>
            <a:r>
              <a:rPr lang="en-US" b="1" i="0" dirty="0">
                <a:solidFill>
                  <a:srgbClr val="000000"/>
                </a:solidFill>
                <a:effectLst/>
                <a:latin typeface="arial" panose="020B0604020202020204" pitchFamily="34" charset="0"/>
              </a:rPr>
              <a:t> hosting in ASP.NET Core?</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5AAD76A1-8A16-4E63-B4FC-36B54BE364C6}"/>
              </a:ext>
            </a:extLst>
          </p:cNvPr>
          <p:cNvSpPr txBox="1"/>
          <p:nvPr/>
        </p:nvSpPr>
        <p:spPr>
          <a:xfrm>
            <a:off x="176981" y="645989"/>
            <a:ext cx="6096000" cy="2031325"/>
          </a:xfrm>
          <a:prstGeom prst="rect">
            <a:avLst/>
          </a:prstGeom>
          <a:noFill/>
        </p:spPr>
        <p:txBody>
          <a:bodyPr wrap="square">
            <a:spAutoFit/>
          </a:bodyPr>
          <a:lstStyle/>
          <a:p>
            <a:r>
              <a:rPr lang="en-US" b="0" i="0" dirty="0">
                <a:solidFill>
                  <a:srgbClr val="000000"/>
                </a:solidFill>
                <a:effectLst/>
                <a:latin typeface="arial" panose="020B0604020202020204" pitchFamily="34" charset="0"/>
              </a:rPr>
              <a:t>To configure the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hosting for ASP.NET Core Web application there is only one simple setting, just add the </a:t>
            </a:r>
            <a:r>
              <a:rPr lang="en-US" b="1" i="0" dirty="0">
                <a:solidFill>
                  <a:srgbClr val="000000"/>
                </a:solidFill>
                <a:effectLst/>
                <a:latin typeface="arial" panose="020B0604020202020204" pitchFamily="34" charset="0"/>
              </a:rPr>
              <a:t>&lt;</a:t>
            </a:r>
            <a:r>
              <a:rPr lang="en-US" b="1" i="0" dirty="0" err="1">
                <a:solidFill>
                  <a:srgbClr val="000000"/>
                </a:solidFill>
                <a:effectLst/>
                <a:latin typeface="arial" panose="020B0604020202020204" pitchFamily="34" charset="0"/>
              </a:rPr>
              <a:t>AspNetCoreHostingModel</a:t>
            </a:r>
            <a:r>
              <a:rPr lang="en-US" b="1" i="0" dirty="0">
                <a:solidFill>
                  <a:srgbClr val="000000"/>
                </a:solidFill>
                <a:effectLst/>
                <a:latin typeface="arial" panose="020B0604020202020204" pitchFamily="34" charset="0"/>
              </a:rPr>
              <a:t>&gt;</a:t>
            </a:r>
            <a:r>
              <a:rPr lang="en-US" b="0" i="0" dirty="0">
                <a:solidFill>
                  <a:srgbClr val="000000"/>
                </a:solidFill>
                <a:effectLst/>
                <a:latin typeface="arial" panose="020B0604020202020204" pitchFamily="34" charset="0"/>
              </a:rPr>
              <a:t> element to the application project file with a value of </a:t>
            </a:r>
            <a:r>
              <a:rPr lang="en-US" b="1"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To do so, just right-click on your application from the solution explorer and then click on the “</a:t>
            </a:r>
            <a:r>
              <a:rPr lang="en-US" b="1" i="0" dirty="0">
                <a:solidFill>
                  <a:srgbClr val="000000"/>
                </a:solidFill>
                <a:effectLst/>
                <a:latin typeface="arial" panose="020B0604020202020204" pitchFamily="34" charset="0"/>
              </a:rPr>
              <a:t>Edit Project File” </a:t>
            </a:r>
            <a:r>
              <a:rPr lang="en-US" b="0" i="0" dirty="0">
                <a:solidFill>
                  <a:srgbClr val="000000"/>
                </a:solidFill>
                <a:effectLst/>
                <a:latin typeface="arial" panose="020B0604020202020204" pitchFamily="34" charset="0"/>
              </a:rPr>
              <a:t>option from the context menu as shown in the below code.</a:t>
            </a:r>
            <a:endParaRPr lang="en-IN" dirty="0"/>
          </a:p>
        </p:txBody>
      </p:sp>
      <p:sp>
        <p:nvSpPr>
          <p:cNvPr id="10" name="TextBox 9">
            <a:extLst>
              <a:ext uri="{FF2B5EF4-FFF2-40B4-BE49-F238E27FC236}">
                <a16:creationId xmlns:a16="http://schemas.microsoft.com/office/drawing/2014/main" id="{1725F05A-F6AB-427F-8BEF-EF4898359CC4}"/>
              </a:ext>
            </a:extLst>
          </p:cNvPr>
          <p:cNvSpPr txBox="1"/>
          <p:nvPr/>
        </p:nvSpPr>
        <p:spPr>
          <a:xfrm>
            <a:off x="176981" y="2953971"/>
            <a:ext cx="6096000" cy="1477328"/>
          </a:xfrm>
          <a:prstGeom prst="rect">
            <a:avLst/>
          </a:prstGeom>
          <a:noFill/>
        </p:spPr>
        <p:txBody>
          <a:bodyPr wrap="square">
            <a:spAutoFit/>
          </a:bodyPr>
          <a:lstStyle/>
          <a:p>
            <a:r>
              <a:rPr lang="en-US" b="0" i="0" dirty="0">
                <a:solidFill>
                  <a:srgbClr val="000000"/>
                </a:solidFill>
                <a:effectLst/>
                <a:latin typeface="arial" panose="020B0604020202020204" pitchFamily="34" charset="0"/>
              </a:rPr>
              <a:t>Once you open the Application Project file then modify it as shown below. As you can see, here we add </a:t>
            </a:r>
            <a:r>
              <a:rPr lang="en-US" b="1" i="0" dirty="0">
                <a:solidFill>
                  <a:srgbClr val="000000"/>
                </a:solidFill>
                <a:effectLst/>
                <a:latin typeface="arial" panose="020B0604020202020204" pitchFamily="34" charset="0"/>
              </a:rPr>
              <a:t>&lt;</a:t>
            </a:r>
            <a:r>
              <a:rPr lang="en-US" b="1" i="0" dirty="0" err="1">
                <a:solidFill>
                  <a:srgbClr val="000000"/>
                </a:solidFill>
                <a:effectLst/>
                <a:latin typeface="arial" panose="020B0604020202020204" pitchFamily="34" charset="0"/>
              </a:rPr>
              <a:t>AspNetCoreHostingModel</a:t>
            </a:r>
            <a:r>
              <a:rPr lang="en-US" b="1" i="0" dirty="0">
                <a:solidFill>
                  <a:srgbClr val="000000"/>
                </a:solidFill>
                <a:effectLst/>
                <a:latin typeface="arial" panose="020B0604020202020204" pitchFamily="34" charset="0"/>
              </a:rPr>
              <a:t>&gt;</a:t>
            </a:r>
            <a:r>
              <a:rPr lang="en-US" b="0" i="0" dirty="0">
                <a:solidFill>
                  <a:srgbClr val="000000"/>
                </a:solidFill>
                <a:effectLst/>
                <a:latin typeface="arial" panose="020B0604020202020204" pitchFamily="34" charset="0"/>
              </a:rPr>
              <a:t> element and set its value to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The other possible value for this element is </a:t>
            </a:r>
            <a:r>
              <a:rPr lang="en-US" b="0" i="0" dirty="0" err="1">
                <a:solidFill>
                  <a:srgbClr val="000000"/>
                </a:solidFill>
                <a:effectLst/>
                <a:latin typeface="arial" panose="020B0604020202020204" pitchFamily="34" charset="0"/>
              </a:rPr>
              <a:t>OutOfProcess</a:t>
            </a:r>
            <a:r>
              <a:rPr lang="en-US" b="0" i="0" dirty="0">
                <a:solidFill>
                  <a:srgbClr val="000000"/>
                </a:solidFill>
                <a:effectLst/>
                <a:latin typeface="arial" panose="020B0604020202020204" pitchFamily="34" charset="0"/>
              </a:rPr>
              <a:t>.</a:t>
            </a:r>
            <a:endParaRPr lang="en-IN"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1" y="5499270"/>
            <a:ext cx="8177777" cy="1358730"/>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2214" y="1942098"/>
            <a:ext cx="5835801" cy="1060154"/>
          </a:xfrm>
          <a:prstGeom prst="rect">
            <a:avLst/>
          </a:prstGeom>
        </p:spPr>
      </p:pic>
      <p:cxnSp>
        <p:nvCxnSpPr>
          <p:cNvPr id="6" name="Straight Arrow Connector 5"/>
          <p:cNvCxnSpPr/>
          <p:nvPr/>
        </p:nvCxnSpPr>
        <p:spPr>
          <a:xfrm>
            <a:off x="2124364" y="4285920"/>
            <a:ext cx="1708727" cy="14960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1524000" y="3278909"/>
            <a:ext cx="5301673" cy="6742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3970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0F7CF93-F5F2-4EE0-B572-EC8D9E58D8DA}"/>
              </a:ext>
            </a:extLst>
          </p:cNvPr>
          <p:cNvSpPr txBox="1"/>
          <p:nvPr/>
        </p:nvSpPr>
        <p:spPr>
          <a:xfrm>
            <a:off x="2703870" y="129119"/>
            <a:ext cx="7737987"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happens when we set the Hosting model as </a:t>
            </a:r>
            <a:r>
              <a:rPr lang="en-US" b="1" i="0" dirty="0" err="1">
                <a:solidFill>
                  <a:srgbClr val="000000"/>
                </a:solidFill>
                <a:effectLst/>
                <a:latin typeface="arial" panose="020B0604020202020204" pitchFamily="34" charset="0"/>
              </a:rPr>
              <a:t>InProcess</a:t>
            </a:r>
            <a:r>
              <a:rPr lang="en-US" b="1" i="0" dirty="0">
                <a:solidFill>
                  <a:srgbClr val="000000"/>
                </a:solidFill>
                <a:effectLst/>
                <a:latin typeface="arial" panose="020B0604020202020204" pitchFamily="34" charset="0"/>
              </a:rPr>
              <a:t>?</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87652648-2BD6-429E-A99C-F8505D9E50A8}"/>
              </a:ext>
            </a:extLst>
          </p:cNvPr>
          <p:cNvSpPr txBox="1"/>
          <p:nvPr/>
        </p:nvSpPr>
        <p:spPr>
          <a:xfrm>
            <a:off x="196645" y="845574"/>
            <a:ext cx="11582400" cy="2862322"/>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In case of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hosting (i.e. when the </a:t>
            </a:r>
            <a:r>
              <a:rPr lang="en-US" b="0" i="0" dirty="0" err="1">
                <a:solidFill>
                  <a:srgbClr val="000000"/>
                </a:solidFill>
                <a:effectLst/>
                <a:latin typeface="arial" panose="020B0604020202020204" pitchFamily="34" charset="0"/>
              </a:rPr>
              <a:t>CreateBuilder</a:t>
            </a:r>
            <a:r>
              <a:rPr lang="en-US" b="0" i="0" dirty="0">
                <a:solidFill>
                  <a:srgbClr val="000000"/>
                </a:solidFill>
                <a:effectLst/>
                <a:latin typeface="arial" panose="020B0604020202020204" pitchFamily="34" charset="0"/>
              </a:rPr>
              <a:t>() sees the value as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for the </a:t>
            </a:r>
            <a:r>
              <a:rPr lang="en-US" b="0" i="0" dirty="0" err="1">
                <a:solidFill>
                  <a:srgbClr val="000000"/>
                </a:solidFill>
                <a:effectLst/>
                <a:latin typeface="arial" panose="020B0604020202020204" pitchFamily="34" charset="0"/>
              </a:rPr>
              <a:t>AspNetCoreHostingModel</a:t>
            </a:r>
            <a:r>
              <a:rPr lang="en-US" b="0" i="0" dirty="0">
                <a:solidFill>
                  <a:srgbClr val="000000"/>
                </a:solidFill>
                <a:effectLst/>
                <a:latin typeface="arial" panose="020B0604020202020204" pitchFamily="34" charset="0"/>
              </a:rPr>
              <a:t> element in the project file), behind the scene the </a:t>
            </a:r>
            <a:r>
              <a:rPr lang="en-US" b="0" i="0" dirty="0" err="1">
                <a:solidFill>
                  <a:srgbClr val="000000"/>
                </a:solidFill>
                <a:effectLst/>
                <a:latin typeface="arial" panose="020B0604020202020204" pitchFamily="34" charset="0"/>
              </a:rPr>
              <a:t>CreateBuilder</a:t>
            </a:r>
            <a:r>
              <a:rPr lang="en-US" b="0" i="0" dirty="0">
                <a:solidFill>
                  <a:srgbClr val="000000"/>
                </a:solidFill>
                <a:effectLst/>
                <a:latin typeface="arial" panose="020B0604020202020204" pitchFamily="34" charset="0"/>
              </a:rPr>
              <a:t>() method internally calls the </a:t>
            </a:r>
            <a:r>
              <a:rPr lang="en-US" b="0" i="0" dirty="0" err="1">
                <a:solidFill>
                  <a:srgbClr val="000000"/>
                </a:solidFill>
                <a:effectLst/>
                <a:latin typeface="arial" panose="020B0604020202020204" pitchFamily="34" charset="0"/>
              </a:rPr>
              <a:t>UseIIS</a:t>
            </a:r>
            <a:r>
              <a:rPr lang="en-US" b="0" i="0" dirty="0">
                <a:solidFill>
                  <a:srgbClr val="000000"/>
                </a:solidFill>
                <a:effectLst/>
                <a:latin typeface="arial" panose="020B0604020202020204" pitchFamily="34" charset="0"/>
              </a:rPr>
              <a:t>() method. Then host the application inside the IIS worker process (i.e.</a:t>
            </a:r>
            <a:r>
              <a:rPr lang="en-US" b="0" i="0" dirty="0">
                <a:solidFill>
                  <a:srgbClr val="000000"/>
                </a:solidFill>
                <a:effectLst/>
                <a:highlight>
                  <a:srgbClr val="FFFF00"/>
                </a:highlight>
                <a:latin typeface="arial" panose="020B0604020202020204" pitchFamily="34" charset="0"/>
              </a:rPr>
              <a:t> w3wp.exe </a:t>
            </a:r>
            <a:r>
              <a:rPr lang="en-US" b="0" i="0" dirty="0">
                <a:solidFill>
                  <a:srgbClr val="000000"/>
                </a:solidFill>
                <a:effectLst/>
                <a:latin typeface="arial" panose="020B0604020202020204" pitchFamily="34" charset="0"/>
              </a:rPr>
              <a:t>for IIS and iisexpress.exe for </a:t>
            </a:r>
            <a:r>
              <a:rPr lang="en-US" b="0" i="0" dirty="0" err="1">
                <a:solidFill>
                  <a:srgbClr val="000000"/>
                </a:solidFill>
                <a:effectLst/>
                <a:latin typeface="arial" panose="020B0604020202020204" pitchFamily="34" charset="0"/>
              </a:rPr>
              <a:t>IISExpress</a:t>
            </a:r>
            <a:r>
              <a:rPr lang="en-US" b="0" i="0" dirty="0">
                <a:solidFill>
                  <a:srgbClr val="000000"/>
                </a:solidFill>
                <a:effectLst/>
                <a:latin typeface="arial" panose="020B0604020202020204" pitchFamily="34" charset="0"/>
              </a:rPr>
              <a:t>). </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From the performance point of view, the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hosting model delivers significantly higher request throughput than the </a:t>
            </a:r>
            <a:r>
              <a:rPr lang="en-US" b="0" i="0" dirty="0" err="1">
                <a:solidFill>
                  <a:srgbClr val="000000"/>
                </a:solidFill>
                <a:effectLst/>
                <a:latin typeface="arial" panose="020B0604020202020204" pitchFamily="34" charset="0"/>
              </a:rPr>
              <a:t>OutOfProcess</a:t>
            </a:r>
            <a:r>
              <a:rPr lang="en-US" b="0" i="0" dirty="0">
                <a:solidFill>
                  <a:srgbClr val="000000"/>
                </a:solidFill>
                <a:effectLst/>
                <a:latin typeface="arial" panose="020B0604020202020204" pitchFamily="34" charset="0"/>
              </a:rPr>
              <a:t> hosting model. </a:t>
            </a:r>
          </a:p>
          <a:p>
            <a:pPr algn="just" fontAlgn="base"/>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process name that will be used to execute the application is w3wp in the case of IIS</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Similarly, if it is IIS Express then the process name will be </a:t>
            </a:r>
            <a:r>
              <a:rPr lang="en-US" b="0" i="0" dirty="0" err="1">
                <a:solidFill>
                  <a:srgbClr val="000000"/>
                </a:solidFill>
                <a:effectLst/>
                <a:latin typeface="arial" panose="020B0604020202020204" pitchFamily="34" charset="0"/>
              </a:rPr>
              <a:t>iisexpress</a:t>
            </a:r>
            <a:r>
              <a:rPr lang="en-US" b="1" i="0" dirty="0">
                <a:solidFill>
                  <a:srgbClr val="000000"/>
                </a:solidFill>
                <a:effectLst/>
                <a:latin typeface="arial" panose="020B0604020202020204" pitchFamily="34" charset="0"/>
              </a:rPr>
              <a:t>.</a:t>
            </a:r>
            <a:endParaRPr lang="en-US" b="0" i="0" dirty="0">
              <a:solidFill>
                <a:srgbClr val="212529"/>
              </a:solidFill>
              <a:effectLst/>
              <a:latin typeface="-apple-system"/>
            </a:endParaRPr>
          </a:p>
        </p:txBody>
      </p:sp>
      <p:sp>
        <p:nvSpPr>
          <p:cNvPr id="9" name="TextBox 8">
            <a:extLst>
              <a:ext uri="{FF2B5EF4-FFF2-40B4-BE49-F238E27FC236}">
                <a16:creationId xmlns:a16="http://schemas.microsoft.com/office/drawing/2014/main" id="{ADB1E1EC-BE57-42BF-B805-198C42BCB9F0}"/>
              </a:ext>
            </a:extLst>
          </p:cNvPr>
          <p:cNvSpPr txBox="1"/>
          <p:nvPr/>
        </p:nvSpPr>
        <p:spPr>
          <a:xfrm>
            <a:off x="476863" y="3707896"/>
            <a:ext cx="11302182" cy="646331"/>
          </a:xfrm>
          <a:prstGeom prst="rect">
            <a:avLst/>
          </a:prstGeom>
          <a:noFill/>
        </p:spPr>
        <p:txBody>
          <a:bodyPr wrap="square">
            <a:spAutoFit/>
          </a:bodyPr>
          <a:lstStyle/>
          <a:p>
            <a:pPr algn="ctr" fontAlgn="base"/>
            <a:r>
              <a:rPr lang="en-US" b="1" i="0" dirty="0">
                <a:solidFill>
                  <a:srgbClr val="000000"/>
                </a:solidFill>
                <a:effectLst/>
                <a:latin typeface="arial" panose="020B0604020202020204" pitchFamily="34" charset="0"/>
              </a:rPr>
              <a:t>Let’s Confirm this: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Now if you will run the application, then you will see the following hello world message in the browser.</a:t>
            </a:r>
            <a:endParaRPr lang="en-US" b="0" i="0" dirty="0">
              <a:solidFill>
                <a:srgbClr val="212529"/>
              </a:solidFill>
              <a:effectLst/>
              <a:latin typeface="-apple-system"/>
            </a:endParaRPr>
          </a:p>
        </p:txBody>
      </p:sp>
      <p:pic>
        <p:nvPicPr>
          <p:cNvPr id="7170" name="Picture 2" descr="ASP.NET Core InProcess Hosting Model">
            <a:extLst>
              <a:ext uri="{FF2B5EF4-FFF2-40B4-BE49-F238E27FC236}">
                <a16:creationId xmlns:a16="http://schemas.microsoft.com/office/drawing/2014/main" id="{5719EFB2-0F95-4B18-A983-F6B9EC2ECB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19" y="4840237"/>
            <a:ext cx="4248150"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5024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A8E8C7-176C-47EA-BC7D-B14BDE5A2FDF}"/>
              </a:ext>
            </a:extLst>
          </p:cNvPr>
          <p:cNvSpPr txBox="1"/>
          <p:nvPr/>
        </p:nvSpPr>
        <p:spPr>
          <a:xfrm>
            <a:off x="-68827" y="-53825"/>
            <a:ext cx="10412361" cy="646331"/>
          </a:xfrm>
          <a:prstGeom prst="rect">
            <a:avLst/>
          </a:prstGeom>
          <a:noFill/>
        </p:spPr>
        <p:txBody>
          <a:bodyPr wrap="square">
            <a:spAutoFit/>
          </a:bodyPr>
          <a:lstStyle/>
          <a:p>
            <a:pPr fontAlgn="base"/>
            <a:r>
              <a:rPr lang="en-US" b="0" i="0" dirty="0">
                <a:solidFill>
                  <a:srgbClr val="000000"/>
                </a:solidFill>
                <a:effectLst/>
                <a:latin typeface="arial" panose="020B0604020202020204" pitchFamily="34" charset="0"/>
              </a:rPr>
              <a:t>You are getting the above message from the following Startup class</a:t>
            </a:r>
            <a:br>
              <a:rPr lang="en-US" dirty="0"/>
            </a:br>
            <a:endParaRPr lang="en-IN" dirty="0"/>
          </a:p>
        </p:txBody>
      </p:sp>
      <p:pic>
        <p:nvPicPr>
          <p:cNvPr id="8194" name="Picture 2" descr="ASP.NET Core InProcess Hosting Model">
            <a:extLst>
              <a:ext uri="{FF2B5EF4-FFF2-40B4-BE49-F238E27FC236}">
                <a16:creationId xmlns:a16="http://schemas.microsoft.com/office/drawing/2014/main" id="{6B96CD57-38C4-49FD-8817-EB42223375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8136" r="3486"/>
          <a:stretch/>
        </p:blipFill>
        <p:spPr bwMode="auto">
          <a:xfrm>
            <a:off x="117988" y="678730"/>
            <a:ext cx="5547522" cy="226755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CA9CF3A-1EC1-4244-9A20-24D345A8A53F}"/>
              </a:ext>
            </a:extLst>
          </p:cNvPr>
          <p:cNvSpPr txBox="1"/>
          <p:nvPr/>
        </p:nvSpPr>
        <p:spPr>
          <a:xfrm>
            <a:off x="117988" y="3032512"/>
            <a:ext cx="6084849" cy="1200329"/>
          </a:xfrm>
          <a:prstGeom prst="rect">
            <a:avLst/>
          </a:prstGeom>
          <a:noFill/>
        </p:spPr>
        <p:txBody>
          <a:bodyPr wrap="square">
            <a:spAutoFit/>
          </a:bodyPr>
          <a:lstStyle/>
          <a:p>
            <a:r>
              <a:rPr lang="en-US" b="0" i="0" dirty="0">
                <a:solidFill>
                  <a:srgbClr val="000000"/>
                </a:solidFill>
                <a:effectLst/>
                <a:latin typeface="arial" panose="020B0604020202020204" pitchFamily="34" charset="0"/>
              </a:rPr>
              <a:t>To display the process name in the browser you need to use the </a:t>
            </a:r>
            <a:r>
              <a:rPr lang="en-US" b="1" i="0" dirty="0" err="1">
                <a:solidFill>
                  <a:srgbClr val="0000FF"/>
                </a:solidFill>
                <a:effectLst/>
                <a:latin typeface="arial" panose="020B0604020202020204" pitchFamily="34" charset="0"/>
              </a:rPr>
              <a:t>System.Diagnostics.Process.GetCurrentProcess</a:t>
            </a:r>
            <a:r>
              <a:rPr lang="en-US" b="1" i="0" dirty="0">
                <a:solidFill>
                  <a:srgbClr val="0000FF"/>
                </a:solidFill>
                <a:effectLst/>
                <a:latin typeface="arial" panose="020B0604020202020204" pitchFamily="34" charset="0"/>
              </a:rPr>
              <a:t>().</a:t>
            </a:r>
            <a:r>
              <a:rPr lang="en-US" b="1" i="0" dirty="0" err="1">
                <a:solidFill>
                  <a:srgbClr val="0000FF"/>
                </a:solidFill>
                <a:effectLst/>
                <a:latin typeface="arial" panose="020B0604020202020204" pitchFamily="34" charset="0"/>
              </a:rPr>
              <a:t>ProcessName</a:t>
            </a:r>
            <a:r>
              <a:rPr lang="en-US" b="0" i="0" dirty="0">
                <a:solidFill>
                  <a:srgbClr val="000000"/>
                </a:solidFill>
                <a:effectLst/>
                <a:latin typeface="arial" panose="020B0604020202020204" pitchFamily="34" charset="0"/>
              </a:rPr>
              <a:t> within the Startup as shown below. </a:t>
            </a:r>
            <a:endParaRPr lang="en-IN" dirty="0"/>
          </a:p>
        </p:txBody>
      </p:sp>
      <p:sp>
        <p:nvSpPr>
          <p:cNvPr id="3" name="TextBox 2">
            <a:extLst>
              <a:ext uri="{FF2B5EF4-FFF2-40B4-BE49-F238E27FC236}">
                <a16:creationId xmlns:a16="http://schemas.microsoft.com/office/drawing/2014/main" id="{43FDBA6F-7CBA-5907-17A1-2AE2D0C8ADDE}"/>
              </a:ext>
            </a:extLst>
          </p:cNvPr>
          <p:cNvSpPr txBox="1"/>
          <p:nvPr/>
        </p:nvSpPr>
        <p:spPr>
          <a:xfrm>
            <a:off x="6095999" y="763460"/>
            <a:ext cx="5579097" cy="172354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9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app.UseEndpoints</a:t>
            </a:r>
            <a:r>
              <a:rPr lang="en-IN" sz="1100" dirty="0">
                <a:solidFill>
                  <a:srgbClr val="000000"/>
                </a:solidFill>
                <a:latin typeface="Cascadia Mono" panose="020B0609020000020004" pitchFamily="49" charset="0"/>
              </a:rPr>
              <a:t>(endpoints =&gt;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endpoints.MapGet</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a:t>
            </a:r>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async</a:t>
            </a:r>
            <a:r>
              <a:rPr lang="en-IN" sz="1100" dirty="0">
                <a:solidFill>
                  <a:srgbClr val="000000"/>
                </a:solidFill>
                <a:latin typeface="Cascadia Mono" panose="020B0609020000020004" pitchFamily="49" charset="0"/>
              </a:rPr>
              <a:t> context =&gt;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await</a:t>
            </a:r>
            <a:r>
              <a:rPr lang="en-IN" sz="1100" dirty="0">
                <a:solidFill>
                  <a:srgbClr val="000000"/>
                </a:solidFill>
                <a:latin typeface="Cascadia Mono" panose="020B0609020000020004" pitchFamily="49" charset="0"/>
              </a:rPr>
              <a:t> </a:t>
            </a:r>
            <a:r>
              <a:rPr lang="en-IN" sz="1100" dirty="0" err="1">
                <a:solidFill>
                  <a:srgbClr val="000000"/>
                </a:solidFill>
                <a:latin typeface="Cascadia Mono" panose="020B0609020000020004" pitchFamily="49" charset="0"/>
              </a:rPr>
              <a:t>context.Response.WriteAsync</a:t>
            </a:r>
            <a:r>
              <a:rPr lang="en-IN" sz="1100" dirty="0">
                <a:solidFill>
                  <a:srgbClr val="000000"/>
                </a:solidFill>
                <a:latin typeface="Cascadia Mono" panose="020B0609020000020004" pitchFamily="49" charset="0"/>
              </a:rPr>
              <a:t>(</a:t>
            </a:r>
            <a:r>
              <a:rPr lang="en-IN" sz="1100" dirty="0">
                <a:solidFill>
                  <a:srgbClr val="A31515"/>
                </a:solidFill>
                <a:latin typeface="Cascadia Mono" panose="020B0609020000020004" pitchFamily="49" charset="0"/>
              </a:rPr>
              <a:t>"Worker Process Name : "</a:t>
            </a:r>
            <a:r>
              <a:rPr lang="en-IN" sz="1100" dirty="0">
                <a:solidFill>
                  <a:srgbClr val="000000"/>
                </a:solidFill>
                <a:latin typeface="Cascadia Mono" panose="020B0609020000020004" pitchFamily="49" charset="0"/>
              </a:rPr>
              <a:t> + </a:t>
            </a:r>
            <a:r>
              <a:rPr lang="en-IN" sz="1100" dirty="0" err="1">
                <a:solidFill>
                  <a:srgbClr val="000000"/>
                </a:solidFill>
                <a:latin typeface="Cascadia Mono" panose="020B0609020000020004" pitchFamily="49" charset="0"/>
              </a:rPr>
              <a:t>System.Diagnostics.Process.GetCurrentProcess</a:t>
            </a:r>
            <a:r>
              <a:rPr lang="en-IN" sz="1100" dirty="0">
                <a:solidFill>
                  <a:srgbClr val="000000"/>
                </a:solidFill>
                <a:latin typeface="Cascadia Mono" panose="020B0609020000020004" pitchFamily="49" charset="0"/>
              </a:rPr>
              <a:t>().</a:t>
            </a:r>
            <a:r>
              <a:rPr lang="en-IN" sz="1100" dirty="0" err="1">
                <a:solidFill>
                  <a:srgbClr val="000000"/>
                </a:solidFill>
                <a:latin typeface="Cascadia Mono" panose="020B0609020000020004" pitchFamily="49" charset="0"/>
              </a:rPr>
              <a:t>ProcessName</a:t>
            </a:r>
            <a:r>
              <a:rPr lang="en-IN" sz="1100" dirty="0">
                <a:solidFill>
                  <a:srgbClr val="000000"/>
                </a:solidFill>
                <a:latin typeface="Cascadia Mono" panose="020B0609020000020004" pitchFamily="49" charset="0"/>
              </a:rPr>
              <a:t>);</a:t>
            </a:r>
          </a:p>
          <a:p>
            <a:r>
              <a:rPr lang="en-IN" sz="1100" dirty="0">
                <a:solidFill>
                  <a:srgbClr val="000000"/>
                </a:solidFill>
                <a:latin typeface="Cascadia Mono" panose="020B0609020000020004" pitchFamily="49" charset="0"/>
              </a:rPr>
              <a:t>                });</a:t>
            </a:r>
          </a:p>
          <a:p>
            <a:r>
              <a:rPr lang="en-IN" sz="11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Take </a:t>
            </a:r>
            <a:r>
              <a:rPr lang="en-IN" sz="900" dirty="0" err="1">
                <a:solidFill>
                  <a:srgbClr val="000000"/>
                </a:solidFill>
                <a:latin typeface="Cascadia Mono" panose="020B0609020000020004" pitchFamily="49" charset="0"/>
              </a:rPr>
              <a:t>mvc</a:t>
            </a:r>
            <a:r>
              <a:rPr lang="en-IN" sz="900" dirty="0">
                <a:solidFill>
                  <a:srgbClr val="000000"/>
                </a:solidFill>
                <a:latin typeface="Cascadia Mono" panose="020B0609020000020004" pitchFamily="49" charset="0"/>
              </a:rPr>
              <a:t> PROJECT</a:t>
            </a:r>
            <a:endParaRPr lang="en-IN" dirty="0"/>
          </a:p>
        </p:txBody>
      </p:sp>
      <p:sp>
        <p:nvSpPr>
          <p:cNvPr id="4" name="TextBox 3">
            <a:extLst>
              <a:ext uri="{FF2B5EF4-FFF2-40B4-BE49-F238E27FC236}">
                <a16:creationId xmlns:a16="http://schemas.microsoft.com/office/drawing/2014/main" id="{DE419E3D-38D9-2ACE-029F-87B156ECE874}"/>
              </a:ext>
            </a:extLst>
          </p:cNvPr>
          <p:cNvSpPr txBox="1"/>
          <p:nvPr/>
        </p:nvSpPr>
        <p:spPr>
          <a:xfrm>
            <a:off x="371291" y="4402317"/>
            <a:ext cx="4738037" cy="1200329"/>
          </a:xfrm>
          <a:prstGeom prst="rect">
            <a:avLst/>
          </a:prstGeom>
          <a:noFill/>
        </p:spPr>
        <p:txBody>
          <a:bodyPr wrap="square">
            <a:spAutoFit/>
          </a:bodyPr>
          <a:lstStyle/>
          <a:p>
            <a:pPr fontAlgn="base"/>
            <a:r>
              <a:rPr lang="en-US" b="0" i="0" dirty="0">
                <a:solidFill>
                  <a:srgbClr val="000000"/>
                </a:solidFill>
                <a:effectLst/>
                <a:latin typeface="arial" panose="020B0604020202020204" pitchFamily="34" charset="0"/>
              </a:rPr>
              <a:t>Now when we run the application from visual studio, and it should display the message in the browser as shown below.</a:t>
            </a:r>
            <a:br>
              <a:rPr lang="en-US" dirty="0"/>
            </a:br>
            <a:endParaRPr lang="en-IN" dirty="0"/>
          </a:p>
        </p:txBody>
      </p:sp>
      <p:pic>
        <p:nvPicPr>
          <p:cNvPr id="6" name="Picture 2" descr="IIS Express in ASP.NET Core">
            <a:extLst>
              <a:ext uri="{FF2B5EF4-FFF2-40B4-BE49-F238E27FC236}">
                <a16:creationId xmlns:a16="http://schemas.microsoft.com/office/drawing/2014/main" id="{ED4466B3-3C53-0083-DA45-B2D3F5E381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168" y="5602646"/>
            <a:ext cx="2990850" cy="5334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54D101B-655B-4FD1-FE9D-DC3E1CC18BA1}"/>
              </a:ext>
            </a:extLst>
          </p:cNvPr>
          <p:cNvSpPr txBox="1"/>
          <p:nvPr/>
        </p:nvSpPr>
        <p:spPr>
          <a:xfrm>
            <a:off x="5991409" y="2709346"/>
            <a:ext cx="5767972" cy="923330"/>
          </a:xfrm>
          <a:prstGeom prst="rect">
            <a:avLst/>
          </a:prstGeom>
          <a:noFill/>
        </p:spPr>
        <p:txBody>
          <a:bodyPr wrap="square">
            <a:spAutoFit/>
          </a:bodyPr>
          <a:lstStyle/>
          <a:p>
            <a:r>
              <a:rPr lang="en-US" b="0" i="0" dirty="0">
                <a:solidFill>
                  <a:srgbClr val="000000"/>
                </a:solidFill>
                <a:effectLst/>
                <a:latin typeface="arial" panose="020B0604020202020204" pitchFamily="34" charset="0"/>
              </a:rPr>
              <a:t>This is because by default Visual Studio uses </a:t>
            </a:r>
            <a:r>
              <a:rPr lang="en-US" b="0" i="0" dirty="0" err="1">
                <a:solidFill>
                  <a:srgbClr val="000000"/>
                </a:solidFill>
                <a:effectLst/>
                <a:latin typeface="arial" panose="020B0604020202020204" pitchFamily="34" charset="0"/>
              </a:rPr>
              <a:t>IISExpress</a:t>
            </a:r>
            <a:r>
              <a:rPr lang="en-US" b="0" i="0" dirty="0">
                <a:solidFill>
                  <a:srgbClr val="000000"/>
                </a:solidFill>
                <a:effectLst/>
                <a:latin typeface="arial" panose="020B0604020202020204" pitchFamily="34" charset="0"/>
              </a:rPr>
              <a:t> when we run an application as shown in the below image.</a:t>
            </a:r>
            <a:endParaRPr lang="en-IN" dirty="0"/>
          </a:p>
        </p:txBody>
      </p:sp>
      <p:pic>
        <p:nvPicPr>
          <p:cNvPr id="9" name="Picture 4" descr="What is IIS Express?">
            <a:extLst>
              <a:ext uri="{FF2B5EF4-FFF2-40B4-BE49-F238E27FC236}">
                <a16:creationId xmlns:a16="http://schemas.microsoft.com/office/drawing/2014/main" id="{F4F7E9E7-6C27-A814-0EAE-EFC1666601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1196" y="3432044"/>
            <a:ext cx="3028094" cy="73342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AE77398-A18D-F3CA-8BC8-779A940B00BE}"/>
              </a:ext>
            </a:extLst>
          </p:cNvPr>
          <p:cNvSpPr txBox="1"/>
          <p:nvPr/>
        </p:nvSpPr>
        <p:spPr>
          <a:xfrm>
            <a:off x="6132135" y="4144265"/>
            <a:ext cx="3028094" cy="369332"/>
          </a:xfrm>
          <a:prstGeom prst="rect">
            <a:avLst/>
          </a:prstGeom>
          <a:noFill/>
        </p:spPr>
        <p:txBody>
          <a:bodyPr wrap="square">
            <a:spAutoFit/>
          </a:bodyPr>
          <a:lstStyle/>
          <a:p>
            <a:pPr algn="just" fontAlgn="base"/>
            <a:r>
              <a:rPr lang="en-IN" b="1" i="0" dirty="0">
                <a:solidFill>
                  <a:srgbClr val="000000"/>
                </a:solidFill>
                <a:effectLst/>
                <a:latin typeface="arial" panose="020B0604020202020204" pitchFamily="34" charset="0"/>
              </a:rPr>
              <a:t>What is IIS Express?</a:t>
            </a:r>
            <a:endParaRPr lang="en-IN" b="0" i="0" dirty="0">
              <a:solidFill>
                <a:srgbClr val="3A3A3A"/>
              </a:solidFill>
              <a:effectLst/>
              <a:latin typeface="-apple-system"/>
            </a:endParaRPr>
          </a:p>
        </p:txBody>
      </p:sp>
      <p:sp>
        <p:nvSpPr>
          <p:cNvPr id="12" name="TextBox 11">
            <a:extLst>
              <a:ext uri="{FF2B5EF4-FFF2-40B4-BE49-F238E27FC236}">
                <a16:creationId xmlns:a16="http://schemas.microsoft.com/office/drawing/2014/main" id="{D69F71A8-7EDC-C4C6-E040-B96C18C1A28E}"/>
              </a:ext>
            </a:extLst>
          </p:cNvPr>
          <p:cNvSpPr txBox="1"/>
          <p:nvPr/>
        </p:nvSpPr>
        <p:spPr>
          <a:xfrm>
            <a:off x="6095999" y="4677058"/>
            <a:ext cx="5596139" cy="1754326"/>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IIS Express is a lightweight, self-contained version of IIS. It is optimized for web application development. The most important point that you need to remember is we use IIS Express only in development, not on production. In production we generally use IIS</a:t>
            </a:r>
            <a:endParaRPr lang="en-IN" dirty="0"/>
          </a:p>
        </p:txBody>
      </p:sp>
    </p:spTree>
    <p:extLst>
      <p:ext uri="{BB962C8B-B14F-4D97-AF65-F5344CB8AC3E}">
        <p14:creationId xmlns:p14="http://schemas.microsoft.com/office/powerpoint/2010/main" val="2065461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B0329D-9826-D1E4-411D-E9EC85216301}"/>
              </a:ext>
            </a:extLst>
          </p:cNvPr>
          <p:cNvSpPr>
            <a:spLocks noGrp="1"/>
          </p:cNvSpPr>
          <p:nvPr>
            <p:ph idx="1"/>
          </p:nvPr>
        </p:nvSpPr>
        <p:spPr>
          <a:xfrm>
            <a:off x="226243" y="292231"/>
            <a:ext cx="4958499" cy="980388"/>
          </a:xfrm>
        </p:spPr>
        <p:txBody>
          <a:bodyPr>
            <a:normAutofit lnSpcReduction="10000"/>
          </a:bodyPr>
          <a:lstStyle/>
          <a:p>
            <a:r>
              <a:rPr lang="en-US" dirty="0"/>
              <a:t>Steps</a:t>
            </a:r>
          </a:p>
          <a:p>
            <a:r>
              <a:rPr lang="en-US" dirty="0"/>
              <a:t>Create MVC Application</a:t>
            </a:r>
            <a:endParaRPr lang="en-IN" dirty="0"/>
          </a:p>
        </p:txBody>
      </p:sp>
      <p:sp>
        <p:nvSpPr>
          <p:cNvPr id="5" name="TextBox 4">
            <a:extLst>
              <a:ext uri="{FF2B5EF4-FFF2-40B4-BE49-F238E27FC236}">
                <a16:creationId xmlns:a16="http://schemas.microsoft.com/office/drawing/2014/main" id="{C5AC0C85-7F76-CE89-3D22-F75F75B29431}"/>
              </a:ext>
            </a:extLst>
          </p:cNvPr>
          <p:cNvSpPr txBox="1"/>
          <p:nvPr/>
        </p:nvSpPr>
        <p:spPr>
          <a:xfrm>
            <a:off x="5385062" y="128096"/>
            <a:ext cx="6094428" cy="6601807"/>
          </a:xfrm>
          <a:prstGeom prst="rect">
            <a:avLst/>
          </a:prstGeom>
          <a:noFill/>
        </p:spPr>
        <p:txBody>
          <a:bodyPr wrap="square">
            <a:spAutoFit/>
          </a:bodyPr>
          <a:lstStyle/>
          <a:p>
            <a:r>
              <a:rPr lang="en-IN" sz="900" dirty="0">
                <a:solidFill>
                  <a:srgbClr val="0000FF"/>
                </a:solidFill>
                <a:latin typeface="Cascadia Mono" panose="020B0609020000020004" pitchFamily="49" charset="0"/>
              </a:rPr>
              <a:t>namespace</a:t>
            </a:r>
            <a:r>
              <a:rPr lang="en-IN" sz="900" dirty="0">
                <a:solidFill>
                  <a:srgbClr val="000000"/>
                </a:solidFill>
                <a:latin typeface="Cascadia Mono" panose="020B0609020000020004" pitchFamily="49" charset="0"/>
              </a:rPr>
              <a:t> _01MVC</a:t>
            </a: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public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void</a:t>
            </a:r>
            <a:r>
              <a:rPr lang="en-US" sz="900" dirty="0">
                <a:solidFill>
                  <a:srgbClr val="000000"/>
                </a:solidFill>
                <a:latin typeface="Cascadia Mono" panose="020B0609020000020004" pitchFamily="49" charset="0"/>
              </a:rPr>
              <a:t> Main(</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builder = </a:t>
            </a:r>
            <a:r>
              <a:rPr lang="en-US" sz="900" dirty="0" err="1">
                <a:solidFill>
                  <a:srgbClr val="000000"/>
                </a:solidFill>
                <a:latin typeface="Cascadia Mono" panose="020B0609020000020004" pitchFamily="49" charset="0"/>
              </a:rPr>
              <a:t>WebApplication.CreateBuilder</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args</a:t>
            </a:r>
            <a:r>
              <a:rPr lang="en-US"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Add services to the container.</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builder.Services.AddControllersWithViews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app = </a:t>
            </a:r>
            <a:r>
              <a:rPr lang="en-IN" sz="900" dirty="0" err="1">
                <a:solidFill>
                  <a:srgbClr val="000000"/>
                </a:solidFill>
                <a:latin typeface="Cascadia Mono" panose="020B0609020000020004" pitchFamily="49" charset="0"/>
              </a:rPr>
              <a:t>builder.Build</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Configure the HTTP request pipeline.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app.Environment.IsDevelopment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app.UseExceptionHandler</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"/Home/Error"</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The default HSTS value is 30 days. You may want to change this for production scenarios, see https://aka.ms/aspnetcore-hsts.</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app.UseHsts</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app.UseHttpsRedirection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app.UseStaticFiles</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app.UseRouting</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app.UseAuthorization</a:t>
            </a:r>
            <a:r>
              <a:rPr lang="en-IN" sz="900" dirty="0">
                <a:solidFill>
                  <a:srgbClr val="000000"/>
                </a:solidFill>
                <a:latin typeface="Cascadia Mono" panose="020B0609020000020004" pitchFamily="49" charset="0"/>
              </a:rPr>
              <a:t>();</a:t>
            </a: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8000"/>
                </a:solidFill>
                <a:latin typeface="Cascadia Mono" panose="020B0609020000020004" pitchFamily="49" charset="0"/>
              </a:rPr>
              <a:t>/*  </a:t>
            </a:r>
            <a:r>
              <a:rPr lang="en-IN" sz="900" dirty="0" err="1">
                <a:solidFill>
                  <a:srgbClr val="008000"/>
                </a:solidFill>
                <a:latin typeface="Cascadia Mono" panose="020B0609020000020004" pitchFamily="49" charset="0"/>
              </a:rPr>
              <a:t>app.MapControllerRoute</a:t>
            </a:r>
            <a:r>
              <a:rPr lang="en-IN" sz="900" dirty="0">
                <a:solidFill>
                  <a:srgbClr val="008000"/>
                </a:solidFill>
                <a:latin typeface="Cascadia Mono" panose="020B0609020000020004" pitchFamily="49" charset="0"/>
              </a:rPr>
              <a:t>(</a:t>
            </a:r>
          </a:p>
          <a:p>
            <a:r>
              <a:rPr lang="en-IN" sz="900" dirty="0">
                <a:solidFill>
                  <a:srgbClr val="008000"/>
                </a:solidFill>
                <a:latin typeface="Cascadia Mono" panose="020B0609020000020004" pitchFamily="49" charset="0"/>
              </a:rPr>
              <a:t>                  name: "default",</a:t>
            </a:r>
          </a:p>
          <a:p>
            <a:r>
              <a:rPr lang="en-IN" sz="900" dirty="0">
                <a:solidFill>
                  <a:srgbClr val="008000"/>
                </a:solidFill>
                <a:latin typeface="Cascadia Mono" panose="020B0609020000020004" pitchFamily="49" charset="0"/>
              </a:rPr>
              <a:t>                  pattern: "{controller=Home}/{action=Index}/{id?}");</a:t>
            </a:r>
          </a:p>
          <a:p>
            <a:r>
              <a:rPr lang="en-IN" sz="900" dirty="0">
                <a:solidFill>
                  <a:srgbClr val="008000"/>
                </a:solidFill>
                <a:latin typeface="Cascadia Mono" panose="020B0609020000020004" pitchFamily="49" charset="0"/>
              </a:rPr>
              <a:t>            */</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app.UseEndpoints</a:t>
            </a:r>
            <a:r>
              <a:rPr lang="en-IN" sz="900" dirty="0">
                <a:solidFill>
                  <a:srgbClr val="000000"/>
                </a:solidFill>
                <a:latin typeface="Cascadia Mono" panose="020B0609020000020004" pitchFamily="49" charset="0"/>
              </a:rPr>
              <a:t>(endpoints =&gt;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endpoints.MapGet</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async</a:t>
            </a:r>
            <a:r>
              <a:rPr lang="en-IN" sz="900" dirty="0">
                <a:solidFill>
                  <a:srgbClr val="000000"/>
                </a:solidFill>
                <a:latin typeface="Cascadia Mono" panose="020B0609020000020004" pitchFamily="49" charset="0"/>
              </a:rPr>
              <a:t> context =&gt;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await</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context.Response.WriteAsync</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"Worker Process Name : "</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System.Diagnostics.Process.GetCurrentProcess</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ProcessName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endParaRPr lang="en-IN" sz="900" dirty="0">
              <a:solidFill>
                <a:srgbClr val="000000"/>
              </a:solidFill>
              <a:latin typeface="Cascadia Mono" panose="020B0609020000020004" pitchFamily="49" charset="0"/>
            </a:endParaRPr>
          </a:p>
          <a:p>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app.Run</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spTree>
    <p:extLst>
      <p:ext uri="{BB962C8B-B14F-4D97-AF65-F5344CB8AC3E}">
        <p14:creationId xmlns:p14="http://schemas.microsoft.com/office/powerpoint/2010/main" val="257243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2D873D-93A7-4566-8976-430BF589F5E9}"/>
              </a:ext>
            </a:extLst>
          </p:cNvPr>
          <p:cNvSpPr txBox="1"/>
          <p:nvPr/>
        </p:nvSpPr>
        <p:spPr>
          <a:xfrm>
            <a:off x="314631" y="109454"/>
            <a:ext cx="10677833" cy="369332"/>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Why </a:t>
            </a:r>
            <a:r>
              <a:rPr lang="en-US" b="1" i="0" dirty="0" err="1">
                <a:solidFill>
                  <a:srgbClr val="000000"/>
                </a:solidFill>
                <a:effectLst/>
                <a:latin typeface="arial" panose="020B0604020202020204" pitchFamily="34" charset="0"/>
              </a:rPr>
              <a:t>InProcess</a:t>
            </a:r>
            <a:r>
              <a:rPr lang="en-US" b="1" i="0" dirty="0">
                <a:solidFill>
                  <a:srgbClr val="000000"/>
                </a:solidFill>
                <a:effectLst/>
                <a:latin typeface="arial" panose="020B0604020202020204" pitchFamily="34" charset="0"/>
              </a:rPr>
              <a:t> Hosting Gives Better Performance that the </a:t>
            </a:r>
            <a:r>
              <a:rPr lang="en-US" b="1" i="0" dirty="0" err="1">
                <a:solidFill>
                  <a:srgbClr val="000000"/>
                </a:solidFill>
                <a:effectLst/>
                <a:latin typeface="arial" panose="020B0604020202020204" pitchFamily="34" charset="0"/>
              </a:rPr>
              <a:t>OutOfProcess</a:t>
            </a:r>
            <a:r>
              <a:rPr lang="en-US" b="1" i="0" dirty="0">
                <a:solidFill>
                  <a:srgbClr val="000000"/>
                </a:solidFill>
                <a:effectLst/>
                <a:latin typeface="arial" panose="020B0604020202020204" pitchFamily="34" charset="0"/>
              </a:rPr>
              <a:t> Hosting Model?</a:t>
            </a:r>
            <a:endParaRPr lang="en-US" b="0" i="0" dirty="0">
              <a:solidFill>
                <a:srgbClr val="3A3A3A"/>
              </a:solidFill>
              <a:effectLst/>
              <a:latin typeface="-apple-system"/>
            </a:endParaRPr>
          </a:p>
        </p:txBody>
      </p:sp>
      <p:sp>
        <p:nvSpPr>
          <p:cNvPr id="7" name="TextBox 6">
            <a:extLst>
              <a:ext uri="{FF2B5EF4-FFF2-40B4-BE49-F238E27FC236}">
                <a16:creationId xmlns:a16="http://schemas.microsoft.com/office/drawing/2014/main" id="{1CD5066F-D18D-4C85-884E-C32B103EE537}"/>
              </a:ext>
            </a:extLst>
          </p:cNvPr>
          <p:cNvSpPr txBox="1"/>
          <p:nvPr/>
        </p:nvSpPr>
        <p:spPr>
          <a:xfrm>
            <a:off x="314631" y="640054"/>
            <a:ext cx="11779046" cy="2862322"/>
          </a:xfrm>
          <a:prstGeom prst="rect">
            <a:avLst/>
          </a:prstGeom>
          <a:noFill/>
        </p:spPr>
        <p:txBody>
          <a:bodyPr wrap="square">
            <a:spAutoFit/>
          </a:bodyPr>
          <a:lstStyle/>
          <a:p>
            <a:pPr algn="just" fontAlgn="base"/>
            <a:r>
              <a:rPr lang="en-US" b="0" i="0" dirty="0">
                <a:solidFill>
                  <a:srgbClr val="000000"/>
                </a:solidFill>
                <a:effectLst/>
                <a:latin typeface="arial" panose="020B0604020202020204" pitchFamily="34" charset="0"/>
              </a:rPr>
              <a:t>In the case of </a:t>
            </a:r>
            <a:r>
              <a:rPr lang="en-US" b="1" i="0" dirty="0" err="1">
                <a:solidFill>
                  <a:srgbClr val="000000"/>
                </a:solidFill>
                <a:effectLst/>
                <a:latin typeface="arial" panose="020B0604020202020204" pitchFamily="34" charset="0"/>
              </a:rPr>
              <a:t>OutOfProcess</a:t>
            </a:r>
            <a:r>
              <a:rPr lang="en-US" b="0" i="0" dirty="0">
                <a:solidFill>
                  <a:srgbClr val="000000"/>
                </a:solidFill>
                <a:effectLst/>
                <a:latin typeface="arial" panose="020B0604020202020204" pitchFamily="34" charset="0"/>
              </a:rPr>
              <a:t> hosting, there are 2 web servers</a:t>
            </a:r>
          </a:p>
          <a:p>
            <a:pPr algn="just" fontAlgn="base"/>
            <a:endParaRPr lang="en-US" b="0" i="0" dirty="0">
              <a:solidFill>
                <a:srgbClr val="212529"/>
              </a:solidFill>
              <a:effectLst/>
              <a:latin typeface="-apple-system"/>
            </a:endParaRPr>
          </a:p>
          <a:p>
            <a:pPr algn="just" fontAlgn="base">
              <a:buFont typeface="+mj-lt"/>
              <a:buAutoNum type="arabicPeriod"/>
            </a:pPr>
            <a:r>
              <a:rPr lang="en-US" b="0" i="0" dirty="0">
                <a:solidFill>
                  <a:srgbClr val="000000"/>
                </a:solidFill>
                <a:effectLst/>
                <a:latin typeface="arial" panose="020B0604020202020204" pitchFamily="34" charset="0"/>
              </a:rPr>
              <a:t>An internal web server and</a:t>
            </a:r>
            <a:endParaRPr lang="en-US" b="0" i="0" dirty="0">
              <a:solidFill>
                <a:srgbClr val="212529"/>
              </a:solidFill>
              <a:effectLst/>
              <a:latin typeface="-apple-system"/>
            </a:endParaRPr>
          </a:p>
          <a:p>
            <a:pPr algn="just" fontAlgn="base">
              <a:buFont typeface="+mj-lt"/>
              <a:buAutoNum type="arabicPeriod"/>
            </a:pPr>
            <a:r>
              <a:rPr lang="en-US" b="0" i="0" dirty="0">
                <a:solidFill>
                  <a:srgbClr val="000000"/>
                </a:solidFill>
                <a:effectLst/>
                <a:latin typeface="arial" panose="020B0604020202020204" pitchFamily="34" charset="0"/>
              </a:rPr>
              <a:t>One external web server.</a:t>
            </a:r>
          </a:p>
          <a:p>
            <a:pPr algn="just" fontAlgn="base">
              <a:buFont typeface="+mj-lt"/>
              <a:buAutoNum type="arabicPeriod"/>
            </a:pP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The internal web server is called </a:t>
            </a:r>
            <a:r>
              <a:rPr lang="en-US" b="1" i="0" u="none" strike="noStrike" dirty="0">
                <a:solidFill>
                  <a:srgbClr val="007BFF"/>
                </a:solidFill>
                <a:effectLst/>
                <a:latin typeface="arial" panose="020B0604020202020204" pitchFamily="34" charset="0"/>
              </a:rPr>
              <a:t>Kestrel </a:t>
            </a:r>
            <a:r>
              <a:rPr lang="en-US" b="0" i="0" dirty="0">
                <a:solidFill>
                  <a:srgbClr val="000000"/>
                </a:solidFill>
                <a:effectLst/>
                <a:latin typeface="arial" panose="020B0604020202020204" pitchFamily="34" charset="0"/>
              </a:rPr>
              <a:t>and the external web server can be </a:t>
            </a:r>
            <a:r>
              <a:rPr lang="en-US" b="1" i="0" dirty="0">
                <a:solidFill>
                  <a:srgbClr val="000000"/>
                </a:solidFill>
                <a:effectLst/>
                <a:latin typeface="arial" panose="020B0604020202020204" pitchFamily="34" charset="0"/>
              </a:rPr>
              <a:t>IIS</a:t>
            </a:r>
            <a:r>
              <a:rPr lang="en-US" b="0" i="0" dirty="0">
                <a:solidFill>
                  <a:srgbClr val="000000"/>
                </a:solidFill>
                <a:effectLst/>
                <a:latin typeface="arial" panose="020B0604020202020204" pitchFamily="34" charset="0"/>
              </a:rPr>
              <a:t>, </a:t>
            </a:r>
            <a:r>
              <a:rPr lang="en-US" b="1" i="0" dirty="0">
                <a:solidFill>
                  <a:srgbClr val="000000"/>
                </a:solidFill>
                <a:effectLst/>
                <a:latin typeface="arial" panose="020B0604020202020204" pitchFamily="34" charset="0"/>
              </a:rPr>
              <a:t>Nginx,</a:t>
            </a:r>
            <a:r>
              <a:rPr lang="en-US" b="0" i="0" dirty="0">
                <a:solidFill>
                  <a:srgbClr val="000000"/>
                </a:solidFill>
                <a:effectLst/>
                <a:latin typeface="arial" panose="020B0604020202020204" pitchFamily="34" charset="0"/>
              </a:rPr>
              <a:t> or </a:t>
            </a:r>
            <a:r>
              <a:rPr lang="en-US" b="1" i="0" dirty="0">
                <a:solidFill>
                  <a:srgbClr val="000000"/>
                </a:solidFill>
                <a:effectLst/>
                <a:latin typeface="arial" panose="020B0604020202020204" pitchFamily="34" charset="0"/>
              </a:rPr>
              <a:t>Apache</a:t>
            </a:r>
            <a:r>
              <a:rPr lang="en-US" b="0" i="0" dirty="0">
                <a:solidFill>
                  <a:srgbClr val="000000"/>
                </a:solidFill>
                <a:effectLst/>
                <a:latin typeface="arial" panose="020B0604020202020204" pitchFamily="34" charset="0"/>
              </a:rPr>
              <a:t>. With the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hosting model, there is only one web server</a:t>
            </a:r>
            <a:r>
              <a:rPr lang="en-US" b="1" i="0" dirty="0">
                <a:solidFill>
                  <a:srgbClr val="000000"/>
                </a:solidFill>
                <a:effectLst/>
                <a:latin typeface="arial" panose="020B0604020202020204" pitchFamily="34" charset="0"/>
              </a:rPr>
              <a:t> </a:t>
            </a:r>
            <a:r>
              <a:rPr lang="en-US" b="0" i="0" dirty="0">
                <a:solidFill>
                  <a:srgbClr val="000000"/>
                </a:solidFill>
                <a:effectLst/>
                <a:latin typeface="arial" panose="020B0604020202020204" pitchFamily="34" charset="0"/>
              </a:rPr>
              <a:t>i.e. IIS. So, in the case of the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hosting model, we do not have the performance penalty for navigating the requests between the internal and external web servers. This is the reason why the </a:t>
            </a:r>
            <a:r>
              <a:rPr lang="en-US" b="0" i="0" dirty="0" err="1">
                <a:solidFill>
                  <a:srgbClr val="000000"/>
                </a:solidFill>
                <a:effectLst/>
                <a:latin typeface="arial" panose="020B0604020202020204" pitchFamily="34" charset="0"/>
              </a:rPr>
              <a:t>InProcess</a:t>
            </a:r>
            <a:r>
              <a:rPr lang="en-US" b="0" i="0" dirty="0">
                <a:solidFill>
                  <a:srgbClr val="000000"/>
                </a:solidFill>
                <a:effectLst/>
                <a:latin typeface="arial" panose="020B0604020202020204" pitchFamily="34" charset="0"/>
              </a:rPr>
              <a:t> hosting model delivers significantly higher request throughput than the </a:t>
            </a:r>
            <a:r>
              <a:rPr lang="en-US" b="0" i="0" dirty="0" err="1">
                <a:solidFill>
                  <a:srgbClr val="000000"/>
                </a:solidFill>
                <a:effectLst/>
                <a:latin typeface="arial" panose="020B0604020202020204" pitchFamily="34" charset="0"/>
              </a:rPr>
              <a:t>OutOfProcess</a:t>
            </a:r>
            <a:r>
              <a:rPr lang="en-US" b="0" i="0" dirty="0">
                <a:solidFill>
                  <a:srgbClr val="000000"/>
                </a:solidFill>
                <a:effectLst/>
                <a:latin typeface="arial" panose="020B0604020202020204" pitchFamily="34" charset="0"/>
              </a:rPr>
              <a:t> hosting model.</a:t>
            </a:r>
            <a:endParaRPr lang="en-US" b="0" i="0" dirty="0">
              <a:solidFill>
                <a:srgbClr val="212529"/>
              </a:solidFill>
              <a:effectLst/>
              <a:latin typeface="-apple-system"/>
            </a:endParaRPr>
          </a:p>
        </p:txBody>
      </p:sp>
      <p:pic>
        <p:nvPicPr>
          <p:cNvPr id="10242" name="Picture 2" descr="Why InProcess Hosting Gives Better Performance that the OutOfProcess Hosting Model?">
            <a:extLst>
              <a:ext uri="{FF2B5EF4-FFF2-40B4-BE49-F238E27FC236}">
                <a16:creationId xmlns:a16="http://schemas.microsoft.com/office/drawing/2014/main" id="{8B3D8306-C54D-446B-B6E7-7F68E6DB1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2321" y="3476472"/>
            <a:ext cx="8039100"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0673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9F19AD-0225-FEA4-F35B-34618CFF53D4}"/>
              </a:ext>
            </a:extLst>
          </p:cNvPr>
          <p:cNvSpPr>
            <a:spLocks noGrp="1"/>
          </p:cNvSpPr>
          <p:nvPr>
            <p:ph idx="1"/>
          </p:nvPr>
        </p:nvSpPr>
        <p:spPr>
          <a:xfrm>
            <a:off x="545969" y="741542"/>
            <a:ext cx="10515600" cy="4351338"/>
          </a:xfrm>
        </p:spPr>
        <p:txBody>
          <a:bodyPr>
            <a:normAutofit/>
          </a:bodyPr>
          <a:lstStyle/>
          <a:p>
            <a:pPr marL="0" indent="0">
              <a:buNone/>
            </a:pPr>
            <a:r>
              <a:rPr lang="en-US" sz="1400" dirty="0">
                <a:solidFill>
                  <a:srgbClr val="000000"/>
                </a:solidFill>
                <a:latin typeface="arial" panose="020B0604020202020204" pitchFamily="34" charset="0"/>
              </a:rPr>
              <a:t>Q1. What is </a:t>
            </a:r>
            <a:r>
              <a:rPr lang="en-US" sz="1400" dirty="0" err="1">
                <a:solidFill>
                  <a:srgbClr val="000000"/>
                </a:solidFill>
                <a:latin typeface="arial" panose="020B0604020202020204" pitchFamily="34" charset="0"/>
              </a:rPr>
              <a:t>InprocessHosting</a:t>
            </a:r>
            <a:r>
              <a:rPr lang="en-US" sz="1400" dirty="0">
                <a:solidFill>
                  <a:srgbClr val="000000"/>
                </a:solidFill>
                <a:latin typeface="arial" panose="020B0604020202020204" pitchFamily="34" charset="0"/>
              </a:rPr>
              <a:t>?</a:t>
            </a:r>
          </a:p>
          <a:p>
            <a:pPr marL="0" indent="0" fontAlgn="base">
              <a:buNone/>
            </a:pPr>
            <a:r>
              <a:rPr lang="en-US" sz="1400" dirty="0">
                <a:solidFill>
                  <a:srgbClr val="000000"/>
                </a:solidFill>
                <a:latin typeface="arial" panose="020B0604020202020204" pitchFamily="34" charset="0"/>
              </a:rPr>
              <a:t>Q2. In case of </a:t>
            </a:r>
            <a:r>
              <a:rPr lang="en-US" sz="1400" dirty="0" err="1">
                <a:solidFill>
                  <a:srgbClr val="000000"/>
                </a:solidFill>
                <a:latin typeface="arial" panose="020B0604020202020204" pitchFamily="34" charset="0"/>
              </a:rPr>
              <a:t>InProcess</a:t>
            </a:r>
            <a:r>
              <a:rPr lang="en-US" sz="1400" dirty="0">
                <a:solidFill>
                  <a:srgbClr val="000000"/>
                </a:solidFill>
                <a:latin typeface="arial" panose="020B0604020202020204" pitchFamily="34" charset="0"/>
              </a:rPr>
              <a:t> hosting (i.e. when the </a:t>
            </a:r>
            <a:r>
              <a:rPr lang="en-US" sz="1400" dirty="0" err="1">
                <a:solidFill>
                  <a:srgbClr val="000000"/>
                </a:solidFill>
                <a:latin typeface="arial" panose="020B0604020202020204" pitchFamily="34" charset="0"/>
              </a:rPr>
              <a:t>CreateBuilder</a:t>
            </a:r>
            <a:r>
              <a:rPr lang="en-US" sz="1400" dirty="0">
                <a:solidFill>
                  <a:srgbClr val="000000"/>
                </a:solidFill>
                <a:latin typeface="arial" panose="020B0604020202020204" pitchFamily="34" charset="0"/>
              </a:rPr>
              <a:t>() sees the value as </a:t>
            </a:r>
            <a:r>
              <a:rPr lang="en-US" sz="1400" dirty="0" err="1">
                <a:solidFill>
                  <a:srgbClr val="000000"/>
                </a:solidFill>
                <a:latin typeface="arial" panose="020B0604020202020204" pitchFamily="34" charset="0"/>
              </a:rPr>
              <a:t>InProcess</a:t>
            </a:r>
            <a:r>
              <a:rPr lang="en-US" sz="1400" dirty="0">
                <a:solidFill>
                  <a:srgbClr val="000000"/>
                </a:solidFill>
                <a:latin typeface="arial" panose="020B0604020202020204" pitchFamily="34" charset="0"/>
              </a:rPr>
              <a:t> for the </a:t>
            </a:r>
            <a:r>
              <a:rPr lang="en-US" sz="1400" dirty="0" err="1">
                <a:solidFill>
                  <a:srgbClr val="000000"/>
                </a:solidFill>
                <a:latin typeface="arial" panose="020B0604020202020204" pitchFamily="34" charset="0"/>
              </a:rPr>
              <a:t>AspNetCoreHostingModel</a:t>
            </a:r>
            <a:r>
              <a:rPr lang="en-US" sz="1400" dirty="0">
                <a:solidFill>
                  <a:srgbClr val="000000"/>
                </a:solidFill>
                <a:latin typeface="arial" panose="020B0604020202020204" pitchFamily="34" charset="0"/>
              </a:rPr>
              <a:t> element in the project file), behind the scene the </a:t>
            </a:r>
            <a:r>
              <a:rPr lang="en-US" sz="1400" dirty="0" err="1">
                <a:solidFill>
                  <a:srgbClr val="000000"/>
                </a:solidFill>
                <a:latin typeface="arial" panose="020B0604020202020204" pitchFamily="34" charset="0"/>
              </a:rPr>
              <a:t>CreateBuilder</a:t>
            </a:r>
            <a:r>
              <a:rPr lang="en-US" sz="1400" dirty="0">
                <a:solidFill>
                  <a:srgbClr val="000000"/>
                </a:solidFill>
                <a:latin typeface="arial" panose="020B0604020202020204" pitchFamily="34" charset="0"/>
              </a:rPr>
              <a:t>() method internally calls the ________ method. Then host the application inside the IIS worker process (i.e. ________for IIS </a:t>
            </a:r>
            <a:r>
              <a:rPr lang="en-US" sz="1400" dirty="0" err="1">
                <a:solidFill>
                  <a:srgbClr val="000000"/>
                </a:solidFill>
                <a:latin typeface="arial" panose="020B0604020202020204" pitchFamily="34" charset="0"/>
              </a:rPr>
              <a:t>and________for</a:t>
            </a:r>
            <a:r>
              <a:rPr lang="en-US" sz="1400" dirty="0">
                <a:solidFill>
                  <a:srgbClr val="000000"/>
                </a:solidFill>
                <a:latin typeface="arial" panose="020B0604020202020204" pitchFamily="34" charset="0"/>
              </a:rPr>
              <a:t> </a:t>
            </a:r>
            <a:r>
              <a:rPr lang="en-US" sz="1400" dirty="0" err="1">
                <a:solidFill>
                  <a:srgbClr val="000000"/>
                </a:solidFill>
                <a:latin typeface="arial" panose="020B0604020202020204" pitchFamily="34" charset="0"/>
              </a:rPr>
              <a:t>IISExpress</a:t>
            </a:r>
            <a:r>
              <a:rPr lang="en-US" sz="1400" dirty="0">
                <a:solidFill>
                  <a:srgbClr val="000000"/>
                </a:solidFill>
                <a:latin typeface="arial" panose="020B0604020202020204" pitchFamily="34" charset="0"/>
              </a:rPr>
              <a:t>). </a:t>
            </a:r>
          </a:p>
          <a:p>
            <a:pPr marL="0" indent="0" fontAlgn="base">
              <a:buNone/>
            </a:pPr>
            <a:r>
              <a:rPr lang="en-US" sz="1400" dirty="0">
                <a:solidFill>
                  <a:srgbClr val="000000"/>
                </a:solidFill>
                <a:latin typeface="arial" panose="020B0604020202020204" pitchFamily="34" charset="0"/>
              </a:rPr>
              <a:t>Q3. what is </a:t>
            </a:r>
            <a:r>
              <a:rPr lang="en-US" sz="1400" dirty="0" err="1">
                <a:solidFill>
                  <a:srgbClr val="000000"/>
                </a:solidFill>
                <a:latin typeface="arial" panose="020B0604020202020204" pitchFamily="34" charset="0"/>
              </a:rPr>
              <a:t>IISExpress</a:t>
            </a:r>
            <a:endParaRPr lang="en-US" sz="1400" dirty="0">
              <a:solidFill>
                <a:srgbClr val="000000"/>
              </a:solidFill>
              <a:latin typeface="arial" panose="020B0604020202020204" pitchFamily="34" charset="0"/>
            </a:endParaRPr>
          </a:p>
          <a:p>
            <a:pPr marL="0" indent="0" fontAlgn="base">
              <a:buNone/>
            </a:pPr>
            <a:r>
              <a:rPr lang="en-US" sz="1400" dirty="0">
                <a:solidFill>
                  <a:srgbClr val="000000"/>
                </a:solidFill>
                <a:latin typeface="arial" panose="020B0604020202020204" pitchFamily="34" charset="0"/>
              </a:rPr>
              <a:t>Q4. Why </a:t>
            </a:r>
            <a:r>
              <a:rPr lang="en-US" sz="1400" dirty="0" err="1">
                <a:solidFill>
                  <a:srgbClr val="000000"/>
                </a:solidFill>
                <a:latin typeface="arial" panose="020B0604020202020204" pitchFamily="34" charset="0"/>
              </a:rPr>
              <a:t>InProcess</a:t>
            </a:r>
            <a:r>
              <a:rPr lang="en-US" sz="1400" dirty="0">
                <a:solidFill>
                  <a:srgbClr val="000000"/>
                </a:solidFill>
                <a:latin typeface="arial" panose="020B0604020202020204" pitchFamily="34" charset="0"/>
              </a:rPr>
              <a:t> Hosting Gives Better Performance that the </a:t>
            </a:r>
            <a:r>
              <a:rPr lang="en-US" sz="1400" dirty="0" err="1">
                <a:solidFill>
                  <a:srgbClr val="000000"/>
                </a:solidFill>
                <a:latin typeface="arial" panose="020B0604020202020204" pitchFamily="34" charset="0"/>
              </a:rPr>
              <a:t>OutOfProcess</a:t>
            </a:r>
            <a:r>
              <a:rPr lang="en-US" sz="1400" dirty="0">
                <a:solidFill>
                  <a:srgbClr val="000000"/>
                </a:solidFill>
                <a:latin typeface="arial" panose="020B0604020202020204" pitchFamily="34" charset="0"/>
              </a:rPr>
              <a:t> Hosting Model?</a:t>
            </a:r>
          </a:p>
          <a:p>
            <a:pPr marL="0" indent="0" fontAlgn="base">
              <a:buNone/>
            </a:pPr>
            <a:r>
              <a:rPr lang="en-US" sz="1400" dirty="0">
                <a:solidFill>
                  <a:srgbClr val="000000"/>
                </a:solidFill>
                <a:latin typeface="arial" panose="020B0604020202020204" pitchFamily="34" charset="0"/>
              </a:rPr>
              <a:t>Q5. In the case of </a:t>
            </a:r>
            <a:r>
              <a:rPr lang="en-US" sz="1400" dirty="0" err="1">
                <a:solidFill>
                  <a:srgbClr val="000000"/>
                </a:solidFill>
                <a:latin typeface="arial" panose="020B0604020202020204" pitchFamily="34" charset="0"/>
              </a:rPr>
              <a:t>OutOfProcess</a:t>
            </a:r>
            <a:r>
              <a:rPr lang="en-US" sz="1400" dirty="0">
                <a:solidFill>
                  <a:srgbClr val="000000"/>
                </a:solidFill>
                <a:latin typeface="arial" panose="020B0604020202020204" pitchFamily="34" charset="0"/>
              </a:rPr>
              <a:t> hosting, there are   _____(option: </a:t>
            </a:r>
            <a:r>
              <a:rPr lang="en-US" sz="1400" dirty="0">
                <a:solidFill>
                  <a:srgbClr val="000000"/>
                </a:solidFill>
                <a:latin typeface="arial" panose="020B0604020202020204" pitchFamily="34" charset="0"/>
                <a:sym typeface="Wingdings" panose="05000000000000000000" pitchFamily="2" charset="2"/>
              </a:rPr>
              <a:t></a:t>
            </a:r>
            <a:r>
              <a:rPr lang="en-US" sz="1400" dirty="0">
                <a:solidFill>
                  <a:srgbClr val="000000"/>
                </a:solidFill>
                <a:latin typeface="arial" panose="020B0604020202020204" pitchFamily="34" charset="0"/>
              </a:rPr>
              <a:t>1,2,3)of  web servers</a:t>
            </a:r>
          </a:p>
          <a:p>
            <a:pPr marL="0" indent="0" fontAlgn="base">
              <a:buNone/>
            </a:pPr>
            <a:r>
              <a:rPr lang="en-US" sz="1400" dirty="0">
                <a:solidFill>
                  <a:srgbClr val="000000"/>
                </a:solidFill>
                <a:latin typeface="arial" panose="020B0604020202020204" pitchFamily="34" charset="0"/>
              </a:rPr>
              <a:t>Q6. The internal web server is called ____and the external web server can be _______ ,_____________ or ____________</a:t>
            </a:r>
          </a:p>
          <a:p>
            <a:pPr marL="0" indent="0" algn="just" fontAlgn="base">
              <a:buNone/>
            </a:pPr>
            <a:endParaRPr lang="en-US" sz="1050" b="0" i="0" dirty="0">
              <a:solidFill>
                <a:srgbClr val="3A3A3A"/>
              </a:solidFill>
              <a:effectLst/>
              <a:latin typeface="-apple-system"/>
            </a:endParaRPr>
          </a:p>
          <a:p>
            <a:pPr marL="0" indent="0" algn="just" fontAlgn="base">
              <a:buNone/>
            </a:pPr>
            <a:endParaRPr lang="en-US" sz="1400" b="0" i="0" dirty="0">
              <a:solidFill>
                <a:srgbClr val="000000"/>
              </a:solidFill>
              <a:effectLst/>
              <a:latin typeface="arial" panose="020B0604020202020204" pitchFamily="34" charset="0"/>
            </a:endParaRPr>
          </a:p>
          <a:p>
            <a:pPr algn="just" fontAlgn="base"/>
            <a:endParaRPr lang="en-US" sz="1400" b="0" i="0" dirty="0">
              <a:solidFill>
                <a:srgbClr val="212529"/>
              </a:solidFill>
              <a:effectLst/>
              <a:latin typeface="-apple-system"/>
            </a:endParaRPr>
          </a:p>
          <a:p>
            <a:endParaRPr lang="en-IN" sz="2000" dirty="0"/>
          </a:p>
        </p:txBody>
      </p:sp>
    </p:spTree>
    <p:extLst>
      <p:ext uri="{BB962C8B-B14F-4D97-AF65-F5344CB8AC3E}">
        <p14:creationId xmlns:p14="http://schemas.microsoft.com/office/powerpoint/2010/main" val="3808141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270</TotalTime>
  <Words>1723</Words>
  <Application>Microsoft Office PowerPoint</Application>
  <PresentationFormat>Widescreen</PresentationFormat>
  <Paragraphs>145</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-apple-system</vt:lpstr>
      <vt:lpstr>arial</vt:lpstr>
      <vt:lpstr>arial</vt:lpstr>
      <vt:lpstr>Calibri</vt:lpstr>
      <vt:lpstr>Calibri Light</vt:lpstr>
      <vt:lpstr>Cascadia Mono</vt:lpstr>
      <vt:lpstr>Segoe UI</vt:lpstr>
      <vt:lpstr>SFMono-Regular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25</cp:revision>
  <dcterms:created xsi:type="dcterms:W3CDTF">2021-10-12T06:41:47Z</dcterms:created>
  <dcterms:modified xsi:type="dcterms:W3CDTF">2025-04-21T11:23:22Z</dcterms:modified>
</cp:coreProperties>
</file>