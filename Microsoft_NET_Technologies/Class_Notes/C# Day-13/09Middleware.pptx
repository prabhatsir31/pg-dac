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79" r:id="rId3"/>
    <p:sldId id="263" r:id="rId4"/>
    <p:sldId id="264" r:id="rId5"/>
    <p:sldId id="266" r:id="rId6"/>
    <p:sldId id="267" r:id="rId7"/>
    <p:sldId id="268" r:id="rId8"/>
    <p:sldId id="269" r:id="rId9"/>
    <p:sldId id="270" r:id="rId10"/>
    <p:sldId id="271" r:id="rId11"/>
    <p:sldId id="275" r:id="rId12"/>
    <p:sldId id="272" r:id="rId13"/>
    <p:sldId id="273" r:id="rId14"/>
    <p:sldId id="274" r:id="rId15"/>
    <p:sldId id="276" r:id="rId16"/>
    <p:sldId id="277" r:id="rId17"/>
    <p:sldId id="27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C55CE-840D-44A0-8A76-C4005F35F4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2608EED-9A28-4A23-992E-2A4202406F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61A860D-E0F3-459A-9235-61E8B710A460}"/>
              </a:ext>
            </a:extLst>
          </p:cNvPr>
          <p:cNvSpPr>
            <a:spLocks noGrp="1"/>
          </p:cNvSpPr>
          <p:nvPr>
            <p:ph type="dt" sz="half" idx="10"/>
          </p:nvPr>
        </p:nvSpPr>
        <p:spPr/>
        <p:txBody>
          <a:bodyPr/>
          <a:lstStyle/>
          <a:p>
            <a:fld id="{A0030DF7-C36D-4655-B47C-43612AC6CB30}" type="datetimeFigureOut">
              <a:rPr lang="en-IN" smtClean="0"/>
              <a:t>21-04-2025</a:t>
            </a:fld>
            <a:endParaRPr lang="en-IN"/>
          </a:p>
        </p:txBody>
      </p:sp>
      <p:sp>
        <p:nvSpPr>
          <p:cNvPr id="5" name="Footer Placeholder 4">
            <a:extLst>
              <a:ext uri="{FF2B5EF4-FFF2-40B4-BE49-F238E27FC236}">
                <a16:creationId xmlns:a16="http://schemas.microsoft.com/office/drawing/2014/main" id="{247131D1-A51B-44DD-8B47-D4024102BC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CBACED-81AE-4D50-B192-F100C5BD7CB9}"/>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3900955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BAFB2-DD3E-42EC-988B-1E84F8364B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33CE57-78BB-495A-8B9F-05EF09BEAA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9CF344-D97F-4E79-A198-26EF74FA6E33}"/>
              </a:ext>
            </a:extLst>
          </p:cNvPr>
          <p:cNvSpPr>
            <a:spLocks noGrp="1"/>
          </p:cNvSpPr>
          <p:nvPr>
            <p:ph type="dt" sz="half" idx="10"/>
          </p:nvPr>
        </p:nvSpPr>
        <p:spPr/>
        <p:txBody>
          <a:bodyPr/>
          <a:lstStyle/>
          <a:p>
            <a:fld id="{A0030DF7-C36D-4655-B47C-43612AC6CB30}" type="datetimeFigureOut">
              <a:rPr lang="en-IN" smtClean="0"/>
              <a:t>21-04-2025</a:t>
            </a:fld>
            <a:endParaRPr lang="en-IN"/>
          </a:p>
        </p:txBody>
      </p:sp>
      <p:sp>
        <p:nvSpPr>
          <p:cNvPr id="5" name="Footer Placeholder 4">
            <a:extLst>
              <a:ext uri="{FF2B5EF4-FFF2-40B4-BE49-F238E27FC236}">
                <a16:creationId xmlns:a16="http://schemas.microsoft.com/office/drawing/2014/main" id="{209EF034-5C9F-4A60-9AE5-183531A755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67C181-8E44-40C3-940C-89DE7BD2439C}"/>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2329418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6C91F-FEE3-49CE-AA91-7457437B64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7D0B337-23F1-41FF-97A6-1F242B7673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E9928B-B7B9-4E11-9103-47953D0F195D}"/>
              </a:ext>
            </a:extLst>
          </p:cNvPr>
          <p:cNvSpPr>
            <a:spLocks noGrp="1"/>
          </p:cNvSpPr>
          <p:nvPr>
            <p:ph type="dt" sz="half" idx="10"/>
          </p:nvPr>
        </p:nvSpPr>
        <p:spPr/>
        <p:txBody>
          <a:bodyPr/>
          <a:lstStyle/>
          <a:p>
            <a:fld id="{A0030DF7-C36D-4655-B47C-43612AC6CB30}" type="datetimeFigureOut">
              <a:rPr lang="en-IN" smtClean="0"/>
              <a:t>21-04-2025</a:t>
            </a:fld>
            <a:endParaRPr lang="en-IN"/>
          </a:p>
        </p:txBody>
      </p:sp>
      <p:sp>
        <p:nvSpPr>
          <p:cNvPr id="5" name="Footer Placeholder 4">
            <a:extLst>
              <a:ext uri="{FF2B5EF4-FFF2-40B4-BE49-F238E27FC236}">
                <a16:creationId xmlns:a16="http://schemas.microsoft.com/office/drawing/2014/main" id="{B20FEACF-5E2D-446B-8BDF-C703CD1344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E77F23-0FD7-4E00-BF06-1243E28653AF}"/>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1832819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14CAF-DEA3-4D7D-94AA-CC967F779B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DA8617-DA33-40BF-B915-AB4E39F2C1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7001E42-5B28-48A2-B8BF-08EABD78A1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AD3A77-E38A-4031-BB72-7DAF81F9CBD2}"/>
              </a:ext>
            </a:extLst>
          </p:cNvPr>
          <p:cNvSpPr>
            <a:spLocks noGrp="1"/>
          </p:cNvSpPr>
          <p:nvPr>
            <p:ph type="dt" sz="half" idx="10"/>
          </p:nvPr>
        </p:nvSpPr>
        <p:spPr/>
        <p:txBody>
          <a:bodyPr/>
          <a:lstStyle/>
          <a:p>
            <a:fld id="{A0030DF7-C36D-4655-B47C-43612AC6CB30}" type="datetimeFigureOut">
              <a:rPr lang="en-IN" smtClean="0"/>
              <a:t>21-04-2025</a:t>
            </a:fld>
            <a:endParaRPr lang="en-IN"/>
          </a:p>
        </p:txBody>
      </p:sp>
      <p:sp>
        <p:nvSpPr>
          <p:cNvPr id="6" name="Footer Placeholder 5">
            <a:extLst>
              <a:ext uri="{FF2B5EF4-FFF2-40B4-BE49-F238E27FC236}">
                <a16:creationId xmlns:a16="http://schemas.microsoft.com/office/drawing/2014/main" id="{529DF956-D78E-4097-BBF8-42A060C828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EDECDF-9C62-4D34-89AF-B6EDAAF5A5E1}"/>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2291646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A7B73-05CA-42A8-A363-D807196B348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CEB086-9300-4EAD-9CA5-6F5AB4A0B4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5BF180-D18D-49FD-A133-D18D2865B5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0948106-C76F-4271-83CB-940393E772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94987F-922A-4749-8BC5-84AE273EB6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11E507B-E3B9-437E-AC16-BA2A6D1288D8}"/>
              </a:ext>
            </a:extLst>
          </p:cNvPr>
          <p:cNvSpPr>
            <a:spLocks noGrp="1"/>
          </p:cNvSpPr>
          <p:nvPr>
            <p:ph type="dt" sz="half" idx="10"/>
          </p:nvPr>
        </p:nvSpPr>
        <p:spPr/>
        <p:txBody>
          <a:bodyPr/>
          <a:lstStyle/>
          <a:p>
            <a:fld id="{A0030DF7-C36D-4655-B47C-43612AC6CB30}" type="datetimeFigureOut">
              <a:rPr lang="en-IN" smtClean="0"/>
              <a:t>21-04-2025</a:t>
            </a:fld>
            <a:endParaRPr lang="en-IN"/>
          </a:p>
        </p:txBody>
      </p:sp>
      <p:sp>
        <p:nvSpPr>
          <p:cNvPr id="8" name="Footer Placeholder 7">
            <a:extLst>
              <a:ext uri="{FF2B5EF4-FFF2-40B4-BE49-F238E27FC236}">
                <a16:creationId xmlns:a16="http://schemas.microsoft.com/office/drawing/2014/main" id="{F20A3FEB-11C7-485A-9A38-8A782934EE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5249F8A-9713-4BE3-ACD3-E02A0A52802E}"/>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85498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09C0C-66F8-4347-8E74-F46199FB560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6C6655-CBD3-4D35-A679-38428121782F}"/>
              </a:ext>
            </a:extLst>
          </p:cNvPr>
          <p:cNvSpPr>
            <a:spLocks noGrp="1"/>
          </p:cNvSpPr>
          <p:nvPr>
            <p:ph type="dt" sz="half" idx="10"/>
          </p:nvPr>
        </p:nvSpPr>
        <p:spPr/>
        <p:txBody>
          <a:bodyPr/>
          <a:lstStyle/>
          <a:p>
            <a:fld id="{A0030DF7-C36D-4655-B47C-43612AC6CB30}" type="datetimeFigureOut">
              <a:rPr lang="en-IN" smtClean="0"/>
              <a:t>21-04-2025</a:t>
            </a:fld>
            <a:endParaRPr lang="en-IN"/>
          </a:p>
        </p:txBody>
      </p:sp>
      <p:sp>
        <p:nvSpPr>
          <p:cNvPr id="4" name="Footer Placeholder 3">
            <a:extLst>
              <a:ext uri="{FF2B5EF4-FFF2-40B4-BE49-F238E27FC236}">
                <a16:creationId xmlns:a16="http://schemas.microsoft.com/office/drawing/2014/main" id="{7A3CF31C-129D-473F-88F3-4245D6E68D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DA398D7-B741-444D-92B9-E8A65F5A14E5}"/>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454427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072272-5747-4A23-819C-BD9F3E5749F9}"/>
              </a:ext>
            </a:extLst>
          </p:cNvPr>
          <p:cNvSpPr>
            <a:spLocks noGrp="1"/>
          </p:cNvSpPr>
          <p:nvPr>
            <p:ph type="dt" sz="half" idx="10"/>
          </p:nvPr>
        </p:nvSpPr>
        <p:spPr/>
        <p:txBody>
          <a:bodyPr/>
          <a:lstStyle/>
          <a:p>
            <a:fld id="{A0030DF7-C36D-4655-B47C-43612AC6CB30}" type="datetimeFigureOut">
              <a:rPr lang="en-IN" smtClean="0"/>
              <a:t>21-04-2025</a:t>
            </a:fld>
            <a:endParaRPr lang="en-IN"/>
          </a:p>
        </p:txBody>
      </p:sp>
      <p:sp>
        <p:nvSpPr>
          <p:cNvPr id="3" name="Footer Placeholder 2">
            <a:extLst>
              <a:ext uri="{FF2B5EF4-FFF2-40B4-BE49-F238E27FC236}">
                <a16:creationId xmlns:a16="http://schemas.microsoft.com/office/drawing/2014/main" id="{34463046-7C4C-45AB-AB13-97AC8BAE68D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3F8701D-3114-4FBB-90CD-FFBFF8C460D0}"/>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2406486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5AC43-F9DE-4D38-ACB0-4AFA7FED38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6ADA40-DB01-4584-A842-1A074590CB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2AF7555-F718-4BB2-B95F-6DDB0E3C07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BA50DA-A63F-4E98-9F55-E27010A6EC92}"/>
              </a:ext>
            </a:extLst>
          </p:cNvPr>
          <p:cNvSpPr>
            <a:spLocks noGrp="1"/>
          </p:cNvSpPr>
          <p:nvPr>
            <p:ph type="dt" sz="half" idx="10"/>
          </p:nvPr>
        </p:nvSpPr>
        <p:spPr/>
        <p:txBody>
          <a:bodyPr/>
          <a:lstStyle/>
          <a:p>
            <a:fld id="{A0030DF7-C36D-4655-B47C-43612AC6CB30}" type="datetimeFigureOut">
              <a:rPr lang="en-IN" smtClean="0"/>
              <a:t>21-04-2025</a:t>
            </a:fld>
            <a:endParaRPr lang="en-IN"/>
          </a:p>
        </p:txBody>
      </p:sp>
      <p:sp>
        <p:nvSpPr>
          <p:cNvPr id="6" name="Footer Placeholder 5">
            <a:extLst>
              <a:ext uri="{FF2B5EF4-FFF2-40B4-BE49-F238E27FC236}">
                <a16:creationId xmlns:a16="http://schemas.microsoft.com/office/drawing/2014/main" id="{7C604EB7-CAE3-4147-9E78-5683631B2D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D234B9-5B90-4E11-85D5-65D4D9C2E50C}"/>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797361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E72FA-B28A-485E-BF59-E778470554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85D0D2-98A7-43AA-B313-0602C1250D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A20718E-95D8-4D0F-9AD2-C87AAB552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383574-82D6-480E-834B-CD8576DAF709}"/>
              </a:ext>
            </a:extLst>
          </p:cNvPr>
          <p:cNvSpPr>
            <a:spLocks noGrp="1"/>
          </p:cNvSpPr>
          <p:nvPr>
            <p:ph type="dt" sz="half" idx="10"/>
          </p:nvPr>
        </p:nvSpPr>
        <p:spPr/>
        <p:txBody>
          <a:bodyPr/>
          <a:lstStyle/>
          <a:p>
            <a:fld id="{A0030DF7-C36D-4655-B47C-43612AC6CB30}" type="datetimeFigureOut">
              <a:rPr lang="en-IN" smtClean="0"/>
              <a:t>21-04-2025</a:t>
            </a:fld>
            <a:endParaRPr lang="en-IN"/>
          </a:p>
        </p:txBody>
      </p:sp>
      <p:sp>
        <p:nvSpPr>
          <p:cNvPr id="6" name="Footer Placeholder 5">
            <a:extLst>
              <a:ext uri="{FF2B5EF4-FFF2-40B4-BE49-F238E27FC236}">
                <a16:creationId xmlns:a16="http://schemas.microsoft.com/office/drawing/2014/main" id="{F8E45561-8DED-4E89-B275-B9BBF30453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FB2961-E291-4197-80A8-A2FCEB484356}"/>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1741467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952F1-A2B0-49E4-B9FF-70A4BD4C88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5A9CAD-BA04-4FEB-87C1-52A1653979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0F6976-DD79-43EA-891A-3DDB37DA0398}"/>
              </a:ext>
            </a:extLst>
          </p:cNvPr>
          <p:cNvSpPr>
            <a:spLocks noGrp="1"/>
          </p:cNvSpPr>
          <p:nvPr>
            <p:ph type="dt" sz="half" idx="10"/>
          </p:nvPr>
        </p:nvSpPr>
        <p:spPr/>
        <p:txBody>
          <a:bodyPr/>
          <a:lstStyle/>
          <a:p>
            <a:fld id="{A0030DF7-C36D-4655-B47C-43612AC6CB30}" type="datetimeFigureOut">
              <a:rPr lang="en-IN" smtClean="0"/>
              <a:t>21-04-2025</a:t>
            </a:fld>
            <a:endParaRPr lang="en-IN"/>
          </a:p>
        </p:txBody>
      </p:sp>
      <p:sp>
        <p:nvSpPr>
          <p:cNvPr id="5" name="Footer Placeholder 4">
            <a:extLst>
              <a:ext uri="{FF2B5EF4-FFF2-40B4-BE49-F238E27FC236}">
                <a16:creationId xmlns:a16="http://schemas.microsoft.com/office/drawing/2014/main" id="{D0B3B74F-FE0F-4DF9-9E53-1660A56ACE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B12825-F1F1-4FE9-9963-5BD0DF3CC3CB}"/>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1398096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1ED28A-C9CC-4CFB-B72E-A323806CC13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09FEB6-E807-4B28-ABE9-07D921198E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C1FD0C-4891-4BCF-A146-D66D7E714D0A}"/>
              </a:ext>
            </a:extLst>
          </p:cNvPr>
          <p:cNvSpPr>
            <a:spLocks noGrp="1"/>
          </p:cNvSpPr>
          <p:nvPr>
            <p:ph type="dt" sz="half" idx="10"/>
          </p:nvPr>
        </p:nvSpPr>
        <p:spPr/>
        <p:txBody>
          <a:bodyPr/>
          <a:lstStyle/>
          <a:p>
            <a:fld id="{A0030DF7-C36D-4655-B47C-43612AC6CB30}" type="datetimeFigureOut">
              <a:rPr lang="en-IN" smtClean="0"/>
              <a:t>21-04-2025</a:t>
            </a:fld>
            <a:endParaRPr lang="en-IN"/>
          </a:p>
        </p:txBody>
      </p:sp>
      <p:sp>
        <p:nvSpPr>
          <p:cNvPr id="5" name="Footer Placeholder 4">
            <a:extLst>
              <a:ext uri="{FF2B5EF4-FFF2-40B4-BE49-F238E27FC236}">
                <a16:creationId xmlns:a16="http://schemas.microsoft.com/office/drawing/2014/main" id="{E24F1EBB-B0AC-4837-B362-A51E1718BE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FA487A-34DA-4D13-AE75-CA5E14B809F3}"/>
              </a:ext>
            </a:extLst>
          </p:cNvPr>
          <p:cNvSpPr>
            <a:spLocks noGrp="1"/>
          </p:cNvSpPr>
          <p:nvPr>
            <p:ph type="sldNum" sz="quarter" idx="12"/>
          </p:nvPr>
        </p:nvSpPr>
        <p:spPr/>
        <p:txBody>
          <a:bodyPr/>
          <a:lstStyle/>
          <a:p>
            <a:fld id="{51560A6E-94A6-4D56-990A-949A3915CB78}" type="slidenum">
              <a:rPr lang="en-IN" smtClean="0"/>
              <a:t>‹#›</a:t>
            </a:fld>
            <a:endParaRPr lang="en-IN"/>
          </a:p>
        </p:txBody>
      </p:sp>
    </p:spTree>
    <p:extLst>
      <p:ext uri="{BB962C8B-B14F-4D97-AF65-F5344CB8AC3E}">
        <p14:creationId xmlns:p14="http://schemas.microsoft.com/office/powerpoint/2010/main" val="3214709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239996-9F5F-45B1-8F58-7E2312D2D5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EC06EF-B89E-4C61-B168-061C90BFFE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C36B31-C6D5-41A9-AEE7-96B5E790C9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030DF7-C36D-4655-B47C-43612AC6CB30}" type="datetimeFigureOut">
              <a:rPr lang="en-IN" smtClean="0"/>
              <a:t>21-04-2025</a:t>
            </a:fld>
            <a:endParaRPr lang="en-IN"/>
          </a:p>
        </p:txBody>
      </p:sp>
      <p:sp>
        <p:nvSpPr>
          <p:cNvPr id="5" name="Footer Placeholder 4">
            <a:extLst>
              <a:ext uri="{FF2B5EF4-FFF2-40B4-BE49-F238E27FC236}">
                <a16:creationId xmlns:a16="http://schemas.microsoft.com/office/drawing/2014/main" id="{1A183C63-BC09-4F64-A065-AB0F1830C2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C9343B6-F51A-42D8-AC16-B1ABE7B90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560A6E-94A6-4D56-990A-949A3915CB78}" type="slidenum">
              <a:rPr lang="en-IN" smtClean="0"/>
              <a:t>‹#›</a:t>
            </a:fld>
            <a:endParaRPr lang="en-IN"/>
          </a:p>
        </p:txBody>
      </p:sp>
    </p:spTree>
    <p:extLst>
      <p:ext uri="{BB962C8B-B14F-4D97-AF65-F5344CB8AC3E}">
        <p14:creationId xmlns:p14="http://schemas.microsoft.com/office/powerpoint/2010/main" val="645244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43EE021-4876-4007-81BE-1FD44B84F8C9}"/>
              </a:ext>
            </a:extLst>
          </p:cNvPr>
          <p:cNvSpPr txBox="1"/>
          <p:nvPr/>
        </p:nvSpPr>
        <p:spPr>
          <a:xfrm>
            <a:off x="2231921" y="0"/>
            <a:ext cx="9615949"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What is the Execution Order of Middleware Components in ASP.NET Core Application?</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FD487A09-EF99-4926-AE62-B2A8D9E7FED4}"/>
              </a:ext>
            </a:extLst>
          </p:cNvPr>
          <p:cNvSpPr txBox="1"/>
          <p:nvPr/>
        </p:nvSpPr>
        <p:spPr>
          <a:xfrm>
            <a:off x="442451" y="450697"/>
            <a:ext cx="11474246" cy="2554545"/>
          </a:xfrm>
          <a:prstGeom prst="rect">
            <a:avLst/>
          </a:prstGeom>
          <a:noFill/>
        </p:spPr>
        <p:txBody>
          <a:bodyPr wrap="square">
            <a:spAutoFit/>
          </a:bodyPr>
          <a:lstStyle/>
          <a:p>
            <a:pPr algn="just" fontAlgn="base"/>
            <a:r>
              <a:rPr lang="en-US" sz="1600" b="0" i="0" dirty="0">
                <a:solidFill>
                  <a:srgbClr val="000000"/>
                </a:solidFill>
                <a:effectLst/>
                <a:latin typeface="arial" panose="020B0604020202020204" pitchFamily="34" charset="0"/>
              </a:rPr>
              <a:t>It is very important to understand the execution order of Middleware components. The ASP.NET Core middleware components are executed in the same order as they are added to the pipeline. So, we need to take care when adding the middleware components to the request processing pipeline.</a:t>
            </a:r>
          </a:p>
          <a:p>
            <a:pPr algn="just" fontAlgn="base"/>
            <a:endParaRPr lang="en-US" sz="1600" b="0" i="0" dirty="0">
              <a:solidFill>
                <a:srgbClr val="212529"/>
              </a:solidFill>
              <a:effectLst/>
              <a:latin typeface="-apple-system"/>
            </a:endParaRPr>
          </a:p>
          <a:p>
            <a:pPr algn="just" fontAlgn="base"/>
            <a:r>
              <a:rPr lang="en-US" sz="1600" b="0" i="0" dirty="0">
                <a:solidFill>
                  <a:srgbClr val="000000"/>
                </a:solidFill>
                <a:effectLst/>
                <a:latin typeface="arial" panose="020B0604020202020204" pitchFamily="34" charset="0"/>
              </a:rPr>
              <a:t>As per your application’s business requirements, you may add any number of Middleware components. For example, if you are developing a static web application with some static HTML pages and images, then you may require only “</a:t>
            </a:r>
            <a:r>
              <a:rPr lang="en-US" sz="1600" b="0" i="0" dirty="0" err="1">
                <a:solidFill>
                  <a:srgbClr val="000000"/>
                </a:solidFill>
                <a:effectLst/>
                <a:latin typeface="arial" panose="020B0604020202020204" pitchFamily="34" charset="0"/>
              </a:rPr>
              <a:t>StaticFiles</a:t>
            </a:r>
            <a:r>
              <a:rPr lang="en-US" sz="1600" b="0" i="0" dirty="0">
                <a:solidFill>
                  <a:srgbClr val="000000"/>
                </a:solidFill>
                <a:effectLst/>
                <a:latin typeface="arial" panose="020B0604020202020204" pitchFamily="34" charset="0"/>
              </a:rPr>
              <a:t>” middleware components in the request processing pipeline.</a:t>
            </a:r>
          </a:p>
          <a:p>
            <a:pPr algn="just" fontAlgn="base"/>
            <a:endParaRPr lang="en-US" sz="1600" b="0" i="0" dirty="0">
              <a:solidFill>
                <a:srgbClr val="212529"/>
              </a:solidFill>
              <a:effectLst/>
              <a:latin typeface="-apple-system"/>
            </a:endParaRPr>
          </a:p>
          <a:p>
            <a:pPr algn="just" fontAlgn="base"/>
            <a:r>
              <a:rPr lang="en-US" sz="1600" b="0" i="0" dirty="0">
                <a:solidFill>
                  <a:srgbClr val="000000"/>
                </a:solidFill>
                <a:effectLst/>
                <a:latin typeface="arial" panose="020B0604020202020204" pitchFamily="34" charset="0"/>
              </a:rPr>
              <a:t>But, if you are developing a secure dynamic data-driven web application then you may require several middleware components such as Logging Middleware, Authentication middleware, Authorization middleware, MVC middleware, etc.</a:t>
            </a:r>
            <a:endParaRPr lang="en-US" sz="1600" b="0" i="0" dirty="0">
              <a:solidFill>
                <a:srgbClr val="212529"/>
              </a:solidFill>
              <a:effectLst/>
              <a:latin typeface="-apple-system"/>
            </a:endParaRPr>
          </a:p>
        </p:txBody>
      </p:sp>
      <p:pic>
        <p:nvPicPr>
          <p:cNvPr id="2" name="Picture 1"/>
          <p:cNvPicPr>
            <a:picLocks noChangeAspect="1"/>
          </p:cNvPicPr>
          <p:nvPr/>
        </p:nvPicPr>
        <p:blipFill>
          <a:blip r:embed="rId2"/>
          <a:stretch>
            <a:fillRect/>
          </a:stretch>
        </p:blipFill>
        <p:spPr>
          <a:xfrm>
            <a:off x="801231" y="3005242"/>
            <a:ext cx="6913463" cy="4041998"/>
          </a:xfrm>
          <a:prstGeom prst="rect">
            <a:avLst/>
          </a:prstGeom>
        </p:spPr>
      </p:pic>
      <p:sp>
        <p:nvSpPr>
          <p:cNvPr id="3" name="Rectangle 2"/>
          <p:cNvSpPr/>
          <p:nvPr/>
        </p:nvSpPr>
        <p:spPr>
          <a:xfrm>
            <a:off x="3945467" y="3429153"/>
            <a:ext cx="7304424"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https://learn.microsoft.com/en-us/aspnet/core/fundamentals/middleware/?view=aspnetcore-7.0</a:t>
            </a:r>
          </a:p>
        </p:txBody>
      </p:sp>
    </p:spTree>
    <p:extLst>
      <p:ext uri="{BB962C8B-B14F-4D97-AF65-F5344CB8AC3E}">
        <p14:creationId xmlns:p14="http://schemas.microsoft.com/office/powerpoint/2010/main" val="773739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30940" y="0"/>
            <a:ext cx="6911939" cy="4038950"/>
          </a:xfrm>
          <a:prstGeom prst="rect">
            <a:avLst/>
          </a:prstGeom>
        </p:spPr>
      </p:pic>
      <p:sp>
        <p:nvSpPr>
          <p:cNvPr id="6" name="TextBox 5">
            <a:extLst>
              <a:ext uri="{FF2B5EF4-FFF2-40B4-BE49-F238E27FC236}">
                <a16:creationId xmlns:a16="http://schemas.microsoft.com/office/drawing/2014/main" id="{6D1540AC-70A2-456C-BE0F-22F8C9D9E1A9}"/>
              </a:ext>
            </a:extLst>
          </p:cNvPr>
          <p:cNvSpPr txBox="1"/>
          <p:nvPr/>
        </p:nvSpPr>
        <p:spPr>
          <a:xfrm>
            <a:off x="2410691" y="4038950"/>
            <a:ext cx="6096000"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What are Request Delegates in ASP.NET Core?</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2960620B-7FD8-4D9E-90D0-5B66AAB56919}"/>
              </a:ext>
            </a:extLst>
          </p:cNvPr>
          <p:cNvSpPr txBox="1"/>
          <p:nvPr/>
        </p:nvSpPr>
        <p:spPr>
          <a:xfrm>
            <a:off x="275303" y="4549676"/>
            <a:ext cx="11641394" cy="2308324"/>
          </a:xfrm>
          <a:prstGeom prst="rect">
            <a:avLst/>
          </a:prstGeom>
          <a:noFill/>
        </p:spPr>
        <p:txBody>
          <a:bodyPr wrap="square">
            <a:spAutoFit/>
          </a:bodyPr>
          <a:lstStyle/>
          <a:p>
            <a:r>
              <a:rPr lang="en-US" sz="1600" b="0" i="0" dirty="0">
                <a:solidFill>
                  <a:srgbClr val="000000"/>
                </a:solidFill>
                <a:effectLst/>
                <a:latin typeface="arial" panose="020B0604020202020204" pitchFamily="34" charset="0"/>
              </a:rPr>
              <a:t>In ASP.NET Core, Request delegates are used to build the request pipeline i.e. request delegates are used to handle each incoming HTTP request. In ASP.NET Core, you can configure the Request delegates using the </a:t>
            </a:r>
            <a:r>
              <a:rPr lang="en-US" sz="1600" b="1" i="0" dirty="0">
                <a:solidFill>
                  <a:srgbClr val="000000"/>
                </a:solidFill>
                <a:effectLst/>
                <a:latin typeface="arial" panose="020B0604020202020204" pitchFamily="34" charset="0"/>
              </a:rPr>
              <a:t>Run, Map, and Use</a:t>
            </a:r>
            <a:r>
              <a:rPr lang="en-US" sz="1600" b="0" i="0" dirty="0">
                <a:solidFill>
                  <a:srgbClr val="000000"/>
                </a:solidFill>
                <a:effectLst/>
                <a:latin typeface="arial" panose="020B0604020202020204" pitchFamily="34" charset="0"/>
              </a:rPr>
              <a:t> extension methods.</a:t>
            </a:r>
          </a:p>
          <a:p>
            <a:r>
              <a:rPr lang="en-US" sz="1600" b="0" i="0" dirty="0">
                <a:solidFill>
                  <a:srgbClr val="000000"/>
                </a:solidFill>
                <a:effectLst/>
                <a:latin typeface="arial" panose="020B0604020202020204" pitchFamily="34" charset="0"/>
              </a:rPr>
              <a:t> You can specify a request delegate using an in-line anonymous method (called in-line middleware) or you can specify the request delegates using a reusable class. </a:t>
            </a:r>
          </a:p>
          <a:p>
            <a:endParaRPr lang="en-US" sz="1600" dirty="0">
              <a:solidFill>
                <a:srgbClr val="000000"/>
              </a:solidFill>
              <a:latin typeface="arial" panose="020B0604020202020204" pitchFamily="34" charset="0"/>
            </a:endParaRPr>
          </a:p>
          <a:p>
            <a:r>
              <a:rPr lang="en-US" sz="1600" b="0" i="0" dirty="0">
                <a:solidFill>
                  <a:srgbClr val="000000"/>
                </a:solidFill>
                <a:effectLst/>
                <a:latin typeface="arial" panose="020B0604020202020204" pitchFamily="34" charset="0"/>
              </a:rPr>
              <a:t>These reusable classes and in-line anonymous methods are called middleware or middleware components. Each middleware component in the request processing pipeline is responsible for invoking the next component in the pipeline or short-circuiting the pipeline by not calling the next middleware component.</a:t>
            </a:r>
            <a:endParaRPr lang="en-IN" sz="1600" dirty="0"/>
          </a:p>
        </p:txBody>
      </p:sp>
    </p:spTree>
    <p:extLst>
      <p:ext uri="{BB962C8B-B14F-4D97-AF65-F5344CB8AC3E}">
        <p14:creationId xmlns:p14="http://schemas.microsoft.com/office/powerpoint/2010/main" val="1140424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616DAC-91F0-4D0F-A1C6-3018565E38B2}"/>
              </a:ext>
            </a:extLst>
          </p:cNvPr>
          <p:cNvSpPr txBox="1"/>
          <p:nvPr/>
        </p:nvSpPr>
        <p:spPr>
          <a:xfrm>
            <a:off x="1415845" y="70125"/>
            <a:ext cx="9812594"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What is the use of the Use and Run method in ASP.NET Core Web Application?</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439AF61C-F4FF-4D79-8C51-D974AFE667BE}"/>
              </a:ext>
            </a:extLst>
          </p:cNvPr>
          <p:cNvSpPr txBox="1"/>
          <p:nvPr/>
        </p:nvSpPr>
        <p:spPr>
          <a:xfrm>
            <a:off x="324464" y="889843"/>
            <a:ext cx="11543071" cy="3970318"/>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In ASP.NET Core, you can use the “</a:t>
            </a:r>
            <a:r>
              <a:rPr lang="en-US" b="1" i="0" dirty="0">
                <a:solidFill>
                  <a:srgbClr val="000000"/>
                </a:solidFill>
                <a:effectLst/>
                <a:latin typeface="arial" panose="020B0604020202020204" pitchFamily="34" charset="0"/>
              </a:rPr>
              <a:t>Use</a:t>
            </a:r>
            <a:r>
              <a:rPr lang="en-US" b="0" i="0" dirty="0">
                <a:solidFill>
                  <a:srgbClr val="000000"/>
                </a:solidFill>
                <a:effectLst/>
                <a:latin typeface="arial" panose="020B0604020202020204" pitchFamily="34" charset="0"/>
              </a:rPr>
              <a:t>” and “</a:t>
            </a:r>
            <a:r>
              <a:rPr lang="en-US" b="1" i="0" dirty="0">
                <a:solidFill>
                  <a:srgbClr val="000000"/>
                </a:solidFill>
                <a:effectLst/>
                <a:latin typeface="arial" panose="020B0604020202020204" pitchFamily="34" charset="0"/>
              </a:rPr>
              <a:t>Run</a:t>
            </a:r>
            <a:r>
              <a:rPr lang="en-US" b="0" i="0" dirty="0">
                <a:solidFill>
                  <a:srgbClr val="000000"/>
                </a:solidFill>
                <a:effectLst/>
                <a:latin typeface="arial" panose="020B0604020202020204" pitchFamily="34" charset="0"/>
              </a:rPr>
              <a:t>” extension methods to register the Inline Middleware component into the Request processing pipeline. The “Run” extension method allows us to add the terminating middleware (the middleware which will not call the next middleware components in the request processing pipeline). On the other hand, the “Use” extension method allows us to add the middleware components which may call the next middleware component in the request processing pipeline.</a:t>
            </a:r>
          </a:p>
          <a:p>
            <a:pPr algn="just" fontAlgn="base"/>
            <a:endParaRPr lang="en-US" b="0" i="0" dirty="0">
              <a:solidFill>
                <a:srgbClr val="212529"/>
              </a:solidFill>
              <a:effectLst/>
              <a:latin typeface="-apple-system"/>
            </a:endParaRPr>
          </a:p>
          <a:p>
            <a:pPr algn="just" fontAlgn="base"/>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As you can see, in the configure method, three middleware components are registered in the request processing pipeline</a:t>
            </a:r>
            <a:endParaRPr lang="en-US" b="0" i="0" dirty="0">
              <a:solidFill>
                <a:srgbClr val="212529"/>
              </a:solidFill>
              <a:effectLst/>
              <a:latin typeface="-apple-system"/>
            </a:endParaRPr>
          </a:p>
          <a:p>
            <a:pPr algn="just" fontAlgn="base">
              <a:buFont typeface="+mj-lt"/>
              <a:buAutoNum type="arabicPeriod"/>
            </a:pPr>
            <a:r>
              <a:rPr lang="en-US" b="1" i="0" dirty="0" err="1">
                <a:solidFill>
                  <a:srgbClr val="000000"/>
                </a:solidFill>
                <a:effectLst/>
                <a:latin typeface="arial" panose="020B0604020202020204" pitchFamily="34" charset="0"/>
              </a:rPr>
              <a:t>UseDeveloperExceptionPage</a:t>
            </a:r>
            <a:r>
              <a:rPr lang="en-US" b="1" i="0" dirty="0">
                <a:solidFill>
                  <a:srgbClr val="000000"/>
                </a:solidFill>
                <a:effectLst/>
                <a:latin typeface="arial" panose="020B0604020202020204" pitchFamily="34" charset="0"/>
              </a:rPr>
              <a:t>() Middleware component</a:t>
            </a:r>
            <a:endParaRPr lang="en-US" b="0" i="0" dirty="0">
              <a:solidFill>
                <a:srgbClr val="212529"/>
              </a:solidFill>
              <a:effectLst/>
              <a:latin typeface="-apple-system"/>
            </a:endParaRPr>
          </a:p>
          <a:p>
            <a:pPr algn="just" fontAlgn="base">
              <a:buFont typeface="+mj-lt"/>
              <a:buAutoNum type="arabicPeriod"/>
            </a:pPr>
            <a:r>
              <a:rPr lang="en-US" b="1" i="0" dirty="0" err="1">
                <a:solidFill>
                  <a:srgbClr val="000000"/>
                </a:solidFill>
                <a:effectLst/>
                <a:latin typeface="arial" panose="020B0604020202020204" pitchFamily="34" charset="0"/>
              </a:rPr>
              <a:t>UseRouting</a:t>
            </a:r>
            <a:r>
              <a:rPr lang="en-US" b="1" i="0" dirty="0">
                <a:solidFill>
                  <a:srgbClr val="000000"/>
                </a:solidFill>
                <a:effectLst/>
                <a:latin typeface="arial" panose="020B0604020202020204" pitchFamily="34" charset="0"/>
              </a:rPr>
              <a:t>()</a:t>
            </a:r>
            <a:endParaRPr lang="en-US" b="0" i="0" dirty="0">
              <a:solidFill>
                <a:srgbClr val="212529"/>
              </a:solidFill>
              <a:effectLst/>
              <a:latin typeface="-apple-system"/>
            </a:endParaRPr>
          </a:p>
          <a:p>
            <a:pPr algn="just" fontAlgn="base">
              <a:buFont typeface="+mj-lt"/>
              <a:buAutoNum type="arabicPeriod"/>
            </a:pPr>
            <a:r>
              <a:rPr lang="en-US" b="1" i="0" dirty="0" err="1">
                <a:solidFill>
                  <a:srgbClr val="000000"/>
                </a:solidFill>
                <a:effectLst/>
                <a:latin typeface="arial" panose="020B0604020202020204" pitchFamily="34" charset="0"/>
              </a:rPr>
              <a:t>UseEndpoints</a:t>
            </a:r>
            <a:r>
              <a:rPr lang="en-US" b="1" i="0" dirty="0">
                <a:solidFill>
                  <a:srgbClr val="000000"/>
                </a:solidFill>
                <a:effectLst/>
                <a:latin typeface="arial" panose="020B0604020202020204" pitchFamily="34" charset="0"/>
              </a:rPr>
              <a:t>() Middleware component</a:t>
            </a:r>
            <a:endParaRPr lang="en-US" b="0" i="0" dirty="0">
              <a:solidFill>
                <a:srgbClr val="212529"/>
              </a:solidFill>
              <a:effectLst/>
              <a:latin typeface="-apple-system"/>
            </a:endParaRPr>
          </a:p>
          <a:p>
            <a:br>
              <a:rPr lang="en-US" dirty="0"/>
            </a:br>
            <a:endParaRPr lang="en-IN" dirty="0"/>
          </a:p>
        </p:txBody>
      </p:sp>
    </p:spTree>
    <p:extLst>
      <p:ext uri="{BB962C8B-B14F-4D97-AF65-F5344CB8AC3E}">
        <p14:creationId xmlns:p14="http://schemas.microsoft.com/office/powerpoint/2010/main" val="4240591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FD0376-705A-42E0-8C06-31C37F452172}"/>
              </a:ext>
            </a:extLst>
          </p:cNvPr>
          <p:cNvSpPr txBox="1"/>
          <p:nvPr/>
        </p:nvSpPr>
        <p:spPr>
          <a:xfrm>
            <a:off x="285134" y="86057"/>
            <a:ext cx="11002297" cy="3416320"/>
          </a:xfrm>
          <a:prstGeom prst="rect">
            <a:avLst/>
          </a:prstGeom>
          <a:noFill/>
        </p:spPr>
        <p:txBody>
          <a:bodyPr wrap="square">
            <a:spAutoFit/>
          </a:bodyPr>
          <a:lstStyle/>
          <a:p>
            <a:pPr algn="ctr" fontAlgn="base"/>
            <a:r>
              <a:rPr lang="en-US" b="1" dirty="0" err="1">
                <a:solidFill>
                  <a:srgbClr val="000000"/>
                </a:solidFill>
                <a:latin typeface="arial" panose="020B0604020202020204" pitchFamily="34" charset="0"/>
              </a:rPr>
              <a:t>UseExceptionHandler</a:t>
            </a:r>
            <a:r>
              <a:rPr lang="en-US" b="1" dirty="0">
                <a:solidFill>
                  <a:srgbClr val="000000"/>
                </a:solidFill>
                <a:latin typeface="arial" panose="020B0604020202020204" pitchFamily="34" charset="0"/>
              </a:rPr>
              <a:t> </a:t>
            </a:r>
            <a:r>
              <a:rPr lang="en-US" b="1" i="0" dirty="0">
                <a:solidFill>
                  <a:srgbClr val="000000"/>
                </a:solidFill>
                <a:effectLst/>
                <a:latin typeface="arial" panose="020B0604020202020204" pitchFamily="34" charset="0"/>
              </a:rPr>
              <a:t>Middleware Component:</a:t>
            </a:r>
          </a:p>
          <a:p>
            <a:pPr algn="ctr" fontAlgn="base"/>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 </a:t>
            </a:r>
            <a:r>
              <a:rPr lang="en-US" b="1" i="0" dirty="0" err="1">
                <a:solidFill>
                  <a:srgbClr val="000000"/>
                </a:solidFill>
                <a:effectLst/>
                <a:latin typeface="arial" panose="020B0604020202020204" pitchFamily="34" charset="0"/>
              </a:rPr>
              <a:t>UseExceptionHandler</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middleware component is registered into the pipeline and this middleware component will come into the picture only when the hosting environment is set to “development”. This middleware component is going to execute when there is an unhandled exception occurred in the application and since it is in development mode, it is going to show you the culprit line of code. You can consider this as a replacement for the yellow screen of death. </a:t>
            </a:r>
          </a:p>
          <a:p>
            <a:pPr algn="just" fontAlgn="base"/>
            <a:endParaRPr lang="en-US" b="0" i="0" dirty="0">
              <a:solidFill>
                <a:srgbClr val="212529"/>
              </a:solidFill>
              <a:effectLst/>
              <a:latin typeface="-apple-system"/>
            </a:endParaRPr>
          </a:p>
          <a:p>
            <a:pPr algn="ctr" fontAlgn="base"/>
            <a:r>
              <a:rPr lang="en-US" b="1" i="0" dirty="0" err="1">
                <a:solidFill>
                  <a:srgbClr val="000000"/>
                </a:solidFill>
                <a:effectLst/>
                <a:latin typeface="arial" panose="020B0604020202020204" pitchFamily="34" charset="0"/>
              </a:rPr>
              <a:t>UseRouting</a:t>
            </a:r>
            <a:r>
              <a:rPr lang="en-US" b="1" i="0" dirty="0">
                <a:solidFill>
                  <a:srgbClr val="000000"/>
                </a:solidFill>
                <a:effectLst/>
                <a:latin typeface="arial" panose="020B0604020202020204" pitchFamily="34" charset="0"/>
              </a:rPr>
              <a:t>() Middleware Component:</a:t>
            </a:r>
          </a:p>
          <a:p>
            <a:pPr algn="ctr" fontAlgn="base"/>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This middleware component is used to add Endpoint Routing Middleware to the request processing pipeline i.e. it will map the URL (or incoming HTTP Request) to a particular resource. </a:t>
            </a:r>
            <a:endParaRPr lang="en-US" b="0" i="0" dirty="0">
              <a:solidFill>
                <a:srgbClr val="212529"/>
              </a:solidFill>
              <a:effectLst/>
              <a:latin typeface="-apple-system"/>
            </a:endParaRPr>
          </a:p>
        </p:txBody>
      </p:sp>
    </p:spTree>
    <p:extLst>
      <p:ext uri="{BB962C8B-B14F-4D97-AF65-F5344CB8AC3E}">
        <p14:creationId xmlns:p14="http://schemas.microsoft.com/office/powerpoint/2010/main" val="4132914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0DCBBA5-5127-490B-88AF-2E4D6788D0D8}"/>
              </a:ext>
            </a:extLst>
          </p:cNvPr>
          <p:cNvSpPr txBox="1"/>
          <p:nvPr/>
        </p:nvSpPr>
        <p:spPr>
          <a:xfrm>
            <a:off x="460886" y="316728"/>
            <a:ext cx="11700387" cy="1754326"/>
          </a:xfrm>
          <a:prstGeom prst="rect">
            <a:avLst/>
          </a:prstGeom>
          <a:noFill/>
        </p:spPr>
        <p:txBody>
          <a:bodyPr wrap="square">
            <a:spAutoFit/>
          </a:bodyPr>
          <a:lstStyle/>
          <a:p>
            <a:r>
              <a:rPr lang="en-US" b="0" i="0" dirty="0">
                <a:solidFill>
                  <a:srgbClr val="000000"/>
                </a:solidFill>
                <a:effectLst/>
                <a:latin typeface="arial" panose="020B0604020202020204" pitchFamily="34" charset="0"/>
              </a:rPr>
              <a:t>Let us understand how to create and configure custom middleware components using the Run extension method. First of all, comment on all codes which are present inside the Configure method. </a:t>
            </a:r>
          </a:p>
          <a:p>
            <a:endParaRPr lang="en-US" dirty="0">
              <a:solidFill>
                <a:srgbClr val="000000"/>
              </a:solidFill>
              <a:latin typeface="arial" panose="020B0604020202020204" pitchFamily="34" charset="0"/>
            </a:endParaRPr>
          </a:p>
          <a:p>
            <a:r>
              <a:rPr lang="en-US" b="0" i="0" dirty="0">
                <a:solidFill>
                  <a:srgbClr val="000000"/>
                </a:solidFill>
                <a:effectLst/>
                <a:latin typeface="arial" panose="020B0604020202020204" pitchFamily="34" charset="0"/>
              </a:rPr>
              <a:t>Once you comment on the existing code, then copy and paste the following code.</a:t>
            </a:r>
          </a:p>
          <a:p>
            <a:r>
              <a:rPr lang="en-US" b="0" i="0" dirty="0">
                <a:solidFill>
                  <a:srgbClr val="000000"/>
                </a:solidFill>
                <a:effectLst/>
                <a:latin typeface="arial" panose="020B0604020202020204" pitchFamily="34" charset="0"/>
              </a:rPr>
              <a:t> The following code simply adds a new middleware component to the application’s request pipeline and simply prints a message.</a:t>
            </a:r>
            <a:endParaRPr lang="en-IN" dirty="0"/>
          </a:p>
        </p:txBody>
      </p:sp>
      <p:sp>
        <p:nvSpPr>
          <p:cNvPr id="9" name="TextBox 8">
            <a:extLst>
              <a:ext uri="{FF2B5EF4-FFF2-40B4-BE49-F238E27FC236}">
                <a16:creationId xmlns:a16="http://schemas.microsoft.com/office/drawing/2014/main" id="{64B7023F-1290-42FB-943B-E8AE6B9BF89B}"/>
              </a:ext>
            </a:extLst>
          </p:cNvPr>
          <p:cNvSpPr txBox="1"/>
          <p:nvPr/>
        </p:nvSpPr>
        <p:spPr>
          <a:xfrm>
            <a:off x="348299" y="2780575"/>
            <a:ext cx="6096000" cy="1477328"/>
          </a:xfrm>
          <a:prstGeom prst="rect">
            <a:avLst/>
          </a:prstGeom>
          <a:noFill/>
        </p:spPr>
        <p:txBody>
          <a:bodyPr wrap="square">
            <a:spAutoFit/>
          </a:bodyPr>
          <a:lstStyle/>
          <a:p>
            <a:pPr algn="l" fontAlgn="base"/>
            <a:r>
              <a:rPr lang="en-IN" b="0" i="0" dirty="0" err="1">
                <a:solidFill>
                  <a:srgbClr val="CFD5E0"/>
                </a:solidFill>
                <a:effectLst/>
                <a:latin typeface="inherit"/>
              </a:rPr>
              <a:t>app.</a:t>
            </a:r>
            <a:r>
              <a:rPr lang="en-IN" b="0" i="0" dirty="0" err="1">
                <a:solidFill>
                  <a:srgbClr val="4284AE"/>
                </a:solidFill>
                <a:effectLst/>
                <a:latin typeface="inherit"/>
              </a:rPr>
              <a:t>Run</a:t>
            </a:r>
            <a:r>
              <a:rPr lang="en-IN" b="1" i="0" dirty="0">
                <a:solidFill>
                  <a:srgbClr val="6B7C8B"/>
                </a:solidFill>
                <a:effectLst/>
                <a:latin typeface="inherit"/>
              </a:rPr>
              <a:t>(</a:t>
            </a:r>
            <a:r>
              <a:rPr lang="en-IN" b="1" i="0" dirty="0">
                <a:solidFill>
                  <a:srgbClr val="D171DD"/>
                </a:solidFill>
                <a:effectLst/>
                <a:latin typeface="inherit"/>
              </a:rPr>
              <a:t>async</a:t>
            </a:r>
            <a:r>
              <a:rPr lang="en-IN" b="0" i="0" dirty="0">
                <a:solidFill>
                  <a:srgbClr val="CFD5E0"/>
                </a:solidFill>
                <a:effectLst/>
                <a:latin typeface="inherit"/>
              </a:rPr>
              <a:t> </a:t>
            </a:r>
            <a:r>
              <a:rPr lang="en-IN" b="1" i="0" dirty="0">
                <a:solidFill>
                  <a:srgbClr val="6B7C8B"/>
                </a:solidFill>
                <a:effectLst/>
                <a:latin typeface="inherit"/>
              </a:rPr>
              <a:t>(</a:t>
            </a:r>
            <a:r>
              <a:rPr lang="en-IN" b="0" i="0" dirty="0">
                <a:solidFill>
                  <a:srgbClr val="CFD5E0"/>
                </a:solidFill>
                <a:effectLst/>
                <a:latin typeface="inherit"/>
              </a:rPr>
              <a:t>context</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await</a:t>
            </a:r>
            <a:r>
              <a:rPr lang="en-IN" b="0" i="0" dirty="0">
                <a:solidFill>
                  <a:srgbClr val="CFD5E0"/>
                </a:solidFill>
                <a:effectLst/>
                <a:latin typeface="inherit"/>
              </a:rPr>
              <a:t> </a:t>
            </a:r>
            <a:r>
              <a:rPr lang="en-IN" b="0" i="0" dirty="0" err="1">
                <a:solidFill>
                  <a:srgbClr val="CFD5E0"/>
                </a:solidFill>
                <a:effectLst/>
                <a:latin typeface="inherit"/>
              </a:rPr>
              <a:t>context.</a:t>
            </a:r>
            <a:r>
              <a:rPr lang="en-IN" b="0" i="0" dirty="0" err="1">
                <a:solidFill>
                  <a:srgbClr val="4284AE"/>
                </a:solidFill>
                <a:effectLst/>
                <a:latin typeface="inherit"/>
              </a:rPr>
              <a:t>Response</a:t>
            </a:r>
            <a:r>
              <a:rPr lang="en-IN" b="0" i="0" dirty="0" err="1">
                <a:solidFill>
                  <a:srgbClr val="CFD5E0"/>
                </a:solidFill>
                <a:effectLst/>
                <a:latin typeface="inherit"/>
              </a:rPr>
              <a:t>.</a:t>
            </a:r>
            <a:r>
              <a:rPr lang="en-IN" b="0" i="0" dirty="0" err="1">
                <a:solidFill>
                  <a:srgbClr val="4284AE"/>
                </a:solidFill>
                <a:effectLst/>
                <a:latin typeface="inherit"/>
              </a:rPr>
              <a:t>WriteAsync</a:t>
            </a:r>
            <a:r>
              <a:rPr lang="en-IN" b="1" i="0" dirty="0">
                <a:solidFill>
                  <a:srgbClr val="6B7C8B"/>
                </a:solidFill>
                <a:effectLst/>
                <a:latin typeface="inherit"/>
              </a:rPr>
              <a:t>(</a:t>
            </a:r>
            <a:r>
              <a:rPr lang="en-IN" b="0" i="0" dirty="0">
                <a:solidFill>
                  <a:srgbClr val="7CC379"/>
                </a:solidFill>
                <a:effectLst/>
                <a:latin typeface="inherit"/>
              </a:rPr>
              <a:t>"Getting Response from First Middleware"</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endParaRPr lang="en-IN" b="0" i="0" dirty="0">
              <a:solidFill>
                <a:srgbClr val="596174"/>
              </a:solidFill>
              <a:effectLst/>
              <a:latin typeface="Inconsolata" pitchFamily="1" charset="0"/>
            </a:endParaRPr>
          </a:p>
        </p:txBody>
      </p:sp>
      <p:pic>
        <p:nvPicPr>
          <p:cNvPr id="10" name="Picture 9">
            <a:extLst>
              <a:ext uri="{FF2B5EF4-FFF2-40B4-BE49-F238E27FC236}">
                <a16:creationId xmlns:a16="http://schemas.microsoft.com/office/drawing/2014/main" id="{7D5F714C-CF28-4903-8D0E-DFA144402B39}"/>
              </a:ext>
            </a:extLst>
          </p:cNvPr>
          <p:cNvPicPr>
            <a:picLocks noChangeAspect="1"/>
          </p:cNvPicPr>
          <p:nvPr/>
        </p:nvPicPr>
        <p:blipFill>
          <a:blip r:embed="rId2"/>
          <a:stretch>
            <a:fillRect/>
          </a:stretch>
        </p:blipFill>
        <p:spPr>
          <a:xfrm>
            <a:off x="6791371" y="2933928"/>
            <a:ext cx="3581400" cy="1323975"/>
          </a:xfrm>
          <a:prstGeom prst="rect">
            <a:avLst/>
          </a:prstGeom>
        </p:spPr>
      </p:pic>
    </p:spTree>
    <p:extLst>
      <p:ext uri="{BB962C8B-B14F-4D97-AF65-F5344CB8AC3E}">
        <p14:creationId xmlns:p14="http://schemas.microsoft.com/office/powerpoint/2010/main" val="2110301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C6DD8AD-81EF-43E4-B002-5C67B9037DCC}"/>
              </a:ext>
            </a:extLst>
          </p:cNvPr>
          <p:cNvSpPr txBox="1"/>
          <p:nvPr/>
        </p:nvSpPr>
        <p:spPr>
          <a:xfrm>
            <a:off x="363794" y="98322"/>
            <a:ext cx="11828206" cy="369332"/>
          </a:xfrm>
          <a:prstGeom prst="rect">
            <a:avLst/>
          </a:prstGeom>
          <a:noFill/>
        </p:spPr>
        <p:txBody>
          <a:bodyPr wrap="square">
            <a:spAutoFit/>
          </a:bodyPr>
          <a:lstStyle/>
          <a:p>
            <a:r>
              <a:rPr lang="en-US" b="0" i="0" dirty="0">
                <a:solidFill>
                  <a:srgbClr val="000000"/>
                </a:solidFill>
                <a:effectLst/>
                <a:latin typeface="arial" panose="020B0604020202020204" pitchFamily="34" charset="0"/>
              </a:rPr>
              <a:t>We are invoking the </a:t>
            </a:r>
            <a:r>
              <a:rPr lang="en-US" b="1" i="0" dirty="0">
                <a:solidFill>
                  <a:srgbClr val="000000"/>
                </a:solidFill>
                <a:effectLst/>
                <a:latin typeface="arial" panose="020B0604020202020204" pitchFamily="34" charset="0"/>
              </a:rPr>
              <a:t>Run() on </a:t>
            </a:r>
            <a:r>
              <a:rPr lang="en-US" b="0" i="0" dirty="0">
                <a:solidFill>
                  <a:srgbClr val="000000"/>
                </a:solidFill>
                <a:effectLst/>
                <a:latin typeface="arial" panose="020B0604020202020204" pitchFamily="34" charset="0"/>
              </a:rPr>
              <a:t> instance of </a:t>
            </a:r>
            <a:r>
              <a:rPr lang="en-US" dirty="0" err="1">
                <a:solidFill>
                  <a:srgbClr val="000000"/>
                </a:solidFill>
                <a:latin typeface="Cascadia Mono" panose="020B0609020000020004" pitchFamily="49" charset="0"/>
              </a:rPr>
              <a:t>IApplicationBuilder</a:t>
            </a:r>
            <a:endParaRPr lang="en-IN" dirty="0"/>
          </a:p>
        </p:txBody>
      </p:sp>
      <p:sp>
        <p:nvSpPr>
          <p:cNvPr id="8" name="TextBox 7">
            <a:extLst>
              <a:ext uri="{FF2B5EF4-FFF2-40B4-BE49-F238E27FC236}">
                <a16:creationId xmlns:a16="http://schemas.microsoft.com/office/drawing/2014/main" id="{84F35600-F1C7-4F34-8EBC-5DBC6B4A1002}"/>
              </a:ext>
            </a:extLst>
          </p:cNvPr>
          <p:cNvSpPr txBox="1"/>
          <p:nvPr/>
        </p:nvSpPr>
        <p:spPr>
          <a:xfrm>
            <a:off x="373626" y="892280"/>
            <a:ext cx="11444748" cy="1200329"/>
          </a:xfrm>
          <a:prstGeom prst="rect">
            <a:avLst/>
          </a:prstGeom>
          <a:noFill/>
        </p:spPr>
        <p:txBody>
          <a:bodyPr wrap="square">
            <a:spAutoFit/>
          </a:bodyPr>
          <a:lstStyle/>
          <a:p>
            <a:r>
              <a:rPr lang="en-US" b="0" i="0" dirty="0">
                <a:solidFill>
                  <a:srgbClr val="000000"/>
                </a:solidFill>
                <a:effectLst/>
                <a:latin typeface="arial" panose="020B0604020202020204" pitchFamily="34" charset="0"/>
              </a:rPr>
              <a:t>As you can see from the definition of the Run() method, it is implemented as an extension method of the </a:t>
            </a:r>
            <a:r>
              <a:rPr lang="en-US" b="0" i="0" dirty="0" err="1">
                <a:solidFill>
                  <a:srgbClr val="000000"/>
                </a:solidFill>
                <a:effectLst/>
                <a:latin typeface="arial" panose="020B0604020202020204" pitchFamily="34" charset="0"/>
              </a:rPr>
              <a:t>IApplicationBuilder</a:t>
            </a:r>
            <a:r>
              <a:rPr lang="en-US" b="0" i="0" dirty="0">
                <a:solidFill>
                  <a:srgbClr val="000000"/>
                </a:solidFill>
                <a:effectLst/>
                <a:latin typeface="arial" panose="020B0604020202020204" pitchFamily="34" charset="0"/>
              </a:rPr>
              <a:t> interface. </a:t>
            </a:r>
          </a:p>
          <a:p>
            <a:endParaRPr lang="en-US" dirty="0">
              <a:solidFill>
                <a:srgbClr val="000000"/>
              </a:solidFill>
              <a:latin typeface="arial" panose="020B0604020202020204" pitchFamily="34" charset="0"/>
            </a:endParaRPr>
          </a:p>
          <a:p>
            <a:r>
              <a:rPr lang="en-US" b="0" i="0" dirty="0">
                <a:solidFill>
                  <a:srgbClr val="000000"/>
                </a:solidFill>
                <a:effectLst/>
                <a:latin typeface="arial" panose="020B0604020202020204" pitchFamily="34" charset="0"/>
              </a:rPr>
              <a:t>This is the reason why we are able to call the Run() method using the </a:t>
            </a:r>
            <a:r>
              <a:rPr lang="en-US" b="0" i="0" dirty="0" err="1">
                <a:solidFill>
                  <a:srgbClr val="000000"/>
                </a:solidFill>
                <a:effectLst/>
                <a:latin typeface="arial" panose="020B0604020202020204" pitchFamily="34" charset="0"/>
              </a:rPr>
              <a:t>IApplicationBuilder</a:t>
            </a:r>
            <a:r>
              <a:rPr lang="en-US" b="0" i="0" dirty="0">
                <a:solidFill>
                  <a:srgbClr val="000000"/>
                </a:solidFill>
                <a:effectLst/>
                <a:latin typeface="arial" panose="020B0604020202020204" pitchFamily="34" charset="0"/>
              </a:rPr>
              <a:t> instance i.e. app.</a:t>
            </a:r>
            <a:endParaRPr lang="en-IN" dirty="0"/>
          </a:p>
        </p:txBody>
      </p:sp>
      <p:sp>
        <p:nvSpPr>
          <p:cNvPr id="10" name="TextBox 9">
            <a:extLst>
              <a:ext uri="{FF2B5EF4-FFF2-40B4-BE49-F238E27FC236}">
                <a16:creationId xmlns:a16="http://schemas.microsoft.com/office/drawing/2014/main" id="{6C006FC8-74AA-4E04-9D18-F7FA2A749514}"/>
              </a:ext>
            </a:extLst>
          </p:cNvPr>
          <p:cNvSpPr txBox="1"/>
          <p:nvPr/>
        </p:nvSpPr>
        <p:spPr>
          <a:xfrm>
            <a:off x="540773" y="2188286"/>
            <a:ext cx="10972800"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You can also see from the above image that the Run() method takes an input parameter of type </a:t>
            </a:r>
            <a:r>
              <a:rPr lang="en-US" b="1" i="0" dirty="0" err="1">
                <a:solidFill>
                  <a:srgbClr val="000000"/>
                </a:solidFill>
                <a:effectLst/>
                <a:latin typeface="arial" panose="020B0604020202020204" pitchFamily="34" charset="0"/>
              </a:rPr>
              <a:t>RequestDelegate</a:t>
            </a:r>
            <a:r>
              <a:rPr lang="en-US" b="0" i="0" dirty="0">
                <a:solidFill>
                  <a:srgbClr val="000000"/>
                </a:solidFill>
                <a:effectLst/>
                <a:latin typeface="arial" panose="020B0604020202020204" pitchFamily="34" charset="0"/>
              </a:rPr>
              <a:t>. Following is the definition of </a:t>
            </a:r>
            <a:r>
              <a:rPr lang="en-US" b="0" i="0" dirty="0" err="1">
                <a:solidFill>
                  <a:srgbClr val="000000"/>
                </a:solidFill>
                <a:effectLst/>
                <a:latin typeface="arial" panose="020B0604020202020204" pitchFamily="34" charset="0"/>
              </a:rPr>
              <a:t>RequestDelegate</a:t>
            </a:r>
            <a:r>
              <a:rPr lang="en-US" b="0" i="0" dirty="0">
                <a:solidFill>
                  <a:srgbClr val="000000"/>
                </a:solidFill>
                <a:effectLst/>
                <a:latin typeface="arial" panose="020B0604020202020204" pitchFamily="34" charset="0"/>
              </a:rPr>
              <a:t>.</a:t>
            </a:r>
            <a:endParaRPr lang="en-IN" dirty="0"/>
          </a:p>
        </p:txBody>
      </p:sp>
      <p:sp>
        <p:nvSpPr>
          <p:cNvPr id="13" name="TextBox 12">
            <a:extLst>
              <a:ext uri="{FF2B5EF4-FFF2-40B4-BE49-F238E27FC236}">
                <a16:creationId xmlns:a16="http://schemas.microsoft.com/office/drawing/2014/main" id="{FDE5DF32-1FB1-47F8-B6B2-2F6642D1FACC}"/>
              </a:ext>
            </a:extLst>
          </p:cNvPr>
          <p:cNvSpPr txBox="1"/>
          <p:nvPr/>
        </p:nvSpPr>
        <p:spPr>
          <a:xfrm>
            <a:off x="373626" y="3105834"/>
            <a:ext cx="9861755"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As you can see from the above image, the </a:t>
            </a:r>
            <a:r>
              <a:rPr lang="en-US" b="0" i="0" dirty="0" err="1">
                <a:solidFill>
                  <a:srgbClr val="000000"/>
                </a:solidFill>
                <a:effectLst/>
                <a:latin typeface="arial" panose="020B0604020202020204" pitchFamily="34" charset="0"/>
              </a:rPr>
              <a:t>RequestDelegate</a:t>
            </a:r>
            <a:r>
              <a:rPr lang="en-US" b="0" i="0" dirty="0">
                <a:solidFill>
                  <a:srgbClr val="000000"/>
                </a:solidFill>
                <a:effectLst/>
                <a:latin typeface="arial" panose="020B0604020202020204" pitchFamily="34" charset="0"/>
              </a:rPr>
              <a:t> is a delegate that takes an input parameter of type </a:t>
            </a:r>
            <a:r>
              <a:rPr lang="en-US" b="0" i="0" dirty="0" err="1">
                <a:solidFill>
                  <a:srgbClr val="000000"/>
                </a:solidFill>
                <a:effectLst/>
                <a:latin typeface="arial" panose="020B0604020202020204" pitchFamily="34" charset="0"/>
              </a:rPr>
              <a:t>HttpContext</a:t>
            </a:r>
            <a:r>
              <a:rPr lang="en-US" b="0" i="0" dirty="0">
                <a:solidFill>
                  <a:srgbClr val="000000"/>
                </a:solidFill>
                <a:effectLst/>
                <a:latin typeface="arial" panose="020B0604020202020204" pitchFamily="34" charset="0"/>
              </a:rPr>
              <a:t> object.</a:t>
            </a:r>
            <a:endParaRPr lang="en-IN" dirty="0"/>
          </a:p>
        </p:txBody>
      </p:sp>
      <p:pic>
        <p:nvPicPr>
          <p:cNvPr id="3" name="Picture 2">
            <a:extLst>
              <a:ext uri="{FF2B5EF4-FFF2-40B4-BE49-F238E27FC236}">
                <a16:creationId xmlns:a16="http://schemas.microsoft.com/office/drawing/2014/main" id="{038E4575-0762-CA38-B819-31423D258F22}"/>
              </a:ext>
            </a:extLst>
          </p:cNvPr>
          <p:cNvPicPr>
            <a:picLocks noChangeAspect="1"/>
          </p:cNvPicPr>
          <p:nvPr/>
        </p:nvPicPr>
        <p:blipFill rotWithShape="1">
          <a:blip r:embed="rId2"/>
          <a:srcRect l="-1" t="12371" r="44408" b="47491"/>
          <a:stretch/>
        </p:blipFill>
        <p:spPr>
          <a:xfrm>
            <a:off x="4873355" y="3576627"/>
            <a:ext cx="6777872" cy="2752627"/>
          </a:xfrm>
          <a:prstGeom prst="rect">
            <a:avLst/>
          </a:prstGeom>
        </p:spPr>
      </p:pic>
      <p:sp>
        <p:nvSpPr>
          <p:cNvPr id="2" name="Rectangle 1"/>
          <p:cNvSpPr/>
          <p:nvPr/>
        </p:nvSpPr>
        <p:spPr>
          <a:xfrm>
            <a:off x="265024" y="3955797"/>
            <a:ext cx="4205376" cy="2169825"/>
          </a:xfrm>
          <a:prstGeom prst="rect">
            <a:avLst/>
          </a:prstGeom>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Microsoft.AspNetCore.Http</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Microsoft.AspNetCore.Builder</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Summary:</a:t>
            </a:r>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Extension methods for adding terminal middleware.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static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RunExtensions</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8000"/>
                </a:solidFill>
                <a:latin typeface="Cascadia Mono" panose="020B0609020000020004" pitchFamily="49" charset="0"/>
              </a:rPr>
              <a:t>//   handler:</a:t>
            </a:r>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A delegate that handles the request.</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Run(</a:t>
            </a:r>
            <a:r>
              <a:rPr lang="en-US" sz="900" dirty="0">
                <a:solidFill>
                  <a:srgbClr val="0000FF"/>
                </a:solidFill>
                <a:latin typeface="Cascadia Mono" panose="020B0609020000020004" pitchFamily="49" charset="0"/>
              </a:rPr>
              <a:t>this</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IApplicationBuilder</a:t>
            </a:r>
            <a:r>
              <a:rPr lang="en-US" sz="900" dirty="0">
                <a:solidFill>
                  <a:srgbClr val="000000"/>
                </a:solidFill>
                <a:latin typeface="Cascadia Mono" panose="020B0609020000020004" pitchFamily="49" charset="0"/>
              </a:rPr>
              <a:t> app</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RequestDelegate</a:t>
            </a:r>
            <a:r>
              <a:rPr lang="en-US" sz="900" dirty="0">
                <a:solidFill>
                  <a:srgbClr val="000000"/>
                </a:solidFill>
                <a:latin typeface="Cascadia Mono" panose="020B0609020000020004" pitchFamily="49" charset="0"/>
              </a:rPr>
              <a:t> handler);</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Tree>
    <p:extLst>
      <p:ext uri="{BB962C8B-B14F-4D97-AF65-F5344CB8AC3E}">
        <p14:creationId xmlns:p14="http://schemas.microsoft.com/office/powerpoint/2010/main" val="3028633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FBCC31-039A-4E83-A933-16463D118A74}"/>
              </a:ext>
            </a:extLst>
          </p:cNvPr>
          <p:cNvSpPr txBox="1"/>
          <p:nvPr/>
        </p:nvSpPr>
        <p:spPr>
          <a:xfrm>
            <a:off x="0" y="418152"/>
            <a:ext cx="11670890" cy="1754326"/>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As we already discussed the middleware components in the ASP.NET Core application can have access to both HTTP Request and Response and this is because of the above </a:t>
            </a:r>
            <a:r>
              <a:rPr lang="en-US" b="0" i="0" dirty="0" err="1">
                <a:solidFill>
                  <a:srgbClr val="000000"/>
                </a:solidFill>
                <a:effectLst/>
                <a:latin typeface="arial" panose="020B0604020202020204" pitchFamily="34" charset="0"/>
              </a:rPr>
              <a:t>HttpContext</a:t>
            </a:r>
            <a:r>
              <a:rPr lang="en-US" b="0" i="0" dirty="0">
                <a:solidFill>
                  <a:srgbClr val="000000"/>
                </a:solidFill>
                <a:effectLst/>
                <a:latin typeface="arial" panose="020B0604020202020204" pitchFamily="34" charset="0"/>
              </a:rPr>
              <a:t> object.</a:t>
            </a:r>
          </a:p>
          <a:p>
            <a:pPr algn="just" fontAlgn="base"/>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In our example, we are passing the request delegate inline as an anonymous method using lambda expression and moreover, we are passing the </a:t>
            </a:r>
            <a:r>
              <a:rPr lang="en-US" b="0" i="0" dirty="0" err="1">
                <a:solidFill>
                  <a:srgbClr val="000000"/>
                </a:solidFill>
                <a:effectLst/>
                <a:latin typeface="arial" panose="020B0604020202020204" pitchFamily="34" charset="0"/>
              </a:rPr>
              <a:t>HTTPContext</a:t>
            </a:r>
            <a:r>
              <a:rPr lang="en-US" b="0" i="0" dirty="0">
                <a:solidFill>
                  <a:srgbClr val="000000"/>
                </a:solidFill>
                <a:effectLst/>
                <a:latin typeface="arial" panose="020B0604020202020204" pitchFamily="34" charset="0"/>
              </a:rPr>
              <a:t> object as an input parameter to the request delegate. The following diagram shows the above</a:t>
            </a:r>
            <a:endParaRPr lang="en-US" b="0" i="0" dirty="0">
              <a:solidFill>
                <a:srgbClr val="212529"/>
              </a:solidFill>
              <a:effectLst/>
              <a:latin typeface="-apple-system"/>
            </a:endParaRPr>
          </a:p>
        </p:txBody>
      </p:sp>
      <p:pic>
        <p:nvPicPr>
          <p:cNvPr id="5122" name="Picture 2" descr="How to Configure Middleware Components using the Run extension method?">
            <a:extLst>
              <a:ext uri="{FF2B5EF4-FFF2-40B4-BE49-F238E27FC236}">
                <a16:creationId xmlns:a16="http://schemas.microsoft.com/office/drawing/2014/main" id="{C84D2DBE-6983-4C3D-B393-1B3CFB5FD4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734" y="2452074"/>
            <a:ext cx="4740531" cy="189478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CAC8308-69B6-4E81-95EC-64B0EDD43DCE}"/>
              </a:ext>
            </a:extLst>
          </p:cNvPr>
          <p:cNvSpPr txBox="1"/>
          <p:nvPr/>
        </p:nvSpPr>
        <p:spPr>
          <a:xfrm>
            <a:off x="-24580" y="4916581"/>
            <a:ext cx="6120580" cy="923330"/>
          </a:xfrm>
          <a:prstGeom prst="rect">
            <a:avLst/>
          </a:prstGeom>
          <a:noFill/>
        </p:spPr>
        <p:txBody>
          <a:bodyPr wrap="square">
            <a:spAutoFit/>
          </a:bodyPr>
          <a:lstStyle/>
          <a:p>
            <a:r>
              <a:rPr lang="en-US" b="1" i="0" dirty="0">
                <a:solidFill>
                  <a:srgbClr val="000000"/>
                </a:solidFill>
                <a:effectLst/>
                <a:latin typeface="arial" panose="020B0604020202020204" pitchFamily="34" charset="0"/>
              </a:rPr>
              <a:t>Note:</a:t>
            </a:r>
            <a:r>
              <a:rPr lang="en-US" b="0" i="0" dirty="0">
                <a:solidFill>
                  <a:srgbClr val="000000"/>
                </a:solidFill>
                <a:effectLst/>
                <a:latin typeface="arial" panose="020B0604020202020204" pitchFamily="34" charset="0"/>
              </a:rPr>
              <a:t> Instead of passing the request delegate inline as an anonymous method, you can also define the request delegate in a separate class and pass it here </a:t>
            </a:r>
            <a:endParaRPr lang="en-IN" dirty="0"/>
          </a:p>
        </p:txBody>
      </p:sp>
    </p:spTree>
    <p:extLst>
      <p:ext uri="{BB962C8B-B14F-4D97-AF65-F5344CB8AC3E}">
        <p14:creationId xmlns:p14="http://schemas.microsoft.com/office/powerpoint/2010/main" val="2751509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FB4A0F-15C1-4FCB-896A-E69B3BD84D1C}"/>
              </a:ext>
            </a:extLst>
          </p:cNvPr>
          <p:cNvSpPr txBox="1"/>
          <p:nvPr/>
        </p:nvSpPr>
        <p:spPr>
          <a:xfrm>
            <a:off x="2792361" y="129966"/>
            <a:ext cx="6096000"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Add one more middleware to the application.</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E7E916B7-3917-4887-9DF9-93B8B3FBA416}"/>
              </a:ext>
            </a:extLst>
          </p:cNvPr>
          <p:cNvSpPr txBox="1"/>
          <p:nvPr/>
        </p:nvSpPr>
        <p:spPr>
          <a:xfrm>
            <a:off x="294968" y="876370"/>
            <a:ext cx="10432026" cy="369332"/>
          </a:xfrm>
          <a:prstGeom prst="rect">
            <a:avLst/>
          </a:prstGeom>
          <a:noFill/>
        </p:spPr>
        <p:txBody>
          <a:bodyPr wrap="square">
            <a:spAutoFit/>
          </a:bodyPr>
          <a:lstStyle/>
          <a:p>
            <a:r>
              <a:rPr lang="en-US" b="0" i="0" dirty="0">
                <a:solidFill>
                  <a:srgbClr val="000000"/>
                </a:solidFill>
                <a:effectLst/>
                <a:latin typeface="arial" panose="020B0604020202020204" pitchFamily="34" charset="0"/>
              </a:rPr>
              <a:t>To do so, modify the configure method of the Startup class as shown below.</a:t>
            </a:r>
            <a:endParaRPr lang="en-IN" dirty="0"/>
          </a:p>
        </p:txBody>
      </p:sp>
      <p:sp>
        <p:nvSpPr>
          <p:cNvPr id="9" name="TextBox 8">
            <a:extLst>
              <a:ext uri="{FF2B5EF4-FFF2-40B4-BE49-F238E27FC236}">
                <a16:creationId xmlns:a16="http://schemas.microsoft.com/office/drawing/2014/main" id="{2F56FC0B-C089-4EFE-B379-CD296438B675}"/>
              </a:ext>
            </a:extLst>
          </p:cNvPr>
          <p:cNvSpPr txBox="1"/>
          <p:nvPr/>
        </p:nvSpPr>
        <p:spPr>
          <a:xfrm>
            <a:off x="294968" y="1443841"/>
            <a:ext cx="6096000" cy="2585323"/>
          </a:xfrm>
          <a:prstGeom prst="rect">
            <a:avLst/>
          </a:prstGeom>
          <a:solidFill>
            <a:schemeClr val="tx1"/>
          </a:solidFill>
        </p:spPr>
        <p:txBody>
          <a:bodyPr wrap="square">
            <a:spAutoFit/>
          </a:bodyPr>
          <a:lstStyle/>
          <a:p>
            <a:pPr algn="l" fontAlgn="base"/>
            <a:r>
              <a:rPr lang="en-IN" b="0" i="0" dirty="0" err="1">
                <a:solidFill>
                  <a:srgbClr val="CFD5E0"/>
                </a:solidFill>
                <a:effectLst/>
                <a:latin typeface="inherit"/>
              </a:rPr>
              <a:t>app.</a:t>
            </a:r>
            <a:r>
              <a:rPr lang="en-IN" b="0" i="0" dirty="0" err="1">
                <a:solidFill>
                  <a:srgbClr val="4284AE"/>
                </a:solidFill>
                <a:effectLst/>
                <a:latin typeface="inherit"/>
              </a:rPr>
              <a:t>Run</a:t>
            </a:r>
            <a:r>
              <a:rPr lang="en-IN" b="1" i="0" dirty="0">
                <a:solidFill>
                  <a:srgbClr val="6B7C8B"/>
                </a:solidFill>
                <a:effectLst/>
                <a:latin typeface="inherit"/>
              </a:rPr>
              <a:t>(</a:t>
            </a:r>
            <a:r>
              <a:rPr lang="en-IN" b="1" i="0" dirty="0" err="1">
                <a:solidFill>
                  <a:srgbClr val="D171DD"/>
                </a:solidFill>
                <a:effectLst/>
                <a:latin typeface="inherit"/>
              </a:rPr>
              <a:t>async</a:t>
            </a:r>
            <a:r>
              <a:rPr lang="en-IN" b="0" i="0" dirty="0">
                <a:solidFill>
                  <a:srgbClr val="CFD5E0"/>
                </a:solidFill>
                <a:effectLst/>
                <a:latin typeface="inherit"/>
              </a:rPr>
              <a:t> </a:t>
            </a:r>
            <a:r>
              <a:rPr lang="en-IN" b="1" i="0" dirty="0">
                <a:solidFill>
                  <a:srgbClr val="6B7C8B"/>
                </a:solidFill>
                <a:effectLst/>
                <a:latin typeface="inherit"/>
              </a:rPr>
              <a:t>(</a:t>
            </a:r>
            <a:r>
              <a:rPr lang="en-IN" b="0" i="0" dirty="0">
                <a:solidFill>
                  <a:srgbClr val="CFD5E0"/>
                </a:solidFill>
                <a:effectLst/>
                <a:latin typeface="inherit"/>
              </a:rPr>
              <a:t>context</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await</a:t>
            </a:r>
            <a:r>
              <a:rPr lang="en-IN" b="0" i="0" dirty="0">
                <a:solidFill>
                  <a:srgbClr val="CFD5E0"/>
                </a:solidFill>
                <a:effectLst/>
                <a:latin typeface="inherit"/>
              </a:rPr>
              <a:t> </a:t>
            </a:r>
            <a:r>
              <a:rPr lang="en-IN" b="0" i="0" dirty="0" err="1">
                <a:solidFill>
                  <a:srgbClr val="CFD5E0"/>
                </a:solidFill>
                <a:effectLst/>
                <a:latin typeface="inherit"/>
              </a:rPr>
              <a:t>context.</a:t>
            </a:r>
            <a:r>
              <a:rPr lang="en-IN" b="0" i="0" dirty="0" err="1">
                <a:solidFill>
                  <a:srgbClr val="4284AE"/>
                </a:solidFill>
                <a:effectLst/>
                <a:latin typeface="inherit"/>
              </a:rPr>
              <a:t>Response</a:t>
            </a:r>
            <a:r>
              <a:rPr lang="en-IN" b="0" i="0" dirty="0" err="1">
                <a:solidFill>
                  <a:srgbClr val="CFD5E0"/>
                </a:solidFill>
                <a:effectLst/>
                <a:latin typeface="inherit"/>
              </a:rPr>
              <a:t>.</a:t>
            </a:r>
            <a:r>
              <a:rPr lang="en-IN" b="0" i="0" dirty="0" err="1">
                <a:solidFill>
                  <a:srgbClr val="4284AE"/>
                </a:solidFill>
                <a:effectLst/>
                <a:latin typeface="inherit"/>
              </a:rPr>
              <a:t>WriteAsync</a:t>
            </a:r>
            <a:r>
              <a:rPr lang="en-IN" b="1" i="0" dirty="0">
                <a:solidFill>
                  <a:srgbClr val="6B7C8B"/>
                </a:solidFill>
                <a:effectLst/>
                <a:latin typeface="inherit"/>
              </a:rPr>
              <a:t>(</a:t>
            </a:r>
            <a:r>
              <a:rPr lang="en-IN" b="0" i="0" dirty="0">
                <a:solidFill>
                  <a:srgbClr val="7CC379"/>
                </a:solidFill>
                <a:effectLst/>
                <a:latin typeface="inherit"/>
              </a:rPr>
              <a:t>"Getting Response from First Middleware"</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Run</a:t>
            </a:r>
            <a:r>
              <a:rPr lang="en-IN" b="1" i="0" dirty="0">
                <a:solidFill>
                  <a:srgbClr val="6B7C8B"/>
                </a:solidFill>
                <a:effectLst/>
                <a:latin typeface="inherit"/>
              </a:rPr>
              <a:t>(</a:t>
            </a:r>
            <a:r>
              <a:rPr lang="en-IN" b="1" i="0" dirty="0">
                <a:solidFill>
                  <a:srgbClr val="D171DD"/>
                </a:solidFill>
                <a:effectLst/>
                <a:latin typeface="inherit"/>
              </a:rPr>
              <a:t>async</a:t>
            </a:r>
            <a:r>
              <a:rPr lang="en-IN" b="0" i="0" dirty="0">
                <a:solidFill>
                  <a:srgbClr val="CFD5E0"/>
                </a:solidFill>
                <a:effectLst/>
                <a:latin typeface="inherit"/>
              </a:rPr>
              <a:t> </a:t>
            </a:r>
            <a:r>
              <a:rPr lang="en-IN" b="1" i="0" dirty="0">
                <a:solidFill>
                  <a:srgbClr val="6B7C8B"/>
                </a:solidFill>
                <a:effectLst/>
                <a:latin typeface="inherit"/>
              </a:rPr>
              <a:t>(</a:t>
            </a:r>
            <a:r>
              <a:rPr lang="en-IN" b="0" i="0" dirty="0">
                <a:solidFill>
                  <a:srgbClr val="CFD5E0"/>
                </a:solidFill>
                <a:effectLst/>
                <a:latin typeface="inherit"/>
              </a:rPr>
              <a:t>context</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await</a:t>
            </a:r>
            <a:r>
              <a:rPr lang="en-IN" b="0" i="0" dirty="0">
                <a:solidFill>
                  <a:srgbClr val="CFD5E0"/>
                </a:solidFill>
                <a:effectLst/>
                <a:latin typeface="inherit"/>
              </a:rPr>
              <a:t> </a:t>
            </a:r>
            <a:r>
              <a:rPr lang="en-IN" b="0" i="0" dirty="0" err="1">
                <a:solidFill>
                  <a:srgbClr val="CFD5E0"/>
                </a:solidFill>
                <a:effectLst/>
                <a:latin typeface="inherit"/>
              </a:rPr>
              <a:t>context.</a:t>
            </a:r>
            <a:r>
              <a:rPr lang="en-IN" b="0" i="0" dirty="0" err="1">
                <a:solidFill>
                  <a:srgbClr val="4284AE"/>
                </a:solidFill>
                <a:effectLst/>
                <a:latin typeface="inherit"/>
              </a:rPr>
              <a:t>Response</a:t>
            </a:r>
            <a:r>
              <a:rPr lang="en-IN" b="0" i="0" dirty="0" err="1">
                <a:solidFill>
                  <a:srgbClr val="CFD5E0"/>
                </a:solidFill>
                <a:effectLst/>
                <a:latin typeface="inherit"/>
              </a:rPr>
              <a:t>.</a:t>
            </a:r>
            <a:r>
              <a:rPr lang="en-IN" b="0" i="0" dirty="0" err="1">
                <a:solidFill>
                  <a:srgbClr val="4284AE"/>
                </a:solidFill>
                <a:effectLst/>
                <a:latin typeface="inherit"/>
              </a:rPr>
              <a:t>WriteAsync</a:t>
            </a:r>
            <a:r>
              <a:rPr lang="en-IN" b="1" i="0" dirty="0">
                <a:solidFill>
                  <a:srgbClr val="6B7C8B"/>
                </a:solidFill>
                <a:effectLst/>
                <a:latin typeface="inherit"/>
              </a:rPr>
              <a:t>(</a:t>
            </a:r>
            <a:r>
              <a:rPr lang="en-IN" b="0" i="0" dirty="0">
                <a:solidFill>
                  <a:srgbClr val="7CC379"/>
                </a:solidFill>
                <a:effectLst/>
                <a:latin typeface="inherit"/>
              </a:rPr>
              <a:t>"Getting Response from Second Middleware"</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
        <p:nvSpPr>
          <p:cNvPr id="11" name="TextBox 10">
            <a:extLst>
              <a:ext uri="{FF2B5EF4-FFF2-40B4-BE49-F238E27FC236}">
                <a16:creationId xmlns:a16="http://schemas.microsoft.com/office/drawing/2014/main" id="{583E6668-44C6-40AB-ACC1-5830CC877391}"/>
              </a:ext>
            </a:extLst>
          </p:cNvPr>
          <p:cNvSpPr txBox="1"/>
          <p:nvPr/>
        </p:nvSpPr>
        <p:spPr>
          <a:xfrm>
            <a:off x="137650" y="4860161"/>
            <a:ext cx="11690555"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Now we have two middleware components registered with the Run() extension method. If you run the application then you will get the following output.</a:t>
            </a:r>
            <a:endParaRPr lang="en-IN" dirty="0"/>
          </a:p>
        </p:txBody>
      </p:sp>
      <p:sp>
        <p:nvSpPr>
          <p:cNvPr id="13" name="TextBox 12">
            <a:extLst>
              <a:ext uri="{FF2B5EF4-FFF2-40B4-BE49-F238E27FC236}">
                <a16:creationId xmlns:a16="http://schemas.microsoft.com/office/drawing/2014/main" id="{F7579416-D343-4A1B-BC15-716230A1DCF5}"/>
              </a:ext>
            </a:extLst>
          </p:cNvPr>
          <p:cNvSpPr txBox="1"/>
          <p:nvPr/>
        </p:nvSpPr>
        <p:spPr>
          <a:xfrm>
            <a:off x="4149213" y="5321826"/>
            <a:ext cx="6096000" cy="369332"/>
          </a:xfrm>
          <a:prstGeom prst="rect">
            <a:avLst/>
          </a:prstGeom>
          <a:noFill/>
        </p:spPr>
        <p:txBody>
          <a:bodyPr wrap="square">
            <a:spAutoFit/>
          </a:bodyPr>
          <a:lstStyle/>
          <a:p>
            <a:r>
              <a:rPr lang="en-US" b="1" i="0" dirty="0">
                <a:solidFill>
                  <a:srgbClr val="0000FF"/>
                </a:solidFill>
                <a:effectLst/>
                <a:latin typeface="arial" panose="020B0604020202020204" pitchFamily="34" charset="0"/>
              </a:rPr>
              <a:t>Getting Response from 1st Middleware</a:t>
            </a:r>
            <a:endParaRPr lang="en-IN" dirty="0"/>
          </a:p>
        </p:txBody>
      </p:sp>
      <p:sp>
        <p:nvSpPr>
          <p:cNvPr id="15" name="TextBox 14">
            <a:extLst>
              <a:ext uri="{FF2B5EF4-FFF2-40B4-BE49-F238E27FC236}">
                <a16:creationId xmlns:a16="http://schemas.microsoft.com/office/drawing/2014/main" id="{97A043AB-8603-4866-AAA8-E29D049354F4}"/>
              </a:ext>
            </a:extLst>
          </p:cNvPr>
          <p:cNvSpPr txBox="1"/>
          <p:nvPr/>
        </p:nvSpPr>
        <p:spPr>
          <a:xfrm>
            <a:off x="137650" y="5804704"/>
            <a:ext cx="12054350"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The output is coming from the first middleware component. The reason is, when we registered a middleware component using the Run() extension method then that component becomes </a:t>
            </a:r>
            <a:r>
              <a:rPr lang="en-US" b="1" i="0" dirty="0">
                <a:solidFill>
                  <a:srgbClr val="000000"/>
                </a:solidFill>
                <a:effectLst/>
                <a:latin typeface="arial" panose="020B0604020202020204" pitchFamily="34" charset="0"/>
              </a:rPr>
              <a:t>a terminal component </a:t>
            </a:r>
            <a:r>
              <a:rPr lang="en-US" b="0" i="0" dirty="0">
                <a:solidFill>
                  <a:srgbClr val="000000"/>
                </a:solidFill>
                <a:effectLst/>
                <a:latin typeface="arial" panose="020B0604020202020204" pitchFamily="34" charset="0"/>
              </a:rPr>
              <a:t>means it will not call the next middleware component in the request processing pipeline.</a:t>
            </a:r>
            <a:endParaRPr lang="en-IN" dirty="0"/>
          </a:p>
        </p:txBody>
      </p:sp>
    </p:spTree>
    <p:extLst>
      <p:ext uri="{BB962C8B-B14F-4D97-AF65-F5344CB8AC3E}">
        <p14:creationId xmlns:p14="http://schemas.microsoft.com/office/powerpoint/2010/main" val="1742631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5E70A8-6B7E-47D7-8416-19737F409812}"/>
              </a:ext>
            </a:extLst>
          </p:cNvPr>
          <p:cNvSpPr txBox="1"/>
          <p:nvPr/>
        </p:nvSpPr>
        <p:spPr>
          <a:xfrm>
            <a:off x="3598607" y="178280"/>
            <a:ext cx="8337754" cy="369332"/>
          </a:xfrm>
          <a:prstGeom prst="rect">
            <a:avLst/>
          </a:prstGeom>
          <a:noFill/>
        </p:spPr>
        <p:txBody>
          <a:bodyPr wrap="square">
            <a:spAutoFit/>
          </a:bodyPr>
          <a:lstStyle/>
          <a:p>
            <a:pPr algn="l" fontAlgn="base"/>
            <a:r>
              <a:rPr lang="en-US" b="1" i="0" dirty="0">
                <a:solidFill>
                  <a:srgbClr val="000000"/>
                </a:solidFill>
                <a:effectLst/>
                <a:latin typeface="arial" panose="020B0604020202020204" pitchFamily="34" charset="0"/>
              </a:rPr>
              <a:t>Configuring middleware component using the Use extension method</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C115A2BE-D27C-44D2-B7B8-C21D0A852FF2}"/>
              </a:ext>
            </a:extLst>
          </p:cNvPr>
          <p:cNvSpPr txBox="1"/>
          <p:nvPr/>
        </p:nvSpPr>
        <p:spPr>
          <a:xfrm>
            <a:off x="255639" y="547612"/>
            <a:ext cx="11680722"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Then the question that comes to your mind is how to call the next component in the request processing pipeline, the answer is to register your middleware component using the Use extension method as shown below.</a:t>
            </a:r>
            <a:endParaRPr lang="en-IN" dirty="0"/>
          </a:p>
        </p:txBody>
      </p:sp>
      <p:sp>
        <p:nvSpPr>
          <p:cNvPr id="9" name="TextBox 8">
            <a:extLst>
              <a:ext uri="{FF2B5EF4-FFF2-40B4-BE49-F238E27FC236}">
                <a16:creationId xmlns:a16="http://schemas.microsoft.com/office/drawing/2014/main" id="{361B275D-9510-41C4-BEEA-4C9F8007EBB8}"/>
              </a:ext>
            </a:extLst>
          </p:cNvPr>
          <p:cNvSpPr txBox="1"/>
          <p:nvPr/>
        </p:nvSpPr>
        <p:spPr>
          <a:xfrm>
            <a:off x="255639" y="1305875"/>
            <a:ext cx="6096000" cy="6124754"/>
          </a:xfrm>
          <a:prstGeom prst="rect">
            <a:avLst/>
          </a:prstGeom>
          <a:noFill/>
        </p:spPr>
        <p:txBody>
          <a:bodyPr wrap="square">
            <a:spAutoFit/>
          </a:bodyPr>
          <a:lstStyle/>
          <a:p>
            <a:r>
              <a:rPr lang="en-US" sz="800" dirty="0">
                <a:solidFill>
                  <a:srgbClr val="0000FF"/>
                </a:solidFill>
                <a:latin typeface="Cascadia Mono" panose="020B0609020000020004" pitchFamily="49" charset="0"/>
              </a:rPr>
              <a:t>using</a:t>
            </a:r>
            <a:r>
              <a:rPr lang="en-US" sz="800" dirty="0">
                <a:solidFill>
                  <a:srgbClr val="000000"/>
                </a:solidFill>
                <a:latin typeface="Cascadia Mono" panose="020B0609020000020004" pitchFamily="49" charset="0"/>
              </a:rPr>
              <a:t> </a:t>
            </a:r>
            <a:r>
              <a:rPr lang="en-US" sz="800" dirty="0" err="1">
                <a:solidFill>
                  <a:srgbClr val="000000"/>
                </a:solidFill>
                <a:latin typeface="Cascadia Mono" panose="020B0609020000020004" pitchFamily="49" charset="0"/>
              </a:rPr>
              <a:t>MVC_Mock_Class.Models</a:t>
            </a:r>
            <a:r>
              <a:rPr lang="en-US" sz="800" dirty="0">
                <a:solidFill>
                  <a:srgbClr val="000000"/>
                </a:solidFill>
                <a:latin typeface="Cascadia Mono" panose="020B0609020000020004" pitchFamily="49" charset="0"/>
              </a:rPr>
              <a:t>;</a:t>
            </a:r>
          </a:p>
          <a:p>
            <a:r>
              <a:rPr lang="en-IN" sz="800" dirty="0">
                <a:solidFill>
                  <a:srgbClr val="0000FF"/>
                </a:solidFill>
                <a:latin typeface="Cascadia Mono" panose="020B0609020000020004" pitchFamily="49" charset="0"/>
              </a:rPr>
              <a:t>namespace</a:t>
            </a:r>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MVC_Mock_Class</a:t>
            </a:r>
            <a:endParaRPr lang="en-IN" sz="800" dirty="0">
              <a:solidFill>
                <a:srgbClr val="000000"/>
              </a:solidFill>
              <a:latin typeface="Cascadia Mono" panose="020B0609020000020004" pitchFamily="49" charset="0"/>
            </a:endParaRPr>
          </a:p>
          <a:p>
            <a:r>
              <a:rPr lang="en-IN" sz="800" dirty="0">
                <a:solidFill>
                  <a:srgbClr val="000000"/>
                </a:solidFill>
                <a:latin typeface="Cascadia Mono" panose="020B0609020000020004" pitchFamily="49" charset="0"/>
              </a:rPr>
              <a:t>{</a:t>
            </a:r>
          </a:p>
          <a:p>
            <a:r>
              <a:rPr lang="en-IN" sz="800" dirty="0">
                <a:solidFill>
                  <a:srgbClr val="000000"/>
                </a:solidFill>
                <a:latin typeface="Cascadia Mono" panose="020B0609020000020004" pitchFamily="49" charset="0"/>
              </a:rPr>
              <a:t>    </a:t>
            </a:r>
            <a:r>
              <a:rPr lang="en-IN" sz="800" dirty="0">
                <a:solidFill>
                  <a:srgbClr val="0000FF"/>
                </a:solidFill>
                <a:latin typeface="Cascadia Mono" panose="020B0609020000020004" pitchFamily="49" charset="0"/>
              </a:rPr>
              <a:t>public</a:t>
            </a:r>
            <a:r>
              <a:rPr lang="en-IN" sz="800" dirty="0">
                <a:solidFill>
                  <a:srgbClr val="000000"/>
                </a:solidFill>
                <a:latin typeface="Cascadia Mono" panose="020B0609020000020004" pitchFamily="49" charset="0"/>
              </a:rPr>
              <a:t> </a:t>
            </a:r>
            <a:r>
              <a:rPr lang="en-IN" sz="800" dirty="0">
                <a:solidFill>
                  <a:srgbClr val="0000FF"/>
                </a:solidFill>
                <a:latin typeface="Cascadia Mono" panose="020B0609020000020004" pitchFamily="49" charset="0"/>
              </a:rPr>
              <a:t>class</a:t>
            </a:r>
            <a:r>
              <a:rPr lang="en-IN" sz="800" dirty="0">
                <a:solidFill>
                  <a:srgbClr val="000000"/>
                </a:solidFill>
                <a:latin typeface="Cascadia Mono" panose="020B0609020000020004" pitchFamily="49" charset="0"/>
              </a:rPr>
              <a:t> </a:t>
            </a:r>
            <a:r>
              <a:rPr lang="en-IN" sz="800" dirty="0">
                <a:solidFill>
                  <a:srgbClr val="2B91AF"/>
                </a:solidFill>
                <a:latin typeface="Cascadia Mono" panose="020B0609020000020004" pitchFamily="49" charset="0"/>
              </a:rPr>
              <a:t>Program</a:t>
            </a:r>
            <a:endParaRPr lang="en-IN" sz="800" dirty="0">
              <a:solidFill>
                <a:srgbClr val="000000"/>
              </a:solidFill>
              <a:latin typeface="Cascadia Mono" panose="020B0609020000020004" pitchFamily="49" charset="0"/>
            </a:endParaRPr>
          </a:p>
          <a:p>
            <a:r>
              <a:rPr lang="en-IN" sz="800" dirty="0">
                <a:solidFill>
                  <a:srgbClr val="000000"/>
                </a:solidFill>
                <a:latin typeface="Cascadia Mono" panose="020B0609020000020004" pitchFamily="49" charset="0"/>
              </a:rPr>
              <a:t>    {</a:t>
            </a:r>
          </a:p>
          <a:p>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public</a:t>
            </a:r>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static</a:t>
            </a:r>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void</a:t>
            </a:r>
            <a:r>
              <a:rPr lang="en-US" sz="800" dirty="0">
                <a:solidFill>
                  <a:srgbClr val="000000"/>
                </a:solidFill>
                <a:latin typeface="Cascadia Mono" panose="020B0609020000020004" pitchFamily="49" charset="0"/>
              </a:rPr>
              <a:t> Main(</a:t>
            </a:r>
            <a:r>
              <a:rPr lang="en-US" sz="800" dirty="0">
                <a:solidFill>
                  <a:srgbClr val="0000FF"/>
                </a:solidFill>
                <a:latin typeface="Cascadia Mono" panose="020B0609020000020004" pitchFamily="49" charset="0"/>
              </a:rPr>
              <a:t>string</a:t>
            </a:r>
            <a:r>
              <a:rPr lang="en-US" sz="800" dirty="0">
                <a:solidFill>
                  <a:srgbClr val="000000"/>
                </a:solidFill>
                <a:latin typeface="Cascadia Mono" panose="020B0609020000020004" pitchFamily="49" charset="0"/>
              </a:rPr>
              <a:t>[] </a:t>
            </a:r>
            <a:r>
              <a:rPr lang="en-US" sz="800" dirty="0" err="1">
                <a:solidFill>
                  <a:srgbClr val="000000"/>
                </a:solidFill>
                <a:latin typeface="Cascadia Mono" panose="020B0609020000020004" pitchFamily="49" charset="0"/>
              </a:rPr>
              <a:t>args</a:t>
            </a:r>
            <a:r>
              <a:rPr lang="en-US" sz="800" dirty="0">
                <a:solidFill>
                  <a:srgbClr val="000000"/>
                </a:solidFill>
                <a:latin typeface="Cascadia Mono" panose="020B0609020000020004" pitchFamily="49" charset="0"/>
              </a:rPr>
              <a:t>)</a:t>
            </a:r>
          </a:p>
          <a:p>
            <a:r>
              <a:rPr lang="en-IN" sz="800" dirty="0">
                <a:solidFill>
                  <a:srgbClr val="000000"/>
                </a:solidFill>
                <a:latin typeface="Cascadia Mono" panose="020B0609020000020004" pitchFamily="49" charset="0"/>
              </a:rPr>
              <a:t>        {</a:t>
            </a:r>
          </a:p>
          <a:p>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var</a:t>
            </a:r>
            <a:r>
              <a:rPr lang="en-US" sz="800" dirty="0">
                <a:solidFill>
                  <a:srgbClr val="000000"/>
                </a:solidFill>
                <a:latin typeface="Cascadia Mono" panose="020B0609020000020004" pitchFamily="49" charset="0"/>
              </a:rPr>
              <a:t> builder = </a:t>
            </a:r>
            <a:r>
              <a:rPr lang="en-US" sz="800" dirty="0" err="1">
                <a:solidFill>
                  <a:srgbClr val="000000"/>
                </a:solidFill>
                <a:latin typeface="Cascadia Mono" panose="020B0609020000020004" pitchFamily="49" charset="0"/>
              </a:rPr>
              <a:t>WebApplication.CreateBuilder</a:t>
            </a:r>
            <a:r>
              <a:rPr lang="en-US" sz="800" dirty="0">
                <a:solidFill>
                  <a:srgbClr val="000000"/>
                </a:solidFill>
                <a:latin typeface="Cascadia Mono" panose="020B0609020000020004" pitchFamily="49" charset="0"/>
              </a:rPr>
              <a:t>(</a:t>
            </a:r>
            <a:r>
              <a:rPr lang="en-US" sz="800" dirty="0" err="1">
                <a:solidFill>
                  <a:srgbClr val="000000"/>
                </a:solidFill>
                <a:latin typeface="Cascadia Mono" panose="020B0609020000020004" pitchFamily="49" charset="0"/>
              </a:rPr>
              <a:t>args</a:t>
            </a:r>
            <a:r>
              <a:rPr lang="en-US" sz="800" dirty="0">
                <a:solidFill>
                  <a:srgbClr val="000000"/>
                </a:solidFill>
                <a:latin typeface="Cascadia Mono" panose="020B0609020000020004" pitchFamily="49" charset="0"/>
              </a:rPr>
              <a:t>);</a:t>
            </a:r>
          </a:p>
          <a:p>
            <a:endParaRPr lang="en-IN" sz="800" dirty="0">
              <a:solidFill>
                <a:srgbClr val="000000"/>
              </a:solidFill>
              <a:latin typeface="Cascadia Mono" panose="020B0609020000020004" pitchFamily="49" charset="0"/>
            </a:endParaRPr>
          </a:p>
          <a:p>
            <a:r>
              <a:rPr lang="en-US" sz="800" dirty="0">
                <a:solidFill>
                  <a:srgbClr val="000000"/>
                </a:solidFill>
                <a:latin typeface="Cascadia Mono" panose="020B0609020000020004" pitchFamily="49" charset="0"/>
              </a:rPr>
              <a:t>            </a:t>
            </a:r>
            <a:r>
              <a:rPr lang="en-US" sz="800" dirty="0">
                <a:solidFill>
                  <a:srgbClr val="008000"/>
                </a:solidFill>
                <a:latin typeface="Cascadia Mono" panose="020B0609020000020004" pitchFamily="49" charset="0"/>
              </a:rPr>
              <a:t>// Add services to the container.</a:t>
            </a:r>
            <a:endParaRPr lang="en-US" sz="800" dirty="0">
              <a:solidFill>
                <a:srgbClr val="000000"/>
              </a:solidFill>
              <a:latin typeface="Cascadia Mono" panose="020B0609020000020004" pitchFamily="49" charset="0"/>
            </a:endParaRPr>
          </a:p>
          <a:p>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builder.Services.AddControllersWithViews</a:t>
            </a:r>
            <a:r>
              <a:rPr lang="en-IN" sz="800" dirty="0">
                <a:solidFill>
                  <a:srgbClr val="000000"/>
                </a:solidFill>
                <a:latin typeface="Cascadia Mono" panose="020B0609020000020004" pitchFamily="49" charset="0"/>
              </a:rPr>
              <a:t>();</a:t>
            </a:r>
          </a:p>
          <a:p>
            <a:r>
              <a:rPr lang="en-US" sz="800" dirty="0">
                <a:solidFill>
                  <a:srgbClr val="000000"/>
                </a:solidFill>
                <a:latin typeface="Cascadia Mono" panose="020B0609020000020004" pitchFamily="49" charset="0"/>
              </a:rPr>
              <a:t>            </a:t>
            </a:r>
            <a:r>
              <a:rPr lang="en-US" sz="800" dirty="0" err="1">
                <a:solidFill>
                  <a:srgbClr val="000000"/>
                </a:solidFill>
                <a:latin typeface="Cascadia Mono" panose="020B0609020000020004" pitchFamily="49" charset="0"/>
              </a:rPr>
              <a:t>builder.Services.AddSingleton</a:t>
            </a:r>
            <a:r>
              <a:rPr lang="en-US" sz="800" dirty="0">
                <a:solidFill>
                  <a:srgbClr val="000000"/>
                </a:solidFill>
                <a:latin typeface="Cascadia Mono" panose="020B0609020000020004" pitchFamily="49" charset="0"/>
              </a:rPr>
              <a:t>&lt;</a:t>
            </a:r>
            <a:r>
              <a:rPr lang="en-US" sz="800" dirty="0" err="1">
                <a:solidFill>
                  <a:srgbClr val="000000"/>
                </a:solidFill>
                <a:latin typeface="Cascadia Mono" panose="020B0609020000020004" pitchFamily="49" charset="0"/>
              </a:rPr>
              <a:t>IEmployeeRepository</a:t>
            </a:r>
            <a:r>
              <a:rPr lang="en-US" sz="800" dirty="0">
                <a:solidFill>
                  <a:srgbClr val="000000"/>
                </a:solidFill>
                <a:latin typeface="Cascadia Mono" panose="020B0609020000020004" pitchFamily="49" charset="0"/>
              </a:rPr>
              <a:t>, </a:t>
            </a:r>
            <a:r>
              <a:rPr lang="en-US" sz="800" dirty="0" err="1">
                <a:solidFill>
                  <a:srgbClr val="000000"/>
                </a:solidFill>
                <a:latin typeface="Cascadia Mono" panose="020B0609020000020004" pitchFamily="49" charset="0"/>
              </a:rPr>
              <a:t>MockEmployeeRepository</a:t>
            </a:r>
            <a:r>
              <a:rPr lang="en-US" sz="800" dirty="0">
                <a:solidFill>
                  <a:srgbClr val="000000"/>
                </a:solidFill>
                <a:latin typeface="Cascadia Mono" panose="020B0609020000020004" pitchFamily="49" charset="0"/>
              </a:rPr>
              <a:t>&gt;();</a:t>
            </a:r>
          </a:p>
          <a:p>
            <a:r>
              <a:rPr lang="en-IN" sz="800" dirty="0">
                <a:solidFill>
                  <a:srgbClr val="000000"/>
                </a:solidFill>
                <a:latin typeface="Cascadia Mono" panose="020B0609020000020004" pitchFamily="49" charset="0"/>
              </a:rPr>
              <a:t>            </a:t>
            </a:r>
            <a:r>
              <a:rPr lang="en-IN" sz="800" dirty="0">
                <a:solidFill>
                  <a:srgbClr val="0000FF"/>
                </a:solidFill>
                <a:latin typeface="Cascadia Mono" panose="020B0609020000020004" pitchFamily="49" charset="0"/>
              </a:rPr>
              <a:t>var</a:t>
            </a:r>
            <a:r>
              <a:rPr lang="en-IN" sz="800" dirty="0">
                <a:solidFill>
                  <a:srgbClr val="000000"/>
                </a:solidFill>
                <a:latin typeface="Cascadia Mono" panose="020B0609020000020004" pitchFamily="49" charset="0"/>
              </a:rPr>
              <a:t> app = </a:t>
            </a:r>
            <a:r>
              <a:rPr lang="en-IN" sz="800" dirty="0" err="1">
                <a:solidFill>
                  <a:srgbClr val="000000"/>
                </a:solidFill>
                <a:latin typeface="Cascadia Mono" panose="020B0609020000020004" pitchFamily="49" charset="0"/>
              </a:rPr>
              <a:t>builder.Build</a:t>
            </a:r>
            <a:r>
              <a:rPr lang="en-IN" sz="800" dirty="0">
                <a:solidFill>
                  <a:srgbClr val="000000"/>
                </a:solidFill>
                <a:latin typeface="Cascadia Mono" panose="020B0609020000020004" pitchFamily="49" charset="0"/>
              </a:rPr>
              <a:t>();</a:t>
            </a:r>
          </a:p>
          <a:p>
            <a:endParaRPr lang="en-IN" sz="800" dirty="0">
              <a:solidFill>
                <a:srgbClr val="000000"/>
              </a:solidFill>
              <a:latin typeface="Cascadia Mono" panose="020B0609020000020004" pitchFamily="49" charset="0"/>
            </a:endParaRPr>
          </a:p>
          <a:p>
            <a:r>
              <a:rPr lang="en-US" sz="800" dirty="0">
                <a:solidFill>
                  <a:srgbClr val="000000"/>
                </a:solidFill>
                <a:latin typeface="Cascadia Mono" panose="020B0609020000020004" pitchFamily="49" charset="0"/>
              </a:rPr>
              <a:t>            </a:t>
            </a:r>
            <a:r>
              <a:rPr lang="en-US" sz="800" dirty="0">
                <a:solidFill>
                  <a:srgbClr val="008000"/>
                </a:solidFill>
                <a:latin typeface="Cascadia Mono" panose="020B0609020000020004" pitchFamily="49" charset="0"/>
              </a:rPr>
              <a:t>// Configure the HTTP request pipeline.</a:t>
            </a:r>
            <a:endParaRPr lang="en-US" sz="800" dirty="0">
              <a:solidFill>
                <a:srgbClr val="000000"/>
              </a:solidFill>
              <a:latin typeface="Cascadia Mono" panose="020B0609020000020004" pitchFamily="49" charset="0"/>
            </a:endParaRPr>
          </a:p>
          <a:p>
            <a:r>
              <a:rPr lang="en-IN" sz="800" dirty="0">
                <a:solidFill>
                  <a:srgbClr val="000000"/>
                </a:solidFill>
                <a:latin typeface="Cascadia Mono" panose="020B0609020000020004" pitchFamily="49" charset="0"/>
              </a:rPr>
              <a:t>            </a:t>
            </a:r>
            <a:r>
              <a:rPr lang="en-IN" sz="800" dirty="0">
                <a:solidFill>
                  <a:srgbClr val="0000FF"/>
                </a:solidFill>
                <a:latin typeface="Cascadia Mono" panose="020B0609020000020004" pitchFamily="49" charset="0"/>
              </a:rPr>
              <a:t>if</a:t>
            </a:r>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app.Environment.IsDevelopment</a:t>
            </a:r>
            <a:r>
              <a:rPr lang="en-IN" sz="800" dirty="0">
                <a:solidFill>
                  <a:srgbClr val="000000"/>
                </a:solidFill>
                <a:latin typeface="Cascadia Mono" panose="020B0609020000020004" pitchFamily="49" charset="0"/>
              </a:rPr>
              <a:t>())</a:t>
            </a:r>
          </a:p>
          <a:p>
            <a:r>
              <a:rPr lang="en-IN" sz="800" dirty="0">
                <a:solidFill>
                  <a:srgbClr val="000000"/>
                </a:solidFill>
                <a:latin typeface="Cascadia Mono" panose="020B0609020000020004" pitchFamily="49" charset="0"/>
              </a:rPr>
              <a:t>            {</a:t>
            </a:r>
          </a:p>
          <a:p>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app.UseExceptionHandler</a:t>
            </a:r>
            <a:r>
              <a:rPr lang="en-IN" sz="800" dirty="0">
                <a:solidFill>
                  <a:srgbClr val="000000"/>
                </a:solidFill>
                <a:latin typeface="Cascadia Mono" panose="020B0609020000020004" pitchFamily="49" charset="0"/>
              </a:rPr>
              <a:t>(</a:t>
            </a:r>
            <a:r>
              <a:rPr lang="en-IN" sz="800" dirty="0">
                <a:solidFill>
                  <a:srgbClr val="A31515"/>
                </a:solidFill>
                <a:latin typeface="Cascadia Mono" panose="020B0609020000020004" pitchFamily="49" charset="0"/>
              </a:rPr>
              <a:t>"/Home/Error"</a:t>
            </a:r>
            <a:r>
              <a:rPr lang="en-IN" sz="800" dirty="0">
                <a:solidFill>
                  <a:srgbClr val="000000"/>
                </a:solidFill>
                <a:latin typeface="Cascadia Mono" panose="020B0609020000020004" pitchFamily="49" charset="0"/>
              </a:rPr>
              <a:t>);</a:t>
            </a:r>
          </a:p>
          <a:p>
            <a:r>
              <a:rPr lang="en-US" sz="800" dirty="0">
                <a:solidFill>
                  <a:srgbClr val="000000"/>
                </a:solidFill>
                <a:latin typeface="Cascadia Mono" panose="020B0609020000020004" pitchFamily="49" charset="0"/>
              </a:rPr>
              <a:t>                </a:t>
            </a:r>
            <a:r>
              <a:rPr lang="en-US" sz="800" dirty="0">
                <a:solidFill>
                  <a:srgbClr val="008000"/>
                </a:solidFill>
                <a:latin typeface="Cascadia Mono" panose="020B0609020000020004" pitchFamily="49" charset="0"/>
              </a:rPr>
              <a:t>// The default HSTS value is 30 days. You may want to change this for production scenarios, see https://aka.ms/aspnetcore-hsts.</a:t>
            </a:r>
            <a:endParaRPr lang="en-US" sz="800" dirty="0">
              <a:solidFill>
                <a:srgbClr val="000000"/>
              </a:solidFill>
              <a:latin typeface="Cascadia Mono" panose="020B0609020000020004" pitchFamily="49" charset="0"/>
            </a:endParaRPr>
          </a:p>
          <a:p>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app.UseHsts</a:t>
            </a:r>
            <a:r>
              <a:rPr lang="en-IN" sz="800" dirty="0">
                <a:solidFill>
                  <a:srgbClr val="000000"/>
                </a:solidFill>
                <a:latin typeface="Cascadia Mono" panose="020B0609020000020004" pitchFamily="49" charset="0"/>
              </a:rPr>
              <a:t>();</a:t>
            </a:r>
          </a:p>
          <a:p>
            <a:r>
              <a:rPr lang="en-IN" sz="800" dirty="0">
                <a:solidFill>
                  <a:srgbClr val="000000"/>
                </a:solidFill>
                <a:latin typeface="Cascadia Mono" panose="020B0609020000020004" pitchFamily="49" charset="0"/>
              </a:rPr>
              <a:t>            }</a:t>
            </a:r>
          </a:p>
          <a:p>
            <a:endParaRPr lang="en-IN" sz="800" dirty="0">
              <a:solidFill>
                <a:srgbClr val="000000"/>
              </a:solidFill>
              <a:latin typeface="Cascadia Mono" panose="020B0609020000020004" pitchFamily="49" charset="0"/>
            </a:endParaRPr>
          </a:p>
          <a:p>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app.UseHttpsRedirection</a:t>
            </a:r>
            <a:r>
              <a:rPr lang="en-IN" sz="800" dirty="0">
                <a:solidFill>
                  <a:srgbClr val="000000"/>
                </a:solidFill>
                <a:latin typeface="Cascadia Mono" panose="020B0609020000020004" pitchFamily="49" charset="0"/>
              </a:rPr>
              <a:t>();</a:t>
            </a:r>
          </a:p>
          <a:p>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app.UseStaticFiles</a:t>
            </a:r>
            <a:r>
              <a:rPr lang="en-IN" sz="800" dirty="0">
                <a:solidFill>
                  <a:srgbClr val="000000"/>
                </a:solidFill>
                <a:latin typeface="Cascadia Mono" panose="020B0609020000020004" pitchFamily="49" charset="0"/>
              </a:rPr>
              <a:t>();</a:t>
            </a:r>
          </a:p>
          <a:p>
            <a:endParaRPr lang="en-IN" sz="800" dirty="0">
              <a:solidFill>
                <a:srgbClr val="000000"/>
              </a:solidFill>
              <a:latin typeface="Cascadia Mono" panose="020B0609020000020004" pitchFamily="49" charset="0"/>
            </a:endParaRPr>
          </a:p>
          <a:p>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app.UseRouting</a:t>
            </a:r>
            <a:r>
              <a:rPr lang="en-IN" sz="800" dirty="0">
                <a:solidFill>
                  <a:srgbClr val="000000"/>
                </a:solidFill>
                <a:latin typeface="Cascadia Mono" panose="020B0609020000020004" pitchFamily="49" charset="0"/>
              </a:rPr>
              <a:t>();</a:t>
            </a:r>
          </a:p>
          <a:p>
            <a:endParaRPr lang="en-IN" sz="800" dirty="0">
              <a:solidFill>
                <a:srgbClr val="000000"/>
              </a:solidFill>
              <a:latin typeface="Cascadia Mono" panose="020B0609020000020004" pitchFamily="49" charset="0"/>
            </a:endParaRPr>
          </a:p>
          <a:p>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app.UseAuthorization</a:t>
            </a:r>
            <a:r>
              <a:rPr lang="en-IN" sz="800" dirty="0">
                <a:solidFill>
                  <a:srgbClr val="000000"/>
                </a:solidFill>
                <a:latin typeface="Cascadia Mono" panose="020B0609020000020004" pitchFamily="49" charset="0"/>
              </a:rPr>
              <a:t>();</a:t>
            </a:r>
          </a:p>
          <a:p>
            <a:endParaRPr lang="en-IN" sz="800" dirty="0">
              <a:solidFill>
                <a:srgbClr val="000000"/>
              </a:solidFill>
              <a:latin typeface="Cascadia Mono" panose="020B0609020000020004" pitchFamily="49" charset="0"/>
            </a:endParaRPr>
          </a:p>
          <a:p>
            <a:r>
              <a:rPr lang="en-US" sz="800" dirty="0">
                <a:solidFill>
                  <a:srgbClr val="000000"/>
                </a:solidFill>
                <a:latin typeface="Cascadia Mono" panose="020B0609020000020004" pitchFamily="49" charset="0"/>
              </a:rPr>
              <a:t>            </a:t>
            </a:r>
            <a:r>
              <a:rPr lang="en-US" sz="800" dirty="0" err="1">
                <a:solidFill>
                  <a:srgbClr val="000000"/>
                </a:solidFill>
                <a:latin typeface="Cascadia Mono" panose="020B0609020000020004" pitchFamily="49" charset="0"/>
              </a:rPr>
              <a:t>app.Use</a:t>
            </a:r>
            <a:r>
              <a:rPr lang="en-US" sz="800" dirty="0">
                <a:solidFill>
                  <a:srgbClr val="000000"/>
                </a:solidFill>
                <a:latin typeface="Cascadia Mono" panose="020B0609020000020004" pitchFamily="49" charset="0"/>
              </a:rPr>
              <a:t>(</a:t>
            </a:r>
            <a:r>
              <a:rPr lang="en-US" sz="800" dirty="0">
                <a:solidFill>
                  <a:srgbClr val="0000FF"/>
                </a:solidFill>
                <a:latin typeface="Cascadia Mono" panose="020B0609020000020004" pitchFamily="49" charset="0"/>
              </a:rPr>
              <a:t>async</a:t>
            </a:r>
            <a:r>
              <a:rPr lang="en-US" sz="800" dirty="0">
                <a:solidFill>
                  <a:srgbClr val="000000"/>
                </a:solidFill>
                <a:latin typeface="Cascadia Mono" panose="020B0609020000020004" pitchFamily="49" charset="0"/>
              </a:rPr>
              <a:t> (context, next) =&gt;</a:t>
            </a:r>
          </a:p>
          <a:p>
            <a:r>
              <a:rPr lang="en-IN" sz="800" dirty="0">
                <a:solidFill>
                  <a:srgbClr val="000000"/>
                </a:solidFill>
                <a:latin typeface="Cascadia Mono" panose="020B0609020000020004" pitchFamily="49" charset="0"/>
              </a:rPr>
              <a:t>            {</a:t>
            </a:r>
          </a:p>
          <a:p>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await</a:t>
            </a:r>
            <a:r>
              <a:rPr lang="en-US" sz="800" dirty="0">
                <a:solidFill>
                  <a:srgbClr val="000000"/>
                </a:solidFill>
                <a:latin typeface="Cascadia Mono" panose="020B0609020000020004" pitchFamily="49" charset="0"/>
              </a:rPr>
              <a:t> </a:t>
            </a:r>
            <a:r>
              <a:rPr lang="en-US" sz="800" dirty="0" err="1">
                <a:solidFill>
                  <a:srgbClr val="000000"/>
                </a:solidFill>
                <a:latin typeface="Cascadia Mono" panose="020B0609020000020004" pitchFamily="49" charset="0"/>
              </a:rPr>
              <a:t>context.Response.WriteAsync</a:t>
            </a:r>
            <a:r>
              <a:rPr lang="en-US" sz="800" dirty="0">
                <a:solidFill>
                  <a:srgbClr val="000000"/>
                </a:solidFill>
                <a:latin typeface="Cascadia Mono" panose="020B0609020000020004" pitchFamily="49" charset="0"/>
              </a:rPr>
              <a:t>(</a:t>
            </a:r>
            <a:r>
              <a:rPr lang="en-US" sz="800" dirty="0">
                <a:solidFill>
                  <a:srgbClr val="A31515"/>
                </a:solidFill>
                <a:latin typeface="Cascadia Mono" panose="020B0609020000020004" pitchFamily="49" charset="0"/>
              </a:rPr>
              <a:t>"Getting Response from 1st Middleware"</a:t>
            </a:r>
            <a:r>
              <a:rPr lang="en-US" sz="800" dirty="0">
                <a:solidFill>
                  <a:srgbClr val="000000"/>
                </a:solidFill>
                <a:latin typeface="Cascadia Mono" panose="020B0609020000020004" pitchFamily="49" charset="0"/>
              </a:rPr>
              <a:t>);</a:t>
            </a:r>
          </a:p>
          <a:p>
            <a:r>
              <a:rPr lang="en-IN" sz="800" dirty="0">
                <a:solidFill>
                  <a:srgbClr val="000000"/>
                </a:solidFill>
                <a:latin typeface="Cascadia Mono" panose="020B0609020000020004" pitchFamily="49" charset="0"/>
              </a:rPr>
              <a:t>                 </a:t>
            </a:r>
            <a:r>
              <a:rPr lang="en-IN" sz="800" dirty="0">
                <a:solidFill>
                  <a:srgbClr val="0000FF"/>
                </a:solidFill>
                <a:latin typeface="Cascadia Mono" panose="020B0609020000020004" pitchFamily="49" charset="0"/>
              </a:rPr>
              <a:t>await</a:t>
            </a:r>
            <a:r>
              <a:rPr lang="en-IN" sz="800" dirty="0">
                <a:solidFill>
                  <a:srgbClr val="000000"/>
                </a:solidFill>
                <a:latin typeface="Cascadia Mono" panose="020B0609020000020004" pitchFamily="49" charset="0"/>
              </a:rPr>
              <a:t> next();</a:t>
            </a:r>
          </a:p>
          <a:p>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await</a:t>
            </a:r>
            <a:r>
              <a:rPr lang="en-US" sz="800" dirty="0">
                <a:solidFill>
                  <a:srgbClr val="000000"/>
                </a:solidFill>
                <a:latin typeface="Cascadia Mono" panose="020B0609020000020004" pitchFamily="49" charset="0"/>
              </a:rPr>
              <a:t> </a:t>
            </a:r>
            <a:r>
              <a:rPr lang="en-US" sz="800" dirty="0" err="1">
                <a:solidFill>
                  <a:srgbClr val="000000"/>
                </a:solidFill>
                <a:latin typeface="Cascadia Mono" panose="020B0609020000020004" pitchFamily="49" charset="0"/>
              </a:rPr>
              <a:t>context.Response.WriteAsync</a:t>
            </a:r>
            <a:r>
              <a:rPr lang="en-US" sz="800" dirty="0">
                <a:solidFill>
                  <a:srgbClr val="000000"/>
                </a:solidFill>
                <a:latin typeface="Cascadia Mono" panose="020B0609020000020004" pitchFamily="49" charset="0"/>
              </a:rPr>
              <a:t>(</a:t>
            </a:r>
            <a:r>
              <a:rPr lang="en-US" sz="800" dirty="0">
                <a:solidFill>
                  <a:srgbClr val="A31515"/>
                </a:solidFill>
                <a:latin typeface="Cascadia Mono" panose="020B0609020000020004" pitchFamily="49" charset="0"/>
              </a:rPr>
              <a:t>"Getting reverse from 1st Middleware"</a:t>
            </a:r>
            <a:r>
              <a:rPr lang="en-US" sz="800" dirty="0">
                <a:solidFill>
                  <a:srgbClr val="000000"/>
                </a:solidFill>
                <a:latin typeface="Cascadia Mono" panose="020B0609020000020004" pitchFamily="49" charset="0"/>
              </a:rPr>
              <a:t>);</a:t>
            </a:r>
          </a:p>
          <a:p>
            <a:r>
              <a:rPr lang="en-IN" sz="800" dirty="0">
                <a:solidFill>
                  <a:srgbClr val="000000"/>
                </a:solidFill>
                <a:latin typeface="Cascadia Mono" panose="020B0609020000020004" pitchFamily="49" charset="0"/>
              </a:rPr>
              <a:t>            });</a:t>
            </a:r>
          </a:p>
          <a:p>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app.Run</a:t>
            </a:r>
            <a:r>
              <a:rPr lang="en-IN" sz="800" dirty="0">
                <a:solidFill>
                  <a:srgbClr val="000000"/>
                </a:solidFill>
                <a:latin typeface="Cascadia Mono" panose="020B0609020000020004" pitchFamily="49" charset="0"/>
              </a:rPr>
              <a:t>(</a:t>
            </a:r>
            <a:r>
              <a:rPr lang="en-IN" sz="800" dirty="0">
                <a:solidFill>
                  <a:srgbClr val="0000FF"/>
                </a:solidFill>
                <a:latin typeface="Cascadia Mono" panose="020B0609020000020004" pitchFamily="49" charset="0"/>
              </a:rPr>
              <a:t>async</a:t>
            </a:r>
            <a:r>
              <a:rPr lang="en-IN" sz="800" dirty="0">
                <a:solidFill>
                  <a:srgbClr val="000000"/>
                </a:solidFill>
                <a:latin typeface="Cascadia Mono" panose="020B0609020000020004" pitchFamily="49" charset="0"/>
              </a:rPr>
              <a:t> (context) =&gt;</a:t>
            </a:r>
          </a:p>
          <a:p>
            <a:r>
              <a:rPr lang="en-IN" sz="800" dirty="0">
                <a:solidFill>
                  <a:srgbClr val="000000"/>
                </a:solidFill>
                <a:latin typeface="Cascadia Mono" panose="020B0609020000020004" pitchFamily="49" charset="0"/>
              </a:rPr>
              <a:t>            {</a:t>
            </a:r>
          </a:p>
          <a:p>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await</a:t>
            </a:r>
            <a:r>
              <a:rPr lang="en-US" sz="800" dirty="0">
                <a:solidFill>
                  <a:srgbClr val="000000"/>
                </a:solidFill>
                <a:latin typeface="Cascadia Mono" panose="020B0609020000020004" pitchFamily="49" charset="0"/>
              </a:rPr>
              <a:t>  </a:t>
            </a:r>
            <a:r>
              <a:rPr lang="en-US" sz="800" dirty="0" err="1">
                <a:solidFill>
                  <a:srgbClr val="000000"/>
                </a:solidFill>
                <a:latin typeface="Cascadia Mono" panose="020B0609020000020004" pitchFamily="49" charset="0"/>
              </a:rPr>
              <a:t>context.Response.WriteAsync</a:t>
            </a:r>
            <a:r>
              <a:rPr lang="en-US" sz="800" dirty="0">
                <a:solidFill>
                  <a:srgbClr val="000000"/>
                </a:solidFill>
                <a:latin typeface="Cascadia Mono" panose="020B0609020000020004" pitchFamily="49" charset="0"/>
              </a:rPr>
              <a:t>(</a:t>
            </a:r>
            <a:r>
              <a:rPr lang="en-US" sz="800" dirty="0">
                <a:solidFill>
                  <a:srgbClr val="A31515"/>
                </a:solidFill>
                <a:latin typeface="Cascadia Mono" panose="020B0609020000020004" pitchFamily="49" charset="0"/>
              </a:rPr>
              <a:t>"Getting Response from 2nd Middleware"</a:t>
            </a:r>
            <a:r>
              <a:rPr lang="en-US" sz="800" dirty="0">
                <a:solidFill>
                  <a:srgbClr val="000000"/>
                </a:solidFill>
                <a:latin typeface="Cascadia Mono" panose="020B0609020000020004" pitchFamily="49" charset="0"/>
              </a:rPr>
              <a:t>);</a:t>
            </a:r>
          </a:p>
          <a:p>
            <a:r>
              <a:rPr lang="en-IN" sz="800" dirty="0">
                <a:solidFill>
                  <a:srgbClr val="000000"/>
                </a:solidFill>
                <a:latin typeface="Cascadia Mono" panose="020B0609020000020004" pitchFamily="49" charset="0"/>
              </a:rPr>
              <a:t>            });</a:t>
            </a:r>
          </a:p>
          <a:p>
            <a:r>
              <a:rPr lang="en-IN" sz="800" dirty="0">
                <a:solidFill>
                  <a:srgbClr val="000000"/>
                </a:solidFill>
                <a:latin typeface="Cascadia Mono" panose="020B0609020000020004" pitchFamily="49" charset="0"/>
              </a:rPr>
              <a:t>        </a:t>
            </a:r>
            <a:r>
              <a:rPr lang="en-IN" sz="800" dirty="0">
                <a:solidFill>
                  <a:srgbClr val="008000"/>
                </a:solidFill>
                <a:latin typeface="Cascadia Mono" panose="020B0609020000020004" pitchFamily="49" charset="0"/>
              </a:rPr>
              <a:t>/*</a:t>
            </a:r>
          </a:p>
          <a:p>
            <a:r>
              <a:rPr lang="en-IN" sz="800" dirty="0">
                <a:solidFill>
                  <a:srgbClr val="008000"/>
                </a:solidFill>
                <a:latin typeface="Cascadia Mono" panose="020B0609020000020004" pitchFamily="49" charset="0"/>
              </a:rPr>
              <a:t>        </a:t>
            </a:r>
            <a:r>
              <a:rPr lang="en-IN" sz="800" dirty="0" err="1">
                <a:solidFill>
                  <a:srgbClr val="008000"/>
                </a:solidFill>
                <a:latin typeface="Cascadia Mono" panose="020B0609020000020004" pitchFamily="49" charset="0"/>
              </a:rPr>
              <a:t>app.MapControllerRoute</a:t>
            </a:r>
            <a:r>
              <a:rPr lang="en-IN" sz="800" dirty="0">
                <a:solidFill>
                  <a:srgbClr val="008000"/>
                </a:solidFill>
                <a:latin typeface="Cascadia Mono" panose="020B0609020000020004" pitchFamily="49" charset="0"/>
              </a:rPr>
              <a:t>(</a:t>
            </a:r>
          </a:p>
          <a:p>
            <a:r>
              <a:rPr lang="en-IN" sz="800" dirty="0">
                <a:solidFill>
                  <a:srgbClr val="008000"/>
                </a:solidFill>
                <a:latin typeface="Cascadia Mono" panose="020B0609020000020004" pitchFamily="49" charset="0"/>
              </a:rPr>
              <a:t>                name: "default",</a:t>
            </a:r>
          </a:p>
          <a:p>
            <a:r>
              <a:rPr lang="en-IN" sz="800" dirty="0">
                <a:solidFill>
                  <a:srgbClr val="008000"/>
                </a:solidFill>
                <a:latin typeface="Cascadia Mono" panose="020B0609020000020004" pitchFamily="49" charset="0"/>
              </a:rPr>
              <a:t>                pattern: "{controller=Home}/{action=Index}/{id?}");</a:t>
            </a:r>
          </a:p>
          <a:p>
            <a:r>
              <a:rPr lang="en-IN" sz="800" dirty="0">
                <a:solidFill>
                  <a:srgbClr val="008000"/>
                </a:solidFill>
                <a:latin typeface="Cascadia Mono" panose="020B0609020000020004" pitchFamily="49" charset="0"/>
              </a:rPr>
              <a:t>        */</a:t>
            </a:r>
            <a:endParaRPr lang="en-IN" sz="800" dirty="0">
              <a:solidFill>
                <a:srgbClr val="000000"/>
              </a:solidFill>
              <a:latin typeface="Cascadia Mono" panose="020B0609020000020004" pitchFamily="49" charset="0"/>
            </a:endParaRPr>
          </a:p>
          <a:p>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app.Run</a:t>
            </a:r>
            <a:r>
              <a:rPr lang="en-IN" sz="800" dirty="0">
                <a:solidFill>
                  <a:srgbClr val="000000"/>
                </a:solidFill>
                <a:latin typeface="Cascadia Mono" panose="020B0609020000020004" pitchFamily="49" charset="0"/>
              </a:rPr>
              <a:t>();</a:t>
            </a:r>
          </a:p>
          <a:p>
            <a:r>
              <a:rPr lang="en-IN" sz="800" dirty="0">
                <a:solidFill>
                  <a:srgbClr val="000000"/>
                </a:solidFill>
                <a:latin typeface="Cascadia Mono" panose="020B0609020000020004" pitchFamily="49" charset="0"/>
              </a:rPr>
              <a:t>        }</a:t>
            </a:r>
          </a:p>
          <a:p>
            <a:r>
              <a:rPr lang="en-IN" sz="800" dirty="0">
                <a:solidFill>
                  <a:srgbClr val="000000"/>
                </a:solidFill>
                <a:latin typeface="Cascadia Mono" panose="020B0609020000020004" pitchFamily="49" charset="0"/>
              </a:rPr>
              <a:t>    }</a:t>
            </a:r>
          </a:p>
          <a:p>
            <a:r>
              <a:rPr lang="en-IN" sz="800" dirty="0">
                <a:solidFill>
                  <a:srgbClr val="000000"/>
                </a:solidFill>
                <a:latin typeface="Cascadia Mono" panose="020B0609020000020004" pitchFamily="49" charset="0"/>
              </a:rPr>
              <a:t>}</a:t>
            </a:r>
            <a:endParaRPr lang="en-IN" sz="800" b="0" i="0" dirty="0">
              <a:solidFill>
                <a:srgbClr val="596174"/>
              </a:solidFill>
              <a:effectLst/>
              <a:latin typeface="Inconsolata" pitchFamily="1" charset="0"/>
            </a:endParaRPr>
          </a:p>
        </p:txBody>
      </p:sp>
      <p:sp>
        <p:nvSpPr>
          <p:cNvPr id="11" name="TextBox 10">
            <a:extLst>
              <a:ext uri="{FF2B5EF4-FFF2-40B4-BE49-F238E27FC236}">
                <a16:creationId xmlns:a16="http://schemas.microsoft.com/office/drawing/2014/main" id="{DCA2962A-42BD-4CEC-BB4B-564B1613B925}"/>
              </a:ext>
            </a:extLst>
          </p:cNvPr>
          <p:cNvSpPr txBox="1"/>
          <p:nvPr/>
        </p:nvSpPr>
        <p:spPr>
          <a:xfrm>
            <a:off x="6233652" y="2043865"/>
            <a:ext cx="4896464" cy="1477328"/>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Now run the application and you will see the output as expected which is coming from both the middleware components.</a:t>
            </a:r>
            <a:endParaRPr lang="en-US" b="0" i="0" dirty="0">
              <a:solidFill>
                <a:srgbClr val="212529"/>
              </a:solidFill>
              <a:effectLst/>
              <a:latin typeface="-apple-system"/>
            </a:endParaRPr>
          </a:p>
          <a:p>
            <a:br>
              <a:rPr lang="en-US" dirty="0"/>
            </a:br>
            <a:endParaRPr lang="en-IN" dirty="0"/>
          </a:p>
        </p:txBody>
      </p:sp>
      <p:pic>
        <p:nvPicPr>
          <p:cNvPr id="6146" name="Picture 2" descr="Configuring middleware component using the Use extension method">
            <a:extLst>
              <a:ext uri="{FF2B5EF4-FFF2-40B4-BE49-F238E27FC236}">
                <a16:creationId xmlns:a16="http://schemas.microsoft.com/office/drawing/2014/main" id="{75651B24-9460-42B5-9134-C9A51648C9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2013" y="3400457"/>
            <a:ext cx="5314348" cy="1139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8986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0A71FB-2AA8-4074-A472-3EAE8DE0D534}"/>
              </a:ext>
            </a:extLst>
          </p:cNvPr>
          <p:cNvSpPr txBox="1"/>
          <p:nvPr/>
        </p:nvSpPr>
        <p:spPr>
          <a:xfrm>
            <a:off x="2812026" y="267618"/>
            <a:ext cx="6096000"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Understanding the Use extension method:</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39C899FC-6778-48C1-BDC4-AB5881B47A0E}"/>
              </a:ext>
            </a:extLst>
          </p:cNvPr>
          <p:cNvSpPr txBox="1"/>
          <p:nvPr/>
        </p:nvSpPr>
        <p:spPr>
          <a:xfrm>
            <a:off x="137652" y="993509"/>
            <a:ext cx="11985522"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The Use extension method adds a middleware delegate defined in-line to the application’s request pipeline. Following is the definition of the Use extension method:</a:t>
            </a:r>
            <a:endParaRPr lang="en-IN" dirty="0"/>
          </a:p>
        </p:txBody>
      </p:sp>
      <p:pic>
        <p:nvPicPr>
          <p:cNvPr id="7170" name="Picture 2" descr="Understanding the Use extension method:">
            <a:extLst>
              <a:ext uri="{FF2B5EF4-FFF2-40B4-BE49-F238E27FC236}">
                <a16:creationId xmlns:a16="http://schemas.microsoft.com/office/drawing/2014/main" id="{A1CC505A-EADF-436C-8BB5-FC4228FD9D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071" y="1810826"/>
            <a:ext cx="6810375" cy="178117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0E80B89-564E-4B4C-A67A-85C8255EA3D7}"/>
              </a:ext>
            </a:extLst>
          </p:cNvPr>
          <p:cNvSpPr txBox="1"/>
          <p:nvPr/>
        </p:nvSpPr>
        <p:spPr>
          <a:xfrm>
            <a:off x="242580" y="4088913"/>
            <a:ext cx="10572903" cy="2585323"/>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This method is also implemented as an extension method on the </a:t>
            </a:r>
            <a:r>
              <a:rPr lang="en-US" b="0" i="0" dirty="0" err="1">
                <a:solidFill>
                  <a:srgbClr val="000000"/>
                </a:solidFill>
                <a:effectLst/>
                <a:latin typeface="arial" panose="020B0604020202020204" pitchFamily="34" charset="0"/>
              </a:rPr>
              <a:t>IApplicationBuilder</a:t>
            </a:r>
            <a:r>
              <a:rPr lang="en-US" b="0" i="0" dirty="0">
                <a:solidFill>
                  <a:srgbClr val="000000"/>
                </a:solidFill>
                <a:effectLst/>
                <a:latin typeface="arial" panose="020B0604020202020204" pitchFamily="34" charset="0"/>
              </a:rPr>
              <a:t> interface. This is the reason why we are able to invoke this method using the </a:t>
            </a:r>
            <a:r>
              <a:rPr lang="en-US" b="0" i="0" dirty="0" err="1">
                <a:solidFill>
                  <a:srgbClr val="000000"/>
                </a:solidFill>
                <a:effectLst/>
                <a:latin typeface="arial" panose="020B0604020202020204" pitchFamily="34" charset="0"/>
              </a:rPr>
              <a:t>IApplicationBuilder</a:t>
            </a:r>
            <a:r>
              <a:rPr lang="en-US" b="0" i="0" dirty="0">
                <a:solidFill>
                  <a:srgbClr val="000000"/>
                </a:solidFill>
                <a:effectLst/>
                <a:latin typeface="arial" panose="020B0604020202020204" pitchFamily="34" charset="0"/>
              </a:rPr>
              <a:t> instance. As you can see from the above definition, this method takes two input parameters. The first parameter is the </a:t>
            </a:r>
            <a:r>
              <a:rPr lang="en-US" b="0" i="0" dirty="0" err="1">
                <a:solidFill>
                  <a:srgbClr val="000000"/>
                </a:solidFill>
                <a:effectLst/>
                <a:latin typeface="arial" panose="020B0604020202020204" pitchFamily="34" charset="0"/>
              </a:rPr>
              <a:t>HttpContext</a:t>
            </a:r>
            <a:r>
              <a:rPr lang="en-US" b="0" i="0" dirty="0">
                <a:solidFill>
                  <a:srgbClr val="000000"/>
                </a:solidFill>
                <a:effectLst/>
                <a:latin typeface="arial" panose="020B0604020202020204" pitchFamily="34" charset="0"/>
              </a:rPr>
              <a:t> context object through which it can access both the HTTP request and response. The second parameter is the </a:t>
            </a:r>
            <a:r>
              <a:rPr lang="en-US" b="0" i="0" dirty="0" err="1">
                <a:solidFill>
                  <a:srgbClr val="000000"/>
                </a:solidFill>
                <a:effectLst/>
                <a:latin typeface="arial" panose="020B0604020202020204" pitchFamily="34" charset="0"/>
              </a:rPr>
              <a:t>Func</a:t>
            </a:r>
            <a:r>
              <a:rPr lang="en-US" b="0" i="0" dirty="0">
                <a:solidFill>
                  <a:srgbClr val="000000"/>
                </a:solidFill>
                <a:effectLst/>
                <a:latin typeface="arial" panose="020B0604020202020204" pitchFamily="34" charset="0"/>
              </a:rPr>
              <a:t> type i.e. it is a generic delegate that can handle the request or call the next middleware component in the request pipeline. </a:t>
            </a:r>
          </a:p>
          <a:p>
            <a:pPr algn="just" fontAlgn="base"/>
            <a:endParaRPr lang="en-US" b="0" i="0" dirty="0">
              <a:solidFill>
                <a:srgbClr val="212529"/>
              </a:solidFill>
              <a:effectLst/>
              <a:latin typeface="-apple-system"/>
            </a:endParaRPr>
          </a:p>
          <a:p>
            <a:pPr algn="just" fontAlgn="base"/>
            <a:r>
              <a:rPr lang="en-US" b="1" i="0" dirty="0">
                <a:solidFill>
                  <a:srgbClr val="000000"/>
                </a:solidFill>
                <a:effectLst/>
                <a:latin typeface="arial" panose="020B0604020202020204" pitchFamily="34" charset="0"/>
              </a:rPr>
              <a:t>Note:</a:t>
            </a:r>
            <a:r>
              <a:rPr lang="en-US" b="0" i="0" dirty="0">
                <a:solidFill>
                  <a:srgbClr val="000000"/>
                </a:solidFill>
                <a:effectLst/>
                <a:latin typeface="arial" panose="020B0604020202020204" pitchFamily="34" charset="0"/>
              </a:rPr>
              <a:t> If you want to send the request from one middleware to the next middleware then you need to call the next method.</a:t>
            </a:r>
            <a:endParaRPr lang="en-US" b="0" i="0" dirty="0">
              <a:solidFill>
                <a:srgbClr val="212529"/>
              </a:solidFill>
              <a:effectLst/>
              <a:latin typeface="-apple-system"/>
            </a:endParaRPr>
          </a:p>
        </p:txBody>
      </p:sp>
    </p:spTree>
    <p:extLst>
      <p:ext uri="{BB962C8B-B14F-4D97-AF65-F5344CB8AC3E}">
        <p14:creationId xmlns:p14="http://schemas.microsoft.com/office/powerpoint/2010/main" val="4150486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F46E2D0-1D88-7255-3859-694B1FC19341}"/>
              </a:ext>
            </a:extLst>
          </p:cNvPr>
          <p:cNvSpPr txBox="1"/>
          <p:nvPr/>
        </p:nvSpPr>
        <p:spPr>
          <a:xfrm>
            <a:off x="143759" y="528149"/>
            <a:ext cx="6094428" cy="1477328"/>
          </a:xfrm>
          <a:prstGeom prst="rect">
            <a:avLst/>
          </a:prstGeom>
          <a:noFill/>
        </p:spPr>
        <p:txBody>
          <a:bodyPr wrap="square">
            <a:spAutoFit/>
          </a:bodyPr>
          <a:lstStyle/>
          <a:p>
            <a:r>
              <a:rPr lang="en-IN" dirty="0"/>
              <a:t>Following class has </a:t>
            </a:r>
            <a:r>
              <a:rPr lang="en-IN" b="1" dirty="0"/>
              <a:t>implemented </a:t>
            </a:r>
            <a:r>
              <a:rPr lang="en-IN" b="1" dirty="0" err="1"/>
              <a:t>IApplicationBuilder</a:t>
            </a:r>
            <a:r>
              <a:rPr lang="en-IN" b="1" dirty="0"/>
              <a:t> interface </a:t>
            </a:r>
          </a:p>
          <a:p>
            <a:endParaRPr lang="en-IN" b="1" dirty="0"/>
          </a:p>
          <a:p>
            <a:r>
              <a:rPr lang="en-IN" dirty="0" err="1"/>
              <a:t>Microsoft.AspNetCore.Builder.ApplicationBuilder</a:t>
            </a:r>
            <a:endParaRPr lang="en-IN" dirty="0"/>
          </a:p>
          <a:p>
            <a:r>
              <a:rPr lang="en-IN" dirty="0" err="1"/>
              <a:t>Microsoft.AspNetCore.Builder.WebApplication</a:t>
            </a:r>
            <a:endParaRPr lang="en-IN" dirty="0"/>
          </a:p>
          <a:p>
            <a:r>
              <a:rPr lang="en-IN" dirty="0" err="1"/>
              <a:t>Microsoft.AspNetCore.MiddlewareAnalysis.AnalysisBuilder</a:t>
            </a:r>
            <a:endParaRPr lang="en-IN" dirty="0"/>
          </a:p>
        </p:txBody>
      </p:sp>
      <p:pic>
        <p:nvPicPr>
          <p:cNvPr id="6" name="Picture 5">
            <a:extLst>
              <a:ext uri="{FF2B5EF4-FFF2-40B4-BE49-F238E27FC236}">
                <a16:creationId xmlns:a16="http://schemas.microsoft.com/office/drawing/2014/main" id="{5DEFA91E-31DB-03EF-F564-1F6E70737DF8}"/>
              </a:ext>
            </a:extLst>
          </p:cNvPr>
          <p:cNvPicPr>
            <a:picLocks noChangeAspect="1"/>
          </p:cNvPicPr>
          <p:nvPr/>
        </p:nvPicPr>
        <p:blipFill>
          <a:blip r:embed="rId2"/>
          <a:stretch>
            <a:fillRect/>
          </a:stretch>
        </p:blipFill>
        <p:spPr>
          <a:xfrm>
            <a:off x="238984" y="2106562"/>
            <a:ext cx="9640135" cy="4869602"/>
          </a:xfrm>
          <a:prstGeom prst="rect">
            <a:avLst/>
          </a:prstGeom>
        </p:spPr>
      </p:pic>
    </p:spTree>
    <p:extLst>
      <p:ext uri="{BB962C8B-B14F-4D97-AF65-F5344CB8AC3E}">
        <p14:creationId xmlns:p14="http://schemas.microsoft.com/office/powerpoint/2010/main" val="1520577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E5946-C3C1-0EDA-65F9-D8F8458A87CE}"/>
              </a:ext>
            </a:extLst>
          </p:cNvPr>
          <p:cNvSpPr>
            <a:spLocks noGrp="1"/>
          </p:cNvSpPr>
          <p:nvPr>
            <p:ph type="title"/>
          </p:nvPr>
        </p:nvSpPr>
        <p:spPr>
          <a:xfrm>
            <a:off x="952107" y="138882"/>
            <a:ext cx="9826658" cy="634116"/>
          </a:xfrm>
        </p:spPr>
        <p:txBody>
          <a:bodyPr>
            <a:normAutofit fontScale="90000"/>
          </a:bodyPr>
          <a:lstStyle/>
          <a:p>
            <a:r>
              <a:rPr lang="en-US" dirty="0"/>
              <a:t>How to write custom middleware</a:t>
            </a:r>
            <a:endParaRPr lang="en-IN" dirty="0"/>
          </a:p>
        </p:txBody>
      </p:sp>
      <p:sp>
        <p:nvSpPr>
          <p:cNvPr id="3" name="Content Placeholder 2">
            <a:extLst>
              <a:ext uri="{FF2B5EF4-FFF2-40B4-BE49-F238E27FC236}">
                <a16:creationId xmlns:a16="http://schemas.microsoft.com/office/drawing/2014/main" id="{68DBC815-61EA-E425-593A-9142D032EDFF}"/>
              </a:ext>
            </a:extLst>
          </p:cNvPr>
          <p:cNvSpPr>
            <a:spLocks noGrp="1"/>
          </p:cNvSpPr>
          <p:nvPr>
            <p:ph idx="1"/>
          </p:nvPr>
        </p:nvSpPr>
        <p:spPr>
          <a:xfrm>
            <a:off x="376287" y="1146895"/>
            <a:ext cx="10515600" cy="4351338"/>
          </a:xfrm>
        </p:spPr>
        <p:txBody>
          <a:bodyPr>
            <a:normAutofit/>
          </a:bodyPr>
          <a:lstStyle/>
          <a:p>
            <a:pPr marL="0" indent="0" algn="l">
              <a:buNone/>
            </a:pPr>
            <a:r>
              <a:rPr lang="en-US" b="0" i="0" dirty="0">
                <a:solidFill>
                  <a:srgbClr val="212121"/>
                </a:solidFill>
                <a:effectLst/>
                <a:latin typeface="Roboto" panose="02000000000000000000" pitchFamily="2" charset="0"/>
              </a:rPr>
              <a:t>How to create custom Middleware?</a:t>
            </a:r>
          </a:p>
          <a:p>
            <a:pPr marL="0" indent="0" algn="l">
              <a:buNone/>
            </a:pPr>
            <a:r>
              <a:rPr lang="en-US" b="0" i="0" dirty="0">
                <a:solidFill>
                  <a:srgbClr val="212121"/>
                </a:solidFill>
                <a:effectLst/>
                <a:latin typeface="open sans" panose="020B0606030504020204" pitchFamily="34" charset="0"/>
              </a:rPr>
              <a:t>Asp.net core provided many in-build Middleware but in some scenarios, we need our own middleware to fulfill our requirement, in such case will go with custom middleware.</a:t>
            </a:r>
          </a:p>
          <a:p>
            <a:pPr marL="0" indent="0" algn="l">
              <a:buNone/>
            </a:pPr>
            <a:r>
              <a:rPr lang="en-US" b="0" i="0" dirty="0">
                <a:solidFill>
                  <a:srgbClr val="212121"/>
                </a:solidFill>
                <a:effectLst/>
                <a:latin typeface="open sans" panose="020B0606030504020204" pitchFamily="34" charset="0"/>
              </a:rPr>
              <a:t>we will create a separate class for middleware that is called custom middleware. </a:t>
            </a:r>
          </a:p>
          <a:p>
            <a:pPr marL="0" indent="0" algn="l">
              <a:buNone/>
            </a:pPr>
            <a:r>
              <a:rPr lang="en-US" b="0" i="0" dirty="0">
                <a:solidFill>
                  <a:srgbClr val="212121"/>
                </a:solidFill>
                <a:effectLst/>
                <a:latin typeface="open sans" panose="020B0606030504020204" pitchFamily="34" charset="0"/>
              </a:rPr>
              <a:t>There are 2 ways to create Custom Middleware in Asp.net Core.</a:t>
            </a:r>
          </a:p>
          <a:p>
            <a:r>
              <a:rPr lang="en-US" b="0" i="0" dirty="0">
                <a:solidFill>
                  <a:srgbClr val="212121"/>
                </a:solidFill>
                <a:effectLst/>
                <a:latin typeface="open sans" panose="020B0606030504020204" pitchFamily="34" charset="0"/>
              </a:rPr>
              <a:t>Using </a:t>
            </a:r>
            <a:r>
              <a:rPr lang="en-US" b="0" i="1" dirty="0" err="1">
                <a:solidFill>
                  <a:srgbClr val="212121"/>
                </a:solidFill>
                <a:effectLst/>
                <a:latin typeface="open sans" panose="020B0606030504020204" pitchFamily="34" charset="0"/>
              </a:rPr>
              <a:t>IMiddleware</a:t>
            </a:r>
            <a:r>
              <a:rPr lang="en-US" b="0" i="1" dirty="0">
                <a:solidFill>
                  <a:srgbClr val="212121"/>
                </a:solidFill>
                <a:effectLst/>
                <a:latin typeface="open sans" panose="020B0606030504020204" pitchFamily="34" charset="0"/>
              </a:rPr>
              <a:t> </a:t>
            </a:r>
            <a:r>
              <a:rPr lang="en-US" b="0" i="0" dirty="0">
                <a:solidFill>
                  <a:srgbClr val="212121"/>
                </a:solidFill>
                <a:effectLst/>
                <a:latin typeface="open sans" panose="020B0606030504020204" pitchFamily="34" charset="0"/>
              </a:rPr>
              <a:t>interface[Allow you to inject class]</a:t>
            </a:r>
          </a:p>
          <a:p>
            <a:r>
              <a:rPr lang="en-US" b="0" i="0" dirty="0">
                <a:solidFill>
                  <a:srgbClr val="212121"/>
                </a:solidFill>
                <a:effectLst/>
                <a:latin typeface="open sans" panose="020B0606030504020204" pitchFamily="34" charset="0"/>
              </a:rPr>
              <a:t>Using the extension method.</a:t>
            </a:r>
          </a:p>
          <a:p>
            <a:pPr marL="0" indent="0">
              <a:buNone/>
            </a:pPr>
            <a:endParaRPr lang="en-IN" dirty="0"/>
          </a:p>
        </p:txBody>
      </p:sp>
    </p:spTree>
    <p:extLst>
      <p:ext uri="{BB962C8B-B14F-4D97-AF65-F5344CB8AC3E}">
        <p14:creationId xmlns:p14="http://schemas.microsoft.com/office/powerpoint/2010/main" val="1649793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B25C712-5520-2F08-C1EF-8F138EE8469D}"/>
              </a:ext>
            </a:extLst>
          </p:cNvPr>
          <p:cNvSpPr>
            <a:spLocks noChangeArrowheads="1"/>
          </p:cNvSpPr>
          <p:nvPr/>
        </p:nvSpPr>
        <p:spPr bwMode="auto">
          <a:xfrm>
            <a:off x="145016" y="95380"/>
            <a:ext cx="5439266" cy="12926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212121"/>
                </a:solidFill>
                <a:effectLst/>
                <a:latin typeface="Open Sans" panose="020B0606030504020204" pitchFamily="34" charset="0"/>
                <a:cs typeface="Open Sans" panose="020B0606030504020204" pitchFamily="34" charset="0"/>
              </a:rPr>
              <a:t>Step 1</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12121"/>
                </a:solidFill>
                <a:effectLst/>
                <a:latin typeface="Open Sans" panose="020B0606030504020204" pitchFamily="34" charset="0"/>
                <a:cs typeface="Open Sans" panose="020B0606030504020204" pitchFamily="34" charset="0"/>
              </a:rPr>
              <a:t>Create a class and name it “</a:t>
            </a:r>
            <a:r>
              <a:rPr kumimoji="0" lang="en-US" altLang="en-US" sz="1400" b="0" i="1" u="none" strike="noStrike" cap="none" normalizeH="0" baseline="0" dirty="0" err="1">
                <a:ln>
                  <a:noFill/>
                </a:ln>
                <a:solidFill>
                  <a:srgbClr val="212121"/>
                </a:solidFill>
                <a:effectLst/>
                <a:latin typeface="Open Sans" panose="020B0606030504020204" pitchFamily="34" charset="0"/>
                <a:cs typeface="Open Sans" panose="020B0606030504020204" pitchFamily="34" charset="0"/>
              </a:rPr>
              <a:t>CustomeMiddlewareDemo</a:t>
            </a:r>
            <a:r>
              <a:rPr kumimoji="0" lang="en-US" altLang="en-US" sz="1400" b="0" i="0" u="none" strike="noStrike" cap="none" normalizeH="0" baseline="0" dirty="0">
                <a:ln>
                  <a:noFill/>
                </a:ln>
                <a:solidFill>
                  <a:srgbClr val="212121"/>
                </a:solidFill>
                <a:effectLst/>
                <a:latin typeface="Open Sans" panose="020B0606030504020204" pitchFamily="34" charset="0"/>
                <a:cs typeface="Open Sans" panose="020B0606030504020204" pitchFamily="34"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1990B8"/>
              </a:solidFill>
              <a:latin typeface="Consolas" panose="020B0609020204030204" pitchFamily="49"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990B8"/>
                </a:solidFill>
                <a:effectLst/>
                <a:latin typeface="Consolas" panose="020B0609020204030204" pitchFamily="49" charset="0"/>
                <a:cs typeface="Open Sans" panose="020B0606030504020204" pitchFamily="34" charset="0"/>
              </a:rPr>
              <a:t>namespace</a:t>
            </a:r>
            <a:r>
              <a:rPr kumimoji="0" lang="en-US" altLang="en-US" sz="1400" b="0" i="0" u="none" strike="noStrike" cap="none" normalizeH="0" baseline="0" dirty="0">
                <a:ln>
                  <a:noFill/>
                </a:ln>
                <a:solidFill>
                  <a:srgbClr val="212121"/>
                </a:solidFill>
                <a:effectLst/>
                <a:latin typeface="Consolas" panose="020B0609020204030204" pitchFamily="49" charset="0"/>
                <a:cs typeface="Open Sans" panose="020B0606030504020204" pitchFamily="34" charset="0"/>
              </a:rPr>
              <a:t> WebApplication1 </a:t>
            </a:r>
            <a:r>
              <a:rPr kumimoji="0" lang="en-US" altLang="en-US" sz="1400" b="0" i="0" u="none" strike="noStrike" cap="none" normalizeH="0" baseline="0" dirty="0">
                <a:ln>
                  <a:noFill/>
                </a:ln>
                <a:solidFill>
                  <a:srgbClr val="5F6364"/>
                </a:solidFill>
                <a:effectLst/>
                <a:latin typeface="Consolas" panose="020B0609020204030204" pitchFamily="49" charset="0"/>
                <a:cs typeface="Open Sans" panose="020B0606030504020204" pitchFamily="34" charset="0"/>
              </a:rPr>
              <a:t>{</a:t>
            </a:r>
            <a:r>
              <a:rPr kumimoji="0" lang="en-US" altLang="en-US" sz="1400" b="0" i="0" u="none" strike="noStrike" cap="none" normalizeH="0" baseline="0" dirty="0">
                <a:ln>
                  <a:noFill/>
                </a:ln>
                <a:solidFill>
                  <a:srgbClr val="212121"/>
                </a:solidFill>
                <a:effectLst/>
                <a:latin typeface="Consolas" panose="020B0609020204030204" pitchFamily="49"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990B8"/>
                </a:solidFill>
                <a:effectLst/>
                <a:latin typeface="Consolas" panose="020B0609020204030204" pitchFamily="49" charset="0"/>
                <a:cs typeface="Open Sans" panose="020B0606030504020204" pitchFamily="34" charset="0"/>
              </a:rPr>
              <a:t>public</a:t>
            </a:r>
            <a:r>
              <a:rPr kumimoji="0" lang="en-US" altLang="en-US" sz="1400" b="0" i="0" u="none" strike="noStrike" cap="none" normalizeH="0" baseline="0" dirty="0">
                <a:ln>
                  <a:noFill/>
                </a:ln>
                <a:solidFill>
                  <a:srgbClr val="212121"/>
                </a:solidFill>
                <a:effectLst/>
                <a:latin typeface="Consolas" panose="020B0609020204030204" pitchFamily="49" charset="0"/>
                <a:cs typeface="Open Sans" panose="020B0606030504020204" pitchFamily="34" charset="0"/>
              </a:rPr>
              <a:t> </a:t>
            </a:r>
            <a:r>
              <a:rPr kumimoji="0" lang="en-US" altLang="en-US" sz="1400" b="0" i="0" u="none" strike="noStrike" cap="none" normalizeH="0" baseline="0" dirty="0">
                <a:ln>
                  <a:noFill/>
                </a:ln>
                <a:solidFill>
                  <a:srgbClr val="1990B8"/>
                </a:solidFill>
                <a:effectLst/>
                <a:latin typeface="Consolas" panose="020B0609020204030204" pitchFamily="49" charset="0"/>
                <a:cs typeface="Open Sans" panose="020B0606030504020204" pitchFamily="34" charset="0"/>
              </a:rPr>
              <a:t>class</a:t>
            </a:r>
            <a:r>
              <a:rPr kumimoji="0" lang="en-US" altLang="en-US" sz="1400" b="0" i="0" u="none" strike="noStrike" cap="none" normalizeH="0" baseline="0" dirty="0">
                <a:ln>
                  <a:noFill/>
                </a:ln>
                <a:solidFill>
                  <a:srgbClr val="212121"/>
                </a:solidFill>
                <a:effectLst/>
                <a:latin typeface="Consolas" panose="020B0609020204030204" pitchFamily="49" charset="0"/>
                <a:cs typeface="Open Sans" panose="020B0606030504020204" pitchFamily="34" charset="0"/>
              </a:rPr>
              <a:t> </a:t>
            </a:r>
            <a:r>
              <a:rPr kumimoji="0" lang="en-US" altLang="en-US" sz="1400" b="0" i="0" u="none" strike="noStrike" cap="none" normalizeH="0" baseline="0" dirty="0" err="1">
                <a:ln>
                  <a:noFill/>
                </a:ln>
                <a:solidFill>
                  <a:srgbClr val="1990B8"/>
                </a:solidFill>
                <a:effectLst/>
                <a:latin typeface="Consolas" panose="020B0609020204030204" pitchFamily="49" charset="0"/>
                <a:cs typeface="Open Sans" panose="020B0606030504020204" pitchFamily="34" charset="0"/>
              </a:rPr>
              <a:t>CustomMiddlewareDemo</a:t>
            </a:r>
            <a:r>
              <a:rPr kumimoji="0" lang="en-US" altLang="en-US" sz="1400" b="0" i="0" u="none" strike="noStrike" cap="none" normalizeH="0" baseline="0" dirty="0">
                <a:ln>
                  <a:noFill/>
                </a:ln>
                <a:solidFill>
                  <a:srgbClr val="212121"/>
                </a:solidFill>
                <a:effectLst/>
                <a:latin typeface="Consolas" panose="020B0609020204030204" pitchFamily="49" charset="0"/>
                <a:cs typeface="Open Sans" panose="020B0606030504020204" pitchFamily="34" charset="0"/>
              </a:rPr>
              <a:t> </a:t>
            </a:r>
            <a:r>
              <a:rPr kumimoji="0" lang="en-US" altLang="en-US" sz="1400" b="0" i="0" u="none" strike="noStrike" cap="none" normalizeH="0" baseline="0" dirty="0">
                <a:ln>
                  <a:noFill/>
                </a:ln>
                <a:solidFill>
                  <a:srgbClr val="5F6364"/>
                </a:solidFill>
                <a:effectLst/>
                <a:latin typeface="Consolas" panose="020B0609020204030204" pitchFamily="49" charset="0"/>
                <a:cs typeface="Open Sans" panose="020B0606030504020204" pitchFamily="34" charset="0"/>
              </a:rPr>
              <a:t>{}</a:t>
            </a:r>
            <a:r>
              <a:rPr kumimoji="0" lang="en-US" altLang="en-US" sz="1400" b="0" i="0" u="none" strike="noStrike" cap="none" normalizeH="0" baseline="0" dirty="0">
                <a:ln>
                  <a:noFill/>
                </a:ln>
                <a:solidFill>
                  <a:srgbClr val="212121"/>
                </a:solidFill>
                <a:effectLst/>
                <a:latin typeface="Consolas" panose="020B0609020204030204" pitchFamily="49"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5F6364"/>
                </a:solidFill>
                <a:effectLst/>
                <a:latin typeface="Consolas" panose="020B0609020204030204" pitchFamily="49" charset="0"/>
                <a:cs typeface="Open Sans" panose="020B0606030504020204" pitchFamily="34" charset="0"/>
              </a:rPr>
              <a:t>}</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E8E92039-5AC0-7C51-126C-9063B7C3F337}"/>
              </a:ext>
            </a:extLst>
          </p:cNvPr>
          <p:cNvSpPr txBox="1"/>
          <p:nvPr/>
        </p:nvSpPr>
        <p:spPr>
          <a:xfrm>
            <a:off x="-75414" y="1495021"/>
            <a:ext cx="6096000" cy="738664"/>
          </a:xfrm>
          <a:prstGeom prst="rect">
            <a:avLst/>
          </a:prstGeom>
          <a:noFill/>
        </p:spPr>
        <p:txBody>
          <a:bodyPr wrap="square">
            <a:spAutoFit/>
          </a:bodyPr>
          <a:lstStyle/>
          <a:p>
            <a:pPr algn="l"/>
            <a:r>
              <a:rPr lang="en-US" sz="1400" b="1" i="0" dirty="0">
                <a:solidFill>
                  <a:srgbClr val="212121"/>
                </a:solidFill>
                <a:effectLst/>
                <a:latin typeface="open sans" panose="020B0606030504020204" pitchFamily="34" charset="0"/>
              </a:rPr>
              <a:t>Step 2</a:t>
            </a:r>
            <a:endParaRPr lang="en-US" sz="1400" b="0" i="0" dirty="0">
              <a:solidFill>
                <a:srgbClr val="212121"/>
              </a:solidFill>
              <a:effectLst/>
              <a:latin typeface="open sans" panose="020B0606030504020204" pitchFamily="34" charset="0"/>
            </a:endParaRPr>
          </a:p>
          <a:p>
            <a:pPr algn="l"/>
            <a:r>
              <a:rPr lang="en-US" sz="1400" b="0" i="0" dirty="0">
                <a:solidFill>
                  <a:srgbClr val="212121"/>
                </a:solidFill>
                <a:effectLst/>
                <a:latin typeface="open sans" panose="020B0606030504020204" pitchFamily="34" charset="0"/>
              </a:rPr>
              <a:t>Inherit “</a:t>
            </a:r>
            <a:r>
              <a:rPr lang="en-US" sz="1400" b="0" i="1" dirty="0" err="1">
                <a:solidFill>
                  <a:srgbClr val="212121"/>
                </a:solidFill>
                <a:effectLst/>
                <a:latin typeface="open sans" panose="020B0606030504020204" pitchFamily="34" charset="0"/>
              </a:rPr>
              <a:t>IMiddleware</a:t>
            </a:r>
            <a:r>
              <a:rPr lang="en-US" sz="1400" b="0" i="0" dirty="0">
                <a:solidFill>
                  <a:srgbClr val="212121"/>
                </a:solidFill>
                <a:effectLst/>
                <a:latin typeface="open sans" panose="020B0606030504020204" pitchFamily="34" charset="0"/>
              </a:rPr>
              <a:t>” interface from “</a:t>
            </a:r>
            <a:r>
              <a:rPr lang="en-US" sz="1400" b="0" i="1" dirty="0" err="1">
                <a:solidFill>
                  <a:srgbClr val="212121"/>
                </a:solidFill>
                <a:effectLst/>
                <a:latin typeface="open sans" panose="020B0606030504020204" pitchFamily="34" charset="0"/>
              </a:rPr>
              <a:t>Microsoft.AspNetCore.Http</a:t>
            </a:r>
            <a:r>
              <a:rPr lang="en-US" sz="1400" b="0" i="0" dirty="0">
                <a:solidFill>
                  <a:srgbClr val="212121"/>
                </a:solidFill>
                <a:effectLst/>
                <a:latin typeface="open sans" panose="020B0606030504020204" pitchFamily="34" charset="0"/>
              </a:rPr>
              <a:t>” namespace and implement it as per the below code.</a:t>
            </a:r>
          </a:p>
        </p:txBody>
      </p:sp>
      <p:sp>
        <p:nvSpPr>
          <p:cNvPr id="8" name="TextBox 7">
            <a:extLst>
              <a:ext uri="{FF2B5EF4-FFF2-40B4-BE49-F238E27FC236}">
                <a16:creationId xmlns:a16="http://schemas.microsoft.com/office/drawing/2014/main" id="{4E66D47A-7E66-17FC-6E34-C211F5C8C9C8}"/>
              </a:ext>
            </a:extLst>
          </p:cNvPr>
          <p:cNvSpPr txBox="1"/>
          <p:nvPr/>
        </p:nvSpPr>
        <p:spPr>
          <a:xfrm>
            <a:off x="69601" y="2281158"/>
            <a:ext cx="5275396" cy="2677656"/>
          </a:xfrm>
          <a:prstGeom prst="rect">
            <a:avLst/>
          </a:prstGeom>
          <a:noFill/>
        </p:spPr>
        <p:txBody>
          <a:bodyPr wrap="square">
            <a:spAutoFit/>
          </a:bodyPr>
          <a:lstStyle/>
          <a:p>
            <a:r>
              <a:rPr lang="en-IN" sz="1400" b="0" i="0" dirty="0">
                <a:solidFill>
                  <a:srgbClr val="1990B8"/>
                </a:solidFill>
                <a:effectLst/>
                <a:latin typeface="Consolas" panose="020B0609020204030204" pitchFamily="49" charset="0"/>
              </a:rPr>
              <a:t>using</a:t>
            </a:r>
            <a:r>
              <a:rPr lang="en-IN" sz="1400" b="0" i="0" dirty="0">
                <a:solidFill>
                  <a:srgbClr val="212121"/>
                </a:solidFill>
                <a:effectLst/>
                <a:latin typeface="Consolas" panose="020B0609020204030204" pitchFamily="49" charset="0"/>
              </a:rPr>
              <a:t> </a:t>
            </a:r>
            <a:r>
              <a:rPr lang="en-IN" sz="1400" b="0" i="0" dirty="0" err="1">
                <a:solidFill>
                  <a:srgbClr val="212121"/>
                </a:solidFill>
                <a:effectLst/>
                <a:latin typeface="Consolas" panose="020B0609020204030204" pitchFamily="49" charset="0"/>
              </a:rPr>
              <a:t>Microsoft</a:t>
            </a:r>
            <a:r>
              <a:rPr lang="en-IN" sz="1400" b="0" i="0" dirty="0" err="1">
                <a:solidFill>
                  <a:srgbClr val="5F6364"/>
                </a:solidFill>
                <a:effectLst/>
                <a:latin typeface="Consolas" panose="020B0609020204030204" pitchFamily="49" charset="0"/>
              </a:rPr>
              <a:t>.</a:t>
            </a:r>
            <a:r>
              <a:rPr lang="en-IN" sz="1400" b="0" i="0" dirty="0" err="1">
                <a:solidFill>
                  <a:srgbClr val="212121"/>
                </a:solidFill>
                <a:effectLst/>
                <a:latin typeface="Consolas" panose="020B0609020204030204" pitchFamily="49" charset="0"/>
              </a:rPr>
              <a:t>AspNetCore</a:t>
            </a:r>
            <a:r>
              <a:rPr lang="en-IN" sz="1400" b="0" i="0" dirty="0" err="1">
                <a:solidFill>
                  <a:srgbClr val="5F6364"/>
                </a:solidFill>
                <a:effectLst/>
                <a:latin typeface="Consolas" panose="020B0609020204030204" pitchFamily="49" charset="0"/>
              </a:rPr>
              <a:t>.</a:t>
            </a:r>
            <a:r>
              <a:rPr lang="en-IN" sz="1400" b="0" i="0" dirty="0" err="1">
                <a:solidFill>
                  <a:srgbClr val="212121"/>
                </a:solidFill>
                <a:effectLst/>
                <a:latin typeface="Consolas" panose="020B0609020204030204" pitchFamily="49" charset="0"/>
              </a:rPr>
              <a:t>Http</a:t>
            </a:r>
            <a:r>
              <a:rPr lang="en-IN" sz="1400" b="0" i="0" dirty="0">
                <a:solidFill>
                  <a:srgbClr val="5F6364"/>
                </a:solidFill>
                <a:effectLst/>
                <a:latin typeface="Consolas" panose="020B0609020204030204" pitchFamily="49" charset="0"/>
              </a:rPr>
              <a:t>;</a:t>
            </a:r>
            <a:r>
              <a:rPr lang="en-IN" sz="1400" b="0" i="0" dirty="0">
                <a:solidFill>
                  <a:srgbClr val="212121"/>
                </a:solidFill>
                <a:effectLst/>
                <a:latin typeface="Consolas" panose="020B0609020204030204" pitchFamily="49" charset="0"/>
              </a:rPr>
              <a:t> </a:t>
            </a:r>
          </a:p>
          <a:p>
            <a:r>
              <a:rPr lang="en-IN" sz="1400" b="0" i="0" dirty="0">
                <a:solidFill>
                  <a:srgbClr val="1990B8"/>
                </a:solidFill>
                <a:effectLst/>
                <a:latin typeface="Consolas" panose="020B0609020204030204" pitchFamily="49" charset="0"/>
              </a:rPr>
              <a:t>using</a:t>
            </a:r>
            <a:r>
              <a:rPr lang="en-IN" sz="1400" b="0" i="0" dirty="0">
                <a:solidFill>
                  <a:srgbClr val="212121"/>
                </a:solidFill>
                <a:effectLst/>
                <a:latin typeface="Consolas" panose="020B0609020204030204" pitchFamily="49" charset="0"/>
              </a:rPr>
              <a:t> </a:t>
            </a:r>
            <a:r>
              <a:rPr lang="en-IN" sz="1400" b="0" i="0" dirty="0" err="1">
                <a:solidFill>
                  <a:srgbClr val="212121"/>
                </a:solidFill>
                <a:effectLst/>
                <a:latin typeface="Consolas" panose="020B0609020204030204" pitchFamily="49" charset="0"/>
              </a:rPr>
              <a:t>System</a:t>
            </a:r>
            <a:r>
              <a:rPr lang="en-IN" sz="1400" b="0" i="0" dirty="0" err="1">
                <a:solidFill>
                  <a:srgbClr val="5F6364"/>
                </a:solidFill>
                <a:effectLst/>
                <a:latin typeface="Consolas" panose="020B0609020204030204" pitchFamily="49" charset="0"/>
              </a:rPr>
              <a:t>.</a:t>
            </a:r>
            <a:r>
              <a:rPr lang="en-IN" sz="1400" b="0" i="0" dirty="0" err="1">
                <a:solidFill>
                  <a:srgbClr val="212121"/>
                </a:solidFill>
                <a:effectLst/>
                <a:latin typeface="Consolas" panose="020B0609020204030204" pitchFamily="49" charset="0"/>
              </a:rPr>
              <a:t>Threading</a:t>
            </a:r>
            <a:r>
              <a:rPr lang="en-IN" sz="1400" b="0" i="0" dirty="0" err="1">
                <a:solidFill>
                  <a:srgbClr val="5F6364"/>
                </a:solidFill>
                <a:effectLst/>
                <a:latin typeface="Consolas" panose="020B0609020204030204" pitchFamily="49" charset="0"/>
              </a:rPr>
              <a:t>.</a:t>
            </a:r>
            <a:r>
              <a:rPr lang="en-IN" sz="1400" b="0" i="0" dirty="0" err="1">
                <a:solidFill>
                  <a:srgbClr val="212121"/>
                </a:solidFill>
                <a:effectLst/>
                <a:latin typeface="Consolas" panose="020B0609020204030204" pitchFamily="49" charset="0"/>
              </a:rPr>
              <a:t>Tasks</a:t>
            </a:r>
            <a:r>
              <a:rPr lang="en-IN" sz="1400" b="0" i="0" dirty="0">
                <a:solidFill>
                  <a:srgbClr val="5F6364"/>
                </a:solidFill>
                <a:effectLst/>
                <a:latin typeface="Consolas" panose="020B0609020204030204" pitchFamily="49" charset="0"/>
              </a:rPr>
              <a:t>;</a:t>
            </a:r>
            <a:r>
              <a:rPr lang="en-IN" sz="1400" b="0" i="0" dirty="0">
                <a:solidFill>
                  <a:srgbClr val="212121"/>
                </a:solidFill>
                <a:effectLst/>
                <a:latin typeface="Consolas" panose="020B0609020204030204" pitchFamily="49" charset="0"/>
              </a:rPr>
              <a:t> </a:t>
            </a:r>
          </a:p>
          <a:p>
            <a:r>
              <a:rPr lang="en-IN" sz="1400" b="0" i="0" dirty="0">
                <a:solidFill>
                  <a:srgbClr val="1990B8"/>
                </a:solidFill>
                <a:effectLst/>
                <a:latin typeface="Consolas" panose="020B0609020204030204" pitchFamily="49" charset="0"/>
              </a:rPr>
              <a:t>namespace</a:t>
            </a:r>
            <a:r>
              <a:rPr lang="en-IN" sz="1400" b="0" i="0" dirty="0">
                <a:solidFill>
                  <a:srgbClr val="212121"/>
                </a:solidFill>
                <a:effectLst/>
                <a:latin typeface="Consolas" panose="020B0609020204030204" pitchFamily="49" charset="0"/>
              </a:rPr>
              <a:t> WebApplication1</a:t>
            </a:r>
          </a:p>
          <a:p>
            <a:r>
              <a:rPr lang="en-IN" sz="1400" b="0" i="0" dirty="0">
                <a:solidFill>
                  <a:srgbClr val="212121"/>
                </a:solidFill>
                <a:effectLst/>
                <a:latin typeface="Consolas" panose="020B0609020204030204" pitchFamily="49" charset="0"/>
              </a:rPr>
              <a:t> </a:t>
            </a:r>
            <a:r>
              <a:rPr lang="en-IN" sz="1400" b="0" i="0" dirty="0">
                <a:solidFill>
                  <a:srgbClr val="5F6364"/>
                </a:solidFill>
                <a:effectLst/>
                <a:latin typeface="Consolas" panose="020B0609020204030204" pitchFamily="49" charset="0"/>
              </a:rPr>
              <a:t>{</a:t>
            </a:r>
            <a:r>
              <a:rPr lang="en-IN" sz="1400" b="0" i="0" dirty="0">
                <a:solidFill>
                  <a:srgbClr val="212121"/>
                </a:solidFill>
                <a:effectLst/>
                <a:latin typeface="Consolas" panose="020B0609020204030204" pitchFamily="49" charset="0"/>
              </a:rPr>
              <a:t> </a:t>
            </a:r>
          </a:p>
          <a:p>
            <a:r>
              <a:rPr lang="en-IN" sz="1400" b="0" i="0" dirty="0">
                <a:solidFill>
                  <a:srgbClr val="1990B8"/>
                </a:solidFill>
                <a:effectLst/>
                <a:latin typeface="Consolas" panose="020B0609020204030204" pitchFamily="49" charset="0"/>
              </a:rPr>
              <a:t>public</a:t>
            </a:r>
            <a:r>
              <a:rPr lang="en-IN" sz="1400" b="0" i="0" dirty="0">
                <a:solidFill>
                  <a:srgbClr val="212121"/>
                </a:solidFill>
                <a:effectLst/>
                <a:latin typeface="Consolas" panose="020B0609020204030204" pitchFamily="49" charset="0"/>
              </a:rPr>
              <a:t> </a:t>
            </a:r>
            <a:r>
              <a:rPr lang="en-IN" sz="1400" b="0" i="0" dirty="0">
                <a:solidFill>
                  <a:srgbClr val="1990B8"/>
                </a:solidFill>
                <a:effectLst/>
                <a:latin typeface="Consolas" panose="020B0609020204030204" pitchFamily="49" charset="0"/>
              </a:rPr>
              <a:t>class</a:t>
            </a:r>
            <a:r>
              <a:rPr lang="en-IN" sz="1400" b="0" i="0" dirty="0">
                <a:solidFill>
                  <a:srgbClr val="212121"/>
                </a:solidFill>
                <a:effectLst/>
                <a:latin typeface="Consolas" panose="020B0609020204030204" pitchFamily="49" charset="0"/>
              </a:rPr>
              <a:t> </a:t>
            </a:r>
            <a:r>
              <a:rPr lang="en-IN" sz="1400" b="0" i="0" dirty="0" err="1">
                <a:solidFill>
                  <a:srgbClr val="1990B8"/>
                </a:solidFill>
                <a:effectLst/>
                <a:latin typeface="Consolas" panose="020B0609020204030204" pitchFamily="49" charset="0"/>
              </a:rPr>
              <a:t>CustomMiddlewareDemo</a:t>
            </a:r>
            <a:r>
              <a:rPr lang="en-IN" sz="1400" b="0" i="0" dirty="0">
                <a:solidFill>
                  <a:srgbClr val="5F6364"/>
                </a:solidFill>
                <a:effectLst/>
                <a:latin typeface="Consolas" panose="020B0609020204030204" pitchFamily="49" charset="0"/>
              </a:rPr>
              <a:t>:</a:t>
            </a:r>
            <a:r>
              <a:rPr lang="en-IN" sz="1400" b="0" i="0" dirty="0">
                <a:solidFill>
                  <a:srgbClr val="212121"/>
                </a:solidFill>
                <a:effectLst/>
                <a:latin typeface="Consolas" panose="020B0609020204030204" pitchFamily="49" charset="0"/>
              </a:rPr>
              <a:t> </a:t>
            </a:r>
            <a:r>
              <a:rPr lang="en-IN" sz="1400" b="0" i="0" dirty="0" err="1">
                <a:solidFill>
                  <a:srgbClr val="1990B8"/>
                </a:solidFill>
                <a:effectLst/>
                <a:latin typeface="Consolas" panose="020B0609020204030204" pitchFamily="49" charset="0"/>
              </a:rPr>
              <a:t>IMiddleware</a:t>
            </a:r>
            <a:r>
              <a:rPr lang="en-IN" sz="1400" b="0" i="0" dirty="0">
                <a:solidFill>
                  <a:srgbClr val="212121"/>
                </a:solidFill>
                <a:effectLst/>
                <a:latin typeface="Consolas" panose="020B0609020204030204" pitchFamily="49" charset="0"/>
              </a:rPr>
              <a:t> </a:t>
            </a:r>
          </a:p>
          <a:p>
            <a:r>
              <a:rPr lang="en-IN" sz="1400" b="0" i="0" dirty="0">
                <a:solidFill>
                  <a:srgbClr val="5F6364"/>
                </a:solidFill>
                <a:effectLst/>
                <a:latin typeface="Consolas" panose="020B0609020204030204" pitchFamily="49" charset="0"/>
              </a:rPr>
              <a:t>{</a:t>
            </a:r>
          </a:p>
          <a:p>
            <a:r>
              <a:rPr lang="en-IN" sz="1400" b="0" i="0" dirty="0">
                <a:solidFill>
                  <a:srgbClr val="212121"/>
                </a:solidFill>
                <a:effectLst/>
                <a:latin typeface="Consolas" panose="020B0609020204030204" pitchFamily="49" charset="0"/>
              </a:rPr>
              <a:t> </a:t>
            </a:r>
            <a:r>
              <a:rPr lang="en-IN" sz="1400" b="0" i="0" dirty="0">
                <a:solidFill>
                  <a:srgbClr val="1990B8"/>
                </a:solidFill>
                <a:effectLst/>
                <a:latin typeface="Consolas" panose="020B0609020204030204" pitchFamily="49" charset="0"/>
              </a:rPr>
              <a:t>public</a:t>
            </a:r>
            <a:r>
              <a:rPr lang="en-IN" sz="1400" b="0" i="0" dirty="0">
                <a:solidFill>
                  <a:srgbClr val="212121"/>
                </a:solidFill>
                <a:effectLst/>
                <a:latin typeface="Consolas" panose="020B0609020204030204" pitchFamily="49" charset="0"/>
              </a:rPr>
              <a:t> </a:t>
            </a:r>
            <a:r>
              <a:rPr lang="en-IN" sz="1400" b="0" i="0" dirty="0">
                <a:solidFill>
                  <a:srgbClr val="1990B8"/>
                </a:solidFill>
                <a:effectLst/>
                <a:latin typeface="Consolas" panose="020B0609020204030204" pitchFamily="49" charset="0"/>
              </a:rPr>
              <a:t>Task</a:t>
            </a:r>
            <a:r>
              <a:rPr lang="en-IN" sz="1400" b="0" i="0" dirty="0">
                <a:solidFill>
                  <a:srgbClr val="212121"/>
                </a:solidFill>
                <a:effectLst/>
                <a:latin typeface="Consolas" panose="020B0609020204030204" pitchFamily="49" charset="0"/>
              </a:rPr>
              <a:t> </a:t>
            </a:r>
            <a:r>
              <a:rPr lang="en-IN" sz="1400" b="0" i="0" dirty="0" err="1">
                <a:solidFill>
                  <a:srgbClr val="2F9C0A"/>
                </a:solidFill>
                <a:effectLst/>
                <a:latin typeface="Consolas" panose="020B0609020204030204" pitchFamily="49" charset="0"/>
              </a:rPr>
              <a:t>InvokeAsync</a:t>
            </a:r>
            <a:r>
              <a:rPr lang="en-IN" sz="1400" b="0" i="0" dirty="0">
                <a:solidFill>
                  <a:srgbClr val="5F6364"/>
                </a:solidFill>
                <a:effectLst/>
                <a:latin typeface="Consolas" panose="020B0609020204030204" pitchFamily="49" charset="0"/>
              </a:rPr>
              <a:t>(</a:t>
            </a:r>
            <a:r>
              <a:rPr lang="en-IN" sz="1400" b="0" i="0" dirty="0" err="1">
                <a:solidFill>
                  <a:srgbClr val="1990B8"/>
                </a:solidFill>
                <a:effectLst/>
                <a:latin typeface="Consolas" panose="020B0609020204030204" pitchFamily="49" charset="0"/>
              </a:rPr>
              <a:t>HttpContext</a:t>
            </a:r>
            <a:r>
              <a:rPr lang="en-IN" sz="1400" b="0" i="0" dirty="0">
                <a:solidFill>
                  <a:srgbClr val="212121"/>
                </a:solidFill>
                <a:effectLst/>
                <a:latin typeface="Consolas" panose="020B0609020204030204" pitchFamily="49" charset="0"/>
              </a:rPr>
              <a:t> context</a:t>
            </a:r>
            <a:r>
              <a:rPr lang="en-IN" sz="1400" b="0" i="0" dirty="0">
                <a:solidFill>
                  <a:srgbClr val="5F6364"/>
                </a:solidFill>
                <a:effectLst/>
                <a:latin typeface="Consolas" panose="020B0609020204030204" pitchFamily="49" charset="0"/>
              </a:rPr>
              <a:t>,</a:t>
            </a:r>
            <a:r>
              <a:rPr lang="en-IN" sz="1400" b="0" i="0" dirty="0">
                <a:solidFill>
                  <a:srgbClr val="212121"/>
                </a:solidFill>
                <a:effectLst/>
                <a:latin typeface="Consolas" panose="020B0609020204030204" pitchFamily="49" charset="0"/>
              </a:rPr>
              <a:t> </a:t>
            </a:r>
            <a:r>
              <a:rPr lang="en-IN" sz="1400" b="0" i="0" dirty="0" err="1">
                <a:solidFill>
                  <a:srgbClr val="1990B8"/>
                </a:solidFill>
                <a:effectLst/>
                <a:latin typeface="Consolas" panose="020B0609020204030204" pitchFamily="49" charset="0"/>
              </a:rPr>
              <a:t>RequestDelegate</a:t>
            </a:r>
            <a:r>
              <a:rPr lang="en-IN" sz="1400" b="0" i="0" dirty="0">
                <a:solidFill>
                  <a:srgbClr val="212121"/>
                </a:solidFill>
                <a:effectLst/>
                <a:latin typeface="Consolas" panose="020B0609020204030204" pitchFamily="49" charset="0"/>
              </a:rPr>
              <a:t> next</a:t>
            </a:r>
            <a:r>
              <a:rPr lang="en-IN" sz="1400" b="0" i="0" dirty="0">
                <a:solidFill>
                  <a:srgbClr val="5F6364"/>
                </a:solidFill>
                <a:effectLst/>
                <a:latin typeface="Consolas" panose="020B0609020204030204" pitchFamily="49" charset="0"/>
              </a:rPr>
              <a:t>)</a:t>
            </a:r>
          </a:p>
          <a:p>
            <a:r>
              <a:rPr lang="en-IN" sz="1400" b="0" i="0" dirty="0">
                <a:solidFill>
                  <a:srgbClr val="212121"/>
                </a:solidFill>
                <a:effectLst/>
                <a:latin typeface="Consolas" panose="020B0609020204030204" pitchFamily="49" charset="0"/>
              </a:rPr>
              <a:t> </a:t>
            </a:r>
            <a:r>
              <a:rPr lang="en-IN" sz="1400" b="0" i="0" dirty="0">
                <a:solidFill>
                  <a:srgbClr val="5F6364"/>
                </a:solidFill>
                <a:effectLst/>
                <a:latin typeface="Consolas" panose="020B0609020204030204" pitchFamily="49" charset="0"/>
              </a:rPr>
              <a:t>{</a:t>
            </a:r>
            <a:r>
              <a:rPr lang="en-IN" sz="1400" b="0" i="0" dirty="0">
                <a:solidFill>
                  <a:srgbClr val="212121"/>
                </a:solidFill>
                <a:effectLst/>
                <a:latin typeface="Consolas" panose="020B0609020204030204" pitchFamily="49" charset="0"/>
              </a:rPr>
              <a:t> </a:t>
            </a:r>
            <a:r>
              <a:rPr lang="en-IN" sz="1400" b="0" i="0" dirty="0">
                <a:solidFill>
                  <a:srgbClr val="1990B8"/>
                </a:solidFill>
                <a:effectLst/>
                <a:latin typeface="Consolas" panose="020B0609020204030204" pitchFamily="49" charset="0"/>
              </a:rPr>
              <a:t>throw</a:t>
            </a:r>
            <a:r>
              <a:rPr lang="en-IN" sz="1400" b="0" i="0" dirty="0">
                <a:solidFill>
                  <a:srgbClr val="212121"/>
                </a:solidFill>
                <a:effectLst/>
                <a:latin typeface="Consolas" panose="020B0609020204030204" pitchFamily="49" charset="0"/>
              </a:rPr>
              <a:t> </a:t>
            </a:r>
            <a:r>
              <a:rPr lang="en-IN" sz="1400" b="0" i="0" dirty="0">
                <a:solidFill>
                  <a:srgbClr val="1990B8"/>
                </a:solidFill>
                <a:effectLst/>
                <a:latin typeface="Consolas" panose="020B0609020204030204" pitchFamily="49" charset="0"/>
              </a:rPr>
              <a:t>new</a:t>
            </a:r>
            <a:r>
              <a:rPr lang="en-IN" sz="1400" b="0" i="0" dirty="0">
                <a:solidFill>
                  <a:srgbClr val="212121"/>
                </a:solidFill>
                <a:effectLst/>
                <a:latin typeface="Consolas" panose="020B0609020204030204" pitchFamily="49" charset="0"/>
              </a:rPr>
              <a:t> </a:t>
            </a:r>
            <a:r>
              <a:rPr lang="en-IN" sz="1400" b="0" i="0" dirty="0" err="1">
                <a:solidFill>
                  <a:srgbClr val="1990B8"/>
                </a:solidFill>
                <a:effectLst/>
                <a:latin typeface="Consolas" panose="020B0609020204030204" pitchFamily="49" charset="0"/>
              </a:rPr>
              <a:t>System</a:t>
            </a:r>
            <a:r>
              <a:rPr lang="en-IN" sz="1400" b="0" i="0" dirty="0" err="1">
                <a:solidFill>
                  <a:srgbClr val="5F6364"/>
                </a:solidFill>
                <a:effectLst/>
                <a:latin typeface="Consolas" panose="020B0609020204030204" pitchFamily="49" charset="0"/>
              </a:rPr>
              <a:t>.</a:t>
            </a:r>
            <a:r>
              <a:rPr lang="en-IN" sz="1400" b="0" i="0" dirty="0" err="1">
                <a:solidFill>
                  <a:srgbClr val="1990B8"/>
                </a:solidFill>
                <a:effectLst/>
                <a:latin typeface="Consolas" panose="020B0609020204030204" pitchFamily="49" charset="0"/>
              </a:rPr>
              <a:t>NotImplementedException</a:t>
            </a:r>
            <a:r>
              <a:rPr lang="en-IN" sz="1400" b="0" i="0" dirty="0">
                <a:solidFill>
                  <a:srgbClr val="5F6364"/>
                </a:solidFill>
                <a:effectLst/>
                <a:latin typeface="Consolas" panose="020B0609020204030204" pitchFamily="49" charset="0"/>
              </a:rPr>
              <a:t>();</a:t>
            </a:r>
            <a:r>
              <a:rPr lang="en-IN" sz="1400" b="0" i="0" dirty="0">
                <a:solidFill>
                  <a:srgbClr val="212121"/>
                </a:solidFill>
                <a:effectLst/>
                <a:latin typeface="Consolas" panose="020B0609020204030204" pitchFamily="49" charset="0"/>
              </a:rPr>
              <a:t> </a:t>
            </a:r>
          </a:p>
          <a:p>
            <a:r>
              <a:rPr lang="en-IN" sz="1400" b="0" i="0" dirty="0">
                <a:solidFill>
                  <a:srgbClr val="5F6364"/>
                </a:solidFill>
                <a:effectLst/>
                <a:latin typeface="Consolas" panose="020B0609020204030204" pitchFamily="49" charset="0"/>
              </a:rPr>
              <a:t>   }</a:t>
            </a:r>
          </a:p>
          <a:p>
            <a:r>
              <a:rPr lang="en-IN" sz="1400" b="0" i="0" dirty="0">
                <a:solidFill>
                  <a:srgbClr val="212121"/>
                </a:solidFill>
                <a:effectLst/>
                <a:latin typeface="Consolas" panose="020B0609020204030204" pitchFamily="49" charset="0"/>
              </a:rPr>
              <a:t> </a:t>
            </a:r>
            <a:r>
              <a:rPr lang="en-IN" sz="1400" b="0" i="0" dirty="0">
                <a:solidFill>
                  <a:srgbClr val="5F6364"/>
                </a:solidFill>
                <a:effectLst/>
                <a:latin typeface="Consolas" panose="020B0609020204030204" pitchFamily="49" charset="0"/>
              </a:rPr>
              <a:t>}</a:t>
            </a:r>
            <a:r>
              <a:rPr lang="en-IN" sz="1400" b="0" i="0" dirty="0">
                <a:solidFill>
                  <a:srgbClr val="212121"/>
                </a:solidFill>
                <a:effectLst/>
                <a:latin typeface="Consolas" panose="020B0609020204030204" pitchFamily="49" charset="0"/>
              </a:rPr>
              <a:t> </a:t>
            </a:r>
          </a:p>
          <a:p>
            <a:r>
              <a:rPr lang="en-IN" sz="1400" b="0" i="0" dirty="0">
                <a:solidFill>
                  <a:srgbClr val="5F6364"/>
                </a:solidFill>
                <a:effectLst/>
                <a:latin typeface="Consolas" panose="020B0609020204030204" pitchFamily="49" charset="0"/>
              </a:rPr>
              <a:t>}</a:t>
            </a:r>
            <a:endParaRPr lang="en-IN" sz="1400" dirty="0"/>
          </a:p>
        </p:txBody>
      </p:sp>
      <p:sp>
        <p:nvSpPr>
          <p:cNvPr id="10" name="TextBox 9">
            <a:extLst>
              <a:ext uri="{FF2B5EF4-FFF2-40B4-BE49-F238E27FC236}">
                <a16:creationId xmlns:a16="http://schemas.microsoft.com/office/drawing/2014/main" id="{67A66D24-915D-947B-0BC4-96F7779EA854}"/>
              </a:ext>
            </a:extLst>
          </p:cNvPr>
          <p:cNvSpPr txBox="1"/>
          <p:nvPr/>
        </p:nvSpPr>
        <p:spPr>
          <a:xfrm>
            <a:off x="6592480" y="132695"/>
            <a:ext cx="5439264" cy="738664"/>
          </a:xfrm>
          <a:prstGeom prst="rect">
            <a:avLst/>
          </a:prstGeom>
          <a:noFill/>
        </p:spPr>
        <p:txBody>
          <a:bodyPr wrap="square">
            <a:spAutoFit/>
          </a:bodyPr>
          <a:lstStyle/>
          <a:p>
            <a:pPr algn="l"/>
            <a:r>
              <a:rPr lang="en-US" sz="1400" b="1" i="0" dirty="0">
                <a:solidFill>
                  <a:srgbClr val="212121"/>
                </a:solidFill>
                <a:effectLst/>
                <a:latin typeface="open sans" panose="020B0606030504020204" pitchFamily="34" charset="0"/>
              </a:rPr>
              <a:t>Step 3</a:t>
            </a:r>
            <a:endParaRPr lang="en-US" sz="1400" b="0" i="0" dirty="0">
              <a:solidFill>
                <a:srgbClr val="212121"/>
              </a:solidFill>
              <a:effectLst/>
              <a:latin typeface="open sans" panose="020B0606030504020204" pitchFamily="34" charset="0"/>
            </a:endParaRPr>
          </a:p>
          <a:p>
            <a:pPr algn="l"/>
            <a:r>
              <a:rPr lang="en-US" sz="1400" b="0" i="0" dirty="0">
                <a:solidFill>
                  <a:srgbClr val="212121"/>
                </a:solidFill>
                <a:effectLst/>
                <a:latin typeface="open sans" panose="020B0606030504020204" pitchFamily="34" charset="0"/>
              </a:rPr>
              <a:t>Now we will add code for Custom middleware in the “</a:t>
            </a:r>
            <a:r>
              <a:rPr lang="en-US" sz="1400" b="0" i="1" dirty="0" err="1">
                <a:solidFill>
                  <a:srgbClr val="212121"/>
                </a:solidFill>
                <a:effectLst/>
                <a:latin typeface="open sans" panose="020B0606030504020204" pitchFamily="34" charset="0"/>
              </a:rPr>
              <a:t>InvokeAsync</a:t>
            </a:r>
            <a:r>
              <a:rPr lang="en-US" sz="1400" b="0" i="0" dirty="0">
                <a:solidFill>
                  <a:srgbClr val="212121"/>
                </a:solidFill>
                <a:effectLst/>
                <a:latin typeface="open sans" panose="020B0606030504020204" pitchFamily="34" charset="0"/>
              </a:rPr>
              <a:t>” method.</a:t>
            </a:r>
          </a:p>
        </p:txBody>
      </p:sp>
      <p:sp>
        <p:nvSpPr>
          <p:cNvPr id="14" name="TextBox 13">
            <a:extLst>
              <a:ext uri="{FF2B5EF4-FFF2-40B4-BE49-F238E27FC236}">
                <a16:creationId xmlns:a16="http://schemas.microsoft.com/office/drawing/2014/main" id="{4D372760-D16A-C492-D809-B386AF1DB0D7}"/>
              </a:ext>
            </a:extLst>
          </p:cNvPr>
          <p:cNvSpPr txBox="1"/>
          <p:nvPr/>
        </p:nvSpPr>
        <p:spPr>
          <a:xfrm>
            <a:off x="6020586" y="1051955"/>
            <a:ext cx="6103856" cy="3785652"/>
          </a:xfrm>
          <a:prstGeom prst="rect">
            <a:avLst/>
          </a:prstGeom>
          <a:noFill/>
        </p:spPr>
        <p:txBody>
          <a:bodyPr wrap="square">
            <a:spAutoFit/>
          </a:bodyPr>
          <a:lstStyle/>
          <a:p>
            <a:r>
              <a:rPr lang="en-IN" sz="1600" b="0" i="0" dirty="0">
                <a:solidFill>
                  <a:srgbClr val="1990B8"/>
                </a:solidFill>
                <a:effectLst/>
                <a:latin typeface="Consolas" panose="020B0609020204030204" pitchFamily="49" charset="0"/>
              </a:rPr>
              <a:t>using</a:t>
            </a:r>
            <a:r>
              <a:rPr lang="en-IN" sz="1600" b="0" i="0" dirty="0">
                <a:solidFill>
                  <a:srgbClr val="212121"/>
                </a:solidFill>
                <a:effectLst/>
                <a:latin typeface="Consolas" panose="020B0609020204030204" pitchFamily="49" charset="0"/>
              </a:rPr>
              <a:t> </a:t>
            </a:r>
            <a:r>
              <a:rPr lang="en-IN" sz="1600" b="0" i="0" dirty="0" err="1">
                <a:solidFill>
                  <a:srgbClr val="212121"/>
                </a:solidFill>
                <a:effectLst/>
                <a:latin typeface="Consolas" panose="020B0609020204030204" pitchFamily="49" charset="0"/>
              </a:rPr>
              <a:t>Microsoft</a:t>
            </a:r>
            <a:r>
              <a:rPr lang="en-IN" sz="1600" b="0" i="0" dirty="0" err="1">
                <a:solidFill>
                  <a:srgbClr val="5F6364"/>
                </a:solidFill>
                <a:effectLst/>
                <a:latin typeface="Consolas" panose="020B0609020204030204" pitchFamily="49" charset="0"/>
              </a:rPr>
              <a:t>.</a:t>
            </a:r>
            <a:r>
              <a:rPr lang="en-IN" sz="1600" b="0" i="0" dirty="0" err="1">
                <a:solidFill>
                  <a:srgbClr val="212121"/>
                </a:solidFill>
                <a:effectLst/>
                <a:latin typeface="Consolas" panose="020B0609020204030204" pitchFamily="49" charset="0"/>
              </a:rPr>
              <a:t>AspNetCore</a:t>
            </a:r>
            <a:r>
              <a:rPr lang="en-IN" sz="1600" b="0" i="0" dirty="0" err="1">
                <a:solidFill>
                  <a:srgbClr val="5F6364"/>
                </a:solidFill>
                <a:effectLst/>
                <a:latin typeface="Consolas" panose="020B0609020204030204" pitchFamily="49" charset="0"/>
              </a:rPr>
              <a:t>.</a:t>
            </a:r>
            <a:r>
              <a:rPr lang="en-IN" sz="1600" b="0" i="0" dirty="0" err="1">
                <a:solidFill>
                  <a:srgbClr val="212121"/>
                </a:solidFill>
                <a:effectLst/>
                <a:latin typeface="Consolas" panose="020B0609020204030204" pitchFamily="49" charset="0"/>
              </a:rPr>
              <a:t>Http</a:t>
            </a:r>
            <a:r>
              <a:rPr lang="en-IN" sz="1600" b="0" i="0" dirty="0">
                <a:solidFill>
                  <a:srgbClr val="5F6364"/>
                </a:solidFill>
                <a:effectLst/>
                <a:latin typeface="Consolas" panose="020B0609020204030204" pitchFamily="49" charset="0"/>
              </a:rPr>
              <a:t>;</a:t>
            </a:r>
            <a:r>
              <a:rPr lang="en-IN" sz="1600" b="0" i="0" dirty="0">
                <a:solidFill>
                  <a:srgbClr val="212121"/>
                </a:solidFill>
                <a:effectLst/>
                <a:latin typeface="Consolas" panose="020B0609020204030204" pitchFamily="49" charset="0"/>
              </a:rPr>
              <a:t> </a:t>
            </a:r>
            <a:r>
              <a:rPr lang="en-IN" sz="1600" b="0" i="0" dirty="0">
                <a:solidFill>
                  <a:srgbClr val="1990B8"/>
                </a:solidFill>
                <a:effectLst/>
                <a:latin typeface="Consolas" panose="020B0609020204030204" pitchFamily="49" charset="0"/>
              </a:rPr>
              <a:t>using</a:t>
            </a:r>
            <a:r>
              <a:rPr lang="en-IN" sz="1600" b="0" i="0" dirty="0">
                <a:solidFill>
                  <a:srgbClr val="212121"/>
                </a:solidFill>
                <a:effectLst/>
                <a:latin typeface="Consolas" panose="020B0609020204030204" pitchFamily="49" charset="0"/>
              </a:rPr>
              <a:t> </a:t>
            </a:r>
            <a:r>
              <a:rPr lang="en-IN" sz="1600" b="0" i="0" dirty="0" err="1">
                <a:solidFill>
                  <a:srgbClr val="212121"/>
                </a:solidFill>
                <a:effectLst/>
                <a:latin typeface="Consolas" panose="020B0609020204030204" pitchFamily="49" charset="0"/>
              </a:rPr>
              <a:t>System</a:t>
            </a:r>
            <a:r>
              <a:rPr lang="en-IN" sz="1600" b="0" i="0" dirty="0" err="1">
                <a:solidFill>
                  <a:srgbClr val="5F6364"/>
                </a:solidFill>
                <a:effectLst/>
                <a:latin typeface="Consolas" panose="020B0609020204030204" pitchFamily="49" charset="0"/>
              </a:rPr>
              <a:t>.</a:t>
            </a:r>
            <a:r>
              <a:rPr lang="en-IN" sz="1600" b="0" i="0" dirty="0" err="1">
                <a:solidFill>
                  <a:srgbClr val="212121"/>
                </a:solidFill>
                <a:effectLst/>
                <a:latin typeface="Consolas" panose="020B0609020204030204" pitchFamily="49" charset="0"/>
              </a:rPr>
              <a:t>Threading</a:t>
            </a:r>
            <a:r>
              <a:rPr lang="en-IN" sz="1600" b="0" i="0" dirty="0" err="1">
                <a:solidFill>
                  <a:srgbClr val="5F6364"/>
                </a:solidFill>
                <a:effectLst/>
                <a:latin typeface="Consolas" panose="020B0609020204030204" pitchFamily="49" charset="0"/>
              </a:rPr>
              <a:t>.</a:t>
            </a:r>
            <a:r>
              <a:rPr lang="en-IN" sz="1600" b="0" i="0" dirty="0" err="1">
                <a:solidFill>
                  <a:srgbClr val="212121"/>
                </a:solidFill>
                <a:effectLst/>
                <a:latin typeface="Consolas" panose="020B0609020204030204" pitchFamily="49" charset="0"/>
              </a:rPr>
              <a:t>Tasks</a:t>
            </a:r>
            <a:r>
              <a:rPr lang="en-IN" sz="1600" b="0" i="0" dirty="0">
                <a:solidFill>
                  <a:srgbClr val="5F6364"/>
                </a:solidFill>
                <a:effectLst/>
                <a:latin typeface="Consolas" panose="020B0609020204030204" pitchFamily="49" charset="0"/>
              </a:rPr>
              <a:t>;</a:t>
            </a:r>
          </a:p>
          <a:p>
            <a:r>
              <a:rPr lang="en-IN" sz="1600" b="0" i="0" dirty="0">
                <a:solidFill>
                  <a:srgbClr val="212121"/>
                </a:solidFill>
                <a:effectLst/>
                <a:latin typeface="Consolas" panose="020B0609020204030204" pitchFamily="49" charset="0"/>
              </a:rPr>
              <a:t> </a:t>
            </a:r>
            <a:r>
              <a:rPr lang="en-IN" sz="1600" b="0" i="0" dirty="0">
                <a:solidFill>
                  <a:srgbClr val="1990B8"/>
                </a:solidFill>
                <a:effectLst/>
                <a:latin typeface="Consolas" panose="020B0609020204030204" pitchFamily="49" charset="0"/>
              </a:rPr>
              <a:t>namespace</a:t>
            </a:r>
            <a:r>
              <a:rPr lang="en-IN" sz="1600" b="0" i="0" dirty="0">
                <a:solidFill>
                  <a:srgbClr val="212121"/>
                </a:solidFill>
                <a:effectLst/>
                <a:latin typeface="Consolas" panose="020B0609020204030204" pitchFamily="49" charset="0"/>
              </a:rPr>
              <a:t> WebApplication1 </a:t>
            </a:r>
            <a:r>
              <a:rPr lang="en-IN" sz="1600" b="0" i="0" dirty="0">
                <a:solidFill>
                  <a:srgbClr val="5F6364"/>
                </a:solidFill>
                <a:effectLst/>
                <a:latin typeface="Consolas" panose="020B0609020204030204" pitchFamily="49" charset="0"/>
              </a:rPr>
              <a:t>{</a:t>
            </a:r>
            <a:r>
              <a:rPr lang="en-IN" sz="1600" b="0" i="0" dirty="0">
                <a:solidFill>
                  <a:srgbClr val="212121"/>
                </a:solidFill>
                <a:effectLst/>
                <a:latin typeface="Consolas" panose="020B0609020204030204" pitchFamily="49" charset="0"/>
              </a:rPr>
              <a:t> </a:t>
            </a:r>
          </a:p>
          <a:p>
            <a:r>
              <a:rPr lang="en-IN" sz="1600" b="0" i="0" dirty="0">
                <a:solidFill>
                  <a:srgbClr val="1990B8"/>
                </a:solidFill>
                <a:effectLst/>
                <a:latin typeface="Consolas" panose="020B0609020204030204" pitchFamily="49" charset="0"/>
              </a:rPr>
              <a:t>public</a:t>
            </a:r>
            <a:r>
              <a:rPr lang="en-IN" sz="1600" b="0" i="0" dirty="0">
                <a:solidFill>
                  <a:srgbClr val="212121"/>
                </a:solidFill>
                <a:effectLst/>
                <a:latin typeface="Consolas" panose="020B0609020204030204" pitchFamily="49" charset="0"/>
              </a:rPr>
              <a:t> </a:t>
            </a:r>
            <a:r>
              <a:rPr lang="en-IN" sz="1600" b="0" i="0" dirty="0">
                <a:solidFill>
                  <a:srgbClr val="1990B8"/>
                </a:solidFill>
                <a:effectLst/>
                <a:latin typeface="Consolas" panose="020B0609020204030204" pitchFamily="49" charset="0"/>
              </a:rPr>
              <a:t>class</a:t>
            </a:r>
            <a:r>
              <a:rPr lang="en-IN" sz="1600" b="0" i="0" dirty="0">
                <a:solidFill>
                  <a:srgbClr val="212121"/>
                </a:solidFill>
                <a:effectLst/>
                <a:latin typeface="Consolas" panose="020B0609020204030204" pitchFamily="49" charset="0"/>
              </a:rPr>
              <a:t> </a:t>
            </a:r>
            <a:r>
              <a:rPr lang="en-IN" sz="1600" b="0" i="0" dirty="0" err="1">
                <a:solidFill>
                  <a:srgbClr val="1990B8"/>
                </a:solidFill>
                <a:effectLst/>
                <a:latin typeface="Consolas" panose="020B0609020204030204" pitchFamily="49" charset="0"/>
              </a:rPr>
              <a:t>CustomMiddlewareDemo</a:t>
            </a:r>
            <a:r>
              <a:rPr lang="en-IN" sz="1600" b="0" i="0" dirty="0">
                <a:solidFill>
                  <a:srgbClr val="5F6364"/>
                </a:solidFill>
                <a:effectLst/>
                <a:latin typeface="Consolas" panose="020B0609020204030204" pitchFamily="49" charset="0"/>
              </a:rPr>
              <a:t>:</a:t>
            </a:r>
            <a:r>
              <a:rPr lang="en-IN" sz="1600" b="0" i="0" dirty="0">
                <a:solidFill>
                  <a:srgbClr val="212121"/>
                </a:solidFill>
                <a:effectLst/>
                <a:latin typeface="Consolas" panose="020B0609020204030204" pitchFamily="49" charset="0"/>
              </a:rPr>
              <a:t> </a:t>
            </a:r>
            <a:r>
              <a:rPr lang="en-IN" sz="1600" b="0" i="0" dirty="0" err="1">
                <a:solidFill>
                  <a:srgbClr val="1990B8"/>
                </a:solidFill>
                <a:effectLst/>
                <a:latin typeface="Consolas" panose="020B0609020204030204" pitchFamily="49" charset="0"/>
              </a:rPr>
              <a:t>IMiddleware</a:t>
            </a:r>
            <a:r>
              <a:rPr lang="en-IN" sz="1600" b="0" i="0" dirty="0">
                <a:solidFill>
                  <a:srgbClr val="212121"/>
                </a:solidFill>
                <a:effectLst/>
                <a:latin typeface="Consolas" panose="020B0609020204030204" pitchFamily="49" charset="0"/>
              </a:rPr>
              <a:t> </a:t>
            </a:r>
            <a:r>
              <a:rPr lang="en-IN" sz="1600" b="0" i="0" dirty="0">
                <a:solidFill>
                  <a:srgbClr val="5F6364"/>
                </a:solidFill>
                <a:effectLst/>
                <a:latin typeface="Consolas" panose="020B0609020204030204" pitchFamily="49" charset="0"/>
              </a:rPr>
              <a:t>{</a:t>
            </a:r>
          </a:p>
          <a:p>
            <a:r>
              <a:rPr lang="en-IN" sz="1600" b="0" i="0" dirty="0">
                <a:solidFill>
                  <a:srgbClr val="212121"/>
                </a:solidFill>
                <a:effectLst/>
                <a:latin typeface="Consolas" panose="020B0609020204030204" pitchFamily="49" charset="0"/>
              </a:rPr>
              <a:t> </a:t>
            </a:r>
          </a:p>
          <a:p>
            <a:r>
              <a:rPr lang="en-IN" sz="1600" b="0" i="0" dirty="0">
                <a:solidFill>
                  <a:srgbClr val="1990B8"/>
                </a:solidFill>
                <a:effectLst/>
                <a:latin typeface="Consolas" panose="020B0609020204030204" pitchFamily="49" charset="0"/>
              </a:rPr>
              <a:t>public</a:t>
            </a:r>
            <a:r>
              <a:rPr lang="en-IN" sz="1600" b="0" i="0" dirty="0">
                <a:solidFill>
                  <a:srgbClr val="212121"/>
                </a:solidFill>
                <a:effectLst/>
                <a:latin typeface="Consolas" panose="020B0609020204030204" pitchFamily="49" charset="0"/>
              </a:rPr>
              <a:t> </a:t>
            </a:r>
            <a:r>
              <a:rPr lang="en-IN" sz="1600" b="0" i="0" dirty="0">
                <a:solidFill>
                  <a:srgbClr val="1990B8"/>
                </a:solidFill>
                <a:effectLst/>
                <a:highlight>
                  <a:srgbClr val="FFFF00"/>
                </a:highlight>
                <a:latin typeface="Consolas" panose="020B0609020204030204" pitchFamily="49" charset="0"/>
              </a:rPr>
              <a:t>async</a:t>
            </a:r>
            <a:r>
              <a:rPr lang="en-IN" sz="1600" b="0" i="0" dirty="0">
                <a:solidFill>
                  <a:srgbClr val="212121"/>
                </a:solidFill>
                <a:effectLst/>
                <a:latin typeface="Consolas" panose="020B0609020204030204" pitchFamily="49" charset="0"/>
              </a:rPr>
              <a:t> </a:t>
            </a:r>
            <a:r>
              <a:rPr lang="en-IN" sz="1600" b="0" i="0" dirty="0">
                <a:solidFill>
                  <a:srgbClr val="1990B8"/>
                </a:solidFill>
                <a:effectLst/>
                <a:latin typeface="Consolas" panose="020B0609020204030204" pitchFamily="49" charset="0"/>
              </a:rPr>
              <a:t>Task</a:t>
            </a:r>
            <a:r>
              <a:rPr lang="en-IN" sz="1600" b="0" i="0" dirty="0">
                <a:solidFill>
                  <a:srgbClr val="212121"/>
                </a:solidFill>
                <a:effectLst/>
                <a:latin typeface="Consolas" panose="020B0609020204030204" pitchFamily="49" charset="0"/>
              </a:rPr>
              <a:t> </a:t>
            </a:r>
            <a:r>
              <a:rPr lang="en-IN" sz="1600" b="0" i="0" dirty="0" err="1">
                <a:solidFill>
                  <a:srgbClr val="2F9C0A"/>
                </a:solidFill>
                <a:effectLst/>
                <a:latin typeface="Consolas" panose="020B0609020204030204" pitchFamily="49" charset="0"/>
              </a:rPr>
              <a:t>InvokeAsync</a:t>
            </a:r>
            <a:r>
              <a:rPr lang="en-IN" sz="1600" b="0" i="0" dirty="0">
                <a:solidFill>
                  <a:srgbClr val="5F6364"/>
                </a:solidFill>
                <a:effectLst/>
                <a:latin typeface="Consolas" panose="020B0609020204030204" pitchFamily="49" charset="0"/>
              </a:rPr>
              <a:t>(</a:t>
            </a:r>
            <a:r>
              <a:rPr lang="en-IN" sz="1600" b="0" i="0" dirty="0" err="1">
                <a:solidFill>
                  <a:srgbClr val="1990B8"/>
                </a:solidFill>
                <a:effectLst/>
                <a:latin typeface="Consolas" panose="020B0609020204030204" pitchFamily="49" charset="0"/>
              </a:rPr>
              <a:t>HttpContext</a:t>
            </a:r>
            <a:r>
              <a:rPr lang="en-IN" sz="1600" b="0" i="0" dirty="0">
                <a:solidFill>
                  <a:srgbClr val="212121"/>
                </a:solidFill>
                <a:effectLst/>
                <a:latin typeface="Consolas" panose="020B0609020204030204" pitchFamily="49" charset="0"/>
              </a:rPr>
              <a:t> context</a:t>
            </a:r>
            <a:r>
              <a:rPr lang="en-IN" sz="1600" b="0" i="0" dirty="0">
                <a:solidFill>
                  <a:srgbClr val="5F6364"/>
                </a:solidFill>
                <a:effectLst/>
                <a:latin typeface="Consolas" panose="020B0609020204030204" pitchFamily="49" charset="0"/>
              </a:rPr>
              <a:t>,</a:t>
            </a:r>
            <a:r>
              <a:rPr lang="en-IN" sz="1600" b="0" i="0" dirty="0">
                <a:solidFill>
                  <a:srgbClr val="212121"/>
                </a:solidFill>
                <a:effectLst/>
                <a:latin typeface="Consolas" panose="020B0609020204030204" pitchFamily="49" charset="0"/>
              </a:rPr>
              <a:t> </a:t>
            </a:r>
            <a:r>
              <a:rPr lang="en-IN" sz="1600" b="0" i="0" dirty="0" err="1">
                <a:solidFill>
                  <a:srgbClr val="1990B8"/>
                </a:solidFill>
                <a:effectLst/>
                <a:latin typeface="Consolas" panose="020B0609020204030204" pitchFamily="49" charset="0"/>
              </a:rPr>
              <a:t>RequestDelegate</a:t>
            </a:r>
            <a:r>
              <a:rPr lang="en-IN" sz="1600" b="0" i="0" dirty="0">
                <a:solidFill>
                  <a:srgbClr val="212121"/>
                </a:solidFill>
                <a:effectLst/>
                <a:latin typeface="Consolas" panose="020B0609020204030204" pitchFamily="49" charset="0"/>
              </a:rPr>
              <a:t> next</a:t>
            </a:r>
            <a:r>
              <a:rPr lang="en-IN" sz="1600" b="0" i="0" dirty="0">
                <a:solidFill>
                  <a:srgbClr val="5F6364"/>
                </a:solidFill>
                <a:effectLst/>
                <a:latin typeface="Consolas" panose="020B0609020204030204" pitchFamily="49" charset="0"/>
              </a:rPr>
              <a:t>)</a:t>
            </a:r>
            <a:r>
              <a:rPr lang="en-IN" sz="1600" b="0" i="0" dirty="0">
                <a:solidFill>
                  <a:srgbClr val="212121"/>
                </a:solidFill>
                <a:effectLst/>
                <a:latin typeface="Consolas" panose="020B0609020204030204" pitchFamily="49" charset="0"/>
              </a:rPr>
              <a:t> </a:t>
            </a:r>
          </a:p>
          <a:p>
            <a:r>
              <a:rPr lang="en-IN" sz="1600" b="0" i="0" dirty="0">
                <a:solidFill>
                  <a:srgbClr val="5F6364"/>
                </a:solidFill>
                <a:effectLst/>
                <a:latin typeface="Consolas" panose="020B0609020204030204" pitchFamily="49" charset="0"/>
              </a:rPr>
              <a:t>{</a:t>
            </a:r>
            <a:r>
              <a:rPr lang="en-IN" sz="1600" b="0" i="0" dirty="0">
                <a:solidFill>
                  <a:srgbClr val="212121"/>
                </a:solidFill>
                <a:effectLst/>
                <a:latin typeface="Consolas" panose="020B0609020204030204" pitchFamily="49" charset="0"/>
              </a:rPr>
              <a:t> </a:t>
            </a:r>
          </a:p>
          <a:p>
            <a:r>
              <a:rPr lang="en-IN" sz="1600" b="0" i="0" dirty="0">
                <a:solidFill>
                  <a:srgbClr val="1990B8"/>
                </a:solidFill>
                <a:effectLst/>
                <a:highlight>
                  <a:srgbClr val="FFFF00"/>
                </a:highlight>
                <a:latin typeface="Consolas" panose="020B0609020204030204" pitchFamily="49" charset="0"/>
              </a:rPr>
              <a:t>await</a:t>
            </a:r>
            <a:r>
              <a:rPr lang="en-IN" sz="1600" b="0" i="0" dirty="0">
                <a:solidFill>
                  <a:srgbClr val="212121"/>
                </a:solidFill>
                <a:effectLst/>
                <a:highlight>
                  <a:srgbClr val="FFFF00"/>
                </a:highlight>
                <a:latin typeface="Consolas" panose="020B0609020204030204" pitchFamily="49" charset="0"/>
              </a:rPr>
              <a:t> </a:t>
            </a:r>
            <a:r>
              <a:rPr lang="en-IN" sz="1600" b="0" i="0" dirty="0" err="1">
                <a:solidFill>
                  <a:srgbClr val="212121"/>
                </a:solidFill>
                <a:effectLst/>
                <a:highlight>
                  <a:srgbClr val="FFFF00"/>
                </a:highlight>
                <a:latin typeface="Consolas" panose="020B0609020204030204" pitchFamily="49" charset="0"/>
              </a:rPr>
              <a:t>context</a:t>
            </a:r>
            <a:r>
              <a:rPr lang="en-IN" sz="1600" b="0" i="0" dirty="0" err="1">
                <a:solidFill>
                  <a:srgbClr val="5F6364"/>
                </a:solidFill>
                <a:effectLst/>
                <a:highlight>
                  <a:srgbClr val="FFFF00"/>
                </a:highlight>
                <a:latin typeface="Consolas" panose="020B0609020204030204" pitchFamily="49" charset="0"/>
              </a:rPr>
              <a:t>.</a:t>
            </a:r>
            <a:r>
              <a:rPr lang="en-IN" sz="1600" b="0" i="0" dirty="0" err="1">
                <a:solidFill>
                  <a:srgbClr val="212121"/>
                </a:solidFill>
                <a:effectLst/>
                <a:highlight>
                  <a:srgbClr val="FFFF00"/>
                </a:highlight>
                <a:latin typeface="Consolas" panose="020B0609020204030204" pitchFamily="49" charset="0"/>
              </a:rPr>
              <a:t>Response</a:t>
            </a:r>
            <a:r>
              <a:rPr lang="en-IN" sz="1600" b="0" i="0" dirty="0" err="1">
                <a:solidFill>
                  <a:srgbClr val="5F6364"/>
                </a:solidFill>
                <a:effectLst/>
                <a:highlight>
                  <a:srgbClr val="FFFF00"/>
                </a:highlight>
                <a:latin typeface="Consolas" panose="020B0609020204030204" pitchFamily="49" charset="0"/>
              </a:rPr>
              <a:t>.</a:t>
            </a:r>
            <a:r>
              <a:rPr lang="en-IN" sz="1600" b="0" i="0" dirty="0" err="1">
                <a:solidFill>
                  <a:srgbClr val="2F9C0A"/>
                </a:solidFill>
                <a:effectLst/>
                <a:highlight>
                  <a:srgbClr val="FFFF00"/>
                </a:highlight>
                <a:latin typeface="Consolas" panose="020B0609020204030204" pitchFamily="49" charset="0"/>
              </a:rPr>
              <a:t>WriteAsync</a:t>
            </a:r>
            <a:r>
              <a:rPr lang="en-IN" sz="1600" b="0" i="0" dirty="0">
                <a:solidFill>
                  <a:srgbClr val="5F6364"/>
                </a:solidFill>
                <a:effectLst/>
                <a:highlight>
                  <a:srgbClr val="FFFF00"/>
                </a:highlight>
                <a:latin typeface="Consolas" panose="020B0609020204030204" pitchFamily="49" charset="0"/>
              </a:rPr>
              <a:t>(</a:t>
            </a:r>
            <a:r>
              <a:rPr lang="en-IN" sz="1600" b="0" i="0" dirty="0">
                <a:solidFill>
                  <a:srgbClr val="2F9C0A"/>
                </a:solidFill>
                <a:effectLst/>
                <a:highlight>
                  <a:srgbClr val="FFFF00"/>
                </a:highlight>
                <a:latin typeface="Consolas" panose="020B0609020204030204" pitchFamily="49" charset="0"/>
              </a:rPr>
              <a:t>"Hello from Custom Middleware"</a:t>
            </a:r>
            <a:r>
              <a:rPr lang="en-IN" sz="1600" b="0" i="0" dirty="0">
                <a:solidFill>
                  <a:srgbClr val="5F6364"/>
                </a:solidFill>
                <a:effectLst/>
                <a:highlight>
                  <a:srgbClr val="FFFF00"/>
                </a:highlight>
                <a:latin typeface="Consolas" panose="020B0609020204030204" pitchFamily="49" charset="0"/>
              </a:rPr>
              <a:t>);</a:t>
            </a:r>
            <a:r>
              <a:rPr lang="en-IN" sz="1600" b="0" i="0" dirty="0">
                <a:solidFill>
                  <a:srgbClr val="212121"/>
                </a:solidFill>
                <a:effectLst/>
                <a:highlight>
                  <a:srgbClr val="FFFF00"/>
                </a:highlight>
                <a:latin typeface="Consolas" panose="020B0609020204030204" pitchFamily="49" charset="0"/>
              </a:rPr>
              <a:t> </a:t>
            </a:r>
          </a:p>
          <a:p>
            <a:endParaRPr lang="en-IN" sz="1600" b="0" i="0" dirty="0">
              <a:solidFill>
                <a:srgbClr val="212121"/>
              </a:solidFill>
              <a:effectLst/>
              <a:highlight>
                <a:srgbClr val="FFFF00"/>
              </a:highlight>
              <a:latin typeface="Consolas" panose="020B0609020204030204" pitchFamily="49" charset="0"/>
            </a:endParaRPr>
          </a:p>
          <a:p>
            <a:r>
              <a:rPr lang="en-IN" sz="1600" b="0" i="0" dirty="0">
                <a:solidFill>
                  <a:srgbClr val="1990B8"/>
                </a:solidFill>
                <a:effectLst/>
                <a:highlight>
                  <a:srgbClr val="FFFF00"/>
                </a:highlight>
                <a:latin typeface="Consolas" panose="020B0609020204030204" pitchFamily="49" charset="0"/>
              </a:rPr>
              <a:t>await</a:t>
            </a:r>
            <a:r>
              <a:rPr lang="en-IN" sz="1600" b="0" i="0" dirty="0">
                <a:solidFill>
                  <a:srgbClr val="212121"/>
                </a:solidFill>
                <a:effectLst/>
                <a:highlight>
                  <a:srgbClr val="FFFF00"/>
                </a:highlight>
                <a:latin typeface="Consolas" panose="020B0609020204030204" pitchFamily="49" charset="0"/>
              </a:rPr>
              <a:t> </a:t>
            </a:r>
            <a:r>
              <a:rPr lang="en-IN" sz="1600" b="0" i="0" dirty="0">
                <a:solidFill>
                  <a:srgbClr val="2F9C0A"/>
                </a:solidFill>
                <a:effectLst/>
                <a:highlight>
                  <a:srgbClr val="FFFF00"/>
                </a:highlight>
                <a:latin typeface="Consolas" panose="020B0609020204030204" pitchFamily="49" charset="0"/>
              </a:rPr>
              <a:t>next</a:t>
            </a:r>
            <a:r>
              <a:rPr lang="en-IN" sz="1600" b="0" i="0" dirty="0">
                <a:solidFill>
                  <a:srgbClr val="5F6364"/>
                </a:solidFill>
                <a:effectLst/>
                <a:highlight>
                  <a:srgbClr val="FFFF00"/>
                </a:highlight>
                <a:latin typeface="Consolas" panose="020B0609020204030204" pitchFamily="49" charset="0"/>
              </a:rPr>
              <a:t>(</a:t>
            </a:r>
            <a:r>
              <a:rPr lang="en-IN" sz="1600" b="0" i="0" dirty="0">
                <a:solidFill>
                  <a:srgbClr val="212121"/>
                </a:solidFill>
                <a:effectLst/>
                <a:highlight>
                  <a:srgbClr val="FFFF00"/>
                </a:highlight>
                <a:latin typeface="Consolas" panose="020B0609020204030204" pitchFamily="49" charset="0"/>
              </a:rPr>
              <a:t>context</a:t>
            </a:r>
            <a:r>
              <a:rPr lang="en-IN" sz="1600" b="0" i="0" dirty="0">
                <a:solidFill>
                  <a:srgbClr val="5F6364"/>
                </a:solidFill>
                <a:effectLst/>
                <a:highlight>
                  <a:srgbClr val="FFFF00"/>
                </a:highlight>
                <a:latin typeface="Consolas" panose="020B0609020204030204" pitchFamily="49" charset="0"/>
              </a:rPr>
              <a:t>);</a:t>
            </a:r>
            <a:r>
              <a:rPr lang="en-IN" sz="1600" b="0" i="0" dirty="0">
                <a:solidFill>
                  <a:srgbClr val="212121"/>
                </a:solidFill>
                <a:effectLst/>
                <a:highlight>
                  <a:srgbClr val="FFFF00"/>
                </a:highlight>
                <a:latin typeface="Consolas" panose="020B0609020204030204" pitchFamily="49" charset="0"/>
              </a:rPr>
              <a:t> </a:t>
            </a:r>
          </a:p>
          <a:p>
            <a:r>
              <a:rPr lang="en-IN" sz="1600" b="0" i="0" dirty="0">
                <a:solidFill>
                  <a:srgbClr val="5F6364"/>
                </a:solidFill>
                <a:effectLst/>
                <a:latin typeface="Consolas" panose="020B0609020204030204" pitchFamily="49" charset="0"/>
              </a:rPr>
              <a:t>}</a:t>
            </a:r>
          </a:p>
          <a:p>
            <a:r>
              <a:rPr lang="en-IN" sz="1600" b="0" i="0" dirty="0">
                <a:solidFill>
                  <a:srgbClr val="212121"/>
                </a:solidFill>
                <a:effectLst/>
                <a:latin typeface="Consolas" panose="020B0609020204030204" pitchFamily="49" charset="0"/>
              </a:rPr>
              <a:t> </a:t>
            </a:r>
            <a:r>
              <a:rPr lang="en-IN" sz="1600" b="0" i="0" dirty="0">
                <a:solidFill>
                  <a:srgbClr val="5F6364"/>
                </a:solidFill>
                <a:effectLst/>
                <a:latin typeface="Consolas" panose="020B0609020204030204" pitchFamily="49" charset="0"/>
              </a:rPr>
              <a:t>}</a:t>
            </a:r>
          </a:p>
          <a:p>
            <a:r>
              <a:rPr lang="en-IN" sz="1600" b="0" i="0" dirty="0">
                <a:solidFill>
                  <a:srgbClr val="212121"/>
                </a:solidFill>
                <a:effectLst/>
                <a:latin typeface="Consolas" panose="020B0609020204030204" pitchFamily="49" charset="0"/>
              </a:rPr>
              <a:t> </a:t>
            </a:r>
            <a:r>
              <a:rPr lang="en-IN" sz="1600" b="0" i="0" dirty="0">
                <a:solidFill>
                  <a:srgbClr val="5F6364"/>
                </a:solidFill>
                <a:effectLst/>
                <a:latin typeface="Consolas" panose="020B0609020204030204" pitchFamily="49" charset="0"/>
              </a:rPr>
              <a:t>}</a:t>
            </a:r>
            <a:endParaRPr lang="en-IN" sz="1600" dirty="0"/>
          </a:p>
        </p:txBody>
      </p:sp>
      <p:sp>
        <p:nvSpPr>
          <p:cNvPr id="17" name="TextBox 16">
            <a:extLst>
              <a:ext uri="{FF2B5EF4-FFF2-40B4-BE49-F238E27FC236}">
                <a16:creationId xmlns:a16="http://schemas.microsoft.com/office/drawing/2014/main" id="{093E3F10-957B-689E-9CF8-FBA90B60B6D3}"/>
              </a:ext>
            </a:extLst>
          </p:cNvPr>
          <p:cNvSpPr txBox="1"/>
          <p:nvPr/>
        </p:nvSpPr>
        <p:spPr>
          <a:xfrm>
            <a:off x="6210694" y="6089855"/>
            <a:ext cx="6202836" cy="369332"/>
          </a:xfrm>
          <a:prstGeom prst="rect">
            <a:avLst/>
          </a:prstGeom>
          <a:noFill/>
        </p:spPr>
        <p:txBody>
          <a:bodyPr wrap="square">
            <a:spAutoFit/>
          </a:bodyPr>
          <a:lstStyle/>
          <a:p>
            <a:r>
              <a:rPr lang="en-IN" b="0" i="0" dirty="0" err="1">
                <a:solidFill>
                  <a:srgbClr val="212121"/>
                </a:solidFill>
                <a:effectLst/>
                <a:latin typeface="Consolas" panose="020B0609020204030204" pitchFamily="49" charset="0"/>
              </a:rPr>
              <a:t>app</a:t>
            </a:r>
            <a:r>
              <a:rPr lang="en-IN" b="0" i="0" dirty="0" err="1">
                <a:solidFill>
                  <a:srgbClr val="5F6364"/>
                </a:solidFill>
                <a:effectLst/>
                <a:latin typeface="Consolas" panose="020B0609020204030204" pitchFamily="49" charset="0"/>
              </a:rPr>
              <a:t>.</a:t>
            </a:r>
            <a:r>
              <a:rPr lang="en-IN" b="0" i="0" dirty="0" err="1">
                <a:solidFill>
                  <a:srgbClr val="2F9C0A"/>
                </a:solidFill>
                <a:effectLst/>
                <a:latin typeface="Consolas" panose="020B0609020204030204" pitchFamily="49" charset="0"/>
              </a:rPr>
              <a:t>UseMiddleware</a:t>
            </a:r>
            <a:r>
              <a:rPr lang="en-IN" b="0" i="0" dirty="0">
                <a:solidFill>
                  <a:srgbClr val="212121"/>
                </a:solidFill>
                <a:effectLst/>
                <a:latin typeface="Consolas" panose="020B0609020204030204" pitchFamily="49" charset="0"/>
              </a:rPr>
              <a:t> </a:t>
            </a:r>
            <a:r>
              <a:rPr lang="en-IN" b="0" i="0" dirty="0">
                <a:solidFill>
                  <a:srgbClr val="5F6364"/>
                </a:solidFill>
                <a:effectLst/>
                <a:latin typeface="Consolas" panose="020B0609020204030204" pitchFamily="49" charset="0"/>
              </a:rPr>
              <a:t>&lt;</a:t>
            </a:r>
            <a:r>
              <a:rPr lang="en-IN" b="0" i="0" dirty="0">
                <a:solidFill>
                  <a:srgbClr val="1990B8"/>
                </a:solidFill>
                <a:effectLst/>
                <a:latin typeface="Consolas" panose="020B0609020204030204" pitchFamily="49" charset="0"/>
              </a:rPr>
              <a:t> </a:t>
            </a:r>
            <a:r>
              <a:rPr lang="en-IN" b="0" i="0" dirty="0" err="1">
                <a:solidFill>
                  <a:srgbClr val="1990B8"/>
                </a:solidFill>
                <a:effectLst/>
                <a:latin typeface="Consolas" panose="020B0609020204030204" pitchFamily="49" charset="0"/>
              </a:rPr>
              <a:t>CustomMiddlewareDemo</a:t>
            </a:r>
            <a:r>
              <a:rPr lang="en-IN" b="0" i="0" dirty="0">
                <a:solidFill>
                  <a:srgbClr val="1990B8"/>
                </a:solidFill>
                <a:effectLst/>
                <a:latin typeface="Consolas" panose="020B0609020204030204" pitchFamily="49" charset="0"/>
              </a:rPr>
              <a:t> </a:t>
            </a:r>
            <a:r>
              <a:rPr lang="en-IN" b="0" i="0" dirty="0">
                <a:solidFill>
                  <a:srgbClr val="5F6364"/>
                </a:solidFill>
                <a:effectLst/>
                <a:latin typeface="Consolas" panose="020B0609020204030204" pitchFamily="49" charset="0"/>
              </a:rPr>
              <a:t>&gt;</a:t>
            </a:r>
            <a:r>
              <a:rPr lang="en-IN" b="0" i="0" dirty="0">
                <a:solidFill>
                  <a:srgbClr val="212121"/>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endParaRPr lang="en-IN" dirty="0"/>
          </a:p>
        </p:txBody>
      </p:sp>
    </p:spTree>
    <p:extLst>
      <p:ext uri="{BB962C8B-B14F-4D97-AF65-F5344CB8AC3E}">
        <p14:creationId xmlns:p14="http://schemas.microsoft.com/office/powerpoint/2010/main" val="1174886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5FDB79-02A0-AD70-B56B-DD884598E8C0}"/>
              </a:ext>
            </a:extLst>
          </p:cNvPr>
          <p:cNvSpPr txBox="1"/>
          <p:nvPr/>
        </p:nvSpPr>
        <p:spPr>
          <a:xfrm>
            <a:off x="407708" y="0"/>
            <a:ext cx="7595647" cy="7586692"/>
          </a:xfrm>
          <a:prstGeom prst="rect">
            <a:avLst/>
          </a:prstGeom>
          <a:noFill/>
        </p:spPr>
        <p:txBody>
          <a:bodyPr wrap="square">
            <a:spAutoFit/>
          </a:bodyPr>
          <a:lstStyle/>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MVCMiddleware.Models</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FF"/>
                </a:solidFill>
                <a:latin typeface="Cascadia Mono" panose="020B0609020000020004" pitchFamily="49" charset="0"/>
              </a:rPr>
              <a:t>namespace</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MVCMiddleware</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Program</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static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void</a:t>
            </a:r>
            <a:r>
              <a:rPr lang="en-US" sz="1100" dirty="0">
                <a:solidFill>
                  <a:srgbClr val="000000"/>
                </a:solidFill>
                <a:latin typeface="Cascadia Mono" panose="020B0609020000020004" pitchFamily="49" charset="0"/>
              </a:rPr>
              <a:t> Main(</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args</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var</a:t>
            </a:r>
            <a:r>
              <a:rPr lang="en-US" sz="1100" dirty="0">
                <a:solidFill>
                  <a:srgbClr val="000000"/>
                </a:solidFill>
                <a:latin typeface="Cascadia Mono" panose="020B0609020000020004" pitchFamily="49" charset="0"/>
              </a:rPr>
              <a:t> builder = </a:t>
            </a:r>
            <a:r>
              <a:rPr lang="en-US" sz="1100" dirty="0" err="1">
                <a:solidFill>
                  <a:srgbClr val="000000"/>
                </a:solidFill>
                <a:latin typeface="Cascadia Mono" panose="020B0609020000020004" pitchFamily="49" charset="0"/>
              </a:rPr>
              <a:t>WebApplication.CreateBuilder</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args</a:t>
            </a:r>
            <a:r>
              <a:rPr lang="en-US" sz="1100" dirty="0">
                <a:solidFill>
                  <a:srgbClr val="000000"/>
                </a:solidFill>
                <a:latin typeface="Cascadia Mono" panose="020B0609020000020004" pitchFamily="49" charset="0"/>
              </a:rPr>
              <a:t>);</a:t>
            </a:r>
          </a:p>
          <a:p>
            <a:endParaRPr lang="en-US"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Add services to the container.</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builder.Services.AddControllersWithViews</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err="1">
                <a:solidFill>
                  <a:srgbClr val="000000"/>
                </a:solidFill>
                <a:latin typeface="Cascadia Mono" panose="020B0609020000020004" pitchFamily="49" charset="0"/>
              </a:rPr>
              <a:t>builder.Services.AddTransient</a:t>
            </a:r>
            <a:r>
              <a:rPr lang="en-IN" sz="1100" dirty="0">
                <a:solidFill>
                  <a:srgbClr val="000000"/>
                </a:solidFill>
                <a:latin typeface="Cascadia Mono" panose="020B0609020000020004" pitchFamily="49" charset="0"/>
              </a:rPr>
              <a:t>&lt;</a:t>
            </a:r>
            <a:r>
              <a:rPr lang="en-IN" sz="1100" dirty="0" err="1">
                <a:solidFill>
                  <a:srgbClr val="000000"/>
                </a:solidFill>
                <a:latin typeface="Cascadia Mono" panose="020B0609020000020004" pitchFamily="49" charset="0"/>
              </a:rPr>
              <a:t>CustomMiddlewareDemo</a:t>
            </a:r>
            <a:r>
              <a:rPr lang="en-IN" sz="1100" dirty="0">
                <a:solidFill>
                  <a:srgbClr val="000000"/>
                </a:solidFill>
                <a:latin typeface="Cascadia Mono" panose="020B0609020000020004" pitchFamily="49" charset="0"/>
              </a:rPr>
              <a:t>&gt;();</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var</a:t>
            </a:r>
            <a:r>
              <a:rPr lang="en-IN" sz="1100" dirty="0">
                <a:solidFill>
                  <a:srgbClr val="000000"/>
                </a:solidFill>
                <a:latin typeface="Cascadia Mono" panose="020B0609020000020004" pitchFamily="49" charset="0"/>
              </a:rPr>
              <a:t> app = </a:t>
            </a:r>
            <a:r>
              <a:rPr lang="en-IN" sz="1100" dirty="0" err="1">
                <a:solidFill>
                  <a:srgbClr val="000000"/>
                </a:solidFill>
                <a:latin typeface="Cascadia Mono" panose="020B0609020000020004" pitchFamily="49" charset="0"/>
              </a:rPr>
              <a:t>builder.Build</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Configure the HTTP request pipeline.</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if</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app.Environment.IsDevelopment</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app.UseExceptionHandler</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"/Home/Error"</a:t>
            </a:r>
            <a:r>
              <a:rPr lang="en-IN" sz="1100" dirty="0">
                <a:solidFill>
                  <a:srgbClr val="000000"/>
                </a:solidFill>
                <a:latin typeface="Cascadia Mono" panose="020B0609020000020004" pitchFamily="49" charset="0"/>
              </a:rPr>
              <a:t>);</a:t>
            </a: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The default HSTS value is 30 days. You may want to change this for production scenarios, see https://aka.ms/aspnetcore-hsts.</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app.UseHsts</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400" b="1" dirty="0" err="1">
                <a:solidFill>
                  <a:srgbClr val="000000"/>
                </a:solidFill>
                <a:latin typeface="Cascadia Mono" panose="020B0609020000020004" pitchFamily="49" charset="0"/>
              </a:rPr>
              <a:t>app.UseMiddleware</a:t>
            </a:r>
            <a:r>
              <a:rPr lang="en-IN" sz="1400" b="1" dirty="0">
                <a:solidFill>
                  <a:srgbClr val="000000"/>
                </a:solidFill>
                <a:latin typeface="Cascadia Mono" panose="020B0609020000020004" pitchFamily="49" charset="0"/>
              </a:rPr>
              <a:t>&lt;</a:t>
            </a:r>
            <a:r>
              <a:rPr lang="en-IN" sz="1400" b="1" dirty="0" err="1">
                <a:solidFill>
                  <a:srgbClr val="000000"/>
                </a:solidFill>
                <a:latin typeface="Cascadia Mono" panose="020B0609020000020004" pitchFamily="49" charset="0"/>
              </a:rPr>
              <a:t>CustomMiddlewareDemo</a:t>
            </a:r>
            <a:r>
              <a:rPr lang="en-IN" sz="1400" b="1" dirty="0">
                <a:solidFill>
                  <a:srgbClr val="000000"/>
                </a:solidFill>
                <a:latin typeface="Cascadia Mono" panose="020B0609020000020004" pitchFamily="49" charset="0"/>
              </a:rPr>
              <a:t>&gt;();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app.Run</a:t>
            </a:r>
            <a:r>
              <a:rPr lang="en-IN" sz="1100" dirty="0">
                <a:solidFill>
                  <a:srgbClr val="000000"/>
                </a:solidFill>
                <a:latin typeface="Cascadia Mono" panose="020B0609020000020004" pitchFamily="49" charset="0"/>
              </a:rPr>
              <a:t>(</a:t>
            </a:r>
            <a:r>
              <a:rPr lang="en-IN" sz="1100" dirty="0">
                <a:solidFill>
                  <a:srgbClr val="0000FF"/>
                </a:solidFill>
                <a:latin typeface="Cascadia Mono" panose="020B0609020000020004" pitchFamily="49" charset="0"/>
              </a:rPr>
              <a:t>async</a:t>
            </a:r>
            <a:r>
              <a:rPr lang="en-IN" sz="1100" dirty="0">
                <a:solidFill>
                  <a:srgbClr val="000000"/>
                </a:solidFill>
                <a:latin typeface="Cascadia Mono" panose="020B0609020000020004" pitchFamily="49" charset="0"/>
              </a:rPr>
              <a:t> context =&gt; </a:t>
            </a:r>
            <a:r>
              <a:rPr lang="en-IN" sz="1100" dirty="0">
                <a:solidFill>
                  <a:srgbClr val="0000FF"/>
                </a:solidFill>
                <a:latin typeface="Cascadia Mono" panose="020B0609020000020004" pitchFamily="49" charset="0"/>
              </a:rPr>
              <a:t>await</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context.Response.WriteAsync</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"Hello"</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app.UseHttpsRedirection</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app.UseStaticFiles</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app.UseRouting</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app.UseAuthorization</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 </a:t>
            </a:r>
            <a:r>
              <a:rPr lang="en-IN" sz="1100" dirty="0" err="1">
                <a:solidFill>
                  <a:srgbClr val="008000"/>
                </a:solidFill>
                <a:latin typeface="Cascadia Mono" panose="020B0609020000020004" pitchFamily="49" charset="0"/>
              </a:rPr>
              <a:t>app.MapControllerRoute</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//name: "default",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//pattern: "{controller=Home}/{action=Index}/{id?}");</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app.Run</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a:t>
            </a:r>
            <a:endParaRPr lang="en-IN" sz="2800" dirty="0"/>
          </a:p>
        </p:txBody>
      </p:sp>
      <p:sp>
        <p:nvSpPr>
          <p:cNvPr id="2" name="Freeform 1"/>
          <p:cNvSpPr/>
          <p:nvPr/>
        </p:nvSpPr>
        <p:spPr>
          <a:xfrm>
            <a:off x="4525701" y="1736203"/>
            <a:ext cx="3738623" cy="2673815"/>
          </a:xfrm>
          <a:custGeom>
            <a:avLst/>
            <a:gdLst>
              <a:gd name="connsiteX0" fmla="*/ 0 w 3738623"/>
              <a:gd name="connsiteY0" fmla="*/ 659756 h 2673815"/>
              <a:gd name="connsiteX1" fmla="*/ 23150 w 3738623"/>
              <a:gd name="connsiteY1" fmla="*/ 555584 h 2673815"/>
              <a:gd name="connsiteX2" fmla="*/ 92598 w 3738623"/>
              <a:gd name="connsiteY2" fmla="*/ 474562 h 2673815"/>
              <a:gd name="connsiteX3" fmla="*/ 115747 w 3738623"/>
              <a:gd name="connsiteY3" fmla="*/ 439838 h 2673815"/>
              <a:gd name="connsiteX4" fmla="*/ 231494 w 3738623"/>
              <a:gd name="connsiteY4" fmla="*/ 347240 h 2673815"/>
              <a:gd name="connsiteX5" fmla="*/ 266218 w 3738623"/>
              <a:gd name="connsiteY5" fmla="*/ 335665 h 2673815"/>
              <a:gd name="connsiteX6" fmla="*/ 381965 w 3738623"/>
              <a:gd name="connsiteY6" fmla="*/ 266217 h 2673815"/>
              <a:gd name="connsiteX7" fmla="*/ 486137 w 3738623"/>
              <a:gd name="connsiteY7" fmla="*/ 219919 h 2673815"/>
              <a:gd name="connsiteX8" fmla="*/ 544010 w 3738623"/>
              <a:gd name="connsiteY8" fmla="*/ 185194 h 2673815"/>
              <a:gd name="connsiteX9" fmla="*/ 682907 w 3738623"/>
              <a:gd name="connsiteY9" fmla="*/ 150470 h 2673815"/>
              <a:gd name="connsiteX10" fmla="*/ 717631 w 3738623"/>
              <a:gd name="connsiteY10" fmla="*/ 138896 h 2673815"/>
              <a:gd name="connsiteX11" fmla="*/ 821803 w 3738623"/>
              <a:gd name="connsiteY11" fmla="*/ 115746 h 2673815"/>
              <a:gd name="connsiteX12" fmla="*/ 902826 w 3738623"/>
              <a:gd name="connsiteY12" fmla="*/ 92597 h 2673815"/>
              <a:gd name="connsiteX13" fmla="*/ 1203767 w 3738623"/>
              <a:gd name="connsiteY13" fmla="*/ 57873 h 2673815"/>
              <a:gd name="connsiteX14" fmla="*/ 1296365 w 3738623"/>
              <a:gd name="connsiteY14" fmla="*/ 34724 h 2673815"/>
              <a:gd name="connsiteX15" fmla="*/ 1493134 w 3738623"/>
              <a:gd name="connsiteY15" fmla="*/ 11574 h 2673815"/>
              <a:gd name="connsiteX16" fmla="*/ 1574157 w 3738623"/>
              <a:gd name="connsiteY16" fmla="*/ 0 h 2673815"/>
              <a:gd name="connsiteX17" fmla="*/ 2685327 w 3738623"/>
              <a:gd name="connsiteY17" fmla="*/ 34724 h 2673815"/>
              <a:gd name="connsiteX18" fmla="*/ 2905246 w 3738623"/>
              <a:gd name="connsiteY18" fmla="*/ 92597 h 2673815"/>
              <a:gd name="connsiteX19" fmla="*/ 2997843 w 3738623"/>
              <a:gd name="connsiteY19" fmla="*/ 127321 h 2673815"/>
              <a:gd name="connsiteX20" fmla="*/ 3102015 w 3738623"/>
              <a:gd name="connsiteY20" fmla="*/ 150470 h 2673815"/>
              <a:gd name="connsiteX21" fmla="*/ 3148314 w 3738623"/>
              <a:gd name="connsiteY21" fmla="*/ 173620 h 2673815"/>
              <a:gd name="connsiteX22" fmla="*/ 3264061 w 3738623"/>
              <a:gd name="connsiteY22" fmla="*/ 208344 h 2673815"/>
              <a:gd name="connsiteX23" fmla="*/ 3321934 w 3738623"/>
              <a:gd name="connsiteY23" fmla="*/ 243068 h 2673815"/>
              <a:gd name="connsiteX24" fmla="*/ 3414532 w 3738623"/>
              <a:gd name="connsiteY24" fmla="*/ 289367 h 2673815"/>
              <a:gd name="connsiteX25" fmla="*/ 3495555 w 3738623"/>
              <a:gd name="connsiteY25" fmla="*/ 347240 h 2673815"/>
              <a:gd name="connsiteX26" fmla="*/ 3518704 w 3738623"/>
              <a:gd name="connsiteY26" fmla="*/ 416688 h 2673815"/>
              <a:gd name="connsiteX27" fmla="*/ 3576577 w 3738623"/>
              <a:gd name="connsiteY27" fmla="*/ 474562 h 2673815"/>
              <a:gd name="connsiteX28" fmla="*/ 3646026 w 3738623"/>
              <a:gd name="connsiteY28" fmla="*/ 532435 h 2673815"/>
              <a:gd name="connsiteX29" fmla="*/ 3680750 w 3738623"/>
              <a:gd name="connsiteY29" fmla="*/ 578734 h 2673815"/>
              <a:gd name="connsiteX30" fmla="*/ 3715474 w 3738623"/>
              <a:gd name="connsiteY30" fmla="*/ 659756 h 2673815"/>
              <a:gd name="connsiteX31" fmla="*/ 3727048 w 3738623"/>
              <a:gd name="connsiteY31" fmla="*/ 706055 h 2673815"/>
              <a:gd name="connsiteX32" fmla="*/ 3738623 w 3738623"/>
              <a:gd name="connsiteY32" fmla="*/ 798653 h 2673815"/>
              <a:gd name="connsiteX33" fmla="*/ 3727048 w 3738623"/>
              <a:gd name="connsiteY33" fmla="*/ 1504708 h 2673815"/>
              <a:gd name="connsiteX34" fmla="*/ 3715474 w 3738623"/>
              <a:gd name="connsiteY34" fmla="*/ 1597306 h 2673815"/>
              <a:gd name="connsiteX35" fmla="*/ 3669175 w 3738623"/>
              <a:gd name="connsiteY35" fmla="*/ 1724627 h 2673815"/>
              <a:gd name="connsiteX36" fmla="*/ 3646026 w 3738623"/>
              <a:gd name="connsiteY36" fmla="*/ 1817225 h 2673815"/>
              <a:gd name="connsiteX37" fmla="*/ 3588152 w 3738623"/>
              <a:gd name="connsiteY37" fmla="*/ 1921397 h 2673815"/>
              <a:gd name="connsiteX38" fmla="*/ 3565003 w 3738623"/>
              <a:gd name="connsiteY38" fmla="*/ 1956121 h 2673815"/>
              <a:gd name="connsiteX39" fmla="*/ 3507129 w 3738623"/>
              <a:gd name="connsiteY39" fmla="*/ 2025569 h 2673815"/>
              <a:gd name="connsiteX40" fmla="*/ 3437681 w 3738623"/>
              <a:gd name="connsiteY40" fmla="*/ 2083443 h 2673815"/>
              <a:gd name="connsiteX41" fmla="*/ 3414532 w 3738623"/>
              <a:gd name="connsiteY41" fmla="*/ 2118167 h 2673815"/>
              <a:gd name="connsiteX42" fmla="*/ 3310360 w 3738623"/>
              <a:gd name="connsiteY42" fmla="*/ 2187615 h 2673815"/>
              <a:gd name="connsiteX43" fmla="*/ 3287210 w 3738623"/>
              <a:gd name="connsiteY43" fmla="*/ 2210764 h 2673815"/>
              <a:gd name="connsiteX44" fmla="*/ 3240912 w 3738623"/>
              <a:gd name="connsiteY44" fmla="*/ 2245488 h 2673815"/>
              <a:gd name="connsiteX45" fmla="*/ 3217762 w 3738623"/>
              <a:gd name="connsiteY45" fmla="*/ 2268638 h 2673815"/>
              <a:gd name="connsiteX46" fmla="*/ 3171464 w 3738623"/>
              <a:gd name="connsiteY46" fmla="*/ 2280212 h 2673815"/>
              <a:gd name="connsiteX47" fmla="*/ 3148314 w 3738623"/>
              <a:gd name="connsiteY47" fmla="*/ 2303362 h 2673815"/>
              <a:gd name="connsiteX48" fmla="*/ 3067291 w 3738623"/>
              <a:gd name="connsiteY48" fmla="*/ 2326511 h 2673815"/>
              <a:gd name="connsiteX49" fmla="*/ 3032567 w 3738623"/>
              <a:gd name="connsiteY49" fmla="*/ 2349660 h 2673815"/>
              <a:gd name="connsiteX50" fmla="*/ 2963119 w 3738623"/>
              <a:gd name="connsiteY50" fmla="*/ 2372810 h 2673815"/>
              <a:gd name="connsiteX51" fmla="*/ 2847372 w 3738623"/>
              <a:gd name="connsiteY51" fmla="*/ 2419108 h 2673815"/>
              <a:gd name="connsiteX52" fmla="*/ 2754775 w 3738623"/>
              <a:gd name="connsiteY52" fmla="*/ 2453832 h 2673815"/>
              <a:gd name="connsiteX53" fmla="*/ 2708476 w 3738623"/>
              <a:gd name="connsiteY53" fmla="*/ 2465407 h 2673815"/>
              <a:gd name="connsiteX54" fmla="*/ 2558005 w 3738623"/>
              <a:gd name="connsiteY54" fmla="*/ 2488556 h 2673815"/>
              <a:gd name="connsiteX55" fmla="*/ 2523281 w 3738623"/>
              <a:gd name="connsiteY55" fmla="*/ 2500131 h 2673815"/>
              <a:gd name="connsiteX56" fmla="*/ 2476983 w 3738623"/>
              <a:gd name="connsiteY56" fmla="*/ 2511706 h 2673815"/>
              <a:gd name="connsiteX57" fmla="*/ 2442258 w 3738623"/>
              <a:gd name="connsiteY57" fmla="*/ 2523281 h 2673815"/>
              <a:gd name="connsiteX58" fmla="*/ 2395960 w 3738623"/>
              <a:gd name="connsiteY58" fmla="*/ 2534855 h 2673815"/>
              <a:gd name="connsiteX59" fmla="*/ 2361236 w 3738623"/>
              <a:gd name="connsiteY59" fmla="*/ 2546430 h 2673815"/>
              <a:gd name="connsiteX60" fmla="*/ 2280213 w 3738623"/>
              <a:gd name="connsiteY60" fmla="*/ 2558005 h 2673815"/>
              <a:gd name="connsiteX61" fmla="*/ 2118167 w 3738623"/>
              <a:gd name="connsiteY61" fmla="*/ 2581154 h 2673815"/>
              <a:gd name="connsiteX62" fmla="*/ 2060294 w 3738623"/>
              <a:gd name="connsiteY62" fmla="*/ 2592729 h 2673815"/>
              <a:gd name="connsiteX63" fmla="*/ 2025570 w 3738623"/>
              <a:gd name="connsiteY63" fmla="*/ 2604303 h 2673815"/>
              <a:gd name="connsiteX64" fmla="*/ 1967696 w 3738623"/>
              <a:gd name="connsiteY64" fmla="*/ 2615878 h 2673815"/>
              <a:gd name="connsiteX65" fmla="*/ 1932972 w 3738623"/>
              <a:gd name="connsiteY65" fmla="*/ 2627453 h 2673815"/>
              <a:gd name="connsiteX66" fmla="*/ 1851950 w 3738623"/>
              <a:gd name="connsiteY66" fmla="*/ 2639027 h 2673815"/>
              <a:gd name="connsiteX67" fmla="*/ 1794076 w 3738623"/>
              <a:gd name="connsiteY67" fmla="*/ 2650602 h 2673815"/>
              <a:gd name="connsiteX68" fmla="*/ 1145894 w 3738623"/>
              <a:gd name="connsiteY68" fmla="*/ 2662177 h 2673815"/>
              <a:gd name="connsiteX69" fmla="*/ 1030147 w 3738623"/>
              <a:gd name="connsiteY69" fmla="*/ 2673751 h 267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738623" h="2673815">
                <a:moveTo>
                  <a:pt x="0" y="659756"/>
                </a:moveTo>
                <a:cubicBezTo>
                  <a:pt x="2834" y="642754"/>
                  <a:pt x="9741" y="579050"/>
                  <a:pt x="23150" y="555584"/>
                </a:cubicBezTo>
                <a:cubicBezTo>
                  <a:pt x="54676" y="500414"/>
                  <a:pt x="55281" y="519343"/>
                  <a:pt x="92598" y="474562"/>
                </a:cubicBezTo>
                <a:cubicBezTo>
                  <a:pt x="101504" y="463875"/>
                  <a:pt x="106694" y="450400"/>
                  <a:pt x="115747" y="439838"/>
                </a:cubicBezTo>
                <a:cubicBezTo>
                  <a:pt x="141034" y="410336"/>
                  <a:pt x="195749" y="359155"/>
                  <a:pt x="231494" y="347240"/>
                </a:cubicBezTo>
                <a:lnTo>
                  <a:pt x="266218" y="335665"/>
                </a:lnTo>
                <a:cubicBezTo>
                  <a:pt x="347584" y="274641"/>
                  <a:pt x="275994" y="324020"/>
                  <a:pt x="381965" y="266217"/>
                </a:cubicBezTo>
                <a:cubicBezTo>
                  <a:pt x="466681" y="220008"/>
                  <a:pt x="408677" y="239283"/>
                  <a:pt x="486137" y="219919"/>
                </a:cubicBezTo>
                <a:cubicBezTo>
                  <a:pt x="505428" y="208344"/>
                  <a:pt x="523529" y="194504"/>
                  <a:pt x="544010" y="185194"/>
                </a:cubicBezTo>
                <a:cubicBezTo>
                  <a:pt x="611118" y="154690"/>
                  <a:pt x="613053" y="165993"/>
                  <a:pt x="682907" y="150470"/>
                </a:cubicBezTo>
                <a:cubicBezTo>
                  <a:pt x="694817" y="147823"/>
                  <a:pt x="705900" y="142248"/>
                  <a:pt x="717631" y="138896"/>
                </a:cubicBezTo>
                <a:cubicBezTo>
                  <a:pt x="800818" y="115128"/>
                  <a:pt x="726313" y="139618"/>
                  <a:pt x="821803" y="115746"/>
                </a:cubicBezTo>
                <a:cubicBezTo>
                  <a:pt x="849053" y="108934"/>
                  <a:pt x="875234" y="97853"/>
                  <a:pt x="902826" y="92597"/>
                </a:cubicBezTo>
                <a:cubicBezTo>
                  <a:pt x="1018400" y="70583"/>
                  <a:pt x="1089226" y="67418"/>
                  <a:pt x="1203767" y="57873"/>
                </a:cubicBezTo>
                <a:cubicBezTo>
                  <a:pt x="1234633" y="50157"/>
                  <a:pt x="1265167" y="40964"/>
                  <a:pt x="1296365" y="34724"/>
                </a:cubicBezTo>
                <a:cubicBezTo>
                  <a:pt x="1354464" y="23104"/>
                  <a:pt x="1437377" y="18134"/>
                  <a:pt x="1493134" y="11574"/>
                </a:cubicBezTo>
                <a:cubicBezTo>
                  <a:pt x="1520229" y="8386"/>
                  <a:pt x="1547149" y="3858"/>
                  <a:pt x="1574157" y="0"/>
                </a:cubicBezTo>
                <a:lnTo>
                  <a:pt x="2685327" y="34724"/>
                </a:lnTo>
                <a:cubicBezTo>
                  <a:pt x="2763228" y="37749"/>
                  <a:pt x="2832477" y="65309"/>
                  <a:pt x="2905246" y="92597"/>
                </a:cubicBezTo>
                <a:cubicBezTo>
                  <a:pt x="2936112" y="104172"/>
                  <a:pt x="2966218" y="118020"/>
                  <a:pt x="2997843" y="127321"/>
                </a:cubicBezTo>
                <a:cubicBezTo>
                  <a:pt x="3031969" y="137358"/>
                  <a:pt x="3067291" y="142754"/>
                  <a:pt x="3102015" y="150470"/>
                </a:cubicBezTo>
                <a:cubicBezTo>
                  <a:pt x="3117448" y="158187"/>
                  <a:pt x="3132293" y="167212"/>
                  <a:pt x="3148314" y="173620"/>
                </a:cubicBezTo>
                <a:cubicBezTo>
                  <a:pt x="3195276" y="192405"/>
                  <a:pt x="3218587" y="196975"/>
                  <a:pt x="3264061" y="208344"/>
                </a:cubicBezTo>
                <a:cubicBezTo>
                  <a:pt x="3283352" y="219919"/>
                  <a:pt x="3302126" y="232402"/>
                  <a:pt x="3321934" y="243068"/>
                </a:cubicBezTo>
                <a:cubicBezTo>
                  <a:pt x="3352318" y="259429"/>
                  <a:pt x="3386451" y="269309"/>
                  <a:pt x="3414532" y="289367"/>
                </a:cubicBezTo>
                <a:lnTo>
                  <a:pt x="3495555" y="347240"/>
                </a:lnTo>
                <a:cubicBezTo>
                  <a:pt x="3503271" y="370389"/>
                  <a:pt x="3505604" y="396101"/>
                  <a:pt x="3518704" y="416688"/>
                </a:cubicBezTo>
                <a:cubicBezTo>
                  <a:pt x="3533351" y="439705"/>
                  <a:pt x="3557286" y="455271"/>
                  <a:pt x="3576577" y="474562"/>
                </a:cubicBezTo>
                <a:cubicBezTo>
                  <a:pt x="3621135" y="519120"/>
                  <a:pt x="3597685" y="500208"/>
                  <a:pt x="3646026" y="532435"/>
                </a:cubicBezTo>
                <a:cubicBezTo>
                  <a:pt x="3657601" y="547868"/>
                  <a:pt x="3670526" y="562375"/>
                  <a:pt x="3680750" y="578734"/>
                </a:cubicBezTo>
                <a:cubicBezTo>
                  <a:pt x="3696993" y="604723"/>
                  <a:pt x="3707184" y="630740"/>
                  <a:pt x="3715474" y="659756"/>
                </a:cubicBezTo>
                <a:cubicBezTo>
                  <a:pt x="3719844" y="675052"/>
                  <a:pt x="3724433" y="690364"/>
                  <a:pt x="3727048" y="706055"/>
                </a:cubicBezTo>
                <a:cubicBezTo>
                  <a:pt x="3732162" y="736738"/>
                  <a:pt x="3734765" y="767787"/>
                  <a:pt x="3738623" y="798653"/>
                </a:cubicBezTo>
                <a:cubicBezTo>
                  <a:pt x="3734765" y="1034005"/>
                  <a:pt x="3733868" y="1269424"/>
                  <a:pt x="3727048" y="1504708"/>
                </a:cubicBezTo>
                <a:cubicBezTo>
                  <a:pt x="3726147" y="1535801"/>
                  <a:pt x="3721992" y="1566890"/>
                  <a:pt x="3715474" y="1597306"/>
                </a:cubicBezTo>
                <a:cubicBezTo>
                  <a:pt x="3700692" y="1666287"/>
                  <a:pt x="3688667" y="1661278"/>
                  <a:pt x="3669175" y="1724627"/>
                </a:cubicBezTo>
                <a:cubicBezTo>
                  <a:pt x="3659819" y="1755036"/>
                  <a:pt x="3663675" y="1790753"/>
                  <a:pt x="3646026" y="1817225"/>
                </a:cubicBezTo>
                <a:cubicBezTo>
                  <a:pt x="3593851" y="1895486"/>
                  <a:pt x="3656388" y="1798572"/>
                  <a:pt x="3588152" y="1921397"/>
                </a:cubicBezTo>
                <a:cubicBezTo>
                  <a:pt x="3581396" y="1933557"/>
                  <a:pt x="3573089" y="1944801"/>
                  <a:pt x="3565003" y="1956121"/>
                </a:cubicBezTo>
                <a:cubicBezTo>
                  <a:pt x="3530609" y="2004272"/>
                  <a:pt x="3540029" y="1992670"/>
                  <a:pt x="3507129" y="2025569"/>
                </a:cubicBezTo>
                <a:cubicBezTo>
                  <a:pt x="3483398" y="2096766"/>
                  <a:pt x="3516398" y="2027216"/>
                  <a:pt x="3437681" y="2083443"/>
                </a:cubicBezTo>
                <a:cubicBezTo>
                  <a:pt x="3426361" y="2091529"/>
                  <a:pt x="3424369" y="2108330"/>
                  <a:pt x="3414532" y="2118167"/>
                </a:cubicBezTo>
                <a:cubicBezTo>
                  <a:pt x="3380973" y="2151726"/>
                  <a:pt x="3348929" y="2160066"/>
                  <a:pt x="3310360" y="2187615"/>
                </a:cubicBezTo>
                <a:cubicBezTo>
                  <a:pt x="3301480" y="2193958"/>
                  <a:pt x="3295593" y="2203778"/>
                  <a:pt x="3287210" y="2210764"/>
                </a:cubicBezTo>
                <a:cubicBezTo>
                  <a:pt x="3272390" y="2223114"/>
                  <a:pt x="3255732" y="2233138"/>
                  <a:pt x="3240912" y="2245488"/>
                </a:cubicBezTo>
                <a:cubicBezTo>
                  <a:pt x="3232528" y="2252474"/>
                  <a:pt x="3227523" y="2263758"/>
                  <a:pt x="3217762" y="2268638"/>
                </a:cubicBezTo>
                <a:cubicBezTo>
                  <a:pt x="3203534" y="2275752"/>
                  <a:pt x="3186897" y="2276354"/>
                  <a:pt x="3171464" y="2280212"/>
                </a:cubicBezTo>
                <a:cubicBezTo>
                  <a:pt x="3163747" y="2287929"/>
                  <a:pt x="3157672" y="2297747"/>
                  <a:pt x="3148314" y="2303362"/>
                </a:cubicBezTo>
                <a:cubicBezTo>
                  <a:pt x="3136456" y="2310477"/>
                  <a:pt x="3075935" y="2324350"/>
                  <a:pt x="3067291" y="2326511"/>
                </a:cubicBezTo>
                <a:cubicBezTo>
                  <a:pt x="3055716" y="2334227"/>
                  <a:pt x="3045279" y="2344010"/>
                  <a:pt x="3032567" y="2349660"/>
                </a:cubicBezTo>
                <a:cubicBezTo>
                  <a:pt x="3010269" y="2359570"/>
                  <a:pt x="2984043" y="2360255"/>
                  <a:pt x="2963119" y="2372810"/>
                </a:cubicBezTo>
                <a:cubicBezTo>
                  <a:pt x="2888376" y="2417656"/>
                  <a:pt x="2927306" y="2403122"/>
                  <a:pt x="2847372" y="2419108"/>
                </a:cubicBezTo>
                <a:cubicBezTo>
                  <a:pt x="2816778" y="2431346"/>
                  <a:pt x="2786539" y="2444757"/>
                  <a:pt x="2754775" y="2453832"/>
                </a:cubicBezTo>
                <a:cubicBezTo>
                  <a:pt x="2739479" y="2458202"/>
                  <a:pt x="2724168" y="2462792"/>
                  <a:pt x="2708476" y="2465407"/>
                </a:cubicBezTo>
                <a:cubicBezTo>
                  <a:pt x="2624155" y="2479461"/>
                  <a:pt x="2628800" y="2470858"/>
                  <a:pt x="2558005" y="2488556"/>
                </a:cubicBezTo>
                <a:cubicBezTo>
                  <a:pt x="2546168" y="2491515"/>
                  <a:pt x="2535012" y="2496779"/>
                  <a:pt x="2523281" y="2500131"/>
                </a:cubicBezTo>
                <a:cubicBezTo>
                  <a:pt x="2507985" y="2504501"/>
                  <a:pt x="2492279" y="2507336"/>
                  <a:pt x="2476983" y="2511706"/>
                </a:cubicBezTo>
                <a:cubicBezTo>
                  <a:pt x="2465251" y="2515058"/>
                  <a:pt x="2453990" y="2519929"/>
                  <a:pt x="2442258" y="2523281"/>
                </a:cubicBezTo>
                <a:cubicBezTo>
                  <a:pt x="2426962" y="2527651"/>
                  <a:pt x="2411256" y="2530485"/>
                  <a:pt x="2395960" y="2534855"/>
                </a:cubicBezTo>
                <a:cubicBezTo>
                  <a:pt x="2384229" y="2538207"/>
                  <a:pt x="2373200" y="2544037"/>
                  <a:pt x="2361236" y="2546430"/>
                </a:cubicBezTo>
                <a:cubicBezTo>
                  <a:pt x="2334484" y="2551781"/>
                  <a:pt x="2307256" y="2554399"/>
                  <a:pt x="2280213" y="2558005"/>
                </a:cubicBezTo>
                <a:cubicBezTo>
                  <a:pt x="2185870" y="2570584"/>
                  <a:pt x="2202045" y="2565903"/>
                  <a:pt x="2118167" y="2581154"/>
                </a:cubicBezTo>
                <a:cubicBezTo>
                  <a:pt x="2098811" y="2584673"/>
                  <a:pt x="2079380" y="2587958"/>
                  <a:pt x="2060294" y="2592729"/>
                </a:cubicBezTo>
                <a:cubicBezTo>
                  <a:pt x="2048458" y="2595688"/>
                  <a:pt x="2037406" y="2601344"/>
                  <a:pt x="2025570" y="2604303"/>
                </a:cubicBezTo>
                <a:cubicBezTo>
                  <a:pt x="2006484" y="2609074"/>
                  <a:pt x="1986782" y="2611106"/>
                  <a:pt x="1967696" y="2615878"/>
                </a:cubicBezTo>
                <a:cubicBezTo>
                  <a:pt x="1955859" y="2618837"/>
                  <a:pt x="1944936" y="2625060"/>
                  <a:pt x="1932972" y="2627453"/>
                </a:cubicBezTo>
                <a:cubicBezTo>
                  <a:pt x="1906220" y="2632803"/>
                  <a:pt x="1878860" y="2634542"/>
                  <a:pt x="1851950" y="2639027"/>
                </a:cubicBezTo>
                <a:cubicBezTo>
                  <a:pt x="1832544" y="2642261"/>
                  <a:pt x="1813739" y="2649957"/>
                  <a:pt x="1794076" y="2650602"/>
                </a:cubicBezTo>
                <a:cubicBezTo>
                  <a:pt x="1578097" y="2657683"/>
                  <a:pt x="1361955" y="2658319"/>
                  <a:pt x="1145894" y="2662177"/>
                </a:cubicBezTo>
                <a:cubicBezTo>
                  <a:pt x="1053413" y="2675388"/>
                  <a:pt x="1092153" y="2673751"/>
                  <a:pt x="1030147" y="267375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75561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654AB3F-7E33-A62F-426D-787254E61E37}"/>
              </a:ext>
            </a:extLst>
          </p:cNvPr>
          <p:cNvSpPr txBox="1"/>
          <p:nvPr/>
        </p:nvSpPr>
        <p:spPr>
          <a:xfrm>
            <a:off x="313441" y="167028"/>
            <a:ext cx="10414261" cy="369332"/>
          </a:xfrm>
          <a:prstGeom prst="rect">
            <a:avLst/>
          </a:prstGeom>
          <a:noFill/>
        </p:spPr>
        <p:txBody>
          <a:bodyPr wrap="square">
            <a:spAutoFit/>
          </a:bodyPr>
          <a:lstStyle/>
          <a:p>
            <a:r>
              <a:rPr lang="en-US" b="0" i="0" dirty="0">
                <a:solidFill>
                  <a:srgbClr val="212121"/>
                </a:solidFill>
                <a:effectLst/>
                <a:latin typeface="open sans" panose="020B0606030504020204" pitchFamily="34" charset="0"/>
              </a:rPr>
              <a:t>Now we will create custom middleware using the extension method,</a:t>
            </a:r>
            <a:endParaRPr lang="en-IN" dirty="0"/>
          </a:p>
        </p:txBody>
      </p:sp>
      <p:sp>
        <p:nvSpPr>
          <p:cNvPr id="7" name="TextBox 6">
            <a:extLst>
              <a:ext uri="{FF2B5EF4-FFF2-40B4-BE49-F238E27FC236}">
                <a16:creationId xmlns:a16="http://schemas.microsoft.com/office/drawing/2014/main" id="{CB01F51D-CD16-921C-6BFF-8DFBD31FA063}"/>
              </a:ext>
            </a:extLst>
          </p:cNvPr>
          <p:cNvSpPr txBox="1"/>
          <p:nvPr/>
        </p:nvSpPr>
        <p:spPr>
          <a:xfrm>
            <a:off x="134331" y="638368"/>
            <a:ext cx="8557181"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0" i="0" dirty="0">
                <a:solidFill>
                  <a:srgbClr val="212121"/>
                </a:solidFill>
                <a:effectLst/>
                <a:latin typeface="open sans" panose="020B0606030504020204" pitchFamily="34" charset="0"/>
              </a:rPr>
              <a:t>Right Click on </a:t>
            </a:r>
            <a:r>
              <a:rPr lang="en-US" b="0" i="1" dirty="0">
                <a:solidFill>
                  <a:srgbClr val="212121"/>
                </a:solidFill>
                <a:effectLst/>
                <a:latin typeface="open sans" panose="020B0606030504020204" pitchFamily="34" charset="0"/>
              </a:rPr>
              <a:t>Project -&gt; Add -&gt; new item -&gt; Asp.net Core -&gt; Middleware class</a:t>
            </a:r>
            <a:endParaRPr lang="en-IN" dirty="0"/>
          </a:p>
        </p:txBody>
      </p:sp>
      <p:sp>
        <p:nvSpPr>
          <p:cNvPr id="9" name="TextBox 8">
            <a:extLst>
              <a:ext uri="{FF2B5EF4-FFF2-40B4-BE49-F238E27FC236}">
                <a16:creationId xmlns:a16="http://schemas.microsoft.com/office/drawing/2014/main" id="{9D1F3E28-A157-F47A-8653-288CB1701F72}"/>
              </a:ext>
            </a:extLst>
          </p:cNvPr>
          <p:cNvSpPr txBox="1"/>
          <p:nvPr/>
        </p:nvSpPr>
        <p:spPr>
          <a:xfrm>
            <a:off x="313441" y="1181529"/>
            <a:ext cx="7388258" cy="5424562"/>
          </a:xfrm>
          <a:prstGeom prst="rect">
            <a:avLst/>
          </a:prstGeom>
          <a:noFill/>
        </p:spPr>
        <p:txBody>
          <a:bodyPr wrap="square">
            <a:spAutoFit/>
          </a:bodyPr>
          <a:lstStyle/>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Microsoft.AspNetCore.Builder</a:t>
            </a:r>
            <a:r>
              <a:rPr lang="en-IN"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Microsoft.AspNetCore.Http</a:t>
            </a:r>
            <a:r>
              <a:rPr lang="en-IN"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System.Threading.Tasks</a:t>
            </a:r>
            <a:r>
              <a:rPr lang="en-IN" sz="1050" dirty="0">
                <a:solidFill>
                  <a:srgbClr val="000000"/>
                </a:solidFill>
                <a:latin typeface="Cascadia Mono" panose="020B0609020000020004" pitchFamily="49" charset="0"/>
              </a:rPr>
              <a:t>;</a:t>
            </a:r>
          </a:p>
          <a:p>
            <a:endParaRPr lang="en-IN" sz="1050" dirty="0">
              <a:solidFill>
                <a:srgbClr val="000000"/>
              </a:solidFill>
              <a:latin typeface="Cascadia Mono" panose="020B0609020000020004" pitchFamily="49" charset="0"/>
            </a:endParaRPr>
          </a:p>
          <a:p>
            <a:r>
              <a:rPr lang="en-IN" sz="1050" dirty="0">
                <a:solidFill>
                  <a:srgbClr val="0000FF"/>
                </a:solidFill>
                <a:latin typeface="Cascadia Mono" panose="020B0609020000020004" pitchFamily="49" charset="0"/>
              </a:rPr>
              <a:t>namespace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MVCMiddleware</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 You may need to install the </a:t>
            </a:r>
            <a:r>
              <a:rPr lang="en-US" sz="1050" dirty="0" err="1">
                <a:solidFill>
                  <a:srgbClr val="008000"/>
                </a:solidFill>
                <a:latin typeface="Cascadia Mono" panose="020B0609020000020004" pitchFamily="49" charset="0"/>
              </a:rPr>
              <a:t>Microsoft.AspNetCore.Http.Abstractions</a:t>
            </a:r>
            <a:r>
              <a:rPr lang="en-US" sz="1050" dirty="0">
                <a:solidFill>
                  <a:srgbClr val="008000"/>
                </a:solidFill>
                <a:latin typeface="Cascadia Mono" panose="020B0609020000020004" pitchFamily="49" charset="0"/>
              </a:rPr>
              <a:t> package into your project</a:t>
            </a:r>
            <a:endParaRPr lang="en-US"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class</a:t>
            </a:r>
            <a:r>
              <a:rPr lang="en-IN" sz="1050" dirty="0">
                <a:solidFill>
                  <a:srgbClr val="000000"/>
                </a:solidFill>
                <a:latin typeface="Cascadia Mono" panose="020B0609020000020004" pitchFamily="49" charset="0"/>
              </a:rPr>
              <a:t> </a:t>
            </a:r>
            <a:r>
              <a:rPr lang="en-IN" sz="1050" dirty="0">
                <a:solidFill>
                  <a:srgbClr val="2B91AF"/>
                </a:solidFill>
                <a:latin typeface="Cascadia Mono" panose="020B0609020000020004" pitchFamily="49" charset="0"/>
              </a:rPr>
              <a:t>Middleware</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private</a:t>
            </a:r>
            <a:r>
              <a:rPr lang="en-IN" sz="1050" dirty="0">
                <a:solidFill>
                  <a:srgbClr val="000000"/>
                </a:solidFill>
                <a:latin typeface="Cascadia Mono" panose="020B0609020000020004" pitchFamily="49" charset="0"/>
              </a:rPr>
              <a:t> </a:t>
            </a:r>
            <a:r>
              <a:rPr lang="en-IN" sz="1050" dirty="0" err="1">
                <a:solidFill>
                  <a:srgbClr val="0000FF"/>
                </a:solidFill>
                <a:latin typeface="Cascadia Mono" panose="020B0609020000020004" pitchFamily="49" charset="0"/>
              </a:rPr>
              <a:t>readonly</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RequestDelegate</a:t>
            </a:r>
            <a:r>
              <a:rPr lang="en-IN" sz="1050" dirty="0">
                <a:solidFill>
                  <a:srgbClr val="000000"/>
                </a:solidFill>
                <a:latin typeface="Cascadia Mono" panose="020B0609020000020004" pitchFamily="49" charset="0"/>
              </a:rPr>
              <a:t> _next;</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2B91AF"/>
                </a:solidFill>
                <a:latin typeface="Cascadia Mono" panose="020B0609020000020004" pitchFamily="49" charset="0"/>
              </a:rPr>
              <a:t>Middleware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RequestDelegate</a:t>
            </a:r>
            <a:r>
              <a:rPr lang="en-IN" sz="1050" dirty="0">
                <a:solidFill>
                  <a:srgbClr val="000000"/>
                </a:solidFill>
                <a:latin typeface="Cascadia Mono" panose="020B0609020000020004" pitchFamily="49" charset="0"/>
              </a:rPr>
              <a:t> next)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_next = next;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public</a:t>
            </a:r>
            <a:r>
              <a:rPr lang="en-US" sz="1050" dirty="0">
                <a:solidFill>
                  <a:srgbClr val="000000"/>
                </a:solidFill>
                <a:latin typeface="Cascadia Mono" panose="020B0609020000020004" pitchFamily="49" charset="0"/>
              </a:rPr>
              <a:t> Task Invoke(</a:t>
            </a:r>
            <a:r>
              <a:rPr lang="en-US" sz="1050" dirty="0" err="1">
                <a:solidFill>
                  <a:srgbClr val="000000"/>
                </a:solidFill>
                <a:latin typeface="Cascadia Mono" panose="020B0609020000020004" pitchFamily="49" charset="0"/>
              </a:rPr>
              <a:t>HttpContext</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httpContext</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return</a:t>
            </a:r>
            <a:r>
              <a:rPr lang="en-IN" sz="1050" dirty="0">
                <a:solidFill>
                  <a:srgbClr val="000000"/>
                </a:solidFill>
                <a:latin typeface="Cascadia Mono" panose="020B0609020000020004" pitchFamily="49" charset="0"/>
              </a:rPr>
              <a:t> _next(</a:t>
            </a:r>
            <a:r>
              <a:rPr lang="en-IN" sz="1050" dirty="0" err="1">
                <a:solidFill>
                  <a:srgbClr val="000000"/>
                </a:solidFill>
                <a:latin typeface="Cascadia Mono" panose="020B0609020000020004" pitchFamily="49" charset="0"/>
              </a:rPr>
              <a:t>httpContext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 Extension method used to add the middleware to the HTTP request pipeline.</a:t>
            </a:r>
            <a:endParaRPr lang="en-US"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static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class</a:t>
            </a:r>
            <a:r>
              <a:rPr lang="en-IN" sz="1050" dirty="0">
                <a:solidFill>
                  <a:srgbClr val="000000"/>
                </a:solidFill>
                <a:latin typeface="Cascadia Mono" panose="020B0609020000020004" pitchFamily="49" charset="0"/>
              </a:rPr>
              <a:t> </a:t>
            </a:r>
            <a:r>
              <a:rPr lang="en-IN" sz="1050" dirty="0" err="1">
                <a:solidFill>
                  <a:srgbClr val="2B91AF"/>
                </a:solidFill>
                <a:latin typeface="Cascadia Mono" panose="020B0609020000020004" pitchFamily="49" charset="0"/>
              </a:rPr>
              <a:t>MiddlewareExtensions</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public</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static</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IApplicationBuilder</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UseMiddleware</a:t>
            </a:r>
            <a:r>
              <a:rPr lang="en-US" sz="1050" dirty="0">
                <a:solidFill>
                  <a:srgbClr val="000000"/>
                </a:solidFill>
                <a:latin typeface="Cascadia Mono" panose="020B0609020000020004" pitchFamily="49" charset="0"/>
              </a:rPr>
              <a:t>(</a:t>
            </a:r>
            <a:r>
              <a:rPr lang="en-US" sz="1050" dirty="0">
                <a:solidFill>
                  <a:srgbClr val="0000FF"/>
                </a:solidFill>
                <a:latin typeface="Cascadia Mono" panose="020B0609020000020004" pitchFamily="49" charset="0"/>
              </a:rPr>
              <a:t>this</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IApplicationBuilder</a:t>
            </a:r>
            <a:r>
              <a:rPr lang="en-US" sz="1050" dirty="0">
                <a:solidFill>
                  <a:srgbClr val="000000"/>
                </a:solidFill>
                <a:latin typeface="Cascadia Mono" panose="020B0609020000020004" pitchFamily="49" charset="0"/>
              </a:rPr>
              <a:t> builder)</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return</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builder.UseMiddleware</a:t>
            </a:r>
            <a:r>
              <a:rPr lang="en-IN" sz="1050" dirty="0">
                <a:solidFill>
                  <a:srgbClr val="000000"/>
                </a:solidFill>
                <a:latin typeface="Cascadia Mono" panose="020B0609020000020004" pitchFamily="49" charset="0"/>
              </a:rPr>
              <a:t>&lt;Middleware&gt;();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446764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A6897F-FBD4-28B2-4D53-219693515FFE}"/>
              </a:ext>
            </a:extLst>
          </p:cNvPr>
          <p:cNvSpPr txBox="1"/>
          <p:nvPr/>
        </p:nvSpPr>
        <p:spPr>
          <a:xfrm>
            <a:off x="370003" y="245011"/>
            <a:ext cx="7567366" cy="5586145"/>
          </a:xfrm>
          <a:prstGeom prst="rect">
            <a:avLst/>
          </a:prstGeom>
          <a:noFill/>
        </p:spPr>
        <p:txBody>
          <a:bodyPr wrap="square">
            <a:spAutoFit/>
          </a:bodyPr>
          <a:lstStyle/>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Microsoft.AspNetCore.Builder</a:t>
            </a:r>
            <a:r>
              <a:rPr lang="en-IN"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Microsoft.AspNetCore.Http</a:t>
            </a:r>
            <a:r>
              <a:rPr lang="en-IN"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System.Threading.Tasks</a:t>
            </a:r>
            <a:r>
              <a:rPr lang="en-IN" sz="1050" dirty="0">
                <a:solidFill>
                  <a:srgbClr val="000000"/>
                </a:solidFill>
                <a:latin typeface="Cascadia Mono" panose="020B0609020000020004" pitchFamily="49" charset="0"/>
              </a:rPr>
              <a:t>;</a:t>
            </a:r>
          </a:p>
          <a:p>
            <a:endParaRPr lang="en-IN" sz="1050" dirty="0">
              <a:solidFill>
                <a:srgbClr val="000000"/>
              </a:solidFill>
              <a:latin typeface="Cascadia Mono" panose="020B0609020000020004" pitchFamily="49" charset="0"/>
            </a:endParaRPr>
          </a:p>
          <a:p>
            <a:r>
              <a:rPr lang="en-IN" sz="1050" dirty="0">
                <a:solidFill>
                  <a:srgbClr val="0000FF"/>
                </a:solidFill>
                <a:latin typeface="Cascadia Mono" panose="020B0609020000020004" pitchFamily="49" charset="0"/>
              </a:rPr>
              <a:t>namespace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MVCMiddleware</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 You may need to install the </a:t>
            </a:r>
            <a:r>
              <a:rPr lang="en-US" sz="1050" dirty="0" err="1">
                <a:solidFill>
                  <a:srgbClr val="008000"/>
                </a:solidFill>
                <a:latin typeface="Cascadia Mono" panose="020B0609020000020004" pitchFamily="49" charset="0"/>
              </a:rPr>
              <a:t>Microsoft.AspNetCore.Http.Abstractions</a:t>
            </a:r>
            <a:r>
              <a:rPr lang="en-US" sz="1050" dirty="0">
                <a:solidFill>
                  <a:srgbClr val="008000"/>
                </a:solidFill>
                <a:latin typeface="Cascadia Mono" panose="020B0609020000020004" pitchFamily="49" charset="0"/>
              </a:rPr>
              <a:t> package into your project</a:t>
            </a:r>
            <a:endParaRPr lang="en-US"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class</a:t>
            </a:r>
            <a:r>
              <a:rPr lang="en-IN" sz="1050" dirty="0">
                <a:solidFill>
                  <a:srgbClr val="000000"/>
                </a:solidFill>
                <a:latin typeface="Cascadia Mono" panose="020B0609020000020004" pitchFamily="49" charset="0"/>
              </a:rPr>
              <a:t> </a:t>
            </a:r>
            <a:r>
              <a:rPr lang="en-IN" sz="1050" dirty="0">
                <a:solidFill>
                  <a:srgbClr val="2B91AF"/>
                </a:solidFill>
                <a:latin typeface="Cascadia Mono" panose="020B0609020000020004" pitchFamily="49" charset="0"/>
              </a:rPr>
              <a:t>Middleware</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private</a:t>
            </a:r>
            <a:r>
              <a:rPr lang="en-IN" sz="1050" dirty="0">
                <a:solidFill>
                  <a:srgbClr val="000000"/>
                </a:solidFill>
                <a:latin typeface="Cascadia Mono" panose="020B0609020000020004" pitchFamily="49" charset="0"/>
              </a:rPr>
              <a:t> </a:t>
            </a:r>
            <a:r>
              <a:rPr lang="en-IN" sz="1050" dirty="0" err="1">
                <a:solidFill>
                  <a:srgbClr val="0000FF"/>
                </a:solidFill>
                <a:latin typeface="Cascadia Mono" panose="020B0609020000020004" pitchFamily="49" charset="0"/>
              </a:rPr>
              <a:t>readonly</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RequestDelegate</a:t>
            </a:r>
            <a:r>
              <a:rPr lang="en-IN" sz="1050" dirty="0">
                <a:solidFill>
                  <a:srgbClr val="000000"/>
                </a:solidFill>
                <a:latin typeface="Cascadia Mono" panose="020B0609020000020004" pitchFamily="49" charset="0"/>
              </a:rPr>
              <a:t> _next;</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2B91AF"/>
                </a:solidFill>
                <a:latin typeface="Cascadia Mono" panose="020B0609020000020004" pitchFamily="49" charset="0"/>
              </a:rPr>
              <a:t>Middleware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RequestDelegate</a:t>
            </a:r>
            <a:r>
              <a:rPr lang="en-IN" sz="1050" dirty="0">
                <a:solidFill>
                  <a:srgbClr val="000000"/>
                </a:solidFill>
                <a:latin typeface="Cascadia Mono" panose="020B0609020000020004" pitchFamily="49" charset="0"/>
              </a:rPr>
              <a:t> next)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_next = next;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public</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async</a:t>
            </a:r>
            <a:r>
              <a:rPr lang="en-US" sz="1050" dirty="0">
                <a:solidFill>
                  <a:srgbClr val="000000"/>
                </a:solidFill>
                <a:latin typeface="Cascadia Mono" panose="020B0609020000020004" pitchFamily="49" charset="0"/>
              </a:rPr>
              <a:t> Task Invoke(</a:t>
            </a:r>
            <a:r>
              <a:rPr lang="en-US" sz="1050" dirty="0" err="1">
                <a:solidFill>
                  <a:srgbClr val="000000"/>
                </a:solidFill>
                <a:latin typeface="Cascadia Mono" panose="020B0609020000020004" pitchFamily="49" charset="0"/>
              </a:rPr>
              <a:t>HttpContext</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httpContext</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a:solidFill>
                  <a:srgbClr val="0000FF"/>
                </a:solidFill>
                <a:highlight>
                  <a:srgbClr val="FFFF00"/>
                </a:highlight>
                <a:latin typeface="Cascadia Mono" panose="020B0609020000020004" pitchFamily="49" charset="0"/>
              </a:rPr>
              <a:t>await</a:t>
            </a:r>
            <a:r>
              <a:rPr lang="en-US" sz="1050" dirty="0">
                <a:solidFill>
                  <a:srgbClr val="000000"/>
                </a:solidFill>
                <a:highlight>
                  <a:srgbClr val="FFFF00"/>
                </a:highlight>
                <a:latin typeface="Cascadia Mono" panose="020B0609020000020004" pitchFamily="49" charset="0"/>
              </a:rPr>
              <a:t> </a:t>
            </a:r>
            <a:r>
              <a:rPr lang="en-US" sz="1050" dirty="0" err="1">
                <a:solidFill>
                  <a:srgbClr val="000000"/>
                </a:solidFill>
                <a:highlight>
                  <a:srgbClr val="FFFF00"/>
                </a:highlight>
                <a:latin typeface="Cascadia Mono" panose="020B0609020000020004" pitchFamily="49" charset="0"/>
              </a:rPr>
              <a:t>httpContext.Response.WriteAsync</a:t>
            </a:r>
            <a:r>
              <a:rPr lang="en-US" sz="1050" dirty="0">
                <a:solidFill>
                  <a:srgbClr val="000000"/>
                </a:solidFill>
                <a:highlight>
                  <a:srgbClr val="FFFF00"/>
                </a:highlight>
                <a:latin typeface="Cascadia Mono" panose="020B0609020000020004" pitchFamily="49" charset="0"/>
              </a:rPr>
              <a:t>(</a:t>
            </a:r>
            <a:r>
              <a:rPr lang="en-US" sz="1050" dirty="0">
                <a:solidFill>
                  <a:srgbClr val="A31515"/>
                </a:solidFill>
                <a:highlight>
                  <a:srgbClr val="FFFF00"/>
                </a:highlight>
                <a:latin typeface="Cascadia Mono" panose="020B0609020000020004" pitchFamily="49" charset="0"/>
              </a:rPr>
              <a:t>"Hello Custom Middleware \n"</a:t>
            </a:r>
            <a:r>
              <a:rPr lang="en-US" sz="1050" dirty="0">
                <a:solidFill>
                  <a:srgbClr val="000000"/>
                </a:solidFill>
                <a:highlight>
                  <a:srgbClr val="FFFF00"/>
                </a:highlight>
                <a:latin typeface="Cascadia Mono" panose="020B0609020000020004" pitchFamily="49" charset="0"/>
              </a:rPr>
              <a:t>);</a:t>
            </a:r>
          </a:p>
          <a:p>
            <a:r>
              <a:rPr lang="en-IN" sz="1050" dirty="0">
                <a:solidFill>
                  <a:srgbClr val="000000"/>
                </a:solidFill>
                <a:highlight>
                  <a:srgbClr val="FFFF00"/>
                </a:highlight>
                <a:latin typeface="Cascadia Mono" panose="020B0609020000020004" pitchFamily="49" charset="0"/>
              </a:rPr>
              <a:t>            </a:t>
            </a:r>
            <a:r>
              <a:rPr lang="en-IN" sz="1050" dirty="0">
                <a:solidFill>
                  <a:srgbClr val="0000FF"/>
                </a:solidFill>
                <a:highlight>
                  <a:srgbClr val="FFFF00"/>
                </a:highlight>
                <a:latin typeface="Cascadia Mono" panose="020B0609020000020004" pitchFamily="49" charset="0"/>
              </a:rPr>
              <a:t>await</a:t>
            </a:r>
            <a:r>
              <a:rPr lang="en-IN" sz="1050" dirty="0">
                <a:solidFill>
                  <a:srgbClr val="000000"/>
                </a:solidFill>
                <a:highlight>
                  <a:srgbClr val="FFFF00"/>
                </a:highlight>
                <a:latin typeface="Cascadia Mono" panose="020B0609020000020004" pitchFamily="49" charset="0"/>
              </a:rPr>
              <a:t> _next(</a:t>
            </a:r>
            <a:r>
              <a:rPr lang="en-IN" sz="1050" dirty="0" err="1">
                <a:solidFill>
                  <a:srgbClr val="000000"/>
                </a:solidFill>
                <a:highlight>
                  <a:srgbClr val="FFFF00"/>
                </a:highlight>
                <a:latin typeface="Cascadia Mono" panose="020B0609020000020004" pitchFamily="49" charset="0"/>
              </a:rPr>
              <a:t>httpContext</a:t>
            </a:r>
            <a:r>
              <a:rPr lang="en-IN" sz="1050" dirty="0">
                <a:solidFill>
                  <a:srgbClr val="000000"/>
                </a:solidFill>
                <a:highlight>
                  <a:srgbClr val="FFFF00"/>
                </a:highlight>
                <a:latin typeface="Cascadia Mono" panose="020B0609020000020004" pitchFamily="49" charset="0"/>
              </a:rPr>
              <a:t>);</a:t>
            </a:r>
          </a:p>
          <a:p>
            <a:r>
              <a:rPr lang="en-IN" sz="1050" dirty="0">
                <a:solidFill>
                  <a:srgbClr val="000000"/>
                </a:solidFill>
                <a:highlight>
                  <a:srgbClr val="FFFF00"/>
                </a:highlight>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 Extension method used to add the middleware to the HTTP request pipeline.</a:t>
            </a:r>
            <a:endParaRPr lang="en-US"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static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class</a:t>
            </a:r>
            <a:r>
              <a:rPr lang="en-IN" sz="1050" dirty="0">
                <a:solidFill>
                  <a:srgbClr val="000000"/>
                </a:solidFill>
                <a:latin typeface="Cascadia Mono" panose="020B0609020000020004" pitchFamily="49" charset="0"/>
              </a:rPr>
              <a:t> </a:t>
            </a:r>
            <a:r>
              <a:rPr lang="en-IN" sz="1050" dirty="0" err="1">
                <a:solidFill>
                  <a:srgbClr val="2B91AF"/>
                </a:solidFill>
                <a:latin typeface="Cascadia Mono" panose="020B0609020000020004" pitchFamily="49" charset="0"/>
              </a:rPr>
              <a:t>MiddlewareExtensions</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public</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static</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IApplicationBuilder</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UseMiddleware</a:t>
            </a:r>
            <a:r>
              <a:rPr lang="en-US" sz="1050" dirty="0">
                <a:solidFill>
                  <a:srgbClr val="000000"/>
                </a:solidFill>
                <a:latin typeface="Cascadia Mono" panose="020B0609020000020004" pitchFamily="49" charset="0"/>
              </a:rPr>
              <a:t>(</a:t>
            </a:r>
            <a:r>
              <a:rPr lang="en-US" sz="1050" dirty="0">
                <a:solidFill>
                  <a:srgbClr val="0000FF"/>
                </a:solidFill>
                <a:latin typeface="Cascadia Mono" panose="020B0609020000020004" pitchFamily="49" charset="0"/>
              </a:rPr>
              <a:t>this</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IApplicationBuilder</a:t>
            </a:r>
            <a:r>
              <a:rPr lang="en-US" sz="1050" dirty="0">
                <a:solidFill>
                  <a:srgbClr val="000000"/>
                </a:solidFill>
                <a:latin typeface="Cascadia Mono" panose="020B0609020000020004" pitchFamily="49" charset="0"/>
              </a:rPr>
              <a:t> builder)</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return</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builder.UseMiddleware</a:t>
            </a:r>
            <a:r>
              <a:rPr lang="en-IN" sz="1050" dirty="0">
                <a:solidFill>
                  <a:srgbClr val="000000"/>
                </a:solidFill>
                <a:latin typeface="Cascadia Mono" panose="020B0609020000020004" pitchFamily="49" charset="0"/>
              </a:rPr>
              <a:t>&lt;Middleware&gt;();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679717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D7CEBB0-642F-2B1B-2410-5B43044F52CA}"/>
              </a:ext>
            </a:extLst>
          </p:cNvPr>
          <p:cNvSpPr txBox="1"/>
          <p:nvPr/>
        </p:nvSpPr>
        <p:spPr>
          <a:xfrm>
            <a:off x="869622" y="74251"/>
            <a:ext cx="6539845" cy="7371249"/>
          </a:xfrm>
          <a:prstGeom prst="rect">
            <a:avLst/>
          </a:prstGeom>
          <a:noFill/>
        </p:spPr>
        <p:txBody>
          <a:bodyPr wrap="square">
            <a:spAutoFit/>
          </a:bodyPr>
          <a:lstStyle/>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Microsoft.AspNetCore.Builder</a:t>
            </a:r>
            <a:r>
              <a:rPr lang="en-IN" sz="1100" dirty="0">
                <a:solidFill>
                  <a:srgbClr val="000000"/>
                </a:solidFill>
                <a:latin typeface="Cascadia Mono" panose="020B0609020000020004" pitchFamily="49" charset="0"/>
              </a:rPr>
              <a:t>;</a:t>
            </a:r>
          </a:p>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MVCMiddleware.Models</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FF"/>
                </a:solidFill>
                <a:latin typeface="Cascadia Mono" panose="020B0609020000020004" pitchFamily="49" charset="0"/>
              </a:rPr>
              <a:t>namespace</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MVCMiddleware</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Program</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static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void</a:t>
            </a:r>
            <a:r>
              <a:rPr lang="en-US" sz="1100" dirty="0">
                <a:solidFill>
                  <a:srgbClr val="000000"/>
                </a:solidFill>
                <a:latin typeface="Cascadia Mono" panose="020B0609020000020004" pitchFamily="49" charset="0"/>
              </a:rPr>
              <a:t> Main(</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args</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var</a:t>
            </a:r>
            <a:r>
              <a:rPr lang="en-US" sz="1100" dirty="0">
                <a:solidFill>
                  <a:srgbClr val="000000"/>
                </a:solidFill>
                <a:latin typeface="Cascadia Mono" panose="020B0609020000020004" pitchFamily="49" charset="0"/>
              </a:rPr>
              <a:t> builder = </a:t>
            </a:r>
            <a:r>
              <a:rPr lang="en-US" sz="1100" dirty="0" err="1">
                <a:solidFill>
                  <a:srgbClr val="000000"/>
                </a:solidFill>
                <a:latin typeface="Cascadia Mono" panose="020B0609020000020004" pitchFamily="49" charset="0"/>
              </a:rPr>
              <a:t>WebApplication.CreateBuilder</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args</a:t>
            </a:r>
            <a:r>
              <a:rPr lang="en-US"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Add services to the container.</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builder.Services.AddControllersWithViews</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var</a:t>
            </a:r>
            <a:r>
              <a:rPr lang="en-IN" sz="1100" dirty="0">
                <a:solidFill>
                  <a:srgbClr val="000000"/>
                </a:solidFill>
                <a:latin typeface="Cascadia Mono" panose="020B0609020000020004" pitchFamily="49" charset="0"/>
              </a:rPr>
              <a:t> app = </a:t>
            </a:r>
            <a:r>
              <a:rPr lang="en-IN" sz="1100" dirty="0" err="1">
                <a:solidFill>
                  <a:srgbClr val="000000"/>
                </a:solidFill>
                <a:latin typeface="Cascadia Mono" panose="020B0609020000020004" pitchFamily="49" charset="0"/>
              </a:rPr>
              <a:t>builder.Build</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Configure the HTTP request pipeline.</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if</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app.Environment.IsDevelopment</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app.UseExceptionHandler</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"/Home/Error"</a:t>
            </a:r>
            <a:r>
              <a:rPr lang="en-IN" sz="1100" dirty="0">
                <a:solidFill>
                  <a:srgbClr val="000000"/>
                </a:solidFill>
                <a:latin typeface="Cascadia Mono" panose="020B0609020000020004" pitchFamily="49" charset="0"/>
              </a:rPr>
              <a:t>);</a:t>
            </a: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The default HSTS value is 30 days. You may want to change this for production scenarios, see https://aka.ms/aspnetcore-hsts.</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app.UseHsts</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err="1">
                <a:solidFill>
                  <a:srgbClr val="000000"/>
                </a:solidFill>
                <a:highlight>
                  <a:srgbClr val="FFFF00"/>
                </a:highlight>
                <a:latin typeface="Cascadia Mono" panose="020B0609020000020004" pitchFamily="49" charset="0"/>
              </a:rPr>
              <a:t>app.UseMiddleware</a:t>
            </a:r>
            <a:r>
              <a:rPr lang="en-IN" sz="1100" dirty="0">
                <a:solidFill>
                  <a:srgbClr val="000000"/>
                </a:solidFill>
                <a:highlight>
                  <a:srgbClr val="FFFF00"/>
                </a:highlight>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app.Run</a:t>
            </a:r>
            <a:r>
              <a:rPr lang="en-IN" sz="1100" dirty="0">
                <a:solidFill>
                  <a:srgbClr val="000000"/>
                </a:solidFill>
                <a:latin typeface="Cascadia Mono" panose="020B0609020000020004" pitchFamily="49" charset="0"/>
              </a:rPr>
              <a:t>(</a:t>
            </a:r>
            <a:r>
              <a:rPr lang="en-IN" sz="1100" dirty="0">
                <a:solidFill>
                  <a:srgbClr val="0000FF"/>
                </a:solidFill>
                <a:latin typeface="Cascadia Mono" panose="020B0609020000020004" pitchFamily="49" charset="0"/>
              </a:rPr>
              <a:t>async</a:t>
            </a:r>
            <a:r>
              <a:rPr lang="en-IN" sz="1100" dirty="0">
                <a:solidFill>
                  <a:srgbClr val="000000"/>
                </a:solidFill>
                <a:latin typeface="Cascadia Mono" panose="020B0609020000020004" pitchFamily="49" charset="0"/>
              </a:rPr>
              <a:t> context =&gt; </a:t>
            </a:r>
            <a:r>
              <a:rPr lang="en-IN" sz="1100" dirty="0">
                <a:solidFill>
                  <a:srgbClr val="0000FF"/>
                </a:solidFill>
                <a:latin typeface="Cascadia Mono" panose="020B0609020000020004" pitchFamily="49" charset="0"/>
              </a:rPr>
              <a:t>await</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context.Response.WriteAsync</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"Hello"</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app.UseHttpsRedirection</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app.UseStaticFiles</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app.UseRouting</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app.UseAuthorization</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 </a:t>
            </a:r>
            <a:r>
              <a:rPr lang="en-IN" sz="1100" dirty="0" err="1">
                <a:solidFill>
                  <a:srgbClr val="008000"/>
                </a:solidFill>
                <a:latin typeface="Cascadia Mono" panose="020B0609020000020004" pitchFamily="49" charset="0"/>
              </a:rPr>
              <a:t>app.MapControllerRoute</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//name: "default",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//pattern: "{controller=Home}/{action=Index}/{id?}");</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app.Run</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a:t>
            </a:r>
            <a:endParaRPr lang="en-IN" sz="2800" dirty="0"/>
          </a:p>
        </p:txBody>
      </p:sp>
    </p:spTree>
    <p:extLst>
      <p:ext uri="{BB962C8B-B14F-4D97-AF65-F5344CB8AC3E}">
        <p14:creationId xmlns:p14="http://schemas.microsoft.com/office/powerpoint/2010/main" val="903445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2309</TotalTime>
  <Words>2644</Words>
  <Application>Microsoft Office PowerPoint</Application>
  <PresentationFormat>Widescreen</PresentationFormat>
  <Paragraphs>326</Paragraphs>
  <Slides>17</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17</vt:i4>
      </vt:variant>
    </vt:vector>
  </HeadingPairs>
  <TitlesOfParts>
    <vt:vector size="30" baseType="lpstr">
      <vt:lpstr>-apple-system</vt:lpstr>
      <vt:lpstr>Arial</vt:lpstr>
      <vt:lpstr>Arial</vt:lpstr>
      <vt:lpstr>Calibri</vt:lpstr>
      <vt:lpstr>Calibri Light</vt:lpstr>
      <vt:lpstr>Cascadia Mono</vt:lpstr>
      <vt:lpstr>Consolas</vt:lpstr>
      <vt:lpstr>Inconsolata</vt:lpstr>
      <vt:lpstr>inherit</vt:lpstr>
      <vt:lpstr>Open Sans</vt:lpstr>
      <vt:lpstr>Open Sans</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write custom middleware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56</cp:revision>
  <dcterms:created xsi:type="dcterms:W3CDTF">2021-10-12T08:21:24Z</dcterms:created>
  <dcterms:modified xsi:type="dcterms:W3CDTF">2025-04-21T14:04:39Z</dcterms:modified>
</cp:coreProperties>
</file>