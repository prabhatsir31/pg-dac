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33" r:id="rId3"/>
    <p:sldId id="335" r:id="rId4"/>
    <p:sldId id="33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1626F-66C8-D2EA-329D-DBB7CF12A7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7FCF3F-2EEB-3F6E-0908-777C64A2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807BB7-C9D3-174C-8352-24A926650A83}"/>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5" name="Footer Placeholder 4">
            <a:extLst>
              <a:ext uri="{FF2B5EF4-FFF2-40B4-BE49-F238E27FC236}">
                <a16:creationId xmlns:a16="http://schemas.microsoft.com/office/drawing/2014/main" id="{8FD044E7-68CC-445D-F62C-D8A9C3EE87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381937-75F5-D375-5779-24548BE6E1FB}"/>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2493466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6B0F-61FF-FEB1-CFD3-B60A254D09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5396C4-3ABD-93AB-436C-30060CE6DA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456D3C-2B97-C7C4-705D-6A0C341E9DA6}"/>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5" name="Footer Placeholder 4">
            <a:extLst>
              <a:ext uri="{FF2B5EF4-FFF2-40B4-BE49-F238E27FC236}">
                <a16:creationId xmlns:a16="http://schemas.microsoft.com/office/drawing/2014/main" id="{78027514-B80F-6B36-BE63-15E1D1A6B5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D12279-1C42-83C8-591E-2357DE151059}"/>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906800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2B299-9277-C312-EBA6-7F930CA4AB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EA0BDA-2EE1-0798-036B-08DA2C4E7C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108112-1C98-4AAD-5210-56A4AAE0D82F}"/>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5" name="Footer Placeholder 4">
            <a:extLst>
              <a:ext uri="{FF2B5EF4-FFF2-40B4-BE49-F238E27FC236}">
                <a16:creationId xmlns:a16="http://schemas.microsoft.com/office/drawing/2014/main" id="{4135EB6B-5B85-1315-262F-3231A06552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D833E2-AF0A-5F7C-B9A3-465EAFAEFC12}"/>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141835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58AD6-36D9-5D93-316D-492BC53EEC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0263F9-0396-159C-1A07-72F1ABDA3F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FCF5879-BAC0-E1A9-66AC-CB8369C4BE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A0625A-57B4-E38F-98FE-C1027DA5D77D}"/>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6" name="Footer Placeholder 5">
            <a:extLst>
              <a:ext uri="{FF2B5EF4-FFF2-40B4-BE49-F238E27FC236}">
                <a16:creationId xmlns:a16="http://schemas.microsoft.com/office/drawing/2014/main" id="{775CF543-1185-ED80-6F5C-D0C312FC90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A53EE3-25B2-190A-551A-92CCC3374CDB}"/>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362466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F81FD-30F5-738D-28C7-61A291D465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88D018-50BB-C5C7-AB60-CF5E1FC5FD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239C14-B65C-38CE-8514-28D8C13E79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CB01A1-36CE-2F14-20C2-1A386C38E7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99716C-CA31-A16D-F0B6-251828BC5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301219-6DF0-57D4-BFED-68DF78FB6B26}"/>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8" name="Footer Placeholder 7">
            <a:extLst>
              <a:ext uri="{FF2B5EF4-FFF2-40B4-BE49-F238E27FC236}">
                <a16:creationId xmlns:a16="http://schemas.microsoft.com/office/drawing/2014/main" id="{4871472A-4706-98D0-0E19-F306F15294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C44CDB-1221-0ABE-1B4B-ADD20D075BE2}"/>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387849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28B1B-8FC0-E006-9DD2-128296176C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48E8ED-FC86-10FC-0382-F1D309C537AA}"/>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4" name="Footer Placeholder 3">
            <a:extLst>
              <a:ext uri="{FF2B5EF4-FFF2-40B4-BE49-F238E27FC236}">
                <a16:creationId xmlns:a16="http://schemas.microsoft.com/office/drawing/2014/main" id="{837D2D36-70F5-33AC-3FC3-F3F22B4441F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20FF57-5B52-FB36-4186-10A872D7B8E0}"/>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1716334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076B9A-B260-4593-7342-45E01456CD5A}"/>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3" name="Footer Placeholder 2">
            <a:extLst>
              <a:ext uri="{FF2B5EF4-FFF2-40B4-BE49-F238E27FC236}">
                <a16:creationId xmlns:a16="http://schemas.microsoft.com/office/drawing/2014/main" id="{B7836604-D21A-1A84-18A4-9C7E26800F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BBF69E-8EDC-72F7-FE5D-452E9C112ACD}"/>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1716899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2AFE-F597-D594-75DC-F7813377BA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6C7689-91A4-67BA-BB76-58C8ED03DC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741665-F47A-7A57-3688-35C35CD49E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289C5A-DB6D-B735-AF33-C979A178A2FF}"/>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6" name="Footer Placeholder 5">
            <a:extLst>
              <a:ext uri="{FF2B5EF4-FFF2-40B4-BE49-F238E27FC236}">
                <a16:creationId xmlns:a16="http://schemas.microsoft.com/office/drawing/2014/main" id="{D3A73351-3CE1-3FE7-DB1A-493D3BFBF9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BEF2BC-923E-E607-CE25-BEAEA4C2A675}"/>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1819213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5FC63-6158-296D-489C-8C60AA71A8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9BB7C4-17BE-4CC0-8D17-027F90A8F0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F542C6A-321C-4798-4F8F-C7F461376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3E5F9B-B0E2-1253-85F8-CF0A30356161}"/>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6" name="Footer Placeholder 5">
            <a:extLst>
              <a:ext uri="{FF2B5EF4-FFF2-40B4-BE49-F238E27FC236}">
                <a16:creationId xmlns:a16="http://schemas.microsoft.com/office/drawing/2014/main" id="{F2D8FCBB-EA28-65AC-BD04-1C151C9678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577C39-C026-43E5-7F1B-373C0F626238}"/>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4121051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82F5-0D28-6BA5-70DA-C53141635C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4F2461-0458-4CE0-BAB1-7C53931679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A5256E-E967-B8E1-2171-E34AEC3B7851}"/>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5" name="Footer Placeholder 4">
            <a:extLst>
              <a:ext uri="{FF2B5EF4-FFF2-40B4-BE49-F238E27FC236}">
                <a16:creationId xmlns:a16="http://schemas.microsoft.com/office/drawing/2014/main" id="{1D36FC84-D10A-F46C-D0B1-6C010783A4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1A3BD3-FF1C-5997-8743-A667B5DA6096}"/>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3067079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982D35-181F-C74B-6007-3B90971398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6949C1-F2FE-81F2-2565-8EDDC0F558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511F45-89B0-B5DD-9493-1DA3486335B8}"/>
              </a:ext>
            </a:extLst>
          </p:cNvPr>
          <p:cNvSpPr>
            <a:spLocks noGrp="1"/>
          </p:cNvSpPr>
          <p:nvPr>
            <p:ph type="dt" sz="half" idx="10"/>
          </p:nvPr>
        </p:nvSpPr>
        <p:spPr/>
        <p:txBody>
          <a:bodyPr/>
          <a:lstStyle/>
          <a:p>
            <a:fld id="{5B127EC4-6EC8-411D-A2E8-13C594B83A21}" type="datetimeFigureOut">
              <a:rPr lang="en-IN" smtClean="0"/>
              <a:t>06-11-2023</a:t>
            </a:fld>
            <a:endParaRPr lang="en-IN"/>
          </a:p>
        </p:txBody>
      </p:sp>
      <p:sp>
        <p:nvSpPr>
          <p:cNvPr id="5" name="Footer Placeholder 4">
            <a:extLst>
              <a:ext uri="{FF2B5EF4-FFF2-40B4-BE49-F238E27FC236}">
                <a16:creationId xmlns:a16="http://schemas.microsoft.com/office/drawing/2014/main" id="{6A6B73B5-005D-D5F8-E7D2-E3993EA48D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C51244-6D8E-D0BD-715A-9EDD4087FE8D}"/>
              </a:ext>
            </a:extLst>
          </p:cNvPr>
          <p:cNvSpPr>
            <a:spLocks noGrp="1"/>
          </p:cNvSpPr>
          <p:nvPr>
            <p:ph type="sldNum" sz="quarter" idx="12"/>
          </p:nvPr>
        </p:nvSpPr>
        <p:spPr/>
        <p:txBody>
          <a:bodyPr/>
          <a:lstStyle/>
          <a:p>
            <a:fld id="{578C9ABC-8E1F-4968-A1BA-5BEB400FF994}" type="slidenum">
              <a:rPr lang="en-IN" smtClean="0"/>
              <a:t>‹#›</a:t>
            </a:fld>
            <a:endParaRPr lang="en-IN"/>
          </a:p>
        </p:txBody>
      </p:sp>
    </p:spTree>
    <p:extLst>
      <p:ext uri="{BB962C8B-B14F-4D97-AF65-F5344CB8AC3E}">
        <p14:creationId xmlns:p14="http://schemas.microsoft.com/office/powerpoint/2010/main" val="1583103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6AA53-4F15-432F-A025-1F21676FFE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820E8F-6345-4C84-8E76-735F691895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83490F9-1904-448B-B4E7-0C3C91FBE7A9}"/>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5" name="Footer Placeholder 4">
            <a:extLst>
              <a:ext uri="{FF2B5EF4-FFF2-40B4-BE49-F238E27FC236}">
                <a16:creationId xmlns:a16="http://schemas.microsoft.com/office/drawing/2014/main" id="{B53A760E-E162-4B6E-BD9E-23765FB78D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A30792-4B81-4C6C-800E-413A2790727C}"/>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5365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7B08D-9FDB-4F01-97A1-9880B6D95082}"/>
              </a:ext>
            </a:extLst>
          </p:cNvPr>
          <p:cNvSpPr>
            <a:spLocks noGrp="1"/>
          </p:cNvSpPr>
          <p:nvPr>
            <p:ph type="title"/>
          </p:nvPr>
        </p:nvSpPr>
        <p:spPr/>
        <p:txBody>
          <a:bodyPr/>
          <a:lstStyle>
            <a:lvl1pPr>
              <a:defRPr>
                <a:latin typeface="Garamond" panose="02020404030301010803"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3A65B930-D417-4975-A96A-D951724ED29E}"/>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E3B6B551-8C10-420E-A00E-7689DBEF28DB}"/>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5" name="Footer Placeholder 4">
            <a:extLst>
              <a:ext uri="{FF2B5EF4-FFF2-40B4-BE49-F238E27FC236}">
                <a16:creationId xmlns:a16="http://schemas.microsoft.com/office/drawing/2014/main" id="{6011D206-8393-4B28-AC24-DF799101B6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BDADD6-C9AF-4080-A457-B17B9709317E}"/>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1962594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83327-F092-4DC8-A97F-8AC345FA7E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24DFE8-0652-4DDA-851E-E1EA235A05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1F66C-DA60-4C02-AB39-F660DCB68BC9}"/>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5" name="Footer Placeholder 4">
            <a:extLst>
              <a:ext uri="{FF2B5EF4-FFF2-40B4-BE49-F238E27FC236}">
                <a16:creationId xmlns:a16="http://schemas.microsoft.com/office/drawing/2014/main" id="{864483DE-968A-49DB-A1FE-3EC9F0859F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A5CA4C-6BA8-413A-B64C-EA685C8018BE}"/>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3021268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F2463-137C-4F52-8850-ACEFDA99CB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9E8567-9DA5-48D8-A76A-F918514324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C17308-EDCA-45AE-A6AD-D2E67FF40B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6B9B68-F6CB-40AE-81E1-D0CC7A52FBDC}"/>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6" name="Footer Placeholder 5">
            <a:extLst>
              <a:ext uri="{FF2B5EF4-FFF2-40B4-BE49-F238E27FC236}">
                <a16:creationId xmlns:a16="http://schemas.microsoft.com/office/drawing/2014/main" id="{002A7ABF-7569-434B-A6ED-8C3F5DAF5B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BD4132-EA87-40F3-A264-8B47F7EBDB9B}"/>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332421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693C-F2AB-419F-A2D6-9ADBB4218B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77E90E-EA47-4F46-92E6-E4824F8DED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9CA7C-FC74-4D24-A627-05D3CD68CF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61943A-E539-4C72-B1D4-8F611E609C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0D6CA7-CE93-4757-917F-A17E591942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FC3211-BAEC-4FF9-8D2F-9706ECC1479E}"/>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8" name="Footer Placeholder 7">
            <a:extLst>
              <a:ext uri="{FF2B5EF4-FFF2-40B4-BE49-F238E27FC236}">
                <a16:creationId xmlns:a16="http://schemas.microsoft.com/office/drawing/2014/main" id="{D9C8BDD0-1955-4C20-A353-37FBADDBD9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2BB139-FE60-45EB-A148-4EAF62069855}"/>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87398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3F85B-5B15-441F-8D27-78466BF7CD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B04DD8-B6B7-4EDA-BC27-DB6DCD498F53}"/>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4" name="Footer Placeholder 3">
            <a:extLst>
              <a:ext uri="{FF2B5EF4-FFF2-40B4-BE49-F238E27FC236}">
                <a16:creationId xmlns:a16="http://schemas.microsoft.com/office/drawing/2014/main" id="{0D2E69DF-BD6E-4B42-B6F7-A14DEAAF928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ED7AD6-CFC5-49C1-9121-C1299C0F765F}"/>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6698023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669049-B164-467D-8660-2521C503FDBF}"/>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3" name="Footer Placeholder 2">
            <a:extLst>
              <a:ext uri="{FF2B5EF4-FFF2-40B4-BE49-F238E27FC236}">
                <a16:creationId xmlns:a16="http://schemas.microsoft.com/office/drawing/2014/main" id="{64B72A01-F305-4CEE-BC89-54AD2B3C37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8D86AF-C5AB-4C87-A7CA-A3EA0914129D}"/>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1320752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1FE1-D86B-44B1-B1F1-34B58768A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27709D-B707-49CC-89D9-4693DADA34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4251D9-65D1-4F6D-8AD3-DE917046E0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922CF8-C968-4947-9E5A-FD5A24B43AB4}"/>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6" name="Footer Placeholder 5">
            <a:extLst>
              <a:ext uri="{FF2B5EF4-FFF2-40B4-BE49-F238E27FC236}">
                <a16:creationId xmlns:a16="http://schemas.microsoft.com/office/drawing/2014/main" id="{B1857975-46DA-4783-9B57-D24475C504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07DE96-5F5C-4D3B-9A28-FB5A8DB0AAE0}"/>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683628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0DD2-CF9D-460F-8556-0A85C57F74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71BC2C-5C6F-4DD5-8B16-61A3147926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9F2AA6-670C-461E-8DC5-F5860D2F94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0541E7-45A7-435B-9AA2-BF663E4E8F07}"/>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6" name="Footer Placeholder 5">
            <a:extLst>
              <a:ext uri="{FF2B5EF4-FFF2-40B4-BE49-F238E27FC236}">
                <a16:creationId xmlns:a16="http://schemas.microsoft.com/office/drawing/2014/main" id="{DA08103A-488D-4A04-840B-B4A59BDA72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2B420B-C689-421B-A7C1-890019557D44}"/>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758045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7B4D-68CA-404A-9540-9D0DE99139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F6C46F-2ACA-421D-87DD-F2944FC652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80E528-BE67-4CE7-BD20-B1A8F7B7ED81}"/>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5" name="Footer Placeholder 4">
            <a:extLst>
              <a:ext uri="{FF2B5EF4-FFF2-40B4-BE49-F238E27FC236}">
                <a16:creationId xmlns:a16="http://schemas.microsoft.com/office/drawing/2014/main" id="{E5A6E3DC-43B8-47E2-80CC-AA56ED27BD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0A7812-3258-49F5-9914-982D2982A4C4}"/>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224448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96FB9-6DFC-42F8-8DFD-2C0E550C32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0C8274-F243-4DF8-A2DC-D03FCE00C6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325F4B-EC79-4974-A337-8AAC0800B6D0}"/>
              </a:ext>
            </a:extLst>
          </p:cNvPr>
          <p:cNvSpPr>
            <a:spLocks noGrp="1"/>
          </p:cNvSpPr>
          <p:nvPr>
            <p:ph type="dt" sz="half" idx="10"/>
          </p:nvPr>
        </p:nvSpPr>
        <p:spPr/>
        <p:txBody>
          <a:bodyPr/>
          <a:lstStyle/>
          <a:p>
            <a:fld id="{E2B0066B-561A-4A34-B976-EC417804CB38}" type="datetimeFigureOut">
              <a:rPr lang="en-IN" smtClean="0"/>
              <a:t>06-11-2023</a:t>
            </a:fld>
            <a:endParaRPr lang="en-IN"/>
          </a:p>
        </p:txBody>
      </p:sp>
      <p:sp>
        <p:nvSpPr>
          <p:cNvPr id="5" name="Footer Placeholder 4">
            <a:extLst>
              <a:ext uri="{FF2B5EF4-FFF2-40B4-BE49-F238E27FC236}">
                <a16:creationId xmlns:a16="http://schemas.microsoft.com/office/drawing/2014/main" id="{5FF715FA-9F71-4638-8804-5C5DAA6CF3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090BE5-6C1C-44D5-85A6-F23D1B445AC7}"/>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426586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BA87DB-C080-E946-EA93-C807DAC46D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09F424-32AD-A804-EDBD-B0103E5529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7694C4-4681-66A1-CEBA-F68388C20B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27EC4-6EC8-411D-A2E8-13C594B83A21}" type="datetimeFigureOut">
              <a:rPr lang="en-IN" smtClean="0"/>
              <a:t>06-11-2023</a:t>
            </a:fld>
            <a:endParaRPr lang="en-IN"/>
          </a:p>
        </p:txBody>
      </p:sp>
      <p:sp>
        <p:nvSpPr>
          <p:cNvPr id="5" name="Footer Placeholder 4">
            <a:extLst>
              <a:ext uri="{FF2B5EF4-FFF2-40B4-BE49-F238E27FC236}">
                <a16:creationId xmlns:a16="http://schemas.microsoft.com/office/drawing/2014/main" id="{4A0AEC56-1D97-D23A-6ABC-D465911E79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7657604-2F03-F78F-5D39-9446D2AB46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8C9ABC-8E1F-4968-A1BA-5BEB400FF994}" type="slidenum">
              <a:rPr lang="en-IN" smtClean="0"/>
              <a:t>‹#›</a:t>
            </a:fld>
            <a:endParaRPr lang="en-IN"/>
          </a:p>
        </p:txBody>
      </p:sp>
    </p:spTree>
    <p:extLst>
      <p:ext uri="{BB962C8B-B14F-4D97-AF65-F5344CB8AC3E}">
        <p14:creationId xmlns:p14="http://schemas.microsoft.com/office/powerpoint/2010/main" val="2911855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1CCE47-1028-4809-AF88-A01235C4E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9D16CD-9061-4DBB-8A3F-BBC5EA38C3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9C9D53-1AED-4107-939A-14173EC56E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0066B-561A-4A34-B976-EC417804CB38}" type="datetimeFigureOut">
              <a:rPr lang="en-IN" smtClean="0"/>
              <a:t>06-11-2023</a:t>
            </a:fld>
            <a:endParaRPr lang="en-IN"/>
          </a:p>
        </p:txBody>
      </p:sp>
      <p:sp>
        <p:nvSpPr>
          <p:cNvPr id="5" name="Footer Placeholder 4">
            <a:extLst>
              <a:ext uri="{FF2B5EF4-FFF2-40B4-BE49-F238E27FC236}">
                <a16:creationId xmlns:a16="http://schemas.microsoft.com/office/drawing/2014/main" id="{8548C60C-8B93-4BC6-B639-0BAFB07AE8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91CB95-A6D6-49B1-A04A-E8A2F49340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B7D1E6-98C0-4213-9634-FB975198A19A}" type="slidenum">
              <a:rPr lang="en-IN" smtClean="0"/>
              <a:t>‹#›</a:t>
            </a:fld>
            <a:endParaRPr lang="en-IN"/>
          </a:p>
        </p:txBody>
      </p:sp>
    </p:spTree>
    <p:extLst>
      <p:ext uri="{BB962C8B-B14F-4D97-AF65-F5344CB8AC3E}">
        <p14:creationId xmlns:p14="http://schemas.microsoft.com/office/powerpoint/2010/main" val="36770184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64DE8B-EE9B-436E-8C42-05E6A3F0FF25}"/>
              </a:ext>
            </a:extLst>
          </p:cNvPr>
          <p:cNvSpPr txBox="1"/>
          <p:nvPr/>
        </p:nvSpPr>
        <p:spPr>
          <a:xfrm>
            <a:off x="2025444" y="79957"/>
            <a:ext cx="705956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One-to-One Relationship Conventions in Entity Framework Core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7956036-FC12-490C-84DC-70BBF778C16B}"/>
              </a:ext>
            </a:extLst>
          </p:cNvPr>
          <p:cNvSpPr txBox="1"/>
          <p:nvPr/>
        </p:nvSpPr>
        <p:spPr>
          <a:xfrm>
            <a:off x="0" y="449289"/>
            <a:ext cx="1203468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EF Core, a one-to-one relationship requires a reference navigation property at both sides. The following Student and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entities follow the convention for the one-to-one relationship.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61D90B2A-BBE4-4CCA-9389-07E224E8163F}"/>
              </a:ext>
            </a:extLst>
          </p:cNvPr>
          <p:cNvSpPr txBox="1"/>
          <p:nvPr/>
        </p:nvSpPr>
        <p:spPr>
          <a:xfrm>
            <a:off x="248264" y="1206422"/>
            <a:ext cx="3605981" cy="4181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public class Student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int Id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string Name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a:t>
            </a:r>
            <a:r>
              <a:rPr kumimoji="0" lang="en-IN" sz="14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a:t>
            </a: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Address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public class </a:t>
            </a:r>
            <a:r>
              <a:rPr kumimoji="0" lang="en-IN" sz="14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int </a:t>
            </a:r>
            <a:r>
              <a:rPr kumimoji="0" lang="en-IN" sz="14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StudentAddressId</a:t>
            </a: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string Address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string City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string State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string Country { get; set;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int </a:t>
            </a:r>
            <a:r>
              <a:rPr kumimoji="0" lang="en-IN" sz="1400" b="0" i="0" u="none" strike="noStrike" kern="1200" cap="none" spc="0" normalizeH="0" baseline="0" noProof="0" dirty="0" err="1">
                <a:ln>
                  <a:noFill/>
                </a:ln>
                <a:solidFill>
                  <a:prstClr val="black"/>
                </a:solidFill>
                <a:effectLst/>
                <a:uLnTx/>
                <a:uFillTx/>
                <a:latin typeface="Calibri" panose="020F0502020204030204"/>
                <a:ea typeface="+mn-ea"/>
                <a:cs typeface="+mn-cs"/>
              </a:rPr>
              <a:t>StudentId</a:t>
            </a: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public Student </a:t>
            </a:r>
            <a:r>
              <a:rPr kumimoji="0" lang="en-IN" sz="1400" b="0" i="0" u="none" strike="noStrike" kern="1200" cap="none" spc="0" normalizeH="0" baseline="0" noProof="0" dirty="0" err="1">
                <a:ln>
                  <a:noFill/>
                </a:ln>
                <a:solidFill>
                  <a:prstClr val="black"/>
                </a:solidFill>
                <a:effectLst/>
                <a:uLnTx/>
                <a:uFillTx/>
                <a:latin typeface="Calibri" panose="020F0502020204030204"/>
                <a:ea typeface="+mn-ea"/>
                <a:cs typeface="+mn-cs"/>
              </a:rPr>
              <a:t>Student</a:t>
            </a: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 get; 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1" name="TextBox 10">
            <a:extLst>
              <a:ext uri="{FF2B5EF4-FFF2-40B4-BE49-F238E27FC236}">
                <a16:creationId xmlns:a16="http://schemas.microsoft.com/office/drawing/2014/main" id="{34C1F6AC-465A-4357-9CDD-04B45E873E64}"/>
              </a:ext>
            </a:extLst>
          </p:cNvPr>
          <p:cNvSpPr txBox="1"/>
          <p:nvPr/>
        </p:nvSpPr>
        <p:spPr>
          <a:xfrm>
            <a:off x="0" y="5597379"/>
            <a:ext cx="10419736"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the example above, the Student entity includes a reference navigation property of type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entity includes a foreign key property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its corresponding reference property Student. This will result in a one-to-one relationship in corresponding tables Students and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the database, as shown below.</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8E751497-04A7-4BFA-B730-4C4CD9C7FD8B}"/>
              </a:ext>
            </a:extLst>
          </p:cNvPr>
          <p:cNvPicPr>
            <a:picLocks noChangeAspect="1"/>
          </p:cNvPicPr>
          <p:nvPr/>
        </p:nvPicPr>
        <p:blipFill>
          <a:blip r:embed="rId2"/>
          <a:stretch>
            <a:fillRect/>
          </a:stretch>
        </p:blipFill>
        <p:spPr>
          <a:xfrm>
            <a:off x="7971811" y="1185862"/>
            <a:ext cx="3971925" cy="4486275"/>
          </a:xfrm>
          <a:prstGeom prst="rect">
            <a:avLst/>
          </a:prstGeom>
        </p:spPr>
      </p:pic>
      <p:sp>
        <p:nvSpPr>
          <p:cNvPr id="14" name="TextBox 13">
            <a:extLst>
              <a:ext uri="{FF2B5EF4-FFF2-40B4-BE49-F238E27FC236}">
                <a16:creationId xmlns:a16="http://schemas.microsoft.com/office/drawing/2014/main" id="{49919D91-5EC8-4256-ADCA-1E9CAE06FE3B}"/>
              </a:ext>
            </a:extLst>
          </p:cNvPr>
          <p:cNvSpPr txBox="1"/>
          <p:nvPr/>
        </p:nvSpPr>
        <p:spPr>
          <a:xfrm>
            <a:off x="3640240" y="1444486"/>
            <a:ext cx="4628689" cy="341632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EF Core creates a unique index on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NotNull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foreign key column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table, as shown above. This ensures that the value of the foreign key column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must be unique in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StudentAddress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table, which is necessary of a one-to-one relationship.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Note: Unique constraint is supported in Entity Framework Core but not in EF 6 and that's why EF Core includes conventions for one-to-one relationship but not EF 6.x.</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8531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414E01F-62CB-4FF5-C334-C79C9DC4A984}"/>
              </a:ext>
            </a:extLst>
          </p:cNvPr>
          <p:cNvSpPr>
            <a:spLocks noChangeArrowheads="1"/>
          </p:cNvSpPr>
          <p:nvPr/>
        </p:nvSpPr>
        <p:spPr bwMode="auto">
          <a:xfrm>
            <a:off x="0" y="107428"/>
            <a:ext cx="5316718" cy="618630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class</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highlight>
                  <a:srgbClr val="FFFF00"/>
                </a:highlight>
                <a:latin typeface="Menlo"/>
              </a:rPr>
              <a:t>Author</a:t>
            </a:r>
            <a:endParaRPr kumimoji="0" lang="en-US" altLang="en-US" sz="1600" b="0" i="0" u="none" strike="noStrike" cap="none" normalizeH="0" baseline="0" dirty="0">
              <a:ln>
                <a:noFill/>
              </a:ln>
              <a:solidFill>
                <a:srgbClr val="333333"/>
              </a:solidFill>
              <a:effectLst/>
              <a:highlight>
                <a:srgbClr val="FFFF00"/>
              </a:highligh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int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highlight>
                  <a:srgbClr val="FFFF00"/>
                </a:highlight>
                <a:latin typeface="Menlo"/>
              </a:rPr>
              <a:t>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LastName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AuthorBiography</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Biography</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class</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AuthorBiography</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int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AuthorBiography</a:t>
            </a:r>
            <a:r>
              <a:rPr kumimoji="0" lang="en-US" altLang="en-US" b="0" i="0" u="none" strike="noStrike" cap="none" normalizeH="0" baseline="0" dirty="0" err="1">
                <a:ln>
                  <a:noFill/>
                </a:ln>
                <a:solidFill>
                  <a:srgbClr val="555555"/>
                </a:solidFill>
                <a:effectLst/>
                <a:highlight>
                  <a:srgbClr val="00FFFF"/>
                </a:highlight>
                <a:latin typeface="Menlo"/>
              </a:rPr>
              <a:t>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Biography</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DateTime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DateOfBirth</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PlaceOfBirth</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Nationality</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int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highlight>
                  <a:srgbClr val="FFFF00"/>
                </a:highlight>
                <a:latin typeface="Menlo"/>
              </a:rPr>
              <a:t>AuthorId</a:t>
            </a:r>
            <a:r>
              <a:rPr kumimoji="0" lang="en-US" altLang="en-US" b="0" i="0" u="none" strike="noStrike" cap="none" normalizeH="0" baseline="0" dirty="0">
                <a:ln>
                  <a:noFill/>
                </a:ln>
                <a:solidFill>
                  <a:srgbClr val="000000"/>
                </a:solidFill>
                <a:effectLst/>
                <a:highlight>
                  <a:srgbClr val="FFFF00"/>
                </a:highligh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E131C99-8D71-F586-DD5E-DF0B3B0E638F}"/>
              </a:ext>
            </a:extLst>
          </p:cNvPr>
          <p:cNvSpPr>
            <a:spLocks noChangeArrowheads="1"/>
          </p:cNvSpPr>
          <p:nvPr/>
        </p:nvSpPr>
        <p:spPr bwMode="auto">
          <a:xfrm>
            <a:off x="5960884" y="554339"/>
            <a:ext cx="5184742" cy="132343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EF Core will generate a unique index on the </a:t>
            </a:r>
            <a:r>
              <a:rPr kumimoji="0" lang="en-US" altLang="en-US" sz="1400" b="0" i="0" u="none" strike="noStrike" cap="none" normalizeH="0" baseline="0">
                <a:ln>
                  <a:noFill/>
                </a:ln>
                <a:solidFill>
                  <a:srgbClr val="C7254E"/>
                </a:solidFill>
                <a:effectLst/>
                <a:latin typeface="Menlo"/>
              </a:rPr>
              <a:t>AuthorId</a:t>
            </a:r>
            <a:r>
              <a:rPr kumimoji="0" lang="en-US" altLang="en-US" sz="16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foreign key column in the AuthorBiographies table to ensure that only one biography can be associated with any particular author.</a:t>
            </a:r>
            <a:r>
              <a:rPr kumimoji="0" lang="en-US" altLang="en-US" sz="1200" b="0" i="0" u="none" strike="noStrike" cap="none" normalizeH="0" baseline="0">
                <a:ln>
                  <a:noFill/>
                </a:ln>
                <a:solidFill>
                  <a:schemeClr val="tx1"/>
                </a:solidFill>
                <a:effectLst/>
              </a:rPr>
              <a:t> </a:t>
            </a:r>
            <a:endParaRPr kumimoji="0" lang="en-US" altLang="en-US" sz="3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252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FC4796-2AE4-F0DA-BCB9-D2B94CFA969F}"/>
              </a:ext>
            </a:extLst>
          </p:cNvPr>
          <p:cNvSpPr txBox="1"/>
          <p:nvPr/>
        </p:nvSpPr>
        <p:spPr>
          <a:xfrm>
            <a:off x="120191" y="408876"/>
            <a:ext cx="11422929" cy="1477328"/>
          </a:xfrm>
          <a:prstGeom prst="rect">
            <a:avLst/>
          </a:prstGeom>
          <a:noFill/>
        </p:spPr>
        <p:txBody>
          <a:bodyPr wrap="square">
            <a:spAutoFit/>
          </a:bodyPr>
          <a:lstStyle/>
          <a:p>
            <a:r>
              <a:rPr lang="en-US" b="0" i="0" dirty="0">
                <a:solidFill>
                  <a:srgbClr val="333333"/>
                </a:solidFill>
                <a:effectLst/>
                <a:latin typeface="Open Sans" panose="020B0606030504020204" pitchFamily="34" charset="0"/>
              </a:rPr>
              <a:t>Entity Framework Core configures one-to-one relationships by being able to detect the foreign key property, and thereby identify which is the principal and which is the dependent entity in the relationship. If it is unable to do this, either because the foreign key property name does not follow convention, or because it has not been included in the model, an error message is provided when you attempt to create a migration:</a:t>
            </a:r>
            <a:endParaRPr lang="en-IN" dirty="0"/>
          </a:p>
        </p:txBody>
      </p:sp>
      <p:sp>
        <p:nvSpPr>
          <p:cNvPr id="7" name="TextBox 6">
            <a:extLst>
              <a:ext uri="{FF2B5EF4-FFF2-40B4-BE49-F238E27FC236}">
                <a16:creationId xmlns:a16="http://schemas.microsoft.com/office/drawing/2014/main" id="{7CD48372-0495-B846-EED7-409A40F2ED40}"/>
              </a:ext>
            </a:extLst>
          </p:cNvPr>
          <p:cNvSpPr txBox="1"/>
          <p:nvPr/>
        </p:nvSpPr>
        <p:spPr>
          <a:xfrm>
            <a:off x="3443140" y="0"/>
            <a:ext cx="4249131"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b="0" i="0" dirty="0">
                <a:solidFill>
                  <a:srgbClr val="004867"/>
                </a:solidFill>
                <a:effectLst/>
                <a:latin typeface="Roboto" panose="02000000000000000000" pitchFamily="2" charset="0"/>
              </a:rPr>
              <a:t>EF Core One To One Relationship</a:t>
            </a:r>
          </a:p>
        </p:txBody>
      </p:sp>
      <p:sp>
        <p:nvSpPr>
          <p:cNvPr id="9" name="TextBox 8">
            <a:extLst>
              <a:ext uri="{FF2B5EF4-FFF2-40B4-BE49-F238E27FC236}">
                <a16:creationId xmlns:a16="http://schemas.microsoft.com/office/drawing/2014/main" id="{DDCD89F0-636D-58E6-89C9-87D2C904EC7B}"/>
              </a:ext>
            </a:extLst>
          </p:cNvPr>
          <p:cNvSpPr txBox="1"/>
          <p:nvPr/>
        </p:nvSpPr>
        <p:spPr>
          <a:xfrm>
            <a:off x="127065" y="1836445"/>
            <a:ext cx="11790575"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0" i="0" dirty="0">
                <a:solidFill>
                  <a:srgbClr val="333333"/>
                </a:solidFill>
                <a:effectLst/>
                <a:latin typeface="Open Sans" panose="020B0606030504020204" pitchFamily="34" charset="0"/>
              </a:rPr>
              <a:t>The child/dependent side could not be determined for the one-to-one relationship that was detected between '&lt;entity1.property2&gt;' and '&lt;entity2.property1&gt;'. To identify the child/dependent side of the relationship, configure the foreign key property.</a:t>
            </a:r>
            <a:endParaRPr lang="en-IN" dirty="0"/>
          </a:p>
        </p:txBody>
      </p:sp>
      <p:sp>
        <p:nvSpPr>
          <p:cNvPr id="12" name="TextBox 11">
            <a:extLst>
              <a:ext uri="{FF2B5EF4-FFF2-40B4-BE49-F238E27FC236}">
                <a16:creationId xmlns:a16="http://schemas.microsoft.com/office/drawing/2014/main" id="{BCAC5761-789B-C381-59FC-F3B27F05B573}"/>
              </a:ext>
            </a:extLst>
          </p:cNvPr>
          <p:cNvSpPr txBox="1"/>
          <p:nvPr/>
        </p:nvSpPr>
        <p:spPr>
          <a:xfrm>
            <a:off x="5831655" y="2756183"/>
            <a:ext cx="6094428" cy="286232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class</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latin typeface="Menlo"/>
              </a:rPr>
              <a:t>AuthorBiography</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int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latin typeface="Menlo"/>
              </a:rPr>
              <a:t>AuthorBiographyId</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get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string</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555555"/>
                </a:solidFill>
                <a:effectLst/>
                <a:latin typeface="Menlo"/>
              </a:rPr>
              <a:t>Biography</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get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latin typeface="Menlo"/>
              </a:rPr>
              <a:t>DateTime</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latin typeface="Menlo"/>
              </a:rPr>
              <a:t>DateOfBirth</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get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string</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latin typeface="Menlo"/>
              </a:rPr>
              <a:t>PlaceOfBirth</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get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string</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555555"/>
                </a:solidFill>
                <a:effectLst/>
                <a:latin typeface="Menlo"/>
              </a:rPr>
              <a:t>Nationality</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get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int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highlight>
                  <a:srgbClr val="00FFFF"/>
                </a:highlight>
                <a:latin typeface="Menlo"/>
              </a:rPr>
              <a:t>AuthorRef</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get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public</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555555"/>
                </a:solidFill>
                <a:effectLst/>
                <a:latin typeface="Menlo"/>
              </a:rPr>
              <a:t>Author</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latin typeface="Menlo"/>
              </a:rPr>
              <a:t>Author</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get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set</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p:txBody>
      </p:sp>
      <p:sp>
        <p:nvSpPr>
          <p:cNvPr id="14" name="TextBox 13">
            <a:extLst>
              <a:ext uri="{FF2B5EF4-FFF2-40B4-BE49-F238E27FC236}">
                <a16:creationId xmlns:a16="http://schemas.microsoft.com/office/drawing/2014/main" id="{86F59E45-C6A2-646B-162F-8488E1388B79}"/>
              </a:ext>
            </a:extLst>
          </p:cNvPr>
          <p:cNvSpPr txBox="1"/>
          <p:nvPr/>
        </p:nvSpPr>
        <p:spPr>
          <a:xfrm>
            <a:off x="265916" y="2812614"/>
            <a:ext cx="4522900"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Menlo"/>
                <a:ea typeface="+mn-ea"/>
                <a:cs typeface="+mn-cs"/>
              </a:rPr>
              <a:t>public</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class</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555555"/>
                </a:solidFill>
                <a:effectLst/>
                <a:uLnTx/>
                <a:uFillTx/>
                <a:latin typeface="Menlo"/>
                <a:ea typeface="+mn-ea"/>
                <a:cs typeface="+mn-cs"/>
              </a:rPr>
              <a:t>Author</a:t>
            </a:r>
            <a:endParaRPr kumimoji="0" lang="en-US" altLang="en-US" sz="1600" b="0" i="0" u="none" strike="noStrike" kern="1200" cap="none" spc="0" normalizeH="0" baseline="0" noProof="0" dirty="0">
              <a:ln>
                <a:noFill/>
              </a:ln>
              <a:solidFill>
                <a:srgbClr val="333333"/>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endParaRPr kumimoji="0" lang="en-US" altLang="en-US" sz="1600" b="0" i="0" u="none" strike="noStrike" kern="1200" cap="none" spc="0" normalizeH="0" baseline="0" noProof="0" dirty="0">
              <a:ln>
                <a:noFill/>
              </a:ln>
              <a:solidFill>
                <a:srgbClr val="333333"/>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Menlo"/>
                <a:ea typeface="+mn-ea"/>
                <a:cs typeface="+mn-cs"/>
              </a:rPr>
              <a:t>public</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int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err="1">
                <a:ln>
                  <a:noFill/>
                </a:ln>
                <a:solidFill>
                  <a:srgbClr val="555555"/>
                </a:solidFill>
                <a:effectLst/>
                <a:uLnTx/>
                <a:uFillTx/>
                <a:latin typeface="Menlo"/>
                <a:ea typeface="+mn-ea"/>
                <a:cs typeface="+mn-cs"/>
              </a:rPr>
              <a:t>AuthorId</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get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set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endParaRPr kumimoji="0" lang="en-US" altLang="en-US" sz="1600" b="0" i="0" u="none" strike="noStrike" kern="1200" cap="none" spc="0" normalizeH="0" baseline="0" noProof="0" dirty="0">
              <a:ln>
                <a:noFill/>
              </a:ln>
              <a:solidFill>
                <a:srgbClr val="333333"/>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Menlo"/>
                <a:ea typeface="+mn-ea"/>
                <a:cs typeface="+mn-cs"/>
              </a:rPr>
              <a:t>public</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string</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555555"/>
                </a:solidFill>
                <a:effectLst/>
                <a:uLnTx/>
                <a:uFillTx/>
                <a:latin typeface="Menlo"/>
                <a:ea typeface="+mn-ea"/>
                <a:cs typeface="+mn-cs"/>
              </a:rPr>
              <a:t>FirstName</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get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set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endParaRPr kumimoji="0" lang="en-US" altLang="en-US" sz="1600" b="0" i="0" u="none" strike="noStrike" kern="1200" cap="none" spc="0" normalizeH="0" baseline="0" noProof="0" dirty="0">
              <a:ln>
                <a:noFill/>
              </a:ln>
              <a:solidFill>
                <a:srgbClr val="333333"/>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Menlo"/>
                <a:ea typeface="+mn-ea"/>
                <a:cs typeface="+mn-cs"/>
              </a:rPr>
              <a:t>public</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string</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err="1">
                <a:ln>
                  <a:noFill/>
                </a:ln>
                <a:solidFill>
                  <a:srgbClr val="555555"/>
                </a:solidFill>
                <a:effectLst/>
                <a:uLnTx/>
                <a:uFillTx/>
                <a:latin typeface="Menlo"/>
                <a:ea typeface="+mn-ea"/>
                <a:cs typeface="+mn-cs"/>
              </a:rPr>
              <a:t>LastName</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get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set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endParaRPr kumimoji="0" lang="en-US" altLang="en-US" sz="1600" b="0" i="0" u="none" strike="noStrike" kern="1200" cap="none" spc="0" normalizeH="0" baseline="0" noProof="0" dirty="0">
              <a:ln>
                <a:noFill/>
              </a:ln>
              <a:solidFill>
                <a:srgbClr val="333333"/>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Menlo"/>
                <a:ea typeface="+mn-ea"/>
                <a:cs typeface="+mn-cs"/>
              </a:rPr>
              <a:t>public</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err="1">
                <a:ln>
                  <a:noFill/>
                </a:ln>
                <a:solidFill>
                  <a:srgbClr val="555555"/>
                </a:solidFill>
                <a:effectLst/>
                <a:uLnTx/>
                <a:uFillTx/>
                <a:latin typeface="Menlo"/>
                <a:ea typeface="+mn-ea"/>
                <a:cs typeface="+mn-cs"/>
              </a:rPr>
              <a:t>AuthorBiography</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555555"/>
                </a:solidFill>
                <a:effectLst/>
                <a:uLnTx/>
                <a:uFillTx/>
                <a:latin typeface="Menlo"/>
                <a:ea typeface="+mn-ea"/>
                <a:cs typeface="+mn-cs"/>
              </a:rPr>
              <a:t>Biography</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get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0000FF"/>
                </a:solidFill>
                <a:effectLst/>
                <a:uLnTx/>
                <a:uFillTx/>
                <a:latin typeface="Menlo"/>
                <a:ea typeface="+mn-ea"/>
                <a:cs typeface="+mn-cs"/>
              </a:rPr>
              <a:t>set</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r>
              <a:rPr kumimoji="0" lang="en-US" altLang="en-US" b="0" i="0" u="none" strike="noStrike" kern="1200" cap="none" spc="0" normalizeH="0" baseline="0" noProof="0" dirty="0">
                <a:ln>
                  <a:noFill/>
                </a:ln>
                <a:solidFill>
                  <a:srgbClr val="000000"/>
                </a:solidFill>
                <a:effectLst/>
                <a:uLnTx/>
                <a:uFillTx/>
                <a:latin typeface="Menlo"/>
                <a:ea typeface="+mn-ea"/>
                <a:cs typeface="+mn-cs"/>
              </a:rPr>
              <a:t> </a:t>
            </a: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endParaRPr kumimoji="0" lang="en-US" altLang="en-US" sz="1600" b="0" i="0" u="none" strike="noStrike" kern="1200" cap="none" spc="0" normalizeH="0" baseline="0" noProof="0" dirty="0">
              <a:ln>
                <a:noFill/>
              </a:ln>
              <a:solidFill>
                <a:srgbClr val="333333"/>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666600"/>
                </a:solidFill>
                <a:effectLst/>
                <a:uLnTx/>
                <a:uFillTx/>
                <a:latin typeface="Menlo"/>
                <a:ea typeface="+mn-ea"/>
                <a:cs typeface="+mn-cs"/>
              </a:rPr>
              <a:t>}</a:t>
            </a:r>
            <a:endParaRPr lang="en-IN" sz="3200" dirty="0"/>
          </a:p>
        </p:txBody>
      </p:sp>
      <p:sp>
        <p:nvSpPr>
          <p:cNvPr id="17" name="TextBox 16">
            <a:extLst>
              <a:ext uri="{FF2B5EF4-FFF2-40B4-BE49-F238E27FC236}">
                <a16:creationId xmlns:a16="http://schemas.microsoft.com/office/drawing/2014/main" id="{6CB4D85D-E0EF-A055-6BBF-03D167FF9297}"/>
              </a:ext>
            </a:extLst>
          </p:cNvPr>
          <p:cNvSpPr txBox="1"/>
          <p:nvPr/>
        </p:nvSpPr>
        <p:spPr>
          <a:xfrm>
            <a:off x="127064" y="5455930"/>
            <a:ext cx="11599879" cy="116955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00FF"/>
                </a:solidFill>
                <a:effectLst/>
                <a:latin typeface="Menlo"/>
              </a:rPr>
              <a:t>protected</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override</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a:ln>
                  <a:noFill/>
                </a:ln>
                <a:solidFill>
                  <a:srgbClr val="0000FF"/>
                </a:solidFill>
                <a:effectLst/>
                <a:latin typeface="Menlo"/>
              </a:rPr>
              <a:t>void</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555555"/>
                </a:solidFill>
                <a:effectLst/>
                <a:latin typeface="Menlo"/>
              </a:rPr>
              <a:t>OnModelCreating</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err="1">
                <a:ln>
                  <a:noFill/>
                </a:ln>
                <a:solidFill>
                  <a:srgbClr val="555555"/>
                </a:solidFill>
                <a:effectLst/>
                <a:latin typeface="Menlo"/>
              </a:rPr>
              <a:t>ModelBuilder</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000000"/>
                </a:solidFill>
                <a:effectLst/>
                <a:latin typeface="Menlo"/>
              </a:rPr>
              <a:t>modelBuilder</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eaLnBrk="0" fontAlgn="base" hangingPunct="0">
              <a:spcBef>
                <a:spcPct val="0"/>
              </a:spcBef>
              <a:spcAft>
                <a:spcPct val="0"/>
              </a:spcAft>
            </a:pPr>
            <a:r>
              <a:rPr kumimoji="0" lang="en-US" altLang="en-US" sz="1800" b="0" i="0" u="none" strike="noStrike" cap="none" normalizeH="0" baseline="0" dirty="0">
                <a:ln>
                  <a:noFill/>
                </a:ln>
                <a:solidFill>
                  <a:srgbClr val="666600"/>
                </a:solidFill>
                <a:effectLst/>
                <a:latin typeface="Menlo"/>
              </a:rPr>
              <a:t>{    </a:t>
            </a:r>
            <a:r>
              <a:rPr kumimoji="0" lang="en-US" altLang="en-US" sz="1800" b="0" i="0" u="none" strike="noStrike" cap="none" normalizeH="0" baseline="0" dirty="0" err="1">
                <a:ln>
                  <a:noFill/>
                </a:ln>
                <a:solidFill>
                  <a:srgbClr val="000000"/>
                </a:solidFill>
                <a:effectLst/>
                <a:latin typeface="Menlo"/>
              </a:rPr>
              <a:t>modelBuilder</a:t>
            </a:r>
            <a:r>
              <a:rPr kumimoji="0" lang="en-US" altLang="en-US" sz="1800" b="0" i="0" u="none" strike="noStrike" cap="none" normalizeH="0" baseline="0" dirty="0" err="1">
                <a:ln>
                  <a:noFill/>
                </a:ln>
                <a:solidFill>
                  <a:srgbClr val="666600"/>
                </a:solidFill>
                <a:effectLst/>
                <a:latin typeface="Menlo"/>
              </a:rPr>
              <a:t>.</a:t>
            </a:r>
            <a:r>
              <a:rPr kumimoji="0" lang="en-US" altLang="en-US" sz="1800" b="0" i="0" u="none" strike="noStrike" cap="none" normalizeH="0" baseline="0" dirty="0" err="1">
                <a:ln>
                  <a:noFill/>
                </a:ln>
                <a:solidFill>
                  <a:srgbClr val="555555"/>
                </a:solidFill>
                <a:effectLst/>
                <a:latin typeface="Menlo"/>
              </a:rPr>
              <a:t>Entity</a:t>
            </a:r>
            <a:r>
              <a:rPr kumimoji="0" lang="en-US" altLang="en-US" sz="1800" b="0" i="0" u="none" strike="noStrike" cap="none" normalizeH="0" baseline="0" dirty="0">
                <a:ln>
                  <a:noFill/>
                </a:ln>
                <a:solidFill>
                  <a:srgbClr val="666600"/>
                </a:solidFill>
                <a:effectLst/>
                <a:latin typeface="Menlo"/>
              </a:rPr>
              <a:t>&lt;</a:t>
            </a:r>
            <a:r>
              <a:rPr kumimoji="0" lang="en-US" altLang="en-US" sz="1800" b="0" i="0" u="none" strike="noStrike" cap="none" normalizeH="0" baseline="0" dirty="0">
                <a:ln>
                  <a:noFill/>
                </a:ln>
                <a:solidFill>
                  <a:srgbClr val="555555"/>
                </a:solidFill>
                <a:effectLst/>
                <a:latin typeface="Menlo"/>
              </a:rPr>
              <a:t>Author</a:t>
            </a:r>
            <a:r>
              <a:rPr kumimoji="0" lang="en-US" altLang="en-US" sz="1800" b="0" i="0" u="none" strike="noStrike" cap="none" normalizeH="0" baseline="0" dirty="0">
                <a:ln>
                  <a:noFill/>
                </a:ln>
                <a:solidFill>
                  <a:srgbClr val="666600"/>
                </a:solidFill>
                <a:effectLst/>
                <a:latin typeface="Menlo"/>
              </a:rPr>
              <a:t>&gt;().</a:t>
            </a:r>
            <a:r>
              <a:rPr kumimoji="0" lang="en-US" altLang="en-US" sz="1800" b="0" i="0" u="none" strike="noStrike" cap="none" normalizeH="0" baseline="0" dirty="0" err="1">
                <a:ln>
                  <a:noFill/>
                </a:ln>
                <a:solidFill>
                  <a:srgbClr val="555555"/>
                </a:solidFill>
                <a:effectLst/>
                <a:latin typeface="Menlo"/>
              </a:rPr>
              <a:t>HasOne</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a </a:t>
            </a:r>
            <a:r>
              <a:rPr kumimoji="0" lang="en-US" altLang="en-US" sz="1800" b="0" i="0" u="none" strike="noStrike" cap="none" normalizeH="0" baseline="0" dirty="0">
                <a:ln>
                  <a:noFill/>
                </a:ln>
                <a:solidFill>
                  <a:srgbClr val="666600"/>
                </a:solidFill>
                <a:effectLst/>
                <a:latin typeface="Menlo"/>
              </a:rPr>
              <a:t>=&gt;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000000"/>
                </a:solidFill>
                <a:effectLst/>
                <a:latin typeface="Menlo"/>
              </a:rPr>
              <a:t>a</a:t>
            </a:r>
            <a:r>
              <a:rPr kumimoji="0" lang="en-US" altLang="en-US" sz="1800" b="0" i="0" u="none" strike="noStrike" cap="none" normalizeH="0" baseline="0" dirty="0" err="1">
                <a:ln>
                  <a:noFill/>
                </a:ln>
                <a:solidFill>
                  <a:srgbClr val="666600"/>
                </a:solidFill>
                <a:effectLst/>
                <a:latin typeface="Menlo"/>
              </a:rPr>
              <a:t>.</a:t>
            </a:r>
            <a:r>
              <a:rPr kumimoji="0" lang="en-US" altLang="en-US" sz="1800" b="0" i="0" u="none" strike="noStrike" cap="none" normalizeH="0" baseline="0" dirty="0" err="1">
                <a:ln>
                  <a:noFill/>
                </a:ln>
                <a:solidFill>
                  <a:srgbClr val="555555"/>
                </a:solidFill>
                <a:effectLst/>
                <a:latin typeface="Menlo"/>
              </a:rPr>
              <a:t>Biography</a:t>
            </a:r>
            <a:r>
              <a:rPr kumimoji="0" lang="en-US" altLang="en-US" sz="1800" b="0" i="0" u="none" strike="noStrike" cap="none" normalizeH="0" baseline="0" dirty="0">
                <a:ln>
                  <a:noFill/>
                </a:ln>
                <a:solidFill>
                  <a:srgbClr val="666600"/>
                </a:solidFill>
                <a:effectLst/>
                <a:latin typeface="Menlo"/>
              </a:rPr>
              <a:t>) .</a:t>
            </a:r>
            <a:r>
              <a:rPr kumimoji="0" lang="en-US" altLang="en-US" sz="1800" b="0" i="0" u="none" strike="noStrike" cap="none" normalizeH="0" baseline="0" dirty="0" err="1">
                <a:ln>
                  <a:noFill/>
                </a:ln>
                <a:solidFill>
                  <a:srgbClr val="555555"/>
                </a:solidFill>
                <a:effectLst/>
                <a:latin typeface="Menlo"/>
              </a:rPr>
              <a:t>WithOne</a:t>
            </a:r>
            <a:r>
              <a:rPr kumimoji="0" lang="en-US" altLang="en-US" sz="1800" b="0" i="0" u="none" strike="noStrike" cap="none" normalizeH="0" baseline="0" dirty="0">
                <a:ln>
                  <a:noFill/>
                </a:ln>
                <a:solidFill>
                  <a:srgbClr val="666600"/>
                </a:solidFill>
                <a:effectLst/>
                <a:latin typeface="Menlo"/>
              </a:rPr>
              <a:t>(</a:t>
            </a:r>
            <a:r>
              <a:rPr kumimoji="0" lang="en-US" altLang="en-US" sz="1800" b="0" i="0" u="none" strike="noStrike" cap="none" normalizeH="0" baseline="0" dirty="0">
                <a:ln>
                  <a:noFill/>
                </a:ln>
                <a:solidFill>
                  <a:srgbClr val="000000"/>
                </a:solidFill>
                <a:effectLst/>
                <a:latin typeface="Menlo"/>
              </a:rPr>
              <a:t>b </a:t>
            </a:r>
            <a:r>
              <a:rPr kumimoji="0" lang="en-US" altLang="en-US" sz="1800" b="0" i="0" u="none" strike="noStrike" cap="none" normalizeH="0" baseline="0" dirty="0">
                <a:ln>
                  <a:noFill/>
                </a:ln>
                <a:solidFill>
                  <a:srgbClr val="666600"/>
                </a:solidFill>
                <a:effectLst/>
                <a:latin typeface="Menlo"/>
              </a:rPr>
              <a:t>=&gt;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000000"/>
                </a:solidFill>
                <a:effectLst/>
                <a:latin typeface="Menlo"/>
              </a:rPr>
              <a:t>b</a:t>
            </a:r>
            <a:r>
              <a:rPr kumimoji="0" lang="en-US" altLang="en-US" sz="1800" b="0" i="0" u="none" strike="noStrike" cap="none" normalizeH="0" baseline="0" dirty="0" err="1">
                <a:ln>
                  <a:noFill/>
                </a:ln>
                <a:solidFill>
                  <a:srgbClr val="666600"/>
                </a:solidFill>
                <a:effectLst/>
                <a:latin typeface="Menlo"/>
              </a:rPr>
              <a:t>.</a:t>
            </a:r>
            <a:r>
              <a:rPr kumimoji="0" lang="en-US" altLang="en-US" sz="1800" b="0" i="0" u="none" strike="noStrike" cap="none" normalizeH="0" baseline="0" dirty="0" err="1">
                <a:ln>
                  <a:noFill/>
                </a:ln>
                <a:solidFill>
                  <a:srgbClr val="555555"/>
                </a:solidFill>
                <a:effectLst/>
                <a:latin typeface="Menlo"/>
              </a:rPr>
              <a:t>Author</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666600"/>
                </a:solidFill>
                <a:effectLst/>
                <a:latin typeface="Menlo"/>
              </a:rPr>
              <a:t>   .</a:t>
            </a:r>
            <a:r>
              <a:rPr kumimoji="0" lang="en-US" altLang="en-US" sz="1800" b="0" i="0" u="none" strike="noStrike" cap="none" normalizeH="0" baseline="0" dirty="0" err="1">
                <a:ln>
                  <a:noFill/>
                </a:ln>
                <a:solidFill>
                  <a:srgbClr val="555555"/>
                </a:solidFill>
                <a:effectLst/>
                <a:latin typeface="Menlo"/>
              </a:rPr>
              <a:t>HasForeignKey</a:t>
            </a:r>
            <a:r>
              <a:rPr kumimoji="0" lang="en-US" altLang="en-US" sz="1800" b="0" i="0" u="none" strike="noStrike" cap="none" normalizeH="0" baseline="0" dirty="0">
                <a:ln>
                  <a:noFill/>
                </a:ln>
                <a:solidFill>
                  <a:srgbClr val="666600"/>
                </a:solidFill>
                <a:effectLst/>
                <a:latin typeface="Menlo"/>
              </a:rPr>
              <a:t>&lt;</a:t>
            </a:r>
            <a:r>
              <a:rPr kumimoji="0" lang="en-US" altLang="en-US" sz="1800" b="0" i="0" u="none" strike="noStrike" cap="none" normalizeH="0" baseline="0" dirty="0" err="1">
                <a:ln>
                  <a:noFill/>
                </a:ln>
                <a:solidFill>
                  <a:srgbClr val="555555"/>
                </a:solidFill>
                <a:effectLst/>
                <a:latin typeface="Menlo"/>
              </a:rPr>
              <a:t>AuthorBiography</a:t>
            </a:r>
            <a:r>
              <a:rPr kumimoji="0" lang="en-US" altLang="en-US" sz="1800" b="0" i="0" u="none" strike="noStrike" cap="none" normalizeH="0" baseline="0" dirty="0">
                <a:ln>
                  <a:noFill/>
                </a:ln>
                <a:solidFill>
                  <a:srgbClr val="666600"/>
                </a:solidFill>
                <a:effectLst/>
                <a:latin typeface="Menlo"/>
              </a:rPr>
              <a:t>&gt;(</a:t>
            </a:r>
            <a:r>
              <a:rPr kumimoji="0" lang="en-US" altLang="en-US" sz="1800" b="0" i="0" u="none" strike="noStrike" cap="none" normalizeH="0" baseline="0" dirty="0">
                <a:ln>
                  <a:noFill/>
                </a:ln>
                <a:solidFill>
                  <a:srgbClr val="000000"/>
                </a:solidFill>
                <a:effectLst/>
                <a:latin typeface="Menlo"/>
              </a:rPr>
              <a:t>b </a:t>
            </a:r>
            <a:r>
              <a:rPr kumimoji="0" lang="en-US" altLang="en-US" sz="1800" b="0" i="0" u="none" strike="noStrike" cap="none" normalizeH="0" baseline="0" dirty="0">
                <a:ln>
                  <a:noFill/>
                </a:ln>
                <a:solidFill>
                  <a:srgbClr val="666600"/>
                </a:solidFill>
                <a:effectLst/>
                <a:latin typeface="Menlo"/>
              </a:rPr>
              <a:t>=&gt;</a:t>
            </a:r>
            <a:r>
              <a:rPr kumimoji="0" lang="en-US" altLang="en-US" sz="1800" b="0" i="0" u="none" strike="noStrike" cap="none" normalizeH="0" baseline="0" dirty="0">
                <a:ln>
                  <a:noFill/>
                </a:ln>
                <a:solidFill>
                  <a:srgbClr val="000000"/>
                </a:solidFill>
                <a:effectLst/>
                <a:latin typeface="Menlo"/>
              </a:rPr>
              <a:t> </a:t>
            </a:r>
            <a:r>
              <a:rPr kumimoji="0" lang="en-US" altLang="en-US" sz="1800" b="0" i="0" u="none" strike="noStrike" cap="none" normalizeH="0" baseline="0" dirty="0" err="1">
                <a:ln>
                  <a:noFill/>
                </a:ln>
                <a:solidFill>
                  <a:srgbClr val="000000"/>
                </a:solidFill>
                <a:effectLst/>
                <a:latin typeface="Menlo"/>
              </a:rPr>
              <a:t>b</a:t>
            </a:r>
            <a:r>
              <a:rPr kumimoji="0" lang="en-US" altLang="en-US" sz="1800" b="0" i="0" u="none" strike="noStrike" cap="none" normalizeH="0" baseline="0" dirty="0" err="1">
                <a:ln>
                  <a:noFill/>
                </a:ln>
                <a:solidFill>
                  <a:srgbClr val="666600"/>
                </a:solidFill>
                <a:effectLst/>
                <a:latin typeface="Menlo"/>
              </a:rPr>
              <a:t>.</a:t>
            </a:r>
            <a:r>
              <a:rPr kumimoji="0" lang="en-US" altLang="en-US" sz="1800" b="0" i="0" u="none" strike="noStrike" cap="none" normalizeH="0" baseline="0" dirty="0" err="1">
                <a:ln>
                  <a:noFill/>
                </a:ln>
                <a:solidFill>
                  <a:srgbClr val="555555"/>
                </a:solidFill>
                <a:effectLst/>
                <a:latin typeface="Menlo"/>
              </a:rPr>
              <a:t>AuthorRef</a:t>
            </a:r>
            <a:r>
              <a:rPr kumimoji="0" lang="en-US" altLang="en-US" sz="18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333333"/>
              </a:solidFill>
              <a:effectLst/>
              <a:latin typeface="Menlo"/>
            </a:endParaRPr>
          </a:p>
        </p:txBody>
      </p:sp>
    </p:spTree>
    <p:extLst>
      <p:ext uri="{BB962C8B-B14F-4D97-AF65-F5344CB8AC3E}">
        <p14:creationId xmlns:p14="http://schemas.microsoft.com/office/powerpoint/2010/main" val="929669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704</Words>
  <Application>Microsoft Office PowerPoint</Application>
  <PresentationFormat>Widescreen</PresentationFormat>
  <Paragraphs>68</Paragraphs>
  <Slides>3</Slides>
  <Notes>0</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vt:i4>
      </vt:variant>
    </vt:vector>
  </HeadingPairs>
  <TitlesOfParts>
    <vt:vector size="12" baseType="lpstr">
      <vt:lpstr>Arial</vt:lpstr>
      <vt:lpstr>Calibri</vt:lpstr>
      <vt:lpstr>Calibri Light</vt:lpstr>
      <vt:lpstr>Garamond</vt:lpstr>
      <vt:lpstr>Menlo</vt:lpstr>
      <vt:lpstr>Open Sans</vt:lpstr>
      <vt:lpstr>Roboto</vt:lpstr>
      <vt:lpstr>Office Theme</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7</cp:revision>
  <dcterms:created xsi:type="dcterms:W3CDTF">2023-05-15T11:23:59Z</dcterms:created>
  <dcterms:modified xsi:type="dcterms:W3CDTF">2023-11-06T14:51:46Z</dcterms:modified>
</cp:coreProperties>
</file>