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8"/>
  </p:notesMasterIdLst>
  <p:sldIdLst>
    <p:sldId id="256" r:id="rId3"/>
    <p:sldId id="263" r:id="rId4"/>
    <p:sldId id="264" r:id="rId5"/>
    <p:sldId id="265" r:id="rId6"/>
    <p:sldId id="266" r:id="rId7"/>
    <p:sldId id="267" r:id="rId8"/>
    <p:sldId id="268" r:id="rId9"/>
    <p:sldId id="261" r:id="rId10"/>
    <p:sldId id="257" r:id="rId11"/>
    <p:sldId id="258" r:id="rId12"/>
    <p:sldId id="259" r:id="rId13"/>
    <p:sldId id="269" r:id="rId14"/>
    <p:sldId id="319" r:id="rId15"/>
    <p:sldId id="326" r:id="rId16"/>
    <p:sldId id="270" r:id="rId17"/>
    <p:sldId id="271" r:id="rId18"/>
    <p:sldId id="327" r:id="rId19"/>
    <p:sldId id="328" r:id="rId20"/>
    <p:sldId id="329" r:id="rId21"/>
    <p:sldId id="320" r:id="rId22"/>
    <p:sldId id="321" r:id="rId23"/>
    <p:sldId id="322" r:id="rId24"/>
    <p:sldId id="323" r:id="rId25"/>
    <p:sldId id="324" r:id="rId26"/>
    <p:sldId id="32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C5AAB6-5BB5-4A1E-801A-85C83B6935ED}" type="datetimeFigureOut">
              <a:rPr lang="en-IN" smtClean="0"/>
              <a:t>17-04-2025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BFD4B1-1621-4C80-8800-277D00509C53}" type="slidenum">
              <a:rPr lang="en-IN" smtClean="0"/>
              <a:t>‹#›</a:t>
            </a:fld>
            <a:endParaRPr lang="en-IN"/>
          </a:p>
        </p:txBody>
      </p:sp>
    </p:spTree>
    <p:extLst>
      <p:ext uri="{BB962C8B-B14F-4D97-AF65-F5344CB8AC3E}">
        <p14:creationId xmlns:p14="http://schemas.microsoft.com/office/powerpoint/2010/main" val="1780307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6BFD4B1-1621-4C80-8800-277D00509C53}" type="slidenum">
              <a:rPr lang="en-IN" smtClean="0"/>
              <a:t>14</a:t>
            </a:fld>
            <a:endParaRPr lang="en-IN"/>
          </a:p>
        </p:txBody>
      </p:sp>
    </p:spTree>
    <p:extLst>
      <p:ext uri="{BB962C8B-B14F-4D97-AF65-F5344CB8AC3E}">
        <p14:creationId xmlns:p14="http://schemas.microsoft.com/office/powerpoint/2010/main" val="513205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6BB4D-098B-65C0-B6EB-298370A042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8563C20-2DA9-663C-B4BD-E10E0A549A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17AB473-EF20-0A25-0446-2822BD31A13E}"/>
              </a:ext>
            </a:extLst>
          </p:cNvPr>
          <p:cNvSpPr>
            <a:spLocks noGrp="1"/>
          </p:cNvSpPr>
          <p:nvPr>
            <p:ph type="dt" sz="half" idx="10"/>
          </p:nvPr>
        </p:nvSpPr>
        <p:spPr/>
        <p:txBody>
          <a:bodyPr/>
          <a:lstStyle/>
          <a:p>
            <a:fld id="{A12BD278-50ED-40D2-B8A6-5A6AEBCF79C6}" type="datetimeFigureOut">
              <a:rPr lang="en-IN" smtClean="0"/>
              <a:t>17-04-2025</a:t>
            </a:fld>
            <a:endParaRPr lang="en-IN"/>
          </a:p>
        </p:txBody>
      </p:sp>
      <p:sp>
        <p:nvSpPr>
          <p:cNvPr id="5" name="Footer Placeholder 4">
            <a:extLst>
              <a:ext uri="{FF2B5EF4-FFF2-40B4-BE49-F238E27FC236}">
                <a16:creationId xmlns:a16="http://schemas.microsoft.com/office/drawing/2014/main" id="{556202F4-0836-A73F-9624-5334BD5657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4FBFB2-9840-4BE0-B342-64F374627114}"/>
              </a:ext>
            </a:extLst>
          </p:cNvPr>
          <p:cNvSpPr>
            <a:spLocks noGrp="1"/>
          </p:cNvSpPr>
          <p:nvPr>
            <p:ph type="sldNum" sz="quarter" idx="12"/>
          </p:nvPr>
        </p:nvSpPr>
        <p:spPr/>
        <p:txBody>
          <a:bodyPr/>
          <a:lstStyle/>
          <a:p>
            <a:fld id="{EC1CB6F9-F2F2-48D9-8BC7-B6CEDF11DF19}" type="slidenum">
              <a:rPr lang="en-IN" smtClean="0"/>
              <a:t>‹#›</a:t>
            </a:fld>
            <a:endParaRPr lang="en-IN"/>
          </a:p>
        </p:txBody>
      </p:sp>
    </p:spTree>
    <p:extLst>
      <p:ext uri="{BB962C8B-B14F-4D97-AF65-F5344CB8AC3E}">
        <p14:creationId xmlns:p14="http://schemas.microsoft.com/office/powerpoint/2010/main" val="386056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90E26-0666-902F-6C68-5AFFA5F8CA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E09BDA3-6820-497C-F7F5-41410C7629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0AFEC9-6561-6F75-CE97-05B1A206B192}"/>
              </a:ext>
            </a:extLst>
          </p:cNvPr>
          <p:cNvSpPr>
            <a:spLocks noGrp="1"/>
          </p:cNvSpPr>
          <p:nvPr>
            <p:ph type="dt" sz="half" idx="10"/>
          </p:nvPr>
        </p:nvSpPr>
        <p:spPr/>
        <p:txBody>
          <a:bodyPr/>
          <a:lstStyle/>
          <a:p>
            <a:fld id="{A12BD278-50ED-40D2-B8A6-5A6AEBCF79C6}" type="datetimeFigureOut">
              <a:rPr lang="en-IN" smtClean="0"/>
              <a:t>17-04-2025</a:t>
            </a:fld>
            <a:endParaRPr lang="en-IN"/>
          </a:p>
        </p:txBody>
      </p:sp>
      <p:sp>
        <p:nvSpPr>
          <p:cNvPr id="5" name="Footer Placeholder 4">
            <a:extLst>
              <a:ext uri="{FF2B5EF4-FFF2-40B4-BE49-F238E27FC236}">
                <a16:creationId xmlns:a16="http://schemas.microsoft.com/office/drawing/2014/main" id="{D43E771E-F1E7-222F-19B7-869E1695CD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20A98A-DD1D-F3DC-F15D-91E31D52B903}"/>
              </a:ext>
            </a:extLst>
          </p:cNvPr>
          <p:cNvSpPr>
            <a:spLocks noGrp="1"/>
          </p:cNvSpPr>
          <p:nvPr>
            <p:ph type="sldNum" sz="quarter" idx="12"/>
          </p:nvPr>
        </p:nvSpPr>
        <p:spPr/>
        <p:txBody>
          <a:bodyPr/>
          <a:lstStyle/>
          <a:p>
            <a:fld id="{EC1CB6F9-F2F2-48D9-8BC7-B6CEDF11DF19}" type="slidenum">
              <a:rPr lang="en-IN" smtClean="0"/>
              <a:t>‹#›</a:t>
            </a:fld>
            <a:endParaRPr lang="en-IN"/>
          </a:p>
        </p:txBody>
      </p:sp>
    </p:spTree>
    <p:extLst>
      <p:ext uri="{BB962C8B-B14F-4D97-AF65-F5344CB8AC3E}">
        <p14:creationId xmlns:p14="http://schemas.microsoft.com/office/powerpoint/2010/main" val="1198396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091CE-2666-3D75-D725-1A93A06A20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4788386-8ECF-F787-C96D-246663F52B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DBF38D-143B-EE77-2DD8-91236FE1B2BA}"/>
              </a:ext>
            </a:extLst>
          </p:cNvPr>
          <p:cNvSpPr>
            <a:spLocks noGrp="1"/>
          </p:cNvSpPr>
          <p:nvPr>
            <p:ph type="dt" sz="half" idx="10"/>
          </p:nvPr>
        </p:nvSpPr>
        <p:spPr/>
        <p:txBody>
          <a:bodyPr/>
          <a:lstStyle/>
          <a:p>
            <a:fld id="{A12BD278-50ED-40D2-B8A6-5A6AEBCF79C6}" type="datetimeFigureOut">
              <a:rPr lang="en-IN" smtClean="0"/>
              <a:t>17-04-2025</a:t>
            </a:fld>
            <a:endParaRPr lang="en-IN"/>
          </a:p>
        </p:txBody>
      </p:sp>
      <p:sp>
        <p:nvSpPr>
          <p:cNvPr id="5" name="Footer Placeholder 4">
            <a:extLst>
              <a:ext uri="{FF2B5EF4-FFF2-40B4-BE49-F238E27FC236}">
                <a16:creationId xmlns:a16="http://schemas.microsoft.com/office/drawing/2014/main" id="{DEA126F5-D160-8BEF-63D0-C654EDBF95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C10E70-E669-54A1-8D98-B749C2DB8E0F}"/>
              </a:ext>
            </a:extLst>
          </p:cNvPr>
          <p:cNvSpPr>
            <a:spLocks noGrp="1"/>
          </p:cNvSpPr>
          <p:nvPr>
            <p:ph type="sldNum" sz="quarter" idx="12"/>
          </p:nvPr>
        </p:nvSpPr>
        <p:spPr/>
        <p:txBody>
          <a:bodyPr/>
          <a:lstStyle/>
          <a:p>
            <a:fld id="{EC1CB6F9-F2F2-48D9-8BC7-B6CEDF11DF19}" type="slidenum">
              <a:rPr lang="en-IN" smtClean="0"/>
              <a:t>‹#›</a:t>
            </a:fld>
            <a:endParaRPr lang="en-IN"/>
          </a:p>
        </p:txBody>
      </p:sp>
    </p:spTree>
    <p:extLst>
      <p:ext uri="{BB962C8B-B14F-4D97-AF65-F5344CB8AC3E}">
        <p14:creationId xmlns:p14="http://schemas.microsoft.com/office/powerpoint/2010/main" val="3765079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D19B0-D8ED-B63A-3AF7-2C3B1EAC830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98FF24-740B-531E-230D-10B864551F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ED847CD-A769-FADD-BB3D-4919FF44F1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2FAE881-65E8-E694-5782-C42F10142B62}"/>
              </a:ext>
            </a:extLst>
          </p:cNvPr>
          <p:cNvSpPr>
            <a:spLocks noGrp="1"/>
          </p:cNvSpPr>
          <p:nvPr>
            <p:ph type="dt" sz="half" idx="10"/>
          </p:nvPr>
        </p:nvSpPr>
        <p:spPr/>
        <p:txBody>
          <a:bodyPr/>
          <a:lstStyle/>
          <a:p>
            <a:fld id="{A12BD278-50ED-40D2-B8A6-5A6AEBCF79C6}" type="datetimeFigureOut">
              <a:rPr lang="en-IN" smtClean="0"/>
              <a:t>17-04-2025</a:t>
            </a:fld>
            <a:endParaRPr lang="en-IN"/>
          </a:p>
        </p:txBody>
      </p:sp>
      <p:sp>
        <p:nvSpPr>
          <p:cNvPr id="6" name="Footer Placeholder 5">
            <a:extLst>
              <a:ext uri="{FF2B5EF4-FFF2-40B4-BE49-F238E27FC236}">
                <a16:creationId xmlns:a16="http://schemas.microsoft.com/office/drawing/2014/main" id="{0A517E51-FEB5-3CCC-3398-ED6A30BA51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942066-2F25-6A50-5B69-7F2DDCF2F456}"/>
              </a:ext>
            </a:extLst>
          </p:cNvPr>
          <p:cNvSpPr>
            <a:spLocks noGrp="1"/>
          </p:cNvSpPr>
          <p:nvPr>
            <p:ph type="sldNum" sz="quarter" idx="12"/>
          </p:nvPr>
        </p:nvSpPr>
        <p:spPr/>
        <p:txBody>
          <a:bodyPr/>
          <a:lstStyle/>
          <a:p>
            <a:fld id="{EC1CB6F9-F2F2-48D9-8BC7-B6CEDF11DF19}" type="slidenum">
              <a:rPr lang="en-IN" smtClean="0"/>
              <a:t>‹#›</a:t>
            </a:fld>
            <a:endParaRPr lang="en-IN"/>
          </a:p>
        </p:txBody>
      </p:sp>
    </p:spTree>
    <p:extLst>
      <p:ext uri="{BB962C8B-B14F-4D97-AF65-F5344CB8AC3E}">
        <p14:creationId xmlns:p14="http://schemas.microsoft.com/office/powerpoint/2010/main" val="383829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DAC7A-D413-C141-5B73-5F7488FB9CA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224E18-6428-3A67-8A70-817AB32D2A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EA2AFA-3E1D-34A8-BC0E-A4D181B0C3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A5E0046-4E96-01ED-B02B-CB3A2A6A2D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343EA4-1FCC-DEE7-4553-FB68CED2C4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0560CD0-62D4-7C42-C97F-FB9E85CFF998}"/>
              </a:ext>
            </a:extLst>
          </p:cNvPr>
          <p:cNvSpPr>
            <a:spLocks noGrp="1"/>
          </p:cNvSpPr>
          <p:nvPr>
            <p:ph type="dt" sz="half" idx="10"/>
          </p:nvPr>
        </p:nvSpPr>
        <p:spPr/>
        <p:txBody>
          <a:bodyPr/>
          <a:lstStyle/>
          <a:p>
            <a:fld id="{A12BD278-50ED-40D2-B8A6-5A6AEBCF79C6}" type="datetimeFigureOut">
              <a:rPr lang="en-IN" smtClean="0"/>
              <a:t>17-04-2025</a:t>
            </a:fld>
            <a:endParaRPr lang="en-IN"/>
          </a:p>
        </p:txBody>
      </p:sp>
      <p:sp>
        <p:nvSpPr>
          <p:cNvPr id="8" name="Footer Placeholder 7">
            <a:extLst>
              <a:ext uri="{FF2B5EF4-FFF2-40B4-BE49-F238E27FC236}">
                <a16:creationId xmlns:a16="http://schemas.microsoft.com/office/drawing/2014/main" id="{9E0FA8FE-2C92-A8AA-84CB-6CEDD475AA9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2E9C2C0-E722-7E9C-A497-EFF10BB73872}"/>
              </a:ext>
            </a:extLst>
          </p:cNvPr>
          <p:cNvSpPr>
            <a:spLocks noGrp="1"/>
          </p:cNvSpPr>
          <p:nvPr>
            <p:ph type="sldNum" sz="quarter" idx="12"/>
          </p:nvPr>
        </p:nvSpPr>
        <p:spPr/>
        <p:txBody>
          <a:bodyPr/>
          <a:lstStyle/>
          <a:p>
            <a:fld id="{EC1CB6F9-F2F2-48D9-8BC7-B6CEDF11DF19}" type="slidenum">
              <a:rPr lang="en-IN" smtClean="0"/>
              <a:t>‹#›</a:t>
            </a:fld>
            <a:endParaRPr lang="en-IN"/>
          </a:p>
        </p:txBody>
      </p:sp>
    </p:spTree>
    <p:extLst>
      <p:ext uri="{BB962C8B-B14F-4D97-AF65-F5344CB8AC3E}">
        <p14:creationId xmlns:p14="http://schemas.microsoft.com/office/powerpoint/2010/main" val="939651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FFE8B-343E-E1A9-F0DF-D105BE8DFFC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88D738D-C11A-F942-A09E-F2BC2E7E9233}"/>
              </a:ext>
            </a:extLst>
          </p:cNvPr>
          <p:cNvSpPr>
            <a:spLocks noGrp="1"/>
          </p:cNvSpPr>
          <p:nvPr>
            <p:ph type="dt" sz="half" idx="10"/>
          </p:nvPr>
        </p:nvSpPr>
        <p:spPr/>
        <p:txBody>
          <a:bodyPr/>
          <a:lstStyle/>
          <a:p>
            <a:fld id="{A12BD278-50ED-40D2-B8A6-5A6AEBCF79C6}" type="datetimeFigureOut">
              <a:rPr lang="en-IN" smtClean="0"/>
              <a:t>17-04-2025</a:t>
            </a:fld>
            <a:endParaRPr lang="en-IN"/>
          </a:p>
        </p:txBody>
      </p:sp>
      <p:sp>
        <p:nvSpPr>
          <p:cNvPr id="4" name="Footer Placeholder 3">
            <a:extLst>
              <a:ext uri="{FF2B5EF4-FFF2-40B4-BE49-F238E27FC236}">
                <a16:creationId xmlns:a16="http://schemas.microsoft.com/office/drawing/2014/main" id="{58EC0835-C66E-84F0-47FD-55D7762799E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FFD5FDD-49FA-77D5-A5E5-0221A0E0A8FB}"/>
              </a:ext>
            </a:extLst>
          </p:cNvPr>
          <p:cNvSpPr>
            <a:spLocks noGrp="1"/>
          </p:cNvSpPr>
          <p:nvPr>
            <p:ph type="sldNum" sz="quarter" idx="12"/>
          </p:nvPr>
        </p:nvSpPr>
        <p:spPr/>
        <p:txBody>
          <a:bodyPr/>
          <a:lstStyle/>
          <a:p>
            <a:fld id="{EC1CB6F9-F2F2-48D9-8BC7-B6CEDF11DF19}" type="slidenum">
              <a:rPr lang="en-IN" smtClean="0"/>
              <a:t>‹#›</a:t>
            </a:fld>
            <a:endParaRPr lang="en-IN"/>
          </a:p>
        </p:txBody>
      </p:sp>
    </p:spTree>
    <p:extLst>
      <p:ext uri="{BB962C8B-B14F-4D97-AF65-F5344CB8AC3E}">
        <p14:creationId xmlns:p14="http://schemas.microsoft.com/office/powerpoint/2010/main" val="1298269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8AE768-EFDD-1613-0F71-FB534585B169}"/>
              </a:ext>
            </a:extLst>
          </p:cNvPr>
          <p:cNvSpPr>
            <a:spLocks noGrp="1"/>
          </p:cNvSpPr>
          <p:nvPr>
            <p:ph type="dt" sz="half" idx="10"/>
          </p:nvPr>
        </p:nvSpPr>
        <p:spPr/>
        <p:txBody>
          <a:bodyPr/>
          <a:lstStyle/>
          <a:p>
            <a:fld id="{A12BD278-50ED-40D2-B8A6-5A6AEBCF79C6}" type="datetimeFigureOut">
              <a:rPr lang="en-IN" smtClean="0"/>
              <a:t>17-04-2025</a:t>
            </a:fld>
            <a:endParaRPr lang="en-IN"/>
          </a:p>
        </p:txBody>
      </p:sp>
      <p:sp>
        <p:nvSpPr>
          <p:cNvPr id="3" name="Footer Placeholder 2">
            <a:extLst>
              <a:ext uri="{FF2B5EF4-FFF2-40B4-BE49-F238E27FC236}">
                <a16:creationId xmlns:a16="http://schemas.microsoft.com/office/drawing/2014/main" id="{AD27BFC9-63E2-8735-19B3-D2702A7EE20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6059D61-ED19-11BF-54DD-34C44BAC9E25}"/>
              </a:ext>
            </a:extLst>
          </p:cNvPr>
          <p:cNvSpPr>
            <a:spLocks noGrp="1"/>
          </p:cNvSpPr>
          <p:nvPr>
            <p:ph type="sldNum" sz="quarter" idx="12"/>
          </p:nvPr>
        </p:nvSpPr>
        <p:spPr/>
        <p:txBody>
          <a:bodyPr/>
          <a:lstStyle/>
          <a:p>
            <a:fld id="{EC1CB6F9-F2F2-48D9-8BC7-B6CEDF11DF19}" type="slidenum">
              <a:rPr lang="en-IN" smtClean="0"/>
              <a:t>‹#›</a:t>
            </a:fld>
            <a:endParaRPr lang="en-IN"/>
          </a:p>
        </p:txBody>
      </p:sp>
    </p:spTree>
    <p:extLst>
      <p:ext uri="{BB962C8B-B14F-4D97-AF65-F5344CB8AC3E}">
        <p14:creationId xmlns:p14="http://schemas.microsoft.com/office/powerpoint/2010/main" val="3279900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8CF30-C428-E75C-908D-03314E703E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B3ABC43-78A4-BD56-02EA-8562FA89B9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478F398-BE34-A81C-502B-F452251888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21A429-CE4F-1CD8-21BD-639DE804B4C6}"/>
              </a:ext>
            </a:extLst>
          </p:cNvPr>
          <p:cNvSpPr>
            <a:spLocks noGrp="1"/>
          </p:cNvSpPr>
          <p:nvPr>
            <p:ph type="dt" sz="half" idx="10"/>
          </p:nvPr>
        </p:nvSpPr>
        <p:spPr/>
        <p:txBody>
          <a:bodyPr/>
          <a:lstStyle/>
          <a:p>
            <a:fld id="{A12BD278-50ED-40D2-B8A6-5A6AEBCF79C6}" type="datetimeFigureOut">
              <a:rPr lang="en-IN" smtClean="0"/>
              <a:t>17-04-2025</a:t>
            </a:fld>
            <a:endParaRPr lang="en-IN"/>
          </a:p>
        </p:txBody>
      </p:sp>
      <p:sp>
        <p:nvSpPr>
          <p:cNvPr id="6" name="Footer Placeholder 5">
            <a:extLst>
              <a:ext uri="{FF2B5EF4-FFF2-40B4-BE49-F238E27FC236}">
                <a16:creationId xmlns:a16="http://schemas.microsoft.com/office/drawing/2014/main" id="{3799690B-6522-0564-F5AF-7295442BBF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86DEF8-66B3-70AC-4282-52B5091EE19E}"/>
              </a:ext>
            </a:extLst>
          </p:cNvPr>
          <p:cNvSpPr>
            <a:spLocks noGrp="1"/>
          </p:cNvSpPr>
          <p:nvPr>
            <p:ph type="sldNum" sz="quarter" idx="12"/>
          </p:nvPr>
        </p:nvSpPr>
        <p:spPr/>
        <p:txBody>
          <a:bodyPr/>
          <a:lstStyle/>
          <a:p>
            <a:fld id="{EC1CB6F9-F2F2-48D9-8BC7-B6CEDF11DF19}" type="slidenum">
              <a:rPr lang="en-IN" smtClean="0"/>
              <a:t>‹#›</a:t>
            </a:fld>
            <a:endParaRPr lang="en-IN"/>
          </a:p>
        </p:txBody>
      </p:sp>
    </p:spTree>
    <p:extLst>
      <p:ext uri="{BB962C8B-B14F-4D97-AF65-F5344CB8AC3E}">
        <p14:creationId xmlns:p14="http://schemas.microsoft.com/office/powerpoint/2010/main" val="2627462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61DC2-F49F-354B-CBAF-FD912A2BFD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EDFF8A0-D116-29E9-2DF6-7926988841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A79C4E8-ABA5-5E69-8CB0-A707F2F688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03FC89-9885-2B93-4A92-D2EED9CD5FEF}"/>
              </a:ext>
            </a:extLst>
          </p:cNvPr>
          <p:cNvSpPr>
            <a:spLocks noGrp="1"/>
          </p:cNvSpPr>
          <p:nvPr>
            <p:ph type="dt" sz="half" idx="10"/>
          </p:nvPr>
        </p:nvSpPr>
        <p:spPr/>
        <p:txBody>
          <a:bodyPr/>
          <a:lstStyle/>
          <a:p>
            <a:fld id="{A12BD278-50ED-40D2-B8A6-5A6AEBCF79C6}" type="datetimeFigureOut">
              <a:rPr lang="en-IN" smtClean="0"/>
              <a:t>17-04-2025</a:t>
            </a:fld>
            <a:endParaRPr lang="en-IN"/>
          </a:p>
        </p:txBody>
      </p:sp>
      <p:sp>
        <p:nvSpPr>
          <p:cNvPr id="6" name="Footer Placeholder 5">
            <a:extLst>
              <a:ext uri="{FF2B5EF4-FFF2-40B4-BE49-F238E27FC236}">
                <a16:creationId xmlns:a16="http://schemas.microsoft.com/office/drawing/2014/main" id="{16430CE3-04A3-49C2-3514-42BE8783B0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DB7E52-BC40-D5A1-1358-56FADFA55C2E}"/>
              </a:ext>
            </a:extLst>
          </p:cNvPr>
          <p:cNvSpPr>
            <a:spLocks noGrp="1"/>
          </p:cNvSpPr>
          <p:nvPr>
            <p:ph type="sldNum" sz="quarter" idx="12"/>
          </p:nvPr>
        </p:nvSpPr>
        <p:spPr/>
        <p:txBody>
          <a:bodyPr/>
          <a:lstStyle/>
          <a:p>
            <a:fld id="{EC1CB6F9-F2F2-48D9-8BC7-B6CEDF11DF19}" type="slidenum">
              <a:rPr lang="en-IN" smtClean="0"/>
              <a:t>‹#›</a:t>
            </a:fld>
            <a:endParaRPr lang="en-IN"/>
          </a:p>
        </p:txBody>
      </p:sp>
    </p:spTree>
    <p:extLst>
      <p:ext uri="{BB962C8B-B14F-4D97-AF65-F5344CB8AC3E}">
        <p14:creationId xmlns:p14="http://schemas.microsoft.com/office/powerpoint/2010/main" val="3277474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78DE0-61C7-9D3B-C07F-B35EB62E9E9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E44725-D162-F458-7B66-EB6E14122C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7A8822-0BB1-30F4-898D-EBB3970D49B9}"/>
              </a:ext>
            </a:extLst>
          </p:cNvPr>
          <p:cNvSpPr>
            <a:spLocks noGrp="1"/>
          </p:cNvSpPr>
          <p:nvPr>
            <p:ph type="dt" sz="half" idx="10"/>
          </p:nvPr>
        </p:nvSpPr>
        <p:spPr/>
        <p:txBody>
          <a:bodyPr/>
          <a:lstStyle/>
          <a:p>
            <a:fld id="{A12BD278-50ED-40D2-B8A6-5A6AEBCF79C6}" type="datetimeFigureOut">
              <a:rPr lang="en-IN" smtClean="0"/>
              <a:t>17-04-2025</a:t>
            </a:fld>
            <a:endParaRPr lang="en-IN"/>
          </a:p>
        </p:txBody>
      </p:sp>
      <p:sp>
        <p:nvSpPr>
          <p:cNvPr id="5" name="Footer Placeholder 4">
            <a:extLst>
              <a:ext uri="{FF2B5EF4-FFF2-40B4-BE49-F238E27FC236}">
                <a16:creationId xmlns:a16="http://schemas.microsoft.com/office/drawing/2014/main" id="{F8D5F568-AD9B-AF8C-4743-C94F723D43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A6B382-5D60-0C14-F997-319B2EBAFB11}"/>
              </a:ext>
            </a:extLst>
          </p:cNvPr>
          <p:cNvSpPr>
            <a:spLocks noGrp="1"/>
          </p:cNvSpPr>
          <p:nvPr>
            <p:ph type="sldNum" sz="quarter" idx="12"/>
          </p:nvPr>
        </p:nvSpPr>
        <p:spPr/>
        <p:txBody>
          <a:bodyPr/>
          <a:lstStyle/>
          <a:p>
            <a:fld id="{EC1CB6F9-F2F2-48D9-8BC7-B6CEDF11DF19}" type="slidenum">
              <a:rPr lang="en-IN" smtClean="0"/>
              <a:t>‹#›</a:t>
            </a:fld>
            <a:endParaRPr lang="en-IN"/>
          </a:p>
        </p:txBody>
      </p:sp>
    </p:spTree>
    <p:extLst>
      <p:ext uri="{BB962C8B-B14F-4D97-AF65-F5344CB8AC3E}">
        <p14:creationId xmlns:p14="http://schemas.microsoft.com/office/powerpoint/2010/main" val="3383844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2FA9A4-2672-14C3-D0FD-7A8FF735159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6DC88C5-791C-E48E-50A2-4D5A561C63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682385-DD1C-76C5-F8F3-0665826B8A51}"/>
              </a:ext>
            </a:extLst>
          </p:cNvPr>
          <p:cNvSpPr>
            <a:spLocks noGrp="1"/>
          </p:cNvSpPr>
          <p:nvPr>
            <p:ph type="dt" sz="half" idx="10"/>
          </p:nvPr>
        </p:nvSpPr>
        <p:spPr/>
        <p:txBody>
          <a:bodyPr/>
          <a:lstStyle/>
          <a:p>
            <a:fld id="{A12BD278-50ED-40D2-B8A6-5A6AEBCF79C6}" type="datetimeFigureOut">
              <a:rPr lang="en-IN" smtClean="0"/>
              <a:t>17-04-2025</a:t>
            </a:fld>
            <a:endParaRPr lang="en-IN"/>
          </a:p>
        </p:txBody>
      </p:sp>
      <p:sp>
        <p:nvSpPr>
          <p:cNvPr id="5" name="Footer Placeholder 4">
            <a:extLst>
              <a:ext uri="{FF2B5EF4-FFF2-40B4-BE49-F238E27FC236}">
                <a16:creationId xmlns:a16="http://schemas.microsoft.com/office/drawing/2014/main" id="{5CFA513A-6DEF-A1C8-6934-48C180D4B1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3E02B0-89CF-DF3F-33FB-03DAA66726EB}"/>
              </a:ext>
            </a:extLst>
          </p:cNvPr>
          <p:cNvSpPr>
            <a:spLocks noGrp="1"/>
          </p:cNvSpPr>
          <p:nvPr>
            <p:ph type="sldNum" sz="quarter" idx="12"/>
          </p:nvPr>
        </p:nvSpPr>
        <p:spPr/>
        <p:txBody>
          <a:bodyPr/>
          <a:lstStyle/>
          <a:p>
            <a:fld id="{EC1CB6F9-F2F2-48D9-8BC7-B6CEDF11DF19}" type="slidenum">
              <a:rPr lang="en-IN" smtClean="0"/>
              <a:t>‹#›</a:t>
            </a:fld>
            <a:endParaRPr lang="en-IN"/>
          </a:p>
        </p:txBody>
      </p:sp>
    </p:spTree>
    <p:extLst>
      <p:ext uri="{BB962C8B-B14F-4D97-AF65-F5344CB8AC3E}">
        <p14:creationId xmlns:p14="http://schemas.microsoft.com/office/powerpoint/2010/main" val="13055510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6AA53-4F15-432F-A025-1F21676FFE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E820E8F-6345-4C84-8E76-735F691895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83490F9-1904-448B-B4E7-0C3C91FBE7A9}"/>
              </a:ext>
            </a:extLst>
          </p:cNvPr>
          <p:cNvSpPr>
            <a:spLocks noGrp="1"/>
          </p:cNvSpPr>
          <p:nvPr>
            <p:ph type="dt" sz="half" idx="10"/>
          </p:nvPr>
        </p:nvSpPr>
        <p:spPr/>
        <p:txBody>
          <a:bodyPr/>
          <a:lstStyle/>
          <a:p>
            <a:fld id="{E2B0066B-561A-4A34-B976-EC417804CB38}" type="datetimeFigureOut">
              <a:rPr lang="en-IN" smtClean="0"/>
              <a:t>17-04-2025</a:t>
            </a:fld>
            <a:endParaRPr lang="en-IN"/>
          </a:p>
        </p:txBody>
      </p:sp>
      <p:sp>
        <p:nvSpPr>
          <p:cNvPr id="5" name="Footer Placeholder 4">
            <a:extLst>
              <a:ext uri="{FF2B5EF4-FFF2-40B4-BE49-F238E27FC236}">
                <a16:creationId xmlns:a16="http://schemas.microsoft.com/office/drawing/2014/main" id="{B53A760E-E162-4B6E-BD9E-23765FB78D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A30792-4B81-4C6C-800E-413A2790727C}"/>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29371300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7B08D-9FDB-4F01-97A1-9880B6D95082}"/>
              </a:ext>
            </a:extLst>
          </p:cNvPr>
          <p:cNvSpPr>
            <a:spLocks noGrp="1"/>
          </p:cNvSpPr>
          <p:nvPr>
            <p:ph type="title"/>
          </p:nvPr>
        </p:nvSpPr>
        <p:spPr/>
        <p:txBody>
          <a:bodyPr/>
          <a:lstStyle>
            <a:lvl1pPr>
              <a:defRPr>
                <a:latin typeface="Garamond" panose="02020404030301010803" pitchFamily="18" charset="0"/>
              </a:defRPr>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3A65B930-D417-4975-A96A-D951724ED29E}"/>
              </a:ext>
            </a:extLst>
          </p:cNvPr>
          <p:cNvSpPr>
            <a:spLocks noGrp="1"/>
          </p:cNvSpPr>
          <p:nvPr>
            <p:ph idx="1"/>
          </p:nvPr>
        </p:nvSpPr>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E3B6B551-8C10-420E-A00E-7689DBEF28DB}"/>
              </a:ext>
            </a:extLst>
          </p:cNvPr>
          <p:cNvSpPr>
            <a:spLocks noGrp="1"/>
          </p:cNvSpPr>
          <p:nvPr>
            <p:ph type="dt" sz="half" idx="10"/>
          </p:nvPr>
        </p:nvSpPr>
        <p:spPr/>
        <p:txBody>
          <a:bodyPr/>
          <a:lstStyle/>
          <a:p>
            <a:fld id="{E2B0066B-561A-4A34-B976-EC417804CB38}" type="datetimeFigureOut">
              <a:rPr lang="en-IN" smtClean="0"/>
              <a:t>17-04-2025</a:t>
            </a:fld>
            <a:endParaRPr lang="en-IN"/>
          </a:p>
        </p:txBody>
      </p:sp>
      <p:sp>
        <p:nvSpPr>
          <p:cNvPr id="5" name="Footer Placeholder 4">
            <a:extLst>
              <a:ext uri="{FF2B5EF4-FFF2-40B4-BE49-F238E27FC236}">
                <a16:creationId xmlns:a16="http://schemas.microsoft.com/office/drawing/2014/main" id="{6011D206-8393-4B28-AC24-DF799101B6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BDADD6-C9AF-4080-A457-B17B9709317E}"/>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27564271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83327-F092-4DC8-A97F-8AC345FA7E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124DFE8-0652-4DDA-851E-E1EA235A055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41F66C-DA60-4C02-AB39-F660DCB68BC9}"/>
              </a:ext>
            </a:extLst>
          </p:cNvPr>
          <p:cNvSpPr>
            <a:spLocks noGrp="1"/>
          </p:cNvSpPr>
          <p:nvPr>
            <p:ph type="dt" sz="half" idx="10"/>
          </p:nvPr>
        </p:nvSpPr>
        <p:spPr/>
        <p:txBody>
          <a:bodyPr/>
          <a:lstStyle/>
          <a:p>
            <a:fld id="{E2B0066B-561A-4A34-B976-EC417804CB38}" type="datetimeFigureOut">
              <a:rPr lang="en-IN" smtClean="0"/>
              <a:t>17-04-2025</a:t>
            </a:fld>
            <a:endParaRPr lang="en-IN"/>
          </a:p>
        </p:txBody>
      </p:sp>
      <p:sp>
        <p:nvSpPr>
          <p:cNvPr id="5" name="Footer Placeholder 4">
            <a:extLst>
              <a:ext uri="{FF2B5EF4-FFF2-40B4-BE49-F238E27FC236}">
                <a16:creationId xmlns:a16="http://schemas.microsoft.com/office/drawing/2014/main" id="{864483DE-968A-49DB-A1FE-3EC9F0859F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A5CA4C-6BA8-413A-B64C-EA685C8018BE}"/>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3801879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F2463-137C-4F52-8850-ACEFDA99CB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49E8567-9DA5-48D8-A76A-F918514324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5C17308-EDCA-45AE-A6AD-D2E67FF40B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86B9B68-F6CB-40AE-81E1-D0CC7A52FBDC}"/>
              </a:ext>
            </a:extLst>
          </p:cNvPr>
          <p:cNvSpPr>
            <a:spLocks noGrp="1"/>
          </p:cNvSpPr>
          <p:nvPr>
            <p:ph type="dt" sz="half" idx="10"/>
          </p:nvPr>
        </p:nvSpPr>
        <p:spPr/>
        <p:txBody>
          <a:bodyPr/>
          <a:lstStyle/>
          <a:p>
            <a:fld id="{E2B0066B-561A-4A34-B976-EC417804CB38}" type="datetimeFigureOut">
              <a:rPr lang="en-IN" smtClean="0"/>
              <a:t>17-04-2025</a:t>
            </a:fld>
            <a:endParaRPr lang="en-IN"/>
          </a:p>
        </p:txBody>
      </p:sp>
      <p:sp>
        <p:nvSpPr>
          <p:cNvPr id="6" name="Footer Placeholder 5">
            <a:extLst>
              <a:ext uri="{FF2B5EF4-FFF2-40B4-BE49-F238E27FC236}">
                <a16:creationId xmlns:a16="http://schemas.microsoft.com/office/drawing/2014/main" id="{002A7ABF-7569-434B-A6ED-8C3F5DAF5B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BD4132-EA87-40F3-A264-8B47F7EBDB9B}"/>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3132631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D693C-F2AB-419F-A2D6-9ADBB4218B8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977E90E-EA47-4F46-92E6-E4824F8DED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59CA7C-FC74-4D24-A627-05D3CD68CF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D61943A-E539-4C72-B1D4-8F611E609C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0D6CA7-CE93-4757-917F-A17E591942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FC3211-BAEC-4FF9-8D2F-9706ECC1479E}"/>
              </a:ext>
            </a:extLst>
          </p:cNvPr>
          <p:cNvSpPr>
            <a:spLocks noGrp="1"/>
          </p:cNvSpPr>
          <p:nvPr>
            <p:ph type="dt" sz="half" idx="10"/>
          </p:nvPr>
        </p:nvSpPr>
        <p:spPr/>
        <p:txBody>
          <a:bodyPr/>
          <a:lstStyle/>
          <a:p>
            <a:fld id="{E2B0066B-561A-4A34-B976-EC417804CB38}" type="datetimeFigureOut">
              <a:rPr lang="en-IN" smtClean="0"/>
              <a:t>17-04-2025</a:t>
            </a:fld>
            <a:endParaRPr lang="en-IN"/>
          </a:p>
        </p:txBody>
      </p:sp>
      <p:sp>
        <p:nvSpPr>
          <p:cNvPr id="8" name="Footer Placeholder 7">
            <a:extLst>
              <a:ext uri="{FF2B5EF4-FFF2-40B4-BE49-F238E27FC236}">
                <a16:creationId xmlns:a16="http://schemas.microsoft.com/office/drawing/2014/main" id="{D9C8BDD0-1955-4C20-A353-37FBADDBD95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F2BB139-FE60-45EB-A148-4EAF62069855}"/>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28349694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3F85B-5B15-441F-8D27-78466BF7CD7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8B04DD8-B6B7-4EDA-BC27-DB6DCD498F53}"/>
              </a:ext>
            </a:extLst>
          </p:cNvPr>
          <p:cNvSpPr>
            <a:spLocks noGrp="1"/>
          </p:cNvSpPr>
          <p:nvPr>
            <p:ph type="dt" sz="half" idx="10"/>
          </p:nvPr>
        </p:nvSpPr>
        <p:spPr/>
        <p:txBody>
          <a:bodyPr/>
          <a:lstStyle/>
          <a:p>
            <a:fld id="{E2B0066B-561A-4A34-B976-EC417804CB38}" type="datetimeFigureOut">
              <a:rPr lang="en-IN" smtClean="0"/>
              <a:t>17-04-2025</a:t>
            </a:fld>
            <a:endParaRPr lang="en-IN"/>
          </a:p>
        </p:txBody>
      </p:sp>
      <p:sp>
        <p:nvSpPr>
          <p:cNvPr id="4" name="Footer Placeholder 3">
            <a:extLst>
              <a:ext uri="{FF2B5EF4-FFF2-40B4-BE49-F238E27FC236}">
                <a16:creationId xmlns:a16="http://schemas.microsoft.com/office/drawing/2014/main" id="{0D2E69DF-BD6E-4B42-B6F7-A14DEAAF928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EED7AD6-CFC5-49C1-9121-C1299C0F765F}"/>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24854277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669049-B164-467D-8660-2521C503FDBF}"/>
              </a:ext>
            </a:extLst>
          </p:cNvPr>
          <p:cNvSpPr>
            <a:spLocks noGrp="1"/>
          </p:cNvSpPr>
          <p:nvPr>
            <p:ph type="dt" sz="half" idx="10"/>
          </p:nvPr>
        </p:nvSpPr>
        <p:spPr/>
        <p:txBody>
          <a:bodyPr/>
          <a:lstStyle/>
          <a:p>
            <a:fld id="{E2B0066B-561A-4A34-B976-EC417804CB38}" type="datetimeFigureOut">
              <a:rPr lang="en-IN" smtClean="0"/>
              <a:t>17-04-2025</a:t>
            </a:fld>
            <a:endParaRPr lang="en-IN"/>
          </a:p>
        </p:txBody>
      </p:sp>
      <p:sp>
        <p:nvSpPr>
          <p:cNvPr id="3" name="Footer Placeholder 2">
            <a:extLst>
              <a:ext uri="{FF2B5EF4-FFF2-40B4-BE49-F238E27FC236}">
                <a16:creationId xmlns:a16="http://schemas.microsoft.com/office/drawing/2014/main" id="{64B72A01-F305-4CEE-BC89-54AD2B3C374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08D86AF-C5AB-4C87-A7CA-A3EA0914129D}"/>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13810344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E1FE1-D86B-44B1-B1F1-34B58768A5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F27709D-B707-49CC-89D9-4693DADA34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84251D9-65D1-4F6D-8AD3-DE917046E0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922CF8-C968-4947-9E5A-FD5A24B43AB4}"/>
              </a:ext>
            </a:extLst>
          </p:cNvPr>
          <p:cNvSpPr>
            <a:spLocks noGrp="1"/>
          </p:cNvSpPr>
          <p:nvPr>
            <p:ph type="dt" sz="half" idx="10"/>
          </p:nvPr>
        </p:nvSpPr>
        <p:spPr/>
        <p:txBody>
          <a:bodyPr/>
          <a:lstStyle/>
          <a:p>
            <a:fld id="{E2B0066B-561A-4A34-B976-EC417804CB38}" type="datetimeFigureOut">
              <a:rPr lang="en-IN" smtClean="0"/>
              <a:t>17-04-2025</a:t>
            </a:fld>
            <a:endParaRPr lang="en-IN"/>
          </a:p>
        </p:txBody>
      </p:sp>
      <p:sp>
        <p:nvSpPr>
          <p:cNvPr id="6" name="Footer Placeholder 5">
            <a:extLst>
              <a:ext uri="{FF2B5EF4-FFF2-40B4-BE49-F238E27FC236}">
                <a16:creationId xmlns:a16="http://schemas.microsoft.com/office/drawing/2014/main" id="{B1857975-46DA-4783-9B57-D24475C504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07DE96-5F5C-4D3B-9A28-FB5A8DB0AAE0}"/>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7967418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40DD2-CF9D-460F-8556-0A85C57F74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371BC2C-5C6F-4DD5-8B16-61A3147926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69F2AA6-670C-461E-8DC5-F5860D2F94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0541E7-45A7-435B-9AA2-BF663E4E8F07}"/>
              </a:ext>
            </a:extLst>
          </p:cNvPr>
          <p:cNvSpPr>
            <a:spLocks noGrp="1"/>
          </p:cNvSpPr>
          <p:nvPr>
            <p:ph type="dt" sz="half" idx="10"/>
          </p:nvPr>
        </p:nvSpPr>
        <p:spPr/>
        <p:txBody>
          <a:bodyPr/>
          <a:lstStyle/>
          <a:p>
            <a:fld id="{E2B0066B-561A-4A34-B976-EC417804CB38}" type="datetimeFigureOut">
              <a:rPr lang="en-IN" smtClean="0"/>
              <a:t>17-04-2025</a:t>
            </a:fld>
            <a:endParaRPr lang="en-IN"/>
          </a:p>
        </p:txBody>
      </p:sp>
      <p:sp>
        <p:nvSpPr>
          <p:cNvPr id="6" name="Footer Placeholder 5">
            <a:extLst>
              <a:ext uri="{FF2B5EF4-FFF2-40B4-BE49-F238E27FC236}">
                <a16:creationId xmlns:a16="http://schemas.microsoft.com/office/drawing/2014/main" id="{DA08103A-488D-4A04-840B-B4A59BDA72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2B420B-C689-421B-A7C1-890019557D44}"/>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38451026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37B4D-68CA-404A-9540-9D0DE991392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DF6C46F-2ACA-421D-87DD-F2944FC652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80E528-BE67-4CE7-BD20-B1A8F7B7ED81}"/>
              </a:ext>
            </a:extLst>
          </p:cNvPr>
          <p:cNvSpPr>
            <a:spLocks noGrp="1"/>
          </p:cNvSpPr>
          <p:nvPr>
            <p:ph type="dt" sz="half" idx="10"/>
          </p:nvPr>
        </p:nvSpPr>
        <p:spPr/>
        <p:txBody>
          <a:bodyPr/>
          <a:lstStyle/>
          <a:p>
            <a:fld id="{E2B0066B-561A-4A34-B976-EC417804CB38}" type="datetimeFigureOut">
              <a:rPr lang="en-IN" smtClean="0"/>
              <a:t>17-04-2025</a:t>
            </a:fld>
            <a:endParaRPr lang="en-IN"/>
          </a:p>
        </p:txBody>
      </p:sp>
      <p:sp>
        <p:nvSpPr>
          <p:cNvPr id="5" name="Footer Placeholder 4">
            <a:extLst>
              <a:ext uri="{FF2B5EF4-FFF2-40B4-BE49-F238E27FC236}">
                <a16:creationId xmlns:a16="http://schemas.microsoft.com/office/drawing/2014/main" id="{E5A6E3DC-43B8-47E2-80CC-AA56ED27BD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0A7812-3258-49F5-9914-982D2982A4C4}"/>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14954567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696FB9-6DFC-42F8-8DFD-2C0E550C32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70C8274-F243-4DF8-A2DC-D03FCE00C6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325F4B-EC79-4974-A337-8AAC0800B6D0}"/>
              </a:ext>
            </a:extLst>
          </p:cNvPr>
          <p:cNvSpPr>
            <a:spLocks noGrp="1"/>
          </p:cNvSpPr>
          <p:nvPr>
            <p:ph type="dt" sz="half" idx="10"/>
          </p:nvPr>
        </p:nvSpPr>
        <p:spPr/>
        <p:txBody>
          <a:bodyPr/>
          <a:lstStyle/>
          <a:p>
            <a:fld id="{E2B0066B-561A-4A34-B976-EC417804CB38}" type="datetimeFigureOut">
              <a:rPr lang="en-IN" smtClean="0"/>
              <a:t>17-04-2025</a:t>
            </a:fld>
            <a:endParaRPr lang="en-IN"/>
          </a:p>
        </p:txBody>
      </p:sp>
      <p:sp>
        <p:nvSpPr>
          <p:cNvPr id="5" name="Footer Placeholder 4">
            <a:extLst>
              <a:ext uri="{FF2B5EF4-FFF2-40B4-BE49-F238E27FC236}">
                <a16:creationId xmlns:a16="http://schemas.microsoft.com/office/drawing/2014/main" id="{5FF715FA-9F71-4638-8804-5C5DAA6CF3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090BE5-6C1C-44D5-85A6-F23D1B445AC7}"/>
              </a:ext>
            </a:extLst>
          </p:cNvPr>
          <p:cNvSpPr>
            <a:spLocks noGrp="1"/>
          </p:cNvSpPr>
          <p:nvPr>
            <p:ph type="sldNum" sz="quarter" idx="12"/>
          </p:nvPr>
        </p:nvSpPr>
        <p:spPr/>
        <p:txBody>
          <a:bodyPr/>
          <a:lstStyle/>
          <a:p>
            <a:fld id="{96B7D1E6-98C0-4213-9634-FB975198A19A}" type="slidenum">
              <a:rPr lang="en-IN" smtClean="0"/>
              <a:t>‹#›</a:t>
            </a:fld>
            <a:endParaRPr lang="en-IN"/>
          </a:p>
        </p:txBody>
      </p:sp>
    </p:spTree>
    <p:extLst>
      <p:ext uri="{BB962C8B-B14F-4D97-AF65-F5344CB8AC3E}">
        <p14:creationId xmlns:p14="http://schemas.microsoft.com/office/powerpoint/2010/main" val="3809117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90636B-365A-2992-AEE4-3CA19F311E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7F029C-8899-D512-9521-280EE8C81D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385CD4-CB84-1EE8-4B21-A4647738F3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2BD278-50ED-40D2-B8A6-5A6AEBCF79C6}" type="datetimeFigureOut">
              <a:rPr lang="en-IN" smtClean="0"/>
              <a:t>17-04-2025</a:t>
            </a:fld>
            <a:endParaRPr lang="en-IN"/>
          </a:p>
        </p:txBody>
      </p:sp>
      <p:sp>
        <p:nvSpPr>
          <p:cNvPr id="5" name="Footer Placeholder 4">
            <a:extLst>
              <a:ext uri="{FF2B5EF4-FFF2-40B4-BE49-F238E27FC236}">
                <a16:creationId xmlns:a16="http://schemas.microsoft.com/office/drawing/2014/main" id="{26217449-70DF-9E4F-9F4B-21C7DC7C42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20C24CA-4BC4-BF96-5D4A-3051E96A56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1CB6F9-F2F2-48D9-8BC7-B6CEDF11DF19}" type="slidenum">
              <a:rPr lang="en-IN" smtClean="0"/>
              <a:t>‹#›</a:t>
            </a:fld>
            <a:endParaRPr lang="en-IN"/>
          </a:p>
        </p:txBody>
      </p:sp>
    </p:spTree>
    <p:extLst>
      <p:ext uri="{BB962C8B-B14F-4D97-AF65-F5344CB8AC3E}">
        <p14:creationId xmlns:p14="http://schemas.microsoft.com/office/powerpoint/2010/main" val="716844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1CCE47-1028-4809-AF88-A01235C4E5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9D16CD-9061-4DBB-8A3F-BBC5EA38C3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9C9D53-1AED-4107-939A-14173EC56E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B0066B-561A-4A34-B976-EC417804CB38}" type="datetimeFigureOut">
              <a:rPr lang="en-IN" smtClean="0"/>
              <a:t>17-04-2025</a:t>
            </a:fld>
            <a:endParaRPr lang="en-IN"/>
          </a:p>
        </p:txBody>
      </p:sp>
      <p:sp>
        <p:nvSpPr>
          <p:cNvPr id="5" name="Footer Placeholder 4">
            <a:extLst>
              <a:ext uri="{FF2B5EF4-FFF2-40B4-BE49-F238E27FC236}">
                <a16:creationId xmlns:a16="http://schemas.microsoft.com/office/drawing/2014/main" id="{8548C60C-8B93-4BC6-B639-0BAFB07AE8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791CB95-A6D6-49B1-A04A-E8A2F49340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B7D1E6-98C0-4213-9634-FB975198A19A}" type="slidenum">
              <a:rPr lang="en-IN" smtClean="0"/>
              <a:t>‹#›</a:t>
            </a:fld>
            <a:endParaRPr lang="en-IN"/>
          </a:p>
        </p:txBody>
      </p:sp>
    </p:spTree>
    <p:extLst>
      <p:ext uri="{BB962C8B-B14F-4D97-AF65-F5344CB8AC3E}">
        <p14:creationId xmlns:p14="http://schemas.microsoft.com/office/powerpoint/2010/main" val="5591262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dotnet/efcore" TargetMode="External"/><Relationship Id="rId2" Type="http://schemas.openxmlformats.org/officeDocument/2006/relationships/hyperlink" Target="https://dotnet.microsoft.com/en-us/download"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DC4D65-A485-33B2-D4C9-6C3F1F5A82D4}"/>
              </a:ext>
            </a:extLst>
          </p:cNvPr>
          <p:cNvSpPr txBox="1"/>
          <p:nvPr/>
        </p:nvSpPr>
        <p:spPr>
          <a:xfrm>
            <a:off x="3047172" y="93629"/>
            <a:ext cx="5114695"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US" b="0" i="0" dirty="0">
                <a:solidFill>
                  <a:srgbClr val="004867"/>
                </a:solidFill>
                <a:effectLst/>
                <a:latin typeface="Roboto" panose="02000000000000000000" pitchFamily="2" charset="0"/>
              </a:rPr>
              <a:t>What is Entity Framework Core?</a:t>
            </a:r>
          </a:p>
        </p:txBody>
      </p:sp>
      <p:sp>
        <p:nvSpPr>
          <p:cNvPr id="7" name="TextBox 6">
            <a:extLst>
              <a:ext uri="{FF2B5EF4-FFF2-40B4-BE49-F238E27FC236}">
                <a16:creationId xmlns:a16="http://schemas.microsoft.com/office/drawing/2014/main" id="{8C87AB44-10FE-1254-2BE3-7030E0280155}"/>
              </a:ext>
            </a:extLst>
          </p:cNvPr>
          <p:cNvSpPr txBox="1"/>
          <p:nvPr/>
        </p:nvSpPr>
        <p:spPr>
          <a:xfrm>
            <a:off x="106845" y="642875"/>
            <a:ext cx="11770415" cy="923330"/>
          </a:xfrm>
          <a:prstGeom prst="rect">
            <a:avLst/>
          </a:prstGeom>
          <a:noFill/>
        </p:spPr>
        <p:txBody>
          <a:bodyPr wrap="square">
            <a:spAutoFit/>
          </a:bodyPr>
          <a:lstStyle/>
          <a:p>
            <a:r>
              <a:rPr lang="en-US" b="0" i="0" dirty="0">
                <a:solidFill>
                  <a:srgbClr val="333333"/>
                </a:solidFill>
                <a:effectLst/>
                <a:latin typeface="Open Sans" panose="020B0606030504020204" pitchFamily="34" charset="0"/>
              </a:rPr>
              <a:t>Entity Framework Core (EF Core) is the recommended Object-Relational Mapper (ORM) for </a:t>
            </a:r>
            <a:r>
              <a:rPr lang="en-US" b="1" i="0" u="sng" dirty="0">
                <a:solidFill>
                  <a:srgbClr val="2E97BD"/>
                </a:solidFill>
                <a:effectLst/>
                <a:latin typeface="Open Sans" panose="020B0606030504020204" pitchFamily="34" charset="0"/>
                <a:hlinkClick r:id="rId2"/>
              </a:rPr>
              <a:t>.NET</a:t>
            </a:r>
            <a:r>
              <a:rPr lang="en-US" b="0" i="0" dirty="0">
                <a:solidFill>
                  <a:srgbClr val="333333"/>
                </a:solidFill>
                <a:effectLst/>
                <a:latin typeface="Open Sans" panose="020B0606030504020204" pitchFamily="34" charset="0"/>
              </a:rPr>
              <a:t>, formerly known as .NET Core. As the successor to EF6, EF Core has been entirely reengineered and made open source on </a:t>
            </a:r>
            <a:r>
              <a:rPr lang="en-US" b="1" i="0" u="sng" dirty="0">
                <a:solidFill>
                  <a:srgbClr val="2E97BD"/>
                </a:solidFill>
                <a:effectLst/>
                <a:latin typeface="Open Sans" panose="020B0606030504020204" pitchFamily="34" charset="0"/>
                <a:hlinkClick r:id="rId3"/>
              </a:rPr>
              <a:t>GitHub</a:t>
            </a:r>
            <a:r>
              <a:rPr lang="en-US" b="0" i="0" dirty="0">
                <a:solidFill>
                  <a:srgbClr val="333333"/>
                </a:solidFill>
                <a:effectLst/>
                <a:latin typeface="Open Sans" panose="020B0606030504020204" pitchFamily="34" charset="0"/>
              </a:rPr>
              <a:t>.</a:t>
            </a:r>
            <a:endParaRPr lang="en-IN" dirty="0"/>
          </a:p>
        </p:txBody>
      </p:sp>
      <p:sp>
        <p:nvSpPr>
          <p:cNvPr id="9" name="TextBox 8">
            <a:extLst>
              <a:ext uri="{FF2B5EF4-FFF2-40B4-BE49-F238E27FC236}">
                <a16:creationId xmlns:a16="http://schemas.microsoft.com/office/drawing/2014/main" id="{AA40B3FD-7D40-72F1-1D19-0573FB9B9A2C}"/>
              </a:ext>
            </a:extLst>
          </p:cNvPr>
          <p:cNvSpPr txBox="1"/>
          <p:nvPr/>
        </p:nvSpPr>
        <p:spPr>
          <a:xfrm>
            <a:off x="3446393" y="1746119"/>
            <a:ext cx="3657140"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Why use an ORM? </a:t>
            </a:r>
          </a:p>
        </p:txBody>
      </p:sp>
      <p:sp>
        <p:nvSpPr>
          <p:cNvPr id="11" name="TextBox 10">
            <a:extLst>
              <a:ext uri="{FF2B5EF4-FFF2-40B4-BE49-F238E27FC236}">
                <a16:creationId xmlns:a16="http://schemas.microsoft.com/office/drawing/2014/main" id="{A1FCECED-5AA0-795A-D07A-FD23F47451E2}"/>
              </a:ext>
            </a:extLst>
          </p:cNvPr>
          <p:cNvSpPr txBox="1"/>
          <p:nvPr/>
        </p:nvSpPr>
        <p:spPr>
          <a:xfrm>
            <a:off x="206236" y="2295365"/>
            <a:ext cx="11243641" cy="4278094"/>
          </a:xfrm>
          <a:prstGeom prst="rect">
            <a:avLst/>
          </a:prstGeom>
          <a:noFill/>
        </p:spPr>
        <p:txBody>
          <a:bodyPr wrap="square">
            <a:spAutoFit/>
          </a:bodyPr>
          <a:lstStyle/>
          <a:p>
            <a:pPr algn="l"/>
            <a:r>
              <a:rPr lang="en-US" sz="1600" b="0" i="0" dirty="0">
                <a:solidFill>
                  <a:srgbClr val="333333"/>
                </a:solidFill>
                <a:effectLst/>
                <a:latin typeface="Open Sans" panose="020B0606030504020204" pitchFamily="34" charset="0"/>
              </a:rPr>
              <a:t>An ORM (Object-Relational Mapper) is used to interact with a database using an object-oriented programming language. ORMs allow developers to work with databases using familiar, object-oriented concepts, rather than writing raw SQL statements.</a:t>
            </a:r>
          </a:p>
          <a:p>
            <a:pPr algn="l"/>
            <a:endParaRPr lang="en-US" sz="1600" b="0" i="0" dirty="0">
              <a:solidFill>
                <a:srgbClr val="333333"/>
              </a:solidFill>
              <a:effectLst/>
              <a:latin typeface="Open Sans" panose="020B0606030504020204" pitchFamily="34" charset="0"/>
            </a:endParaRPr>
          </a:p>
          <a:p>
            <a:pPr algn="l">
              <a:buFont typeface="Arial" panose="020B0604020202020204" pitchFamily="34" charset="0"/>
              <a:buChar char="•"/>
            </a:pPr>
            <a:r>
              <a:rPr lang="en-US" sz="1600" b="0" i="0" dirty="0">
                <a:solidFill>
                  <a:srgbClr val="333333"/>
                </a:solidFill>
                <a:effectLst/>
                <a:latin typeface="Open Sans" panose="020B0606030504020204" pitchFamily="34" charset="0"/>
              </a:rPr>
              <a:t>This can make the development process more efficient and less error-prone, as well as allow for easier maintenance of the codebase.[in ADO </a:t>
            </a:r>
            <a:r>
              <a:rPr lang="en-US" sz="1600" b="0" i="0" dirty="0" err="1">
                <a:solidFill>
                  <a:srgbClr val="333333"/>
                </a:solidFill>
                <a:effectLst/>
                <a:latin typeface="Open Sans" panose="020B0606030504020204" pitchFamily="34" charset="0"/>
              </a:rPr>
              <a:t>.net</a:t>
            </a:r>
            <a:r>
              <a:rPr lang="en-US" sz="1600" b="0" i="0" dirty="0">
                <a:solidFill>
                  <a:srgbClr val="333333"/>
                </a:solidFill>
                <a:effectLst/>
                <a:latin typeface="Open Sans" panose="020B0606030504020204" pitchFamily="34" charset="0"/>
              </a:rPr>
              <a:t> </a:t>
            </a:r>
            <a:r>
              <a:rPr lang="en-US" sz="1600" b="0" i="0" dirty="0" err="1">
                <a:solidFill>
                  <a:srgbClr val="333333"/>
                </a:solidFill>
                <a:effectLst/>
                <a:latin typeface="Open Sans" panose="020B0606030504020204" pitchFamily="34" charset="0"/>
              </a:rPr>
              <a:t>tehre</a:t>
            </a:r>
            <a:r>
              <a:rPr lang="en-US" sz="1600" b="0" i="0" dirty="0">
                <a:solidFill>
                  <a:srgbClr val="333333"/>
                </a:solidFill>
                <a:effectLst/>
                <a:latin typeface="Open Sans" panose="020B0606030504020204" pitchFamily="34" charset="0"/>
              </a:rPr>
              <a:t> is chances of error if you write wrong table name, column name </a:t>
            </a:r>
            <a:r>
              <a:rPr lang="en-US" sz="1600" b="0" i="0" dirty="0" err="1">
                <a:solidFill>
                  <a:srgbClr val="333333"/>
                </a:solidFill>
                <a:effectLst/>
                <a:latin typeface="Open Sans" panose="020B0606030504020204" pitchFamily="34" charset="0"/>
              </a:rPr>
              <a:t>etc</a:t>
            </a:r>
            <a:r>
              <a:rPr lang="en-US" sz="1600" b="0" i="0" dirty="0">
                <a:solidFill>
                  <a:srgbClr val="333333"/>
                </a:solidFill>
                <a:effectLst/>
                <a:latin typeface="Open Sans" panose="020B0606030504020204" pitchFamily="34" charset="0"/>
              </a:rPr>
              <a:t>]</a:t>
            </a:r>
          </a:p>
          <a:p>
            <a:pPr algn="l">
              <a:buFont typeface="Arial" panose="020B0604020202020204" pitchFamily="34" charset="0"/>
              <a:buChar char="•"/>
            </a:pPr>
            <a:endParaRPr lang="en-US" sz="1600" b="0" i="0" dirty="0">
              <a:solidFill>
                <a:srgbClr val="333333"/>
              </a:solidFill>
              <a:effectLst/>
              <a:latin typeface="Open Sans" panose="020B0606030504020204" pitchFamily="34" charset="0"/>
            </a:endParaRPr>
          </a:p>
          <a:p>
            <a:pPr algn="l">
              <a:buFont typeface="Arial" panose="020B0604020202020204" pitchFamily="34" charset="0"/>
              <a:buChar char="•"/>
            </a:pPr>
            <a:r>
              <a:rPr lang="en-US" sz="1600" b="0" i="0" dirty="0">
                <a:solidFill>
                  <a:srgbClr val="333333"/>
                </a:solidFill>
                <a:effectLst/>
                <a:latin typeface="Open Sans" panose="020B0606030504020204" pitchFamily="34" charset="0"/>
              </a:rPr>
              <a:t>Additionally, ORMs often provide features such as caching, lazy loading, and connection pooling, which can improve application performance.</a:t>
            </a:r>
          </a:p>
          <a:p>
            <a:pPr algn="l">
              <a:buFont typeface="Arial" panose="020B0604020202020204" pitchFamily="34" charset="0"/>
              <a:buChar char="•"/>
            </a:pPr>
            <a:endParaRPr lang="en-US" sz="1600" b="0" i="0" dirty="0">
              <a:solidFill>
                <a:srgbClr val="333333"/>
              </a:solidFill>
              <a:effectLst/>
              <a:latin typeface="Open Sans" panose="020B0606030504020204" pitchFamily="34" charset="0"/>
            </a:endParaRPr>
          </a:p>
          <a:p>
            <a:pPr algn="l">
              <a:buFont typeface="Arial" panose="020B0604020202020204" pitchFamily="34" charset="0"/>
              <a:buChar char="•"/>
            </a:pPr>
            <a:r>
              <a:rPr lang="en-US" sz="1600" b="0" i="0" dirty="0">
                <a:solidFill>
                  <a:srgbClr val="333333"/>
                </a:solidFill>
                <a:effectLst/>
                <a:latin typeface="Open Sans" panose="020B0606030504020204" pitchFamily="34" charset="0"/>
              </a:rPr>
              <a:t>They also provide an abstraction layer between the application and the database, so that the application code can be insulated from changes to the underlying database schema.[Repository design pattern]</a:t>
            </a:r>
          </a:p>
          <a:p>
            <a:pPr algn="l">
              <a:buFont typeface="Arial" panose="020B0604020202020204" pitchFamily="34" charset="0"/>
              <a:buChar char="•"/>
            </a:pPr>
            <a:endParaRPr lang="en-US" sz="1600" b="0" i="0" dirty="0">
              <a:solidFill>
                <a:srgbClr val="333333"/>
              </a:solidFill>
              <a:effectLst/>
              <a:latin typeface="Open Sans" panose="020B0606030504020204" pitchFamily="34" charset="0"/>
            </a:endParaRPr>
          </a:p>
          <a:p>
            <a:pPr algn="l">
              <a:buFont typeface="Arial" panose="020B0604020202020204" pitchFamily="34" charset="0"/>
              <a:buChar char="•"/>
            </a:pPr>
            <a:r>
              <a:rPr lang="en-US" sz="1600" b="0" i="0" dirty="0">
                <a:solidFill>
                  <a:srgbClr val="333333"/>
                </a:solidFill>
                <a:effectLst/>
                <a:latin typeface="Open Sans" panose="020B0606030504020204" pitchFamily="34" charset="0"/>
              </a:rPr>
              <a:t>This can make it easier to switch to a different database in the future or to improve scalability by distributing the data across multiple servers.</a:t>
            </a:r>
          </a:p>
          <a:p>
            <a:pPr algn="l">
              <a:buFont typeface="Arial" panose="020B0604020202020204" pitchFamily="34" charset="0"/>
              <a:buChar char="•"/>
            </a:pPr>
            <a:endParaRPr lang="en-US" sz="1600" b="0" i="0" dirty="0">
              <a:solidFill>
                <a:srgbClr val="333333"/>
              </a:solidFill>
              <a:effectLst/>
              <a:latin typeface="Open Sans" panose="020B0606030504020204" pitchFamily="34" charset="0"/>
            </a:endParaRPr>
          </a:p>
          <a:p>
            <a:pPr algn="l">
              <a:buFont typeface="Arial" panose="020B0604020202020204" pitchFamily="34" charset="0"/>
              <a:buChar char="•"/>
            </a:pPr>
            <a:r>
              <a:rPr lang="en-US" sz="1600" b="0" i="0" dirty="0">
                <a:solidFill>
                  <a:srgbClr val="333333"/>
                </a:solidFill>
                <a:effectLst/>
                <a:latin typeface="Open Sans" panose="020B0606030504020204" pitchFamily="34" charset="0"/>
              </a:rPr>
              <a:t>Overall, ORMs can help improve developer productivity, code maintainability, and application performance.</a:t>
            </a:r>
          </a:p>
        </p:txBody>
      </p:sp>
    </p:spTree>
    <p:extLst>
      <p:ext uri="{BB962C8B-B14F-4D97-AF65-F5344CB8AC3E}">
        <p14:creationId xmlns:p14="http://schemas.microsoft.com/office/powerpoint/2010/main" val="547024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1B2A1E-C1B6-4729-992E-F13936DCDDC1}"/>
              </a:ext>
            </a:extLst>
          </p:cNvPr>
          <p:cNvSpPr>
            <a:spLocks noGrp="1"/>
          </p:cNvSpPr>
          <p:nvPr>
            <p:ph idx="1"/>
          </p:nvPr>
        </p:nvSpPr>
        <p:spPr>
          <a:xfrm>
            <a:off x="373626" y="235975"/>
            <a:ext cx="11670890" cy="1582994"/>
          </a:xfrm>
        </p:spPr>
        <p:txBody>
          <a:bodyPr/>
          <a:lstStyle/>
          <a:p>
            <a:pPr marL="0" indent="0">
              <a:buNone/>
            </a:pPr>
            <a:r>
              <a:rPr lang="en-US" dirty="0"/>
              <a:t>An ORM like EF Core can do all of this for us and saves a lot of time. It sits between our application code and the Database. It eliminates the need for most of the custom data-access code that we usually have to write without an ORM.</a:t>
            </a:r>
          </a:p>
          <a:p>
            <a:pPr marL="0" indent="0">
              <a:buNone/>
            </a:pPr>
            <a:endParaRPr lang="en-IN" dirty="0"/>
          </a:p>
        </p:txBody>
      </p:sp>
      <p:pic>
        <p:nvPicPr>
          <p:cNvPr id="4" name="Picture 3">
            <a:extLst>
              <a:ext uri="{FF2B5EF4-FFF2-40B4-BE49-F238E27FC236}">
                <a16:creationId xmlns:a16="http://schemas.microsoft.com/office/drawing/2014/main" id="{EFFED8B5-3313-472E-A8C5-347CDA66D30F}"/>
              </a:ext>
            </a:extLst>
          </p:cNvPr>
          <p:cNvPicPr>
            <a:picLocks noChangeAspect="1"/>
          </p:cNvPicPr>
          <p:nvPr/>
        </p:nvPicPr>
        <p:blipFill>
          <a:blip r:embed="rId2"/>
          <a:stretch>
            <a:fillRect/>
          </a:stretch>
        </p:blipFill>
        <p:spPr>
          <a:xfrm>
            <a:off x="74509" y="1963839"/>
            <a:ext cx="4314825" cy="3952875"/>
          </a:xfrm>
          <a:prstGeom prst="rect">
            <a:avLst/>
          </a:prstGeom>
        </p:spPr>
      </p:pic>
    </p:spTree>
    <p:extLst>
      <p:ext uri="{BB962C8B-B14F-4D97-AF65-F5344CB8AC3E}">
        <p14:creationId xmlns:p14="http://schemas.microsoft.com/office/powerpoint/2010/main" val="2788149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487BD-EB6C-41D5-8765-0CC21349211F}"/>
              </a:ext>
            </a:extLst>
          </p:cNvPr>
          <p:cNvSpPr>
            <a:spLocks noGrp="1"/>
          </p:cNvSpPr>
          <p:nvPr>
            <p:ph type="title"/>
          </p:nvPr>
        </p:nvSpPr>
        <p:spPr>
          <a:xfrm>
            <a:off x="1042219" y="138984"/>
            <a:ext cx="9898626" cy="745920"/>
          </a:xfrm>
        </p:spPr>
        <p:txBody>
          <a:bodyPr/>
          <a:lstStyle/>
          <a:p>
            <a:r>
              <a:rPr lang="en-IN" b="0" i="0" dirty="0">
                <a:solidFill>
                  <a:srgbClr val="181717"/>
                </a:solidFill>
                <a:effectLst/>
                <a:latin typeface="Segoe UI" panose="020B0502040204020203" pitchFamily="34" charset="0"/>
              </a:rPr>
              <a:t>Entity Framework Core</a:t>
            </a:r>
            <a:endParaRPr lang="en-IN" dirty="0"/>
          </a:p>
        </p:txBody>
      </p:sp>
      <p:sp>
        <p:nvSpPr>
          <p:cNvPr id="3" name="Content Placeholder 2">
            <a:extLst>
              <a:ext uri="{FF2B5EF4-FFF2-40B4-BE49-F238E27FC236}">
                <a16:creationId xmlns:a16="http://schemas.microsoft.com/office/drawing/2014/main" id="{204E58DC-D39B-42B2-970B-69550D7CF469}"/>
              </a:ext>
            </a:extLst>
          </p:cNvPr>
          <p:cNvSpPr>
            <a:spLocks noGrp="1"/>
          </p:cNvSpPr>
          <p:nvPr>
            <p:ph idx="1"/>
          </p:nvPr>
        </p:nvSpPr>
        <p:spPr>
          <a:xfrm>
            <a:off x="265471" y="1052052"/>
            <a:ext cx="11088329" cy="5124911"/>
          </a:xfrm>
        </p:spPr>
        <p:txBody>
          <a:bodyPr>
            <a:normAutofit/>
          </a:bodyPr>
          <a:lstStyle/>
          <a:p>
            <a:pPr marL="0" indent="0">
              <a:buNone/>
            </a:pPr>
            <a:r>
              <a:rPr lang="en-US" dirty="0"/>
              <a:t>Entity Framework Core is the new version of Entity Framework after EF 6.x. It is open-source, lightweight, extensible and a cross-platform version of Entity Framework data access technology.</a:t>
            </a:r>
          </a:p>
          <a:p>
            <a:pPr marL="0" indent="0">
              <a:buNone/>
            </a:pPr>
            <a:endParaRPr lang="en-US" dirty="0"/>
          </a:p>
          <a:p>
            <a:pPr marL="0" indent="0">
              <a:buNone/>
            </a:pPr>
            <a:r>
              <a:rPr lang="en-US" dirty="0"/>
              <a:t>Entity Framework is an Object/Relational Mapping (O/RM) framework. It is an enhancement to ADO.NET that gives developers an automated mechanism for accessing &amp; storing the data in the database.</a:t>
            </a:r>
          </a:p>
          <a:p>
            <a:pPr marL="0" indent="0">
              <a:buNone/>
            </a:pPr>
            <a:endParaRPr lang="en-US" dirty="0"/>
          </a:p>
          <a:p>
            <a:pPr marL="0" indent="0">
              <a:buNone/>
            </a:pPr>
            <a:r>
              <a:rPr lang="en-US" dirty="0"/>
              <a:t>EF Core is intended to be used with .NET Core applications. However, it can also be used with standard .NET 4.5+ framework based applications.</a:t>
            </a:r>
          </a:p>
        </p:txBody>
      </p:sp>
    </p:spTree>
    <p:extLst>
      <p:ext uri="{BB962C8B-B14F-4D97-AF65-F5344CB8AC3E}">
        <p14:creationId xmlns:p14="http://schemas.microsoft.com/office/powerpoint/2010/main" val="250145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6E62E-005D-4EC0-9B5A-531EEE5C9109}"/>
              </a:ext>
            </a:extLst>
          </p:cNvPr>
          <p:cNvSpPr>
            <a:spLocks noGrp="1"/>
          </p:cNvSpPr>
          <p:nvPr>
            <p:ph type="title"/>
          </p:nvPr>
        </p:nvSpPr>
        <p:spPr>
          <a:xfrm>
            <a:off x="838200" y="50057"/>
            <a:ext cx="10515600" cy="1325563"/>
          </a:xfrm>
        </p:spPr>
        <p:txBody>
          <a:bodyPr>
            <a:normAutofit fontScale="90000"/>
          </a:bodyPr>
          <a:lstStyle/>
          <a:p>
            <a:pPr marL="0" indent="0"/>
            <a:br>
              <a:rPr lang="en-US" dirty="0"/>
            </a:br>
            <a:r>
              <a:rPr lang="en-US" dirty="0"/>
              <a:t>The following figure illustrates the supported application types, .NET Frameworks and OSs.</a:t>
            </a:r>
            <a:br>
              <a:rPr lang="en-IN" dirty="0"/>
            </a:br>
            <a:endParaRPr lang="en-IN" dirty="0"/>
          </a:p>
        </p:txBody>
      </p:sp>
      <p:pic>
        <p:nvPicPr>
          <p:cNvPr id="1026" name="Picture 2">
            <a:extLst>
              <a:ext uri="{FF2B5EF4-FFF2-40B4-BE49-F238E27FC236}">
                <a16:creationId xmlns:a16="http://schemas.microsoft.com/office/drawing/2014/main" id="{C7DF68DC-038E-4210-8781-3B82CCA90D57}"/>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706" b="7230"/>
          <a:stretch/>
        </p:blipFill>
        <p:spPr bwMode="auto">
          <a:xfrm>
            <a:off x="727588" y="1683744"/>
            <a:ext cx="11061290" cy="4461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621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CA363-48E1-4796-BA5C-C47B280413E0}"/>
              </a:ext>
            </a:extLst>
          </p:cNvPr>
          <p:cNvSpPr>
            <a:spLocks noGrp="1"/>
          </p:cNvSpPr>
          <p:nvPr>
            <p:ph type="title"/>
          </p:nvPr>
        </p:nvSpPr>
        <p:spPr>
          <a:xfrm>
            <a:off x="838200" y="0"/>
            <a:ext cx="10515600" cy="1134533"/>
          </a:xfrm>
        </p:spPr>
        <p:txBody>
          <a:bodyPr/>
          <a:lstStyle/>
          <a:p>
            <a:r>
              <a:rPr lang="en-IN" dirty="0"/>
              <a:t>EF Core Version History</a:t>
            </a:r>
          </a:p>
        </p:txBody>
      </p:sp>
      <p:sp>
        <p:nvSpPr>
          <p:cNvPr id="3" name="Content Placeholder 2">
            <a:extLst>
              <a:ext uri="{FF2B5EF4-FFF2-40B4-BE49-F238E27FC236}">
                <a16:creationId xmlns:a16="http://schemas.microsoft.com/office/drawing/2014/main" id="{7B9F19D2-F36E-4B95-84DB-25F8A34BB41C}"/>
              </a:ext>
            </a:extLst>
          </p:cNvPr>
          <p:cNvSpPr>
            <a:spLocks noGrp="1"/>
          </p:cNvSpPr>
          <p:nvPr>
            <p:ph idx="1"/>
          </p:nvPr>
        </p:nvSpPr>
        <p:spPr>
          <a:xfrm>
            <a:off x="430306" y="1253331"/>
            <a:ext cx="10515600" cy="4351338"/>
          </a:xfrm>
        </p:spPr>
        <p:txBody>
          <a:bodyPr>
            <a:normAutofit fontScale="62500" lnSpcReduction="20000"/>
          </a:bodyPr>
          <a:lstStyle/>
          <a:p>
            <a:r>
              <a:rPr lang="en-IN" dirty="0"/>
              <a:t>EF Core Version	Release Date</a:t>
            </a:r>
          </a:p>
          <a:p>
            <a:pPr marL="0" algn="l" rtl="0" eaLnBrk="1" fontAlgn="ctr" latinLnBrk="0" hangingPunct="1">
              <a:spcBef>
                <a:spcPts val="0"/>
              </a:spcBef>
              <a:spcAft>
                <a:spcPts val="0"/>
              </a:spcAft>
            </a:pPr>
            <a:r>
              <a:rPr lang="en-IN" sz="2900" dirty="0"/>
              <a:t>EF Core 6.0		Nov 2021		.NET 6</a:t>
            </a:r>
          </a:p>
          <a:p>
            <a:pPr marL="0" algn="l" rtl="0" eaLnBrk="1" fontAlgn="ctr" latinLnBrk="0" hangingPunct="1">
              <a:spcBef>
                <a:spcPts val="0"/>
              </a:spcBef>
              <a:spcAft>
                <a:spcPts val="0"/>
              </a:spcAft>
            </a:pPr>
            <a:r>
              <a:rPr lang="en-IN" sz="2900" dirty="0"/>
              <a:t>EF Core 5.0</a:t>
            </a:r>
            <a:r>
              <a:rPr lang="en-IN" sz="2800" b="0" i="0" u="none" strike="noStrike" kern="1200" dirty="0">
                <a:solidFill>
                  <a:srgbClr val="000000"/>
                </a:solidFill>
                <a:effectLst/>
                <a:latin typeface="Calibri" panose="020F0502020204030204" pitchFamily="34" charset="0"/>
              </a:rPr>
              <a:t>		</a:t>
            </a:r>
            <a:r>
              <a:rPr lang="en-IN" sz="2900" dirty="0"/>
              <a:t>Nov 2020</a:t>
            </a:r>
            <a:r>
              <a:rPr lang="en-IN" sz="2800" b="0" i="0" u="none" strike="noStrike" kern="1200" dirty="0">
                <a:solidFill>
                  <a:srgbClr val="000000"/>
                </a:solidFill>
                <a:effectLst/>
                <a:latin typeface="Calibri" panose="020F0502020204030204" pitchFamily="34" charset="0"/>
              </a:rPr>
              <a:t>		</a:t>
            </a:r>
            <a:r>
              <a:rPr lang="en-IN" sz="2900" dirty="0"/>
              <a:t>.NET Standard 2.1</a:t>
            </a:r>
          </a:p>
          <a:p>
            <a:r>
              <a:rPr lang="en-IN" dirty="0"/>
              <a:t>EF Core 2.0		August 2017</a:t>
            </a:r>
          </a:p>
          <a:p>
            <a:r>
              <a:rPr lang="en-IN" dirty="0"/>
              <a:t>EF Core 1.1		November 2016</a:t>
            </a:r>
          </a:p>
          <a:p>
            <a:r>
              <a:rPr lang="en-IN" dirty="0"/>
              <a:t>EF Core 1.0		June 2016</a:t>
            </a:r>
          </a:p>
          <a:p>
            <a:endParaRPr lang="en-IN" dirty="0"/>
          </a:p>
          <a:p>
            <a:r>
              <a:rPr lang="en-IN" dirty="0"/>
              <a:t>EF Core on GitHub: https://github.com/aspnet/EntityFrameworkCore</a:t>
            </a:r>
          </a:p>
          <a:p>
            <a:endParaRPr lang="en-IN" dirty="0"/>
          </a:p>
          <a:p>
            <a:r>
              <a:rPr lang="en-IN" dirty="0"/>
              <a:t>EF Core Roadmap: docs.microsoft.com/</a:t>
            </a:r>
            <a:r>
              <a:rPr lang="en-IN" dirty="0" err="1"/>
              <a:t>en</a:t>
            </a:r>
            <a:r>
              <a:rPr lang="en-IN" dirty="0"/>
              <a:t>-us/</a:t>
            </a:r>
            <a:r>
              <a:rPr lang="en-IN" dirty="0" err="1"/>
              <a:t>ef</a:t>
            </a:r>
            <a:r>
              <a:rPr lang="en-IN" dirty="0"/>
              <a:t>/core/what-is-new/roadmap</a:t>
            </a:r>
          </a:p>
          <a:p>
            <a:endParaRPr lang="en-IN" dirty="0"/>
          </a:p>
          <a:p>
            <a:r>
              <a:rPr lang="en-IN" dirty="0"/>
              <a:t>Track EF Core's issues at https://github.com/aspnet/EntityFrameworkCore/issues</a:t>
            </a:r>
          </a:p>
          <a:p>
            <a:endParaRPr lang="en-IN" dirty="0"/>
          </a:p>
          <a:p>
            <a:r>
              <a:rPr lang="en-IN" dirty="0"/>
              <a:t>EF Core Official Documentation: https://docs.microsoft.com/ef/core</a:t>
            </a:r>
          </a:p>
        </p:txBody>
      </p:sp>
    </p:spTree>
    <p:extLst>
      <p:ext uri="{BB962C8B-B14F-4D97-AF65-F5344CB8AC3E}">
        <p14:creationId xmlns:p14="http://schemas.microsoft.com/office/powerpoint/2010/main" val="4230989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EDA3B3-E7E7-48D4-A51C-3849FB642273}"/>
              </a:ext>
            </a:extLst>
          </p:cNvPr>
          <p:cNvSpPr>
            <a:spLocks noGrp="1"/>
          </p:cNvSpPr>
          <p:nvPr>
            <p:ph idx="1"/>
          </p:nvPr>
        </p:nvSpPr>
        <p:spPr>
          <a:xfrm>
            <a:off x="98321" y="191115"/>
            <a:ext cx="12015021" cy="2569018"/>
          </a:xfrm>
        </p:spPr>
        <p:txBody>
          <a:bodyPr/>
          <a:lstStyle/>
          <a:p>
            <a:pPr marL="0" indent="0">
              <a:buNone/>
            </a:pPr>
            <a:endParaRPr lang="en-US" sz="2000" b="1" dirty="0"/>
          </a:p>
          <a:p>
            <a:pPr marL="0" indent="0">
              <a:buNone/>
            </a:pPr>
            <a:endParaRPr lang="en-US" sz="2000" b="1" dirty="0"/>
          </a:p>
          <a:p>
            <a:pPr marL="0" indent="0">
              <a:buNone/>
            </a:pPr>
            <a:r>
              <a:rPr lang="en-US" sz="1800" dirty="0"/>
              <a:t>EF Core supports both Code First approach and Database First approach. However, with the </a:t>
            </a:r>
            <a:r>
              <a:rPr lang="en-US" sz="1800" dirty="0">
                <a:highlight>
                  <a:srgbClr val="FFFF00"/>
                </a:highlight>
              </a:rPr>
              <a:t>Database First approach </a:t>
            </a:r>
            <a:r>
              <a:rPr lang="en-US" sz="1800" dirty="0"/>
              <a:t>there is very </a:t>
            </a:r>
            <a:r>
              <a:rPr lang="en-US" sz="1800" dirty="0">
                <a:solidFill>
                  <a:srgbClr val="FF0000"/>
                </a:solidFill>
                <a:highlight>
                  <a:srgbClr val="FFFF00"/>
                </a:highlight>
              </a:rPr>
              <a:t>limited support in EF core </a:t>
            </a:r>
            <a:r>
              <a:rPr lang="en-US" sz="1800" dirty="0"/>
              <a:t>at the moment. </a:t>
            </a:r>
          </a:p>
          <a:p>
            <a:pPr marL="0" indent="0">
              <a:buNone/>
            </a:pPr>
            <a:r>
              <a:rPr lang="en-US" sz="1800" dirty="0"/>
              <a:t>With the Code First Approach, we first create our application domain classes like Employee, Customer </a:t>
            </a:r>
            <a:r>
              <a:rPr lang="en-US" sz="1800" dirty="0" err="1"/>
              <a:t>etc</a:t>
            </a:r>
            <a:r>
              <a:rPr lang="en-US" sz="1800" dirty="0"/>
              <a:t> and a special class that derives from Entity Framework </a:t>
            </a:r>
            <a:r>
              <a:rPr lang="en-US" sz="1800" b="1" dirty="0" err="1"/>
              <a:t>DbContext</a:t>
            </a:r>
            <a:r>
              <a:rPr lang="en-US" sz="1800" b="1" dirty="0"/>
              <a:t> class</a:t>
            </a:r>
            <a:r>
              <a:rPr lang="en-US" sz="1800" dirty="0"/>
              <a:t>. Based on these domain and </a:t>
            </a:r>
            <a:r>
              <a:rPr lang="en-US" sz="1800" dirty="0" err="1"/>
              <a:t>DBContext</a:t>
            </a:r>
            <a:r>
              <a:rPr lang="en-US" sz="1800" dirty="0"/>
              <a:t> classes, EF Core creates the database and relevant tables. Out of the box, EF Core uses it's default conventions to create the database and database tables. You can change these default conventions if you want to.</a:t>
            </a:r>
            <a:endParaRPr lang="en-IN" sz="1800" dirty="0"/>
          </a:p>
        </p:txBody>
      </p:sp>
      <p:pic>
        <p:nvPicPr>
          <p:cNvPr id="4" name="Picture 3">
            <a:extLst>
              <a:ext uri="{FF2B5EF4-FFF2-40B4-BE49-F238E27FC236}">
                <a16:creationId xmlns:a16="http://schemas.microsoft.com/office/drawing/2014/main" id="{32217C22-BFD8-41C2-9527-EAAC8FC98FF3}"/>
              </a:ext>
            </a:extLst>
          </p:cNvPr>
          <p:cNvPicPr>
            <a:picLocks noChangeAspect="1"/>
          </p:cNvPicPr>
          <p:nvPr/>
        </p:nvPicPr>
        <p:blipFill>
          <a:blip r:embed="rId2"/>
          <a:stretch>
            <a:fillRect/>
          </a:stretch>
        </p:blipFill>
        <p:spPr>
          <a:xfrm>
            <a:off x="5301584" y="0"/>
            <a:ext cx="5305425" cy="1028700"/>
          </a:xfrm>
          <a:prstGeom prst="rect">
            <a:avLst/>
          </a:prstGeom>
        </p:spPr>
      </p:pic>
      <p:sp>
        <p:nvSpPr>
          <p:cNvPr id="6" name="TextBox 5">
            <a:extLst>
              <a:ext uri="{FF2B5EF4-FFF2-40B4-BE49-F238E27FC236}">
                <a16:creationId xmlns:a16="http://schemas.microsoft.com/office/drawing/2014/main" id="{3BAF0C1F-8020-4D46-89C4-4702655D671D}"/>
              </a:ext>
            </a:extLst>
          </p:cNvPr>
          <p:cNvSpPr txBox="1"/>
          <p:nvPr/>
        </p:nvSpPr>
        <p:spPr>
          <a:xfrm>
            <a:off x="98320" y="3107286"/>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EF Core Database First Approach</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F934DEC2-FB4D-4C81-A5EA-D7E5BE2CA291}"/>
              </a:ext>
            </a:extLst>
          </p:cNvPr>
          <p:cNvPicPr>
            <a:picLocks noChangeAspect="1"/>
          </p:cNvPicPr>
          <p:nvPr/>
        </p:nvPicPr>
        <p:blipFill>
          <a:blip r:embed="rId3"/>
          <a:stretch>
            <a:fillRect/>
          </a:stretch>
        </p:blipFill>
        <p:spPr>
          <a:xfrm>
            <a:off x="5975554" y="2976692"/>
            <a:ext cx="5334000" cy="1038225"/>
          </a:xfrm>
          <a:prstGeom prst="rect">
            <a:avLst/>
          </a:prstGeom>
        </p:spPr>
      </p:pic>
      <p:sp>
        <p:nvSpPr>
          <p:cNvPr id="9" name="TextBox 8">
            <a:extLst>
              <a:ext uri="{FF2B5EF4-FFF2-40B4-BE49-F238E27FC236}">
                <a16:creationId xmlns:a16="http://schemas.microsoft.com/office/drawing/2014/main" id="{6ACCC768-98F3-4885-9EAB-C723F1CEDD3D}"/>
              </a:ext>
            </a:extLst>
          </p:cNvPr>
          <p:cNvSpPr txBox="1"/>
          <p:nvPr/>
        </p:nvSpPr>
        <p:spPr>
          <a:xfrm>
            <a:off x="78658" y="3496747"/>
            <a:ext cx="5700253"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333333"/>
                </a:solidFill>
                <a:effectLst/>
                <a:uLnTx/>
                <a:uFillTx/>
                <a:latin typeface="Garamond" panose="02020404030301010803" pitchFamily="18" charset="0"/>
                <a:ea typeface="+mn-ea"/>
                <a:cs typeface="+mn-cs"/>
              </a:rPr>
              <a:t>Sometimes we may have an existing database. When we have a database and the database tables already, we use the database first approach. With the database first approach, EF Core creates the </a:t>
            </a:r>
            <a:r>
              <a:rPr kumimoji="0" lang="en-US" sz="1800" b="0" i="0" u="none" strike="noStrike" kern="1200" cap="none" spc="0" normalizeH="0" baseline="0" noProof="0" dirty="0" err="1">
                <a:ln>
                  <a:noFill/>
                </a:ln>
                <a:solidFill>
                  <a:srgbClr val="3D85C6"/>
                </a:solidFill>
                <a:effectLst/>
                <a:uLnTx/>
                <a:uFillTx/>
                <a:latin typeface="Garamond" panose="02020404030301010803" pitchFamily="18" charset="0"/>
                <a:ea typeface="+mn-ea"/>
                <a:cs typeface="+mn-cs"/>
              </a:rPr>
              <a:t>DBContext</a:t>
            </a:r>
            <a:r>
              <a:rPr kumimoji="0" lang="en-US" sz="1800" b="0" i="0" u="none" strike="noStrike" kern="1200" cap="none" spc="0" normalizeH="0" baseline="0" noProof="0" dirty="0">
                <a:ln>
                  <a:noFill/>
                </a:ln>
                <a:solidFill>
                  <a:srgbClr val="3D85C6"/>
                </a:solidFill>
                <a:effectLst/>
                <a:uLnTx/>
                <a:uFillTx/>
                <a:latin typeface="Garamond" panose="02020404030301010803" pitchFamily="18" charset="0"/>
                <a:ea typeface="+mn-ea"/>
                <a:cs typeface="+mn-cs"/>
              </a:rPr>
              <a:t> </a:t>
            </a:r>
            <a:r>
              <a:rPr kumimoji="0" lang="en-US" sz="1800" b="0" i="0" u="none" strike="noStrike" kern="1200" cap="none" spc="0" normalizeH="0" baseline="0" noProof="0" dirty="0">
                <a:ln>
                  <a:noFill/>
                </a:ln>
                <a:solidFill>
                  <a:srgbClr val="333333"/>
                </a:solidFill>
                <a:effectLst/>
                <a:uLnTx/>
                <a:uFillTx/>
                <a:latin typeface="Garamond" panose="02020404030301010803" pitchFamily="18" charset="0"/>
                <a:ea typeface="+mn-ea"/>
                <a:cs typeface="+mn-cs"/>
              </a:rPr>
              <a:t>and Domain classes based on the existing database schema.</a:t>
            </a:r>
            <a:endParaRPr kumimoji="0" lang="en-IN" sz="1800" b="0" i="0" u="none" strike="noStrike" kern="1200" cap="none" spc="0" normalizeH="0" baseline="0" noProof="0" dirty="0">
              <a:ln>
                <a:noFill/>
              </a:ln>
              <a:solidFill>
                <a:prstClr val="black"/>
              </a:solidFill>
              <a:effectLst/>
              <a:uLnTx/>
              <a:uFillTx/>
              <a:latin typeface="Garamond" panose="02020404030301010803" pitchFamily="18" charset="0"/>
              <a:ea typeface="+mn-ea"/>
              <a:cs typeface="+mn-cs"/>
            </a:endParaRPr>
          </a:p>
        </p:txBody>
      </p:sp>
      <p:sp>
        <p:nvSpPr>
          <p:cNvPr id="11" name="TextBox 10">
            <a:extLst>
              <a:ext uri="{FF2B5EF4-FFF2-40B4-BE49-F238E27FC236}">
                <a16:creationId xmlns:a16="http://schemas.microsoft.com/office/drawing/2014/main" id="{6415F4E4-A34B-4BB5-83F9-924329660A43}"/>
              </a:ext>
            </a:extLst>
          </p:cNvPr>
          <p:cNvSpPr txBox="1"/>
          <p:nvPr/>
        </p:nvSpPr>
        <p:spPr>
          <a:xfrm>
            <a:off x="78658" y="5000939"/>
            <a:ext cx="11110452"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EF Core Database Providers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EF Core supports many relational and even non relational databases. EF Core is able to do this by using plug-in libraries called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database providers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These database providers are available as NuGet packages.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Picture 11">
            <a:extLst>
              <a:ext uri="{FF2B5EF4-FFF2-40B4-BE49-F238E27FC236}">
                <a16:creationId xmlns:a16="http://schemas.microsoft.com/office/drawing/2014/main" id="{28EED5C3-A9C2-41AA-A0DD-5001E8B2BDAA}"/>
              </a:ext>
            </a:extLst>
          </p:cNvPr>
          <p:cNvPicPr>
            <a:picLocks noChangeAspect="1"/>
          </p:cNvPicPr>
          <p:nvPr/>
        </p:nvPicPr>
        <p:blipFill>
          <a:blip r:embed="rId4"/>
          <a:stretch>
            <a:fillRect/>
          </a:stretch>
        </p:blipFill>
        <p:spPr>
          <a:xfrm>
            <a:off x="6413091" y="4593376"/>
            <a:ext cx="5086350" cy="1066800"/>
          </a:xfrm>
          <a:prstGeom prst="rect">
            <a:avLst/>
          </a:prstGeom>
        </p:spPr>
      </p:pic>
      <p:sp>
        <p:nvSpPr>
          <p:cNvPr id="5" name="TextBox 4">
            <a:extLst>
              <a:ext uri="{FF2B5EF4-FFF2-40B4-BE49-F238E27FC236}">
                <a16:creationId xmlns:a16="http://schemas.microsoft.com/office/drawing/2014/main" id="{2238B185-3EBC-6490-0568-9B8429C80920}"/>
              </a:ext>
            </a:extLst>
          </p:cNvPr>
          <p:cNvSpPr txBox="1"/>
          <p:nvPr/>
        </p:nvSpPr>
        <p:spPr>
          <a:xfrm>
            <a:off x="330585" y="115221"/>
            <a:ext cx="4185432"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EF Core Code First Approach</a:t>
            </a:r>
          </a:p>
        </p:txBody>
      </p:sp>
    </p:spTree>
    <p:extLst>
      <p:ext uri="{BB962C8B-B14F-4D97-AF65-F5344CB8AC3E}">
        <p14:creationId xmlns:p14="http://schemas.microsoft.com/office/powerpoint/2010/main" val="1446271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783536-6F70-4B15-B093-3D0D975C074B}"/>
              </a:ext>
            </a:extLst>
          </p:cNvPr>
          <p:cNvSpPr>
            <a:spLocks noGrp="1"/>
          </p:cNvSpPr>
          <p:nvPr>
            <p:ph idx="1"/>
          </p:nvPr>
        </p:nvSpPr>
        <p:spPr>
          <a:xfrm>
            <a:off x="265471" y="196645"/>
            <a:ext cx="11926529" cy="4719484"/>
          </a:xfrm>
        </p:spPr>
        <p:txBody>
          <a:bodyPr/>
          <a:lstStyle/>
          <a:p>
            <a:pPr marL="0" indent="0">
              <a:buNone/>
            </a:pPr>
            <a:r>
              <a:rPr lang="en-US" dirty="0"/>
              <a:t>List of EF Core Database Providers</a:t>
            </a:r>
          </a:p>
          <a:p>
            <a:pPr marL="0" indent="0">
              <a:buNone/>
            </a:pPr>
            <a:r>
              <a:rPr lang="en-US" dirty="0"/>
              <a:t>https://docs.microsoft.com/en-us/ef/core/providers/</a:t>
            </a:r>
          </a:p>
          <a:p>
            <a:pPr marL="0" indent="0">
              <a:buNone/>
            </a:pPr>
            <a:endParaRPr lang="en-US" dirty="0"/>
          </a:p>
          <a:p>
            <a:pPr marL="0" indent="0">
              <a:buNone/>
            </a:pPr>
            <a:r>
              <a:rPr lang="en-US" dirty="0"/>
              <a:t>A database provider, usually sits between EF Core and the database it supports. </a:t>
            </a:r>
          </a:p>
          <a:p>
            <a:pPr marL="0" indent="0">
              <a:buNone/>
            </a:pPr>
            <a:r>
              <a:rPr lang="en-US" dirty="0"/>
              <a:t>The database provider contains the functionality specific to the database it supports. Functionality that is common to all the databases is in the EF Core component. Functionality that is specific to a database, for example, Microsoft SQL Server specific functionality is with-in the SQL Server provider for EF Core. </a:t>
            </a:r>
            <a:endParaRPr lang="en-IN" dirty="0"/>
          </a:p>
        </p:txBody>
      </p:sp>
    </p:spTree>
    <p:extLst>
      <p:ext uri="{BB962C8B-B14F-4D97-AF65-F5344CB8AC3E}">
        <p14:creationId xmlns:p14="http://schemas.microsoft.com/office/powerpoint/2010/main" val="1896227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44EE0-022E-4812-883A-696716A0DD1D}"/>
              </a:ext>
            </a:extLst>
          </p:cNvPr>
          <p:cNvSpPr>
            <a:spLocks noGrp="1"/>
          </p:cNvSpPr>
          <p:nvPr>
            <p:ph type="title"/>
          </p:nvPr>
        </p:nvSpPr>
        <p:spPr>
          <a:xfrm>
            <a:off x="934065" y="0"/>
            <a:ext cx="10144432" cy="519778"/>
          </a:xfrm>
        </p:spPr>
        <p:txBody>
          <a:bodyPr>
            <a:normAutofit fontScale="90000"/>
          </a:bodyPr>
          <a:lstStyle/>
          <a:p>
            <a:r>
              <a:rPr lang="en-IN" b="0" i="0" dirty="0">
                <a:solidFill>
                  <a:srgbClr val="181717"/>
                </a:solidFill>
                <a:effectLst/>
                <a:latin typeface="Segoe UI" panose="020B0502040204020203" pitchFamily="34" charset="0"/>
              </a:rPr>
              <a:t>Install Entity Framework Core</a:t>
            </a:r>
            <a:endParaRPr lang="en-IN" dirty="0"/>
          </a:p>
        </p:txBody>
      </p:sp>
      <p:sp>
        <p:nvSpPr>
          <p:cNvPr id="3" name="Content Placeholder 2">
            <a:extLst>
              <a:ext uri="{FF2B5EF4-FFF2-40B4-BE49-F238E27FC236}">
                <a16:creationId xmlns:a16="http://schemas.microsoft.com/office/drawing/2014/main" id="{EB5BB485-E55D-462C-A408-BE7CC567F35A}"/>
              </a:ext>
            </a:extLst>
          </p:cNvPr>
          <p:cNvSpPr>
            <a:spLocks noGrp="1"/>
          </p:cNvSpPr>
          <p:nvPr>
            <p:ph idx="1"/>
          </p:nvPr>
        </p:nvSpPr>
        <p:spPr>
          <a:xfrm>
            <a:off x="206478" y="600407"/>
            <a:ext cx="11058832" cy="5657185"/>
          </a:xfrm>
        </p:spPr>
        <p:txBody>
          <a:bodyPr/>
          <a:lstStyle/>
          <a:p>
            <a:pPr marL="0" indent="0">
              <a:buNone/>
            </a:pPr>
            <a:r>
              <a:rPr lang="en-US" dirty="0"/>
              <a:t>Entity Framework Core can be used with .NET Core or .NET 4.6 based applications. </a:t>
            </a:r>
          </a:p>
          <a:p>
            <a:pPr marL="0" indent="0">
              <a:buNone/>
            </a:pPr>
            <a:r>
              <a:rPr lang="en-US" dirty="0"/>
              <a:t>EF Core is not a part of .NET Core and standard .NET framework. It is available as a </a:t>
            </a:r>
            <a:r>
              <a:rPr lang="en-US" b="1" dirty="0"/>
              <a:t>NuGet package</a:t>
            </a:r>
            <a:r>
              <a:rPr lang="en-US" dirty="0"/>
              <a:t>. You need to install NuGet packages for the following two things to use EF Core in your application:</a:t>
            </a:r>
          </a:p>
          <a:p>
            <a:pPr marL="0" indent="0">
              <a:buNone/>
            </a:pPr>
            <a:endParaRPr lang="en-US" dirty="0"/>
          </a:p>
          <a:p>
            <a:pPr marL="0" indent="0">
              <a:buNone/>
            </a:pPr>
            <a:r>
              <a:rPr lang="en-US" dirty="0"/>
              <a:t>EF Core DB provider</a:t>
            </a:r>
          </a:p>
          <a:p>
            <a:pPr marL="0" indent="0">
              <a:buNone/>
            </a:pPr>
            <a:r>
              <a:rPr lang="en-US" dirty="0"/>
              <a:t>EF Core tools</a:t>
            </a:r>
          </a:p>
        </p:txBody>
      </p:sp>
    </p:spTree>
    <p:extLst>
      <p:ext uri="{BB962C8B-B14F-4D97-AF65-F5344CB8AC3E}">
        <p14:creationId xmlns:p14="http://schemas.microsoft.com/office/powerpoint/2010/main" val="2004962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4CCA51-AA30-E98A-1A87-A327C1D66737}"/>
              </a:ext>
            </a:extLst>
          </p:cNvPr>
          <p:cNvSpPr txBox="1"/>
          <p:nvPr/>
        </p:nvSpPr>
        <p:spPr>
          <a:xfrm>
            <a:off x="176419" y="143326"/>
            <a:ext cx="6097656"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Features</a:t>
            </a:r>
          </a:p>
        </p:txBody>
      </p:sp>
      <p:sp>
        <p:nvSpPr>
          <p:cNvPr id="7" name="TextBox 6">
            <a:extLst>
              <a:ext uri="{FF2B5EF4-FFF2-40B4-BE49-F238E27FC236}">
                <a16:creationId xmlns:a16="http://schemas.microsoft.com/office/drawing/2014/main" id="{92DC98B1-3A7D-8BB1-9310-5594691F949C}"/>
              </a:ext>
            </a:extLst>
          </p:cNvPr>
          <p:cNvSpPr txBox="1"/>
          <p:nvPr/>
        </p:nvSpPr>
        <p:spPr>
          <a:xfrm>
            <a:off x="176418" y="738598"/>
            <a:ext cx="11601451" cy="5078313"/>
          </a:xfrm>
          <a:prstGeom prst="rect">
            <a:avLst/>
          </a:prstGeom>
          <a:noFill/>
        </p:spPr>
        <p:txBody>
          <a:bodyPr wrap="square">
            <a:spAutoFit/>
          </a:bodyPr>
          <a:lstStyle/>
          <a:p>
            <a:pPr algn="l"/>
            <a:r>
              <a:rPr lang="en-US" b="0" i="0" dirty="0">
                <a:solidFill>
                  <a:srgbClr val="333333"/>
                </a:solidFill>
                <a:effectLst/>
                <a:latin typeface="Open Sans" panose="020B0606030504020204" pitchFamily="34" charset="0"/>
              </a:rPr>
              <a:t>Entity Framework Core (EF Core) has several features that make it a powerful and efficient tool for data access and management:</a:t>
            </a:r>
          </a:p>
          <a:p>
            <a:pPr algn="l">
              <a:buFont typeface="Arial" panose="020B0604020202020204" pitchFamily="34" charset="0"/>
              <a:buChar char="•"/>
            </a:pPr>
            <a:r>
              <a:rPr lang="en-US" b="1" i="0" dirty="0">
                <a:solidFill>
                  <a:srgbClr val="333333"/>
                </a:solidFill>
                <a:effectLst/>
                <a:latin typeface="Open Sans" panose="020B0606030504020204" pitchFamily="34" charset="0"/>
              </a:rPr>
              <a:t>Cross-platform</a:t>
            </a:r>
            <a:r>
              <a:rPr lang="en-US" b="0" i="0" dirty="0">
                <a:solidFill>
                  <a:srgbClr val="333333"/>
                </a:solidFill>
                <a:effectLst/>
                <a:latin typeface="Open Sans" panose="020B0606030504020204" pitchFamily="34" charset="0"/>
              </a:rPr>
              <a:t>: EF Core can be used on a variety of platforms including Windows, Linux, and Mac.</a:t>
            </a:r>
          </a:p>
          <a:p>
            <a:pPr algn="l">
              <a:buFont typeface="Arial" panose="020B0604020202020204" pitchFamily="34" charset="0"/>
              <a:buChar char="•"/>
            </a:pPr>
            <a:r>
              <a:rPr lang="en-US" b="1" i="0" dirty="0">
                <a:solidFill>
                  <a:srgbClr val="333333"/>
                </a:solidFill>
                <a:effectLst/>
                <a:latin typeface="Open Sans" panose="020B0606030504020204" pitchFamily="34" charset="0"/>
              </a:rPr>
              <a:t>Lightweight</a:t>
            </a:r>
            <a:r>
              <a:rPr lang="en-US" b="0" i="0" dirty="0">
                <a:solidFill>
                  <a:srgbClr val="333333"/>
                </a:solidFill>
                <a:effectLst/>
                <a:latin typeface="Open Sans" panose="020B0606030504020204" pitchFamily="34" charset="0"/>
              </a:rPr>
              <a:t>: EF Core has a smaller footprint and fewer dependencies than the full version of Entity Framework.</a:t>
            </a:r>
          </a:p>
          <a:p>
            <a:pPr algn="l">
              <a:buFont typeface="Arial" panose="020B0604020202020204" pitchFamily="34" charset="0"/>
              <a:buChar char="•"/>
            </a:pPr>
            <a:r>
              <a:rPr lang="en-US" b="1" i="0" dirty="0">
                <a:solidFill>
                  <a:srgbClr val="333333"/>
                </a:solidFill>
                <a:effectLst/>
                <a:latin typeface="Open Sans" panose="020B0606030504020204" pitchFamily="34" charset="0"/>
              </a:rPr>
              <a:t>Code first</a:t>
            </a:r>
            <a:r>
              <a:rPr lang="en-US" b="0" i="0" dirty="0">
                <a:solidFill>
                  <a:srgbClr val="333333"/>
                </a:solidFill>
                <a:effectLst/>
                <a:latin typeface="Open Sans" panose="020B0606030504020204" pitchFamily="34" charset="0"/>
              </a:rPr>
              <a:t>: EF Core allows developers to create a database from code, which enables a more agile and test-driven development workflow.</a:t>
            </a:r>
          </a:p>
          <a:p>
            <a:pPr algn="l">
              <a:buFont typeface="Arial" panose="020B0604020202020204" pitchFamily="34" charset="0"/>
              <a:buChar char="•"/>
            </a:pPr>
            <a:r>
              <a:rPr lang="en-US" b="1" i="0" dirty="0">
                <a:solidFill>
                  <a:srgbClr val="333333"/>
                </a:solidFill>
                <a:effectLst/>
                <a:latin typeface="Open Sans" panose="020B0606030504020204" pitchFamily="34" charset="0"/>
              </a:rPr>
              <a:t>LINQ support</a:t>
            </a:r>
            <a:r>
              <a:rPr lang="en-US" b="0" i="0" dirty="0">
                <a:solidFill>
                  <a:srgbClr val="333333"/>
                </a:solidFill>
                <a:effectLst/>
                <a:latin typeface="Open Sans" panose="020B0606030504020204" pitchFamily="34" charset="0"/>
              </a:rPr>
              <a:t>: EF Core supports LINQ, a powerful and expressive query language, which allows developers to write efficient and readable queries using C# or Visual Basic.</a:t>
            </a:r>
          </a:p>
          <a:p>
            <a:pPr algn="l">
              <a:buFont typeface="Arial" panose="020B0604020202020204" pitchFamily="34" charset="0"/>
              <a:buChar char="•"/>
            </a:pPr>
            <a:r>
              <a:rPr lang="en-US" b="1" i="0" dirty="0">
                <a:solidFill>
                  <a:srgbClr val="333333"/>
                </a:solidFill>
                <a:effectLst/>
                <a:latin typeface="Open Sans" panose="020B0606030504020204" pitchFamily="34" charset="0"/>
              </a:rPr>
              <a:t>Support for multiple databases</a:t>
            </a:r>
            <a:r>
              <a:rPr lang="en-US" b="0" i="0" dirty="0">
                <a:solidFill>
                  <a:srgbClr val="333333"/>
                </a:solidFill>
                <a:effectLst/>
                <a:latin typeface="Open Sans" panose="020B0606030504020204" pitchFamily="34" charset="0"/>
              </a:rPr>
              <a:t>: EF Core supports a wide range of relational databases including SQL Server, MySQL, SQLite, and PostgreSQL.</a:t>
            </a:r>
          </a:p>
          <a:p>
            <a:pPr algn="l">
              <a:buFont typeface="Arial" panose="020B0604020202020204" pitchFamily="34" charset="0"/>
              <a:buChar char="•"/>
            </a:pPr>
            <a:r>
              <a:rPr lang="en-US" b="1" i="0" dirty="0">
                <a:solidFill>
                  <a:srgbClr val="333333"/>
                </a:solidFill>
                <a:effectLst/>
                <a:latin typeface="Open Sans" panose="020B0606030504020204" pitchFamily="34" charset="0"/>
              </a:rPr>
              <a:t>Migrations</a:t>
            </a:r>
            <a:r>
              <a:rPr lang="en-US" b="0" i="0" dirty="0">
                <a:solidFill>
                  <a:srgbClr val="333333"/>
                </a:solidFill>
                <a:effectLst/>
                <a:latin typeface="Open Sans" panose="020B0606030504020204" pitchFamily="34" charset="0"/>
              </a:rPr>
              <a:t>: EF Core has built-in support for creating and managing database migrations, which allows for easy management of database changes over time.</a:t>
            </a:r>
          </a:p>
          <a:p>
            <a:pPr algn="l">
              <a:buFont typeface="Arial" panose="020B0604020202020204" pitchFamily="34" charset="0"/>
              <a:buChar char="•"/>
            </a:pPr>
            <a:r>
              <a:rPr lang="en-US" b="1" i="0" dirty="0">
                <a:solidFill>
                  <a:srgbClr val="333333"/>
                </a:solidFill>
                <a:effectLst/>
                <a:latin typeface="Open Sans" panose="020B0606030504020204" pitchFamily="34" charset="0"/>
              </a:rPr>
              <a:t>Performance improvements</a:t>
            </a:r>
            <a:r>
              <a:rPr lang="en-US" b="0" i="0" dirty="0">
                <a:solidFill>
                  <a:srgbClr val="333333"/>
                </a:solidFill>
                <a:effectLst/>
                <a:latin typeface="Open Sans" panose="020B0606030504020204" pitchFamily="34" charset="0"/>
              </a:rPr>
              <a:t>: EF Core has been optimized for performance and can handle large datasets efficiently.</a:t>
            </a:r>
          </a:p>
          <a:p>
            <a:pPr algn="l">
              <a:buFont typeface="Arial" panose="020B0604020202020204" pitchFamily="34" charset="0"/>
              <a:buChar char="•"/>
            </a:pPr>
            <a:r>
              <a:rPr lang="en-US" b="1" i="0" dirty="0">
                <a:solidFill>
                  <a:srgbClr val="333333"/>
                </a:solidFill>
                <a:effectLst/>
                <a:latin typeface="Open Sans" panose="020B0606030504020204" pitchFamily="34" charset="0"/>
              </a:rPr>
              <a:t>Relationships</a:t>
            </a:r>
            <a:r>
              <a:rPr lang="en-US" b="0" i="0" dirty="0">
                <a:solidFill>
                  <a:srgbClr val="333333"/>
                </a:solidFill>
                <a:effectLst/>
                <a:latin typeface="Open Sans" panose="020B0606030504020204" pitchFamily="34" charset="0"/>
              </a:rPr>
              <a:t>: Support for </a:t>
            </a:r>
            <a:r>
              <a:rPr lang="en-US" b="1" i="0" u="sng" dirty="0">
                <a:solidFill>
                  <a:srgbClr val="2E97BD"/>
                </a:solidFill>
                <a:effectLst/>
                <a:latin typeface="Open Sans" panose="020B0606030504020204" pitchFamily="34" charset="0"/>
              </a:rPr>
              <a:t>one-to-one</a:t>
            </a:r>
            <a:r>
              <a:rPr lang="en-US" b="0" i="0" dirty="0">
                <a:solidFill>
                  <a:srgbClr val="333333"/>
                </a:solidFill>
                <a:effectLst/>
                <a:latin typeface="Open Sans" panose="020B0606030504020204" pitchFamily="34" charset="0"/>
              </a:rPr>
              <a:t>, </a:t>
            </a:r>
            <a:r>
              <a:rPr lang="en-US" b="1" i="0" u="sng" dirty="0">
                <a:solidFill>
                  <a:srgbClr val="2E97BD"/>
                </a:solidFill>
                <a:effectLst/>
                <a:latin typeface="Open Sans" panose="020B0606030504020204" pitchFamily="34" charset="0"/>
              </a:rPr>
              <a:t>one-to-many</a:t>
            </a:r>
            <a:r>
              <a:rPr lang="en-US" b="0" i="0" dirty="0">
                <a:solidFill>
                  <a:srgbClr val="333333"/>
                </a:solidFill>
                <a:effectLst/>
                <a:latin typeface="Open Sans" panose="020B0606030504020204" pitchFamily="34" charset="0"/>
              </a:rPr>
              <a:t>, and </a:t>
            </a:r>
            <a:r>
              <a:rPr lang="en-US" b="1" i="0" u="sng" dirty="0">
                <a:solidFill>
                  <a:srgbClr val="2E97BD"/>
                </a:solidFill>
                <a:effectLst/>
                <a:latin typeface="Open Sans" panose="020B0606030504020204" pitchFamily="34" charset="0"/>
              </a:rPr>
              <a:t>many-to-many</a:t>
            </a:r>
            <a:endParaRPr lang="en-US" b="0" i="0" dirty="0">
              <a:solidFill>
                <a:srgbClr val="333333"/>
              </a:solidFill>
              <a:effectLst/>
              <a:latin typeface="Open Sans" panose="020B0606030504020204" pitchFamily="34" charset="0"/>
            </a:endParaRPr>
          </a:p>
          <a:p>
            <a:pPr algn="l">
              <a:buFont typeface="Arial" panose="020B0604020202020204" pitchFamily="34" charset="0"/>
              <a:buChar char="•"/>
            </a:pPr>
            <a:r>
              <a:rPr lang="en-US" b="0" i="0" dirty="0">
                <a:solidFill>
                  <a:srgbClr val="333333"/>
                </a:solidFill>
                <a:effectLst/>
                <a:latin typeface="Open Sans" panose="020B0606030504020204" pitchFamily="34" charset="0"/>
              </a:rPr>
              <a:t>Support for Client-evaluation and Lazy Loading.</a:t>
            </a:r>
          </a:p>
          <a:p>
            <a:pPr algn="l">
              <a:buFont typeface="Arial" panose="020B0604020202020204" pitchFamily="34" charset="0"/>
              <a:buChar char="•"/>
            </a:pPr>
            <a:r>
              <a:rPr lang="en-US" b="0" i="0" dirty="0">
                <a:solidFill>
                  <a:srgbClr val="333333"/>
                </a:solidFill>
                <a:effectLst/>
                <a:latin typeface="Open Sans" panose="020B0606030504020204" pitchFamily="34" charset="0"/>
              </a:rPr>
              <a:t>Support for explicit loading, change tracking, and caching.</a:t>
            </a:r>
          </a:p>
        </p:txBody>
      </p:sp>
    </p:spTree>
    <p:extLst>
      <p:ext uri="{BB962C8B-B14F-4D97-AF65-F5344CB8AC3E}">
        <p14:creationId xmlns:p14="http://schemas.microsoft.com/office/powerpoint/2010/main" val="3693307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14F7DD-6643-879C-E47D-12F8292902E9}"/>
              </a:ext>
            </a:extLst>
          </p:cNvPr>
          <p:cNvSpPr txBox="1"/>
          <p:nvPr/>
        </p:nvSpPr>
        <p:spPr>
          <a:xfrm>
            <a:off x="206236" y="173143"/>
            <a:ext cx="6097656"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Strong Typing</a:t>
            </a:r>
          </a:p>
        </p:txBody>
      </p:sp>
      <p:sp>
        <p:nvSpPr>
          <p:cNvPr id="7" name="TextBox 6">
            <a:extLst>
              <a:ext uri="{FF2B5EF4-FFF2-40B4-BE49-F238E27FC236}">
                <a16:creationId xmlns:a16="http://schemas.microsoft.com/office/drawing/2014/main" id="{80C2EA9E-EE29-D144-B662-B9B5DE899FF0}"/>
              </a:ext>
            </a:extLst>
          </p:cNvPr>
          <p:cNvSpPr txBox="1"/>
          <p:nvPr/>
        </p:nvSpPr>
        <p:spPr>
          <a:xfrm>
            <a:off x="-1656" y="710291"/>
            <a:ext cx="11203056" cy="3970318"/>
          </a:xfrm>
          <a:prstGeom prst="rect">
            <a:avLst/>
          </a:prstGeom>
          <a:noFill/>
        </p:spPr>
        <p:txBody>
          <a:bodyPr wrap="square">
            <a:spAutoFit/>
          </a:bodyPr>
          <a:lstStyle/>
          <a:p>
            <a:pPr algn="l"/>
            <a:r>
              <a:rPr lang="en-US" b="0" i="0" dirty="0">
                <a:solidFill>
                  <a:srgbClr val="333333"/>
                </a:solidFill>
                <a:effectLst/>
                <a:latin typeface="Open Sans" panose="020B0606030504020204" pitchFamily="34" charset="0"/>
              </a:rPr>
              <a:t>Entity Framework Core (EF Core) is an ORM (Object-Relational Mapping) framework for the .NET platform. One of the key features of EF Core is its support for </a:t>
            </a:r>
            <a:r>
              <a:rPr lang="en-US" b="1" i="0" dirty="0">
                <a:solidFill>
                  <a:srgbClr val="333333"/>
                </a:solidFill>
                <a:effectLst/>
                <a:latin typeface="Open Sans" panose="020B0606030504020204" pitchFamily="34" charset="0"/>
              </a:rPr>
              <a:t>strong typing</a:t>
            </a:r>
            <a:r>
              <a:rPr lang="en-US" b="0" i="0" dirty="0">
                <a:solidFill>
                  <a:srgbClr val="333333"/>
                </a:solidFill>
                <a:effectLst/>
                <a:latin typeface="Open Sans" panose="020B0606030504020204" pitchFamily="34" charset="0"/>
              </a:rPr>
              <a:t>.</a:t>
            </a:r>
          </a:p>
          <a:p>
            <a:pPr algn="l"/>
            <a:endParaRPr lang="en-US" b="0" i="0" dirty="0">
              <a:solidFill>
                <a:srgbClr val="333333"/>
              </a:solidFill>
              <a:effectLst/>
              <a:latin typeface="Open Sans" panose="020B0606030504020204" pitchFamily="34" charset="0"/>
            </a:endParaRPr>
          </a:p>
          <a:p>
            <a:pPr algn="l">
              <a:buFont typeface="Arial" panose="020B0604020202020204" pitchFamily="34" charset="0"/>
              <a:buChar char="•"/>
            </a:pPr>
            <a:r>
              <a:rPr lang="en-US" b="0" i="0" dirty="0">
                <a:solidFill>
                  <a:srgbClr val="333333"/>
                </a:solidFill>
                <a:effectLst/>
                <a:latin typeface="Open Sans" panose="020B0606030504020204" pitchFamily="34" charset="0"/>
              </a:rPr>
              <a:t>When working with EF Core, you define your database schema using C# classes known as entities, these classes are then mapped to the corresponding tables in the database.</a:t>
            </a:r>
          </a:p>
          <a:p>
            <a:pPr algn="l">
              <a:buFont typeface="Arial" panose="020B0604020202020204" pitchFamily="34" charset="0"/>
              <a:buChar char="•"/>
            </a:pPr>
            <a:endParaRPr lang="en-US" b="0" i="0" dirty="0">
              <a:solidFill>
                <a:srgbClr val="333333"/>
              </a:solidFill>
              <a:effectLst/>
              <a:latin typeface="Open Sans" panose="020B0606030504020204" pitchFamily="34" charset="0"/>
            </a:endParaRPr>
          </a:p>
          <a:p>
            <a:pPr algn="l">
              <a:buFont typeface="Arial" panose="020B0604020202020204" pitchFamily="34" charset="0"/>
              <a:buChar char="•"/>
            </a:pPr>
            <a:r>
              <a:rPr lang="en-US" b="0" i="0" dirty="0">
                <a:solidFill>
                  <a:srgbClr val="333333"/>
                </a:solidFill>
                <a:effectLst/>
                <a:latin typeface="Open Sans" panose="020B0606030504020204" pitchFamily="34" charset="0"/>
              </a:rPr>
              <a:t>Because the entities are strongly typed, the compiler can catch any errors related to the schema at </a:t>
            </a:r>
            <a:r>
              <a:rPr lang="en-US" b="1" i="0" dirty="0">
                <a:solidFill>
                  <a:srgbClr val="333333"/>
                </a:solidFill>
                <a:effectLst/>
                <a:latin typeface="Open Sans" panose="020B0606030504020204" pitchFamily="34" charset="0"/>
              </a:rPr>
              <a:t>compile-time, </a:t>
            </a:r>
            <a:r>
              <a:rPr lang="en-US" b="0" i="0" dirty="0">
                <a:solidFill>
                  <a:srgbClr val="333333"/>
                </a:solidFill>
                <a:effectLst/>
                <a:latin typeface="Open Sans" panose="020B0606030504020204" pitchFamily="34" charset="0"/>
              </a:rPr>
              <a:t>rather than at runtime. [</a:t>
            </a:r>
            <a:r>
              <a:rPr lang="en-US" b="0" i="0" dirty="0" err="1">
                <a:solidFill>
                  <a:srgbClr val="333333"/>
                </a:solidFill>
                <a:effectLst/>
                <a:latin typeface="Open Sans" panose="020B0606030504020204" pitchFamily="34" charset="0"/>
              </a:rPr>
              <a:t>eg.</a:t>
            </a:r>
            <a:r>
              <a:rPr lang="en-US" b="0" i="0" dirty="0">
                <a:solidFill>
                  <a:srgbClr val="333333"/>
                </a:solidFill>
                <a:effectLst/>
                <a:latin typeface="Open Sans" panose="020B0606030504020204" pitchFamily="34" charset="0"/>
              </a:rPr>
              <a:t>  In ADO </a:t>
            </a:r>
            <a:r>
              <a:rPr lang="en-US" b="0" i="0" dirty="0" err="1">
                <a:solidFill>
                  <a:srgbClr val="333333"/>
                </a:solidFill>
                <a:effectLst/>
                <a:latin typeface="Open Sans" panose="020B0606030504020204" pitchFamily="34" charset="0"/>
              </a:rPr>
              <a:t>.Net</a:t>
            </a:r>
            <a:r>
              <a:rPr lang="en-US" b="0" i="0" dirty="0">
                <a:solidFill>
                  <a:srgbClr val="333333"/>
                </a:solidFill>
                <a:effectLst/>
                <a:latin typeface="Open Sans" panose="020B0606030504020204" pitchFamily="34" charset="0"/>
              </a:rPr>
              <a:t> if you give table name wrong you get run time error  ]</a:t>
            </a:r>
          </a:p>
          <a:p>
            <a:pPr algn="l">
              <a:buFont typeface="Arial" panose="020B0604020202020204" pitchFamily="34" charset="0"/>
              <a:buChar char="•"/>
            </a:pPr>
            <a:r>
              <a:rPr lang="en-US" b="0" i="0" dirty="0">
                <a:solidFill>
                  <a:srgbClr val="333333"/>
                </a:solidFill>
                <a:effectLst/>
                <a:latin typeface="Open Sans" panose="020B0606030504020204" pitchFamily="34" charset="0"/>
              </a:rPr>
              <a:t> </a:t>
            </a:r>
          </a:p>
          <a:p>
            <a:pPr algn="l">
              <a:buFont typeface="Arial" panose="020B0604020202020204" pitchFamily="34" charset="0"/>
              <a:buChar char="•"/>
            </a:pPr>
            <a:r>
              <a:rPr lang="en-US" b="0" i="0" dirty="0">
                <a:solidFill>
                  <a:srgbClr val="333333"/>
                </a:solidFill>
                <a:effectLst/>
                <a:latin typeface="Open Sans" panose="020B0606030504020204" pitchFamily="34" charset="0"/>
              </a:rPr>
              <a:t>Additionally, EF Core supports the use of LINQ (Language-Integrated Query) to query the data in the database, which provides a strongly-typed, expressive, and easy-to-use API for querying data.</a:t>
            </a:r>
          </a:p>
          <a:p>
            <a:pPr algn="l">
              <a:buFont typeface="Arial" panose="020B0604020202020204" pitchFamily="34" charset="0"/>
              <a:buChar char="•"/>
            </a:pPr>
            <a:endParaRPr lang="en-US" b="0" i="0" dirty="0">
              <a:solidFill>
                <a:srgbClr val="333333"/>
              </a:solidFill>
              <a:effectLst/>
              <a:latin typeface="Open Sans" panose="020B0606030504020204" pitchFamily="34" charset="0"/>
            </a:endParaRPr>
          </a:p>
          <a:p>
            <a:pPr algn="l">
              <a:buFont typeface="Arial" panose="020B0604020202020204" pitchFamily="34" charset="0"/>
              <a:buChar char="•"/>
            </a:pPr>
            <a:r>
              <a:rPr lang="en-US" b="0" i="0" dirty="0">
                <a:solidFill>
                  <a:srgbClr val="333333"/>
                </a:solidFill>
                <a:effectLst/>
                <a:latin typeface="Open Sans" panose="020B0606030504020204" pitchFamily="34" charset="0"/>
              </a:rPr>
              <a:t>This can make it easier for developers to write maintainable and efficient code.</a:t>
            </a:r>
          </a:p>
        </p:txBody>
      </p:sp>
      <p:sp>
        <p:nvSpPr>
          <p:cNvPr id="8" name="TextBox 7">
            <a:extLst>
              <a:ext uri="{FF2B5EF4-FFF2-40B4-BE49-F238E27FC236}">
                <a16:creationId xmlns:a16="http://schemas.microsoft.com/office/drawing/2014/main" id="{2CE5492C-D69A-85F5-C358-E4C85A0219ED}"/>
              </a:ext>
            </a:extLst>
          </p:cNvPr>
          <p:cNvSpPr txBox="1"/>
          <p:nvPr/>
        </p:nvSpPr>
        <p:spPr>
          <a:xfrm>
            <a:off x="-1656" y="4826675"/>
            <a:ext cx="12097578" cy="1754326"/>
          </a:xfrm>
          <a:prstGeom prst="rect">
            <a:avLst/>
          </a:prstGeom>
          <a:noFill/>
        </p:spPr>
        <p:txBody>
          <a:bodyPr wrap="square">
            <a:spAutoFit/>
          </a:bodyPr>
          <a:lstStyle/>
          <a:p>
            <a:pPr algn="l"/>
            <a:r>
              <a:rPr lang="en-US" b="0" i="0" dirty="0">
                <a:solidFill>
                  <a:srgbClr val="333333"/>
                </a:solidFill>
                <a:effectLst/>
                <a:latin typeface="Open Sans" panose="020B0606030504020204" pitchFamily="34" charset="0"/>
              </a:rPr>
              <a:t>ORMs are pre-written libraries of code that do this work for you. Full-featured ORMs do a lot more too. They can</a:t>
            </a:r>
          </a:p>
          <a:p>
            <a:pPr algn="l">
              <a:buFont typeface="Arial" panose="020B0604020202020204" pitchFamily="34" charset="0"/>
              <a:buChar char="•"/>
            </a:pPr>
            <a:r>
              <a:rPr lang="en-US" b="0" i="0" dirty="0">
                <a:solidFill>
                  <a:srgbClr val="333333"/>
                </a:solidFill>
                <a:effectLst/>
                <a:latin typeface="Open Sans" panose="020B0606030504020204" pitchFamily="34" charset="0"/>
              </a:rPr>
              <a:t>map a domain model to database objects</a:t>
            </a:r>
          </a:p>
          <a:p>
            <a:pPr algn="l">
              <a:buFont typeface="Arial" panose="020B0604020202020204" pitchFamily="34" charset="0"/>
              <a:buChar char="•"/>
            </a:pPr>
            <a:r>
              <a:rPr lang="en-US" b="0" i="0" dirty="0">
                <a:solidFill>
                  <a:srgbClr val="333333"/>
                </a:solidFill>
                <a:effectLst/>
                <a:latin typeface="Open Sans" panose="020B0606030504020204" pitchFamily="34" charset="0"/>
              </a:rPr>
              <a:t>create databases and maintain the schema in line with changes to the model</a:t>
            </a:r>
          </a:p>
          <a:p>
            <a:pPr algn="l">
              <a:buFont typeface="Arial" panose="020B0604020202020204" pitchFamily="34" charset="0"/>
              <a:buChar char="•"/>
            </a:pPr>
            <a:r>
              <a:rPr lang="en-US" b="0" i="0" dirty="0">
                <a:solidFill>
                  <a:srgbClr val="333333"/>
                </a:solidFill>
                <a:effectLst/>
                <a:latin typeface="Open Sans" panose="020B0606030504020204" pitchFamily="34" charset="0"/>
              </a:rPr>
              <a:t>generate SQL and execute it against the database</a:t>
            </a:r>
          </a:p>
          <a:p>
            <a:pPr algn="l">
              <a:buFont typeface="Arial" panose="020B0604020202020204" pitchFamily="34" charset="0"/>
              <a:buChar char="•"/>
            </a:pPr>
            <a:r>
              <a:rPr lang="en-US" b="0" i="0" dirty="0">
                <a:solidFill>
                  <a:srgbClr val="333333"/>
                </a:solidFill>
                <a:effectLst/>
                <a:latin typeface="Open Sans" panose="020B0606030504020204" pitchFamily="34" charset="0"/>
              </a:rPr>
              <a:t>manage transactions</a:t>
            </a:r>
          </a:p>
          <a:p>
            <a:pPr algn="l">
              <a:buFont typeface="Arial" panose="020B0604020202020204" pitchFamily="34" charset="0"/>
              <a:buChar char="•"/>
            </a:pPr>
            <a:r>
              <a:rPr lang="en-US" b="0" i="0" dirty="0">
                <a:solidFill>
                  <a:srgbClr val="333333"/>
                </a:solidFill>
                <a:effectLst/>
                <a:latin typeface="Open Sans" panose="020B0606030504020204" pitchFamily="34" charset="0"/>
              </a:rPr>
              <a:t>keep track of objects that have already been retrieved</a:t>
            </a:r>
          </a:p>
        </p:txBody>
      </p:sp>
    </p:spTree>
    <p:extLst>
      <p:ext uri="{BB962C8B-B14F-4D97-AF65-F5344CB8AC3E}">
        <p14:creationId xmlns:p14="http://schemas.microsoft.com/office/powerpoint/2010/main" val="3692027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648EF9F-9736-7DBE-F415-AEA18759CED6}"/>
              </a:ext>
            </a:extLst>
          </p:cNvPr>
          <p:cNvSpPr txBox="1"/>
          <p:nvPr/>
        </p:nvSpPr>
        <p:spPr>
          <a:xfrm>
            <a:off x="265872" y="342108"/>
            <a:ext cx="3580571"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EF Core </a:t>
            </a:r>
            <a:r>
              <a:rPr lang="en-IN" b="0" i="0" dirty="0" err="1">
                <a:solidFill>
                  <a:srgbClr val="004867"/>
                </a:solidFill>
                <a:effectLst/>
                <a:latin typeface="Roboto" panose="02000000000000000000" pitchFamily="2" charset="0"/>
              </a:rPr>
              <a:t>DbContext</a:t>
            </a:r>
            <a:endParaRPr lang="en-IN" b="0" i="0" dirty="0">
              <a:solidFill>
                <a:srgbClr val="004867"/>
              </a:solidFill>
              <a:effectLst/>
              <a:latin typeface="Roboto" panose="02000000000000000000" pitchFamily="2" charset="0"/>
            </a:endParaRPr>
          </a:p>
        </p:txBody>
      </p:sp>
      <p:sp>
        <p:nvSpPr>
          <p:cNvPr id="9" name="TextBox 8">
            <a:extLst>
              <a:ext uri="{FF2B5EF4-FFF2-40B4-BE49-F238E27FC236}">
                <a16:creationId xmlns:a16="http://schemas.microsoft.com/office/drawing/2014/main" id="{D28F3CAA-3992-F1B4-67A0-6B0C48168066}"/>
              </a:ext>
            </a:extLst>
          </p:cNvPr>
          <p:cNvSpPr txBox="1"/>
          <p:nvPr/>
        </p:nvSpPr>
        <p:spPr>
          <a:xfrm>
            <a:off x="265872" y="925061"/>
            <a:ext cx="5558458" cy="3970318"/>
          </a:xfrm>
          <a:prstGeom prst="rect">
            <a:avLst/>
          </a:prstGeom>
          <a:noFill/>
        </p:spPr>
        <p:txBody>
          <a:bodyPr wrap="square">
            <a:spAutoFit/>
          </a:bodyPr>
          <a:lstStyle/>
          <a:p>
            <a:r>
              <a:rPr lang="en-US" dirty="0"/>
              <a:t>The EF Core </a:t>
            </a:r>
            <a:r>
              <a:rPr lang="en-US" dirty="0" err="1"/>
              <a:t>DbContext</a:t>
            </a:r>
            <a:r>
              <a:rPr lang="en-US" dirty="0"/>
              <a:t> class represents a session with a database and provides an API for communicating with the database with the following capabilities:</a:t>
            </a:r>
          </a:p>
          <a:p>
            <a:endParaRPr lang="en-US" dirty="0"/>
          </a:p>
          <a:p>
            <a:r>
              <a:rPr lang="en-US" dirty="0"/>
              <a:t>Database Connections</a:t>
            </a:r>
          </a:p>
          <a:p>
            <a:r>
              <a:rPr lang="en-US" dirty="0"/>
              <a:t>Data operations such as querying and persistence</a:t>
            </a:r>
          </a:p>
          <a:p>
            <a:r>
              <a:rPr lang="en-US" dirty="0"/>
              <a:t>Change Tracking</a:t>
            </a:r>
          </a:p>
          <a:p>
            <a:endParaRPr lang="en-US" dirty="0"/>
          </a:p>
          <a:p>
            <a:endParaRPr lang="en-US" dirty="0"/>
          </a:p>
          <a:p>
            <a:r>
              <a:rPr lang="en-US" dirty="0"/>
              <a:t>Model building</a:t>
            </a:r>
          </a:p>
          <a:p>
            <a:r>
              <a:rPr lang="en-US" dirty="0"/>
              <a:t>Data Mapping</a:t>
            </a:r>
          </a:p>
          <a:p>
            <a:r>
              <a:rPr lang="en-US" dirty="0"/>
              <a:t>Object caching</a:t>
            </a:r>
          </a:p>
          <a:p>
            <a:endParaRPr lang="en-US" dirty="0"/>
          </a:p>
          <a:p>
            <a:r>
              <a:rPr lang="en-US" dirty="0"/>
              <a:t>Transaction management</a:t>
            </a:r>
            <a:endParaRPr lang="en-IN" dirty="0"/>
          </a:p>
        </p:txBody>
      </p:sp>
      <p:sp>
        <p:nvSpPr>
          <p:cNvPr id="11" name="TextBox 10">
            <a:extLst>
              <a:ext uri="{FF2B5EF4-FFF2-40B4-BE49-F238E27FC236}">
                <a16:creationId xmlns:a16="http://schemas.microsoft.com/office/drawing/2014/main" id="{071FCBC6-EF24-FA28-0E0C-18EBAAB24312}"/>
              </a:ext>
            </a:extLst>
          </p:cNvPr>
          <p:cNvSpPr txBox="1"/>
          <p:nvPr/>
        </p:nvSpPr>
        <p:spPr>
          <a:xfrm>
            <a:off x="6006133" y="445981"/>
            <a:ext cx="6097656"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0" i="0" dirty="0">
                <a:solidFill>
                  <a:srgbClr val="333333"/>
                </a:solidFill>
                <a:effectLst/>
                <a:latin typeface="Open Sans" panose="020B0606030504020204" pitchFamily="34" charset="0"/>
              </a:rPr>
              <a:t>The </a:t>
            </a:r>
            <a:r>
              <a:rPr lang="en-US" b="0" i="0" dirty="0" err="1">
                <a:solidFill>
                  <a:srgbClr val="333333"/>
                </a:solidFill>
                <a:effectLst/>
                <a:latin typeface="Open Sans" panose="020B0606030504020204" pitchFamily="34" charset="0"/>
              </a:rPr>
              <a:t>DbContext</a:t>
            </a:r>
            <a:r>
              <a:rPr lang="en-US" b="0" i="0" dirty="0">
                <a:solidFill>
                  <a:srgbClr val="333333"/>
                </a:solidFill>
                <a:effectLst/>
                <a:latin typeface="Open Sans" panose="020B0606030504020204" pitchFamily="34" charset="0"/>
              </a:rPr>
              <a:t> is responsible for opening and managing connections to the database.</a:t>
            </a:r>
            <a:endParaRPr lang="en-IN" dirty="0"/>
          </a:p>
        </p:txBody>
      </p:sp>
      <p:cxnSp>
        <p:nvCxnSpPr>
          <p:cNvPr id="13" name="Straight Arrow Connector 12">
            <a:extLst>
              <a:ext uri="{FF2B5EF4-FFF2-40B4-BE49-F238E27FC236}">
                <a16:creationId xmlns:a16="http://schemas.microsoft.com/office/drawing/2014/main" id="{366E3149-B0D9-0E70-5EE8-E4D3CDAAEF40}"/>
              </a:ext>
            </a:extLst>
          </p:cNvPr>
          <p:cNvCxnSpPr>
            <a:cxnSpLocks/>
          </p:cNvCxnSpPr>
          <p:nvPr/>
        </p:nvCxnSpPr>
        <p:spPr>
          <a:xfrm flipV="1">
            <a:off x="2484783" y="1063681"/>
            <a:ext cx="3611217" cy="11976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58826DF-7BB1-7BD6-42D7-8036AC668BCB}"/>
              </a:ext>
            </a:extLst>
          </p:cNvPr>
          <p:cNvSpPr txBox="1"/>
          <p:nvPr/>
        </p:nvSpPr>
        <p:spPr>
          <a:xfrm>
            <a:off x="6608693" y="1215230"/>
            <a:ext cx="2671970" cy="938816"/>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Adding data</a:t>
            </a:r>
          </a:p>
          <a:p>
            <a:r>
              <a:rPr lang="en-IN" dirty="0"/>
              <a:t>Modifying data</a:t>
            </a:r>
          </a:p>
          <a:p>
            <a:r>
              <a:rPr lang="en-IN" dirty="0"/>
              <a:t>Deleting data</a:t>
            </a:r>
          </a:p>
        </p:txBody>
      </p:sp>
      <p:cxnSp>
        <p:nvCxnSpPr>
          <p:cNvPr id="19" name="Straight Arrow Connector 18">
            <a:extLst>
              <a:ext uri="{FF2B5EF4-FFF2-40B4-BE49-F238E27FC236}">
                <a16:creationId xmlns:a16="http://schemas.microsoft.com/office/drawing/2014/main" id="{59B5ADE4-AE5D-F024-F911-18A5EFD8BDE1}"/>
              </a:ext>
            </a:extLst>
          </p:cNvPr>
          <p:cNvCxnSpPr>
            <a:cxnSpLocks/>
          </p:cNvCxnSpPr>
          <p:nvPr/>
        </p:nvCxnSpPr>
        <p:spPr>
          <a:xfrm flipV="1">
            <a:off x="5049078" y="1803939"/>
            <a:ext cx="1639957" cy="710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5F427B0-D68D-EAC4-D824-8783FD87E3B9}"/>
              </a:ext>
            </a:extLst>
          </p:cNvPr>
          <p:cNvSpPr txBox="1"/>
          <p:nvPr/>
        </p:nvSpPr>
        <p:spPr>
          <a:xfrm>
            <a:off x="5869056" y="2265508"/>
            <a:ext cx="6097656" cy="120032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dirty="0"/>
              <a:t>The Change Tracker detects changes made to entities and sets the </a:t>
            </a:r>
            <a:r>
              <a:rPr lang="en-US" dirty="0" err="1"/>
              <a:t>EntityState</a:t>
            </a:r>
            <a:r>
              <a:rPr lang="en-US" dirty="0"/>
              <a:t> of an object accordingly. The state of the entity determines the type of operation that the database will be asked to perform upon it, </a:t>
            </a:r>
            <a:endParaRPr lang="en-IN" dirty="0"/>
          </a:p>
        </p:txBody>
      </p:sp>
      <p:sp>
        <p:nvSpPr>
          <p:cNvPr id="28" name="TextBox 27">
            <a:extLst>
              <a:ext uri="{FF2B5EF4-FFF2-40B4-BE49-F238E27FC236}">
                <a16:creationId xmlns:a16="http://schemas.microsoft.com/office/drawing/2014/main" id="{AAA1E716-733E-5AA8-4852-F9481E01564B}"/>
              </a:ext>
            </a:extLst>
          </p:cNvPr>
          <p:cNvSpPr txBox="1"/>
          <p:nvPr/>
        </p:nvSpPr>
        <p:spPr>
          <a:xfrm>
            <a:off x="5809421" y="3518017"/>
            <a:ext cx="6097656" cy="120032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dirty="0"/>
              <a:t>The </a:t>
            </a:r>
            <a:r>
              <a:rPr lang="en-US" dirty="0" err="1"/>
              <a:t>DbContext</a:t>
            </a:r>
            <a:r>
              <a:rPr lang="en-US" dirty="0"/>
              <a:t> builds a conceptual model based on convention and configuration and </a:t>
            </a:r>
            <a:r>
              <a:rPr lang="en-US" b="1" dirty="0"/>
              <a:t>maps </a:t>
            </a:r>
            <a:r>
              <a:rPr lang="en-US" dirty="0"/>
              <a:t>that to the database. </a:t>
            </a:r>
            <a:r>
              <a:rPr lang="en-US" b="1" dirty="0"/>
              <a:t>The model and its mappings are built at application startup and are persisted in memory for the lifetime of the application.</a:t>
            </a:r>
            <a:endParaRPr lang="en-IN" b="1" dirty="0"/>
          </a:p>
        </p:txBody>
      </p:sp>
      <p:cxnSp>
        <p:nvCxnSpPr>
          <p:cNvPr id="30" name="Straight Arrow Connector 29">
            <a:extLst>
              <a:ext uri="{FF2B5EF4-FFF2-40B4-BE49-F238E27FC236}">
                <a16:creationId xmlns:a16="http://schemas.microsoft.com/office/drawing/2014/main" id="{89618770-DA2F-F5B1-6423-F60C1D14F5DD}"/>
              </a:ext>
            </a:extLst>
          </p:cNvPr>
          <p:cNvCxnSpPr>
            <a:cxnSpLocks/>
          </p:cNvCxnSpPr>
          <p:nvPr/>
        </p:nvCxnSpPr>
        <p:spPr>
          <a:xfrm>
            <a:off x="1749287" y="3627135"/>
            <a:ext cx="4015408" cy="338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9C2CC459-51D6-015C-AED6-E6B2708DDAC6}"/>
              </a:ext>
            </a:extLst>
          </p:cNvPr>
          <p:cNvSpPr txBox="1"/>
          <p:nvPr/>
        </p:nvSpPr>
        <p:spPr>
          <a:xfrm>
            <a:off x="6005719" y="4770526"/>
            <a:ext cx="6097656" cy="9233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dirty="0"/>
              <a:t>The </a:t>
            </a:r>
            <a:r>
              <a:rPr lang="en-US" dirty="0" err="1"/>
              <a:t>DbContext</a:t>
            </a:r>
            <a:r>
              <a:rPr lang="en-US" dirty="0"/>
              <a:t> includes a data mapper layer responsible for mapping the results </a:t>
            </a:r>
            <a:r>
              <a:rPr lang="en-US" b="1" dirty="0"/>
              <a:t>of SQL queries to entity instances </a:t>
            </a:r>
            <a:r>
              <a:rPr lang="en-US" dirty="0"/>
              <a:t>and other types defined by the client application.</a:t>
            </a:r>
            <a:endParaRPr lang="en-IN" dirty="0"/>
          </a:p>
        </p:txBody>
      </p:sp>
      <p:cxnSp>
        <p:nvCxnSpPr>
          <p:cNvPr id="34" name="Straight Arrow Connector 33">
            <a:extLst>
              <a:ext uri="{FF2B5EF4-FFF2-40B4-BE49-F238E27FC236}">
                <a16:creationId xmlns:a16="http://schemas.microsoft.com/office/drawing/2014/main" id="{29FF8486-6673-1875-DFFE-3F9D9C200703}"/>
              </a:ext>
            </a:extLst>
          </p:cNvPr>
          <p:cNvCxnSpPr>
            <a:cxnSpLocks/>
          </p:cNvCxnSpPr>
          <p:nvPr/>
        </p:nvCxnSpPr>
        <p:spPr>
          <a:xfrm>
            <a:off x="1749287" y="3817885"/>
            <a:ext cx="4346713" cy="11454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8FF966F4-D1CA-154E-689F-F77B5C475DA0}"/>
              </a:ext>
            </a:extLst>
          </p:cNvPr>
          <p:cNvCxnSpPr>
            <a:cxnSpLocks/>
          </p:cNvCxnSpPr>
          <p:nvPr/>
        </p:nvCxnSpPr>
        <p:spPr>
          <a:xfrm flipV="1">
            <a:off x="2126974" y="2737372"/>
            <a:ext cx="3697356" cy="34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CFB2F8F-2D79-1C35-2A9B-FB286BE91670}"/>
              </a:ext>
            </a:extLst>
          </p:cNvPr>
          <p:cNvSpPr txBox="1"/>
          <p:nvPr/>
        </p:nvSpPr>
        <p:spPr>
          <a:xfrm>
            <a:off x="5744816" y="5760829"/>
            <a:ext cx="6102626" cy="120032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dirty="0"/>
              <a:t>The </a:t>
            </a:r>
            <a:r>
              <a:rPr lang="en-US" dirty="0" err="1"/>
              <a:t>DbContext</a:t>
            </a:r>
            <a:r>
              <a:rPr lang="en-US" dirty="0"/>
              <a:t> provides a first-level cache for objects that it is asked to retrieve from the data store. Subsequent requests for the same object will return the cached object instead of executing another database request.</a:t>
            </a:r>
            <a:endParaRPr lang="en-IN" dirty="0"/>
          </a:p>
        </p:txBody>
      </p:sp>
      <p:cxnSp>
        <p:nvCxnSpPr>
          <p:cNvPr id="48" name="Straight Arrow Connector 47">
            <a:extLst>
              <a:ext uri="{FF2B5EF4-FFF2-40B4-BE49-F238E27FC236}">
                <a16:creationId xmlns:a16="http://schemas.microsoft.com/office/drawing/2014/main" id="{EDF6558D-607E-027E-4B21-C417AE32A3BA}"/>
              </a:ext>
            </a:extLst>
          </p:cNvPr>
          <p:cNvCxnSpPr>
            <a:cxnSpLocks/>
          </p:cNvCxnSpPr>
          <p:nvPr/>
        </p:nvCxnSpPr>
        <p:spPr>
          <a:xfrm>
            <a:off x="1807680" y="4118181"/>
            <a:ext cx="4016650" cy="1632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6B4DC08C-EFC9-E31F-DED9-EE2B38C4F397}"/>
              </a:ext>
            </a:extLst>
          </p:cNvPr>
          <p:cNvSpPr txBox="1"/>
          <p:nvPr/>
        </p:nvSpPr>
        <p:spPr>
          <a:xfrm>
            <a:off x="166480" y="5230362"/>
            <a:ext cx="5011807" cy="1569660"/>
          </a:xfrm>
          <a:prstGeom prst="rect">
            <a:avLst/>
          </a:prstGeom>
          <a:noFill/>
        </p:spPr>
        <p:txBody>
          <a:bodyPr wrap="square">
            <a:spAutoFit/>
          </a:bodyPr>
          <a:lstStyle/>
          <a:p>
            <a:r>
              <a:rPr lang="en-US" sz="1600" dirty="0"/>
              <a:t>When the </a:t>
            </a:r>
            <a:r>
              <a:rPr lang="en-US" sz="1600" dirty="0" err="1"/>
              <a:t>DbContext</a:t>
            </a:r>
            <a:r>
              <a:rPr lang="en-US" sz="1600" dirty="0"/>
              <a:t> </a:t>
            </a:r>
            <a:r>
              <a:rPr lang="en-US" sz="1600" dirty="0" err="1">
                <a:highlight>
                  <a:srgbClr val="FFFF00"/>
                </a:highlight>
              </a:rPr>
              <a:t>SaveChanges</a:t>
            </a:r>
            <a:r>
              <a:rPr lang="en-US" sz="1600" dirty="0"/>
              <a:t> method is called, a </a:t>
            </a:r>
            <a:r>
              <a:rPr lang="en-US" sz="1600" b="1" dirty="0"/>
              <a:t>transaction is created and all pending changes are wrapped in it as a single unit of work</a:t>
            </a:r>
            <a:r>
              <a:rPr lang="en-US" sz="1600" dirty="0"/>
              <a:t>. If an error occurs when the changes are applied to the database, they are rolled back and the database is left in an unmodified condition.</a:t>
            </a:r>
            <a:endParaRPr lang="en-IN" sz="1600" dirty="0"/>
          </a:p>
        </p:txBody>
      </p:sp>
      <p:cxnSp>
        <p:nvCxnSpPr>
          <p:cNvPr id="53" name="Straight Arrow Connector 52">
            <a:extLst>
              <a:ext uri="{FF2B5EF4-FFF2-40B4-BE49-F238E27FC236}">
                <a16:creationId xmlns:a16="http://schemas.microsoft.com/office/drawing/2014/main" id="{2A808C40-21D0-DF14-666F-3DB5C7DBD65B}"/>
              </a:ext>
            </a:extLst>
          </p:cNvPr>
          <p:cNvCxnSpPr/>
          <p:nvPr/>
        </p:nvCxnSpPr>
        <p:spPr>
          <a:xfrm>
            <a:off x="2276061" y="4718346"/>
            <a:ext cx="377687" cy="449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2660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246581-D54B-58DD-4773-AC120C9F0910}"/>
              </a:ext>
            </a:extLst>
          </p:cNvPr>
          <p:cNvSpPr txBox="1"/>
          <p:nvPr/>
        </p:nvSpPr>
        <p:spPr>
          <a:xfrm>
            <a:off x="673376" y="232778"/>
            <a:ext cx="6097656"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EF Core </a:t>
            </a:r>
            <a:r>
              <a:rPr lang="en-IN" b="0" i="0" dirty="0" err="1">
                <a:solidFill>
                  <a:srgbClr val="004867"/>
                </a:solidFill>
                <a:effectLst/>
                <a:latin typeface="Roboto" panose="02000000000000000000" pitchFamily="2" charset="0"/>
              </a:rPr>
              <a:t>ChangeTracker</a:t>
            </a:r>
            <a:endParaRPr lang="en-IN" b="0" i="0" dirty="0">
              <a:solidFill>
                <a:srgbClr val="004867"/>
              </a:solidFill>
              <a:effectLst/>
              <a:latin typeface="Roboto" panose="02000000000000000000" pitchFamily="2" charset="0"/>
            </a:endParaRPr>
          </a:p>
        </p:txBody>
      </p:sp>
      <p:sp>
        <p:nvSpPr>
          <p:cNvPr id="7" name="TextBox 6">
            <a:extLst>
              <a:ext uri="{FF2B5EF4-FFF2-40B4-BE49-F238E27FC236}">
                <a16:creationId xmlns:a16="http://schemas.microsoft.com/office/drawing/2014/main" id="{120DB0D8-8AC6-515B-ACC7-EAF8AB982A8D}"/>
              </a:ext>
            </a:extLst>
          </p:cNvPr>
          <p:cNvSpPr txBox="1"/>
          <p:nvPr/>
        </p:nvSpPr>
        <p:spPr>
          <a:xfrm>
            <a:off x="0" y="671691"/>
            <a:ext cx="11869807" cy="5909310"/>
          </a:xfrm>
          <a:prstGeom prst="rect">
            <a:avLst/>
          </a:prstGeom>
          <a:noFill/>
        </p:spPr>
        <p:txBody>
          <a:bodyPr wrap="square">
            <a:spAutoFit/>
          </a:bodyPr>
          <a:lstStyle/>
          <a:p>
            <a:r>
              <a:rPr lang="en-US" dirty="0"/>
              <a:t>When you call the </a:t>
            </a:r>
            <a:r>
              <a:rPr lang="en-US" dirty="0" err="1"/>
              <a:t>SaveChanges</a:t>
            </a:r>
            <a:r>
              <a:rPr lang="en-US" dirty="0"/>
              <a:t> method on the </a:t>
            </a:r>
            <a:r>
              <a:rPr lang="en-US" dirty="0" err="1"/>
              <a:t>DbContext</a:t>
            </a:r>
            <a:r>
              <a:rPr lang="en-US" dirty="0"/>
              <a:t>, the context needs to be able to generate the appropriate commands for each object that it is currently tracking. So it needs to know about the "state" of each object - whether it is new, or it is an existing object that has been modified in some way, or whether it is scheduled for deletion. The Change Tracker is the mechanism responsible for this process.</a:t>
            </a:r>
          </a:p>
          <a:p>
            <a:endParaRPr lang="en-US" dirty="0"/>
          </a:p>
          <a:p>
            <a:r>
              <a:rPr lang="en-US" dirty="0"/>
              <a:t>The Change Tracker records the current state of an entity using one of four values:</a:t>
            </a:r>
          </a:p>
          <a:p>
            <a:endParaRPr lang="en-US" dirty="0"/>
          </a:p>
          <a:p>
            <a:r>
              <a:rPr lang="en-US" b="1" dirty="0"/>
              <a:t>Added</a:t>
            </a:r>
            <a:r>
              <a:rPr lang="en-US" dirty="0"/>
              <a:t> : Entities in the Added state will be inserted as new records into the database.</a:t>
            </a:r>
          </a:p>
          <a:p>
            <a:r>
              <a:rPr lang="en-US" b="1" dirty="0"/>
              <a:t>Unchanged :</a:t>
            </a:r>
            <a:r>
              <a:rPr lang="en-US" dirty="0"/>
              <a:t>No action will be taken in respect of entities marked as Unchanged.</a:t>
            </a:r>
          </a:p>
          <a:p>
            <a:r>
              <a:rPr lang="en-US" b="1" dirty="0"/>
              <a:t>Modified</a:t>
            </a:r>
            <a:r>
              <a:rPr lang="en-US" dirty="0"/>
              <a:t>: : Entities in the Modified state will have their values updated in the database to the current property values</a:t>
            </a:r>
          </a:p>
          <a:p>
            <a:r>
              <a:rPr lang="en-US" b="1" dirty="0"/>
              <a:t>Deleted</a:t>
            </a:r>
            <a:r>
              <a:rPr lang="en-US" dirty="0"/>
              <a:t>: Entities in the Deleted state will be removed from the database. </a:t>
            </a:r>
          </a:p>
          <a:p>
            <a:endParaRPr lang="en-US" dirty="0"/>
          </a:p>
          <a:p>
            <a:r>
              <a:rPr lang="en-US" dirty="0"/>
              <a:t> Change tracking begins as soon as an entity is loaded. </a:t>
            </a:r>
          </a:p>
          <a:p>
            <a:endParaRPr lang="en-US" dirty="0"/>
          </a:p>
          <a:p>
            <a:r>
              <a:rPr lang="en-US" dirty="0"/>
              <a:t>An entity is loaded as a result of being returned from a query or by being introduced to the context through one of the following methods of the </a:t>
            </a:r>
            <a:r>
              <a:rPr lang="en-US" dirty="0" err="1"/>
              <a:t>DbContext</a:t>
            </a:r>
            <a:endParaRPr lang="en-US" dirty="0"/>
          </a:p>
          <a:p>
            <a:endParaRPr lang="en-US" dirty="0"/>
          </a:p>
          <a:p>
            <a:r>
              <a:rPr lang="en-US" dirty="0"/>
              <a:t>Add()</a:t>
            </a:r>
          </a:p>
          <a:p>
            <a:r>
              <a:rPr lang="en-US" dirty="0"/>
              <a:t>Update()</a:t>
            </a:r>
          </a:p>
          <a:p>
            <a:r>
              <a:rPr lang="en-US" dirty="0"/>
              <a:t>Remove()</a:t>
            </a:r>
          </a:p>
          <a:p>
            <a:r>
              <a:rPr lang="en-US" dirty="0"/>
              <a:t>or by having its State property set on the entity entry returned by calling the context's Entry method.</a:t>
            </a:r>
            <a:endParaRPr lang="en-IN" dirty="0"/>
          </a:p>
        </p:txBody>
      </p:sp>
      <p:sp>
        <p:nvSpPr>
          <p:cNvPr id="2" name="Rectangle 1"/>
          <p:cNvSpPr/>
          <p:nvPr/>
        </p:nvSpPr>
        <p:spPr>
          <a:xfrm>
            <a:off x="5934903" y="5095786"/>
            <a:ext cx="6096000" cy="1200329"/>
          </a:xfrm>
          <a:prstGeom prst="rect">
            <a:avLst/>
          </a:prstGeom>
        </p:spPr>
        <p:txBody>
          <a:bodyPr>
            <a:spAutoFit/>
          </a:bodyPr>
          <a:lstStyle/>
          <a:p>
            <a:pPr lvl="0" eaLnBrk="0" fontAlgn="base" hangingPunct="0">
              <a:spcBef>
                <a:spcPct val="0"/>
              </a:spcBef>
              <a:spcAft>
                <a:spcPct val="0"/>
              </a:spcAft>
            </a:pPr>
            <a:r>
              <a:rPr lang="en-US" altLang="en-US" dirty="0">
                <a:solidFill>
                  <a:srgbClr val="0000FF"/>
                </a:solidFill>
                <a:latin typeface="Menlo"/>
              </a:rPr>
              <a:t>public</a:t>
            </a:r>
            <a:r>
              <a:rPr lang="en-US" altLang="en-US" dirty="0">
                <a:solidFill>
                  <a:srgbClr val="000000"/>
                </a:solidFill>
                <a:latin typeface="Menlo"/>
              </a:rPr>
              <a:t> </a:t>
            </a:r>
            <a:r>
              <a:rPr lang="en-US" altLang="en-US" dirty="0">
                <a:solidFill>
                  <a:srgbClr val="0000FF"/>
                </a:solidFill>
                <a:latin typeface="Menlo"/>
              </a:rPr>
              <a:t>void</a:t>
            </a:r>
            <a:r>
              <a:rPr lang="en-US" altLang="en-US" dirty="0">
                <a:solidFill>
                  <a:srgbClr val="000000"/>
                </a:solidFill>
                <a:latin typeface="Menlo"/>
              </a:rPr>
              <a:t> </a:t>
            </a:r>
            <a:r>
              <a:rPr lang="en-US" altLang="en-US" dirty="0">
                <a:solidFill>
                  <a:srgbClr val="555555"/>
                </a:solidFill>
                <a:latin typeface="Menlo"/>
              </a:rPr>
              <a:t>Save</a:t>
            </a:r>
            <a:r>
              <a:rPr lang="en-US" altLang="en-US" dirty="0">
                <a:solidFill>
                  <a:srgbClr val="666600"/>
                </a:solidFill>
                <a:latin typeface="Menlo"/>
              </a:rPr>
              <a:t>(</a:t>
            </a:r>
            <a:r>
              <a:rPr lang="en-US" altLang="en-US" dirty="0">
                <a:solidFill>
                  <a:srgbClr val="555555"/>
                </a:solidFill>
                <a:latin typeface="Menlo"/>
              </a:rPr>
              <a:t>Author</a:t>
            </a:r>
            <a:r>
              <a:rPr lang="en-US" altLang="en-US" dirty="0">
                <a:solidFill>
                  <a:srgbClr val="000000"/>
                </a:solidFill>
                <a:latin typeface="Menlo"/>
              </a:rPr>
              <a:t> author</a:t>
            </a:r>
            <a:r>
              <a:rPr lang="en-US" altLang="en-US" dirty="0">
                <a:solidFill>
                  <a:srgbClr val="666600"/>
                </a:solidFill>
                <a:latin typeface="Menlo"/>
              </a:rPr>
              <a:t>) {</a:t>
            </a:r>
            <a:endParaRPr lang="en-US" altLang="en-US" dirty="0">
              <a:solidFill>
                <a:srgbClr val="333333"/>
              </a:solidFill>
              <a:latin typeface="Menlo"/>
            </a:endParaRPr>
          </a:p>
          <a:p>
            <a:pPr lvl="0" eaLnBrk="0" fontAlgn="base" hangingPunct="0">
              <a:spcBef>
                <a:spcPct val="0"/>
              </a:spcBef>
              <a:spcAft>
                <a:spcPct val="0"/>
              </a:spcAft>
            </a:pPr>
            <a:r>
              <a:rPr lang="en-US" altLang="en-US" dirty="0" err="1">
                <a:solidFill>
                  <a:srgbClr val="000000"/>
                </a:solidFill>
                <a:latin typeface="Menlo"/>
              </a:rPr>
              <a:t>context</a:t>
            </a:r>
            <a:r>
              <a:rPr lang="en-US" altLang="en-US" dirty="0" err="1">
                <a:solidFill>
                  <a:srgbClr val="666600"/>
                </a:solidFill>
                <a:latin typeface="Menlo"/>
              </a:rPr>
              <a:t>.</a:t>
            </a:r>
            <a:r>
              <a:rPr lang="en-US" altLang="en-US" dirty="0" err="1">
                <a:solidFill>
                  <a:srgbClr val="555555"/>
                </a:solidFill>
                <a:latin typeface="Menlo"/>
              </a:rPr>
              <a:t>Entry</a:t>
            </a:r>
            <a:r>
              <a:rPr lang="en-US" altLang="en-US" dirty="0">
                <a:solidFill>
                  <a:srgbClr val="666600"/>
                </a:solidFill>
                <a:latin typeface="Menlo"/>
              </a:rPr>
              <a:t>(</a:t>
            </a:r>
            <a:r>
              <a:rPr lang="en-US" altLang="en-US" dirty="0">
                <a:solidFill>
                  <a:srgbClr val="000000"/>
                </a:solidFill>
                <a:latin typeface="Menlo"/>
              </a:rPr>
              <a:t>author</a:t>
            </a:r>
            <a:r>
              <a:rPr lang="en-US" altLang="en-US" dirty="0">
                <a:solidFill>
                  <a:srgbClr val="666600"/>
                </a:solidFill>
                <a:latin typeface="Menlo"/>
              </a:rPr>
              <a:t>).</a:t>
            </a:r>
            <a:r>
              <a:rPr lang="en-US" altLang="en-US" dirty="0">
                <a:solidFill>
                  <a:srgbClr val="555555"/>
                </a:solidFill>
                <a:latin typeface="Menlo"/>
              </a:rPr>
              <a:t>State</a:t>
            </a:r>
            <a:r>
              <a:rPr lang="en-US" altLang="en-US" dirty="0">
                <a:solidFill>
                  <a:srgbClr val="000000"/>
                </a:solidFill>
                <a:latin typeface="Menlo"/>
              </a:rPr>
              <a:t> </a:t>
            </a:r>
            <a:r>
              <a:rPr lang="en-US" altLang="en-US" dirty="0">
                <a:solidFill>
                  <a:srgbClr val="666600"/>
                </a:solidFill>
                <a:latin typeface="Menlo"/>
              </a:rPr>
              <a:t>=</a:t>
            </a:r>
            <a:r>
              <a:rPr lang="en-US" altLang="en-US" dirty="0">
                <a:solidFill>
                  <a:srgbClr val="000000"/>
                </a:solidFill>
                <a:latin typeface="Menlo"/>
              </a:rPr>
              <a:t> </a:t>
            </a:r>
            <a:r>
              <a:rPr lang="en-US" altLang="en-US" dirty="0" err="1">
                <a:solidFill>
                  <a:srgbClr val="555555"/>
                </a:solidFill>
                <a:latin typeface="Menlo"/>
              </a:rPr>
              <a:t>EntityState</a:t>
            </a:r>
            <a:r>
              <a:rPr lang="en-US" altLang="en-US" dirty="0" err="1">
                <a:solidFill>
                  <a:srgbClr val="666600"/>
                </a:solidFill>
                <a:latin typeface="Menlo"/>
              </a:rPr>
              <a:t>.</a:t>
            </a:r>
            <a:r>
              <a:rPr lang="en-US" altLang="en-US" dirty="0" err="1">
                <a:solidFill>
                  <a:srgbClr val="555555"/>
                </a:solidFill>
                <a:latin typeface="Menlo"/>
              </a:rPr>
              <a:t>Modified</a:t>
            </a:r>
            <a:r>
              <a:rPr lang="en-US" altLang="en-US" dirty="0">
                <a:solidFill>
                  <a:srgbClr val="666600"/>
                </a:solidFill>
                <a:latin typeface="Menlo"/>
              </a:rPr>
              <a:t>;</a:t>
            </a:r>
            <a:endParaRPr lang="en-US" altLang="en-US" dirty="0">
              <a:solidFill>
                <a:srgbClr val="333333"/>
              </a:solidFill>
              <a:latin typeface="Menlo"/>
            </a:endParaRPr>
          </a:p>
          <a:p>
            <a:pPr lvl="0" eaLnBrk="0" fontAlgn="base" hangingPunct="0">
              <a:spcBef>
                <a:spcPct val="0"/>
              </a:spcBef>
              <a:spcAft>
                <a:spcPct val="0"/>
              </a:spcAft>
            </a:pPr>
            <a:r>
              <a:rPr lang="en-US" altLang="en-US" dirty="0" err="1">
                <a:solidFill>
                  <a:srgbClr val="000000"/>
                </a:solidFill>
                <a:latin typeface="Menlo"/>
              </a:rPr>
              <a:t>context</a:t>
            </a:r>
            <a:r>
              <a:rPr lang="en-US" altLang="en-US" dirty="0" err="1">
                <a:solidFill>
                  <a:srgbClr val="666600"/>
                </a:solidFill>
                <a:latin typeface="Menlo"/>
              </a:rPr>
              <a:t>.</a:t>
            </a:r>
            <a:r>
              <a:rPr lang="en-US" altLang="en-US" dirty="0" err="1">
                <a:solidFill>
                  <a:srgbClr val="555555"/>
                </a:solidFill>
                <a:latin typeface="Menlo"/>
              </a:rPr>
              <a:t>SaveChanges</a:t>
            </a:r>
            <a:r>
              <a:rPr lang="en-US" altLang="en-US" dirty="0">
                <a:solidFill>
                  <a:srgbClr val="666600"/>
                </a:solidFill>
                <a:latin typeface="Menlo"/>
              </a:rPr>
              <a:t>();</a:t>
            </a:r>
            <a:endParaRPr lang="en-US" altLang="en-US" dirty="0">
              <a:solidFill>
                <a:srgbClr val="333333"/>
              </a:solidFill>
              <a:latin typeface="Menlo"/>
            </a:endParaRPr>
          </a:p>
          <a:p>
            <a:pPr lvl="0" eaLnBrk="0" fontAlgn="base" hangingPunct="0">
              <a:spcBef>
                <a:spcPct val="0"/>
              </a:spcBef>
              <a:spcAft>
                <a:spcPct val="0"/>
              </a:spcAft>
            </a:pPr>
            <a:r>
              <a:rPr lang="en-US" altLang="en-US" dirty="0">
                <a:solidFill>
                  <a:srgbClr val="666600"/>
                </a:solidFill>
                <a:latin typeface="Menlo"/>
              </a:rPr>
              <a:t>}</a:t>
            </a:r>
            <a:endParaRPr lang="en-US" altLang="en-US" dirty="0">
              <a:latin typeface="Arial" panose="020B0604020202020204" pitchFamily="34" charset="0"/>
            </a:endParaRPr>
          </a:p>
        </p:txBody>
      </p:sp>
      <p:cxnSp>
        <p:nvCxnSpPr>
          <p:cNvPr id="4" name="Straight Arrow Connector 3"/>
          <p:cNvCxnSpPr/>
          <p:nvPr/>
        </p:nvCxnSpPr>
        <p:spPr>
          <a:xfrm flipH="1" flipV="1">
            <a:off x="7086600" y="5676900"/>
            <a:ext cx="1533525" cy="962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3008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D870F7-2233-4E32-968F-FB3538AA8E1D}"/>
              </a:ext>
            </a:extLst>
          </p:cNvPr>
          <p:cNvSpPr txBox="1"/>
          <p:nvPr/>
        </p:nvSpPr>
        <p:spPr>
          <a:xfrm>
            <a:off x="973393" y="218457"/>
            <a:ext cx="94193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Entity Framework Core: Saving Data in Connected Scenario</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7E2B8DE4-D4B3-4108-8C86-1E2415A9F2A0}"/>
              </a:ext>
            </a:extLst>
          </p:cNvPr>
          <p:cNvSpPr txBox="1"/>
          <p:nvPr/>
        </p:nvSpPr>
        <p:spPr>
          <a:xfrm>
            <a:off x="403122" y="843677"/>
            <a:ext cx="11425084"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Entity Framework Core provides different ways to add, update, or delete data in the underlying database. An entity contains data in its scalar property will be either inserted or updated or deleted based on its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EntityState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There are two scenarios to save an entity data: connected and disconnected. In the connected scenario,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same instance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DbContext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used in retrieving and saving entities, whereas this is different in the disconnected scenario.</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D2B8F5E4-614D-4012-BCEA-589E08FB7867}"/>
              </a:ext>
            </a:extLst>
          </p:cNvPr>
          <p:cNvSpPr txBox="1"/>
          <p:nvPr/>
        </p:nvSpPr>
        <p:spPr>
          <a:xfrm>
            <a:off x="157316" y="2695338"/>
            <a:ext cx="1103179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following figure illustrates the CRUD (Create,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Read,Update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Delete) operation in the connected scenario</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E6A25B35-4358-4A0C-8A96-E916E2C21D10}"/>
              </a:ext>
            </a:extLst>
          </p:cNvPr>
          <p:cNvPicPr>
            <a:picLocks noChangeAspect="1"/>
          </p:cNvPicPr>
          <p:nvPr/>
        </p:nvPicPr>
        <p:blipFill rotWithShape="1">
          <a:blip r:embed="rId2"/>
          <a:srcRect l="-1" r="320" b="16186"/>
          <a:stretch/>
        </p:blipFill>
        <p:spPr>
          <a:xfrm>
            <a:off x="532018" y="3607824"/>
            <a:ext cx="5231474" cy="2139503"/>
          </a:xfrm>
          <a:prstGeom prst="rect">
            <a:avLst/>
          </a:prstGeom>
        </p:spPr>
      </p:pic>
      <p:sp>
        <p:nvSpPr>
          <p:cNvPr id="12" name="TextBox 11">
            <a:extLst>
              <a:ext uri="{FF2B5EF4-FFF2-40B4-BE49-F238E27FC236}">
                <a16:creationId xmlns:a16="http://schemas.microsoft.com/office/drawing/2014/main" id="{D164E40B-1657-49F3-A464-7AFE3E348AA6}"/>
              </a:ext>
            </a:extLst>
          </p:cNvPr>
          <p:cNvSpPr txBox="1"/>
          <p:nvPr/>
        </p:nvSpPr>
        <p:spPr>
          <a:xfrm>
            <a:off x="5763492" y="3371850"/>
            <a:ext cx="6458005"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As per the above figure, Entity Framework builds and executes INSERT, UPDATE, or DELETE statements for the entities whose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EntityState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Added, Modified, or Deleted when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DbContext.SaveChanges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is called. In the connected scenario, an instance of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DbContext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keeps track of all the entities and so it automatically sets an appropriate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EntityState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each entity whenever an entity is created, modified, or deleted.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6506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292608" y="-382971"/>
            <a:ext cx="5312664" cy="7571303"/>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pPr>
            <a:r>
              <a:rPr lang="en-IN" sz="1600" dirty="0"/>
              <a:t>using </a:t>
            </a:r>
            <a:r>
              <a:rPr lang="en-IN" sz="1600" dirty="0" err="1"/>
              <a:t>Microsoft.EntityFrameworkCore</a:t>
            </a:r>
            <a:r>
              <a:rPr lang="en-IN" sz="1600" dirty="0"/>
              <a:t>;</a:t>
            </a:r>
          </a:p>
          <a:p>
            <a:pPr lvl="0" eaLnBrk="0" fontAlgn="base" hangingPunct="0">
              <a:spcBef>
                <a:spcPct val="0"/>
              </a:spcBef>
              <a:spcAft>
                <a:spcPct val="0"/>
              </a:spcAft>
            </a:pPr>
            <a:endParaRPr kumimoji="0" lang="en-US" sz="16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pPr>
            <a:r>
              <a:rPr kumimoji="0" lang="en-US" sz="1600" b="0" i="0" u="none" strike="noStrike" cap="none" normalizeH="0" baseline="0" dirty="0">
                <a:ln>
                  <a:noFill/>
                </a:ln>
                <a:solidFill>
                  <a:srgbClr val="0000FF"/>
                </a:solidFill>
                <a:effectLst/>
                <a:latin typeface="Menlo"/>
              </a:rPr>
              <a:t>public</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class</a:t>
            </a:r>
            <a:r>
              <a:rPr kumimoji="0" lang="en-US" sz="1600" b="0" i="0" u="none" strike="noStrike" cap="none" normalizeH="0" baseline="0" dirty="0">
                <a:ln>
                  <a:noFill/>
                </a:ln>
                <a:solidFill>
                  <a:srgbClr val="000000"/>
                </a:solidFill>
                <a:effectLst/>
                <a:latin typeface="Menlo"/>
              </a:rPr>
              <a:t> </a:t>
            </a:r>
            <a:r>
              <a:rPr lang="en-US" altLang="en-US" sz="1600" dirty="0" err="1">
                <a:solidFill>
                  <a:srgbClr val="555555"/>
                </a:solidFill>
                <a:latin typeface="Menlo"/>
              </a:rPr>
              <a:t>TestContext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1" i="0" u="none" strike="noStrike" cap="none" normalizeH="0" baseline="0" dirty="0" err="1">
                <a:ln>
                  <a:noFill/>
                </a:ln>
                <a:solidFill>
                  <a:srgbClr val="555555"/>
                </a:solidFill>
                <a:effectLst/>
                <a:latin typeface="Menlo"/>
              </a:rPr>
              <a:t>DbContext</a:t>
            </a:r>
            <a:endParaRPr kumimoji="0" lang="en-US" sz="1600" b="1"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a:ln>
                  <a:noFill/>
                </a:ln>
                <a:solidFill>
                  <a:srgbClr val="666600"/>
                </a:solidFill>
                <a:effectLst/>
                <a:latin typeface="Menlo"/>
              </a:rPr>
              <a:t>{</a:t>
            </a:r>
            <a:endParaRPr kumimoji="0" 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a:ln>
                  <a:noFill/>
                </a:ln>
                <a:solidFill>
                  <a:srgbClr val="0000FF"/>
                </a:solidFill>
                <a:effectLst/>
                <a:latin typeface="Menlo"/>
              </a:rPr>
              <a:t>public</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err="1">
                <a:ln>
                  <a:noFill/>
                </a:ln>
                <a:solidFill>
                  <a:srgbClr val="555555"/>
                </a:solidFill>
                <a:effectLst/>
                <a:latin typeface="Menlo"/>
              </a:rPr>
              <a:t>DbSet</a:t>
            </a:r>
            <a:r>
              <a:rPr kumimoji="0" lang="en-US" sz="1600" b="0" i="0" u="none" strike="noStrike" cap="none" normalizeH="0" baseline="0" dirty="0">
                <a:ln>
                  <a:noFill/>
                </a:ln>
                <a:solidFill>
                  <a:srgbClr val="666600"/>
                </a:solidFill>
                <a:effectLst/>
                <a:latin typeface="Menlo"/>
              </a:rPr>
              <a:t>&lt;</a:t>
            </a:r>
            <a:r>
              <a:rPr kumimoji="0" lang="en-US" sz="1600" b="0" i="0" u="none" strike="noStrike" cap="none" normalizeH="0" baseline="0" dirty="0">
                <a:ln>
                  <a:noFill/>
                </a:ln>
                <a:solidFill>
                  <a:srgbClr val="555555"/>
                </a:solidFill>
                <a:effectLst/>
                <a:latin typeface="Menlo"/>
              </a:rPr>
              <a:t>Book</a:t>
            </a:r>
            <a:r>
              <a:rPr kumimoji="0" lang="en-US" sz="1600" b="0" i="0" u="none" strike="noStrike" cap="none" normalizeH="0" baseline="0" dirty="0">
                <a:ln>
                  <a:noFill/>
                </a:ln>
                <a:solidFill>
                  <a:srgbClr val="666600"/>
                </a:solidFill>
                <a:effectLst/>
                <a:latin typeface="Menlo"/>
              </a:rPr>
              <a:t>&gt;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555555"/>
                </a:solidFill>
                <a:effectLst/>
                <a:latin typeface="Menlo"/>
              </a:rPr>
              <a:t>Books</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get</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set</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666600"/>
                </a:solidFill>
                <a:effectLst/>
                <a:latin typeface="Menlo"/>
              </a:rPr>
              <a:t>}</a:t>
            </a:r>
            <a:endParaRPr kumimoji="0" 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a:ln>
                  <a:noFill/>
                </a:ln>
                <a:solidFill>
                  <a:srgbClr val="0000FF"/>
                </a:solidFill>
                <a:effectLst/>
                <a:latin typeface="Menlo"/>
              </a:rPr>
              <a:t>public</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err="1">
                <a:ln>
                  <a:noFill/>
                </a:ln>
                <a:solidFill>
                  <a:srgbClr val="555555"/>
                </a:solidFill>
                <a:effectLst/>
                <a:latin typeface="Menlo"/>
              </a:rPr>
              <a:t>DbSet</a:t>
            </a:r>
            <a:r>
              <a:rPr kumimoji="0" lang="en-US" sz="1600" b="0" i="0" u="none" strike="noStrike" cap="none" normalizeH="0" baseline="0" dirty="0">
                <a:ln>
                  <a:noFill/>
                </a:ln>
                <a:solidFill>
                  <a:srgbClr val="666600"/>
                </a:solidFill>
                <a:effectLst/>
                <a:latin typeface="Menlo"/>
              </a:rPr>
              <a:t>&lt;</a:t>
            </a:r>
            <a:r>
              <a:rPr kumimoji="0" lang="en-US" sz="1600" b="0" i="0" u="none" strike="noStrike" cap="none" normalizeH="0" baseline="0" dirty="0">
                <a:ln>
                  <a:noFill/>
                </a:ln>
                <a:solidFill>
                  <a:srgbClr val="555555"/>
                </a:solidFill>
                <a:effectLst/>
                <a:latin typeface="Menlo"/>
              </a:rPr>
              <a:t>Author</a:t>
            </a:r>
            <a:r>
              <a:rPr kumimoji="0" lang="en-US" sz="1600" b="0" i="0" u="none" strike="noStrike" cap="none" normalizeH="0" baseline="0" dirty="0">
                <a:ln>
                  <a:noFill/>
                </a:ln>
                <a:solidFill>
                  <a:srgbClr val="666600"/>
                </a:solidFill>
                <a:effectLst/>
                <a:latin typeface="Menlo"/>
              </a:rPr>
              <a:t>&gt;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555555"/>
                </a:solidFill>
                <a:effectLst/>
                <a:latin typeface="Menlo"/>
              </a:rPr>
              <a:t>Authors</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get</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set</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666600"/>
                </a:solidFill>
                <a:effectLst/>
                <a:latin typeface="Menlo"/>
              </a:rPr>
              <a:t>}</a:t>
            </a:r>
            <a:endParaRPr kumimoji="0" 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a:ln>
                  <a:noFill/>
                </a:ln>
                <a:solidFill>
                  <a:srgbClr val="666600"/>
                </a:solidFill>
                <a:effectLst/>
                <a:latin typeface="Menlo"/>
              </a:rPr>
              <a:t>}</a:t>
            </a:r>
          </a:p>
          <a:p>
            <a:pPr marR="0" lvl="0" algn="l" defTabSz="914400" rtl="0" eaLnBrk="0" fontAlgn="base" latinLnBrk="0" hangingPunct="0">
              <a:lnSpc>
                <a:spcPct val="100000"/>
              </a:lnSpc>
              <a:spcBef>
                <a:spcPct val="0"/>
              </a:spcBef>
              <a:spcAft>
                <a:spcPct val="0"/>
              </a:spcAft>
              <a:buClrTx/>
              <a:buSzTx/>
              <a:tabLst/>
            </a:pPr>
            <a:endParaRPr lang="en-US" sz="1600" dirty="0">
              <a:solidFill>
                <a:srgbClr val="666600"/>
              </a:solidFill>
              <a:latin typeface="Menlo"/>
            </a:endParaRPr>
          </a:p>
          <a:p>
            <a:pPr marR="0" lvl="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a:ln>
                  <a:noFill/>
                </a:ln>
                <a:solidFill>
                  <a:srgbClr val="0000FF"/>
                </a:solidFill>
                <a:effectLst/>
                <a:latin typeface="Menlo"/>
              </a:rPr>
              <a:t>public</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class</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555555"/>
                </a:solidFill>
                <a:effectLst/>
                <a:latin typeface="Menlo"/>
              </a:rPr>
              <a:t>Author</a:t>
            </a:r>
            <a:endParaRPr kumimoji="0" 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a:ln>
                  <a:noFill/>
                </a:ln>
                <a:solidFill>
                  <a:srgbClr val="666600"/>
                </a:solidFill>
                <a:effectLst/>
                <a:latin typeface="Menlo"/>
              </a:rPr>
              <a:t>{</a:t>
            </a:r>
          </a:p>
          <a:p>
            <a:pPr marR="0" lvl="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a:ln>
                  <a:noFill/>
                </a:ln>
                <a:solidFill>
                  <a:srgbClr val="333333"/>
                </a:solidFill>
                <a:effectLst/>
                <a:latin typeface="Menlo"/>
              </a:rPr>
              <a:t>[key]</a:t>
            </a:r>
          </a:p>
          <a:p>
            <a:pPr marR="0" lvl="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a:ln>
                  <a:noFill/>
                </a:ln>
                <a:solidFill>
                  <a:srgbClr val="0000FF"/>
                </a:solidFill>
                <a:effectLst/>
                <a:latin typeface="Menlo"/>
              </a:rPr>
              <a:t>public</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err="1">
                <a:ln>
                  <a:noFill/>
                </a:ln>
                <a:solidFill>
                  <a:srgbClr val="0000FF"/>
                </a:solidFill>
                <a:effectLst/>
                <a:latin typeface="Menlo"/>
              </a:rPr>
              <a:t>int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err="1">
                <a:ln>
                  <a:noFill/>
                </a:ln>
                <a:solidFill>
                  <a:srgbClr val="555555"/>
                </a:solidFill>
                <a:effectLst/>
                <a:latin typeface="Menlo"/>
              </a:rPr>
              <a:t>AuthorId</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get</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set</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666600"/>
                </a:solidFill>
                <a:effectLst/>
                <a:latin typeface="Menlo"/>
              </a:rPr>
              <a:t>}</a:t>
            </a:r>
            <a:endParaRPr kumimoji="0" 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a:ln>
                  <a:noFill/>
                </a:ln>
                <a:solidFill>
                  <a:srgbClr val="0000FF"/>
                </a:solidFill>
                <a:effectLst/>
                <a:latin typeface="Menlo"/>
              </a:rPr>
              <a:t>public</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string</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err="1">
                <a:ln>
                  <a:noFill/>
                </a:ln>
                <a:solidFill>
                  <a:srgbClr val="555555"/>
                </a:solidFill>
                <a:effectLst/>
                <a:latin typeface="Menlo"/>
              </a:rPr>
              <a:t>FirstName</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get</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set</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666600"/>
                </a:solidFill>
                <a:effectLst/>
                <a:latin typeface="Menlo"/>
              </a:rPr>
              <a:t>}</a:t>
            </a:r>
            <a:endParaRPr kumimoji="0" 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a:ln>
                  <a:noFill/>
                </a:ln>
                <a:solidFill>
                  <a:srgbClr val="0000FF"/>
                </a:solidFill>
                <a:effectLst/>
                <a:latin typeface="Menlo"/>
              </a:rPr>
              <a:t>public</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string</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err="1">
                <a:ln>
                  <a:noFill/>
                </a:ln>
                <a:solidFill>
                  <a:srgbClr val="555555"/>
                </a:solidFill>
                <a:effectLst/>
                <a:latin typeface="Menlo"/>
              </a:rPr>
              <a:t>LastName</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get</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set</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666600"/>
                </a:solidFill>
                <a:effectLst/>
                <a:latin typeface="Menlo"/>
              </a:rPr>
              <a:t>}</a:t>
            </a:r>
            <a:endParaRPr kumimoji="0" 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a:ln>
                  <a:noFill/>
                </a:ln>
                <a:solidFill>
                  <a:srgbClr val="0000FF"/>
                </a:solidFill>
                <a:effectLst/>
                <a:latin typeface="Menlo"/>
              </a:rPr>
              <a:t>public</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err="1">
                <a:ln>
                  <a:noFill/>
                </a:ln>
                <a:solidFill>
                  <a:srgbClr val="555555"/>
                </a:solidFill>
                <a:effectLst/>
                <a:latin typeface="Menlo"/>
              </a:rPr>
              <a:t>ICollection</a:t>
            </a:r>
            <a:r>
              <a:rPr kumimoji="0" lang="en-US" sz="1600" b="0" i="0" u="none" strike="noStrike" cap="none" normalizeH="0" baseline="0" dirty="0">
                <a:ln>
                  <a:noFill/>
                </a:ln>
                <a:solidFill>
                  <a:srgbClr val="666600"/>
                </a:solidFill>
                <a:effectLst/>
                <a:latin typeface="Menlo"/>
              </a:rPr>
              <a:t>&lt;</a:t>
            </a:r>
            <a:r>
              <a:rPr kumimoji="0" lang="en-US" sz="1600" b="0" i="0" u="none" strike="noStrike" cap="none" normalizeH="0" baseline="0" dirty="0">
                <a:ln>
                  <a:noFill/>
                </a:ln>
                <a:solidFill>
                  <a:srgbClr val="555555"/>
                </a:solidFill>
                <a:effectLst/>
                <a:latin typeface="Menlo"/>
              </a:rPr>
              <a:t>Book</a:t>
            </a:r>
            <a:r>
              <a:rPr kumimoji="0" lang="en-US" sz="1600" b="0" i="0" u="none" strike="noStrike" cap="none" normalizeH="0" baseline="0" dirty="0">
                <a:ln>
                  <a:noFill/>
                </a:ln>
                <a:solidFill>
                  <a:srgbClr val="666600"/>
                </a:solidFill>
                <a:effectLst/>
                <a:latin typeface="Menlo"/>
              </a:rPr>
              <a:t>&gt;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555555"/>
                </a:solidFill>
                <a:effectLst/>
                <a:latin typeface="Menlo"/>
              </a:rPr>
              <a:t>Books</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get</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set</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666600"/>
                </a:solidFill>
                <a:effectLst/>
                <a:latin typeface="Menlo"/>
              </a:rPr>
              <a:t>}</a:t>
            </a:r>
            <a:endParaRPr kumimoji="0" 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a:ln>
                  <a:noFill/>
                </a:ln>
                <a:solidFill>
                  <a:srgbClr val="666600"/>
                </a:solidFill>
                <a:effectLst/>
                <a:latin typeface="Menlo"/>
              </a:rPr>
              <a:t>}</a:t>
            </a:r>
          </a:p>
          <a:p>
            <a:pPr marR="0" lvl="0" algn="l" defTabSz="914400" rtl="0" eaLnBrk="0" fontAlgn="base" latinLnBrk="0" hangingPunct="0">
              <a:lnSpc>
                <a:spcPct val="100000"/>
              </a:lnSpc>
              <a:spcBef>
                <a:spcPct val="0"/>
              </a:spcBef>
              <a:spcAft>
                <a:spcPct val="0"/>
              </a:spcAft>
              <a:buClrTx/>
              <a:buSzTx/>
              <a:tabLst/>
            </a:pPr>
            <a:endParaRPr lang="en-US" sz="1600" dirty="0">
              <a:solidFill>
                <a:srgbClr val="666600"/>
              </a:solidFill>
              <a:latin typeface="Menlo"/>
            </a:endParaRPr>
          </a:p>
          <a:p>
            <a:pPr marR="0" lvl="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a:ln>
                <a:noFill/>
              </a:ln>
              <a:solidFill>
                <a:srgbClr val="666600"/>
              </a:solidFill>
              <a:effectLst/>
              <a:latin typeface="Menlo"/>
            </a:endParaRPr>
          </a:p>
          <a:p>
            <a:pPr marR="0" lvl="0" algn="l" defTabSz="914400" rtl="0" eaLnBrk="0" fontAlgn="base" latinLnBrk="0" hangingPunct="0">
              <a:lnSpc>
                <a:spcPct val="100000"/>
              </a:lnSpc>
              <a:spcBef>
                <a:spcPct val="0"/>
              </a:spcBef>
              <a:spcAft>
                <a:spcPct val="0"/>
              </a:spcAft>
              <a:buClrTx/>
              <a:buSzTx/>
              <a:tabLst/>
            </a:pPr>
            <a:endParaRPr lang="en-US" sz="1600" dirty="0">
              <a:solidFill>
                <a:srgbClr val="666600"/>
              </a:solidFill>
              <a:latin typeface="Menlo"/>
            </a:endParaRPr>
          </a:p>
          <a:p>
            <a:pPr marR="0" lvl="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a:ln>
                  <a:noFill/>
                </a:ln>
                <a:solidFill>
                  <a:srgbClr val="0000FF"/>
                </a:solidFill>
                <a:effectLst/>
                <a:latin typeface="Menlo"/>
              </a:rPr>
              <a:t>public</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class</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555555"/>
                </a:solidFill>
                <a:effectLst/>
                <a:latin typeface="Menlo"/>
              </a:rPr>
              <a:t>Book</a:t>
            </a:r>
            <a:endParaRPr kumimoji="0" lang="en-US" sz="1600" b="0" i="0" u="none" strike="noStrike" cap="none" normalizeH="0" baseline="0" dirty="0">
              <a:ln>
                <a:noFill/>
              </a:ln>
              <a:solidFill>
                <a:srgbClr val="333333"/>
              </a:solidFill>
              <a:effectLst/>
              <a:latin typeface="Menlo"/>
            </a:endParaRPr>
          </a:p>
          <a:p>
            <a:pPr eaLnBrk="0" fontAlgn="base" hangingPunct="0">
              <a:spcBef>
                <a:spcPct val="0"/>
              </a:spcBef>
              <a:spcAft>
                <a:spcPct val="0"/>
              </a:spcAft>
            </a:pPr>
            <a:r>
              <a:rPr kumimoji="0" lang="en-US" sz="1600" b="0" i="0" u="none" strike="noStrike" cap="none" normalizeH="0" baseline="0" dirty="0">
                <a:ln>
                  <a:noFill/>
                </a:ln>
                <a:solidFill>
                  <a:srgbClr val="666600"/>
                </a:solidFill>
                <a:effectLst/>
                <a:latin typeface="Menlo"/>
              </a:rPr>
              <a:t>{ </a:t>
            </a:r>
            <a:r>
              <a:rPr lang="en-US" sz="1600" dirty="0">
                <a:solidFill>
                  <a:srgbClr val="333333"/>
                </a:solidFill>
                <a:latin typeface="Menlo"/>
              </a:rPr>
              <a:t>[key]</a:t>
            </a:r>
          </a:p>
          <a:p>
            <a:pPr marR="0" lvl="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a:ln>
                  <a:noFill/>
                </a:ln>
                <a:solidFill>
                  <a:srgbClr val="0000FF"/>
                </a:solidFill>
                <a:effectLst/>
                <a:latin typeface="Menlo"/>
              </a:rPr>
              <a:t>public</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err="1">
                <a:ln>
                  <a:noFill/>
                </a:ln>
                <a:solidFill>
                  <a:srgbClr val="0000FF"/>
                </a:solidFill>
                <a:effectLst/>
                <a:latin typeface="Menlo"/>
              </a:rPr>
              <a:t>int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err="1">
                <a:ln>
                  <a:noFill/>
                </a:ln>
                <a:solidFill>
                  <a:srgbClr val="555555"/>
                </a:solidFill>
                <a:effectLst/>
                <a:latin typeface="Menlo"/>
              </a:rPr>
              <a:t>BookId</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get</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set</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666600"/>
                </a:solidFill>
                <a:effectLst/>
                <a:latin typeface="Menlo"/>
              </a:rPr>
              <a:t>}</a:t>
            </a:r>
            <a:endParaRPr kumimoji="0" 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a:ln>
                  <a:noFill/>
                </a:ln>
                <a:solidFill>
                  <a:srgbClr val="0000FF"/>
                </a:solidFill>
                <a:effectLst/>
                <a:latin typeface="Menlo"/>
              </a:rPr>
              <a:t>public</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string</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555555"/>
                </a:solidFill>
                <a:effectLst/>
                <a:latin typeface="Menlo"/>
              </a:rPr>
              <a:t>Title</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get</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set</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666600"/>
                </a:solidFill>
                <a:effectLst/>
                <a:latin typeface="Menlo"/>
              </a:rPr>
              <a:t>}</a:t>
            </a:r>
            <a:endParaRPr kumimoji="0" 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a:ln>
                  <a:noFill/>
                </a:ln>
                <a:solidFill>
                  <a:srgbClr val="0000FF"/>
                </a:solidFill>
                <a:effectLst/>
                <a:latin typeface="Menlo"/>
              </a:rPr>
              <a:t>public</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555555"/>
                </a:solidFill>
                <a:effectLst/>
                <a:latin typeface="Menlo"/>
              </a:rPr>
              <a:t>Author</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err="1">
                <a:ln>
                  <a:noFill/>
                </a:ln>
                <a:solidFill>
                  <a:srgbClr val="555555"/>
                </a:solidFill>
                <a:effectLst/>
                <a:latin typeface="Menlo"/>
              </a:rPr>
              <a:t>Author</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get</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set</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666600"/>
                </a:solidFill>
                <a:effectLst/>
                <a:latin typeface="Menlo"/>
              </a:rPr>
              <a:t>}</a:t>
            </a:r>
            <a:endParaRPr kumimoji="0" 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a:ln>
                  <a:noFill/>
                </a:ln>
                <a:solidFill>
                  <a:srgbClr val="0000FF"/>
                </a:solidFill>
                <a:effectLst/>
                <a:latin typeface="Menlo"/>
              </a:rPr>
              <a:t>public</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err="1">
                <a:ln>
                  <a:noFill/>
                </a:ln>
                <a:solidFill>
                  <a:srgbClr val="0000FF"/>
                </a:solidFill>
                <a:effectLst/>
                <a:latin typeface="Menlo"/>
              </a:rPr>
              <a:t>int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err="1">
                <a:ln>
                  <a:noFill/>
                </a:ln>
                <a:solidFill>
                  <a:srgbClr val="555555"/>
                </a:solidFill>
                <a:effectLst/>
                <a:latin typeface="Menlo"/>
              </a:rPr>
              <a:t>AuthorId</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get</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0000FF"/>
                </a:solidFill>
                <a:effectLst/>
                <a:latin typeface="Menlo"/>
              </a:rPr>
              <a:t>set</a:t>
            </a:r>
            <a:r>
              <a:rPr kumimoji="0" lang="en-US" sz="1600" b="0" i="0" u="none" strike="noStrike" cap="none" normalizeH="0" baseline="0" dirty="0">
                <a:ln>
                  <a:noFill/>
                </a:ln>
                <a:solidFill>
                  <a:srgbClr val="666600"/>
                </a:solidFill>
                <a:effectLst/>
                <a:latin typeface="Menlo"/>
              </a:rPr>
              <a:t>;</a:t>
            </a:r>
            <a:r>
              <a:rPr kumimoji="0" lang="en-US" sz="1600" b="0" i="0" u="none" strike="noStrike" cap="none" normalizeH="0" baseline="0" dirty="0">
                <a:ln>
                  <a:noFill/>
                </a:ln>
                <a:solidFill>
                  <a:srgbClr val="000000"/>
                </a:solidFill>
                <a:effectLst/>
                <a:latin typeface="Menlo"/>
              </a:rPr>
              <a:t> </a:t>
            </a:r>
            <a:r>
              <a:rPr kumimoji="0" lang="en-US" sz="1600" b="0" i="0" u="none" strike="noStrike" cap="none" normalizeH="0" baseline="0" dirty="0">
                <a:ln>
                  <a:noFill/>
                </a:ln>
                <a:solidFill>
                  <a:srgbClr val="666600"/>
                </a:solidFill>
                <a:effectLst/>
                <a:latin typeface="Menlo"/>
              </a:rPr>
              <a:t>}</a:t>
            </a:r>
            <a:endParaRPr kumimoji="0" 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sz="1000" b="0" i="0" u="none" strike="noStrike" cap="none" normalizeH="0" baseline="0" dirty="0">
                <a:ln>
                  <a:noFill/>
                </a:ln>
                <a:solidFill>
                  <a:srgbClr val="666600"/>
                </a:solidFill>
                <a:effectLst/>
                <a:latin typeface="Menlo"/>
              </a:rPr>
              <a:t>}</a:t>
            </a:r>
            <a:endParaRPr kumimoji="0" lang="en-US" sz="9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6"/>
          <p:cNvSpPr/>
          <p:nvPr/>
        </p:nvSpPr>
        <p:spPr>
          <a:xfrm>
            <a:off x="5754624" y="128016"/>
            <a:ext cx="6096000" cy="2308324"/>
          </a:xfrm>
          <a:prstGeom prst="rect">
            <a:avLst/>
          </a:prstGeom>
        </p:spPr>
        <p:txBody>
          <a:bodyPr>
            <a:spAutoFit/>
          </a:bodyPr>
          <a:lstStyle/>
          <a:p>
            <a:r>
              <a:rPr lang="en-US" dirty="0">
                <a:solidFill>
                  <a:srgbClr val="004867"/>
                </a:solidFill>
                <a:latin typeface="Roboto"/>
              </a:rPr>
              <a:t>EF Core </a:t>
            </a:r>
            <a:r>
              <a:rPr lang="en-US" dirty="0" err="1">
                <a:solidFill>
                  <a:srgbClr val="004867"/>
                </a:solidFill>
                <a:latin typeface="Roboto"/>
              </a:rPr>
              <a:t>DbSet</a:t>
            </a:r>
            <a:endParaRPr lang="en-US" dirty="0">
              <a:solidFill>
                <a:srgbClr val="004867"/>
              </a:solidFill>
              <a:latin typeface="Roboto"/>
            </a:endParaRPr>
          </a:p>
          <a:p>
            <a:r>
              <a:rPr lang="en-US" dirty="0"/>
              <a:t>The </a:t>
            </a:r>
            <a:r>
              <a:rPr lang="en-US" dirty="0" err="1"/>
              <a:t>DbSet</a:t>
            </a:r>
            <a:r>
              <a:rPr lang="en-US" dirty="0"/>
              <a:t>&lt;</a:t>
            </a:r>
            <a:r>
              <a:rPr lang="en-US" dirty="0" err="1"/>
              <a:t>TEntity</a:t>
            </a:r>
            <a:r>
              <a:rPr lang="en-US" dirty="0"/>
              <a:t>&gt; class represents a </a:t>
            </a:r>
            <a:r>
              <a:rPr lang="en-US" dirty="0">
                <a:highlight>
                  <a:srgbClr val="FFFF00"/>
                </a:highlight>
              </a:rPr>
              <a:t>collection for a given entity </a:t>
            </a:r>
            <a:r>
              <a:rPr lang="en-US" dirty="0"/>
              <a:t>within the model and is the gateway to database operations against an entity. </a:t>
            </a:r>
            <a:r>
              <a:rPr lang="en-US" dirty="0" err="1"/>
              <a:t>DbSet</a:t>
            </a:r>
            <a:r>
              <a:rPr lang="en-US" dirty="0"/>
              <a:t>&lt;</a:t>
            </a:r>
            <a:r>
              <a:rPr lang="en-US" dirty="0" err="1"/>
              <a:t>TEntity</a:t>
            </a:r>
            <a:r>
              <a:rPr lang="en-US" dirty="0"/>
              <a:t>&gt; classes are added as properties to the </a:t>
            </a:r>
            <a:r>
              <a:rPr lang="en-US" dirty="0" err="1"/>
              <a:t>DbContext</a:t>
            </a:r>
            <a:r>
              <a:rPr lang="en-US" dirty="0"/>
              <a:t> and are mapped by default to database tables that take the name of the </a:t>
            </a:r>
            <a:r>
              <a:rPr lang="en-US" dirty="0" err="1"/>
              <a:t>DbSet</a:t>
            </a:r>
            <a:r>
              <a:rPr lang="en-US" dirty="0"/>
              <a:t>&lt;</a:t>
            </a:r>
            <a:r>
              <a:rPr lang="en-US" dirty="0" err="1"/>
              <a:t>TEntity</a:t>
            </a:r>
            <a:r>
              <a:rPr lang="en-US" dirty="0"/>
              <a:t>&gt; property. The </a:t>
            </a:r>
            <a:r>
              <a:rPr lang="en-US" dirty="0" err="1"/>
              <a:t>DbSet</a:t>
            </a:r>
            <a:r>
              <a:rPr lang="en-US" dirty="0"/>
              <a:t> is an implementation of the </a:t>
            </a:r>
            <a:r>
              <a:rPr lang="en-US" b="1" dirty="0"/>
              <a:t>Repository</a:t>
            </a:r>
            <a:r>
              <a:rPr lang="en-US" dirty="0"/>
              <a:t> pattern</a:t>
            </a:r>
            <a:endParaRPr lang="en-IN" dirty="0"/>
          </a:p>
        </p:txBody>
      </p:sp>
      <p:sp>
        <p:nvSpPr>
          <p:cNvPr id="8" name="Rectangle 7"/>
          <p:cNvSpPr/>
          <p:nvPr/>
        </p:nvSpPr>
        <p:spPr>
          <a:xfrm>
            <a:off x="5919216" y="2839759"/>
            <a:ext cx="6096000" cy="3416320"/>
          </a:xfrm>
          <a:prstGeom prst="rect">
            <a:avLst/>
          </a:prstGeom>
        </p:spPr>
        <p:txBody>
          <a:bodyPr>
            <a:spAutoFit/>
          </a:bodyPr>
          <a:lstStyle/>
          <a:p>
            <a:r>
              <a:rPr lang="en-US" dirty="0">
                <a:solidFill>
                  <a:srgbClr val="004867"/>
                </a:solidFill>
                <a:latin typeface="Roboto"/>
              </a:rPr>
              <a:t>EF Core Model</a:t>
            </a:r>
          </a:p>
          <a:p>
            <a:r>
              <a:rPr lang="en-US" dirty="0">
                <a:solidFill>
                  <a:srgbClr val="333333"/>
                </a:solidFill>
                <a:latin typeface="Open Sans"/>
              </a:rPr>
              <a:t>An EF Core model is a conceptual model of an application's domain. The domain includes all topics relevant to the problem-solving areas of interest to the application users. The model includes data and can also include behavior. Typically, models for CRUD applications don't tend to incorporate a lot of behavior.</a:t>
            </a:r>
          </a:p>
          <a:p>
            <a:r>
              <a:rPr lang="en-US" dirty="0">
                <a:solidFill>
                  <a:srgbClr val="333333"/>
                </a:solidFill>
                <a:latin typeface="Open Sans"/>
              </a:rPr>
              <a:t>Models are expressed as a collection of classes written in C#. Each class represents an </a:t>
            </a:r>
            <a:r>
              <a:rPr lang="en-US" i="1" dirty="0">
                <a:solidFill>
                  <a:srgbClr val="333333"/>
                </a:solidFill>
                <a:latin typeface="Open Sans"/>
              </a:rPr>
              <a:t>entity</a:t>
            </a:r>
            <a:r>
              <a:rPr lang="en-US" dirty="0">
                <a:solidFill>
                  <a:srgbClr val="333333"/>
                </a:solidFill>
                <a:latin typeface="Open Sans"/>
              </a:rPr>
              <a:t> (a.k.a. business object, domain object) within the application domain.</a:t>
            </a:r>
          </a:p>
          <a:p>
            <a:r>
              <a:rPr lang="en-US" dirty="0">
                <a:solidFill>
                  <a:srgbClr val="333333"/>
                </a:solidFill>
                <a:latin typeface="Open Sans"/>
              </a:rPr>
              <a:t>The following example illustrates a minimal model for an application that is concerned with books and their authors:</a:t>
            </a:r>
            <a:endParaRPr lang="en-US" b="0" i="0" dirty="0">
              <a:solidFill>
                <a:srgbClr val="333333"/>
              </a:solidFill>
              <a:effectLst/>
              <a:latin typeface="Open Sans"/>
            </a:endParaRPr>
          </a:p>
        </p:txBody>
      </p:sp>
    </p:spTree>
    <p:extLst>
      <p:ext uri="{BB962C8B-B14F-4D97-AF65-F5344CB8AC3E}">
        <p14:creationId xmlns:p14="http://schemas.microsoft.com/office/powerpoint/2010/main" val="2545536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36FDD03-1B15-F8B7-006A-C0EB1775DEFD}"/>
              </a:ext>
            </a:extLst>
          </p:cNvPr>
          <p:cNvSpPr txBox="1"/>
          <p:nvPr/>
        </p:nvSpPr>
        <p:spPr>
          <a:xfrm>
            <a:off x="4480062" y="153268"/>
            <a:ext cx="2705929"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err="1"/>
              <a:t>DbContext.Add</a:t>
            </a:r>
            <a:endParaRPr lang="en-IN" dirty="0"/>
          </a:p>
        </p:txBody>
      </p:sp>
      <p:sp>
        <p:nvSpPr>
          <p:cNvPr id="7" name="TextBox 6">
            <a:extLst>
              <a:ext uri="{FF2B5EF4-FFF2-40B4-BE49-F238E27FC236}">
                <a16:creationId xmlns:a16="http://schemas.microsoft.com/office/drawing/2014/main" id="{23560F71-90C0-6197-388A-F519230DC7EE}"/>
              </a:ext>
            </a:extLst>
          </p:cNvPr>
          <p:cNvSpPr txBox="1"/>
          <p:nvPr/>
        </p:nvSpPr>
        <p:spPr>
          <a:xfrm>
            <a:off x="156540" y="579602"/>
            <a:ext cx="12008955" cy="646331"/>
          </a:xfrm>
          <a:prstGeom prst="rect">
            <a:avLst/>
          </a:prstGeom>
          <a:noFill/>
        </p:spPr>
        <p:txBody>
          <a:bodyPr wrap="square">
            <a:spAutoFit/>
          </a:bodyPr>
          <a:lstStyle/>
          <a:p>
            <a:r>
              <a:rPr lang="en-US" dirty="0"/>
              <a:t>Tells EF that the entity is new and should be inserted into the database, and so sets the state to Added. It also does this for all reachable entities in the graph that it isn't already tracking.</a:t>
            </a:r>
            <a:endParaRPr lang="en-IN" dirty="0"/>
          </a:p>
        </p:txBody>
      </p:sp>
      <p:sp>
        <p:nvSpPr>
          <p:cNvPr id="8" name="Rectangle 1">
            <a:extLst>
              <a:ext uri="{FF2B5EF4-FFF2-40B4-BE49-F238E27FC236}">
                <a16:creationId xmlns:a16="http://schemas.microsoft.com/office/drawing/2014/main" id="{963E4333-0EAD-246B-C878-C070481C3BE5}"/>
              </a:ext>
            </a:extLst>
          </p:cNvPr>
          <p:cNvSpPr>
            <a:spLocks noChangeArrowheads="1"/>
          </p:cNvSpPr>
          <p:nvPr/>
        </p:nvSpPr>
        <p:spPr bwMode="auto">
          <a:xfrm>
            <a:off x="156540" y="1615583"/>
            <a:ext cx="4584423" cy="2769989"/>
          </a:xfrm>
          <a:prstGeom prst="rect">
            <a:avLst/>
          </a:prstGeom>
          <a:ln/>
        </p:spPr>
        <p:style>
          <a:lnRef idx="2">
            <a:schemeClr val="accent4"/>
          </a:lnRef>
          <a:fillRef idx="1">
            <a:schemeClr val="lt1"/>
          </a:fillRef>
          <a:effectRef idx="0">
            <a:schemeClr val="accent4"/>
          </a:effectRef>
          <a:fontRef idx="minor">
            <a:schemeClr val="dk1"/>
          </a:fontRef>
        </p:style>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000000"/>
                </a:solidFill>
                <a:effectLst/>
                <a:latin typeface="Menlo"/>
              </a:rPr>
              <a:t>db</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TestContext</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book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Book</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555555"/>
                </a:solidFill>
                <a:effectLst/>
                <a:latin typeface="Menlo"/>
              </a:rPr>
              <a:t>Title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A52A2A"/>
                </a:solidFill>
                <a:effectLst/>
                <a:latin typeface="Menlo"/>
              </a:rPr>
              <a:t>"King Lear"</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555555"/>
                </a:solidFill>
                <a:effectLst/>
                <a:latin typeface="Menlo"/>
              </a:rPr>
              <a:t> </a:t>
            </a:r>
            <a:r>
              <a:rPr kumimoji="0" lang="en-US" sz="1800" b="0" i="0" u="none" strike="noStrike" cap="none" normalizeH="0" baseline="0" dirty="0">
                <a:ln>
                  <a:noFill/>
                </a:ln>
                <a:solidFill>
                  <a:srgbClr val="555555"/>
                </a:solidFill>
                <a:effectLst/>
                <a:latin typeface="Menlo"/>
              </a:rPr>
              <a:t>Author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Author</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555555"/>
                </a:solidFill>
                <a:effectLst/>
                <a:latin typeface="Menlo"/>
              </a:rPr>
              <a:t>	FirstName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A52A2A"/>
                </a:solidFill>
                <a:effectLst/>
                <a:latin typeface="Menlo"/>
              </a:rPr>
              <a:t>"William"</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555555"/>
                </a:solidFill>
                <a:effectLst/>
                <a:latin typeface="Menlo"/>
              </a:rPr>
              <a:t>	</a:t>
            </a:r>
            <a:r>
              <a:rPr kumimoji="0" lang="en-US" altLang="en-US" b="0" i="0" u="none" strike="noStrike" cap="none" normalizeH="0" baseline="0" dirty="0" err="1">
                <a:ln>
                  <a:noFill/>
                </a:ln>
                <a:solidFill>
                  <a:srgbClr val="555555"/>
                </a:solidFill>
                <a:effectLst/>
                <a:latin typeface="Menlo"/>
              </a:rPr>
              <a:t>LastName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A52A2A"/>
                </a:solidFill>
                <a:effectLst/>
                <a:latin typeface="Menlo"/>
              </a:rPr>
              <a:t>"Shakespeare"</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666600"/>
                </a:solidFill>
                <a:effectLst/>
                <a:latin typeface="Menlo"/>
              </a:rPr>
              <a:t>	}</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db</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Add</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book</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8000"/>
                </a:solidFill>
                <a:effectLst/>
                <a:latin typeface="Menlo"/>
              </a:rPr>
              <a:t>// Book Added, Author Added</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lang="en-US" altLang="en-US" dirty="0" err="1">
                <a:solidFill>
                  <a:schemeClr val="tx1"/>
                </a:solidFill>
                <a:latin typeface="Arial" panose="020B0604020202020204" pitchFamily="34" charset="0"/>
              </a:rPr>
              <a:t>d</a:t>
            </a:r>
            <a:r>
              <a:rPr kumimoji="0" lang="en-US" altLang="en-US" b="0" i="0" u="none" strike="noStrike" cap="none" normalizeH="0" baseline="0" dirty="0" err="1">
                <a:ln>
                  <a:noFill/>
                </a:ln>
                <a:solidFill>
                  <a:schemeClr val="tx1"/>
                </a:solidFill>
                <a:effectLst/>
                <a:latin typeface="Arial" panose="020B0604020202020204" pitchFamily="34" charset="0"/>
              </a:rPr>
              <a:t>b</a:t>
            </a:r>
            <a:r>
              <a:rPr lang="en-US" altLang="en-US" dirty="0" err="1">
                <a:solidFill>
                  <a:schemeClr val="tx1"/>
                </a:solidFill>
                <a:latin typeface="Arial" panose="020B0604020202020204" pitchFamily="34" charset="0"/>
              </a:rPr>
              <a:t>.SaveChanges</a:t>
            </a:r>
            <a:r>
              <a:rPr lang="en-US" altLang="en-US" dirty="0">
                <a:solidFill>
                  <a:schemeClr val="tx1"/>
                </a:solidFill>
                <a:latin typeface="Arial" panose="020B0604020202020204" pitchFamily="34" charset="0"/>
              </a:rPr>
              <a: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B84DF5FC-5D94-732A-10DA-F368B6EB5A0F}"/>
              </a:ext>
            </a:extLst>
          </p:cNvPr>
          <p:cNvSpPr>
            <a:spLocks noChangeArrowheads="1"/>
          </p:cNvSpPr>
          <p:nvPr/>
        </p:nvSpPr>
        <p:spPr bwMode="auto">
          <a:xfrm>
            <a:off x="97273" y="4889395"/>
            <a:ext cx="5488886" cy="1661993"/>
          </a:xfrm>
          <a:prstGeom prst="rect">
            <a:avLst/>
          </a:prstGeom>
          <a:ln/>
        </p:spPr>
        <p:style>
          <a:lnRef idx="2">
            <a:schemeClr val="accent4"/>
          </a:lnRef>
          <a:fillRef idx="1">
            <a:schemeClr val="lt1"/>
          </a:fillRef>
          <a:effectRef idx="0">
            <a:schemeClr val="accent4"/>
          </a:effectRef>
          <a:fontRef idx="minor">
            <a:schemeClr val="dk1"/>
          </a:fontRef>
        </p:style>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000000"/>
                </a:solidFill>
                <a:effectLst/>
                <a:latin typeface="Menlo"/>
              </a:rPr>
              <a:t>db</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TestContext</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book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Book</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Title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A52A2A"/>
                </a:solidFill>
                <a:effectLst/>
                <a:latin typeface="Menlo"/>
              </a:rPr>
              <a:t>"Romeo and Juliet"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book</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Author</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000000"/>
                </a:solidFill>
                <a:effectLst/>
                <a:latin typeface="Menlo"/>
              </a:rPr>
              <a:t>db</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Authors</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Single</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a </a:t>
            </a:r>
            <a:r>
              <a:rPr kumimoji="0" lang="en-US" altLang="en-US" b="0" i="0" u="none" strike="noStrike" cap="none" normalizeH="0" baseline="0" dirty="0">
                <a:ln>
                  <a:noFill/>
                </a:ln>
                <a:solidFill>
                  <a:srgbClr val="666600"/>
                </a:solidFill>
                <a:effectLst/>
                <a:latin typeface="Menlo"/>
              </a:rPr>
              <a:t>=&gt;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000000"/>
                </a:solidFill>
                <a:effectLst/>
                <a:latin typeface="Menlo"/>
              </a:rPr>
              <a:t>a</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AuthorId</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6666"/>
                </a:solidFill>
                <a:effectLst/>
                <a:latin typeface="Menlo"/>
              </a:rPr>
              <a:t>1</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db</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Add</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book</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8000"/>
                </a:solidFill>
                <a:effectLst/>
                <a:latin typeface="Menlo"/>
              </a:rPr>
              <a:t>// Book Added, Author Unchanged</a:t>
            </a:r>
            <a:endParaRPr kumimoji="0" lang="en-US" altLang="en-US" b="0" i="0" u="none" strike="noStrike" cap="none" normalizeH="0" baseline="0" dirty="0">
              <a:ln>
                <a:noFill/>
              </a:ln>
              <a:solidFill>
                <a:srgbClr val="333333"/>
              </a:solidFill>
              <a:effectLst/>
              <a:latin typeface="Menlo"/>
            </a:endParaRPr>
          </a:p>
          <a:p>
            <a:pPr eaLnBrk="0" fontAlgn="base" hangingPunct="0">
              <a:spcBef>
                <a:spcPct val="0"/>
              </a:spcBef>
              <a:spcAft>
                <a:spcPct val="0"/>
              </a:spcAft>
            </a:pPr>
            <a:r>
              <a:rPr lang="en-US" altLang="en-US" dirty="0" err="1">
                <a:solidFill>
                  <a:schemeClr val="tx1"/>
                </a:solidFill>
                <a:latin typeface="Arial" panose="020B0604020202020204" pitchFamily="34" charset="0"/>
              </a:rPr>
              <a:t>d</a:t>
            </a:r>
            <a:r>
              <a:rPr kumimoji="0" lang="en-US" altLang="en-US" b="0" i="0" u="none" strike="noStrike" cap="none" normalizeH="0" baseline="0" dirty="0" err="1">
                <a:ln>
                  <a:noFill/>
                </a:ln>
                <a:solidFill>
                  <a:schemeClr val="tx1"/>
                </a:solidFill>
                <a:effectLst/>
                <a:latin typeface="Arial" panose="020B0604020202020204" pitchFamily="34" charset="0"/>
              </a:rPr>
              <a:t>b</a:t>
            </a:r>
            <a:r>
              <a:rPr lang="en-US" altLang="en-US" dirty="0" err="1">
                <a:solidFill>
                  <a:schemeClr val="tx1"/>
                </a:solidFill>
                <a:latin typeface="Arial" panose="020B0604020202020204" pitchFamily="34" charset="0"/>
              </a:rPr>
              <a:t>.SaveChanges</a:t>
            </a:r>
            <a:r>
              <a:rPr lang="en-US" altLang="en-US" dirty="0">
                <a:solidFill>
                  <a:schemeClr val="tx1"/>
                </a:solidFill>
                <a:latin typeface="Arial" panose="020B0604020202020204" pitchFamily="34" charset="0"/>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0" name="Rectangle 3">
            <a:extLst>
              <a:ext uri="{FF2B5EF4-FFF2-40B4-BE49-F238E27FC236}">
                <a16:creationId xmlns:a16="http://schemas.microsoft.com/office/drawing/2014/main" id="{DE3B5B27-2EC9-A5F7-0C25-BB2AC3B39839}"/>
              </a:ext>
            </a:extLst>
          </p:cNvPr>
          <p:cNvSpPr>
            <a:spLocks noChangeArrowheads="1"/>
          </p:cNvSpPr>
          <p:nvPr/>
        </p:nvSpPr>
        <p:spPr bwMode="auto">
          <a:xfrm>
            <a:off x="5367130" y="1318376"/>
            <a:ext cx="6582192" cy="3046988"/>
          </a:xfrm>
          <a:prstGeom prst="rect">
            <a:avLst/>
          </a:prstGeom>
          <a:ln/>
        </p:spPr>
        <p:style>
          <a:lnRef idx="2">
            <a:schemeClr val="accent4"/>
          </a:lnRef>
          <a:fillRef idx="1">
            <a:schemeClr val="lt1"/>
          </a:fillRef>
          <a:effectRef idx="0">
            <a:schemeClr val="accent4"/>
          </a:effectRef>
          <a:fontRef idx="minor">
            <a:schemeClr val="dk1"/>
          </a:fontRef>
        </p:style>
        <p:txBody>
          <a:bodyPr vert="horz" wrap="square" lIns="91440" tIns="0" rIns="91440" bIns="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000000"/>
                </a:solidFill>
                <a:effectLst/>
                <a:latin typeface="Menlo"/>
              </a:rPr>
              <a:t>db</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TestContext</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book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Book</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Title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A52A2A"/>
                </a:solidFill>
                <a:effectLst/>
                <a:latin typeface="Menlo"/>
              </a:rPr>
              <a:t>"Romeo and Juliet"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8000"/>
                </a:solidFill>
                <a:effectLst/>
                <a:latin typeface="Menlo"/>
              </a:rPr>
              <a:t>// Book Added, </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book</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Author</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000000"/>
                </a:solidFill>
                <a:effectLst/>
                <a:latin typeface="Menlo"/>
              </a:rPr>
              <a:t>db</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Authors</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Single</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a </a:t>
            </a:r>
            <a:r>
              <a:rPr kumimoji="0" lang="en-US" altLang="en-US" b="0" i="0" u="none" strike="noStrike" cap="none" normalizeH="0" baseline="0" dirty="0">
                <a:ln>
                  <a:noFill/>
                </a:ln>
                <a:solidFill>
                  <a:srgbClr val="666600"/>
                </a:solidFill>
                <a:effectLst/>
                <a:latin typeface="Menlo"/>
              </a:rPr>
              <a:t>=&gt;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000000"/>
                </a:solidFill>
                <a:effectLst/>
                <a:latin typeface="Menlo"/>
              </a:rPr>
              <a:t>a</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AuthorId</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6666"/>
                </a:solidFill>
                <a:effectLst/>
                <a:latin typeface="Menlo"/>
              </a:rPr>
              <a:t>1</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8000"/>
                </a:solidFill>
                <a:effectLst/>
                <a:latin typeface="Menlo"/>
              </a:rPr>
              <a:t>// Author Unchanged</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err="1">
                <a:ln>
                  <a:noFill/>
                </a:ln>
                <a:solidFill>
                  <a:srgbClr val="000000"/>
                </a:solidFill>
                <a:effectLst/>
                <a:latin typeface="Menlo"/>
              </a:rPr>
              <a:t>book</a:t>
            </a:r>
            <a:r>
              <a:rPr kumimoji="0" lang="en-US" altLang="en-US" b="1" i="0" u="none" strike="noStrike" cap="none" normalizeH="0" baseline="0" dirty="0" err="1">
                <a:ln>
                  <a:noFill/>
                </a:ln>
                <a:solidFill>
                  <a:srgbClr val="666600"/>
                </a:solidFill>
                <a:effectLst/>
                <a:latin typeface="Menlo"/>
              </a:rPr>
              <a:t>.</a:t>
            </a:r>
            <a:r>
              <a:rPr kumimoji="0" lang="en-US" altLang="en-US" b="1" i="0" u="none" strike="noStrike" cap="none" normalizeH="0" baseline="0" dirty="0" err="1">
                <a:ln>
                  <a:noFill/>
                </a:ln>
                <a:solidFill>
                  <a:srgbClr val="555555"/>
                </a:solidFill>
                <a:effectLst/>
                <a:latin typeface="Menlo"/>
              </a:rPr>
              <a:t>Author</a:t>
            </a:r>
            <a:r>
              <a:rPr kumimoji="0" lang="en-US" altLang="en-US" b="1" i="0" u="none" strike="noStrike" cap="none" normalizeH="0" baseline="0" dirty="0" err="1">
                <a:ln>
                  <a:noFill/>
                </a:ln>
                <a:solidFill>
                  <a:srgbClr val="666600"/>
                </a:solidFill>
                <a:effectLst/>
                <a:latin typeface="Menlo"/>
              </a:rPr>
              <a:t>.</a:t>
            </a:r>
            <a:r>
              <a:rPr kumimoji="0" lang="en-US" altLang="en-US" b="1" i="0" u="none" strike="noStrike" cap="none" normalizeH="0" baseline="0" dirty="0" err="1">
                <a:ln>
                  <a:noFill/>
                </a:ln>
                <a:solidFill>
                  <a:srgbClr val="555555"/>
                </a:solidFill>
                <a:effectLst/>
                <a:latin typeface="Menlo"/>
              </a:rPr>
              <a:t>FirstName</a:t>
            </a:r>
            <a:r>
              <a:rPr kumimoji="0" lang="en-US" altLang="en-US" b="1" i="0" u="none" strike="noStrike" cap="none" normalizeH="0" baseline="0" dirty="0">
                <a:ln>
                  <a:noFill/>
                </a:ln>
                <a:solidFill>
                  <a:srgbClr val="000000"/>
                </a:solidFill>
                <a:effectLst/>
                <a:latin typeface="Menlo"/>
              </a:rPr>
              <a:t> </a:t>
            </a:r>
            <a:r>
              <a:rPr kumimoji="0" lang="en-US" altLang="en-US" b="1" i="0" u="none" strike="noStrike" cap="none" normalizeH="0" baseline="0" dirty="0">
                <a:ln>
                  <a:noFill/>
                </a:ln>
                <a:solidFill>
                  <a:srgbClr val="666600"/>
                </a:solidFill>
                <a:effectLst/>
                <a:latin typeface="Menlo"/>
              </a:rPr>
              <a:t>=</a:t>
            </a:r>
            <a:r>
              <a:rPr kumimoji="0" lang="en-US" altLang="en-US" b="1" i="0" u="none" strike="noStrike" cap="none" normalizeH="0" baseline="0" dirty="0">
                <a:ln>
                  <a:noFill/>
                </a:ln>
                <a:solidFill>
                  <a:srgbClr val="000000"/>
                </a:solidFill>
                <a:effectLst/>
                <a:latin typeface="Menlo"/>
              </a:rPr>
              <a:t> </a:t>
            </a:r>
            <a:r>
              <a:rPr kumimoji="0" lang="en-US" altLang="en-US" b="1" i="0" u="none" strike="noStrike" cap="none" normalizeH="0" baseline="0" dirty="0">
                <a:ln>
                  <a:noFill/>
                </a:ln>
                <a:solidFill>
                  <a:srgbClr val="A52A2A"/>
                </a:solidFill>
                <a:effectLst/>
                <a:latin typeface="Menlo"/>
              </a:rPr>
              <a:t>"Bill"</a:t>
            </a:r>
            <a:r>
              <a:rPr kumimoji="0" lang="en-US" altLang="en-US" b="1" i="0" u="none" strike="noStrike" cap="none" normalizeH="0" baseline="0" dirty="0">
                <a:ln>
                  <a:noFill/>
                </a:ln>
                <a:solidFill>
                  <a:srgbClr val="666600"/>
                </a:solidFill>
                <a:effectLst/>
                <a:latin typeface="Menlo"/>
              </a:rPr>
              <a:t>;</a:t>
            </a:r>
            <a:r>
              <a:rPr kumimoji="0" lang="en-US" altLang="en-US" b="1"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8000"/>
                </a:solidFill>
                <a:effectLst/>
                <a:latin typeface="Menlo"/>
              </a:rPr>
              <a:t>// Author Modified</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db</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Add</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book</a:t>
            </a:r>
            <a:r>
              <a:rPr kumimoji="0" lang="en-US" altLang="en-US" b="0" i="0" u="none" strike="noStrike" cap="none" normalizeH="0" baseline="0" dirty="0">
                <a:ln>
                  <a:noFill/>
                </a:ln>
                <a:solidFill>
                  <a:srgbClr val="666600"/>
                </a:solidFill>
                <a:effectLst/>
                <a:latin typeface="Menlo"/>
              </a:rPr>
              <a:t>);</a:t>
            </a:r>
          </a:p>
          <a:p>
            <a:pPr eaLnBrk="0" fontAlgn="base" hangingPunct="0">
              <a:spcBef>
                <a:spcPct val="0"/>
              </a:spcBef>
              <a:spcAft>
                <a:spcPct val="0"/>
              </a:spcAft>
            </a:pPr>
            <a:r>
              <a:rPr lang="en-US" altLang="en-US" dirty="0" err="1">
                <a:solidFill>
                  <a:schemeClr val="tx1"/>
                </a:solidFill>
                <a:latin typeface="Arial" panose="020B0604020202020204" pitchFamily="34" charset="0"/>
              </a:rPr>
              <a:t>d</a:t>
            </a:r>
            <a:r>
              <a:rPr kumimoji="0" lang="en-US" altLang="en-US" b="0" i="0" u="none" strike="noStrike" cap="none" normalizeH="0" baseline="0" dirty="0" err="1">
                <a:ln>
                  <a:noFill/>
                </a:ln>
                <a:solidFill>
                  <a:schemeClr val="tx1"/>
                </a:solidFill>
                <a:effectLst/>
                <a:latin typeface="Arial" panose="020B0604020202020204" pitchFamily="34" charset="0"/>
              </a:rPr>
              <a:t>b</a:t>
            </a:r>
            <a:r>
              <a:rPr lang="en-US" altLang="en-US" dirty="0" err="1">
                <a:solidFill>
                  <a:schemeClr val="tx1"/>
                </a:solidFill>
                <a:latin typeface="Arial" panose="020B0604020202020204" pitchFamily="34" charset="0"/>
              </a:rPr>
              <a:t>.SaveChanges</a:t>
            </a:r>
            <a:r>
              <a:rPr lang="en-US" altLang="en-US" dirty="0">
                <a:solidFill>
                  <a:schemeClr val="tx1"/>
                </a:solidFill>
                <a:latin typeface="Arial" panose="020B0604020202020204" pitchFamily="34" charset="0"/>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1" name="Rectangle 4">
            <a:extLst>
              <a:ext uri="{FF2B5EF4-FFF2-40B4-BE49-F238E27FC236}">
                <a16:creationId xmlns:a16="http://schemas.microsoft.com/office/drawing/2014/main" id="{BCA61894-869D-ECB0-70A8-CF2699199663}"/>
              </a:ext>
            </a:extLst>
          </p:cNvPr>
          <p:cNvSpPr>
            <a:spLocks noChangeArrowheads="1"/>
          </p:cNvSpPr>
          <p:nvPr/>
        </p:nvSpPr>
        <p:spPr bwMode="auto">
          <a:xfrm>
            <a:off x="7351226" y="4335397"/>
            <a:ext cx="4598096" cy="2215991"/>
          </a:xfrm>
          <a:prstGeom prst="rect">
            <a:avLst/>
          </a:prstGeom>
          <a:ln/>
        </p:spPr>
        <p:style>
          <a:lnRef idx="2">
            <a:schemeClr val="accent4"/>
          </a:lnRef>
          <a:fillRef idx="1">
            <a:schemeClr val="lt1"/>
          </a:fillRef>
          <a:effectRef idx="0">
            <a:schemeClr val="accent4"/>
          </a:effectRef>
          <a:fontRef idx="minor">
            <a:schemeClr val="dk1"/>
          </a:fontRef>
        </p:style>
        <p:txBody>
          <a:bodyPr vert="horz" wrap="square" lIns="91440" tIns="0" rIns="91440" bIns="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000000"/>
                </a:solidFill>
                <a:effectLst/>
                <a:latin typeface="Menlo"/>
              </a:rPr>
              <a:t>db</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TestContext</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book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Book</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Title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A52A2A"/>
                </a:solidFill>
                <a:effectLst/>
                <a:latin typeface="Menlo"/>
              </a:rPr>
              <a:t>"Hamlet"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AuthorId</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6666"/>
                </a:solidFill>
                <a:effectLst/>
                <a:latin typeface="Menlo"/>
              </a:rPr>
              <a:t>1</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db</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Add</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book</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8000"/>
                </a:solidFill>
                <a:effectLst/>
                <a:latin typeface="Menlo"/>
              </a:rPr>
              <a:t>// Book Added - only one entry being tracked</a:t>
            </a:r>
            <a:endParaRPr kumimoji="0" lang="en-US" altLang="en-US" b="0" i="0" u="none" strike="noStrike" cap="none" normalizeH="0" baseline="0" dirty="0">
              <a:ln>
                <a:noFill/>
              </a:ln>
              <a:solidFill>
                <a:srgbClr val="333333"/>
              </a:solidFill>
              <a:effectLst/>
              <a:latin typeface="Menlo"/>
            </a:endParaRPr>
          </a:p>
          <a:p>
            <a:pPr eaLnBrk="0" fontAlgn="base" hangingPunct="0">
              <a:spcBef>
                <a:spcPct val="0"/>
              </a:spcBef>
              <a:spcAft>
                <a:spcPct val="0"/>
              </a:spcAft>
            </a:pPr>
            <a:r>
              <a:rPr lang="en-US" altLang="en-US" dirty="0" err="1">
                <a:solidFill>
                  <a:schemeClr val="tx1"/>
                </a:solidFill>
                <a:latin typeface="Arial" panose="020B0604020202020204" pitchFamily="34" charset="0"/>
              </a:rPr>
              <a:t>d</a:t>
            </a:r>
            <a:r>
              <a:rPr kumimoji="0" lang="en-US" altLang="en-US" b="0" i="0" u="none" strike="noStrike" cap="none" normalizeH="0" baseline="0" dirty="0" err="1">
                <a:ln>
                  <a:noFill/>
                </a:ln>
                <a:solidFill>
                  <a:schemeClr val="tx1"/>
                </a:solidFill>
                <a:effectLst/>
                <a:latin typeface="Arial" panose="020B0604020202020204" pitchFamily="34" charset="0"/>
              </a:rPr>
              <a:t>b</a:t>
            </a:r>
            <a:r>
              <a:rPr lang="en-US" altLang="en-US" dirty="0" err="1">
                <a:solidFill>
                  <a:schemeClr val="tx1"/>
                </a:solidFill>
                <a:latin typeface="Arial" panose="020B0604020202020204" pitchFamily="34" charset="0"/>
              </a:rPr>
              <a:t>.SaveChanges</a:t>
            </a:r>
            <a:r>
              <a:rPr lang="en-US" altLang="en-US" dirty="0">
                <a:solidFill>
                  <a:schemeClr val="tx1"/>
                </a:solidFill>
                <a:latin typeface="Arial" panose="020B0604020202020204" pitchFamily="34" charset="0"/>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97269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535CA7E-FC17-DE11-CC1C-D57A8B2C66EB}"/>
              </a:ext>
            </a:extLst>
          </p:cNvPr>
          <p:cNvSpPr txBox="1"/>
          <p:nvPr/>
        </p:nvSpPr>
        <p:spPr>
          <a:xfrm>
            <a:off x="245994" y="153265"/>
            <a:ext cx="3342032"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err="1">
                <a:solidFill>
                  <a:srgbClr val="004867"/>
                </a:solidFill>
                <a:effectLst/>
                <a:latin typeface="Roboto" panose="02000000000000000000" pitchFamily="2" charset="0"/>
              </a:rPr>
              <a:t>DbContext.Update</a:t>
            </a:r>
            <a:endParaRPr lang="en-IN" b="0" i="0" dirty="0">
              <a:solidFill>
                <a:srgbClr val="004867"/>
              </a:solidFill>
              <a:effectLst/>
              <a:latin typeface="Roboto" panose="02000000000000000000" pitchFamily="2" charset="0"/>
            </a:endParaRPr>
          </a:p>
        </p:txBody>
      </p:sp>
      <p:sp>
        <p:nvSpPr>
          <p:cNvPr id="7" name="TextBox 6">
            <a:extLst>
              <a:ext uri="{FF2B5EF4-FFF2-40B4-BE49-F238E27FC236}">
                <a16:creationId xmlns:a16="http://schemas.microsoft.com/office/drawing/2014/main" id="{9599CF3C-1946-0812-ADE9-07DDBB426D07}"/>
              </a:ext>
            </a:extLst>
          </p:cNvPr>
          <p:cNvSpPr txBox="1"/>
          <p:nvPr/>
        </p:nvSpPr>
        <p:spPr>
          <a:xfrm>
            <a:off x="176419" y="879470"/>
            <a:ext cx="5329859" cy="923330"/>
          </a:xfrm>
          <a:prstGeom prst="rect">
            <a:avLst/>
          </a:prstGeom>
          <a:noFill/>
        </p:spPr>
        <p:txBody>
          <a:bodyPr wrap="square">
            <a:spAutoFit/>
          </a:bodyPr>
          <a:lstStyle/>
          <a:p>
            <a:r>
              <a:rPr lang="en-US" dirty="0"/>
              <a:t>Tells EF that the entity is modified. It will also set all reachable entities as modified if they are not already being tracked.</a:t>
            </a:r>
            <a:endParaRPr lang="en-IN" dirty="0"/>
          </a:p>
        </p:txBody>
      </p:sp>
      <p:sp>
        <p:nvSpPr>
          <p:cNvPr id="8" name="Rectangle 1">
            <a:extLst>
              <a:ext uri="{FF2B5EF4-FFF2-40B4-BE49-F238E27FC236}">
                <a16:creationId xmlns:a16="http://schemas.microsoft.com/office/drawing/2014/main" id="{0B752567-E800-352B-5173-A6DF28491501}"/>
              </a:ext>
            </a:extLst>
          </p:cNvPr>
          <p:cNvSpPr>
            <a:spLocks noChangeArrowheads="1"/>
          </p:cNvSpPr>
          <p:nvPr/>
        </p:nvSpPr>
        <p:spPr bwMode="auto">
          <a:xfrm>
            <a:off x="176419" y="1767007"/>
            <a:ext cx="4363279" cy="1661993"/>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000000"/>
                </a:solidFill>
                <a:effectLst/>
                <a:latin typeface="Menlo"/>
              </a:rPr>
              <a:t>db</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TestContext</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book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Book</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BookId</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6666"/>
                </a:solidFill>
                <a:effectLst/>
                <a:latin typeface="Menlo"/>
              </a:rPr>
              <a:t>1</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db</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Update</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book</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8000"/>
                </a:solidFill>
                <a:effectLst/>
                <a:latin typeface="Menlo"/>
              </a:rPr>
              <a:t>// Book Modified</a:t>
            </a:r>
            <a:endParaRPr kumimoji="0" lang="en-US" altLang="en-US" b="0" i="0" u="none" strike="noStrike" cap="none" normalizeH="0" baseline="0" dirty="0">
              <a:ln>
                <a:noFill/>
              </a:ln>
              <a:solidFill>
                <a:srgbClr val="333333"/>
              </a:solidFill>
              <a:effectLst/>
              <a:latin typeface="Menlo"/>
            </a:endParaRPr>
          </a:p>
          <a:p>
            <a:pPr eaLnBrk="0" fontAlgn="base" hangingPunct="0">
              <a:spcBef>
                <a:spcPct val="0"/>
              </a:spcBef>
              <a:spcAft>
                <a:spcPct val="0"/>
              </a:spcAft>
            </a:pPr>
            <a:r>
              <a:rPr lang="en-US" altLang="en-US" dirty="0" err="1">
                <a:solidFill>
                  <a:schemeClr val="tx1"/>
                </a:solidFill>
                <a:latin typeface="Arial" panose="020B0604020202020204" pitchFamily="34" charset="0"/>
              </a:rPr>
              <a:t>d</a:t>
            </a:r>
            <a:r>
              <a:rPr kumimoji="0" lang="en-US" altLang="en-US" b="0" i="0" u="none" strike="noStrike" cap="none" normalizeH="0" baseline="0" dirty="0" err="1">
                <a:ln>
                  <a:noFill/>
                </a:ln>
                <a:solidFill>
                  <a:schemeClr val="tx1"/>
                </a:solidFill>
                <a:effectLst/>
                <a:latin typeface="Arial" panose="020B0604020202020204" pitchFamily="34" charset="0"/>
              </a:rPr>
              <a:t>b</a:t>
            </a:r>
            <a:r>
              <a:rPr lang="en-US" altLang="en-US" dirty="0" err="1">
                <a:solidFill>
                  <a:schemeClr val="tx1"/>
                </a:solidFill>
                <a:latin typeface="Arial" panose="020B0604020202020204" pitchFamily="34" charset="0"/>
              </a:rPr>
              <a:t>.SaveChanges</a:t>
            </a:r>
            <a:r>
              <a:rPr lang="en-US" altLang="en-US" dirty="0">
                <a:solidFill>
                  <a:schemeClr val="tx1"/>
                </a:solidFill>
                <a:latin typeface="Arial" panose="020B0604020202020204" pitchFamily="34" charset="0"/>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517C4AD9-3359-F80A-857B-33E5D1C9D7A4}"/>
              </a:ext>
            </a:extLst>
          </p:cNvPr>
          <p:cNvSpPr txBox="1"/>
          <p:nvPr/>
        </p:nvSpPr>
        <p:spPr>
          <a:xfrm>
            <a:off x="176419" y="4131871"/>
            <a:ext cx="5260285" cy="646331"/>
          </a:xfrm>
          <a:prstGeom prst="rect">
            <a:avLst/>
          </a:prstGeom>
          <a:noFill/>
        </p:spPr>
        <p:txBody>
          <a:bodyPr wrap="square">
            <a:spAutoFit/>
          </a:bodyPr>
          <a:lstStyle/>
          <a:p>
            <a:pPr algn="l"/>
            <a:r>
              <a:rPr lang="en-US" b="0" i="0" dirty="0">
                <a:solidFill>
                  <a:srgbClr val="333333"/>
                </a:solidFill>
                <a:effectLst/>
                <a:latin typeface="Open Sans" panose="020B0606030504020204" pitchFamily="34" charset="0"/>
              </a:rPr>
              <a:t>Marks only the root entity as deleted. Cascade deletion will take effect if implemented.</a:t>
            </a:r>
          </a:p>
        </p:txBody>
      </p:sp>
      <p:sp>
        <p:nvSpPr>
          <p:cNvPr id="12" name="TextBox 11">
            <a:extLst>
              <a:ext uri="{FF2B5EF4-FFF2-40B4-BE49-F238E27FC236}">
                <a16:creationId xmlns:a16="http://schemas.microsoft.com/office/drawing/2014/main" id="{AF72DE90-BB53-3805-6AA4-FE38A99DB8C0}"/>
              </a:ext>
            </a:extLst>
          </p:cNvPr>
          <p:cNvSpPr txBox="1"/>
          <p:nvPr/>
        </p:nvSpPr>
        <p:spPr>
          <a:xfrm>
            <a:off x="245994" y="3583633"/>
            <a:ext cx="3491119" cy="38207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US" b="0" i="0" dirty="0" err="1">
                <a:solidFill>
                  <a:srgbClr val="004867"/>
                </a:solidFill>
                <a:effectLst/>
                <a:latin typeface="Roboto" panose="02000000000000000000" pitchFamily="2" charset="0"/>
              </a:rPr>
              <a:t>DbContext.Remove</a:t>
            </a:r>
            <a:r>
              <a:rPr lang="en-US" b="0" i="0" dirty="0">
                <a:solidFill>
                  <a:srgbClr val="004867"/>
                </a:solidFill>
                <a:effectLst/>
                <a:latin typeface="Roboto" panose="02000000000000000000" pitchFamily="2" charset="0"/>
              </a:rPr>
              <a:t> </a:t>
            </a:r>
          </a:p>
        </p:txBody>
      </p:sp>
      <p:sp>
        <p:nvSpPr>
          <p:cNvPr id="13" name="Rectangle 2">
            <a:extLst>
              <a:ext uri="{FF2B5EF4-FFF2-40B4-BE49-F238E27FC236}">
                <a16:creationId xmlns:a16="http://schemas.microsoft.com/office/drawing/2014/main" id="{40CB8E8C-F3E6-3FB3-84FD-A2650443439C}"/>
              </a:ext>
            </a:extLst>
          </p:cNvPr>
          <p:cNvSpPr>
            <a:spLocks noChangeArrowheads="1"/>
          </p:cNvSpPr>
          <p:nvPr/>
        </p:nvSpPr>
        <p:spPr bwMode="auto">
          <a:xfrm>
            <a:off x="0" y="4778202"/>
            <a:ext cx="4094922" cy="1661993"/>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000000"/>
                </a:solidFill>
                <a:effectLst/>
                <a:latin typeface="Menlo"/>
              </a:rPr>
              <a:t>db</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TestContext</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book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Book</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BookId</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6666"/>
                </a:solidFill>
                <a:effectLst/>
                <a:latin typeface="Menlo"/>
              </a:rPr>
              <a:t>1</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db</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Remove</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book</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8000"/>
                </a:solidFill>
                <a:effectLst/>
                <a:latin typeface="Menlo"/>
              </a:rPr>
              <a:t>// Book Deleted</a:t>
            </a:r>
          </a:p>
          <a:p>
            <a:pPr eaLnBrk="0" fontAlgn="base" hangingPunct="0">
              <a:spcBef>
                <a:spcPct val="0"/>
              </a:spcBef>
              <a:spcAft>
                <a:spcPct val="0"/>
              </a:spcAft>
            </a:pPr>
            <a:r>
              <a:rPr lang="en-US" altLang="en-US" dirty="0" err="1">
                <a:solidFill>
                  <a:schemeClr val="tx1"/>
                </a:solidFill>
                <a:latin typeface="Arial" panose="020B0604020202020204" pitchFamily="34" charset="0"/>
              </a:rPr>
              <a:t>d</a:t>
            </a:r>
            <a:r>
              <a:rPr kumimoji="0" lang="en-US" altLang="en-US" b="0" i="0" u="none" strike="noStrike" cap="none" normalizeH="0" baseline="0" dirty="0" err="1">
                <a:ln>
                  <a:noFill/>
                </a:ln>
                <a:solidFill>
                  <a:schemeClr val="tx1"/>
                </a:solidFill>
                <a:effectLst/>
                <a:latin typeface="Arial" panose="020B0604020202020204" pitchFamily="34" charset="0"/>
              </a:rPr>
              <a:t>b</a:t>
            </a:r>
            <a:r>
              <a:rPr lang="en-US" altLang="en-US" dirty="0" err="1">
                <a:solidFill>
                  <a:schemeClr val="tx1"/>
                </a:solidFill>
                <a:latin typeface="Arial" panose="020B0604020202020204" pitchFamily="34" charset="0"/>
              </a:rPr>
              <a:t>.SaveChanges</a:t>
            </a:r>
            <a:r>
              <a:rPr lang="en-US" altLang="en-US" dirty="0">
                <a:solidFill>
                  <a:schemeClr val="tx1"/>
                </a:solidFill>
                <a:latin typeface="Arial" panose="020B0604020202020204" pitchFamily="34" charset="0"/>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906D6B38-BA1E-F6FC-FEEF-7DD94E4373EA}"/>
              </a:ext>
            </a:extLst>
          </p:cNvPr>
          <p:cNvSpPr>
            <a:spLocks noChangeArrowheads="1"/>
          </p:cNvSpPr>
          <p:nvPr/>
        </p:nvSpPr>
        <p:spPr bwMode="auto">
          <a:xfrm>
            <a:off x="5923722" y="251723"/>
            <a:ext cx="6091859" cy="2492990"/>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000000"/>
                </a:solidFill>
                <a:effectLst/>
                <a:latin typeface="Menlo"/>
              </a:rPr>
              <a:t>db</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TestContext</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book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Book</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555555"/>
                </a:solidFill>
                <a:effectLst/>
                <a:latin typeface="Menlo"/>
              </a:rPr>
              <a:t>BookId</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6666"/>
                </a:solidFill>
                <a:effectLst/>
                <a:latin typeface="Menlo"/>
              </a:rPr>
              <a:t>1</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555555"/>
                </a:solidFill>
                <a:effectLst/>
                <a:latin typeface="Menlo"/>
              </a:rPr>
              <a:t>Author</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000000"/>
                </a:solidFill>
                <a:effectLst/>
                <a:latin typeface="Menlo"/>
              </a:rPr>
              <a:t>db</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Authors</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SingleOrDefault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a </a:t>
            </a:r>
            <a:r>
              <a:rPr kumimoji="0" lang="en-US" altLang="en-US" b="0" i="0" u="none" strike="noStrike" cap="none" normalizeH="0" baseline="0" dirty="0">
                <a:ln>
                  <a:noFill/>
                </a:ln>
                <a:solidFill>
                  <a:srgbClr val="666600"/>
                </a:solidFill>
                <a:effectLst/>
                <a:latin typeface="Menlo"/>
              </a:rPr>
              <a:t>=&gt;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000000"/>
                </a:solidFill>
                <a:effectLst/>
                <a:latin typeface="Menlo"/>
              </a:rPr>
              <a:t>a</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AuthorId</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6666"/>
                </a:solidFill>
                <a:effectLst/>
                <a:latin typeface="Menlo"/>
              </a:rPr>
              <a:t>1</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db</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Remove</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book</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8000"/>
                </a:solidFill>
                <a:effectLst/>
                <a:latin typeface="Menlo"/>
              </a:rPr>
              <a:t>// Book Deleted, Author Unchanged</a:t>
            </a:r>
            <a:endParaRPr kumimoji="0" lang="en-US" altLang="en-US" b="0" i="0" u="none" strike="noStrike" cap="none" normalizeH="0" baseline="0" dirty="0">
              <a:ln>
                <a:noFill/>
              </a:ln>
              <a:solidFill>
                <a:srgbClr val="333333"/>
              </a:solidFill>
              <a:effectLst/>
              <a:latin typeface="Menlo"/>
            </a:endParaRPr>
          </a:p>
          <a:p>
            <a:pPr eaLnBrk="0" fontAlgn="base" hangingPunct="0">
              <a:spcBef>
                <a:spcPct val="0"/>
              </a:spcBef>
              <a:spcAft>
                <a:spcPct val="0"/>
              </a:spcAft>
            </a:pPr>
            <a:r>
              <a:rPr lang="en-US" altLang="en-US" dirty="0" err="1">
                <a:solidFill>
                  <a:schemeClr val="tx1"/>
                </a:solidFill>
                <a:latin typeface="Arial" panose="020B0604020202020204" pitchFamily="34" charset="0"/>
              </a:rPr>
              <a:t>d</a:t>
            </a:r>
            <a:r>
              <a:rPr kumimoji="0" lang="en-US" altLang="en-US" b="0" i="0" u="none" strike="noStrike" cap="none" normalizeH="0" baseline="0" dirty="0" err="1">
                <a:ln>
                  <a:noFill/>
                </a:ln>
                <a:solidFill>
                  <a:schemeClr val="tx1"/>
                </a:solidFill>
                <a:effectLst/>
                <a:latin typeface="Arial" panose="020B0604020202020204" pitchFamily="34" charset="0"/>
              </a:rPr>
              <a:t>b</a:t>
            </a:r>
            <a:r>
              <a:rPr lang="en-US" altLang="en-US" dirty="0" err="1">
                <a:solidFill>
                  <a:schemeClr val="tx1"/>
                </a:solidFill>
                <a:latin typeface="Arial" panose="020B0604020202020204" pitchFamily="34" charset="0"/>
              </a:rPr>
              <a:t>.SaveChanges</a:t>
            </a:r>
            <a:r>
              <a:rPr lang="en-US" altLang="en-US" dirty="0">
                <a:solidFill>
                  <a:schemeClr val="tx1"/>
                </a:solidFill>
                <a:latin typeface="Arial" panose="020B0604020202020204" pitchFamily="34" charset="0"/>
              </a:rPr>
              <a: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5FB3C607-7CE0-C121-E49B-6152F9F4B334}"/>
              </a:ext>
            </a:extLst>
          </p:cNvPr>
          <p:cNvSpPr txBox="1"/>
          <p:nvPr/>
        </p:nvSpPr>
        <p:spPr>
          <a:xfrm>
            <a:off x="6094344" y="4778202"/>
            <a:ext cx="6097656" cy="646331"/>
          </a:xfrm>
          <a:prstGeom prst="rect">
            <a:avLst/>
          </a:prstGeom>
          <a:noFill/>
        </p:spPr>
        <p:txBody>
          <a:bodyPr wrap="square">
            <a:spAutoFit/>
          </a:bodyPr>
          <a:lstStyle/>
          <a:p>
            <a:pPr algn="l"/>
            <a:r>
              <a:rPr lang="en-US" b="0" i="0" dirty="0">
                <a:solidFill>
                  <a:srgbClr val="333333"/>
                </a:solidFill>
                <a:effectLst/>
                <a:latin typeface="Open Sans" panose="020B0606030504020204" pitchFamily="34" charset="0"/>
              </a:rPr>
              <a:t>Only sets the state for that entry. Others in the graph are unaffected.</a:t>
            </a:r>
          </a:p>
        </p:txBody>
      </p:sp>
      <p:sp>
        <p:nvSpPr>
          <p:cNvPr id="18" name="TextBox 17">
            <a:extLst>
              <a:ext uri="{FF2B5EF4-FFF2-40B4-BE49-F238E27FC236}">
                <a16:creationId xmlns:a16="http://schemas.microsoft.com/office/drawing/2014/main" id="{6260AF25-B2B3-1705-D68E-B6355BC1442D}"/>
              </a:ext>
            </a:extLst>
          </p:cNvPr>
          <p:cNvSpPr txBox="1"/>
          <p:nvPr/>
        </p:nvSpPr>
        <p:spPr>
          <a:xfrm>
            <a:off x="6596435" y="4085704"/>
            <a:ext cx="3441424"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US" b="0" i="0" dirty="0" err="1">
                <a:solidFill>
                  <a:srgbClr val="004867"/>
                </a:solidFill>
                <a:effectLst/>
                <a:latin typeface="Roboto" panose="02000000000000000000" pitchFamily="2" charset="0"/>
              </a:rPr>
              <a:t>DbContext.Entry.State</a:t>
            </a:r>
            <a:r>
              <a:rPr lang="en-US" b="0" i="0" dirty="0">
                <a:solidFill>
                  <a:srgbClr val="004867"/>
                </a:solidFill>
                <a:effectLst/>
                <a:latin typeface="Roboto" panose="02000000000000000000" pitchFamily="2" charset="0"/>
              </a:rPr>
              <a:t> </a:t>
            </a:r>
          </a:p>
        </p:txBody>
      </p:sp>
    </p:spTree>
    <p:extLst>
      <p:ext uri="{BB962C8B-B14F-4D97-AF65-F5344CB8AC3E}">
        <p14:creationId xmlns:p14="http://schemas.microsoft.com/office/powerpoint/2010/main" val="1171104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F14DC-FD40-58EC-9270-F200C212D616}"/>
              </a:ext>
            </a:extLst>
          </p:cNvPr>
          <p:cNvSpPr>
            <a:spLocks noGrp="1"/>
          </p:cNvSpPr>
          <p:nvPr>
            <p:ph type="title"/>
          </p:nvPr>
        </p:nvSpPr>
        <p:spPr>
          <a:xfrm>
            <a:off x="67732" y="0"/>
            <a:ext cx="12056535" cy="876615"/>
          </a:xfrm>
        </p:spPr>
        <p:txBody>
          <a:bodyPr>
            <a:noAutofit/>
          </a:bodyPr>
          <a:lstStyle/>
          <a:p>
            <a:r>
              <a:rPr kumimoji="0" lang="en-US" altLang="en-US" sz="2400" b="0" i="0" u="none" strike="noStrike" cap="none" normalizeH="0" baseline="0" dirty="0">
                <a:ln>
                  <a:noFill/>
                </a:ln>
                <a:solidFill>
                  <a:schemeClr val="tx1"/>
                </a:solidFill>
                <a:effectLst/>
                <a:latin typeface="Arial" panose="020B0604020202020204" pitchFamily="34" charset="0"/>
              </a:rPr>
              <a:t>Here's how Entity Framework determines whether to </a:t>
            </a:r>
            <a:r>
              <a:rPr kumimoji="0" lang="en-US" altLang="en-US" sz="2400" b="1" i="0" u="none" strike="noStrike" cap="none" normalizeH="0" baseline="0" dirty="0">
                <a:ln>
                  <a:noFill/>
                </a:ln>
                <a:solidFill>
                  <a:schemeClr val="tx1"/>
                </a:solidFill>
                <a:effectLst/>
                <a:latin typeface="Arial" panose="020B0604020202020204" pitchFamily="34" charset="0"/>
              </a:rPr>
              <a:t>Add</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Update</a:t>
            </a:r>
            <a:r>
              <a:rPr kumimoji="0" lang="en-US" altLang="en-US" sz="2400" b="0" i="0" u="none" strike="noStrike" cap="none" normalizeH="0" baseline="0" dirty="0">
                <a:ln>
                  <a:noFill/>
                </a:ln>
                <a:solidFill>
                  <a:schemeClr val="tx1"/>
                </a:solidFill>
                <a:effectLst/>
                <a:latin typeface="Arial" panose="020B0604020202020204" pitchFamily="34" charset="0"/>
              </a:rPr>
              <a:t>, or </a:t>
            </a:r>
            <a:r>
              <a:rPr kumimoji="0" lang="en-US" altLang="en-US" sz="2400" b="1" i="0" u="none" strike="noStrike" cap="none" normalizeH="0" baseline="0" dirty="0">
                <a:ln>
                  <a:noFill/>
                </a:ln>
                <a:solidFill>
                  <a:schemeClr val="tx1"/>
                </a:solidFill>
                <a:effectLst/>
                <a:latin typeface="Arial" panose="020B0604020202020204" pitchFamily="34" charset="0"/>
              </a:rPr>
              <a:t>Delete</a:t>
            </a:r>
            <a:r>
              <a:rPr kumimoji="0" lang="en-US" altLang="en-US" sz="2400" b="0" i="0" u="none" strike="noStrike" cap="none" normalizeH="0" baseline="0" dirty="0">
                <a:ln>
                  <a:noFill/>
                </a:ln>
                <a:solidFill>
                  <a:schemeClr val="tx1"/>
                </a:solidFill>
                <a:effectLst/>
                <a:latin typeface="Arial" panose="020B0604020202020204" pitchFamily="34" charset="0"/>
              </a:rPr>
              <a:t> an entity:</a:t>
            </a:r>
            <a:endParaRPr lang="en-IN" sz="2400" dirty="0"/>
          </a:p>
        </p:txBody>
      </p:sp>
      <p:sp>
        <p:nvSpPr>
          <p:cNvPr id="6" name="Rectangle 3">
            <a:extLst>
              <a:ext uri="{FF2B5EF4-FFF2-40B4-BE49-F238E27FC236}">
                <a16:creationId xmlns:a16="http://schemas.microsoft.com/office/drawing/2014/main" id="{A84FAEBE-3FE1-F430-46DB-5C3A05F807F9}"/>
              </a:ext>
            </a:extLst>
          </p:cNvPr>
          <p:cNvSpPr>
            <a:spLocks noGrp="1" noChangeArrowheads="1"/>
          </p:cNvSpPr>
          <p:nvPr>
            <p:ph idx="1"/>
          </p:nvPr>
        </p:nvSpPr>
        <p:spPr bwMode="auto">
          <a:xfrm>
            <a:off x="67732" y="887469"/>
            <a:ext cx="10022167" cy="2308324"/>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1. Entity States in EF</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Entity Framework uses a concept called </a:t>
            </a:r>
            <a:r>
              <a:rPr kumimoji="0" lang="en-US" altLang="en-US" sz="1600" b="1" i="0" u="none" strike="noStrike" cap="none" normalizeH="0" baseline="0" dirty="0">
                <a:ln>
                  <a:noFill/>
                </a:ln>
                <a:solidFill>
                  <a:schemeClr val="tx1"/>
                </a:solidFill>
                <a:effectLst/>
                <a:latin typeface="Arial" panose="020B0604020202020204" pitchFamily="34" charset="0"/>
              </a:rPr>
              <a:t>entity states</a:t>
            </a:r>
            <a:r>
              <a:rPr kumimoji="0" lang="en-US" altLang="en-US" sz="1600" b="0" i="0" u="none" strike="noStrike" cap="none" normalizeH="0" baseline="0" dirty="0">
                <a:ln>
                  <a:noFill/>
                </a:ln>
                <a:solidFill>
                  <a:schemeClr val="tx1"/>
                </a:solidFill>
                <a:effectLst/>
                <a:latin typeface="Arial" panose="020B0604020202020204" pitchFamily="34" charset="0"/>
              </a:rPr>
              <a:t> to track whether an entity is new, modified, or deleted.</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 These states are represented by an </a:t>
            </a:r>
            <a:r>
              <a:rPr kumimoji="0" lang="en-US" altLang="en-US" sz="1600" b="0" i="0" u="none" strike="noStrike" cap="none" normalizeH="0" baseline="0" dirty="0" err="1">
                <a:ln>
                  <a:noFill/>
                </a:ln>
                <a:solidFill>
                  <a:schemeClr val="tx1"/>
                </a:solidFill>
                <a:effectLst/>
                <a:latin typeface="Arial" panose="020B0604020202020204" pitchFamily="34" charset="0"/>
              </a:rPr>
              <a:t>enum</a:t>
            </a:r>
            <a:r>
              <a:rPr kumimoji="0" lang="en-US" altLang="en-US" sz="1600" b="0" i="0" u="none" strike="noStrike" cap="none" normalizeH="0" baseline="0" dirty="0">
                <a:ln>
                  <a:noFill/>
                </a:ln>
                <a:solidFill>
                  <a:schemeClr val="tx1"/>
                </a:solidFill>
                <a:effectLst/>
                <a:latin typeface="Arial" panose="020B0604020202020204" pitchFamily="34" charset="0"/>
              </a:rPr>
              <a:t> called </a:t>
            </a:r>
            <a:r>
              <a:rPr kumimoji="0" lang="en-US" altLang="en-US" sz="1600" b="0" i="0" u="none" strike="noStrike" cap="none" normalizeH="0" baseline="0" dirty="0">
                <a:ln>
                  <a:noFill/>
                </a:ln>
                <a:solidFill>
                  <a:schemeClr val="tx1"/>
                </a:solidFill>
                <a:effectLst/>
                <a:latin typeface="Arial Unicode MS"/>
              </a:rPr>
              <a:t>EntityState</a:t>
            </a:r>
            <a:r>
              <a:rPr kumimoji="0" lang="en-US" altLang="en-US" sz="1600" b="0" i="0" u="none" strike="noStrike" cap="none" normalizeH="0" baseline="0" dirty="0">
                <a:ln>
                  <a:noFill/>
                </a:ln>
                <a:solidFill>
                  <a:schemeClr val="tx1"/>
                </a:solidFill>
                <a:effectLst/>
              </a:rPr>
              <a:t>, which has several values: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Unicode MS"/>
              </a:rPr>
              <a:t>EntityState.Added</a:t>
            </a:r>
            <a:r>
              <a:rPr kumimoji="0" lang="en-US" altLang="en-US" sz="1600" b="0" i="0" u="none" strike="noStrike" cap="none" normalizeH="0" baseline="0" dirty="0">
                <a:ln>
                  <a:noFill/>
                </a:ln>
                <a:solidFill>
                  <a:schemeClr val="tx1"/>
                </a:solidFill>
                <a:effectLst/>
              </a:rPr>
              <a:t>: The entity is new and will be inserted into the database.</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Unicode MS"/>
              </a:rPr>
              <a:t>EntityState.Modified</a:t>
            </a:r>
            <a:r>
              <a:rPr kumimoji="0" lang="en-US" altLang="en-US" sz="1600" b="0" i="0" u="none" strike="noStrike" cap="none" normalizeH="0" baseline="0" dirty="0">
                <a:ln>
                  <a:noFill/>
                </a:ln>
                <a:solidFill>
                  <a:schemeClr val="tx1"/>
                </a:solidFill>
                <a:effectLst/>
              </a:rPr>
              <a:t>: The entity already exists in the database and has been modified.</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Unicode MS"/>
              </a:rPr>
              <a:t>EntityState.Deleted</a:t>
            </a:r>
            <a:r>
              <a:rPr kumimoji="0" lang="en-US" altLang="en-US" sz="1600" b="0" i="0" u="none" strike="noStrike" cap="none" normalizeH="0" baseline="0" dirty="0">
                <a:ln>
                  <a:noFill/>
                </a:ln>
                <a:solidFill>
                  <a:schemeClr val="tx1"/>
                </a:solidFill>
                <a:effectLst/>
              </a:rPr>
              <a:t>: The entity is marked for deletion.</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Unicode MS"/>
              </a:rPr>
              <a:t>EntityState.Unchanged</a:t>
            </a:r>
            <a:r>
              <a:rPr kumimoji="0" lang="en-US" altLang="en-US" sz="1600" b="0" i="0" u="none" strike="noStrike" cap="none" normalizeH="0" baseline="0" dirty="0">
                <a:ln>
                  <a:noFill/>
                </a:ln>
                <a:solidFill>
                  <a:schemeClr val="tx1"/>
                </a:solidFill>
                <a:effectLst/>
              </a:rPr>
              <a:t>: The entity exists in the database, and no changes have been made.</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Unicode MS"/>
              </a:rPr>
              <a:t>EntityState.Detached</a:t>
            </a:r>
            <a:r>
              <a:rPr kumimoji="0" lang="en-US" altLang="en-US" sz="1600" b="0" i="0" u="none" strike="noStrike" cap="none" normalizeH="0" baseline="0" dirty="0">
                <a:ln>
                  <a:noFill/>
                </a:ln>
                <a:solidFill>
                  <a:schemeClr val="tx1"/>
                </a:solidFill>
                <a:effectLst/>
              </a:rPr>
              <a:t>: The entity is not being tracked by the context.</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2E13E361-5595-2C87-5819-3847BAFDE947}"/>
              </a:ext>
            </a:extLst>
          </p:cNvPr>
          <p:cNvSpPr txBox="1"/>
          <p:nvPr/>
        </p:nvSpPr>
        <p:spPr>
          <a:xfrm>
            <a:off x="67732" y="3299780"/>
            <a:ext cx="9304868"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t>ADD</a:t>
            </a:r>
          </a:p>
          <a:p>
            <a:r>
              <a:rPr lang="en-US" dirty="0"/>
              <a:t>2. How EF Determines the </a:t>
            </a:r>
            <a:r>
              <a:rPr lang="en-US" dirty="0" err="1"/>
              <a:t>StateAddEF</a:t>
            </a:r>
            <a:r>
              <a:rPr lang="en-US" dirty="0"/>
              <a:t> will mark an entity for addition </a:t>
            </a:r>
          </a:p>
          <a:p>
            <a:r>
              <a:rPr lang="en-US" dirty="0" err="1"/>
              <a:t>when:The</a:t>
            </a:r>
            <a:r>
              <a:rPr lang="en-US" dirty="0"/>
              <a:t> entity has no primary key value, or</a:t>
            </a:r>
          </a:p>
          <a:p>
            <a:endParaRPr lang="en-US" dirty="0"/>
          </a:p>
          <a:p>
            <a:r>
              <a:rPr lang="en-US" dirty="0"/>
              <a:t>The primary key value is set to its default value (e.g., 0 for integers or null for nullable types).</a:t>
            </a:r>
          </a:p>
          <a:p>
            <a:r>
              <a:rPr lang="en-US" dirty="0"/>
              <a:t>You explicitly call </a:t>
            </a:r>
            <a:r>
              <a:rPr lang="en-US" dirty="0" err="1"/>
              <a:t>context.Add</a:t>
            </a:r>
            <a:r>
              <a:rPr lang="en-US" dirty="0"/>
              <a:t>(entity) or </a:t>
            </a:r>
          </a:p>
          <a:p>
            <a:r>
              <a:rPr lang="en-US" dirty="0" err="1"/>
              <a:t>context.AddRange</a:t>
            </a:r>
            <a:r>
              <a:rPr lang="en-US" dirty="0"/>
              <a:t>(entities).</a:t>
            </a:r>
          </a:p>
          <a:p>
            <a:r>
              <a:rPr lang="en-US" dirty="0"/>
              <a:t>When calling Add, EF assumes that the entity is new and will be inserted into the database on </a:t>
            </a:r>
            <a:r>
              <a:rPr lang="en-US" dirty="0" err="1"/>
              <a:t>SaveChanges</a:t>
            </a:r>
            <a:r>
              <a:rPr lang="en-US" dirty="0"/>
              <a:t>().</a:t>
            </a:r>
            <a:endParaRPr lang="en-IN" dirty="0"/>
          </a:p>
        </p:txBody>
      </p:sp>
      <p:sp>
        <p:nvSpPr>
          <p:cNvPr id="9" name="TextBox 8">
            <a:extLst>
              <a:ext uri="{FF2B5EF4-FFF2-40B4-BE49-F238E27FC236}">
                <a16:creationId xmlns:a16="http://schemas.microsoft.com/office/drawing/2014/main" id="{2E5D4AEA-5F9A-79D0-F2D1-CA6635D12899}"/>
              </a:ext>
            </a:extLst>
          </p:cNvPr>
          <p:cNvSpPr txBox="1"/>
          <p:nvPr/>
        </p:nvSpPr>
        <p:spPr>
          <a:xfrm>
            <a:off x="9372600" y="3283631"/>
            <a:ext cx="2751667" cy="286232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var </a:t>
            </a:r>
            <a:r>
              <a:rPr lang="en-US" dirty="0" err="1"/>
              <a:t>newBook</a:t>
            </a:r>
            <a:r>
              <a:rPr lang="en-US" dirty="0"/>
              <a:t> = new Book</a:t>
            </a:r>
          </a:p>
          <a:p>
            <a:r>
              <a:rPr lang="en-US" dirty="0"/>
              <a:t>{</a:t>
            </a:r>
          </a:p>
          <a:p>
            <a:r>
              <a:rPr lang="en-US" dirty="0"/>
              <a:t>    Title = "New Book",</a:t>
            </a:r>
          </a:p>
          <a:p>
            <a:r>
              <a:rPr lang="en-US" dirty="0"/>
              <a:t>    </a:t>
            </a:r>
            <a:r>
              <a:rPr lang="en-US" dirty="0" err="1"/>
              <a:t>AuthorId</a:t>
            </a:r>
            <a:r>
              <a:rPr lang="en-US" dirty="0"/>
              <a:t> = 1</a:t>
            </a:r>
          </a:p>
          <a:p>
            <a:r>
              <a:rPr lang="en-US" dirty="0"/>
              <a:t>};</a:t>
            </a:r>
          </a:p>
          <a:p>
            <a:endParaRPr lang="en-US" dirty="0"/>
          </a:p>
          <a:p>
            <a:r>
              <a:rPr lang="en-US" dirty="0" err="1"/>
              <a:t>context.Books.Add</a:t>
            </a:r>
            <a:r>
              <a:rPr lang="en-US" dirty="0"/>
              <a:t>(</a:t>
            </a:r>
            <a:r>
              <a:rPr lang="en-US" dirty="0" err="1"/>
              <a:t>newBook</a:t>
            </a:r>
            <a:r>
              <a:rPr lang="en-US" dirty="0"/>
              <a:t>);  // EF will treat it as a new entity</a:t>
            </a:r>
          </a:p>
          <a:p>
            <a:r>
              <a:rPr lang="en-US" dirty="0" err="1"/>
              <a:t>context.SaveChanges</a:t>
            </a:r>
            <a:r>
              <a:rPr lang="en-US" dirty="0"/>
              <a:t>()</a:t>
            </a:r>
            <a:endParaRPr lang="en-IN" dirty="0"/>
          </a:p>
        </p:txBody>
      </p:sp>
      <p:cxnSp>
        <p:nvCxnSpPr>
          <p:cNvPr id="11" name="Straight Arrow Connector 10">
            <a:extLst>
              <a:ext uri="{FF2B5EF4-FFF2-40B4-BE49-F238E27FC236}">
                <a16:creationId xmlns:a16="http://schemas.microsoft.com/office/drawing/2014/main" id="{71AEF0B5-5D71-0318-4B96-79D536E06370}"/>
              </a:ext>
            </a:extLst>
          </p:cNvPr>
          <p:cNvCxnSpPr/>
          <p:nvPr/>
        </p:nvCxnSpPr>
        <p:spPr>
          <a:xfrm flipH="1">
            <a:off x="8009467" y="5867400"/>
            <a:ext cx="1430866"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5B61A97-9F3C-BB34-89AF-4703C7102C4D}"/>
              </a:ext>
            </a:extLst>
          </p:cNvPr>
          <p:cNvSpPr txBox="1"/>
          <p:nvPr/>
        </p:nvSpPr>
        <p:spPr>
          <a:xfrm>
            <a:off x="4995333" y="6214533"/>
            <a:ext cx="2988734"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t>Observed no primary key for </a:t>
            </a:r>
            <a:r>
              <a:rPr lang="en-IN" dirty="0" err="1"/>
              <a:t>bookId</a:t>
            </a:r>
            <a:r>
              <a:rPr lang="en-IN" dirty="0"/>
              <a:t> given</a:t>
            </a:r>
          </a:p>
        </p:txBody>
      </p:sp>
    </p:spTree>
    <p:extLst>
      <p:ext uri="{BB962C8B-B14F-4D97-AF65-F5344CB8AC3E}">
        <p14:creationId xmlns:p14="http://schemas.microsoft.com/office/powerpoint/2010/main" val="964197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9B63AA1-AAAB-C2F5-74D4-CDA0D971412A}"/>
              </a:ext>
            </a:extLst>
          </p:cNvPr>
          <p:cNvSpPr txBox="1"/>
          <p:nvPr/>
        </p:nvSpPr>
        <p:spPr>
          <a:xfrm>
            <a:off x="152399" y="0"/>
            <a:ext cx="10879667" cy="369331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t>Update</a:t>
            </a:r>
          </a:p>
          <a:p>
            <a:r>
              <a:rPr lang="en-US" dirty="0" err="1"/>
              <a:t>UpdateEF</a:t>
            </a:r>
            <a:r>
              <a:rPr lang="en-US" dirty="0"/>
              <a:t> will mark an entity for updating when:</a:t>
            </a:r>
          </a:p>
          <a:p>
            <a:r>
              <a:rPr lang="en-US" dirty="0"/>
              <a:t>The entity already exists in the context (it was previously retrieved or added to the context).</a:t>
            </a:r>
          </a:p>
          <a:p>
            <a:r>
              <a:rPr lang="en-US" dirty="0"/>
              <a:t>The primary key is set (it should match an existing entity in the database).</a:t>
            </a:r>
          </a:p>
          <a:p>
            <a:endParaRPr lang="en-US" dirty="0"/>
          </a:p>
          <a:p>
            <a:r>
              <a:rPr lang="en-US" dirty="0"/>
              <a:t>You modify one or more properties of the entity, and EF is tracking the changes.</a:t>
            </a:r>
          </a:p>
          <a:p>
            <a:endParaRPr lang="en-US" dirty="0"/>
          </a:p>
          <a:p>
            <a:r>
              <a:rPr lang="en-US" dirty="0"/>
              <a:t>You explicitly call </a:t>
            </a:r>
            <a:r>
              <a:rPr lang="en-US" dirty="0" err="1"/>
              <a:t>context.Update</a:t>
            </a:r>
            <a:r>
              <a:rPr lang="en-US" dirty="0"/>
              <a:t>(entity) </a:t>
            </a:r>
          </a:p>
          <a:p>
            <a:r>
              <a:rPr lang="en-US" dirty="0"/>
              <a:t>Or</a:t>
            </a:r>
          </a:p>
          <a:p>
            <a:r>
              <a:rPr lang="en-US" dirty="0"/>
              <a:t> </a:t>
            </a:r>
            <a:r>
              <a:rPr lang="en-US" dirty="0" err="1"/>
              <a:t>context.Entry</a:t>
            </a:r>
            <a:r>
              <a:rPr lang="en-US" dirty="0"/>
              <a:t>(entity).State = </a:t>
            </a:r>
            <a:r>
              <a:rPr lang="en-US" dirty="0" err="1"/>
              <a:t>EntityState.Modified</a:t>
            </a:r>
            <a:r>
              <a:rPr lang="en-US" dirty="0"/>
              <a:t>.</a:t>
            </a:r>
          </a:p>
          <a:p>
            <a:endParaRPr lang="en-US" dirty="0"/>
          </a:p>
          <a:p>
            <a:r>
              <a:rPr lang="en-US" dirty="0"/>
              <a:t>When calling Update or setting the entity state to Modified, EF will update the corresponding record in the database on </a:t>
            </a:r>
            <a:r>
              <a:rPr lang="en-US" dirty="0" err="1"/>
              <a:t>SaveChanges</a:t>
            </a:r>
            <a:r>
              <a:rPr lang="en-US" dirty="0"/>
              <a:t>().</a:t>
            </a:r>
            <a:endParaRPr lang="en-IN" dirty="0"/>
          </a:p>
        </p:txBody>
      </p:sp>
      <p:sp>
        <p:nvSpPr>
          <p:cNvPr id="8" name="TextBox 7">
            <a:extLst>
              <a:ext uri="{FF2B5EF4-FFF2-40B4-BE49-F238E27FC236}">
                <a16:creationId xmlns:a16="http://schemas.microsoft.com/office/drawing/2014/main" id="{5D7C6446-0271-021D-6FBE-F374C2E3F17B}"/>
              </a:ext>
            </a:extLst>
          </p:cNvPr>
          <p:cNvSpPr txBox="1"/>
          <p:nvPr/>
        </p:nvSpPr>
        <p:spPr>
          <a:xfrm>
            <a:off x="152399" y="3959704"/>
            <a:ext cx="60960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dirty="0"/>
              <a:t>var </a:t>
            </a:r>
            <a:r>
              <a:rPr lang="en-IN" dirty="0" err="1"/>
              <a:t>existingBook</a:t>
            </a:r>
            <a:r>
              <a:rPr lang="en-IN" dirty="0"/>
              <a:t> = </a:t>
            </a:r>
            <a:r>
              <a:rPr lang="en-IN" dirty="0" err="1"/>
              <a:t>context.Books.FirstOrDefault</a:t>
            </a:r>
            <a:r>
              <a:rPr lang="en-IN" dirty="0"/>
              <a:t>(b =&gt; </a:t>
            </a:r>
            <a:r>
              <a:rPr lang="en-IN" dirty="0" err="1"/>
              <a:t>b.BookId</a:t>
            </a:r>
            <a:r>
              <a:rPr lang="en-IN" dirty="0"/>
              <a:t> == 4);</a:t>
            </a:r>
          </a:p>
          <a:p>
            <a:r>
              <a:rPr lang="en-IN" dirty="0"/>
              <a:t>if (</a:t>
            </a:r>
            <a:r>
              <a:rPr lang="en-IN" dirty="0" err="1"/>
              <a:t>existingBook</a:t>
            </a:r>
            <a:r>
              <a:rPr lang="en-IN" dirty="0"/>
              <a:t> != null)</a:t>
            </a:r>
          </a:p>
          <a:p>
            <a:r>
              <a:rPr lang="en-IN" dirty="0"/>
              <a:t>{</a:t>
            </a:r>
          </a:p>
          <a:p>
            <a:r>
              <a:rPr lang="en-IN" dirty="0"/>
              <a:t>    </a:t>
            </a:r>
            <a:r>
              <a:rPr lang="en-IN" dirty="0" err="1"/>
              <a:t>existingBook.Title</a:t>
            </a:r>
            <a:r>
              <a:rPr lang="en-IN" dirty="0"/>
              <a:t> = "Updated Title";  // Modify properties</a:t>
            </a:r>
          </a:p>
          <a:p>
            <a:r>
              <a:rPr lang="en-IN" dirty="0"/>
              <a:t>    </a:t>
            </a:r>
            <a:r>
              <a:rPr lang="en-IN" dirty="0" err="1"/>
              <a:t>context.SaveChanges</a:t>
            </a:r>
            <a:r>
              <a:rPr lang="en-IN" dirty="0"/>
              <a:t>();  // EF will update the entity in the database</a:t>
            </a:r>
          </a:p>
          <a:p>
            <a:r>
              <a:rPr lang="en-IN" dirty="0"/>
              <a:t>}</a:t>
            </a:r>
          </a:p>
        </p:txBody>
      </p:sp>
      <p:sp>
        <p:nvSpPr>
          <p:cNvPr id="10" name="TextBox 9">
            <a:extLst>
              <a:ext uri="{FF2B5EF4-FFF2-40B4-BE49-F238E27FC236}">
                <a16:creationId xmlns:a16="http://schemas.microsoft.com/office/drawing/2014/main" id="{8499C300-EB36-AC0F-6BD2-FA5A7D8CB32A}"/>
              </a:ext>
            </a:extLst>
          </p:cNvPr>
          <p:cNvSpPr txBox="1"/>
          <p:nvPr/>
        </p:nvSpPr>
        <p:spPr>
          <a:xfrm>
            <a:off x="6324599" y="4816669"/>
            <a:ext cx="6096000"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dirty="0"/>
              <a:t>var </a:t>
            </a:r>
            <a:r>
              <a:rPr lang="en-IN" dirty="0" err="1"/>
              <a:t>bookToUpdate</a:t>
            </a:r>
            <a:r>
              <a:rPr lang="en-IN" dirty="0"/>
              <a:t> = new Book { </a:t>
            </a:r>
            <a:r>
              <a:rPr lang="en-IN" dirty="0" err="1"/>
              <a:t>BookId</a:t>
            </a:r>
            <a:r>
              <a:rPr lang="en-IN" dirty="0"/>
              <a:t> = 4, Title = "Updated Title“ </a:t>
            </a:r>
            <a:r>
              <a:rPr lang="en-IN" dirty="0" err="1"/>
              <a:t>AuthorId</a:t>
            </a:r>
            <a:r>
              <a:rPr lang="en-IN" dirty="0"/>
              <a:t>=2 };</a:t>
            </a:r>
          </a:p>
          <a:p>
            <a:r>
              <a:rPr lang="en-IN" dirty="0" err="1"/>
              <a:t>context.Books.Attach</a:t>
            </a:r>
            <a:r>
              <a:rPr lang="en-IN" dirty="0"/>
              <a:t>(</a:t>
            </a:r>
            <a:r>
              <a:rPr lang="en-IN" dirty="0" err="1"/>
              <a:t>bookToUpdate</a:t>
            </a:r>
            <a:r>
              <a:rPr lang="en-IN" dirty="0"/>
              <a:t>);</a:t>
            </a:r>
          </a:p>
          <a:p>
            <a:r>
              <a:rPr lang="en-IN" dirty="0" err="1"/>
              <a:t>context.Entry</a:t>
            </a:r>
            <a:r>
              <a:rPr lang="en-IN" dirty="0"/>
              <a:t>(</a:t>
            </a:r>
            <a:r>
              <a:rPr lang="en-IN" dirty="0" err="1"/>
              <a:t>bookToUpdate</a:t>
            </a:r>
            <a:r>
              <a:rPr lang="en-IN" dirty="0"/>
              <a:t>).State = </a:t>
            </a:r>
            <a:r>
              <a:rPr lang="en-IN" dirty="0" err="1"/>
              <a:t>EntityState.</a:t>
            </a:r>
            <a:r>
              <a:rPr lang="en-IN" b="1" dirty="0" err="1"/>
              <a:t>Modified</a:t>
            </a:r>
            <a:r>
              <a:rPr lang="en-IN" dirty="0"/>
              <a:t>;</a:t>
            </a:r>
          </a:p>
          <a:p>
            <a:r>
              <a:rPr lang="en-IN" dirty="0" err="1"/>
              <a:t>context.SaveChanges</a:t>
            </a:r>
            <a:r>
              <a:rPr lang="en-IN" dirty="0"/>
              <a:t>();  // EF will update the record in the database</a:t>
            </a:r>
          </a:p>
        </p:txBody>
      </p:sp>
      <p:sp>
        <p:nvSpPr>
          <p:cNvPr id="11" name="Rectangle 2">
            <a:extLst>
              <a:ext uri="{FF2B5EF4-FFF2-40B4-BE49-F238E27FC236}">
                <a16:creationId xmlns:a16="http://schemas.microsoft.com/office/drawing/2014/main" id="{691F18CF-A13C-2673-F2CA-AA7D110D20E5}"/>
              </a:ext>
            </a:extLst>
          </p:cNvPr>
          <p:cNvSpPr>
            <a:spLocks noChangeArrowheads="1"/>
          </p:cNvSpPr>
          <p:nvPr/>
        </p:nvSpPr>
        <p:spPr bwMode="auto">
          <a:xfrm>
            <a:off x="6248399" y="3696752"/>
            <a:ext cx="5486400" cy="369332"/>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Alternatively, you can explicitly set the state to </a:t>
            </a:r>
          </a:p>
        </p:txBody>
      </p:sp>
    </p:spTree>
    <p:extLst>
      <p:ext uri="{BB962C8B-B14F-4D97-AF65-F5344CB8AC3E}">
        <p14:creationId xmlns:p14="http://schemas.microsoft.com/office/powerpoint/2010/main" val="3638181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D0BED82-C090-F880-FBB6-751F3EE27FD3}"/>
              </a:ext>
            </a:extLst>
          </p:cNvPr>
          <p:cNvSpPr txBox="1"/>
          <p:nvPr/>
        </p:nvSpPr>
        <p:spPr>
          <a:xfrm>
            <a:off x="143934" y="409771"/>
            <a:ext cx="115062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t>DELETE</a:t>
            </a:r>
          </a:p>
          <a:p>
            <a:r>
              <a:rPr lang="en-US" dirty="0" err="1"/>
              <a:t>DeleteEF</a:t>
            </a:r>
            <a:r>
              <a:rPr lang="en-US" dirty="0"/>
              <a:t> will mark an entity for deletion when:</a:t>
            </a:r>
          </a:p>
          <a:p>
            <a:endParaRPr lang="en-US" dirty="0"/>
          </a:p>
          <a:p>
            <a:r>
              <a:rPr lang="en-US" dirty="0"/>
              <a:t>The entity is retrieved from the context and you call </a:t>
            </a:r>
            <a:r>
              <a:rPr lang="en-US" dirty="0" err="1"/>
              <a:t>context.Remove</a:t>
            </a:r>
            <a:r>
              <a:rPr lang="en-US" dirty="0"/>
              <a:t>(entity) </a:t>
            </a:r>
          </a:p>
          <a:p>
            <a:r>
              <a:rPr lang="en-US" dirty="0"/>
              <a:t>or </a:t>
            </a:r>
          </a:p>
          <a:p>
            <a:r>
              <a:rPr lang="en-US" dirty="0"/>
              <a:t>set the entity state to </a:t>
            </a:r>
            <a:r>
              <a:rPr lang="en-US" dirty="0" err="1"/>
              <a:t>EntityState.Deleted.The</a:t>
            </a:r>
            <a:r>
              <a:rPr lang="en-US" dirty="0"/>
              <a:t> entity's primary key is set and exists in the database.</a:t>
            </a:r>
          </a:p>
          <a:p>
            <a:endParaRPr lang="en-US" dirty="0"/>
          </a:p>
          <a:p>
            <a:r>
              <a:rPr lang="en-US" dirty="0"/>
              <a:t>When calling Remove, EF marks the entity as deleted, and it will be removed from the database on </a:t>
            </a:r>
            <a:r>
              <a:rPr lang="en-US" dirty="0" err="1"/>
              <a:t>SaveChanges</a:t>
            </a:r>
            <a:r>
              <a:rPr lang="en-US" dirty="0"/>
              <a:t>().</a:t>
            </a:r>
            <a:endParaRPr lang="en-IN" dirty="0"/>
          </a:p>
        </p:txBody>
      </p:sp>
    </p:spTree>
    <p:extLst>
      <p:ext uri="{BB962C8B-B14F-4D97-AF65-F5344CB8AC3E}">
        <p14:creationId xmlns:p14="http://schemas.microsoft.com/office/powerpoint/2010/main" val="42789198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81A1876-7090-04D5-DEA4-061F8D228705}"/>
              </a:ext>
            </a:extLst>
          </p:cNvPr>
          <p:cNvSpPr txBox="1"/>
          <p:nvPr/>
        </p:nvSpPr>
        <p:spPr>
          <a:xfrm>
            <a:off x="-1656" y="43935"/>
            <a:ext cx="6097656"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EF Core Insert Entity</a:t>
            </a:r>
          </a:p>
        </p:txBody>
      </p:sp>
      <p:sp>
        <p:nvSpPr>
          <p:cNvPr id="7" name="TextBox 6">
            <a:extLst>
              <a:ext uri="{FF2B5EF4-FFF2-40B4-BE49-F238E27FC236}">
                <a16:creationId xmlns:a16="http://schemas.microsoft.com/office/drawing/2014/main" id="{B29CBC41-B791-2839-77B3-76A20AC6BB83}"/>
              </a:ext>
            </a:extLst>
          </p:cNvPr>
          <p:cNvSpPr txBox="1"/>
          <p:nvPr/>
        </p:nvSpPr>
        <p:spPr>
          <a:xfrm>
            <a:off x="-91936" y="459434"/>
            <a:ext cx="6097656" cy="341632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dirty="0"/>
              <a:t>The key methods for adding/inserting entities via the </a:t>
            </a:r>
            <a:r>
              <a:rPr lang="en-US" dirty="0" err="1"/>
              <a:t>DbContext</a:t>
            </a:r>
            <a:r>
              <a:rPr lang="en-US" dirty="0"/>
              <a:t> are</a:t>
            </a:r>
          </a:p>
          <a:p>
            <a:endParaRPr lang="en-US" dirty="0"/>
          </a:p>
          <a:p>
            <a:r>
              <a:rPr lang="en-US" b="1" dirty="0"/>
              <a:t>Add&lt;</a:t>
            </a:r>
            <a:r>
              <a:rPr lang="en-US" b="1" dirty="0" err="1"/>
              <a:t>TEntity</a:t>
            </a:r>
            <a:r>
              <a:rPr lang="en-US" b="1" dirty="0"/>
              <a:t>&gt;(</a:t>
            </a:r>
            <a:r>
              <a:rPr lang="en-US" b="1" dirty="0" err="1"/>
              <a:t>TEntity</a:t>
            </a:r>
            <a:r>
              <a:rPr lang="en-US" b="1" dirty="0"/>
              <a:t> entity)</a:t>
            </a:r>
          </a:p>
          <a:p>
            <a:r>
              <a:rPr lang="en-US" b="1" dirty="0"/>
              <a:t>Add(object entity)</a:t>
            </a:r>
          </a:p>
          <a:p>
            <a:r>
              <a:rPr lang="en-US" b="1" dirty="0" err="1"/>
              <a:t>AddRange</a:t>
            </a:r>
            <a:r>
              <a:rPr lang="en-US" b="1" dirty="0"/>
              <a:t>(</a:t>
            </a:r>
            <a:r>
              <a:rPr lang="en-US" b="1" dirty="0" err="1"/>
              <a:t>IEnumerable</a:t>
            </a:r>
            <a:r>
              <a:rPr lang="en-US" b="1" dirty="0"/>
              <a:t>&lt;object&gt; entities)</a:t>
            </a:r>
          </a:p>
          <a:p>
            <a:r>
              <a:rPr lang="en-US" b="1" dirty="0" err="1"/>
              <a:t>AddRange</a:t>
            </a:r>
            <a:r>
              <a:rPr lang="en-US" b="1" dirty="0"/>
              <a:t>(params object[] entities)</a:t>
            </a:r>
          </a:p>
          <a:p>
            <a:endParaRPr lang="en-US" b="1" dirty="0"/>
          </a:p>
          <a:p>
            <a:r>
              <a:rPr lang="en-US" dirty="0"/>
              <a:t>These methods are new to the </a:t>
            </a:r>
            <a:r>
              <a:rPr lang="en-US" dirty="0" err="1"/>
              <a:t>DbContext</a:t>
            </a:r>
            <a:r>
              <a:rPr lang="en-US" dirty="0"/>
              <a:t> in Entity Framework Core and have no equivalents in a previous version of Entity Framework where the </a:t>
            </a:r>
            <a:r>
              <a:rPr lang="en-US" dirty="0" err="1"/>
              <a:t>DbContext</a:t>
            </a:r>
            <a:r>
              <a:rPr lang="en-US" dirty="0"/>
              <a:t> is available (i.e. EF 4.1 onwards).</a:t>
            </a:r>
            <a:endParaRPr lang="en-IN" dirty="0"/>
          </a:p>
        </p:txBody>
      </p:sp>
      <p:sp>
        <p:nvSpPr>
          <p:cNvPr id="8" name="Rectangle 1">
            <a:extLst>
              <a:ext uri="{FF2B5EF4-FFF2-40B4-BE49-F238E27FC236}">
                <a16:creationId xmlns:a16="http://schemas.microsoft.com/office/drawing/2014/main" id="{000DB6FF-D9F6-9539-4BD9-E992C273511E}"/>
              </a:ext>
            </a:extLst>
          </p:cNvPr>
          <p:cNvSpPr>
            <a:spLocks noChangeArrowheads="1"/>
          </p:cNvSpPr>
          <p:nvPr/>
        </p:nvSpPr>
        <p:spPr bwMode="auto">
          <a:xfrm>
            <a:off x="45555" y="4252302"/>
            <a:ext cx="6554028" cy="3046988"/>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8000"/>
                </a:solidFill>
                <a:effectLst/>
                <a:latin typeface="Menlo"/>
              </a:rPr>
              <a:t>// with a type parameter</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author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Author</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FirstName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A52A2A"/>
                </a:solidFill>
                <a:effectLst/>
                <a:latin typeface="Menlo"/>
              </a:rPr>
              <a:t>"William"</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LastName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A52A2A"/>
                </a:solidFill>
                <a:effectLst/>
                <a:latin typeface="Menlo"/>
              </a:rPr>
              <a:t>"Shakespeare"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context</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Add</a:t>
            </a:r>
            <a:r>
              <a:rPr kumimoji="0" lang="en-US" altLang="en-US" b="0" i="0" u="none" strike="noStrike" cap="none" normalizeH="0" baseline="0" dirty="0">
                <a:ln>
                  <a:noFill/>
                </a:ln>
                <a:solidFill>
                  <a:srgbClr val="666600"/>
                </a:solidFill>
                <a:effectLst/>
                <a:highlight>
                  <a:srgbClr val="FFFF00"/>
                </a:highlight>
                <a:latin typeface="Menlo"/>
              </a:rPr>
              <a:t>&lt;</a:t>
            </a:r>
            <a:r>
              <a:rPr kumimoji="0" lang="en-US" altLang="en-US" b="0" i="0" u="none" strike="noStrike" cap="none" normalizeH="0" baseline="0" dirty="0">
                <a:ln>
                  <a:noFill/>
                </a:ln>
                <a:solidFill>
                  <a:srgbClr val="555555"/>
                </a:solidFill>
                <a:effectLst/>
                <a:highlight>
                  <a:srgbClr val="FFFF00"/>
                </a:highlight>
                <a:latin typeface="Menlo"/>
              </a:rPr>
              <a:t>Author</a:t>
            </a:r>
            <a:r>
              <a:rPr kumimoji="0" lang="en-US" altLang="en-US" b="0" i="0" u="none" strike="noStrike" cap="none" normalizeH="0" baseline="0" dirty="0">
                <a:ln>
                  <a:noFill/>
                </a:ln>
                <a:solidFill>
                  <a:srgbClr val="666600"/>
                </a:solidFill>
                <a:effectLst/>
                <a:highlight>
                  <a:srgbClr val="FFFF00"/>
                </a:highlight>
                <a:latin typeface="Menlo"/>
              </a:rPr>
              <a:t>&gt;(</a:t>
            </a:r>
            <a:r>
              <a:rPr kumimoji="0" lang="en-US" altLang="en-US" b="0" i="0" u="none" strike="noStrike" cap="none" normalizeH="0" baseline="0" dirty="0">
                <a:ln>
                  <a:noFill/>
                </a:ln>
                <a:solidFill>
                  <a:srgbClr val="000000"/>
                </a:solidFill>
                <a:effectLst/>
                <a:latin typeface="Menlo"/>
              </a:rPr>
              <a:t>author</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context</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SaveChanges</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8000"/>
                </a:solidFill>
                <a:effectLst/>
                <a:latin typeface="Menlo"/>
              </a:rPr>
              <a:t>// without a type parameter</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author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Author</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FirstName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A52A2A"/>
                </a:solidFill>
                <a:effectLst/>
                <a:latin typeface="Menlo"/>
              </a:rPr>
              <a:t>"William"</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LastName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A52A2A"/>
                </a:solidFill>
                <a:effectLst/>
                <a:latin typeface="Menlo"/>
              </a:rPr>
              <a:t>"Shakespeare"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context</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Add</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author</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context</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SaveChanges</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643C2EBE-3C71-6A5D-8A9A-6973943703D2}"/>
              </a:ext>
            </a:extLst>
          </p:cNvPr>
          <p:cNvSpPr>
            <a:spLocks noChangeArrowheads="1"/>
          </p:cNvSpPr>
          <p:nvPr/>
        </p:nvSpPr>
        <p:spPr bwMode="auto">
          <a:xfrm>
            <a:off x="6599583" y="105491"/>
            <a:ext cx="5307496" cy="2062103"/>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When you use either version of </a:t>
            </a:r>
            <a:r>
              <a:rPr kumimoji="0" lang="en-US" altLang="en-US" sz="1400" b="0" i="0" u="none" strike="noStrike" cap="none" normalizeH="0" baseline="0" dirty="0">
                <a:ln>
                  <a:noFill/>
                </a:ln>
                <a:solidFill>
                  <a:srgbClr val="C7254E"/>
                </a:solidFill>
                <a:effectLst/>
                <a:latin typeface="Menlo"/>
              </a:rPr>
              <a:t>Add</a:t>
            </a: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the context begins tracking the entity that was passed into the method and applies an </a:t>
            </a:r>
            <a:r>
              <a:rPr kumimoji="0" lang="en-US" altLang="en-US" sz="1400" b="0" i="0" u="none" strike="noStrike" cap="none" normalizeH="0" baseline="0" dirty="0" err="1">
                <a:ln>
                  <a:noFill/>
                </a:ln>
                <a:solidFill>
                  <a:srgbClr val="C7254E"/>
                </a:solidFill>
                <a:effectLst/>
                <a:latin typeface="Menlo"/>
              </a:rPr>
              <a:t>EntityState</a:t>
            </a: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value of </a:t>
            </a:r>
            <a:r>
              <a:rPr kumimoji="0" lang="en-US" altLang="en-US" sz="1400" b="0" i="0" u="none" strike="noStrike" cap="none" normalizeH="0" baseline="0" dirty="0">
                <a:ln>
                  <a:noFill/>
                </a:ln>
                <a:solidFill>
                  <a:srgbClr val="C7254E"/>
                </a:solidFill>
                <a:effectLst/>
                <a:latin typeface="Menlo"/>
              </a:rPr>
              <a:t>Added</a:t>
            </a: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to it.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333333"/>
              </a:solidFill>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context also applies the same </a:t>
            </a:r>
            <a:r>
              <a:rPr kumimoji="0" lang="en-US" altLang="en-US" sz="1400" b="0" i="0" u="none" strike="noStrike" cap="none" normalizeH="0" baseline="0" dirty="0" err="1">
                <a:ln>
                  <a:noFill/>
                </a:ln>
                <a:solidFill>
                  <a:srgbClr val="C7254E"/>
                </a:solidFill>
                <a:effectLst/>
                <a:latin typeface="Menlo"/>
              </a:rPr>
              <a:t>EntityState</a:t>
            </a: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value of </a:t>
            </a:r>
            <a:r>
              <a:rPr kumimoji="0" lang="en-US" altLang="en-US" sz="1400" b="0" i="0" u="none" strike="noStrike" cap="none" normalizeH="0" baseline="0" dirty="0">
                <a:ln>
                  <a:noFill/>
                </a:ln>
                <a:solidFill>
                  <a:srgbClr val="C7254E"/>
                </a:solidFill>
                <a:effectLst/>
                <a:latin typeface="Menlo"/>
              </a:rPr>
              <a:t>Added</a:t>
            </a: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to all other objects in the graph that aren't already being tracked by the context. In the next example, the </a:t>
            </a:r>
            <a:r>
              <a:rPr kumimoji="0" lang="en-US" altLang="en-US" sz="1400" b="0" i="0" u="none" strike="noStrike" cap="none" normalizeH="0" baseline="0" dirty="0">
                <a:ln>
                  <a:noFill/>
                </a:ln>
                <a:solidFill>
                  <a:srgbClr val="C7254E"/>
                </a:solidFill>
                <a:effectLst/>
                <a:latin typeface="Menlo"/>
              </a:rPr>
              <a:t>Added</a:t>
            </a: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state is also applied to the books:</a:t>
            </a:r>
            <a:r>
              <a:rPr kumimoji="0" lang="en-US" altLang="en-US" sz="1200" b="0" i="0" u="none" strike="noStrike" cap="none" normalizeH="0" baseline="0" dirty="0">
                <a:ln>
                  <a:noFill/>
                </a:ln>
                <a:solidFill>
                  <a:schemeClr val="tx1"/>
                </a:solidFill>
                <a:effectLst/>
              </a:rPr>
              <a:t>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
        <p:nvSpPr>
          <p:cNvPr id="10" name="Rectangle 3">
            <a:extLst>
              <a:ext uri="{FF2B5EF4-FFF2-40B4-BE49-F238E27FC236}">
                <a16:creationId xmlns:a16="http://schemas.microsoft.com/office/drawing/2014/main" id="{47E7563D-171D-388C-CA19-241FAD432D8C}"/>
              </a:ext>
            </a:extLst>
          </p:cNvPr>
          <p:cNvSpPr>
            <a:spLocks noChangeArrowheads="1"/>
          </p:cNvSpPr>
          <p:nvPr/>
        </p:nvSpPr>
        <p:spPr bwMode="auto">
          <a:xfrm>
            <a:off x="6708913" y="2313310"/>
            <a:ext cx="4691269" cy="387798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context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SampleContext</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author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Author</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555555"/>
                </a:solidFill>
                <a:effectLst/>
                <a:latin typeface="Menlo"/>
              </a:rPr>
              <a:t>FirstName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A52A2A"/>
                </a:solidFill>
                <a:effectLst/>
                <a:latin typeface="Menlo"/>
              </a:rPr>
              <a:t>"William"</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555555"/>
                </a:solidFill>
                <a:effectLst/>
                <a:latin typeface="Menlo"/>
              </a:rPr>
              <a:t>LastName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A52A2A"/>
                </a:solidFill>
                <a:effectLst/>
                <a:latin typeface="Menlo"/>
              </a:rPr>
              <a:t>"Shakespeare"</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555555"/>
                </a:solidFill>
                <a:effectLst/>
                <a:latin typeface="Menlo"/>
              </a:rPr>
              <a:t>Books</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List</a:t>
            </a:r>
            <a:r>
              <a:rPr kumimoji="0" lang="en-US" altLang="en-US" b="0" i="0" u="none" strike="noStrike" cap="none" normalizeH="0" baseline="0" dirty="0">
                <a:ln>
                  <a:noFill/>
                </a:ln>
                <a:solidFill>
                  <a:srgbClr val="666600"/>
                </a:solidFill>
                <a:effectLst/>
                <a:latin typeface="Menlo"/>
              </a:rPr>
              <a:t>&lt;</a:t>
            </a:r>
            <a:r>
              <a:rPr kumimoji="0" lang="en-US" altLang="en-US" b="0" i="0" u="none" strike="noStrike" cap="none" normalizeH="0" baseline="0" dirty="0">
                <a:ln>
                  <a:noFill/>
                </a:ln>
                <a:solidFill>
                  <a:srgbClr val="555555"/>
                </a:solidFill>
                <a:effectLst/>
                <a:latin typeface="Menlo"/>
              </a:rPr>
              <a:t>Book</a:t>
            </a:r>
            <a:r>
              <a:rPr kumimoji="0" lang="en-US" altLang="en-US" b="0" i="0" u="none" strike="noStrike" cap="none" normalizeH="0" baseline="0" dirty="0">
                <a:ln>
                  <a:noFill/>
                </a:ln>
                <a:solidFill>
                  <a:srgbClr val="666600"/>
                </a:solidFill>
                <a:effectLst/>
                <a:latin typeface="Menlo"/>
              </a:rPr>
              <a:t>&gt;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Book</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Title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A52A2A"/>
                </a:solidFill>
                <a:effectLst/>
                <a:latin typeface="Menlo"/>
              </a:rPr>
              <a:t>"Hamlet"</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Book</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Title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A52A2A"/>
                </a:solidFill>
                <a:effectLst/>
                <a:latin typeface="Menlo"/>
              </a:rPr>
              <a:t>"Othello"</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Book</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Title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A52A2A"/>
                </a:solidFill>
                <a:effectLst/>
                <a:latin typeface="Menlo"/>
              </a:rPr>
              <a:t>"MacBeth"</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context</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Add</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author</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context</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SaveChanges</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1" name="Rectangle 4">
            <a:extLst>
              <a:ext uri="{FF2B5EF4-FFF2-40B4-BE49-F238E27FC236}">
                <a16:creationId xmlns:a16="http://schemas.microsoft.com/office/drawing/2014/main" id="{7951FF48-9573-1BAC-5A9D-2E191818829E}"/>
              </a:ext>
            </a:extLst>
          </p:cNvPr>
          <p:cNvSpPr>
            <a:spLocks noChangeArrowheads="1"/>
          </p:cNvSpPr>
          <p:nvPr/>
        </p:nvSpPr>
        <p:spPr bwMode="auto">
          <a:xfrm>
            <a:off x="7086601" y="6217987"/>
            <a:ext cx="4820478" cy="523220"/>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books are added because they are referenced through the </a:t>
            </a:r>
            <a:r>
              <a:rPr kumimoji="0" lang="en-US" altLang="en-US" sz="1200" b="0" i="0" u="none" strike="noStrike" cap="none" normalizeH="0" baseline="0" dirty="0">
                <a:ln>
                  <a:noFill/>
                </a:ln>
                <a:solidFill>
                  <a:srgbClr val="C7254E"/>
                </a:solidFill>
                <a:effectLst/>
                <a:latin typeface="Menlo"/>
              </a:rPr>
              <a:t>Books</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property of the author</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cxnSp>
        <p:nvCxnSpPr>
          <p:cNvPr id="3" name="Straight Arrow Connector 2"/>
          <p:cNvCxnSpPr/>
          <p:nvPr/>
        </p:nvCxnSpPr>
        <p:spPr>
          <a:xfrm>
            <a:off x="-1656" y="1501788"/>
            <a:ext cx="1932056" cy="3537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1940560" y="1767840"/>
            <a:ext cx="6339840" cy="35356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33781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3FB764D-F93E-D8B5-7D6E-5D6D4A1A7E38}"/>
              </a:ext>
            </a:extLst>
          </p:cNvPr>
          <p:cNvSpPr txBox="1"/>
          <p:nvPr/>
        </p:nvSpPr>
        <p:spPr>
          <a:xfrm>
            <a:off x="434837" y="173143"/>
            <a:ext cx="6097656"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US" b="0" i="0" dirty="0">
                <a:solidFill>
                  <a:srgbClr val="004867"/>
                </a:solidFill>
                <a:effectLst/>
                <a:latin typeface="Roboto" panose="02000000000000000000" pitchFamily="2" charset="0"/>
              </a:rPr>
              <a:t>EF Core Adding Multiple Records</a:t>
            </a:r>
          </a:p>
        </p:txBody>
      </p:sp>
      <p:sp>
        <p:nvSpPr>
          <p:cNvPr id="7" name="TextBox 6">
            <a:extLst>
              <a:ext uri="{FF2B5EF4-FFF2-40B4-BE49-F238E27FC236}">
                <a16:creationId xmlns:a16="http://schemas.microsoft.com/office/drawing/2014/main" id="{AD2CE01D-F264-A66C-7489-11925E51A30F}"/>
              </a:ext>
            </a:extLst>
          </p:cNvPr>
          <p:cNvSpPr txBox="1"/>
          <p:nvPr/>
        </p:nvSpPr>
        <p:spPr>
          <a:xfrm>
            <a:off x="434837" y="861536"/>
            <a:ext cx="6097656" cy="1477328"/>
          </a:xfrm>
          <a:prstGeom prst="rect">
            <a:avLst/>
          </a:prstGeom>
          <a:noFill/>
        </p:spPr>
        <p:txBody>
          <a:bodyPr wrap="square">
            <a:spAutoFit/>
          </a:bodyPr>
          <a:lstStyle/>
          <a:p>
            <a:r>
              <a:rPr lang="en-US" dirty="0"/>
              <a:t>The </a:t>
            </a:r>
            <a:r>
              <a:rPr lang="en-US" dirty="0" err="1"/>
              <a:t>AddRange</a:t>
            </a:r>
            <a:r>
              <a:rPr lang="en-US" dirty="0"/>
              <a:t> method is used for adding multiple objects to the database in one method call. The code in the next example is very similar to the previous example, but the </a:t>
            </a:r>
            <a:r>
              <a:rPr lang="en-US" dirty="0" err="1"/>
              <a:t>AddRange</a:t>
            </a:r>
            <a:r>
              <a:rPr lang="en-US" dirty="0"/>
              <a:t> method is used to save all the books and the author to the database in one go:</a:t>
            </a:r>
            <a:endParaRPr lang="en-IN" dirty="0"/>
          </a:p>
        </p:txBody>
      </p:sp>
      <p:sp>
        <p:nvSpPr>
          <p:cNvPr id="8" name="Rectangle 1">
            <a:extLst>
              <a:ext uri="{FF2B5EF4-FFF2-40B4-BE49-F238E27FC236}">
                <a16:creationId xmlns:a16="http://schemas.microsoft.com/office/drawing/2014/main" id="{0CEF3BB1-83ED-8819-5175-592B288F17FE}"/>
              </a:ext>
            </a:extLst>
          </p:cNvPr>
          <p:cNvSpPr>
            <a:spLocks noChangeArrowheads="1"/>
          </p:cNvSpPr>
          <p:nvPr/>
        </p:nvSpPr>
        <p:spPr bwMode="auto">
          <a:xfrm>
            <a:off x="337930" y="2637436"/>
            <a:ext cx="5317435" cy="3046988"/>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context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SampleContext</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author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Author</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FirstName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A52A2A"/>
                </a:solidFill>
                <a:effectLst/>
                <a:latin typeface="Menlo"/>
              </a:rPr>
              <a:t>"Stephen"</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LastName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A52A2A"/>
                </a:solidFill>
                <a:effectLst/>
                <a:latin typeface="Menlo"/>
              </a:rPr>
              <a:t>"King"</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books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List</a:t>
            </a:r>
            <a:r>
              <a:rPr kumimoji="0" lang="en-US" altLang="en-US" b="0" i="0" u="none" strike="noStrike" cap="none" normalizeH="0" baseline="0" dirty="0">
                <a:ln>
                  <a:noFill/>
                </a:ln>
                <a:solidFill>
                  <a:srgbClr val="666600"/>
                </a:solidFill>
                <a:effectLst/>
                <a:latin typeface="Menlo"/>
              </a:rPr>
              <a:t>&lt;</a:t>
            </a:r>
            <a:r>
              <a:rPr kumimoji="0" lang="en-US" altLang="en-US" b="0" i="0" u="none" strike="noStrike" cap="none" normalizeH="0" baseline="0" dirty="0">
                <a:ln>
                  <a:noFill/>
                </a:ln>
                <a:solidFill>
                  <a:srgbClr val="555555"/>
                </a:solidFill>
                <a:effectLst/>
                <a:latin typeface="Menlo"/>
              </a:rPr>
              <a:t>Book</a:t>
            </a:r>
            <a:r>
              <a:rPr kumimoji="0" lang="en-US" altLang="en-US" b="0" i="0" u="none" strike="noStrike" cap="none" normalizeH="0" baseline="0" dirty="0">
                <a:ln>
                  <a:noFill/>
                </a:ln>
                <a:solidFill>
                  <a:srgbClr val="666600"/>
                </a:solidFill>
                <a:effectLst/>
                <a:latin typeface="Menlo"/>
              </a:rPr>
              <a:t>&gt;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Book</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Title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A52A2A"/>
                </a:solidFill>
                <a:effectLst/>
                <a:latin typeface="Menlo"/>
              </a:rPr>
              <a:t>"It"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Author</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author </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Book</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Title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A52A2A"/>
                </a:solidFill>
                <a:effectLst/>
                <a:latin typeface="Menlo"/>
              </a:rPr>
              <a:t>"Carrie"</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Author</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author </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Book</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Title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A52A2A"/>
                </a:solidFill>
                <a:effectLst/>
                <a:latin typeface="Menlo"/>
              </a:rPr>
              <a:t>"Misery"</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Author</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author </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context</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AddRange</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books</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context</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SaveChanges</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8DD2BF48-B59F-71EA-6388-7B1043D1D52B}"/>
              </a:ext>
            </a:extLst>
          </p:cNvPr>
          <p:cNvSpPr>
            <a:spLocks noChangeArrowheads="1"/>
          </p:cNvSpPr>
          <p:nvPr/>
        </p:nvSpPr>
        <p:spPr bwMode="auto">
          <a:xfrm>
            <a:off x="434836" y="6137069"/>
            <a:ext cx="11452363" cy="523220"/>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This version of the </a:t>
            </a:r>
            <a:r>
              <a:rPr kumimoji="0" lang="en-US" altLang="en-US" sz="1200" b="0" i="0" u="none" strike="noStrike" cap="none" normalizeH="0" baseline="0" dirty="0" err="1">
                <a:ln>
                  <a:noFill/>
                </a:ln>
                <a:solidFill>
                  <a:srgbClr val="C7254E"/>
                </a:solidFill>
                <a:effectLst/>
                <a:latin typeface="Menlo"/>
              </a:rPr>
              <a:t>AddRange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method takes an </a:t>
            </a:r>
            <a:r>
              <a:rPr kumimoji="0" lang="en-US" altLang="en-US" sz="1200" b="0" i="0" u="none" strike="noStrike" cap="none" normalizeH="0" baseline="0" dirty="0" err="1">
                <a:ln>
                  <a:noFill/>
                </a:ln>
                <a:solidFill>
                  <a:srgbClr val="C7254E"/>
                </a:solidFill>
                <a:effectLst/>
                <a:latin typeface="Menlo"/>
              </a:rPr>
              <a:t>IEnumerable</a:t>
            </a:r>
            <a:r>
              <a:rPr kumimoji="0" lang="en-US" altLang="en-US" sz="1200" b="0" i="0" u="none" strike="noStrike" cap="none" normalizeH="0" baseline="0" dirty="0">
                <a:ln>
                  <a:noFill/>
                </a:ln>
                <a:solidFill>
                  <a:srgbClr val="C7254E"/>
                </a:solidFill>
                <a:effectLst/>
                <a:latin typeface="Menlo"/>
              </a:rPr>
              <a:t>&lt;object&gt;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EF Core is clever enough to identify the type of objects being added to the context and will form the appropriate SQL. The author is related to all of the books, so it forms part of the graph and is added too</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89495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296338-27DC-FCB3-0C91-CDB1135E900E}"/>
              </a:ext>
            </a:extLst>
          </p:cNvPr>
          <p:cNvSpPr txBox="1"/>
          <p:nvPr/>
        </p:nvSpPr>
        <p:spPr>
          <a:xfrm>
            <a:off x="176420" y="133386"/>
            <a:ext cx="3654916"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EF Core Update Entity</a:t>
            </a:r>
          </a:p>
        </p:txBody>
      </p:sp>
      <p:sp>
        <p:nvSpPr>
          <p:cNvPr id="7" name="TextBox 6">
            <a:extLst>
              <a:ext uri="{FF2B5EF4-FFF2-40B4-BE49-F238E27FC236}">
                <a16:creationId xmlns:a16="http://schemas.microsoft.com/office/drawing/2014/main" id="{34249F69-496F-2092-38E0-C2A5ECB3CF1A}"/>
              </a:ext>
            </a:extLst>
          </p:cNvPr>
          <p:cNvSpPr txBox="1"/>
          <p:nvPr/>
        </p:nvSpPr>
        <p:spPr>
          <a:xfrm>
            <a:off x="-1656" y="502718"/>
            <a:ext cx="6097656" cy="3139321"/>
          </a:xfrm>
          <a:prstGeom prst="rect">
            <a:avLst/>
          </a:prstGeom>
          <a:noFill/>
        </p:spPr>
        <p:txBody>
          <a:bodyPr wrap="square">
            <a:spAutoFit/>
          </a:bodyPr>
          <a:lstStyle/>
          <a:p>
            <a:r>
              <a:rPr lang="en-US" dirty="0"/>
              <a:t>The approach that you adopt to update/modify entities depends on whether the context is currently tracking the entity being modified or not.</a:t>
            </a:r>
          </a:p>
          <a:p>
            <a:endParaRPr lang="en-US" dirty="0"/>
          </a:p>
          <a:p>
            <a:r>
              <a:rPr lang="en-US" dirty="0"/>
              <a:t>In the following example, the entity is obtained by the context, so the context begins tracking it immediately. When you alter property values on a tracked entity, the context changes the </a:t>
            </a:r>
            <a:r>
              <a:rPr lang="en-US" dirty="0" err="1"/>
              <a:t>EntityState</a:t>
            </a:r>
            <a:r>
              <a:rPr lang="en-US" dirty="0"/>
              <a:t> for the entity to Modified and the </a:t>
            </a:r>
            <a:r>
              <a:rPr lang="en-US" dirty="0" err="1"/>
              <a:t>ChangeTracker</a:t>
            </a:r>
            <a:r>
              <a:rPr lang="en-US" dirty="0"/>
              <a:t> records the old property values and the new property values. When </a:t>
            </a:r>
            <a:r>
              <a:rPr lang="en-US" dirty="0" err="1"/>
              <a:t>SaveChanges</a:t>
            </a:r>
            <a:r>
              <a:rPr lang="en-US" dirty="0"/>
              <a:t> is called, an UPDATE statement is generated and executed by the database.</a:t>
            </a:r>
            <a:endParaRPr lang="en-IN" dirty="0"/>
          </a:p>
        </p:txBody>
      </p:sp>
      <p:sp>
        <p:nvSpPr>
          <p:cNvPr id="9" name="Rectangle 2">
            <a:extLst>
              <a:ext uri="{FF2B5EF4-FFF2-40B4-BE49-F238E27FC236}">
                <a16:creationId xmlns:a16="http://schemas.microsoft.com/office/drawing/2014/main" id="{4BA138B6-84F9-1F17-3E36-82883A4BB2E0}"/>
              </a:ext>
            </a:extLst>
          </p:cNvPr>
          <p:cNvSpPr>
            <a:spLocks noChangeArrowheads="1"/>
          </p:cNvSpPr>
          <p:nvPr/>
        </p:nvSpPr>
        <p:spPr bwMode="auto">
          <a:xfrm>
            <a:off x="69574" y="3862304"/>
            <a:ext cx="5446643" cy="1107996"/>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author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000000"/>
                </a:solidFill>
                <a:effectLst/>
                <a:latin typeface="Menlo"/>
              </a:rPr>
              <a:t>context</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Authors</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First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a </a:t>
            </a:r>
            <a:r>
              <a:rPr kumimoji="0" lang="en-US" altLang="en-US" b="0" i="0" u="none" strike="noStrike" cap="none" normalizeH="0" baseline="0" dirty="0">
                <a:ln>
                  <a:noFill/>
                </a:ln>
                <a:solidFill>
                  <a:srgbClr val="666600"/>
                </a:solidFill>
                <a:effectLst/>
                <a:latin typeface="Menlo"/>
              </a:rPr>
              <a:t>=&gt;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000000"/>
                </a:solidFill>
                <a:effectLst/>
                <a:latin typeface="Menlo"/>
              </a:rPr>
              <a:t>a</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AuthorId</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6666"/>
                </a:solidFill>
                <a:effectLst/>
                <a:latin typeface="Menlo"/>
              </a:rPr>
              <a:t>1</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author</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FirstName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A52A2A"/>
                </a:solidFill>
                <a:effectLst/>
                <a:latin typeface="Menlo"/>
              </a:rPr>
              <a:t>"Bill"</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context</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SaveChanges</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7A128495-C96F-84D8-A0FC-4DDAC7BD1389}"/>
              </a:ext>
            </a:extLst>
          </p:cNvPr>
          <p:cNvSpPr txBox="1"/>
          <p:nvPr/>
        </p:nvSpPr>
        <p:spPr>
          <a:xfrm>
            <a:off x="-1656" y="5060733"/>
            <a:ext cx="6097656" cy="923330"/>
          </a:xfrm>
          <a:prstGeom prst="rect">
            <a:avLst/>
          </a:prstGeom>
          <a:noFill/>
        </p:spPr>
        <p:txBody>
          <a:bodyPr wrap="square">
            <a:spAutoFit/>
          </a:bodyPr>
          <a:lstStyle/>
          <a:p>
            <a:r>
              <a:rPr lang="en-US" b="0" i="0" dirty="0">
                <a:solidFill>
                  <a:srgbClr val="333333"/>
                </a:solidFill>
                <a:effectLst/>
                <a:latin typeface="Open Sans" panose="020B0606030504020204" pitchFamily="34" charset="0"/>
              </a:rPr>
              <a:t>Since the </a:t>
            </a:r>
            <a:r>
              <a:rPr lang="en-US" b="0" i="0" dirty="0" err="1">
                <a:solidFill>
                  <a:srgbClr val="333333"/>
                </a:solidFill>
                <a:effectLst/>
                <a:latin typeface="Open Sans" panose="020B0606030504020204" pitchFamily="34" charset="0"/>
              </a:rPr>
              <a:t>ChangeTracker</a:t>
            </a:r>
            <a:r>
              <a:rPr lang="en-US" b="0" i="0" dirty="0">
                <a:solidFill>
                  <a:srgbClr val="333333"/>
                </a:solidFill>
                <a:effectLst/>
                <a:latin typeface="Open Sans" panose="020B0606030504020204" pitchFamily="34" charset="0"/>
              </a:rPr>
              <a:t> tracks which properties have been modified, the context will issue a SQL statement that updates only those properties that were changed:</a:t>
            </a:r>
            <a:endParaRPr lang="en-IN" dirty="0"/>
          </a:p>
        </p:txBody>
      </p:sp>
      <p:sp>
        <p:nvSpPr>
          <p:cNvPr id="13" name="TextBox 12">
            <a:extLst>
              <a:ext uri="{FF2B5EF4-FFF2-40B4-BE49-F238E27FC236}">
                <a16:creationId xmlns:a16="http://schemas.microsoft.com/office/drawing/2014/main" id="{FFA44325-A4E1-DACB-7CF7-36DAEC441179}"/>
              </a:ext>
            </a:extLst>
          </p:cNvPr>
          <p:cNvSpPr txBox="1"/>
          <p:nvPr/>
        </p:nvSpPr>
        <p:spPr>
          <a:xfrm>
            <a:off x="7752521" y="-51280"/>
            <a:ext cx="3985592"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Disconnected Scenario </a:t>
            </a:r>
          </a:p>
        </p:txBody>
      </p:sp>
      <p:sp>
        <p:nvSpPr>
          <p:cNvPr id="15" name="TextBox 14">
            <a:extLst>
              <a:ext uri="{FF2B5EF4-FFF2-40B4-BE49-F238E27FC236}">
                <a16:creationId xmlns:a16="http://schemas.microsoft.com/office/drawing/2014/main" id="{71F63D2D-CBA2-1A37-F486-1CE6B0360EC3}"/>
              </a:ext>
            </a:extLst>
          </p:cNvPr>
          <p:cNvSpPr txBox="1"/>
          <p:nvPr/>
        </p:nvSpPr>
        <p:spPr>
          <a:xfrm>
            <a:off x="6096000" y="318052"/>
            <a:ext cx="6026426" cy="3416320"/>
          </a:xfrm>
          <a:prstGeom prst="rect">
            <a:avLst/>
          </a:prstGeom>
          <a:noFill/>
        </p:spPr>
        <p:txBody>
          <a:bodyPr wrap="square">
            <a:spAutoFit/>
          </a:bodyPr>
          <a:lstStyle/>
          <a:p>
            <a:r>
              <a:rPr lang="en-US" dirty="0"/>
              <a:t>In a disconnected scenario such as an ASP.NET application, changes to an existing entity's property values can take place </a:t>
            </a:r>
            <a:r>
              <a:rPr lang="en-US" b="1" dirty="0"/>
              <a:t>in a controller or service method, well away from the context</a:t>
            </a:r>
            <a:r>
              <a:rPr lang="en-US" dirty="0"/>
              <a:t>. In these cases, the context needs to be informed that the entity is in a modified state. This can be achieved in several ways: </a:t>
            </a:r>
          </a:p>
          <a:p>
            <a:r>
              <a:rPr lang="en-US" dirty="0"/>
              <a:t>setting the </a:t>
            </a:r>
            <a:r>
              <a:rPr lang="en-US" dirty="0" err="1"/>
              <a:t>EntityState</a:t>
            </a:r>
            <a:r>
              <a:rPr lang="en-US" dirty="0"/>
              <a:t> for the entity explicitly; </a:t>
            </a:r>
          </a:p>
          <a:p>
            <a:r>
              <a:rPr lang="en-US" dirty="0"/>
              <a:t>using </a:t>
            </a:r>
            <a:r>
              <a:rPr lang="en-US" dirty="0">
                <a:highlight>
                  <a:srgbClr val="FFFF00"/>
                </a:highlight>
              </a:rPr>
              <a:t>the </a:t>
            </a:r>
            <a:r>
              <a:rPr lang="en-US" dirty="0" err="1">
                <a:highlight>
                  <a:srgbClr val="FFFF00"/>
                </a:highlight>
              </a:rPr>
              <a:t>DbContext.Update</a:t>
            </a:r>
            <a:r>
              <a:rPr lang="en-US" dirty="0">
                <a:highlight>
                  <a:srgbClr val="FFFF00"/>
                </a:highlight>
              </a:rPr>
              <a:t> </a:t>
            </a:r>
            <a:r>
              <a:rPr lang="en-US" dirty="0"/>
              <a:t>method (which is new in EF Core); </a:t>
            </a:r>
          </a:p>
          <a:p>
            <a:r>
              <a:rPr lang="en-US" dirty="0"/>
              <a:t>using the </a:t>
            </a:r>
            <a:r>
              <a:rPr lang="en-US" dirty="0" err="1">
                <a:highlight>
                  <a:srgbClr val="FFFF00"/>
                </a:highlight>
              </a:rPr>
              <a:t>DbContext.Attach</a:t>
            </a:r>
            <a:r>
              <a:rPr lang="en-US" dirty="0">
                <a:highlight>
                  <a:srgbClr val="FFFF00"/>
                </a:highlight>
              </a:rPr>
              <a:t> </a:t>
            </a:r>
            <a:r>
              <a:rPr lang="en-US" dirty="0"/>
              <a:t>method and then "walking the object graph" to set the state of individual properties within the graph explicitly.</a:t>
            </a:r>
            <a:endParaRPr lang="en-IN" dirty="0"/>
          </a:p>
        </p:txBody>
      </p:sp>
      <p:sp>
        <p:nvSpPr>
          <p:cNvPr id="16" name="Rectangle 3">
            <a:extLst>
              <a:ext uri="{FF2B5EF4-FFF2-40B4-BE49-F238E27FC236}">
                <a16:creationId xmlns:a16="http://schemas.microsoft.com/office/drawing/2014/main" id="{74E7AEEA-D008-2939-611E-ED9454038325}"/>
              </a:ext>
            </a:extLst>
          </p:cNvPr>
          <p:cNvSpPr>
            <a:spLocks noChangeArrowheads="1"/>
          </p:cNvSpPr>
          <p:nvPr/>
        </p:nvSpPr>
        <p:spPr bwMode="auto">
          <a:xfrm>
            <a:off x="6013174" y="3765150"/>
            <a:ext cx="5983754" cy="87704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0" rIns="91440" bIns="12696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You can set the </a:t>
            </a:r>
            <a:r>
              <a:rPr kumimoji="0" lang="en-US" altLang="en-US" sz="1600" b="0" i="0" u="none" strike="noStrike" cap="none" normalizeH="0" baseline="0" dirty="0" err="1">
                <a:ln>
                  <a:noFill/>
                </a:ln>
                <a:solidFill>
                  <a:srgbClr val="C7254E"/>
                </a:solidFill>
                <a:effectLst/>
                <a:latin typeface="Menlo"/>
                <a:cs typeface="Open Sans" panose="020B0606030504020204" pitchFamily="34" charset="0"/>
              </a:rPr>
              <a:t>EntityState</a:t>
            </a: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of an entity via the </a:t>
            </a:r>
            <a:r>
              <a:rPr kumimoji="0" lang="en-US" altLang="en-US" sz="1600" b="0" i="0" u="none" strike="noStrike" cap="none" normalizeH="0" baseline="0" dirty="0" err="1">
                <a:ln>
                  <a:noFill/>
                </a:ln>
                <a:solidFill>
                  <a:srgbClr val="C7254E"/>
                </a:solidFill>
                <a:effectLst/>
                <a:latin typeface="Menlo"/>
                <a:cs typeface="Open Sans" panose="020B0606030504020204" pitchFamily="34" charset="0"/>
              </a:rPr>
              <a:t>EntityEntry.State</a:t>
            </a: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property, which is made available by the </a:t>
            </a:r>
            <a:r>
              <a:rPr kumimoji="0" lang="en-US" altLang="en-US" sz="1600" b="0" i="0" u="none" strike="noStrike" cap="none" normalizeH="0" baseline="0" dirty="0" err="1">
                <a:ln>
                  <a:noFill/>
                </a:ln>
                <a:solidFill>
                  <a:srgbClr val="C7254E"/>
                </a:solidFill>
                <a:effectLst/>
                <a:latin typeface="Menlo"/>
                <a:cs typeface="Open Sans" panose="020B0606030504020204" pitchFamily="34" charset="0"/>
              </a:rPr>
              <a:t>DbContext.Entry</a:t>
            </a: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method</a:t>
            </a:r>
            <a:r>
              <a:rPr kumimoji="0" lang="en-US" altLang="en-US" sz="1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4">
            <a:extLst>
              <a:ext uri="{FF2B5EF4-FFF2-40B4-BE49-F238E27FC236}">
                <a16:creationId xmlns:a16="http://schemas.microsoft.com/office/drawing/2014/main" id="{1254D098-73E6-A960-C527-62CB3426955D}"/>
              </a:ext>
            </a:extLst>
          </p:cNvPr>
          <p:cNvSpPr>
            <a:spLocks noChangeArrowheads="1"/>
          </p:cNvSpPr>
          <p:nvPr/>
        </p:nvSpPr>
        <p:spPr bwMode="auto">
          <a:xfrm>
            <a:off x="6013174" y="5011523"/>
            <a:ext cx="5446642" cy="98488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void</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Save</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555555"/>
                </a:solidFill>
                <a:effectLst/>
                <a:latin typeface="Menlo"/>
              </a:rPr>
              <a:t>Author</a:t>
            </a:r>
            <a:r>
              <a:rPr kumimoji="0" lang="en-US" altLang="en-US" sz="1600" b="0" i="0" u="none" strike="noStrike" cap="none" normalizeH="0" baseline="0" dirty="0">
                <a:ln>
                  <a:noFill/>
                </a:ln>
                <a:solidFill>
                  <a:srgbClr val="000000"/>
                </a:solidFill>
                <a:effectLst/>
                <a:latin typeface="Menlo"/>
              </a:rPr>
              <a:t> author</a:t>
            </a:r>
            <a:r>
              <a:rPr kumimoji="0" lang="en-US" altLang="en-US" sz="1600" b="0" i="0" u="none" strike="noStrike" cap="none" normalizeH="0" baseline="0" dirty="0">
                <a:ln>
                  <a:noFill/>
                </a:ln>
                <a:solidFill>
                  <a:srgbClr val="666600"/>
                </a:solidFill>
                <a:effectLst/>
                <a:latin typeface="Menlo"/>
              </a:rPr>
              <a:t>) {</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err="1">
                <a:ln>
                  <a:noFill/>
                </a:ln>
                <a:solidFill>
                  <a:srgbClr val="000000"/>
                </a:solidFill>
                <a:effectLst/>
                <a:latin typeface="Menlo"/>
              </a:rPr>
              <a:t>context</a:t>
            </a:r>
            <a:r>
              <a:rPr kumimoji="0" lang="en-US" altLang="en-US" sz="1600" b="0" i="0" u="none" strike="noStrike" cap="none" normalizeH="0" baseline="0" dirty="0" err="1">
                <a:ln>
                  <a:noFill/>
                </a:ln>
                <a:solidFill>
                  <a:srgbClr val="666600"/>
                </a:solidFill>
                <a:effectLst/>
                <a:latin typeface="Menlo"/>
              </a:rPr>
              <a:t>.</a:t>
            </a:r>
            <a:r>
              <a:rPr kumimoji="0" lang="en-US" altLang="en-US" sz="1600" b="0" i="0" u="none" strike="noStrike" cap="none" normalizeH="0" baseline="0" dirty="0" err="1">
                <a:ln>
                  <a:noFill/>
                </a:ln>
                <a:solidFill>
                  <a:srgbClr val="555555"/>
                </a:solidFill>
                <a:effectLst/>
                <a:latin typeface="Menlo"/>
              </a:rPr>
              <a:t>Entry</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author</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555555"/>
                </a:solidFill>
                <a:effectLst/>
                <a:latin typeface="Menlo"/>
              </a:rPr>
              <a:t>State</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EntityState</a:t>
            </a:r>
            <a:r>
              <a:rPr kumimoji="0" lang="en-US" altLang="en-US" sz="1600" b="0" i="0" u="none" strike="noStrike" cap="none" normalizeH="0" baseline="0" dirty="0" err="1">
                <a:ln>
                  <a:noFill/>
                </a:ln>
                <a:solidFill>
                  <a:srgbClr val="666600"/>
                </a:solidFill>
                <a:effectLst/>
                <a:latin typeface="Menlo"/>
              </a:rPr>
              <a:t>.</a:t>
            </a:r>
            <a:r>
              <a:rPr kumimoji="0" lang="en-US" altLang="en-US" sz="1600" b="0" i="0" u="none" strike="noStrike" cap="none" normalizeH="0" baseline="0" dirty="0" err="1">
                <a:ln>
                  <a:noFill/>
                </a:ln>
                <a:solidFill>
                  <a:srgbClr val="555555"/>
                </a:solidFill>
                <a:effectLst/>
                <a:latin typeface="Menlo"/>
              </a:rPr>
              <a:t>Modified</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err="1">
                <a:ln>
                  <a:noFill/>
                </a:ln>
                <a:solidFill>
                  <a:srgbClr val="000000"/>
                </a:solidFill>
                <a:effectLst/>
                <a:latin typeface="Menlo"/>
              </a:rPr>
              <a:t>context</a:t>
            </a:r>
            <a:r>
              <a:rPr kumimoji="0" lang="en-US" altLang="en-US" sz="1600" b="0" i="0" u="none" strike="noStrike" cap="none" normalizeH="0" baseline="0" dirty="0" err="1">
                <a:ln>
                  <a:noFill/>
                </a:ln>
                <a:solidFill>
                  <a:srgbClr val="666600"/>
                </a:solidFill>
                <a:effectLst/>
                <a:latin typeface="Menlo"/>
              </a:rPr>
              <a:t>.</a:t>
            </a:r>
            <a:r>
              <a:rPr kumimoji="0" lang="en-US" altLang="en-US" sz="1600" b="0" i="0" u="none" strike="noStrike" cap="none" normalizeH="0" baseline="0" dirty="0" err="1">
                <a:ln>
                  <a:noFill/>
                </a:ln>
                <a:solidFill>
                  <a:srgbClr val="555555"/>
                </a:solidFill>
                <a:effectLst/>
                <a:latin typeface="Menlo"/>
              </a:rPr>
              <a:t>SaveChanges</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9" name="TextBox 18">
            <a:extLst>
              <a:ext uri="{FF2B5EF4-FFF2-40B4-BE49-F238E27FC236}">
                <a16:creationId xmlns:a16="http://schemas.microsoft.com/office/drawing/2014/main" id="{A88BD3A7-48CE-0D4C-1EEB-52DAE7FE189A}"/>
              </a:ext>
            </a:extLst>
          </p:cNvPr>
          <p:cNvSpPr txBox="1"/>
          <p:nvPr/>
        </p:nvSpPr>
        <p:spPr>
          <a:xfrm>
            <a:off x="6013174" y="3672817"/>
            <a:ext cx="4100090" cy="43088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200" b="0" i="0" u="none" strike="noStrike" kern="1200" cap="none" spc="0" normalizeH="0" baseline="0" noProof="0" dirty="0">
                <a:ln>
                  <a:noFill/>
                </a:ln>
                <a:solidFill>
                  <a:srgbClr val="004867"/>
                </a:solidFill>
                <a:effectLst/>
                <a:uLnTx/>
                <a:uFillTx/>
                <a:latin typeface="Roboto" panose="02000000000000000000" pitchFamily="2" charset="0"/>
                <a:ea typeface="+mn-ea"/>
                <a:cs typeface="+mn-cs"/>
              </a:rPr>
              <a:t>Setting </a:t>
            </a:r>
            <a:r>
              <a:rPr kumimoji="0" lang="en-US" altLang="en-US" sz="2200" b="0" i="0" u="none" strike="noStrike" kern="1200" cap="none" spc="0" normalizeH="0" baseline="0" noProof="0" dirty="0" err="1">
                <a:ln>
                  <a:noFill/>
                </a:ln>
                <a:solidFill>
                  <a:srgbClr val="004867"/>
                </a:solidFill>
                <a:effectLst/>
                <a:uLnTx/>
                <a:uFillTx/>
                <a:latin typeface="Roboto" panose="02000000000000000000" pitchFamily="2" charset="0"/>
                <a:ea typeface="+mn-ea"/>
                <a:cs typeface="+mn-cs"/>
              </a:rPr>
              <a:t>EntityState</a:t>
            </a:r>
            <a:r>
              <a:rPr kumimoji="0" lang="en-US" altLang="en-US" sz="2200" b="0" i="0" u="none" strike="noStrike" kern="1200" cap="none" spc="0" normalizeH="0" baseline="0" noProof="0" dirty="0">
                <a:ln>
                  <a:noFill/>
                </a:ln>
                <a:solidFill>
                  <a:srgbClr val="004867"/>
                </a:solidFill>
                <a:effectLst/>
                <a:uLnTx/>
                <a:uFillTx/>
                <a:latin typeface="Roboto" panose="02000000000000000000" pitchFamily="2" charset="0"/>
                <a:ea typeface="+mn-ea"/>
                <a:cs typeface="+mn-cs"/>
              </a:rPr>
              <a:t> </a:t>
            </a:r>
            <a:endParaRPr kumimoji="0" lang="en-US" altLang="en-US" sz="1600" b="0" i="0" u="none" strike="noStrike" kern="1200" cap="none" spc="0" normalizeH="0" baseline="0" noProof="0" dirty="0">
              <a:ln>
                <a:noFill/>
              </a:ln>
              <a:solidFill>
                <a:srgbClr val="004867"/>
              </a:solidFill>
              <a:effectLst/>
              <a:uLnTx/>
              <a:uFillTx/>
              <a:latin typeface="Roboto" panose="02000000000000000000" pitchFamily="2" charset="0"/>
              <a:ea typeface="+mn-ea"/>
              <a:cs typeface="+mn-cs"/>
            </a:endParaRPr>
          </a:p>
        </p:txBody>
      </p:sp>
      <p:sp>
        <p:nvSpPr>
          <p:cNvPr id="21" name="TextBox 20">
            <a:extLst>
              <a:ext uri="{FF2B5EF4-FFF2-40B4-BE49-F238E27FC236}">
                <a16:creationId xmlns:a16="http://schemas.microsoft.com/office/drawing/2014/main" id="{FB885F11-42BF-D176-5262-4579C6F6C9B9}"/>
              </a:ext>
            </a:extLst>
          </p:cNvPr>
          <p:cNvSpPr txBox="1"/>
          <p:nvPr/>
        </p:nvSpPr>
        <p:spPr>
          <a:xfrm>
            <a:off x="5351392" y="5940941"/>
            <a:ext cx="6854688" cy="954107"/>
          </a:xfrm>
          <a:prstGeom prst="rect">
            <a:avLst/>
          </a:prstGeom>
          <a:noFill/>
        </p:spPr>
        <p:txBody>
          <a:bodyPr wrap="square">
            <a:spAutoFit/>
          </a:bodyPr>
          <a:lstStyle/>
          <a:p>
            <a:r>
              <a:rPr lang="en-US" sz="1400" dirty="0"/>
              <a:t>This approach will result in just the author entity being assigned the Modified state. Any related objects will not be tracked. Since the </a:t>
            </a:r>
            <a:r>
              <a:rPr lang="en-US" sz="1400" dirty="0" err="1"/>
              <a:t>ChangeTracker</a:t>
            </a:r>
            <a:r>
              <a:rPr lang="en-US" sz="1400" dirty="0"/>
              <a:t> is unaware of which properties were modified, the context will issue an SQL statement updating all property values (apart from the primary key value).</a:t>
            </a:r>
            <a:endParaRPr lang="en-IN" sz="1400" dirty="0"/>
          </a:p>
        </p:txBody>
      </p:sp>
    </p:spTree>
    <p:extLst>
      <p:ext uri="{BB962C8B-B14F-4D97-AF65-F5344CB8AC3E}">
        <p14:creationId xmlns:p14="http://schemas.microsoft.com/office/powerpoint/2010/main" val="25603225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6AF8B0-9AA5-1831-1596-0C22F7691B83}"/>
              </a:ext>
            </a:extLst>
          </p:cNvPr>
          <p:cNvSpPr txBox="1"/>
          <p:nvPr/>
        </p:nvSpPr>
        <p:spPr>
          <a:xfrm>
            <a:off x="86967" y="143326"/>
            <a:ext cx="2348120"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err="1">
                <a:solidFill>
                  <a:srgbClr val="004867"/>
                </a:solidFill>
                <a:effectLst/>
                <a:latin typeface="Roboto" panose="02000000000000000000" pitchFamily="2" charset="0"/>
              </a:rPr>
              <a:t>DbContext</a:t>
            </a:r>
            <a:r>
              <a:rPr lang="en-IN" b="0" i="0" dirty="0">
                <a:solidFill>
                  <a:srgbClr val="004867"/>
                </a:solidFill>
                <a:effectLst/>
                <a:latin typeface="Roboto" panose="02000000000000000000" pitchFamily="2" charset="0"/>
              </a:rPr>
              <a:t> Update</a:t>
            </a:r>
          </a:p>
        </p:txBody>
      </p:sp>
      <p:sp>
        <p:nvSpPr>
          <p:cNvPr id="6" name="Rectangle 1">
            <a:extLst>
              <a:ext uri="{FF2B5EF4-FFF2-40B4-BE49-F238E27FC236}">
                <a16:creationId xmlns:a16="http://schemas.microsoft.com/office/drawing/2014/main" id="{BC930191-916A-8137-95B6-1B86A03ACA9E}"/>
              </a:ext>
            </a:extLst>
          </p:cNvPr>
          <p:cNvSpPr>
            <a:spLocks noChangeArrowheads="1"/>
          </p:cNvSpPr>
          <p:nvPr/>
        </p:nvSpPr>
        <p:spPr bwMode="auto">
          <a:xfrm>
            <a:off x="86967" y="843888"/>
            <a:ext cx="3657600" cy="138499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void</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Save</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555555"/>
                </a:solidFill>
                <a:effectLst/>
                <a:latin typeface="Menlo"/>
              </a:rPr>
              <a:t>Author</a:t>
            </a:r>
            <a:r>
              <a:rPr kumimoji="0" lang="en-US" altLang="en-US" b="0" i="0" u="none" strike="noStrike" cap="none" normalizeH="0" baseline="0" dirty="0">
                <a:ln>
                  <a:noFill/>
                </a:ln>
                <a:solidFill>
                  <a:srgbClr val="000000"/>
                </a:solidFill>
                <a:effectLst/>
                <a:latin typeface="Menlo"/>
              </a:rPr>
              <a:t> author</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context</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Update</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author</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context</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SaveChanges</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p:txBody>
      </p:sp>
      <p:sp>
        <p:nvSpPr>
          <p:cNvPr id="7" name="Rectangle 2">
            <a:extLst>
              <a:ext uri="{FF2B5EF4-FFF2-40B4-BE49-F238E27FC236}">
                <a16:creationId xmlns:a16="http://schemas.microsoft.com/office/drawing/2014/main" id="{25567308-1B99-65CD-5D25-0FBD95DB10B7}"/>
              </a:ext>
            </a:extLst>
          </p:cNvPr>
          <p:cNvSpPr>
            <a:spLocks noChangeArrowheads="1"/>
          </p:cNvSpPr>
          <p:nvPr/>
        </p:nvSpPr>
        <p:spPr bwMode="auto">
          <a:xfrm>
            <a:off x="86967" y="3095016"/>
            <a:ext cx="5330952" cy="2893100"/>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As with setting the entity's </a:t>
            </a:r>
            <a:r>
              <a:rPr kumimoji="0" lang="en-US" altLang="en-US" sz="1400" b="0" i="0" u="none" strike="noStrike" cap="none" normalizeH="0" baseline="0" dirty="0">
                <a:ln>
                  <a:noFill/>
                </a:ln>
                <a:solidFill>
                  <a:srgbClr val="C7254E"/>
                </a:solidFill>
                <a:effectLst/>
                <a:latin typeface="Menlo"/>
              </a:rPr>
              <a:t>State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this method results in the entity being tracked by the context as </a:t>
            </a:r>
            <a:r>
              <a:rPr kumimoji="0" lang="en-US" altLang="en-US" sz="1400" b="0" i="0" u="none" strike="noStrike" cap="none" normalizeH="0" baseline="0" dirty="0">
                <a:ln>
                  <a:noFill/>
                </a:ln>
                <a:solidFill>
                  <a:srgbClr val="C7254E"/>
                </a:solidFill>
                <a:effectLst/>
                <a:latin typeface="Menlo"/>
              </a:rPr>
              <a:t>Modified</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333333"/>
              </a:solidFill>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Once again, the context doesn't have any way of identifying which property values have been changed and will generate SQL to update all properties. Where this method differs from explicitly setting the </a:t>
            </a:r>
            <a:r>
              <a:rPr kumimoji="0" lang="en-US" altLang="en-US" sz="1400" b="0" i="0" u="none" strike="noStrike" cap="none" normalizeH="0" baseline="0" dirty="0">
                <a:ln>
                  <a:noFill/>
                </a:ln>
                <a:solidFill>
                  <a:srgbClr val="C7254E"/>
                </a:solidFill>
                <a:effectLst/>
                <a:latin typeface="Menlo"/>
              </a:rPr>
              <a:t>State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property, is in the fact that the context will begin tracking any related entities (such as a collection of books in this example) in the </a:t>
            </a:r>
            <a:r>
              <a:rPr kumimoji="0" lang="en-US" altLang="en-US" sz="1400" b="0" i="0" u="none" strike="noStrike" cap="none" normalizeH="0" baseline="0" dirty="0">
                <a:ln>
                  <a:noFill/>
                </a:ln>
                <a:solidFill>
                  <a:srgbClr val="C7254E"/>
                </a:solidFill>
                <a:effectLst/>
                <a:latin typeface="Menlo"/>
              </a:rPr>
              <a:t>Modified</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state, resulting in </a:t>
            </a:r>
            <a:r>
              <a:rPr kumimoji="0" lang="en-US" altLang="en-US" sz="1400" b="0" i="0" u="none" strike="noStrike" cap="none" normalizeH="0" baseline="0" dirty="0">
                <a:ln>
                  <a:noFill/>
                </a:ln>
                <a:solidFill>
                  <a:srgbClr val="C7254E"/>
                </a:solidFill>
                <a:effectLst/>
                <a:latin typeface="Menlo"/>
              </a:rPr>
              <a:t>UPDATE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statements being generated for each of them.</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333333"/>
              </a:solidFill>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If the related entity doesn't have a key value assigned, it will be marked as </a:t>
            </a:r>
            <a:r>
              <a:rPr kumimoji="0" lang="en-US" altLang="en-US" sz="1400" b="0" i="0" u="none" strike="noStrike" cap="none" normalizeH="0" baseline="0" dirty="0">
                <a:ln>
                  <a:noFill/>
                </a:ln>
                <a:solidFill>
                  <a:srgbClr val="C7254E"/>
                </a:solidFill>
                <a:effectLst/>
                <a:latin typeface="Menlo"/>
              </a:rPr>
              <a:t>Added</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and an </a:t>
            </a:r>
            <a:r>
              <a:rPr kumimoji="0" lang="en-US" altLang="en-US" sz="1400" b="0" i="0" u="none" strike="noStrike" cap="none" normalizeH="0" baseline="0" dirty="0">
                <a:ln>
                  <a:noFill/>
                </a:ln>
                <a:solidFill>
                  <a:srgbClr val="C7254E"/>
                </a:solidFill>
                <a:effectLst/>
                <a:latin typeface="Menlo"/>
              </a:rPr>
              <a:t>INSERT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statement will be generated.</a:t>
            </a:r>
            <a:r>
              <a:rPr kumimoji="0" lang="en-US" altLang="en-US" sz="1400" b="0" i="0" u="none" strike="noStrike" cap="none" normalizeH="0" baseline="0" dirty="0">
                <a:ln>
                  <a:noFill/>
                </a:ln>
                <a:solidFill>
                  <a:schemeClr val="tx1"/>
                </a:solidFill>
                <a:effectLst/>
              </a:rPr>
              <a:t> </a:t>
            </a:r>
          </a:p>
        </p:txBody>
      </p:sp>
      <p:sp>
        <p:nvSpPr>
          <p:cNvPr id="9" name="TextBox 8">
            <a:extLst>
              <a:ext uri="{FF2B5EF4-FFF2-40B4-BE49-F238E27FC236}">
                <a16:creationId xmlns:a16="http://schemas.microsoft.com/office/drawing/2014/main" id="{AE26CED0-0ABB-DE63-3A6B-D0288F1BA4E9}"/>
              </a:ext>
            </a:extLst>
          </p:cNvPr>
          <p:cNvSpPr txBox="1"/>
          <p:nvPr/>
        </p:nvSpPr>
        <p:spPr>
          <a:xfrm>
            <a:off x="8008454" y="143326"/>
            <a:ext cx="3317185"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Attach</a:t>
            </a:r>
          </a:p>
        </p:txBody>
      </p:sp>
      <p:sp>
        <p:nvSpPr>
          <p:cNvPr id="10" name="Rectangle 3">
            <a:extLst>
              <a:ext uri="{FF2B5EF4-FFF2-40B4-BE49-F238E27FC236}">
                <a16:creationId xmlns:a16="http://schemas.microsoft.com/office/drawing/2014/main" id="{5CFCB297-9EE8-E6FA-F8AC-9BEC66B2C25D}"/>
              </a:ext>
            </a:extLst>
          </p:cNvPr>
          <p:cNvSpPr>
            <a:spLocks noChangeArrowheads="1"/>
          </p:cNvSpPr>
          <p:nvPr/>
        </p:nvSpPr>
        <p:spPr bwMode="auto">
          <a:xfrm>
            <a:off x="5614946" y="658340"/>
            <a:ext cx="6351767" cy="138499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When you use the </a:t>
            </a:r>
            <a:r>
              <a:rPr kumimoji="0" lang="en-US" altLang="en-US" sz="1400" b="0" i="0" u="none" strike="noStrike" cap="none" normalizeH="0" baseline="0" dirty="0">
                <a:ln>
                  <a:noFill/>
                </a:ln>
                <a:solidFill>
                  <a:srgbClr val="C7254E"/>
                </a:solidFill>
                <a:effectLst/>
                <a:latin typeface="Menlo"/>
              </a:rPr>
              <a:t>Attach</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method on an entity, its state will be set to </a:t>
            </a:r>
            <a:r>
              <a:rPr kumimoji="0" lang="en-US" altLang="en-US" sz="1400" b="0" i="0" u="none" strike="noStrike" cap="none" normalizeH="0" baseline="0" dirty="0">
                <a:ln>
                  <a:noFill/>
                </a:ln>
                <a:solidFill>
                  <a:srgbClr val="C7254E"/>
                </a:solidFill>
                <a:effectLst/>
                <a:latin typeface="Menlo"/>
              </a:rPr>
              <a:t>Unchanged</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which will result in no database commands being generated at all. All other reachable entities with key values defined will also be set to </a:t>
            </a:r>
            <a:r>
              <a:rPr kumimoji="0" lang="en-US" altLang="en-US" sz="1400" b="0" i="0" u="none" strike="noStrike" cap="none" normalizeH="0" baseline="0" dirty="0">
                <a:ln>
                  <a:noFill/>
                </a:ln>
                <a:solidFill>
                  <a:srgbClr val="C7254E"/>
                </a:solidFill>
                <a:effectLst/>
                <a:latin typeface="Menlo"/>
              </a:rPr>
              <a:t>Unchanged</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Those without key values will be marked as </a:t>
            </a:r>
            <a:r>
              <a:rPr kumimoji="0" lang="en-US" altLang="en-US" sz="1400" b="0" i="0" u="none" strike="noStrike" cap="none" normalizeH="0" baseline="0" dirty="0">
                <a:ln>
                  <a:noFill/>
                </a:ln>
                <a:solidFill>
                  <a:srgbClr val="C7254E"/>
                </a:solidFill>
                <a:effectLst/>
                <a:latin typeface="Menlo"/>
              </a:rPr>
              <a:t>Added</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However, now that the entity is </a:t>
            </a:r>
            <a:r>
              <a:rPr kumimoji="0" lang="en-US" altLang="en-US" sz="14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being tracked by the context, you can inform the context which properties were modified so that the correct SQL to update just those values is generated:</a:t>
            </a:r>
            <a:r>
              <a:rPr kumimoji="0" lang="en-US" altLang="en-US" sz="1400" b="1" i="0" u="none" strike="noStrike" cap="none" normalizeH="0" baseline="0" dirty="0">
                <a:ln>
                  <a:noFill/>
                </a:ln>
                <a:solidFill>
                  <a:schemeClr val="tx1"/>
                </a:solidFill>
                <a:effectLst/>
              </a:rPr>
              <a:t> </a:t>
            </a:r>
          </a:p>
        </p:txBody>
      </p:sp>
      <p:sp>
        <p:nvSpPr>
          <p:cNvPr id="11" name="Rectangle 4">
            <a:extLst>
              <a:ext uri="{FF2B5EF4-FFF2-40B4-BE49-F238E27FC236}">
                <a16:creationId xmlns:a16="http://schemas.microsoft.com/office/drawing/2014/main" id="{9DB5F4EA-9A74-83B2-4FA1-2FE326C65CBB}"/>
              </a:ext>
            </a:extLst>
          </p:cNvPr>
          <p:cNvSpPr>
            <a:spLocks noChangeArrowheads="1"/>
          </p:cNvSpPr>
          <p:nvPr/>
        </p:nvSpPr>
        <p:spPr bwMode="auto">
          <a:xfrm>
            <a:off x="5727092" y="2638042"/>
            <a:ext cx="6351766" cy="2769989"/>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rgbClr val="0000FF"/>
                </a:solidFill>
                <a:effectLst/>
                <a:latin typeface="Menlo"/>
              </a:rPr>
              <a:t>var</a:t>
            </a:r>
            <a:r>
              <a:rPr kumimoji="0" lang="en-US" altLang="en-US" sz="1600" b="0" i="0" u="none" strike="noStrike" cap="none" normalizeH="0" baseline="0" dirty="0">
                <a:ln>
                  <a:noFill/>
                </a:ln>
                <a:solidFill>
                  <a:srgbClr val="000000"/>
                </a:solidFill>
                <a:effectLst/>
                <a:latin typeface="Menlo"/>
              </a:rPr>
              <a:t> context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new</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TestContext</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rgbClr val="0000FF"/>
                </a:solidFill>
                <a:effectLst/>
                <a:latin typeface="Menlo"/>
              </a:rPr>
              <a:t>var</a:t>
            </a:r>
            <a:r>
              <a:rPr kumimoji="0" lang="en-US" altLang="en-US" sz="1600" b="0" i="0" u="none" strike="noStrike" cap="none" normalizeH="0" baseline="0" dirty="0">
                <a:ln>
                  <a:noFill/>
                </a:ln>
                <a:solidFill>
                  <a:srgbClr val="000000"/>
                </a:solidFill>
                <a:effectLst/>
                <a:latin typeface="Menlo"/>
              </a:rPr>
              <a:t> author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new</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Author</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err="1">
                <a:ln>
                  <a:noFill/>
                </a:ln>
                <a:solidFill>
                  <a:srgbClr val="555555"/>
                </a:solidFill>
                <a:effectLst/>
                <a:latin typeface="Menlo"/>
              </a:rPr>
              <a:t>AuthorId</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6666"/>
                </a:solidFill>
                <a:effectLst/>
                <a:latin typeface="Menlo"/>
              </a:rPr>
              <a:t>1</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rgbClr val="555555"/>
                </a:solidFill>
                <a:effectLst/>
                <a:latin typeface="Menlo"/>
              </a:rPr>
              <a:t>FirstName</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A52A2A"/>
                </a:solidFill>
                <a:effectLst/>
                <a:latin typeface="Menlo"/>
              </a:rPr>
              <a:t>"William"</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err="1">
                <a:ln>
                  <a:noFill/>
                </a:ln>
                <a:solidFill>
                  <a:srgbClr val="555555"/>
                </a:solidFill>
                <a:effectLst/>
                <a:latin typeface="Menlo"/>
              </a:rPr>
              <a:t>LastName</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A52A2A"/>
                </a:solidFill>
                <a:effectLst/>
                <a:latin typeface="Menlo"/>
              </a:rPr>
              <a:t>"Shakespeare"</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err="1">
                <a:ln>
                  <a:noFill/>
                </a:ln>
                <a:solidFill>
                  <a:srgbClr val="000000"/>
                </a:solidFill>
                <a:effectLst/>
                <a:latin typeface="Menlo"/>
              </a:rPr>
              <a:t>author</a:t>
            </a:r>
            <a:r>
              <a:rPr kumimoji="0" lang="en-US" altLang="en-US" sz="1600" b="0" i="0" u="none" strike="noStrike" cap="none" normalizeH="0" baseline="0" dirty="0" err="1">
                <a:ln>
                  <a:noFill/>
                </a:ln>
                <a:solidFill>
                  <a:srgbClr val="666600"/>
                </a:solidFill>
                <a:effectLst/>
                <a:latin typeface="Menlo"/>
              </a:rPr>
              <a:t>.</a:t>
            </a:r>
            <a:r>
              <a:rPr kumimoji="0" lang="en-US" altLang="en-US" sz="1600" b="0" i="0" u="none" strike="noStrike" cap="none" normalizeH="0" baseline="0" dirty="0" err="1">
                <a:ln>
                  <a:noFill/>
                </a:ln>
                <a:solidFill>
                  <a:srgbClr val="555555"/>
                </a:solidFill>
                <a:effectLst/>
                <a:latin typeface="Menlo"/>
              </a:rPr>
              <a:t>Books</a:t>
            </a:r>
            <a:r>
              <a:rPr kumimoji="0" lang="en-US" altLang="en-US" sz="1600" b="0" i="0" u="none" strike="noStrike" cap="none" normalizeH="0" baseline="0" dirty="0" err="1">
                <a:ln>
                  <a:noFill/>
                </a:ln>
                <a:solidFill>
                  <a:srgbClr val="666600"/>
                </a:solidFill>
                <a:effectLst/>
                <a:latin typeface="Menlo"/>
              </a:rPr>
              <a:t>.</a:t>
            </a:r>
            <a:r>
              <a:rPr kumimoji="0" lang="en-US" altLang="en-US" sz="1600" b="0" i="0" u="none" strike="noStrike" cap="none" normalizeH="0" baseline="0" dirty="0" err="1">
                <a:ln>
                  <a:noFill/>
                </a:ln>
                <a:solidFill>
                  <a:srgbClr val="555555"/>
                </a:solidFill>
                <a:effectLst/>
                <a:latin typeface="Menlo"/>
              </a:rPr>
              <a:t>Add</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FF"/>
                </a:solidFill>
                <a:effectLst/>
                <a:latin typeface="Menlo"/>
              </a:rPr>
              <a:t>new</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Book</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err="1">
                <a:ln>
                  <a:noFill/>
                </a:ln>
                <a:solidFill>
                  <a:srgbClr val="555555"/>
                </a:solidFill>
                <a:effectLst/>
                <a:latin typeface="Menlo"/>
              </a:rPr>
              <a:t>BookId</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6666"/>
                </a:solidFill>
                <a:effectLst/>
                <a:latin typeface="Menlo"/>
              </a:rPr>
              <a:t>1</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Title</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A52A2A"/>
                </a:solidFill>
                <a:effectLst/>
                <a:latin typeface="Menlo"/>
              </a:rPr>
              <a:t>"Othello"</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err="1">
                <a:ln>
                  <a:noFill/>
                </a:ln>
                <a:solidFill>
                  <a:srgbClr val="000000"/>
                </a:solidFill>
                <a:effectLst/>
                <a:latin typeface="Menlo"/>
              </a:rPr>
              <a:t>context</a:t>
            </a:r>
            <a:r>
              <a:rPr kumimoji="0" lang="en-US" altLang="en-US" sz="1600" b="0" i="0" u="none" strike="noStrike" cap="none" normalizeH="0" baseline="0" dirty="0" err="1">
                <a:ln>
                  <a:noFill/>
                </a:ln>
                <a:solidFill>
                  <a:srgbClr val="666600"/>
                </a:solidFill>
                <a:effectLst/>
                <a:latin typeface="Menlo"/>
              </a:rPr>
              <a:t>.</a:t>
            </a:r>
            <a:r>
              <a:rPr kumimoji="0" lang="en-US" altLang="en-US" sz="1600" b="0" i="0" u="none" strike="noStrike" cap="none" normalizeH="0" baseline="0" dirty="0" err="1">
                <a:ln>
                  <a:noFill/>
                </a:ln>
                <a:solidFill>
                  <a:srgbClr val="555555"/>
                </a:solidFill>
                <a:effectLst/>
                <a:latin typeface="Menlo"/>
              </a:rPr>
              <a:t>Attach</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author</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err="1">
                <a:ln>
                  <a:noFill/>
                </a:ln>
                <a:solidFill>
                  <a:srgbClr val="000000"/>
                </a:solidFill>
                <a:effectLst/>
                <a:latin typeface="Menlo"/>
              </a:rPr>
              <a:t>context</a:t>
            </a:r>
            <a:r>
              <a:rPr kumimoji="0" lang="en-US" altLang="en-US" sz="1600" b="0" i="0" u="none" strike="noStrike" cap="none" normalizeH="0" baseline="0" dirty="0" err="1">
                <a:ln>
                  <a:noFill/>
                </a:ln>
                <a:solidFill>
                  <a:srgbClr val="666600"/>
                </a:solidFill>
                <a:effectLst/>
                <a:latin typeface="Menlo"/>
              </a:rPr>
              <a:t>.</a:t>
            </a:r>
            <a:r>
              <a:rPr kumimoji="0" lang="en-US" altLang="en-US" sz="1600" b="0" i="0" u="none" strike="noStrike" cap="none" normalizeH="0" baseline="0" dirty="0" err="1">
                <a:ln>
                  <a:noFill/>
                </a:ln>
                <a:solidFill>
                  <a:srgbClr val="555555"/>
                </a:solidFill>
                <a:effectLst/>
                <a:latin typeface="Menlo"/>
              </a:rPr>
              <a:t>Entry</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author</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555555"/>
                </a:solidFill>
                <a:effectLst/>
                <a:latin typeface="Menlo"/>
              </a:rPr>
              <a:t>Property</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A52A2A"/>
                </a:solidFill>
                <a:effectLst/>
                <a:latin typeface="Menlo"/>
              </a:rPr>
              <a:t>"FirstName"</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err="1">
                <a:ln>
                  <a:noFill/>
                </a:ln>
                <a:solidFill>
                  <a:srgbClr val="555555"/>
                </a:solidFill>
                <a:effectLst/>
                <a:latin typeface="Menlo"/>
              </a:rPr>
              <a:t>IsModified</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true</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err="1">
                <a:ln>
                  <a:noFill/>
                </a:ln>
                <a:solidFill>
                  <a:srgbClr val="000000"/>
                </a:solidFill>
                <a:effectLst/>
                <a:latin typeface="Menlo"/>
              </a:rPr>
              <a:t>context</a:t>
            </a:r>
            <a:r>
              <a:rPr kumimoji="0" lang="en-US" altLang="en-US" sz="1600" b="0" i="0" u="none" strike="noStrike" cap="none" normalizeH="0" baseline="0" dirty="0" err="1">
                <a:ln>
                  <a:noFill/>
                </a:ln>
                <a:solidFill>
                  <a:srgbClr val="666600"/>
                </a:solidFill>
                <a:effectLst/>
                <a:latin typeface="Menlo"/>
              </a:rPr>
              <a:t>.</a:t>
            </a:r>
            <a:r>
              <a:rPr kumimoji="0" lang="en-US" altLang="en-US" sz="1600" b="0" i="0" u="none" strike="noStrike" cap="none" normalizeH="0" baseline="0" dirty="0" err="1">
                <a:ln>
                  <a:noFill/>
                </a:ln>
                <a:solidFill>
                  <a:srgbClr val="555555"/>
                </a:solidFill>
                <a:effectLst/>
                <a:latin typeface="Menlo"/>
              </a:rPr>
              <a:t>SaveChanges</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A5EE6B58-6341-4D39-E934-B081662D859A}"/>
              </a:ext>
            </a:extLst>
          </p:cNvPr>
          <p:cNvSpPr txBox="1"/>
          <p:nvPr/>
        </p:nvSpPr>
        <p:spPr>
          <a:xfrm>
            <a:off x="5531126" y="5700873"/>
            <a:ext cx="6107594" cy="923330"/>
          </a:xfrm>
          <a:prstGeom prst="rect">
            <a:avLst/>
          </a:prstGeom>
          <a:noFill/>
        </p:spPr>
        <p:txBody>
          <a:bodyPr wrap="square">
            <a:spAutoFit/>
          </a:bodyPr>
          <a:lstStyle/>
          <a:p>
            <a:r>
              <a:rPr lang="en-US" dirty="0"/>
              <a:t>The code above will result in the author entity being marked as Modified, and SQL being generated to </a:t>
            </a:r>
            <a:r>
              <a:rPr lang="en-US" b="1" dirty="0"/>
              <a:t>update just the FirstName property</a:t>
            </a:r>
            <a:r>
              <a:rPr lang="en-US" dirty="0"/>
              <a:t>:</a:t>
            </a:r>
          </a:p>
        </p:txBody>
      </p:sp>
    </p:spTree>
    <p:extLst>
      <p:ext uri="{BB962C8B-B14F-4D97-AF65-F5344CB8AC3E}">
        <p14:creationId xmlns:p14="http://schemas.microsoft.com/office/powerpoint/2010/main" val="9003755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59ABD2A-7FC6-A37B-2E9C-6A692F892A92}"/>
              </a:ext>
            </a:extLst>
          </p:cNvPr>
          <p:cNvSpPr txBox="1"/>
          <p:nvPr/>
        </p:nvSpPr>
        <p:spPr>
          <a:xfrm>
            <a:off x="255932" y="193021"/>
            <a:ext cx="6097656"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EF Core Delete Entity</a:t>
            </a:r>
          </a:p>
        </p:txBody>
      </p:sp>
      <p:sp>
        <p:nvSpPr>
          <p:cNvPr id="6" name="Rectangle 1">
            <a:extLst>
              <a:ext uri="{FF2B5EF4-FFF2-40B4-BE49-F238E27FC236}">
                <a16:creationId xmlns:a16="http://schemas.microsoft.com/office/drawing/2014/main" id="{96B9567D-06CE-2075-3E03-088D06D234BB}"/>
              </a:ext>
            </a:extLst>
          </p:cNvPr>
          <p:cNvSpPr>
            <a:spLocks noChangeArrowheads="1"/>
          </p:cNvSpPr>
          <p:nvPr/>
        </p:nvSpPr>
        <p:spPr bwMode="auto">
          <a:xfrm>
            <a:off x="0" y="663799"/>
            <a:ext cx="6382165" cy="2062103"/>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approach that you adopt to deleting entities via the </a:t>
            </a:r>
            <a:r>
              <a:rPr kumimoji="0" lang="en-US" altLang="en-US" sz="1600" b="0" i="0" u="none" strike="noStrike" cap="none" normalizeH="0" baseline="0" dirty="0" err="1">
                <a:ln>
                  <a:noFill/>
                </a:ln>
                <a:solidFill>
                  <a:srgbClr val="C7254E"/>
                </a:solidFill>
                <a:effectLst/>
                <a:latin typeface="Menlo"/>
                <a:cs typeface="Open Sans" panose="020B0606030504020204" pitchFamily="34" charset="0"/>
              </a:rPr>
              <a:t>DbContext</a:t>
            </a: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depends on whether the context is currently tracking the entity being deleted or not.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In the following example, the entity to be deleted is obtained by the context, so the context begins tracking it immediately. The </a:t>
            </a:r>
            <a:r>
              <a:rPr kumimoji="0" lang="en-US" altLang="en-US" sz="1600" b="0" i="0" u="none" strike="noStrike" cap="none" normalizeH="0" baseline="0" dirty="0" err="1">
                <a:ln>
                  <a:noFill/>
                </a:ln>
                <a:solidFill>
                  <a:srgbClr val="C7254E"/>
                </a:solidFill>
                <a:effectLst/>
                <a:latin typeface="Menlo"/>
                <a:cs typeface="Open Sans" panose="020B0606030504020204" pitchFamily="34" charset="0"/>
              </a:rPr>
              <a:t>DbContext.Remove</a:t>
            </a: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method results in the entity's </a:t>
            </a:r>
            <a:r>
              <a:rPr kumimoji="0" lang="en-US" altLang="en-US" sz="1600" b="0" i="0" u="none" strike="noStrike" cap="none" normalizeH="0" baseline="0" dirty="0" err="1">
                <a:ln>
                  <a:noFill/>
                </a:ln>
                <a:solidFill>
                  <a:srgbClr val="C7254E"/>
                </a:solidFill>
                <a:effectLst/>
                <a:latin typeface="Menlo"/>
                <a:cs typeface="Open Sans" panose="020B0606030504020204" pitchFamily="34" charset="0"/>
              </a:rPr>
              <a:t>EntityState</a:t>
            </a: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being set to </a:t>
            </a:r>
            <a:r>
              <a:rPr kumimoji="0" lang="en-US" altLang="en-US" sz="1600" b="0" i="0" u="none" strike="noStrike" cap="none" normalizeH="0" baseline="0" dirty="0">
                <a:ln>
                  <a:noFill/>
                </a:ln>
                <a:solidFill>
                  <a:srgbClr val="C7254E"/>
                </a:solidFill>
                <a:effectLst/>
                <a:latin typeface="Menlo"/>
                <a:cs typeface="Open Sans" panose="020B0606030504020204" pitchFamily="34" charset="0"/>
              </a:rPr>
              <a:t>Deleted</a:t>
            </a: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t>
            </a:r>
            <a:endParaRPr kumimoji="0" lang="en-US" altLang="en-US" sz="1600" b="0" i="0" u="none" strike="noStrike" cap="none" normalizeH="0" baseline="0" dirty="0">
              <a:ln>
                <a:noFill/>
              </a:ln>
              <a:solidFill>
                <a:schemeClr val="tx1"/>
              </a:solidFill>
              <a:effectLst/>
            </a:endParaRPr>
          </a:p>
        </p:txBody>
      </p:sp>
      <p:sp>
        <p:nvSpPr>
          <p:cNvPr id="7" name="Rectangle 2">
            <a:extLst>
              <a:ext uri="{FF2B5EF4-FFF2-40B4-BE49-F238E27FC236}">
                <a16:creationId xmlns:a16="http://schemas.microsoft.com/office/drawing/2014/main" id="{1323983B-B2C2-31DE-2D51-A2D55B210BE2}"/>
              </a:ext>
            </a:extLst>
          </p:cNvPr>
          <p:cNvSpPr>
            <a:spLocks noChangeArrowheads="1"/>
          </p:cNvSpPr>
          <p:nvPr/>
        </p:nvSpPr>
        <p:spPr bwMode="auto">
          <a:xfrm>
            <a:off x="0" y="2925586"/>
            <a:ext cx="6500191" cy="1107996"/>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context</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Remove</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err="1">
                <a:ln>
                  <a:noFill/>
                </a:ln>
                <a:solidFill>
                  <a:srgbClr val="000000"/>
                </a:solidFill>
                <a:effectLst/>
                <a:latin typeface="Menlo"/>
              </a:rPr>
              <a:t>context</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Authors</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Single</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a </a:t>
            </a:r>
            <a:r>
              <a:rPr kumimoji="0" lang="en-US" altLang="en-US" b="0" i="0" u="none" strike="noStrike" cap="none" normalizeH="0" baseline="0" dirty="0">
                <a:ln>
                  <a:noFill/>
                </a:ln>
                <a:solidFill>
                  <a:srgbClr val="666600"/>
                </a:solidFill>
                <a:effectLst/>
                <a:latin typeface="Menlo"/>
              </a:rPr>
              <a:t>=&gt;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000000"/>
                </a:solidFill>
                <a:effectLst/>
                <a:latin typeface="Menlo"/>
              </a:rPr>
              <a:t>a</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AuthorId</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6666"/>
                </a:solidFill>
                <a:effectLst/>
                <a:latin typeface="Menlo"/>
              </a:rPr>
              <a:t>1</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context</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SaveChanges</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D0D8844C-1536-3DF8-9604-02FA41101947}"/>
              </a:ext>
            </a:extLst>
          </p:cNvPr>
          <p:cNvSpPr txBox="1"/>
          <p:nvPr/>
        </p:nvSpPr>
        <p:spPr>
          <a:xfrm>
            <a:off x="0" y="4273249"/>
            <a:ext cx="6122504" cy="646331"/>
          </a:xfrm>
          <a:prstGeom prst="rect">
            <a:avLst/>
          </a:prstGeom>
          <a:noFill/>
        </p:spPr>
        <p:txBody>
          <a:bodyPr wrap="square">
            <a:spAutoFit/>
          </a:bodyPr>
          <a:lstStyle/>
          <a:p>
            <a:r>
              <a:rPr lang="en-US" dirty="0"/>
              <a:t>When </a:t>
            </a:r>
            <a:r>
              <a:rPr lang="en-US" dirty="0" err="1"/>
              <a:t>SaveChanges</a:t>
            </a:r>
            <a:r>
              <a:rPr lang="en-US" dirty="0"/>
              <a:t> is called, a DELETE statement is generated and executed by the database.</a:t>
            </a:r>
            <a:endParaRPr lang="en-IN" dirty="0"/>
          </a:p>
        </p:txBody>
      </p:sp>
      <p:sp>
        <p:nvSpPr>
          <p:cNvPr id="12" name="TextBox 11">
            <a:extLst>
              <a:ext uri="{FF2B5EF4-FFF2-40B4-BE49-F238E27FC236}">
                <a16:creationId xmlns:a16="http://schemas.microsoft.com/office/drawing/2014/main" id="{C1C30E9F-B623-063F-DAC5-3F1EDFEFC587}"/>
              </a:ext>
            </a:extLst>
          </p:cNvPr>
          <p:cNvSpPr txBox="1"/>
          <p:nvPr/>
        </p:nvSpPr>
        <p:spPr>
          <a:xfrm>
            <a:off x="0" y="5159247"/>
            <a:ext cx="6122504" cy="1477328"/>
          </a:xfrm>
          <a:prstGeom prst="rect">
            <a:avLst/>
          </a:prstGeom>
          <a:noFill/>
        </p:spPr>
        <p:txBody>
          <a:bodyPr wrap="square">
            <a:spAutoFit/>
          </a:bodyPr>
          <a:lstStyle/>
          <a:p>
            <a:r>
              <a:rPr lang="en-US" dirty="0"/>
              <a:t>This approach results in two SQL statements being executed: one to retrieve the entity from the database, and a second to delete it. You can use a stub to represent the entity to be deleted and thereby stop the entity from being retrieved from the database:</a:t>
            </a:r>
            <a:endParaRPr lang="en-IN" dirty="0"/>
          </a:p>
        </p:txBody>
      </p:sp>
      <p:sp>
        <p:nvSpPr>
          <p:cNvPr id="13" name="Rectangle 4">
            <a:extLst>
              <a:ext uri="{FF2B5EF4-FFF2-40B4-BE49-F238E27FC236}">
                <a16:creationId xmlns:a16="http://schemas.microsoft.com/office/drawing/2014/main" id="{1A197364-D81C-738C-1B91-2DFE66347456}"/>
              </a:ext>
            </a:extLst>
          </p:cNvPr>
          <p:cNvSpPr>
            <a:spLocks noChangeArrowheads="1"/>
          </p:cNvSpPr>
          <p:nvPr/>
        </p:nvSpPr>
        <p:spPr bwMode="auto">
          <a:xfrm>
            <a:off x="6897756" y="313912"/>
            <a:ext cx="4929809" cy="138499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context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SampleContext</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var</a:t>
            </a:r>
            <a:r>
              <a:rPr kumimoji="0" lang="en-US" altLang="en-US" b="0" i="0" u="none" strike="noStrike" cap="none" normalizeH="0" baseline="0" dirty="0">
                <a:ln>
                  <a:noFill/>
                </a:ln>
                <a:solidFill>
                  <a:srgbClr val="000000"/>
                </a:solidFill>
                <a:effectLst/>
                <a:latin typeface="Menlo"/>
              </a:rPr>
              <a:t> author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new</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Author</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AuthorId</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6666"/>
                </a:solidFill>
                <a:effectLst/>
                <a:latin typeface="Menlo"/>
              </a:rPr>
              <a:t>1</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context</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Remove</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author</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000000"/>
                </a:solidFill>
                <a:effectLst/>
                <a:latin typeface="Menlo"/>
              </a:rPr>
              <a:t>context</a:t>
            </a:r>
            <a:r>
              <a:rPr kumimoji="0" lang="en-US" altLang="en-US" b="0" i="0" u="none" strike="noStrike" cap="none" normalizeH="0" baseline="0" dirty="0" err="1">
                <a:ln>
                  <a:noFill/>
                </a:ln>
                <a:solidFill>
                  <a:srgbClr val="666600"/>
                </a:solidFill>
                <a:effectLst/>
                <a:latin typeface="Menlo"/>
              </a:rPr>
              <a:t>.</a:t>
            </a:r>
            <a:r>
              <a:rPr kumimoji="0" lang="en-US" altLang="en-US" b="0" i="0" u="none" strike="noStrike" cap="none" normalizeH="0" baseline="0" dirty="0" err="1">
                <a:ln>
                  <a:noFill/>
                </a:ln>
                <a:solidFill>
                  <a:srgbClr val="555555"/>
                </a:solidFill>
                <a:effectLst/>
                <a:latin typeface="Menlo"/>
              </a:rPr>
              <a:t>SaveChanges</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TextBox 14">
            <a:extLst>
              <a:ext uri="{FF2B5EF4-FFF2-40B4-BE49-F238E27FC236}">
                <a16:creationId xmlns:a16="http://schemas.microsoft.com/office/drawing/2014/main" id="{C64AFB2B-90B7-CA0D-2EA5-F906B4424FED}"/>
              </a:ext>
            </a:extLst>
          </p:cNvPr>
          <p:cNvSpPr txBox="1"/>
          <p:nvPr/>
        </p:nvSpPr>
        <p:spPr>
          <a:xfrm>
            <a:off x="6897756" y="1813748"/>
            <a:ext cx="5009322" cy="276999"/>
          </a:xfrm>
          <a:prstGeom prst="rect">
            <a:avLst/>
          </a:prstGeom>
          <a:noFill/>
        </p:spPr>
        <p:txBody>
          <a:bodyPr wrap="square">
            <a:spAutoFit/>
          </a:bodyPr>
          <a:lstStyle/>
          <a:p>
            <a:r>
              <a:rPr lang="en-US" sz="1200" b="0" i="0" dirty="0">
                <a:solidFill>
                  <a:srgbClr val="333333"/>
                </a:solidFill>
                <a:effectLst/>
                <a:latin typeface="Open Sans" panose="020B0606030504020204" pitchFamily="34" charset="0"/>
              </a:rPr>
              <a:t>The only property that the stub requires is the primary key value.</a:t>
            </a:r>
            <a:endParaRPr lang="en-IN" sz="1200" dirty="0"/>
          </a:p>
        </p:txBody>
      </p:sp>
      <p:sp>
        <p:nvSpPr>
          <p:cNvPr id="16" name="Rectangle 5">
            <a:extLst>
              <a:ext uri="{FF2B5EF4-FFF2-40B4-BE49-F238E27FC236}">
                <a16:creationId xmlns:a16="http://schemas.microsoft.com/office/drawing/2014/main" id="{25F6D981-B655-47CD-0D5F-78033F0AF6FC}"/>
              </a:ext>
            </a:extLst>
          </p:cNvPr>
          <p:cNvSpPr>
            <a:spLocks noChangeArrowheads="1"/>
          </p:cNvSpPr>
          <p:nvPr/>
        </p:nvSpPr>
        <p:spPr bwMode="auto">
          <a:xfrm>
            <a:off x="6987207" y="2802478"/>
            <a:ext cx="5009323" cy="646331"/>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You can explicitly set the </a:t>
            </a:r>
            <a:r>
              <a:rPr kumimoji="0" lang="en-US" altLang="en-US" sz="1100" b="0" i="0" u="none" strike="noStrike" cap="none" normalizeH="0" baseline="0" dirty="0" err="1">
                <a:ln>
                  <a:noFill/>
                </a:ln>
                <a:solidFill>
                  <a:srgbClr val="C7254E"/>
                </a:solidFill>
                <a:effectLst/>
                <a:latin typeface="Menlo"/>
              </a:rPr>
              <a:t>EntityState</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of an entity to </a:t>
            </a:r>
            <a:r>
              <a:rPr kumimoji="0" lang="en-US" altLang="en-US" sz="1100" b="0" i="0" u="none" strike="noStrike" cap="none" normalizeH="0" baseline="0" dirty="0">
                <a:ln>
                  <a:noFill/>
                </a:ln>
                <a:solidFill>
                  <a:srgbClr val="C7254E"/>
                </a:solidFill>
                <a:effectLst/>
                <a:latin typeface="Menlo"/>
              </a:rPr>
              <a:t>Deleted</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via the </a:t>
            </a:r>
            <a:r>
              <a:rPr kumimoji="0" lang="en-US" altLang="en-US" sz="1100" b="0" i="0" u="none" strike="noStrike" cap="none" normalizeH="0" baseline="0" dirty="0" err="1">
                <a:ln>
                  <a:noFill/>
                </a:ln>
                <a:solidFill>
                  <a:srgbClr val="C7254E"/>
                </a:solidFill>
                <a:effectLst/>
                <a:latin typeface="Menlo"/>
              </a:rPr>
              <a:t>EntityEntry.State</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property, which is made available by the </a:t>
            </a:r>
            <a:r>
              <a:rPr kumimoji="0" lang="en-US" altLang="en-US" sz="1100" b="0" i="0" u="none" strike="noStrike" cap="none" normalizeH="0" baseline="0" dirty="0" err="1">
                <a:ln>
                  <a:noFill/>
                </a:ln>
                <a:solidFill>
                  <a:srgbClr val="C7254E"/>
                </a:solidFill>
                <a:effectLst/>
                <a:latin typeface="Menlo"/>
              </a:rPr>
              <a:t>DbContext.Entry</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method.</a:t>
            </a:r>
            <a:r>
              <a:rPr kumimoji="0" lang="en-US" altLang="en-US" sz="105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18" name="TextBox 17">
            <a:extLst>
              <a:ext uri="{FF2B5EF4-FFF2-40B4-BE49-F238E27FC236}">
                <a16:creationId xmlns:a16="http://schemas.microsoft.com/office/drawing/2014/main" id="{B64298A0-3644-0D35-5D55-928160716DB6}"/>
              </a:ext>
            </a:extLst>
          </p:cNvPr>
          <p:cNvSpPr txBox="1"/>
          <p:nvPr/>
        </p:nvSpPr>
        <p:spPr>
          <a:xfrm>
            <a:off x="6897756" y="2279258"/>
            <a:ext cx="6122504" cy="369332"/>
          </a:xfrm>
          <a:prstGeom prst="rect">
            <a:avLst/>
          </a:prstGeom>
          <a:noFill/>
        </p:spPr>
        <p:txBody>
          <a:bodyPr wrap="square">
            <a:spAutoFit/>
          </a:bodyPr>
          <a:lstStyle/>
          <a:p>
            <a:pPr algn="l"/>
            <a:r>
              <a:rPr lang="en-IN" b="0" i="0" dirty="0">
                <a:solidFill>
                  <a:srgbClr val="004867"/>
                </a:solidFill>
                <a:effectLst/>
                <a:latin typeface="Roboto" panose="02000000000000000000" pitchFamily="2" charset="0"/>
              </a:rPr>
              <a:t>Setting </a:t>
            </a:r>
            <a:r>
              <a:rPr lang="en-IN" b="0" i="0" dirty="0" err="1">
                <a:solidFill>
                  <a:srgbClr val="004867"/>
                </a:solidFill>
                <a:effectLst/>
                <a:latin typeface="Roboto" panose="02000000000000000000" pitchFamily="2" charset="0"/>
              </a:rPr>
              <a:t>EntityState</a:t>
            </a:r>
            <a:endParaRPr lang="en-IN" b="0" i="0" dirty="0">
              <a:solidFill>
                <a:srgbClr val="004867"/>
              </a:solidFill>
              <a:effectLst/>
              <a:latin typeface="Roboto" panose="02000000000000000000" pitchFamily="2" charset="0"/>
            </a:endParaRPr>
          </a:p>
        </p:txBody>
      </p:sp>
      <p:sp>
        <p:nvSpPr>
          <p:cNvPr id="19" name="Rectangle 6">
            <a:extLst>
              <a:ext uri="{FF2B5EF4-FFF2-40B4-BE49-F238E27FC236}">
                <a16:creationId xmlns:a16="http://schemas.microsoft.com/office/drawing/2014/main" id="{1197B19A-C3F3-5E21-F4A8-827949E71849}"/>
              </a:ext>
            </a:extLst>
          </p:cNvPr>
          <p:cNvSpPr>
            <a:spLocks noChangeArrowheads="1"/>
          </p:cNvSpPr>
          <p:nvPr/>
        </p:nvSpPr>
        <p:spPr bwMode="auto">
          <a:xfrm>
            <a:off x="6987207" y="4150138"/>
            <a:ext cx="4840358" cy="1538883"/>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rgbClr val="0000FF"/>
                </a:solidFill>
                <a:effectLst/>
                <a:latin typeface="Menlo"/>
              </a:rPr>
              <a:t>var</a:t>
            </a:r>
            <a:r>
              <a:rPr kumimoji="0" lang="en-US" altLang="en-US" sz="1600" b="0" i="0" u="none" strike="noStrike" cap="none" normalizeH="0" baseline="0" dirty="0">
                <a:ln>
                  <a:noFill/>
                </a:ln>
                <a:solidFill>
                  <a:srgbClr val="000000"/>
                </a:solidFill>
                <a:effectLst/>
                <a:latin typeface="Menlo"/>
              </a:rPr>
              <a:t> context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new</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SampleContext</a:t>
            </a:r>
            <a:r>
              <a:rPr kumimoji="0" lang="en-US" altLang="en-US" sz="16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rgbClr val="0000FF"/>
                </a:solidFill>
                <a:effectLst/>
                <a:latin typeface="Menlo"/>
              </a:rPr>
              <a:t>var</a:t>
            </a:r>
            <a:r>
              <a:rPr kumimoji="0" lang="en-US" altLang="en-US" sz="1600" b="0" i="0" u="none" strike="noStrike" cap="none" normalizeH="0" baseline="0" dirty="0">
                <a:ln>
                  <a:noFill/>
                </a:ln>
                <a:solidFill>
                  <a:srgbClr val="000000"/>
                </a:solidFill>
                <a:effectLst/>
                <a:latin typeface="Menlo"/>
              </a:rPr>
              <a:t> author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new</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Author</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AuthorId</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6666"/>
                </a:solidFill>
                <a:effectLst/>
                <a:latin typeface="Menlo"/>
              </a:rPr>
              <a:t>1</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err="1">
                <a:ln>
                  <a:noFill/>
                </a:ln>
                <a:solidFill>
                  <a:srgbClr val="000000"/>
                </a:solidFill>
                <a:effectLst/>
                <a:latin typeface="Menlo"/>
              </a:rPr>
              <a:t>context</a:t>
            </a:r>
            <a:r>
              <a:rPr kumimoji="0" lang="en-US" altLang="en-US" sz="1600" b="0" i="0" u="none" strike="noStrike" cap="none" normalizeH="0" baseline="0" dirty="0" err="1">
                <a:ln>
                  <a:noFill/>
                </a:ln>
                <a:solidFill>
                  <a:srgbClr val="666600"/>
                </a:solidFill>
                <a:effectLst/>
                <a:latin typeface="Menlo"/>
              </a:rPr>
              <a:t>.</a:t>
            </a:r>
            <a:r>
              <a:rPr kumimoji="0" lang="en-US" altLang="en-US" sz="1600" b="0" i="0" u="none" strike="noStrike" cap="none" normalizeH="0" baseline="0" dirty="0" err="1">
                <a:ln>
                  <a:noFill/>
                </a:ln>
                <a:solidFill>
                  <a:srgbClr val="555555"/>
                </a:solidFill>
                <a:effectLst/>
                <a:latin typeface="Menlo"/>
              </a:rPr>
              <a:t>Entry</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author</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555555"/>
                </a:solidFill>
                <a:effectLst/>
                <a:latin typeface="Menlo"/>
              </a:rPr>
              <a:t>State</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EntityState</a:t>
            </a:r>
            <a:r>
              <a:rPr kumimoji="0" lang="en-US" altLang="en-US" sz="1600" b="0" i="0" u="none" strike="noStrike" cap="none" normalizeH="0" baseline="0" dirty="0" err="1">
                <a:ln>
                  <a:noFill/>
                </a:ln>
                <a:solidFill>
                  <a:srgbClr val="666600"/>
                </a:solidFill>
                <a:effectLst/>
                <a:latin typeface="Menlo"/>
              </a:rPr>
              <a:t>.</a:t>
            </a:r>
            <a:r>
              <a:rPr kumimoji="0" lang="en-US" altLang="en-US" sz="1600" b="0" i="0" u="none" strike="noStrike" cap="none" normalizeH="0" baseline="0" dirty="0" err="1">
                <a:ln>
                  <a:noFill/>
                </a:ln>
                <a:solidFill>
                  <a:srgbClr val="555555"/>
                </a:solidFill>
                <a:effectLst/>
                <a:latin typeface="Menlo"/>
              </a:rPr>
              <a:t>Deleted</a:t>
            </a:r>
            <a:r>
              <a:rPr kumimoji="0" lang="en-US" altLang="en-US" sz="16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err="1">
                <a:ln>
                  <a:noFill/>
                </a:ln>
                <a:solidFill>
                  <a:srgbClr val="000000"/>
                </a:solidFill>
                <a:effectLst/>
                <a:latin typeface="Menlo"/>
              </a:rPr>
              <a:t>context</a:t>
            </a:r>
            <a:r>
              <a:rPr kumimoji="0" lang="en-US" altLang="en-US" sz="1600" b="0" i="0" u="none" strike="noStrike" cap="none" normalizeH="0" baseline="0" dirty="0" err="1">
                <a:ln>
                  <a:noFill/>
                </a:ln>
                <a:solidFill>
                  <a:srgbClr val="666600"/>
                </a:solidFill>
                <a:effectLst/>
                <a:latin typeface="Menlo"/>
              </a:rPr>
              <a:t>.</a:t>
            </a:r>
            <a:r>
              <a:rPr kumimoji="0" lang="en-US" altLang="en-US" sz="1600" b="0" i="0" u="none" strike="noStrike" cap="none" normalizeH="0" baseline="0" dirty="0" err="1">
                <a:ln>
                  <a:noFill/>
                </a:ln>
                <a:solidFill>
                  <a:srgbClr val="555555"/>
                </a:solidFill>
                <a:effectLst/>
                <a:latin typeface="Menlo"/>
              </a:rPr>
              <a:t>SaveChanges</a:t>
            </a:r>
            <a:r>
              <a:rPr kumimoji="0" lang="en-US" altLang="en-US" sz="16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163009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699978B-4487-6E06-AD3C-947E96F30B7A}"/>
              </a:ext>
            </a:extLst>
          </p:cNvPr>
          <p:cNvSpPr txBox="1"/>
          <p:nvPr/>
        </p:nvSpPr>
        <p:spPr>
          <a:xfrm>
            <a:off x="146602" y="322230"/>
            <a:ext cx="6097656" cy="369332"/>
          </a:xfrm>
          <a:prstGeom prst="rect">
            <a:avLst/>
          </a:prstGeom>
          <a:noFill/>
        </p:spPr>
        <p:txBody>
          <a:bodyPr wrap="square">
            <a:spAutoFit/>
          </a:bodyPr>
          <a:lstStyle/>
          <a:p>
            <a:pPr algn="l"/>
            <a:r>
              <a:rPr lang="en-IN" b="0" i="0" dirty="0">
                <a:solidFill>
                  <a:srgbClr val="004867"/>
                </a:solidFill>
                <a:effectLst/>
                <a:latin typeface="Roboto" panose="02000000000000000000" pitchFamily="2" charset="0"/>
              </a:rPr>
              <a:t>Related Data </a:t>
            </a:r>
          </a:p>
        </p:txBody>
      </p:sp>
      <p:sp>
        <p:nvSpPr>
          <p:cNvPr id="7" name="TextBox 6">
            <a:extLst>
              <a:ext uri="{FF2B5EF4-FFF2-40B4-BE49-F238E27FC236}">
                <a16:creationId xmlns:a16="http://schemas.microsoft.com/office/drawing/2014/main" id="{9ACD0572-9C5F-46D3-2183-F3B80EB39C41}"/>
              </a:ext>
            </a:extLst>
          </p:cNvPr>
          <p:cNvSpPr txBox="1"/>
          <p:nvPr/>
        </p:nvSpPr>
        <p:spPr>
          <a:xfrm>
            <a:off x="146602" y="874541"/>
            <a:ext cx="6097656" cy="4247317"/>
          </a:xfrm>
          <a:prstGeom prst="rect">
            <a:avLst/>
          </a:prstGeom>
          <a:noFill/>
        </p:spPr>
        <p:txBody>
          <a:bodyPr wrap="square">
            <a:spAutoFit/>
          </a:bodyPr>
          <a:lstStyle/>
          <a:p>
            <a:r>
              <a:rPr lang="en-US" dirty="0"/>
              <a:t>If the entity that you want to delete has related data, the approach that you take will depend on how the relationship has been configured.</a:t>
            </a:r>
          </a:p>
          <a:p>
            <a:r>
              <a:rPr lang="en-US" dirty="0"/>
              <a:t> A fully defined relationship will have a cascading referential constraint set to Delete or </a:t>
            </a:r>
            <a:r>
              <a:rPr lang="en-US" dirty="0" err="1"/>
              <a:t>SetNull</a:t>
            </a:r>
            <a:r>
              <a:rPr lang="en-US" dirty="0"/>
              <a:t>, as will a relationship which has been configured via the Fluent API.</a:t>
            </a:r>
          </a:p>
          <a:p>
            <a:endParaRPr lang="en-US" dirty="0"/>
          </a:p>
          <a:p>
            <a:r>
              <a:rPr lang="en-US" dirty="0"/>
              <a:t> In these cases, you can </a:t>
            </a:r>
            <a:r>
              <a:rPr lang="en-US" b="1" dirty="0">
                <a:highlight>
                  <a:srgbClr val="FFFF00"/>
                </a:highlight>
              </a:rPr>
              <a:t>delete the principal </a:t>
            </a:r>
            <a:r>
              <a:rPr lang="en-US" dirty="0"/>
              <a:t>and let the database take care of the dependent rows.</a:t>
            </a:r>
          </a:p>
          <a:p>
            <a:endParaRPr lang="en-US" dirty="0"/>
          </a:p>
          <a:p>
            <a:r>
              <a:rPr lang="en-US" dirty="0"/>
              <a:t>Where the referential constraint action is set to </a:t>
            </a:r>
            <a:r>
              <a:rPr lang="en-US" dirty="0" err="1"/>
              <a:t>NoAction</a:t>
            </a:r>
            <a:r>
              <a:rPr lang="en-US" dirty="0"/>
              <a:t>, you need to take care of any related data explicitly.</a:t>
            </a:r>
          </a:p>
          <a:p>
            <a:endParaRPr lang="en-US" dirty="0"/>
          </a:p>
          <a:p>
            <a:r>
              <a:rPr lang="en-US" dirty="0"/>
              <a:t> The next example illustrates a relationship configured on a model that doesn't include a foreign key property:</a:t>
            </a:r>
            <a:endParaRPr lang="en-IN" dirty="0"/>
          </a:p>
        </p:txBody>
      </p:sp>
      <p:sp>
        <p:nvSpPr>
          <p:cNvPr id="8" name="Rectangle 1">
            <a:extLst>
              <a:ext uri="{FF2B5EF4-FFF2-40B4-BE49-F238E27FC236}">
                <a16:creationId xmlns:a16="http://schemas.microsoft.com/office/drawing/2014/main" id="{8EB505E0-8008-0FCF-C8CE-BD735225AA17}"/>
              </a:ext>
            </a:extLst>
          </p:cNvPr>
          <p:cNvSpPr>
            <a:spLocks noChangeArrowheads="1"/>
          </p:cNvSpPr>
          <p:nvPr/>
        </p:nvSpPr>
        <p:spPr bwMode="auto">
          <a:xfrm>
            <a:off x="6778486" y="0"/>
            <a:ext cx="4293704" cy="387798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class</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Author</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int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AuthorId</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get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string</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FirstName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get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string</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LastName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get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ICollection</a:t>
            </a:r>
            <a:r>
              <a:rPr kumimoji="0" lang="en-US" altLang="en-US" b="0" i="0" u="none" strike="noStrike" cap="none" normalizeH="0" baseline="0" dirty="0">
                <a:ln>
                  <a:noFill/>
                </a:ln>
                <a:solidFill>
                  <a:srgbClr val="666600"/>
                </a:solidFill>
                <a:effectLst/>
                <a:latin typeface="Menlo"/>
              </a:rPr>
              <a:t>&lt;</a:t>
            </a:r>
            <a:r>
              <a:rPr kumimoji="0" lang="en-US" altLang="en-US" b="0" i="0" u="none" strike="noStrike" cap="none" normalizeH="0" baseline="0" dirty="0">
                <a:ln>
                  <a:noFill/>
                </a:ln>
                <a:solidFill>
                  <a:srgbClr val="555555"/>
                </a:solidFill>
                <a:effectLst/>
                <a:latin typeface="Menlo"/>
              </a:rPr>
              <a:t>Book</a:t>
            </a:r>
            <a:r>
              <a:rPr kumimoji="0" lang="en-US" altLang="en-US" b="0" i="0" u="none" strike="noStrike" cap="none" normalizeH="0" baseline="0" dirty="0">
                <a:ln>
                  <a:noFill/>
                </a:ln>
                <a:solidFill>
                  <a:srgbClr val="666600"/>
                </a:solidFill>
                <a:effectLst/>
                <a:latin typeface="Menlo"/>
              </a:rPr>
              <a:t>&gt;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Books</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get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class</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Book</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int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err="1">
                <a:ln>
                  <a:noFill/>
                </a:ln>
                <a:solidFill>
                  <a:srgbClr val="555555"/>
                </a:solidFill>
                <a:effectLst/>
                <a:latin typeface="Menlo"/>
              </a:rPr>
              <a:t>BookId</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get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FF"/>
                </a:solidFill>
                <a:effectLst/>
                <a:latin typeface="Menlo"/>
              </a:rPr>
              <a:t>public</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string</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555555"/>
                </a:solidFill>
                <a:effectLst/>
                <a:latin typeface="Menlo"/>
              </a:rPr>
              <a:t>Title</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get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0000FF"/>
                </a:solidFill>
                <a:effectLst/>
                <a:latin typeface="Menlo"/>
              </a:rPr>
              <a:t>set</a:t>
            </a:r>
            <a:r>
              <a:rPr kumimoji="0" lang="en-US" altLang="en-US" b="0" i="0" u="none" strike="noStrike" cap="none" normalizeH="0" baseline="0" dirty="0">
                <a:ln>
                  <a:noFill/>
                </a:ln>
                <a:solidFill>
                  <a:srgbClr val="666600"/>
                </a:solidFill>
                <a:effectLst/>
                <a:latin typeface="Menlo"/>
              </a:rPr>
              <a:t>;</a:t>
            </a:r>
            <a:r>
              <a:rPr kumimoji="0" lang="en-US" altLang="en-US" b="0" i="0" u="none" strike="noStrike" cap="none" normalizeH="0" baseline="0" dirty="0">
                <a:ln>
                  <a:noFill/>
                </a:ln>
                <a:solidFill>
                  <a:srgbClr val="000000"/>
                </a:solidFill>
                <a:effectLst/>
                <a:latin typeface="Menlo"/>
              </a:rPr>
              <a:t> </a:t>
            </a: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4BCE42C6-ACBE-641D-A9E0-98BC643761EA}"/>
              </a:ext>
            </a:extLst>
          </p:cNvPr>
          <p:cNvSpPr txBox="1"/>
          <p:nvPr/>
        </p:nvSpPr>
        <p:spPr>
          <a:xfrm>
            <a:off x="6244258" y="3959229"/>
            <a:ext cx="5543551" cy="2308324"/>
          </a:xfrm>
          <a:prstGeom prst="rect">
            <a:avLst/>
          </a:prstGeom>
          <a:noFill/>
        </p:spPr>
        <p:txBody>
          <a:bodyPr wrap="square">
            <a:spAutoFit/>
          </a:bodyPr>
          <a:lstStyle/>
          <a:p>
            <a:r>
              <a:rPr lang="en-US" dirty="0"/>
              <a:t>By default, this relationship is configured as optional and the referential constraint action option is configured to </a:t>
            </a:r>
            <a:r>
              <a:rPr lang="en-US" b="1" dirty="0" err="1"/>
              <a:t>NoAction</a:t>
            </a:r>
            <a:r>
              <a:rPr lang="en-US" dirty="0"/>
              <a:t>. In addition, </a:t>
            </a:r>
            <a:r>
              <a:rPr lang="en-US" b="1" dirty="0"/>
              <a:t>EF Core introduces a shadow property to represent the foreign key. </a:t>
            </a:r>
            <a:r>
              <a:rPr lang="en-US" dirty="0"/>
              <a:t>It is named </a:t>
            </a:r>
            <a:r>
              <a:rPr lang="en-US" dirty="0" err="1"/>
              <a:t>AuthorId</a:t>
            </a:r>
            <a:r>
              <a:rPr lang="en-US" dirty="0"/>
              <a:t> and is applied to the Book entity, and since the relationship is optional, the </a:t>
            </a:r>
            <a:r>
              <a:rPr lang="en-US" dirty="0" err="1"/>
              <a:t>AuthorId</a:t>
            </a:r>
            <a:r>
              <a:rPr lang="en-US" dirty="0"/>
              <a:t> property is nullable. To delete the author, you need to delete the relationship between each book and the author</a:t>
            </a:r>
            <a:endParaRPr lang="en-IN" dirty="0"/>
          </a:p>
        </p:txBody>
      </p:sp>
    </p:spTree>
    <p:extLst>
      <p:ext uri="{BB962C8B-B14F-4D97-AF65-F5344CB8AC3E}">
        <p14:creationId xmlns:p14="http://schemas.microsoft.com/office/powerpoint/2010/main" val="3078939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1602</TotalTime>
  <Words>5062</Words>
  <Application>Microsoft Office PowerPoint</Application>
  <PresentationFormat>Widescreen</PresentationFormat>
  <Paragraphs>417</Paragraphs>
  <Slides>25</Slides>
  <Notes>1</Notes>
  <HiddenSlides>1</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25</vt:i4>
      </vt:variant>
    </vt:vector>
  </HeadingPairs>
  <TitlesOfParts>
    <vt:vector size="36" baseType="lpstr">
      <vt:lpstr>Arial</vt:lpstr>
      <vt:lpstr>Arial Unicode MS</vt:lpstr>
      <vt:lpstr>Calibri</vt:lpstr>
      <vt:lpstr>Calibri Light</vt:lpstr>
      <vt:lpstr>Garamond</vt:lpstr>
      <vt:lpstr>Menlo</vt:lpstr>
      <vt:lpstr>Open Sans</vt:lpstr>
      <vt:lpstr>Roboto</vt:lpstr>
      <vt:lpstr>Segoe UI</vt:lpstr>
      <vt:lpstr>Office Theme</vt:lpstr>
      <vt:lpstr>1_Office Theme</vt:lpstr>
      <vt:lpstr>PowerPoint Presentation</vt:lpstr>
      <vt:lpstr>PowerPoint Presentation</vt:lpstr>
      <vt:lpstr>Entity Framework Core</vt:lpstr>
      <vt:lpstr> The following figure illustrates the supported application types, .NET Frameworks and OSs. </vt:lpstr>
      <vt:lpstr>EF Core Version History</vt:lpstr>
      <vt:lpstr>PowerPoint Presentation</vt:lpstr>
      <vt:lpstr>PowerPoint Presentation</vt:lpstr>
      <vt:lpstr>Install Entity Framework Core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Here's how Entity Framework determines whether to Add, Update, or Delete an entity: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sriram mantri vidyanidhi infotech academy</cp:lastModifiedBy>
  <cp:revision>107</cp:revision>
  <dcterms:created xsi:type="dcterms:W3CDTF">2023-09-22T06:11:34Z</dcterms:created>
  <dcterms:modified xsi:type="dcterms:W3CDTF">2025-04-17T04:56:56Z</dcterms:modified>
</cp:coreProperties>
</file>