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9" r:id="rId3"/>
    <p:sldId id="257" r:id="rId4"/>
    <p:sldId id="267" r:id="rId5"/>
    <p:sldId id="258" r:id="rId6"/>
    <p:sldId id="263" r:id="rId7"/>
    <p:sldId id="260" r:id="rId8"/>
    <p:sldId id="262" r:id="rId9"/>
    <p:sldId id="261" r:id="rId10"/>
    <p:sldId id="270" r:id="rId11"/>
    <p:sldId id="271" r:id="rId12"/>
    <p:sldId id="272" r:id="rId13"/>
    <p:sldId id="273" r:id="rId14"/>
    <p:sldId id="264" r:id="rId15"/>
    <p:sldId id="268" r:id="rId16"/>
    <p:sldId id="269" r:id="rId17"/>
    <p:sldId id="265" r:id="rId18"/>
    <p:sldId id="266"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08" autoAdjust="0"/>
  </p:normalViewPr>
  <p:slideViewPr>
    <p:cSldViewPr snapToGrid="0">
      <p:cViewPr>
        <p:scale>
          <a:sx n="125" d="100"/>
          <a:sy n="125" d="100"/>
        </p:scale>
        <p:origin x="72" y="-1118"/>
      </p:cViewPr>
      <p:guideLst/>
    </p:cSldViewPr>
  </p:slideViewPr>
  <p:notesTextViewPr>
    <p:cViewPr>
      <p:scale>
        <a:sx n="33" d="100"/>
        <a:sy n="33"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34CD4-BD7D-4C13-BE8B-90E3AD68B2A2}" type="datetimeFigureOut">
              <a:rPr lang="en-IN" smtClean="0"/>
              <a:t>17-04-2025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694F0-7496-4F4A-AF5D-42B9E30BDF83}" type="slidenum">
              <a:rPr lang="en-IN" smtClean="0"/>
              <a:t>‹#›</a:t>
            </a:fld>
            <a:endParaRPr lang="en-IN"/>
          </a:p>
        </p:txBody>
      </p:sp>
    </p:spTree>
    <p:extLst>
      <p:ext uri="{BB962C8B-B14F-4D97-AF65-F5344CB8AC3E}">
        <p14:creationId xmlns:p14="http://schemas.microsoft.com/office/powerpoint/2010/main" val="417733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2694F0-7496-4F4A-AF5D-42B9E30BDF83}" type="slidenum">
              <a:rPr lang="en-IN" smtClean="0"/>
              <a:t>8</a:t>
            </a:fld>
            <a:endParaRPr lang="en-IN"/>
          </a:p>
        </p:txBody>
      </p:sp>
    </p:spTree>
    <p:extLst>
      <p:ext uri="{BB962C8B-B14F-4D97-AF65-F5344CB8AC3E}">
        <p14:creationId xmlns:p14="http://schemas.microsoft.com/office/powerpoint/2010/main" val="2179462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endParaRPr lang="en-IN" dirty="0"/>
          </a:p>
        </p:txBody>
      </p:sp>
      <p:sp>
        <p:nvSpPr>
          <p:cNvPr id="4" name="Slide Number Placeholder 3"/>
          <p:cNvSpPr>
            <a:spLocks noGrp="1"/>
          </p:cNvSpPr>
          <p:nvPr>
            <p:ph type="sldNum" sz="quarter" idx="10"/>
          </p:nvPr>
        </p:nvSpPr>
        <p:spPr/>
        <p:txBody>
          <a:bodyPr/>
          <a:lstStyle/>
          <a:p>
            <a:fld id="{1B2694F0-7496-4F4A-AF5D-42B9E30BDF83}" type="slidenum">
              <a:rPr lang="en-IN" smtClean="0"/>
              <a:t>9</a:t>
            </a:fld>
            <a:endParaRPr lang="en-IN"/>
          </a:p>
        </p:txBody>
      </p:sp>
    </p:spTree>
    <p:extLst>
      <p:ext uri="{BB962C8B-B14F-4D97-AF65-F5344CB8AC3E}">
        <p14:creationId xmlns:p14="http://schemas.microsoft.com/office/powerpoint/2010/main" val="2274169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DACC1C7-7776-4762-88E0-A22AFB43F7AE}"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3305438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DACC1C7-7776-4762-88E0-A22AFB43F7AE}"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1283825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ACC1C7-7776-4762-88E0-A22AFB43F7AE}"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3131590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DACC1C7-7776-4762-88E0-A22AFB43F7AE}" type="datetimeFigureOut">
              <a:rPr lang="en-IN" smtClean="0"/>
              <a:t>17-04-2025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64613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DACC1C7-7776-4762-88E0-A22AFB43F7AE}" type="datetimeFigureOut">
              <a:rPr lang="en-IN" smtClean="0"/>
              <a:t>17-04-2025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2712131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DACC1C7-7776-4762-88E0-A22AFB43F7AE}" type="datetimeFigureOut">
              <a:rPr lang="en-IN" smtClean="0"/>
              <a:t>17-04-2025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3454663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ACC1C7-7776-4762-88E0-A22AFB43F7AE}" type="datetimeFigureOut">
              <a:rPr lang="en-IN" smtClean="0"/>
              <a:t>17-04-2025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235866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ACC1C7-7776-4762-88E0-A22AFB43F7AE}" type="datetimeFigureOut">
              <a:rPr lang="en-IN" smtClean="0"/>
              <a:t>17-04-2025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2798339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ACC1C7-7776-4762-88E0-A22AFB43F7AE}" type="datetimeFigureOut">
              <a:rPr lang="en-IN" smtClean="0"/>
              <a:t>17-04-2025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3261567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DACC1C7-7776-4762-88E0-A22AFB43F7AE}"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1756226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DACC1C7-7776-4762-88E0-A22AFB43F7AE}" type="datetimeFigureOut">
              <a:rPr lang="en-IN" smtClean="0"/>
              <a:t>17-04-2025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23D5D-D26B-4D11-9493-7F2AFA3DDBC3}" type="slidenum">
              <a:rPr lang="en-IN" smtClean="0"/>
              <a:t>‹#›</a:t>
            </a:fld>
            <a:endParaRPr lang="en-IN"/>
          </a:p>
        </p:txBody>
      </p:sp>
    </p:spTree>
    <p:extLst>
      <p:ext uri="{BB962C8B-B14F-4D97-AF65-F5344CB8AC3E}">
        <p14:creationId xmlns:p14="http://schemas.microsoft.com/office/powerpoint/2010/main" val="3764029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ACC1C7-7776-4762-88E0-A22AFB43F7AE}" type="datetimeFigureOut">
              <a:rPr lang="en-IN" smtClean="0"/>
              <a:t>17-04-2025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23D5D-D26B-4D11-9493-7F2AFA3DDBC3}" type="slidenum">
              <a:rPr lang="en-IN" smtClean="0"/>
              <a:t>‹#›</a:t>
            </a:fld>
            <a:endParaRPr lang="en-IN"/>
          </a:p>
        </p:txBody>
      </p:sp>
    </p:spTree>
    <p:extLst>
      <p:ext uri="{BB962C8B-B14F-4D97-AF65-F5344CB8AC3E}">
        <p14:creationId xmlns:p14="http://schemas.microsoft.com/office/powerpoint/2010/main" val="2089519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D6116-A0FE-A355-759C-A57F3E2EE435}"/>
              </a:ext>
            </a:extLst>
          </p:cNvPr>
          <p:cNvPicPr>
            <a:picLocks noChangeAspect="1"/>
          </p:cNvPicPr>
          <p:nvPr/>
        </p:nvPicPr>
        <p:blipFill>
          <a:blip r:embed="rId2"/>
          <a:stretch>
            <a:fillRect/>
          </a:stretch>
        </p:blipFill>
        <p:spPr>
          <a:xfrm>
            <a:off x="4122249" y="1112319"/>
            <a:ext cx="3947502" cy="4633362"/>
          </a:xfrm>
          <a:prstGeom prst="rect">
            <a:avLst/>
          </a:prstGeom>
        </p:spPr>
      </p:pic>
    </p:spTree>
    <p:extLst>
      <p:ext uri="{BB962C8B-B14F-4D97-AF65-F5344CB8AC3E}">
        <p14:creationId xmlns:p14="http://schemas.microsoft.com/office/powerpoint/2010/main" val="2726167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7839" y="987552"/>
            <a:ext cx="4632102"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IN" dirty="0"/>
              <a:t>Install-package </a:t>
            </a:r>
            <a:r>
              <a:rPr lang="en-IN" dirty="0" err="1"/>
              <a:t>Microsoft.EntityFrameworkCore</a:t>
            </a:r>
            <a:endParaRPr lang="en-IN" dirty="0"/>
          </a:p>
        </p:txBody>
      </p:sp>
      <p:sp>
        <p:nvSpPr>
          <p:cNvPr id="6" name="Rectangle 5"/>
          <p:cNvSpPr/>
          <p:nvPr/>
        </p:nvSpPr>
        <p:spPr>
          <a:xfrm>
            <a:off x="268158" y="1509010"/>
            <a:ext cx="5571333"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IN" dirty="0"/>
              <a:t>Install-package </a:t>
            </a:r>
            <a:r>
              <a:rPr lang="en-IN" dirty="0" err="1"/>
              <a:t>Microsoft.EntityFrameworkCore.SqlServer</a:t>
            </a:r>
            <a:endParaRPr lang="en-IN" dirty="0"/>
          </a:p>
        </p:txBody>
      </p:sp>
      <p:sp>
        <p:nvSpPr>
          <p:cNvPr id="7" name="Rectangle 6"/>
          <p:cNvSpPr/>
          <p:nvPr/>
        </p:nvSpPr>
        <p:spPr>
          <a:xfrm>
            <a:off x="367839" y="2030468"/>
            <a:ext cx="5203476"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IN" dirty="0"/>
              <a:t> Install-package </a:t>
            </a:r>
            <a:r>
              <a:rPr lang="en-IN" dirty="0" err="1"/>
              <a:t>Microsoft.EntityFrameworkCore.Tools</a:t>
            </a:r>
            <a:endParaRPr lang="en-IN" dirty="0"/>
          </a:p>
        </p:txBody>
      </p:sp>
      <p:sp>
        <p:nvSpPr>
          <p:cNvPr id="8" name="TextBox 7"/>
          <p:cNvSpPr txBox="1"/>
          <p:nvPr/>
        </p:nvSpPr>
        <p:spPr>
          <a:xfrm>
            <a:off x="3337560" y="164592"/>
            <a:ext cx="3447288"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Download Dependency</a:t>
            </a:r>
            <a:endParaRPr lang="en-IN" dirty="0"/>
          </a:p>
        </p:txBody>
      </p:sp>
      <p:sp>
        <p:nvSpPr>
          <p:cNvPr id="2" name="Rectangle 1"/>
          <p:cNvSpPr/>
          <p:nvPr/>
        </p:nvSpPr>
        <p:spPr>
          <a:xfrm>
            <a:off x="187974" y="2619374"/>
            <a:ext cx="11832575" cy="3693319"/>
          </a:xfrm>
          <a:prstGeom prst="rect">
            <a:avLst/>
          </a:prstGeom>
        </p:spPr>
        <p:txBody>
          <a:bodyPr wrap="square">
            <a:spAutoFit/>
          </a:bodyPr>
          <a:lstStyle/>
          <a:p>
            <a:r>
              <a:rPr lang="en-IN" dirty="0"/>
              <a:t>Summary:</a:t>
            </a:r>
          </a:p>
          <a:p>
            <a:r>
              <a:rPr lang="en-IN" dirty="0"/>
              <a:t>//     Provides a simple API surface for configuring </a:t>
            </a:r>
            <a:r>
              <a:rPr lang="en-IN" dirty="0" err="1"/>
              <a:t>Microsoft.EntityFrameworkCore.DbContextOptions</a:t>
            </a:r>
            <a:r>
              <a:rPr lang="en-IN" dirty="0"/>
              <a:t>.</a:t>
            </a:r>
          </a:p>
          <a:p>
            <a:r>
              <a:rPr lang="en-IN" dirty="0"/>
              <a:t>//     Databases (and other extensions) typically define extension methods on this object</a:t>
            </a:r>
          </a:p>
          <a:p>
            <a:r>
              <a:rPr lang="en-IN" dirty="0"/>
              <a:t>//     that allow you to </a:t>
            </a:r>
            <a:r>
              <a:rPr lang="en-IN" b="1" dirty="0"/>
              <a:t>configure the database connection </a:t>
            </a:r>
            <a:r>
              <a:rPr lang="en-IN" dirty="0"/>
              <a:t>(and other options) to be</a:t>
            </a:r>
          </a:p>
          <a:p>
            <a:r>
              <a:rPr lang="en-IN" dirty="0"/>
              <a:t>//     used for a context.</a:t>
            </a:r>
          </a:p>
          <a:p>
            <a:r>
              <a:rPr lang="en-IN" dirty="0"/>
              <a:t>//</a:t>
            </a:r>
          </a:p>
          <a:p>
            <a:r>
              <a:rPr lang="en-IN" dirty="0"/>
              <a:t>// Remarks:</a:t>
            </a:r>
          </a:p>
          <a:p>
            <a:r>
              <a:rPr lang="en-IN" dirty="0"/>
              <a:t>//     You can use </a:t>
            </a:r>
            <a:r>
              <a:rPr lang="en-IN" dirty="0" err="1"/>
              <a:t>Microsoft.EntityFrameworkCore.DbContextOptionsBuilder</a:t>
            </a:r>
            <a:r>
              <a:rPr lang="en-IN" dirty="0"/>
              <a:t> to configure</a:t>
            </a:r>
          </a:p>
          <a:p>
            <a:r>
              <a:rPr lang="en-IN" dirty="0"/>
              <a:t>//     a context by overriding </a:t>
            </a:r>
            <a:r>
              <a:rPr lang="en-IN" b="1" dirty="0" err="1"/>
              <a:t>Microsoft.EntityFrameworkCore.DbContext.OnConfiguring</a:t>
            </a:r>
            <a:r>
              <a:rPr lang="en-IN" b="1" dirty="0"/>
              <a:t>(</a:t>
            </a:r>
            <a:r>
              <a:rPr lang="en-IN" b="1" dirty="0" err="1"/>
              <a:t>Microsoft.EntityFrameworkCore.DbContextOptionsBuilder</a:t>
            </a:r>
            <a:r>
              <a:rPr lang="en-IN" b="1" dirty="0"/>
              <a:t>)</a:t>
            </a:r>
          </a:p>
          <a:p>
            <a:r>
              <a:rPr lang="en-IN" dirty="0"/>
              <a:t>//     or creating a </a:t>
            </a:r>
            <a:r>
              <a:rPr lang="en-IN" dirty="0" err="1"/>
              <a:t>Microsoft.EntityFrameworkCore.DbContextOptions</a:t>
            </a:r>
            <a:r>
              <a:rPr lang="en-IN" dirty="0"/>
              <a:t> externally and passing    it to the context constructor.</a:t>
            </a:r>
          </a:p>
          <a:p>
            <a:r>
              <a:rPr lang="en-IN" dirty="0"/>
              <a:t>//  See Using </a:t>
            </a:r>
            <a:r>
              <a:rPr lang="en-IN" dirty="0" err="1"/>
              <a:t>DbContextOptions</a:t>
            </a:r>
            <a:r>
              <a:rPr lang="en-IN" dirty="0"/>
              <a:t> for more information and examples.</a:t>
            </a:r>
          </a:p>
          <a:p>
            <a:r>
              <a:rPr lang="en-IN" dirty="0"/>
              <a:t>public class </a:t>
            </a:r>
            <a:r>
              <a:rPr lang="en-IN" b="1" dirty="0" err="1"/>
              <a:t>DbContextOptionsBuilder</a:t>
            </a:r>
            <a:r>
              <a:rPr lang="en-IN" dirty="0"/>
              <a:t> : </a:t>
            </a:r>
            <a:r>
              <a:rPr lang="en-IN" b="1" dirty="0" err="1"/>
              <a:t>IDbContextOptionsBuilderInfrastructure</a:t>
            </a:r>
            <a:endParaRPr lang="en-IN" b="1" dirty="0"/>
          </a:p>
        </p:txBody>
      </p:sp>
      <p:pic>
        <p:nvPicPr>
          <p:cNvPr id="3" name="Picture 2"/>
          <p:cNvPicPr>
            <a:picLocks noChangeAspect="1"/>
          </p:cNvPicPr>
          <p:nvPr/>
        </p:nvPicPr>
        <p:blipFill>
          <a:blip r:embed="rId2"/>
          <a:stretch>
            <a:fillRect/>
          </a:stretch>
        </p:blipFill>
        <p:spPr>
          <a:xfrm>
            <a:off x="5194834" y="533924"/>
            <a:ext cx="6997166" cy="716618"/>
          </a:xfrm>
          <a:prstGeom prst="rect">
            <a:avLst/>
          </a:prstGeom>
        </p:spPr>
      </p:pic>
      <p:sp>
        <p:nvSpPr>
          <p:cNvPr id="9" name="TextBox 8">
            <a:extLst>
              <a:ext uri="{FF2B5EF4-FFF2-40B4-BE49-F238E27FC236}">
                <a16:creationId xmlns:a16="http://schemas.microsoft.com/office/drawing/2014/main" id="{ACAD6599-1E24-EE42-7D1F-9E100130AD78}"/>
              </a:ext>
            </a:extLst>
          </p:cNvPr>
          <p:cNvSpPr txBox="1"/>
          <p:nvPr/>
        </p:nvSpPr>
        <p:spPr>
          <a:xfrm>
            <a:off x="6352511" y="1654887"/>
            <a:ext cx="6096000"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For VS </a:t>
            </a:r>
            <a:r>
              <a:rPr lang="en-IN" dirty="0" err="1"/>
              <a:t>COde</a:t>
            </a:r>
            <a:endParaRPr lang="en-IN" dirty="0"/>
          </a:p>
          <a:p>
            <a:r>
              <a:rPr lang="en-IN" dirty="0"/>
              <a:t>dotnet add package </a:t>
            </a:r>
            <a:r>
              <a:rPr lang="en-IN" dirty="0" err="1"/>
              <a:t>Microsoft.EntityFrameworkCore.SqlServer</a:t>
            </a:r>
            <a:endParaRPr lang="en-IN" dirty="0"/>
          </a:p>
          <a:p>
            <a:endParaRPr lang="en-IN" dirty="0"/>
          </a:p>
          <a:p>
            <a:r>
              <a:rPr lang="en-IN" b="0" i="0" dirty="0">
                <a:solidFill>
                  <a:srgbClr val="0101FD"/>
                </a:solidFill>
                <a:effectLst/>
                <a:latin typeface="SFMono-Regular"/>
              </a:rPr>
              <a:t>dotnet</a:t>
            </a:r>
            <a:r>
              <a:rPr lang="en-IN" b="0" i="0" dirty="0">
                <a:solidFill>
                  <a:srgbClr val="161616"/>
                </a:solidFill>
                <a:effectLst/>
                <a:latin typeface="SFMono-Regular"/>
              </a:rPr>
              <a:t> </a:t>
            </a:r>
            <a:r>
              <a:rPr lang="en-IN" b="0" i="0" dirty="0">
                <a:solidFill>
                  <a:srgbClr val="0101FD"/>
                </a:solidFill>
                <a:effectLst/>
                <a:latin typeface="SFMono-Regular"/>
              </a:rPr>
              <a:t>tool</a:t>
            </a:r>
            <a:r>
              <a:rPr lang="en-IN" b="0" i="0" dirty="0">
                <a:solidFill>
                  <a:srgbClr val="161616"/>
                </a:solidFill>
                <a:effectLst/>
                <a:latin typeface="SFMono-Regular"/>
              </a:rPr>
              <a:t> install</a:t>
            </a:r>
            <a:r>
              <a:rPr lang="en-IN" b="0" i="0" dirty="0">
                <a:solidFill>
                  <a:srgbClr val="006881"/>
                </a:solidFill>
                <a:effectLst/>
                <a:latin typeface="SFMono-Regular"/>
              </a:rPr>
              <a:t> --global</a:t>
            </a:r>
            <a:r>
              <a:rPr lang="en-IN" b="0" i="0" dirty="0">
                <a:solidFill>
                  <a:srgbClr val="161616"/>
                </a:solidFill>
                <a:effectLst/>
                <a:latin typeface="SFMono-Regular"/>
              </a:rPr>
              <a:t> dotnet-</a:t>
            </a:r>
            <a:r>
              <a:rPr lang="en-IN" b="0" i="0" dirty="0" err="1">
                <a:solidFill>
                  <a:srgbClr val="161616"/>
                </a:solidFill>
                <a:effectLst/>
                <a:latin typeface="SFMono-Regular"/>
              </a:rPr>
              <a:t>ef</a:t>
            </a:r>
            <a:endParaRPr lang="en-IN" dirty="0"/>
          </a:p>
        </p:txBody>
      </p:sp>
    </p:spTree>
    <p:extLst>
      <p:ext uri="{BB962C8B-B14F-4D97-AF65-F5344CB8AC3E}">
        <p14:creationId xmlns:p14="http://schemas.microsoft.com/office/powerpoint/2010/main" val="3245480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5725" y="46965"/>
            <a:ext cx="6708182"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Author</a:t>
            </a: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Key</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FirstName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LastName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Book</a:t>
            </a:r>
            <a:r>
              <a:rPr lang="en-US" sz="1800" dirty="0">
                <a:solidFill>
                  <a:srgbClr val="000000"/>
                </a:solidFill>
                <a:highlight>
                  <a:srgbClr val="FFFFFF"/>
                </a:highlight>
                <a:latin typeface="Cascadia Mono" panose="020B0609020000020004" pitchFamily="49" charset="0"/>
              </a:rPr>
              <a:t>&gt; Books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a:t>
            </a:r>
          </a:p>
        </p:txBody>
      </p:sp>
      <p:sp>
        <p:nvSpPr>
          <p:cNvPr id="5" name="Rectangle 4"/>
          <p:cNvSpPr/>
          <p:nvPr/>
        </p:nvSpPr>
        <p:spPr>
          <a:xfrm>
            <a:off x="6458712" y="3091101"/>
            <a:ext cx="6096000" cy="3693319"/>
          </a:xfrm>
          <a:prstGeom prst="rect">
            <a:avLst/>
          </a:prstGeom>
        </p:spPr>
        <p:txBody>
          <a:bodyPr>
            <a:spAutoFit/>
          </a:bodyPr>
          <a:lstStyle/>
          <a:p>
            <a:endParaRPr lang="en-IN" sz="1800" dirty="0">
              <a:solidFill>
                <a:srgbClr val="000000"/>
              </a:solidFill>
              <a:highlight>
                <a:srgbClr val="FFFFFF"/>
              </a:highlight>
              <a:latin typeface="Cascadia Mono" panose="020B0609020000020004" pitchFamily="49" charset="0"/>
            </a:endParaRPr>
          </a:p>
          <a:p>
            <a:r>
              <a:rPr lang="en-IN" sz="1800" dirty="0">
                <a:solidFill>
                  <a:srgbClr val="0000FF"/>
                </a:solidFill>
                <a:highlight>
                  <a:srgbClr val="FFFFFF"/>
                </a:highlight>
                <a:latin typeface="Cascadia Mono" panose="020B0609020000020004" pitchFamily="49" charset="0"/>
              </a:rPr>
              <a:t>namespace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CAbasicentityAB.Models</a:t>
            </a:r>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Book</a:t>
            </a:r>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	</a:t>
            </a:r>
          </a:p>
          <a:p>
            <a:r>
              <a:rPr lang="en-IN" dirty="0">
                <a:solidFill>
                  <a:srgbClr val="000000"/>
                </a:solidFill>
                <a:highlight>
                  <a:srgbClr val="FFFFFF"/>
                </a:highlight>
                <a:latin typeface="Cascadia Mono" panose="020B0609020000020004" pitchFamily="49" charset="0"/>
              </a:rPr>
              <a:t>	</a:t>
            </a:r>
            <a:r>
              <a:rPr lang="en-IN" sz="1800" dirty="0">
                <a:solidFill>
                  <a:srgbClr val="000000"/>
                </a:solidFill>
                <a:highlight>
                  <a:srgbClr val="FFFFFF"/>
                </a:highlight>
                <a:latin typeface="Cascadia Mono" panose="020B0609020000020004" pitchFamily="49" charset="0"/>
              </a:rPr>
              <a:t>[</a:t>
            </a:r>
            <a:r>
              <a:rPr lang="en-IN" sz="1800" dirty="0">
                <a:solidFill>
                  <a:srgbClr val="2B91AF"/>
                </a:solidFill>
                <a:highlight>
                  <a:srgbClr val="FFFFFF"/>
                </a:highlight>
                <a:latin typeface="Cascadia Mono" panose="020B0609020000020004" pitchFamily="49" charset="0"/>
              </a:rPr>
              <a:t>Key</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BookId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Title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Author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a:t>
            </a:r>
            <a:endParaRPr lang="en-IN" dirty="0">
              <a:solidFill>
                <a:srgbClr val="000000"/>
              </a:solidFill>
              <a:latin typeface="Cascadia Mono" panose="020B0609020000020004" pitchFamily="49" charset="0"/>
            </a:endParaRPr>
          </a:p>
        </p:txBody>
      </p:sp>
      <p:sp>
        <p:nvSpPr>
          <p:cNvPr id="2" name="TextBox 1"/>
          <p:cNvSpPr txBox="1"/>
          <p:nvPr/>
        </p:nvSpPr>
        <p:spPr>
          <a:xfrm>
            <a:off x="6705600" y="285750"/>
            <a:ext cx="5486400" cy="646331"/>
          </a:xfrm>
          <a:prstGeom prst="rect">
            <a:avLst/>
          </a:prstGeom>
          <a:noFill/>
        </p:spPr>
        <p:txBody>
          <a:bodyPr wrap="square" rtlCol="0">
            <a:spAutoFit/>
          </a:bodyPr>
          <a:lstStyle/>
          <a:p>
            <a:r>
              <a:rPr lang="en-US" dirty="0"/>
              <a:t>One </a:t>
            </a:r>
            <a:r>
              <a:rPr lang="en-IN" dirty="0">
                <a:solidFill>
                  <a:srgbClr val="000000"/>
                </a:solidFill>
                <a:latin typeface="Cascadia Mono" panose="020B0609020000020004" pitchFamily="49" charset="0"/>
              </a:rPr>
              <a:t>Author </a:t>
            </a:r>
            <a:r>
              <a:rPr lang="en-US" dirty="0"/>
              <a:t>can write many books</a:t>
            </a:r>
          </a:p>
          <a:p>
            <a:endParaRPr lang="en-IN" dirty="0"/>
          </a:p>
        </p:txBody>
      </p:sp>
      <p:cxnSp>
        <p:nvCxnSpPr>
          <p:cNvPr id="6" name="Straight Arrow Connector 5"/>
          <p:cNvCxnSpPr>
            <a:cxnSpLocks/>
            <a:endCxn id="7" idx="1"/>
          </p:cNvCxnSpPr>
          <p:nvPr/>
        </p:nvCxnSpPr>
        <p:spPr>
          <a:xfrm flipV="1">
            <a:off x="1492377" y="538877"/>
            <a:ext cx="3204210" cy="217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96587" y="354211"/>
            <a:ext cx="1602613" cy="369332"/>
          </a:xfrm>
          <a:prstGeom prst="rect">
            <a:avLst/>
          </a:prstGeom>
          <a:noFill/>
        </p:spPr>
        <p:txBody>
          <a:bodyPr wrap="square" rtlCol="0">
            <a:spAutoFit/>
          </a:bodyPr>
          <a:lstStyle/>
          <a:p>
            <a:r>
              <a:rPr lang="en-US" dirty="0"/>
              <a:t>Primary key</a:t>
            </a:r>
            <a:endParaRPr lang="en-IN" dirty="0"/>
          </a:p>
        </p:txBody>
      </p:sp>
      <p:cxnSp>
        <p:nvCxnSpPr>
          <p:cNvPr id="9" name="Straight Arrow Connector 8"/>
          <p:cNvCxnSpPr>
            <a:cxnSpLocks/>
          </p:cNvCxnSpPr>
          <p:nvPr/>
        </p:nvCxnSpPr>
        <p:spPr>
          <a:xfrm flipH="1">
            <a:off x="1687216" y="1981200"/>
            <a:ext cx="996717" cy="1468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725" y="3315709"/>
            <a:ext cx="412699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Indicate one to many relation</a:t>
            </a:r>
            <a:endParaRPr lang="en-IN" dirty="0"/>
          </a:p>
        </p:txBody>
      </p:sp>
      <p:cxnSp>
        <p:nvCxnSpPr>
          <p:cNvPr id="12" name="Straight Arrow Connector 11"/>
          <p:cNvCxnSpPr>
            <a:cxnSpLocks/>
          </p:cNvCxnSpPr>
          <p:nvPr/>
        </p:nvCxnSpPr>
        <p:spPr>
          <a:xfrm flipH="1">
            <a:off x="4869181" y="5786034"/>
            <a:ext cx="27976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747897" y="5652684"/>
            <a:ext cx="2190750" cy="369332"/>
          </a:xfrm>
          <a:prstGeom prst="rect">
            <a:avLst/>
          </a:prstGeom>
          <a:noFill/>
        </p:spPr>
        <p:txBody>
          <a:bodyPr wrap="square" rtlCol="0">
            <a:spAutoFit/>
          </a:bodyPr>
          <a:lstStyle/>
          <a:p>
            <a:r>
              <a:rPr lang="en-US" dirty="0"/>
              <a:t>Foreign key</a:t>
            </a:r>
            <a:endParaRPr lang="en-IN" dirty="0"/>
          </a:p>
        </p:txBody>
      </p:sp>
      <p:cxnSp>
        <p:nvCxnSpPr>
          <p:cNvPr id="15" name="Straight Arrow Connector 14"/>
          <p:cNvCxnSpPr>
            <a:cxnSpLocks/>
          </p:cNvCxnSpPr>
          <p:nvPr/>
        </p:nvCxnSpPr>
        <p:spPr>
          <a:xfrm flipH="1" flipV="1">
            <a:off x="3799713" y="5345443"/>
            <a:ext cx="3867151" cy="64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61925" y="5151662"/>
            <a:ext cx="3743325" cy="646331"/>
          </a:xfrm>
          <a:prstGeom prst="rect">
            <a:avLst/>
          </a:prstGeom>
          <a:noFill/>
        </p:spPr>
        <p:txBody>
          <a:bodyPr wrap="square" rtlCol="0">
            <a:spAutoFit/>
          </a:bodyPr>
          <a:lstStyle/>
          <a:p>
            <a:r>
              <a:rPr lang="en-US" dirty="0"/>
              <a:t>Using Book reference you can access Author </a:t>
            </a:r>
            <a:r>
              <a:rPr lang="en-US" b="1" u="sng" dirty="0"/>
              <a:t>using eager loading</a:t>
            </a:r>
            <a:endParaRPr lang="en-IN" b="1" u="sng" dirty="0"/>
          </a:p>
        </p:txBody>
      </p:sp>
      <p:graphicFrame>
        <p:nvGraphicFramePr>
          <p:cNvPr id="3" name="Table 2">
            <a:extLst>
              <a:ext uri="{FF2B5EF4-FFF2-40B4-BE49-F238E27FC236}">
                <a16:creationId xmlns:a16="http://schemas.microsoft.com/office/drawing/2014/main" id="{2FF47D85-6DB4-1D92-ABDA-F612F37D4129}"/>
              </a:ext>
            </a:extLst>
          </p:cNvPr>
          <p:cNvGraphicFramePr>
            <a:graphicFrameLocks noGrp="1"/>
          </p:cNvGraphicFramePr>
          <p:nvPr>
            <p:extLst>
              <p:ext uri="{D42A27DB-BD31-4B8C-83A1-F6EECF244321}">
                <p14:modId xmlns:p14="http://schemas.microsoft.com/office/powerpoint/2010/main" val="1794187564"/>
              </p:ext>
            </p:extLst>
          </p:nvPr>
        </p:nvGraphicFramePr>
        <p:xfrm>
          <a:off x="6908801" y="942155"/>
          <a:ext cx="4267200" cy="73152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3797108603"/>
                    </a:ext>
                  </a:extLst>
                </a:gridCol>
                <a:gridCol w="1422400">
                  <a:extLst>
                    <a:ext uri="{9D8B030D-6E8A-4147-A177-3AD203B41FA5}">
                      <a16:colId xmlns:a16="http://schemas.microsoft.com/office/drawing/2014/main" val="2952682578"/>
                    </a:ext>
                  </a:extLst>
                </a:gridCol>
                <a:gridCol w="1422400">
                  <a:extLst>
                    <a:ext uri="{9D8B030D-6E8A-4147-A177-3AD203B41FA5}">
                      <a16:colId xmlns:a16="http://schemas.microsoft.com/office/drawing/2014/main" val="1373813537"/>
                    </a:ext>
                  </a:extLst>
                </a:gridCol>
              </a:tblGrid>
              <a:tr h="364067">
                <a:tc>
                  <a:txBody>
                    <a:bodyPr/>
                    <a:lstStyle/>
                    <a:p>
                      <a:r>
                        <a:rPr lang="en-US" sz="1800" dirty="0" err="1">
                          <a:solidFill>
                            <a:srgbClr val="000000"/>
                          </a:solidFill>
                          <a:highlight>
                            <a:srgbClr val="FFFFFF"/>
                          </a:highlight>
                          <a:latin typeface="Cascadia Mono" panose="020B0609020000020004" pitchFamily="49" charset="0"/>
                        </a:rPr>
                        <a:t>AuthorId</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FirstName</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LastName</a:t>
                      </a:r>
                      <a:endParaRPr lang="en-IN" dirty="0"/>
                    </a:p>
                  </a:txBody>
                  <a:tcPr/>
                </a:tc>
                <a:extLst>
                  <a:ext uri="{0D108BD9-81ED-4DB2-BD59-A6C34878D82A}">
                    <a16:rowId xmlns:a16="http://schemas.microsoft.com/office/drawing/2014/main" val="1686671342"/>
                  </a:ext>
                </a:extLst>
              </a:tr>
              <a:tr h="364067">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37117866"/>
                  </a:ext>
                </a:extLst>
              </a:tr>
            </a:tbl>
          </a:graphicData>
        </a:graphic>
      </p:graphicFrame>
      <p:sp>
        <p:nvSpPr>
          <p:cNvPr id="8" name="TextBox 7">
            <a:extLst>
              <a:ext uri="{FF2B5EF4-FFF2-40B4-BE49-F238E27FC236}">
                <a16:creationId xmlns:a16="http://schemas.microsoft.com/office/drawing/2014/main" id="{5A361631-AB93-7D39-6A5C-A9C6C6823144}"/>
              </a:ext>
            </a:extLst>
          </p:cNvPr>
          <p:cNvSpPr txBox="1"/>
          <p:nvPr/>
        </p:nvSpPr>
        <p:spPr>
          <a:xfrm>
            <a:off x="7045113" y="1849702"/>
            <a:ext cx="242062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Primary Key Auto increment</a:t>
            </a:r>
          </a:p>
        </p:txBody>
      </p:sp>
      <p:cxnSp>
        <p:nvCxnSpPr>
          <p:cNvPr id="14" name="Straight Arrow Connector 13">
            <a:extLst>
              <a:ext uri="{FF2B5EF4-FFF2-40B4-BE49-F238E27FC236}">
                <a16:creationId xmlns:a16="http://schemas.microsoft.com/office/drawing/2014/main" id="{A89CF364-AF53-1217-DA69-A4D4E9CDF4FE}"/>
              </a:ext>
            </a:extLst>
          </p:cNvPr>
          <p:cNvCxnSpPr/>
          <p:nvPr/>
        </p:nvCxnSpPr>
        <p:spPr>
          <a:xfrm flipV="1">
            <a:off x="7484533" y="1202267"/>
            <a:ext cx="465667" cy="778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BCC5916A-93B6-B65B-91D4-A83427880C4C}"/>
              </a:ext>
            </a:extLst>
          </p:cNvPr>
          <p:cNvGraphicFramePr>
            <a:graphicFrameLocks noGrp="1"/>
          </p:cNvGraphicFramePr>
          <p:nvPr>
            <p:extLst>
              <p:ext uri="{D42A27DB-BD31-4B8C-83A1-F6EECF244321}">
                <p14:modId xmlns:p14="http://schemas.microsoft.com/office/powerpoint/2010/main" val="4068870861"/>
              </p:ext>
            </p:extLst>
          </p:nvPr>
        </p:nvGraphicFramePr>
        <p:xfrm>
          <a:off x="2492841" y="4028794"/>
          <a:ext cx="4267200" cy="73152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3797108603"/>
                    </a:ext>
                  </a:extLst>
                </a:gridCol>
                <a:gridCol w="1422400">
                  <a:extLst>
                    <a:ext uri="{9D8B030D-6E8A-4147-A177-3AD203B41FA5}">
                      <a16:colId xmlns:a16="http://schemas.microsoft.com/office/drawing/2014/main" val="2952682578"/>
                    </a:ext>
                  </a:extLst>
                </a:gridCol>
                <a:gridCol w="1422400">
                  <a:extLst>
                    <a:ext uri="{9D8B030D-6E8A-4147-A177-3AD203B41FA5}">
                      <a16:colId xmlns:a16="http://schemas.microsoft.com/office/drawing/2014/main" val="1373813537"/>
                    </a:ext>
                  </a:extLst>
                </a:gridCol>
              </a:tblGrid>
              <a:tr h="364067">
                <a:tc>
                  <a:txBody>
                    <a:bodyPr/>
                    <a:lstStyle/>
                    <a:p>
                      <a:r>
                        <a:rPr lang="en-US" sz="1800" dirty="0" err="1">
                          <a:solidFill>
                            <a:srgbClr val="000000"/>
                          </a:solidFill>
                          <a:highlight>
                            <a:srgbClr val="FFFFFF"/>
                          </a:highlight>
                          <a:latin typeface="Cascadia Mono" panose="020B0609020000020004" pitchFamily="49" charset="0"/>
                        </a:rPr>
                        <a:t>BookId</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Tile</a:t>
                      </a:r>
                      <a:endParaRPr lang="en-IN" dirty="0"/>
                    </a:p>
                  </a:txBody>
                  <a:tcPr/>
                </a:tc>
                <a:tc>
                  <a:txBody>
                    <a:bodyPr/>
                    <a:lstStyle/>
                    <a:p>
                      <a:r>
                        <a:rPr lang="en-US" sz="1800" dirty="0" err="1">
                          <a:solidFill>
                            <a:srgbClr val="000000"/>
                          </a:solidFill>
                          <a:highlight>
                            <a:srgbClr val="FFFFFF"/>
                          </a:highlight>
                          <a:latin typeface="Cascadia Mono" panose="020B0609020000020004" pitchFamily="49" charset="0"/>
                        </a:rPr>
                        <a:t>AuthorId</a:t>
                      </a:r>
                      <a:endParaRPr lang="en-IN" dirty="0"/>
                    </a:p>
                  </a:txBody>
                  <a:tcPr/>
                </a:tc>
                <a:extLst>
                  <a:ext uri="{0D108BD9-81ED-4DB2-BD59-A6C34878D82A}">
                    <a16:rowId xmlns:a16="http://schemas.microsoft.com/office/drawing/2014/main" val="1686671342"/>
                  </a:ext>
                </a:extLst>
              </a:tr>
              <a:tr h="364067">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37117866"/>
                  </a:ext>
                </a:extLst>
              </a:tr>
            </a:tbl>
          </a:graphicData>
        </a:graphic>
      </p:graphicFrame>
      <p:sp>
        <p:nvSpPr>
          <p:cNvPr id="17" name="TextBox 16">
            <a:extLst>
              <a:ext uri="{FF2B5EF4-FFF2-40B4-BE49-F238E27FC236}">
                <a16:creationId xmlns:a16="http://schemas.microsoft.com/office/drawing/2014/main" id="{8B539AF2-BE04-5F47-7C12-D863BF62B17C}"/>
              </a:ext>
            </a:extLst>
          </p:cNvPr>
          <p:cNvSpPr txBox="1"/>
          <p:nvPr/>
        </p:nvSpPr>
        <p:spPr>
          <a:xfrm>
            <a:off x="4125405" y="2633044"/>
            <a:ext cx="242062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Foreign Key</a:t>
            </a:r>
          </a:p>
        </p:txBody>
      </p:sp>
      <p:cxnSp>
        <p:nvCxnSpPr>
          <p:cNvPr id="20" name="Straight Arrow Connector 19">
            <a:extLst>
              <a:ext uri="{FF2B5EF4-FFF2-40B4-BE49-F238E27FC236}">
                <a16:creationId xmlns:a16="http://schemas.microsoft.com/office/drawing/2014/main" id="{4BC5CCBE-A546-5EDB-B5A8-F6FCC68ACACC}"/>
              </a:ext>
            </a:extLst>
          </p:cNvPr>
          <p:cNvCxnSpPr>
            <a:endCxn id="17" idx="2"/>
          </p:cNvCxnSpPr>
          <p:nvPr/>
        </p:nvCxnSpPr>
        <p:spPr>
          <a:xfrm flipH="1" flipV="1">
            <a:off x="5335715" y="3002376"/>
            <a:ext cx="205359" cy="1004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7283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7B6E16-B199-049D-44EE-7E20EA266A59}"/>
              </a:ext>
            </a:extLst>
          </p:cNvPr>
          <p:cNvSpPr txBox="1"/>
          <p:nvPr/>
        </p:nvSpPr>
        <p:spPr>
          <a:xfrm>
            <a:off x="313442" y="263479"/>
            <a:ext cx="6094428"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Cascade</a:t>
            </a:r>
          </a:p>
          <a:p>
            <a:endParaRPr lang="en-US" sz="1400" dirty="0">
              <a:solidFill>
                <a:srgbClr val="333333"/>
              </a:solidFill>
              <a:latin typeface="Open Sans" panose="020B0606030504020204" pitchFamily="34" charset="0"/>
            </a:endParaRPr>
          </a:p>
          <a:p>
            <a:r>
              <a:rPr lang="en-US" sz="1400" b="0" i="0" dirty="0">
                <a:solidFill>
                  <a:srgbClr val="333333"/>
                </a:solidFill>
                <a:effectLst/>
                <a:latin typeface="Open Sans" panose="020B0606030504020204" pitchFamily="34" charset="0"/>
              </a:rPr>
              <a:t>Under this option, </a:t>
            </a:r>
            <a:r>
              <a:rPr lang="en-US" sz="14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400" b="0" i="0" dirty="0">
                <a:solidFill>
                  <a:srgbClr val="333333"/>
                </a:solidFill>
                <a:effectLst/>
                <a:latin typeface="Open Sans" panose="020B0606030504020204" pitchFamily="34" charset="0"/>
              </a:rPr>
              <a:t>. When you update the primary key value for an author, all book records containing that value as a foreign key will be updated to the new foreign key value.</a:t>
            </a:r>
            <a:endParaRPr lang="en-IN" sz="1400" dirty="0"/>
          </a:p>
        </p:txBody>
      </p:sp>
      <p:graphicFrame>
        <p:nvGraphicFramePr>
          <p:cNvPr id="6" name="Table 9">
            <a:extLst>
              <a:ext uri="{FF2B5EF4-FFF2-40B4-BE49-F238E27FC236}">
                <a16:creationId xmlns:a16="http://schemas.microsoft.com/office/drawing/2014/main" id="{0DF90542-D098-E805-B365-254D9A497D12}"/>
              </a:ext>
            </a:extLst>
          </p:cNvPr>
          <p:cNvGraphicFramePr>
            <a:graphicFrameLocks noGrp="1"/>
          </p:cNvGraphicFramePr>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7" name="Table 10">
            <a:extLst>
              <a:ext uri="{FF2B5EF4-FFF2-40B4-BE49-F238E27FC236}">
                <a16:creationId xmlns:a16="http://schemas.microsoft.com/office/drawing/2014/main" id="{DB2411C5-D9CA-85B1-9CDA-0C80B514C1A3}"/>
              </a:ext>
            </a:extLst>
          </p:cNvPr>
          <p:cNvGraphicFramePr>
            <a:graphicFrameLocks noGrp="1"/>
          </p:cNvGraphicFramePr>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8" name="Straight Connector 7">
            <a:extLst>
              <a:ext uri="{FF2B5EF4-FFF2-40B4-BE49-F238E27FC236}">
                <a16:creationId xmlns:a16="http://schemas.microsoft.com/office/drawing/2014/main" id="{8D0C295C-D54D-4449-FB0A-D3FC0F245CF7}"/>
              </a:ext>
            </a:extLst>
          </p:cNvPr>
          <p:cNvCxnSpPr/>
          <p:nvPr/>
        </p:nvCxnSpPr>
        <p:spPr>
          <a:xfrm>
            <a:off x="1159496" y="366702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9" name="Freeform: Shape 8">
            <a:extLst>
              <a:ext uri="{FF2B5EF4-FFF2-40B4-BE49-F238E27FC236}">
                <a16:creationId xmlns:a16="http://schemas.microsoft.com/office/drawing/2014/main" id="{68DB24C4-F723-7C59-1E34-0A18A8BDC341}"/>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A739F680-B5AC-9721-D0AC-1DAEDD65D1B4}"/>
              </a:ext>
            </a:extLst>
          </p:cNvPr>
          <p:cNvCxnSpPr/>
          <p:nvPr/>
        </p:nvCxnSpPr>
        <p:spPr>
          <a:xfrm flipV="1">
            <a:off x="5844619" y="4703975"/>
            <a:ext cx="3233393" cy="94268"/>
          </a:xfrm>
          <a:prstGeom prst="line">
            <a:avLst/>
          </a:prstGeom>
          <a:ln w="28575"/>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B4E54F16-A985-3941-9484-38BDCFE52C70}"/>
              </a:ext>
            </a:extLst>
          </p:cNvPr>
          <p:cNvSpPr txBox="1"/>
          <p:nvPr/>
        </p:nvSpPr>
        <p:spPr>
          <a:xfrm>
            <a:off x="3048786" y="5862528"/>
            <a:ext cx="609442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i="0" dirty="0">
                <a:solidFill>
                  <a:srgbClr val="333333"/>
                </a:solidFill>
                <a:effectLst/>
                <a:latin typeface="Open Sans" panose="020B0606030504020204" pitchFamily="34" charset="0"/>
              </a:rPr>
              <a:t>when an Author is deleted, the operation will also cascade to dependent tables, resulting in all related books being deleted</a:t>
            </a:r>
            <a:r>
              <a:rPr lang="en-US" sz="1200" b="0" i="0" dirty="0">
                <a:solidFill>
                  <a:srgbClr val="333333"/>
                </a:solidFill>
                <a:effectLst/>
                <a:latin typeface="Open Sans" panose="020B0606030504020204" pitchFamily="34" charset="0"/>
              </a:rPr>
              <a:t>. </a:t>
            </a:r>
            <a:endParaRPr lang="en-IN" sz="1200" dirty="0"/>
          </a:p>
        </p:txBody>
      </p:sp>
    </p:spTree>
    <p:extLst>
      <p:ext uri="{BB962C8B-B14F-4D97-AF65-F5344CB8AC3E}">
        <p14:creationId xmlns:p14="http://schemas.microsoft.com/office/powerpoint/2010/main" val="8369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352" y="0"/>
            <a:ext cx="11189208" cy="4832092"/>
          </a:xfrm>
          <a:prstGeom prst="rect">
            <a:avLst/>
          </a:prstGeom>
        </p:spPr>
        <p:txBody>
          <a:bodyPr wrap="square">
            <a:spAutoFit/>
          </a:bodyPr>
          <a:lstStyle/>
          <a:p>
            <a:r>
              <a:rPr lang="en-IN" sz="1400" dirty="0">
                <a:solidFill>
                  <a:srgbClr val="000000"/>
                </a:solidFill>
                <a:latin typeface="Cascadia Mono" panose="020B0609020000020004" pitchFamily="49" charset="0"/>
              </a:rPr>
              <a:t>using </a:t>
            </a:r>
            <a:r>
              <a:rPr lang="en-IN" sz="1400" dirty="0" err="1">
                <a:solidFill>
                  <a:srgbClr val="000000"/>
                </a:solidFill>
                <a:latin typeface="Cascadia Mono" panose="020B0609020000020004" pitchFamily="49" charset="0"/>
              </a:rPr>
              <a:t>CAentitycore.Models</a:t>
            </a:r>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using </a:t>
            </a:r>
            <a:r>
              <a:rPr lang="en-IN" sz="1400" dirty="0" err="1">
                <a:solidFill>
                  <a:srgbClr val="000000"/>
                </a:solidFill>
                <a:latin typeface="Cascadia Mono" panose="020B0609020000020004" pitchFamily="49" charset="0"/>
              </a:rPr>
              <a:t>Microsoft.EntityFrameworkCore</a:t>
            </a:r>
            <a:r>
              <a:rPr lang="en-IN" sz="1400" dirty="0">
                <a:solidFill>
                  <a:srgbClr val="000000"/>
                </a:solidFill>
                <a:latin typeface="Cascadia Mono" panose="020B0609020000020004" pitchFamily="49" charset="0"/>
              </a:rPr>
              <a:t>;</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FF"/>
                </a:solidFill>
                <a:highlight>
                  <a:srgbClr val="FFFFFF"/>
                </a:highlight>
                <a:latin typeface="Cascadia Mono" panose="020B0609020000020004" pitchFamily="49" charset="0"/>
              </a:rPr>
              <a:t>namespace</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CAbasicentityAB.REpository</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class</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SampleContext</a:t>
            </a:r>
            <a:r>
              <a:rPr lang="en-IN" sz="1400" dirty="0">
                <a:solidFill>
                  <a:srgbClr val="000000"/>
                </a:solidFill>
                <a:highlight>
                  <a:srgbClr val="FFFFFF"/>
                </a:highlight>
                <a:latin typeface="Cascadia Mono" panose="020B0609020000020004" pitchFamily="49" charset="0"/>
              </a:rPr>
              <a:t> : </a:t>
            </a:r>
            <a:r>
              <a:rPr lang="en-IN" sz="1400" dirty="0" err="1">
                <a:solidFill>
                  <a:srgbClr val="2B91AF"/>
                </a:solidFill>
                <a:highlight>
                  <a:srgbClr val="FFFFFF"/>
                </a:highlight>
                <a:latin typeface="Cascadia Mono" panose="020B0609020000020004" pitchFamily="49" charset="0"/>
              </a:rPr>
              <a:t>DbContext</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protected</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override</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void</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OnConfiguring</a:t>
            </a:r>
            <a:r>
              <a:rPr lang="en-US" sz="1400" dirty="0">
                <a:solidFill>
                  <a:srgbClr val="000000"/>
                </a:solidFill>
                <a:highlight>
                  <a:srgbClr val="FFFFFF"/>
                </a:highlight>
                <a:latin typeface="Cascadia Mono" panose="020B0609020000020004" pitchFamily="49" charset="0"/>
              </a:rPr>
              <a:t>(</a:t>
            </a:r>
            <a:r>
              <a:rPr lang="en-US" sz="1400" dirty="0" err="1">
                <a:solidFill>
                  <a:srgbClr val="2B91AF"/>
                </a:solidFill>
                <a:highlight>
                  <a:srgbClr val="FFFFFF"/>
                </a:highlight>
                <a:latin typeface="Cascadia Mono" panose="020B0609020000020004" pitchFamily="49" charset="0"/>
              </a:rPr>
              <a:t>DbContextOptionsBuilder</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optionsBuilder</a:t>
            </a:r>
            <a:r>
              <a:rPr lang="en-US"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 </a:t>
            </a:r>
          </a:p>
          <a:p>
            <a:endParaRPr lang="en-IN" sz="1400" dirty="0">
              <a:solidFill>
                <a:srgbClr val="000000"/>
              </a:solidFill>
              <a:highlight>
                <a:srgbClr val="FFFFFF"/>
              </a:highlight>
              <a:latin typeface="Cascadia Mono" panose="020B0609020000020004" pitchFamily="49" charset="0"/>
            </a:endParaRP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if(!</a:t>
            </a:r>
            <a:r>
              <a:rPr lang="en-US" sz="1400" dirty="0" err="1">
                <a:solidFill>
                  <a:srgbClr val="000000"/>
                </a:solidFill>
                <a:highlight>
                  <a:srgbClr val="FFFFFF"/>
                </a:highlight>
                <a:latin typeface="Cascadia Mono" panose="020B0609020000020004" pitchFamily="49" charset="0"/>
              </a:rPr>
              <a:t>optionsBuilder</a:t>
            </a:r>
            <a:r>
              <a:rPr lang="en-US" sz="1400" dirty="0">
                <a:solidFill>
                  <a:srgbClr val="000000"/>
                </a:solidFill>
                <a:highlight>
                  <a:srgbClr val="FFFFFF"/>
                </a:highlight>
                <a:latin typeface="Cascadia Mono" panose="020B0609020000020004" pitchFamily="49" charset="0"/>
              </a:rPr>
              <a:t>.</a:t>
            </a:r>
            <a:r>
              <a:rPr kumimoji="0" lang="en-US" altLang="en-US" sz="14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IsConfigured</a:t>
            </a:r>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optionsBuilder.UseSqlServer</a:t>
            </a:r>
            <a:r>
              <a:rPr lang="en-US" sz="1400" dirty="0">
                <a:solidFill>
                  <a:srgbClr val="000000"/>
                </a:solidFill>
                <a:highlight>
                  <a:srgbClr val="FFFFFF"/>
                </a:highlight>
                <a:latin typeface="Cascadia Mono" panose="020B0609020000020004" pitchFamily="49" charset="0"/>
              </a:rPr>
              <a:t>(</a:t>
            </a:r>
            <a:r>
              <a:rPr lang="en-US" sz="1400" dirty="0">
                <a:solidFill>
                  <a:srgbClr val="800000"/>
                </a:solidFill>
                <a:highlight>
                  <a:srgbClr val="FFFFFF"/>
                </a:highlight>
                <a:latin typeface="Cascadia Mono" panose="020B0609020000020004" pitchFamily="49" charset="0"/>
              </a:rPr>
              <a:t>@"Data Source=(</a:t>
            </a:r>
            <a:r>
              <a:rPr lang="en-US" sz="1400" dirty="0" err="1">
                <a:solidFill>
                  <a:srgbClr val="800000"/>
                </a:solidFill>
                <a:highlight>
                  <a:srgbClr val="FFFFFF"/>
                </a:highlight>
                <a:latin typeface="Cascadia Mono" panose="020B0609020000020004" pitchFamily="49" charset="0"/>
              </a:rPr>
              <a:t>localdb</a:t>
            </a:r>
            <a:r>
              <a:rPr lang="en-US" sz="1400" dirty="0">
                <a:solidFill>
                  <a:srgbClr val="800000"/>
                </a:solidFill>
                <a:highlight>
                  <a:srgbClr val="FFFFFF"/>
                </a:highlight>
                <a:latin typeface="Cascadia Mono" panose="020B0609020000020004" pitchFamily="49" charset="0"/>
              </a:rPr>
              <a:t>)\</a:t>
            </a:r>
            <a:r>
              <a:rPr lang="en-US" sz="1400" dirty="0" err="1">
                <a:solidFill>
                  <a:srgbClr val="800000"/>
                </a:solidFill>
                <a:highlight>
                  <a:srgbClr val="FFFFFF"/>
                </a:highlight>
                <a:latin typeface="Cascadia Mono" panose="020B0609020000020004" pitchFamily="49" charset="0"/>
              </a:rPr>
              <a:t>ProjectModels;Initial</a:t>
            </a:r>
            <a:r>
              <a:rPr lang="en-US" sz="1400" dirty="0">
                <a:solidFill>
                  <a:srgbClr val="800000"/>
                </a:solidFill>
                <a:highlight>
                  <a:srgbClr val="FFFFFF"/>
                </a:highlight>
                <a:latin typeface="Cascadia Mono" panose="020B0609020000020004" pitchFamily="49" charset="0"/>
              </a:rPr>
              <a:t> Catalog=</a:t>
            </a:r>
            <a:r>
              <a:rPr lang="en-US" sz="1400" dirty="0" err="1">
                <a:solidFill>
                  <a:srgbClr val="800000"/>
                </a:solidFill>
                <a:highlight>
                  <a:srgbClr val="FFFFFF"/>
                </a:highlight>
                <a:latin typeface="Cascadia Mono" panose="020B0609020000020004" pitchFamily="49" charset="0"/>
              </a:rPr>
              <a:t>EntityAuthBook;Integrated</a:t>
            </a:r>
            <a:r>
              <a:rPr lang="en-US" sz="1400" dirty="0">
                <a:solidFill>
                  <a:srgbClr val="800000"/>
                </a:solidFill>
                <a:highlight>
                  <a:srgbClr val="FFFFFF"/>
                </a:highlight>
                <a:latin typeface="Cascadia Mono" panose="020B0609020000020004" pitchFamily="49" charset="0"/>
              </a:rPr>
              <a:t> Security=True"</a:t>
            </a:r>
            <a:r>
              <a:rPr lang="en-US" sz="1400" dirty="0">
                <a:solidFill>
                  <a:srgbClr val="000000"/>
                </a:solidFill>
                <a:highlight>
                  <a:srgbClr val="FFFFFF"/>
                </a:highlight>
                <a:latin typeface="Cascadia Mono" panose="020B0609020000020004" pitchFamily="49" charset="0"/>
              </a:rPr>
              <a:t>);</a:t>
            </a:r>
          </a:p>
          <a:p>
            <a:endParaRPr lang="en-US"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DbSet</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&gt; Books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DbSet</a:t>
            </a:r>
            <a:r>
              <a:rPr lang="en-US" sz="1400" dirty="0">
                <a:solidFill>
                  <a:srgbClr val="000000"/>
                </a:solidFill>
                <a:highlight>
                  <a:srgbClr val="FFFFFF"/>
                </a:highlight>
                <a:latin typeface="Cascadia Mono" panose="020B0609020000020004" pitchFamily="49" charset="0"/>
              </a:rPr>
              <a:t>&lt;</a:t>
            </a:r>
            <a:r>
              <a:rPr lang="en-US" sz="1400" dirty="0">
                <a:solidFill>
                  <a:srgbClr val="2B91AF"/>
                </a:solidFill>
                <a:highlight>
                  <a:srgbClr val="FFFFFF"/>
                </a:highlight>
                <a:latin typeface="Cascadia Mono" panose="020B0609020000020004" pitchFamily="49" charset="0"/>
              </a:rPr>
              <a:t>Author</a:t>
            </a:r>
            <a:r>
              <a:rPr lang="en-US" sz="1400" dirty="0">
                <a:solidFill>
                  <a:srgbClr val="000000"/>
                </a:solidFill>
                <a:highlight>
                  <a:srgbClr val="FFFFFF"/>
                </a:highlight>
                <a:latin typeface="Cascadia Mono" panose="020B0609020000020004" pitchFamily="49" charset="0"/>
              </a:rPr>
              <a:t>&gt; Authors { </a:t>
            </a:r>
            <a:r>
              <a:rPr lang="en-US" sz="1400" dirty="0">
                <a:solidFill>
                  <a:srgbClr val="0000FF"/>
                </a:solidFill>
                <a:highlight>
                  <a:srgbClr val="FFFFFF"/>
                </a:highlight>
                <a:latin typeface="Cascadia Mono" panose="020B0609020000020004" pitchFamily="49" charset="0"/>
              </a:rPr>
              <a:t>get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set</a:t>
            </a:r>
            <a:r>
              <a:rPr lang="en-US"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a:t>
            </a:r>
            <a:endParaRPr lang="en-IN" sz="1400" dirty="0">
              <a:solidFill>
                <a:srgbClr val="000000"/>
              </a:solidFill>
              <a:latin typeface="Cascadia Mono" panose="020B0609020000020004" pitchFamily="49" charset="0"/>
            </a:endParaRPr>
          </a:p>
        </p:txBody>
      </p:sp>
      <p:sp>
        <p:nvSpPr>
          <p:cNvPr id="5" name="TextBox 4"/>
          <p:cNvSpPr txBox="1"/>
          <p:nvPr/>
        </p:nvSpPr>
        <p:spPr>
          <a:xfrm>
            <a:off x="254127" y="5770811"/>
            <a:ext cx="3641598"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After this </a:t>
            </a:r>
          </a:p>
          <a:p>
            <a:r>
              <a:rPr lang="en-US" dirty="0"/>
              <a:t>Add-Migration </a:t>
            </a:r>
            <a:r>
              <a:rPr lang="en-US" dirty="0" err="1"/>
              <a:t>initialcreate</a:t>
            </a:r>
            <a:endParaRPr lang="en-US" dirty="0"/>
          </a:p>
          <a:p>
            <a:r>
              <a:rPr lang="en-US" dirty="0"/>
              <a:t>Update-Database -verbose</a:t>
            </a:r>
            <a:endParaRPr lang="en-IN" dirty="0"/>
          </a:p>
        </p:txBody>
      </p:sp>
      <p:cxnSp>
        <p:nvCxnSpPr>
          <p:cNvPr id="3" name="Straight Arrow Connector 2"/>
          <p:cNvCxnSpPr>
            <a:cxnSpLocks/>
          </p:cNvCxnSpPr>
          <p:nvPr/>
        </p:nvCxnSpPr>
        <p:spPr>
          <a:xfrm>
            <a:off x="3464878" y="3733799"/>
            <a:ext cx="3688397" cy="46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7064692" y="3805058"/>
            <a:ext cx="3086100" cy="1200329"/>
          </a:xfrm>
          <a:prstGeom prst="rect">
            <a:avLst/>
          </a:prstGeom>
          <a:noFill/>
        </p:spPr>
        <p:txBody>
          <a:bodyPr wrap="square" rtlCol="0">
            <a:spAutoFit/>
          </a:bodyPr>
          <a:lstStyle/>
          <a:p>
            <a:r>
              <a:rPr lang="en-US" dirty="0"/>
              <a:t>Table will be create with name </a:t>
            </a:r>
            <a:r>
              <a:rPr lang="en-US" b="1" dirty="0"/>
              <a:t>Books</a:t>
            </a:r>
          </a:p>
          <a:p>
            <a:r>
              <a:rPr lang="en-US" dirty="0"/>
              <a:t>And</a:t>
            </a:r>
          </a:p>
          <a:p>
            <a:r>
              <a:rPr lang="en-US" b="1" dirty="0"/>
              <a:t>Authors</a:t>
            </a:r>
            <a:endParaRPr lang="en-IN" b="1" dirty="0"/>
          </a:p>
        </p:txBody>
      </p:sp>
      <p:cxnSp>
        <p:nvCxnSpPr>
          <p:cNvPr id="8" name="Straight Arrow Connector 7"/>
          <p:cNvCxnSpPr>
            <a:cxnSpLocks/>
          </p:cNvCxnSpPr>
          <p:nvPr/>
        </p:nvCxnSpPr>
        <p:spPr>
          <a:xfrm>
            <a:off x="3594540" y="3914327"/>
            <a:ext cx="3470152" cy="893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667000" y="3966725"/>
            <a:ext cx="47625"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95275" y="4496260"/>
            <a:ext cx="2543175" cy="369332"/>
          </a:xfrm>
          <a:prstGeom prst="rect">
            <a:avLst/>
          </a:prstGeom>
          <a:noFill/>
        </p:spPr>
        <p:txBody>
          <a:bodyPr wrap="square" rtlCol="0">
            <a:spAutoFit/>
          </a:bodyPr>
          <a:lstStyle/>
          <a:p>
            <a:r>
              <a:rPr lang="en-US" dirty="0"/>
              <a:t>Map to </a:t>
            </a:r>
            <a:r>
              <a:rPr lang="en-US" dirty="0" err="1"/>
              <a:t>poco</a:t>
            </a:r>
            <a:r>
              <a:rPr lang="en-US" dirty="0"/>
              <a:t> class</a:t>
            </a:r>
            <a:endParaRPr lang="en-IN" dirty="0"/>
          </a:p>
        </p:txBody>
      </p:sp>
      <p:cxnSp>
        <p:nvCxnSpPr>
          <p:cNvPr id="13" name="Straight Arrow Connector 12"/>
          <p:cNvCxnSpPr/>
          <p:nvPr/>
        </p:nvCxnSpPr>
        <p:spPr>
          <a:xfrm>
            <a:off x="3005137" y="6232476"/>
            <a:ext cx="2871788" cy="15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794248" y="5900420"/>
            <a:ext cx="4876800" cy="923330"/>
          </a:xfrm>
          <a:prstGeom prst="rect">
            <a:avLst/>
          </a:prstGeom>
          <a:noFill/>
        </p:spPr>
        <p:txBody>
          <a:bodyPr wrap="square" rtlCol="0">
            <a:spAutoFit/>
          </a:bodyPr>
          <a:lstStyle/>
          <a:p>
            <a:r>
              <a:rPr lang="en-US" dirty="0"/>
              <a:t>Generate 2 file Snapshot and </a:t>
            </a:r>
            <a:r>
              <a:rPr lang="en-US" dirty="0" err="1"/>
              <a:t>initialcreate</a:t>
            </a:r>
            <a:r>
              <a:rPr lang="en-US" dirty="0"/>
              <a:t> migration file with (date time)  2 method Up and down with </a:t>
            </a:r>
            <a:r>
              <a:rPr lang="en-US" dirty="0" err="1"/>
              <a:t>Sql</a:t>
            </a:r>
            <a:r>
              <a:rPr lang="en-US" dirty="0"/>
              <a:t> query.</a:t>
            </a:r>
            <a:endParaRPr lang="en-IN" dirty="0"/>
          </a:p>
        </p:txBody>
      </p:sp>
      <p:cxnSp>
        <p:nvCxnSpPr>
          <p:cNvPr id="17" name="Straight Arrow Connector 16"/>
          <p:cNvCxnSpPr/>
          <p:nvPr/>
        </p:nvCxnSpPr>
        <p:spPr>
          <a:xfrm>
            <a:off x="2152650" y="6553200"/>
            <a:ext cx="1123950"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419475" y="6337919"/>
            <a:ext cx="2455545" cy="369332"/>
          </a:xfrm>
          <a:prstGeom prst="rect">
            <a:avLst/>
          </a:prstGeom>
          <a:noFill/>
        </p:spPr>
        <p:txBody>
          <a:bodyPr wrap="square" rtlCol="0">
            <a:spAutoFit/>
          </a:bodyPr>
          <a:lstStyle/>
          <a:p>
            <a:r>
              <a:rPr lang="en-US" dirty="0"/>
              <a:t>Execute query </a:t>
            </a:r>
            <a:endParaRPr lang="en-IN" dirty="0"/>
          </a:p>
        </p:txBody>
      </p:sp>
      <p:sp>
        <p:nvSpPr>
          <p:cNvPr id="2" name="Rectangle 1"/>
          <p:cNvSpPr/>
          <p:nvPr/>
        </p:nvSpPr>
        <p:spPr>
          <a:xfrm>
            <a:off x="6180137" y="34250"/>
            <a:ext cx="6358415"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r>
              <a:rPr lang="en-US" dirty="0">
                <a:solidFill>
                  <a:srgbClr val="161616"/>
                </a:solidFill>
                <a:latin typeface="Segoe UI" panose="020B0502040204020203" pitchFamily="34" charset="0"/>
              </a:rPr>
              <a:t>A </a:t>
            </a:r>
            <a:r>
              <a:rPr lang="en-US" b="1" dirty="0" err="1">
                <a:solidFill>
                  <a:srgbClr val="161616"/>
                </a:solidFill>
                <a:latin typeface="Segoe UI" panose="020B0502040204020203" pitchFamily="34" charset="0"/>
              </a:rPr>
              <a:t>DbSet</a:t>
            </a:r>
            <a:r>
              <a:rPr lang="en-US" b="1" dirty="0">
                <a:solidFill>
                  <a:srgbClr val="161616"/>
                </a:solidFill>
                <a:latin typeface="Segoe UI" panose="020B0502040204020203" pitchFamily="34" charset="0"/>
              </a:rPr>
              <a:t> </a:t>
            </a:r>
            <a:r>
              <a:rPr lang="en-US" dirty="0">
                <a:solidFill>
                  <a:srgbClr val="161616"/>
                </a:solidFill>
                <a:latin typeface="Segoe UI" panose="020B0502040204020203" pitchFamily="34" charset="0"/>
              </a:rPr>
              <a:t>represents the collection of all entities in the context, or that can be queried from the database, of a given type. </a:t>
            </a:r>
            <a:r>
              <a:rPr lang="en-US" dirty="0" err="1">
                <a:solidFill>
                  <a:srgbClr val="161616"/>
                </a:solidFill>
                <a:latin typeface="Segoe UI" panose="020B0502040204020203" pitchFamily="34" charset="0"/>
              </a:rPr>
              <a:t>DbSet</a:t>
            </a:r>
            <a:r>
              <a:rPr lang="en-US" dirty="0">
                <a:solidFill>
                  <a:srgbClr val="161616"/>
                </a:solidFill>
                <a:latin typeface="Segoe UI" panose="020B0502040204020203" pitchFamily="34" charset="0"/>
              </a:rPr>
              <a:t> objects are created from a </a:t>
            </a:r>
            <a:r>
              <a:rPr lang="en-US" dirty="0" err="1">
                <a:solidFill>
                  <a:srgbClr val="161616"/>
                </a:solidFill>
                <a:latin typeface="Segoe UI" panose="020B0502040204020203" pitchFamily="34" charset="0"/>
              </a:rPr>
              <a:t>DbContext</a:t>
            </a:r>
            <a:r>
              <a:rPr lang="en-US" dirty="0">
                <a:solidFill>
                  <a:srgbClr val="161616"/>
                </a:solidFill>
                <a:latin typeface="Segoe UI" panose="020B0502040204020203" pitchFamily="34" charset="0"/>
              </a:rPr>
              <a:t> using the </a:t>
            </a:r>
            <a:r>
              <a:rPr lang="en-US" dirty="0" err="1">
                <a:solidFill>
                  <a:srgbClr val="161616"/>
                </a:solidFill>
                <a:latin typeface="Segoe UI" panose="020B0502040204020203" pitchFamily="34" charset="0"/>
              </a:rPr>
              <a:t>DbContext.Set</a:t>
            </a:r>
            <a:r>
              <a:rPr lang="en-US" dirty="0">
                <a:solidFill>
                  <a:srgbClr val="161616"/>
                </a:solidFill>
                <a:latin typeface="Segoe UI" panose="020B0502040204020203" pitchFamily="34" charset="0"/>
              </a:rPr>
              <a:t> method.</a:t>
            </a:r>
          </a:p>
        </p:txBody>
      </p:sp>
      <p:sp>
        <p:nvSpPr>
          <p:cNvPr id="15" name="Rectangle 14"/>
          <p:cNvSpPr/>
          <p:nvPr/>
        </p:nvSpPr>
        <p:spPr>
          <a:xfrm>
            <a:off x="8124350" y="4339650"/>
            <a:ext cx="3808094"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r>
              <a:rPr lang="en-US" sz="1200" dirty="0" err="1">
                <a:solidFill>
                  <a:srgbClr val="161616"/>
                </a:solidFill>
                <a:latin typeface="Segoe UI" panose="020B0502040204020203" pitchFamily="34" charset="0"/>
              </a:rPr>
              <a:t>DbContext</a:t>
            </a:r>
            <a:r>
              <a:rPr lang="en-US" sz="1200" dirty="0">
                <a:solidFill>
                  <a:srgbClr val="161616"/>
                </a:solidFill>
                <a:latin typeface="Segoe UI" panose="020B0502040204020203" pitchFamily="34" charset="0"/>
              </a:rPr>
              <a:t> class</a:t>
            </a:r>
          </a:p>
          <a:p>
            <a:pPr lvl="0"/>
            <a:endParaRPr lang="en-US" sz="1200" dirty="0">
              <a:solidFill>
                <a:srgbClr val="161616"/>
              </a:solidFill>
              <a:latin typeface="Segoe UI" panose="020B0502040204020203" pitchFamily="34" charset="0"/>
            </a:endParaRPr>
          </a:p>
          <a:p>
            <a:pPr lvl="0"/>
            <a:r>
              <a:rPr lang="en-US" sz="1200" dirty="0">
                <a:solidFill>
                  <a:srgbClr val="161616"/>
                </a:solidFill>
                <a:latin typeface="Segoe UI" panose="020B0502040204020203" pitchFamily="34" charset="0"/>
              </a:rPr>
              <a:t>A </a:t>
            </a:r>
            <a:r>
              <a:rPr lang="en-US" sz="1200" dirty="0" err="1">
                <a:solidFill>
                  <a:srgbClr val="161616"/>
                </a:solidFill>
                <a:latin typeface="Segoe UI" panose="020B0502040204020203" pitchFamily="34" charset="0"/>
              </a:rPr>
              <a:t>DbContext</a:t>
            </a:r>
            <a:r>
              <a:rPr lang="en-US" sz="1200" dirty="0">
                <a:solidFill>
                  <a:srgbClr val="161616"/>
                </a:solidFill>
                <a:latin typeface="Segoe UI" panose="020B0502040204020203" pitchFamily="34" charset="0"/>
              </a:rPr>
              <a:t> instance represents a combination of the Unit Of Work and Repository patterns such that it can be used to query from a database and group together changes that will then be written back to the store as a unit. </a:t>
            </a:r>
            <a:r>
              <a:rPr lang="en-US" sz="1200" dirty="0" err="1">
                <a:solidFill>
                  <a:srgbClr val="161616"/>
                </a:solidFill>
                <a:latin typeface="Segoe UI" panose="020B0502040204020203" pitchFamily="34" charset="0"/>
              </a:rPr>
              <a:t>DbContext</a:t>
            </a:r>
            <a:r>
              <a:rPr lang="en-US" sz="1200" dirty="0">
                <a:solidFill>
                  <a:srgbClr val="161616"/>
                </a:solidFill>
                <a:latin typeface="Segoe UI" panose="020B0502040204020203" pitchFamily="34" charset="0"/>
              </a:rPr>
              <a:t> is conceptually similar to </a:t>
            </a:r>
            <a:r>
              <a:rPr lang="en-US" sz="1200" dirty="0" err="1">
                <a:solidFill>
                  <a:srgbClr val="161616"/>
                </a:solidFill>
                <a:latin typeface="Segoe UI" panose="020B0502040204020203" pitchFamily="34" charset="0"/>
              </a:rPr>
              <a:t>ObjectContext</a:t>
            </a:r>
            <a:r>
              <a:rPr lang="en-US" sz="1200" dirty="0">
                <a:solidFill>
                  <a:srgbClr val="161616"/>
                </a:solidFill>
                <a:latin typeface="Segoe UI" panose="020B0502040204020203" pitchFamily="34" charset="0"/>
              </a:rPr>
              <a:t>.</a:t>
            </a:r>
            <a:endParaRPr lang="en-IN" sz="1200" dirty="0">
              <a:solidFill>
                <a:prstClr val="black"/>
              </a:solidFill>
            </a:endParaRPr>
          </a:p>
        </p:txBody>
      </p:sp>
    </p:spTree>
    <p:extLst>
      <p:ext uri="{BB962C8B-B14F-4D97-AF65-F5344CB8AC3E}">
        <p14:creationId xmlns:p14="http://schemas.microsoft.com/office/powerpoint/2010/main" val="48527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
            <a:extLst>
              <a:ext uri="{FF2B5EF4-FFF2-40B4-BE49-F238E27FC236}">
                <a16:creationId xmlns:a16="http://schemas.microsoft.com/office/drawing/2014/main" id="{98340725-A782-7640-3FEE-D6EDB7A36417}"/>
              </a:ext>
            </a:extLst>
          </p:cNvPr>
          <p:cNvSpPr>
            <a:spLocks noChangeArrowheads="1"/>
          </p:cNvSpPr>
          <p:nvPr/>
        </p:nvSpPr>
        <p:spPr bwMode="auto">
          <a:xfrm>
            <a:off x="243840" y="470757"/>
            <a:ext cx="11399520" cy="62054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7132"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The line </a:t>
            </a:r>
            <a:r>
              <a:rPr kumimoji="0" lang="en-US" altLang="en-US" sz="14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protected override void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OnConfiguring</a:t>
            </a:r>
            <a:r>
              <a:rPr kumimoji="0" lang="en-US" altLang="en-US" sz="14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DbContextOptionsBuilder</a:t>
            </a:r>
            <a:r>
              <a:rPr kumimoji="0" lang="en-US" altLang="en-US" sz="14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optionsBuilder</a:t>
            </a:r>
            <a:r>
              <a:rPr kumimoji="0" lang="en-US" altLang="en-US" sz="1400" b="0" i="0" u="none" strike="noStrike" cap="none" normalizeH="0" baseline="0" dirty="0">
                <a:ln>
                  <a:noFill/>
                </a:ln>
                <a:solidFill>
                  <a:srgbClr val="001D35"/>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a:ln>
                  <a:noFill/>
                </a:ln>
                <a:solidFill>
                  <a:srgbClr val="001D35"/>
                </a:solidFill>
                <a:effectLst/>
                <a:latin typeface="Google Sans"/>
              </a:rPr>
              <a:t> is a method in Microsoft Entity Framework Core that allows you to configure a context: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1D35"/>
                </a:solidFill>
                <a:effectLst/>
                <a:latin typeface="Google Sans"/>
              </a:rPr>
              <a:t>What it does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You can use this method to configure the database provider, perform other </a:t>
            </a:r>
            <a:r>
              <a:rPr kumimoji="0" lang="en-US" altLang="en-US" sz="2000" b="0" i="0" u="none" strike="noStrike" cap="none" normalizeH="0" baseline="0" dirty="0" err="1">
                <a:ln>
                  <a:noFill/>
                </a:ln>
                <a:solidFill>
                  <a:srgbClr val="001D35"/>
                </a:solidFill>
                <a:effectLst/>
                <a:latin typeface="Google Sans"/>
              </a:rPr>
              <a:t>DbContext</a:t>
            </a:r>
            <a:r>
              <a:rPr kumimoji="0" lang="en-US" altLang="en-US" sz="2000" b="0" i="0" u="none" strike="noStrike" cap="none" normalizeH="0" baseline="0" dirty="0">
                <a:ln>
                  <a:noFill/>
                </a:ln>
                <a:solidFill>
                  <a:srgbClr val="001D35"/>
                </a:solidFill>
                <a:effectLst/>
                <a:latin typeface="Google Sans"/>
              </a:rPr>
              <a:t> configuration, and more.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1D35"/>
                </a:solidFill>
                <a:effectLst/>
                <a:latin typeface="Google Sans"/>
              </a:rPr>
              <a:t>When it's called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This method is called regardless of how the </a:t>
            </a:r>
            <a:r>
              <a:rPr kumimoji="0" lang="en-US" altLang="en-US" sz="2000" b="0" i="0" u="none" strike="noStrike" cap="none" normalizeH="0" baseline="0" dirty="0" err="1">
                <a:ln>
                  <a:noFill/>
                </a:ln>
                <a:solidFill>
                  <a:srgbClr val="001D35"/>
                </a:solidFill>
                <a:effectLst/>
                <a:latin typeface="Google Sans"/>
              </a:rPr>
              <a:t>DbContext</a:t>
            </a:r>
            <a:r>
              <a:rPr kumimoji="0" lang="en-US" altLang="en-US" sz="2000" b="0" i="0" u="none" strike="noStrike" cap="none" normalizeH="0" baseline="0" dirty="0">
                <a:ln>
                  <a:noFill/>
                </a:ln>
                <a:solidFill>
                  <a:srgbClr val="001D35"/>
                </a:solidFill>
                <a:effectLst/>
                <a:latin typeface="Google Sans"/>
              </a:rPr>
              <a:t> is constructed, making it a good place to apply context configuration.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1D35"/>
                </a:solidFill>
                <a:effectLst/>
                <a:latin typeface="Google Sans"/>
              </a:rPr>
              <a:t>How to use 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You can use the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optionsBuilder</a:t>
            </a:r>
            <a:r>
              <a:rPr kumimoji="0" lang="en-US" altLang="en-US" sz="2000" b="0" i="0" u="none" strike="noStrike" cap="none" normalizeH="0" baseline="0" dirty="0">
                <a:ln>
                  <a:noFill/>
                </a:ln>
                <a:solidFill>
                  <a:srgbClr val="001D35"/>
                </a:solidFill>
                <a:effectLst/>
                <a:latin typeface="Google Sans"/>
              </a:rPr>
              <a:t> parameter to create or modify options for the context. For example, you can use the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UseSQLServer</a:t>
            </a:r>
            <a:r>
              <a:rPr kumimoji="0" lang="en-US" altLang="en-US" sz="2000" b="0" i="0" u="none" strike="noStrike" cap="none" normalizeH="0" baseline="0" dirty="0">
                <a:ln>
                  <a:noFill/>
                </a:ln>
                <a:solidFill>
                  <a:srgbClr val="001D35"/>
                </a:solidFill>
                <a:effectLst/>
                <a:latin typeface="Google Sans"/>
              </a:rPr>
              <a:t> method in the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optionsBuilder</a:t>
            </a:r>
            <a:r>
              <a:rPr kumimoji="0" lang="en-US" altLang="en-US" sz="2000" b="0" i="0" u="none" strike="noStrike" cap="none" normalizeH="0" baseline="0" dirty="0">
                <a:ln>
                  <a:noFill/>
                </a:ln>
                <a:solidFill>
                  <a:srgbClr val="001D35"/>
                </a:solidFill>
                <a:effectLst/>
                <a:latin typeface="Google Sans"/>
              </a:rPr>
              <a:t> to configure SQL Server as the database provider.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01D35"/>
                </a:solidFill>
                <a:effectLst/>
                <a:latin typeface="Google Sans"/>
              </a:rPr>
              <a:t>How to determine if options are already 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1D35"/>
                </a:solidFill>
                <a:effectLst/>
                <a:latin typeface="Google Sans"/>
              </a:rPr>
              <a:t>You can use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IsConfigured</a:t>
            </a:r>
            <a:r>
              <a:rPr kumimoji="0" lang="en-US" altLang="en-US" sz="2000" b="0" i="0" u="none" strike="noStrike" cap="none" normalizeH="0" baseline="0" dirty="0">
                <a:ln>
                  <a:noFill/>
                </a:ln>
                <a:solidFill>
                  <a:srgbClr val="001D35"/>
                </a:solidFill>
                <a:effectLst/>
                <a:latin typeface="Google Sans"/>
              </a:rPr>
              <a:t> to determine if the options have already been set, which allows you to skip some or all of the logic in </a:t>
            </a:r>
            <a:r>
              <a:rPr kumimoji="0" lang="en-US" altLang="en-US" sz="1400" b="0" i="0" u="none" strike="noStrike" cap="none" normalizeH="0" baseline="0" dirty="0" err="1">
                <a:ln>
                  <a:noFill/>
                </a:ln>
                <a:solidFill>
                  <a:srgbClr val="001D35"/>
                </a:solidFill>
                <a:effectLst/>
                <a:latin typeface="Courier New" panose="02070309020205020404" pitchFamily="49" charset="0"/>
                <a:cs typeface="Courier New" panose="02070309020205020404" pitchFamily="49" charset="0"/>
              </a:rPr>
              <a:t>OnConfiguring</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670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6700" y="0"/>
            <a:ext cx="7060692" cy="7201972"/>
          </a:xfrm>
          <a:prstGeom prst="rect">
            <a:avLst/>
          </a:prstGeom>
        </p:spPr>
        <p:txBody>
          <a:bodyPr wrap="square">
            <a:spAutoFit/>
          </a:bodyPr>
          <a:lstStyle/>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CAbasicentityAB.Models</a:t>
            </a:r>
            <a:r>
              <a:rPr lang="en-IN" sz="1100" dirty="0">
                <a:solidFill>
                  <a:srgbClr val="000000"/>
                </a:solidFill>
                <a:highlight>
                  <a:srgbClr val="FFFFFF"/>
                </a:highlight>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CAbasicentityAB.REpository</a:t>
            </a:r>
            <a:r>
              <a:rPr lang="en-IN" sz="1100" dirty="0">
                <a:solidFill>
                  <a:srgbClr val="000000"/>
                </a:solidFill>
                <a:highlight>
                  <a:srgbClr val="FFFFFF"/>
                </a:highlight>
                <a:latin typeface="Cascadia Mono" panose="020B0609020000020004" pitchFamily="49" charset="0"/>
              </a:rPr>
              <a:t>;</a:t>
            </a:r>
          </a:p>
          <a:p>
            <a:r>
              <a:rPr lang="en-IN" sz="1100" dirty="0">
                <a:solidFill>
                  <a:srgbClr val="0000FF"/>
                </a:solidFill>
                <a:highlight>
                  <a:srgbClr val="FFFFFF"/>
                </a:highlight>
                <a:latin typeface="Cascadia Mono" panose="020B0609020000020004" pitchFamily="49" charset="0"/>
              </a:rPr>
              <a:t>using</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Microsoft.EntityFrameworkCore</a:t>
            </a:r>
            <a:r>
              <a:rPr lang="en-IN" sz="1100" dirty="0">
                <a:solidFill>
                  <a:srgbClr val="000000"/>
                </a:solidFill>
                <a:highlight>
                  <a:srgbClr val="FFFFFF"/>
                </a:highlight>
                <a:latin typeface="Cascadia Mono" panose="020B0609020000020004" pitchFamily="49" charset="0"/>
              </a:rPr>
              <a:t>;</a:t>
            </a:r>
          </a:p>
          <a:p>
            <a:endParaRPr lang="en-IN" sz="1100" dirty="0">
              <a:solidFill>
                <a:srgbClr val="000000"/>
              </a:solidFill>
              <a:highlight>
                <a:srgbClr val="FFFFFF"/>
              </a:highlight>
              <a:latin typeface="Cascadia Mono" panose="020B0609020000020004" pitchFamily="49" charset="0"/>
            </a:endParaRPr>
          </a:p>
          <a:p>
            <a:r>
              <a:rPr lang="en-IN" sz="1100" dirty="0">
                <a:solidFill>
                  <a:srgbClr val="0000FF"/>
                </a:solidFill>
                <a:highlight>
                  <a:srgbClr val="FFFFFF"/>
                </a:highlight>
                <a:latin typeface="Cascadia Mono" panose="020B0609020000020004" pitchFamily="49" charset="0"/>
              </a:rPr>
              <a:t>namespace</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CAbasicentityAB.Service</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ServiceBook</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private</a:t>
            </a:r>
            <a:r>
              <a:rPr lang="en-IN" sz="1100" dirty="0">
                <a:solidFill>
                  <a:srgbClr val="000000"/>
                </a:solidFill>
                <a:highlight>
                  <a:srgbClr val="FFFFFF"/>
                </a:highlight>
                <a:latin typeface="Cascadia Mono" panose="020B0609020000020004" pitchFamily="49" charset="0"/>
              </a:rPr>
              <a:t> </a:t>
            </a:r>
            <a:r>
              <a:rPr lang="en-IN" sz="1100" dirty="0" err="1">
                <a:solidFill>
                  <a:srgbClr val="0000FF"/>
                </a:solidFill>
                <a:highlight>
                  <a:srgbClr val="FFFFFF"/>
                </a:highlight>
                <a:latin typeface="Cascadia Mono" panose="020B0609020000020004" pitchFamily="49" charset="0"/>
              </a:rPr>
              <a:t>readonly</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SampleContext</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internal</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ServiceBook</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a:t>
            </a:r>
            <a:r>
              <a:rPr lang="en-IN" sz="1100" dirty="0">
                <a:solidFill>
                  <a:srgbClr val="000000"/>
                </a:solidFill>
                <a:highlight>
                  <a:srgbClr val="FFFFFF"/>
                </a:highlight>
                <a:latin typeface="Cascadia Mono" panose="020B0609020000020004" pitchFamily="49" charset="0"/>
              </a:rPr>
              <a:t> = </a:t>
            </a:r>
            <a:r>
              <a:rPr lang="en-IN" sz="1100" dirty="0">
                <a:solidFill>
                  <a:srgbClr val="0000FF"/>
                </a:solidFill>
                <a:highlight>
                  <a:srgbClr val="FFFFFF"/>
                </a:highlight>
                <a:latin typeface="Cascadia Mono" panose="020B0609020000020004" pitchFamily="49" charset="0"/>
              </a:rPr>
              <a:t>new</a:t>
            </a:r>
            <a:r>
              <a:rPr lang="en-IN" sz="1100" dirty="0">
                <a:solidFill>
                  <a:srgbClr val="000000"/>
                </a:solidFill>
                <a:highlight>
                  <a:srgbClr val="FFFFFF"/>
                </a:highlight>
                <a:latin typeface="Cascadia Mono" panose="020B0609020000020004" pitchFamily="49" charset="0"/>
              </a:rPr>
              <a:t> </a:t>
            </a:r>
            <a:r>
              <a:rPr lang="en-IN" sz="1100" dirty="0" err="1">
                <a:solidFill>
                  <a:srgbClr val="2B91AF"/>
                </a:solidFill>
                <a:highlight>
                  <a:srgbClr val="FFFFFF"/>
                </a:highlight>
                <a:latin typeface="Cascadia Mono" panose="020B0609020000020004" pitchFamily="49" charset="0"/>
              </a:rPr>
              <a:t>SampleContext</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public</a:t>
            </a:r>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void</a:t>
            </a:r>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Addmany</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var</a:t>
            </a:r>
            <a:r>
              <a:rPr lang="en-IN" sz="1100" dirty="0">
                <a:solidFill>
                  <a:srgbClr val="000000"/>
                </a:solidFill>
                <a:highlight>
                  <a:srgbClr val="FFFFFF"/>
                </a:highlight>
                <a:latin typeface="Cascadia Mono" panose="020B0609020000020004" pitchFamily="49" charset="0"/>
              </a:rPr>
              <a:t> author = </a:t>
            </a:r>
            <a:r>
              <a:rPr lang="en-IN" sz="1100" dirty="0">
                <a:solidFill>
                  <a:srgbClr val="0000FF"/>
                </a:solidFill>
                <a:highlight>
                  <a:srgbClr val="FFFFFF"/>
                </a:highlight>
                <a:latin typeface="Cascadia Mono" panose="020B0609020000020004" pitchFamily="49" charset="0"/>
              </a:rPr>
              <a:t>new</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Author</a:t>
            </a:r>
            <a:endParaRPr lang="en-IN"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FirstName = </a:t>
            </a:r>
            <a:r>
              <a:rPr lang="en-IN" sz="1100" dirty="0">
                <a:solidFill>
                  <a:srgbClr val="A31515"/>
                </a:solidFill>
                <a:highlight>
                  <a:srgbClr val="FFFFFF"/>
                </a:highlight>
                <a:latin typeface="Cascadia Mono" panose="020B0609020000020004" pitchFamily="49" charset="0"/>
              </a:rPr>
              <a:t>"William"</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LastName</a:t>
            </a:r>
            <a:r>
              <a:rPr lang="en-IN" sz="1100" dirty="0">
                <a:solidFill>
                  <a:srgbClr val="000000"/>
                </a:solidFill>
                <a:highlight>
                  <a:srgbClr val="FFFFFF"/>
                </a:highlight>
                <a:latin typeface="Cascadia Mono" panose="020B0609020000020004" pitchFamily="49" charset="0"/>
              </a:rPr>
              <a:t> = </a:t>
            </a:r>
            <a:r>
              <a:rPr lang="en-IN" sz="1100" dirty="0">
                <a:solidFill>
                  <a:srgbClr val="A31515"/>
                </a:solidFill>
                <a:highlight>
                  <a:srgbClr val="FFFFFF"/>
                </a:highlight>
                <a:latin typeface="Cascadia Mono" panose="020B0609020000020004" pitchFamily="49" charset="0"/>
              </a:rPr>
              <a:t>"Shakespeare"</a:t>
            </a:r>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Books = </a:t>
            </a:r>
            <a:r>
              <a:rPr lang="en-US" sz="1100" dirty="0">
                <a:solidFill>
                  <a:srgbClr val="0000FF"/>
                </a:solidFill>
                <a:highlight>
                  <a:srgbClr val="FFFFFF"/>
                </a:highlight>
                <a:latin typeface="Cascadia Mono" panose="020B0609020000020004" pitchFamily="49" charset="0"/>
              </a:rPr>
              <a:t>new</a:t>
            </a:r>
            <a:r>
              <a:rPr lang="en-US" sz="1100" dirty="0">
                <a:solidFill>
                  <a:srgbClr val="000000"/>
                </a:solidFill>
                <a:highlight>
                  <a:srgbClr val="FFFFFF"/>
                </a:highlight>
                <a:latin typeface="Cascadia Mono" panose="020B0609020000020004" pitchFamily="49" charset="0"/>
              </a:rPr>
              <a:t> </a:t>
            </a:r>
            <a:r>
              <a:rPr lang="en-US" sz="1100" dirty="0">
                <a:solidFill>
                  <a:srgbClr val="2B91AF"/>
                </a:solidFill>
                <a:highlight>
                  <a:srgbClr val="FFFFFF"/>
                </a:highlight>
                <a:latin typeface="Cascadia Mono" panose="020B0609020000020004" pitchFamily="49" charset="0"/>
              </a:rPr>
              <a:t>List</a:t>
            </a:r>
            <a:r>
              <a:rPr lang="en-US" sz="1100" dirty="0">
                <a:solidFill>
                  <a:srgbClr val="000000"/>
                </a:solidFill>
                <a:highlight>
                  <a:srgbClr val="FFFFFF"/>
                </a:highlight>
                <a:latin typeface="Cascadia Mono" panose="020B0609020000020004" pitchFamily="49" charset="0"/>
              </a:rPr>
              <a:t>&lt;</a:t>
            </a:r>
            <a:r>
              <a:rPr lang="en-US" sz="1100" dirty="0">
                <a:solidFill>
                  <a:srgbClr val="2B91AF"/>
                </a:solidFill>
                <a:highlight>
                  <a:srgbClr val="FFFFFF"/>
                </a:highlight>
                <a:latin typeface="Cascadia Mono" panose="020B0609020000020004" pitchFamily="49" charset="0"/>
              </a:rPr>
              <a:t>Book</a:t>
            </a:r>
            <a:r>
              <a:rPr lang="en-US" sz="1100" dirty="0">
                <a:solidFill>
                  <a:srgbClr val="000000"/>
                </a:solidFill>
                <a:highlight>
                  <a:srgbClr val="FFFFFF"/>
                </a:highlight>
                <a:latin typeface="Cascadia Mono" panose="020B0609020000020004" pitchFamily="49" charset="0"/>
              </a:rPr>
              <a:t>&gt; { </a:t>
            </a:r>
            <a:r>
              <a:rPr lang="en-US" sz="1100" dirty="0">
                <a:solidFill>
                  <a:srgbClr val="0000FF"/>
                </a:solidFill>
                <a:highlight>
                  <a:srgbClr val="FFFFFF"/>
                </a:highlight>
                <a:latin typeface="Cascadia Mono" panose="020B0609020000020004" pitchFamily="49" charset="0"/>
              </a:rPr>
              <a:t>new</a:t>
            </a:r>
            <a:r>
              <a:rPr lang="en-US" sz="1100" dirty="0">
                <a:solidFill>
                  <a:srgbClr val="000000"/>
                </a:solidFill>
                <a:highlight>
                  <a:srgbClr val="FFFFFF"/>
                </a:highlight>
                <a:latin typeface="Cascadia Mono" panose="020B0609020000020004" pitchFamily="49" charset="0"/>
              </a:rPr>
              <a:t> </a:t>
            </a:r>
            <a:r>
              <a:rPr lang="en-US" sz="1100" dirty="0">
                <a:solidFill>
                  <a:srgbClr val="2B91AF"/>
                </a:solidFill>
                <a:highlight>
                  <a:srgbClr val="FFFFFF"/>
                </a:highlight>
                <a:latin typeface="Cascadia Mono" panose="020B0609020000020004" pitchFamily="49" charset="0"/>
              </a:rPr>
              <a:t>Book</a:t>
            </a:r>
            <a:r>
              <a:rPr lang="en-US" sz="1100" dirty="0">
                <a:solidFill>
                  <a:srgbClr val="000000"/>
                </a:solidFill>
                <a:highlight>
                  <a:srgbClr val="FFFFFF"/>
                </a:highlight>
                <a:latin typeface="Cascadia Mono" panose="020B0609020000020004" pitchFamily="49" charset="0"/>
              </a:rPr>
              <a:t> { Title = </a:t>
            </a:r>
            <a:r>
              <a:rPr lang="en-US" sz="1100" dirty="0">
                <a:solidFill>
                  <a:srgbClr val="A31515"/>
                </a:solidFill>
                <a:highlight>
                  <a:srgbClr val="FFFFFF"/>
                </a:highlight>
                <a:latin typeface="Cascadia Mono" panose="020B0609020000020004" pitchFamily="49" charset="0"/>
              </a:rPr>
              <a:t>"Hamlet"</a:t>
            </a:r>
            <a:r>
              <a:rPr lang="en-US"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new</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Book</a:t>
            </a:r>
            <a:r>
              <a:rPr lang="en-IN" sz="1100" dirty="0">
                <a:solidFill>
                  <a:srgbClr val="000000"/>
                </a:solidFill>
                <a:highlight>
                  <a:srgbClr val="FFFFFF"/>
                </a:highlight>
                <a:latin typeface="Cascadia Mono" panose="020B0609020000020004" pitchFamily="49" charset="0"/>
              </a:rPr>
              <a:t> { Title = </a:t>
            </a:r>
            <a:r>
              <a:rPr lang="en-IN" sz="1100" dirty="0">
                <a:solidFill>
                  <a:srgbClr val="A31515"/>
                </a:solidFill>
                <a:highlight>
                  <a:srgbClr val="FFFFFF"/>
                </a:highlight>
                <a:latin typeface="Cascadia Mono" panose="020B0609020000020004" pitchFamily="49" charset="0"/>
              </a:rPr>
              <a:t>"Othello"</a:t>
            </a:r>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new</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Book</a:t>
            </a:r>
            <a:r>
              <a:rPr lang="en-IN" sz="1100" dirty="0">
                <a:solidFill>
                  <a:srgbClr val="000000"/>
                </a:solidFill>
                <a:highlight>
                  <a:srgbClr val="FFFFFF"/>
                </a:highlight>
                <a:latin typeface="Cascadia Mono" panose="020B0609020000020004" pitchFamily="49" charset="0"/>
              </a:rPr>
              <a:t> { Title = </a:t>
            </a:r>
            <a:r>
              <a:rPr lang="en-IN" sz="1100" dirty="0">
                <a:solidFill>
                  <a:srgbClr val="A31515"/>
                </a:solidFill>
                <a:highlight>
                  <a:srgbClr val="FFFFFF"/>
                </a:highlight>
                <a:latin typeface="Cascadia Mono" panose="020B0609020000020004" pitchFamily="49" charset="0"/>
              </a:rPr>
              <a:t>"MacBeth"</a:t>
            </a:r>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db.Add</a:t>
            </a:r>
            <a:r>
              <a:rPr lang="en-IN" sz="1100" dirty="0">
                <a:solidFill>
                  <a:srgbClr val="000000"/>
                </a:solidFill>
                <a:highlight>
                  <a:srgbClr val="FFFFFF"/>
                </a:highlight>
                <a:latin typeface="Cascadia Mono" panose="020B0609020000020004" pitchFamily="49" charset="0"/>
              </a:rPr>
              <a:t>(author);</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db.SaveChanges</a:t>
            </a:r>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AddBook</a:t>
            </a:r>
            <a:r>
              <a:rPr lang="en-US" sz="1100" dirty="0">
                <a:solidFill>
                  <a:srgbClr val="000000"/>
                </a:solidFill>
                <a:highlight>
                  <a:srgbClr val="FFFFFF"/>
                </a:highlight>
                <a:latin typeface="Cascadia Mono" panose="020B0609020000020004" pitchFamily="49" charset="0"/>
              </a:rPr>
              <a:t>(</a:t>
            </a:r>
            <a:r>
              <a:rPr lang="en-US" sz="1100" dirty="0">
                <a:solidFill>
                  <a:srgbClr val="2B91AF"/>
                </a:solidFill>
                <a:highlight>
                  <a:srgbClr val="FFFFFF"/>
                </a:highlight>
                <a:latin typeface="Cascadia Mono" panose="020B0609020000020004" pitchFamily="49" charset="0"/>
              </a:rPr>
              <a:t>Book</a:t>
            </a:r>
            <a:r>
              <a:rPr lang="en-US" sz="1100" dirty="0">
                <a:solidFill>
                  <a:srgbClr val="000000"/>
                </a:solidFill>
                <a:highlight>
                  <a:srgbClr val="FFFFFF"/>
                </a:highlight>
                <a:latin typeface="Cascadia Mono" panose="020B0609020000020004" pitchFamily="49" charset="0"/>
              </a:rPr>
              <a:t> obj)</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db.Add</a:t>
            </a:r>
            <a:r>
              <a:rPr lang="en-IN" sz="1100" dirty="0">
                <a:solidFill>
                  <a:srgbClr val="000000"/>
                </a:solidFill>
                <a:highlight>
                  <a:srgbClr val="FFFFFF"/>
                </a:highlight>
                <a:latin typeface="Cascadia Mono" panose="020B0609020000020004" pitchFamily="49" charset="0"/>
              </a:rPr>
              <a:t>(</a:t>
            </a:r>
            <a:r>
              <a:rPr lang="en-IN" sz="1100" dirty="0" err="1">
                <a:solidFill>
                  <a:srgbClr val="000000"/>
                </a:solidFill>
                <a:highlight>
                  <a:srgbClr val="FFFFFF"/>
                </a:highlight>
                <a:latin typeface="Cascadia Mono" panose="020B0609020000020004" pitchFamily="49" charset="0"/>
              </a:rPr>
              <a:t>obj</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db.SaveChanges</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public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RemoveBook</a:t>
            </a:r>
            <a:r>
              <a:rPr lang="en-US" sz="1100" dirty="0">
                <a:solidFill>
                  <a:srgbClr val="000000"/>
                </a:solidFill>
                <a:highlight>
                  <a:srgbClr val="FFFFFF"/>
                </a:highlight>
                <a:latin typeface="Cascadia Mono" panose="020B0609020000020004" pitchFamily="49" charset="0"/>
              </a:rPr>
              <a:t>(</a:t>
            </a:r>
            <a:r>
              <a:rPr lang="en-US" sz="1100" dirty="0">
                <a:solidFill>
                  <a:srgbClr val="0000FF"/>
                </a:solidFill>
                <a:highlight>
                  <a:srgbClr val="FFFFFF"/>
                </a:highlight>
                <a:latin typeface="Cascadia Mono" panose="020B0609020000020004" pitchFamily="49" charset="0"/>
              </a:rPr>
              <a:t>int</a:t>
            </a:r>
            <a:r>
              <a:rPr lang="en-US" sz="1100" dirty="0">
                <a:solidFill>
                  <a:srgbClr val="000000"/>
                </a:solidFill>
                <a:highlight>
                  <a:srgbClr val="FFFFFF"/>
                </a:highlight>
                <a:latin typeface="Cascadia Mono" panose="020B0609020000020004" pitchFamily="49" charset="0"/>
              </a:rPr>
              <a:t> Id)</a:t>
            </a: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2B91AF"/>
                </a:solidFill>
                <a:highlight>
                  <a:srgbClr val="FFFFFF"/>
                </a:highlight>
                <a:latin typeface="Cascadia Mono" panose="020B0609020000020004" pitchFamily="49" charset="0"/>
              </a:rPr>
              <a:t>Book</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book</a:t>
            </a:r>
            <a:r>
              <a:rPr lang="en-US" sz="1100" dirty="0">
                <a:solidFill>
                  <a:srgbClr val="000000"/>
                </a:solidFill>
                <a:highlight>
                  <a:srgbClr val="FFFFFF"/>
                </a:highlight>
                <a:latin typeface="Cascadia Mono" panose="020B0609020000020004" pitchFamily="49" charset="0"/>
              </a:rPr>
              <a:t> = </a:t>
            </a:r>
            <a:r>
              <a:rPr lang="en-US" sz="1100" dirty="0" err="1">
                <a:solidFill>
                  <a:srgbClr val="000000"/>
                </a:solidFill>
                <a:highlight>
                  <a:srgbClr val="FFFFFF"/>
                </a:highlight>
                <a:latin typeface="Cascadia Mono" panose="020B0609020000020004" pitchFamily="49" charset="0"/>
              </a:rPr>
              <a:t>db.Books.FirstOrDefault</a:t>
            </a:r>
            <a:r>
              <a:rPr lang="en-US" sz="1100" dirty="0">
                <a:solidFill>
                  <a:srgbClr val="000000"/>
                </a:solidFill>
                <a:highlight>
                  <a:srgbClr val="FFFFFF"/>
                </a:highlight>
                <a:latin typeface="Cascadia Mono" panose="020B0609020000020004" pitchFamily="49" charset="0"/>
              </a:rPr>
              <a:t>(x =&gt; </a:t>
            </a:r>
            <a:r>
              <a:rPr lang="en-US" sz="1100" dirty="0" err="1">
                <a:solidFill>
                  <a:srgbClr val="000000"/>
                </a:solidFill>
                <a:highlight>
                  <a:srgbClr val="FFFFFF"/>
                </a:highlight>
                <a:latin typeface="Cascadia Mono" panose="020B0609020000020004" pitchFamily="49" charset="0"/>
              </a:rPr>
              <a:t>x.BookId</a:t>
            </a:r>
            <a:r>
              <a:rPr lang="en-US" sz="1100" dirty="0">
                <a:solidFill>
                  <a:srgbClr val="000000"/>
                </a:solidFill>
                <a:highlight>
                  <a:srgbClr val="FFFFFF"/>
                </a:highlight>
                <a:latin typeface="Cascadia Mono" panose="020B0609020000020004" pitchFamily="49" charset="0"/>
              </a:rPr>
              <a:t> == Id);</a:t>
            </a:r>
          </a:p>
          <a:p>
            <a:r>
              <a:rPr lang="en-IN" sz="1100" dirty="0">
                <a:solidFill>
                  <a:srgbClr val="000000"/>
                </a:solidFill>
                <a:highlight>
                  <a:srgbClr val="FFFFFF"/>
                </a:highlight>
                <a:latin typeface="Cascadia Mono" panose="020B0609020000020004" pitchFamily="49" charset="0"/>
              </a:rPr>
              <a:t>            </a:t>
            </a:r>
            <a:r>
              <a:rPr lang="en-IN" sz="1100" dirty="0">
                <a:solidFill>
                  <a:srgbClr val="0000FF"/>
                </a:solidFill>
                <a:highlight>
                  <a:srgbClr val="FFFFFF"/>
                </a:highlight>
                <a:latin typeface="Cascadia Mono" panose="020B0609020000020004" pitchFamily="49" charset="0"/>
              </a:rPr>
              <a:t>if</a:t>
            </a:r>
            <a:r>
              <a:rPr lang="en-IN" sz="1100" dirty="0">
                <a:solidFill>
                  <a:srgbClr val="000000"/>
                </a:solidFill>
                <a:highlight>
                  <a:srgbClr val="FFFFFF"/>
                </a:highlight>
                <a:latin typeface="Cascadia Mono" panose="020B0609020000020004" pitchFamily="49" charset="0"/>
              </a:rPr>
              <a:t> (book != </a:t>
            </a:r>
            <a:r>
              <a:rPr lang="en-IN" sz="1100" dirty="0">
                <a:solidFill>
                  <a:srgbClr val="0000FF"/>
                </a:solidFill>
                <a:highlight>
                  <a:srgbClr val="FFFFFF"/>
                </a:highlight>
                <a:latin typeface="Cascadia Mono" panose="020B0609020000020004" pitchFamily="49" charset="0"/>
              </a:rPr>
              <a:t>null</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db.Remove</a:t>
            </a:r>
            <a:r>
              <a:rPr lang="en-US" sz="1100" dirty="0">
                <a:solidFill>
                  <a:srgbClr val="000000"/>
                </a:solidFill>
                <a:highlight>
                  <a:srgbClr val="FFFFFF"/>
                </a:highlight>
                <a:latin typeface="Cascadia Mono" panose="020B0609020000020004" pitchFamily="49" charset="0"/>
              </a:rPr>
              <a:t>(book); </a:t>
            </a:r>
            <a:r>
              <a:rPr lang="en-US" sz="1100" dirty="0">
                <a:solidFill>
                  <a:srgbClr val="008000"/>
                </a:solidFill>
                <a:highlight>
                  <a:srgbClr val="FFFFFF"/>
                </a:highlight>
                <a:latin typeface="Cascadia Mono" panose="020B0609020000020004" pitchFamily="49" charset="0"/>
              </a:rPr>
              <a:t>// Book Deleted</a:t>
            </a:r>
            <a:endParaRPr lang="en-US" sz="1100" dirty="0">
              <a:solidFill>
                <a:srgbClr val="000000"/>
              </a:solidFill>
              <a:highlight>
                <a:srgbClr val="FFFFFF"/>
              </a:highlight>
              <a:latin typeface="Cascadia Mono" panose="020B0609020000020004" pitchFamily="49" charset="0"/>
            </a:endParaRPr>
          </a:p>
          <a:p>
            <a:r>
              <a:rPr lang="en-IN" sz="1100" dirty="0">
                <a:solidFill>
                  <a:srgbClr val="000000"/>
                </a:solidFill>
                <a:highlight>
                  <a:srgbClr val="FFFFFF"/>
                </a:highlight>
                <a:latin typeface="Cascadia Mono" panose="020B0609020000020004" pitchFamily="49" charset="0"/>
              </a:rPr>
              <a:t>                </a:t>
            </a:r>
            <a:r>
              <a:rPr lang="en-IN" sz="1100" dirty="0" err="1">
                <a:solidFill>
                  <a:srgbClr val="000000"/>
                </a:solidFill>
                <a:highlight>
                  <a:srgbClr val="FFFFFF"/>
                </a:highlight>
                <a:latin typeface="Cascadia Mono" panose="020B0609020000020004" pitchFamily="49" charset="0"/>
              </a:rPr>
              <a:t>db.SaveChanges</a:t>
            </a:r>
            <a:r>
              <a:rPr lang="en-IN"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p>
          <a:p>
            <a:r>
              <a:rPr lang="en-IN"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endParaRPr lang="en-IN" sz="1100" dirty="0">
              <a:solidFill>
                <a:srgbClr val="000000"/>
              </a:solidFill>
              <a:latin typeface="Cascadia Mono" panose="020B0609020000020004" pitchFamily="49" charset="0"/>
            </a:endParaRPr>
          </a:p>
        </p:txBody>
      </p:sp>
      <p:cxnSp>
        <p:nvCxnSpPr>
          <p:cNvPr id="3" name="Straight Arrow Connector 2"/>
          <p:cNvCxnSpPr/>
          <p:nvPr/>
        </p:nvCxnSpPr>
        <p:spPr>
          <a:xfrm>
            <a:off x="3124200" y="1351865"/>
            <a:ext cx="5543550" cy="143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3900" y="1028700"/>
            <a:ext cx="3581400" cy="646331"/>
          </a:xfrm>
          <a:prstGeom prst="rect">
            <a:avLst/>
          </a:prstGeom>
          <a:noFill/>
        </p:spPr>
        <p:txBody>
          <a:bodyPr wrap="square" rtlCol="0">
            <a:spAutoFit/>
          </a:bodyPr>
          <a:lstStyle/>
          <a:p>
            <a:r>
              <a:rPr lang="en-US" dirty="0"/>
              <a:t>Service Class communicate with </a:t>
            </a:r>
            <a:r>
              <a:rPr lang="en-US" dirty="0" err="1"/>
              <a:t>Dbcontext</a:t>
            </a:r>
            <a:r>
              <a:rPr lang="en-US" dirty="0"/>
              <a:t> repository class</a:t>
            </a:r>
            <a:endParaRPr lang="en-IN" dirty="0"/>
          </a:p>
        </p:txBody>
      </p:sp>
      <p:cxnSp>
        <p:nvCxnSpPr>
          <p:cNvPr id="8" name="Straight Arrow Connector 7"/>
          <p:cNvCxnSpPr/>
          <p:nvPr/>
        </p:nvCxnSpPr>
        <p:spPr>
          <a:xfrm>
            <a:off x="2857500" y="2019300"/>
            <a:ext cx="5715000" cy="600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667750" y="2143125"/>
            <a:ext cx="3324225" cy="923330"/>
          </a:xfrm>
          <a:prstGeom prst="rect">
            <a:avLst/>
          </a:prstGeom>
          <a:noFill/>
        </p:spPr>
        <p:txBody>
          <a:bodyPr wrap="square" rtlCol="0">
            <a:spAutoFit/>
          </a:bodyPr>
          <a:lstStyle/>
          <a:p>
            <a:r>
              <a:rPr lang="en-US" dirty="0"/>
              <a:t>Creating object of  </a:t>
            </a:r>
            <a:r>
              <a:rPr lang="en-US" dirty="0" err="1"/>
              <a:t>Samplecontext</a:t>
            </a:r>
            <a:r>
              <a:rPr lang="en-US" dirty="0"/>
              <a:t> class through it we will communicate with data base</a:t>
            </a:r>
            <a:endParaRPr lang="en-IN" dirty="0"/>
          </a:p>
        </p:txBody>
      </p:sp>
      <p:cxnSp>
        <p:nvCxnSpPr>
          <p:cNvPr id="11" name="Straight Arrow Connector 10"/>
          <p:cNvCxnSpPr/>
          <p:nvPr/>
        </p:nvCxnSpPr>
        <p:spPr>
          <a:xfrm>
            <a:off x="2857500" y="2981325"/>
            <a:ext cx="5886450" cy="876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905875" y="3676650"/>
            <a:ext cx="3200400" cy="646331"/>
          </a:xfrm>
          <a:prstGeom prst="rect">
            <a:avLst/>
          </a:prstGeom>
          <a:noFill/>
        </p:spPr>
        <p:txBody>
          <a:bodyPr wrap="square" rtlCol="0">
            <a:spAutoFit/>
          </a:bodyPr>
          <a:lstStyle/>
          <a:p>
            <a:r>
              <a:rPr lang="en-US" dirty="0" err="1"/>
              <a:t>SaveChanges</a:t>
            </a:r>
            <a:r>
              <a:rPr lang="en-US" dirty="0"/>
              <a:t> will fire the query</a:t>
            </a:r>
          </a:p>
          <a:p>
            <a:endParaRPr lang="en-IN" dirty="0"/>
          </a:p>
        </p:txBody>
      </p:sp>
      <p:sp>
        <p:nvSpPr>
          <p:cNvPr id="13" name="TextBox 12"/>
          <p:cNvSpPr txBox="1"/>
          <p:nvPr/>
        </p:nvSpPr>
        <p:spPr>
          <a:xfrm>
            <a:off x="7648575" y="4141360"/>
            <a:ext cx="4305300" cy="1200329"/>
          </a:xfrm>
          <a:prstGeom prst="rect">
            <a:avLst/>
          </a:prstGeom>
          <a:noFill/>
        </p:spPr>
        <p:txBody>
          <a:bodyPr wrap="square" rtlCol="0">
            <a:spAutoFit/>
          </a:bodyPr>
          <a:lstStyle/>
          <a:p>
            <a:r>
              <a:rPr lang="en-US" dirty="0"/>
              <a:t>Add()</a:t>
            </a:r>
            <a:r>
              <a:rPr lang="en-US" dirty="0">
                <a:sym typeface="Wingdings" panose="05000000000000000000" pitchFamily="2" charset="2"/>
              </a:rPr>
              <a:t> write insert query</a:t>
            </a:r>
          </a:p>
          <a:p>
            <a:r>
              <a:rPr lang="en-US" dirty="0">
                <a:sym typeface="Wingdings" panose="05000000000000000000" pitchFamily="2" charset="2"/>
              </a:rPr>
              <a:t>Remove write delete query</a:t>
            </a:r>
          </a:p>
          <a:p>
            <a:r>
              <a:rPr lang="en-US" dirty="0">
                <a:sym typeface="Wingdings" panose="05000000000000000000" pitchFamily="2" charset="2"/>
              </a:rPr>
              <a:t>Update write update query and update each property</a:t>
            </a:r>
            <a:endParaRPr lang="en-IN" dirty="0"/>
          </a:p>
        </p:txBody>
      </p:sp>
      <p:sp>
        <p:nvSpPr>
          <p:cNvPr id="6" name="Rectangle 5"/>
          <p:cNvSpPr/>
          <p:nvPr/>
        </p:nvSpPr>
        <p:spPr>
          <a:xfrm>
            <a:off x="4533900" y="130433"/>
            <a:ext cx="6848475" cy="98488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buFont typeface="Arial" panose="020B0604020202020204" pitchFamily="34" charset="0"/>
              <a:buChar char="•"/>
            </a:pPr>
            <a:r>
              <a:rPr lang="en-IN" sz="1400" dirty="0" err="1">
                <a:solidFill>
                  <a:srgbClr val="000000"/>
                </a:solidFill>
                <a:latin typeface="Cascadia Mono" panose="020B0609020000020004" pitchFamily="49" charset="0"/>
              </a:rPr>
              <a:t>FromSql</a:t>
            </a:r>
            <a:endParaRPr lang="en-US" sz="1400" dirty="0">
              <a:solidFill>
                <a:srgbClr val="111111"/>
              </a:solidFill>
              <a:latin typeface="-apple-system"/>
            </a:endParaRPr>
          </a:p>
          <a:p>
            <a:pPr>
              <a:buFont typeface="Arial" panose="020B0604020202020204" pitchFamily="34" charset="0"/>
              <a:buChar char="•"/>
            </a:pPr>
            <a:r>
              <a:rPr lang="en-US" sz="1100" dirty="0">
                <a:solidFill>
                  <a:srgbClr val="111111"/>
                </a:solidFill>
                <a:latin typeface="-apple-system"/>
              </a:rPr>
              <a:t>Represents a composite format string at </a:t>
            </a:r>
            <a:r>
              <a:rPr lang="en-US" sz="1100" b="1" dirty="0">
                <a:solidFill>
                  <a:srgbClr val="111111"/>
                </a:solidFill>
                <a:latin typeface="-apple-system"/>
              </a:rPr>
              <a:t>compile time</a:t>
            </a:r>
            <a:r>
              <a:rPr lang="en-US" sz="1100" dirty="0">
                <a:solidFill>
                  <a:srgbClr val="111111"/>
                </a:solidFill>
                <a:latin typeface="-apple-system"/>
              </a:rPr>
              <a:t>.</a:t>
            </a:r>
          </a:p>
          <a:p>
            <a:pPr>
              <a:buFont typeface="Arial" panose="020B0604020202020204" pitchFamily="34" charset="0"/>
              <a:buChar char="•"/>
            </a:pPr>
            <a:r>
              <a:rPr lang="en-US" sz="1100" dirty="0">
                <a:solidFill>
                  <a:srgbClr val="111111"/>
                </a:solidFill>
                <a:latin typeface="-apple-system"/>
              </a:rPr>
              <a:t>Captures the format string and its arguments before formatting.</a:t>
            </a:r>
          </a:p>
          <a:p>
            <a:pPr>
              <a:buFont typeface="Arial" panose="020B0604020202020204" pitchFamily="34" charset="0"/>
              <a:buChar char="•"/>
            </a:pPr>
            <a:r>
              <a:rPr lang="en-US" sz="1100" dirty="0">
                <a:solidFill>
                  <a:srgbClr val="111111"/>
                </a:solidFill>
                <a:latin typeface="-apple-system"/>
              </a:rPr>
              <a:t>Allows you to adjust formatting, often using the invariant culture.</a:t>
            </a:r>
          </a:p>
          <a:p>
            <a:pPr>
              <a:buFont typeface="Arial" panose="020B0604020202020204" pitchFamily="34" charset="0"/>
              <a:buChar char="•"/>
            </a:pPr>
            <a:r>
              <a:rPr lang="en-US" sz="1100" dirty="0">
                <a:solidFill>
                  <a:srgbClr val="111111"/>
                </a:solidFill>
                <a:latin typeface="-apple-system"/>
              </a:rPr>
              <a:t>Useful for custom formatting scenarios.</a:t>
            </a:r>
            <a:endParaRPr lang="en-US" sz="1100" b="0" i="0" dirty="0">
              <a:solidFill>
                <a:srgbClr val="111111"/>
              </a:solidFill>
              <a:effectLst/>
              <a:latin typeface="-apple-system"/>
            </a:endParaRPr>
          </a:p>
        </p:txBody>
      </p:sp>
      <p:cxnSp>
        <p:nvCxnSpPr>
          <p:cNvPr id="10" name="Straight Arrow Connector 9"/>
          <p:cNvCxnSpPr/>
          <p:nvPr/>
        </p:nvCxnSpPr>
        <p:spPr>
          <a:xfrm flipV="1">
            <a:off x="6896100" y="1294214"/>
            <a:ext cx="38100" cy="4411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11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84976" y="1218906"/>
            <a:ext cx="5407024" cy="313932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PROCEDURE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dbo.GetMostPopularBooks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BookTitle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NVARCHAR</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255</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AS</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BEGIN</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Books</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Title = @</a:t>
            </a:r>
            <a:r>
              <a:rPr lang="en-US" dirty="0" err="1">
                <a:solidFill>
                  <a:srgbClr val="000000"/>
                </a:solidFill>
                <a:latin typeface="Consolas" panose="020B0609020204030204" pitchFamily="49" charset="0"/>
              </a:rPr>
              <a:t>BookTitle</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END</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endParaRPr lang="en-US" b="0" dirty="0">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D569521C-BDE9-3508-8105-105F57C95442}"/>
              </a:ext>
            </a:extLst>
          </p:cNvPr>
          <p:cNvSpPr txBox="1"/>
          <p:nvPr/>
        </p:nvSpPr>
        <p:spPr>
          <a:xfrm>
            <a:off x="247650" y="301894"/>
            <a:ext cx="6100232" cy="567847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UpdateBook</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1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obj)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SampleContext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db1 =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new</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SampleContext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db1.Update(</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obj</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db1.SaveChanges();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IEnumerable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IN" sz="11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 Display()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return</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db.Books.</a:t>
            </a:r>
            <a:r>
              <a:rPr kumimoji="0" lang="en-US" sz="1100" b="1" i="0" u="none" strike="noStrike" kern="1200" cap="none" spc="0" normalizeH="0" baseline="0" noProof="0" dirty="0" err="1">
                <a:ln>
                  <a:noFill/>
                </a:ln>
                <a:solidFill>
                  <a:srgbClr val="000000"/>
                </a:solidFill>
                <a:effectLst/>
                <a:highlight>
                  <a:srgbClr val="FFFF00"/>
                </a:highlight>
                <a:uLnTx/>
                <a:uFillTx/>
                <a:latin typeface="Cascadia Mono" panose="020B0609020000020004" pitchFamily="49" charset="0"/>
                <a:ea typeface="+mn-ea"/>
                <a:cs typeface="+mn-cs"/>
              </a:rPr>
              <a:t>Include</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 =&gt;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a.Author</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ToList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11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Display(</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string</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FormattableString</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sql</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US"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$"SELECT * FROM Books WHERE Title = </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{title}</a:t>
            </a:r>
            <a:r>
              <a:rPr kumimoji="0" lang="en-US"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var</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book =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db.Books.FromSql</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sql</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FirstOrDefault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Console</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.Write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book.Title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var</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books =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db.Books.FromSql</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$"EXECUTE </a:t>
            </a:r>
            <a:r>
              <a:rPr kumimoji="0" lang="en-IN" sz="1100" b="0" i="0" u="none" strike="noStrike" kern="1200" cap="none" spc="0" normalizeH="0" baseline="0" noProof="0" dirty="0" err="1">
                <a:ln>
                  <a:noFill/>
                </a:ln>
                <a:solidFill>
                  <a:srgbClr val="A31515"/>
                </a:solidFill>
                <a:effectLst/>
                <a:highlight>
                  <a:srgbClr val="FFFFFF"/>
                </a:highlight>
                <a:uLnTx/>
                <a:uFillTx/>
                <a:latin typeface="Cascadia Mono" panose="020B0609020000020004" pitchFamily="49" charset="0"/>
                <a:ea typeface="+mn-ea"/>
                <a:cs typeface="+mn-cs"/>
              </a:rPr>
              <a:t>dbo.GetMostPopularBooks</a:t>
            </a:r>
            <a:r>
              <a:rPr kumimoji="0" lang="en-IN"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{title}</a:t>
            </a:r>
            <a:r>
              <a:rPr kumimoji="0" lang="en-IN" sz="11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ToList</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foreach(b in books)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Console</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.Write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b.Title</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DeleteAuth</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int</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id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var</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auth = </a:t>
            </a:r>
            <a:r>
              <a:rPr kumimoji="0" lang="en-US" sz="11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new</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Author</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AuthorId</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id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db.Remove</a:t>
            </a:r>
            <a:r>
              <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(auth); </a:t>
            </a:r>
            <a:r>
              <a:rPr kumimoji="0" lang="en-US" sz="1100" b="0" i="0" u="none" strike="noStrike" kern="1200" cap="none" spc="0" normalizeH="0" baseline="0" noProof="0" dirty="0">
                <a:ln>
                  <a:noFill/>
                </a:ln>
                <a:solidFill>
                  <a:srgbClr val="008000"/>
                </a:solidFill>
                <a:effectLst/>
                <a:highlight>
                  <a:srgbClr val="FFFFFF"/>
                </a:highlight>
                <a:uLnTx/>
                <a:uFillTx/>
                <a:latin typeface="Cascadia Mono" panose="020B0609020000020004" pitchFamily="49" charset="0"/>
                <a:ea typeface="+mn-ea"/>
                <a:cs typeface="+mn-cs"/>
              </a:rPr>
              <a:t>// Book Deleted</a:t>
            </a:r>
            <a:endParaRPr kumimoji="0" lang="en-US"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db.SaveChanges</a:t>
            </a: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endParaRPr lang="en-IN" dirty="0"/>
          </a:p>
        </p:txBody>
      </p:sp>
      <p:cxnSp>
        <p:nvCxnSpPr>
          <p:cNvPr id="6" name="Straight Arrow Connector 5">
            <a:extLst>
              <a:ext uri="{FF2B5EF4-FFF2-40B4-BE49-F238E27FC236}">
                <a16:creationId xmlns:a16="http://schemas.microsoft.com/office/drawing/2014/main" id="{D10DE583-8B90-8D4E-3F5F-BA4FC309538D}"/>
              </a:ext>
            </a:extLst>
          </p:cNvPr>
          <p:cNvCxnSpPr/>
          <p:nvPr/>
        </p:nvCxnSpPr>
        <p:spPr>
          <a:xfrm flipV="1">
            <a:off x="1625600" y="736600"/>
            <a:ext cx="5477933"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F5FF7CD-11B9-9DC8-6C31-702B2476D133}"/>
              </a:ext>
            </a:extLst>
          </p:cNvPr>
          <p:cNvSpPr txBox="1"/>
          <p:nvPr/>
        </p:nvSpPr>
        <p:spPr>
          <a:xfrm>
            <a:off x="7018867" y="21736"/>
            <a:ext cx="5173133" cy="923330"/>
          </a:xfrm>
          <a:prstGeom prst="rect">
            <a:avLst/>
          </a:prstGeom>
          <a:noFill/>
        </p:spPr>
        <p:txBody>
          <a:bodyPr wrap="square" rtlCol="0">
            <a:spAutoFit/>
          </a:bodyPr>
          <a:lstStyle/>
          <a:p>
            <a:r>
              <a:rPr lang="en-IN" dirty="0"/>
              <a:t>Format it and send it as parameterised query</a:t>
            </a:r>
          </a:p>
          <a:p>
            <a:r>
              <a:rPr kumimoji="0" lang="en-IN" sz="18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FromSql</a:t>
            </a:r>
            <a:r>
              <a:rPr kumimoji="0" lang="en-IN" sz="18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IN" sz="18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sql</a:t>
            </a:r>
            <a:r>
              <a:rPr kumimoji="0" lang="en-IN" sz="18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this method parameter </a:t>
            </a:r>
            <a:r>
              <a:rPr lang="en-IN" dirty="0">
                <a:solidFill>
                  <a:srgbClr val="000000"/>
                </a:solidFill>
                <a:highlight>
                  <a:srgbClr val="FFFFFF"/>
                </a:highlight>
                <a:latin typeface="Cascadia Mono" panose="020B0609020000020004" pitchFamily="49" charset="0"/>
              </a:rPr>
              <a:t>has to be </a:t>
            </a:r>
            <a:r>
              <a:rPr kumimoji="0" lang="en-US" sz="18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FormattableString</a:t>
            </a:r>
            <a:endParaRPr lang="en-IN" dirty="0"/>
          </a:p>
        </p:txBody>
      </p:sp>
      <p:cxnSp>
        <p:nvCxnSpPr>
          <p:cNvPr id="9" name="Straight Arrow Connector 8">
            <a:extLst>
              <a:ext uri="{FF2B5EF4-FFF2-40B4-BE49-F238E27FC236}">
                <a16:creationId xmlns:a16="http://schemas.microsoft.com/office/drawing/2014/main" id="{E32E9DA2-867F-7085-56CB-D9BFAA55A036}"/>
              </a:ext>
            </a:extLst>
          </p:cNvPr>
          <p:cNvCxnSpPr/>
          <p:nvPr/>
        </p:nvCxnSpPr>
        <p:spPr>
          <a:xfrm flipV="1">
            <a:off x="5300133" y="2841051"/>
            <a:ext cx="1625600" cy="359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F692BDF-8F35-D9C1-DC4B-3AFBDFCEC980}"/>
              </a:ext>
            </a:extLst>
          </p:cNvPr>
          <p:cNvCxnSpPr/>
          <p:nvPr/>
        </p:nvCxnSpPr>
        <p:spPr>
          <a:xfrm>
            <a:off x="4275667" y="4614333"/>
            <a:ext cx="3098800" cy="203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F968F6-8F6A-1080-8E3E-10760459B2B5}"/>
              </a:ext>
            </a:extLst>
          </p:cNvPr>
          <p:cNvSpPr txBox="1"/>
          <p:nvPr/>
        </p:nvSpPr>
        <p:spPr>
          <a:xfrm>
            <a:off x="7374467" y="4656667"/>
            <a:ext cx="4707466" cy="646331"/>
          </a:xfrm>
          <a:prstGeom prst="rect">
            <a:avLst/>
          </a:prstGeom>
          <a:noFill/>
        </p:spPr>
        <p:txBody>
          <a:bodyPr wrap="square" rtlCol="0">
            <a:spAutoFit/>
          </a:bodyPr>
          <a:lstStyle/>
          <a:p>
            <a:r>
              <a:rPr lang="en-IN" dirty="0"/>
              <a:t>Delete </a:t>
            </a:r>
            <a:r>
              <a:rPr lang="en-IN" dirty="0" err="1"/>
              <a:t>auther</a:t>
            </a:r>
            <a:r>
              <a:rPr lang="en-IN" dirty="0"/>
              <a:t> , will delete author and its books also </a:t>
            </a:r>
          </a:p>
        </p:txBody>
      </p:sp>
      <p:sp>
        <p:nvSpPr>
          <p:cNvPr id="2" name="TextBox 1">
            <a:extLst>
              <a:ext uri="{FF2B5EF4-FFF2-40B4-BE49-F238E27FC236}">
                <a16:creationId xmlns:a16="http://schemas.microsoft.com/office/drawing/2014/main" id="{B38ED22C-82C2-0796-306E-F7CE14B64584}"/>
              </a:ext>
            </a:extLst>
          </p:cNvPr>
          <p:cNvSpPr txBox="1"/>
          <p:nvPr/>
        </p:nvSpPr>
        <p:spPr>
          <a:xfrm>
            <a:off x="5190067" y="5257800"/>
            <a:ext cx="6172200" cy="646331"/>
          </a:xfrm>
          <a:prstGeom prst="rect">
            <a:avLst/>
          </a:prstGeom>
          <a:noFill/>
        </p:spPr>
        <p:txBody>
          <a:bodyPr wrap="square" rtlCol="0">
            <a:spAutoFit/>
          </a:bodyPr>
          <a:lstStyle/>
          <a:p>
            <a:r>
              <a:rPr kumimoji="0" lang="en-IN" sz="18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db.Books.where</a:t>
            </a:r>
            <a:r>
              <a:rPr kumimoji="0" lang="en-IN" sz="18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(a=&gt;</a:t>
            </a:r>
            <a:r>
              <a:rPr kumimoji="0" lang="en-IN" sz="18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a.Title</a:t>
            </a:r>
            <a:r>
              <a:rPr kumimoji="0" lang="en-IN" sz="18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==title).select(data=&gt;data)</a:t>
            </a:r>
            <a:endParaRPr lang="en-IN" dirty="0"/>
          </a:p>
        </p:txBody>
      </p:sp>
      <p:cxnSp>
        <p:nvCxnSpPr>
          <p:cNvPr id="8" name="Straight Arrow Connector 7">
            <a:extLst>
              <a:ext uri="{FF2B5EF4-FFF2-40B4-BE49-F238E27FC236}">
                <a16:creationId xmlns:a16="http://schemas.microsoft.com/office/drawing/2014/main" id="{1D579CAE-6C8C-F16E-1553-47BE45EF3572}"/>
              </a:ext>
            </a:extLst>
          </p:cNvPr>
          <p:cNvCxnSpPr/>
          <p:nvPr/>
        </p:nvCxnSpPr>
        <p:spPr>
          <a:xfrm>
            <a:off x="5664200" y="2675467"/>
            <a:ext cx="812800" cy="2700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542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1765280" cy="6647974"/>
          </a:xfrm>
          <a:prstGeom prst="rect">
            <a:avLst/>
          </a:prstGeom>
        </p:spPr>
        <p:txBody>
          <a:bodyPr wrap="square">
            <a:spAutoFit/>
          </a:bodyPr>
          <a:lstStyle/>
          <a:p>
            <a:r>
              <a:rPr lang="en-IN" sz="900" dirty="0">
                <a:solidFill>
                  <a:srgbClr val="0000FF"/>
                </a:solidFill>
                <a:highlight>
                  <a:srgbClr val="FFFFFF"/>
                </a:highlight>
                <a:latin typeface="Cascadia Mono" panose="020B0609020000020004" pitchFamily="49" charset="0"/>
              </a:rPr>
              <a:t>using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CAbasicentityAB.Models</a:t>
            </a:r>
            <a:r>
              <a:rPr lang="en-IN" sz="900" dirty="0">
                <a:solidFill>
                  <a:srgbClr val="000000"/>
                </a:solidFill>
                <a:highlight>
                  <a:srgbClr val="FFFFFF"/>
                </a:highlight>
                <a:latin typeface="Cascadia Mono" panose="020B0609020000020004" pitchFamily="49" charset="0"/>
              </a:rPr>
              <a:t>;</a:t>
            </a:r>
          </a:p>
          <a:p>
            <a:r>
              <a:rPr lang="en-IN" sz="900" dirty="0">
                <a:solidFill>
                  <a:srgbClr val="0000FF"/>
                </a:solidFill>
                <a:highlight>
                  <a:srgbClr val="FFFFFF"/>
                </a:highlight>
                <a:latin typeface="Cascadia Mono" panose="020B0609020000020004" pitchFamily="49" charset="0"/>
              </a:rPr>
              <a:t>using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CAbasicentityAB.Service</a:t>
            </a:r>
            <a:r>
              <a:rPr lang="en-IN" sz="900" dirty="0">
                <a:solidFill>
                  <a:srgbClr val="000000"/>
                </a:solidFill>
                <a:highlight>
                  <a:srgbClr val="FFFFFF"/>
                </a:highlight>
                <a:latin typeface="Cascadia Mono" panose="020B0609020000020004" pitchFamily="49" charset="0"/>
              </a:rPr>
              <a:t>;</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FF"/>
                </a:solidFill>
                <a:highlight>
                  <a:srgbClr val="FFFFFF"/>
                </a:highlight>
                <a:latin typeface="Cascadia Mono" panose="020B0609020000020004" pitchFamily="49" charset="0"/>
              </a:rPr>
              <a:t>namespace</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CAbasicentityAB</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internal</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Program</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static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void</a:t>
            </a:r>
            <a:r>
              <a:rPr lang="en-US" sz="900" dirty="0">
                <a:solidFill>
                  <a:srgbClr val="000000"/>
                </a:solidFill>
                <a:highlight>
                  <a:srgbClr val="FFFFFF"/>
                </a:highlight>
                <a:latin typeface="Cascadia Mono" panose="020B0609020000020004" pitchFamily="49" charset="0"/>
              </a:rPr>
              <a:t> Main(</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args</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.WriteLine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"Hello, World!"</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ServiceBook</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servicebook</a:t>
            </a:r>
            <a:r>
              <a:rPr lang="en-IN" sz="900" dirty="0">
                <a:solidFill>
                  <a:srgbClr val="000000"/>
                </a:solidFill>
                <a:highlight>
                  <a:srgbClr val="FFFFFF"/>
                </a:highlight>
                <a:latin typeface="Cascadia Mono" panose="020B0609020000020004" pitchFamily="49" charset="0"/>
              </a:rPr>
              <a:t> = </a:t>
            </a:r>
            <a:r>
              <a:rPr lang="en-IN" sz="900" dirty="0">
                <a:solidFill>
                  <a:srgbClr val="0000FF"/>
                </a:solidFill>
                <a:highlight>
                  <a:srgbClr val="FFFFFF"/>
                </a:highlight>
                <a:latin typeface="Cascadia Mono" panose="020B0609020000020004" pitchFamily="49" charset="0"/>
              </a:rPr>
              <a:t>new</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ServiceBook</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var</a:t>
            </a:r>
            <a:r>
              <a:rPr lang="en-IN" sz="900" dirty="0">
                <a:solidFill>
                  <a:srgbClr val="000000"/>
                </a:solidFill>
                <a:highlight>
                  <a:srgbClr val="FFFFFF"/>
                </a:highlight>
                <a:latin typeface="Cascadia Mono" panose="020B0609020000020004" pitchFamily="49" charset="0"/>
              </a:rPr>
              <a:t> book = </a:t>
            </a:r>
            <a:r>
              <a:rPr lang="en-IN" sz="900" dirty="0">
                <a:solidFill>
                  <a:srgbClr val="0000FF"/>
                </a:solidFill>
                <a:highlight>
                  <a:srgbClr val="FFFFFF"/>
                </a:highlight>
                <a:latin typeface="Cascadia Mono" panose="020B0609020000020004" pitchFamily="49" charset="0"/>
              </a:rPr>
              <a:t>new</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Book</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Title = </a:t>
            </a:r>
            <a:r>
              <a:rPr lang="en-IN" sz="900" dirty="0">
                <a:solidFill>
                  <a:srgbClr val="A31515"/>
                </a:solidFill>
                <a:highlight>
                  <a:srgbClr val="FFFFFF"/>
                </a:highlight>
                <a:latin typeface="Cascadia Mono" panose="020B0609020000020004" pitchFamily="49" charset="0"/>
              </a:rPr>
              <a:t>"let us C"</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Author = </a:t>
            </a:r>
            <a:r>
              <a:rPr lang="en-IN" sz="900" dirty="0">
                <a:solidFill>
                  <a:srgbClr val="0000FF"/>
                </a:solidFill>
                <a:highlight>
                  <a:srgbClr val="FFFFFF"/>
                </a:highlight>
                <a:latin typeface="Cascadia Mono" panose="020B0609020000020004" pitchFamily="49" charset="0"/>
              </a:rPr>
              <a:t>new</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Author</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FirstName = </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Yashavant</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LastName</a:t>
            </a:r>
            <a:r>
              <a:rPr lang="en-IN" sz="900" dirty="0">
                <a:solidFill>
                  <a:srgbClr val="000000"/>
                </a:solidFill>
                <a:highlight>
                  <a:srgbClr val="FFFFFF"/>
                </a:highlight>
                <a:latin typeface="Cascadia Mono" panose="020B0609020000020004" pitchFamily="49" charset="0"/>
              </a:rPr>
              <a:t> = </a:t>
            </a:r>
            <a:r>
              <a:rPr lang="en-IN" sz="900" dirty="0">
                <a:solidFill>
                  <a:srgbClr val="A31515"/>
                </a:solidFill>
                <a:highlight>
                  <a:srgbClr val="FFFFFF"/>
                </a:highlight>
                <a:latin typeface="Cascadia Mono" panose="020B0609020000020004" pitchFamily="49" charset="0"/>
              </a:rPr>
              <a:t>"</a:t>
            </a:r>
            <a:r>
              <a:rPr lang="en-IN" sz="900" dirty="0" err="1">
                <a:solidFill>
                  <a:srgbClr val="A31515"/>
                </a:solidFill>
                <a:highlight>
                  <a:srgbClr val="FFFFFF"/>
                </a:highlight>
                <a:latin typeface="Cascadia Mono" panose="020B0609020000020004" pitchFamily="49" charset="0"/>
              </a:rPr>
              <a:t>Kanetkar</a:t>
            </a:r>
            <a:r>
              <a:rPr lang="en-IN" sz="900" dirty="0">
                <a:solidFill>
                  <a:srgbClr val="A31515"/>
                </a:solidFill>
                <a:highlight>
                  <a:srgbClr val="FFFFFF"/>
                </a:highlight>
                <a:latin typeface="Cascadia Mono" panose="020B0609020000020004" pitchFamily="49" charset="0"/>
              </a:rPr>
              <a:t>"</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//Add Author add book </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a:t>
            </a:r>
            <a:r>
              <a:rPr lang="en-IN" sz="900" dirty="0" err="1">
                <a:solidFill>
                  <a:srgbClr val="008000"/>
                </a:solidFill>
                <a:highlight>
                  <a:srgbClr val="FFFFFF"/>
                </a:highlight>
                <a:latin typeface="Cascadia Mono" panose="020B0609020000020004" pitchFamily="49" charset="0"/>
              </a:rPr>
              <a:t>servicebook.AddBook</a:t>
            </a:r>
            <a:r>
              <a:rPr lang="en-IN" sz="900" dirty="0">
                <a:solidFill>
                  <a:srgbClr val="008000"/>
                </a:solidFill>
                <a:highlight>
                  <a:srgbClr val="FFFFFF"/>
                </a:highlight>
                <a:latin typeface="Cascadia Mono" panose="020B0609020000020004" pitchFamily="49" charset="0"/>
              </a:rPr>
              <a:t>(book);</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//Add multiple record</a:t>
            </a:r>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 </a:t>
            </a:r>
            <a:r>
              <a:rPr lang="en-IN" sz="900" dirty="0" err="1">
                <a:solidFill>
                  <a:srgbClr val="008000"/>
                </a:solidFill>
                <a:highlight>
                  <a:srgbClr val="FFFFFF"/>
                </a:highlight>
                <a:latin typeface="Cascadia Mono" panose="020B0609020000020004" pitchFamily="49" charset="0"/>
              </a:rPr>
              <a:t>servicebook.Addmany</a:t>
            </a:r>
            <a:r>
              <a:rPr lang="en-IN" sz="900" dirty="0">
                <a:solidFill>
                  <a:srgbClr val="008000"/>
                </a:solidFill>
                <a:highlight>
                  <a:srgbClr val="FFFFFF"/>
                </a:highlight>
                <a:latin typeface="Cascadia Mono" panose="020B0609020000020004" pitchFamily="49" charset="0"/>
              </a:rPr>
              <a:t>();</a:t>
            </a:r>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var</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bookup</a:t>
            </a:r>
            <a:r>
              <a:rPr lang="en-IN" sz="900" dirty="0">
                <a:solidFill>
                  <a:srgbClr val="000000"/>
                </a:solidFill>
                <a:highlight>
                  <a:srgbClr val="FFFFFF"/>
                </a:highlight>
                <a:latin typeface="Cascadia Mono" panose="020B0609020000020004" pitchFamily="49" charset="0"/>
              </a:rPr>
              <a:t> = </a:t>
            </a:r>
            <a:r>
              <a:rPr lang="en-IN" sz="900" dirty="0">
                <a:solidFill>
                  <a:srgbClr val="0000FF"/>
                </a:solidFill>
                <a:highlight>
                  <a:srgbClr val="FFFFFF"/>
                </a:highlight>
                <a:latin typeface="Cascadia Mono" panose="020B0609020000020004" pitchFamily="49" charset="0"/>
              </a:rPr>
              <a:t>new</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Book</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Title = </a:t>
            </a:r>
            <a:r>
              <a:rPr lang="en-IN" sz="900" dirty="0">
                <a:solidFill>
                  <a:srgbClr val="A31515"/>
                </a:solidFill>
                <a:highlight>
                  <a:srgbClr val="FFFFFF"/>
                </a:highlight>
                <a:latin typeface="Cascadia Mono" panose="020B0609020000020004" pitchFamily="49" charset="0"/>
              </a:rPr>
              <a:t>"Test </a:t>
            </a:r>
            <a:r>
              <a:rPr lang="en-IN" sz="900" dirty="0" err="1">
                <a:solidFill>
                  <a:srgbClr val="A31515"/>
                </a:solidFill>
                <a:highlight>
                  <a:srgbClr val="FFFFFF"/>
                </a:highlight>
                <a:latin typeface="Cascadia Mono" panose="020B0609020000020004" pitchFamily="49" charset="0"/>
              </a:rPr>
              <a:t>yout</a:t>
            </a:r>
            <a:r>
              <a:rPr lang="en-IN" sz="900" dirty="0">
                <a:solidFill>
                  <a:srgbClr val="A31515"/>
                </a:solidFill>
                <a:highlight>
                  <a:srgbClr val="FFFFFF"/>
                </a:highlight>
                <a:latin typeface="Cascadia Mono" panose="020B0609020000020004" pitchFamily="49" charset="0"/>
              </a:rPr>
              <a:t> skill"</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BookId</a:t>
            </a:r>
            <a:r>
              <a:rPr lang="en-IN" sz="900" dirty="0">
                <a:solidFill>
                  <a:srgbClr val="000000"/>
                </a:solidFill>
                <a:highlight>
                  <a:srgbClr val="FFFFFF"/>
                </a:highlight>
                <a:latin typeface="Cascadia Mono" panose="020B0609020000020004" pitchFamily="49" charset="0"/>
              </a:rPr>
              <a:t> = 4,</a:t>
            </a: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AuthorId</a:t>
            </a:r>
            <a:r>
              <a:rPr lang="en-IN" sz="900" dirty="0">
                <a:solidFill>
                  <a:srgbClr val="000000"/>
                </a:solidFill>
                <a:highlight>
                  <a:srgbClr val="FFFFFF"/>
                </a:highlight>
                <a:latin typeface="Cascadia Mono" panose="020B0609020000020004" pitchFamily="49" charset="0"/>
              </a:rPr>
              <a:t> = 2</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a:t>
            </a:r>
            <a:r>
              <a:rPr lang="en-IN" sz="900" dirty="0" err="1">
                <a:solidFill>
                  <a:srgbClr val="008000"/>
                </a:solidFill>
                <a:highlight>
                  <a:srgbClr val="FFFFFF"/>
                </a:highlight>
                <a:latin typeface="Cascadia Mono" panose="020B0609020000020004" pitchFamily="49" charset="0"/>
              </a:rPr>
              <a:t>servicebook.UpdateBook</a:t>
            </a:r>
            <a:r>
              <a:rPr lang="en-IN" sz="900" dirty="0">
                <a:solidFill>
                  <a:srgbClr val="008000"/>
                </a:solidFill>
                <a:highlight>
                  <a:srgbClr val="FFFFFF"/>
                </a:highlight>
                <a:latin typeface="Cascadia Mono" panose="020B0609020000020004" pitchFamily="49" charset="0"/>
              </a:rPr>
              <a:t>(</a:t>
            </a:r>
            <a:r>
              <a:rPr lang="en-IN" sz="900" dirty="0" err="1">
                <a:solidFill>
                  <a:srgbClr val="008000"/>
                </a:solidFill>
                <a:highlight>
                  <a:srgbClr val="FFFFFF"/>
                </a:highlight>
                <a:latin typeface="Cascadia Mono" panose="020B0609020000020004" pitchFamily="49" charset="0"/>
              </a:rPr>
              <a:t>bookup</a:t>
            </a:r>
            <a:r>
              <a:rPr lang="en-IN" sz="900" dirty="0">
                <a:solidFill>
                  <a:srgbClr val="008000"/>
                </a:solidFill>
                <a:highlight>
                  <a:srgbClr val="FFFFFF"/>
                </a:highlight>
                <a:latin typeface="Cascadia Mono" panose="020B0609020000020004" pitchFamily="49" charset="0"/>
              </a:rPr>
              <a:t>);</a:t>
            </a:r>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a:t>
            </a:r>
            <a:r>
              <a:rPr lang="en-IN" sz="900" dirty="0" err="1">
                <a:solidFill>
                  <a:srgbClr val="008000"/>
                </a:solidFill>
                <a:highlight>
                  <a:srgbClr val="FFFFFF"/>
                </a:highlight>
                <a:latin typeface="Cascadia Mono" panose="020B0609020000020004" pitchFamily="49" charset="0"/>
              </a:rPr>
              <a:t>servicebook.RemoveBook</a:t>
            </a:r>
            <a:r>
              <a:rPr lang="en-IN" sz="900" dirty="0">
                <a:solidFill>
                  <a:srgbClr val="008000"/>
                </a:solidFill>
                <a:highlight>
                  <a:srgbClr val="FFFFFF"/>
                </a:highlight>
                <a:latin typeface="Cascadia Mono" panose="020B0609020000020004" pitchFamily="49" charset="0"/>
              </a:rPr>
              <a:t>(5);</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servicebook.DeleteAuth</a:t>
            </a:r>
            <a:r>
              <a:rPr lang="en-IN" sz="900" dirty="0">
                <a:solidFill>
                  <a:srgbClr val="000000"/>
                </a:solidFill>
                <a:highlight>
                  <a:srgbClr val="FFFFFF"/>
                </a:highlight>
                <a:latin typeface="Cascadia Mono" panose="020B0609020000020004" pitchFamily="49" charset="0"/>
              </a:rPr>
              <a:t>(3);</a:t>
            </a: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var</a:t>
            </a:r>
            <a:r>
              <a:rPr lang="en-IN" sz="900" dirty="0">
                <a:solidFill>
                  <a:srgbClr val="000000"/>
                </a:solidFill>
                <a:highlight>
                  <a:srgbClr val="FFFFFF"/>
                </a:highlight>
                <a:latin typeface="Cascadia Mono" panose="020B0609020000020004" pitchFamily="49" charset="0"/>
              </a:rPr>
              <a:t> d = </a:t>
            </a:r>
            <a:r>
              <a:rPr lang="en-IN" sz="900" dirty="0" err="1">
                <a:solidFill>
                  <a:srgbClr val="000000"/>
                </a:solidFill>
                <a:highlight>
                  <a:srgbClr val="FFFFFF"/>
                </a:highlight>
                <a:latin typeface="Cascadia Mono" panose="020B0609020000020004" pitchFamily="49" charset="0"/>
              </a:rPr>
              <a:t>servicebook.Display</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foreach</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var</a:t>
            </a:r>
            <a:r>
              <a:rPr lang="en-IN" sz="900" dirty="0">
                <a:solidFill>
                  <a:srgbClr val="000000"/>
                </a:solidFill>
                <a:highlight>
                  <a:srgbClr val="FFFFFF"/>
                </a:highlight>
                <a:latin typeface="Cascadia Mono" panose="020B0609020000020004" pitchFamily="49" charset="0"/>
              </a:rPr>
              <a:t> item </a:t>
            </a:r>
            <a:r>
              <a:rPr lang="en-IN" sz="900" dirty="0">
                <a:solidFill>
                  <a:srgbClr val="0000FF"/>
                </a:solidFill>
                <a:highlight>
                  <a:srgbClr val="FFFFFF"/>
                </a:highlight>
                <a:latin typeface="Cascadia Mono" panose="020B0609020000020004" pitchFamily="49" charset="0"/>
              </a:rPr>
              <a:t>in</a:t>
            </a:r>
            <a:r>
              <a:rPr lang="en-IN" sz="900" dirty="0">
                <a:solidFill>
                  <a:srgbClr val="000000"/>
                </a:solidFill>
                <a:highlight>
                  <a:srgbClr val="FFFFFF"/>
                </a:highlight>
                <a:latin typeface="Cascadia Mono" panose="020B0609020000020004" pitchFamily="49" charset="0"/>
              </a:rPr>
              <a:t> d)</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.WriteLine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r>
              <a:rPr lang="en-IN" sz="900" dirty="0" err="1">
                <a:solidFill>
                  <a:srgbClr val="000000"/>
                </a:solidFill>
                <a:highlight>
                  <a:srgbClr val="FFFFFF"/>
                </a:highlight>
                <a:latin typeface="Cascadia Mono" panose="020B0609020000020004" pitchFamily="49" charset="0"/>
              </a:rPr>
              <a:t>item?.Title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 </a:t>
            </a:r>
            <a:r>
              <a:rPr lang="en-IN" sz="900" dirty="0">
                <a:solidFill>
                  <a:srgbClr val="000000"/>
                </a:solidFill>
                <a:highlight>
                  <a:srgbClr val="FFFFFF"/>
                </a:highlight>
                <a:latin typeface="Cascadia Mono" panose="020B0609020000020004" pitchFamily="49" charset="0"/>
              </a:rPr>
              <a:t>{</a:t>
            </a:r>
            <a:r>
              <a:rPr lang="en-IN" sz="900" dirty="0" err="1">
                <a:solidFill>
                  <a:srgbClr val="000000"/>
                </a:solidFill>
                <a:highlight>
                  <a:srgbClr val="FFFFFF"/>
                </a:highlight>
                <a:latin typeface="Cascadia Mono" panose="020B0609020000020004" pitchFamily="49" charset="0"/>
              </a:rPr>
              <a:t>item?.Author?.FirstName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  </a:t>
            </a:r>
            <a:r>
              <a:rPr lang="en-IN" sz="900" dirty="0">
                <a:solidFill>
                  <a:srgbClr val="000000"/>
                </a:solidFill>
                <a:highlight>
                  <a:srgbClr val="FFFFFF"/>
                </a:highlight>
                <a:latin typeface="Cascadia Mono" panose="020B0609020000020004" pitchFamily="49" charset="0"/>
              </a:rPr>
              <a:t>{item?.Author?.</a:t>
            </a:r>
            <a:r>
              <a:rPr lang="en-IN" sz="900" dirty="0" err="1">
                <a:solidFill>
                  <a:srgbClr val="000000"/>
                </a:solidFill>
                <a:highlight>
                  <a:srgbClr val="FFFFFF"/>
                </a:highlight>
                <a:latin typeface="Cascadia Mono" panose="020B0609020000020004" pitchFamily="49" charset="0"/>
              </a:rPr>
              <a:t>LastName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 </a:t>
            </a:r>
            <a:r>
              <a:rPr lang="en-IN" sz="900" dirty="0">
                <a:solidFill>
                  <a:srgbClr val="000000"/>
                </a:solidFill>
                <a:highlight>
                  <a:srgbClr val="FFFFFF"/>
                </a:highlight>
                <a:latin typeface="Cascadia Mono" panose="020B0609020000020004" pitchFamily="49" charset="0"/>
              </a:rPr>
              <a:t>{item?.</a:t>
            </a:r>
            <a:r>
              <a:rPr lang="en-IN" sz="900" dirty="0" err="1">
                <a:solidFill>
                  <a:srgbClr val="000000"/>
                </a:solidFill>
                <a:highlight>
                  <a:srgbClr val="FFFFFF"/>
                </a:highlight>
                <a:latin typeface="Cascadia Mono" panose="020B0609020000020004" pitchFamily="49" charset="0"/>
              </a:rPr>
              <a:t>BookId</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a:t>
            </a:r>
          </a:p>
          <a:p>
            <a:endParaRPr lang="en-IN" sz="200" dirty="0">
              <a:solidFill>
                <a:srgbClr val="000000"/>
              </a:solidFill>
              <a:latin typeface="Cascadia Mono" panose="020B0609020000020004" pitchFamily="49" charset="0"/>
            </a:endParaRPr>
          </a:p>
        </p:txBody>
      </p:sp>
      <p:cxnSp>
        <p:nvCxnSpPr>
          <p:cNvPr id="3" name="Straight Arrow Connector 2"/>
          <p:cNvCxnSpPr/>
          <p:nvPr/>
        </p:nvCxnSpPr>
        <p:spPr>
          <a:xfrm flipV="1">
            <a:off x="3800475" y="1314450"/>
            <a:ext cx="1743075" cy="581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5372100" y="1057275"/>
            <a:ext cx="5133975" cy="369332"/>
          </a:xfrm>
          <a:prstGeom prst="rect">
            <a:avLst/>
          </a:prstGeom>
          <a:noFill/>
        </p:spPr>
        <p:txBody>
          <a:bodyPr wrap="square" rtlCol="0">
            <a:spAutoFit/>
          </a:bodyPr>
          <a:lstStyle/>
          <a:p>
            <a:r>
              <a:rPr lang="en-US" dirty="0"/>
              <a:t>Creating Object of Service class</a:t>
            </a:r>
            <a:endParaRPr lang="en-IN" dirty="0"/>
          </a:p>
        </p:txBody>
      </p:sp>
      <p:cxnSp>
        <p:nvCxnSpPr>
          <p:cNvPr id="7" name="Straight Arrow Connector 6"/>
          <p:cNvCxnSpPr>
            <a:cxnSpLocks/>
            <a:endCxn id="8" idx="1"/>
          </p:cNvCxnSpPr>
          <p:nvPr/>
        </p:nvCxnSpPr>
        <p:spPr>
          <a:xfrm flipV="1">
            <a:off x="2740024" y="2218641"/>
            <a:ext cx="2519892" cy="548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259916" y="1895475"/>
            <a:ext cx="6419850" cy="646331"/>
          </a:xfrm>
          <a:prstGeom prst="rect">
            <a:avLst/>
          </a:prstGeom>
          <a:noFill/>
        </p:spPr>
        <p:txBody>
          <a:bodyPr wrap="square" rtlCol="0">
            <a:spAutoFit/>
          </a:bodyPr>
          <a:lstStyle/>
          <a:p>
            <a:r>
              <a:rPr lang="en-US" dirty="0"/>
              <a:t>Calling method of service class which in turn call Add() method of </a:t>
            </a:r>
            <a:r>
              <a:rPr lang="en-US" dirty="0" err="1"/>
              <a:t>DbContext</a:t>
            </a:r>
            <a:r>
              <a:rPr lang="en-US" dirty="0"/>
              <a:t> class.</a:t>
            </a:r>
            <a:endParaRPr lang="en-IN" dirty="0"/>
          </a:p>
        </p:txBody>
      </p:sp>
      <p:cxnSp>
        <p:nvCxnSpPr>
          <p:cNvPr id="6" name="Straight Arrow Connector 5">
            <a:extLst>
              <a:ext uri="{FF2B5EF4-FFF2-40B4-BE49-F238E27FC236}">
                <a16:creationId xmlns:a16="http://schemas.microsoft.com/office/drawing/2014/main" id="{7A5BBADA-1184-0ADD-AEF3-D127C3A13A28}"/>
              </a:ext>
            </a:extLst>
          </p:cNvPr>
          <p:cNvCxnSpPr>
            <a:cxnSpLocks/>
          </p:cNvCxnSpPr>
          <p:nvPr/>
        </p:nvCxnSpPr>
        <p:spPr>
          <a:xfrm flipV="1">
            <a:off x="2006600" y="4140200"/>
            <a:ext cx="3365500" cy="323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889C08-2269-A70B-C8F7-E17A7B54A848}"/>
              </a:ext>
            </a:extLst>
          </p:cNvPr>
          <p:cNvSpPr txBox="1"/>
          <p:nvPr/>
        </p:nvSpPr>
        <p:spPr>
          <a:xfrm>
            <a:off x="5372100" y="3209925"/>
            <a:ext cx="6244166"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Then </a:t>
            </a:r>
            <a:r>
              <a:rPr lang="en-US" dirty="0" err="1"/>
              <a:t>AuthorId</a:t>
            </a:r>
            <a:r>
              <a:rPr lang="en-US" dirty="0"/>
              <a:t> is required because it's a non-nullable foreign key, so EF Core expects you to always supply it when updating or inserting.</a:t>
            </a:r>
          </a:p>
          <a:p>
            <a:r>
              <a:rPr lang="en-US" dirty="0"/>
              <a:t>Then EF Core marks the </a:t>
            </a:r>
            <a:r>
              <a:rPr lang="en-US" b="1" dirty="0">
                <a:highlight>
                  <a:srgbClr val="FFFF00"/>
                </a:highlight>
              </a:rPr>
              <a:t>entire object as modified</a:t>
            </a:r>
            <a:r>
              <a:rPr lang="en-US" dirty="0"/>
              <a:t>, meaning it tries to update all columns — not just Title. So if </a:t>
            </a:r>
            <a:r>
              <a:rPr lang="en-US" dirty="0" err="1"/>
              <a:t>AuthorId</a:t>
            </a:r>
            <a:r>
              <a:rPr lang="en-US" dirty="0"/>
              <a:t> is not supplied, and it's non-nullable in the database, it throws an error or sets it to 0 (which violates constraints).</a:t>
            </a:r>
            <a:endParaRPr lang="en-IN" dirty="0"/>
          </a:p>
        </p:txBody>
      </p:sp>
      <p:cxnSp>
        <p:nvCxnSpPr>
          <p:cNvPr id="10" name="Straight Arrow Connector 9">
            <a:extLst>
              <a:ext uri="{FF2B5EF4-FFF2-40B4-BE49-F238E27FC236}">
                <a16:creationId xmlns:a16="http://schemas.microsoft.com/office/drawing/2014/main" id="{88E56BB0-F4D4-4F5A-D320-BFAF90905289}"/>
              </a:ext>
            </a:extLst>
          </p:cNvPr>
          <p:cNvCxnSpPr/>
          <p:nvPr/>
        </p:nvCxnSpPr>
        <p:spPr>
          <a:xfrm>
            <a:off x="2514600" y="5223933"/>
            <a:ext cx="5418667" cy="576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6296724-F32D-C368-554A-46A701600598}"/>
              </a:ext>
            </a:extLst>
          </p:cNvPr>
          <p:cNvSpPr txBox="1"/>
          <p:nvPr/>
        </p:nvSpPr>
        <p:spPr>
          <a:xfrm>
            <a:off x="7973906" y="5728960"/>
            <a:ext cx="394546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t>If Id 3 not found it will throw </a:t>
            </a:r>
            <a:r>
              <a:rPr lang="en-IN" b="1" dirty="0">
                <a:solidFill>
                  <a:srgbClr val="FF0000"/>
                </a:solidFill>
              </a:rPr>
              <a:t>Exception</a:t>
            </a:r>
          </a:p>
          <a:p>
            <a:r>
              <a:rPr lang="en-IN" b="1" dirty="0">
                <a:solidFill>
                  <a:srgbClr val="FF0000"/>
                </a:solidFill>
              </a:rPr>
              <a:t>See next slide</a:t>
            </a:r>
          </a:p>
        </p:txBody>
      </p:sp>
    </p:spTree>
    <p:extLst>
      <p:ext uri="{BB962C8B-B14F-4D97-AF65-F5344CB8AC3E}">
        <p14:creationId xmlns:p14="http://schemas.microsoft.com/office/powerpoint/2010/main" val="104577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A172ED-3E68-D6B9-FE43-BCC8B61388C2}"/>
              </a:ext>
            </a:extLst>
          </p:cNvPr>
          <p:cNvPicPr>
            <a:picLocks noChangeAspect="1"/>
          </p:cNvPicPr>
          <p:nvPr/>
        </p:nvPicPr>
        <p:blipFill>
          <a:blip r:embed="rId2"/>
          <a:stretch>
            <a:fillRect/>
          </a:stretch>
        </p:blipFill>
        <p:spPr>
          <a:xfrm>
            <a:off x="203200" y="50802"/>
            <a:ext cx="11650036" cy="3161194"/>
          </a:xfrm>
          <a:prstGeom prst="rect">
            <a:avLst/>
          </a:prstGeom>
        </p:spPr>
      </p:pic>
      <p:sp>
        <p:nvSpPr>
          <p:cNvPr id="6" name="TextBox 5">
            <a:extLst>
              <a:ext uri="{FF2B5EF4-FFF2-40B4-BE49-F238E27FC236}">
                <a16:creationId xmlns:a16="http://schemas.microsoft.com/office/drawing/2014/main" id="{4843A6E3-7C10-D1A2-E517-F660482304CC}"/>
              </a:ext>
            </a:extLst>
          </p:cNvPr>
          <p:cNvSpPr txBox="1"/>
          <p:nvPr/>
        </p:nvSpPr>
        <p:spPr>
          <a:xfrm>
            <a:off x="1473201" y="3244334"/>
            <a:ext cx="766233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Can we log query fired by entity?     yes</a:t>
            </a:r>
          </a:p>
        </p:txBody>
      </p:sp>
      <p:sp>
        <p:nvSpPr>
          <p:cNvPr id="8" name="TextBox 7">
            <a:extLst>
              <a:ext uri="{FF2B5EF4-FFF2-40B4-BE49-F238E27FC236}">
                <a16:creationId xmlns:a16="http://schemas.microsoft.com/office/drawing/2014/main" id="{575E4E25-63BB-3ABA-5812-F5DC1089AD78}"/>
              </a:ext>
            </a:extLst>
          </p:cNvPr>
          <p:cNvSpPr txBox="1"/>
          <p:nvPr/>
        </p:nvSpPr>
        <p:spPr>
          <a:xfrm>
            <a:off x="203200" y="3764466"/>
            <a:ext cx="11794067"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SampleContext</a:t>
            </a:r>
            <a:r>
              <a:rPr lang="en-IN" sz="1800" dirty="0">
                <a:solidFill>
                  <a:srgbClr val="000000"/>
                </a:solidFill>
                <a:highlight>
                  <a:srgbClr val="FFFFFF"/>
                </a:highlight>
                <a:latin typeface="Cascadia Mono" panose="020B0609020000020004" pitchFamily="49" charset="0"/>
              </a:rPr>
              <a:t> : </a:t>
            </a:r>
            <a:r>
              <a:rPr lang="en-IN" sz="1800" dirty="0" err="1">
                <a:solidFill>
                  <a:srgbClr val="2B91AF"/>
                </a:solidFill>
                <a:highlight>
                  <a:srgbClr val="FFFFFF"/>
                </a:highlight>
                <a:latin typeface="Cascadia Mono" panose="020B0609020000020004" pitchFamily="49" charset="0"/>
              </a:rPr>
              <a:t>DbContext</a:t>
            </a:r>
            <a:endParaRPr lang="en-IN" sz="1800" dirty="0">
              <a:solidFill>
                <a:srgbClr val="2B91AF"/>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protected</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override</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void</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OnConfiguring</a:t>
            </a:r>
            <a:r>
              <a:rPr lang="en-US" sz="1800" dirty="0">
                <a:solidFill>
                  <a:srgbClr val="000000"/>
                </a:solidFill>
                <a:highlight>
                  <a:srgbClr val="FFFFFF"/>
                </a:highlight>
                <a:latin typeface="Cascadia Mono" panose="020B0609020000020004" pitchFamily="49" charset="0"/>
              </a:rPr>
              <a:t>(</a:t>
            </a:r>
            <a:r>
              <a:rPr lang="en-US" sz="1800" dirty="0" err="1">
                <a:solidFill>
                  <a:srgbClr val="2B91AF"/>
                </a:solidFill>
                <a:highlight>
                  <a:srgbClr val="FFFFFF"/>
                </a:highlight>
                <a:latin typeface="Cascadia Mono" panose="020B0609020000020004" pitchFamily="49" charset="0"/>
              </a:rPr>
              <a:t>DbContextOptionsBuilder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optionsBuilder</a:t>
            </a:r>
            <a:r>
              <a:rPr lang="en-US"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if</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optionsBuilder.IsConfigured</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optionsBuilder.UseSqlServer</a:t>
            </a:r>
            <a:r>
              <a:rPr lang="en-US" sz="1800" dirty="0">
                <a:solidFill>
                  <a:srgbClr val="000000"/>
                </a:solidFill>
                <a:highlight>
                  <a:srgbClr val="FFFFFF"/>
                </a:highlight>
                <a:latin typeface="Cascadia Mono" panose="020B0609020000020004" pitchFamily="49" charset="0"/>
              </a:rPr>
              <a:t>(</a:t>
            </a:r>
            <a:r>
              <a:rPr lang="en-US" sz="1800" dirty="0">
                <a:solidFill>
                  <a:srgbClr val="800000"/>
                </a:solidFill>
                <a:highlight>
                  <a:srgbClr val="FFFFFF"/>
                </a:highlight>
                <a:latin typeface="Cascadia Mono" panose="020B0609020000020004" pitchFamily="49" charset="0"/>
              </a:rPr>
              <a:t>@"Data Source=(</a:t>
            </a:r>
            <a:r>
              <a:rPr lang="en-US" sz="1800" dirty="0" err="1">
                <a:solidFill>
                  <a:srgbClr val="800000"/>
                </a:solidFill>
                <a:highlight>
                  <a:srgbClr val="FFFFFF"/>
                </a:highlight>
                <a:latin typeface="Cascadia Mono" panose="020B0609020000020004" pitchFamily="49" charset="0"/>
              </a:rPr>
              <a:t>localdb</a:t>
            </a:r>
            <a:r>
              <a:rPr lang="en-US" sz="1800" dirty="0">
                <a:solidFill>
                  <a:srgbClr val="800000"/>
                </a:solidFill>
                <a:highlight>
                  <a:srgbClr val="FFFFFF"/>
                </a:highlight>
                <a:latin typeface="Cascadia Mono" panose="020B0609020000020004" pitchFamily="49" charset="0"/>
              </a:rPr>
              <a:t>)\</a:t>
            </a:r>
            <a:r>
              <a:rPr lang="en-US" sz="1800" dirty="0" err="1">
                <a:solidFill>
                  <a:srgbClr val="800000"/>
                </a:solidFill>
                <a:highlight>
                  <a:srgbClr val="FFFFFF"/>
                </a:highlight>
                <a:latin typeface="Cascadia Mono" panose="020B0609020000020004" pitchFamily="49" charset="0"/>
              </a:rPr>
              <a:t>ProjectModels;Initial</a:t>
            </a:r>
            <a:r>
              <a:rPr lang="en-US" sz="1800" dirty="0">
                <a:solidFill>
                  <a:srgbClr val="800000"/>
                </a:solidFill>
                <a:highlight>
                  <a:srgbClr val="FFFFFF"/>
                </a:highlight>
                <a:latin typeface="Cascadia Mono" panose="020B0609020000020004" pitchFamily="49" charset="0"/>
              </a:rPr>
              <a:t> Catalog=</a:t>
            </a:r>
            <a:r>
              <a:rPr lang="en-US" sz="1800" dirty="0" err="1">
                <a:solidFill>
                  <a:srgbClr val="800000"/>
                </a:solidFill>
                <a:highlight>
                  <a:srgbClr val="FFFFFF"/>
                </a:highlight>
                <a:latin typeface="Cascadia Mono" panose="020B0609020000020004" pitchFamily="49" charset="0"/>
              </a:rPr>
              <a:t>ADOcode;Integrated</a:t>
            </a:r>
            <a:r>
              <a:rPr lang="en-US" sz="1800" dirty="0">
                <a:solidFill>
                  <a:srgbClr val="800000"/>
                </a:solidFill>
                <a:highlight>
                  <a:srgbClr val="FFFFFF"/>
                </a:highlight>
                <a:latin typeface="Cascadia Mono" panose="020B0609020000020004" pitchFamily="49" charset="0"/>
              </a:rPr>
              <a:t> Security=True"</a:t>
            </a:r>
            <a:r>
              <a:rPr lang="en-US"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LogTo</a:t>
            </a:r>
            <a:r>
              <a:rPr lang="en-IN" sz="1800" dirty="0">
                <a:solidFill>
                  <a:srgbClr val="000000"/>
                </a:solidFill>
                <a:highlight>
                  <a:srgbClr val="FFFFFF"/>
                </a:highlight>
                <a:latin typeface="Cascadia Mono" panose="020B0609020000020004" pitchFamily="49" charset="0"/>
              </a:rPr>
              <a:t>(</a:t>
            </a:r>
            <a:r>
              <a:rPr lang="en-IN" sz="1800" dirty="0" err="1">
                <a:solidFill>
                  <a:srgbClr val="2B91AF"/>
                </a:solidFill>
                <a:highlight>
                  <a:srgbClr val="FFFFFF"/>
                </a:highlight>
                <a:latin typeface="Cascadia Mono" panose="020B0609020000020004" pitchFamily="49" charset="0"/>
              </a:rPr>
              <a:t>Console</a:t>
            </a:r>
            <a:r>
              <a:rPr lang="en-IN" sz="1800" dirty="0" err="1">
                <a:solidFill>
                  <a:srgbClr val="000000"/>
                </a:solidFill>
                <a:highlight>
                  <a:srgbClr val="FFFFFF"/>
                </a:highlight>
                <a:latin typeface="Cascadia Mono" panose="020B0609020000020004" pitchFamily="49" charset="0"/>
              </a:rPr>
              <a:t>.WriteLine</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LogLevel</a:t>
            </a:r>
            <a:r>
              <a:rPr lang="en-IN" sz="1800" dirty="0" err="1">
                <a:solidFill>
                  <a:srgbClr val="000000"/>
                </a:solidFill>
                <a:highlight>
                  <a:srgbClr val="FFFFFF"/>
                </a:highlight>
                <a:latin typeface="Cascadia Mono" panose="020B0609020000020004" pitchFamily="49" charset="0"/>
              </a:rPr>
              <a:t>.Information</a:t>
            </a:r>
            <a:r>
              <a:rPr lang="en-IN" sz="1800" dirty="0">
                <a:solidFill>
                  <a:srgbClr val="000000"/>
                </a:solidFill>
                <a:highlight>
                  <a:srgbClr val="FFFFFF"/>
                </a:highlight>
                <a:latin typeface="Cascadia Mono" panose="020B0609020000020004" pitchFamily="49" charset="0"/>
              </a:rPr>
              <a:t>)</a:t>
            </a:r>
            <a:endParaRPr lang="en-IN" sz="1800" dirty="0">
              <a:solidFill>
                <a:srgbClr val="008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EnableSensitiveDataLogging</a:t>
            </a:r>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endParaRPr lang="en-IN" dirty="0"/>
          </a:p>
        </p:txBody>
      </p:sp>
    </p:spTree>
    <p:extLst>
      <p:ext uri="{BB962C8B-B14F-4D97-AF65-F5344CB8AC3E}">
        <p14:creationId xmlns:p14="http://schemas.microsoft.com/office/powerpoint/2010/main" val="3306471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8DE4D7-2BD0-DE85-C31B-4876BCB4593B}"/>
              </a:ext>
            </a:extLst>
          </p:cNvPr>
          <p:cNvPicPr>
            <a:picLocks noChangeAspect="1"/>
          </p:cNvPicPr>
          <p:nvPr/>
        </p:nvPicPr>
        <p:blipFill>
          <a:blip r:embed="rId2"/>
          <a:stretch>
            <a:fillRect/>
          </a:stretch>
        </p:blipFill>
        <p:spPr>
          <a:xfrm>
            <a:off x="0" y="475991"/>
            <a:ext cx="12192000" cy="5906017"/>
          </a:xfrm>
          <a:prstGeom prst="rect">
            <a:avLst/>
          </a:prstGeom>
        </p:spPr>
      </p:pic>
    </p:spTree>
    <p:extLst>
      <p:ext uri="{BB962C8B-B14F-4D97-AF65-F5344CB8AC3E}">
        <p14:creationId xmlns:p14="http://schemas.microsoft.com/office/powerpoint/2010/main" val="496619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93EB-09BB-7E66-3C2E-342DBB485086}"/>
              </a:ext>
            </a:extLst>
          </p:cNvPr>
          <p:cNvSpPr>
            <a:spLocks noGrp="1"/>
          </p:cNvSpPr>
          <p:nvPr>
            <p:ph type="title"/>
          </p:nvPr>
        </p:nvSpPr>
        <p:spPr>
          <a:xfrm>
            <a:off x="110067" y="68792"/>
            <a:ext cx="10515600" cy="1325563"/>
          </a:xfrm>
        </p:spPr>
        <p:style>
          <a:lnRef idx="2">
            <a:schemeClr val="accent1"/>
          </a:lnRef>
          <a:fillRef idx="1">
            <a:schemeClr val="lt1"/>
          </a:fillRef>
          <a:effectRef idx="0">
            <a:schemeClr val="accent1"/>
          </a:effectRef>
          <a:fontRef idx="minor">
            <a:schemeClr val="dk1"/>
          </a:fontRef>
        </p:style>
        <p:txBody>
          <a:bodyPr>
            <a:noAutofit/>
          </a:bodyPr>
          <a:lstStyle/>
          <a:p>
            <a:r>
              <a:rPr lang="en-US" sz="2400" dirty="0" err="1"/>
              <a:t>System.InvalidOperationException</a:t>
            </a:r>
            <a:r>
              <a:rPr lang="en-US" sz="2400" dirty="0"/>
              <a:t>: 'The instance of entity type </a:t>
            </a:r>
            <a:r>
              <a:rPr lang="en-US" sz="2400" b="1" dirty="0"/>
              <a:t>'Book' cannot be tracked because another instance </a:t>
            </a:r>
            <a:r>
              <a:rPr lang="en-US" sz="2400" dirty="0"/>
              <a:t>with the key value '{</a:t>
            </a:r>
            <a:r>
              <a:rPr lang="en-US" sz="2400" dirty="0" err="1"/>
              <a:t>BookId</a:t>
            </a:r>
            <a:r>
              <a:rPr lang="en-US" sz="2400" dirty="0"/>
              <a:t>: 4}' is already being </a:t>
            </a:r>
            <a:r>
              <a:rPr lang="en-US" sz="2400" b="1" dirty="0"/>
              <a:t>tracked</a:t>
            </a:r>
            <a:r>
              <a:rPr lang="en-US" sz="2400" dirty="0"/>
              <a:t>. When attaching existing entities, ensure that only one entity instance with a given key value is attached.'</a:t>
            </a:r>
            <a:endParaRPr lang="en-IN" sz="2400" dirty="0"/>
          </a:p>
        </p:txBody>
      </p:sp>
      <p:sp>
        <p:nvSpPr>
          <p:cNvPr id="3" name="Content Placeholder 2">
            <a:extLst>
              <a:ext uri="{FF2B5EF4-FFF2-40B4-BE49-F238E27FC236}">
                <a16:creationId xmlns:a16="http://schemas.microsoft.com/office/drawing/2014/main" id="{74E8D079-9EA6-4A5F-2798-718223B12447}"/>
              </a:ext>
            </a:extLst>
          </p:cNvPr>
          <p:cNvSpPr>
            <a:spLocks noGrp="1"/>
          </p:cNvSpPr>
          <p:nvPr>
            <p:ph idx="1"/>
          </p:nvPr>
        </p:nvSpPr>
        <p:spPr>
          <a:xfrm>
            <a:off x="0" y="1539452"/>
            <a:ext cx="8288866" cy="4351338"/>
          </a:xfrm>
        </p:spPr>
        <p:txBody>
          <a:bodyPr>
            <a:normAutofit lnSpcReduction="10000"/>
          </a:bodyPr>
          <a:lstStyle/>
          <a:p>
            <a:pPr marL="0" indent="0">
              <a:buNone/>
            </a:pP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public</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void</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UpdateBook</a:t>
            </a:r>
            <a:r>
              <a:rPr lang="en-US" sz="1400" dirty="0">
                <a:solidFill>
                  <a:srgbClr val="000000"/>
                </a:solidFill>
                <a:highlight>
                  <a:srgbClr val="FFFFFF"/>
                </a:highlight>
                <a:latin typeface="Cascadia Mono" panose="020B0609020000020004" pitchFamily="49" charset="0"/>
              </a:rPr>
              <a:t>(</a:t>
            </a:r>
            <a:r>
              <a:rPr lang="en-US" sz="1400" dirty="0">
                <a:solidFill>
                  <a:srgbClr val="2B91AF"/>
                </a:solidFill>
                <a:highlight>
                  <a:srgbClr val="FFFFFF"/>
                </a:highlight>
                <a:latin typeface="Cascadia Mono" panose="020B0609020000020004" pitchFamily="49" charset="0"/>
              </a:rPr>
              <a:t>Book</a:t>
            </a:r>
            <a:r>
              <a:rPr lang="en-US" sz="1400" dirty="0">
                <a:solidFill>
                  <a:srgbClr val="000000"/>
                </a:solidFill>
                <a:highlight>
                  <a:srgbClr val="FFFFFF"/>
                </a:highlight>
                <a:latin typeface="Cascadia Mono" panose="020B0609020000020004" pitchFamily="49" charset="0"/>
              </a:rPr>
              <a:t> obj)</a:t>
            </a:r>
          </a:p>
          <a:p>
            <a:pPr marL="0" indent="0">
              <a:buNone/>
            </a:pPr>
            <a:r>
              <a:rPr lang="en-IN" sz="1400" dirty="0">
                <a:solidFill>
                  <a:srgbClr val="000000"/>
                </a:solidFill>
                <a:highlight>
                  <a:srgbClr val="FFFFFF"/>
                </a:highlight>
                <a:latin typeface="Cascadia Mono" panose="020B0609020000020004" pitchFamily="49" charset="0"/>
              </a:rPr>
              <a:t> {</a:t>
            </a:r>
          </a:p>
          <a:p>
            <a:pPr marL="0" indent="0">
              <a:buNone/>
            </a:pP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var</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existingBook</a:t>
            </a:r>
            <a:r>
              <a:rPr lang="en-IN" sz="1400" dirty="0">
                <a:solidFill>
                  <a:srgbClr val="000000"/>
                </a:solidFill>
                <a:highlight>
                  <a:srgbClr val="FFFFFF"/>
                </a:highlight>
                <a:latin typeface="Cascadia Mono" panose="020B0609020000020004" pitchFamily="49" charset="0"/>
              </a:rPr>
              <a:t> = </a:t>
            </a:r>
            <a:r>
              <a:rPr lang="en-IN" sz="1400" dirty="0" err="1">
                <a:solidFill>
                  <a:srgbClr val="000000"/>
                </a:solidFill>
                <a:highlight>
                  <a:srgbClr val="FFFFFF"/>
                </a:highlight>
                <a:latin typeface="Cascadia Mono" panose="020B0609020000020004" pitchFamily="49" charset="0"/>
              </a:rPr>
              <a:t>db.Books.Find</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obj.BookId</a:t>
            </a:r>
            <a:r>
              <a:rPr lang="en-IN" sz="1400" dirty="0">
                <a:solidFill>
                  <a:srgbClr val="000000"/>
                </a:solidFill>
                <a:highlight>
                  <a:srgbClr val="FFFFFF"/>
                </a:highlight>
                <a:latin typeface="Cascadia Mono" panose="020B0609020000020004" pitchFamily="49" charset="0"/>
              </a:rPr>
              <a:t>);</a:t>
            </a:r>
          </a:p>
          <a:p>
            <a:pPr marL="0" indent="0">
              <a:buNone/>
            </a:pPr>
            <a:endParaRPr lang="en-IN" sz="1400" dirty="0">
              <a:solidFill>
                <a:srgbClr val="000000"/>
              </a:solidFill>
              <a:highlight>
                <a:srgbClr val="FFFFFF"/>
              </a:highlight>
              <a:latin typeface="Cascadia Mono" panose="020B0609020000020004" pitchFamily="49" charset="0"/>
            </a:endParaRPr>
          </a:p>
          <a:p>
            <a:pPr marL="0" indent="0">
              <a:buNone/>
            </a:pP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if</a:t>
            </a:r>
            <a:r>
              <a:rPr lang="en-IN" sz="1400" dirty="0">
                <a:solidFill>
                  <a:srgbClr val="FFFFFF"/>
                </a:solidFill>
                <a:highlight>
                  <a:srgbClr val="FFFFFF"/>
                </a:highlight>
                <a:latin typeface="Cascadia Mono" panose="020B0609020000020004" pitchFamily="49" charset="0"/>
              </a:rPr>
              <a:t> </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existingBook</a:t>
            </a:r>
            <a:r>
              <a:rPr lang="en-IN" sz="1400" dirty="0">
                <a:solidFill>
                  <a:srgbClr val="FFFFFF"/>
                </a:solidFill>
                <a:highlight>
                  <a:srgbClr val="FFFFFF"/>
                </a:highlight>
                <a:latin typeface="Cascadia Mono" panose="020B0609020000020004" pitchFamily="49" charset="0"/>
              </a:rPr>
              <a:t> </a:t>
            </a:r>
            <a:r>
              <a:rPr lang="en-IN" sz="1400" dirty="0">
                <a:solidFill>
                  <a:srgbClr val="000000"/>
                </a:solidFill>
                <a:highlight>
                  <a:srgbClr val="FFFFFF"/>
                </a:highlight>
                <a:latin typeface="Cascadia Mono" panose="020B0609020000020004" pitchFamily="49" charset="0"/>
              </a:rPr>
              <a:t>!=</a:t>
            </a:r>
            <a:r>
              <a:rPr lang="en-IN" sz="1400" dirty="0">
                <a:solidFill>
                  <a:srgbClr val="FFFFFF"/>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null</a:t>
            </a:r>
            <a:r>
              <a:rPr lang="en-IN" sz="1400" dirty="0">
                <a:solidFill>
                  <a:srgbClr val="000000"/>
                </a:solidFill>
                <a:highlight>
                  <a:srgbClr val="FFFFFF"/>
                </a:highlight>
                <a:latin typeface="Cascadia Mono" panose="020B0609020000020004" pitchFamily="49" charset="0"/>
              </a:rPr>
              <a:t>)</a:t>
            </a:r>
          </a:p>
          <a:p>
            <a:pPr marL="0" indent="0">
              <a:buNone/>
            </a:pPr>
            <a:r>
              <a:rPr lang="en-IN" sz="1400" dirty="0">
                <a:solidFill>
                  <a:srgbClr val="000000"/>
                </a:solidFill>
                <a:highlight>
                  <a:srgbClr val="FFFFFF"/>
                </a:highlight>
                <a:latin typeface="Cascadia Mono" panose="020B0609020000020004" pitchFamily="49" charset="0"/>
              </a:rPr>
              <a:t>     {</a:t>
            </a:r>
          </a:p>
          <a:p>
            <a:pPr marL="0" indent="0">
              <a:buNone/>
            </a:pP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Detach the existing entity to avoid conflicts</a:t>
            </a:r>
          </a:p>
          <a:p>
            <a:pPr marL="0" indent="0">
              <a:buNone/>
            </a:pP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db.Entry</a:t>
            </a:r>
            <a:r>
              <a:rPr lang="en-US" sz="1400" dirty="0">
                <a:solidFill>
                  <a:srgbClr val="00000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existingBook</a:t>
            </a:r>
            <a:r>
              <a:rPr lang="en-US" sz="1400" dirty="0">
                <a:solidFill>
                  <a:srgbClr val="000000"/>
                </a:solidFill>
                <a:highlight>
                  <a:srgbClr val="FFFFFF"/>
                </a:highlight>
                <a:latin typeface="Cascadia Mono" panose="020B0609020000020004" pitchFamily="49" charset="0"/>
              </a:rPr>
              <a:t>).State</a:t>
            </a:r>
            <a:r>
              <a:rPr lang="en-US" sz="1400" dirty="0">
                <a:solidFill>
                  <a:srgbClr val="FFFFFF"/>
                </a:solidFill>
                <a:highlight>
                  <a:srgbClr val="FFFFFF"/>
                </a:highlight>
                <a:latin typeface="Cascadia Mono" panose="020B0609020000020004" pitchFamily="49" charset="0"/>
              </a:rPr>
              <a:t> </a:t>
            </a:r>
            <a:r>
              <a:rPr lang="en-US" sz="1400" dirty="0">
                <a:solidFill>
                  <a:srgbClr val="000000"/>
                </a:solidFill>
                <a:highlight>
                  <a:srgbClr val="FFFFFF"/>
                </a:highlight>
                <a:latin typeface="Cascadia Mono" panose="020B0609020000020004" pitchFamily="49" charset="0"/>
              </a:rPr>
              <a:t>=</a:t>
            </a:r>
            <a:r>
              <a:rPr lang="en-US" sz="1400" dirty="0">
                <a:solidFill>
                  <a:srgbClr val="FFFFFF"/>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EntityState</a:t>
            </a:r>
            <a:r>
              <a:rPr lang="en-US" sz="1400" dirty="0" err="1">
                <a:solidFill>
                  <a:srgbClr val="000000"/>
                </a:solidFill>
                <a:highlight>
                  <a:srgbClr val="FFFFFF"/>
                </a:highlight>
                <a:latin typeface="Cascadia Mono" panose="020B0609020000020004" pitchFamily="49" charset="0"/>
              </a:rPr>
              <a:t>.Detached</a:t>
            </a:r>
            <a:r>
              <a:rPr lang="en-US" sz="1400" dirty="0">
                <a:solidFill>
                  <a:srgbClr val="000000"/>
                </a:solidFill>
                <a:highlight>
                  <a:srgbClr val="FFFFFF"/>
                </a:highlight>
                <a:latin typeface="Cascadia Mono" panose="020B0609020000020004" pitchFamily="49" charset="0"/>
              </a:rPr>
              <a:t>;</a:t>
            </a:r>
          </a:p>
          <a:p>
            <a:pPr marL="0" indent="0">
              <a:buNone/>
            </a:pPr>
            <a:r>
              <a:rPr lang="en-IN" sz="1400" dirty="0">
                <a:solidFill>
                  <a:srgbClr val="000000"/>
                </a:solidFill>
                <a:highlight>
                  <a:srgbClr val="FFFFFF"/>
                </a:highlight>
                <a:latin typeface="Cascadia Mono" panose="020B0609020000020004" pitchFamily="49" charset="0"/>
              </a:rPr>
              <a:t>     }</a:t>
            </a:r>
          </a:p>
          <a:p>
            <a:pPr marL="0" indent="0">
              <a:buNone/>
            </a:pPr>
            <a:endParaRPr lang="en-IN" sz="1400" dirty="0">
              <a:solidFill>
                <a:srgbClr val="000000"/>
              </a:solidFill>
              <a:highlight>
                <a:srgbClr val="FFFFFF"/>
              </a:highlight>
              <a:latin typeface="Cascadia Mono" panose="020B0609020000020004" pitchFamily="49" charset="0"/>
            </a:endParaRPr>
          </a:p>
          <a:p>
            <a:pPr marL="0" indent="0">
              <a:buNone/>
            </a:pPr>
            <a:r>
              <a:rPr lang="en-IN" sz="1400" dirty="0">
                <a:solidFill>
                  <a:srgbClr val="000000"/>
                </a:solidFill>
                <a:highlight>
                  <a:srgbClr val="FFFFFF"/>
                </a:highlight>
                <a:latin typeface="Cascadia Mono" panose="020B0609020000020004" pitchFamily="49" charset="0"/>
              </a:rPr>
              <a:t>     </a:t>
            </a:r>
            <a:r>
              <a:rPr lang="en-IN" sz="1400" dirty="0">
                <a:solidFill>
                  <a:srgbClr val="008000"/>
                </a:solidFill>
                <a:highlight>
                  <a:srgbClr val="FFFFFF"/>
                </a:highlight>
                <a:latin typeface="Cascadia Mono" panose="020B0609020000020004" pitchFamily="49" charset="0"/>
              </a:rPr>
              <a:t>// Now, update the book</a:t>
            </a:r>
          </a:p>
          <a:p>
            <a:pPr marL="0" indent="0">
              <a:buNone/>
            </a:pP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db.Update</a:t>
            </a:r>
            <a:r>
              <a:rPr lang="en-IN" sz="1400" dirty="0">
                <a:solidFill>
                  <a:srgbClr val="000000"/>
                </a:solidFill>
                <a:highlight>
                  <a:srgbClr val="FFFFFF"/>
                </a:highlight>
                <a:latin typeface="Cascadia Mono" panose="020B0609020000020004" pitchFamily="49" charset="0"/>
              </a:rPr>
              <a:t>(</a:t>
            </a:r>
            <a:r>
              <a:rPr lang="en-IN" sz="1400" dirty="0" err="1">
                <a:solidFill>
                  <a:srgbClr val="000000"/>
                </a:solidFill>
                <a:highlight>
                  <a:srgbClr val="FFFFFF"/>
                </a:highlight>
                <a:latin typeface="Cascadia Mono" panose="020B0609020000020004" pitchFamily="49" charset="0"/>
              </a:rPr>
              <a:t>obj</a:t>
            </a:r>
            <a:r>
              <a:rPr lang="en-IN" sz="1400" dirty="0">
                <a:solidFill>
                  <a:srgbClr val="000000"/>
                </a:solidFill>
                <a:highlight>
                  <a:srgbClr val="FFFFFF"/>
                </a:highlight>
                <a:latin typeface="Cascadia Mono" panose="020B0609020000020004" pitchFamily="49" charset="0"/>
              </a:rPr>
              <a:t>);</a:t>
            </a:r>
          </a:p>
          <a:p>
            <a:pPr marL="0" indent="0">
              <a:buNone/>
            </a:pP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db.SaveChanges</a:t>
            </a:r>
            <a:r>
              <a:rPr lang="en-IN" sz="1400" dirty="0">
                <a:solidFill>
                  <a:srgbClr val="000000"/>
                </a:solidFill>
                <a:highlight>
                  <a:srgbClr val="FFFFFF"/>
                </a:highlight>
                <a:latin typeface="Cascadia Mono" panose="020B0609020000020004" pitchFamily="49" charset="0"/>
              </a:rPr>
              <a:t>();</a:t>
            </a:r>
          </a:p>
          <a:p>
            <a:pPr marL="0" indent="0">
              <a:buNone/>
            </a:pPr>
            <a:r>
              <a:rPr lang="en-IN" sz="1400" dirty="0">
                <a:solidFill>
                  <a:srgbClr val="000000"/>
                </a:solidFill>
                <a:highlight>
                  <a:srgbClr val="FFFFFF"/>
                </a:highlight>
                <a:latin typeface="Cascadia Mono" panose="020B0609020000020004" pitchFamily="49" charset="0"/>
              </a:rPr>
              <a:t> }</a:t>
            </a:r>
            <a:endParaRPr lang="en-IN" sz="2000" dirty="0"/>
          </a:p>
        </p:txBody>
      </p:sp>
      <p:sp>
        <p:nvSpPr>
          <p:cNvPr id="4" name="TextBox 3">
            <a:extLst>
              <a:ext uri="{FF2B5EF4-FFF2-40B4-BE49-F238E27FC236}">
                <a16:creationId xmlns:a16="http://schemas.microsoft.com/office/drawing/2014/main" id="{E5BEA6EE-03CB-D187-9C80-460FA769A360}"/>
              </a:ext>
            </a:extLst>
          </p:cNvPr>
          <p:cNvSpPr txBox="1"/>
          <p:nvPr/>
        </p:nvSpPr>
        <p:spPr>
          <a:xfrm>
            <a:off x="8449733" y="1603669"/>
            <a:ext cx="3657600" cy="39703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The error you're encountering indicates that you're trying to attach an entity (Book) with the same primary key (</a:t>
            </a:r>
            <a:r>
              <a:rPr lang="en-US" dirty="0" err="1"/>
              <a:t>BookId</a:t>
            </a:r>
            <a:r>
              <a:rPr lang="en-US" dirty="0"/>
              <a:t>: 4) multiple times to the Entity Framework (EF) context. Entity Framework (EF) tracks entities by their primary key, and it doesn't allow two different instances of an entity with the same key value to be tracked simultaneously. This can happen in various scenarios, such as when you're trying to attach or update an entity that's already being tracked by the context.</a:t>
            </a:r>
            <a:endParaRPr lang="en-IN" dirty="0"/>
          </a:p>
        </p:txBody>
      </p:sp>
      <p:cxnSp>
        <p:nvCxnSpPr>
          <p:cNvPr id="8" name="Straight Arrow Connector 7">
            <a:extLst>
              <a:ext uri="{FF2B5EF4-FFF2-40B4-BE49-F238E27FC236}">
                <a16:creationId xmlns:a16="http://schemas.microsoft.com/office/drawing/2014/main" id="{B8AC0664-3E70-C69F-ADEF-4F486A90B07C}"/>
              </a:ext>
            </a:extLst>
          </p:cNvPr>
          <p:cNvCxnSpPr/>
          <p:nvPr/>
        </p:nvCxnSpPr>
        <p:spPr>
          <a:xfrm>
            <a:off x="6341533" y="1151467"/>
            <a:ext cx="2108200" cy="1075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800AC301-2137-05E5-B414-5185E9CD4B01}"/>
              </a:ext>
            </a:extLst>
          </p:cNvPr>
          <p:cNvSpPr txBox="1">
            <a:spLocks/>
          </p:cNvSpPr>
          <p:nvPr/>
        </p:nvSpPr>
        <p:spPr>
          <a:xfrm>
            <a:off x="4239769" y="4390049"/>
            <a:ext cx="4782312" cy="171005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rgbClr val="0000FF"/>
                </a:solidFill>
                <a:highlight>
                  <a:srgbClr val="FFFFFF"/>
                </a:highlight>
                <a:latin typeface="Cascadia Mono" panose="020B0609020000020004" pitchFamily="49" charset="0"/>
              </a:rPr>
              <a:t>OR  </a:t>
            </a:r>
          </a:p>
          <a:p>
            <a:pPr marL="0" indent="0">
              <a:buFont typeface="Arial" panose="020B0604020202020204" pitchFamily="34" charset="0"/>
              <a:buNone/>
            </a:pPr>
            <a:r>
              <a:rPr lang="en-US" sz="1200" dirty="0">
                <a:solidFill>
                  <a:srgbClr val="0000FF"/>
                </a:solidFill>
                <a:highlight>
                  <a:srgbClr val="FFFFFF"/>
                </a:highlight>
                <a:latin typeface="Cascadia Mono" panose="020B0609020000020004" pitchFamily="49" charset="0"/>
              </a:rPr>
              <a:t>public</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UpdateBook</a:t>
            </a:r>
            <a:r>
              <a:rPr lang="en-US" sz="1200" dirty="0">
                <a:solidFill>
                  <a:srgbClr val="000000"/>
                </a:solidFill>
                <a:highlight>
                  <a:srgbClr val="FFFFFF"/>
                </a:highlight>
                <a:latin typeface="Cascadia Mono" panose="020B0609020000020004" pitchFamily="49" charset="0"/>
              </a:rPr>
              <a:t>(</a:t>
            </a:r>
            <a:r>
              <a:rPr lang="en-US" sz="1200" dirty="0">
                <a:solidFill>
                  <a:srgbClr val="2B91AF"/>
                </a:solidFill>
                <a:highlight>
                  <a:srgbClr val="FFFFFF"/>
                </a:highlight>
                <a:latin typeface="Cascadia Mono" panose="020B0609020000020004" pitchFamily="49" charset="0"/>
              </a:rPr>
              <a:t>Book</a:t>
            </a:r>
            <a:r>
              <a:rPr lang="en-US" sz="1200" dirty="0">
                <a:solidFill>
                  <a:srgbClr val="000000"/>
                </a:solidFill>
                <a:highlight>
                  <a:srgbClr val="FFFFFF"/>
                </a:highlight>
                <a:latin typeface="Cascadia Mono" panose="020B0609020000020004" pitchFamily="49" charset="0"/>
              </a:rPr>
              <a:t> obj)</a:t>
            </a:r>
            <a:endParaRPr lang="en-IN" sz="1200" dirty="0">
              <a:solidFill>
                <a:srgbClr val="000000"/>
              </a:solidFill>
              <a:latin typeface="Cascadia Mono" panose="020B0609020000020004" pitchFamily="49" charset="0"/>
            </a:endParaRPr>
          </a:p>
          <a:p>
            <a:pPr marL="0" indent="0">
              <a:buFont typeface="Arial" panose="020B0604020202020204" pitchFamily="34" charset="0"/>
              <a:buNone/>
            </a:pPr>
            <a:r>
              <a:rPr lang="en-IN" sz="1200" dirty="0">
                <a:solidFill>
                  <a:srgbClr val="000000"/>
                </a:solidFill>
                <a:latin typeface="Cascadia Mono" panose="020B0609020000020004" pitchFamily="49" charset="0"/>
              </a:rPr>
              <a:t>{</a:t>
            </a:r>
          </a:p>
          <a:p>
            <a:pPr marL="0" indent="0">
              <a:buFont typeface="Arial" panose="020B0604020202020204" pitchFamily="34" charset="0"/>
              <a:buNone/>
            </a:pPr>
            <a:r>
              <a:rPr lang="en-US" sz="1200" dirty="0" err="1">
                <a:solidFill>
                  <a:srgbClr val="000000"/>
                </a:solidFill>
                <a:highlight>
                  <a:srgbClr val="FFFFFF"/>
                </a:highlight>
                <a:latin typeface="Cascadia Mono" panose="020B0609020000020004" pitchFamily="49" charset="0"/>
              </a:rPr>
              <a:t>db.Entry</a:t>
            </a:r>
            <a:r>
              <a:rPr lang="en-US" sz="1200" dirty="0">
                <a:solidFill>
                  <a:srgbClr val="000000"/>
                </a:solidFill>
                <a:highlight>
                  <a:srgbClr val="FFFFFF"/>
                </a:highlight>
                <a:latin typeface="Cascadia Mono" panose="020B0609020000020004" pitchFamily="49" charset="0"/>
              </a:rPr>
              <a:t>(</a:t>
            </a:r>
            <a:r>
              <a:rPr lang="en-US" sz="1200" dirty="0" err="1">
                <a:solidFill>
                  <a:srgbClr val="000000"/>
                </a:solidFill>
                <a:highlight>
                  <a:srgbClr val="FFFFFF"/>
                </a:highlight>
                <a:latin typeface="Cascadia Mono" panose="020B0609020000020004" pitchFamily="49" charset="0"/>
              </a:rPr>
              <a:t>existingBook</a:t>
            </a:r>
            <a:r>
              <a:rPr lang="en-US" sz="1200" dirty="0">
                <a:solidFill>
                  <a:srgbClr val="000000"/>
                </a:solidFill>
                <a:highlight>
                  <a:srgbClr val="FFFFFF"/>
                </a:highlight>
                <a:latin typeface="Cascadia Mono" panose="020B0609020000020004" pitchFamily="49" charset="0"/>
              </a:rPr>
              <a:t>).State = </a:t>
            </a:r>
            <a:r>
              <a:rPr lang="en-US" sz="1200" dirty="0" err="1">
                <a:solidFill>
                  <a:srgbClr val="2B91AF"/>
                </a:solidFill>
                <a:highlight>
                  <a:srgbClr val="FFFFFF"/>
                </a:highlight>
                <a:latin typeface="Cascadia Mono" panose="020B0609020000020004" pitchFamily="49" charset="0"/>
              </a:rPr>
              <a:t>EntityState</a:t>
            </a:r>
            <a:r>
              <a:rPr lang="en-US" sz="1200" dirty="0" err="1">
                <a:solidFill>
                  <a:srgbClr val="000000"/>
                </a:solidFill>
                <a:highlight>
                  <a:srgbClr val="FFFFFF"/>
                </a:highlight>
                <a:latin typeface="Cascadia Mono" panose="020B0609020000020004" pitchFamily="49" charset="0"/>
              </a:rPr>
              <a:t>.Modified</a:t>
            </a:r>
            <a:r>
              <a:rPr lang="en-US" sz="1200" dirty="0">
                <a:solidFill>
                  <a:srgbClr val="000000"/>
                </a:solidFill>
                <a:highlight>
                  <a:srgbClr val="FFFFFF"/>
                </a:highlight>
                <a:latin typeface="Cascadia Mono" panose="020B0609020000020004" pitchFamily="49" charset="0"/>
              </a:rPr>
              <a:t>;</a:t>
            </a:r>
          </a:p>
          <a:p>
            <a:pPr marL="0" indent="0">
              <a:buFont typeface="Arial" panose="020B0604020202020204" pitchFamily="34" charset="0"/>
              <a:buNone/>
            </a:pPr>
            <a:r>
              <a:rPr lang="en-IN" sz="1200" dirty="0" err="1">
                <a:solidFill>
                  <a:srgbClr val="000000"/>
                </a:solidFill>
                <a:highlight>
                  <a:srgbClr val="FFFFFF"/>
                </a:highlight>
                <a:latin typeface="Cascadia Mono" panose="020B0609020000020004" pitchFamily="49" charset="0"/>
              </a:rPr>
              <a:t>db.SaveChanges</a:t>
            </a:r>
            <a:r>
              <a:rPr lang="en-IN" sz="1200" dirty="0">
                <a:solidFill>
                  <a:srgbClr val="000000"/>
                </a:solidFill>
                <a:highlight>
                  <a:srgbClr val="FFFFFF"/>
                </a:highlight>
                <a:latin typeface="Cascadia Mono" panose="020B0609020000020004" pitchFamily="49" charset="0"/>
              </a:rPr>
              <a:t>();</a:t>
            </a:r>
          </a:p>
          <a:p>
            <a:pPr marL="0" indent="0">
              <a:buFont typeface="Arial" panose="020B0604020202020204" pitchFamily="34" charset="0"/>
              <a:buNone/>
            </a:pPr>
            <a:r>
              <a:rPr lang="en-IN" sz="1200" dirty="0">
                <a:solidFill>
                  <a:srgbClr val="000000"/>
                </a:solidFill>
                <a:highlight>
                  <a:srgbClr val="FFFFFF"/>
                </a:highlight>
                <a:latin typeface="Cascadia Mono" panose="020B0609020000020004" pitchFamily="49" charset="0"/>
              </a:rPr>
              <a:t>}</a:t>
            </a:r>
            <a:endParaRPr lang="en-IN" sz="1600" dirty="0"/>
          </a:p>
        </p:txBody>
      </p:sp>
    </p:spTree>
    <p:extLst>
      <p:ext uri="{BB962C8B-B14F-4D97-AF65-F5344CB8AC3E}">
        <p14:creationId xmlns:p14="http://schemas.microsoft.com/office/powerpoint/2010/main" val="2344907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063F-B451-9DB7-9A22-00576E64EFC9}"/>
              </a:ext>
            </a:extLst>
          </p:cNvPr>
          <p:cNvSpPr>
            <a:spLocks noGrp="1"/>
          </p:cNvSpPr>
          <p:nvPr>
            <p:ph type="title"/>
          </p:nvPr>
        </p:nvSpPr>
        <p:spPr/>
        <p:txBody>
          <a:bodyPr/>
          <a:lstStyle/>
          <a:p>
            <a:r>
              <a:rPr lang="en-IN" dirty="0"/>
              <a:t>OR</a:t>
            </a:r>
          </a:p>
        </p:txBody>
      </p:sp>
      <p:sp>
        <p:nvSpPr>
          <p:cNvPr id="5" name="Content Placeholder 4">
            <a:extLst>
              <a:ext uri="{FF2B5EF4-FFF2-40B4-BE49-F238E27FC236}">
                <a16:creationId xmlns:a16="http://schemas.microsoft.com/office/drawing/2014/main" id="{26EBEFA5-E726-BE73-C042-A63525116F6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1409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78314-9E15-2B3B-DE2B-453C315B32A4}"/>
              </a:ext>
            </a:extLst>
          </p:cNvPr>
          <p:cNvSpPr>
            <a:spLocks noGrp="1"/>
          </p:cNvSpPr>
          <p:nvPr>
            <p:ph type="title"/>
          </p:nvPr>
        </p:nvSpPr>
        <p:spPr>
          <a:xfrm>
            <a:off x="719667" y="153458"/>
            <a:ext cx="11176000" cy="896409"/>
          </a:xfrm>
        </p:spPr>
        <p:txBody>
          <a:bodyPr>
            <a:normAutofit fontScale="90000"/>
          </a:bodyPr>
          <a:lstStyle/>
          <a:p>
            <a:r>
              <a:rPr lang="en-IN" dirty="0"/>
              <a:t>What if we want foreign key to be nullable and</a:t>
            </a:r>
            <a:br>
              <a:rPr lang="en-IN" dirty="0"/>
            </a:br>
            <a:r>
              <a:rPr lang="en-IN" dirty="0"/>
              <a:t> </a:t>
            </a:r>
            <a:r>
              <a:rPr lang="en-IN" sz="4400" b="0" i="0" dirty="0">
                <a:solidFill>
                  <a:srgbClr val="004867"/>
                </a:solidFill>
                <a:effectLst/>
                <a:latin typeface="Roboto" panose="02000000000000000000" pitchFamily="2" charset="0"/>
              </a:rPr>
              <a:t>On Delete/Update Set Null</a:t>
            </a:r>
            <a:endParaRPr lang="en-IN" dirty="0"/>
          </a:p>
        </p:txBody>
      </p:sp>
    </p:spTree>
    <p:extLst>
      <p:ext uri="{BB962C8B-B14F-4D97-AF65-F5344CB8AC3E}">
        <p14:creationId xmlns:p14="http://schemas.microsoft.com/office/powerpoint/2010/main" val="3943460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9469A-A632-417C-E5FC-80B9149663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5EE250-6300-80C2-8BAE-65852B365DB9}"/>
              </a:ext>
            </a:extLst>
          </p:cNvPr>
          <p:cNvSpPr/>
          <p:nvPr/>
        </p:nvSpPr>
        <p:spPr>
          <a:xfrm>
            <a:off x="85725" y="46965"/>
            <a:ext cx="6708182"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Author</a:t>
            </a: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Key</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FirstName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LastName</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ICollection</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Book</a:t>
            </a:r>
            <a:r>
              <a:rPr lang="en-US" sz="1800" dirty="0">
                <a:solidFill>
                  <a:srgbClr val="000000"/>
                </a:solidFill>
                <a:highlight>
                  <a:srgbClr val="FFFFFF"/>
                </a:highlight>
                <a:latin typeface="Cascadia Mono" panose="020B0609020000020004" pitchFamily="49" charset="0"/>
              </a:rPr>
              <a:t>&gt; Books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a:t>
            </a:r>
          </a:p>
        </p:txBody>
      </p:sp>
      <p:sp>
        <p:nvSpPr>
          <p:cNvPr id="5" name="Rectangle 4">
            <a:extLst>
              <a:ext uri="{FF2B5EF4-FFF2-40B4-BE49-F238E27FC236}">
                <a16:creationId xmlns:a16="http://schemas.microsoft.com/office/drawing/2014/main" id="{CC6288AF-4FD7-807B-1FC3-C1B4EFCAC920}"/>
              </a:ext>
            </a:extLst>
          </p:cNvPr>
          <p:cNvSpPr/>
          <p:nvPr/>
        </p:nvSpPr>
        <p:spPr>
          <a:xfrm>
            <a:off x="6458712" y="3091101"/>
            <a:ext cx="6096000" cy="3785652"/>
          </a:xfrm>
          <a:prstGeom prst="rect">
            <a:avLst/>
          </a:prstGeom>
        </p:spPr>
        <p:txBody>
          <a:bodyPr>
            <a:spAutoFit/>
          </a:bodyPr>
          <a:lstStyle/>
          <a:p>
            <a:endParaRPr lang="en-IN" sz="1800" dirty="0">
              <a:solidFill>
                <a:srgbClr val="000000"/>
              </a:solidFill>
              <a:highlight>
                <a:srgbClr val="FFFFFF"/>
              </a:highlight>
              <a:latin typeface="Cascadia Mono" panose="020B0609020000020004" pitchFamily="49" charset="0"/>
            </a:endParaRPr>
          </a:p>
          <a:p>
            <a:r>
              <a:rPr lang="en-IN" sz="1800" dirty="0">
                <a:solidFill>
                  <a:srgbClr val="0000FF"/>
                </a:solidFill>
                <a:highlight>
                  <a:srgbClr val="FFFFFF"/>
                </a:highlight>
                <a:latin typeface="Cascadia Mono" panose="020B0609020000020004" pitchFamily="49" charset="0"/>
              </a:rPr>
              <a:t>namespace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CAbasicentityAB.Models</a:t>
            </a:r>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public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Book</a:t>
            </a:r>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	</a:t>
            </a:r>
          </a:p>
          <a:p>
            <a:r>
              <a:rPr lang="en-IN" dirty="0">
                <a:solidFill>
                  <a:srgbClr val="000000"/>
                </a:solidFill>
                <a:highlight>
                  <a:srgbClr val="FFFFFF"/>
                </a:highlight>
                <a:latin typeface="Cascadia Mono" panose="020B0609020000020004" pitchFamily="49" charset="0"/>
              </a:rPr>
              <a:t>	</a:t>
            </a:r>
            <a:r>
              <a:rPr lang="en-IN" sz="1800" dirty="0">
                <a:solidFill>
                  <a:srgbClr val="000000"/>
                </a:solidFill>
                <a:highlight>
                  <a:srgbClr val="FFFFFF"/>
                </a:highlight>
                <a:latin typeface="Cascadia Mono" panose="020B0609020000020004" pitchFamily="49" charset="0"/>
              </a:rPr>
              <a:t>[</a:t>
            </a:r>
            <a:r>
              <a:rPr lang="en-IN" sz="1800" dirty="0">
                <a:solidFill>
                  <a:srgbClr val="2B91AF"/>
                </a:solidFill>
                <a:highlight>
                  <a:srgbClr val="FFFFFF"/>
                </a:highlight>
                <a:latin typeface="Cascadia Mono" panose="020B0609020000020004" pitchFamily="49" charset="0"/>
              </a:rPr>
              <a:t>Key</a:t>
            </a:r>
            <a:r>
              <a:rPr lang="en-IN"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BookId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Title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2B91AF"/>
                </a:solidFill>
                <a:highlight>
                  <a:srgbClr val="FFFFFF"/>
                </a:highlight>
                <a:latin typeface="Cascadia Mono" panose="020B0609020000020004" pitchFamily="49" charset="0"/>
              </a:rPr>
              <a:t>Author</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public</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int</a:t>
            </a:r>
            <a:r>
              <a:rPr lang="en-US" sz="2400" b="1" dirty="0">
                <a:solidFill>
                  <a:srgbClr val="FF0000"/>
                </a:solidFill>
                <a:highlight>
                  <a:srgbClr val="FFFFFF"/>
                </a:highlight>
                <a:latin typeface="Cascadia Mono" panose="020B0609020000020004" pitchFamily="49" charset="0"/>
              </a:rPr>
              <a: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AuthorId</a:t>
            </a:r>
            <a:r>
              <a:rPr lang="en-US" sz="1800" dirty="0">
                <a:solidFill>
                  <a:srgbClr val="000000"/>
                </a:solidFill>
                <a:highlight>
                  <a:srgbClr val="FFFFFF"/>
                </a:highlight>
                <a:latin typeface="Cascadia Mono" panose="020B0609020000020004" pitchFamily="49" charset="0"/>
              </a:rPr>
              <a:t> { </a:t>
            </a:r>
            <a:r>
              <a:rPr lang="en-US" sz="1800" dirty="0">
                <a:solidFill>
                  <a:srgbClr val="0000FF"/>
                </a:solidFill>
                <a:highlight>
                  <a:srgbClr val="FFFFFF"/>
                </a:highlight>
                <a:latin typeface="Cascadia Mono" panose="020B0609020000020004" pitchFamily="49" charset="0"/>
              </a:rPr>
              <a:t>get</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set</a:t>
            </a:r>
            <a:r>
              <a:rPr lang="en-US"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a:t>
            </a:r>
            <a:endParaRPr lang="en-IN" dirty="0">
              <a:solidFill>
                <a:srgbClr val="000000"/>
              </a:solidFill>
              <a:latin typeface="Cascadia Mono" panose="020B0609020000020004" pitchFamily="49" charset="0"/>
            </a:endParaRPr>
          </a:p>
        </p:txBody>
      </p:sp>
      <p:sp>
        <p:nvSpPr>
          <p:cNvPr id="2" name="TextBox 1">
            <a:extLst>
              <a:ext uri="{FF2B5EF4-FFF2-40B4-BE49-F238E27FC236}">
                <a16:creationId xmlns:a16="http://schemas.microsoft.com/office/drawing/2014/main" id="{4D0DAEDA-57E6-20E9-B6BB-11BD848B96C0}"/>
              </a:ext>
            </a:extLst>
          </p:cNvPr>
          <p:cNvSpPr txBox="1"/>
          <p:nvPr/>
        </p:nvSpPr>
        <p:spPr>
          <a:xfrm>
            <a:off x="6705600" y="285750"/>
            <a:ext cx="5486400" cy="646331"/>
          </a:xfrm>
          <a:prstGeom prst="rect">
            <a:avLst/>
          </a:prstGeom>
          <a:noFill/>
        </p:spPr>
        <p:txBody>
          <a:bodyPr wrap="square" rtlCol="0">
            <a:spAutoFit/>
          </a:bodyPr>
          <a:lstStyle/>
          <a:p>
            <a:r>
              <a:rPr lang="en-US" dirty="0"/>
              <a:t>One </a:t>
            </a:r>
            <a:r>
              <a:rPr lang="en-IN" dirty="0">
                <a:solidFill>
                  <a:srgbClr val="000000"/>
                </a:solidFill>
                <a:latin typeface="Cascadia Mono" panose="020B0609020000020004" pitchFamily="49" charset="0"/>
              </a:rPr>
              <a:t>Author </a:t>
            </a:r>
            <a:r>
              <a:rPr lang="en-US" dirty="0"/>
              <a:t>can write many books</a:t>
            </a:r>
          </a:p>
          <a:p>
            <a:endParaRPr lang="en-IN" dirty="0"/>
          </a:p>
        </p:txBody>
      </p:sp>
      <p:cxnSp>
        <p:nvCxnSpPr>
          <p:cNvPr id="6" name="Straight Arrow Connector 5">
            <a:extLst>
              <a:ext uri="{FF2B5EF4-FFF2-40B4-BE49-F238E27FC236}">
                <a16:creationId xmlns:a16="http://schemas.microsoft.com/office/drawing/2014/main" id="{86B55ED3-9FA2-3DB0-6AB2-725E4062632B}"/>
              </a:ext>
            </a:extLst>
          </p:cNvPr>
          <p:cNvCxnSpPr>
            <a:cxnSpLocks/>
            <a:endCxn id="7" idx="1"/>
          </p:cNvCxnSpPr>
          <p:nvPr/>
        </p:nvCxnSpPr>
        <p:spPr>
          <a:xfrm flipV="1">
            <a:off x="1492377" y="538877"/>
            <a:ext cx="3204210" cy="217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41682A-87BC-71BC-6AFA-5C46565ED523}"/>
              </a:ext>
            </a:extLst>
          </p:cNvPr>
          <p:cNvSpPr txBox="1"/>
          <p:nvPr/>
        </p:nvSpPr>
        <p:spPr>
          <a:xfrm>
            <a:off x="4696587" y="354211"/>
            <a:ext cx="1602613" cy="369332"/>
          </a:xfrm>
          <a:prstGeom prst="rect">
            <a:avLst/>
          </a:prstGeom>
          <a:noFill/>
        </p:spPr>
        <p:txBody>
          <a:bodyPr wrap="square" rtlCol="0">
            <a:spAutoFit/>
          </a:bodyPr>
          <a:lstStyle/>
          <a:p>
            <a:r>
              <a:rPr lang="en-US" dirty="0"/>
              <a:t>Primary key</a:t>
            </a:r>
            <a:endParaRPr lang="en-IN" dirty="0"/>
          </a:p>
        </p:txBody>
      </p:sp>
      <p:cxnSp>
        <p:nvCxnSpPr>
          <p:cNvPr id="9" name="Straight Arrow Connector 8">
            <a:extLst>
              <a:ext uri="{FF2B5EF4-FFF2-40B4-BE49-F238E27FC236}">
                <a16:creationId xmlns:a16="http://schemas.microsoft.com/office/drawing/2014/main" id="{1B16F860-C5DB-607C-E965-A9D36CC436F4}"/>
              </a:ext>
            </a:extLst>
          </p:cNvPr>
          <p:cNvCxnSpPr>
            <a:cxnSpLocks/>
          </p:cNvCxnSpPr>
          <p:nvPr/>
        </p:nvCxnSpPr>
        <p:spPr>
          <a:xfrm flipH="1">
            <a:off x="1687216" y="1981200"/>
            <a:ext cx="996717" cy="1468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B1C5EEB-8D72-0D2D-A416-CD4F5ACB0F8E}"/>
              </a:ext>
            </a:extLst>
          </p:cNvPr>
          <p:cNvSpPr txBox="1"/>
          <p:nvPr/>
        </p:nvSpPr>
        <p:spPr>
          <a:xfrm>
            <a:off x="85725" y="3315709"/>
            <a:ext cx="4126992"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Indicate one to many relation</a:t>
            </a:r>
            <a:endParaRPr lang="en-IN" dirty="0"/>
          </a:p>
        </p:txBody>
      </p:sp>
      <p:cxnSp>
        <p:nvCxnSpPr>
          <p:cNvPr id="12" name="Straight Arrow Connector 11">
            <a:extLst>
              <a:ext uri="{FF2B5EF4-FFF2-40B4-BE49-F238E27FC236}">
                <a16:creationId xmlns:a16="http://schemas.microsoft.com/office/drawing/2014/main" id="{ADB70E30-275F-C8C4-4AAF-2444993FD058}"/>
              </a:ext>
            </a:extLst>
          </p:cNvPr>
          <p:cNvCxnSpPr>
            <a:cxnSpLocks/>
          </p:cNvCxnSpPr>
          <p:nvPr/>
        </p:nvCxnSpPr>
        <p:spPr>
          <a:xfrm flipH="1">
            <a:off x="4869181" y="5786034"/>
            <a:ext cx="27976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79E4773-1733-C66D-69E9-7B7491884C8F}"/>
              </a:ext>
            </a:extLst>
          </p:cNvPr>
          <p:cNvSpPr txBox="1"/>
          <p:nvPr/>
        </p:nvSpPr>
        <p:spPr>
          <a:xfrm>
            <a:off x="3747897" y="5652684"/>
            <a:ext cx="2190750" cy="369332"/>
          </a:xfrm>
          <a:prstGeom prst="rect">
            <a:avLst/>
          </a:prstGeom>
          <a:noFill/>
        </p:spPr>
        <p:txBody>
          <a:bodyPr wrap="square" rtlCol="0">
            <a:spAutoFit/>
          </a:bodyPr>
          <a:lstStyle/>
          <a:p>
            <a:r>
              <a:rPr lang="en-US" dirty="0"/>
              <a:t>Foreign key</a:t>
            </a:r>
            <a:endParaRPr lang="en-IN" dirty="0"/>
          </a:p>
        </p:txBody>
      </p:sp>
      <p:cxnSp>
        <p:nvCxnSpPr>
          <p:cNvPr id="15" name="Straight Arrow Connector 14">
            <a:extLst>
              <a:ext uri="{FF2B5EF4-FFF2-40B4-BE49-F238E27FC236}">
                <a16:creationId xmlns:a16="http://schemas.microsoft.com/office/drawing/2014/main" id="{3D9AEB72-4585-8F53-1A10-0307E0791CAB}"/>
              </a:ext>
            </a:extLst>
          </p:cNvPr>
          <p:cNvCxnSpPr>
            <a:cxnSpLocks/>
          </p:cNvCxnSpPr>
          <p:nvPr/>
        </p:nvCxnSpPr>
        <p:spPr>
          <a:xfrm flipH="1" flipV="1">
            <a:off x="3799713" y="5345443"/>
            <a:ext cx="3867151" cy="64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59325A8-C674-8C18-5670-796BCBEF0DE9}"/>
              </a:ext>
            </a:extLst>
          </p:cNvPr>
          <p:cNvSpPr txBox="1"/>
          <p:nvPr/>
        </p:nvSpPr>
        <p:spPr>
          <a:xfrm>
            <a:off x="161925" y="5151662"/>
            <a:ext cx="3743325" cy="646331"/>
          </a:xfrm>
          <a:prstGeom prst="rect">
            <a:avLst/>
          </a:prstGeom>
          <a:noFill/>
        </p:spPr>
        <p:txBody>
          <a:bodyPr wrap="square" rtlCol="0">
            <a:spAutoFit/>
          </a:bodyPr>
          <a:lstStyle/>
          <a:p>
            <a:r>
              <a:rPr lang="en-US" dirty="0"/>
              <a:t>Using Book reference you can access Author </a:t>
            </a:r>
            <a:r>
              <a:rPr lang="en-US" b="1" u="sng" dirty="0"/>
              <a:t>using eager loading</a:t>
            </a:r>
            <a:endParaRPr lang="en-IN" b="1" u="sng" dirty="0"/>
          </a:p>
        </p:txBody>
      </p:sp>
      <p:graphicFrame>
        <p:nvGraphicFramePr>
          <p:cNvPr id="3" name="Table 2">
            <a:extLst>
              <a:ext uri="{FF2B5EF4-FFF2-40B4-BE49-F238E27FC236}">
                <a16:creationId xmlns:a16="http://schemas.microsoft.com/office/drawing/2014/main" id="{CAF36D4A-B63C-05A0-C6D6-A4CD8476048D}"/>
              </a:ext>
            </a:extLst>
          </p:cNvPr>
          <p:cNvGraphicFramePr>
            <a:graphicFrameLocks noGrp="1"/>
          </p:cNvGraphicFramePr>
          <p:nvPr/>
        </p:nvGraphicFramePr>
        <p:xfrm>
          <a:off x="6908801" y="942155"/>
          <a:ext cx="4267200" cy="73152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3797108603"/>
                    </a:ext>
                  </a:extLst>
                </a:gridCol>
                <a:gridCol w="1422400">
                  <a:extLst>
                    <a:ext uri="{9D8B030D-6E8A-4147-A177-3AD203B41FA5}">
                      <a16:colId xmlns:a16="http://schemas.microsoft.com/office/drawing/2014/main" val="2952682578"/>
                    </a:ext>
                  </a:extLst>
                </a:gridCol>
                <a:gridCol w="1422400">
                  <a:extLst>
                    <a:ext uri="{9D8B030D-6E8A-4147-A177-3AD203B41FA5}">
                      <a16:colId xmlns:a16="http://schemas.microsoft.com/office/drawing/2014/main" val="1373813537"/>
                    </a:ext>
                  </a:extLst>
                </a:gridCol>
              </a:tblGrid>
              <a:tr h="364067">
                <a:tc>
                  <a:txBody>
                    <a:bodyPr/>
                    <a:lstStyle/>
                    <a:p>
                      <a:r>
                        <a:rPr lang="en-US" sz="1800" dirty="0" err="1">
                          <a:solidFill>
                            <a:srgbClr val="000000"/>
                          </a:solidFill>
                          <a:highlight>
                            <a:srgbClr val="FFFFFF"/>
                          </a:highlight>
                          <a:latin typeface="Cascadia Mono" panose="020B0609020000020004" pitchFamily="49" charset="0"/>
                        </a:rPr>
                        <a:t>AuthorId</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FirstName</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LastName</a:t>
                      </a:r>
                      <a:endParaRPr lang="en-IN" dirty="0"/>
                    </a:p>
                  </a:txBody>
                  <a:tcPr/>
                </a:tc>
                <a:extLst>
                  <a:ext uri="{0D108BD9-81ED-4DB2-BD59-A6C34878D82A}">
                    <a16:rowId xmlns:a16="http://schemas.microsoft.com/office/drawing/2014/main" val="1686671342"/>
                  </a:ext>
                </a:extLst>
              </a:tr>
              <a:tr h="364067">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37117866"/>
                  </a:ext>
                </a:extLst>
              </a:tr>
            </a:tbl>
          </a:graphicData>
        </a:graphic>
      </p:graphicFrame>
      <p:sp>
        <p:nvSpPr>
          <p:cNvPr id="8" name="TextBox 7">
            <a:extLst>
              <a:ext uri="{FF2B5EF4-FFF2-40B4-BE49-F238E27FC236}">
                <a16:creationId xmlns:a16="http://schemas.microsoft.com/office/drawing/2014/main" id="{C9C2B31B-E50E-612E-6874-408182B6859E}"/>
              </a:ext>
            </a:extLst>
          </p:cNvPr>
          <p:cNvSpPr txBox="1"/>
          <p:nvPr/>
        </p:nvSpPr>
        <p:spPr>
          <a:xfrm>
            <a:off x="7045113" y="1849702"/>
            <a:ext cx="242062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Primary Key Auto increment</a:t>
            </a:r>
          </a:p>
        </p:txBody>
      </p:sp>
      <p:cxnSp>
        <p:nvCxnSpPr>
          <p:cNvPr id="14" name="Straight Arrow Connector 13">
            <a:extLst>
              <a:ext uri="{FF2B5EF4-FFF2-40B4-BE49-F238E27FC236}">
                <a16:creationId xmlns:a16="http://schemas.microsoft.com/office/drawing/2014/main" id="{9CC68B45-DBB3-29EC-9578-71F112716163}"/>
              </a:ext>
            </a:extLst>
          </p:cNvPr>
          <p:cNvCxnSpPr/>
          <p:nvPr/>
        </p:nvCxnSpPr>
        <p:spPr>
          <a:xfrm flipV="1">
            <a:off x="7484533" y="1202267"/>
            <a:ext cx="465667" cy="778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22383A58-C267-1519-F9ED-C6EC823EB583}"/>
              </a:ext>
            </a:extLst>
          </p:cNvPr>
          <p:cNvGraphicFramePr>
            <a:graphicFrameLocks noGrp="1"/>
          </p:cNvGraphicFramePr>
          <p:nvPr/>
        </p:nvGraphicFramePr>
        <p:xfrm>
          <a:off x="2492841" y="4028794"/>
          <a:ext cx="4267200" cy="73152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3797108603"/>
                    </a:ext>
                  </a:extLst>
                </a:gridCol>
                <a:gridCol w="1422400">
                  <a:extLst>
                    <a:ext uri="{9D8B030D-6E8A-4147-A177-3AD203B41FA5}">
                      <a16:colId xmlns:a16="http://schemas.microsoft.com/office/drawing/2014/main" val="2952682578"/>
                    </a:ext>
                  </a:extLst>
                </a:gridCol>
                <a:gridCol w="1422400">
                  <a:extLst>
                    <a:ext uri="{9D8B030D-6E8A-4147-A177-3AD203B41FA5}">
                      <a16:colId xmlns:a16="http://schemas.microsoft.com/office/drawing/2014/main" val="1373813537"/>
                    </a:ext>
                  </a:extLst>
                </a:gridCol>
              </a:tblGrid>
              <a:tr h="364067">
                <a:tc>
                  <a:txBody>
                    <a:bodyPr/>
                    <a:lstStyle/>
                    <a:p>
                      <a:r>
                        <a:rPr lang="en-US" sz="1800" dirty="0" err="1">
                          <a:solidFill>
                            <a:srgbClr val="000000"/>
                          </a:solidFill>
                          <a:highlight>
                            <a:srgbClr val="FFFFFF"/>
                          </a:highlight>
                          <a:latin typeface="Cascadia Mono" panose="020B0609020000020004" pitchFamily="49" charset="0"/>
                        </a:rPr>
                        <a:t>BookId</a:t>
                      </a:r>
                      <a:endParaRPr lang="en-IN" dirty="0"/>
                    </a:p>
                  </a:txBody>
                  <a:tcPr/>
                </a:tc>
                <a:tc>
                  <a:txBody>
                    <a:bodyPr/>
                    <a:lstStyle/>
                    <a:p>
                      <a:r>
                        <a:rPr lang="en-US" sz="1800" dirty="0">
                          <a:solidFill>
                            <a:srgbClr val="000000"/>
                          </a:solidFill>
                          <a:highlight>
                            <a:srgbClr val="FFFFFF"/>
                          </a:highlight>
                          <a:latin typeface="Cascadia Mono" panose="020B0609020000020004" pitchFamily="49" charset="0"/>
                        </a:rPr>
                        <a:t>Tile</a:t>
                      </a:r>
                      <a:endParaRPr lang="en-IN" dirty="0"/>
                    </a:p>
                  </a:txBody>
                  <a:tcPr/>
                </a:tc>
                <a:tc>
                  <a:txBody>
                    <a:bodyPr/>
                    <a:lstStyle/>
                    <a:p>
                      <a:r>
                        <a:rPr lang="en-US" sz="1800" dirty="0" err="1">
                          <a:solidFill>
                            <a:srgbClr val="000000"/>
                          </a:solidFill>
                          <a:highlight>
                            <a:srgbClr val="FFFFFF"/>
                          </a:highlight>
                          <a:latin typeface="Cascadia Mono" panose="020B0609020000020004" pitchFamily="49" charset="0"/>
                        </a:rPr>
                        <a:t>AuthorId</a:t>
                      </a:r>
                      <a:endParaRPr lang="en-IN" dirty="0"/>
                    </a:p>
                  </a:txBody>
                  <a:tcPr/>
                </a:tc>
                <a:extLst>
                  <a:ext uri="{0D108BD9-81ED-4DB2-BD59-A6C34878D82A}">
                    <a16:rowId xmlns:a16="http://schemas.microsoft.com/office/drawing/2014/main" val="1686671342"/>
                  </a:ext>
                </a:extLst>
              </a:tr>
              <a:tr h="364067">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837117866"/>
                  </a:ext>
                </a:extLst>
              </a:tr>
            </a:tbl>
          </a:graphicData>
        </a:graphic>
      </p:graphicFrame>
      <p:sp>
        <p:nvSpPr>
          <p:cNvPr id="17" name="TextBox 16">
            <a:extLst>
              <a:ext uri="{FF2B5EF4-FFF2-40B4-BE49-F238E27FC236}">
                <a16:creationId xmlns:a16="http://schemas.microsoft.com/office/drawing/2014/main" id="{C802B8E7-3453-C364-DDE1-868BE7CF1CBD}"/>
              </a:ext>
            </a:extLst>
          </p:cNvPr>
          <p:cNvSpPr txBox="1"/>
          <p:nvPr/>
        </p:nvSpPr>
        <p:spPr>
          <a:xfrm>
            <a:off x="4125405" y="2633044"/>
            <a:ext cx="242062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Foreign Key</a:t>
            </a:r>
          </a:p>
        </p:txBody>
      </p:sp>
      <p:cxnSp>
        <p:nvCxnSpPr>
          <p:cNvPr id="20" name="Straight Arrow Connector 19">
            <a:extLst>
              <a:ext uri="{FF2B5EF4-FFF2-40B4-BE49-F238E27FC236}">
                <a16:creationId xmlns:a16="http://schemas.microsoft.com/office/drawing/2014/main" id="{432D31B9-D2BF-1182-64AC-E4756C195357}"/>
              </a:ext>
            </a:extLst>
          </p:cNvPr>
          <p:cNvCxnSpPr>
            <a:endCxn id="17" idx="2"/>
          </p:cNvCxnSpPr>
          <p:nvPr/>
        </p:nvCxnSpPr>
        <p:spPr>
          <a:xfrm flipH="1" flipV="1">
            <a:off x="5335715" y="3002376"/>
            <a:ext cx="205359" cy="1004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377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7D691-A31E-BA2A-4D21-9A910112E8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260083-A95C-A19D-5764-EC3512652419}"/>
              </a:ext>
            </a:extLst>
          </p:cNvPr>
          <p:cNvSpPr/>
          <p:nvPr/>
        </p:nvSpPr>
        <p:spPr>
          <a:xfrm>
            <a:off x="149352" y="0"/>
            <a:ext cx="11189208" cy="48320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using </a:t>
            </a:r>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CAentitycore.Models</a:t>
            </a: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using </a:t>
            </a:r>
            <a:r>
              <a:rPr kumimoji="0" lang="en-IN" sz="14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Microsoft.EntityFrameworkCore</a:t>
            </a:r>
            <a:r>
              <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namespace</a:t>
            </a: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4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CAbasicentityAB.REpository</a:t>
            </a: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class</a:t>
            </a: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IN" sz="14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SampleContext</a:t>
            </a: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r>
              <a:rPr kumimoji="0" lang="en-IN" sz="14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DbContext</a:t>
            </a: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protected</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override</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void</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OnConfiguring</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4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DbContextOptionsBuilder</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optionsBuilder</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if(!</a:t>
            </a:r>
            <a:r>
              <a:rPr kumimoji="0" lang="en-US" sz="14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optionsBuilder</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altLang="en-US" sz="1400" b="0" i="0" u="none" strike="noStrike" kern="1200" cap="none" spc="0" normalizeH="0" baseline="0" noProof="0" dirty="0">
                <a:ln>
                  <a:noFill/>
                </a:ln>
                <a:solidFill>
                  <a:srgbClr val="001D35"/>
                </a:solidFill>
                <a:effectLst/>
                <a:uLnTx/>
                <a:uFillTx/>
                <a:latin typeface="Courier New" panose="02070309020205020404" pitchFamily="49" charset="0"/>
                <a:ea typeface="+mn-ea"/>
                <a:cs typeface="Courier New" panose="02070309020205020404" pitchFamily="49" charset="0"/>
              </a:rPr>
              <a:t> </a:t>
            </a:r>
            <a:r>
              <a:rPr kumimoji="0" lang="en-US" altLang="en-US" sz="1400" b="0" i="0" u="none" strike="noStrike" kern="1200" cap="none" spc="0" normalizeH="0" baseline="0" noProof="0" dirty="0" err="1">
                <a:ln>
                  <a:noFill/>
                </a:ln>
                <a:solidFill>
                  <a:srgbClr val="001D35"/>
                </a:solidFill>
                <a:effectLst/>
                <a:uLnTx/>
                <a:uFillTx/>
                <a:latin typeface="Courier New" panose="02070309020205020404" pitchFamily="49" charset="0"/>
                <a:ea typeface="+mn-ea"/>
                <a:cs typeface="Courier New" panose="02070309020205020404" pitchFamily="49" charset="0"/>
              </a:rPr>
              <a:t>IsConfigured</a:t>
            </a: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mn-cs"/>
              </a:rPr>
              <a:t>optionsBuilder.UseSqlServer</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r>
              <a:rPr kumimoji="0" lang="en-US" sz="1400" b="0" i="0" u="none" strike="noStrike" kern="1200" cap="none" spc="0" normalizeH="0" baseline="0" noProof="0" dirty="0">
                <a:ln>
                  <a:noFill/>
                </a:ln>
                <a:solidFill>
                  <a:srgbClr val="800000"/>
                </a:solidFill>
                <a:effectLst/>
                <a:highlight>
                  <a:srgbClr val="FFFFFF"/>
                </a:highlight>
                <a:uLnTx/>
                <a:uFillTx/>
                <a:latin typeface="Cascadia Mono" panose="020B0609020000020004" pitchFamily="49" charset="0"/>
                <a:ea typeface="+mn-ea"/>
                <a:cs typeface="+mn-cs"/>
              </a:rPr>
              <a:t>@"Data Source=(</a:t>
            </a:r>
            <a:r>
              <a:rPr kumimoji="0" lang="en-US" sz="1400" b="0" i="0" u="none" strike="noStrike" kern="1200" cap="none" spc="0" normalizeH="0" baseline="0" noProof="0" dirty="0" err="1">
                <a:ln>
                  <a:noFill/>
                </a:ln>
                <a:solidFill>
                  <a:srgbClr val="800000"/>
                </a:solidFill>
                <a:effectLst/>
                <a:highlight>
                  <a:srgbClr val="FFFFFF"/>
                </a:highlight>
                <a:uLnTx/>
                <a:uFillTx/>
                <a:latin typeface="Cascadia Mono" panose="020B0609020000020004" pitchFamily="49" charset="0"/>
                <a:ea typeface="+mn-ea"/>
                <a:cs typeface="+mn-cs"/>
              </a:rPr>
              <a:t>localdb</a:t>
            </a:r>
            <a:r>
              <a:rPr kumimoji="0" lang="en-US" sz="1400" b="0" i="0" u="none" strike="noStrike" kern="1200" cap="none" spc="0" normalizeH="0" baseline="0" noProof="0" dirty="0">
                <a:ln>
                  <a:noFill/>
                </a:ln>
                <a:solidFill>
                  <a:srgbClr val="800000"/>
                </a:solidFill>
                <a:effectLst/>
                <a:highlight>
                  <a:srgbClr val="FFFFFF"/>
                </a:highlight>
                <a:uLnTx/>
                <a:uFillTx/>
                <a:latin typeface="Cascadia Mono" panose="020B0609020000020004" pitchFamily="49" charset="0"/>
                <a:ea typeface="+mn-ea"/>
                <a:cs typeface="+mn-cs"/>
              </a:rPr>
              <a:t>)\</a:t>
            </a:r>
            <a:r>
              <a:rPr kumimoji="0" lang="en-US" sz="1400" b="0" i="0" u="none" strike="noStrike" kern="1200" cap="none" spc="0" normalizeH="0" baseline="0" noProof="0" dirty="0" err="1">
                <a:ln>
                  <a:noFill/>
                </a:ln>
                <a:solidFill>
                  <a:srgbClr val="800000"/>
                </a:solidFill>
                <a:effectLst/>
                <a:highlight>
                  <a:srgbClr val="FFFFFF"/>
                </a:highlight>
                <a:uLnTx/>
                <a:uFillTx/>
                <a:latin typeface="Cascadia Mono" panose="020B0609020000020004" pitchFamily="49" charset="0"/>
                <a:ea typeface="+mn-ea"/>
                <a:cs typeface="+mn-cs"/>
              </a:rPr>
              <a:t>ProjectModels;Initial</a:t>
            </a:r>
            <a:r>
              <a:rPr kumimoji="0" lang="en-US" sz="1400" b="0" i="0" u="none" strike="noStrike" kern="1200" cap="none" spc="0" normalizeH="0" baseline="0" noProof="0" dirty="0">
                <a:ln>
                  <a:noFill/>
                </a:ln>
                <a:solidFill>
                  <a:srgbClr val="800000"/>
                </a:solidFill>
                <a:effectLst/>
                <a:highlight>
                  <a:srgbClr val="FFFFFF"/>
                </a:highlight>
                <a:uLnTx/>
                <a:uFillTx/>
                <a:latin typeface="Cascadia Mono" panose="020B0609020000020004" pitchFamily="49" charset="0"/>
                <a:ea typeface="+mn-ea"/>
                <a:cs typeface="+mn-cs"/>
              </a:rPr>
              <a:t> Catalog=</a:t>
            </a:r>
            <a:r>
              <a:rPr kumimoji="0" lang="en-US" sz="1400" b="0" i="0" u="none" strike="noStrike" kern="1200" cap="none" spc="0" normalizeH="0" baseline="0" noProof="0" dirty="0" err="1">
                <a:ln>
                  <a:noFill/>
                </a:ln>
                <a:solidFill>
                  <a:srgbClr val="800000"/>
                </a:solidFill>
                <a:effectLst/>
                <a:highlight>
                  <a:srgbClr val="FFFFFF"/>
                </a:highlight>
                <a:uLnTx/>
                <a:uFillTx/>
                <a:latin typeface="Cascadia Mono" panose="020B0609020000020004" pitchFamily="49" charset="0"/>
                <a:ea typeface="+mn-ea"/>
                <a:cs typeface="+mn-cs"/>
              </a:rPr>
              <a:t>EntityAuthBook;Integrated</a:t>
            </a:r>
            <a:r>
              <a:rPr kumimoji="0" lang="en-US" sz="1400" b="0" i="0" u="none" strike="noStrike" kern="1200" cap="none" spc="0" normalizeH="0" baseline="0" noProof="0" dirty="0">
                <a:ln>
                  <a:noFill/>
                </a:ln>
                <a:solidFill>
                  <a:srgbClr val="800000"/>
                </a:solidFill>
                <a:effectLst/>
                <a:highlight>
                  <a:srgbClr val="FFFFFF"/>
                </a:highlight>
                <a:uLnTx/>
                <a:uFillTx/>
                <a:latin typeface="Cascadia Mono" panose="020B0609020000020004" pitchFamily="49" charset="0"/>
                <a:ea typeface="+mn-ea"/>
                <a:cs typeface="+mn-cs"/>
              </a:rPr>
              <a:t> Security=True"</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DbSet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14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Book</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 Books {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get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set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public</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mn-cs"/>
              </a:rPr>
              <a:t>DbSet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&lt;</a:t>
            </a:r>
            <a:r>
              <a:rPr kumimoji="0" lang="en-US" sz="14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mn-cs"/>
              </a:rPr>
              <a:t>Author</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&gt; Authors {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get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r>
              <a:rPr kumimoji="0" lang="en-US" sz="14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mn-cs"/>
              </a:rPr>
              <a:t>set</a:t>
            </a:r>
            <a:r>
              <a:rPr kumimoji="0" lang="en-US"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p:txBody>
      </p:sp>
      <p:sp>
        <p:nvSpPr>
          <p:cNvPr id="5" name="TextBox 4">
            <a:extLst>
              <a:ext uri="{FF2B5EF4-FFF2-40B4-BE49-F238E27FC236}">
                <a16:creationId xmlns:a16="http://schemas.microsoft.com/office/drawing/2014/main" id="{1CF17E88-FE29-BF83-1774-E7B2B6C7166F}"/>
              </a:ext>
            </a:extLst>
          </p:cNvPr>
          <p:cNvSpPr txBox="1"/>
          <p:nvPr/>
        </p:nvSpPr>
        <p:spPr>
          <a:xfrm>
            <a:off x="254127" y="5770811"/>
            <a:ext cx="3641598"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this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Add-Migration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initialcreate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Update-Database -verbose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 name="Straight Arrow Connector 2">
            <a:extLst>
              <a:ext uri="{FF2B5EF4-FFF2-40B4-BE49-F238E27FC236}">
                <a16:creationId xmlns:a16="http://schemas.microsoft.com/office/drawing/2014/main" id="{4B2EA65A-1A69-4839-7E92-7B47ADC29CFA}"/>
              </a:ext>
            </a:extLst>
          </p:cNvPr>
          <p:cNvCxnSpPr>
            <a:cxnSpLocks/>
          </p:cNvCxnSpPr>
          <p:nvPr/>
        </p:nvCxnSpPr>
        <p:spPr>
          <a:xfrm>
            <a:off x="3464878" y="3733799"/>
            <a:ext cx="3688397" cy="46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F43B86C-A347-A9D7-BEF1-D0E2573E1863}"/>
              </a:ext>
            </a:extLst>
          </p:cNvPr>
          <p:cNvSpPr txBox="1"/>
          <p:nvPr/>
        </p:nvSpPr>
        <p:spPr>
          <a:xfrm>
            <a:off x="7064692" y="3805058"/>
            <a:ext cx="308610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Table will be create with name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Books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Authors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9A568C88-B2FB-45A9-3D61-FFD8A5134248}"/>
              </a:ext>
            </a:extLst>
          </p:cNvPr>
          <p:cNvCxnSpPr>
            <a:cxnSpLocks/>
          </p:cNvCxnSpPr>
          <p:nvPr/>
        </p:nvCxnSpPr>
        <p:spPr>
          <a:xfrm>
            <a:off x="3594540" y="3914327"/>
            <a:ext cx="3470152" cy="893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D30170C-CEB0-EC31-96DB-748F43DA484E}"/>
              </a:ext>
            </a:extLst>
          </p:cNvPr>
          <p:cNvCxnSpPr/>
          <p:nvPr/>
        </p:nvCxnSpPr>
        <p:spPr>
          <a:xfrm>
            <a:off x="2667000" y="3966725"/>
            <a:ext cx="47625"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4283E13-3F98-CCCE-0674-00FFDF69256E}"/>
              </a:ext>
            </a:extLst>
          </p:cNvPr>
          <p:cNvSpPr txBox="1"/>
          <p:nvPr/>
        </p:nvSpPr>
        <p:spPr>
          <a:xfrm>
            <a:off x="2195275" y="4496260"/>
            <a:ext cx="254317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Map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poco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class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EEC04233-F0D4-5865-D9B8-DCEC455C7653}"/>
              </a:ext>
            </a:extLst>
          </p:cNvPr>
          <p:cNvCxnSpPr/>
          <p:nvPr/>
        </p:nvCxnSpPr>
        <p:spPr>
          <a:xfrm>
            <a:off x="3005137" y="6232476"/>
            <a:ext cx="2871788" cy="15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DA239D7-B55A-A02F-ECDE-82BB5E1F2CB2}"/>
              </a:ext>
            </a:extLst>
          </p:cNvPr>
          <p:cNvSpPr txBox="1"/>
          <p:nvPr/>
        </p:nvSpPr>
        <p:spPr>
          <a:xfrm>
            <a:off x="5794248" y="5900420"/>
            <a:ext cx="48768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2 file Snapshot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initialcreate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migration file with (date time)  2 method Up and down with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Sql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query.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51D39A60-18D0-C0DA-14E1-C70DE46BF4A7}"/>
              </a:ext>
            </a:extLst>
          </p:cNvPr>
          <p:cNvCxnSpPr/>
          <p:nvPr/>
        </p:nvCxnSpPr>
        <p:spPr>
          <a:xfrm>
            <a:off x="2152650" y="6553200"/>
            <a:ext cx="1123950" cy="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05F25CF-06A4-D45F-30DA-4BBDADA70606}"/>
              </a:ext>
            </a:extLst>
          </p:cNvPr>
          <p:cNvSpPr txBox="1"/>
          <p:nvPr/>
        </p:nvSpPr>
        <p:spPr>
          <a:xfrm>
            <a:off x="3419475" y="6337919"/>
            <a:ext cx="24555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Execute query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09AA314C-A65B-04EA-8513-95DD15558A86}"/>
              </a:ext>
            </a:extLst>
          </p:cNvPr>
          <p:cNvSpPr/>
          <p:nvPr/>
        </p:nvSpPr>
        <p:spPr>
          <a:xfrm>
            <a:off x="6180137" y="34250"/>
            <a:ext cx="6358415"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A </a:t>
            </a:r>
            <a:r>
              <a:rPr kumimoji="0" lang="en-US" sz="1800" b="1"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DbSet</a:t>
            </a:r>
            <a:r>
              <a:rPr kumimoji="0" lang="en-US" sz="1800" b="1"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a:t>
            </a: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represents the collection of all entities in the context, or that can be queried from the database, of a given type. </a:t>
            </a:r>
            <a:r>
              <a:rPr kumimoji="0" lang="en-US" sz="18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DbSet</a:t>
            </a: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objects are created from a </a:t>
            </a:r>
            <a:r>
              <a:rPr kumimoji="0" lang="en-US" sz="18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DbContext</a:t>
            </a: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using the </a:t>
            </a:r>
            <a:r>
              <a:rPr kumimoji="0" lang="en-US" sz="18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DbContext.Set</a:t>
            </a:r>
            <a:r>
              <a:rPr kumimoji="0" lang="en-US" sz="18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method.</a:t>
            </a:r>
          </a:p>
        </p:txBody>
      </p:sp>
      <p:sp>
        <p:nvSpPr>
          <p:cNvPr id="15" name="Rectangle 14">
            <a:extLst>
              <a:ext uri="{FF2B5EF4-FFF2-40B4-BE49-F238E27FC236}">
                <a16:creationId xmlns:a16="http://schemas.microsoft.com/office/drawing/2014/main" id="{1942231B-5125-6462-D29F-1CF3B829DC30}"/>
              </a:ext>
            </a:extLst>
          </p:cNvPr>
          <p:cNvSpPr/>
          <p:nvPr/>
        </p:nvSpPr>
        <p:spPr>
          <a:xfrm>
            <a:off x="8124350" y="4339650"/>
            <a:ext cx="3808094" cy="156966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DbContext</a:t>
            </a:r>
            <a:r>
              <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class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A </a:t>
            </a:r>
            <a:r>
              <a:rPr kumimoji="0" lang="en-US" sz="12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DbContext</a:t>
            </a:r>
            <a:r>
              <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instance represents a combination of the Unit Of Work and Repository patterns such that it can be used to query from a database and group together changes that will then be written back to the store as a unit. </a:t>
            </a:r>
            <a:r>
              <a:rPr kumimoji="0" lang="en-US" sz="12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DbContext</a:t>
            </a:r>
            <a:r>
              <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 is conceptually similar to </a:t>
            </a:r>
            <a:r>
              <a:rPr kumimoji="0" lang="en-US" sz="1200" b="0" i="0" u="none" strike="noStrike" kern="1200" cap="none" spc="0" normalizeH="0" baseline="0" noProof="0" dirty="0" err="1">
                <a:ln>
                  <a:noFill/>
                </a:ln>
                <a:solidFill>
                  <a:srgbClr val="161616"/>
                </a:solidFill>
                <a:effectLst/>
                <a:uLnTx/>
                <a:uFillTx/>
                <a:latin typeface="Segoe UI" panose="020B0502040204020203" pitchFamily="34" charset="0"/>
                <a:ea typeface="+mn-ea"/>
                <a:cs typeface="+mn-cs"/>
              </a:rPr>
              <a:t>ObjectContext</a:t>
            </a:r>
            <a:r>
              <a:rPr kumimoji="0" lang="en-US" sz="1200" b="0" i="0" u="none" strike="noStrike" kern="1200" cap="none" spc="0" normalizeH="0" baseline="0" noProof="0" dirty="0">
                <a:ln>
                  <a:noFill/>
                </a:ln>
                <a:solidFill>
                  <a:srgbClr val="161616"/>
                </a:solidFill>
                <a:effectLst/>
                <a:uLnTx/>
                <a:uFillTx/>
                <a:latin typeface="Segoe UI" panose="020B0502040204020203" pitchFamily="34" charset="0"/>
                <a:ea typeface="+mn-ea"/>
                <a:cs typeface="+mn-cs"/>
              </a:rPr>
              <a:t>.</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8068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3F715A-2D6B-4E8E-B0ED-F5C3E7477A5D}"/>
              </a:ext>
            </a:extLst>
          </p:cNvPr>
          <p:cNvSpPr txBox="1"/>
          <p:nvPr/>
        </p:nvSpPr>
        <p:spPr>
          <a:xfrm>
            <a:off x="6521776" y="397890"/>
            <a:ext cx="5284508"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Restrict </a:t>
            </a:r>
          </a:p>
          <a:p>
            <a:r>
              <a:rPr lang="en-US" sz="1400" dirty="0"/>
              <a:t>For the majority of relational database systems, RESTRICT is equivalent to NO ACTION. Where RESTRICT is specifically implemented by a database system, the difference is that RESTRICT results in the constraint being checked </a:t>
            </a:r>
            <a:r>
              <a:rPr lang="en-US" sz="1400" dirty="0">
                <a:highlight>
                  <a:srgbClr val="FFFF00"/>
                </a:highlight>
              </a:rPr>
              <a:t>at the start of processing </a:t>
            </a:r>
            <a:r>
              <a:rPr lang="en-US" sz="1400" dirty="0"/>
              <a:t>instead of </a:t>
            </a:r>
            <a:r>
              <a:rPr lang="en-US" sz="1400" dirty="0">
                <a:highlight>
                  <a:srgbClr val="FFFF00"/>
                </a:highlight>
              </a:rPr>
              <a:t>at the end</a:t>
            </a:r>
            <a:r>
              <a:rPr lang="en-US" sz="1400" dirty="0"/>
              <a:t>, which is the case with NO ACTION</a:t>
            </a:r>
            <a:endParaRPr lang="en-IN" sz="1400" dirty="0"/>
          </a:p>
        </p:txBody>
      </p:sp>
      <p:sp>
        <p:nvSpPr>
          <p:cNvPr id="8" name="TextBox 7">
            <a:extLst>
              <a:ext uri="{FF2B5EF4-FFF2-40B4-BE49-F238E27FC236}">
                <a16:creationId xmlns:a16="http://schemas.microsoft.com/office/drawing/2014/main" id="{B073A00B-CE9C-3FB6-C584-AD41E2BDD076}"/>
              </a:ext>
            </a:extLst>
          </p:cNvPr>
          <p:cNvSpPr txBox="1"/>
          <p:nvPr/>
        </p:nvSpPr>
        <p:spPr>
          <a:xfrm>
            <a:off x="292231" y="388933"/>
            <a:ext cx="6059078" cy="138499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b="0" i="0" dirty="0">
                <a:solidFill>
                  <a:srgbClr val="004867"/>
                </a:solidFill>
                <a:effectLst/>
                <a:latin typeface="Roboto" panose="02000000000000000000" pitchFamily="2" charset="0"/>
              </a:rPr>
              <a:t>On Delete/Update No Action </a:t>
            </a:r>
          </a:p>
          <a:p>
            <a:r>
              <a:rPr lang="en-US" sz="1400" dirty="0"/>
              <a:t>This is the </a:t>
            </a:r>
            <a:r>
              <a:rPr lang="en-US" sz="1400" b="1" dirty="0"/>
              <a:t>default option </a:t>
            </a:r>
            <a:r>
              <a:rPr lang="en-US" sz="1400" dirty="0"/>
              <a:t>if ON DELETE or ON UPDATE is </a:t>
            </a:r>
            <a:r>
              <a:rPr lang="en-US" sz="1400" b="1" dirty="0"/>
              <a:t>not specified</a:t>
            </a:r>
            <a:r>
              <a:rPr lang="en-US" sz="1400" dirty="0"/>
              <a:t>. If an attempt is made to </a:t>
            </a:r>
            <a:r>
              <a:rPr lang="en-US" sz="1400" b="1" dirty="0"/>
              <a:t>delete an Author record </a:t>
            </a:r>
            <a:r>
              <a:rPr lang="en-US" sz="1400" dirty="0"/>
              <a:t>that is currently </a:t>
            </a:r>
            <a:r>
              <a:rPr lang="en-US" sz="1400" b="1" dirty="0"/>
              <a:t>referenced by a Book record, </a:t>
            </a:r>
            <a:r>
              <a:rPr lang="en-US" sz="1400" dirty="0"/>
              <a:t>the database will </a:t>
            </a:r>
            <a:r>
              <a:rPr lang="en-US" sz="1400" b="1" dirty="0"/>
              <a:t>raise an error </a:t>
            </a:r>
            <a:r>
              <a:rPr lang="en-US" sz="1400" dirty="0"/>
              <a:t>and the delete will be rolled back. The same will happen if an attempt is made to alter the primary key value of an Author record that is being used as a foreign key in a Book record.</a:t>
            </a:r>
            <a:endParaRPr lang="en-IN" sz="1400" dirty="0"/>
          </a:p>
        </p:txBody>
      </p:sp>
      <p:graphicFrame>
        <p:nvGraphicFramePr>
          <p:cNvPr id="9" name="Table 9">
            <a:extLst>
              <a:ext uri="{FF2B5EF4-FFF2-40B4-BE49-F238E27FC236}">
                <a16:creationId xmlns:a16="http://schemas.microsoft.com/office/drawing/2014/main" id="{83378172-485C-D7B4-6DBB-3681945EB239}"/>
              </a:ext>
            </a:extLst>
          </p:cNvPr>
          <p:cNvGraphicFramePr>
            <a:graphicFrameLocks noGrp="1"/>
          </p:cNvGraphicFramePr>
          <p:nvPr/>
        </p:nvGraphicFramePr>
        <p:xfrm>
          <a:off x="636833" y="2802989"/>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10" name="Table 10">
            <a:extLst>
              <a:ext uri="{FF2B5EF4-FFF2-40B4-BE49-F238E27FC236}">
                <a16:creationId xmlns:a16="http://schemas.microsoft.com/office/drawing/2014/main" id="{FD96BCEF-8765-11FD-19B9-B419F6CD34CB}"/>
              </a:ext>
            </a:extLst>
          </p:cNvPr>
          <p:cNvGraphicFramePr>
            <a:graphicFrameLocks noGrp="1"/>
          </p:cNvGraphicFramePr>
          <p:nvPr/>
        </p:nvGraphicFramePr>
        <p:xfrm>
          <a:off x="5482211" y="3148553"/>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12" name="Straight Connector 11">
            <a:extLst>
              <a:ext uri="{FF2B5EF4-FFF2-40B4-BE49-F238E27FC236}">
                <a16:creationId xmlns:a16="http://schemas.microsoft.com/office/drawing/2014/main" id="{C1E1D609-2771-C999-392F-74CAAFD930C3}"/>
              </a:ext>
            </a:extLst>
          </p:cNvPr>
          <p:cNvCxnSpPr/>
          <p:nvPr/>
        </p:nvCxnSpPr>
        <p:spPr>
          <a:xfrm>
            <a:off x="622169" y="3516198"/>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4" name="Freeform: Shape 13">
            <a:extLst>
              <a:ext uri="{FF2B5EF4-FFF2-40B4-BE49-F238E27FC236}">
                <a16:creationId xmlns:a16="http://schemas.microsoft.com/office/drawing/2014/main" id="{8F805F95-C065-87CF-9783-05844D302BFA}"/>
              </a:ext>
            </a:extLst>
          </p:cNvPr>
          <p:cNvSpPr/>
          <p:nvPr/>
        </p:nvSpPr>
        <p:spPr>
          <a:xfrm>
            <a:off x="207390" y="3516909"/>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Triangle 14">
            <a:extLst>
              <a:ext uri="{FF2B5EF4-FFF2-40B4-BE49-F238E27FC236}">
                <a16:creationId xmlns:a16="http://schemas.microsoft.com/office/drawing/2014/main" id="{1840D456-401D-A7D7-AB8B-29981842D1F4}"/>
              </a:ext>
            </a:extLst>
          </p:cNvPr>
          <p:cNvSpPr/>
          <p:nvPr/>
        </p:nvSpPr>
        <p:spPr>
          <a:xfrm rot="2749426">
            <a:off x="9559325" y="4538879"/>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4303B771-8C48-A606-B093-374F44AEF014}"/>
              </a:ext>
            </a:extLst>
          </p:cNvPr>
          <p:cNvSpPr txBox="1"/>
          <p:nvPr/>
        </p:nvSpPr>
        <p:spPr>
          <a:xfrm>
            <a:off x="3048786" y="5733038"/>
            <a:ext cx="6094428"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800" dirty="0"/>
              <a:t>to </a:t>
            </a:r>
            <a:r>
              <a:rPr lang="en-US" sz="1800" b="1" dirty="0"/>
              <a:t>delete an Author record </a:t>
            </a:r>
            <a:r>
              <a:rPr lang="en-US" sz="1800" dirty="0"/>
              <a:t>that is currently </a:t>
            </a:r>
            <a:r>
              <a:rPr lang="en-US" sz="1800" b="1" dirty="0"/>
              <a:t>referenced by a Book record, </a:t>
            </a:r>
            <a:r>
              <a:rPr lang="en-US" sz="1800" dirty="0"/>
              <a:t>the database will </a:t>
            </a:r>
            <a:r>
              <a:rPr lang="en-US" sz="1800" b="1" dirty="0"/>
              <a:t>raise an error</a:t>
            </a:r>
            <a:endParaRPr lang="en-IN" dirty="0"/>
          </a:p>
        </p:txBody>
      </p:sp>
    </p:spTree>
    <p:extLst>
      <p:ext uri="{BB962C8B-B14F-4D97-AF65-F5344CB8AC3E}">
        <p14:creationId xmlns:p14="http://schemas.microsoft.com/office/powerpoint/2010/main" val="3201262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604777-C581-1F66-5894-4586F2B5283F}"/>
              </a:ext>
            </a:extLst>
          </p:cNvPr>
          <p:cNvSpPr txBox="1"/>
          <p:nvPr/>
        </p:nvSpPr>
        <p:spPr>
          <a:xfrm>
            <a:off x="68345" y="57079"/>
            <a:ext cx="5550031"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b="0" i="0" dirty="0">
                <a:solidFill>
                  <a:srgbClr val="004867"/>
                </a:solidFill>
                <a:effectLst/>
                <a:latin typeface="Roboto" panose="02000000000000000000" pitchFamily="2" charset="0"/>
              </a:rPr>
              <a:t>On Delete/Update Set Null</a:t>
            </a:r>
          </a:p>
          <a:p>
            <a:endParaRPr lang="en-US" sz="1400" dirty="0"/>
          </a:p>
          <a:p>
            <a:r>
              <a:rPr lang="en-US" sz="1400" dirty="0"/>
              <a:t>If an Author record that is currently referenced in one or more Book records is deleted, the </a:t>
            </a:r>
            <a:r>
              <a:rPr lang="en-US" sz="1400" dirty="0" err="1"/>
              <a:t>AuthorId</a:t>
            </a:r>
            <a:r>
              <a:rPr lang="en-US" sz="1400" dirty="0"/>
              <a:t> value in the affected Book records will be updated to NULL. The same will happen if the Author record's primary key value is changed. This operation will only be successful if the </a:t>
            </a:r>
            <a:r>
              <a:rPr lang="en-US" sz="1400" dirty="0" err="1"/>
              <a:t>AuthorId</a:t>
            </a:r>
            <a:r>
              <a:rPr lang="en-US" sz="1400" dirty="0"/>
              <a:t> column in the Books table is nullable.</a:t>
            </a:r>
            <a:endParaRPr lang="en-IN" sz="1400" dirty="0"/>
          </a:p>
        </p:txBody>
      </p:sp>
      <p:graphicFrame>
        <p:nvGraphicFramePr>
          <p:cNvPr id="7" name="Table 9">
            <a:extLst>
              <a:ext uri="{FF2B5EF4-FFF2-40B4-BE49-F238E27FC236}">
                <a16:creationId xmlns:a16="http://schemas.microsoft.com/office/drawing/2014/main" id="{6C1FCCBB-9320-373E-3176-94BE5B1ADE70}"/>
              </a:ext>
            </a:extLst>
          </p:cNvPr>
          <p:cNvGraphicFramePr>
            <a:graphicFrameLocks noGrp="1"/>
          </p:cNvGraphicFramePr>
          <p:nvPr/>
        </p:nvGraphicFramePr>
        <p:xfrm>
          <a:off x="900783" y="2981347"/>
          <a:ext cx="3001914" cy="1900988"/>
        </p:xfrm>
        <a:graphic>
          <a:graphicData uri="http://schemas.openxmlformats.org/drawingml/2006/table">
            <a:tbl>
              <a:tblPr firstRow="1" bandRow="1">
                <a:tableStyleId>{5C22544A-7EE6-4342-B048-85BDC9FD1C3A}</a:tableStyleId>
              </a:tblPr>
              <a:tblGrid>
                <a:gridCol w="1500957">
                  <a:extLst>
                    <a:ext uri="{9D8B030D-6E8A-4147-A177-3AD203B41FA5}">
                      <a16:colId xmlns:a16="http://schemas.microsoft.com/office/drawing/2014/main" val="2742854361"/>
                    </a:ext>
                  </a:extLst>
                </a:gridCol>
                <a:gridCol w="1500957">
                  <a:extLst>
                    <a:ext uri="{9D8B030D-6E8A-4147-A177-3AD203B41FA5}">
                      <a16:colId xmlns:a16="http://schemas.microsoft.com/office/drawing/2014/main" val="2810734728"/>
                    </a:ext>
                  </a:extLst>
                </a:gridCol>
              </a:tblGrid>
              <a:tr h="475247">
                <a:tc>
                  <a:txBody>
                    <a:bodyPr/>
                    <a:lstStyle/>
                    <a:p>
                      <a:r>
                        <a:rPr lang="en-US" dirty="0" err="1"/>
                        <a:t>AuthorID</a:t>
                      </a:r>
                      <a:endParaRPr lang="en-IN" dirty="0"/>
                    </a:p>
                  </a:txBody>
                  <a:tcPr/>
                </a:tc>
                <a:tc>
                  <a:txBody>
                    <a:bodyPr/>
                    <a:lstStyle/>
                    <a:p>
                      <a:r>
                        <a:rPr lang="en-US" dirty="0"/>
                        <a:t>Name</a:t>
                      </a:r>
                      <a:endParaRPr lang="en-IN" dirty="0"/>
                    </a:p>
                  </a:txBody>
                  <a:tcPr/>
                </a:tc>
                <a:extLst>
                  <a:ext uri="{0D108BD9-81ED-4DB2-BD59-A6C34878D82A}">
                    <a16:rowId xmlns:a16="http://schemas.microsoft.com/office/drawing/2014/main" val="3023215084"/>
                  </a:ext>
                </a:extLst>
              </a:tr>
              <a:tr h="475247">
                <a:tc>
                  <a:txBody>
                    <a:bodyPr/>
                    <a:lstStyle/>
                    <a:p>
                      <a:r>
                        <a:rPr lang="en-US" dirty="0"/>
                        <a:t>1</a:t>
                      </a:r>
                      <a:endParaRPr lang="en-IN" dirty="0"/>
                    </a:p>
                  </a:txBody>
                  <a:tcPr/>
                </a:tc>
                <a:tc>
                  <a:txBody>
                    <a:bodyPr/>
                    <a:lstStyle/>
                    <a:p>
                      <a:r>
                        <a:rPr lang="en-US" dirty="0" err="1"/>
                        <a:t>Kanitker</a:t>
                      </a:r>
                      <a:endParaRPr lang="en-IN" dirty="0"/>
                    </a:p>
                  </a:txBody>
                  <a:tcPr/>
                </a:tc>
                <a:extLst>
                  <a:ext uri="{0D108BD9-81ED-4DB2-BD59-A6C34878D82A}">
                    <a16:rowId xmlns:a16="http://schemas.microsoft.com/office/drawing/2014/main" val="1460988839"/>
                  </a:ext>
                </a:extLst>
              </a:tr>
              <a:tr h="475247">
                <a:tc>
                  <a:txBody>
                    <a:bodyPr/>
                    <a:lstStyle/>
                    <a:p>
                      <a:r>
                        <a:rPr lang="en-US" dirty="0"/>
                        <a:t>2</a:t>
                      </a:r>
                      <a:endParaRPr lang="en-IN" dirty="0"/>
                    </a:p>
                  </a:txBody>
                  <a:tcPr/>
                </a:tc>
                <a:tc>
                  <a:txBody>
                    <a:bodyPr/>
                    <a:lstStyle/>
                    <a:p>
                      <a:r>
                        <a:rPr lang="en-IN" sz="1800" b="0" i="0" kern="1200" dirty="0">
                          <a:solidFill>
                            <a:schemeClr val="dk1"/>
                          </a:solidFill>
                          <a:effectLst/>
                          <a:latin typeface="+mn-lt"/>
                          <a:ea typeface="+mn-ea"/>
                          <a:cs typeface="+mn-cs"/>
                        </a:rPr>
                        <a:t>James Gosling</a:t>
                      </a:r>
                      <a:endParaRPr lang="en-IN" dirty="0"/>
                    </a:p>
                  </a:txBody>
                  <a:tcPr/>
                </a:tc>
                <a:extLst>
                  <a:ext uri="{0D108BD9-81ED-4DB2-BD59-A6C34878D82A}">
                    <a16:rowId xmlns:a16="http://schemas.microsoft.com/office/drawing/2014/main" val="1171979884"/>
                  </a:ext>
                </a:extLst>
              </a:tr>
              <a:tr h="475247">
                <a:tc>
                  <a:txBody>
                    <a:bodyPr/>
                    <a:lstStyle/>
                    <a:p>
                      <a:r>
                        <a:rPr lang="en-US" dirty="0"/>
                        <a:t>3</a:t>
                      </a:r>
                      <a:endParaRPr lang="en-IN" dirty="0"/>
                    </a:p>
                  </a:txBody>
                  <a:tcPr/>
                </a:tc>
                <a:tc>
                  <a:txBody>
                    <a:bodyPr/>
                    <a:lstStyle/>
                    <a:p>
                      <a:endParaRPr lang="en-IN" dirty="0"/>
                    </a:p>
                  </a:txBody>
                  <a:tcPr/>
                </a:tc>
                <a:extLst>
                  <a:ext uri="{0D108BD9-81ED-4DB2-BD59-A6C34878D82A}">
                    <a16:rowId xmlns:a16="http://schemas.microsoft.com/office/drawing/2014/main" val="2314118682"/>
                  </a:ext>
                </a:extLst>
              </a:tr>
            </a:tbl>
          </a:graphicData>
        </a:graphic>
      </p:graphicFrame>
      <p:graphicFrame>
        <p:nvGraphicFramePr>
          <p:cNvPr id="8" name="Table 10">
            <a:extLst>
              <a:ext uri="{FF2B5EF4-FFF2-40B4-BE49-F238E27FC236}">
                <a16:creationId xmlns:a16="http://schemas.microsoft.com/office/drawing/2014/main" id="{F75C70CE-02CC-2AE4-14BC-00080228F2B8}"/>
              </a:ext>
            </a:extLst>
          </p:cNvPr>
          <p:cNvGraphicFramePr>
            <a:graphicFrameLocks noGrp="1"/>
          </p:cNvGraphicFramePr>
          <p:nvPr/>
        </p:nvGraphicFramePr>
        <p:xfrm>
          <a:off x="5746161" y="3326911"/>
          <a:ext cx="4359372" cy="1771296"/>
        </p:xfrm>
        <a:graphic>
          <a:graphicData uri="http://schemas.openxmlformats.org/drawingml/2006/table">
            <a:tbl>
              <a:tblPr firstRow="1" bandRow="1">
                <a:tableStyleId>{5C22544A-7EE6-4342-B048-85BDC9FD1C3A}</a:tableStyleId>
              </a:tblPr>
              <a:tblGrid>
                <a:gridCol w="1453124">
                  <a:extLst>
                    <a:ext uri="{9D8B030D-6E8A-4147-A177-3AD203B41FA5}">
                      <a16:colId xmlns:a16="http://schemas.microsoft.com/office/drawing/2014/main" val="1041517587"/>
                    </a:ext>
                  </a:extLst>
                </a:gridCol>
                <a:gridCol w="1453124">
                  <a:extLst>
                    <a:ext uri="{9D8B030D-6E8A-4147-A177-3AD203B41FA5}">
                      <a16:colId xmlns:a16="http://schemas.microsoft.com/office/drawing/2014/main" val="2579100924"/>
                    </a:ext>
                  </a:extLst>
                </a:gridCol>
                <a:gridCol w="1453124">
                  <a:extLst>
                    <a:ext uri="{9D8B030D-6E8A-4147-A177-3AD203B41FA5}">
                      <a16:colId xmlns:a16="http://schemas.microsoft.com/office/drawing/2014/main" val="1056377050"/>
                    </a:ext>
                  </a:extLst>
                </a:gridCol>
              </a:tblGrid>
              <a:tr h="565608">
                <a:tc>
                  <a:txBody>
                    <a:bodyPr/>
                    <a:lstStyle/>
                    <a:p>
                      <a:r>
                        <a:rPr lang="en-US" dirty="0"/>
                        <a:t>Book Id</a:t>
                      </a:r>
                      <a:endParaRPr lang="en-IN" dirty="0"/>
                    </a:p>
                  </a:txBody>
                  <a:tcPr/>
                </a:tc>
                <a:tc>
                  <a:txBody>
                    <a:bodyPr/>
                    <a:lstStyle/>
                    <a:p>
                      <a:r>
                        <a:rPr lang="en-US" dirty="0"/>
                        <a:t>Title</a:t>
                      </a:r>
                      <a:endParaRPr lang="en-IN" dirty="0"/>
                    </a:p>
                  </a:txBody>
                  <a:tcPr/>
                </a:tc>
                <a:tc>
                  <a:txBody>
                    <a:bodyPr/>
                    <a:lstStyle/>
                    <a:p>
                      <a:r>
                        <a:rPr lang="en-US" dirty="0" err="1"/>
                        <a:t>AuthorId</a:t>
                      </a:r>
                      <a:endParaRPr lang="en-IN" dirty="0"/>
                    </a:p>
                  </a:txBody>
                  <a:tcPr/>
                </a:tc>
                <a:extLst>
                  <a:ext uri="{0D108BD9-81ED-4DB2-BD59-A6C34878D82A}">
                    <a16:rowId xmlns:a16="http://schemas.microsoft.com/office/drawing/2014/main" val="4123493924"/>
                  </a:ext>
                </a:extLst>
              </a:tr>
              <a:tr h="565608">
                <a:tc>
                  <a:txBody>
                    <a:bodyPr/>
                    <a:lstStyle/>
                    <a:p>
                      <a:r>
                        <a:rPr lang="en-US" dirty="0"/>
                        <a:t>100</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Java</a:t>
                      </a:r>
                      <a:endParaRPr lang="en-IN" dirty="0"/>
                    </a:p>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4039088113"/>
                  </a:ext>
                </a:extLst>
              </a:tr>
              <a:tr h="565608">
                <a:tc>
                  <a:txBody>
                    <a:bodyPr/>
                    <a:lstStyle/>
                    <a:p>
                      <a:r>
                        <a:rPr lang="en-US" dirty="0"/>
                        <a:t>200</a:t>
                      </a:r>
                      <a:endParaRPr lang="en-IN" dirty="0"/>
                    </a:p>
                  </a:txBody>
                  <a:tcPr/>
                </a:tc>
                <a:tc>
                  <a:txBody>
                    <a:bodyPr/>
                    <a:lstStyle/>
                    <a:p>
                      <a:r>
                        <a:rPr lang="en-US" dirty="0" err="1"/>
                        <a:t>Letus</a:t>
                      </a:r>
                      <a:r>
                        <a:rPr lang="en-US" dirty="0"/>
                        <a:t> C</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29684369"/>
                  </a:ext>
                </a:extLst>
              </a:tr>
            </a:tbl>
          </a:graphicData>
        </a:graphic>
      </p:graphicFrame>
      <p:cxnSp>
        <p:nvCxnSpPr>
          <p:cNvPr id="9" name="Straight Connector 8">
            <a:extLst>
              <a:ext uri="{FF2B5EF4-FFF2-40B4-BE49-F238E27FC236}">
                <a16:creationId xmlns:a16="http://schemas.microsoft.com/office/drawing/2014/main" id="{D90001CF-7F86-D764-191F-35B8AC226A7B}"/>
              </a:ext>
            </a:extLst>
          </p:cNvPr>
          <p:cNvCxnSpPr/>
          <p:nvPr/>
        </p:nvCxnSpPr>
        <p:spPr>
          <a:xfrm>
            <a:off x="886119" y="3694556"/>
            <a:ext cx="2469823" cy="0"/>
          </a:xfrm>
          <a:prstGeom prst="line">
            <a:avLst/>
          </a:prstGeom>
        </p:spPr>
        <p:style>
          <a:lnRef idx="3">
            <a:schemeClr val="accent2"/>
          </a:lnRef>
          <a:fillRef idx="0">
            <a:schemeClr val="accent2"/>
          </a:fillRef>
          <a:effectRef idx="2">
            <a:schemeClr val="accent2"/>
          </a:effectRef>
          <a:fontRef idx="minor">
            <a:schemeClr val="tx1"/>
          </a:fontRef>
        </p:style>
      </p:cxnSp>
      <p:sp>
        <p:nvSpPr>
          <p:cNvPr id="10" name="Freeform: Shape 9">
            <a:extLst>
              <a:ext uri="{FF2B5EF4-FFF2-40B4-BE49-F238E27FC236}">
                <a16:creationId xmlns:a16="http://schemas.microsoft.com/office/drawing/2014/main" id="{60F50416-AEE5-2C6C-8587-B918344EB3AD}"/>
              </a:ext>
            </a:extLst>
          </p:cNvPr>
          <p:cNvSpPr/>
          <p:nvPr/>
        </p:nvSpPr>
        <p:spPr>
          <a:xfrm>
            <a:off x="471341" y="3627640"/>
            <a:ext cx="10729348" cy="2941134"/>
          </a:xfrm>
          <a:custGeom>
            <a:avLst/>
            <a:gdLst>
              <a:gd name="connsiteX0" fmla="*/ 499620 w 10729348"/>
              <a:gd name="connsiteY0" fmla="*/ 18143 h 2941134"/>
              <a:gd name="connsiteX1" fmla="*/ 216816 w 10729348"/>
              <a:gd name="connsiteY1" fmla="*/ 27569 h 2941134"/>
              <a:gd name="connsiteX2" fmla="*/ 75414 w 10729348"/>
              <a:gd name="connsiteY2" fmla="*/ 159545 h 2941134"/>
              <a:gd name="connsiteX3" fmla="*/ 37707 w 10729348"/>
              <a:gd name="connsiteY3" fmla="*/ 263239 h 2941134"/>
              <a:gd name="connsiteX4" fmla="*/ 0 w 10729348"/>
              <a:gd name="connsiteY4" fmla="*/ 536617 h 2941134"/>
              <a:gd name="connsiteX5" fmla="*/ 103695 w 10729348"/>
              <a:gd name="connsiteY5" fmla="*/ 904262 h 2941134"/>
              <a:gd name="connsiteX6" fmla="*/ 641022 w 10729348"/>
              <a:gd name="connsiteY6" fmla="*/ 1865796 h 2941134"/>
              <a:gd name="connsiteX7" fmla="*/ 1168923 w 10729348"/>
              <a:gd name="connsiteY7" fmla="*/ 2374844 h 2941134"/>
              <a:gd name="connsiteX8" fmla="*/ 1517715 w 10729348"/>
              <a:gd name="connsiteY8" fmla="*/ 2506819 h 2941134"/>
              <a:gd name="connsiteX9" fmla="*/ 2620651 w 10729348"/>
              <a:gd name="connsiteY9" fmla="*/ 2770769 h 2941134"/>
              <a:gd name="connsiteX10" fmla="*/ 3167406 w 10729348"/>
              <a:gd name="connsiteY10" fmla="*/ 2836757 h 2941134"/>
              <a:gd name="connsiteX11" fmla="*/ 3808429 w 10729348"/>
              <a:gd name="connsiteY11" fmla="*/ 2931025 h 2941134"/>
              <a:gd name="connsiteX12" fmla="*/ 4468305 w 10729348"/>
              <a:gd name="connsiteY12" fmla="*/ 2940452 h 2941134"/>
              <a:gd name="connsiteX13" fmla="*/ 7899662 w 10729348"/>
              <a:gd name="connsiteY13" fmla="*/ 2931025 h 2941134"/>
              <a:gd name="connsiteX14" fmla="*/ 9304255 w 10729348"/>
              <a:gd name="connsiteY14" fmla="*/ 2742489 h 2941134"/>
              <a:gd name="connsiteX15" fmla="*/ 9756742 w 10729348"/>
              <a:gd name="connsiteY15" fmla="*/ 2582233 h 2941134"/>
              <a:gd name="connsiteX16" fmla="*/ 10407191 w 10729348"/>
              <a:gd name="connsiteY16" fmla="*/ 2026052 h 2941134"/>
              <a:gd name="connsiteX17" fmla="*/ 10520313 w 10729348"/>
              <a:gd name="connsiteY17" fmla="*/ 1828089 h 2941134"/>
              <a:gd name="connsiteX18" fmla="*/ 10671142 w 10729348"/>
              <a:gd name="connsiteY18" fmla="*/ 1469870 h 2941134"/>
              <a:gd name="connsiteX19" fmla="*/ 10699422 w 10729348"/>
              <a:gd name="connsiteY19" fmla="*/ 1385029 h 2941134"/>
              <a:gd name="connsiteX20" fmla="*/ 10708849 w 10729348"/>
              <a:gd name="connsiteY20" fmla="*/ 1281334 h 2941134"/>
              <a:gd name="connsiteX21" fmla="*/ 10727703 w 10729348"/>
              <a:gd name="connsiteY21" fmla="*/ 1234200 h 2941134"/>
              <a:gd name="connsiteX22" fmla="*/ 10444899 w 10729348"/>
              <a:gd name="connsiteY22" fmla="*/ 1149359 h 2941134"/>
              <a:gd name="connsiteX23" fmla="*/ 9426804 w 10729348"/>
              <a:gd name="connsiteY23" fmla="*/ 1130505 h 294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729348" h="2941134">
                <a:moveTo>
                  <a:pt x="499620" y="18143"/>
                </a:moveTo>
                <a:cubicBezTo>
                  <a:pt x="395544" y="-2673"/>
                  <a:pt x="368438" y="-12566"/>
                  <a:pt x="216816" y="27569"/>
                </a:cubicBezTo>
                <a:cubicBezTo>
                  <a:pt x="170377" y="39862"/>
                  <a:pt x="105748" y="124156"/>
                  <a:pt x="75414" y="159545"/>
                </a:cubicBezTo>
                <a:cubicBezTo>
                  <a:pt x="62845" y="194110"/>
                  <a:pt x="44920" y="227174"/>
                  <a:pt x="37707" y="263239"/>
                </a:cubicBezTo>
                <a:cubicBezTo>
                  <a:pt x="19667" y="353441"/>
                  <a:pt x="0" y="536617"/>
                  <a:pt x="0" y="536617"/>
                </a:cubicBezTo>
                <a:cubicBezTo>
                  <a:pt x="18605" y="607317"/>
                  <a:pt x="77461" y="839247"/>
                  <a:pt x="103695" y="904262"/>
                </a:cubicBezTo>
                <a:cubicBezTo>
                  <a:pt x="223822" y="1201968"/>
                  <a:pt x="459781" y="1648307"/>
                  <a:pt x="641022" y="1865796"/>
                </a:cubicBezTo>
                <a:cubicBezTo>
                  <a:pt x="825316" y="2086949"/>
                  <a:pt x="910416" y="2230384"/>
                  <a:pt x="1168923" y="2374844"/>
                </a:cubicBezTo>
                <a:cubicBezTo>
                  <a:pt x="1277437" y="2435484"/>
                  <a:pt x="1400047" y="2466734"/>
                  <a:pt x="1517715" y="2506819"/>
                </a:cubicBezTo>
                <a:cubicBezTo>
                  <a:pt x="2032389" y="2682147"/>
                  <a:pt x="2061703" y="2687620"/>
                  <a:pt x="2620651" y="2770769"/>
                </a:cubicBezTo>
                <a:cubicBezTo>
                  <a:pt x="2802227" y="2797780"/>
                  <a:pt x="2985480" y="2812211"/>
                  <a:pt x="3167406" y="2836757"/>
                </a:cubicBezTo>
                <a:cubicBezTo>
                  <a:pt x="3381439" y="2865635"/>
                  <a:pt x="3593139" y="2913864"/>
                  <a:pt x="3808429" y="2931025"/>
                </a:cubicBezTo>
                <a:cubicBezTo>
                  <a:pt x="4027715" y="2948504"/>
                  <a:pt x="4248346" y="2937310"/>
                  <a:pt x="4468305" y="2940452"/>
                </a:cubicBezTo>
                <a:lnTo>
                  <a:pt x="7899662" y="2931025"/>
                </a:lnTo>
                <a:cubicBezTo>
                  <a:pt x="8119469" y="2925202"/>
                  <a:pt x="9006888" y="2787094"/>
                  <a:pt x="9304255" y="2742489"/>
                </a:cubicBezTo>
                <a:cubicBezTo>
                  <a:pt x="9455084" y="2689070"/>
                  <a:pt x="9630013" y="2679920"/>
                  <a:pt x="9756742" y="2582233"/>
                </a:cubicBezTo>
                <a:cubicBezTo>
                  <a:pt x="9969860" y="2417955"/>
                  <a:pt x="10235845" y="2249322"/>
                  <a:pt x="10407191" y="2026052"/>
                </a:cubicBezTo>
                <a:cubicBezTo>
                  <a:pt x="10453462" y="1965759"/>
                  <a:pt x="10485696" y="1895749"/>
                  <a:pt x="10520313" y="1828089"/>
                </a:cubicBezTo>
                <a:cubicBezTo>
                  <a:pt x="10586181" y="1699347"/>
                  <a:pt x="10623711" y="1601623"/>
                  <a:pt x="10671142" y="1469870"/>
                </a:cubicBezTo>
                <a:cubicBezTo>
                  <a:pt x="10681239" y="1441822"/>
                  <a:pt x="10689995" y="1413309"/>
                  <a:pt x="10699422" y="1385029"/>
                </a:cubicBezTo>
                <a:cubicBezTo>
                  <a:pt x="10702564" y="1350464"/>
                  <a:pt x="10702453" y="1315447"/>
                  <a:pt x="10708849" y="1281334"/>
                </a:cubicBezTo>
                <a:cubicBezTo>
                  <a:pt x="10711968" y="1264702"/>
                  <a:pt x="10735726" y="1249099"/>
                  <a:pt x="10727703" y="1234200"/>
                </a:cubicBezTo>
                <a:cubicBezTo>
                  <a:pt x="10665305" y="1118317"/>
                  <a:pt x="10555266" y="1154615"/>
                  <a:pt x="10444899" y="1149359"/>
                </a:cubicBezTo>
                <a:cubicBezTo>
                  <a:pt x="10072173" y="1087237"/>
                  <a:pt x="10407451" y="1140119"/>
                  <a:pt x="9426804" y="11305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10C3E4E2-7B04-5ACF-1C81-9B274BCEC925}"/>
              </a:ext>
            </a:extLst>
          </p:cNvPr>
          <p:cNvSpPr/>
          <p:nvPr/>
        </p:nvSpPr>
        <p:spPr>
          <a:xfrm rot="2749426">
            <a:off x="9823276" y="4649610"/>
            <a:ext cx="404454" cy="330197"/>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5FD5659-7F63-5234-716E-C571A0539808}"/>
              </a:ext>
            </a:extLst>
          </p:cNvPr>
          <p:cNvSpPr txBox="1"/>
          <p:nvPr/>
        </p:nvSpPr>
        <p:spPr>
          <a:xfrm>
            <a:off x="2619119" y="5744500"/>
            <a:ext cx="6185516"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If an Author record that is currently referenced in one or more Book records is deleted, the </a:t>
            </a:r>
            <a:r>
              <a:rPr lang="en-US" sz="1400" dirty="0" err="1"/>
              <a:t>AuthorId</a:t>
            </a:r>
            <a:r>
              <a:rPr lang="en-US" sz="1400" dirty="0"/>
              <a:t> value in the affected Book records will </a:t>
            </a:r>
            <a:r>
              <a:rPr lang="en-US" sz="1400" b="1" dirty="0"/>
              <a:t>be updated to NULL</a:t>
            </a:r>
            <a:endParaRPr lang="en-IN" sz="1400" b="1" dirty="0"/>
          </a:p>
        </p:txBody>
      </p:sp>
      <p:cxnSp>
        <p:nvCxnSpPr>
          <p:cNvPr id="15" name="Straight Connector 14">
            <a:extLst>
              <a:ext uri="{FF2B5EF4-FFF2-40B4-BE49-F238E27FC236}">
                <a16:creationId xmlns:a16="http://schemas.microsoft.com/office/drawing/2014/main" id="{42BDC7A6-D0FC-A326-6559-577F751DA339}"/>
              </a:ext>
            </a:extLst>
          </p:cNvPr>
          <p:cNvCxnSpPr/>
          <p:nvPr/>
        </p:nvCxnSpPr>
        <p:spPr>
          <a:xfrm flipH="1">
            <a:off x="8653806" y="4554619"/>
            <a:ext cx="367646" cy="253051"/>
          </a:xfrm>
          <a:prstGeom prst="line">
            <a:avLst/>
          </a:prstGeom>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F85C767-EF14-457A-C1A6-A70737EB0EC8}"/>
              </a:ext>
            </a:extLst>
          </p:cNvPr>
          <p:cNvSpPr/>
          <p:nvPr/>
        </p:nvSpPr>
        <p:spPr>
          <a:xfrm>
            <a:off x="9023875" y="4554619"/>
            <a:ext cx="701774" cy="4133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NULL</a:t>
            </a:r>
            <a:endParaRPr lang="en-IN" dirty="0"/>
          </a:p>
        </p:txBody>
      </p:sp>
      <p:sp>
        <p:nvSpPr>
          <p:cNvPr id="18" name="TextBox 17">
            <a:extLst>
              <a:ext uri="{FF2B5EF4-FFF2-40B4-BE49-F238E27FC236}">
                <a16:creationId xmlns:a16="http://schemas.microsoft.com/office/drawing/2014/main" id="{279E755F-A36E-0C94-8ABF-5CCED8B4A084}"/>
              </a:ext>
            </a:extLst>
          </p:cNvPr>
          <p:cNvSpPr txBox="1"/>
          <p:nvPr/>
        </p:nvSpPr>
        <p:spPr>
          <a:xfrm>
            <a:off x="8941324" y="5098207"/>
            <a:ext cx="2883030" cy="7386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dirty="0"/>
              <a:t>This operation will only be successful if the </a:t>
            </a:r>
            <a:r>
              <a:rPr lang="en-US" sz="1400" dirty="0" err="1"/>
              <a:t>AuthorId</a:t>
            </a:r>
            <a:r>
              <a:rPr lang="en-US" sz="1400" dirty="0"/>
              <a:t> column in the Books table is nullable.</a:t>
            </a:r>
            <a:endParaRPr lang="en-IN" sz="1400" dirty="0"/>
          </a:p>
        </p:txBody>
      </p:sp>
      <p:sp>
        <p:nvSpPr>
          <p:cNvPr id="20" name="TextBox 19">
            <a:extLst>
              <a:ext uri="{FF2B5EF4-FFF2-40B4-BE49-F238E27FC236}">
                <a16:creationId xmlns:a16="http://schemas.microsoft.com/office/drawing/2014/main" id="{0F0D9C98-212E-D618-BF6C-F8210D7B5073}"/>
              </a:ext>
            </a:extLst>
          </p:cNvPr>
          <p:cNvSpPr txBox="1"/>
          <p:nvPr/>
        </p:nvSpPr>
        <p:spPr>
          <a:xfrm>
            <a:off x="5974238" y="139599"/>
            <a:ext cx="6094428" cy="181588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400" b="0" i="0" dirty="0">
                <a:solidFill>
                  <a:srgbClr val="004867"/>
                </a:solidFill>
                <a:effectLst/>
                <a:latin typeface="Roboto" panose="02000000000000000000" pitchFamily="2" charset="0"/>
              </a:rPr>
              <a:t>On Delete/Update Set Default</a:t>
            </a:r>
          </a:p>
          <a:p>
            <a:endParaRPr lang="en-US" sz="1400" dirty="0"/>
          </a:p>
          <a:p>
            <a:r>
              <a:rPr lang="en-US" sz="1400" dirty="0"/>
              <a:t>When an Author record is deleted or has its key value amended, foreign key values in the Books table linked to the affected Author record will be changed to their default value. The foreign key fields in the affected tables must either have a default value specified, or be nullable, in which case NULL is considered the default value. Any non-NULL default value must relate to an existing key in the principal table.</a:t>
            </a:r>
            <a:endParaRPr lang="en-IN" sz="1400" dirty="0"/>
          </a:p>
        </p:txBody>
      </p:sp>
      <p:sp>
        <p:nvSpPr>
          <p:cNvPr id="2" name="TextBox 1">
            <a:extLst>
              <a:ext uri="{FF2B5EF4-FFF2-40B4-BE49-F238E27FC236}">
                <a16:creationId xmlns:a16="http://schemas.microsoft.com/office/drawing/2014/main" id="{104217A6-BBD0-17AE-215F-61BDEE7E73AE}"/>
              </a:ext>
            </a:extLst>
          </p:cNvPr>
          <p:cNvSpPr txBox="1"/>
          <p:nvPr/>
        </p:nvSpPr>
        <p:spPr>
          <a:xfrm>
            <a:off x="886119" y="1955481"/>
            <a:ext cx="6725414" cy="369332"/>
          </a:xfrm>
          <a:prstGeom prst="rect">
            <a:avLst/>
          </a:prstGeom>
          <a:noFill/>
        </p:spPr>
        <p:txBody>
          <a:bodyPr wrap="square" rtlCol="0">
            <a:spAutoFit/>
          </a:bodyPr>
          <a:lstStyle/>
          <a:p>
            <a:r>
              <a:rPr lang="en-IN" dirty="0"/>
              <a:t>How to achieve this setting??</a:t>
            </a:r>
          </a:p>
        </p:txBody>
      </p:sp>
    </p:spTree>
    <p:extLst>
      <p:ext uri="{BB962C8B-B14F-4D97-AF65-F5344CB8AC3E}">
        <p14:creationId xmlns:p14="http://schemas.microsoft.com/office/powerpoint/2010/main" val="1924629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917465-6064-E771-2ACF-E9BB7497A43E}"/>
              </a:ext>
            </a:extLst>
          </p:cNvPr>
          <p:cNvSpPr txBox="1"/>
          <p:nvPr/>
        </p:nvSpPr>
        <p:spPr>
          <a:xfrm>
            <a:off x="262467" y="2048933"/>
            <a:ext cx="10684933" cy="2308324"/>
          </a:xfrm>
          <a:prstGeom prst="rect">
            <a:avLst/>
          </a:prstGeom>
          <a:noFill/>
        </p:spPr>
        <p:txBody>
          <a:bodyPr wrap="square">
            <a:spAutoFit/>
          </a:bodyPr>
          <a:lstStyle/>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protected</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override</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void</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OnModelCreating</a:t>
            </a:r>
            <a:r>
              <a:rPr lang="en-IN" sz="1800" dirty="0">
                <a:solidFill>
                  <a:srgbClr val="000000"/>
                </a:solidFill>
                <a:highlight>
                  <a:srgbClr val="FFFFFF"/>
                </a:highlight>
                <a:latin typeface="Cascadia Mono" panose="020B0609020000020004" pitchFamily="49" charset="0"/>
              </a:rPr>
              <a:t>(</a:t>
            </a:r>
            <a:r>
              <a:rPr lang="en-IN" sz="1800" dirty="0" err="1">
                <a:solidFill>
                  <a:srgbClr val="2B91AF"/>
                </a:solidFill>
                <a:highlight>
                  <a:srgbClr val="FFFFFF"/>
                </a:highlight>
                <a:latin typeface="Cascadia Mono" panose="020B0609020000020004" pitchFamily="49" charset="0"/>
              </a:rPr>
              <a:t>ModelBuilder</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modelBuilder</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modelBuilder.Entity</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Book</a:t>
            </a:r>
            <a:r>
              <a:rPr lang="en-IN" sz="1800" dirty="0">
                <a:solidFill>
                  <a:srgbClr val="000000"/>
                </a:solidFill>
                <a:highlight>
                  <a:srgbClr val="FFFFFF"/>
                </a:highlight>
                <a:latin typeface="Cascadia Mono" panose="020B0609020000020004" pitchFamily="49" charset="0"/>
              </a:rPr>
              <a:t>&gt;()</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HasOne</a:t>
            </a:r>
            <a:r>
              <a:rPr lang="en-IN" sz="1800" dirty="0">
                <a:solidFill>
                  <a:srgbClr val="000000"/>
                </a:solidFill>
                <a:highlight>
                  <a:srgbClr val="FFFFFF"/>
                </a:highlight>
                <a:latin typeface="Cascadia Mono" panose="020B0609020000020004" pitchFamily="49" charset="0"/>
              </a:rPr>
              <a:t>(b =&gt; </a:t>
            </a:r>
            <a:r>
              <a:rPr lang="en-IN" sz="1800" dirty="0" err="1">
                <a:solidFill>
                  <a:srgbClr val="000000"/>
                </a:solidFill>
                <a:highlight>
                  <a:srgbClr val="FFFFFF"/>
                </a:highlight>
                <a:latin typeface="Cascadia Mono" panose="020B0609020000020004" pitchFamily="49" charset="0"/>
              </a:rPr>
              <a:t>b.Author</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WithMany</a:t>
            </a:r>
            <a:r>
              <a:rPr lang="en-IN" sz="1800" dirty="0">
                <a:solidFill>
                  <a:srgbClr val="000000"/>
                </a:solidFill>
                <a:highlight>
                  <a:srgbClr val="FFFFFF"/>
                </a:highlight>
                <a:latin typeface="Cascadia Mono" panose="020B0609020000020004" pitchFamily="49" charset="0"/>
              </a:rPr>
              <a:t>(a =&gt; </a:t>
            </a:r>
            <a:r>
              <a:rPr lang="en-IN" sz="1800" dirty="0" err="1">
                <a:solidFill>
                  <a:srgbClr val="000000"/>
                </a:solidFill>
                <a:highlight>
                  <a:srgbClr val="FFFFFF"/>
                </a:highlight>
                <a:latin typeface="Cascadia Mono" panose="020B0609020000020004" pitchFamily="49" charset="0"/>
              </a:rPr>
              <a:t>a.Books</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HasForeignKey</a:t>
            </a:r>
            <a:r>
              <a:rPr lang="en-IN" sz="1800" dirty="0">
                <a:solidFill>
                  <a:srgbClr val="000000"/>
                </a:solidFill>
                <a:highlight>
                  <a:srgbClr val="FFFFFF"/>
                </a:highlight>
                <a:latin typeface="Cascadia Mono" panose="020B0609020000020004" pitchFamily="49" charset="0"/>
              </a:rPr>
              <a:t>(b =&gt; </a:t>
            </a:r>
            <a:r>
              <a:rPr lang="en-IN" sz="1800" dirty="0" err="1">
                <a:solidFill>
                  <a:srgbClr val="000000"/>
                </a:solidFill>
                <a:highlight>
                  <a:srgbClr val="FFFFFF"/>
                </a:highlight>
                <a:latin typeface="Cascadia Mono" panose="020B0609020000020004" pitchFamily="49" charset="0"/>
              </a:rPr>
              <a:t>b.AuthorId</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OnDelete</a:t>
            </a:r>
            <a:r>
              <a:rPr lang="en-IN" sz="1800" dirty="0">
                <a:solidFill>
                  <a:srgbClr val="000000"/>
                </a:solidFill>
                <a:highlight>
                  <a:srgbClr val="FFFFFF"/>
                </a:highlight>
                <a:latin typeface="Cascadia Mono" panose="020B0609020000020004" pitchFamily="49" charset="0"/>
              </a:rPr>
              <a:t>(</a:t>
            </a:r>
            <a:r>
              <a:rPr lang="en-IN" sz="1800" dirty="0" err="1">
                <a:solidFill>
                  <a:srgbClr val="2B91AF"/>
                </a:solidFill>
                <a:highlight>
                  <a:srgbClr val="FFFFFF"/>
                </a:highlight>
                <a:latin typeface="Cascadia Mono" panose="020B0609020000020004" pitchFamily="49" charset="0"/>
              </a:rPr>
              <a:t>DeleteBehavior</a:t>
            </a:r>
            <a:r>
              <a:rPr lang="en-IN" sz="1800" dirty="0" err="1">
                <a:solidFill>
                  <a:srgbClr val="000000"/>
                </a:solidFill>
                <a:highlight>
                  <a:srgbClr val="FFFFFF"/>
                </a:highlight>
                <a:latin typeface="Cascadia Mono" panose="020B0609020000020004" pitchFamily="49" charset="0"/>
              </a:rPr>
              <a:t>.SetNull</a:t>
            </a:r>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endParaRPr lang="en-IN" dirty="0"/>
          </a:p>
        </p:txBody>
      </p:sp>
      <p:sp>
        <p:nvSpPr>
          <p:cNvPr id="6" name="TextBox 5">
            <a:extLst>
              <a:ext uri="{FF2B5EF4-FFF2-40B4-BE49-F238E27FC236}">
                <a16:creationId xmlns:a16="http://schemas.microsoft.com/office/drawing/2014/main" id="{EE6B40F8-613B-1EE0-F1BB-F1AEEE03A420}"/>
              </a:ext>
            </a:extLst>
          </p:cNvPr>
          <p:cNvSpPr txBox="1"/>
          <p:nvPr/>
        </p:nvSpPr>
        <p:spPr>
          <a:xfrm>
            <a:off x="186267" y="118533"/>
            <a:ext cx="11015133"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dirty="0"/>
              <a:t>Override parent </a:t>
            </a:r>
            <a:r>
              <a:rPr lang="en-IN" dirty="0" err="1"/>
              <a:t>vitual</a:t>
            </a:r>
            <a:r>
              <a:rPr lang="en-IN" dirty="0"/>
              <a:t> method in context class</a:t>
            </a:r>
          </a:p>
        </p:txBody>
      </p:sp>
      <p:sp>
        <p:nvSpPr>
          <p:cNvPr id="7" name="TextBox 6">
            <a:extLst>
              <a:ext uri="{FF2B5EF4-FFF2-40B4-BE49-F238E27FC236}">
                <a16:creationId xmlns:a16="http://schemas.microsoft.com/office/drawing/2014/main" id="{39C29CB2-C6A9-7AFE-058A-4D1C5EF605AB}"/>
              </a:ext>
            </a:extLst>
          </p:cNvPr>
          <p:cNvSpPr txBox="1"/>
          <p:nvPr/>
        </p:nvSpPr>
        <p:spPr>
          <a:xfrm>
            <a:off x="423333" y="4936067"/>
            <a:ext cx="103632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Above code execute only </a:t>
            </a:r>
            <a:r>
              <a:rPr lang="en-IN" b="1" dirty="0"/>
              <a:t>one</a:t>
            </a:r>
            <a:r>
              <a:rPr lang="en-IN" dirty="0"/>
              <a:t> time when it try's to create Tables</a:t>
            </a:r>
          </a:p>
        </p:txBody>
      </p:sp>
    </p:spTree>
    <p:extLst>
      <p:ext uri="{BB962C8B-B14F-4D97-AF65-F5344CB8AC3E}">
        <p14:creationId xmlns:p14="http://schemas.microsoft.com/office/powerpoint/2010/main" val="3909905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1758</TotalTime>
  <Words>2870</Words>
  <Application>Microsoft Office PowerPoint</Application>
  <PresentationFormat>Widescreen</PresentationFormat>
  <Paragraphs>433</Paragraphs>
  <Slides>19</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-apple-system</vt:lpstr>
      <vt:lpstr>Arial</vt:lpstr>
      <vt:lpstr>Calibri</vt:lpstr>
      <vt:lpstr>Calibri Light</vt:lpstr>
      <vt:lpstr>Cascadia Mono</vt:lpstr>
      <vt:lpstr>Consolas</vt:lpstr>
      <vt:lpstr>Courier New</vt:lpstr>
      <vt:lpstr>Google Sans</vt:lpstr>
      <vt:lpstr>Open Sans</vt:lpstr>
      <vt:lpstr>Roboto</vt:lpstr>
      <vt:lpstr>Segoe UI</vt:lpstr>
      <vt:lpstr>SFMono-Regular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System.InvalidOperationException: 'The instance of entity type 'Book' cannot be tracked because another instance with the key value '{BookId: 4}' is already being tracked. When attaching existing entities, ensure that only one entity instance with a given key value is attached.'</vt:lpstr>
      <vt:lpstr>OR</vt:lpstr>
      <vt:lpstr>What if we want foreign key to be nullable and  On Delete/Update Set Null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sriram mantri vidyanidhi infotech academy</cp:lastModifiedBy>
  <cp:revision>64</cp:revision>
  <dcterms:created xsi:type="dcterms:W3CDTF">2024-03-11T10:58:58Z</dcterms:created>
  <dcterms:modified xsi:type="dcterms:W3CDTF">2025-04-17T04:56:23Z</dcterms:modified>
</cp:coreProperties>
</file>